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58" r:id="rId5"/>
    <p:sldId id="261" r:id="rId6"/>
    <p:sldId id="279" r:id="rId7"/>
    <p:sldId id="263" r:id="rId8"/>
    <p:sldId id="264" r:id="rId9"/>
    <p:sldId id="265" r:id="rId10"/>
    <p:sldId id="266" r:id="rId11"/>
    <p:sldId id="268" r:id="rId12"/>
    <p:sldId id="270" r:id="rId13"/>
    <p:sldId id="271" r:id="rId14"/>
    <p:sldId id="272" r:id="rId15"/>
    <p:sldId id="273" r:id="rId16"/>
    <p:sldId id="274" r:id="rId17"/>
    <p:sldId id="275" r:id="rId18"/>
    <p:sldId id="276" r:id="rId19"/>
    <p:sldId id="277"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12/4/2022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12/4/2022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12/4/2022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nejm.org/doi/full/10.1056/NEJMp100660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chh.onlinelibrary.wiley.com/doi/full/10.1002/tre.834#tre834-bib-0006"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b="1" i="1" dirty="0" smtClean="0"/>
              <a:t>ROBOTIC SURGERY</a:t>
            </a:r>
            <a:endParaRPr lang="en-US" sz="6000" b="1" i="1" dirty="0"/>
          </a:p>
        </p:txBody>
      </p:sp>
      <p:sp>
        <p:nvSpPr>
          <p:cNvPr id="3" name="Subtitle 2"/>
          <p:cNvSpPr>
            <a:spLocks noGrp="1"/>
          </p:cNvSpPr>
          <p:nvPr>
            <p:ph type="subTitle" idx="1"/>
          </p:nvPr>
        </p:nvSpPr>
        <p:spPr>
          <a:xfrm>
            <a:off x="5789301" y="4912461"/>
            <a:ext cx="5900472" cy="1342865"/>
          </a:xfrm>
        </p:spPr>
        <p:txBody>
          <a:bodyPr>
            <a:noAutofit/>
          </a:bodyPr>
          <a:lstStyle/>
          <a:p>
            <a:r>
              <a:rPr lang="en-US" sz="2000" b="1" i="1" dirty="0" smtClean="0"/>
              <a:t>BY:</a:t>
            </a:r>
          </a:p>
          <a:p>
            <a:r>
              <a:rPr lang="en-US" sz="2000" b="1" i="1" dirty="0" smtClean="0"/>
              <a:t>MUHAMMAD SHAHBAKHT KHURRAM(L22-6654)</a:t>
            </a:r>
          </a:p>
          <a:p>
            <a:r>
              <a:rPr lang="en-US" sz="2000" b="1" i="1" dirty="0" smtClean="0"/>
              <a:t>SYEDA ARSHAH LAMEES(l22-6979)</a:t>
            </a:r>
            <a:endParaRPr lang="en-US" sz="2000" b="1" i="1" dirty="0"/>
          </a:p>
        </p:txBody>
      </p:sp>
    </p:spTree>
    <p:extLst>
      <p:ext uri="{BB962C8B-B14F-4D97-AF65-F5344CB8AC3E}">
        <p14:creationId xmlns:p14="http://schemas.microsoft.com/office/powerpoint/2010/main" val="29744320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INTRODUCTION:</a:t>
            </a:r>
            <a:endParaRPr lang="en-US" b="1" i="1" dirty="0"/>
          </a:p>
        </p:txBody>
      </p:sp>
      <p:sp>
        <p:nvSpPr>
          <p:cNvPr id="3" name="Content Placeholder 2"/>
          <p:cNvSpPr>
            <a:spLocks noGrp="1"/>
          </p:cNvSpPr>
          <p:nvPr>
            <p:ph idx="1"/>
          </p:nvPr>
        </p:nvSpPr>
        <p:spPr>
          <a:xfrm>
            <a:off x="417200" y="2270991"/>
            <a:ext cx="11459609" cy="1937327"/>
          </a:xfrm>
        </p:spPr>
        <p:txBody>
          <a:bodyPr>
            <a:normAutofit/>
          </a:bodyPr>
          <a:lstStyle/>
          <a:p>
            <a:r>
              <a:rPr lang="en-US" dirty="0"/>
              <a:t>Robotic surgery </a:t>
            </a:r>
            <a:r>
              <a:rPr lang="en-US" dirty="0" smtClean="0"/>
              <a:t>are </a:t>
            </a:r>
            <a:r>
              <a:rPr lang="en-US" dirty="0"/>
              <a:t>done </a:t>
            </a:r>
            <a:r>
              <a:rPr lang="en-US" dirty="0" smtClean="0"/>
              <a:t>by using </a:t>
            </a:r>
            <a:r>
              <a:rPr lang="en-US" b="1" dirty="0"/>
              <a:t>robotic </a:t>
            </a:r>
            <a:r>
              <a:rPr lang="en-US" b="1" dirty="0" smtClean="0"/>
              <a:t>arm</a:t>
            </a:r>
            <a:r>
              <a:rPr lang="en-US" dirty="0" smtClean="0"/>
              <a:t>.</a:t>
            </a:r>
          </a:p>
          <a:p>
            <a:r>
              <a:rPr lang="en-US" dirty="0" smtClean="0"/>
              <a:t>developed </a:t>
            </a:r>
            <a:r>
              <a:rPr lang="en-US" dirty="0"/>
              <a:t>to overcome the limitations of pre-existing </a:t>
            </a:r>
            <a:r>
              <a:rPr lang="en-US" b="1" dirty="0"/>
              <a:t>minimally-invasive surgical </a:t>
            </a:r>
            <a:r>
              <a:rPr lang="en-US" b="1" dirty="0" smtClean="0"/>
              <a:t>procedures</a:t>
            </a:r>
            <a:r>
              <a:rPr lang="en-US" dirty="0" smtClean="0"/>
              <a:t>.</a:t>
            </a:r>
          </a:p>
          <a:p>
            <a:r>
              <a:rPr lang="en-US" dirty="0" smtClean="0"/>
              <a:t>allows doctors to perform many types of complex procedures with more </a:t>
            </a:r>
            <a:r>
              <a:rPr lang="en-US" b="1" dirty="0" smtClean="0"/>
              <a:t>precision</a:t>
            </a:r>
            <a:r>
              <a:rPr lang="en-US" b="1" dirty="0"/>
              <a:t>, flexibility </a:t>
            </a:r>
            <a:r>
              <a:rPr lang="en-US" dirty="0"/>
              <a:t>and </a:t>
            </a:r>
            <a:r>
              <a:rPr lang="en-US" b="1" dirty="0" smtClean="0"/>
              <a:t>control.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49147" y="4208318"/>
            <a:ext cx="3026352" cy="23483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3891" y="4208318"/>
            <a:ext cx="3158836" cy="23483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018" y="4208318"/>
            <a:ext cx="3988545" cy="23483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265409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i="1" dirty="0" smtClean="0"/>
              <a:t>HISTORY:</a:t>
            </a:r>
            <a:endParaRPr lang="en-US" sz="4400" b="1" i="1" dirty="0"/>
          </a:p>
        </p:txBody>
      </p:sp>
      <p:sp>
        <p:nvSpPr>
          <p:cNvPr id="3" name="Content Placeholder 2"/>
          <p:cNvSpPr>
            <a:spLocks noGrp="1"/>
          </p:cNvSpPr>
          <p:nvPr>
            <p:ph idx="1"/>
          </p:nvPr>
        </p:nvSpPr>
        <p:spPr>
          <a:xfrm>
            <a:off x="405245" y="2551546"/>
            <a:ext cx="4551219" cy="3464791"/>
          </a:xfrm>
        </p:spPr>
        <p:txBody>
          <a:bodyPr>
            <a:normAutofit/>
          </a:bodyPr>
          <a:lstStyle/>
          <a:p>
            <a:r>
              <a:rPr lang="en-US" dirty="0" smtClean="0"/>
              <a:t>NASA </a:t>
            </a:r>
            <a:r>
              <a:rPr lang="en-US" dirty="0"/>
              <a:t>first sponsored a project to study robotic-assisted surgery for </a:t>
            </a:r>
            <a:r>
              <a:rPr lang="en-US" b="1" dirty="0"/>
              <a:t>astronauts</a:t>
            </a:r>
            <a:r>
              <a:rPr lang="en-US" dirty="0"/>
              <a:t> and </a:t>
            </a:r>
            <a:r>
              <a:rPr lang="en-US" b="1" dirty="0" smtClean="0"/>
              <a:t>soldiers</a:t>
            </a:r>
            <a:r>
              <a:rPr lang="en-US" dirty="0" smtClean="0"/>
              <a:t> </a:t>
            </a:r>
            <a:r>
              <a:rPr lang="en-US" dirty="0"/>
              <a:t>who can’t get to human surgeons</a:t>
            </a:r>
            <a:r>
              <a:rPr lang="en-US" dirty="0" smtClean="0"/>
              <a:t>.</a:t>
            </a:r>
            <a:endParaRPr lang="en-US" dirty="0"/>
          </a:p>
          <a:p>
            <a:r>
              <a:rPr lang="en-US" dirty="0" smtClean="0"/>
              <a:t>This </a:t>
            </a:r>
            <a:r>
              <a:rPr lang="en-US" dirty="0"/>
              <a:t>first innovative robot was called the </a:t>
            </a:r>
            <a:r>
              <a:rPr lang="en-US" b="1" dirty="0"/>
              <a:t>PUMA 200 </a:t>
            </a:r>
            <a:r>
              <a:rPr lang="en-US" dirty="0"/>
              <a:t>and it was made by </a:t>
            </a:r>
            <a:r>
              <a:rPr lang="en-US" dirty="0" smtClean="0"/>
              <a:t>Westinghouse </a:t>
            </a:r>
            <a:r>
              <a:rPr lang="en-US" dirty="0"/>
              <a:t>Electric.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6464" y="4257473"/>
            <a:ext cx="3129742" cy="225344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8590" y="2551546"/>
            <a:ext cx="3231573" cy="39593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97237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648" y="935181"/>
            <a:ext cx="5038027" cy="640773"/>
          </a:xfrm>
        </p:spPr>
        <p:txBody>
          <a:bodyPr/>
          <a:lstStyle/>
          <a:p>
            <a:r>
              <a:rPr lang="en-US" sz="2800" b="1" i="1" u="sng" dirty="0" smtClean="0"/>
              <a:t>ORIGIN OF ROBOTIC </a:t>
            </a:r>
            <a:br>
              <a:rPr lang="en-US" sz="2800" b="1" i="1" u="sng" dirty="0" smtClean="0"/>
            </a:br>
            <a:r>
              <a:rPr lang="en-US" sz="2800" b="1" i="1" u="sng" dirty="0" smtClean="0"/>
              <a:t>SURGERY</a:t>
            </a:r>
            <a:endParaRPr lang="en-US" sz="2800" b="1" i="1" u="sng"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81675" y="1745673"/>
            <a:ext cx="5189538" cy="37179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a:xfrm>
            <a:off x="743648" y="1848596"/>
            <a:ext cx="3963434" cy="3512126"/>
          </a:xfrm>
        </p:spPr>
        <p:txBody>
          <a:bodyPr>
            <a:noAutofit/>
          </a:bodyPr>
          <a:lstStyle/>
          <a:p>
            <a:r>
              <a:rPr lang="en-US" sz="2000" b="1" i="1" u="sng" dirty="0" smtClean="0"/>
              <a:t>LAPROSCOPY:</a:t>
            </a:r>
          </a:p>
          <a:p>
            <a:r>
              <a:rPr lang="en-US" sz="2000" dirty="0"/>
              <a:t>Laparoscopy, also known as diagnostic laparoscopy, is a surgical diagnostic procedure used to examine the organs inside the abdomen. It’s a low-risk, minimally invasive procedure that requires only small </a:t>
            </a:r>
            <a:r>
              <a:rPr lang="en-US" sz="2000" dirty="0" smtClean="0"/>
              <a:t>incisions.</a:t>
            </a:r>
          </a:p>
          <a:p>
            <a:endParaRPr lang="en-US" sz="2000" dirty="0"/>
          </a:p>
        </p:txBody>
      </p:sp>
    </p:spTree>
    <p:extLst>
      <p:ext uri="{BB962C8B-B14F-4D97-AF65-F5344CB8AC3E}">
        <p14:creationId xmlns:p14="http://schemas.microsoft.com/office/powerpoint/2010/main" val="15311660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effectLst>
                  <a:outerShdw blurRad="38100" dist="38100" dir="2700000" algn="tl">
                    <a:srgbClr val="000000">
                      <a:alpha val="43137"/>
                    </a:srgbClr>
                  </a:outerShdw>
                </a:effectLst>
              </a:rPr>
              <a:t>Why robotic surgery?</a:t>
            </a:r>
            <a:endParaRPr lang="en-US" b="1" i="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67591" y="2613890"/>
            <a:ext cx="3896591" cy="3859645"/>
          </a:xfrm>
        </p:spPr>
        <p:txBody>
          <a:bodyPr>
            <a:noAutofit/>
          </a:bodyPr>
          <a:lstStyle/>
          <a:p>
            <a:r>
              <a:rPr lang="en-US" sz="2000" dirty="0"/>
              <a:t>Robotic surgery has</a:t>
            </a:r>
            <a:r>
              <a:rPr lang="en-US" sz="2000" b="1" dirty="0"/>
              <a:t> greater control of instruments</a:t>
            </a:r>
            <a:r>
              <a:rPr lang="en-US" sz="2000" dirty="0"/>
              <a:t> than conventional laparoscopy. </a:t>
            </a:r>
            <a:endParaRPr lang="en-US" sz="2000" dirty="0" smtClean="0"/>
          </a:p>
          <a:p>
            <a:r>
              <a:rPr lang="en-US" sz="2000" dirty="0" smtClean="0"/>
              <a:t>Mimicking </a:t>
            </a:r>
            <a:r>
              <a:rPr lang="en-US" sz="2000" dirty="0"/>
              <a:t>the surgeon’s hand, instruments in robotic surgery can move in any direction. </a:t>
            </a:r>
            <a:endParaRPr lang="en-US" sz="2000" dirty="0" smtClean="0"/>
          </a:p>
          <a:p>
            <a:r>
              <a:rPr lang="en-US" sz="2000" dirty="0" smtClean="0"/>
              <a:t>Better </a:t>
            </a:r>
            <a:r>
              <a:rPr lang="en-US" sz="2000" dirty="0"/>
              <a:t>control enables the surgeon to perform more precise movements with great speed.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0814" y="2015837"/>
            <a:ext cx="2367395" cy="19309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1218" y="4167908"/>
            <a:ext cx="3286991" cy="219132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6654" y="2426757"/>
            <a:ext cx="3922708" cy="39324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50774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effectLst>
                  <a:outerShdw blurRad="38100" dist="38100" dir="2700000" algn="tl">
                    <a:srgbClr val="000000">
                      <a:alpha val="43137"/>
                    </a:srgbClr>
                  </a:outerShdw>
                </a:effectLst>
              </a:rPr>
              <a:t>Working:</a:t>
            </a:r>
          </a:p>
        </p:txBody>
      </p:sp>
      <p:sp>
        <p:nvSpPr>
          <p:cNvPr id="3" name="Content Placeholder 2"/>
          <p:cNvSpPr>
            <a:spLocks noGrp="1"/>
          </p:cNvSpPr>
          <p:nvPr>
            <p:ph idx="1"/>
          </p:nvPr>
        </p:nvSpPr>
        <p:spPr>
          <a:xfrm>
            <a:off x="521108" y="2468418"/>
            <a:ext cx="4653565" cy="3416300"/>
          </a:xfrm>
        </p:spPr>
        <p:txBody>
          <a:bodyPr/>
          <a:lstStyle/>
          <a:p>
            <a:pPr marL="0" indent="0">
              <a:buNone/>
            </a:pPr>
            <a:r>
              <a:rPr lang="en-US" dirty="0"/>
              <a:t>Surgeon looks into viewfinder to examine 3 D images that is projected by a camera inside the patient Under the viewfinder screen, the surgeon sees the instruments held by the arms and the surgical site Underneath the screen are the controls for the Endo wrist instrument Each time a joystick is moved, a computer sends an electrical signal to an instrument, and moves the robotic arm in sync with surgeon.</a:t>
            </a:r>
          </a:p>
          <a:p>
            <a:pPr marL="0" indent="0">
              <a:buNone/>
            </a:pPr>
            <a:endParaRPr lang="en-US" dirty="0"/>
          </a:p>
        </p:txBody>
      </p:sp>
      <p:pic>
        <p:nvPicPr>
          <p:cNvPr id="4" name="ARSHAH SLIDE">
            <a:hlinkClick r:id="" action="ppaction://media"/>
            <a:extLst>
              <a:ext uri="{FF2B5EF4-FFF2-40B4-BE49-F238E27FC236}">
                <a16:creationId xmlns="" xmlns:a16="http://schemas.microsoft.com/office/drawing/2014/main" id="{4C75842F-88DD-9D57-66F2-6248F6D3860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291306" y="2327563"/>
            <a:ext cx="6264680" cy="3446389"/>
          </a:xfrm>
          <a:prstGeom prst="rect">
            <a:avLst/>
          </a:prstGeom>
        </p:spPr>
      </p:pic>
    </p:spTree>
    <p:extLst>
      <p:ext uri="{BB962C8B-B14F-4D97-AF65-F5344CB8AC3E}">
        <p14:creationId xmlns:p14="http://schemas.microsoft.com/office/powerpoint/2010/main" val="363813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42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1" dirty="0">
                <a:effectLst>
                  <a:outerShdw blurRad="38100" dist="38100" dir="2700000" algn="tl">
                    <a:srgbClr val="000000">
                      <a:alpha val="43137"/>
                    </a:srgbClr>
                  </a:outerShdw>
                </a:effectLst>
              </a:rPr>
              <a:t>Types of robotic surgery:</a:t>
            </a:r>
            <a:endParaRPr lang="en-US" dirty="0"/>
          </a:p>
        </p:txBody>
      </p:sp>
      <p:sp>
        <p:nvSpPr>
          <p:cNvPr id="3" name="Subtitle 2"/>
          <p:cNvSpPr>
            <a:spLocks noGrp="1"/>
          </p:cNvSpPr>
          <p:nvPr>
            <p:ph type="subTitle" idx="1"/>
          </p:nvPr>
        </p:nvSpPr>
        <p:spPr/>
        <p:txBody>
          <a:bodyPr>
            <a:normAutofit fontScale="77500" lnSpcReduction="20000"/>
          </a:bodyPr>
          <a:lstStyle/>
          <a:p>
            <a:pPr>
              <a:buFont typeface="Wingdings" panose="05000000000000000000" pitchFamily="2" charset="2"/>
              <a:buChar char="Ø"/>
            </a:pPr>
            <a:r>
              <a:rPr lang="en-US" dirty="0"/>
              <a:t>AESOP robotic system</a:t>
            </a:r>
          </a:p>
          <a:p>
            <a:pPr>
              <a:buFont typeface="Wingdings" panose="05000000000000000000" pitchFamily="2" charset="2"/>
              <a:buChar char="Ø"/>
            </a:pPr>
            <a:r>
              <a:rPr lang="en-US" dirty="0"/>
              <a:t>Da Vinci surgical Robotic System</a:t>
            </a:r>
          </a:p>
          <a:p>
            <a:pPr>
              <a:buFont typeface="Wingdings" panose="05000000000000000000" pitchFamily="2" charset="2"/>
              <a:buChar char="Ø"/>
            </a:pPr>
            <a:r>
              <a:rPr lang="en-US" dirty="0"/>
              <a:t>Zeus Robotic Surgical System</a:t>
            </a:r>
          </a:p>
          <a:p>
            <a:endParaRPr lang="en-US" dirty="0"/>
          </a:p>
        </p:txBody>
      </p:sp>
    </p:spTree>
    <p:extLst>
      <p:ext uri="{BB962C8B-B14F-4D97-AF65-F5344CB8AC3E}">
        <p14:creationId xmlns:p14="http://schemas.microsoft.com/office/powerpoint/2010/main" val="28718890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effectLst>
                  <a:outerShdw blurRad="38100" dist="38100" dir="2700000" algn="tl">
                    <a:srgbClr val="000000">
                      <a:alpha val="43137"/>
                    </a:srgbClr>
                  </a:outerShdw>
                </a:effectLst>
              </a:rPr>
              <a:t>AESOP robotic </a:t>
            </a:r>
            <a:r>
              <a:rPr lang="en-US" b="1" i="1" dirty="0" smtClean="0">
                <a:effectLst>
                  <a:outerShdw blurRad="38100" dist="38100" dir="2700000" algn="tl">
                    <a:srgbClr val="000000">
                      <a:alpha val="43137"/>
                    </a:srgbClr>
                  </a:outerShdw>
                </a:effectLst>
              </a:rPr>
              <a:t>system:</a:t>
            </a:r>
            <a:endParaRPr lang="en-US" b="1" i="1" dirty="0">
              <a:effectLst>
                <a:outerShdw blurRad="38100" dist="38100" dir="2700000" algn="tl">
                  <a:srgbClr val="000000">
                    <a:alpha val="43137"/>
                  </a:srgbClr>
                </a:outerShdw>
              </a:effectLst>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81675" y="1630511"/>
            <a:ext cx="5189538" cy="42065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p:txBody>
          <a:bodyPr>
            <a:normAutofit fontScale="77500" lnSpcReduction="20000"/>
          </a:bodyPr>
          <a:lstStyle/>
          <a:p>
            <a:pPr marL="342900" indent="-342900">
              <a:buFont typeface="Arial" panose="020B0604020202020204" pitchFamily="34" charset="0"/>
              <a:buChar char="•"/>
            </a:pPr>
            <a:r>
              <a:rPr lang="en-US" sz="2000" dirty="0" smtClean="0"/>
              <a:t>Automated endoscopic system for optimal positioning</a:t>
            </a:r>
          </a:p>
          <a:p>
            <a:pPr marL="342900" indent="-342900">
              <a:buFont typeface="Arial" panose="020B0604020202020204" pitchFamily="34" charset="0"/>
              <a:buChar char="•"/>
            </a:pPr>
            <a:r>
              <a:rPr lang="en-US" sz="2000" dirty="0" smtClean="0"/>
              <a:t>The </a:t>
            </a:r>
            <a:r>
              <a:rPr lang="en-US" sz="2000" dirty="0"/>
              <a:t>camera moves based on voice commands given by the surgeon</a:t>
            </a:r>
            <a:r>
              <a:rPr lang="en-US" sz="2000" dirty="0" smtClean="0"/>
              <a:t>.</a:t>
            </a:r>
          </a:p>
          <a:p>
            <a:pPr marL="342900" indent="-342900">
              <a:buFont typeface="Arial" panose="020B0604020202020204" pitchFamily="34" charset="0"/>
              <a:buChar char="•"/>
            </a:pPr>
            <a:r>
              <a:rPr lang="en-US" sz="2000" dirty="0" smtClean="0"/>
              <a:t>Aesop was cleared by food and drug administration in 1994 to assist the surgeons in minimally invasive surgeries .</a:t>
            </a:r>
            <a:endParaRPr lang="en-US" sz="2000" dirty="0"/>
          </a:p>
        </p:txBody>
      </p:sp>
    </p:spTree>
    <p:extLst>
      <p:ext uri="{BB962C8B-B14F-4D97-AF65-F5344CB8AC3E}">
        <p14:creationId xmlns:p14="http://schemas.microsoft.com/office/powerpoint/2010/main" val="21583383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effectLst>
                  <a:outerShdw blurRad="38100" dist="38100" dir="2700000" algn="tl">
                    <a:srgbClr val="000000">
                      <a:alpha val="43137"/>
                    </a:srgbClr>
                  </a:outerShdw>
                </a:effectLst>
              </a:rPr>
              <a:t>Da Vinci surgical Robotic </a:t>
            </a:r>
            <a:r>
              <a:rPr lang="en-US" b="1" i="1" dirty="0" smtClean="0">
                <a:effectLst>
                  <a:outerShdw blurRad="38100" dist="38100" dir="2700000" algn="tl">
                    <a:srgbClr val="000000">
                      <a:alpha val="43137"/>
                    </a:srgbClr>
                  </a:outerShdw>
                </a:effectLst>
              </a:rPr>
              <a:t>System:</a:t>
            </a:r>
            <a:endParaRPr lang="en-US" b="1" i="1" dirty="0">
              <a:effectLst>
                <a:outerShdw blurRad="38100" dist="38100" dir="2700000" algn="tl">
                  <a:srgbClr val="000000">
                    <a:alpha val="43137"/>
                  </a:srgbClr>
                </a:outerShdw>
              </a:effectLst>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2684" y="2001981"/>
            <a:ext cx="5523634" cy="4107873"/>
          </a:xfrm>
        </p:spPr>
      </p:pic>
      <p:sp>
        <p:nvSpPr>
          <p:cNvPr id="4" name="Text Placeholder 3"/>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38774489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Zeus Robotic Surgical System</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59557" y="1995055"/>
            <a:ext cx="5471680" cy="3512127"/>
          </a:xfrm>
        </p:spPr>
      </p:pic>
      <p:sp>
        <p:nvSpPr>
          <p:cNvPr id="4" name="Text Placeholder 3"/>
          <p:cNvSpPr>
            <a:spLocks noGrp="1"/>
          </p:cNvSpPr>
          <p:nvPr>
            <p:ph type="body" sz="half" idx="2"/>
          </p:nvPr>
        </p:nvSpPr>
        <p:spPr/>
        <p:txBody>
          <a:bodyPr/>
          <a:lstStyle/>
          <a:p>
            <a:r>
              <a:rPr lang="en-US" dirty="0" smtClean="0"/>
              <a:t>The pictorial representation has been shown .</a:t>
            </a:r>
            <a:endParaRPr lang="en-US" dirty="0"/>
          </a:p>
        </p:txBody>
      </p:sp>
    </p:spTree>
    <p:extLst>
      <p:ext uri="{BB962C8B-B14F-4D97-AF65-F5344CB8AC3E}">
        <p14:creationId xmlns:p14="http://schemas.microsoft.com/office/powerpoint/2010/main" val="14921531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and disadvantages.</a:t>
            </a:r>
            <a:endParaRPr lang="en-US" dirty="0"/>
          </a:p>
        </p:txBody>
      </p:sp>
      <p:sp>
        <p:nvSpPr>
          <p:cNvPr id="3" name="Text Placeholder 2"/>
          <p:cNvSpPr>
            <a:spLocks noGrp="1"/>
          </p:cNvSpPr>
          <p:nvPr>
            <p:ph type="body" idx="1"/>
          </p:nvPr>
        </p:nvSpPr>
        <p:spPr/>
        <p:txBody>
          <a:bodyPr/>
          <a:lstStyle/>
          <a:p>
            <a:r>
              <a:rPr lang="en-US" dirty="0" smtClean="0"/>
              <a:t>advantages</a:t>
            </a:r>
            <a:endParaRPr lang="en-US" dirty="0"/>
          </a:p>
        </p:txBody>
      </p:sp>
      <p:sp>
        <p:nvSpPr>
          <p:cNvPr id="4" name="Content Placeholder 3"/>
          <p:cNvSpPr>
            <a:spLocks noGrp="1"/>
          </p:cNvSpPr>
          <p:nvPr>
            <p:ph sz="half" idx="2"/>
          </p:nvPr>
        </p:nvSpPr>
        <p:spPr/>
        <p:txBody>
          <a:bodyPr>
            <a:normAutofit fontScale="92500" lnSpcReduction="20000"/>
          </a:bodyPr>
          <a:lstStyle/>
          <a:p>
            <a:r>
              <a:rPr lang="en-US" dirty="0"/>
              <a:t>• Robotic surgery does not require as </a:t>
            </a:r>
            <a:r>
              <a:rPr lang="en-US" dirty="0" smtClean="0"/>
              <a:t>much incisions </a:t>
            </a:r>
            <a:r>
              <a:rPr lang="en-US" dirty="0"/>
              <a:t>or cuts as does conventional surgery- </a:t>
            </a:r>
            <a:r>
              <a:rPr lang="en-US" dirty="0" smtClean="0"/>
              <a:t>Example-</a:t>
            </a:r>
          </a:p>
          <a:p>
            <a:r>
              <a:rPr lang="en-US" dirty="0" smtClean="0"/>
              <a:t>• </a:t>
            </a:r>
            <a:r>
              <a:rPr lang="en-US" dirty="0"/>
              <a:t>Conventional bypass surgery requires a 1 foot long </a:t>
            </a:r>
            <a:r>
              <a:rPr lang="en-US" dirty="0" smtClean="0"/>
              <a:t>incision along </a:t>
            </a:r>
            <a:r>
              <a:rPr lang="en-US" dirty="0"/>
              <a:t>the patient's chest</a:t>
            </a:r>
            <a:r>
              <a:rPr lang="en-US" dirty="0" smtClean="0"/>
              <a:t>.</a:t>
            </a:r>
          </a:p>
          <a:p>
            <a:r>
              <a:rPr lang="en-US" dirty="0" smtClean="0"/>
              <a:t>• </a:t>
            </a:r>
            <a:r>
              <a:rPr lang="en-US" dirty="0"/>
              <a:t>Robotic surgery needs 3 or 4 incisions, each only about 1 </a:t>
            </a:r>
            <a:r>
              <a:rPr lang="en-US" dirty="0" smtClean="0"/>
              <a:t>cm in </a:t>
            </a:r>
            <a:r>
              <a:rPr lang="en-US" dirty="0"/>
              <a:t>diameter.• Smaller incisions »› less pain and bleeding </a:t>
            </a:r>
            <a:r>
              <a:rPr lang="en-US" dirty="0" smtClean="0"/>
              <a:t>for the </a:t>
            </a:r>
            <a:r>
              <a:rPr lang="en-US" dirty="0"/>
              <a:t>patient =&gt; faster recovery and less </a:t>
            </a:r>
            <a:r>
              <a:rPr lang="en-US" dirty="0" smtClean="0"/>
              <a:t>cosmetic distortions</a:t>
            </a:r>
            <a:endParaRPr lang="en-US" dirty="0"/>
          </a:p>
          <a:p>
            <a:endParaRPr lang="en-US" dirty="0"/>
          </a:p>
        </p:txBody>
      </p:sp>
      <p:sp>
        <p:nvSpPr>
          <p:cNvPr id="5" name="Text Placeholder 4"/>
          <p:cNvSpPr>
            <a:spLocks noGrp="1"/>
          </p:cNvSpPr>
          <p:nvPr>
            <p:ph type="body" sz="quarter" idx="3"/>
          </p:nvPr>
        </p:nvSpPr>
        <p:spPr/>
        <p:txBody>
          <a:bodyPr/>
          <a:lstStyle/>
          <a:p>
            <a:r>
              <a:rPr lang="en-US" dirty="0" smtClean="0"/>
              <a:t>disadvantages</a:t>
            </a:r>
            <a:endParaRPr lang="en-US" dirty="0"/>
          </a:p>
        </p:txBody>
      </p:sp>
      <p:sp>
        <p:nvSpPr>
          <p:cNvPr id="6" name="Content Placeholder 5"/>
          <p:cNvSpPr>
            <a:spLocks noGrp="1"/>
          </p:cNvSpPr>
          <p:nvPr>
            <p:ph sz="quarter" idx="4"/>
          </p:nvPr>
        </p:nvSpPr>
        <p:spPr/>
        <p:txBody>
          <a:bodyPr>
            <a:normAutofit fontScale="85000" lnSpcReduction="20000"/>
          </a:bodyPr>
          <a:lstStyle/>
          <a:p>
            <a:r>
              <a:rPr lang="en-US" dirty="0">
                <a:solidFill>
                  <a:srgbClr val="333333"/>
                </a:solidFill>
                <a:latin typeface="Montserrat" panose="020B0604020202020204" pitchFamily="2" charset="0"/>
              </a:rPr>
              <a:t>The main disadvantage of robotic surgery is it is an </a:t>
            </a:r>
            <a:r>
              <a:rPr lang="en-US" b="1" u="sng" dirty="0">
                <a:solidFill>
                  <a:srgbClr val="333333"/>
                </a:solidFill>
                <a:latin typeface="Montserrat" panose="020B0604020202020204" pitchFamily="2" charset="0"/>
              </a:rPr>
              <a:t>expensive technology</a:t>
            </a:r>
            <a:r>
              <a:rPr lang="en-US" dirty="0">
                <a:solidFill>
                  <a:srgbClr val="333333"/>
                </a:solidFill>
                <a:latin typeface="Montserrat" panose="020B0604020202020204" pitchFamily="2" charset="0"/>
              </a:rPr>
              <a:t>. Robotic surgery is not as accessible as conventional laparoscopic surgery due to availability and cost. Currently, most robotic surgery systems in Australia are installed in private hospitals. While many private health insurance companies cover the additional cost of robotic instrumentations, others do not cover this extra cost. However, cost is gradually coming down over time as the technology becomes more available and established. Other robotic surgery systems are also becoming available. Competition will hopefully bring cost down further, making robotic surgery more available and more accessible than before.</a:t>
            </a:r>
            <a:endParaRPr lang="en-US" dirty="0"/>
          </a:p>
        </p:txBody>
      </p:sp>
    </p:spTree>
    <p:extLst>
      <p:ext uri="{BB962C8B-B14F-4D97-AF65-F5344CB8AC3E}">
        <p14:creationId xmlns:p14="http://schemas.microsoft.com/office/powerpoint/2010/main" val="32266706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of robotic surgery in Pakistan.</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The advancement of robotic surgery started in Pakistan in the year 2000 when FDA(food and drug administration)approved Da Vinci surgical system made by American company intuitive surgical.</a:t>
            </a:r>
          </a:p>
          <a:p>
            <a:pPr marL="0" indent="0">
              <a:buNone/>
            </a:pPr>
            <a:r>
              <a:rPr lang="en-US" dirty="0" smtClean="0"/>
              <a:t>in Pakistan first ever successful robotic surgical procedure was performed in 2019 . This took place in OT complex civil hospital Karachi and Sindh institute of urology and transplant(SIUT).</a:t>
            </a:r>
          </a:p>
          <a:p>
            <a:pPr marL="0" indent="0">
              <a:buNone/>
            </a:pPr>
            <a:r>
              <a:rPr lang="en-US" dirty="0"/>
              <a:t>It was performed on 55 years old woman from </a:t>
            </a:r>
            <a:r>
              <a:rPr lang="en-US" dirty="0" err="1"/>
              <a:t>Balochistan</a:t>
            </a:r>
            <a:r>
              <a:rPr lang="en-US" dirty="0"/>
              <a:t>, who had intractable bleeding acquiring multiple transfusions. She underwent a surgical procedure called ‘hysterectomy’ through robotic surgery and her uterus was removed through it. The robotics surgery team consisted of Prof </a:t>
            </a:r>
            <a:r>
              <a:rPr lang="en-US" dirty="0" err="1"/>
              <a:t>Shamim</a:t>
            </a:r>
            <a:r>
              <a:rPr lang="en-US" dirty="0"/>
              <a:t> Khan from King’s College London and </a:t>
            </a:r>
            <a:r>
              <a:rPr lang="en-US" dirty="0" err="1"/>
              <a:t>Dr</a:t>
            </a:r>
            <a:r>
              <a:rPr lang="en-US" dirty="0"/>
              <a:t> </a:t>
            </a:r>
            <a:r>
              <a:rPr lang="en-US" dirty="0" err="1"/>
              <a:t>Kankipati</a:t>
            </a:r>
            <a:r>
              <a:rPr lang="en-US" dirty="0"/>
              <a:t> Shanti </a:t>
            </a:r>
            <a:r>
              <a:rPr lang="en-US" dirty="0" err="1"/>
              <a:t>Raju</a:t>
            </a:r>
            <a:r>
              <a:rPr lang="en-US" dirty="0"/>
              <a:t> from Guys and St Thomas Hospitals London. Both performed the successful surgery along with their staff</a:t>
            </a:r>
            <a:r>
              <a:rPr lang="en-US" dirty="0" smtClean="0"/>
              <a:t>.</a:t>
            </a:r>
          </a:p>
          <a:p>
            <a:pPr marL="0" indent="0">
              <a:buNone/>
            </a:pPr>
            <a:r>
              <a:rPr lang="en-US" dirty="0"/>
              <a:t>the team says: </a:t>
            </a:r>
            <a:r>
              <a:rPr lang="en-US" i="1" dirty="0"/>
              <a:t>“benefits — less pain, less loss of blood and a faster recovery as compared to traditional surgery — the greater use of robotic surgery was needed</a:t>
            </a:r>
            <a:r>
              <a:rPr lang="en-US" i="1" dirty="0" smtClean="0"/>
              <a:t>”.</a:t>
            </a:r>
          </a:p>
          <a:p>
            <a:pPr marL="0" indent="0">
              <a:buNone/>
            </a:pPr>
            <a:r>
              <a:rPr lang="en-US" dirty="0" smtClean="0"/>
              <a:t>this is a major breakthrough in the field of robotic surgery in Pakistan.</a:t>
            </a:r>
          </a:p>
          <a:p>
            <a:pPr marL="0" indent="0">
              <a:buNone/>
            </a:pPr>
            <a:r>
              <a:rPr lang="en-US" i="1" dirty="0" smtClean="0"/>
              <a:t>As Sindh Chief minister states that:</a:t>
            </a:r>
          </a:p>
          <a:p>
            <a:pPr marL="0" indent="0">
              <a:buNone/>
            </a:pPr>
            <a:r>
              <a:rPr lang="en-US" i="1" dirty="0" smtClean="0"/>
              <a:t>“the small spaces in the human body where the surgeon’s hands cant reach and that eyes can not see are easily approached by robotic arms”.</a:t>
            </a:r>
          </a:p>
          <a:p>
            <a:pPr marL="0" indent="0">
              <a:buNone/>
            </a:pPr>
            <a:endParaRPr lang="en-US" i="1" dirty="0" smtClean="0"/>
          </a:p>
          <a:p>
            <a:pPr marL="0" indent="0">
              <a:buNone/>
            </a:pPr>
            <a:endParaRPr lang="en-US" i="1" dirty="0" smtClean="0"/>
          </a:p>
        </p:txBody>
      </p:sp>
    </p:spTree>
    <p:extLst>
      <p:ext uri="{BB962C8B-B14F-4D97-AF65-F5344CB8AC3E}">
        <p14:creationId xmlns:p14="http://schemas.microsoft.com/office/powerpoint/2010/main" val="17986798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robotic surgery</a:t>
            </a:r>
            <a:endParaRPr lang="en-US" dirty="0"/>
          </a:p>
        </p:txBody>
      </p:sp>
      <p:sp>
        <p:nvSpPr>
          <p:cNvPr id="3" name="Content Placeholder 2"/>
          <p:cNvSpPr>
            <a:spLocks noGrp="1"/>
          </p:cNvSpPr>
          <p:nvPr>
            <p:ph idx="1"/>
          </p:nvPr>
        </p:nvSpPr>
        <p:spPr/>
        <p:txBody>
          <a:bodyPr/>
          <a:lstStyle/>
          <a:p>
            <a:pPr marL="0" indent="0">
              <a:buNone/>
            </a:pPr>
            <a:r>
              <a:rPr lang="en-US" dirty="0"/>
              <a:t>A single robot costs about </a:t>
            </a:r>
            <a:r>
              <a:rPr lang="en-US" dirty="0">
                <a:hlinkClick r:id="rId2"/>
              </a:rPr>
              <a:t>$2 million</a:t>
            </a:r>
            <a:r>
              <a:rPr lang="en-US" dirty="0"/>
              <a:t>. Some of the attachments that go on the arms are disposable. And robotic surgery generally costs anywhere from $3,000 to $6,000 more than traditional laparoscopic surgery.</a:t>
            </a:r>
          </a:p>
        </p:txBody>
      </p:sp>
    </p:spTree>
    <p:extLst>
      <p:ext uri="{BB962C8B-B14F-4D97-AF65-F5344CB8AC3E}">
        <p14:creationId xmlns:p14="http://schemas.microsoft.com/office/powerpoint/2010/main" val="28677514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the surgeons.</a:t>
            </a:r>
            <a:endParaRPr lang="en-US" dirty="0"/>
          </a:p>
        </p:txBody>
      </p:sp>
      <p:sp>
        <p:nvSpPr>
          <p:cNvPr id="3" name="Content Placeholder 2"/>
          <p:cNvSpPr>
            <a:spLocks noGrp="1"/>
          </p:cNvSpPr>
          <p:nvPr>
            <p:ph idx="1"/>
          </p:nvPr>
        </p:nvSpPr>
        <p:spPr>
          <a:xfrm>
            <a:off x="1154955" y="2603500"/>
            <a:ext cx="6887610" cy="3416300"/>
          </a:xfrm>
        </p:spPr>
        <p:txBody>
          <a:bodyPr/>
          <a:lstStyle/>
          <a:p>
            <a:pPr marL="0" indent="0">
              <a:buNone/>
            </a:pPr>
            <a:r>
              <a:rPr lang="en-US" dirty="0"/>
              <a:t>• Robotic surgery is much faster than </a:t>
            </a:r>
            <a:r>
              <a:rPr lang="en-US" dirty="0" smtClean="0"/>
              <a:t>conventional surgery as it decreases </a:t>
            </a:r>
            <a:r>
              <a:rPr lang="en-US" dirty="0"/>
              <a:t>the fatigue that surgeons </a:t>
            </a:r>
            <a:r>
              <a:rPr lang="en-US" dirty="0" smtClean="0"/>
              <a:t>would experience </a:t>
            </a:r>
            <a:r>
              <a:rPr lang="en-US" dirty="0"/>
              <a:t>during conventional surgery that </a:t>
            </a:r>
            <a:r>
              <a:rPr lang="en-US" dirty="0" smtClean="0"/>
              <a:t>would last </a:t>
            </a:r>
            <a:r>
              <a:rPr lang="en-US" dirty="0"/>
              <a:t>for several </a:t>
            </a:r>
            <a:r>
              <a:rPr lang="en-US" dirty="0" smtClean="0"/>
              <a:t>hours and "Increases</a:t>
            </a:r>
            <a:r>
              <a:rPr lang="en-US" dirty="0"/>
              <a:t>" the margin for error- Even the steadiest hands experience some tremor- Some of the approved systems have </a:t>
            </a:r>
            <a:r>
              <a:rPr lang="en-US" dirty="0" smtClean="0"/>
              <a:t>been programmed </a:t>
            </a:r>
            <a:r>
              <a:rPr lang="en-US" dirty="0"/>
              <a:t>to compensate for tremor so robotic </a:t>
            </a:r>
            <a:r>
              <a:rPr lang="en-US" dirty="0" smtClean="0"/>
              <a:t>arm stays steady.</a:t>
            </a:r>
          </a:p>
          <a:p>
            <a:pPr marL="0" indent="0">
              <a:buNone/>
            </a:pPr>
            <a:r>
              <a:rPr lang="en-US" dirty="0" smtClean="0"/>
              <a:t>Hence robotic surgery aids the surgeon by providing:</a:t>
            </a:r>
            <a:endParaRPr lang="en-US" dirty="0"/>
          </a:p>
          <a:p>
            <a:r>
              <a:rPr lang="en-US" b="1" dirty="0">
                <a:solidFill>
                  <a:srgbClr val="000000"/>
                </a:solidFill>
                <a:latin typeface="GothamBook"/>
              </a:rPr>
              <a:t>Better Vision</a:t>
            </a:r>
          </a:p>
          <a:p>
            <a:r>
              <a:rPr lang="en-US" b="1" dirty="0">
                <a:solidFill>
                  <a:srgbClr val="000000"/>
                </a:solidFill>
                <a:latin typeface="GothamBook"/>
              </a:rPr>
              <a:t>Enhanced </a:t>
            </a:r>
            <a:r>
              <a:rPr lang="en-US" b="1" dirty="0" smtClean="0">
                <a:solidFill>
                  <a:srgbClr val="000000"/>
                </a:solidFill>
                <a:latin typeface="GothamBook"/>
              </a:rPr>
              <a:t>Dexterity</a:t>
            </a: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49566" y="2265217"/>
            <a:ext cx="2957080" cy="4435620"/>
          </a:xfrm>
          <a:prstGeom prst="rect">
            <a:avLst/>
          </a:prstGeom>
        </p:spPr>
      </p:pic>
    </p:spTree>
    <p:extLst>
      <p:ext uri="{BB962C8B-B14F-4D97-AF65-F5344CB8AC3E}">
        <p14:creationId xmlns:p14="http://schemas.microsoft.com/office/powerpoint/2010/main" val="34294589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 rate  of robotic surgery</a:t>
            </a:r>
            <a:endParaRPr lang="en-US" dirty="0"/>
          </a:p>
        </p:txBody>
      </p:sp>
      <p:sp>
        <p:nvSpPr>
          <p:cNvPr id="3" name="Content Placeholder 2"/>
          <p:cNvSpPr>
            <a:spLocks noGrp="1"/>
          </p:cNvSpPr>
          <p:nvPr>
            <p:ph idx="1"/>
          </p:nvPr>
        </p:nvSpPr>
        <p:spPr>
          <a:xfrm>
            <a:off x="624690" y="2390115"/>
            <a:ext cx="11407365" cy="4581053"/>
          </a:xfrm>
        </p:spPr>
        <p:txBody>
          <a:bodyPr>
            <a:normAutofit/>
          </a:bodyPr>
          <a:lstStyle/>
          <a:p>
            <a:pPr>
              <a:buFont typeface="Wingdings" panose="05000000000000000000" pitchFamily="2" charset="2"/>
              <a:buChar char="Ø"/>
            </a:pPr>
            <a:r>
              <a:rPr lang="en-US" dirty="0"/>
              <a:t>The published data regarding robot-assisted </a:t>
            </a:r>
            <a:r>
              <a:rPr lang="en-US" dirty="0" err="1"/>
              <a:t>pyeloplasty</a:t>
            </a:r>
            <a:r>
              <a:rPr lang="en-US" dirty="0"/>
              <a:t> show excellent results and success rates, ranging </a:t>
            </a:r>
            <a:r>
              <a:rPr lang="en-US" b="1" dirty="0"/>
              <a:t>between 94% and 100</a:t>
            </a:r>
            <a:r>
              <a:rPr lang="en-US" dirty="0" smtClean="0"/>
              <a:t>%.</a:t>
            </a:r>
          </a:p>
          <a:p>
            <a:pPr>
              <a:buFont typeface="Wingdings" panose="05000000000000000000" pitchFamily="2" charset="2"/>
              <a:buChar char="Ø"/>
            </a:pPr>
            <a:r>
              <a:rPr lang="en-US" dirty="0" smtClean="0"/>
              <a:t>The </a:t>
            </a:r>
            <a:r>
              <a:rPr lang="en-US" dirty="0"/>
              <a:t>rates of device malfunctions and failure-related conversions reported by these studies varied between </a:t>
            </a:r>
            <a:r>
              <a:rPr lang="en-US" b="1" dirty="0"/>
              <a:t>0.4–8.0% and 0.1–2.7%</a:t>
            </a:r>
            <a:r>
              <a:rPr lang="en-US" dirty="0"/>
              <a:t>, </a:t>
            </a:r>
            <a:endParaRPr lang="en-US" dirty="0">
              <a:solidFill>
                <a:srgbClr val="333333"/>
              </a:solidFill>
              <a:latin typeface="din-2014"/>
            </a:endParaRPr>
          </a:p>
        </p:txBody>
      </p:sp>
    </p:spTree>
    <p:extLst>
      <p:ext uri="{BB962C8B-B14F-4D97-AF65-F5344CB8AC3E}">
        <p14:creationId xmlns:p14="http://schemas.microsoft.com/office/powerpoint/2010/main" val="40806545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robotic surgery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Todays scope</a:t>
            </a:r>
            <a:r>
              <a:rPr lang="en-US" dirty="0" smtClean="0"/>
              <a:t>:</a:t>
            </a:r>
          </a:p>
          <a:p>
            <a:pPr>
              <a:buFont typeface="Wingdings" panose="05000000000000000000" pitchFamily="2" charset="2"/>
              <a:buChar char="Ø"/>
            </a:pPr>
            <a:r>
              <a:rPr lang="en-US" b="1" dirty="0"/>
              <a:t>Robotic surgeries result in less blood loss</a:t>
            </a:r>
            <a:r>
              <a:rPr lang="en-US" dirty="0"/>
              <a:t>. The minimally invasive robotic approach is slowly becoming the standard of care for many surgical </a:t>
            </a:r>
            <a:r>
              <a:rPr lang="en-US" dirty="0" smtClean="0"/>
              <a:t>procedures.</a:t>
            </a:r>
            <a:endParaRPr lang="en-US" dirty="0"/>
          </a:p>
          <a:p>
            <a:pPr>
              <a:buFont typeface="Wingdings" panose="05000000000000000000" pitchFamily="2" charset="2"/>
              <a:buChar char="Ø"/>
            </a:pPr>
            <a:r>
              <a:rPr lang="en-US" dirty="0"/>
              <a:t>Immense valuable regarding deep pelvic </a:t>
            </a:r>
            <a:r>
              <a:rPr lang="en-US" dirty="0" smtClean="0"/>
              <a:t>surgery.  </a:t>
            </a:r>
            <a:endParaRPr lang="en-US" dirty="0"/>
          </a:p>
          <a:p>
            <a:r>
              <a:rPr lang="en-US" dirty="0" err="1"/>
              <a:t>Extented</a:t>
            </a:r>
            <a:r>
              <a:rPr lang="en-US" dirty="0"/>
              <a:t> use of medical robots </a:t>
            </a:r>
            <a:r>
              <a:rPr lang="en-US" dirty="0" smtClean="0"/>
              <a:t>.</a:t>
            </a:r>
            <a:endParaRPr lang="en-US" dirty="0"/>
          </a:p>
        </p:txBody>
      </p:sp>
    </p:spTree>
    <p:extLst>
      <p:ext uri="{BB962C8B-B14F-4D97-AF65-F5344CB8AC3E}">
        <p14:creationId xmlns:p14="http://schemas.microsoft.com/office/powerpoint/2010/main" val="3242137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of robotic surgery in </a:t>
            </a:r>
            <a:r>
              <a:rPr lang="en-US" dirty="0" err="1" smtClean="0"/>
              <a:t>pakistan</a:t>
            </a:r>
            <a:endParaRPr lang="en-US" dirty="0"/>
          </a:p>
        </p:txBody>
      </p:sp>
      <p:sp>
        <p:nvSpPr>
          <p:cNvPr id="3" name="Content Placeholder 2"/>
          <p:cNvSpPr>
            <a:spLocks noGrp="1"/>
          </p:cNvSpPr>
          <p:nvPr>
            <p:ph idx="1"/>
          </p:nvPr>
        </p:nvSpPr>
        <p:spPr/>
        <p:txBody>
          <a:bodyPr>
            <a:normAutofit fontScale="92500"/>
          </a:bodyPr>
          <a:lstStyle/>
          <a:p>
            <a:r>
              <a:rPr lang="en-US" dirty="0" smtClean="0"/>
              <a:t>In Pakistan robotic surgery is majorly being used for urological operations.</a:t>
            </a:r>
          </a:p>
          <a:p>
            <a:r>
              <a:rPr lang="en-US" dirty="0"/>
              <a:t>Prof </a:t>
            </a:r>
            <a:r>
              <a:rPr lang="en-US" dirty="0" err="1"/>
              <a:t>Dr</a:t>
            </a:r>
            <a:r>
              <a:rPr lang="en-US" dirty="0"/>
              <a:t> </a:t>
            </a:r>
            <a:r>
              <a:rPr lang="en-US" dirty="0" err="1"/>
              <a:t>Samia</a:t>
            </a:r>
            <a:r>
              <a:rPr lang="en-US" dirty="0"/>
              <a:t> Malik, Head of Gynecology, said that up to 70 to 80% Gynecological surgeries could immediately be shifted to robotic surgery, while 20 to 30% surgeries may still have to be performed through prevalent methods</a:t>
            </a:r>
            <a:r>
              <a:rPr lang="en-US" dirty="0" smtClean="0"/>
              <a:t>.</a:t>
            </a:r>
          </a:p>
          <a:p>
            <a:r>
              <a:rPr lang="en-US" dirty="0"/>
              <a:t>Prof </a:t>
            </a:r>
            <a:r>
              <a:rPr lang="en-US" dirty="0" err="1"/>
              <a:t>Mahmood</a:t>
            </a:r>
            <a:r>
              <a:rPr lang="en-US" dirty="0"/>
              <a:t> </a:t>
            </a:r>
            <a:r>
              <a:rPr lang="en-US" dirty="0" err="1" smtClean="0"/>
              <a:t>Ayaz</a:t>
            </a:r>
            <a:r>
              <a:rPr lang="en-US" dirty="0" smtClean="0"/>
              <a:t>(</a:t>
            </a:r>
            <a:r>
              <a:rPr lang="en-US" dirty="0" err="1" smtClean="0"/>
              <a:t>Vc</a:t>
            </a:r>
            <a:r>
              <a:rPr lang="en-US" dirty="0" smtClean="0"/>
              <a:t> of KE) </a:t>
            </a:r>
            <a:r>
              <a:rPr lang="en-US" dirty="0"/>
              <a:t>further said that robotic surgery is the future, saying that Robotic Surgery Database Registry would be set up; a Fellowship in Robotic Surgery would be launched with the collaboration of College of Physicians and Surgeons Pakistan (CPSP); and legislation would be moved to provide legal cover to patients.</a:t>
            </a:r>
          </a:p>
          <a:p>
            <a:pPr marL="0" indent="0">
              <a:buNone/>
            </a:pPr>
            <a:r>
              <a:rPr lang="en-US" dirty="0"/>
              <a:t/>
            </a:r>
            <a:br>
              <a:rPr lang="en-US" dirty="0"/>
            </a:br>
            <a:endParaRPr lang="en-US" dirty="0"/>
          </a:p>
        </p:txBody>
      </p:sp>
    </p:spTree>
    <p:extLst>
      <p:ext uri="{BB962C8B-B14F-4D97-AF65-F5344CB8AC3E}">
        <p14:creationId xmlns:p14="http://schemas.microsoft.com/office/powerpoint/2010/main" val="12055983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Worldwide scope of robotic surgery.</a:t>
            </a:r>
            <a:endParaRPr lang="en-US" dirty="0"/>
          </a:p>
        </p:txBody>
      </p:sp>
      <p:sp>
        <p:nvSpPr>
          <p:cNvPr id="3" name="Content Placeholder 2"/>
          <p:cNvSpPr>
            <a:spLocks noGrp="1"/>
          </p:cNvSpPr>
          <p:nvPr>
            <p:ph idx="1"/>
          </p:nvPr>
        </p:nvSpPr>
        <p:spPr/>
        <p:txBody>
          <a:bodyPr/>
          <a:lstStyle/>
          <a:p>
            <a:r>
              <a:rPr lang="en-US" dirty="0" smtClean="0"/>
              <a:t>Robotic surgery is being used most by USA in a percentage of41.7%</a:t>
            </a:r>
          </a:p>
          <a:p>
            <a:r>
              <a:rPr lang="en-US" dirty="0" smtClean="0"/>
              <a:t>In </a:t>
            </a:r>
            <a:r>
              <a:rPr lang="en-US" dirty="0" err="1" smtClean="0"/>
              <a:t>india,with</a:t>
            </a:r>
            <a:r>
              <a:rPr lang="en-US" dirty="0" smtClean="0"/>
              <a:t> </a:t>
            </a:r>
            <a:r>
              <a:rPr lang="en-US" dirty="0"/>
              <a:t>increases in demand, funding, and research, </a:t>
            </a:r>
            <a:r>
              <a:rPr lang="en-US" b="1" dirty="0"/>
              <a:t>the robotic surgery market is projected to reach $14.4 billion by 2026</a:t>
            </a:r>
            <a:r>
              <a:rPr lang="en-US" dirty="0" smtClean="0"/>
              <a:t>.</a:t>
            </a:r>
          </a:p>
          <a:p>
            <a:r>
              <a:rPr lang="en-US" dirty="0" smtClean="0"/>
              <a:t>In </a:t>
            </a:r>
            <a:r>
              <a:rPr lang="en-US" dirty="0" err="1" smtClean="0"/>
              <a:t>uk</a:t>
            </a:r>
            <a:r>
              <a:rPr lang="en-US" dirty="0" smtClean="0"/>
              <a:t>,</a:t>
            </a:r>
            <a:r>
              <a:rPr lang="en-US" dirty="0"/>
              <a:t> There are now nearly 6000 da Vinci systems in operation that have performed 8.5 million procedures worldwide.</a:t>
            </a:r>
            <a:r>
              <a:rPr lang="en-US" baseline="30000" dirty="0">
                <a:hlinkClick r:id="rId2"/>
              </a:rPr>
              <a:t>6</a:t>
            </a:r>
            <a:r>
              <a:rPr lang="en-US" dirty="0"/>
              <a:t> The UK is home to approximately 115 of these, covering the majority of geographical regions.</a:t>
            </a:r>
          </a:p>
        </p:txBody>
      </p:sp>
    </p:spTree>
    <p:extLst>
      <p:ext uri="{BB962C8B-B14F-4D97-AF65-F5344CB8AC3E}">
        <p14:creationId xmlns:p14="http://schemas.microsoft.com/office/powerpoint/2010/main" val="28734761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of robotic surgery</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Robots Are The Future – And The Future Is </a:t>
            </a:r>
            <a:r>
              <a:rPr lang="en-US" b="1" dirty="0" smtClean="0"/>
              <a:t>Now</a:t>
            </a:r>
            <a:r>
              <a:rPr lang="en-US" dirty="0" smtClean="0"/>
              <a:t>.</a:t>
            </a:r>
          </a:p>
          <a:p>
            <a:pPr marL="0" indent="0">
              <a:buNone/>
            </a:pPr>
            <a:r>
              <a:rPr lang="en-US" dirty="0"/>
              <a:t>Robotic assisted surgery (RAS) has opened a new frontier of surgery, giving surgeons the ability to peer deeper into the human anatomy and reach areas of the body with a degree of precision beyond human capability</a:t>
            </a:r>
            <a:r>
              <a:rPr lang="en-US" dirty="0" smtClean="0"/>
              <a:t>.</a:t>
            </a:r>
          </a:p>
          <a:p>
            <a:pPr marL="0" indent="0">
              <a:buNone/>
            </a:pPr>
            <a:r>
              <a:rPr lang="en-US" b="1" i="1" dirty="0"/>
              <a:t>Surgery robots are more and more finding their way into medical practice and their worldwide market is anticipated to increase steadily with a growth rate of 22% between 2018 and 2025. With a fast-aging population, and the increased shortage of healthcare professionals, together with important technological developments and innovations in the healthcare field, we are entitled to ask: will robots become the surgeons of the future</a:t>
            </a:r>
            <a:r>
              <a:rPr lang="en-US" b="1" i="1" dirty="0" smtClean="0"/>
              <a:t>? </a:t>
            </a:r>
            <a:r>
              <a:rPr lang="en-US" b="1" i="1" dirty="0" err="1" smtClean="0"/>
              <a:t>Surely.yes</a:t>
            </a:r>
            <a:r>
              <a:rPr lang="en-US" b="1" i="1" dirty="0" smtClean="0"/>
              <a:t>!</a:t>
            </a:r>
          </a:p>
          <a:p>
            <a:pPr marL="0" indent="0">
              <a:buNone/>
            </a:pPr>
            <a:r>
              <a:rPr lang="en-US" b="1" i="1" dirty="0" smtClean="0"/>
              <a:t>As ,</a:t>
            </a:r>
            <a:r>
              <a:rPr lang="en-US" dirty="0">
                <a:solidFill>
                  <a:srgbClr val="202124"/>
                </a:solidFill>
                <a:latin typeface="arial" panose="020B0604020202020204" pitchFamily="34" charset="0"/>
              </a:rPr>
              <a:t> </a:t>
            </a:r>
            <a:r>
              <a:rPr lang="en-US" dirty="0" err="1">
                <a:solidFill>
                  <a:srgbClr val="202124"/>
                </a:solidFill>
                <a:latin typeface="arial" panose="020B0604020202020204" pitchFamily="34" charset="0"/>
              </a:rPr>
              <a:t>Vinod</a:t>
            </a:r>
            <a:r>
              <a:rPr lang="en-US" dirty="0">
                <a:solidFill>
                  <a:srgbClr val="202124"/>
                </a:solidFill>
                <a:latin typeface="arial" panose="020B0604020202020204" pitchFamily="34" charset="0"/>
              </a:rPr>
              <a:t> </a:t>
            </a:r>
            <a:r>
              <a:rPr lang="en-US" dirty="0" err="1">
                <a:solidFill>
                  <a:srgbClr val="202124"/>
                </a:solidFill>
                <a:latin typeface="arial" panose="020B0604020202020204" pitchFamily="34" charset="0"/>
              </a:rPr>
              <a:t>Khosla</a:t>
            </a:r>
            <a:r>
              <a:rPr lang="en-US" dirty="0">
                <a:solidFill>
                  <a:srgbClr val="202124"/>
                </a:solidFill>
                <a:latin typeface="arial" panose="020B0604020202020204" pitchFamily="34" charset="0"/>
              </a:rPr>
              <a:t>, a legendary Silicon Valley investor, </a:t>
            </a:r>
            <a:r>
              <a:rPr lang="en-US" dirty="0" smtClean="0">
                <a:solidFill>
                  <a:srgbClr val="202124"/>
                </a:solidFill>
                <a:latin typeface="arial" panose="020B0604020202020204" pitchFamily="34" charset="0"/>
              </a:rPr>
              <a:t>also argues </a:t>
            </a:r>
            <a:r>
              <a:rPr lang="en-US" dirty="0">
                <a:solidFill>
                  <a:srgbClr val="202124"/>
                </a:solidFill>
                <a:latin typeface="arial" panose="020B0604020202020204" pitchFamily="34" charset="0"/>
              </a:rPr>
              <a:t>that </a:t>
            </a:r>
            <a:r>
              <a:rPr lang="en-US" b="1" dirty="0">
                <a:solidFill>
                  <a:srgbClr val="202124"/>
                </a:solidFill>
                <a:latin typeface="arial" panose="020B0604020202020204" pitchFamily="34" charset="0"/>
              </a:rPr>
              <a:t>robots will replace doctors by 2035</a:t>
            </a:r>
            <a:r>
              <a:rPr lang="en-US" dirty="0">
                <a:solidFill>
                  <a:srgbClr val="202124"/>
                </a:solidFill>
                <a:latin typeface="arial" panose="020B0604020202020204" pitchFamily="34" charset="0"/>
              </a:rPr>
              <a:t>. And there is some evidence that he may be right. ... While the robot took longer than a human, its sutures were much better—more precise and uniform with fewer chances for breakage, leakage, and </a:t>
            </a:r>
            <a:r>
              <a:rPr lang="en-US" dirty="0" smtClean="0">
                <a:solidFill>
                  <a:srgbClr val="202124"/>
                </a:solidFill>
                <a:latin typeface="arial" panose="020B0604020202020204" pitchFamily="34" charset="0"/>
              </a:rPr>
              <a:t>infection.</a:t>
            </a:r>
            <a:endParaRPr lang="en-US" dirty="0"/>
          </a:p>
          <a:p>
            <a:pPr marL="0" indent="0">
              <a:buNone/>
            </a:pPr>
            <a:endParaRPr lang="en-US" dirty="0"/>
          </a:p>
        </p:txBody>
      </p:sp>
    </p:spTree>
    <p:extLst>
      <p:ext uri="{BB962C8B-B14F-4D97-AF65-F5344CB8AC3E}">
        <p14:creationId xmlns:p14="http://schemas.microsoft.com/office/powerpoint/2010/main" val="1260379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a:t>NOTE: these systems have been </a:t>
            </a:r>
            <a:r>
              <a:rPr lang="en-US" dirty="0" smtClean="0"/>
              <a:t>FDA approved </a:t>
            </a:r>
            <a:r>
              <a:rPr lang="en-US" dirty="0"/>
              <a:t>for only a few select surgeries </a:t>
            </a:r>
            <a:r>
              <a:rPr lang="en-US" dirty="0" smtClean="0"/>
              <a:t>(mainly urology and gynecological)</a:t>
            </a:r>
            <a:endParaRPr lang="en-US" dirty="0"/>
          </a:p>
          <a:p>
            <a:r>
              <a:rPr lang="en-US" dirty="0"/>
              <a:t>All these systems show great promise- For example, the ZEUS system </a:t>
            </a:r>
            <a:r>
              <a:rPr lang="en-US"/>
              <a:t>has </a:t>
            </a:r>
            <a:r>
              <a:rPr lang="en-US" smtClean="0"/>
              <a:t>already been </a:t>
            </a:r>
            <a:r>
              <a:rPr lang="en-US" dirty="0"/>
              <a:t>used in Germany to perform </a:t>
            </a:r>
            <a:r>
              <a:rPr lang="en-US" dirty="0" smtClean="0"/>
              <a:t>minimally invasive </a:t>
            </a:r>
            <a:r>
              <a:rPr lang="en-US" dirty="0"/>
              <a:t>coronary bypass surgery</a:t>
            </a:r>
          </a:p>
          <a:p>
            <a:pPr marL="0" indent="0">
              <a:buNone/>
            </a:pPr>
            <a:endParaRPr lang="en-US" dirty="0"/>
          </a:p>
        </p:txBody>
      </p:sp>
    </p:spTree>
    <p:extLst>
      <p:ext uri="{BB962C8B-B14F-4D97-AF65-F5344CB8AC3E}">
        <p14:creationId xmlns:p14="http://schemas.microsoft.com/office/powerpoint/2010/main" val="278457666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157</TotalTime>
  <Words>1070</Words>
  <Application>Microsoft Office PowerPoint</Application>
  <PresentationFormat>Widescreen</PresentationFormat>
  <Paragraphs>78</Paragraphs>
  <Slides>20</Slides>
  <Notes>0</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vt:lpstr>
      <vt:lpstr>Century Gothic</vt:lpstr>
      <vt:lpstr>din-2014</vt:lpstr>
      <vt:lpstr>GothamBook</vt:lpstr>
      <vt:lpstr>Montserrat</vt:lpstr>
      <vt:lpstr>Wingdings</vt:lpstr>
      <vt:lpstr>Wingdings 3</vt:lpstr>
      <vt:lpstr>Ion Boardroom</vt:lpstr>
      <vt:lpstr>ROBOTIC SURGERY</vt:lpstr>
      <vt:lpstr>INTRODUCTION:</vt:lpstr>
      <vt:lpstr>HISTORY:</vt:lpstr>
      <vt:lpstr>ORIGIN OF ROBOTIC  SURGERY</vt:lpstr>
      <vt:lpstr>Why robotic surgery?</vt:lpstr>
      <vt:lpstr>Working:</vt:lpstr>
      <vt:lpstr>Types of robotic surgery:</vt:lpstr>
      <vt:lpstr>AESOP robotic system:</vt:lpstr>
      <vt:lpstr>Da Vinci surgical Robotic System:</vt:lpstr>
      <vt:lpstr>Zeus Robotic Surgical System</vt:lpstr>
      <vt:lpstr>Advantages and disadvantages.</vt:lpstr>
      <vt:lpstr>Working of robotic surgery in Pakistan.</vt:lpstr>
      <vt:lpstr>Cost of robotic surgery</vt:lpstr>
      <vt:lpstr>For the surgeons.</vt:lpstr>
      <vt:lpstr>Success rate  of robotic surgery</vt:lpstr>
      <vt:lpstr>Scope of robotic surgery</vt:lpstr>
      <vt:lpstr>Future of robotic surgery in pakistan</vt:lpstr>
      <vt:lpstr>Worldwide scope of robotic surgery.</vt:lpstr>
      <vt:lpstr>Future of robotic surgery</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ROBOTIC SURGERY</dc:title>
  <dc:creator>Lenovo</dc:creator>
  <cp:lastModifiedBy>Lenovo</cp:lastModifiedBy>
  <cp:revision>22</cp:revision>
  <dcterms:created xsi:type="dcterms:W3CDTF">2022-11-30T10:14:14Z</dcterms:created>
  <dcterms:modified xsi:type="dcterms:W3CDTF">2022-12-04T09:13:04Z</dcterms:modified>
</cp:coreProperties>
</file>