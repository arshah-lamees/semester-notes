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3564" r:id="rId2"/>
    <p:sldId id="3546" r:id="rId3"/>
    <p:sldId id="3547" r:id="rId4"/>
    <p:sldId id="3548" r:id="rId5"/>
    <p:sldId id="3550" r:id="rId6"/>
    <p:sldId id="3551" r:id="rId7"/>
    <p:sldId id="3552" r:id="rId8"/>
    <p:sldId id="3553" r:id="rId9"/>
    <p:sldId id="3554" r:id="rId10"/>
    <p:sldId id="3561" r:id="rId11"/>
    <p:sldId id="3562" r:id="rId12"/>
    <p:sldId id="3556" r:id="rId13"/>
    <p:sldId id="3557" r:id="rId14"/>
    <p:sldId id="3558" r:id="rId15"/>
    <p:sldId id="3559" r:id="rId16"/>
    <p:sldId id="3560" r:id="rId17"/>
  </p:sldIdLst>
  <p:sldSz cx="9144000" cy="6858000" type="screen4x3"/>
  <p:notesSz cx="6954838" cy="93091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D6E0"/>
          </a:solidFill>
        </a:fill>
      </a:tcStyle>
    </a:wholeTbl>
    <a:band2H>
      <a:tcTxStyle/>
      <a:tcStyle>
        <a:tcBdr/>
        <a:fill>
          <a:solidFill>
            <a:srgbClr val="EBECF0"/>
          </a:solidFill>
        </a:fill>
      </a:tcStyle>
    </a:band2H>
    <a:firstCol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EF1D6"/>
          </a:solidFill>
        </a:fill>
      </a:tcStyle>
    </a:wholeTbl>
    <a:band2H>
      <a:tcTxStyle/>
      <a:tcStyle>
        <a:tcBdr/>
        <a:fill>
          <a:solidFill>
            <a:srgbClr val="F7F8EC"/>
          </a:solidFill>
        </a:fill>
      </a:tcStyle>
    </a:band2H>
    <a:firstCol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AD4D3"/>
          </a:solidFill>
        </a:fill>
      </a:tcStyle>
    </a:wholeTbl>
    <a:band2H>
      <a:tcTxStyle/>
      <a:tcStyle>
        <a:tcBdr/>
        <a:fill>
          <a:solidFill>
            <a:srgbClr val="EDEBEA"/>
          </a:solidFill>
        </a:fill>
      </a:tcStyle>
    </a:band2H>
    <a:firstCol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408"/>
    <p:restoredTop sz="77331" autoAdjust="0"/>
  </p:normalViewPr>
  <p:slideViewPr>
    <p:cSldViewPr snapToGrid="0">
      <p:cViewPr varScale="1">
        <p:scale>
          <a:sx n="54" d="100"/>
          <a:sy n="54" d="100"/>
        </p:scale>
        <p:origin x="130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4F447A5-FE75-7BE5-27A6-A43AB08F0F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aa-E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B7CB2D-266E-D39C-A860-645FD90424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95FFDCFF-67F6-0545-B0B4-7D7E4EB34E39}" type="datetimeFigureOut">
              <a:rPr lang="aa-ET" smtClean="0"/>
              <a:t>01/22/2026</a:t>
            </a:fld>
            <a:endParaRPr lang="aa-E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867E79-EC7A-D7A4-3CE0-DBA5152B38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aa-E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29070-3E4D-6EB5-0D4F-6E8537BA24F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39466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68D1F4F7-F321-074E-AB7B-51610595E519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65841020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50938" y="698500"/>
            <a:ext cx="4652962" cy="3490913"/>
          </a:xfrm>
          <a:prstGeom prst="rect">
            <a:avLst/>
          </a:prstGeom>
        </p:spPr>
        <p:txBody>
          <a:bodyPr lIns="92930" tIns="46465" rIns="92930" bIns="46465"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27312" y="4421823"/>
            <a:ext cx="5100215" cy="4189095"/>
          </a:xfrm>
          <a:prstGeom prst="rect">
            <a:avLst/>
          </a:prstGeom>
        </p:spPr>
        <p:txBody>
          <a:bodyPr lIns="92930" tIns="46465" rIns="92930" bIns="46465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1617821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ab.net/tutorial/chi-square-test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datatab.net/statistics-calculator/hypothesis-test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rlz=1C1KNTJ_enPK1083PK1083&amp;cs=0&amp;sca_esv=e7bf22627bcd1c5c&amp;sxsrf=AE3TifMYwAROeq6cyN5R2iO7wFtbhwD4Aw%3A1757441545911&amp;q=Type+I+error&amp;sa=X&amp;ved=2ahUKEwi895L4o8yPAxWrBfsDHTv-G-QQxccNegQIGRAB&amp;mstk=AUtExfCSZYw-ORlH5cuZCdlwEm2Sml4zuH75ojhhthrtZQON7UtecyfBlHwALGfMFnjC4ZI6_RSdA7hew00_HCnXCdqLffzSW8qGcAE7OZORH8k6jqZfuHqXq7Ud62JYAiwRSO1LTFm4jmXoLX20We-tpwuW2iuiTVor-fKw7fT2Bi0bfIQ&amp;csui=3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google.com/search?rlz=1C1KNTJ_enPK1083PK1083&amp;cs=0&amp;sca_esv=e7bf22627bcd1c5c&amp;sxsrf=AE3TifMYwAROeq6cyN5R2iO7wFtbhwD4Aw%3A1757441545911&amp;q=Type+II+error&amp;sa=X&amp;ved=2ahUKEwi895L4o8yPAxWrBfsDHTv-G-QQxccNegQIFxAB&amp;mstk=AUtExfCSZYw-ORlH5cuZCdlwEm2Sml4zuH75ojhhthrtZQON7UtecyfBlHwALGfMFnjC4ZI6_RSdA7hew00_HCnXCdqLffzSW8qGcAE7OZORH8k6jqZfuHqXq7Ud62JYAiwRSO1LTFm4jmXoLX20We-tpwuW2iuiTVor-fKw7fT2Bi0bfIQ&amp;csui=3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sv-SE" alt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xfrm>
            <a:off x="4201881" y="9284859"/>
            <a:ext cx="3215003" cy="488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930" tIns="46465" rIns="92930" bIns="46465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55060" indent="-29040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61631" indent="-232326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26283" indent="-232326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90936" indent="-232326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55588" indent="-23232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3020240" indent="-23232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84893" indent="-23232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949545" indent="-23232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2A4BF49-A9C6-4A58-A315-5AE7217380E6}" type="slidenum">
              <a:rPr lang="fr-BE" altLang="en-US" sz="13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</a:rPr>
              <a:pPr>
                <a:spcBef>
                  <a:spcPct val="0"/>
                </a:spcBef>
              </a:pPr>
              <a:t>1</a:t>
            </a:fld>
            <a:endParaRPr lang="fr-BE" altLang="en-US" sz="1300">
              <a:solidFill>
                <a:srgbClr val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52493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dirty="0">
                <a:effectLst/>
                <a:latin typeface="+mn-lt"/>
                <a:ea typeface="+mn-ea"/>
                <a:cs typeface="+mn-cs"/>
                <a:sym typeface="Calibri"/>
              </a:rPr>
              <a:t>The </a:t>
            </a:r>
            <a:r>
              <a:rPr lang="en-US" sz="1200" b="1" i="0" dirty="0">
                <a:effectLst/>
                <a:latin typeface="+mn-lt"/>
                <a:ea typeface="+mn-ea"/>
                <a:cs typeface="+mn-cs"/>
                <a:sym typeface="Calibri"/>
              </a:rPr>
              <a:t>chi-squared distribution</a:t>
            </a:r>
            <a:r>
              <a:rPr lang="en-US" sz="1200" b="0" i="0" dirty="0">
                <a:effectLst/>
                <a:latin typeface="+mn-lt"/>
                <a:ea typeface="+mn-ea"/>
                <a:cs typeface="+mn-cs"/>
                <a:sym typeface="Calibri"/>
              </a:rPr>
              <a:t> can be derived from the normal distribution. It results from the sum of </a:t>
            </a:r>
            <a:r>
              <a:rPr lang="en-US" sz="1200" b="0" i="1" dirty="0">
                <a:effectLst/>
                <a:latin typeface="+mn-lt"/>
                <a:ea typeface="+mn-ea"/>
                <a:cs typeface="+mn-cs"/>
                <a:sym typeface="Calibri"/>
              </a:rPr>
              <a:t>n</a:t>
            </a:r>
            <a:r>
              <a:rPr lang="en-US" sz="1200" b="0" i="0" dirty="0">
                <a:effectLst/>
                <a:latin typeface="+mn-lt"/>
                <a:ea typeface="+mn-ea"/>
                <a:cs typeface="+mn-cs"/>
                <a:sym typeface="Calibri"/>
              </a:rPr>
              <a:t> normally distributed random variables, where </a:t>
            </a:r>
            <a:r>
              <a:rPr lang="en-US" sz="1200" b="0" i="1" dirty="0">
                <a:effectLst/>
                <a:latin typeface="+mn-lt"/>
                <a:ea typeface="+mn-ea"/>
                <a:cs typeface="+mn-cs"/>
                <a:sym typeface="Calibri"/>
              </a:rPr>
              <a:t>n</a:t>
            </a:r>
            <a:r>
              <a:rPr lang="en-US" sz="1200" b="0" i="0" dirty="0">
                <a:effectLst/>
                <a:latin typeface="+mn-lt"/>
                <a:ea typeface="+mn-ea"/>
                <a:cs typeface="+mn-cs"/>
                <a:sym typeface="Calibri"/>
              </a:rPr>
              <a:t> is the number of degrees of freedom. The </a:t>
            </a:r>
            <a:r>
              <a:rPr lang="en-US" sz="1200" b="1" i="0" dirty="0">
                <a:effectLst/>
                <a:latin typeface="+mn-lt"/>
                <a:ea typeface="+mn-ea"/>
                <a:cs typeface="+mn-cs"/>
                <a:sym typeface="Calibri"/>
              </a:rPr>
              <a:t>critical chi-square value</a:t>
            </a:r>
            <a:r>
              <a:rPr lang="en-US" sz="1200" b="0" i="0" dirty="0">
                <a:effectLst/>
                <a:latin typeface="+mn-lt"/>
                <a:ea typeface="+mn-ea"/>
                <a:cs typeface="+mn-cs"/>
                <a:sym typeface="Calibri"/>
              </a:rPr>
              <a:t> for a given degree of freedom can be read from the chi-square table.</a:t>
            </a:r>
          </a:p>
          <a:p>
            <a:r>
              <a:rPr lang="en-US" sz="1200" b="0" i="0" dirty="0">
                <a:effectLst/>
                <a:latin typeface="+mn-lt"/>
                <a:ea typeface="+mn-ea"/>
                <a:cs typeface="+mn-cs"/>
                <a:sym typeface="Calibri"/>
              </a:rPr>
              <a:t>If a </a:t>
            </a:r>
            <a:r>
              <a:rPr lang="en-US" sz="1200" b="1" i="0" dirty="0">
                <a:effectLst/>
                <a:latin typeface="+mn-lt"/>
                <a:ea typeface="+mn-ea"/>
                <a:cs typeface="+mn-cs"/>
                <a:sym typeface="Calibri"/>
              </a:rPr>
              <a:t>hypothesis</a:t>
            </a:r>
            <a:r>
              <a:rPr lang="en-US" sz="1200" b="0" i="0" dirty="0">
                <a:effectLst/>
                <a:latin typeface="+mn-lt"/>
                <a:ea typeface="+mn-ea"/>
                <a:cs typeface="+mn-cs"/>
                <a:sym typeface="Calibri"/>
              </a:rPr>
              <a:t> is to be tested with the </a:t>
            </a:r>
            <a:r>
              <a:rPr lang="en-US" sz="1200" b="0" i="0" u="none" strike="noStrike" dirty="0">
                <a:effectLst/>
                <a:latin typeface="+mn-lt"/>
                <a:ea typeface="+mn-ea"/>
                <a:cs typeface="+mn-cs"/>
                <a:sym typeface="Calibri"/>
                <a:hlinkClick r:id="rId3"/>
              </a:rPr>
              <a:t>chi-squared test</a:t>
            </a:r>
            <a:r>
              <a:rPr lang="en-US" sz="1200" b="0" i="0" dirty="0">
                <a:effectLst/>
                <a:latin typeface="+mn-lt"/>
                <a:ea typeface="+mn-ea"/>
                <a:cs typeface="+mn-cs"/>
                <a:sym typeface="Calibri"/>
              </a:rPr>
              <a:t>, we have to compare the calculated chi-squared value resulting from the test with the critical value. Depending on the significance level alpha, the </a:t>
            </a:r>
            <a:r>
              <a:rPr lang="en-US" sz="1200" b="1" i="0" dirty="0">
                <a:effectLst/>
                <a:latin typeface="+mn-lt"/>
                <a:ea typeface="+mn-ea"/>
                <a:cs typeface="+mn-cs"/>
                <a:sym typeface="Calibri"/>
              </a:rPr>
              <a:t>critical value</a:t>
            </a:r>
            <a:r>
              <a:rPr lang="en-US" sz="1200" b="0" i="0" dirty="0">
                <a:effectLst/>
                <a:latin typeface="+mn-lt"/>
                <a:ea typeface="+mn-ea"/>
                <a:cs typeface="+mn-cs"/>
                <a:sym typeface="Calibri"/>
              </a:rPr>
              <a:t> can be read from the chi-squared table below. Usually the significance level alpha is 0.05. If the calculated chi-squared value is lower than the critical value, the null hypothesis can be </a:t>
            </a:r>
            <a:r>
              <a:rPr lang="en-US" sz="1200" b="0" i="0" dirty="0" err="1">
                <a:effectLst/>
                <a:latin typeface="+mn-lt"/>
                <a:ea typeface="+mn-ea"/>
                <a:cs typeface="+mn-cs"/>
                <a:sym typeface="Calibri"/>
              </a:rPr>
              <a:t>mantained</a:t>
            </a:r>
            <a:r>
              <a:rPr lang="en-US" sz="1200" b="0" i="0" dirty="0">
                <a:effectLst/>
                <a:latin typeface="+mn-lt"/>
                <a:ea typeface="+mn-ea"/>
                <a:cs typeface="+mn-cs"/>
                <a:sym typeface="Calibri"/>
              </a:rPr>
              <a:t>.</a:t>
            </a:r>
          </a:p>
          <a:p>
            <a:r>
              <a:rPr lang="en-US" sz="1200" b="0" i="0" dirty="0">
                <a:effectLst/>
                <a:latin typeface="+mn-lt"/>
                <a:ea typeface="+mn-ea"/>
                <a:cs typeface="+mn-cs"/>
                <a:sym typeface="Calibri"/>
              </a:rPr>
              <a:t>The </a:t>
            </a:r>
            <a:r>
              <a:rPr lang="en-US" sz="1200" b="0" i="0" u="none" strike="noStrike" dirty="0">
                <a:effectLst/>
                <a:latin typeface="+mn-lt"/>
                <a:ea typeface="+mn-ea"/>
                <a:cs typeface="+mn-cs"/>
                <a:sym typeface="Calibri"/>
                <a:hlinkClick r:id="rId4"/>
              </a:rPr>
              <a:t>chi-squared calculator</a:t>
            </a:r>
            <a:r>
              <a:rPr lang="en-US" sz="1200" b="0" i="0" dirty="0">
                <a:effectLst/>
                <a:latin typeface="+mn-lt"/>
                <a:ea typeface="+mn-ea"/>
                <a:cs typeface="+mn-cs"/>
                <a:sym typeface="Calibri"/>
              </a:rPr>
              <a:t> on </a:t>
            </a:r>
            <a:r>
              <a:rPr lang="en-US" sz="1200" b="0" i="0" dirty="0" err="1">
                <a:effectLst/>
                <a:latin typeface="+mn-lt"/>
                <a:ea typeface="+mn-ea"/>
                <a:cs typeface="+mn-cs"/>
                <a:sym typeface="Calibri"/>
              </a:rPr>
              <a:t>DATAtab</a:t>
            </a:r>
            <a:r>
              <a:rPr lang="en-US" sz="1200" b="0" i="0" dirty="0">
                <a:effectLst/>
                <a:latin typeface="+mn-lt"/>
                <a:ea typeface="+mn-ea"/>
                <a:cs typeface="+mn-cs"/>
                <a:sym typeface="Calibri"/>
              </a:rPr>
              <a:t> gives can have important values automatically. </a:t>
            </a:r>
            <a:r>
              <a:rPr lang="en-US" sz="1200" b="0" i="0">
                <a:effectLst/>
                <a:latin typeface="+mn-lt"/>
                <a:ea typeface="+mn-ea"/>
                <a:cs typeface="+mn-cs"/>
                <a:sym typeface="Calibri"/>
              </a:rPr>
              <a:t>If you need help, take a look at the </a:t>
            </a:r>
            <a:r>
              <a:rPr lang="en-US" sz="1200" b="0" i="0" u="none" strike="noStrike">
                <a:effectLst/>
                <a:latin typeface="+mn-lt"/>
                <a:ea typeface="+mn-ea"/>
                <a:cs typeface="+mn-cs"/>
                <a:sym typeface="Calibri"/>
                <a:hlinkClick r:id="rId3"/>
              </a:rPr>
              <a:t>example of the chi-squared test</a:t>
            </a:r>
            <a:r>
              <a:rPr lang="en-US" sz="1200" b="0" i="0">
                <a:effectLst/>
                <a:latin typeface="+mn-lt"/>
                <a:ea typeface="+mn-ea"/>
                <a:cs typeface="+mn-cs"/>
                <a:sym typeface="Calibri"/>
              </a:rPr>
              <a:t>.</a:t>
            </a:r>
          </a:p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570658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dirty="0">
                <a:effectLst/>
                <a:latin typeface="+mn-lt"/>
                <a:ea typeface="+mn-ea"/>
                <a:cs typeface="+mn-cs"/>
                <a:sym typeface="Calibri"/>
              </a:rPr>
              <a:t>In a chi-square test, the significance level (alpha, α) represents the acceptable risk of incorrectly rejecting a true null hypothesis, typically set at 0.05 (5%). A small p-value (p ≤ α) indicates a statistically significant association or deviation, allowing you to reject the null hypothesis, while a large p-value (p &gt; α) means there's not enough evidence to reject the null hypothesis. </a:t>
            </a:r>
          </a:p>
          <a:p>
            <a:r>
              <a:rPr lang="en-US" sz="1200" b="0" i="0" dirty="0">
                <a:effectLst/>
                <a:latin typeface="+mn-lt"/>
                <a:ea typeface="+mn-ea"/>
                <a:cs typeface="+mn-cs"/>
                <a:sym typeface="Calibri"/>
              </a:rPr>
              <a:t>What the Significance Level Means</a:t>
            </a:r>
          </a:p>
          <a:p>
            <a:r>
              <a:rPr lang="en-US" sz="1200" b="1" i="0" dirty="0">
                <a:effectLst/>
                <a:latin typeface="+mn-lt"/>
                <a:ea typeface="+mn-ea"/>
                <a:cs typeface="+mn-cs"/>
                <a:sym typeface="Calibri"/>
              </a:rPr>
              <a:t>Risk of Error:</a:t>
            </a:r>
            <a:r>
              <a:rPr lang="en-US" sz="1200" b="0" i="0" dirty="0">
                <a:effectLst/>
                <a:latin typeface="+mn-lt"/>
                <a:ea typeface="+mn-ea"/>
                <a:cs typeface="+mn-cs"/>
                <a:sym typeface="Calibri"/>
              </a:rPr>
              <a:t> </a:t>
            </a:r>
          </a:p>
          <a:p>
            <a:r>
              <a:rPr lang="en-US" sz="1200" b="0" i="0" dirty="0">
                <a:effectLst/>
                <a:latin typeface="+mn-lt"/>
                <a:ea typeface="+mn-ea"/>
                <a:cs typeface="+mn-cs"/>
                <a:sym typeface="Calibri"/>
              </a:rPr>
              <a:t>The significance level is the probability of making a </a:t>
            </a:r>
            <a:r>
              <a:rPr lang="en-US" sz="1200" b="0" i="0" dirty="0">
                <a:effectLst/>
                <a:latin typeface="+mn-lt"/>
                <a:ea typeface="+mn-ea"/>
                <a:cs typeface="+mn-cs"/>
                <a:sym typeface="Calibri"/>
                <a:hlinkClick r:id="rId3"/>
              </a:rPr>
              <a:t>Type I error</a:t>
            </a:r>
            <a:r>
              <a:rPr lang="en-US" sz="1200" b="0" i="0" dirty="0">
                <a:effectLst/>
                <a:latin typeface="+mn-lt"/>
                <a:ea typeface="+mn-ea"/>
                <a:cs typeface="+mn-cs"/>
                <a:sym typeface="Calibri"/>
              </a:rPr>
              <a:t> (false positive)—concluding that an effect exists when it doesn't. </a:t>
            </a:r>
          </a:p>
          <a:p>
            <a:r>
              <a:rPr lang="en-US" sz="1200" b="1" i="0" dirty="0">
                <a:effectLst/>
                <a:latin typeface="+mn-lt"/>
                <a:ea typeface="+mn-ea"/>
                <a:cs typeface="+mn-cs"/>
                <a:sym typeface="Calibri"/>
              </a:rPr>
              <a:t>By Convention:</a:t>
            </a:r>
            <a:r>
              <a:rPr lang="en-US" sz="1200" b="0" i="0" dirty="0">
                <a:effectLst/>
                <a:latin typeface="+mn-lt"/>
                <a:ea typeface="+mn-ea"/>
                <a:cs typeface="+mn-cs"/>
                <a:sym typeface="Calibri"/>
              </a:rPr>
              <a:t> </a:t>
            </a:r>
          </a:p>
          <a:p>
            <a:r>
              <a:rPr lang="en-US" sz="1200" b="0" i="0" dirty="0">
                <a:effectLst/>
                <a:latin typeface="+mn-lt"/>
                <a:ea typeface="+mn-ea"/>
                <a:cs typeface="+mn-cs"/>
                <a:sym typeface="Calibri"/>
              </a:rPr>
              <a:t>A significance level of 0.05 (or 5%) is a common choice in statistics, meaning you're willing to accept a 5% chance of a false positive. </a:t>
            </a:r>
          </a:p>
          <a:p>
            <a:r>
              <a:rPr lang="en-US" sz="1200" b="1" i="0" dirty="0">
                <a:effectLst/>
                <a:latin typeface="+mn-lt"/>
                <a:ea typeface="+mn-ea"/>
                <a:cs typeface="+mn-cs"/>
                <a:sym typeface="Calibri"/>
              </a:rPr>
              <a:t>Trade-Offs:</a:t>
            </a:r>
            <a:r>
              <a:rPr lang="en-US" sz="1200" b="0" i="0" dirty="0">
                <a:effectLst/>
                <a:latin typeface="+mn-lt"/>
                <a:ea typeface="+mn-ea"/>
                <a:cs typeface="+mn-cs"/>
                <a:sym typeface="Calibri"/>
              </a:rPr>
              <a:t> </a:t>
            </a:r>
          </a:p>
          <a:p>
            <a:r>
              <a:rPr lang="en-US" sz="1200" b="0" i="0" dirty="0">
                <a:effectLst/>
                <a:latin typeface="+mn-lt"/>
                <a:ea typeface="+mn-ea"/>
                <a:cs typeface="+mn-cs"/>
                <a:sym typeface="Calibri"/>
              </a:rPr>
              <a:t>A lower alpha (e.g., 0.01) reduces the risk of Type I errors but increases the risk of a </a:t>
            </a:r>
            <a:r>
              <a:rPr lang="en-US" sz="1200" b="0" i="0" dirty="0">
                <a:effectLst/>
                <a:latin typeface="+mn-lt"/>
                <a:ea typeface="+mn-ea"/>
                <a:cs typeface="+mn-cs"/>
                <a:sym typeface="Calibri"/>
                <a:hlinkClick r:id="rId4"/>
              </a:rPr>
              <a:t>Type II error</a:t>
            </a:r>
            <a:r>
              <a:rPr lang="en-US" sz="1200" b="0" i="0" dirty="0">
                <a:effectLst/>
                <a:latin typeface="+mn-lt"/>
                <a:ea typeface="+mn-ea"/>
                <a:cs typeface="+mn-cs"/>
                <a:sym typeface="Calibri"/>
              </a:rPr>
              <a:t> (false negative), and vice versa. </a:t>
            </a:r>
          </a:p>
          <a:p>
            <a:r>
              <a:rPr lang="en-US" sz="1200" b="0" i="0" dirty="0">
                <a:effectLst/>
                <a:latin typeface="+mn-lt"/>
                <a:ea typeface="+mn-ea"/>
                <a:cs typeface="+mn-cs"/>
                <a:sym typeface="Calibri"/>
              </a:rPr>
              <a:t>How to Use It in a Chi-Square Test </a:t>
            </a:r>
          </a:p>
          <a:p>
            <a:r>
              <a:rPr lang="en-US" sz="1200" b="1" i="0" dirty="0">
                <a:effectLst/>
                <a:latin typeface="+mn-lt"/>
                <a:ea typeface="+mn-ea"/>
                <a:cs typeface="+mn-cs"/>
                <a:sym typeface="Calibri"/>
              </a:rPr>
              <a:t>Choose Alpha:</a:t>
            </a:r>
            <a:r>
              <a:rPr lang="en-US" sz="1200" b="0" i="0" dirty="0">
                <a:effectLst/>
                <a:latin typeface="+mn-lt"/>
                <a:ea typeface="+mn-ea"/>
                <a:cs typeface="+mn-cs"/>
                <a:sym typeface="Calibri"/>
              </a:rPr>
              <a:t> Before conducting the test, select a significance level (e.g., α = 0.05).</a:t>
            </a:r>
          </a:p>
          <a:p>
            <a:r>
              <a:rPr lang="en-US" sz="1200" b="1" i="0" dirty="0">
                <a:effectLst/>
                <a:latin typeface="+mn-lt"/>
                <a:ea typeface="+mn-ea"/>
                <a:cs typeface="+mn-cs"/>
                <a:sym typeface="Calibri"/>
              </a:rPr>
              <a:t>Get Your P-Value:</a:t>
            </a:r>
            <a:r>
              <a:rPr lang="en-US" sz="1200" b="0" i="0" dirty="0">
                <a:effectLst/>
                <a:latin typeface="+mn-lt"/>
                <a:ea typeface="+mn-ea"/>
                <a:cs typeface="+mn-cs"/>
                <a:sym typeface="Calibri"/>
              </a:rPr>
              <a:t> Perform the chi-square test to obtain a p-value, which is the probability of observing the data (or more extreme data) if the null hypothesis were true.</a:t>
            </a:r>
          </a:p>
          <a:p>
            <a:r>
              <a:rPr lang="en-US" sz="1200" b="1" i="0" dirty="0">
                <a:effectLst/>
                <a:latin typeface="+mn-lt"/>
                <a:ea typeface="+mn-ea"/>
                <a:cs typeface="+mn-cs"/>
                <a:sym typeface="Calibri"/>
              </a:rPr>
              <a:t>Compare P-Value to Alpha:</a:t>
            </a:r>
            <a:endParaRPr lang="en-US" sz="1200" b="0" i="0" dirty="0">
              <a:effectLst/>
              <a:latin typeface="+mn-lt"/>
              <a:ea typeface="+mn-ea"/>
              <a:cs typeface="+mn-cs"/>
              <a:sym typeface="Calibri"/>
            </a:endParaRPr>
          </a:p>
          <a:p>
            <a:pPr lvl="1"/>
            <a:r>
              <a:rPr lang="en-US" sz="1200" b="1" i="0" dirty="0">
                <a:effectLst/>
                <a:latin typeface="+mn-lt"/>
                <a:ea typeface="+mn-ea"/>
                <a:cs typeface="+mn-cs"/>
                <a:sym typeface="Calibri"/>
              </a:rPr>
              <a:t>If p ≤ α:</a:t>
            </a:r>
            <a:r>
              <a:rPr lang="en-US" sz="1200" b="0" i="0" dirty="0">
                <a:effectLst/>
                <a:latin typeface="+mn-lt"/>
                <a:ea typeface="+mn-ea"/>
                <a:cs typeface="+mn-cs"/>
                <a:sym typeface="Calibri"/>
              </a:rPr>
              <a:t> Reject the null hypothesis. There is a statistically significant association or deviation.</a:t>
            </a:r>
          </a:p>
          <a:p>
            <a:pPr lvl="1"/>
            <a:r>
              <a:rPr lang="en-US" sz="1200" b="1" i="0" dirty="0">
                <a:effectLst/>
                <a:latin typeface="+mn-lt"/>
                <a:ea typeface="+mn-ea"/>
                <a:cs typeface="+mn-cs"/>
                <a:sym typeface="Calibri"/>
              </a:rPr>
              <a:t>If p &gt; α:</a:t>
            </a:r>
            <a:r>
              <a:rPr lang="en-US" sz="1200" b="0" i="0" dirty="0">
                <a:effectLst/>
                <a:latin typeface="+mn-lt"/>
                <a:ea typeface="+mn-ea"/>
                <a:cs typeface="+mn-cs"/>
                <a:sym typeface="Calibri"/>
              </a:rPr>
              <a:t> Fail to reject the null hypothesis. </a:t>
            </a:r>
            <a:r>
              <a:rPr lang="en-US" sz="1200" b="0" i="0">
                <a:effectLst/>
                <a:latin typeface="+mn-lt"/>
                <a:ea typeface="+mn-ea"/>
                <a:cs typeface="+mn-cs"/>
                <a:sym typeface="Calibri"/>
              </a:rPr>
              <a:t>There is not enough statistical evidence to conclude that there is an association or deviation.</a:t>
            </a:r>
          </a:p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2482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bg>
      <p:bgPr>
        <a:solidFill>
          <a:srgbClr val="4646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Text"/>
          <p:cNvSpPr txBox="1"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rgbClr val="DDE9EC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95400" y="4267200"/>
            <a:ext cx="6781800" cy="1143000"/>
          </a:xfrm>
          <a:prstGeom prst="rect">
            <a:avLst/>
          </a:prstGeom>
        </p:spPr>
        <p:txBody>
          <a:bodyPr/>
          <a:lstStyle>
            <a:lvl1pPr marL="0" indent="0" algn="r">
              <a:buClrTx/>
              <a:buSzTx/>
              <a:buNone/>
              <a:defRPr sz="2000">
                <a:solidFill>
                  <a:srgbClr val="FFFFFF"/>
                </a:solidFill>
              </a:defRPr>
            </a:lvl1pPr>
            <a:lvl2pPr marL="0" indent="274320" algn="r">
              <a:buClrTx/>
              <a:buSzTx/>
              <a:buNone/>
              <a:defRPr sz="2000">
                <a:solidFill>
                  <a:srgbClr val="FFFFFF"/>
                </a:solidFill>
              </a:defRPr>
            </a:lvl2pPr>
            <a:lvl3pPr marL="0" indent="594360" algn="r">
              <a:buClrTx/>
              <a:buSzTx/>
              <a:buNone/>
              <a:defRPr sz="2000">
                <a:solidFill>
                  <a:srgbClr val="FFFFFF"/>
                </a:solidFill>
              </a:defRPr>
            </a:lvl3pPr>
            <a:lvl4pPr marL="0" indent="868680" algn="r">
              <a:buClrTx/>
              <a:buSzTx/>
              <a:buNone/>
              <a:defRPr sz="2000">
                <a:solidFill>
                  <a:srgbClr val="FFFFFF"/>
                </a:solidFill>
              </a:defRPr>
            </a:lvl4pPr>
            <a:lvl5pPr marL="0" indent="1143000" algn="r">
              <a:buClrTx/>
              <a:buSzTx/>
              <a:buNone/>
              <a:defRPr sz="20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69847" y="6355079"/>
            <a:ext cx="301909" cy="30734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DE9EC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9" name="Rectangle 6"/>
          <p:cNvSpPr/>
          <p:nvPr/>
        </p:nvSpPr>
        <p:spPr>
          <a:xfrm>
            <a:off x="914400" y="2819399"/>
            <a:ext cx="7315200" cy="1280162"/>
          </a:xfrm>
          <a:prstGeom prst="rect">
            <a:avLst/>
          </a:prstGeom>
          <a:ln w="6350" cap="rnd">
            <a:solidFill>
              <a:schemeClr val="accent1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0" name="Rectangle 7"/>
          <p:cNvSpPr/>
          <p:nvPr/>
        </p:nvSpPr>
        <p:spPr>
          <a:xfrm>
            <a:off x="914400" y="2819399"/>
            <a:ext cx="228600" cy="128016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219200"/>
            <a:ext cx="4041648" cy="493776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</p:spPr>
        <p:txBody>
          <a:bodyPr anchor="ctr"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285875"/>
            <a:ext cx="4040188" cy="685800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SzTx/>
              <a:buNone/>
              <a:defRPr sz="2400" b="1">
                <a:solidFill>
                  <a:schemeClr val="accent2"/>
                </a:solidFill>
              </a:defRPr>
            </a:lvl1pPr>
            <a:lvl2pPr marL="0" indent="274320">
              <a:buClrTx/>
              <a:buSzTx/>
              <a:buNone/>
              <a:defRPr sz="2400" b="1">
                <a:solidFill>
                  <a:schemeClr val="accent2"/>
                </a:solidFill>
              </a:defRPr>
            </a:lvl2pPr>
            <a:lvl3pPr marL="0" indent="594360">
              <a:buClrTx/>
              <a:buSzTx/>
              <a:buNone/>
              <a:defRPr sz="2400" b="1">
                <a:solidFill>
                  <a:schemeClr val="accent2"/>
                </a:solidFill>
              </a:defRPr>
            </a:lvl3pPr>
            <a:lvl4pPr marL="0" indent="868680">
              <a:buClrTx/>
              <a:buSzTx/>
              <a:buNone/>
              <a:defRPr sz="2400" b="1">
                <a:solidFill>
                  <a:schemeClr val="accent2"/>
                </a:solidFill>
              </a:defRPr>
            </a:lvl4pPr>
            <a:lvl5pPr marL="0" indent="1143000">
              <a:buClrTx/>
              <a:buSzTx/>
              <a:buNone/>
              <a:defRPr sz="2400" b="1">
                <a:solidFill>
                  <a:schemeClr val="accent2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648200" y="1295400"/>
            <a:ext cx="4041775" cy="685800"/>
          </a:xfrm>
          <a:prstGeom prst="rect">
            <a:avLst/>
          </a:prstGeom>
        </p:spPr>
        <p:txBody>
          <a:bodyPr anchor="b"/>
          <a:lstStyle/>
          <a:p>
            <a:pPr marL="0" indent="0">
              <a:buClrTx/>
              <a:buSzTx/>
              <a:buNone/>
              <a:defRPr sz="2400" b="1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Text"/>
          <p:cNvSpPr txBox="1"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  <a:prstGeom prst="rect">
            <a:avLst/>
          </a:prstGeom>
        </p:spPr>
        <p:txBody>
          <a:bodyPr/>
          <a:lstStyle>
            <a:lvl1pPr>
              <a:defRPr sz="2000" b="1"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r>
              <a:t>Title Text</a:t>
            </a:r>
          </a:p>
        </p:txBody>
      </p:sp>
      <p:sp>
        <p:nvSpPr>
          <p:cNvPr id="8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324600" y="1219200"/>
            <a:ext cx="2514600" cy="48434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00"/>
              </a:lnSpc>
              <a:spcBef>
                <a:spcPts val="1000"/>
              </a:spcBef>
              <a:buClrTx/>
              <a:buSzTx/>
              <a:buNone/>
              <a:defRPr sz="1600">
                <a:solidFill>
                  <a:srgbClr val="464653"/>
                </a:solidFill>
              </a:defRPr>
            </a:lvl1pPr>
            <a:lvl2pPr marL="0" indent="274320">
              <a:lnSpc>
                <a:spcPts val="2200"/>
              </a:lnSpc>
              <a:spcBef>
                <a:spcPts val="1000"/>
              </a:spcBef>
              <a:buClrTx/>
              <a:buSzTx/>
              <a:buNone/>
              <a:defRPr sz="1600">
                <a:solidFill>
                  <a:srgbClr val="464653"/>
                </a:solidFill>
              </a:defRPr>
            </a:lvl2pPr>
            <a:lvl3pPr marL="0" indent="594360">
              <a:lnSpc>
                <a:spcPts val="2200"/>
              </a:lnSpc>
              <a:spcBef>
                <a:spcPts val="1000"/>
              </a:spcBef>
              <a:buClrTx/>
              <a:buSzTx/>
              <a:buNone/>
              <a:defRPr sz="1600">
                <a:solidFill>
                  <a:srgbClr val="464653"/>
                </a:solidFill>
              </a:defRPr>
            </a:lvl3pPr>
            <a:lvl4pPr marL="0" indent="868680">
              <a:lnSpc>
                <a:spcPts val="2200"/>
              </a:lnSpc>
              <a:spcBef>
                <a:spcPts val="1000"/>
              </a:spcBef>
              <a:buClrTx/>
              <a:buSzTx/>
              <a:buNone/>
              <a:defRPr sz="1600">
                <a:solidFill>
                  <a:srgbClr val="464653"/>
                </a:solidFill>
              </a:defRPr>
            </a:lvl4pPr>
            <a:lvl5pPr marL="0" indent="1143000">
              <a:lnSpc>
                <a:spcPts val="2200"/>
              </a:lnSpc>
              <a:spcBef>
                <a:spcPts val="1000"/>
              </a:spcBef>
              <a:buClrTx/>
              <a:buSzTx/>
              <a:buNone/>
              <a:defRPr sz="1600">
                <a:solidFill>
                  <a:srgbClr val="464653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87" name="Straight Connector 7"/>
          <p:cNvSpPr/>
          <p:nvPr/>
        </p:nvSpPr>
        <p:spPr>
          <a:xfrm>
            <a:off x="457200" y="6353175"/>
            <a:ext cx="8229601" cy="0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8" name="Straight Connector 9"/>
          <p:cNvSpPr/>
          <p:nvPr/>
        </p:nvSpPr>
        <p:spPr>
          <a:xfrm flipH="1">
            <a:off x="6178800" y="307339"/>
            <a:ext cx="1" cy="6035041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9" name="Isosceles Triangle 8"/>
          <p:cNvSpPr/>
          <p:nvPr/>
        </p:nvSpPr>
        <p:spPr>
          <a:xfrm rot="5400000">
            <a:off x="419099" y="6467474"/>
            <a:ext cx="190850" cy="120316"/>
          </a:xfrm>
          <a:prstGeom prst="triangl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icture with Caption">
    <p:bg>
      <p:bgPr>
        <a:solidFill>
          <a:srgbClr val="4646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Text"/>
          <p:cNvSpPr txBox="1"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prstGeom prst="rect">
            <a:avLst/>
          </a:prstGeom>
          <a:ln w="9525">
            <a:solidFill>
              <a:schemeClr val="accent1"/>
            </a:solidFill>
            <a:round/>
          </a:ln>
        </p:spPr>
        <p:txBody>
          <a:bodyPr anchor="ctr"/>
          <a:lstStyle>
            <a:lvl1pPr algn="r">
              <a:defRPr sz="2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97" name="Picture Placeholder 2"/>
          <p:cNvSpPr>
            <a:spLocks noGrp="1"/>
          </p:cNvSpPr>
          <p:nvPr>
            <p:ph type="pic" idx="21"/>
          </p:nvPr>
        </p:nvSpPr>
        <p:spPr>
          <a:xfrm>
            <a:off x="457200" y="1905000"/>
            <a:ext cx="8229600" cy="42702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9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219200"/>
            <a:ext cx="8229600" cy="533400"/>
          </a:xfrm>
          <a:prstGeom prst="rect">
            <a:avLst/>
          </a:prstGeom>
        </p:spPr>
        <p:txBody>
          <a:bodyPr anchor="ctr"/>
          <a:lstStyle>
            <a:lvl1pPr marL="0" indent="0">
              <a:buClrTx/>
              <a:buSzTx/>
              <a:buNone/>
              <a:defRPr sz="1400">
                <a:solidFill>
                  <a:srgbClr val="FFFFFF"/>
                </a:solidFill>
              </a:defRPr>
            </a:lvl1pPr>
            <a:lvl2pPr marL="594360" indent="-320040">
              <a:buClrTx/>
              <a:defRPr sz="1400">
                <a:solidFill>
                  <a:srgbClr val="FFFFFF"/>
                </a:solidFill>
              </a:defRPr>
            </a:lvl2pPr>
            <a:lvl3pPr marL="914400" indent="-320039">
              <a:buClrTx/>
              <a:defRPr sz="1400">
                <a:solidFill>
                  <a:srgbClr val="FFFFFF"/>
                </a:solidFill>
              </a:defRPr>
            </a:lvl3pPr>
            <a:lvl4pPr marL="1224280" indent="-355600">
              <a:buClrTx/>
              <a:defRPr sz="1400">
                <a:solidFill>
                  <a:srgbClr val="FFFFFF"/>
                </a:solidFill>
              </a:defRPr>
            </a:lvl4pPr>
            <a:lvl5pPr marL="1498600" indent="-355600">
              <a:buClrTx/>
              <a:defRPr sz="14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DE9EC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00" name="Straight Connector 7"/>
          <p:cNvSpPr/>
          <p:nvPr/>
        </p:nvSpPr>
        <p:spPr>
          <a:xfrm>
            <a:off x="457200" y="6353175"/>
            <a:ext cx="8229601" cy="0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1" name="Isosceles Triangle 8"/>
          <p:cNvSpPr/>
          <p:nvPr/>
        </p:nvSpPr>
        <p:spPr>
          <a:xfrm rot="5400000">
            <a:off x="419099" y="6467474"/>
            <a:ext cx="190850" cy="120316"/>
          </a:xfrm>
          <a:prstGeom prst="triangl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2" name="Rectangle 9"/>
          <p:cNvSpPr/>
          <p:nvPr/>
        </p:nvSpPr>
        <p:spPr>
          <a:xfrm>
            <a:off x="457199" y="500856"/>
            <a:ext cx="182882" cy="685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57175" indent="-257175">
              <a:buFont typeface="Wingdings" panose="05000000000000000000" pitchFamily="2" charset="2"/>
              <a:buChar char="q"/>
              <a:defRPr sz="1800"/>
            </a:lvl1pPr>
            <a:lvl2pPr marL="288036" indent="-137160">
              <a:buFont typeface="Wingdings" panose="05000000000000000000" pitchFamily="2" charset="2"/>
              <a:buChar char="§"/>
              <a:defRPr sz="15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308737" cy="307777"/>
          </a:xfrm>
        </p:spPr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158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27"/>
          <p:cNvSpPr/>
          <p:nvPr/>
        </p:nvSpPr>
        <p:spPr>
          <a:xfrm>
            <a:off x="457200" y="6353175"/>
            <a:ext cx="8229601" cy="0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" name="Straight Connector 28"/>
          <p:cNvSpPr/>
          <p:nvPr/>
        </p:nvSpPr>
        <p:spPr>
          <a:xfrm>
            <a:off x="457200" y="1143000"/>
            <a:ext cx="8229601" cy="0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" name="Isosceles Triangle 9"/>
          <p:cNvSpPr/>
          <p:nvPr/>
        </p:nvSpPr>
        <p:spPr>
          <a:xfrm rot="5400000">
            <a:off x="419099" y="6467474"/>
            <a:ext cx="190850" cy="120316"/>
          </a:xfrm>
          <a:prstGeom prst="triangl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" name="Title Text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12648" y="6356350"/>
            <a:ext cx="301908" cy="30734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464653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6" r:id="rId4"/>
    <p:sldLayoutId id="2147483657" r:id="rId5"/>
    <p:sldLayoutId id="2147483658" r:id="rId6"/>
  </p:sldLayoutIdLst>
  <p:transition spd="med"/>
  <p:hf sldNum="0"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64653"/>
          </a:solidFill>
          <a:uFillTx/>
          <a:latin typeface="Bookman Old Style"/>
          <a:ea typeface="Bookman Old Style"/>
          <a:cs typeface="Bookman Old Style"/>
          <a:sym typeface="Bookman Old Style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64653"/>
          </a:solidFill>
          <a:uFillTx/>
          <a:latin typeface="Bookman Old Style"/>
          <a:ea typeface="Bookman Old Style"/>
          <a:cs typeface="Bookman Old Style"/>
          <a:sym typeface="Bookman Old Style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64653"/>
          </a:solidFill>
          <a:uFillTx/>
          <a:latin typeface="Bookman Old Style"/>
          <a:ea typeface="Bookman Old Style"/>
          <a:cs typeface="Bookman Old Style"/>
          <a:sym typeface="Bookman Old Style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64653"/>
          </a:solidFill>
          <a:uFillTx/>
          <a:latin typeface="Bookman Old Style"/>
          <a:ea typeface="Bookman Old Style"/>
          <a:cs typeface="Bookman Old Style"/>
          <a:sym typeface="Bookman Old Style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64653"/>
          </a:solidFill>
          <a:uFillTx/>
          <a:latin typeface="Bookman Old Style"/>
          <a:ea typeface="Bookman Old Style"/>
          <a:cs typeface="Bookman Old Style"/>
          <a:sym typeface="Bookman Old Style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64653"/>
          </a:solidFill>
          <a:uFillTx/>
          <a:latin typeface="Bookman Old Style"/>
          <a:ea typeface="Bookman Old Style"/>
          <a:cs typeface="Bookman Old Style"/>
          <a:sym typeface="Bookman Old Style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64653"/>
          </a:solidFill>
          <a:uFillTx/>
          <a:latin typeface="Bookman Old Style"/>
          <a:ea typeface="Bookman Old Style"/>
          <a:cs typeface="Bookman Old Style"/>
          <a:sym typeface="Bookman Old Style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64653"/>
          </a:solidFill>
          <a:uFillTx/>
          <a:latin typeface="Bookman Old Style"/>
          <a:ea typeface="Bookman Old Style"/>
          <a:cs typeface="Bookman Old Style"/>
          <a:sym typeface="Bookman Old Style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64653"/>
          </a:solidFill>
          <a:uFillTx/>
          <a:latin typeface="Bookman Old Style"/>
          <a:ea typeface="Bookman Old Style"/>
          <a:cs typeface="Bookman Old Style"/>
          <a:sym typeface="Bookman Old Style"/>
        </a:defRPr>
      </a:lvl9pPr>
    </p:titleStyle>
    <p:bodyStyle>
      <a:lvl1pPr marL="274320" marR="0" indent="-27432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76000"/>
        <a:buFontTx/>
        <a:buChar char=""/>
        <a:tabLst/>
        <a:defRPr sz="2600" b="0" i="0" u="none" strike="noStrike" cap="none" spc="0" baseline="0">
          <a:solidFill>
            <a:srgbClr val="000000"/>
          </a:solidFill>
          <a:uFillTx/>
          <a:latin typeface="Gill Sans MT"/>
          <a:ea typeface="Gill Sans MT"/>
          <a:cs typeface="Gill Sans MT"/>
          <a:sym typeface="Gill Sans MT"/>
        </a:defRPr>
      </a:lvl1pPr>
      <a:lvl2pPr marL="584420" marR="0" indent="-3101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76000"/>
        <a:buFontTx/>
        <a:buChar char=""/>
        <a:tabLst/>
        <a:defRPr sz="2600" b="0" i="0" u="none" strike="noStrike" cap="none" spc="0" baseline="0">
          <a:solidFill>
            <a:srgbClr val="000000"/>
          </a:solidFill>
          <a:uFillTx/>
          <a:latin typeface="Gill Sans MT"/>
          <a:ea typeface="Gill Sans MT"/>
          <a:cs typeface="Gill Sans MT"/>
          <a:sym typeface="Gill Sans MT"/>
        </a:defRPr>
      </a:lvl2pPr>
      <a:lvl3pPr marL="891540" marR="0" indent="-29718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76000"/>
        <a:buFontTx/>
        <a:buChar char=""/>
        <a:tabLst/>
        <a:defRPr sz="2600" b="0" i="0" u="none" strike="noStrike" cap="none" spc="0" baseline="0">
          <a:solidFill>
            <a:srgbClr val="000000"/>
          </a:solidFill>
          <a:uFillTx/>
          <a:latin typeface="Gill Sans MT"/>
          <a:ea typeface="Gill Sans MT"/>
          <a:cs typeface="Gill Sans MT"/>
          <a:sym typeface="Gill Sans MT"/>
        </a:defRPr>
      </a:lvl3pPr>
      <a:lvl4pPr marL="1198880" marR="0" indent="-3302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70000"/>
        <a:buFontTx/>
        <a:buChar char="◻"/>
        <a:tabLst/>
        <a:defRPr sz="2600" b="0" i="0" u="none" strike="noStrike" cap="none" spc="0" baseline="0">
          <a:solidFill>
            <a:srgbClr val="000000"/>
          </a:solidFill>
          <a:uFillTx/>
          <a:latin typeface="Gill Sans MT"/>
          <a:ea typeface="Gill Sans MT"/>
          <a:cs typeface="Gill Sans MT"/>
          <a:sym typeface="Gill Sans MT"/>
        </a:defRPr>
      </a:lvl4pPr>
      <a:lvl5pPr marL="1514475" marR="0" indent="-371475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70000"/>
        <a:buFontTx/>
        <a:buChar char="◻"/>
        <a:tabLst/>
        <a:defRPr sz="2600" b="0" i="0" u="none" strike="noStrike" cap="none" spc="0" baseline="0">
          <a:solidFill>
            <a:srgbClr val="000000"/>
          </a:solidFill>
          <a:uFillTx/>
          <a:latin typeface="Gill Sans MT"/>
          <a:ea typeface="Gill Sans MT"/>
          <a:cs typeface="Gill Sans MT"/>
          <a:sym typeface="Gill Sans MT"/>
        </a:defRPr>
      </a:lvl5pPr>
      <a:lvl6pPr marL="1760220" marR="0" indent="-29718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75000"/>
        <a:buFontTx/>
        <a:buChar char=""/>
        <a:tabLst/>
        <a:defRPr sz="2600" b="0" i="0" u="none" strike="noStrike" cap="none" spc="0" baseline="0">
          <a:solidFill>
            <a:srgbClr val="000000"/>
          </a:solidFill>
          <a:uFillTx/>
          <a:latin typeface="Gill Sans MT"/>
          <a:ea typeface="Gill Sans MT"/>
          <a:cs typeface="Gill Sans MT"/>
          <a:sym typeface="Gill Sans MT"/>
        </a:defRPr>
      </a:lvl6pPr>
      <a:lvl7pPr marL="1985554" marR="0" indent="-339634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75000"/>
        <a:buFontTx/>
        <a:buChar char=""/>
        <a:tabLst/>
        <a:defRPr sz="2600" b="0" i="0" u="none" strike="noStrike" cap="none" spc="0" baseline="0">
          <a:solidFill>
            <a:srgbClr val="000000"/>
          </a:solidFill>
          <a:uFillTx/>
          <a:latin typeface="Gill Sans MT"/>
          <a:ea typeface="Gill Sans MT"/>
          <a:cs typeface="Gill Sans MT"/>
          <a:sym typeface="Gill Sans MT"/>
        </a:defRPr>
      </a:lvl7pPr>
      <a:lvl8pPr marL="2168434" marR="0" indent="-339634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75000"/>
        <a:buFontTx/>
        <a:buChar char=""/>
        <a:tabLst/>
        <a:defRPr sz="2600" b="0" i="0" u="none" strike="noStrike" cap="none" spc="0" baseline="0">
          <a:solidFill>
            <a:srgbClr val="000000"/>
          </a:solidFill>
          <a:uFillTx/>
          <a:latin typeface="Gill Sans MT"/>
          <a:ea typeface="Gill Sans MT"/>
          <a:cs typeface="Gill Sans MT"/>
          <a:sym typeface="Gill Sans MT"/>
        </a:defRPr>
      </a:lvl8pPr>
      <a:lvl9pPr marL="2407919" marR="0" indent="-39623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75000"/>
        <a:buFontTx/>
        <a:buChar char=""/>
        <a:tabLst/>
        <a:defRPr sz="2600" b="0" i="0" u="none" strike="noStrike" cap="none" spc="0" baseline="0">
          <a:solidFill>
            <a:srgbClr val="000000"/>
          </a:solidFill>
          <a:uFillTx/>
          <a:latin typeface="Gill Sans MT"/>
          <a:ea typeface="Gill Sans MT"/>
          <a:cs typeface="Gill Sans MT"/>
          <a:sym typeface="Gill Sans MT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NUL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NUL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NUL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NUL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image" Target="NULL"/><Relationship Id="rId7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NUL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NUL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NUL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NUL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NULL"/><Relationship Id="rId7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3.png"/><Relationship Id="rId9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NULL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/>
          </p:cNvSpPr>
          <p:nvPr/>
        </p:nvSpPr>
        <p:spPr bwMode="auto">
          <a:xfrm>
            <a:off x="912813" y="995363"/>
            <a:ext cx="73152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 anchor="ctr"/>
          <a:lstStyle>
            <a:lvl1pPr marL="39688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en-US" sz="4400">
              <a:solidFill>
                <a:srgbClr val="FF3300"/>
              </a:solidFill>
              <a:cs typeface="Arial" panose="020B0604020202020204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accent5"/>
                </a:solidFill>
              </a:rPr>
              <a:t>CS 4048 </a:t>
            </a:r>
            <a:br>
              <a:rPr lang="en-US" sz="3200" b="1" dirty="0">
                <a:solidFill>
                  <a:schemeClr val="accent5"/>
                </a:solidFill>
              </a:rPr>
            </a:br>
            <a:r>
              <a:rPr lang="en-US" sz="3200" b="1" dirty="0">
                <a:solidFill>
                  <a:schemeClr val="accent5"/>
                </a:solidFill>
              </a:rPr>
              <a:t>Data Science</a:t>
            </a:r>
            <a:endParaRPr lang="fr-BE" sz="3200" b="1" dirty="0">
              <a:solidFill>
                <a:schemeClr val="accent5"/>
              </a:solidFill>
            </a:endParaRPr>
          </a:p>
        </p:txBody>
      </p:sp>
      <p:sp>
        <p:nvSpPr>
          <p:cNvPr id="4100" name="Rectangle 2"/>
          <p:cNvSpPr>
            <a:spLocks noGrp="1"/>
          </p:cNvSpPr>
          <p:nvPr>
            <p:ph idx="1"/>
          </p:nvPr>
        </p:nvSpPr>
        <p:spPr/>
        <p:txBody>
          <a:bodyPr lIns="0" tIns="0" rIns="40639" bIns="0"/>
          <a:lstStyle/>
          <a:p>
            <a:pPr marL="39688" indent="0" algn="ctr" eaLnBrk="1" hangingPunct="1">
              <a:spcBef>
                <a:spcPts val="550"/>
              </a:spcBef>
              <a:buNone/>
            </a:pPr>
            <a:endParaRPr lang="en-US" altLang="en-US" sz="2400" dirty="0">
              <a:solidFill>
                <a:srgbClr val="3333CC"/>
              </a:solidFill>
              <a:cs typeface="Arial" panose="020B0604020202020204" pitchFamily="34" charset="0"/>
            </a:endParaRPr>
          </a:p>
          <a:p>
            <a:pPr marL="39688" indent="0" algn="ctr" eaLnBrk="1" hangingPunct="1">
              <a:spcBef>
                <a:spcPts val="550"/>
              </a:spcBef>
              <a:buNone/>
            </a:pPr>
            <a:endParaRPr lang="en-US" altLang="en-US" dirty="0">
              <a:solidFill>
                <a:srgbClr val="3333CC"/>
              </a:solidFill>
              <a:cs typeface="Arial" panose="020B0604020202020204" pitchFamily="34" charset="0"/>
            </a:endParaRPr>
          </a:p>
          <a:p>
            <a:pPr marL="39688" indent="0" algn="ctr" eaLnBrk="1" hangingPunct="1">
              <a:spcBef>
                <a:spcPts val="550"/>
              </a:spcBef>
              <a:buNone/>
            </a:pPr>
            <a:endParaRPr lang="en-US" altLang="en-US" sz="2400" dirty="0">
              <a:solidFill>
                <a:srgbClr val="3333CC"/>
              </a:solidFill>
              <a:cs typeface="Arial" panose="020B0604020202020204" pitchFamily="34" charset="0"/>
            </a:endParaRPr>
          </a:p>
          <a:p>
            <a:pPr marL="39688" indent="0" algn="ctr" eaLnBrk="1" hangingPunct="1">
              <a:spcBef>
                <a:spcPts val="550"/>
              </a:spcBef>
              <a:buNone/>
            </a:pPr>
            <a:endParaRPr lang="en-US" altLang="en-US" dirty="0">
              <a:solidFill>
                <a:srgbClr val="3333CC"/>
              </a:solidFill>
              <a:cs typeface="Arial" panose="020B0604020202020204" pitchFamily="34" charset="0"/>
            </a:endParaRPr>
          </a:p>
          <a:p>
            <a:pPr marL="39688" indent="0" algn="ctr" eaLnBrk="1" hangingPunct="1">
              <a:spcBef>
                <a:spcPts val="550"/>
              </a:spcBef>
              <a:buNone/>
            </a:pPr>
            <a:endParaRPr lang="en-US" altLang="en-US" sz="2400" dirty="0">
              <a:solidFill>
                <a:srgbClr val="3333CC"/>
              </a:solidFill>
              <a:cs typeface="Arial" panose="020B0604020202020204" pitchFamily="34" charset="0"/>
            </a:endParaRPr>
          </a:p>
          <a:p>
            <a:pPr marL="39688" indent="0" algn="ctr" eaLnBrk="1" hangingPunct="1">
              <a:spcBef>
                <a:spcPts val="550"/>
              </a:spcBef>
              <a:buNone/>
            </a:pPr>
            <a:endParaRPr lang="en-US" altLang="en-US" dirty="0">
              <a:solidFill>
                <a:srgbClr val="3333CC"/>
              </a:solidFill>
              <a:cs typeface="Arial" panose="020B0604020202020204" pitchFamily="34" charset="0"/>
            </a:endParaRPr>
          </a:p>
          <a:p>
            <a:pPr marL="39688" indent="0" algn="ctr" eaLnBrk="1" hangingPunct="1">
              <a:spcBef>
                <a:spcPts val="550"/>
              </a:spcBef>
              <a:buNone/>
            </a:pPr>
            <a:endParaRPr lang="en-US" altLang="en-US" sz="2400" dirty="0">
              <a:solidFill>
                <a:srgbClr val="3333CC"/>
              </a:solidFill>
              <a:cs typeface="Arial" panose="020B0604020202020204" pitchFamily="34" charset="0"/>
            </a:endParaRPr>
          </a:p>
          <a:p>
            <a:pPr marL="39688" indent="0" algn="ctr" eaLnBrk="1" hangingPunct="1">
              <a:spcBef>
                <a:spcPts val="550"/>
              </a:spcBef>
              <a:buNone/>
            </a:pPr>
            <a:r>
              <a:rPr lang="en-US" altLang="en-US" sz="1800" dirty="0">
                <a:solidFill>
                  <a:srgbClr val="0070C0"/>
                </a:solidFill>
                <a:cs typeface="Arial" panose="020B0604020202020204" pitchFamily="34" charset="0"/>
              </a:rPr>
              <a:t>Instructor: Dr. </a:t>
            </a:r>
            <a:r>
              <a:rPr lang="en-US" altLang="en-US" sz="1800" dirty="0" err="1">
                <a:solidFill>
                  <a:srgbClr val="0070C0"/>
                </a:solidFill>
                <a:cs typeface="Arial" panose="020B0604020202020204" pitchFamily="34" charset="0"/>
              </a:rPr>
              <a:t>Kashif</a:t>
            </a:r>
            <a:r>
              <a:rPr lang="en-US" altLang="en-US" sz="1800" dirty="0">
                <a:solidFill>
                  <a:srgbClr val="0070C0"/>
                </a:solidFill>
                <a:cs typeface="Arial" panose="020B0604020202020204" pitchFamily="34" charset="0"/>
              </a:rPr>
              <a:t> Zafar</a:t>
            </a:r>
          </a:p>
          <a:p>
            <a:pPr marL="382588" indent="-342900" algn="ctr" eaLnBrk="1" hangingPunct="1">
              <a:spcBef>
                <a:spcPts val="550"/>
              </a:spcBef>
            </a:pPr>
            <a:endParaRPr lang="en-US" altLang="en-US" sz="2400" dirty="0">
              <a:solidFill>
                <a:srgbClr val="3333CC"/>
              </a:solidFill>
              <a:cs typeface="Arial" panose="020B0604020202020204" pitchFamily="34" charset="0"/>
            </a:endParaRPr>
          </a:p>
          <a:p>
            <a:pPr marL="39688" indent="0" algn="ctr" eaLnBrk="1" hangingPunct="1">
              <a:spcBef>
                <a:spcPts val="550"/>
              </a:spcBef>
              <a:buNone/>
            </a:pPr>
            <a:r>
              <a:rPr lang="en-US" altLang="en-US" sz="1600" dirty="0">
                <a:solidFill>
                  <a:srgbClr val="3333CC"/>
                </a:solidFill>
                <a:cs typeface="Arial" panose="020B0604020202020204" pitchFamily="34" charset="0"/>
              </a:rPr>
              <a:t>January 29, 2026</a:t>
            </a:r>
          </a:p>
        </p:txBody>
      </p:sp>
      <p:sp>
        <p:nvSpPr>
          <p:cNvPr id="4102" name="Slide Number Placeholder 2"/>
          <p:cNvSpPr>
            <a:spLocks noGrp="1"/>
          </p:cNvSpPr>
          <p:nvPr>
            <p:ph type="sldNum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fld id="{EFBA1D91-5649-4C00-8FEC-57055540A4AF}" type="slidenum">
              <a:rPr lang="en-US" altLang="en-US" sz="2800" smtClean="0">
                <a:solidFill>
                  <a:srgbClr val="FFFFFF"/>
                </a:solidFill>
              </a:rPr>
              <a:pPr/>
              <a:t>1</a:t>
            </a:fld>
            <a:endParaRPr lang="en-US" altLang="en-US" sz="2800">
              <a:solidFill>
                <a:srgbClr val="FFFFFF"/>
              </a:solidFill>
            </a:endParaRPr>
          </a:p>
        </p:txBody>
      </p:sp>
      <p:sp>
        <p:nvSpPr>
          <p:cNvPr id="4101" name="Footer Placeholder 1"/>
          <p:cNvSpPr>
            <a:spLocks noGrp="1"/>
          </p:cNvSpPr>
          <p:nvPr>
            <p:ph type="ftr" sz="quarter" idx="4294967295"/>
          </p:nvPr>
        </p:nvSpPr>
        <p:spPr bwMode="auto">
          <a:xfrm>
            <a:off x="1241425" y="5707697"/>
            <a:ext cx="6986588" cy="89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algn="ctr"/>
            <a:r>
              <a:rPr lang="sv-SE" altLang="en-US" sz="2000" dirty="0">
                <a:solidFill>
                  <a:srgbClr val="0070C0"/>
                </a:solidFill>
              </a:rPr>
              <a:t>National University of Computer and Emerging Sciences, Lahore</a:t>
            </a:r>
          </a:p>
        </p:txBody>
      </p:sp>
      <p:sp>
        <p:nvSpPr>
          <p:cNvPr id="4103" name="AutoShape 8" descr="Image result for mobile applications"/>
          <p:cNvSpPr>
            <a:spLocks noChangeAspect="1" noChangeArrowheads="1"/>
          </p:cNvSpPr>
          <p:nvPr/>
        </p:nvSpPr>
        <p:spPr bwMode="auto">
          <a:xfrm>
            <a:off x="176213" y="-1825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eaLnBrk="1" hangingPunct="1"/>
            <a:endParaRPr lang="sv-SE" altLang="en-US"/>
          </a:p>
        </p:txBody>
      </p:sp>
      <p:sp>
        <p:nvSpPr>
          <p:cNvPr id="4104" name="AutoShape 10" descr="Image result for mobile applications"/>
          <p:cNvSpPr>
            <a:spLocks noChangeAspect="1" noChangeArrowheads="1"/>
          </p:cNvSpPr>
          <p:nvPr/>
        </p:nvSpPr>
        <p:spPr bwMode="auto">
          <a:xfrm>
            <a:off x="328613" y="-301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eaLnBrk="1" hangingPunct="1"/>
            <a:endParaRPr lang="sv-SE" altLang="en-US"/>
          </a:p>
        </p:txBody>
      </p:sp>
      <p:sp>
        <p:nvSpPr>
          <p:cNvPr id="4105" name="AutoShape 12" descr="Image result for mobile applications"/>
          <p:cNvSpPr>
            <a:spLocks noChangeAspect="1" noChangeArrowheads="1"/>
          </p:cNvSpPr>
          <p:nvPr/>
        </p:nvSpPr>
        <p:spPr bwMode="auto">
          <a:xfrm>
            <a:off x="481013" y="1222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eaLnBrk="1" hangingPunct="1"/>
            <a:endParaRPr lang="sv-SE" altLang="en-US"/>
          </a:p>
        </p:txBody>
      </p:sp>
      <p:sp>
        <p:nvSpPr>
          <p:cNvPr id="4106" name="AutoShape 14" descr="data:image/jpeg;base64,/9j/4AAQSkZJRgABAQAAAQABAAD/2wCEAAkGBxQTEhUUExQVFRQXGBoWGBgYFxwcHhsdGBcXHRgbHB0YHiggHBwlHRgeITEiJSkrLi4uGB8zODMsNygtLi0BCgoKDg0OGxAQGywlICQvLCwvLCwsLC8sLCwsLywsLCwsLCwsLCwsLCwsLCwsLCwsLCwsLCwsLCwsLCwsLCwsLP/AABEIAJEBXAMBEQACEQEDEQH/xAAcAAEAAgMBAQEAAAAAAAAAAAAABQYDBAcCAQj/xABEEAACAQIEAwUFBQYDBwUBAAABAgMAEQQFEiEGMUETIlFhcQcygZGhFEJSscEjM2Jy0fCCsuEVNFNjc8LxJTVDksMk/8QAGwEBAAMBAQEBAAAAAAAAAAAAAAIDBAEFBgf/xAA3EQACAQIFAQYGAgEBCQAAAAAAAQIDEQQSITFBUQUTYXGB8CIykaGx0cHhI0IUFTM0UnKSovH/2gAMAwEAAhEDEQA/AO40AoBQCgFAKAUAoBQCgFAKAUAoBQCgFAKAwY9mEblPeCkj1tUo2zK5XVclBuO9jmEGIYSqJJ5mXUAwMsnI9dmHrzFem4LLol9EfKRxMo1UpybV+r/fqbs2Owm4IxAO4vqe4+eIPL0NVqlU8PfoaJY7DbNT++n/ALk5wHjtpIGYsyHULkna9mAv0B3/AMVU4mFrSXJu7JxLlmoyeq9v7/ktbuACTsBWKc4wi5Sdkj2km3ZETPPr3LMF52Xw5C/qdq+er4lYj4nOUY76XWmyv/3PRb3eyauzVGOXSyuYcHhyWGk2PMnwqODwcm007S3b6e/v5EqlTTXYjc+9n0GKxRxEjuoZVDolhqK7Aljcju2G3hzr350FKV2W4ftSrQpd3FLwb4Ga4nCZTGogw69o+yheZA6vIbtb5n621YbDKTstDzcb2hUlrUbk+nH6RXMTmsmIiEuKYFGLHswWVFVTpuFRg0jarXLG2493nXowpqE8sN+um/rt6a+Z5VSq5wzT26a7em+vXTyMuW5guCk7VVYRGyyKTc6SdnA59QRfc6tvvaezg68cr34/Xv8AV64z/wBnlnXy8rw6++vnaw8TTDWjGRzC6XUI2zfpaxBvvzr43tSnLvkpyko22XVHrupFK58wv2JEDswa4vZjc+mlflvXaOEwNOCnLXz/AEg6sbXuaeHzPs8b0VS+iwtYK1gvu7eB+FRp/wCLFtpWV7ej229Cl17Tsy9V7poFAKAUAoBQCgFAKAUAoBQCgFAKAUAoBQCgFAKAUAoBQCgFAKAUAoBQCgOU8VImGxPeAZb30kkal2IG2/I2+FenTqXp7nyOPoKlib5brp1XvT0IGfN42kLkLYtq0d63O9r87VNTSja5hnGU6rqZd3e3HkTHDWddpmEZiUAu2kot7BNNm5+CjV6iqajj3WVs9HBurLGKpGKV+F0t7fmXfi3M2iKqVbQfvDkW8Phzt1+FfJdrurK0No/l9PT7+h9pQyrXk0cFjZZWUGKQryB0mw9Ta3xrJTp16ko503bRaaL31ZY5RS0LZg8PoW3U8z/fSvoqFFUo255Mk5ZmZ6uIkJxbkYxUJAt2qXaM+fVT5Ny+R6VZSnklcprUu8jbk5Xhs17Jikv7Ox2fRcoRcFbXuNyQbb95h1BX2FHvI5o+q9+/58ZVO7lllp0dtvf766bK2mjfD4NTO723UN3F1aj2jyqv3tVrWB1G+43jfJJTq6W+/GiRZlU4OnS1vz051b9S1Yzh+aDLFRi00sTa9KAsQGNiibXIF7+O3oK8HtRLEvNFcm+NCUKChe7XuxAJgsW+hZgIF30CV+9Ym7aY1u3PncCvPjg6kkk+CCw9Wehasr4HjsryTPJyYae4viPE/IitEMFGO7LI4NJ/Ey41sNYoBQCgFAKAUAoBQCgFAKAUAoBQCgFAKAUAoBQCgFAKAj8Rm6IxUhiRtsB+pqSiyxUm1c134hQfdf6f1plJdy+pv5bjVmjWRQQGvz57Ej9KiyqSs7GzQ4U/Dys6j9pIWP8AGT6i1/De/Kvk+7qzgrTk5t2+Z9Xpa91ZfFfa2huzRT2VvL35Gw8DAX1kjlcMT86qxGGr0o5nO61V020vPoShOL4J3Kv3Y9T+dfS4BWoJGOr8x4x2T4eZg0sMUjAWBdFY28NxyrapNbGeVKEneST9DWTLcEjaVhw6tysI05/AVRLG0lNU3NZulyccKkrqCt5ElDhkX3UVfRQPyq+4SS2Krxj7Q8LgDoN5p/8AhRkXXw1k7L6bnflapRg5HHJI3+B+JRj8MJtHZuGZHj1atJB271he6lTy6kdK5KOV2Op3M+bZ6I7rGA78v4V9T1PkPpXEiyNNsgziZ2G8z6r76e6tvK1rfX1qSiWxp6m3l2GkZgQWYgg3ZiQPnUnZE5ZYrUZ3wNBicQJnZgvN41sNbDYEtzUW52sTYG43vKniZ01aJ5dTC06kryLDgMBHCgjiRY0HRRb1J8SfE7mqpScnds0RioqyRFY/OWMjxRjSUsCx57i/dHL4n5USuXU4KW5p4XBLqJa5JBZje7Gw2uTufLwqe2xdpFfCTWTTApp/D+R5frUJLUpqxs7khUSoUAoBQCgFAKAUAoBQCgFAKAUAoBQCgFAKAUAoBQCgFAV7HgGZ1uAdrX6mwsPK9WLY0xdoJkPn05WNo0Pe6sPxeXkOVWUUnNZtinEylGjKadnbQiMuMiRLqxEigkWVZggUMb35Ekkam+HXpulGF7Rivpc8WM6jSlOb18bELxXjMVDE7pi8RawKntmuO8t1Ok2JF9+m/wAKshGnJfKvoVuVSM18Ta8zcyDOO/cm9mYWv5kV+fyaw+JzWvZvwPp7OUbFqXGJp0ob3N7npblWbEVMNToulRbd3e74ttbrfXfX7E4qbleR8zviN8Jl8k0IRpQ4Ch7le9IisTpIOwY9RuK+gwFWCjTpN6yvb0V2Za8WryKZgONc3xbCNBhxsSSI3AAHVj2hIHT1IrfiMLCpGzlJLwaV/W1yiFWSeiXqasHE2YCVY3ESEOFa0ZuveAP3yLisVPsHCJprN9f6JTxlWzvb6f2dB47x2I/2Y02Gco4CtIVHe0cpNJ+6Re+rmADaxsa20JwqO66teqdvyiM7qJxXIo0SUSOQQdYJYahdlYXYfeF2uR13rVJaFSepdPZ7mX2fGfZ2dGixSWVk93UCwQi9rbh0t42qE1dX6EouzOjRZFJ1KD0v/QVTc05zciyf8TXHOwFvreu5gqjWxJxxhRYCwqJBtvcq+L41j1ukKCXQdLOXCpq6gEBmNup0286jmvsZnXTbUdbeP/38FWx/tFxRYrGkCDxBMnyNwPp/Sq3UZ5WI7UqQdkl+SyY6Q3w+JKlTKgSQEWsxFxz/ALstXwdz3cNUcoqTVro2ftI0EabMRa9+YuDy8dqstqbMrvfg38mwjqdR2BFrHmfh0qMmiqrNNWRL1AoFAKAUAoBQCgFAKAUAoBQCgFAKAUAoBQCgFAKAUAoBQEXjsn7Ry2si9treAt41JSsWxq5VaxC8Q8P6cNO/aG6RO3u/hQnx8quoS/yx80U4qrehNeD/AAUfA4wTwBVdRIoRSvZRMe6QqsNZBYWLEnpf5+nUXdzu1pry/wCDw6X+WmknqrcJ7efqQfHGaIw7NGDWDlioUC7sG09wkNa3ME8/G9Toxai2/D7eYqtOpFR4v9/I7nlMSNDE2le9GjXsN7qDevBlFX2PdT0NwRL+EfIVHLHoduyqe1KMf7OlbqhjPwMsYP8AflUe4Uq1OfMW/umrfh+hyUrQa6nKuFsW7O8aLFKHXS0UkgTWNQICsSO8Dvty8K2ztuURPeJxMSYspA+uISKEa4YEErex6gEkA9bXqcL6XIzSs7HYeHlLxMjreNlA3GxutmHmCK8DA95GvXi08ueTT8bu9jdKzpw62X4OCcTZa2DxE0DE2jbYnqpF0a/mpF/O/hXvRd1cxNWdiw5XlNjh8XmJMEaBewhjXTLL2bFwwXYRpc+9sT5XBKEJTuoHJ1Iws5l4n46xEovhoI40N9MmIcb2veyAqNgDuGIFjfkamsLGLtOWvRIqeKlJXgvVsrOY53mCuJXmk1RsJAgIVGCndbR2DLa43v1rXDD0HGyXqY54mspLN9Cy+0riSRcJA2H2hxI70gNmsVDKg8CwJ3590ivDrJweV+RsxlaSppw55KNlhx7KFghlC9CsR22AFmIsOV+m+/Wq03sjz4PE5bRT+hduCOC3DCbFpYqbrGSCS34msT8vHny3lGHLLMH2dJVHVrei/llt4qxOHTDk4qVYoyRZiQDe9wFHMnyAJ51cr8HtXsbGVYaLQskbCQMAVkuCCCNiCNrHxFdbZOVRyRIVEgKAUAoBQCgFAKAUAoBQCgFAKAUAoBQCgFAKAUAoBQCgFAVv2gTSJg2aJ2jYMveU6TYmxFxuKjLYxdoVJU6DlHw/JQswy3FISPt0zKFkLntJdjHpDJYtvdnVQeuqoWa5PPqKtF/O3o778cW8bpLzI/gvDf8AqEEcoEiP2isjjUNo2IuG6ggVONaqpL4n9WRwVTPVUZfRo6SuSQ6riCAHmP2MW3xKbVe6knu39T2VBLZL6El2kg21n5L/AEqsldmbIcS8kIaSxa7A2FuTG30oycXdHvOcrjxMLwSgmNxY2NjsQRY+oFE7O4auUIezCBXOjtxY91u0t6G9r/KvJniO0+9cIxi1fRtaW+v8FypUMt3c3sH7K8IhVi8xZSDsy22Nx929erSqVVH/ACNN+CsvyyiUIPYuL4iOFQt9lAAUbmwFh/5Ndd27jSKsRcUGFxEwlkgjM6gKrOoY2BJGkkbEXPnvXbtKwVmyN9pmUiXDia3ehNz/ACNYN8iFPoDWnB1Ms8vUy4ynmhm6fgpcuJHZoVZEARWUhdbfswxsA11BCtfmpujeG2uEfiaeuvktbeu/nujLUfwpp20utLvS/XTby2Z7zKYnDvIRJZQjq0hts7gaVU9Fu45nbTzAFrKVlUUdOdvD2vuU1k3ScteHr4v+Nft4Fk9kmaiTDvh23aBrpf8AA9yPkdQ9CKy9oUss8y5/Js7Pq56eV8FwzTOIMOAZ5Uj1bLqYAnxsOZrzz1KdGdR2gm/Ip/HntD+y6IsKiyyyxiVXJ/Zqj3CtYG7k25bC29+lWQhcqqNwbi90c2ZftYaXFzh8VqIBlkKqqEKe6oUrzBGlQvO5ubVb8r0Kr3WpNcOcVS5ZIsUlpMO4D6UNxpfcSRk+O+xtffkd65KKlqgnlOzYLFpLGksZ1I6hlPiCLg771nasXGegFAKAUAoBQCgFAKAUAoBQHy9AeWkANibE3Pytf865dHUmz4Zl8RTMjuV9DycUv9iuZ0d7uRjbGDoKi5nVTMT44+QqLqE1SNds0I8DUO+aLO4TJOCYOoZeRrRGSkrozSi4uzMldIigFAKArftEjJwE2kFiNBsBc7SJfYeV6jPYx4+Dnh5JeH5OdYHiaSMJ23asQ6k6ha0ag7C/3ixDXP4E3qtSPKp4qpTS7xN6r6L+b6+iPWRY4TZrhWj1tpsrMw7zaYipd7E2v6npvXE7yRbh6iqYlSjfZK73dluzpSzWJvyOx+f+laT17nqSYWWxO22/re/1oLlJbiTFRTPFGR2YO3cB3JN968ztDEVqLThtboTh4krHxFiiN2F/5RXjPtfFJ20+n9lmhh4M4nxU2YSQTEvH2bMDpXuFXsCSqjZhfY33tX0WFqupSUpb/wBJl0clTDd4kk1Jx51S82X+UbVoMzIefC6Dq94X/u9SIbGjOqkbn0sN/j0+tDlzZy/MO0vBMNYcFL+IINw3wvv/AOaLR3R291ZlAynhfMoZnjjjVolcgPI2kEAnSylDrFwb2G25uK9SrWw84qUnr4f3oefSoV6cnFLTx93LFH7PmkULPMqICWMcCnckk7ySklrFjYaQN+VZ1jMrvFXfV/pF8sJnjlk7Lov2yv4/ieHAdphsuiIfUVknluTqQlSFB52N+dlBvsb1TUqzrO82fQ9m9iQUcz0T4W782VeeIOwkxWIbtpQGuUMllO6GQ6gVBBuFUNYEGwvakYeB9BSi4JqjTulpva75to722u2tSz5ZwyuPwrREiPHYNiiSdGQksivb3kvqAIvYWIuCQeSllemzPn+2aEe8VaG01f15X78Sg4qOaCYxSKY50Ybdb37pHQg7EEXB86sTTR4exf8Ah72fYjFsJ8e7qth3T+9Ybkarjujf712ttYWFVuajpEmot6s6zhoFjRUQWVVCqPAKLAfIVQWmSgFAKAUAoBQCgFAKAUAoBQGv9pFdsDQx0t3X0P5iqKu6NFHZnyoFhjdmHSuNs6kma82NsLG6nxqDmTVMgsbO55k1nbbNKSWx8wGPPuv866pHHHlEvkeO7OQo3utuPDyP6GrqNTK7PYor088brdFrrcecKAUByLMzjHmxDjFyIscrpbtnUAByB3U2sBbfzFePOVaUpNSsk3yfZ0Y4SNKnF0k3KKfyp8dWRuaY3Hwxa/tcpDKzKRKWuFtc2PqOYpGrWjKN5aMSw+CqRnlp2cfBr+jr3DeKMuEw0rG7PDE7HxLIpJ+Zr1ou6TPkKscs5R6NnPfaBmGK+3CGGaZbqmhI3KbtcfdI69Sdq0wgnHMz6TsvC4eWEdWpFaN3bV9vfBDy51jFVjHi45igu6qgJAHNgXjGtR1IJPXlvTu35CXZeGk1mpON9m39tJOz6J+W+hM8G8QyywYyScdqYBGUCgJfVr526XAuegBqDi1KzPOxPZdOFeFJO2Z7v0PXDmIYSySPdhpLPa23eG9rjbe23jXjUMTPvZSnqrfS3vzPBVS0muETuc5sHhXs9WktYki3ui9vrf4VHH11VopR2b/B2VXS6NThPPsLAJ+2kjjlaQnf3mQAaeXMai9vU1swKboJpbdPJFNHERSkpu3xN/Wx4zP2hMWth0TT4vvf4KRaqa1bGJ3hSaXim39tvuXrEUP+tfVF3wc6zRpIvJ1DW9RyPn0rfTmpxUlyWNEZjMvJe0Y9b8l+P6VZchlNTO2+wYZ8QoEko0qNVwvedQbAf3tUJyaRXWqdzTcyrp7SsUoBkwiWYXU3dLjxBYG48xVed9DF/vGUUnKO/vob2G9qCn38K6/yyBvzC13vPAf71gleSZX/AGk5cNaYhAQs6CSxHUgagbdbFT6k1qozSPtew8VmVn75X6IbE9j2UWJSQdujRK0bEWtHGqggW3F47npZ6lneq4PSg6veToSXwNSaa8W3v6/VF34NwuIOKlx8ijD4Z0NxIbEqAuk2sLAab6mtsbC43qptWseNjqtGGGjh080o8rbm/wCf58D3i+MYZMSJYcIswiFvtLCzBWax0d0kKeQJIuTyq6FBtau1z5Ov2jGEvhV7bvoX9GBAI3B3HxrMekmmro9UOigFAKAUAoBQCgFAKAUAoBQEF2ldOmnmGK0tGf5h9BWevpZmnDa3R7XHjqapzl/dmGbOEtYNvXHVR1UWRuNxhNVynctjGxqYfFh+6fhUCVjUzBiki+DC4+Frj6j50sdN/D4sWAPL8j4il7HGi2cO5jrBjY3ZeR8V/wBK20Kl1lZgxNLK8y5JmtBlFAcezrEth8XigYHYNKXVrWC6gddgyMrBlcr6E9Tt5s1lnLTk+0w8YV8NStNJqNmutttmmrNX+nrAcQ53HNHZQVfv6yWWxuioLBQALKgWwAGw251XJqTT98GulhZ04Tu7prTfTd7vfVtmpwwuIII7V1sp0hiT7o7qC/LYbDyr1IfKj4fEO9WXmSkWJZZ45JyW7p8iUYOu3pcmtEW8lj6TsmEqmAlCO+Z/VZWbuC+xpPiXF+zUHsB3tw3dZbNubqxHeqUpTaSZsrLFzo04vd/NtpbVPTx6Et7IYgZMZGwurRxAg9R+1B/OoVXd3PL7ebjUhJb6/wAG5xJmGTYObsZ5mjkABKr2j6QRcX0q1tje3O1YJYOk3ex8rLDwk23yQeYZ9l0if/wYlpZQ26Orju2NyNSLvfSOfWpU+zaVSVrv36GLGRjQp511sYsvlgHemi7Rmub6UO1yLDVv08etejSwfdLLTehhjjqEY/5I3b146258j7m6Qk64lCKVBC2tyYg7XPh41qjFqNmYMZWpzd4Kya29X59C4ezPNtaPh2O6d9P5WPeA9G3/AMdfO4CVoZOnv8n1lOd20XSadUF3ZVHixA/Ot5aVb2mTD7ASCCGdLHx3uPyqE9jB2n/y79CuYXHxz2dSTplR1VxYLI6JHFGNzcagXNui1y9yhVada0lw09eG0kl9dSDz/ACKzCQyBzJ3iuk6o30vcXOxO4PnUZPQ8fG0O7aea97/AFT1OmZvkAxWEjiLaCoQhrXtZbEWuOYJHPwq6Oh9lhKzoNSXQ0uGeA4MKQ7/ALeYbhmFlX+VLkA+ZufC1Scrm/F9qVa/wr4Y9P2yse0KeeXGHDytaABXjjGwfYd59+8Qwaw5DSNr71pw8YvU+W7Rq1Ippbe/5PbZqqQxwRxgBgA5tzJ2YqNyW2943PQWHPQqXxOTex5NTGpU40YR33/Dt4+L16Fx4LxxeAxv+8hYxsPT3f6f4ax4iKU7rZ6ntdlVXKjkl80Hlfpt+vQsFUHpCgFAKAUAoBQCgFAKAUAoBQFUZ66SIvPHOlD/ABf9jVRiPlNGG+YiVnJ61iNpr67k1EkbMM/jQ6R63jkZb3BJdT/CxO3wNx8K6CTt2yEeG4boCP1I2tz3riTONpGth5Li9Dpv4TGGOzqbMp2+PTn/AHeuxbTujkoqSs9mdFwk+tFcbalDW8LjlXpxd1c8iUcraK1i49Uzi5LaiAOZ6kegAHwr4nE0KlTF1EpPNmdl9X10SS8baaHqQsqadtLEDxMjrhpSryxuq6gVkkQixB+6wruDrYqnXjGcpeTv/JZGlTk07Jl8ythJBC7WYtGjXO/NQb19otUmeRO8ZNI5/m2Wzpi5nSGQgy9oGVGIPXmu1tzUyJjmwDMmkwlNwfdI5avEfxW+AoSjOUfldi1cM5DC2Ei7fDRl7G/aRLq95rX1C/K1LtF0cZiI7VJf+T/ZO4HLooQRDEkYO50KFv62G9G29yurWqVXepJt+Luci4s4Ujxmc4vXH2rLBA6oZTEpv3GJZUY7AXG3Mb1wqKy2QYTB5gcNA2JecqF7+jRdwrhbgA302N+XSrqE1GV2ef2nh51qGWCu7p8Ey2OXEKJokVYVAS6XtsTzLdSSa0f7TRp2Upq76s8DE4XETtLurJJLT3ySGLwskxUwYaVYyAE2ZgeZJ1kWsSSb8hVkakct8yZVWw9SpNd3Sklst/z6lrwTQYQFcJGZZiLNK2/ra3MXtstl2G5ryqdGNNaH18IqO25DZqk0h1TFmPnaw9ANgKuR1p7sk8PlxzDAjDCXs2hkU3K6rrZtIIuLDcj/AACq5xuU16Pf08l7EW/s9xqALHNEyhu0A1Mp1DYNbSRew8aryM819m14q0JKyd/UxZnw1mUzDtI1awIBVolUXN2NgRuSbk2ua5KMmU4jB4ytJZktPJLxL1xBxRBglAdtUlu7Gu7Hwv8AhHmfrVx9EipZdx5i2kLvAjQnki7OBci4N+9yN+7bbpXTp742xUWKhjxMJPaQmzqRZgjkC5HWzaRcXHfNW0ZWZixtJThr7uQmU4V8QY48OG7VWZmc+6oOnQb9LaSfEk7XrZOoldvY+Zo4WdRxp0080W7vhbW/B0/IMkTDKQCXkc3kc82O/wAhudvOsNSo5s+owuEjh4u2re76slKrNQoBQCgFAKAUAoBQCgFAKAUBTwa6SIrP27qD+I/Qf61nxD+E0YZfEyLwakgjrWQ2HiTDFSSNxYH5Gx+lq44klI8OPConUYMVD2iAgAvGSy6hcEfeUjrcfUCueBI23xbuqghFTmAq29NyS31rtiCVmeJJP2mwJLW2A3vyNh8L11akmakmOBJQHkd/Ig8vUEV1qxxanReC8yV4ezLDUn5H/W/0rVh53jlfBhxVNqWZcmti4Jo8WZViZ0DXGmxuCtj59TXk1MNVhjHXUW1e+nlY3U50amGVNzSdufMhuNJZZ45tMEykwsoUxtctpa1rDe9xVVdTrYuFXJJbLVdGX4enClSazxe70aJTIsAPs0AmMkcqwxKe8w0kRqCpsbixvX0kVaKPnqsk6kteWfcwwckaSFZZgwRmU9tIw2UkGzMRbarIJOSTKak5Ri2t7MsHDmJaTCwO51M0alj4mwudvOuVYqM2kdw83OlGT3aRI1AuFAUniDhzGfbWxeEeEF4kiYSX+6xPLTbw3v40OkNPlGZduuIbBYKWZBpWQCzAb9TKPE9NrmgJD2YcKyYWB48REACdlbS17G4NgSK44p7o49S/EdK6Co53huzk1A21bE/L9LGpIrejK/jZ9ALI+sD3huOfr+dSSvoccsquncy8H4l/tw7FS8TJ+0I5ICLrq6A3AsOdmNq618Ou5BTvUSjt+CxcVcbwYO6D9tP0iQ8vDW3JB9fAGslWvCmtT18H2dWxL+FWXUq+T8Y4zFFoXaOFpAezeNCSrcwO8xuCoIvsb2rNQxneVMrWh6WP7Ghh8P3kJNtb9LeHvYiWyaWB27Ua9W5kID3IvbdhcX5b2O/lXoHz5u4TB3AFrA/dUHvH0/pQFzyLh7SCZVXQylTGQDcH8XT4UucaTVmUTifjLG4fEyxZThIWw8R0ORHcvKNpCoR1ZgpshIB3Vt6Nt7kYwjH5VYwcNe1HNJcUmHxGDiS4LsSksZCLzbvsevdBtzIrhI7FhJ9aK9iNQvY0BmoBQCgFAKAUAoBQCgFAKAUBRsAjCNFY3YAA+ZrpI+ZjlzPpI30j3fXn+nyqirTctUXUqqjoyRyXIF0Bn1An7uwI9edchR5Z2dd7I0854IWRG0SHVuVDAbnoLgi1+V7Vx4foyUMU09UVHAB/dkB1AlTfnsSLHzrK9zb4kjhMvdj3B+g+JrmRs5nSK/mecvhyY2h0MOWs/I2A3HoamoC/JAYfPpVcyByGPWjh0LoVI2s0ZWzftJDIdix7/wDN4/H87+NLPZnJqK1jsWvhnMuyOq4JP5VG7iyLjm0OgZVm9x5f38q0QqMx1aCJuLEq3X51oU0zJKDRB4nE6JXDawC6ixQ6WVrajqtba9aowvFWPOnWyzad91w7W8/A0MXmSGEjUCQzoBffSVuDbnapqk8xVLFQcN+WiW4KJ+wwXBHc6+RNqqxH/EZowLvh4eRN1SaxQCgFAKAUBEcSYEywtpF2AuAPEdPiLj41KDV9Suom4uxXsv4Uech8QOxTQEMaHvML37x+5fbYb+Yq2U1HRalUacp6y0VrW6/o0PaBjJ8KI8NhAuHgZCS8Ys5N7MoP3eYJb3jq5ivLxmInBpLnk+m7E7Pw9aLlP/S9uPPxvqVPLuHyI+2ZWdTc6Y+87bkFmIvoXUCNRBNwdutecqcpLPLXy3/pH0M8VCEu5p2j4vRLwW2Z24v68Enm6vFGssUSxGAx95LEXcAkMbk6kl7tmOo6vKr5U7JSSta3v0ZnwzhUm6dSTlnzaPfS+2ytKOummnidIwnZYzDpKBbtEB26EjcHxINx8K9WEs0Uz5DEUZUKsqcuHb+/Uz5Tk0cA27z9XPP4eA/vepFBHce5/wDYsHJKv71v2cX873sbdQoBcjqFNAcczDEYaTDJh4sQYOSvI0TlmTvF7lRuWc6jvYknxoSLT7O8nMrdqwYdoFRAxuUw0I0xgnxb3iepcUOHWwLUOH2gFAKAUAoBQCgFAKAUAoBQEFhcKq7nvH6V06bYehw+Ge1AYMzzRYIXmc91Re3ieijzJ2+NclLKrkoRcpWRSeGYZJy88xJ1sWt0F/DyHL4Vh+aVz02lCKiTGYzPEhKqSB4eHoKO6OwjGT1KFxZncckP7Qavw+I8xblUY5myc0o7nPmxB6Xt5itGUzZ+hkweJBYee1RlEsp1CyZZK0TqXuFv3SevkbVW1cmnY6LFmPaKrRe9969wLeO43N/75VzV7EW0tzcwmYshJlmhUfxSKB9TU1GZXKdOxIRcZ4RNnx2E9BMh/Jia0QUluY5uL2RixPH+X/exMLeis/5A1am0UuKe6NSb2p4AcpyfSGT9VrhKxqv7WMMCNPbSeXZqPqzC1BYv2W41Z4o5UvpkVXF+dmF7HzocNmgFAKAUAoBQEFxll3bYZja7R98fD3h/9b/ECsuMpd5Sdt1qej2ZiO6rrXR6fr7nLMJmqRhxKHLpq7EobEdqumTvH3RpAIIBtc7b1gouKjf6eu59fWw0ptODVnbNfX5Xdac67rS9lqbeTcP4nMWuxEMGotc33J5soJ1SOesjk8zueVaIUpVNePf18zJisfh8Cssfina3l4O2kV0ikvLk6nlmAhwWHEakrGgJJY3O5JYk+JJ6fAVtWWlDXZHyWIr1MTVdSe7KlmuezylpInMUKbDe1/4jtufL9a8idbEYi9Sk8sFy9L+Oz9+Ny2nThFqMtWzVybEz4hxFPeeOTZ4nsQF2u3kRzB8bdTVWFxdeVaMU83Xy6+n9cnpYjBUYUHKWj48+nqSWO9nGXBSx1wqOZ7U2Hxl1CvoDwbli4fyZMMlkkaQG1mfSTpHIXUAEUOErQCgFAKAUAoBQCgFAKAUAoBQEOi25106fS9dBjvc1wFC9oeZ65Y8MvuqQ7+p90fAXP+IVmry4NuFh/qZOZNmqhFQDYDYCqIy4NFSld3N/E3YbLc+ZtU3qQjofn7MMdiWeRZGEZDkMhjFwRzHuHl6/OtCpw4RkdWpfVmg8bn3pNv5f62qSikQdST3ZgSQf8Yj0AH5Gu2QuyXhyXGOmtYsc6WuCA9iPEbXI9KjniiWSTNPEYIBQ0iyWPIuT+q1K5XY9w5dtqXDSlfxCOS3zG1Rzx6lipT6GysCi20Y8rqTv4gkkVK6IZW+Cx5DwjNigXhjQqDYkBdj8QKJpnJJx3RYoPZjijz0r8E/RqkQuycy/2YGw7SZgL72PTwsOvneguzo+GgWNFRRZVAUDwAFhXAZaAUAoBQCgFAKAqg9n+E7UyMHcWsELd0c99gCbDYXJ5VmhhKcHp9D1p9tYqVLu00vFb+/KxF4jJ8Xlx14XVicKNzAx/aRj/lOeYt907cgNPOtas9zyTznmaTTqLRydla6jTcsSNmbTcbdBy6+nzGM7SjUqOCdkrrXR36u/Tp/O3oUKKWtyIwqTTMqNdjfupYCx8TYdPPlvUJVq1e1JO/0/g9ejQo4eLqvQuUckOAj07POwuwBsT4XJ91B8zvsa97CYSNCFuXu/fB4WMxcsRO/C2RTs6xsuJcGRiR91F2UegO7Hz5/lWyxibNfLcXLH+4kkjsSCDbT5907E325eNaadDNvsefiMaoaR3Or5fKzxIzAqxUEgi1jbfas00lJpG+lJygpSVnY2KiWCgFAKAUAoBQCgFAKAUAoCmJmr/eF66SsbAzRT5UOWM0mIFrgigOOS4gzTPLe+pyw9CTb6bVhk7tnqwWVJEph8cQ3Mj9aqsWZiYhz8gWNdTZFpFJ4wxepy6gK3Ujr6g7GrabaKqkVJamlw1l5xDa5wGRT3V0gBjtckKBcVOrUa0RChRTd2dDx2AieBlbDpYDUCVAsRuLfGqE3wbMtPkmMDPKwFth4mizcCbpLfc5umWdpmM8ti6LK+m++4O/wDXt6VZOfwpFFOCzuTOmYGd2WwWwt15VCN2XTUE7tlebgovM7hNmYty8T4V20tkVKpTWrOg8I5B9lV+QL6dv5b/wBa0Uqbje5ixNZVGrcFgq4zCgFAKAUAoBQCgFAKAUAoCIzrKGlQ9jKYJOYYKrAnzVgR8qw1uzMLWm51IXb5u1+GiyNWcVZMq+XZycHNox8awyvZRiBfsZPDc37Fieh7pNt72FW4fA0cOv8AEvq2/wAkqmIqVIqEnotiZzrKoZNUpsptdiNjy59Q3StOZJXZR3bk7IqWJyg6lGtZUfvK1gL+rXOwuPnWqjOko529jz8VTxLmqUI767fzx5l14f4fjiAckO/Qj3V/lH6n6VCpiXU0jsWYfAKi7z1l+PL9k9VBtFAKAUB8JtzoDwJ1va4qOddSWSXQyVIiKAUAoBQHxmsLmgIvERuzEiWw8Nq6dOO4TjHEbBoY2JIGxYc/Leh25YosykO5jW3hc/naljtjcixwP/xOPiKWFiGw3BWl9UEkgQ/cePVbyBUj61TKimXrENbmzmHBk6qZEVmA3ItZvMhQSSPr5VVKk1sWwxEXo9Cu6CB58qqLzRx2BDsoI25n0Fv1Irqdg9SfyPD6V2HLp+dQe53gzZxaSWK4JILEHytY+m5H1rt7kY6Flw7AKBfp8amtitrU+5Tw+SzMljdix8ixJ512NNtnJ1klYuOX4ARjfdvy9K0xhYxTnmN2pkBQCgFAKAUAoBQCgFAKAUAoBQCgMGNwccyFJEDodiCL0BzzMYZcqlVcOxmwzC4w7kgrvYiCQ7A/8s7HYADc1xyjezJqEnHMuDaw/YYxTJhHCuv7yJhpIPg6c0JP3hdTz3FU1KHQ0UcXKOj2MmAzUQN2byGOT8Dkb+Gk8mHpVKvA0StV1LVh8c3NuX9+FXRqPkyypLg3opg3KrlJMolFx3E8yopZjYCjaSuzkYuTsiv4zipAO7sPE8/lWaVfoa4YXqR7ZpLIRq7ifxHvH0X7vqbVS5uW5oVOMdjLHnMQOnVv5An60UzjgTWDzMX0vy6H+v8AWtFOrwzNUo8xJWtBlFAKAUBXM8xhldsPFKEdACy23a4uBz5f1rp1FRlzCWMlHDXHheh0tc3AuELq6o0ZU3srbHyIa9h6WpciT0eCjUWWNB6KK4DMqAcgBQHqgFAQ2b8NQT3Yrpc82Xa/qOR9efnVcqakWwrSiU/F8HPE5Y99baQVB5b8xzH5edZ5UpI1xrxkvEw4fChedV2Jt3NqPBGUqUUkr5ePOpKLexFyS3LTlOTgd6RdzyB/M1ohT5ZlqVXsiajjCiygAeAFXJWKW29z1Q4KAUAoBQCgFAKAUAoBQCgFAKAUAoBQEXxDlK4iIqRci9geRv0qupDMi2jUcJXOT5plc0Eof9orqbLIm0qX8ekiHwbnYXJA01TGrKGkjVKhCqrxdn9mS+B4ognCJmCx91joxK7Rhv4usD+N+7yJ03ArRaM1dGT46crPcnZUmw4Jvrh5q6jdQfxKNiv8S7b8hzrNKm4muFWM99zPLnHYRrI5UA2t3h1Gx26H9a5mcdSThGehS894zkmk7NLuWNkVRcn0A/vaovNN6lkYRghl+BeEkz2EwPuag2i4B3IJBex5jYch4mMo2diSndaG00zyd2PdiQCegvfdj0Gx9bbVEJdSXhgRLb3P5/0ojhtzY2TbuHT63qV2csi34OW8SN4qp+YFb46pHmT0kzIs1SInmUMQbMPKuAr+ZY+ZSBMpQC9nF9DAjkWHuHwJrp0rOausbJ2zMA28WJG7KR9yS3vDzHT4iugncPjInUF2R25Fl5H5iuAuNcOCgFAKAUAoBQGOWBW95Vb1AP51xpM6m1sekQAWAAHgBaunG7nqgFAKAUAoBQCgFAKAUAoBQCgFAKAUAoBQCgFAVvjWwSMnnqI+Gkk/kKor7I0Ye92cy/2eG7RkcK2onyYcrMOvLY/kbGs6bi7o3NxayzV0MizyfB6RHZojuIGbuEeOHf7h/gNxyABJLVqhVUtHozFVwzgs0dV90TkmBwuZqz4eRo5V9/DtZSD4MpuUuRbUh0n50nR5Qp4lrR7HPMwzSXBu0QjOGcc77MfDvffU22IJBttVHdy5N8a0OFc1cLxC8kwEk3vsqlri4Gw69bUyWRyU1J6I6CuKWMBI1bSe7ZLF2P4hf3m23v08LC1XBzdmXD6kGqRg0ngPdUfq30HIX5nh19DZh4pUdyzDzqV2cyovuVYoNDGRyKL+Vb4fKjzKnzM3FqRAarUB6E3jQELiMHHOhGhLXHNQVPw/Wh0014dC7CCAjyW30oNC3Vw4KAUAoBQCgFAKAUAoBQCgFAKAUAoBQCgFAKAUAoBQCgFAKAUAoBQFb46/cp/P/wBrVRX2Rpw3zM5tiPd+B/Ws5s5NTiP/AHGb+U/5K6t0cMXD3/u2E/6X/wCSV6X+g8n/AFHTeIuS+h/zLWeoaKfJk4T/AHKfyfpU1sVy3Zzvhr3j/wBI/wCZawSPVRuS+61RiJEHPzqYOrcM/wC6Qf8ATWt0PlR5lT535k5hPdHpUisxS866geh7p9D+VcB5w/ufCgMuE9xfSug//9k="/>
          <p:cNvSpPr>
            <a:spLocks noChangeAspect="1" noChangeArrowheads="1"/>
          </p:cNvSpPr>
          <p:nvPr/>
        </p:nvSpPr>
        <p:spPr bwMode="auto">
          <a:xfrm>
            <a:off x="633413" y="2746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eaLnBrk="1" hangingPunct="1"/>
            <a:endParaRPr lang="sv-SE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07" name="TextBox 1"/>
              <p:cNvSpPr txBox="1">
                <a:spLocks noChangeArrowheads="1"/>
              </p:cNvSpPr>
              <p:nvPr/>
            </p:nvSpPr>
            <p:spPr bwMode="auto">
              <a:xfrm>
                <a:off x="1482725" y="2474913"/>
                <a:ext cx="6003925" cy="12319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ヒラギノ角ゴ ProN W3" charset="-128"/>
                    <a:sym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ヒラギノ角ゴ ProN W3" charset="-128"/>
                    <a:sym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ヒラギノ角ゴ ProN W3" charset="-128"/>
                    <a:sym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ヒラギノ角ゴ ProN W3" charset="-128"/>
                    <a:sym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ヒラギノ角ゴ ProN W3" charset="-128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ヒラギノ角ゴ ProN W3" charset="-128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ヒラギノ角ゴ ProN W3" charset="-128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ヒラギノ角ゴ ProN W3" charset="-128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ヒラギノ角ゴ ProN W3" charset="-128"/>
                    <a:sym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dirty="0"/>
                  <a:t> (Chi-Square) test</a:t>
                </a:r>
                <a:r>
                  <a:rPr lang="sv-SE" altLang="en-US" sz="2800" dirty="0">
                    <a:solidFill>
                      <a:srgbClr val="0070C0"/>
                    </a:solidFill>
                  </a:rPr>
                  <a:t> </a:t>
                </a:r>
                <a:r>
                  <a:rPr lang="sv-SE" altLang="en-US" sz="28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 </a:t>
                </a:r>
              </a:p>
              <a:p>
                <a:pPr algn="ctr" eaLnBrk="1" hangingPunct="1">
                  <a:defRPr/>
                </a:pPr>
                <a:r>
                  <a:rPr lang="sv-SE" altLang="en-US" sz="2800" dirty="0">
                    <a:solidFill>
                      <a:srgbClr val="0070C0"/>
                    </a:solidFill>
                  </a:rPr>
                  <a:t>Lecture No. 2d</a:t>
                </a:r>
              </a:p>
              <a:p>
                <a:pPr algn="ctr" eaLnBrk="1" hangingPunct="1">
                  <a:defRPr/>
                </a:pPr>
                <a:endParaRPr lang="sv-SE" altLang="en-US" sz="18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4107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82725" y="2474913"/>
                <a:ext cx="6003925" cy="1231900"/>
              </a:xfrm>
              <a:prstGeom prst="rect">
                <a:avLst/>
              </a:prstGeom>
              <a:blipFill>
                <a:blip r:embed="rId3"/>
                <a:stretch>
                  <a:fillRect t="-544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A817B5-5030-48D4-BDE9-E38FE860EC2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Correlation for Nominal Data</a:t>
                </a:r>
                <a:endParaRPr lang="aa-ET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A817B5-5030-48D4-BDE9-E38FE860EC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3395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BBEB2-A0B9-42AE-AA9B-7221748C6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that a group of </a:t>
            </a:r>
            <a:r>
              <a:rPr lang="en-US" b="1" i="1" dirty="0">
                <a:solidFill>
                  <a:srgbClr val="FF00FF"/>
                </a:solidFill>
              </a:rPr>
              <a:t>1500 people </a:t>
            </a:r>
            <a:r>
              <a:rPr lang="en-US" dirty="0"/>
              <a:t>was surveyed. </a:t>
            </a:r>
          </a:p>
          <a:p>
            <a:r>
              <a:rPr lang="en-US" dirty="0"/>
              <a:t>The </a:t>
            </a:r>
            <a:r>
              <a:rPr lang="en-US" b="1" i="1" dirty="0">
                <a:solidFill>
                  <a:srgbClr val="FF00FF"/>
                </a:solidFill>
              </a:rPr>
              <a:t>gender</a:t>
            </a:r>
            <a:r>
              <a:rPr lang="en-US" dirty="0"/>
              <a:t> of each person was noted. Each person was polled as to whether his or her preferred type of reading material was </a:t>
            </a:r>
            <a:r>
              <a:rPr lang="en-US" b="1" i="1" dirty="0">
                <a:solidFill>
                  <a:srgbClr val="FF00FF"/>
                </a:solidFill>
              </a:rPr>
              <a:t>ﬁction</a:t>
            </a:r>
            <a:r>
              <a:rPr lang="en-US" dirty="0"/>
              <a:t> or </a:t>
            </a:r>
            <a:r>
              <a:rPr lang="en-US" b="1" i="1" dirty="0">
                <a:solidFill>
                  <a:srgbClr val="FF00FF"/>
                </a:solidFill>
              </a:rPr>
              <a:t>nonﬁction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Thus, we have two attributes, </a:t>
            </a:r>
            <a:r>
              <a:rPr lang="en-US" b="1" i="1" dirty="0">
                <a:solidFill>
                  <a:srgbClr val="FF00FF"/>
                </a:solidFill>
              </a:rPr>
              <a:t>gender</a:t>
            </a:r>
            <a:r>
              <a:rPr lang="en-US" dirty="0"/>
              <a:t> and preferred </a:t>
            </a:r>
            <a:r>
              <a:rPr lang="en-US" b="1" i="1" dirty="0">
                <a:solidFill>
                  <a:srgbClr val="FF00FF"/>
                </a:solidFill>
              </a:rPr>
              <a:t>reading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The observed frequency (or count) of each possible joint event is summarized in the </a:t>
            </a:r>
            <a:r>
              <a:rPr lang="en-US" b="1" i="1" dirty="0">
                <a:solidFill>
                  <a:srgbClr val="FF00FF"/>
                </a:solidFill>
              </a:rPr>
              <a:t>contingency table </a:t>
            </a:r>
            <a:endParaRPr lang="aa-ET" b="1" i="1" dirty="0">
              <a:solidFill>
                <a:srgbClr val="FF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9D846-93CD-4226-A932-380359BB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82099" cy="307777"/>
          </a:xfrm>
        </p:spPr>
        <p:txBody>
          <a:bodyPr/>
          <a:lstStyle/>
          <a:p>
            <a:fld id="{D1D8BA92-921E-4261-AD97-A03D4D04105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655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A817B5-5030-48D4-BDE9-E38FE860EC2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Correlation for Nominal Data</a:t>
                </a:r>
                <a:endParaRPr lang="aa-ET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A817B5-5030-48D4-BDE9-E38FE860EC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3395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5A77693-F868-4E45-8F57-99B26FA53D9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22722" y="1866900"/>
          <a:ext cx="75438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85950">
                  <a:extLst>
                    <a:ext uri="{9D8B030D-6E8A-4147-A177-3AD203B41FA5}">
                      <a16:colId xmlns:a16="http://schemas.microsoft.com/office/drawing/2014/main" val="1084151089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452378874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141549383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583937027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endParaRPr lang="aa-ET" sz="11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i="1" dirty="0"/>
                        <a:t>male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i="1" dirty="0"/>
                        <a:t>female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Total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1197282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i="1" dirty="0"/>
                        <a:t>fiction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aa-ET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aa-ET" sz="11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9253582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i="1" dirty="0"/>
                        <a:t>non-fiction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aa-ET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aa-ET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aa-ET" sz="11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9702935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b="1" dirty="0"/>
                        <a:t>Total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aa-ET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aa-ET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aa-ET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8428602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9D846-93CD-4226-A932-380359BB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82099" cy="307777"/>
          </a:xfrm>
        </p:spPr>
        <p:txBody>
          <a:bodyPr/>
          <a:lstStyle/>
          <a:p>
            <a:fld id="{D1D8BA92-921E-4261-AD97-A03D4D04105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272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A817B5-5030-48D4-BDE9-E38FE860EC2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Correlation for Nominal Data</a:t>
                </a:r>
                <a:endParaRPr lang="aa-ET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A817B5-5030-48D4-BDE9-E38FE860EC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3395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5A77693-F868-4E45-8F57-99B26FA53D9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22722" y="1866900"/>
          <a:ext cx="75438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85950">
                  <a:extLst>
                    <a:ext uri="{9D8B030D-6E8A-4147-A177-3AD203B41FA5}">
                      <a16:colId xmlns:a16="http://schemas.microsoft.com/office/drawing/2014/main" val="1084151089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452378874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141549383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583937027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endParaRPr lang="aa-ET" sz="11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i="1" dirty="0"/>
                        <a:t>male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i="1" dirty="0"/>
                        <a:t>female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Total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1197282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i="1" dirty="0"/>
                        <a:t>fiction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250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200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450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9253582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i="1" dirty="0"/>
                        <a:t>non-fiction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50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1000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1050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9702935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b="1" dirty="0"/>
                        <a:t>Total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300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1200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1500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8428602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9D846-93CD-4226-A932-380359BB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82099" cy="307777"/>
          </a:xfrm>
        </p:spPr>
        <p:txBody>
          <a:bodyPr/>
          <a:lstStyle/>
          <a:p>
            <a:fld id="{D1D8BA92-921E-4261-AD97-A03D4D041050}" type="slidenum">
              <a:rPr lang="en-US" smtClean="0"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E86F09-8092-48B6-BF83-D0C9D728E506}"/>
              </a:ext>
            </a:extLst>
          </p:cNvPr>
          <p:cNvSpPr txBox="1"/>
          <p:nvPr/>
        </p:nvSpPr>
        <p:spPr>
          <a:xfrm>
            <a:off x="176863" y="3185968"/>
            <a:ext cx="4721849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00B050"/>
                </a:solidFill>
              </a:rPr>
              <a:t>1- Find expected values for this contingency Table</a:t>
            </a:r>
            <a:endParaRPr lang="aa-ET" sz="1500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FBF396-CE18-469D-ADCB-8B70EC37F13A}"/>
                  </a:ext>
                </a:extLst>
              </p:cNvPr>
              <p:cNvSpPr txBox="1"/>
              <p:nvPr/>
            </p:nvSpPr>
            <p:spPr>
              <a:xfrm>
                <a:off x="754381" y="3481239"/>
                <a:ext cx="3236495" cy="54034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𝑐𝑜𝑢𝑛𝑡</m:t>
                          </m:r>
                          <m:d>
                            <m:dPr>
                              <m:ctrlP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𝑚𝑎𝑙𝑒</m:t>
                              </m:r>
                            </m:e>
                          </m:d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𝑐𝑜𝑢𝑛𝑡</m:t>
                          </m:r>
                          <m:d>
                            <m:dPr>
                              <m:ctrlP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𝑓𝑖𝑐𝑡𝑖𝑜𝑛</m:t>
                              </m:r>
                            </m:e>
                          </m:d>
                        </m:num>
                        <m:den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aa-ET" sz="15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FBF396-CE18-469D-ADCB-8B70EC37F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81" y="3481239"/>
                <a:ext cx="3236495" cy="5403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051E53F1-F605-4086-AB9C-03424EBFCE1B}"/>
              </a:ext>
            </a:extLst>
          </p:cNvPr>
          <p:cNvGraphicFramePr>
            <a:graphicFrameLocks/>
          </p:cNvGraphicFramePr>
          <p:nvPr/>
        </p:nvGraphicFramePr>
        <p:xfrm>
          <a:off x="865562" y="4360256"/>
          <a:ext cx="5657850" cy="8343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85950">
                  <a:extLst>
                    <a:ext uri="{9D8B030D-6E8A-4147-A177-3AD203B41FA5}">
                      <a16:colId xmlns:a16="http://schemas.microsoft.com/office/drawing/2014/main" val="1084151089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452378874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14154938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endParaRPr lang="aa-ET" sz="11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i="1" dirty="0"/>
                        <a:t>male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i="1" dirty="0"/>
                        <a:t>female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1197282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i="1" dirty="0"/>
                        <a:t>fiction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90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aa-ET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9253582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i="1" dirty="0"/>
                        <a:t>non-fiction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aa-ET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9702935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33DE4FF-DEF3-4BEB-ABD1-EAFD9620E9F0}"/>
                  </a:ext>
                </a:extLst>
              </p:cNvPr>
              <p:cNvSpPr txBox="1"/>
              <p:nvPr/>
            </p:nvSpPr>
            <p:spPr>
              <a:xfrm>
                <a:off x="4285649" y="3470817"/>
                <a:ext cx="3236495" cy="53072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300×450</m:t>
                          </m:r>
                        </m:num>
                        <m:den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1500</m:t>
                          </m:r>
                        </m:den>
                      </m:f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=90</m:t>
                      </m:r>
                    </m:oMath>
                  </m:oMathPara>
                </a14:m>
                <a:endParaRPr lang="aa-ET" sz="15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33DE4FF-DEF3-4BEB-ABD1-EAFD9620E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649" y="3470817"/>
                <a:ext cx="3236495" cy="530723"/>
              </a:xfrm>
              <a:prstGeom prst="rect">
                <a:avLst/>
              </a:prstGeom>
              <a:blipFill>
                <a:blip r:embed="rId4"/>
                <a:stretch>
                  <a:fillRect b="-227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9753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A817B5-5030-48D4-BDE9-E38FE860EC2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Correlation for Nominal Data</a:t>
                </a:r>
                <a:endParaRPr lang="aa-ET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A817B5-5030-48D4-BDE9-E38FE860EC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3395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5A77693-F868-4E45-8F57-99B26FA53D9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22722" y="1866900"/>
          <a:ext cx="75438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85950">
                  <a:extLst>
                    <a:ext uri="{9D8B030D-6E8A-4147-A177-3AD203B41FA5}">
                      <a16:colId xmlns:a16="http://schemas.microsoft.com/office/drawing/2014/main" val="1084151089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452378874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141549383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583937027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endParaRPr lang="aa-ET" sz="11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i="1" dirty="0"/>
                        <a:t>male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i="1" dirty="0"/>
                        <a:t>female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Total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1197282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i="1" dirty="0"/>
                        <a:t>fiction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250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200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450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9253582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i="1" dirty="0"/>
                        <a:t>non-fiction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50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1000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1050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9702935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b="1" dirty="0"/>
                        <a:t>Total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300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1200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1500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8428602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9D846-93CD-4226-A932-380359BB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82099" cy="307777"/>
          </a:xfrm>
        </p:spPr>
        <p:txBody>
          <a:bodyPr/>
          <a:lstStyle/>
          <a:p>
            <a:fld id="{D1D8BA92-921E-4261-AD97-A03D4D041050}" type="slidenum">
              <a:rPr lang="en-US" smtClean="0"/>
              <a:t>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E86F09-8092-48B6-BF83-D0C9D728E506}"/>
              </a:ext>
            </a:extLst>
          </p:cNvPr>
          <p:cNvSpPr txBox="1"/>
          <p:nvPr/>
        </p:nvSpPr>
        <p:spPr>
          <a:xfrm>
            <a:off x="176863" y="3185968"/>
            <a:ext cx="4721849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00B050"/>
                </a:solidFill>
              </a:rPr>
              <a:t>1- Find expected values for this contingency Table</a:t>
            </a:r>
            <a:endParaRPr lang="aa-ET" sz="1500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FBF396-CE18-469D-ADCB-8B70EC37F13A}"/>
                  </a:ext>
                </a:extLst>
              </p:cNvPr>
              <p:cNvSpPr txBox="1"/>
              <p:nvPr/>
            </p:nvSpPr>
            <p:spPr>
              <a:xfrm>
                <a:off x="276726" y="3481239"/>
                <a:ext cx="3714150" cy="54034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𝑐𝑜𝑢𝑛𝑡</m:t>
                          </m:r>
                          <m:d>
                            <m:dPr>
                              <m:ctrlP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𝑓𝑒𝑚𝑎𝑙𝑒</m:t>
                              </m:r>
                            </m:e>
                          </m:d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𝑐𝑜𝑢𝑛𝑡</m:t>
                          </m:r>
                          <m:d>
                            <m:dPr>
                              <m:ctrlP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𝑓𝑖𝑐𝑡𝑖𝑜𝑛</m:t>
                              </m:r>
                            </m:e>
                          </m:d>
                        </m:num>
                        <m:den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aa-ET" sz="15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FBF396-CE18-469D-ADCB-8B70EC37F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26" y="3481239"/>
                <a:ext cx="3714150" cy="5403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051E53F1-F605-4086-AB9C-03424EBFCE1B}"/>
              </a:ext>
            </a:extLst>
          </p:cNvPr>
          <p:cNvGraphicFramePr>
            <a:graphicFrameLocks/>
          </p:cNvGraphicFramePr>
          <p:nvPr/>
        </p:nvGraphicFramePr>
        <p:xfrm>
          <a:off x="865562" y="4360256"/>
          <a:ext cx="5657850" cy="8343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85950">
                  <a:extLst>
                    <a:ext uri="{9D8B030D-6E8A-4147-A177-3AD203B41FA5}">
                      <a16:colId xmlns:a16="http://schemas.microsoft.com/office/drawing/2014/main" val="1084151089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452378874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14154938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endParaRPr lang="aa-ET" sz="11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i="1" dirty="0"/>
                        <a:t>male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i="1" dirty="0"/>
                        <a:t>female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1197282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i="1" dirty="0"/>
                        <a:t>fiction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90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360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9253582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i="1" dirty="0"/>
                        <a:t>non-fiction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aa-ET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9702935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33DE4FF-DEF3-4BEB-ABD1-EAFD9620E9F0}"/>
                  </a:ext>
                </a:extLst>
              </p:cNvPr>
              <p:cNvSpPr txBox="1"/>
              <p:nvPr/>
            </p:nvSpPr>
            <p:spPr>
              <a:xfrm>
                <a:off x="4285649" y="3470817"/>
                <a:ext cx="3236495" cy="53072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1200×450</m:t>
                          </m:r>
                        </m:num>
                        <m:den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1500</m:t>
                          </m:r>
                        </m:den>
                      </m:f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=360</m:t>
                      </m:r>
                    </m:oMath>
                  </m:oMathPara>
                </a14:m>
                <a:endParaRPr lang="aa-ET" sz="15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33DE4FF-DEF3-4BEB-ABD1-EAFD9620E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649" y="3470817"/>
                <a:ext cx="3236495" cy="530723"/>
              </a:xfrm>
              <a:prstGeom prst="rect">
                <a:avLst/>
              </a:prstGeom>
              <a:blipFill>
                <a:blip r:embed="rId4"/>
                <a:stretch>
                  <a:fillRect b="-227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195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A817B5-5030-48D4-BDE9-E38FE860EC2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Correlation for Nominal Data</a:t>
                </a:r>
                <a:endParaRPr lang="aa-ET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A817B5-5030-48D4-BDE9-E38FE860EC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3395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5A77693-F868-4E45-8F57-99B26FA53D9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22722" y="1866900"/>
          <a:ext cx="75438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85950">
                  <a:extLst>
                    <a:ext uri="{9D8B030D-6E8A-4147-A177-3AD203B41FA5}">
                      <a16:colId xmlns:a16="http://schemas.microsoft.com/office/drawing/2014/main" val="1084151089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452378874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141549383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583937027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endParaRPr lang="aa-ET" sz="11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i="1" dirty="0"/>
                        <a:t>male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i="1" dirty="0"/>
                        <a:t>female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Total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1197282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i="1" dirty="0"/>
                        <a:t>fiction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250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200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450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9253582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i="1" dirty="0"/>
                        <a:t>non-fiction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50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1000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1050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9702935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b="1" dirty="0"/>
                        <a:t>Total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300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1200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1500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8428602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9D846-93CD-4226-A932-380359BB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82099" cy="307777"/>
          </a:xfrm>
        </p:spPr>
        <p:txBody>
          <a:bodyPr/>
          <a:lstStyle/>
          <a:p>
            <a:fld id="{D1D8BA92-921E-4261-AD97-A03D4D041050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E86F09-8092-48B6-BF83-D0C9D728E506}"/>
              </a:ext>
            </a:extLst>
          </p:cNvPr>
          <p:cNvSpPr txBox="1"/>
          <p:nvPr/>
        </p:nvSpPr>
        <p:spPr>
          <a:xfrm>
            <a:off x="176863" y="3185968"/>
            <a:ext cx="4721849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00B050"/>
                </a:solidFill>
              </a:rPr>
              <a:t>1- Find expected values for this contingency Table</a:t>
            </a:r>
            <a:endParaRPr lang="aa-ET" sz="1500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FBF396-CE18-469D-ADCB-8B70EC37F13A}"/>
                  </a:ext>
                </a:extLst>
              </p:cNvPr>
              <p:cNvSpPr txBox="1"/>
              <p:nvPr/>
            </p:nvSpPr>
            <p:spPr>
              <a:xfrm>
                <a:off x="276726" y="3481239"/>
                <a:ext cx="3714150" cy="54034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𝑐𝑜𝑢𝑛𝑡</m:t>
                          </m:r>
                          <m:d>
                            <m:dPr>
                              <m:ctrlP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𝑓𝑒𝑚𝑎𝑙𝑒</m:t>
                              </m:r>
                            </m:e>
                          </m:d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𝑐𝑜𝑢𝑛𝑡</m:t>
                          </m:r>
                          <m:d>
                            <m:dPr>
                              <m:ctrlP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𝑓𝑖𝑐𝑡𝑖𝑜𝑛</m:t>
                              </m:r>
                            </m:e>
                          </m:d>
                        </m:num>
                        <m:den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aa-ET" sz="15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FBF396-CE18-469D-ADCB-8B70EC37F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26" y="3481239"/>
                <a:ext cx="3714150" cy="5403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051E53F1-F605-4086-AB9C-03424EBFCE1B}"/>
              </a:ext>
            </a:extLst>
          </p:cNvPr>
          <p:cNvGraphicFramePr>
            <a:graphicFrameLocks/>
          </p:cNvGraphicFramePr>
          <p:nvPr/>
        </p:nvGraphicFramePr>
        <p:xfrm>
          <a:off x="865562" y="4360256"/>
          <a:ext cx="5657850" cy="8343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85950">
                  <a:extLst>
                    <a:ext uri="{9D8B030D-6E8A-4147-A177-3AD203B41FA5}">
                      <a16:colId xmlns:a16="http://schemas.microsoft.com/office/drawing/2014/main" val="1084151089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452378874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14154938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endParaRPr lang="aa-ET" sz="11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i="1" dirty="0"/>
                        <a:t>male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i="1" dirty="0"/>
                        <a:t>female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1197282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i="1" dirty="0"/>
                        <a:t>fiction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90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360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9253582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i="1" dirty="0"/>
                        <a:t>non-fiction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210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840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9702935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33DE4FF-DEF3-4BEB-ABD1-EAFD9620E9F0}"/>
                  </a:ext>
                </a:extLst>
              </p:cNvPr>
              <p:cNvSpPr txBox="1"/>
              <p:nvPr/>
            </p:nvSpPr>
            <p:spPr>
              <a:xfrm>
                <a:off x="4285649" y="3470817"/>
                <a:ext cx="3236495" cy="53072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1200×450</m:t>
                          </m:r>
                        </m:num>
                        <m:den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1500</m:t>
                          </m:r>
                        </m:den>
                      </m:f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=360</m:t>
                      </m:r>
                    </m:oMath>
                  </m:oMathPara>
                </a14:m>
                <a:endParaRPr lang="aa-ET" sz="15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33DE4FF-DEF3-4BEB-ABD1-EAFD9620E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649" y="3470817"/>
                <a:ext cx="3236495" cy="530723"/>
              </a:xfrm>
              <a:prstGeom prst="rect">
                <a:avLst/>
              </a:prstGeom>
              <a:blipFill>
                <a:blip r:embed="rId4"/>
                <a:stretch>
                  <a:fillRect b="-227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61D943D9-E41E-4E60-AE4D-8A29622282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1538" y="4477581"/>
            <a:ext cx="2490537" cy="55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650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A817B5-5030-48D4-BDE9-E38FE860EC2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Correlation for Nominal Data</a:t>
                </a:r>
                <a:endParaRPr lang="aa-ET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A817B5-5030-48D4-BDE9-E38FE860EC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3395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5A77693-F868-4E45-8F57-99B26FA53D9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22722" y="1866900"/>
          <a:ext cx="75438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85950">
                  <a:extLst>
                    <a:ext uri="{9D8B030D-6E8A-4147-A177-3AD203B41FA5}">
                      <a16:colId xmlns:a16="http://schemas.microsoft.com/office/drawing/2014/main" val="1084151089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452378874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141549383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583937027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endParaRPr lang="aa-ET" sz="11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i="1" dirty="0"/>
                        <a:t>male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i="1" dirty="0"/>
                        <a:t>female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Total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1197282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i="1" dirty="0"/>
                        <a:t>fiction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250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200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450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9253582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i="1" dirty="0"/>
                        <a:t>non-fiction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50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1000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1050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9702935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b="1" dirty="0"/>
                        <a:t>Total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300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1200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1500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8428602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9D846-93CD-4226-A932-380359BB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82099" cy="307777"/>
          </a:xfrm>
        </p:spPr>
        <p:txBody>
          <a:bodyPr/>
          <a:lstStyle/>
          <a:p>
            <a:fld id="{D1D8BA92-921E-4261-AD97-A03D4D041050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E86F09-8092-48B6-BF83-D0C9D728E506}"/>
                  </a:ext>
                </a:extLst>
              </p:cNvPr>
              <p:cNvSpPr txBox="1"/>
              <p:nvPr/>
            </p:nvSpPr>
            <p:spPr>
              <a:xfrm>
                <a:off x="116706" y="3994119"/>
                <a:ext cx="2578368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>
                    <a:solidFill>
                      <a:srgbClr val="00B050"/>
                    </a:solidFill>
                  </a:rPr>
                  <a:t>2- 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5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sz="15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a-ET" sz="15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E86F09-8092-48B6-BF83-D0C9D728E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06" y="3994119"/>
                <a:ext cx="2578368" cy="323165"/>
              </a:xfrm>
              <a:prstGeom prst="rect">
                <a:avLst/>
              </a:prstGeom>
              <a:blipFill>
                <a:blip r:embed="rId3"/>
                <a:stretch>
                  <a:fillRect l="-980" t="-3846" b="-2307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FBF396-CE18-469D-ADCB-8B70EC37F13A}"/>
                  </a:ext>
                </a:extLst>
              </p:cNvPr>
              <p:cNvSpPr txBox="1"/>
              <p:nvPr/>
            </p:nvSpPr>
            <p:spPr>
              <a:xfrm>
                <a:off x="1687820" y="4294202"/>
                <a:ext cx="6006110" cy="555537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5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5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250−90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90</m:t>
                          </m:r>
                        </m:den>
                      </m:f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5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5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50−210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210</m:t>
                          </m:r>
                        </m:den>
                      </m:f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5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5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200−360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360</m:t>
                          </m:r>
                        </m:den>
                      </m:f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5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5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1000−840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840</m:t>
                          </m:r>
                        </m:den>
                      </m:f>
                    </m:oMath>
                  </m:oMathPara>
                </a14:m>
                <a:endParaRPr lang="aa-ET" sz="15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FBF396-CE18-469D-ADCB-8B70EC37F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7820" y="4294202"/>
                <a:ext cx="6006110" cy="555537"/>
              </a:xfrm>
              <a:prstGeom prst="rect">
                <a:avLst/>
              </a:prstGeom>
              <a:blipFill>
                <a:blip r:embed="rId4"/>
                <a:stretch>
                  <a:fillRect b="-217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051E53F1-F605-4086-AB9C-03424EBFCE1B}"/>
              </a:ext>
            </a:extLst>
          </p:cNvPr>
          <p:cNvGraphicFramePr>
            <a:graphicFrameLocks/>
          </p:cNvGraphicFramePr>
          <p:nvPr/>
        </p:nvGraphicFramePr>
        <p:xfrm>
          <a:off x="822722" y="3041043"/>
          <a:ext cx="5657850" cy="8343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85950">
                  <a:extLst>
                    <a:ext uri="{9D8B030D-6E8A-4147-A177-3AD203B41FA5}">
                      <a16:colId xmlns:a16="http://schemas.microsoft.com/office/drawing/2014/main" val="1084151089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452378874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14154938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endParaRPr lang="aa-ET" sz="11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i="1" dirty="0"/>
                        <a:t>male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i="1" dirty="0"/>
                        <a:t>female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1197282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i="1" dirty="0"/>
                        <a:t>fiction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90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360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9253582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i="1" dirty="0"/>
                        <a:t>non-fiction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210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840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9702935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E9E9C95-0ABF-472E-B069-0954F15A27CB}"/>
                  </a:ext>
                </a:extLst>
              </p:cNvPr>
              <p:cNvSpPr txBox="1"/>
              <p:nvPr/>
            </p:nvSpPr>
            <p:spPr>
              <a:xfrm>
                <a:off x="1687820" y="4909182"/>
                <a:ext cx="6006110" cy="3231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=284.44+121.90+71.11+30.48=507.93</m:t>
                      </m:r>
                    </m:oMath>
                  </m:oMathPara>
                </a14:m>
                <a:endParaRPr lang="aa-ET" sz="15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E9E9C95-0ABF-472E-B069-0954F15A27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7820" y="4909182"/>
                <a:ext cx="6006110" cy="3231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5068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A817B5-5030-48D4-BDE9-E38FE860EC2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Correlation for Nominal Data</a:t>
                </a:r>
                <a:endParaRPr lang="aa-ET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A817B5-5030-48D4-BDE9-E38FE860EC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3395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5A77693-F868-4E45-8F57-99B26FA53D9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22722" y="1866900"/>
          <a:ext cx="75438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85950">
                  <a:extLst>
                    <a:ext uri="{9D8B030D-6E8A-4147-A177-3AD203B41FA5}">
                      <a16:colId xmlns:a16="http://schemas.microsoft.com/office/drawing/2014/main" val="1084151089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452378874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141549383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583937027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endParaRPr lang="aa-ET" sz="11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i="1" dirty="0"/>
                        <a:t>male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i="1" dirty="0"/>
                        <a:t>female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Total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1197282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i="1" dirty="0"/>
                        <a:t>fiction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250 (90)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200 (360)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450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9253582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i="1" dirty="0"/>
                        <a:t>non-fiction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50 (210)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1000 (840)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1050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9702935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b="1" dirty="0"/>
                        <a:t>Total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300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1200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1500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8428602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9D846-93CD-4226-A932-380359BB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82099" cy="307777"/>
          </a:xfrm>
        </p:spPr>
        <p:txBody>
          <a:bodyPr/>
          <a:lstStyle/>
          <a:p>
            <a:fld id="{D1D8BA92-921E-4261-AD97-A03D4D041050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E86F09-8092-48B6-BF83-D0C9D728E506}"/>
                  </a:ext>
                </a:extLst>
              </p:cNvPr>
              <p:cNvSpPr txBox="1"/>
              <p:nvPr/>
            </p:nvSpPr>
            <p:spPr>
              <a:xfrm>
                <a:off x="116706" y="3994119"/>
                <a:ext cx="2578368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>
                    <a:solidFill>
                      <a:srgbClr val="00B050"/>
                    </a:solidFill>
                  </a:rPr>
                  <a:t>2- 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5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sz="15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a-ET" sz="15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E86F09-8092-48B6-BF83-D0C9D728E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06" y="3994119"/>
                <a:ext cx="2578368" cy="323165"/>
              </a:xfrm>
              <a:prstGeom prst="rect">
                <a:avLst/>
              </a:prstGeom>
              <a:blipFill>
                <a:blip r:embed="rId4"/>
                <a:stretch>
                  <a:fillRect l="-980" t="-3846" b="-2307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FBF396-CE18-469D-ADCB-8B70EC37F13A}"/>
                  </a:ext>
                </a:extLst>
              </p:cNvPr>
              <p:cNvSpPr txBox="1"/>
              <p:nvPr/>
            </p:nvSpPr>
            <p:spPr>
              <a:xfrm>
                <a:off x="1687820" y="4294202"/>
                <a:ext cx="6006110" cy="555537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5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5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250−90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90</m:t>
                          </m:r>
                        </m:den>
                      </m:f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5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5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50−210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210</m:t>
                          </m:r>
                        </m:den>
                      </m:f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5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5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200−360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360</m:t>
                          </m:r>
                        </m:den>
                      </m:f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5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5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1000−840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840</m:t>
                          </m:r>
                        </m:den>
                      </m:f>
                    </m:oMath>
                  </m:oMathPara>
                </a14:m>
                <a:endParaRPr lang="aa-ET" sz="15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FBF396-CE18-469D-ADCB-8B70EC37F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7820" y="4294202"/>
                <a:ext cx="6006110" cy="555537"/>
              </a:xfrm>
              <a:prstGeom prst="rect">
                <a:avLst/>
              </a:prstGeom>
              <a:blipFill>
                <a:blip r:embed="rId5"/>
                <a:stretch>
                  <a:fillRect b="-217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E9E9C95-0ABF-472E-B069-0954F15A27CB}"/>
                  </a:ext>
                </a:extLst>
              </p:cNvPr>
              <p:cNvSpPr txBox="1"/>
              <p:nvPr/>
            </p:nvSpPr>
            <p:spPr>
              <a:xfrm>
                <a:off x="1687820" y="4909182"/>
                <a:ext cx="6006110" cy="3231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=284.44+121.90+71.11+30.48=507.93</m:t>
                      </m:r>
                    </m:oMath>
                  </m:oMathPara>
                </a14:m>
                <a:endParaRPr lang="aa-ET" sz="15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E9E9C95-0ABF-472E-B069-0954F15A27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7820" y="4909182"/>
                <a:ext cx="6006110" cy="3231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7A5487BB-F385-42B9-ACF8-2EBAA17AB7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8280" y="3317269"/>
          <a:ext cx="3405188" cy="758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57400" imgH="444500" progId="Equation.3">
                  <p:embed/>
                </p:oleObj>
              </mc:Choice>
              <mc:Fallback>
                <p:oleObj name="Equation" r:id="rId7" imgW="2057400" imgH="444500" progId="Equation.3">
                  <p:embed/>
                  <p:pic>
                    <p:nvPicPr>
                      <p:cNvPr id="8" name="Object 4">
                        <a:extLst>
                          <a:ext uri="{FF2B5EF4-FFF2-40B4-BE49-F238E27FC236}">
                            <a16:creationId xmlns:a16="http://schemas.microsoft.com/office/drawing/2014/main" id="{7A5487BB-F385-42B9-ACF8-2EBAA17AB7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8280" y="3317269"/>
                        <a:ext cx="3405188" cy="7584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2735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AC08BF-BC76-45AC-8DB9-1D671E35297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Analysis</a:t>
                </a:r>
                <a:endParaRPr lang="aa-ET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AC08BF-BC76-45AC-8DB9-1D671E3529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3395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6A56B1-824C-4779-8280-7AA14556E8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larger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value, the more likely the variables are related</a:t>
                </a:r>
              </a:p>
              <a:p>
                <a:r>
                  <a:rPr lang="en-US" dirty="0"/>
                  <a:t>The cells that contribute the most to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value are those whose actual count is very different from the expected count</a:t>
                </a:r>
              </a:p>
              <a:p>
                <a:r>
                  <a:rPr lang="en-US" b="1" i="1" dirty="0"/>
                  <a:t>Remember:</a:t>
                </a:r>
                <a:r>
                  <a:rPr lang="en-US" dirty="0"/>
                  <a:t> Correlation does not imply causality</a:t>
                </a:r>
              </a:p>
              <a:p>
                <a:endParaRPr lang="aa-ET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6A56B1-824C-4779-8280-7AA14556E8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697" t="-1887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A0739-4C49-4157-925E-23A13A33D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82099" cy="307777"/>
          </a:xfrm>
        </p:spPr>
        <p:txBody>
          <a:bodyPr/>
          <a:lstStyle/>
          <a:p>
            <a:fld id="{D1D8BA92-921E-4261-AD97-A03D4D041050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82C0C3-EB27-4C89-AC65-A914C05DF675}"/>
                  </a:ext>
                </a:extLst>
              </p:cNvPr>
              <p:cNvSpPr txBox="1"/>
              <p:nvPr/>
            </p:nvSpPr>
            <p:spPr>
              <a:xfrm>
                <a:off x="3382692" y="4330080"/>
                <a:ext cx="2378617" cy="3231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=507.93</m:t>
                      </m:r>
                    </m:oMath>
                  </m:oMathPara>
                </a14:m>
                <a:endParaRPr lang="aa-ET" sz="15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82C0C3-EB27-4C89-AC65-A914C05DF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692" y="4330080"/>
                <a:ext cx="2378617" cy="3231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A8E4FC1-20E6-4756-8202-4468781631BE}"/>
              </a:ext>
            </a:extLst>
          </p:cNvPr>
          <p:cNvSpPr txBox="1">
            <a:spLocks/>
          </p:cNvSpPr>
          <p:nvPr/>
        </p:nvSpPr>
        <p:spPr>
          <a:xfrm>
            <a:off x="84222" y="3527178"/>
            <a:ext cx="9059778" cy="984853"/>
          </a:xfrm>
          <a:prstGeom prst="rect">
            <a:avLst/>
          </a:prstGeom>
        </p:spPr>
        <p:txBody>
          <a:bodyPr vert="horz" lIns="0" tIns="34290" rIns="0" bIns="3429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i="1" dirty="0"/>
              <a:t>Null Hypothesis: </a:t>
            </a:r>
            <a:r>
              <a:rPr lang="en-US" sz="1800" dirty="0"/>
              <a:t>There is no relation between “</a:t>
            </a:r>
            <a:r>
              <a:rPr lang="en-US" sz="1800" i="1" dirty="0"/>
              <a:t>gender</a:t>
            </a:r>
            <a:r>
              <a:rPr lang="en-US" sz="1800" dirty="0"/>
              <a:t>” and “</a:t>
            </a:r>
            <a:r>
              <a:rPr lang="en-US" sz="1800" i="1" dirty="0"/>
              <a:t>preferred reading </a:t>
            </a:r>
            <a:r>
              <a:rPr lang="en-US" sz="1800" dirty="0"/>
              <a:t>”</a:t>
            </a:r>
          </a:p>
          <a:p>
            <a:r>
              <a:rPr lang="en-US" sz="1800" b="1" i="1" dirty="0"/>
              <a:t>Alternate Hypothesis: </a:t>
            </a:r>
            <a:r>
              <a:rPr lang="en-US" sz="1800" dirty="0"/>
              <a:t>There is significant relation between “</a:t>
            </a:r>
            <a:r>
              <a:rPr lang="en-US" sz="1800" i="1" dirty="0"/>
              <a:t>gender</a:t>
            </a:r>
            <a:r>
              <a:rPr lang="en-US" sz="1800" dirty="0"/>
              <a:t>” and “</a:t>
            </a:r>
            <a:r>
              <a:rPr lang="en-US" sz="1800" i="1" dirty="0"/>
              <a:t>preferred reading </a:t>
            </a:r>
            <a:r>
              <a:rPr lang="en-US" sz="1800" dirty="0"/>
              <a:t>”</a:t>
            </a:r>
          </a:p>
          <a:p>
            <a:endParaRPr lang="aa-ET" sz="1800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060CED-93F4-4EEB-811D-491A759465A8}"/>
                  </a:ext>
                </a:extLst>
              </p:cNvPr>
              <p:cNvSpPr txBox="1"/>
              <p:nvPr/>
            </p:nvSpPr>
            <p:spPr>
              <a:xfrm>
                <a:off x="2908035" y="4670476"/>
                <a:ext cx="3565552" cy="3231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𝑺𝒊𝒈𝒏𝒊𝒇𝒊𝒄𝒂𝒏𝒄𝒆</m:t>
                      </m:r>
                      <m:r>
                        <a:rPr lang="en-US" sz="15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5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𝑳𝒆𝒗𝒆𝒍</m:t>
                      </m:r>
                      <m:r>
                        <a:rPr lang="en-US" sz="15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15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∝</m:t>
                          </m:r>
                        </m:e>
                      </m:d>
                      <m:r>
                        <a:rPr lang="en-US" sz="15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5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sz="15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15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𝟎𝟓</m:t>
                      </m:r>
                      <m:r>
                        <a:rPr lang="en-US" sz="15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US" sz="15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  <m:r>
                        <a:rPr lang="en-US" sz="15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%)</m:t>
                      </m:r>
                    </m:oMath>
                  </m:oMathPara>
                </a14:m>
                <a:endParaRPr lang="aa-ET" sz="15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060CED-93F4-4EEB-811D-491A75946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8035" y="4670476"/>
                <a:ext cx="3565552" cy="323165"/>
              </a:xfrm>
              <a:prstGeom prst="rect">
                <a:avLst/>
              </a:prstGeom>
              <a:blipFill>
                <a:blip r:embed="rId5"/>
                <a:stretch>
                  <a:fillRect b="-1111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65D4B84-46A1-4547-9E3D-EE629807DC2D}"/>
                  </a:ext>
                </a:extLst>
              </p:cNvPr>
              <p:cNvSpPr txBox="1"/>
              <p:nvPr/>
            </p:nvSpPr>
            <p:spPr>
              <a:xfrm>
                <a:off x="103770" y="5175980"/>
                <a:ext cx="6694072" cy="3231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𝐷𝑒𝑔𝑟𝑒𝑒</m:t>
                      </m:r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𝐹𝑟𝑒𝑒𝑑𝑜𝑚</m:t>
                      </m:r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𝑐𝑜𝑙𝑢𝑚𝑛𝑠</m:t>
                          </m:r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𝑟𝑜𝑤𝑠</m:t>
                          </m:r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=(2−1)×(2−1)=1</m:t>
                      </m:r>
                    </m:oMath>
                  </m:oMathPara>
                </a14:m>
                <a:endParaRPr lang="aa-ET" sz="15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65D4B84-46A1-4547-9E3D-EE629807D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70" y="5175980"/>
                <a:ext cx="6694072" cy="323165"/>
              </a:xfrm>
              <a:prstGeom prst="rect">
                <a:avLst/>
              </a:prstGeom>
              <a:blipFill>
                <a:blip r:embed="rId6"/>
                <a:stretch>
                  <a:fillRect b="-1111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9280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AC08BF-BC76-45AC-8DB9-1D671E35297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Analysis</a:t>
                </a:r>
                <a:endParaRPr lang="aa-ET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AC08BF-BC76-45AC-8DB9-1D671E3529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3395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A0739-4C49-4157-925E-23A13A33D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271867" cy="307777"/>
          </a:xfrm>
        </p:spPr>
        <p:txBody>
          <a:bodyPr/>
          <a:lstStyle/>
          <a:p>
            <a:fld id="{D1D8BA92-921E-4261-AD97-A03D4D041050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82C0C3-EB27-4C89-AC65-A914C05DF675}"/>
                  </a:ext>
                </a:extLst>
              </p:cNvPr>
              <p:cNvSpPr txBox="1"/>
              <p:nvPr/>
            </p:nvSpPr>
            <p:spPr>
              <a:xfrm>
                <a:off x="92646" y="2225121"/>
                <a:ext cx="2378617" cy="3231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=507.93</m:t>
                      </m:r>
                    </m:oMath>
                  </m:oMathPara>
                </a14:m>
                <a:endParaRPr lang="aa-ET" sz="15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82C0C3-EB27-4C89-AC65-A914C05DF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46" y="2225121"/>
                <a:ext cx="2378617" cy="3231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060CED-93F4-4EEB-811D-491A759465A8}"/>
                  </a:ext>
                </a:extLst>
              </p:cNvPr>
              <p:cNvSpPr txBox="1"/>
              <p:nvPr/>
            </p:nvSpPr>
            <p:spPr>
              <a:xfrm>
                <a:off x="68583" y="1858128"/>
                <a:ext cx="3565552" cy="3231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𝑺𝒊𝒈𝒏𝒊𝒇𝒊𝒄𝒂𝒏𝒄𝒆</m:t>
                      </m:r>
                      <m:r>
                        <a:rPr lang="en-US" sz="15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5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𝑳𝒆𝒗𝒆𝒍</m:t>
                      </m:r>
                      <m:r>
                        <a:rPr lang="en-US" sz="15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15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∝</m:t>
                          </m:r>
                        </m:e>
                      </m:d>
                      <m:r>
                        <a:rPr lang="en-US" sz="15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5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sz="15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15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𝟎𝟓</m:t>
                      </m:r>
                      <m:r>
                        <a:rPr lang="en-US" sz="15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US" sz="15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  <m:r>
                        <a:rPr lang="en-US" sz="15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%)</m:t>
                      </m:r>
                    </m:oMath>
                  </m:oMathPara>
                </a14:m>
                <a:endParaRPr lang="aa-ET" sz="15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060CED-93F4-4EEB-811D-491A75946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3" y="1858128"/>
                <a:ext cx="3565552" cy="323165"/>
              </a:xfrm>
              <a:prstGeom prst="rect">
                <a:avLst/>
              </a:prstGeom>
              <a:blipFill>
                <a:blip r:embed="rId4"/>
                <a:stretch>
                  <a:fillRect b="-1071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65D4B84-46A1-4547-9E3D-EE629807DC2D}"/>
                  </a:ext>
                </a:extLst>
              </p:cNvPr>
              <p:cNvSpPr txBox="1"/>
              <p:nvPr/>
            </p:nvSpPr>
            <p:spPr>
              <a:xfrm>
                <a:off x="97758" y="2636128"/>
                <a:ext cx="2378618" cy="3231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𝐷𝑒𝑔𝑟𝑒𝑒</m:t>
                      </m:r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𝐹𝑟𝑒𝑒𝑑𝑜𝑚</m:t>
                      </m:r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aa-ET" sz="15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65D4B84-46A1-4547-9E3D-EE629807D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58" y="2636128"/>
                <a:ext cx="2378618" cy="323165"/>
              </a:xfrm>
              <a:prstGeom prst="rect">
                <a:avLst/>
              </a:prstGeom>
              <a:blipFill>
                <a:blip r:embed="rId5"/>
                <a:stretch>
                  <a:fillRect b="-1071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F6641EB0-DBEC-4533-A267-911C50DC52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2402" y="1000176"/>
            <a:ext cx="5657850" cy="4279106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B393254-D0DE-4FE5-9A47-E2E522DA3995}"/>
              </a:ext>
            </a:extLst>
          </p:cNvPr>
          <p:cNvSpPr/>
          <p:nvPr/>
        </p:nvSpPr>
        <p:spPr>
          <a:xfrm>
            <a:off x="3634134" y="1189688"/>
            <a:ext cx="4971339" cy="19616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 sz="13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360D5CD-6F68-4A0C-B964-D872AFAF734A}"/>
                  </a:ext>
                </a:extLst>
              </p:cNvPr>
              <p:cNvSpPr txBox="1"/>
              <p:nvPr/>
            </p:nvSpPr>
            <p:spPr>
              <a:xfrm>
                <a:off x="97758" y="3259294"/>
                <a:ext cx="2598821" cy="76431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1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1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21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𝑐𝑎𝑙𝑐𝑢𝑙𝑎𝑡𝑒𝑑</m:t>
                          </m:r>
                        </m:sub>
                        <m:sup>
                          <m:r>
                            <a:rPr lang="en-US" sz="21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1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Sup>
                        <m:sSubSupPr>
                          <m:ctrlPr>
                            <a:rPr lang="en-US" sz="21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1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21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𝑡𝑎𝑏𝑢𝑙𝑎𝑟</m:t>
                          </m:r>
                        </m:sub>
                        <m:sup>
                          <m:r>
                            <a:rPr lang="en-US" sz="21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aa-ET" sz="21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360D5CD-6F68-4A0C-B964-D872AFAF7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58" y="3259294"/>
                <a:ext cx="2598821" cy="764312"/>
              </a:xfrm>
              <a:prstGeom prst="rect">
                <a:avLst/>
              </a:prstGeom>
              <a:blipFill>
                <a:blip r:embed="rId7"/>
                <a:stretch>
                  <a:fillRect b="-161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0439A6A-01B3-4D6E-87CA-3B62246A9C74}"/>
                  </a:ext>
                </a:extLst>
              </p:cNvPr>
              <p:cNvSpPr txBox="1"/>
              <p:nvPr/>
            </p:nvSpPr>
            <p:spPr>
              <a:xfrm>
                <a:off x="252046" y="4361838"/>
                <a:ext cx="2598821" cy="106182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100" dirty="0">
                    <a:solidFill>
                      <a:srgbClr val="00B050"/>
                    </a:solidFill>
                    <a:ea typeface="Cambria Math" panose="02040503050406030204" pitchFamily="18" charset="0"/>
                  </a:rPr>
                  <a:t>we reject Null hypothesis and accept alternate hypothesis</a:t>
                </a:r>
                <a:endParaRPr lang="aa-ET" sz="21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0439A6A-01B3-4D6E-87CA-3B62246A9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046" y="4361838"/>
                <a:ext cx="2598821" cy="1061829"/>
              </a:xfrm>
              <a:prstGeom prst="rect">
                <a:avLst/>
              </a:prstGeom>
              <a:blipFill>
                <a:blip r:embed="rId8"/>
                <a:stretch>
                  <a:fillRect l="-2415" t="-3529" r="-3382" b="-9412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2664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63631A9-62D9-4966-9FC5-50DBA889C03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Analysis</a:t>
                </a:r>
                <a:endParaRPr lang="aa-ET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63631A9-62D9-4966-9FC5-50DBA889C0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3395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B6411-04C9-41CE-B5E2-DB42CA2C7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our computed value is above the tabular value, we can </a:t>
            </a:r>
            <a:r>
              <a:rPr lang="en-US" b="1" i="1" dirty="0">
                <a:solidFill>
                  <a:srgbClr val="FF0000"/>
                </a:solidFill>
              </a:rPr>
              <a:t>reject</a:t>
            </a:r>
            <a:r>
              <a:rPr lang="en-US" dirty="0"/>
              <a:t> the hypothesis that “</a:t>
            </a:r>
            <a:r>
              <a:rPr lang="en-US" i="1" dirty="0"/>
              <a:t>gender</a:t>
            </a:r>
            <a:r>
              <a:rPr lang="en-US" dirty="0"/>
              <a:t>” and “</a:t>
            </a:r>
            <a:r>
              <a:rPr lang="en-US" i="1" dirty="0"/>
              <a:t>preferred reading </a:t>
            </a:r>
            <a:r>
              <a:rPr lang="en-US" dirty="0"/>
              <a:t>” are </a:t>
            </a:r>
            <a:r>
              <a:rPr lang="en-US" b="1" i="1" dirty="0">
                <a:solidFill>
                  <a:srgbClr val="FF0000"/>
                </a:solidFill>
              </a:rPr>
              <a:t>independent</a:t>
            </a:r>
            <a:r>
              <a:rPr lang="en-US" dirty="0"/>
              <a:t> and conclude that the </a:t>
            </a:r>
            <a:r>
              <a:rPr lang="en-US" b="1" i="1" dirty="0">
                <a:solidFill>
                  <a:srgbClr val="FF00FF"/>
                </a:solidFill>
              </a:rPr>
              <a:t>two attributes are (strongly) correlated for the given group of people</a:t>
            </a:r>
            <a:r>
              <a:rPr lang="en-US" dirty="0"/>
              <a:t>.</a:t>
            </a:r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264ED0-B50E-456B-98D3-1BEF9A72E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271867" cy="307777"/>
          </a:xfrm>
        </p:spPr>
        <p:txBody>
          <a:bodyPr/>
          <a:lstStyle/>
          <a:p>
            <a:fld id="{D1D8BA92-921E-4261-AD97-A03D4D041050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7FAC3A-481C-491F-8B38-5183E91786E7}"/>
              </a:ext>
            </a:extLst>
          </p:cNvPr>
          <p:cNvSpPr txBox="1"/>
          <p:nvPr/>
        </p:nvSpPr>
        <p:spPr>
          <a:xfrm>
            <a:off x="2814187" y="3562992"/>
            <a:ext cx="3561347" cy="10618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100" b="1" dirty="0"/>
              <a:t>Significance level can be changed but normally it is 5%</a:t>
            </a:r>
            <a:endParaRPr lang="aa-ET" sz="2100" b="1" dirty="0"/>
          </a:p>
        </p:txBody>
      </p:sp>
    </p:spTree>
    <p:extLst>
      <p:ext uri="{BB962C8B-B14F-4D97-AF65-F5344CB8AC3E}">
        <p14:creationId xmlns:p14="http://schemas.microsoft.com/office/powerpoint/2010/main" val="405987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AD075C7-CB29-4CB1-80AA-236389651B6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Chi-Square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Example 2</a:t>
                </a:r>
                <a:endParaRPr lang="aa-ET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AD075C7-CB29-4CB1-80AA-236389651B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727" b="-3395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D8D9D-F8EC-4460-8200-F251469E2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22" y="4284969"/>
            <a:ext cx="9059778" cy="984853"/>
          </a:xfrm>
        </p:spPr>
        <p:txBody>
          <a:bodyPr>
            <a:normAutofit lnSpcReduction="10000"/>
          </a:bodyPr>
          <a:lstStyle/>
          <a:p>
            <a:r>
              <a:rPr lang="en-US" b="1" i="1" dirty="0"/>
              <a:t>Null Hypothesis: </a:t>
            </a:r>
            <a:r>
              <a:rPr lang="en-US" dirty="0"/>
              <a:t>There is no relation between “marital status” and “qualification”</a:t>
            </a:r>
          </a:p>
          <a:p>
            <a:r>
              <a:rPr lang="en-US" b="1" i="1" dirty="0"/>
              <a:t>Alternate Hypothesis: </a:t>
            </a:r>
            <a:r>
              <a:rPr lang="en-US" dirty="0"/>
              <a:t>There is significant relation between “marital status” and “qualification”</a:t>
            </a:r>
          </a:p>
          <a:p>
            <a:endParaRPr lang="aa-ET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2A197-5FE4-4DC2-BF29-8FE38ACFD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271867" cy="307777"/>
          </a:xfrm>
        </p:spPr>
        <p:txBody>
          <a:bodyPr/>
          <a:lstStyle/>
          <a:p>
            <a:fld id="{D1D8BA92-921E-4261-AD97-A03D4D041050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0AED3DD-CA24-4D3C-87B2-B10FC3B4E7E7}"/>
              </a:ext>
            </a:extLst>
          </p:cNvPr>
          <p:cNvGraphicFramePr>
            <a:graphicFrameLocks/>
          </p:cNvGraphicFramePr>
          <p:nvPr/>
        </p:nvGraphicFramePr>
        <p:xfrm>
          <a:off x="2076641" y="1768548"/>
          <a:ext cx="6550001" cy="17945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7440">
                  <a:extLst>
                    <a:ext uri="{9D8B030D-6E8A-4147-A177-3AD203B41FA5}">
                      <a16:colId xmlns:a16="http://schemas.microsoft.com/office/drawing/2014/main" val="1084151089"/>
                    </a:ext>
                  </a:extLst>
                </a:gridCol>
                <a:gridCol w="1232741">
                  <a:extLst>
                    <a:ext uri="{9D8B030D-6E8A-4147-A177-3AD203B41FA5}">
                      <a16:colId xmlns:a16="http://schemas.microsoft.com/office/drawing/2014/main" val="452378874"/>
                    </a:ext>
                  </a:extLst>
                </a:gridCol>
                <a:gridCol w="1060678">
                  <a:extLst>
                    <a:ext uri="{9D8B030D-6E8A-4147-A177-3AD203B41FA5}">
                      <a16:colId xmlns:a16="http://schemas.microsoft.com/office/drawing/2014/main" val="2141549383"/>
                    </a:ext>
                  </a:extLst>
                </a:gridCol>
                <a:gridCol w="834736">
                  <a:extLst>
                    <a:ext uri="{9D8B030D-6E8A-4147-A177-3AD203B41FA5}">
                      <a16:colId xmlns:a16="http://schemas.microsoft.com/office/drawing/2014/main" val="1951356992"/>
                    </a:ext>
                  </a:extLst>
                </a:gridCol>
                <a:gridCol w="888694">
                  <a:extLst>
                    <a:ext uri="{9D8B030D-6E8A-4147-A177-3AD203B41FA5}">
                      <a16:colId xmlns:a16="http://schemas.microsoft.com/office/drawing/2014/main" val="553798732"/>
                    </a:ext>
                  </a:extLst>
                </a:gridCol>
                <a:gridCol w="747018">
                  <a:extLst>
                    <a:ext uri="{9D8B030D-6E8A-4147-A177-3AD203B41FA5}">
                      <a16:colId xmlns:a16="http://schemas.microsoft.com/office/drawing/2014/main" val="3423720861"/>
                    </a:ext>
                  </a:extLst>
                </a:gridCol>
                <a:gridCol w="568694">
                  <a:extLst>
                    <a:ext uri="{9D8B030D-6E8A-4147-A177-3AD203B41FA5}">
                      <a16:colId xmlns:a16="http://schemas.microsoft.com/office/drawing/2014/main" val="2583937027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1100" i="1" dirty="0"/>
                        <a:t>Qualification/Marital Status</a:t>
                      </a:r>
                      <a:endParaRPr lang="aa-ET" sz="1100" i="1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i="1" dirty="0"/>
                        <a:t>Middle School</a:t>
                      </a:r>
                      <a:endParaRPr lang="aa-ET" sz="1100" i="1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i="1" dirty="0"/>
                        <a:t>High School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i="1" dirty="0"/>
                        <a:t>BS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i="1" dirty="0"/>
                        <a:t>MS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i="1" dirty="0"/>
                        <a:t>PhD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Total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1197282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i="1" dirty="0"/>
                        <a:t>Never Married</a:t>
                      </a:r>
                      <a:endParaRPr lang="aa-ET" sz="1100" i="1" dirty="0"/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18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36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21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9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90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9253582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i="1" dirty="0"/>
                        <a:t>Married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12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36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45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36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21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150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9702935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i="1" dirty="0"/>
                        <a:t>Divorced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9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9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30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74136345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i="1" dirty="0"/>
                        <a:t>Widowed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9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9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30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001124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b="1" dirty="0"/>
                        <a:t>Total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39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90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84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54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33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300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8428602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4FEC75A-DB38-45BF-A9AF-6ED2DC6C93A5}"/>
              </a:ext>
            </a:extLst>
          </p:cNvPr>
          <p:cNvSpPr txBox="1"/>
          <p:nvPr/>
        </p:nvSpPr>
        <p:spPr>
          <a:xfrm>
            <a:off x="84221" y="5702089"/>
            <a:ext cx="259882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Credit: Vectors Academy</a:t>
            </a:r>
            <a:endParaRPr lang="aa-ET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83E00E-6293-4DFB-8777-5AA9BFAB3B3B}"/>
                  </a:ext>
                </a:extLst>
              </p:cNvPr>
              <p:cNvSpPr txBox="1"/>
              <p:nvPr/>
            </p:nvSpPr>
            <p:spPr>
              <a:xfrm>
                <a:off x="2397290" y="5139706"/>
                <a:ext cx="4368662" cy="36933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𝑺𝒊𝒈𝒏𝒊𝒇𝒊𝒄𝒂𝒏𝒄𝒆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𝑳𝒆𝒗𝒆𝒍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∝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𝟎𝟓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%)</m:t>
                      </m:r>
                    </m:oMath>
                  </m:oMathPara>
                </a14:m>
                <a:endParaRPr lang="aa-ET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83E00E-6293-4DFB-8777-5AA9BFAB3B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290" y="5139706"/>
                <a:ext cx="4368662" cy="369332"/>
              </a:xfrm>
              <a:prstGeom prst="rect">
                <a:avLst/>
              </a:prstGeom>
              <a:blipFill>
                <a:blip r:embed="rId3"/>
                <a:stretch>
                  <a:fillRect b="-1290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58B7BD0-7866-4690-BBFA-5BF7F7E2FE73}"/>
              </a:ext>
            </a:extLst>
          </p:cNvPr>
          <p:cNvSpPr txBox="1"/>
          <p:nvPr/>
        </p:nvSpPr>
        <p:spPr>
          <a:xfrm>
            <a:off x="84221" y="2341797"/>
            <a:ext cx="1888958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Observed Values</a:t>
            </a:r>
            <a:endParaRPr lang="aa-ET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6601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AD075C7-CB29-4CB1-80AA-236389651B6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Chi-Square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Example 2</a:t>
                </a:r>
                <a:endParaRPr lang="aa-ET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AD075C7-CB29-4CB1-80AA-236389651B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727" b="-3395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2A197-5FE4-4DC2-BF29-8FE38ACFD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271867" cy="307777"/>
          </a:xfrm>
        </p:spPr>
        <p:txBody>
          <a:bodyPr/>
          <a:lstStyle/>
          <a:p>
            <a:fld id="{D1D8BA92-921E-4261-AD97-A03D4D041050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0AED3DD-CA24-4D3C-87B2-B10FC3B4E7E7}"/>
              </a:ext>
            </a:extLst>
          </p:cNvPr>
          <p:cNvGraphicFramePr>
            <a:graphicFrameLocks/>
          </p:cNvGraphicFramePr>
          <p:nvPr/>
        </p:nvGraphicFramePr>
        <p:xfrm>
          <a:off x="2076641" y="1768548"/>
          <a:ext cx="6550001" cy="17945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7440">
                  <a:extLst>
                    <a:ext uri="{9D8B030D-6E8A-4147-A177-3AD203B41FA5}">
                      <a16:colId xmlns:a16="http://schemas.microsoft.com/office/drawing/2014/main" val="1084151089"/>
                    </a:ext>
                  </a:extLst>
                </a:gridCol>
                <a:gridCol w="1232741">
                  <a:extLst>
                    <a:ext uri="{9D8B030D-6E8A-4147-A177-3AD203B41FA5}">
                      <a16:colId xmlns:a16="http://schemas.microsoft.com/office/drawing/2014/main" val="452378874"/>
                    </a:ext>
                  </a:extLst>
                </a:gridCol>
                <a:gridCol w="1060678">
                  <a:extLst>
                    <a:ext uri="{9D8B030D-6E8A-4147-A177-3AD203B41FA5}">
                      <a16:colId xmlns:a16="http://schemas.microsoft.com/office/drawing/2014/main" val="2141549383"/>
                    </a:ext>
                  </a:extLst>
                </a:gridCol>
                <a:gridCol w="834736">
                  <a:extLst>
                    <a:ext uri="{9D8B030D-6E8A-4147-A177-3AD203B41FA5}">
                      <a16:colId xmlns:a16="http://schemas.microsoft.com/office/drawing/2014/main" val="1951356992"/>
                    </a:ext>
                  </a:extLst>
                </a:gridCol>
                <a:gridCol w="888694">
                  <a:extLst>
                    <a:ext uri="{9D8B030D-6E8A-4147-A177-3AD203B41FA5}">
                      <a16:colId xmlns:a16="http://schemas.microsoft.com/office/drawing/2014/main" val="553798732"/>
                    </a:ext>
                  </a:extLst>
                </a:gridCol>
                <a:gridCol w="747018">
                  <a:extLst>
                    <a:ext uri="{9D8B030D-6E8A-4147-A177-3AD203B41FA5}">
                      <a16:colId xmlns:a16="http://schemas.microsoft.com/office/drawing/2014/main" val="3423720861"/>
                    </a:ext>
                  </a:extLst>
                </a:gridCol>
                <a:gridCol w="568694">
                  <a:extLst>
                    <a:ext uri="{9D8B030D-6E8A-4147-A177-3AD203B41FA5}">
                      <a16:colId xmlns:a16="http://schemas.microsoft.com/office/drawing/2014/main" val="2583937027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1100" i="1" dirty="0"/>
                        <a:t>Qualification/Marital Status</a:t>
                      </a:r>
                      <a:endParaRPr lang="aa-ET" sz="1100" i="1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i="1" dirty="0"/>
                        <a:t>Middle School</a:t>
                      </a:r>
                      <a:endParaRPr lang="aa-ET" sz="1100" i="1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i="1" dirty="0"/>
                        <a:t>High School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i="1" dirty="0"/>
                        <a:t>BS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i="1" dirty="0"/>
                        <a:t>MS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i="1" dirty="0"/>
                        <a:t>PhD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Total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1197282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i="1" dirty="0"/>
                        <a:t>Never Married</a:t>
                      </a:r>
                      <a:endParaRPr lang="aa-ET" sz="1100" i="1" dirty="0"/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18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36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21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9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90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9253582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i="1" dirty="0"/>
                        <a:t>Married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12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36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45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36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21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150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9702935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i="1" dirty="0"/>
                        <a:t>Divorced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9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9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30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74136345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i="1" dirty="0"/>
                        <a:t>Widowed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9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9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30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001124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b="1" dirty="0"/>
                        <a:t>Total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39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90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84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54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33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300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8428602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4FEC75A-DB38-45BF-A9AF-6ED2DC6C93A5}"/>
              </a:ext>
            </a:extLst>
          </p:cNvPr>
          <p:cNvSpPr txBox="1"/>
          <p:nvPr/>
        </p:nvSpPr>
        <p:spPr>
          <a:xfrm>
            <a:off x="84221" y="5702089"/>
            <a:ext cx="259882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Credit: Vectors Academy</a:t>
            </a:r>
            <a:endParaRPr lang="aa-ET" sz="13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8B7BD0-7866-4690-BBFA-5BF7F7E2FE73}"/>
              </a:ext>
            </a:extLst>
          </p:cNvPr>
          <p:cNvSpPr txBox="1"/>
          <p:nvPr/>
        </p:nvSpPr>
        <p:spPr>
          <a:xfrm>
            <a:off x="84221" y="2341797"/>
            <a:ext cx="1888958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Observed Values</a:t>
            </a:r>
            <a:endParaRPr lang="aa-ET" b="1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5">
                <a:extLst>
                  <a:ext uri="{FF2B5EF4-FFF2-40B4-BE49-F238E27FC236}">
                    <a16:creationId xmlns:a16="http://schemas.microsoft.com/office/drawing/2014/main" id="{850D7837-DE77-4476-9C7F-0922D8B4C30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2076642" y="3747483"/>
              <a:ext cx="5981307" cy="179285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17440">
                      <a:extLst>
                        <a:ext uri="{9D8B030D-6E8A-4147-A177-3AD203B41FA5}">
                          <a16:colId xmlns:a16="http://schemas.microsoft.com/office/drawing/2014/main" val="1084151089"/>
                        </a:ext>
                      </a:extLst>
                    </a:gridCol>
                    <a:gridCol w="1232741">
                      <a:extLst>
                        <a:ext uri="{9D8B030D-6E8A-4147-A177-3AD203B41FA5}">
                          <a16:colId xmlns:a16="http://schemas.microsoft.com/office/drawing/2014/main" val="452378874"/>
                        </a:ext>
                      </a:extLst>
                    </a:gridCol>
                    <a:gridCol w="1060678">
                      <a:extLst>
                        <a:ext uri="{9D8B030D-6E8A-4147-A177-3AD203B41FA5}">
                          <a16:colId xmlns:a16="http://schemas.microsoft.com/office/drawing/2014/main" val="2141549383"/>
                        </a:ext>
                      </a:extLst>
                    </a:gridCol>
                    <a:gridCol w="834736">
                      <a:extLst>
                        <a:ext uri="{9D8B030D-6E8A-4147-A177-3AD203B41FA5}">
                          <a16:colId xmlns:a16="http://schemas.microsoft.com/office/drawing/2014/main" val="1951356992"/>
                        </a:ext>
                      </a:extLst>
                    </a:gridCol>
                    <a:gridCol w="888694">
                      <a:extLst>
                        <a:ext uri="{9D8B030D-6E8A-4147-A177-3AD203B41FA5}">
                          <a16:colId xmlns:a16="http://schemas.microsoft.com/office/drawing/2014/main" val="553798732"/>
                        </a:ext>
                      </a:extLst>
                    </a:gridCol>
                    <a:gridCol w="747018">
                      <a:extLst>
                        <a:ext uri="{9D8B030D-6E8A-4147-A177-3AD203B41FA5}">
                          <a16:colId xmlns:a16="http://schemas.microsoft.com/office/drawing/2014/main" val="3423720861"/>
                        </a:ext>
                      </a:extLst>
                    </a:gridCol>
                  </a:tblGrid>
                  <a:tr h="388620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Qualification/Marital Status</a:t>
                          </a:r>
                          <a:endParaRPr lang="aa-ET" sz="1100" i="1" dirty="0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Middle School</a:t>
                          </a:r>
                          <a:endParaRPr lang="aa-ET" sz="1100" i="1" dirty="0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High School</a:t>
                          </a:r>
                          <a:endParaRPr lang="aa-ET" sz="1100" i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BS</a:t>
                          </a:r>
                          <a:endParaRPr lang="aa-ET" sz="1100" i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MS</a:t>
                          </a:r>
                          <a:endParaRPr lang="aa-ET" sz="1100" i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PhD</a:t>
                          </a:r>
                          <a:endParaRPr lang="aa-ET" sz="1100" i="1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411972827"/>
                      </a:ext>
                    </a:extLst>
                  </a:tr>
                  <a:tr h="532448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Never Married</a:t>
                          </a:r>
                          <a:endParaRPr lang="aa-ET" sz="1100" i="1" dirty="0"/>
                        </a:p>
                      </a:txBody>
                      <a:tcPr marL="68580" marR="68580" marT="34290" marB="3429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1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100" b="0" i="1" dirty="0" smtClean="0">
                                        <a:latin typeface="Cambria Math" panose="02040503050406030204" pitchFamily="18" charset="0"/>
                                      </a:rPr>
                                      <m:t>90×39</m:t>
                                    </m:r>
                                  </m:num>
                                  <m:den>
                                    <m:r>
                                      <a:rPr lang="en-US" sz="1100" b="0" i="1" dirty="0" smtClean="0">
                                        <a:latin typeface="Cambria Math" panose="02040503050406030204" pitchFamily="18" charset="0"/>
                                      </a:rPr>
                                      <m:t>300</m:t>
                                    </m:r>
                                  </m:den>
                                </m:f>
                                <m:r>
                                  <a:rPr lang="en-US" sz="1100" b="0" i="1" dirty="0" smtClean="0">
                                    <a:latin typeface="Cambria Math" panose="02040503050406030204" pitchFamily="18" charset="0"/>
                                  </a:rPr>
                                  <m:t>=11.7</m:t>
                                </m:r>
                              </m:oMath>
                            </m:oMathPara>
                          </a14:m>
                          <a:endParaRPr lang="aa-ET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1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100" b="0" i="1" dirty="0" smtClean="0">
                                        <a:latin typeface="Cambria Math" panose="02040503050406030204" pitchFamily="18" charset="0"/>
                                      </a:rPr>
                                      <m:t>90×90</m:t>
                                    </m:r>
                                  </m:num>
                                  <m:den>
                                    <m:r>
                                      <a:rPr lang="en-US" sz="1100" b="0" i="1" dirty="0" smtClean="0">
                                        <a:latin typeface="Cambria Math" panose="02040503050406030204" pitchFamily="18" charset="0"/>
                                      </a:rPr>
                                      <m:t>300</m:t>
                                    </m:r>
                                  </m:den>
                                </m:f>
                                <m:r>
                                  <a:rPr lang="en-US" sz="1100" b="0" i="1" dirty="0" smtClean="0">
                                    <a:latin typeface="Cambria Math" panose="02040503050406030204" pitchFamily="18" charset="0"/>
                                  </a:rPr>
                                  <m:t>=27</m:t>
                                </m:r>
                              </m:oMath>
                            </m:oMathPara>
                          </a14:m>
                          <a:endParaRPr lang="aa-ET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1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100" b="0" i="1" dirty="0" smtClean="0">
                                        <a:latin typeface="Cambria Math" panose="02040503050406030204" pitchFamily="18" charset="0"/>
                                      </a:rPr>
                                      <m:t>90×84</m:t>
                                    </m:r>
                                  </m:num>
                                  <m:den>
                                    <m:r>
                                      <a:rPr lang="en-US" sz="1100" b="0" i="1" dirty="0" smtClean="0">
                                        <a:latin typeface="Cambria Math" panose="02040503050406030204" pitchFamily="18" charset="0"/>
                                      </a:rPr>
                                      <m:t>300</m:t>
                                    </m:r>
                                  </m:den>
                                </m:f>
                                <m:r>
                                  <a:rPr lang="en-US" sz="1100" b="0" i="1" dirty="0" smtClean="0">
                                    <a:latin typeface="Cambria Math" panose="02040503050406030204" pitchFamily="18" charset="0"/>
                                  </a:rPr>
                                  <m:t>=25.2</m:t>
                                </m:r>
                              </m:oMath>
                            </m:oMathPara>
                          </a14:m>
                          <a:endParaRPr lang="aa-ET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1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100" b="0" i="1" dirty="0" smtClean="0">
                                        <a:latin typeface="Cambria Math" panose="02040503050406030204" pitchFamily="18" charset="0"/>
                                      </a:rPr>
                                      <m:t>90×54</m:t>
                                    </m:r>
                                  </m:num>
                                  <m:den>
                                    <m:r>
                                      <a:rPr lang="en-US" sz="1100" b="0" i="1" dirty="0" smtClean="0">
                                        <a:latin typeface="Cambria Math" panose="02040503050406030204" pitchFamily="18" charset="0"/>
                                      </a:rPr>
                                      <m:t>300</m:t>
                                    </m:r>
                                  </m:den>
                                </m:f>
                                <m:r>
                                  <a:rPr lang="en-US" sz="1100" b="0" i="1" dirty="0" smtClean="0">
                                    <a:latin typeface="Cambria Math" panose="02040503050406030204" pitchFamily="18" charset="0"/>
                                  </a:rPr>
                                  <m:t>=16.2</m:t>
                                </m:r>
                              </m:oMath>
                            </m:oMathPara>
                          </a14:m>
                          <a:endParaRPr lang="aa-ET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1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100" b="0" i="1" dirty="0" smtClean="0">
                                        <a:latin typeface="Cambria Math" panose="02040503050406030204" pitchFamily="18" charset="0"/>
                                      </a:rPr>
                                      <m:t>90×33</m:t>
                                    </m:r>
                                  </m:num>
                                  <m:den>
                                    <m:r>
                                      <a:rPr lang="en-US" sz="1100" b="0" i="1" dirty="0" smtClean="0">
                                        <a:latin typeface="Cambria Math" panose="02040503050406030204" pitchFamily="18" charset="0"/>
                                      </a:rPr>
                                      <m:t>300</m:t>
                                    </m:r>
                                  </m:den>
                                </m:f>
                                <m:r>
                                  <a:rPr lang="en-US" sz="1100" b="0" i="1" dirty="0" smtClean="0">
                                    <a:latin typeface="Cambria Math" panose="02040503050406030204" pitchFamily="18" charset="0"/>
                                  </a:rPr>
                                  <m:t>=9.9</m:t>
                                </m:r>
                              </m:oMath>
                            </m:oMathPara>
                          </a14:m>
                          <a:endParaRPr lang="aa-ET" sz="11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492535826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Married</a:t>
                          </a:r>
                          <a:endParaRPr lang="aa-ET" sz="1100" i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aa-ET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aa-ET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aa-ET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aa-ET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aa-ET" sz="11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497029358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Divorced</a:t>
                          </a:r>
                          <a:endParaRPr lang="aa-ET" sz="1100" i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aa-ET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aa-ET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aa-ET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aa-ET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aa-ET" sz="11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741363453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Widowed</a:t>
                          </a:r>
                          <a:endParaRPr lang="aa-ET" sz="1100" i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aa-ET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aa-ET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aa-ET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aa-ET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aa-ET" sz="11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100112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5">
                <a:extLst>
                  <a:ext uri="{FF2B5EF4-FFF2-40B4-BE49-F238E27FC236}">
                    <a16:creationId xmlns:a16="http://schemas.microsoft.com/office/drawing/2014/main" id="{850D7837-DE77-4476-9C7F-0922D8B4C30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2076642" y="3747483"/>
              <a:ext cx="5981307" cy="179285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17440">
                      <a:extLst>
                        <a:ext uri="{9D8B030D-6E8A-4147-A177-3AD203B41FA5}">
                          <a16:colId xmlns:a16="http://schemas.microsoft.com/office/drawing/2014/main" val="1084151089"/>
                        </a:ext>
                      </a:extLst>
                    </a:gridCol>
                    <a:gridCol w="1232741">
                      <a:extLst>
                        <a:ext uri="{9D8B030D-6E8A-4147-A177-3AD203B41FA5}">
                          <a16:colId xmlns:a16="http://schemas.microsoft.com/office/drawing/2014/main" val="452378874"/>
                        </a:ext>
                      </a:extLst>
                    </a:gridCol>
                    <a:gridCol w="1060678">
                      <a:extLst>
                        <a:ext uri="{9D8B030D-6E8A-4147-A177-3AD203B41FA5}">
                          <a16:colId xmlns:a16="http://schemas.microsoft.com/office/drawing/2014/main" val="2141549383"/>
                        </a:ext>
                      </a:extLst>
                    </a:gridCol>
                    <a:gridCol w="834736">
                      <a:extLst>
                        <a:ext uri="{9D8B030D-6E8A-4147-A177-3AD203B41FA5}">
                          <a16:colId xmlns:a16="http://schemas.microsoft.com/office/drawing/2014/main" val="1951356992"/>
                        </a:ext>
                      </a:extLst>
                    </a:gridCol>
                    <a:gridCol w="888694">
                      <a:extLst>
                        <a:ext uri="{9D8B030D-6E8A-4147-A177-3AD203B41FA5}">
                          <a16:colId xmlns:a16="http://schemas.microsoft.com/office/drawing/2014/main" val="553798732"/>
                        </a:ext>
                      </a:extLst>
                    </a:gridCol>
                    <a:gridCol w="747018">
                      <a:extLst>
                        <a:ext uri="{9D8B030D-6E8A-4147-A177-3AD203B41FA5}">
                          <a16:colId xmlns:a16="http://schemas.microsoft.com/office/drawing/2014/main" val="3423720861"/>
                        </a:ext>
                      </a:extLst>
                    </a:gridCol>
                  </a:tblGrid>
                  <a:tr h="403860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Qualification/Marital Status</a:t>
                          </a:r>
                          <a:endParaRPr lang="en-PK" sz="1100" i="1" dirty="0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Middle School</a:t>
                          </a:r>
                          <a:endParaRPr lang="en-PK" sz="1100" i="1" dirty="0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High School</a:t>
                          </a:r>
                          <a:endParaRPr lang="en-PK" sz="1100" i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BS</a:t>
                          </a:r>
                          <a:endParaRPr lang="en-PK" sz="1100" i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MS</a:t>
                          </a:r>
                          <a:endParaRPr lang="en-PK" sz="1100" i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PhD</a:t>
                          </a:r>
                          <a:endParaRPr lang="en-PK" sz="1100" i="1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411972827"/>
                      </a:ext>
                    </a:extLst>
                  </a:tr>
                  <a:tr h="554609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Never Married</a:t>
                          </a:r>
                          <a:endParaRPr lang="en-PK" sz="1100" i="1" dirty="0"/>
                        </a:p>
                      </a:txBody>
                      <a:tcPr marL="68580" marR="68580" marT="34290" marB="3429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100000" t="-75000" r="-288660" b="-15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230952" t="-75000" r="-233333" b="-15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421212" t="-75000" r="-196970" b="-15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491429" t="-75000" r="-85714" b="-15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701695" t="-75000" r="-1695" b="-152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2535826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Married</a:t>
                          </a:r>
                          <a:endParaRPr lang="en-PK" sz="1100" i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PK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PK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PK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PK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PK" sz="11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497029358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Divorced</a:t>
                          </a:r>
                          <a:endParaRPr lang="en-PK" sz="1100" i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PK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PK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PK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PK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PK" sz="11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741363453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Widowed</a:t>
                          </a:r>
                          <a:endParaRPr lang="en-PK" sz="1100" i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PK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PK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PK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PK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PK" sz="11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1001124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341A106-F9F3-4768-9480-E7C23DA2693C}"/>
              </a:ext>
            </a:extLst>
          </p:cNvPr>
          <p:cNvSpPr txBox="1"/>
          <p:nvPr/>
        </p:nvSpPr>
        <p:spPr>
          <a:xfrm>
            <a:off x="78205" y="4510190"/>
            <a:ext cx="1888958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Expected Values</a:t>
            </a:r>
            <a:endParaRPr lang="aa-ET" b="1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47628B6-A2F5-418A-A847-1F8459287580}"/>
                  </a:ext>
                </a:extLst>
              </p:cNvPr>
              <p:cNvSpPr txBox="1"/>
              <p:nvPr/>
            </p:nvSpPr>
            <p:spPr>
              <a:xfrm>
                <a:off x="6184232" y="1032465"/>
                <a:ext cx="2755232" cy="53065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𝑟𝑜</m:t>
                          </m:r>
                          <m:sSub>
                            <m:sSubPr>
                              <m:ctrlP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𝑡𝑜𝑡𝑎𝑙</m:t>
                              </m:r>
                            </m:sub>
                          </m:sSub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𝑐𝑜𝑙𝑢𝑚</m:t>
                          </m:r>
                          <m:sSub>
                            <m:sSubPr>
                              <m:ctrlP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𝑡𝑜𝑡𝑎𝑙</m:t>
                              </m:r>
                            </m:sub>
                          </m:sSub>
                        </m:num>
                        <m:den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aa-ET" sz="15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47628B6-A2F5-418A-A847-1F8459287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4232" y="1032465"/>
                <a:ext cx="2755232" cy="5306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9169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AD075C7-CB29-4CB1-80AA-236389651B6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Chi-Square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Example 2</a:t>
                </a:r>
                <a:endParaRPr lang="aa-ET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AD075C7-CB29-4CB1-80AA-236389651B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727" b="-3395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2A197-5FE4-4DC2-BF29-8FE38ACFD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271867" cy="307777"/>
          </a:xfrm>
        </p:spPr>
        <p:txBody>
          <a:bodyPr/>
          <a:lstStyle/>
          <a:p>
            <a:fld id="{D1D8BA92-921E-4261-AD97-A03D4D041050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0AED3DD-CA24-4D3C-87B2-B10FC3B4E7E7}"/>
              </a:ext>
            </a:extLst>
          </p:cNvPr>
          <p:cNvGraphicFramePr>
            <a:graphicFrameLocks/>
          </p:cNvGraphicFramePr>
          <p:nvPr/>
        </p:nvGraphicFramePr>
        <p:xfrm>
          <a:off x="2076641" y="1768548"/>
          <a:ext cx="6550001" cy="17945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7440">
                  <a:extLst>
                    <a:ext uri="{9D8B030D-6E8A-4147-A177-3AD203B41FA5}">
                      <a16:colId xmlns:a16="http://schemas.microsoft.com/office/drawing/2014/main" val="1084151089"/>
                    </a:ext>
                  </a:extLst>
                </a:gridCol>
                <a:gridCol w="1232741">
                  <a:extLst>
                    <a:ext uri="{9D8B030D-6E8A-4147-A177-3AD203B41FA5}">
                      <a16:colId xmlns:a16="http://schemas.microsoft.com/office/drawing/2014/main" val="452378874"/>
                    </a:ext>
                  </a:extLst>
                </a:gridCol>
                <a:gridCol w="1060678">
                  <a:extLst>
                    <a:ext uri="{9D8B030D-6E8A-4147-A177-3AD203B41FA5}">
                      <a16:colId xmlns:a16="http://schemas.microsoft.com/office/drawing/2014/main" val="2141549383"/>
                    </a:ext>
                  </a:extLst>
                </a:gridCol>
                <a:gridCol w="834736">
                  <a:extLst>
                    <a:ext uri="{9D8B030D-6E8A-4147-A177-3AD203B41FA5}">
                      <a16:colId xmlns:a16="http://schemas.microsoft.com/office/drawing/2014/main" val="1951356992"/>
                    </a:ext>
                  </a:extLst>
                </a:gridCol>
                <a:gridCol w="888694">
                  <a:extLst>
                    <a:ext uri="{9D8B030D-6E8A-4147-A177-3AD203B41FA5}">
                      <a16:colId xmlns:a16="http://schemas.microsoft.com/office/drawing/2014/main" val="553798732"/>
                    </a:ext>
                  </a:extLst>
                </a:gridCol>
                <a:gridCol w="747018">
                  <a:extLst>
                    <a:ext uri="{9D8B030D-6E8A-4147-A177-3AD203B41FA5}">
                      <a16:colId xmlns:a16="http://schemas.microsoft.com/office/drawing/2014/main" val="3423720861"/>
                    </a:ext>
                  </a:extLst>
                </a:gridCol>
                <a:gridCol w="568694">
                  <a:extLst>
                    <a:ext uri="{9D8B030D-6E8A-4147-A177-3AD203B41FA5}">
                      <a16:colId xmlns:a16="http://schemas.microsoft.com/office/drawing/2014/main" val="2583937027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1100" i="1" dirty="0"/>
                        <a:t>Qualification/Marital Status</a:t>
                      </a:r>
                      <a:endParaRPr lang="aa-ET" sz="1100" i="1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i="1" dirty="0"/>
                        <a:t>Middle School</a:t>
                      </a:r>
                      <a:endParaRPr lang="aa-ET" sz="1100" i="1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i="1" dirty="0"/>
                        <a:t>High School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i="1" dirty="0"/>
                        <a:t>BS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i="1" dirty="0"/>
                        <a:t>MS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i="1" dirty="0"/>
                        <a:t>PhD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Total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1197282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i="1" dirty="0"/>
                        <a:t>Never Married</a:t>
                      </a:r>
                      <a:endParaRPr lang="aa-ET" sz="1100" i="1" dirty="0"/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18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36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21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9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90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9253582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i="1" dirty="0"/>
                        <a:t>Married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12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36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45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36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21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150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9702935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i="1" dirty="0"/>
                        <a:t>Divorced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9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9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30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74136345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i="1" dirty="0"/>
                        <a:t>Widowed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9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9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30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001124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b="1" dirty="0"/>
                        <a:t>Total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39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90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84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54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33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300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8428602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4FEC75A-DB38-45BF-A9AF-6ED2DC6C93A5}"/>
              </a:ext>
            </a:extLst>
          </p:cNvPr>
          <p:cNvSpPr txBox="1"/>
          <p:nvPr/>
        </p:nvSpPr>
        <p:spPr>
          <a:xfrm>
            <a:off x="84221" y="5702089"/>
            <a:ext cx="259882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Credit: Vectors Academy</a:t>
            </a:r>
            <a:endParaRPr lang="aa-ET" sz="13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8B7BD0-7866-4690-BBFA-5BF7F7E2FE73}"/>
              </a:ext>
            </a:extLst>
          </p:cNvPr>
          <p:cNvSpPr txBox="1"/>
          <p:nvPr/>
        </p:nvSpPr>
        <p:spPr>
          <a:xfrm>
            <a:off x="84221" y="2341797"/>
            <a:ext cx="1888958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Observed Values</a:t>
            </a:r>
            <a:endParaRPr lang="aa-ET" b="1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5">
                <a:extLst>
                  <a:ext uri="{FF2B5EF4-FFF2-40B4-BE49-F238E27FC236}">
                    <a16:creationId xmlns:a16="http://schemas.microsoft.com/office/drawing/2014/main" id="{850D7837-DE77-4476-9C7F-0922D8B4C30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2076642" y="3747483"/>
              <a:ext cx="5981307" cy="179285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17440">
                      <a:extLst>
                        <a:ext uri="{9D8B030D-6E8A-4147-A177-3AD203B41FA5}">
                          <a16:colId xmlns:a16="http://schemas.microsoft.com/office/drawing/2014/main" val="1084151089"/>
                        </a:ext>
                      </a:extLst>
                    </a:gridCol>
                    <a:gridCol w="1232741">
                      <a:extLst>
                        <a:ext uri="{9D8B030D-6E8A-4147-A177-3AD203B41FA5}">
                          <a16:colId xmlns:a16="http://schemas.microsoft.com/office/drawing/2014/main" val="452378874"/>
                        </a:ext>
                      </a:extLst>
                    </a:gridCol>
                    <a:gridCol w="1060678">
                      <a:extLst>
                        <a:ext uri="{9D8B030D-6E8A-4147-A177-3AD203B41FA5}">
                          <a16:colId xmlns:a16="http://schemas.microsoft.com/office/drawing/2014/main" val="2141549383"/>
                        </a:ext>
                      </a:extLst>
                    </a:gridCol>
                    <a:gridCol w="834736">
                      <a:extLst>
                        <a:ext uri="{9D8B030D-6E8A-4147-A177-3AD203B41FA5}">
                          <a16:colId xmlns:a16="http://schemas.microsoft.com/office/drawing/2014/main" val="1951356992"/>
                        </a:ext>
                      </a:extLst>
                    </a:gridCol>
                    <a:gridCol w="888694">
                      <a:extLst>
                        <a:ext uri="{9D8B030D-6E8A-4147-A177-3AD203B41FA5}">
                          <a16:colId xmlns:a16="http://schemas.microsoft.com/office/drawing/2014/main" val="553798732"/>
                        </a:ext>
                      </a:extLst>
                    </a:gridCol>
                    <a:gridCol w="747018">
                      <a:extLst>
                        <a:ext uri="{9D8B030D-6E8A-4147-A177-3AD203B41FA5}">
                          <a16:colId xmlns:a16="http://schemas.microsoft.com/office/drawing/2014/main" val="3423720861"/>
                        </a:ext>
                      </a:extLst>
                    </a:gridCol>
                  </a:tblGrid>
                  <a:tr h="388620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Qualification/Marital Status</a:t>
                          </a:r>
                          <a:endParaRPr lang="aa-ET" sz="1100" i="1" dirty="0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Middle School</a:t>
                          </a:r>
                          <a:endParaRPr lang="aa-ET" sz="1100" i="1" dirty="0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High School</a:t>
                          </a:r>
                          <a:endParaRPr lang="aa-ET" sz="1100" i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BS</a:t>
                          </a:r>
                          <a:endParaRPr lang="aa-ET" sz="1100" i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MS</a:t>
                          </a:r>
                          <a:endParaRPr lang="aa-ET" sz="1100" i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PhD</a:t>
                          </a:r>
                          <a:endParaRPr lang="aa-ET" sz="1100" i="1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411972827"/>
                      </a:ext>
                    </a:extLst>
                  </a:tr>
                  <a:tr h="532448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Never Married</a:t>
                          </a:r>
                          <a:endParaRPr lang="aa-ET" sz="1100" i="1" dirty="0"/>
                        </a:p>
                      </a:txBody>
                      <a:tcPr marL="68580" marR="68580" marT="34290" marB="3429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1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100" b="0" i="1" dirty="0" smtClean="0">
                                        <a:latin typeface="Cambria Math" panose="02040503050406030204" pitchFamily="18" charset="0"/>
                                      </a:rPr>
                                      <m:t>90×39</m:t>
                                    </m:r>
                                  </m:num>
                                  <m:den>
                                    <m:r>
                                      <a:rPr lang="en-US" sz="1100" b="0" i="1" dirty="0" smtClean="0">
                                        <a:latin typeface="Cambria Math" panose="02040503050406030204" pitchFamily="18" charset="0"/>
                                      </a:rPr>
                                      <m:t>300</m:t>
                                    </m:r>
                                  </m:den>
                                </m:f>
                                <m:r>
                                  <a:rPr lang="en-US" sz="1100" b="0" i="1" dirty="0" smtClean="0">
                                    <a:latin typeface="Cambria Math" panose="02040503050406030204" pitchFamily="18" charset="0"/>
                                  </a:rPr>
                                  <m:t>=11.7</m:t>
                                </m:r>
                              </m:oMath>
                            </m:oMathPara>
                          </a14:m>
                          <a:endParaRPr lang="aa-ET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1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100" b="0" i="1" dirty="0" smtClean="0">
                                        <a:latin typeface="Cambria Math" panose="02040503050406030204" pitchFamily="18" charset="0"/>
                                      </a:rPr>
                                      <m:t>90×90</m:t>
                                    </m:r>
                                  </m:num>
                                  <m:den>
                                    <m:r>
                                      <a:rPr lang="en-US" sz="1100" b="0" i="1" dirty="0" smtClean="0">
                                        <a:latin typeface="Cambria Math" panose="02040503050406030204" pitchFamily="18" charset="0"/>
                                      </a:rPr>
                                      <m:t>300</m:t>
                                    </m:r>
                                  </m:den>
                                </m:f>
                                <m:r>
                                  <a:rPr lang="en-US" sz="1100" b="0" i="1" dirty="0" smtClean="0">
                                    <a:latin typeface="Cambria Math" panose="02040503050406030204" pitchFamily="18" charset="0"/>
                                  </a:rPr>
                                  <m:t>=27</m:t>
                                </m:r>
                              </m:oMath>
                            </m:oMathPara>
                          </a14:m>
                          <a:endParaRPr lang="aa-ET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1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100" b="0" i="1" dirty="0" smtClean="0">
                                        <a:latin typeface="Cambria Math" panose="02040503050406030204" pitchFamily="18" charset="0"/>
                                      </a:rPr>
                                      <m:t>90×84</m:t>
                                    </m:r>
                                  </m:num>
                                  <m:den>
                                    <m:r>
                                      <a:rPr lang="en-US" sz="1100" b="0" i="1" dirty="0" smtClean="0">
                                        <a:latin typeface="Cambria Math" panose="02040503050406030204" pitchFamily="18" charset="0"/>
                                      </a:rPr>
                                      <m:t>300</m:t>
                                    </m:r>
                                  </m:den>
                                </m:f>
                                <m:r>
                                  <a:rPr lang="en-US" sz="1100" b="0" i="1" dirty="0" smtClean="0">
                                    <a:latin typeface="Cambria Math" panose="02040503050406030204" pitchFamily="18" charset="0"/>
                                  </a:rPr>
                                  <m:t>=25.2</m:t>
                                </m:r>
                              </m:oMath>
                            </m:oMathPara>
                          </a14:m>
                          <a:endParaRPr lang="aa-ET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1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100" b="0" i="1" dirty="0" smtClean="0">
                                        <a:latin typeface="Cambria Math" panose="02040503050406030204" pitchFamily="18" charset="0"/>
                                      </a:rPr>
                                      <m:t>90×54</m:t>
                                    </m:r>
                                  </m:num>
                                  <m:den>
                                    <m:r>
                                      <a:rPr lang="en-US" sz="1100" b="0" i="1" dirty="0" smtClean="0">
                                        <a:latin typeface="Cambria Math" panose="02040503050406030204" pitchFamily="18" charset="0"/>
                                      </a:rPr>
                                      <m:t>300</m:t>
                                    </m:r>
                                  </m:den>
                                </m:f>
                                <m:r>
                                  <a:rPr lang="en-US" sz="1100" b="0" i="1" dirty="0" smtClean="0">
                                    <a:latin typeface="Cambria Math" panose="02040503050406030204" pitchFamily="18" charset="0"/>
                                  </a:rPr>
                                  <m:t>=16.2</m:t>
                                </m:r>
                              </m:oMath>
                            </m:oMathPara>
                          </a14:m>
                          <a:endParaRPr lang="aa-ET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1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100" b="0" i="1" dirty="0" smtClean="0">
                                        <a:latin typeface="Cambria Math" panose="02040503050406030204" pitchFamily="18" charset="0"/>
                                      </a:rPr>
                                      <m:t>90×33</m:t>
                                    </m:r>
                                  </m:num>
                                  <m:den>
                                    <m:r>
                                      <a:rPr lang="en-US" sz="1100" b="0" i="1" dirty="0" smtClean="0">
                                        <a:latin typeface="Cambria Math" panose="02040503050406030204" pitchFamily="18" charset="0"/>
                                      </a:rPr>
                                      <m:t>300</m:t>
                                    </m:r>
                                  </m:den>
                                </m:f>
                                <m:r>
                                  <a:rPr lang="en-US" sz="1100" b="0" i="1" dirty="0" smtClean="0">
                                    <a:latin typeface="Cambria Math" panose="02040503050406030204" pitchFamily="18" charset="0"/>
                                  </a:rPr>
                                  <m:t>=9.9</m:t>
                                </m:r>
                              </m:oMath>
                            </m:oMathPara>
                          </a14:m>
                          <a:endParaRPr lang="aa-ET" sz="11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492535826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Married</a:t>
                          </a:r>
                          <a:endParaRPr lang="aa-ET" sz="1100" i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19.5</a:t>
                          </a:r>
                          <a:endParaRPr lang="aa-ET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45</a:t>
                          </a:r>
                          <a:endParaRPr lang="aa-ET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42</a:t>
                          </a:r>
                          <a:endParaRPr lang="aa-ET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27</a:t>
                          </a:r>
                          <a:endParaRPr lang="aa-ET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16.5</a:t>
                          </a:r>
                          <a:endParaRPr lang="aa-ET" sz="11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497029358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Divorced</a:t>
                          </a:r>
                          <a:endParaRPr lang="aa-ET" sz="1100" i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3.9</a:t>
                          </a:r>
                          <a:endParaRPr lang="aa-ET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9</a:t>
                          </a:r>
                          <a:endParaRPr lang="aa-ET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8.4</a:t>
                          </a:r>
                          <a:endParaRPr lang="aa-ET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5.4</a:t>
                          </a:r>
                          <a:endParaRPr lang="aa-ET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3.3</a:t>
                          </a:r>
                          <a:endParaRPr lang="aa-ET" sz="11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741363453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Widowed</a:t>
                          </a:r>
                          <a:endParaRPr lang="aa-ET" sz="1100" i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3.9</a:t>
                          </a:r>
                          <a:endParaRPr lang="aa-ET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9</a:t>
                          </a:r>
                          <a:endParaRPr lang="aa-ET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8.4</a:t>
                          </a:r>
                          <a:endParaRPr lang="aa-ET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5.4</a:t>
                          </a:r>
                          <a:endParaRPr lang="aa-ET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3.3</a:t>
                          </a:r>
                          <a:endParaRPr lang="aa-ET" sz="11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100112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5">
                <a:extLst>
                  <a:ext uri="{FF2B5EF4-FFF2-40B4-BE49-F238E27FC236}">
                    <a16:creationId xmlns:a16="http://schemas.microsoft.com/office/drawing/2014/main" id="{850D7837-DE77-4476-9C7F-0922D8B4C30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2076642" y="3747483"/>
              <a:ext cx="5981307" cy="179285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17440">
                      <a:extLst>
                        <a:ext uri="{9D8B030D-6E8A-4147-A177-3AD203B41FA5}">
                          <a16:colId xmlns:a16="http://schemas.microsoft.com/office/drawing/2014/main" val="1084151089"/>
                        </a:ext>
                      </a:extLst>
                    </a:gridCol>
                    <a:gridCol w="1232741">
                      <a:extLst>
                        <a:ext uri="{9D8B030D-6E8A-4147-A177-3AD203B41FA5}">
                          <a16:colId xmlns:a16="http://schemas.microsoft.com/office/drawing/2014/main" val="452378874"/>
                        </a:ext>
                      </a:extLst>
                    </a:gridCol>
                    <a:gridCol w="1060678">
                      <a:extLst>
                        <a:ext uri="{9D8B030D-6E8A-4147-A177-3AD203B41FA5}">
                          <a16:colId xmlns:a16="http://schemas.microsoft.com/office/drawing/2014/main" val="2141549383"/>
                        </a:ext>
                      </a:extLst>
                    </a:gridCol>
                    <a:gridCol w="834736">
                      <a:extLst>
                        <a:ext uri="{9D8B030D-6E8A-4147-A177-3AD203B41FA5}">
                          <a16:colId xmlns:a16="http://schemas.microsoft.com/office/drawing/2014/main" val="1951356992"/>
                        </a:ext>
                      </a:extLst>
                    </a:gridCol>
                    <a:gridCol w="888694">
                      <a:extLst>
                        <a:ext uri="{9D8B030D-6E8A-4147-A177-3AD203B41FA5}">
                          <a16:colId xmlns:a16="http://schemas.microsoft.com/office/drawing/2014/main" val="553798732"/>
                        </a:ext>
                      </a:extLst>
                    </a:gridCol>
                    <a:gridCol w="747018">
                      <a:extLst>
                        <a:ext uri="{9D8B030D-6E8A-4147-A177-3AD203B41FA5}">
                          <a16:colId xmlns:a16="http://schemas.microsoft.com/office/drawing/2014/main" val="3423720861"/>
                        </a:ext>
                      </a:extLst>
                    </a:gridCol>
                  </a:tblGrid>
                  <a:tr h="403860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Qualification/Marital Status</a:t>
                          </a:r>
                          <a:endParaRPr lang="en-PK" sz="1100" i="1" dirty="0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Middle School</a:t>
                          </a:r>
                          <a:endParaRPr lang="en-PK" sz="1100" i="1" dirty="0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High School</a:t>
                          </a:r>
                          <a:endParaRPr lang="en-PK" sz="1100" i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BS</a:t>
                          </a:r>
                          <a:endParaRPr lang="en-PK" sz="1100" i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MS</a:t>
                          </a:r>
                          <a:endParaRPr lang="en-PK" sz="1100" i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PhD</a:t>
                          </a:r>
                          <a:endParaRPr lang="en-PK" sz="1100" i="1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411972827"/>
                      </a:ext>
                    </a:extLst>
                  </a:tr>
                  <a:tr h="554609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Never Married</a:t>
                          </a:r>
                          <a:endParaRPr lang="en-PK" sz="1100" i="1" dirty="0"/>
                        </a:p>
                      </a:txBody>
                      <a:tcPr marL="68580" marR="68580" marT="34290" marB="3429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100000" t="-75000" r="-288660" b="-15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230952" t="-75000" r="-233333" b="-15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421212" t="-75000" r="-196970" b="-15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491429" t="-75000" r="-85714" b="-15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701695" t="-75000" r="-1695" b="-152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2535826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Married</a:t>
                          </a:r>
                          <a:endParaRPr lang="en-PK" sz="1100" i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19.5</a:t>
                          </a:r>
                          <a:endParaRPr lang="en-PK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45</a:t>
                          </a:r>
                          <a:endParaRPr lang="en-PK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42</a:t>
                          </a:r>
                          <a:endParaRPr lang="en-PK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27</a:t>
                          </a:r>
                          <a:endParaRPr lang="en-PK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16.5</a:t>
                          </a:r>
                          <a:endParaRPr lang="en-PK" sz="11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497029358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Divorced</a:t>
                          </a:r>
                          <a:endParaRPr lang="en-PK" sz="1100" i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3.9</a:t>
                          </a:r>
                          <a:endParaRPr lang="en-PK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9</a:t>
                          </a:r>
                          <a:endParaRPr lang="en-PK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8.4</a:t>
                          </a:r>
                          <a:endParaRPr lang="en-PK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5.4</a:t>
                          </a:r>
                          <a:endParaRPr lang="en-PK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3.3</a:t>
                          </a:r>
                          <a:endParaRPr lang="en-PK" sz="11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741363453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Widowed</a:t>
                          </a:r>
                          <a:endParaRPr lang="en-PK" sz="1100" i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3.9</a:t>
                          </a:r>
                          <a:endParaRPr lang="en-PK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9</a:t>
                          </a:r>
                          <a:endParaRPr lang="en-PK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8.4</a:t>
                          </a:r>
                          <a:endParaRPr lang="en-PK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5.4</a:t>
                          </a:r>
                          <a:endParaRPr lang="en-PK" sz="11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3.3</a:t>
                          </a:r>
                          <a:endParaRPr lang="en-PK" sz="11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1001124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341A106-F9F3-4768-9480-E7C23DA2693C}"/>
              </a:ext>
            </a:extLst>
          </p:cNvPr>
          <p:cNvSpPr txBox="1"/>
          <p:nvPr/>
        </p:nvSpPr>
        <p:spPr>
          <a:xfrm>
            <a:off x="78205" y="4510190"/>
            <a:ext cx="1888958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Expected Values</a:t>
            </a:r>
            <a:endParaRPr lang="aa-ET" b="1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47628B6-A2F5-418A-A847-1F8459287580}"/>
                  </a:ext>
                </a:extLst>
              </p:cNvPr>
              <p:cNvSpPr txBox="1"/>
              <p:nvPr/>
            </p:nvSpPr>
            <p:spPr>
              <a:xfrm>
                <a:off x="6184232" y="1032465"/>
                <a:ext cx="2755232" cy="53065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𝑟𝑜</m:t>
                          </m:r>
                          <m:sSub>
                            <m:sSubPr>
                              <m:ctrlP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𝑡𝑜𝑡𝑎𝑙</m:t>
                              </m:r>
                            </m:sub>
                          </m:sSub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𝑐𝑜𝑙𝑢𝑚</m:t>
                          </m:r>
                          <m:sSub>
                            <m:sSubPr>
                              <m:ctrlP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𝑡𝑜𝑡𝑎𝑙</m:t>
                              </m:r>
                            </m:sub>
                          </m:sSub>
                        </m:num>
                        <m:den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aa-ET" sz="15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47628B6-A2F5-418A-A847-1F8459287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4232" y="1032465"/>
                <a:ext cx="2755232" cy="5306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984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AD075C7-CB29-4CB1-80AA-236389651B6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Chi-Square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Example 2</a:t>
                </a:r>
                <a:endParaRPr lang="aa-ET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AD075C7-CB29-4CB1-80AA-236389651B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727" b="-3395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2A197-5FE4-4DC2-BF29-8FE38ACFD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271867" cy="307777"/>
          </a:xfrm>
        </p:spPr>
        <p:txBody>
          <a:bodyPr/>
          <a:lstStyle/>
          <a:p>
            <a:fld id="{D1D8BA92-921E-4261-AD97-A03D4D041050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0AED3DD-CA24-4D3C-87B2-B10FC3B4E7E7}"/>
              </a:ext>
            </a:extLst>
          </p:cNvPr>
          <p:cNvGraphicFramePr>
            <a:graphicFrameLocks/>
          </p:cNvGraphicFramePr>
          <p:nvPr/>
        </p:nvGraphicFramePr>
        <p:xfrm>
          <a:off x="2076641" y="1768548"/>
          <a:ext cx="6550001" cy="17945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7440">
                  <a:extLst>
                    <a:ext uri="{9D8B030D-6E8A-4147-A177-3AD203B41FA5}">
                      <a16:colId xmlns:a16="http://schemas.microsoft.com/office/drawing/2014/main" val="1084151089"/>
                    </a:ext>
                  </a:extLst>
                </a:gridCol>
                <a:gridCol w="1232741">
                  <a:extLst>
                    <a:ext uri="{9D8B030D-6E8A-4147-A177-3AD203B41FA5}">
                      <a16:colId xmlns:a16="http://schemas.microsoft.com/office/drawing/2014/main" val="452378874"/>
                    </a:ext>
                  </a:extLst>
                </a:gridCol>
                <a:gridCol w="1060678">
                  <a:extLst>
                    <a:ext uri="{9D8B030D-6E8A-4147-A177-3AD203B41FA5}">
                      <a16:colId xmlns:a16="http://schemas.microsoft.com/office/drawing/2014/main" val="2141549383"/>
                    </a:ext>
                  </a:extLst>
                </a:gridCol>
                <a:gridCol w="834736">
                  <a:extLst>
                    <a:ext uri="{9D8B030D-6E8A-4147-A177-3AD203B41FA5}">
                      <a16:colId xmlns:a16="http://schemas.microsoft.com/office/drawing/2014/main" val="1951356992"/>
                    </a:ext>
                  </a:extLst>
                </a:gridCol>
                <a:gridCol w="808743">
                  <a:extLst>
                    <a:ext uri="{9D8B030D-6E8A-4147-A177-3AD203B41FA5}">
                      <a16:colId xmlns:a16="http://schemas.microsoft.com/office/drawing/2014/main" val="553798732"/>
                    </a:ext>
                  </a:extLst>
                </a:gridCol>
                <a:gridCol w="826969">
                  <a:extLst>
                    <a:ext uri="{9D8B030D-6E8A-4147-A177-3AD203B41FA5}">
                      <a16:colId xmlns:a16="http://schemas.microsoft.com/office/drawing/2014/main" val="3423720861"/>
                    </a:ext>
                  </a:extLst>
                </a:gridCol>
                <a:gridCol w="568694">
                  <a:extLst>
                    <a:ext uri="{9D8B030D-6E8A-4147-A177-3AD203B41FA5}">
                      <a16:colId xmlns:a16="http://schemas.microsoft.com/office/drawing/2014/main" val="2583937027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1100" i="1" dirty="0"/>
                        <a:t>Qualification/Marital Status</a:t>
                      </a:r>
                      <a:endParaRPr lang="aa-ET" sz="1100" i="1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i="1" dirty="0"/>
                        <a:t>Middle School</a:t>
                      </a:r>
                      <a:endParaRPr lang="aa-ET" sz="1100" i="1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i="1" dirty="0"/>
                        <a:t>High School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i="1" dirty="0"/>
                        <a:t>BS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i="1" dirty="0"/>
                        <a:t>MS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i="1" dirty="0"/>
                        <a:t>PhD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Total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1197282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i="1" dirty="0"/>
                        <a:t>Never Married</a:t>
                      </a:r>
                      <a:endParaRPr lang="aa-ET" sz="1100" i="1" dirty="0"/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18 (11.7)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36 (27)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21 (25.2)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9 (16.2)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 (9.9)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90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9253582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i="1" dirty="0"/>
                        <a:t>Married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12 (19.5)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36 (45)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45 (42)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36 (27)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21 (16.5)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150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9702935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i="1" dirty="0"/>
                        <a:t>Divorced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 (3.9)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9 (9)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9 (8.4)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 (5.4)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 (3.3)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30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74136345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i="1" dirty="0"/>
                        <a:t>Widowed</a:t>
                      </a:r>
                      <a:endParaRPr lang="aa-ET" sz="11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 (3.9)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9 (9)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9 (8.4)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 (5.4)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 (3.3)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30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001124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b="1" dirty="0"/>
                        <a:t>Total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39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90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84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54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33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300</a:t>
                      </a:r>
                      <a:endParaRPr lang="aa-ET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8428602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4FEC75A-DB38-45BF-A9AF-6ED2DC6C93A5}"/>
              </a:ext>
            </a:extLst>
          </p:cNvPr>
          <p:cNvSpPr txBox="1"/>
          <p:nvPr/>
        </p:nvSpPr>
        <p:spPr>
          <a:xfrm>
            <a:off x="84221" y="5702089"/>
            <a:ext cx="259882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Credit: Vectors Academy</a:t>
            </a:r>
            <a:endParaRPr lang="aa-ET" sz="13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8B7BD0-7866-4690-BBFA-5BF7F7E2FE73}"/>
              </a:ext>
            </a:extLst>
          </p:cNvPr>
          <p:cNvSpPr txBox="1"/>
          <p:nvPr/>
        </p:nvSpPr>
        <p:spPr>
          <a:xfrm>
            <a:off x="84221" y="2341797"/>
            <a:ext cx="1888958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Observed Values</a:t>
            </a:r>
            <a:endParaRPr lang="aa-ET" b="1" dirty="0">
              <a:solidFill>
                <a:srgbClr val="00B05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41A106-F9F3-4768-9480-E7C23DA2693C}"/>
              </a:ext>
            </a:extLst>
          </p:cNvPr>
          <p:cNvSpPr txBox="1"/>
          <p:nvPr/>
        </p:nvSpPr>
        <p:spPr>
          <a:xfrm>
            <a:off x="84221" y="2798359"/>
            <a:ext cx="1888958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(Expected Values)</a:t>
            </a:r>
            <a:endParaRPr lang="aa-ET" b="1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47628B6-A2F5-418A-A847-1F8459287580}"/>
                  </a:ext>
                </a:extLst>
              </p:cNvPr>
              <p:cNvSpPr txBox="1"/>
              <p:nvPr/>
            </p:nvSpPr>
            <p:spPr>
              <a:xfrm>
                <a:off x="6184232" y="1032465"/>
                <a:ext cx="2755232" cy="53065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𝑟𝑜</m:t>
                          </m:r>
                          <m:sSub>
                            <m:sSubPr>
                              <m:ctrlP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𝑡𝑜𝑡𝑎𝑙</m:t>
                              </m:r>
                            </m:sub>
                          </m:sSub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𝑐𝑜𝑙𝑢𝑚</m:t>
                          </m:r>
                          <m:sSub>
                            <m:sSubPr>
                              <m:ctrlP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𝑡𝑜𝑡𝑎𝑙</m:t>
                              </m:r>
                            </m:sub>
                          </m:sSub>
                        </m:num>
                        <m:den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aa-ET" sz="15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47628B6-A2F5-418A-A847-1F8459287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4232" y="1032465"/>
                <a:ext cx="2755232" cy="5306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Object 4">
            <a:extLst>
              <a:ext uri="{FF2B5EF4-FFF2-40B4-BE49-F238E27FC236}">
                <a16:creationId xmlns:a16="http://schemas.microsoft.com/office/drawing/2014/main" id="{84D22F74-4FE6-40C6-AA96-E7C80B9054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820" y="3741561"/>
          <a:ext cx="2598821" cy="5788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57400" imgH="444500" progId="Equation.3">
                  <p:embed/>
                </p:oleObj>
              </mc:Choice>
              <mc:Fallback>
                <p:oleObj name="Equation" r:id="rId5" imgW="2057400" imgH="444500" progId="Equation.3">
                  <p:embed/>
                  <p:pic>
                    <p:nvPicPr>
                      <p:cNvPr id="12" name="Object 4">
                        <a:extLst>
                          <a:ext uri="{FF2B5EF4-FFF2-40B4-BE49-F238E27FC236}">
                            <a16:creationId xmlns:a16="http://schemas.microsoft.com/office/drawing/2014/main" id="{84D22F74-4FE6-40C6-AA96-E7C80B9054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820" y="3741561"/>
                        <a:ext cx="2598821" cy="5788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6EF5886-FD6D-4187-BA5F-D42C2F321E5D}"/>
                  </a:ext>
                </a:extLst>
              </p:cNvPr>
              <p:cNvSpPr txBox="1"/>
              <p:nvPr/>
            </p:nvSpPr>
            <p:spPr>
              <a:xfrm>
                <a:off x="3194384" y="3770220"/>
                <a:ext cx="1907006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=23.57</m:t>
                      </m:r>
                    </m:oMath>
                  </m:oMathPara>
                </a14:m>
                <a:endParaRPr lang="aa-ET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6EF5886-FD6D-4187-BA5F-D42C2F321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384" y="3770220"/>
                <a:ext cx="1907006" cy="461665"/>
              </a:xfrm>
              <a:prstGeom prst="rect">
                <a:avLst/>
              </a:prstGeom>
              <a:blipFill>
                <a:blip r:embed="rId7"/>
                <a:stretch>
                  <a:fillRect b="-789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705FECF-E734-4D4B-9450-683C0DB950CB}"/>
                  </a:ext>
                </a:extLst>
              </p:cNvPr>
              <p:cNvSpPr txBox="1"/>
              <p:nvPr/>
            </p:nvSpPr>
            <p:spPr>
              <a:xfrm>
                <a:off x="132347" y="4422691"/>
                <a:ext cx="4587041" cy="3231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𝐷𝑒𝑔𝑟𝑒𝑒</m:t>
                      </m:r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𝐹𝑟𝑒𝑒𝑑𝑜𝑚</m:t>
                      </m:r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𝑐𝑜𝑙𝑢𝑚𝑛𝑠</m:t>
                          </m:r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×(</m:t>
                      </m:r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𝑟𝑜𝑤𝑠</m:t>
                      </m:r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aa-ET" sz="15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705FECF-E734-4D4B-9450-683C0DB95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347" y="4422691"/>
                <a:ext cx="4587041" cy="323165"/>
              </a:xfrm>
              <a:prstGeom prst="rect">
                <a:avLst/>
              </a:prstGeom>
              <a:blipFill>
                <a:blip r:embed="rId8"/>
                <a:stretch>
                  <a:fillRect b="-740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0AFB308-D7A8-4CAC-BD8B-9A393464A592}"/>
                  </a:ext>
                </a:extLst>
              </p:cNvPr>
              <p:cNvSpPr txBox="1"/>
              <p:nvPr/>
            </p:nvSpPr>
            <p:spPr>
              <a:xfrm>
                <a:off x="132347" y="4842192"/>
                <a:ext cx="4969043" cy="3231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𝐷𝑒𝑔𝑟𝑒𝑒</m:t>
                      </m:r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𝐹𝑟𝑒𝑒𝑑𝑜𝑚</m:t>
                      </m:r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5−1</m:t>
                          </m:r>
                        </m:e>
                      </m:d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4−1</m:t>
                          </m:r>
                        </m:e>
                      </m:d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=4×3=12</m:t>
                      </m:r>
                    </m:oMath>
                  </m:oMathPara>
                </a14:m>
                <a:endParaRPr lang="aa-ET" sz="15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0AFB308-D7A8-4CAC-BD8B-9A393464A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347" y="4842192"/>
                <a:ext cx="4969043" cy="323165"/>
              </a:xfrm>
              <a:prstGeom prst="rect">
                <a:avLst/>
              </a:prstGeom>
              <a:blipFill>
                <a:blip r:embed="rId9"/>
                <a:stretch>
                  <a:fillRect b="-714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1207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AD075C7-CB29-4CB1-80AA-236389651B6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Chi-Square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Example 2</a:t>
                </a:r>
                <a:endParaRPr lang="aa-ET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AD075C7-CB29-4CB1-80AA-236389651B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727" b="-3395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2A197-5FE4-4DC2-BF29-8FE38ACFD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271867" cy="307777"/>
          </a:xfrm>
        </p:spPr>
        <p:txBody>
          <a:bodyPr/>
          <a:lstStyle/>
          <a:p>
            <a:fld id="{D1D8BA92-921E-4261-AD97-A03D4D041050}" type="slidenum">
              <a:rPr lang="en-US" smtClean="0"/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FEC75A-DB38-45BF-A9AF-6ED2DC6C93A5}"/>
              </a:ext>
            </a:extLst>
          </p:cNvPr>
          <p:cNvSpPr txBox="1"/>
          <p:nvPr/>
        </p:nvSpPr>
        <p:spPr>
          <a:xfrm>
            <a:off x="84221" y="5702089"/>
            <a:ext cx="259882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Credit: Vectors Academy</a:t>
            </a:r>
            <a:endParaRPr lang="aa-ET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6EF5886-FD6D-4187-BA5F-D42C2F321E5D}"/>
                  </a:ext>
                </a:extLst>
              </p:cNvPr>
              <p:cNvSpPr txBox="1"/>
              <p:nvPr/>
            </p:nvSpPr>
            <p:spPr>
              <a:xfrm>
                <a:off x="84222" y="1848322"/>
                <a:ext cx="1907006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=23.57</m:t>
                      </m:r>
                    </m:oMath>
                  </m:oMathPara>
                </a14:m>
                <a:endParaRPr lang="aa-ET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6EF5886-FD6D-4187-BA5F-D42C2F321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22" y="1848322"/>
                <a:ext cx="1907006" cy="461665"/>
              </a:xfrm>
              <a:prstGeom prst="rect">
                <a:avLst/>
              </a:prstGeom>
              <a:blipFill>
                <a:blip r:embed="rId4"/>
                <a:stretch>
                  <a:fillRect b="-7692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0AFB308-D7A8-4CAC-BD8B-9A393464A592}"/>
                  </a:ext>
                </a:extLst>
              </p:cNvPr>
              <p:cNvSpPr txBox="1"/>
              <p:nvPr/>
            </p:nvSpPr>
            <p:spPr>
              <a:xfrm>
                <a:off x="0" y="2327666"/>
                <a:ext cx="2406316" cy="3231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𝐷𝑒𝑔𝑟𝑒𝑒</m:t>
                      </m:r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𝐹𝑟𝑒𝑒𝑑𝑜𝑚</m:t>
                      </m:r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=12</m:t>
                      </m:r>
                    </m:oMath>
                  </m:oMathPara>
                </a14:m>
                <a:endParaRPr lang="aa-ET" sz="15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0AFB308-D7A8-4CAC-BD8B-9A393464A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327666"/>
                <a:ext cx="2406316" cy="323165"/>
              </a:xfrm>
              <a:prstGeom prst="rect">
                <a:avLst/>
              </a:prstGeom>
              <a:blipFill>
                <a:blip r:embed="rId5"/>
                <a:stretch>
                  <a:fillRect b="-1071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69C8EB05-A580-4B0A-870A-43E5F266AA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1929" y="1696345"/>
            <a:ext cx="5657850" cy="42791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2B04C6C-DDF7-4A9F-A178-38858B9C44FF}"/>
                  </a:ext>
                </a:extLst>
              </p:cNvPr>
              <p:cNvSpPr txBox="1"/>
              <p:nvPr/>
            </p:nvSpPr>
            <p:spPr>
              <a:xfrm>
                <a:off x="1" y="2704297"/>
                <a:ext cx="3056021" cy="50302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𝑺𝒊𝒈𝒏𝒊𝒇𝒊𝒄𝒂𝒏𝒄𝒆</m:t>
                      </m:r>
                      <m:r>
                        <a:rPr lang="en-US" sz="135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35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𝑳𝒆𝒗𝒆𝒍</m:t>
                      </m:r>
                      <m:r>
                        <a:rPr lang="en-US" sz="135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135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5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∝</m:t>
                          </m:r>
                        </m:e>
                      </m:d>
                      <m:r>
                        <a:rPr lang="en-US" sz="135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35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sz="135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135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𝟎𝟓</m:t>
                      </m:r>
                      <m:r>
                        <a:rPr lang="en-US" sz="135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US" sz="135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  <m:r>
                        <a:rPr lang="en-US" sz="135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%)</m:t>
                      </m:r>
                    </m:oMath>
                  </m:oMathPara>
                </a14:m>
                <a:endParaRPr lang="aa-ET" sz="135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2B04C6C-DDF7-4A9F-A178-38858B9C4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2704297"/>
                <a:ext cx="3056021" cy="503023"/>
              </a:xfrm>
              <a:prstGeom prst="rect">
                <a:avLst/>
              </a:prstGeom>
              <a:blipFill>
                <a:blip r:embed="rId7"/>
                <a:stretch>
                  <a:fillRect b="-731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B07201D-7647-4C76-B8B5-E2E5844B3375}"/>
              </a:ext>
            </a:extLst>
          </p:cNvPr>
          <p:cNvSpPr/>
          <p:nvPr/>
        </p:nvSpPr>
        <p:spPr>
          <a:xfrm>
            <a:off x="3438024" y="3453063"/>
            <a:ext cx="4971339" cy="19616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 sz="135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44FABBB-EBDD-4530-A3CB-FA5717AF061A}"/>
              </a:ext>
            </a:extLst>
          </p:cNvPr>
          <p:cNvSpPr/>
          <p:nvPr/>
        </p:nvSpPr>
        <p:spPr>
          <a:xfrm>
            <a:off x="8017351" y="1594241"/>
            <a:ext cx="372269" cy="206701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 sz="13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9CECCE9-CF0C-4E0B-A18C-D0AFAB307CB0}"/>
                  </a:ext>
                </a:extLst>
              </p:cNvPr>
              <p:cNvSpPr txBox="1"/>
              <p:nvPr/>
            </p:nvSpPr>
            <p:spPr>
              <a:xfrm>
                <a:off x="146810" y="3516059"/>
                <a:ext cx="2598821" cy="76431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1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1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21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𝑐𝑎𝑙𝑐𝑢𝑙𝑎𝑡𝑒𝑑</m:t>
                          </m:r>
                        </m:sub>
                        <m:sup>
                          <m:r>
                            <a:rPr lang="en-US" sz="21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1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Sup>
                        <m:sSubSupPr>
                          <m:ctrlPr>
                            <a:rPr lang="en-US" sz="21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1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21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𝑡𝑎𝑏𝑢𝑙𝑎𝑟</m:t>
                          </m:r>
                        </m:sub>
                        <m:sup>
                          <m:r>
                            <a:rPr lang="en-US" sz="21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aa-ET" sz="21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9CECCE9-CF0C-4E0B-A18C-D0AFAB307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10" y="3516059"/>
                <a:ext cx="2598821" cy="764312"/>
              </a:xfrm>
              <a:prstGeom prst="rect">
                <a:avLst/>
              </a:prstGeom>
              <a:blipFill>
                <a:blip r:embed="rId8"/>
                <a:stretch>
                  <a:fillRect b="-161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7DF8BA8-0B3F-4CE9-AAC6-843124540737}"/>
                  </a:ext>
                </a:extLst>
              </p:cNvPr>
              <p:cNvSpPr txBox="1"/>
              <p:nvPr/>
            </p:nvSpPr>
            <p:spPr>
              <a:xfrm>
                <a:off x="146810" y="4463170"/>
                <a:ext cx="2598821" cy="106182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100" dirty="0">
                    <a:solidFill>
                      <a:srgbClr val="00B050"/>
                    </a:solidFill>
                    <a:ea typeface="Cambria Math" panose="02040503050406030204" pitchFamily="18" charset="0"/>
                  </a:rPr>
                  <a:t>we reject Null hypothesis and accept alternate hypothesis</a:t>
                </a:r>
                <a:endParaRPr lang="aa-ET" sz="21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7DF8BA8-0B3F-4CE9-AAC6-843124540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10" y="4463170"/>
                <a:ext cx="2598821" cy="1061829"/>
              </a:xfrm>
              <a:prstGeom prst="rect">
                <a:avLst/>
              </a:prstGeom>
              <a:blipFill>
                <a:blip r:embed="rId9"/>
                <a:stretch>
                  <a:fillRect l="-2427" t="-2326" r="-3883" b="-1046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5738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9" grpId="0" animBg="1"/>
      <p:bldP spid="17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Origin">
  <a:themeElements>
    <a:clrScheme name="Origi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0000FF"/>
      </a:hlink>
      <a:folHlink>
        <a:srgbClr val="FF00FF"/>
      </a:folHlink>
    </a:clrScheme>
    <a:fontScheme name="Origin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>
          <a:outerShdw blurRad="50800" dist="43000" dir="5400000" rotWithShape="0">
            <a:srgbClr val="000000">
              <a:alpha val="40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ill Sans MT"/>
            <a:ea typeface="Gill Sans MT"/>
            <a:cs typeface="Gill Sans MT"/>
            <a:sym typeface="Gill Sans 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40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ill Sans MT"/>
            <a:ea typeface="Gill Sans MT"/>
            <a:cs typeface="Gill Sans MT"/>
            <a:sym typeface="Gill Sans 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rigin">
  <a:themeElements>
    <a:clrScheme name="Origi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0000FF"/>
      </a:hlink>
      <a:folHlink>
        <a:srgbClr val="FF00FF"/>
      </a:folHlink>
    </a:clrScheme>
    <a:fontScheme name="Origin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>
          <a:outerShdw blurRad="50800" dist="43000" dir="5400000" rotWithShape="0">
            <a:srgbClr val="000000">
              <a:alpha val="40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ill Sans MT"/>
            <a:ea typeface="Gill Sans MT"/>
            <a:cs typeface="Gill Sans MT"/>
            <a:sym typeface="Gill Sans 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40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ill Sans MT"/>
            <a:ea typeface="Gill Sans MT"/>
            <a:cs typeface="Gill Sans MT"/>
            <a:sym typeface="Gill Sans 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718</TotalTime>
  <Words>1487</Words>
  <Application>Microsoft Office PowerPoint</Application>
  <PresentationFormat>On-screen Show (4:3)</PresentationFormat>
  <Paragraphs>446</Paragraphs>
  <Slides>16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Bookman Old Style</vt:lpstr>
      <vt:lpstr>Calibri</vt:lpstr>
      <vt:lpstr>Cambria Math</vt:lpstr>
      <vt:lpstr>Gill Sans MT</vt:lpstr>
      <vt:lpstr>Wingdings</vt:lpstr>
      <vt:lpstr>Origin</vt:lpstr>
      <vt:lpstr>Equation</vt:lpstr>
      <vt:lpstr>CS 4048  Data Science</vt:lpstr>
      <vt:lpstr>χ^2Correlation for Nominal Data</vt:lpstr>
      <vt:lpstr>χ^2Correlation for Nominal Data</vt:lpstr>
      <vt:lpstr>χ^2Correlation for Nominal Data</vt:lpstr>
      <vt:lpstr>χ^2Correlation for Nominal Data</vt:lpstr>
      <vt:lpstr>χ^2Correlation for Nominal Data</vt:lpstr>
      <vt:lpstr>χ^2Correlation for Nominal Data</vt:lpstr>
      <vt:lpstr>χ^2Correlation for Nominal Data</vt:lpstr>
      <vt:lpstr>χ^2Analysis</vt:lpstr>
      <vt:lpstr>χ^2Analysis</vt:lpstr>
      <vt:lpstr>χ^2Analysis</vt:lpstr>
      <vt:lpstr>Chi-Square 〖(χ〗^2): Example 2</vt:lpstr>
      <vt:lpstr>Chi-Square 〖(χ〗^2): Example 2</vt:lpstr>
      <vt:lpstr>Chi-Square 〖(χ〗^2): Example 2</vt:lpstr>
      <vt:lpstr>Chi-Square 〖(χ〗^2): Example 2</vt:lpstr>
      <vt:lpstr>Chi-Square 〖(χ〗^2): Example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</dc:title>
  <cp:lastModifiedBy>Dr.Kashif Zafar</cp:lastModifiedBy>
  <cp:revision>29</cp:revision>
  <cp:lastPrinted>2024-10-22T22:57:24Z</cp:lastPrinted>
  <dcterms:modified xsi:type="dcterms:W3CDTF">2026-01-23T00:05:49Z</dcterms:modified>
</cp:coreProperties>
</file>