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524" r:id="rId2"/>
    <p:sldId id="3501" r:id="rId3"/>
    <p:sldId id="3502" r:id="rId4"/>
    <p:sldId id="3507" r:id="rId5"/>
    <p:sldId id="3508" r:id="rId6"/>
    <p:sldId id="3503" r:id="rId7"/>
    <p:sldId id="3504" r:id="rId8"/>
    <p:sldId id="3505" r:id="rId9"/>
    <p:sldId id="3496" r:id="rId10"/>
    <p:sldId id="3497" r:id="rId11"/>
    <p:sldId id="3498" r:id="rId12"/>
    <p:sldId id="3515" r:id="rId13"/>
    <p:sldId id="1068" r:id="rId14"/>
    <p:sldId id="3516" r:id="rId15"/>
    <p:sldId id="3517" r:id="rId16"/>
    <p:sldId id="3518" r:id="rId17"/>
    <p:sldId id="3519" r:id="rId18"/>
    <p:sldId id="3520" r:id="rId19"/>
    <p:sldId id="3521" r:id="rId20"/>
    <p:sldId id="3495" r:id="rId21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D6E0"/>
          </a:solidFill>
        </a:fill>
      </a:tcStyle>
    </a:wholeTbl>
    <a:band2H>
      <a:tcTxStyle/>
      <a:tcStyle>
        <a:tcBdr/>
        <a:fill>
          <a:solidFill>
            <a:srgbClr val="EBECF0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EF1D6"/>
          </a:solidFill>
        </a:fill>
      </a:tcStyle>
    </a:wholeTbl>
    <a:band2H>
      <a:tcTxStyle/>
      <a:tcStyle>
        <a:tcBdr/>
        <a:fill>
          <a:solidFill>
            <a:srgbClr val="F7F8EC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AD4D3"/>
          </a:solidFill>
        </a:fill>
      </a:tcStyle>
    </a:wholeTbl>
    <a:band2H>
      <a:tcTxStyle/>
      <a:tcStyle>
        <a:tcBdr/>
        <a:fill>
          <a:solidFill>
            <a:srgbClr val="EDEBEA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956"/>
    <p:restoredTop sz="94627"/>
  </p:normalViewPr>
  <p:slideViewPr>
    <p:cSldViewPr snapToGrid="0">
      <p:cViewPr varScale="1">
        <p:scale>
          <a:sx n="65" d="100"/>
          <a:sy n="65" d="100"/>
        </p:scale>
        <p:origin x="9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F447A5-FE75-7BE5-27A6-A43AB08F0F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B7CB2D-266E-D39C-A860-645FD90424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FFDCFF-67F6-0545-B0B4-7D7E4EB34E39}" type="datetimeFigureOut">
              <a:rPr lang="aa-ET" smtClean="0"/>
              <a:t>01/22/2026</a:t>
            </a:fld>
            <a:endParaRPr lang="aa-E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867E79-EC7A-D7A4-3CE0-DBA5152B38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29070-3E4D-6EB5-0D4F-6E8537BA24F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D1F4F7-F321-074E-AB7B-51610595E519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65841020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658674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sv-SE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2A4BF49-A9C6-4A58-A315-5AE7217380E6}" type="slidenum">
              <a:rPr lang="fr-BE" altLang="en-US" sz="1300" smtClea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</a:rPr>
              <a:pPr>
                <a:spcBef>
                  <a:spcPct val="0"/>
                </a:spcBef>
              </a:pPr>
              <a:t>1</a:t>
            </a:fld>
            <a:endParaRPr lang="fr-BE" altLang="en-US" sz="1300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2493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5E8F71F9-C7F3-E632-5DA0-89D238972A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61E6730-DDA6-DE4C-986F-14D750905204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2521AC6D-258D-8286-FB78-EF4D532E2B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73100"/>
            <a:ext cx="4692650" cy="3519488"/>
          </a:xfrm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E5679E8A-8910-7AFD-EF26-28D01CEE7E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5513" y="4418013"/>
            <a:ext cx="5159375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262" tIns="45631" rIns="91262" bIns="45631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493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208EFA8B-6469-2A3E-0154-7E5085FD5D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8D15EAB-9D48-2442-93D2-CC8E336BCCF7}" type="slidenum">
              <a:rPr lang="en-US" altLang="en-US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4F93D638-448E-FB90-0BA7-3AB5BBE226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8563" y="693738"/>
            <a:ext cx="4616450" cy="3462337"/>
          </a:xfrm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1A35041-54D4-F4BE-25BF-7D6DA60316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386263"/>
            <a:ext cx="5140325" cy="4156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8" tIns="45373" rIns="90748" bIns="45373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3296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bg>
      <p:bgPr>
        <a:solidFill>
          <a:srgbClr val="464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rgbClr val="DDE9EC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</p:spPr>
        <p:txBody>
          <a:bodyPr/>
          <a:lstStyle>
            <a:lvl1pPr marL="0" indent="0" algn="r">
              <a:buClrTx/>
              <a:buSzTx/>
              <a:buNone/>
              <a:defRPr sz="2000">
                <a:solidFill>
                  <a:srgbClr val="FFFFFF"/>
                </a:solidFill>
              </a:defRPr>
            </a:lvl1pPr>
            <a:lvl2pPr marL="0" indent="274320" algn="r">
              <a:buClrTx/>
              <a:buSzTx/>
              <a:buNone/>
              <a:defRPr sz="2000">
                <a:solidFill>
                  <a:srgbClr val="FFFFFF"/>
                </a:solidFill>
              </a:defRPr>
            </a:lvl2pPr>
            <a:lvl3pPr marL="0" indent="594360" algn="r">
              <a:buClrTx/>
              <a:buSzTx/>
              <a:buNone/>
              <a:defRPr sz="2000">
                <a:solidFill>
                  <a:srgbClr val="FFFFFF"/>
                </a:solidFill>
              </a:defRPr>
            </a:lvl3pPr>
            <a:lvl4pPr marL="0" indent="868680" algn="r">
              <a:buClrTx/>
              <a:buSzTx/>
              <a:buNone/>
              <a:defRPr sz="2000">
                <a:solidFill>
                  <a:srgbClr val="FFFFFF"/>
                </a:solidFill>
              </a:defRPr>
            </a:lvl4pPr>
            <a:lvl5pPr marL="0" indent="1143000" algn="r">
              <a:buClrTx/>
              <a:buSzTx/>
              <a:buNone/>
              <a:defRPr sz="20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69847" y="6355079"/>
            <a:ext cx="301909" cy="3073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DE9EC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9" name="Rectangle 6"/>
          <p:cNvSpPr/>
          <p:nvPr/>
        </p:nvSpPr>
        <p:spPr>
          <a:xfrm>
            <a:off x="914400" y="2819399"/>
            <a:ext cx="7315200" cy="1280162"/>
          </a:xfrm>
          <a:prstGeom prst="rect">
            <a:avLst/>
          </a:prstGeom>
          <a:ln w="6350" cap="rnd">
            <a:solidFill>
              <a:schemeClr val="accent1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" name="Rectangle 7"/>
          <p:cNvSpPr/>
          <p:nvPr/>
        </p:nvSpPr>
        <p:spPr>
          <a:xfrm>
            <a:off x="914400" y="2819399"/>
            <a:ext cx="228600" cy="128016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</p:spPr>
        <p:txBody>
          <a:bodyPr anchor="ctr"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285875"/>
            <a:ext cx="4040188" cy="685800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None/>
              <a:defRPr sz="2400" b="1">
                <a:solidFill>
                  <a:schemeClr val="accent2"/>
                </a:solidFill>
              </a:defRPr>
            </a:lvl1pPr>
            <a:lvl2pPr marL="0" indent="274320">
              <a:buClrTx/>
              <a:buSzTx/>
              <a:buNone/>
              <a:defRPr sz="2400" b="1">
                <a:solidFill>
                  <a:schemeClr val="accent2"/>
                </a:solidFill>
              </a:defRPr>
            </a:lvl2pPr>
            <a:lvl3pPr marL="0" indent="594360">
              <a:buClrTx/>
              <a:buSzTx/>
              <a:buNone/>
              <a:defRPr sz="2400" b="1">
                <a:solidFill>
                  <a:schemeClr val="accent2"/>
                </a:solidFill>
              </a:defRPr>
            </a:lvl3pPr>
            <a:lvl4pPr marL="0" indent="868680">
              <a:buClrTx/>
              <a:buSzTx/>
              <a:buNone/>
              <a:defRPr sz="2400" b="1">
                <a:solidFill>
                  <a:schemeClr val="accent2"/>
                </a:solidFill>
              </a:defRPr>
            </a:lvl4pPr>
            <a:lvl5pPr marL="0" indent="1143000">
              <a:buClrTx/>
              <a:buSzTx/>
              <a:buNone/>
              <a:defRPr sz="2400" b="1">
                <a:solidFill>
                  <a:schemeClr val="accent2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648200" y="1295400"/>
            <a:ext cx="4041775" cy="685800"/>
          </a:xfrm>
          <a:prstGeom prst="rect">
            <a:avLst/>
          </a:prstGeom>
        </p:spPr>
        <p:txBody>
          <a:bodyPr anchor="b"/>
          <a:lstStyle/>
          <a:p>
            <a:pPr marL="0" indent="0">
              <a:buClrTx/>
              <a:buSzTx/>
              <a:buNone/>
              <a:defRPr sz="2400" b="1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</p:spPr>
        <p:txBody>
          <a:bodyPr/>
          <a:lstStyle>
            <a:lvl1pPr>
              <a:defRPr sz="2000" b="1"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t>Title Text</a:t>
            </a:r>
          </a:p>
        </p:txBody>
      </p:sp>
      <p:sp>
        <p:nvSpPr>
          <p:cNvPr id="8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spcBef>
                <a:spcPts val="1000"/>
              </a:spcBef>
              <a:buClrTx/>
              <a:buSzTx/>
              <a:buNone/>
              <a:defRPr sz="1600">
                <a:solidFill>
                  <a:srgbClr val="464653"/>
                </a:solidFill>
              </a:defRPr>
            </a:lvl1pPr>
            <a:lvl2pPr marL="0" indent="274320">
              <a:lnSpc>
                <a:spcPts val="2200"/>
              </a:lnSpc>
              <a:spcBef>
                <a:spcPts val="1000"/>
              </a:spcBef>
              <a:buClrTx/>
              <a:buSzTx/>
              <a:buNone/>
              <a:defRPr sz="1600">
                <a:solidFill>
                  <a:srgbClr val="464653"/>
                </a:solidFill>
              </a:defRPr>
            </a:lvl2pPr>
            <a:lvl3pPr marL="0" indent="594360">
              <a:lnSpc>
                <a:spcPts val="2200"/>
              </a:lnSpc>
              <a:spcBef>
                <a:spcPts val="1000"/>
              </a:spcBef>
              <a:buClrTx/>
              <a:buSzTx/>
              <a:buNone/>
              <a:defRPr sz="1600">
                <a:solidFill>
                  <a:srgbClr val="464653"/>
                </a:solidFill>
              </a:defRPr>
            </a:lvl3pPr>
            <a:lvl4pPr marL="0" indent="868680">
              <a:lnSpc>
                <a:spcPts val="2200"/>
              </a:lnSpc>
              <a:spcBef>
                <a:spcPts val="1000"/>
              </a:spcBef>
              <a:buClrTx/>
              <a:buSzTx/>
              <a:buNone/>
              <a:defRPr sz="1600">
                <a:solidFill>
                  <a:srgbClr val="464653"/>
                </a:solidFill>
              </a:defRPr>
            </a:lvl4pPr>
            <a:lvl5pPr marL="0" indent="1143000">
              <a:lnSpc>
                <a:spcPts val="2200"/>
              </a:lnSpc>
              <a:spcBef>
                <a:spcPts val="1000"/>
              </a:spcBef>
              <a:buClrTx/>
              <a:buSzTx/>
              <a:buNone/>
              <a:defRPr sz="1600">
                <a:solidFill>
                  <a:srgbClr val="464653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87" name="Straight Connector 7"/>
          <p:cNvSpPr/>
          <p:nvPr/>
        </p:nvSpPr>
        <p:spPr>
          <a:xfrm>
            <a:off x="457200" y="6353175"/>
            <a:ext cx="8229601" cy="0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8" name="Straight Connector 9"/>
          <p:cNvSpPr/>
          <p:nvPr/>
        </p:nvSpPr>
        <p:spPr>
          <a:xfrm flipH="1">
            <a:off x="6178800" y="307339"/>
            <a:ext cx="1" cy="6035041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9" name="Isosceles Triangle 8"/>
          <p:cNvSpPr/>
          <p:nvPr/>
        </p:nvSpPr>
        <p:spPr>
          <a:xfrm rot="5400000">
            <a:off x="419099" y="6467474"/>
            <a:ext cx="190850" cy="120316"/>
          </a:xfrm>
          <a:prstGeom prst="triangl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bg>
      <p:bgPr>
        <a:solidFill>
          <a:srgbClr val="464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Text"/>
          <p:cNvSpPr txBox="1"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ln w="9525">
            <a:solidFill>
              <a:schemeClr val="accent1"/>
            </a:solidFill>
            <a:round/>
          </a:ln>
        </p:spPr>
        <p:txBody>
          <a:bodyPr anchor="ctr"/>
          <a:lstStyle>
            <a:lvl1pPr algn="r">
              <a:defRPr sz="2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97" name="Picture Placeholder 2"/>
          <p:cNvSpPr>
            <a:spLocks noGrp="1"/>
          </p:cNvSpPr>
          <p:nvPr>
            <p:ph type="pic" idx="21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9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</p:spPr>
        <p:txBody>
          <a:bodyPr anchor="ctr"/>
          <a:lstStyle>
            <a:lvl1pPr marL="0" indent="0">
              <a:buClrTx/>
              <a:buSzTx/>
              <a:buNone/>
              <a:defRPr sz="1400">
                <a:solidFill>
                  <a:srgbClr val="FFFFFF"/>
                </a:solidFill>
              </a:defRPr>
            </a:lvl1pPr>
            <a:lvl2pPr marL="594360" indent="-320040">
              <a:buClrTx/>
              <a:defRPr sz="1400">
                <a:solidFill>
                  <a:srgbClr val="FFFFFF"/>
                </a:solidFill>
              </a:defRPr>
            </a:lvl2pPr>
            <a:lvl3pPr marL="914400" indent="-320039">
              <a:buClrTx/>
              <a:defRPr sz="1400">
                <a:solidFill>
                  <a:srgbClr val="FFFFFF"/>
                </a:solidFill>
              </a:defRPr>
            </a:lvl3pPr>
            <a:lvl4pPr marL="1224280" indent="-355600">
              <a:buClrTx/>
              <a:defRPr sz="1400">
                <a:solidFill>
                  <a:srgbClr val="FFFFFF"/>
                </a:solidFill>
              </a:defRPr>
            </a:lvl4pPr>
            <a:lvl5pPr marL="1498600" indent="-355600">
              <a:buClrTx/>
              <a:defRPr sz="1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DE9EC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00" name="Straight Connector 7"/>
          <p:cNvSpPr/>
          <p:nvPr/>
        </p:nvSpPr>
        <p:spPr>
          <a:xfrm>
            <a:off x="457200" y="6353175"/>
            <a:ext cx="8229601" cy="0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1" name="Isosceles Triangle 8"/>
          <p:cNvSpPr/>
          <p:nvPr/>
        </p:nvSpPr>
        <p:spPr>
          <a:xfrm rot="5400000">
            <a:off x="419099" y="6467474"/>
            <a:ext cx="190850" cy="120316"/>
          </a:xfrm>
          <a:prstGeom prst="triangl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2" name="Rectangle 9"/>
          <p:cNvSpPr/>
          <p:nvPr/>
        </p:nvSpPr>
        <p:spPr>
          <a:xfrm>
            <a:off x="457199" y="500856"/>
            <a:ext cx="182882" cy="685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061">
            <a:extLst>
              <a:ext uri="{FF2B5EF4-FFF2-40B4-BE49-F238E27FC236}">
                <a16:creationId xmlns:a16="http://schemas.microsoft.com/office/drawing/2014/main" id="{52182CF1-66F3-3C08-2E5A-3CCFD746043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154AB9-8CF8-D04A-9FFE-07EA0E881B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7603069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95400"/>
            <a:ext cx="411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295400"/>
            <a:ext cx="411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85DA908B-47B9-5A7F-02FB-7EC47669CE0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17B663-1786-8E4A-B104-9E9C95ED8A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6647806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27"/>
          <p:cNvSpPr/>
          <p:nvPr/>
        </p:nvSpPr>
        <p:spPr>
          <a:xfrm>
            <a:off x="457200" y="6353175"/>
            <a:ext cx="8229601" cy="0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" name="Straight Connector 28"/>
          <p:cNvSpPr/>
          <p:nvPr/>
        </p:nvSpPr>
        <p:spPr>
          <a:xfrm>
            <a:off x="457200" y="1143000"/>
            <a:ext cx="8229601" cy="0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" name="Isosceles Triangle 9"/>
          <p:cNvSpPr/>
          <p:nvPr/>
        </p:nvSpPr>
        <p:spPr>
          <a:xfrm rot="5400000">
            <a:off x="419099" y="6467474"/>
            <a:ext cx="190850" cy="120316"/>
          </a:xfrm>
          <a:prstGeom prst="triangl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464653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6" r:id="rId4"/>
    <p:sldLayoutId id="2147483657" r:id="rId5"/>
    <p:sldLayoutId id="2147483658" r:id="rId6"/>
    <p:sldLayoutId id="2147483659" r:id="rId7"/>
  </p:sldLayoutIdLst>
  <p:transition spd="med"/>
  <p:hf sldNum="0"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64653"/>
          </a:solidFill>
          <a:uFillTx/>
          <a:latin typeface="Bookman Old Style"/>
          <a:ea typeface="Bookman Old Style"/>
          <a:cs typeface="Bookman Old Style"/>
          <a:sym typeface="Bookman Old Style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64653"/>
          </a:solidFill>
          <a:uFillTx/>
          <a:latin typeface="Bookman Old Style"/>
          <a:ea typeface="Bookman Old Style"/>
          <a:cs typeface="Bookman Old Style"/>
          <a:sym typeface="Bookman Old Style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64653"/>
          </a:solidFill>
          <a:uFillTx/>
          <a:latin typeface="Bookman Old Style"/>
          <a:ea typeface="Bookman Old Style"/>
          <a:cs typeface="Bookman Old Style"/>
          <a:sym typeface="Bookman Old Style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64653"/>
          </a:solidFill>
          <a:uFillTx/>
          <a:latin typeface="Bookman Old Style"/>
          <a:ea typeface="Bookman Old Style"/>
          <a:cs typeface="Bookman Old Style"/>
          <a:sym typeface="Bookman Old Style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64653"/>
          </a:solidFill>
          <a:uFillTx/>
          <a:latin typeface="Bookman Old Style"/>
          <a:ea typeface="Bookman Old Style"/>
          <a:cs typeface="Bookman Old Style"/>
          <a:sym typeface="Bookman Old Style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64653"/>
          </a:solidFill>
          <a:uFillTx/>
          <a:latin typeface="Bookman Old Style"/>
          <a:ea typeface="Bookman Old Style"/>
          <a:cs typeface="Bookman Old Style"/>
          <a:sym typeface="Bookman Old Style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64653"/>
          </a:solidFill>
          <a:uFillTx/>
          <a:latin typeface="Bookman Old Style"/>
          <a:ea typeface="Bookman Old Style"/>
          <a:cs typeface="Bookman Old Style"/>
          <a:sym typeface="Bookman Old Style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64653"/>
          </a:solidFill>
          <a:uFillTx/>
          <a:latin typeface="Bookman Old Style"/>
          <a:ea typeface="Bookman Old Style"/>
          <a:cs typeface="Bookman Old Style"/>
          <a:sym typeface="Bookman Old Style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64653"/>
          </a:solidFill>
          <a:uFillTx/>
          <a:latin typeface="Bookman Old Style"/>
          <a:ea typeface="Bookman Old Style"/>
          <a:cs typeface="Bookman Old Style"/>
          <a:sym typeface="Bookman Old Style"/>
        </a:defRPr>
      </a:lvl9pPr>
    </p:titleStyle>
    <p:bodyStyle>
      <a:lvl1pPr marL="274320" marR="0" indent="-27432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76000"/>
        <a:buFontTx/>
        <a:buChar char=""/>
        <a:tabLst/>
        <a:defRPr sz="2600" b="0" i="0" u="none" strike="noStrike" cap="none" spc="0" baseline="0">
          <a:solidFill>
            <a:srgbClr val="000000"/>
          </a:solidFill>
          <a:uFillTx/>
          <a:latin typeface="Gill Sans MT"/>
          <a:ea typeface="Gill Sans MT"/>
          <a:cs typeface="Gill Sans MT"/>
          <a:sym typeface="Gill Sans MT"/>
        </a:defRPr>
      </a:lvl1pPr>
      <a:lvl2pPr marL="584420" marR="0" indent="-3101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76000"/>
        <a:buFontTx/>
        <a:buChar char=""/>
        <a:tabLst/>
        <a:defRPr sz="2600" b="0" i="0" u="none" strike="noStrike" cap="none" spc="0" baseline="0">
          <a:solidFill>
            <a:srgbClr val="000000"/>
          </a:solidFill>
          <a:uFillTx/>
          <a:latin typeface="Gill Sans MT"/>
          <a:ea typeface="Gill Sans MT"/>
          <a:cs typeface="Gill Sans MT"/>
          <a:sym typeface="Gill Sans MT"/>
        </a:defRPr>
      </a:lvl2pPr>
      <a:lvl3pPr marL="891540" marR="0" indent="-29718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76000"/>
        <a:buFontTx/>
        <a:buChar char=""/>
        <a:tabLst/>
        <a:defRPr sz="2600" b="0" i="0" u="none" strike="noStrike" cap="none" spc="0" baseline="0">
          <a:solidFill>
            <a:srgbClr val="000000"/>
          </a:solidFill>
          <a:uFillTx/>
          <a:latin typeface="Gill Sans MT"/>
          <a:ea typeface="Gill Sans MT"/>
          <a:cs typeface="Gill Sans MT"/>
          <a:sym typeface="Gill Sans MT"/>
        </a:defRPr>
      </a:lvl3pPr>
      <a:lvl4pPr marL="1198880" marR="0" indent="-3302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70000"/>
        <a:buFontTx/>
        <a:buChar char="◻"/>
        <a:tabLst/>
        <a:defRPr sz="2600" b="0" i="0" u="none" strike="noStrike" cap="none" spc="0" baseline="0">
          <a:solidFill>
            <a:srgbClr val="000000"/>
          </a:solidFill>
          <a:uFillTx/>
          <a:latin typeface="Gill Sans MT"/>
          <a:ea typeface="Gill Sans MT"/>
          <a:cs typeface="Gill Sans MT"/>
          <a:sym typeface="Gill Sans MT"/>
        </a:defRPr>
      </a:lvl4pPr>
      <a:lvl5pPr marL="1514475" marR="0" indent="-371475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70000"/>
        <a:buFontTx/>
        <a:buChar char="◻"/>
        <a:tabLst/>
        <a:defRPr sz="2600" b="0" i="0" u="none" strike="noStrike" cap="none" spc="0" baseline="0">
          <a:solidFill>
            <a:srgbClr val="000000"/>
          </a:solidFill>
          <a:uFillTx/>
          <a:latin typeface="Gill Sans MT"/>
          <a:ea typeface="Gill Sans MT"/>
          <a:cs typeface="Gill Sans MT"/>
          <a:sym typeface="Gill Sans MT"/>
        </a:defRPr>
      </a:lvl5pPr>
      <a:lvl6pPr marL="1760220" marR="0" indent="-29718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75000"/>
        <a:buFontTx/>
        <a:buChar char=""/>
        <a:tabLst/>
        <a:defRPr sz="2600" b="0" i="0" u="none" strike="noStrike" cap="none" spc="0" baseline="0">
          <a:solidFill>
            <a:srgbClr val="000000"/>
          </a:solidFill>
          <a:uFillTx/>
          <a:latin typeface="Gill Sans MT"/>
          <a:ea typeface="Gill Sans MT"/>
          <a:cs typeface="Gill Sans MT"/>
          <a:sym typeface="Gill Sans MT"/>
        </a:defRPr>
      </a:lvl6pPr>
      <a:lvl7pPr marL="1985554" marR="0" indent="-339634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75000"/>
        <a:buFontTx/>
        <a:buChar char=""/>
        <a:tabLst/>
        <a:defRPr sz="2600" b="0" i="0" u="none" strike="noStrike" cap="none" spc="0" baseline="0">
          <a:solidFill>
            <a:srgbClr val="000000"/>
          </a:solidFill>
          <a:uFillTx/>
          <a:latin typeface="Gill Sans MT"/>
          <a:ea typeface="Gill Sans MT"/>
          <a:cs typeface="Gill Sans MT"/>
          <a:sym typeface="Gill Sans MT"/>
        </a:defRPr>
      </a:lvl7pPr>
      <a:lvl8pPr marL="2168434" marR="0" indent="-339634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75000"/>
        <a:buFontTx/>
        <a:buChar char=""/>
        <a:tabLst/>
        <a:defRPr sz="2600" b="0" i="0" u="none" strike="noStrike" cap="none" spc="0" baseline="0">
          <a:solidFill>
            <a:srgbClr val="000000"/>
          </a:solidFill>
          <a:uFillTx/>
          <a:latin typeface="Gill Sans MT"/>
          <a:ea typeface="Gill Sans MT"/>
          <a:cs typeface="Gill Sans MT"/>
          <a:sym typeface="Gill Sans MT"/>
        </a:defRPr>
      </a:lvl8pPr>
      <a:lvl9pPr marL="2407919" marR="0" indent="-39623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75000"/>
        <a:buFontTx/>
        <a:buChar char=""/>
        <a:tabLst/>
        <a:defRPr sz="2600" b="0" i="0" u="none" strike="noStrike" cap="none" spc="0" baseline="0">
          <a:solidFill>
            <a:srgbClr val="000000"/>
          </a:solidFill>
          <a:uFillTx/>
          <a:latin typeface="Gill Sans MT"/>
          <a:ea typeface="Gill Sans MT"/>
          <a:cs typeface="Gill Sans MT"/>
          <a:sym typeface="Gill Sans MT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6.png"/><Relationship Id="rId4" Type="http://schemas.openxmlformats.org/officeDocument/2006/relationships/image" Target="../media/image31.png"/><Relationship Id="rId9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ribbr.com/statistics/standard-normal-distribution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ribbr.com/statistics/standard-normal-distribution" TargetMode="Externa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/>
          </p:cNvSpPr>
          <p:nvPr/>
        </p:nvSpPr>
        <p:spPr bwMode="auto">
          <a:xfrm>
            <a:off x="912813" y="995363"/>
            <a:ext cx="73152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 anchor="ctr"/>
          <a:lstStyle>
            <a:lvl1pPr marL="39688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en-US" sz="4400">
              <a:solidFill>
                <a:srgbClr val="FF3300"/>
              </a:solidFill>
              <a:cs typeface="Arial" panose="020B0604020202020204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accent5"/>
                </a:solidFill>
              </a:rPr>
              <a:t>CS4048 </a:t>
            </a:r>
            <a:br>
              <a:rPr lang="en-US" sz="3200" b="1" dirty="0">
                <a:solidFill>
                  <a:schemeClr val="accent5"/>
                </a:solidFill>
              </a:rPr>
            </a:br>
            <a:r>
              <a:rPr lang="en-US" sz="3200" b="1" dirty="0">
                <a:solidFill>
                  <a:schemeClr val="accent5"/>
                </a:solidFill>
              </a:rPr>
              <a:t>Data Science</a:t>
            </a:r>
            <a:endParaRPr lang="fr-BE" sz="3200" b="1" dirty="0">
              <a:solidFill>
                <a:schemeClr val="accent5"/>
              </a:solidFill>
            </a:endParaRPr>
          </a:p>
        </p:txBody>
      </p:sp>
      <p:sp>
        <p:nvSpPr>
          <p:cNvPr id="4100" name="Rectangle 2"/>
          <p:cNvSpPr>
            <a:spLocks noGrp="1"/>
          </p:cNvSpPr>
          <p:nvPr>
            <p:ph idx="1"/>
          </p:nvPr>
        </p:nvSpPr>
        <p:spPr/>
        <p:txBody>
          <a:bodyPr lIns="0" tIns="0" rIns="40639" bIns="0"/>
          <a:lstStyle/>
          <a:p>
            <a:pPr marL="39688" indent="0" algn="ctr" eaLnBrk="1" hangingPunct="1">
              <a:spcBef>
                <a:spcPts val="550"/>
              </a:spcBef>
              <a:buNone/>
            </a:pPr>
            <a:endParaRPr lang="en-US" altLang="en-US" sz="2400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39688" indent="0" algn="ctr" eaLnBrk="1" hangingPunct="1">
              <a:spcBef>
                <a:spcPts val="550"/>
              </a:spcBef>
              <a:buNone/>
            </a:pPr>
            <a:endParaRPr lang="en-US" altLang="en-US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39688" indent="0" algn="ctr" eaLnBrk="1" hangingPunct="1">
              <a:spcBef>
                <a:spcPts val="550"/>
              </a:spcBef>
              <a:buNone/>
            </a:pPr>
            <a:endParaRPr lang="en-US" altLang="en-US" sz="2400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39688" indent="0" algn="ctr" eaLnBrk="1" hangingPunct="1">
              <a:spcBef>
                <a:spcPts val="550"/>
              </a:spcBef>
              <a:buNone/>
            </a:pPr>
            <a:endParaRPr lang="en-US" altLang="en-US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39688" indent="0" algn="ctr" eaLnBrk="1" hangingPunct="1">
              <a:spcBef>
                <a:spcPts val="550"/>
              </a:spcBef>
              <a:buNone/>
            </a:pPr>
            <a:endParaRPr lang="en-US" altLang="en-US" sz="2400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39688" indent="0" algn="ctr" eaLnBrk="1" hangingPunct="1">
              <a:spcBef>
                <a:spcPts val="550"/>
              </a:spcBef>
              <a:buNone/>
            </a:pPr>
            <a:endParaRPr lang="en-US" altLang="en-US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39688" indent="0" algn="ctr" eaLnBrk="1" hangingPunct="1">
              <a:spcBef>
                <a:spcPts val="550"/>
              </a:spcBef>
              <a:buNone/>
            </a:pPr>
            <a:endParaRPr lang="en-US" altLang="en-US" sz="2400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39688" indent="0" algn="ctr" eaLnBrk="1" hangingPunct="1">
              <a:spcBef>
                <a:spcPts val="550"/>
              </a:spcBef>
              <a:buNone/>
            </a:pPr>
            <a:r>
              <a:rPr lang="en-US" altLang="en-US" sz="1800" dirty="0">
                <a:solidFill>
                  <a:srgbClr val="0070C0"/>
                </a:solidFill>
                <a:cs typeface="Arial" panose="020B0604020202020204" pitchFamily="34" charset="0"/>
              </a:rPr>
              <a:t>Instructor: Dr. </a:t>
            </a:r>
            <a:r>
              <a:rPr lang="en-US" altLang="en-US" sz="1800" dirty="0" err="1">
                <a:solidFill>
                  <a:srgbClr val="0070C0"/>
                </a:solidFill>
                <a:cs typeface="Arial" panose="020B0604020202020204" pitchFamily="34" charset="0"/>
              </a:rPr>
              <a:t>Kashif</a:t>
            </a:r>
            <a:r>
              <a:rPr lang="en-US" altLang="en-US" sz="1800" dirty="0">
                <a:solidFill>
                  <a:srgbClr val="0070C0"/>
                </a:solidFill>
                <a:cs typeface="Arial" panose="020B0604020202020204" pitchFamily="34" charset="0"/>
              </a:rPr>
              <a:t> Zafar</a:t>
            </a:r>
          </a:p>
          <a:p>
            <a:pPr marL="382588" indent="-342900" algn="ctr" eaLnBrk="1" hangingPunct="1">
              <a:spcBef>
                <a:spcPts val="550"/>
              </a:spcBef>
            </a:pPr>
            <a:endParaRPr lang="en-US" altLang="en-US" sz="2400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39688" indent="0" algn="ctr" eaLnBrk="1" hangingPunct="1">
              <a:spcBef>
                <a:spcPts val="550"/>
              </a:spcBef>
              <a:buNone/>
            </a:pPr>
            <a:r>
              <a:rPr lang="en-US" altLang="en-US" sz="1600" dirty="0">
                <a:solidFill>
                  <a:srgbClr val="3333CC"/>
                </a:solidFill>
                <a:cs typeface="Arial" panose="020B0604020202020204" pitchFamily="34" charset="0"/>
              </a:rPr>
              <a:t>January 27, 2026</a:t>
            </a:r>
          </a:p>
        </p:txBody>
      </p:sp>
      <p:sp>
        <p:nvSpPr>
          <p:cNvPr id="4102" name="Slide Number Placeholder 2"/>
          <p:cNvSpPr>
            <a:spLocks noGrp="1"/>
          </p:cNvSpPr>
          <p:nvPr>
            <p:ph type="sldNum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fld id="{EFBA1D91-5649-4C00-8FEC-57055540A4AF}" type="slidenum">
              <a:rPr lang="en-US" altLang="en-US" sz="2800" smtClean="0">
                <a:solidFill>
                  <a:srgbClr val="FFFFFF"/>
                </a:solidFill>
              </a:rPr>
              <a:pPr/>
              <a:t>1</a:t>
            </a:fld>
            <a:endParaRPr lang="en-US" altLang="en-US" sz="2800">
              <a:solidFill>
                <a:srgbClr val="FFFFFF"/>
              </a:solidFill>
            </a:endParaRPr>
          </a:p>
        </p:txBody>
      </p:sp>
      <p:sp>
        <p:nvSpPr>
          <p:cNvPr id="4101" name="Footer Placeholder 1"/>
          <p:cNvSpPr>
            <a:spLocks noGrp="1"/>
          </p:cNvSpPr>
          <p:nvPr>
            <p:ph type="ftr" sz="quarter" idx="4294967295"/>
          </p:nvPr>
        </p:nvSpPr>
        <p:spPr bwMode="auto">
          <a:xfrm>
            <a:off x="1241425" y="5707697"/>
            <a:ext cx="6986588" cy="89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algn="ctr"/>
            <a:r>
              <a:rPr lang="sv-SE" altLang="en-US" sz="2000" dirty="0">
                <a:solidFill>
                  <a:srgbClr val="0070C0"/>
                </a:solidFill>
              </a:rPr>
              <a:t>National University of Computer and Emerging Sciences, Lahore</a:t>
            </a:r>
          </a:p>
        </p:txBody>
      </p:sp>
      <p:sp>
        <p:nvSpPr>
          <p:cNvPr id="4103" name="AutoShape 8" descr="Image result for mobile applications"/>
          <p:cNvSpPr>
            <a:spLocks noChangeAspect="1" noChangeArrowheads="1"/>
          </p:cNvSpPr>
          <p:nvPr/>
        </p:nvSpPr>
        <p:spPr bwMode="auto">
          <a:xfrm>
            <a:off x="176213" y="-1825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/>
          </a:p>
        </p:txBody>
      </p:sp>
      <p:sp>
        <p:nvSpPr>
          <p:cNvPr id="4104" name="AutoShape 10" descr="Image result for mobile applications"/>
          <p:cNvSpPr>
            <a:spLocks noChangeAspect="1" noChangeArrowheads="1"/>
          </p:cNvSpPr>
          <p:nvPr/>
        </p:nvSpPr>
        <p:spPr bwMode="auto">
          <a:xfrm>
            <a:off x="328613" y="-301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/>
          </a:p>
        </p:txBody>
      </p:sp>
      <p:sp>
        <p:nvSpPr>
          <p:cNvPr id="4105" name="AutoShape 12" descr="Image result for mobile applications"/>
          <p:cNvSpPr>
            <a:spLocks noChangeAspect="1" noChangeArrowheads="1"/>
          </p:cNvSpPr>
          <p:nvPr/>
        </p:nvSpPr>
        <p:spPr bwMode="auto">
          <a:xfrm>
            <a:off x="481013" y="1222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/>
          </a:p>
        </p:txBody>
      </p:sp>
      <p:sp>
        <p:nvSpPr>
          <p:cNvPr id="4106" name="AutoShape 14" descr="data:image/jpeg;base64,/9j/4AAQSkZJRgABAQAAAQABAAD/2wCEAAkGBxQTEhUUExQVFRQXGBoWGBgYFxwcHhsdGBcXHRgbHB0YHiggHBwlHRgeITEiJSkrLi4uGB8zODMsNygtLi0BCgoKDg0OGxAQGywlICQvLCwvLCwsLC8sLCwsLywsLCwsLCwsLCwsLCwsLCwsLCwsLCwsLCwsLCwsLCwsLCwsLP/AABEIAJEBXAMBEQACEQEDEQH/xAAcAAEAAgMBAQEAAAAAAAAAAAAABQYDBAcCAQj/xABEEAACAQIEAwUFBQYDBwUBAAABAgMAEQQFEiEGMUETIlFhcQcygZGhFEJSscEjM2Jy0fCCsuEVNFNjc8LxJTVDksMk/8QAGwEBAAMBAQEBAAAAAAAAAAAAAAIDBAEFBgf/xAA3EQACAQIFAQYGAgEBCQAAAAAAAQIDEQQSITFBUQUTYXGB8CIykaGx0cHhI0IUFTM0UnKSovH/2gAMAwEAAhEDEQA/AO40AoBQCgFAKAUAoBQCgFAKAUAoBQCgFAKAwY9mEblPeCkj1tUo2zK5XVclBuO9jmEGIYSqJJ5mXUAwMsnI9dmHrzFem4LLol9EfKRxMo1UpybV+r/fqbs2Owm4IxAO4vqe4+eIPL0NVqlU8PfoaJY7DbNT++n/ALk5wHjtpIGYsyHULkna9mAv0B3/AMVU4mFrSXJu7JxLlmoyeq9v7/ktbuACTsBWKc4wi5Sdkj2km3ZETPPr3LMF52Xw5C/qdq+er4lYj4nOUY76XWmyv/3PRb3eyauzVGOXSyuYcHhyWGk2PMnwqODwcm007S3b6e/v5EqlTTXYjc+9n0GKxRxEjuoZVDolhqK7Aljcju2G3hzr350FKV2W4ftSrQpd3FLwb4Ga4nCZTGogw69o+yheZA6vIbtb5n621YbDKTstDzcb2hUlrUbk+nH6RXMTmsmIiEuKYFGLHswWVFVTpuFRg0jarXLG2493nXowpqE8sN+um/rt6a+Z5VSq5wzT26a7em+vXTyMuW5guCk7VVYRGyyKTc6SdnA59QRfc6tvvaezg68cr34/Xv8AV64z/wBnlnXy8rw6++vnaw8TTDWjGRzC6XUI2zfpaxBvvzr43tSnLvkpyko22XVHrupFK58wv2JEDswa4vZjc+mlflvXaOEwNOCnLXz/AEg6sbXuaeHzPs8b0VS+iwtYK1gvu7eB+FRp/wCLFtpWV7ej229Cl17Tsy9V7poFAKAUAoBQCgFAKAUAoBQCgFAKAUAoBQCgFAKAUAoBQCgFAKAUAoBQCgOU8VImGxPeAZb30kkal2IG2/I2+FenTqXp7nyOPoKlib5brp1XvT0IGfN42kLkLYtq0d63O9r87VNTSja5hnGU6rqZd3e3HkTHDWddpmEZiUAu2kot7BNNm5+CjV6iqajj3WVs9HBurLGKpGKV+F0t7fmXfi3M2iKqVbQfvDkW8Phzt1+FfJdrurK0No/l9PT7+h9pQyrXk0cFjZZWUGKQryB0mw9Ta3xrJTp16ko503bRaaL31ZY5RS0LZg8PoW3U8z/fSvoqFFUo255Mk5ZmZ6uIkJxbkYxUJAt2qXaM+fVT5Ny+R6VZSnklcprUu8jbk5Xhs17Jikv7Ox2fRcoRcFbXuNyQbb95h1BX2FHvI5o+q9+/58ZVO7lllp0dtvf766bK2mjfD4NTO723UN3F1aj2jyqv3tVrWB1G+43jfJJTq6W+/GiRZlU4OnS1vz051b9S1Yzh+aDLFRi00sTa9KAsQGNiibXIF7+O3oK8HtRLEvNFcm+NCUKChe7XuxAJgsW+hZgIF30CV+9Ym7aY1u3PncCvPjg6kkk+CCw9Wehasr4HjsryTPJyYae4viPE/IitEMFGO7LI4NJ/Ey41sNYoBQCgFAKAUAoBQCgFAKAUAoBQCgFAKAUAoBQCgFAKAj8Rm6IxUhiRtsB+pqSiyxUm1c134hQfdf6f1plJdy+pv5bjVmjWRQQGvz57Ej9KiyqSs7GzQ4U/Dys6j9pIWP8AGT6i1/De/Kvk+7qzgrTk5t2+Z9Xpa91ZfFfa2huzRT2VvL35Gw8DAX1kjlcMT86qxGGr0o5nO61V020vPoShOL4J3Kv3Y9T+dfS4BWoJGOr8x4x2T4eZg0sMUjAWBdFY28NxyrapNbGeVKEneST9DWTLcEjaVhw6tysI05/AVRLG0lNU3NZulyccKkrqCt5ElDhkX3UVfRQPyq+4SS2Krxj7Q8LgDoN5p/8AhRkXXw1k7L6bnflapRg5HHJI3+B+JRj8MJtHZuGZHj1atJB271he6lTy6kdK5KOV2Op3M+bZ6I7rGA78v4V9T1PkPpXEiyNNsgziZ2G8z6r76e6tvK1rfX1qSiWxp6m3l2GkZgQWYgg3ZiQPnUnZE5ZYrUZ3wNBicQJnZgvN41sNbDYEtzUW52sTYG43vKniZ01aJ5dTC06kryLDgMBHCgjiRY0HRRb1J8SfE7mqpScnds0RioqyRFY/OWMjxRjSUsCx57i/dHL4n5USuXU4KW5p4XBLqJa5JBZje7Gw2uTufLwqe2xdpFfCTWTTApp/D+R5frUJLUpqxs7khUSoUAoBQCgFAKAUAoBQCgFAKAUAoBQCgFAKAUAoBQCgFAV7HgGZ1uAdrX6mwsPK9WLY0xdoJkPn05WNo0Pe6sPxeXkOVWUUnNZtinEylGjKadnbQiMuMiRLqxEigkWVZggUMb35Ekkam+HXpulGF7Rivpc8WM6jSlOb18bELxXjMVDE7pi8RawKntmuO8t1Ok2JF9+m/wAKshGnJfKvoVuVSM18Ta8zcyDOO/cm9mYWv5kV+fyaw+JzWvZvwPp7OUbFqXGJp0ob3N7npblWbEVMNToulRbd3e74ttbrfXfX7E4qbleR8zviN8Jl8k0IRpQ4Ch7le9IisTpIOwY9RuK+gwFWCjTpN6yvb0V2Za8WryKZgONc3xbCNBhxsSSI3AAHVj2hIHT1IrfiMLCpGzlJLwaV/W1yiFWSeiXqasHE2YCVY3ESEOFa0ZuveAP3yLisVPsHCJprN9f6JTxlWzvb6f2dB47x2I/2Y02Gco4CtIVHe0cpNJ+6Re+rmADaxsa20JwqO66teqdvyiM7qJxXIo0SUSOQQdYJYahdlYXYfeF2uR13rVJaFSepdPZ7mX2fGfZ2dGixSWVk93UCwQi9rbh0t42qE1dX6EouzOjRZFJ1KD0v/QVTc05zciyf8TXHOwFvreu5gqjWxJxxhRYCwqJBtvcq+L41j1ukKCXQdLOXCpq6gEBmNup0286jmvsZnXTbUdbeP/38FWx/tFxRYrGkCDxBMnyNwPp/Sq3UZ5WI7UqQdkl+SyY6Q3w+JKlTKgSQEWsxFxz/ALstXwdz3cNUcoqTVro2ftI0EabMRa9+YuDy8dqstqbMrvfg38mwjqdR2BFrHmfh0qMmiqrNNWRL1AoFAKAUAoBQCgFAKAUAoBQCgFAKAUAoBQCgFAKAUAoBQEXjsn7Ry2si9treAt41JSsWxq5VaxC8Q8P6cNO/aG6RO3u/hQnx8quoS/yx80U4qrehNeD/AAUfA4wTwBVdRIoRSvZRMe6QqsNZBYWLEnpf5+nUXdzu1pry/wCDw6X+WmknqrcJ7efqQfHGaIw7NGDWDlioUC7sG09wkNa3ME8/G9Toxai2/D7eYqtOpFR4v9/I7nlMSNDE2le9GjXsN7qDevBlFX2PdT0NwRL+EfIVHLHoduyqe1KMf7OlbqhjPwMsYP8AflUe4Uq1OfMW/umrfh+hyUrQa6nKuFsW7O8aLFKHXS0UkgTWNQICsSO8Dvty8K2ztuURPeJxMSYspA+uISKEa4YEErex6gEkA9bXqcL6XIzSs7HYeHlLxMjreNlA3GxutmHmCK8DA95GvXi08ueTT8bu9jdKzpw62X4OCcTZa2DxE0DE2jbYnqpF0a/mpF/O/hXvRd1cxNWdiw5XlNjh8XmJMEaBewhjXTLL2bFwwXYRpc+9sT5XBKEJTuoHJ1Iws5l4n46xEovhoI40N9MmIcb2veyAqNgDuGIFjfkamsLGLtOWvRIqeKlJXgvVsrOY53mCuJXmk1RsJAgIVGCndbR2DLa43v1rXDD0HGyXqY54mspLN9Cy+0riSRcJA2H2hxI70gNmsVDKg8CwJ3590ivDrJweV+RsxlaSppw55KNlhx7KFghlC9CsR22AFmIsOV+m+/Wq03sjz4PE5bRT+hduCOC3DCbFpYqbrGSCS34msT8vHny3lGHLLMH2dJVHVrei/llt4qxOHTDk4qVYoyRZiQDe9wFHMnyAJ51cr8HtXsbGVYaLQskbCQMAVkuCCCNiCNrHxFdbZOVRyRIVEgKAUAoBQCgFAKAUAoBQCgFAKAUAoBQCgFAKAUAoBQCgFAVv2gTSJg2aJ2jYMveU6TYmxFxuKjLYxdoVJU6DlHw/JQswy3FISPt0zKFkLntJdjHpDJYtvdnVQeuqoWa5PPqKtF/O3o778cW8bpLzI/gvDf8AqEEcoEiP2isjjUNo2IuG6ggVONaqpL4n9WRwVTPVUZfRo6SuSQ6riCAHmP2MW3xKbVe6knu39T2VBLZL6El2kg21n5L/AEqsldmbIcS8kIaSxa7A2FuTG30oycXdHvOcrjxMLwSgmNxY2NjsQRY+oFE7O4auUIezCBXOjtxY91u0t6G9r/KvJniO0+9cIxi1fRtaW+v8FypUMt3c3sH7K8IhVi8xZSDsy22Nx929erSqVVH/ACNN+CsvyyiUIPYuL4iOFQt9lAAUbmwFh/5Ndd27jSKsRcUGFxEwlkgjM6gKrOoY2BJGkkbEXPnvXbtKwVmyN9pmUiXDia3ehNz/ACNYN8iFPoDWnB1Ms8vUy4ynmhm6fgpcuJHZoVZEARWUhdbfswxsA11BCtfmpujeG2uEfiaeuvktbeu/nujLUfwpp20utLvS/XTby2Z7zKYnDvIRJZQjq0hts7gaVU9Fu45nbTzAFrKVlUUdOdvD2vuU1k3ScteHr4v+Nft4Fk9kmaiTDvh23aBrpf8AA9yPkdQ9CKy9oUss8y5/Js7Pq56eV8FwzTOIMOAZ5Uj1bLqYAnxsOZrzz1KdGdR2gm/Ip/HntD+y6IsKiyyyxiVXJ/Zqj3CtYG7k25bC29+lWQhcqqNwbi90c2ZftYaXFzh8VqIBlkKqqEKe6oUrzBGlQvO5ubVb8r0Kr3WpNcOcVS5ZIsUlpMO4D6UNxpfcSRk+O+xtffkd65KKlqgnlOzYLFpLGksZ1I6hlPiCLg771nasXGegFAKAUAoBQCgFAKAUAoBQHy9AeWkANibE3Pytf865dHUmz4Zl8RTMjuV9DycUv9iuZ0d7uRjbGDoKi5nVTMT44+QqLqE1SNds0I8DUO+aLO4TJOCYOoZeRrRGSkrozSi4uzMldIigFAKArftEjJwE2kFiNBsBc7SJfYeV6jPYx4+Dnh5JeH5OdYHiaSMJ23asQ6k6ha0ag7C/3ixDXP4E3qtSPKp4qpTS7xN6r6L+b6+iPWRY4TZrhWj1tpsrMw7zaYipd7E2v6npvXE7yRbh6iqYlSjfZK73dluzpSzWJvyOx+f+laT17nqSYWWxO22/re/1oLlJbiTFRTPFGR2YO3cB3JN968ztDEVqLThtboTh4krHxFiiN2F/5RXjPtfFJ20+n9lmhh4M4nxU2YSQTEvH2bMDpXuFXsCSqjZhfY33tX0WFqupSUpb/wBJl0clTDd4kk1Jx51S82X+UbVoMzIefC6Dq94X/u9SIbGjOqkbn0sN/j0+tDlzZy/MO0vBMNYcFL+IINw3wvv/AOaLR3R291ZlAynhfMoZnjjjVolcgPI2kEAnSylDrFwb2G25uK9SrWw84qUnr4f3oefSoV6cnFLTx93LFH7PmkULPMqICWMcCnckk7ySklrFjYaQN+VZ1jMrvFXfV/pF8sJnjlk7Lov2yv4/ieHAdphsuiIfUVknluTqQlSFB52N+dlBvsb1TUqzrO82fQ9m9iQUcz0T4W782VeeIOwkxWIbtpQGuUMllO6GQ6gVBBuFUNYEGwvakYeB9BSi4JqjTulpva75to722u2tSz5ZwyuPwrREiPHYNiiSdGQksivb3kvqAIvYWIuCQeSllemzPn+2aEe8VaG01f15X78Sg4qOaCYxSKY50Ybdb37pHQg7EEXB86sTTR4exf8Ah72fYjFsJ8e7qth3T+9Ybkarjujf712ttYWFVuajpEmot6s6zhoFjRUQWVVCqPAKLAfIVQWmSgFAKAUAoBQCgFAKAUAoBQGv9pFdsDQx0t3X0P5iqKu6NFHZnyoFhjdmHSuNs6kma82NsLG6nxqDmTVMgsbO55k1nbbNKSWx8wGPPuv866pHHHlEvkeO7OQo3utuPDyP6GrqNTK7PYor088brdFrrcecKAUByLMzjHmxDjFyIscrpbtnUAByB3U2sBbfzFePOVaUpNSsk3yfZ0Y4SNKnF0k3KKfyp8dWRuaY3Hwxa/tcpDKzKRKWuFtc2PqOYpGrWjKN5aMSw+CqRnlp2cfBr+jr3DeKMuEw0rG7PDE7HxLIpJ+Zr1ou6TPkKscs5R6NnPfaBmGK+3CGGaZbqmhI3KbtcfdI69Sdq0wgnHMz6TsvC4eWEdWpFaN3bV9vfBDy51jFVjHi45igu6qgJAHNgXjGtR1IJPXlvTu35CXZeGk1mpON9m39tJOz6J+W+hM8G8QyywYyScdqYBGUCgJfVr526XAuegBqDi1KzPOxPZdOFeFJO2Z7v0PXDmIYSySPdhpLPa23eG9rjbe23jXjUMTPvZSnqrfS3vzPBVS0muETuc5sHhXs9WktYki3ui9vrf4VHH11VopR2b/B2VXS6NThPPsLAJ+2kjjlaQnf3mQAaeXMai9vU1swKboJpbdPJFNHERSkpu3xN/Wx4zP2hMWth0TT4vvf4KRaqa1bGJ3hSaXim39tvuXrEUP+tfVF3wc6zRpIvJ1DW9RyPn0rfTmpxUlyWNEZjMvJe0Y9b8l+P6VZchlNTO2+wYZ8QoEko0qNVwvedQbAf3tUJyaRXWqdzTcyrp7SsUoBkwiWYXU3dLjxBYG48xVed9DF/vGUUnKO/vob2G9qCn38K6/yyBvzC13vPAf71gleSZX/AGk5cNaYhAQs6CSxHUgagbdbFT6k1qozSPtew8VmVn75X6IbE9j2UWJSQdujRK0bEWtHGqggW3F47npZ6lneq4PSg6veToSXwNSaa8W3v6/VF34NwuIOKlx8ijD4Z0NxIbEqAuk2sLAab6mtsbC43qptWseNjqtGGGjh080o8rbm/wCf58D3i+MYZMSJYcIswiFvtLCzBWax0d0kKeQJIuTyq6FBtau1z5Ov2jGEvhV7bvoX9GBAI3B3HxrMekmmro9UOigFAKAUAoBQCgFAKAUAoBQEF2ldOmnmGK0tGf5h9BWevpZmnDa3R7XHjqapzl/dmGbOEtYNvXHVR1UWRuNxhNVynctjGxqYfFh+6fhUCVjUzBiki+DC4+Frj6j50sdN/D4sWAPL8j4il7HGi2cO5jrBjY3ZeR8V/wBK20Kl1lZgxNLK8y5JmtBlFAcezrEth8XigYHYNKXVrWC6gddgyMrBlcr6E9Tt5s1lnLTk+0w8YV8NStNJqNmutttmmrNX+nrAcQ53HNHZQVfv6yWWxuioLBQALKgWwAGw251XJqTT98GulhZ04Tu7prTfTd7vfVtmpwwuIII7V1sp0hiT7o7qC/LYbDyr1IfKj4fEO9WXmSkWJZZ45JyW7p8iUYOu3pcmtEW8lj6TsmEqmAlCO+Z/VZWbuC+xpPiXF+zUHsB3tw3dZbNubqxHeqUpTaSZsrLFzo04vd/NtpbVPTx6Et7IYgZMZGwurRxAg9R+1B/OoVXd3PL7ebjUhJb6/wAG5xJmGTYObsZ5mjkABKr2j6QRcX0q1tje3O1YJYOk3ex8rLDwk23yQeYZ9l0if/wYlpZQ26Orju2NyNSLvfSOfWpU+zaVSVrv36GLGRjQp511sYsvlgHemi7Rmub6UO1yLDVv08etejSwfdLLTehhjjqEY/5I3b146258j7m6Qk64lCKVBC2tyYg7XPh41qjFqNmYMZWpzd4Kya29X59C4ezPNtaPh2O6d9P5WPeA9G3/AMdfO4CVoZOnv8n1lOd20XSadUF3ZVHixA/Ot5aVb2mTD7ASCCGdLHx3uPyqE9jB2n/y79CuYXHxz2dSTplR1VxYLI6JHFGNzcagXNui1y9yhVada0lw09eG0kl9dSDz/ACKzCQyBzJ3iuk6o30vcXOxO4PnUZPQ8fG0O7aea97/AFT1OmZvkAxWEjiLaCoQhrXtZbEWuOYJHPwq6Oh9lhKzoNSXQ0uGeA4MKQ7/ALeYbhmFlX+VLkA+ZufC1Scrm/F9qVa/wr4Y9P2yse0KeeXGHDytaABXjjGwfYd59+8Qwaw5DSNr71pw8YvU+W7Rq1Ippbe/5PbZqqQxwRxgBgA5tzJ2YqNyW2943PQWHPQqXxOTex5NTGpU40YR33/Dt4+L16Fx4LxxeAxv+8hYxsPT3f6f4ax4iKU7rZ6ntdlVXKjkl80Hlfpt+vQsFUHpCgFAKAUAoBQCgFAKAUAoBQFUZ66SIvPHOlD/ABf9jVRiPlNGG+YiVnJ61iNpr67k1EkbMM/jQ6R63jkZb3BJdT/CxO3wNx8K6CTt2yEeG4boCP1I2tz3riTONpGth5Li9Dpv4TGGOzqbMp2+PTn/AHeuxbTujkoqSs9mdFwk+tFcbalDW8LjlXpxd1c8iUcraK1i49Uzi5LaiAOZ6kegAHwr4nE0KlTF1EpPNmdl9X10SS8baaHqQsqadtLEDxMjrhpSryxuq6gVkkQixB+6wruDrYqnXjGcpeTv/JZGlTk07Jl8ythJBC7WYtGjXO/NQb19otUmeRO8ZNI5/m2Wzpi5nSGQgy9oGVGIPXmu1tzUyJjmwDMmkwlNwfdI5avEfxW+AoSjOUfldi1cM5DC2Ei7fDRl7G/aRLq95rX1C/K1LtF0cZiI7VJf+T/ZO4HLooQRDEkYO50KFv62G9G29yurWqVXepJt+Luci4s4Ujxmc4vXH2rLBA6oZTEpv3GJZUY7AXG3Mb1wqKy2QYTB5gcNA2JecqF7+jRdwrhbgA302N+XSrqE1GV2ef2nh51qGWCu7p8Ey2OXEKJokVYVAS6XtsTzLdSSa0f7TRp2Upq76s8DE4XETtLurJJLT3ySGLwskxUwYaVYyAE2ZgeZJ1kWsSSb8hVkakct8yZVWw9SpNd3Sklst/z6lrwTQYQFcJGZZiLNK2/ra3MXtstl2G5ryqdGNNaH18IqO25DZqk0h1TFmPnaw9ANgKuR1p7sk8PlxzDAjDCXs2hkU3K6rrZtIIuLDcj/AACq5xuU16Pf08l7EW/s9xqALHNEyhu0A1Mp1DYNbSRew8aryM819m14q0JKyd/UxZnw1mUzDtI1awIBVolUXN2NgRuSbk2ua5KMmU4jB4ytJZktPJLxL1xBxRBglAdtUlu7Gu7Hwv8AhHmfrVx9EipZdx5i2kLvAjQnki7OBci4N+9yN+7bbpXTp742xUWKhjxMJPaQmzqRZgjkC5HWzaRcXHfNW0ZWZixtJThr7uQmU4V8QY48OG7VWZmc+6oOnQb9LaSfEk7XrZOoldvY+Zo4WdRxp0080W7vhbW/B0/IMkTDKQCXkc3kc82O/wAhudvOsNSo5s+owuEjh4u2re76slKrNQoBQCgFAKAUAoBQCgFAKAUBTwa6SIrP27qD+I/Qf61nxD+E0YZfEyLwakgjrWQ2HiTDFSSNxYH5Gx+lq44klI8OPConUYMVD2iAgAvGSy6hcEfeUjrcfUCueBI23xbuqghFTmAq29NyS31rtiCVmeJJP2mwJLW2A3vyNh8L11akmakmOBJQHkd/Ig8vUEV1qxxanReC8yV4ezLDUn5H/W/0rVh53jlfBhxVNqWZcmti4Jo8WZViZ0DXGmxuCtj59TXk1MNVhjHXUW1e+nlY3U50amGVNzSdufMhuNJZZ45tMEykwsoUxtctpa1rDe9xVVdTrYuFXJJbLVdGX4enClSazxe70aJTIsAPs0AmMkcqwxKe8w0kRqCpsbixvX0kVaKPnqsk6kteWfcwwckaSFZZgwRmU9tIw2UkGzMRbarIJOSTKak5Ri2t7MsHDmJaTCwO51M0alj4mwudvOuVYqM2kdw83OlGT3aRI1AuFAUniDhzGfbWxeEeEF4kiYSX+6xPLTbw3v40OkNPlGZduuIbBYKWZBpWQCzAb9TKPE9NrmgJD2YcKyYWB48REACdlbS17G4NgSK44p7o49S/EdK6Co53huzk1A21bE/L9LGpIrejK/jZ9ALI+sD3huOfr+dSSvoccsquncy8H4l/tw7FS8TJ+0I5ICLrq6A3AsOdmNq618Ou5BTvUSjt+CxcVcbwYO6D9tP0iQ8vDW3JB9fAGslWvCmtT18H2dWxL+FWXUq+T8Y4zFFoXaOFpAezeNCSrcwO8xuCoIvsb2rNQxneVMrWh6WP7Ghh8P3kJNtb9LeHvYiWyaWB27Ua9W5kID3IvbdhcX5b2O/lXoHz5u4TB3AFrA/dUHvH0/pQFzyLh7SCZVXQylTGQDcH8XT4UucaTVmUTifjLG4fEyxZThIWw8R0ORHcvKNpCoR1ZgpshIB3Vt6Nt7kYwjH5VYwcNe1HNJcUmHxGDiS4LsSksZCLzbvsevdBtzIrhI7FhJ9aK9iNQvY0BmoBQCgFAKAUAoBQCgFAKAUBRsAjCNFY3YAA+ZrpI+ZjlzPpI30j3fXn+nyqirTctUXUqqjoyRyXIF0Bn1An7uwI9edchR5Z2dd7I0854IWRG0SHVuVDAbnoLgi1+V7Vx4foyUMU09UVHAB/dkB1AlTfnsSLHzrK9zb4kjhMvdj3B+g+JrmRs5nSK/mecvhyY2h0MOWs/I2A3HoamoC/JAYfPpVcyByGPWjh0LoVI2s0ZWzftJDIdix7/wDN4/H87+NLPZnJqK1jsWvhnMuyOq4JP5VG7iyLjm0OgZVm9x5f38q0QqMx1aCJuLEq3X51oU0zJKDRB4nE6JXDawC6ixQ6WVrajqtba9aowvFWPOnWyzad91w7W8/A0MXmSGEjUCQzoBffSVuDbnapqk8xVLFQcN+WiW4KJ+wwXBHc6+RNqqxH/EZowLvh4eRN1SaxQCgFAKAUBEcSYEywtpF2AuAPEdPiLj41KDV9Suom4uxXsv4Uech8QOxTQEMaHvML37x+5fbYb+Yq2U1HRalUacp6y0VrW6/o0PaBjJ8KI8NhAuHgZCS8Ys5N7MoP3eYJb3jq5ivLxmInBpLnk+m7E7Pw9aLlP/S9uPPxvqVPLuHyI+2ZWdTc6Y+87bkFmIvoXUCNRBNwdutecqcpLPLXy3/pH0M8VCEu5p2j4vRLwW2Z24v68Enm6vFGssUSxGAx95LEXcAkMbk6kl7tmOo6vKr5U7JSSta3v0ZnwzhUm6dSTlnzaPfS+2ytKOummnidIwnZYzDpKBbtEB26EjcHxINx8K9WEs0Uz5DEUZUKsqcuHb+/Uz5Tk0cA27z9XPP4eA/vepFBHce5/wDYsHJKv71v2cX873sbdQoBcjqFNAcczDEYaTDJh4sQYOSvI0TlmTvF7lRuWc6jvYknxoSLT7O8nMrdqwYdoFRAxuUw0I0xgnxb3iepcUOHWwLUOH2gFAKAUAoBQCgFAKAUAoBQEFhcKq7nvH6V06bYehw+Ge1AYMzzRYIXmc91Re3ieijzJ2+NclLKrkoRcpWRSeGYZJy88xJ1sWt0F/DyHL4Vh+aVz02lCKiTGYzPEhKqSB4eHoKO6OwjGT1KFxZncckP7Qavw+I8xblUY5myc0o7nPmxB6Xt5itGUzZ+hkweJBYee1RlEsp1CyZZK0TqXuFv3SevkbVW1cmnY6LFmPaKrRe9969wLeO43N/75VzV7EW0tzcwmYshJlmhUfxSKB9TU1GZXKdOxIRcZ4RNnx2E9BMh/Jia0QUluY5uL2RixPH+X/exMLeis/5A1am0UuKe6NSb2p4AcpyfSGT9VrhKxqv7WMMCNPbSeXZqPqzC1BYv2W41Z4o5UvpkVXF+dmF7HzocNmgFAKAUAoBQEFxll3bYZja7R98fD3h/9b/ECsuMpd5Sdt1qej2ZiO6rrXR6fr7nLMJmqRhxKHLpq7EobEdqumTvH3RpAIIBtc7b1gouKjf6eu59fWw0ptODVnbNfX5Xdac67rS9lqbeTcP4nMWuxEMGotc33J5soJ1SOesjk8zueVaIUpVNePf18zJisfh8Cssfina3l4O2kV0ikvLk6nlmAhwWHEakrGgJJY3O5JYk+JJ6fAVtWWlDXZHyWIr1MTVdSe7KlmuezylpInMUKbDe1/4jtufL9a8idbEYi9Sk8sFy9L+Oz9+Ny2nThFqMtWzVybEz4hxFPeeOTZ4nsQF2u3kRzB8bdTVWFxdeVaMU83Xy6+n9cnpYjBUYUHKWj48+nqSWO9nGXBSx1wqOZ7U2Hxl1CvoDwbli4fyZMMlkkaQG1mfSTpHIXUAEUOErQCgFAKAUAoBQCgFAKAUAoBQEOi25106fS9dBjvc1wFC9oeZ65Y8MvuqQ7+p90fAXP+IVmry4NuFh/qZOZNmqhFQDYDYCqIy4NFSld3N/E3YbLc+ZtU3qQjofn7MMdiWeRZGEZDkMhjFwRzHuHl6/OtCpw4RkdWpfVmg8bn3pNv5f62qSikQdST3ZgSQf8Yj0AH5Gu2QuyXhyXGOmtYsc6WuCA9iPEbXI9KjniiWSTNPEYIBQ0iyWPIuT+q1K5XY9w5dtqXDSlfxCOS3zG1Rzx6lipT6GysCi20Y8rqTv4gkkVK6IZW+Cx5DwjNigXhjQqDYkBdj8QKJpnJJx3RYoPZjijz0r8E/RqkQuycy/2YGw7SZgL72PTwsOvneguzo+GgWNFRRZVAUDwAFhXAZaAUAoBQCgFAKAqg9n+E7UyMHcWsELd0c99gCbDYXJ5VmhhKcHp9D1p9tYqVLu00vFb+/KxF4jJ8Xlx14XVicKNzAx/aRj/lOeYt907cgNPOtas9zyTznmaTTqLRydla6jTcsSNmbTcbdBy6+nzGM7SjUqOCdkrrXR36u/Tp/O3oUKKWtyIwqTTMqNdjfupYCx8TYdPPlvUJVq1e1JO/0/g9ejQo4eLqvQuUckOAj07POwuwBsT4XJ91B8zvsa97CYSNCFuXu/fB4WMxcsRO/C2RTs6xsuJcGRiR91F2UegO7Hz5/lWyxibNfLcXLH+4kkjsSCDbT5907E325eNaadDNvsefiMaoaR3Or5fKzxIzAqxUEgi1jbfas00lJpG+lJygpSVnY2KiWCgFAKAUAoBQCgFAKAUAoCmJmr/eF66SsbAzRT5UOWM0mIFrgigOOS4gzTPLe+pyw9CTb6bVhk7tnqwWVJEph8cQ3Mj9aqsWZiYhz8gWNdTZFpFJ4wxepy6gK3Ujr6g7GrabaKqkVJamlw1l5xDa5wGRT3V0gBjtckKBcVOrUa0RChRTd2dDx2AieBlbDpYDUCVAsRuLfGqE3wbMtPkmMDPKwFth4mizcCbpLfc5umWdpmM8ti6LK+m++4O/wDXt6VZOfwpFFOCzuTOmYGd2WwWwt15VCN2XTUE7tlebgovM7hNmYty8T4V20tkVKpTWrOg8I5B9lV+QL6dv5b/wBa0Uqbje5ixNZVGrcFgq4zCgFAKAUAoBQCgFAKAUAoCIzrKGlQ9jKYJOYYKrAnzVgR8qw1uzMLWm51IXb5u1+GiyNWcVZMq+XZycHNox8awyvZRiBfsZPDc37Fieh7pNt72FW4fA0cOv8AEvq2/wAkqmIqVIqEnotiZzrKoZNUpsptdiNjy59Q3StOZJXZR3bk7IqWJyg6lGtZUfvK1gL+rXOwuPnWqjOko529jz8VTxLmqUI767fzx5l14f4fjiAckO/Qj3V/lH6n6VCpiXU0jsWYfAKi7z1l+PL9k9VBtFAKAUB8JtzoDwJ1va4qOddSWSXQyVIiKAUAoBQHxmsLmgIvERuzEiWw8Nq6dOO4TjHEbBoY2JIGxYc/Leh25YosykO5jW3hc/naljtjcixwP/xOPiKWFiGw3BWl9UEkgQ/cePVbyBUj61TKimXrENbmzmHBk6qZEVmA3ItZvMhQSSPr5VVKk1sWwxEXo9Cu6CB58qqLzRx2BDsoI25n0Fv1Irqdg9SfyPD6V2HLp+dQe53gzZxaSWK4JILEHytY+m5H1rt7kY6Flw7AKBfp8amtitrU+5Tw+SzMljdix8ixJ512NNtnJ1klYuOX4ARjfdvy9K0xhYxTnmN2pkBQCgFAKAUAoBQCgFAKAUAoBQCgMGNwccyFJEDodiCL0BzzMYZcqlVcOxmwzC4w7kgrvYiCQ7A/8s7HYADc1xyjezJqEnHMuDaw/YYxTJhHCuv7yJhpIPg6c0JP3hdTz3FU1KHQ0UcXKOj2MmAzUQN2byGOT8Dkb+Gk8mHpVKvA0StV1LVh8c3NuX9+FXRqPkyypLg3opg3KrlJMolFx3E8yopZjYCjaSuzkYuTsiv4zipAO7sPE8/lWaVfoa4YXqR7ZpLIRq7ifxHvH0X7vqbVS5uW5oVOMdjLHnMQOnVv5An60UzjgTWDzMX0vy6H+v8AWtFOrwzNUo8xJWtBlFAKAUBXM8xhldsPFKEdACy23a4uBz5f1rp1FRlzCWMlHDXHheh0tc3AuELq6o0ZU3srbHyIa9h6WpciT0eCjUWWNB6KK4DMqAcgBQHqgFAQ2b8NQT3Yrpc82Xa/qOR9efnVcqakWwrSiU/F8HPE5Y99baQVB5b8xzH5edZ5UpI1xrxkvEw4fChedV2Jt3NqPBGUqUUkr5ePOpKLexFyS3LTlOTgd6RdzyB/M1ohT5ZlqVXsiajjCiygAeAFXJWKW29z1Q4KAUAoBQCgFAKAUAoBQCgFAKAUAoBQEXxDlK4iIqRci9geRv0qupDMi2jUcJXOT5plc0Eof9orqbLIm0qX8ekiHwbnYXJA01TGrKGkjVKhCqrxdn9mS+B4ognCJmCx91joxK7Rhv4usD+N+7yJ03ArRaM1dGT46crPcnZUmw4Jvrh5q6jdQfxKNiv8S7b8hzrNKm4muFWM99zPLnHYRrI5UA2t3h1Gx26H9a5mcdSThGehS894zkmk7NLuWNkVRcn0A/vaovNN6lkYRghl+BeEkz2EwPuag2i4B3IJBex5jYch4mMo2diSndaG00zyd2PdiQCegvfdj0Gx9bbVEJdSXhgRLb3P5/0ojhtzY2TbuHT63qV2csi34OW8SN4qp+YFb46pHmT0kzIs1SInmUMQbMPKuAr+ZY+ZSBMpQC9nF9DAjkWHuHwJrp0rOausbJ2zMA28WJG7KR9yS3vDzHT4iugncPjInUF2R25Fl5H5iuAuNcOCgFAKAUAoBQGOWBW95Vb1AP51xpM6m1sekQAWAAHgBaunG7nqgFAKAUAoBQCgFAKAUAoBQCgFAKAUAoBQCgFAVvjWwSMnnqI+Gkk/kKor7I0Ye92cy/2eG7RkcK2onyYcrMOvLY/kbGs6bi7o3NxayzV0MizyfB6RHZojuIGbuEeOHf7h/gNxyABJLVqhVUtHozFVwzgs0dV90TkmBwuZqz4eRo5V9/DtZSD4MpuUuRbUh0n50nR5Qp4lrR7HPMwzSXBu0QjOGcc77MfDvffU22IJBttVHdy5N8a0OFc1cLxC8kwEk3vsqlri4Gw69bUyWRyU1J6I6CuKWMBI1bSe7ZLF2P4hf3m23v08LC1XBzdmXD6kGqRg0ngPdUfq30HIX5nh19DZh4pUdyzDzqV2cyovuVYoNDGRyKL+Vb4fKjzKnzM3FqRAarUB6E3jQELiMHHOhGhLXHNQVPw/Wh0014dC7CCAjyW30oNC3Vw4KAUAoBQCgFAKAUAoBQCgFAKAUAoBQCgFAKAUAoBQCgFAKAUAoBQFb46/cp/P/wBrVRX2Rpw3zM5tiPd+B/Ws5s5NTiP/AHGb+U/5K6t0cMXD3/u2E/6X/wCSV6X+g8n/AFHTeIuS+h/zLWeoaKfJk4T/AHKfyfpU1sVy3Zzvhr3j/wBI/wCZawSPVRuS+61RiJEHPzqYOrcM/wC6Qf8ATWt0PlR5lT535k5hPdHpUisxS866geh7p9D+VcB5w/ufCgMuE9xfSug//9k="/>
          <p:cNvSpPr>
            <a:spLocks noChangeAspect="1" noChangeArrowheads="1"/>
          </p:cNvSpPr>
          <p:nvPr/>
        </p:nvSpPr>
        <p:spPr bwMode="auto">
          <a:xfrm>
            <a:off x="633413" y="2746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/>
          </a:p>
        </p:txBody>
      </p:sp>
      <p:sp>
        <p:nvSpPr>
          <p:cNvPr id="4107" name="TextBox 1"/>
          <p:cNvSpPr txBox="1">
            <a:spLocks noChangeArrowheads="1"/>
          </p:cNvSpPr>
          <p:nvPr/>
        </p:nvSpPr>
        <p:spPr bwMode="auto">
          <a:xfrm>
            <a:off x="1482725" y="2474913"/>
            <a:ext cx="6003925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sv-SE" altLang="en-US" sz="2800" dirty="0">
                <a:solidFill>
                  <a:srgbClr val="0070C0"/>
                </a:solidFill>
              </a:rPr>
              <a:t>Central Tendency</a:t>
            </a:r>
            <a:r>
              <a:rPr lang="sv-SE" altLang="en-US" sz="2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</a:p>
          <a:p>
            <a:pPr algn="ctr" eaLnBrk="1" hangingPunct="1">
              <a:defRPr/>
            </a:pPr>
            <a:r>
              <a:rPr lang="sv-SE" altLang="en-US" sz="2800" dirty="0">
                <a:solidFill>
                  <a:srgbClr val="0070C0"/>
                </a:solidFill>
              </a:rPr>
              <a:t>Lecture No. 2a</a:t>
            </a:r>
          </a:p>
          <a:p>
            <a:pPr algn="ctr" eaLnBrk="1" hangingPunct="1">
              <a:defRPr/>
            </a:pPr>
            <a:endParaRPr lang="sv-SE" altLang="en-US" sz="1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D08F0-C508-425C-A091-672AB75B7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the Central Tendency</a:t>
            </a:r>
            <a:endParaRPr lang="aa-E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076F12-9BFB-4683-AC13-239375C72C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Mean (Arithmetic Mean)</a:t>
                </a:r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r>
                  <a:rPr lang="en-US" dirty="0"/>
                  <a:t>Sometimes each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may be associate with a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076F12-9BFB-4683-AC13-239375C72C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88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2DCDA-2392-493E-B9F2-AE8EE4172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6A250A-F962-4F8C-A251-DF2A4F0BE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406" y="2125642"/>
            <a:ext cx="2621756" cy="8501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831A20-5236-48A5-AE54-99D925EBA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9260" y="4303360"/>
            <a:ext cx="3250406" cy="12858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0D1704-10F0-4168-9382-2DE7A3F4A5E3}"/>
              </a:ext>
            </a:extLst>
          </p:cNvPr>
          <p:cNvSpPr txBox="1"/>
          <p:nvPr/>
        </p:nvSpPr>
        <p:spPr>
          <a:xfrm>
            <a:off x="5335153" y="4680840"/>
            <a:ext cx="2963027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B050"/>
                </a:solidFill>
              </a:rPr>
              <a:t>Weighted Arithmetic Mean (or Weighted Average)</a:t>
            </a:r>
            <a:endParaRPr lang="aa-ET" sz="1500" b="1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3E41C7-734B-4B21-A463-605C2B434A1E}"/>
              </a:ext>
            </a:extLst>
          </p:cNvPr>
          <p:cNvSpPr txBox="1"/>
          <p:nvPr/>
        </p:nvSpPr>
        <p:spPr>
          <a:xfrm>
            <a:off x="4594861" y="1890184"/>
            <a:ext cx="2963027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100" b="1" dirty="0">
                <a:solidFill>
                  <a:srgbClr val="FF0000"/>
                </a:solidFill>
              </a:rPr>
              <a:t>Mean is sensitive to extreme values!</a:t>
            </a:r>
            <a:endParaRPr lang="aa-ET" sz="2100" b="1" dirty="0">
              <a:solidFill>
                <a:srgbClr val="FF0000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4A7074F-3578-4A24-B204-4CDE8C3377C4}"/>
              </a:ext>
            </a:extLst>
          </p:cNvPr>
          <p:cNvGrpSpPr/>
          <p:nvPr/>
        </p:nvGrpSpPr>
        <p:grpSpPr>
          <a:xfrm>
            <a:off x="1347211" y="2935685"/>
            <a:ext cx="5732045" cy="495803"/>
            <a:chOff x="1796281" y="2771246"/>
            <a:chExt cx="7642726" cy="661071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342DF08-6EDB-49BE-963B-11549D628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96281" y="2870342"/>
              <a:ext cx="6305550" cy="56197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9D91E32-9D06-47B4-A68D-D500565B3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62657" y="2771246"/>
              <a:ext cx="1276350" cy="62865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93EC113-C82E-4396-AF71-238B34B55D24}"/>
                  </a:ext>
                </a:extLst>
              </p:cNvPr>
              <p:cNvSpPr txBox="1"/>
              <p:nvPr/>
            </p:nvSpPr>
            <p:spPr>
              <a:xfrm>
                <a:off x="299604" y="2979940"/>
                <a:ext cx="1024797" cy="41549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00B050"/>
                    </a:solidFill>
                  </a:rPr>
                  <a:t>Sometimes called </a:t>
                </a:r>
                <a14:m>
                  <m:oMath xmlns:m="http://schemas.openxmlformats.org/officeDocument/2006/math">
                    <m:r>
                      <a:rPr lang="en-US" sz="105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endParaRPr lang="aa-ET" sz="105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93EC113-C82E-4396-AF71-238B34B55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04" y="2979940"/>
                <a:ext cx="1024797" cy="415498"/>
              </a:xfrm>
              <a:prstGeom prst="rect">
                <a:avLst/>
              </a:prstGeom>
              <a:blipFill>
                <a:blip r:embed="rId7"/>
                <a:stretch>
                  <a:fillRect b="-588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394705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32364-01A0-4649-A520-A3E856B8E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the Central Tendency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0B716-6331-4759-83EF-E88A459B4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Median</a:t>
            </a:r>
          </a:p>
          <a:p>
            <a:pPr lvl="1"/>
            <a:r>
              <a:rPr lang="en-US" dirty="0">
                <a:solidFill>
                  <a:srgbClr val="FF00FF"/>
                </a:solidFill>
              </a:rPr>
              <a:t>The middlemost value </a:t>
            </a:r>
            <a:r>
              <a:rPr lang="en-US" dirty="0"/>
              <a:t>of the data (</a:t>
            </a:r>
            <a:r>
              <a:rPr lang="en-US" dirty="0">
                <a:solidFill>
                  <a:srgbClr val="FF00FF"/>
                </a:solidFill>
              </a:rPr>
              <a:t>if number of data points are odd</a:t>
            </a:r>
            <a:r>
              <a:rPr lang="en-US" dirty="0"/>
              <a:t>)</a:t>
            </a:r>
          </a:p>
          <a:p>
            <a:pPr lvl="1"/>
            <a:r>
              <a:rPr lang="en-US" dirty="0">
                <a:solidFill>
                  <a:srgbClr val="FF00FF"/>
                </a:solidFill>
              </a:rPr>
              <a:t>Average of two middlemost </a:t>
            </a:r>
            <a:r>
              <a:rPr lang="en-US" dirty="0"/>
              <a:t>values of the data (</a:t>
            </a:r>
            <a:r>
              <a:rPr lang="en-US" dirty="0">
                <a:solidFill>
                  <a:srgbClr val="FF00FF"/>
                </a:solidFill>
              </a:rPr>
              <a:t>if number of data points are even</a:t>
            </a:r>
            <a:r>
              <a:rPr lang="en-US" dirty="0"/>
              <a:t>)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DDC55-2F2F-457A-B759-13CD881D7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A8EDFC-CAC4-4095-A29D-E37D20834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967" y="2822345"/>
            <a:ext cx="4818989" cy="2848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9109A2-7032-4C6A-B2D9-67D0E09FC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093" y="3429000"/>
            <a:ext cx="2385815" cy="499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73747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Number Placeholder 6">
            <a:extLst>
              <a:ext uri="{FF2B5EF4-FFF2-40B4-BE49-F238E27FC236}">
                <a16:creationId xmlns:a16="http://schemas.microsoft.com/office/drawing/2014/main" id="{8FE38936-8DEB-2F0F-C474-0F2A350F94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015DDF1-958A-2844-A8CA-9139EE1B4EBF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1A0594E6-8D30-201D-CA3A-23F22DC571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Measuring the Central Tendency</a:t>
            </a:r>
            <a:endParaRPr lang="en-US" altLang="en-US" sz="4000">
              <a:solidFill>
                <a:srgbClr val="170981"/>
              </a:solidFill>
            </a:endParaRP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3CB5E237-A2BC-BF49-25BC-23F814C9296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143000"/>
            <a:ext cx="6477000" cy="502920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SzPct val="80000"/>
            </a:pPr>
            <a:r>
              <a:rPr lang="en-US" altLang="en-US" sz="1800" b="1" u="sng" dirty="0"/>
              <a:t>Median</a:t>
            </a:r>
            <a:r>
              <a:rPr lang="en-US" altLang="en-US" sz="1800" b="1" dirty="0"/>
              <a:t>: 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sz="1800" dirty="0"/>
              <a:t>Good for skewed (asymmetric) data 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sz="1800" dirty="0"/>
              <a:t>Middle value if odd number of values, or average of the middle two values otherwise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sz="1800" dirty="0"/>
              <a:t>Concept can be extended to ordinal data (odd – middle value even – median not unique)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sz="1800" dirty="0"/>
              <a:t>Expensive when data is huge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sz="1800" dirty="0"/>
              <a:t>Estimated by interpolation (for </a:t>
            </a:r>
            <a:r>
              <a:rPr lang="en-US" altLang="en-US" sz="1800" i="1" dirty="0">
                <a:solidFill>
                  <a:schemeClr val="tx2"/>
                </a:solidFill>
              </a:rPr>
              <a:t>grouped data</a:t>
            </a:r>
            <a:r>
              <a:rPr lang="en-US" altLang="en-US" sz="1800" dirty="0"/>
              <a:t>):    </a:t>
            </a:r>
          </a:p>
          <a:p>
            <a:pPr eaLnBrk="1" hangingPunct="1">
              <a:lnSpc>
                <a:spcPct val="130000"/>
              </a:lnSpc>
              <a:buSzPct val="80000"/>
            </a:pPr>
            <a:endParaRPr lang="en-US" altLang="en-US" sz="1800" u="sng" dirty="0"/>
          </a:p>
          <a:p>
            <a:pPr eaLnBrk="1" hangingPunct="1">
              <a:lnSpc>
                <a:spcPct val="130000"/>
              </a:lnSpc>
              <a:buSzPct val="80000"/>
            </a:pPr>
            <a:endParaRPr lang="en-US" altLang="en-US" sz="1800" dirty="0"/>
          </a:p>
        </p:txBody>
      </p:sp>
      <p:graphicFrame>
        <p:nvGraphicFramePr>
          <p:cNvPr id="44036" name="Object 6">
            <a:extLst>
              <a:ext uri="{FF2B5EF4-FFF2-40B4-BE49-F238E27FC236}">
                <a16:creationId xmlns:a16="http://schemas.microsoft.com/office/drawing/2014/main" id="{245E01FB-16A2-5197-CA39-49837C3432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4419600"/>
          <a:ext cx="4648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5003700" imgH="10820400" progId="Equation.3">
                  <p:embed/>
                </p:oleObj>
              </mc:Choice>
              <mc:Fallback>
                <p:oleObj name="Equation" r:id="rId3" imgW="55003700" imgH="10820400" progId="Equation.3">
                  <p:embed/>
                  <p:pic>
                    <p:nvPicPr>
                      <p:cNvPr id="44036" name="Object 6">
                        <a:extLst>
                          <a:ext uri="{FF2B5EF4-FFF2-40B4-BE49-F238E27FC236}">
                            <a16:creationId xmlns:a16="http://schemas.microsoft.com/office/drawing/2014/main" id="{245E01FB-16A2-5197-CA39-49837C3432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419600"/>
                        <a:ext cx="4648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7" name="Object 7">
            <a:extLst>
              <a:ext uri="{FF2B5EF4-FFF2-40B4-BE49-F238E27FC236}">
                <a16:creationId xmlns:a16="http://schemas.microsoft.com/office/drawing/2014/main" id="{E20D64E8-321B-E45E-A208-BBF62104D3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43138" y="8394700"/>
          <a:ext cx="4449762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0609500" imgH="4686300" progId="Equation.3">
                  <p:embed/>
                </p:oleObj>
              </mc:Choice>
              <mc:Fallback>
                <p:oleObj name="Equation" r:id="rId5" imgW="50609500" imgH="4686300" progId="Equation.3">
                  <p:embed/>
                  <p:pic>
                    <p:nvPicPr>
                      <p:cNvPr id="44037" name="Object 7">
                        <a:extLst>
                          <a:ext uri="{FF2B5EF4-FFF2-40B4-BE49-F238E27FC236}">
                            <a16:creationId xmlns:a16="http://schemas.microsoft.com/office/drawing/2014/main" id="{E20D64E8-321B-E45E-A208-BBF62104D3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3138" y="8394700"/>
                        <a:ext cx="4449762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4038" name="Picture 12">
            <a:extLst>
              <a:ext uri="{FF2B5EF4-FFF2-40B4-BE49-F238E27FC236}">
                <a16:creationId xmlns:a16="http://schemas.microsoft.com/office/drawing/2014/main" id="{5FC0952F-23AF-288E-DF8D-E2B537930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475" y="1279525"/>
            <a:ext cx="2316163" cy="207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4039" name="Straight Arrow Connector 4">
            <a:extLst>
              <a:ext uri="{FF2B5EF4-FFF2-40B4-BE49-F238E27FC236}">
                <a16:creationId xmlns:a16="http://schemas.microsoft.com/office/drawing/2014/main" id="{824101B6-DC5F-40B4-5E2D-454060B8B02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057400" y="5105400"/>
            <a:ext cx="685800" cy="4730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44040" name="Straight Arrow Connector 6">
            <a:extLst>
              <a:ext uri="{FF2B5EF4-FFF2-40B4-BE49-F238E27FC236}">
                <a16:creationId xmlns:a16="http://schemas.microsoft.com/office/drawing/2014/main" id="{A274804E-A88B-BBF8-2EAD-1864FCC11D6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467100" y="4114800"/>
            <a:ext cx="2552700" cy="4191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44041" name="Straight Arrow Connector 8">
            <a:extLst>
              <a:ext uri="{FF2B5EF4-FFF2-40B4-BE49-F238E27FC236}">
                <a16:creationId xmlns:a16="http://schemas.microsoft.com/office/drawing/2014/main" id="{7F147431-6C55-6B40-F0FE-B72D37A8355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105400" y="4373563"/>
            <a:ext cx="1752600" cy="1603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44042" name="Straight Arrow Connector 10">
            <a:extLst>
              <a:ext uri="{FF2B5EF4-FFF2-40B4-BE49-F238E27FC236}">
                <a16:creationId xmlns:a16="http://schemas.microsoft.com/office/drawing/2014/main" id="{C5A1B9AB-D92D-317D-0A57-12EF0877569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743450" y="5341938"/>
            <a:ext cx="361950" cy="4651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44043" name="Straight Arrow Connector 12">
            <a:extLst>
              <a:ext uri="{FF2B5EF4-FFF2-40B4-BE49-F238E27FC236}">
                <a16:creationId xmlns:a16="http://schemas.microsoft.com/office/drawing/2014/main" id="{9DC40B97-9B30-40C4-A6F0-A8F2DA97EFF7}"/>
              </a:ext>
            </a:extLst>
          </p:cNvPr>
          <p:cNvCxnSpPr>
            <a:cxnSpLocks/>
          </p:cNvCxnSpPr>
          <p:nvPr/>
        </p:nvCxnSpPr>
        <p:spPr bwMode="auto">
          <a:xfrm>
            <a:off x="6019800" y="5105400"/>
            <a:ext cx="1066800" cy="2952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44044" name="TextBox 13">
            <a:extLst>
              <a:ext uri="{FF2B5EF4-FFF2-40B4-BE49-F238E27FC236}">
                <a16:creationId xmlns:a16="http://schemas.microsoft.com/office/drawing/2014/main" id="{9BB6E5D5-1531-A5B8-E586-95989360BB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4013" y="5638800"/>
            <a:ext cx="15763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aa-ET" sz="1400"/>
              <a:t>Lower boundary of median range </a:t>
            </a:r>
          </a:p>
        </p:txBody>
      </p:sp>
      <p:sp>
        <p:nvSpPr>
          <p:cNvPr id="44045" name="TextBox 23">
            <a:extLst>
              <a:ext uri="{FF2B5EF4-FFF2-40B4-BE49-F238E27FC236}">
                <a16:creationId xmlns:a16="http://schemas.microsoft.com/office/drawing/2014/main" id="{B5BB5B58-797D-9BFC-9DE6-CA0A879F5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1075" y="3743325"/>
            <a:ext cx="1576388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aa-ET" sz="1400"/>
              <a:t>No. of values </a:t>
            </a:r>
          </a:p>
        </p:txBody>
      </p:sp>
      <p:sp>
        <p:nvSpPr>
          <p:cNvPr id="44046" name="TextBox 24">
            <a:extLst>
              <a:ext uri="{FF2B5EF4-FFF2-40B4-BE49-F238E27FC236}">
                <a16:creationId xmlns:a16="http://schemas.microsoft.com/office/drawing/2014/main" id="{4CF3DE1F-DA7E-2EC7-0729-909C5E7930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7213" y="3935413"/>
            <a:ext cx="216058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aa-ET" sz="1400"/>
              <a:t>Sum of frequencies of all the intervals that are lower than medial interval </a:t>
            </a:r>
          </a:p>
        </p:txBody>
      </p:sp>
      <p:sp>
        <p:nvSpPr>
          <p:cNvPr id="44047" name="TextBox 25">
            <a:extLst>
              <a:ext uri="{FF2B5EF4-FFF2-40B4-BE49-F238E27FC236}">
                <a16:creationId xmlns:a16="http://schemas.microsoft.com/office/drawing/2014/main" id="{783A1712-9EDB-8813-1A5D-12E7D7C25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9788" y="5160963"/>
            <a:ext cx="15763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aa-ET" sz="1400"/>
              <a:t>Width of median range</a:t>
            </a:r>
          </a:p>
        </p:txBody>
      </p:sp>
      <p:sp>
        <p:nvSpPr>
          <p:cNvPr id="44048" name="TextBox 26">
            <a:extLst>
              <a:ext uri="{FF2B5EF4-FFF2-40B4-BE49-F238E27FC236}">
                <a16:creationId xmlns:a16="http://schemas.microsoft.com/office/drawing/2014/main" id="{84F0F00C-C586-83CD-F4C0-FD024EA46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8188" y="5873750"/>
            <a:ext cx="15763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aa-ET" sz="1400"/>
              <a:t>Frequency of median interval</a:t>
            </a:r>
          </a:p>
        </p:txBody>
      </p:sp>
    </p:spTree>
    <p:extLst>
      <p:ext uri="{BB962C8B-B14F-4D97-AF65-F5344CB8AC3E}">
        <p14:creationId xmlns:p14="http://schemas.microsoft.com/office/powerpoint/2010/main" val="3268935431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>
            <a:extLst>
              <a:ext uri="{FF2B5EF4-FFF2-40B4-BE49-F238E27FC236}">
                <a16:creationId xmlns:a16="http://schemas.microsoft.com/office/drawing/2014/main" id="{6108FCF3-6D77-3667-7E42-B1DCB9D0A4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a-ET"/>
              <a:t>Median Estimation</a:t>
            </a:r>
          </a:p>
        </p:txBody>
      </p:sp>
      <p:sp>
        <p:nvSpPr>
          <p:cNvPr id="46082" name="Slide Number Placeholder 3">
            <a:extLst>
              <a:ext uri="{FF2B5EF4-FFF2-40B4-BE49-F238E27FC236}">
                <a16:creationId xmlns:a16="http://schemas.microsoft.com/office/drawing/2014/main" id="{905A8304-C2CA-B4AC-2AD9-F97256A9FCA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A3503F0-637E-6442-A2CD-3651E1DC5B0C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graphicFrame>
        <p:nvGraphicFramePr>
          <p:cNvPr id="46083" name="Object 6">
            <a:extLst>
              <a:ext uri="{FF2B5EF4-FFF2-40B4-BE49-F238E27FC236}">
                <a16:creationId xmlns:a16="http://schemas.microsoft.com/office/drawing/2014/main" id="{CFB94395-58A5-2DD5-2234-FB831E3F64BA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381000" y="1371600"/>
          <a:ext cx="388620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003700" imgH="10820400" progId="Equation.3">
                  <p:embed/>
                </p:oleObj>
              </mc:Choice>
              <mc:Fallback>
                <p:oleObj name="Equation" r:id="rId2" imgW="55003700" imgH="10820400" progId="Equation.3">
                  <p:embed/>
                  <p:pic>
                    <p:nvPicPr>
                      <p:cNvPr id="46083" name="Object 6">
                        <a:extLst>
                          <a:ext uri="{FF2B5EF4-FFF2-40B4-BE49-F238E27FC236}">
                            <a16:creationId xmlns:a16="http://schemas.microsoft.com/office/drawing/2014/main" id="{CFB94395-58A5-2DD5-2234-FB831E3F64BA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371600"/>
                        <a:ext cx="3886200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9281FB4-61AF-66F9-BF9A-4D0A4637A120}"/>
              </a:ext>
            </a:extLst>
          </p:cNvPr>
          <p:cNvGraphicFramePr>
            <a:graphicFrameLocks noGrp="1"/>
          </p:cNvGraphicFramePr>
          <p:nvPr/>
        </p:nvGraphicFramePr>
        <p:xfrm>
          <a:off x="182563" y="2400300"/>
          <a:ext cx="3886200" cy="27051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896">
                <a:tc>
                  <a:txBody>
                    <a:bodyPr/>
                    <a:lstStyle/>
                    <a:p>
                      <a:r>
                        <a:rPr lang="en-US" sz="180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Freq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Cum Freq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201">
                <a:tc>
                  <a:txBody>
                    <a:bodyPr/>
                    <a:lstStyle/>
                    <a:p>
                      <a:r>
                        <a:rPr lang="en-US" sz="1800" dirty="0"/>
                        <a:t>1-5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201">
                <a:tc>
                  <a:txBody>
                    <a:bodyPr/>
                    <a:lstStyle/>
                    <a:p>
                      <a:r>
                        <a:rPr lang="en-US" sz="1800" dirty="0"/>
                        <a:t>6-15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201">
                <a:tc>
                  <a:txBody>
                    <a:bodyPr/>
                    <a:lstStyle/>
                    <a:p>
                      <a:r>
                        <a:rPr lang="en-US" sz="1800" dirty="0"/>
                        <a:t>16-20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201">
                <a:tc>
                  <a:txBody>
                    <a:bodyPr/>
                    <a:lstStyle/>
                    <a:p>
                      <a:r>
                        <a:rPr lang="en-US" sz="1800" dirty="0"/>
                        <a:t>21-50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2450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201">
                <a:tc>
                  <a:txBody>
                    <a:bodyPr/>
                    <a:lstStyle/>
                    <a:p>
                      <a:r>
                        <a:rPr lang="en-US" sz="1800" dirty="0"/>
                        <a:t>51-80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201">
                <a:tc>
                  <a:txBody>
                    <a:bodyPr/>
                    <a:lstStyle/>
                    <a:p>
                      <a:r>
                        <a:rPr lang="en-US" sz="1800" dirty="0"/>
                        <a:t>81-110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3194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1134487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32364-01A0-4649-A520-A3E856B8E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the Central Tendency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0B716-6331-4759-83EF-E88A459B4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Mode</a:t>
            </a:r>
          </a:p>
          <a:p>
            <a:pPr lvl="1"/>
            <a:r>
              <a:rPr lang="en-US" dirty="0">
                <a:solidFill>
                  <a:srgbClr val="FF00FF"/>
                </a:solidFill>
              </a:rPr>
              <a:t>The most frequently occurring value </a:t>
            </a:r>
            <a:r>
              <a:rPr lang="en-US" dirty="0"/>
              <a:t>of the data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Datasets with one, two, or three modes are called </a:t>
            </a:r>
            <a:r>
              <a:rPr lang="en-US" b="1" dirty="0">
                <a:solidFill>
                  <a:srgbClr val="FF00FF"/>
                </a:solidFill>
              </a:rPr>
              <a:t>unimodal</a:t>
            </a:r>
            <a:r>
              <a:rPr lang="en-US" b="1" dirty="0"/>
              <a:t>, </a:t>
            </a:r>
            <a:r>
              <a:rPr lang="en-US" b="1" dirty="0">
                <a:solidFill>
                  <a:srgbClr val="FF00FF"/>
                </a:solidFill>
              </a:rPr>
              <a:t>bimodal</a:t>
            </a:r>
            <a:r>
              <a:rPr lang="en-US" b="1" dirty="0"/>
              <a:t>, </a:t>
            </a:r>
            <a:r>
              <a:rPr lang="en-US" dirty="0"/>
              <a:t>or</a:t>
            </a:r>
            <a:r>
              <a:rPr lang="en-US" b="1" dirty="0"/>
              <a:t> </a:t>
            </a:r>
            <a:r>
              <a:rPr lang="en-US" b="1" dirty="0">
                <a:solidFill>
                  <a:srgbClr val="FF00FF"/>
                </a:solidFill>
              </a:rPr>
              <a:t>trimodal</a:t>
            </a:r>
            <a:r>
              <a:rPr lang="en-US" dirty="0"/>
              <a:t> respectively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DDC55-2F2F-457A-B759-13CD881D7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A8EDFC-CAC4-4095-A29D-E37D20834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967" y="2822345"/>
            <a:ext cx="4818989" cy="28481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CF5F143-4039-4A52-9055-EB66B336DA53}"/>
              </a:ext>
            </a:extLst>
          </p:cNvPr>
          <p:cNvGrpSpPr/>
          <p:nvPr/>
        </p:nvGrpSpPr>
        <p:grpSpPr>
          <a:xfrm>
            <a:off x="3592723" y="2822344"/>
            <a:ext cx="2784014" cy="284811"/>
            <a:chOff x="4790297" y="2620125"/>
            <a:chExt cx="3712019" cy="37974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AE138A5-C63C-42D2-9A87-DEC09C5FB369}"/>
                </a:ext>
              </a:extLst>
            </p:cNvPr>
            <p:cNvSpPr/>
            <p:nvPr/>
          </p:nvSpPr>
          <p:spPr>
            <a:xfrm>
              <a:off x="7459579" y="2620126"/>
              <a:ext cx="1042737" cy="379747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a-ET" sz="135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95DB673-5DB8-4743-9105-75BBC1ABC30F}"/>
                </a:ext>
              </a:extLst>
            </p:cNvPr>
            <p:cNvSpPr/>
            <p:nvPr/>
          </p:nvSpPr>
          <p:spPr>
            <a:xfrm>
              <a:off x="4790297" y="2620125"/>
              <a:ext cx="1042737" cy="379747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a-ET" sz="1350"/>
            </a:p>
          </p:txBody>
        </p:sp>
      </p:grpSp>
    </p:spTree>
    <p:extLst>
      <p:ext uri="{BB962C8B-B14F-4D97-AF65-F5344CB8AC3E}">
        <p14:creationId xmlns:p14="http://schemas.microsoft.com/office/powerpoint/2010/main" val="90082373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32364-01A0-4649-A520-A3E856B8E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Symmetric VS Skewed Data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DDC55-2F2F-457A-B759-13CD881D7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76BB2F-D2AA-42F1-9955-52A0A8B7C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185152"/>
            <a:ext cx="2663081" cy="23346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036B5E5-D808-4372-B5E9-AE1B81F1C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537" y="3185152"/>
            <a:ext cx="2663081" cy="23335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E82E5B2-47D5-47A2-B711-50E2749B6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0832" y="3262230"/>
            <a:ext cx="2618180" cy="2256458"/>
          </a:xfrm>
          <a:prstGeom prst="rect">
            <a:avLst/>
          </a:prstGeom>
        </p:spPr>
      </p:pic>
      <p:pic>
        <p:nvPicPr>
          <p:cNvPr id="10" name="Picture 12">
            <a:extLst>
              <a:ext uri="{FF2B5EF4-FFF2-40B4-BE49-F238E27FC236}">
                <a16:creationId xmlns:a16="http://schemas.microsoft.com/office/drawing/2014/main" id="{563974B8-03C0-4E40-82F3-0DEBA85D1B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9066" y="1796612"/>
            <a:ext cx="1756574" cy="1570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721915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C3C58-0226-45C9-9DF6-EE0A243D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Five Number Summary of Dataset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70D99-4B31-4494-A60D-70DF1A319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Minimum Value</a:t>
            </a:r>
          </a:p>
          <a:p>
            <a:r>
              <a:rPr lang="en-US" dirty="0"/>
              <a:t>Lower Quartile (Q1)</a:t>
            </a:r>
          </a:p>
          <a:p>
            <a:r>
              <a:rPr lang="en-US" dirty="0"/>
              <a:t>Median (Q2)</a:t>
            </a:r>
          </a:p>
          <a:p>
            <a:r>
              <a:rPr lang="en-US" dirty="0"/>
              <a:t>Upper Quartile (Q3)</a:t>
            </a:r>
          </a:p>
          <a:p>
            <a:r>
              <a:rPr lang="en-US" dirty="0"/>
              <a:t>Maximum Value</a:t>
            </a:r>
          </a:p>
          <a:p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39E8-6259-4987-9320-3454DCF3F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C5390A-CEF8-4C03-965A-7DBCD50CF2A3}"/>
              </a:ext>
            </a:extLst>
          </p:cNvPr>
          <p:cNvSpPr txBox="1"/>
          <p:nvPr/>
        </p:nvSpPr>
        <p:spPr>
          <a:xfrm>
            <a:off x="2490537" y="3997492"/>
            <a:ext cx="4162926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100" b="1" dirty="0">
                <a:solidFill>
                  <a:srgbClr val="FF0000"/>
                </a:solidFill>
              </a:rPr>
              <a:t>How to compute 5-number summary?</a:t>
            </a:r>
            <a:endParaRPr lang="aa-ET" sz="2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56640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C3C58-0226-45C9-9DF6-EE0A243D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Five Number Summary of Dataset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70D99-4B31-4494-A60D-70DF1A319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 the data, if not done already.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39E8-6259-4987-9320-3454DCF3F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E00B01-E66D-4DDD-AC2C-901442174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039" y="2759107"/>
            <a:ext cx="6122194" cy="2928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10BD6E-E5EA-4EC1-B9F9-9040FE810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327" y="2322612"/>
            <a:ext cx="6107906" cy="207169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16905A7E-25E1-4E26-97C0-BCCF17F93352}"/>
              </a:ext>
            </a:extLst>
          </p:cNvPr>
          <p:cNvSpPr/>
          <p:nvPr/>
        </p:nvSpPr>
        <p:spPr>
          <a:xfrm>
            <a:off x="4295274" y="2529780"/>
            <a:ext cx="397042" cy="22932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sz="1350"/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49677D44-14F9-45CA-B8C9-7C8D6229DD63}"/>
              </a:ext>
            </a:extLst>
          </p:cNvPr>
          <p:cNvGraphicFramePr>
            <a:graphicFrameLocks noGrp="1"/>
          </p:cNvGraphicFramePr>
          <p:nvPr/>
        </p:nvGraphicFramePr>
        <p:xfrm>
          <a:off x="1644316" y="3679843"/>
          <a:ext cx="6096000" cy="13906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31274371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2417604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Min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805227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Q1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246546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Median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6200616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Q3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3659932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Max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2350273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0C80CEE-C047-4C49-8A2B-7C9023580118}"/>
              </a:ext>
            </a:extLst>
          </p:cNvPr>
          <p:cNvSpPr txBox="1"/>
          <p:nvPr/>
        </p:nvSpPr>
        <p:spPr>
          <a:xfrm>
            <a:off x="5474369" y="3679843"/>
            <a:ext cx="98659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56</a:t>
            </a:r>
            <a:endParaRPr lang="aa-ET" sz="13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6642E7-E475-40F2-B4FA-172D5357F030}"/>
              </a:ext>
            </a:extLst>
          </p:cNvPr>
          <p:cNvSpPr txBox="1"/>
          <p:nvPr/>
        </p:nvSpPr>
        <p:spPr>
          <a:xfrm>
            <a:off x="5488405" y="4800353"/>
            <a:ext cx="98659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100</a:t>
            </a:r>
            <a:endParaRPr lang="aa-ET" sz="13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4B3D88-F71A-455C-8327-21B5F3C8E542}"/>
              </a:ext>
            </a:extLst>
          </p:cNvPr>
          <p:cNvSpPr/>
          <p:nvPr/>
        </p:nvSpPr>
        <p:spPr>
          <a:xfrm>
            <a:off x="4295274" y="2822674"/>
            <a:ext cx="299586" cy="2293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sz="135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659DDB-5DAC-497E-920F-3BAFE2976E67}"/>
              </a:ext>
            </a:extLst>
          </p:cNvPr>
          <p:cNvSpPr txBox="1"/>
          <p:nvPr/>
        </p:nvSpPr>
        <p:spPr>
          <a:xfrm>
            <a:off x="5474368" y="4263629"/>
            <a:ext cx="98659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76</a:t>
            </a:r>
            <a:endParaRPr lang="aa-ET" sz="13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0C6C65-BBED-404E-AE10-ACCE5F6E95B3}"/>
              </a:ext>
            </a:extLst>
          </p:cNvPr>
          <p:cNvSpPr txBox="1"/>
          <p:nvPr/>
        </p:nvSpPr>
        <p:spPr>
          <a:xfrm>
            <a:off x="1805439" y="3208747"/>
            <a:ext cx="5376712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FF0000"/>
                </a:solidFill>
              </a:rPr>
              <a:t>How to find median if the total number of data points is not odd?</a:t>
            </a:r>
            <a:endParaRPr lang="aa-ET" sz="15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26003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  <p:bldP spid="13" grpId="0"/>
      <p:bldP spid="14" grpId="0" animBg="1"/>
      <p:bldP spid="15" grpId="0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C3C58-0226-45C9-9DF6-EE0A243D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Five Number Summary of Dataset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70D99-4B31-4494-A60D-70DF1A319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 the data, if not done already.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39E8-6259-4987-9320-3454DCF3F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E00B01-E66D-4DDD-AC2C-901442174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039" y="2759107"/>
            <a:ext cx="6122194" cy="2928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10BD6E-E5EA-4EC1-B9F9-9040FE810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327" y="2322612"/>
            <a:ext cx="6107906" cy="207169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16905A7E-25E1-4E26-97C0-BCCF17F93352}"/>
              </a:ext>
            </a:extLst>
          </p:cNvPr>
          <p:cNvSpPr/>
          <p:nvPr/>
        </p:nvSpPr>
        <p:spPr>
          <a:xfrm>
            <a:off x="4295274" y="2529780"/>
            <a:ext cx="397042" cy="22932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sz="1350"/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49677D44-14F9-45CA-B8C9-7C8D6229DD63}"/>
              </a:ext>
            </a:extLst>
          </p:cNvPr>
          <p:cNvGraphicFramePr>
            <a:graphicFrameLocks noGrp="1"/>
          </p:cNvGraphicFramePr>
          <p:nvPr/>
        </p:nvGraphicFramePr>
        <p:xfrm>
          <a:off x="1644316" y="3679843"/>
          <a:ext cx="6096000" cy="13906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31274371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2417604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Min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805227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Q1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246546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Median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6200616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Q3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3659932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Max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2350273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0C80CEE-C047-4C49-8A2B-7C9023580118}"/>
              </a:ext>
            </a:extLst>
          </p:cNvPr>
          <p:cNvSpPr txBox="1"/>
          <p:nvPr/>
        </p:nvSpPr>
        <p:spPr>
          <a:xfrm>
            <a:off x="5474369" y="3679843"/>
            <a:ext cx="98659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56</a:t>
            </a:r>
            <a:endParaRPr lang="aa-ET" sz="13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6642E7-E475-40F2-B4FA-172D5357F030}"/>
              </a:ext>
            </a:extLst>
          </p:cNvPr>
          <p:cNvSpPr txBox="1"/>
          <p:nvPr/>
        </p:nvSpPr>
        <p:spPr>
          <a:xfrm>
            <a:off x="5488405" y="4800353"/>
            <a:ext cx="98659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100</a:t>
            </a:r>
            <a:endParaRPr lang="aa-ET" sz="13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4B3D88-F71A-455C-8327-21B5F3C8E542}"/>
              </a:ext>
            </a:extLst>
          </p:cNvPr>
          <p:cNvSpPr/>
          <p:nvPr/>
        </p:nvSpPr>
        <p:spPr>
          <a:xfrm>
            <a:off x="4295274" y="2822674"/>
            <a:ext cx="299586" cy="2293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sz="135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659DDB-5DAC-497E-920F-3BAFE2976E67}"/>
              </a:ext>
            </a:extLst>
          </p:cNvPr>
          <p:cNvSpPr txBox="1"/>
          <p:nvPr/>
        </p:nvSpPr>
        <p:spPr>
          <a:xfrm>
            <a:off x="5474368" y="4263629"/>
            <a:ext cx="98659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76</a:t>
            </a:r>
            <a:endParaRPr lang="aa-ET" sz="1350" dirty="0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E4A15225-F3E1-4936-90A5-362CA3D2FE96}"/>
              </a:ext>
            </a:extLst>
          </p:cNvPr>
          <p:cNvSpPr/>
          <p:nvPr/>
        </p:nvSpPr>
        <p:spPr>
          <a:xfrm rot="5400000">
            <a:off x="2714356" y="1848084"/>
            <a:ext cx="344652" cy="281718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aa-ET" sz="13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28F944-64A4-432E-9AC2-F5E273D86C39}"/>
              </a:ext>
            </a:extLst>
          </p:cNvPr>
          <p:cNvSpPr/>
          <p:nvPr/>
        </p:nvSpPr>
        <p:spPr>
          <a:xfrm>
            <a:off x="2587096" y="2821662"/>
            <a:ext cx="589241" cy="2293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sz="135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68028A-5CD3-4CF2-853B-2EA8259E39E8}"/>
              </a:ext>
            </a:extLst>
          </p:cNvPr>
          <p:cNvSpPr txBox="1"/>
          <p:nvPr/>
        </p:nvSpPr>
        <p:spPr>
          <a:xfrm>
            <a:off x="5488405" y="3990694"/>
            <a:ext cx="98659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70</a:t>
            </a:r>
            <a:endParaRPr lang="aa-ET" sz="13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47DD29-BA7A-41CB-A3C0-0833E0AC6A33}"/>
              </a:ext>
            </a:extLst>
          </p:cNvPr>
          <p:cNvSpPr/>
          <p:nvPr/>
        </p:nvSpPr>
        <p:spPr>
          <a:xfrm>
            <a:off x="5718951" y="2791641"/>
            <a:ext cx="589241" cy="2293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sz="13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20B0A6-F0C3-473D-A7D8-D1AD0B456F8E}"/>
              </a:ext>
            </a:extLst>
          </p:cNvPr>
          <p:cNvSpPr txBox="1"/>
          <p:nvPr/>
        </p:nvSpPr>
        <p:spPr>
          <a:xfrm>
            <a:off x="5474367" y="4514472"/>
            <a:ext cx="98659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86</a:t>
            </a:r>
            <a:endParaRPr lang="aa-ET" sz="1350" dirty="0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D157B89B-A36A-4C96-B56B-1F949EF85BE1}"/>
              </a:ext>
            </a:extLst>
          </p:cNvPr>
          <p:cNvSpPr/>
          <p:nvPr/>
        </p:nvSpPr>
        <p:spPr>
          <a:xfrm rot="5400000">
            <a:off x="5936722" y="1770097"/>
            <a:ext cx="344652" cy="281718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aa-ET" sz="1350"/>
          </a:p>
        </p:txBody>
      </p:sp>
    </p:spTree>
    <p:extLst>
      <p:ext uri="{BB962C8B-B14F-4D97-AF65-F5344CB8AC3E}">
        <p14:creationId xmlns:p14="http://schemas.microsoft.com/office/powerpoint/2010/main" val="886618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7" grpId="0" animBg="1"/>
      <p:bldP spid="18" grpId="0"/>
      <p:bldP spid="19" grpId="0" animBg="1"/>
      <p:bldP spid="20" grpId="0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C3C58-0226-45C9-9DF6-EE0A243D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Five Number Summary of Dataset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70D99-4B31-4494-A60D-70DF1A319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 the data, if not done already.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39E8-6259-4987-9320-3454DCF3F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E00B01-E66D-4DDD-AC2C-901442174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039" y="2759107"/>
            <a:ext cx="6122194" cy="2928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10BD6E-E5EA-4EC1-B9F9-9040FE810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327" y="2322612"/>
            <a:ext cx="6107906" cy="207169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16905A7E-25E1-4E26-97C0-BCCF17F93352}"/>
              </a:ext>
            </a:extLst>
          </p:cNvPr>
          <p:cNvSpPr/>
          <p:nvPr/>
        </p:nvSpPr>
        <p:spPr>
          <a:xfrm>
            <a:off x="4295274" y="2529780"/>
            <a:ext cx="397042" cy="22932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sz="1350"/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49677D44-14F9-45CA-B8C9-7C8D6229DD63}"/>
              </a:ext>
            </a:extLst>
          </p:cNvPr>
          <p:cNvGraphicFramePr>
            <a:graphicFrameLocks noGrp="1"/>
          </p:cNvGraphicFramePr>
          <p:nvPr/>
        </p:nvGraphicFramePr>
        <p:xfrm>
          <a:off x="1644316" y="4161104"/>
          <a:ext cx="6096000" cy="13906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31274371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2417604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Min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805227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Q1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246546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Median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6200616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Q3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3659932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Max</a:t>
                      </a:r>
                      <a:endParaRPr lang="aa-ET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aa-ET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2350273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0C80CEE-C047-4C49-8A2B-7C9023580118}"/>
              </a:ext>
            </a:extLst>
          </p:cNvPr>
          <p:cNvSpPr txBox="1"/>
          <p:nvPr/>
        </p:nvSpPr>
        <p:spPr>
          <a:xfrm>
            <a:off x="5474369" y="4185166"/>
            <a:ext cx="98659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56</a:t>
            </a:r>
            <a:endParaRPr lang="aa-ET" sz="13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6642E7-E475-40F2-B4FA-172D5357F030}"/>
              </a:ext>
            </a:extLst>
          </p:cNvPr>
          <p:cNvSpPr txBox="1"/>
          <p:nvPr/>
        </p:nvSpPr>
        <p:spPr>
          <a:xfrm>
            <a:off x="5488405" y="5305676"/>
            <a:ext cx="98659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100</a:t>
            </a:r>
            <a:endParaRPr lang="aa-ET" sz="13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4B3D88-F71A-455C-8327-21B5F3C8E542}"/>
              </a:ext>
            </a:extLst>
          </p:cNvPr>
          <p:cNvSpPr/>
          <p:nvPr/>
        </p:nvSpPr>
        <p:spPr>
          <a:xfrm>
            <a:off x="4295274" y="2822674"/>
            <a:ext cx="299586" cy="2293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sz="135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659DDB-5DAC-497E-920F-3BAFE2976E67}"/>
              </a:ext>
            </a:extLst>
          </p:cNvPr>
          <p:cNvSpPr txBox="1"/>
          <p:nvPr/>
        </p:nvSpPr>
        <p:spPr>
          <a:xfrm>
            <a:off x="5474368" y="4768952"/>
            <a:ext cx="98659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76</a:t>
            </a:r>
            <a:endParaRPr lang="aa-ET" sz="1350" dirty="0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E4A15225-F3E1-4936-90A5-362CA3D2FE96}"/>
              </a:ext>
            </a:extLst>
          </p:cNvPr>
          <p:cNvSpPr/>
          <p:nvPr/>
        </p:nvSpPr>
        <p:spPr>
          <a:xfrm rot="5400000">
            <a:off x="2025439" y="2537001"/>
            <a:ext cx="266666" cy="136136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aa-ET" sz="13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28F944-64A4-432E-9AC2-F5E273D86C39}"/>
              </a:ext>
            </a:extLst>
          </p:cNvPr>
          <p:cNvSpPr/>
          <p:nvPr/>
        </p:nvSpPr>
        <p:spPr>
          <a:xfrm>
            <a:off x="2587096" y="2821662"/>
            <a:ext cx="589241" cy="2293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sz="135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68028A-5CD3-4CF2-853B-2EA8259E39E8}"/>
              </a:ext>
            </a:extLst>
          </p:cNvPr>
          <p:cNvSpPr txBox="1"/>
          <p:nvPr/>
        </p:nvSpPr>
        <p:spPr>
          <a:xfrm>
            <a:off x="5488405" y="4496017"/>
            <a:ext cx="98659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70</a:t>
            </a:r>
            <a:endParaRPr lang="aa-ET" sz="13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47DD29-BA7A-41CB-A3C0-0833E0AC6A33}"/>
              </a:ext>
            </a:extLst>
          </p:cNvPr>
          <p:cNvSpPr/>
          <p:nvPr/>
        </p:nvSpPr>
        <p:spPr>
          <a:xfrm>
            <a:off x="5718951" y="2791641"/>
            <a:ext cx="589241" cy="2293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 sz="13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20B0A6-F0C3-473D-A7D8-D1AD0B456F8E}"/>
              </a:ext>
            </a:extLst>
          </p:cNvPr>
          <p:cNvSpPr txBox="1"/>
          <p:nvPr/>
        </p:nvSpPr>
        <p:spPr>
          <a:xfrm>
            <a:off x="5474367" y="5019795"/>
            <a:ext cx="98659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86</a:t>
            </a:r>
            <a:endParaRPr lang="aa-ET" sz="1350" dirty="0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C80965D5-4611-45F7-8C6B-AB151D677803}"/>
              </a:ext>
            </a:extLst>
          </p:cNvPr>
          <p:cNvSpPr/>
          <p:nvPr/>
        </p:nvSpPr>
        <p:spPr>
          <a:xfrm rot="5400000">
            <a:off x="3501253" y="2566195"/>
            <a:ext cx="266666" cy="136136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aa-ET" sz="1350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D990496B-ECC3-4C05-A846-B5BC1DE060C0}"/>
              </a:ext>
            </a:extLst>
          </p:cNvPr>
          <p:cNvSpPr/>
          <p:nvPr/>
        </p:nvSpPr>
        <p:spPr>
          <a:xfrm rot="5400000">
            <a:off x="5119348" y="2572056"/>
            <a:ext cx="266666" cy="136136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aa-ET" sz="1350"/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93FEF462-BA74-40CF-A1FB-A15EAFFCBB1D}"/>
              </a:ext>
            </a:extLst>
          </p:cNvPr>
          <p:cNvSpPr/>
          <p:nvPr/>
        </p:nvSpPr>
        <p:spPr>
          <a:xfrm rot="5400000">
            <a:off x="6766219" y="2563803"/>
            <a:ext cx="266666" cy="136136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aa-ET" sz="135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BD5CF40-4520-4C74-B263-20A5BFDBF3B1}"/>
              </a:ext>
            </a:extLst>
          </p:cNvPr>
          <p:cNvCxnSpPr>
            <a:cxnSpLocks/>
          </p:cNvCxnSpPr>
          <p:nvPr/>
        </p:nvCxnSpPr>
        <p:spPr>
          <a:xfrm>
            <a:off x="2953905" y="3562992"/>
            <a:ext cx="3013757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EBB327E-B382-4C79-9289-E06AC3149947}"/>
              </a:ext>
            </a:extLst>
          </p:cNvPr>
          <p:cNvSpPr txBox="1"/>
          <p:nvPr/>
        </p:nvSpPr>
        <p:spPr>
          <a:xfrm>
            <a:off x="3266323" y="3650112"/>
            <a:ext cx="2357488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B050"/>
                </a:solidFill>
              </a:rPr>
              <a:t>Called Middle 50% (or IQR)</a:t>
            </a:r>
            <a:endParaRPr lang="aa-ET" sz="1500" b="1" dirty="0">
              <a:solidFill>
                <a:srgbClr val="00B05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8B4281-82F5-46F5-BA71-2BE600D05600}"/>
              </a:ext>
            </a:extLst>
          </p:cNvPr>
          <p:cNvSpPr txBox="1"/>
          <p:nvPr/>
        </p:nvSpPr>
        <p:spPr>
          <a:xfrm>
            <a:off x="100004" y="4155002"/>
            <a:ext cx="144591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00FF"/>
                </a:solidFill>
              </a:rPr>
              <a:t>Lower Extreme</a:t>
            </a:r>
            <a:endParaRPr lang="aa-ET" sz="1200" b="1" dirty="0">
              <a:solidFill>
                <a:srgbClr val="FF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405675-B660-40CD-864B-9F90B5720688}"/>
              </a:ext>
            </a:extLst>
          </p:cNvPr>
          <p:cNvSpPr txBox="1"/>
          <p:nvPr/>
        </p:nvSpPr>
        <p:spPr>
          <a:xfrm>
            <a:off x="100004" y="4431012"/>
            <a:ext cx="144591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00FF"/>
                </a:solidFill>
              </a:rPr>
              <a:t>Lower</a:t>
            </a:r>
            <a:r>
              <a:rPr lang="en-US" sz="1000" b="1" dirty="0">
                <a:solidFill>
                  <a:srgbClr val="FF00FF"/>
                </a:solidFill>
              </a:rPr>
              <a:t> </a:t>
            </a:r>
            <a:r>
              <a:rPr lang="en-US" sz="1200" b="1" dirty="0">
                <a:solidFill>
                  <a:srgbClr val="FF00FF"/>
                </a:solidFill>
              </a:rPr>
              <a:t>Quartile</a:t>
            </a:r>
            <a:endParaRPr lang="aa-ET" sz="1200" b="1" dirty="0">
              <a:solidFill>
                <a:srgbClr val="FF00FF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4268F7-0425-480C-8037-463FB5A1B065}"/>
              </a:ext>
            </a:extLst>
          </p:cNvPr>
          <p:cNvSpPr txBox="1"/>
          <p:nvPr/>
        </p:nvSpPr>
        <p:spPr>
          <a:xfrm>
            <a:off x="100004" y="4695000"/>
            <a:ext cx="144591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00FF"/>
                </a:solidFill>
              </a:rPr>
              <a:t>Middle</a:t>
            </a:r>
            <a:r>
              <a:rPr lang="en-US" sz="1000" b="1" dirty="0">
                <a:solidFill>
                  <a:srgbClr val="FF00FF"/>
                </a:solidFill>
              </a:rPr>
              <a:t> </a:t>
            </a:r>
            <a:r>
              <a:rPr lang="en-US" sz="1200" b="1" dirty="0">
                <a:solidFill>
                  <a:srgbClr val="FF00FF"/>
                </a:solidFill>
              </a:rPr>
              <a:t>Quartile</a:t>
            </a:r>
            <a:endParaRPr lang="aa-ET" sz="1200" b="1" dirty="0">
              <a:solidFill>
                <a:srgbClr val="FF00FF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9B1B6D-5801-44E3-8AFA-324BF27067BB}"/>
              </a:ext>
            </a:extLst>
          </p:cNvPr>
          <p:cNvSpPr txBox="1"/>
          <p:nvPr/>
        </p:nvSpPr>
        <p:spPr>
          <a:xfrm>
            <a:off x="100004" y="4983047"/>
            <a:ext cx="144591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00FF"/>
                </a:solidFill>
              </a:rPr>
              <a:t>Upper</a:t>
            </a:r>
            <a:r>
              <a:rPr lang="en-US" sz="1000" b="1" dirty="0">
                <a:solidFill>
                  <a:srgbClr val="FF00FF"/>
                </a:solidFill>
              </a:rPr>
              <a:t> </a:t>
            </a:r>
            <a:r>
              <a:rPr lang="en-US" sz="1200" b="1" dirty="0">
                <a:solidFill>
                  <a:srgbClr val="FF00FF"/>
                </a:solidFill>
              </a:rPr>
              <a:t>Quartile</a:t>
            </a:r>
            <a:endParaRPr lang="aa-ET" sz="1200" b="1" dirty="0">
              <a:solidFill>
                <a:srgbClr val="FF00FF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F697B1-9F70-44AB-B4A1-9D9E84ECBC04}"/>
              </a:ext>
            </a:extLst>
          </p:cNvPr>
          <p:cNvSpPr txBox="1"/>
          <p:nvPr/>
        </p:nvSpPr>
        <p:spPr>
          <a:xfrm>
            <a:off x="100004" y="5247030"/>
            <a:ext cx="144591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00FF"/>
                </a:solidFill>
              </a:rPr>
              <a:t>Upper</a:t>
            </a:r>
            <a:r>
              <a:rPr lang="en-US" sz="1000" b="1" dirty="0">
                <a:solidFill>
                  <a:srgbClr val="FF00FF"/>
                </a:solidFill>
              </a:rPr>
              <a:t> Extreme</a:t>
            </a:r>
            <a:endParaRPr lang="aa-ET" sz="1000" b="1" dirty="0">
              <a:solidFill>
                <a:srgbClr val="FF00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D1F41C-76B8-48B3-98C0-3A98481F9759}"/>
              </a:ext>
            </a:extLst>
          </p:cNvPr>
          <p:cNvSpPr txBox="1"/>
          <p:nvPr/>
        </p:nvSpPr>
        <p:spPr>
          <a:xfrm rot="20040844">
            <a:off x="2928943" y="3825166"/>
            <a:ext cx="2357488" cy="15696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Any better way to represent this summary?</a:t>
            </a:r>
            <a:endParaRPr lang="aa-ET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963120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0" grpId="0"/>
      <p:bldP spid="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FDAAC-D650-40C8-578F-5F6FDBBEC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a-ET" dirty="0"/>
              <a:t>MEASURE OF DISPERSION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22DA8-CCF9-9653-F686-6930193092FE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marR="0" indent="0" algn="l" defTabSz="914400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aa-ET" dirty="0"/>
              <a:t>                                               Variance and Standard Deviation</a:t>
            </a:r>
          </a:p>
        </p:txBody>
      </p:sp>
    </p:spTree>
    <p:extLst>
      <p:ext uri="{BB962C8B-B14F-4D97-AF65-F5344CB8AC3E}">
        <p14:creationId xmlns:p14="http://schemas.microsoft.com/office/powerpoint/2010/main" val="18889396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1" name="Title 1">
            <a:extLst>
              <a:ext uri="{FF2B5EF4-FFF2-40B4-BE49-F238E27FC236}">
                <a16:creationId xmlns:a16="http://schemas.microsoft.com/office/drawing/2014/main" id="{01DFDB14-BAE3-D853-5171-2098FC356F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a-ET"/>
              <a:t>Variance and Standard Deviation</a:t>
            </a:r>
          </a:p>
        </p:txBody>
      </p:sp>
      <p:sp>
        <p:nvSpPr>
          <p:cNvPr id="174082" name="Content Placeholder 2">
            <a:extLst>
              <a:ext uri="{FF2B5EF4-FFF2-40B4-BE49-F238E27FC236}">
                <a16:creationId xmlns:a16="http://schemas.microsoft.com/office/drawing/2014/main" id="{2926EA8A-EAD4-010B-2CA0-9382AC6885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/>
              <a:t>Data Set 1: 3, 5, 7, 10, 10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dirty="0"/>
              <a:t>	Data Set 2: 7, 7, 7, 7, 7</a:t>
            </a:r>
            <a:br>
              <a:rPr lang="en-US" altLang="en-US" dirty="0"/>
            </a:br>
            <a:endParaRPr lang="en-US" alt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bg2"/>
                </a:solidFill>
              </a:rPr>
              <a:t>Data Set 1: mean = 7, median = 7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bg2"/>
                </a:solidFill>
              </a:rPr>
              <a:t>Data Set 2: mean = 7, median = 7</a:t>
            </a:r>
            <a:br>
              <a:rPr lang="en-US" altLang="en-US" dirty="0">
                <a:solidFill>
                  <a:schemeClr val="bg2"/>
                </a:solidFill>
              </a:rPr>
            </a:br>
            <a:endParaRPr lang="en-US" altLang="en-US" dirty="0">
              <a:solidFill>
                <a:schemeClr val="bg2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dirty="0"/>
              <a:t>	But we know that the two data sets are not identical! The </a:t>
            </a:r>
            <a:r>
              <a:rPr lang="en-US" altLang="en-US" b="1" dirty="0"/>
              <a:t>variance </a:t>
            </a:r>
            <a:r>
              <a:rPr lang="en-US" altLang="en-US" dirty="0"/>
              <a:t>and</a:t>
            </a:r>
            <a:r>
              <a:rPr lang="en-US" altLang="en-US" b="1" dirty="0"/>
              <a:t> standard deviation</a:t>
            </a:r>
            <a:r>
              <a:rPr lang="en-US" altLang="en-US" dirty="0"/>
              <a:t> shows how they are different.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dirty="0"/>
          </a:p>
          <a:p>
            <a:pPr>
              <a:lnSpc>
                <a:spcPct val="80000"/>
              </a:lnSpc>
              <a:buFontTx/>
              <a:buNone/>
            </a:pPr>
            <a:br>
              <a:rPr lang="en-US" altLang="en-US" dirty="0"/>
            </a:br>
            <a:endParaRPr lang="en-US" altLang="aa-ET" dirty="0"/>
          </a:p>
        </p:txBody>
      </p:sp>
      <p:sp>
        <p:nvSpPr>
          <p:cNvPr id="174083" name="Slide Number Placeholder 3">
            <a:extLst>
              <a:ext uri="{FF2B5EF4-FFF2-40B4-BE49-F238E27FC236}">
                <a16:creationId xmlns:a16="http://schemas.microsoft.com/office/drawing/2014/main" id="{418C5799-2922-CF7C-93F0-10FAA6225C8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DBBA5C6-CF64-8B48-9991-73196EBD6141}" type="slidenum">
              <a:rPr lang="en-US" altLang="en-US" sz="1200"/>
              <a:pPr/>
              <a:t>13</a:t>
            </a:fld>
            <a:endParaRPr lang="en-US" altLang="en-US" sz="1200"/>
          </a:p>
        </p:txBody>
      </p:sp>
    </p:spTree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DF257-61A3-4795-8EBB-FDF7781E9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 and Standard Deviation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000D3-DF4A-4A77-A840-1DF20E65B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Indicate how spread out a data distribution is.</a:t>
            </a:r>
          </a:p>
          <a:p>
            <a:endParaRPr lang="en-US" dirty="0"/>
          </a:p>
          <a:p>
            <a:r>
              <a:rPr lang="en-US" dirty="0"/>
              <a:t>Square root of variance is called Standard Deviation</a:t>
            </a:r>
          </a:p>
          <a:p>
            <a:pPr lvl="1"/>
            <a:r>
              <a:rPr lang="en-US" dirty="0"/>
              <a:t>A </a:t>
            </a:r>
            <a:r>
              <a:rPr lang="en-US" b="1" dirty="0">
                <a:solidFill>
                  <a:srgbClr val="FF00FF"/>
                </a:solidFill>
              </a:rPr>
              <a:t>low standard deviation</a:t>
            </a:r>
            <a:r>
              <a:rPr lang="en-US" dirty="0">
                <a:solidFill>
                  <a:srgbClr val="FF00FF"/>
                </a:solidFill>
              </a:rPr>
              <a:t> </a:t>
            </a:r>
            <a:r>
              <a:rPr lang="en-US" dirty="0"/>
              <a:t>means that </a:t>
            </a:r>
            <a:r>
              <a:rPr lang="en-US" b="1" dirty="0">
                <a:solidFill>
                  <a:srgbClr val="FF00FF"/>
                </a:solidFill>
              </a:rPr>
              <a:t>data observations tend to be very close</a:t>
            </a:r>
          </a:p>
          <a:p>
            <a:pPr lvl="1"/>
            <a:r>
              <a:rPr lang="en-US" dirty="0"/>
              <a:t>A </a:t>
            </a:r>
            <a:r>
              <a:rPr lang="en-US" b="1" dirty="0">
                <a:solidFill>
                  <a:srgbClr val="FF00FF"/>
                </a:solidFill>
              </a:rPr>
              <a:t>high standard deviation</a:t>
            </a:r>
            <a:r>
              <a:rPr lang="en-US" dirty="0">
                <a:solidFill>
                  <a:srgbClr val="FF00FF"/>
                </a:solidFill>
              </a:rPr>
              <a:t> </a:t>
            </a:r>
            <a:r>
              <a:rPr lang="en-US" dirty="0"/>
              <a:t>indicates that </a:t>
            </a:r>
            <a:r>
              <a:rPr lang="en-US" b="1" dirty="0">
                <a:solidFill>
                  <a:srgbClr val="FF00FF"/>
                </a:solidFill>
              </a:rPr>
              <a:t>data observations are spread over a large range of values</a:t>
            </a:r>
          </a:p>
          <a:p>
            <a:pPr marL="150876" lvl="1" indent="0">
              <a:buNone/>
            </a:pPr>
            <a:endParaRPr lang="en-US" b="1" dirty="0">
              <a:solidFill>
                <a:srgbClr val="FF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81464-E913-4E35-A488-1060FBCD0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2B22DCE-5621-4697-ABFB-9ADA8A8B50AD}"/>
              </a:ext>
            </a:extLst>
          </p:cNvPr>
          <p:cNvGrpSpPr/>
          <p:nvPr/>
        </p:nvGrpSpPr>
        <p:grpSpPr>
          <a:xfrm>
            <a:off x="1329849" y="4984777"/>
            <a:ext cx="5732045" cy="495803"/>
            <a:chOff x="1796281" y="2771246"/>
            <a:chExt cx="7642726" cy="66107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CAA6F0F-33EA-4EF9-9F11-D9643C936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6281" y="2870342"/>
              <a:ext cx="6305550" cy="56197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A43371C-2C6C-46A3-BFA3-C3AC39DE5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62657" y="2771246"/>
              <a:ext cx="1276350" cy="62865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B159135-EECB-4EE4-B8F6-3494E2AA1DCF}"/>
              </a:ext>
            </a:extLst>
          </p:cNvPr>
          <p:cNvSpPr txBox="1"/>
          <p:nvPr/>
        </p:nvSpPr>
        <p:spPr>
          <a:xfrm>
            <a:off x="2292892" y="4214201"/>
            <a:ext cx="2963027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B050"/>
                </a:solidFill>
              </a:rPr>
              <a:t>Recall example of Mean we computed earlier…</a:t>
            </a:r>
            <a:endParaRPr lang="aa-ET" sz="15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05325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DF257-61A3-4795-8EBB-FDF7781E9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 and Standard Deviation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000D3-DF4A-4A77-A840-1DF20E65B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055" y="1377420"/>
            <a:ext cx="7543800" cy="3392157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Variance</a:t>
            </a:r>
          </a:p>
          <a:p>
            <a:pPr lvl="1"/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Standard Deviation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81464-E913-4E35-A488-1060FBCD0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15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2B22DCE-5621-4697-ABFB-9ADA8A8B50AD}"/>
              </a:ext>
            </a:extLst>
          </p:cNvPr>
          <p:cNvGrpSpPr/>
          <p:nvPr/>
        </p:nvGrpSpPr>
        <p:grpSpPr>
          <a:xfrm>
            <a:off x="1329849" y="4984777"/>
            <a:ext cx="5732045" cy="495803"/>
            <a:chOff x="1796281" y="2771246"/>
            <a:chExt cx="7642726" cy="66107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CAA6F0F-33EA-4EF9-9F11-D9643C936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6281" y="2870342"/>
              <a:ext cx="6305550" cy="56197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A43371C-2C6C-46A3-BFA3-C3AC39DE5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62657" y="2771246"/>
              <a:ext cx="1276350" cy="62865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159135-EECB-4EE4-B8F6-3494E2AA1DCF}"/>
                  </a:ext>
                </a:extLst>
              </p:cNvPr>
              <p:cNvSpPr txBox="1"/>
              <p:nvPr/>
            </p:nvSpPr>
            <p:spPr>
              <a:xfrm>
                <a:off x="1841479" y="1991860"/>
                <a:ext cx="2568476" cy="61529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𝑽𝒂𝒓𝒊𝒂𝒏𝒄𝒆</m:t>
                          </m:r>
                          <m:r>
                            <a:rPr lang="en-US" sz="1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lang="en-US" sz="1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12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1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1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1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  <m:e>
                          <m:sSup>
                            <m:sSupPr>
                              <m:ctrlPr>
                                <a:rPr lang="en-US" sz="12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2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1" i="1" dirty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 dirty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200" b="1" i="1" dirty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sz="12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 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1200" b="1" i="1" dirty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200" b="1" i="1" dirty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12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aa-ET" sz="12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159135-EECB-4EE4-B8F6-3494E2AA1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479" y="1991860"/>
                <a:ext cx="2568476" cy="615297"/>
              </a:xfrm>
              <a:prstGeom prst="rect">
                <a:avLst/>
              </a:prstGeom>
              <a:blipFill>
                <a:blip r:embed="rId4"/>
                <a:stretch>
                  <a:fillRect t="-86000" b="-13800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7066A71-8742-4C0B-B1F1-B3D79D9338B1}"/>
                  </a:ext>
                </a:extLst>
              </p:cNvPr>
              <p:cNvSpPr txBox="1"/>
              <p:nvPr/>
            </p:nvSpPr>
            <p:spPr>
              <a:xfrm>
                <a:off x="1841479" y="2612540"/>
                <a:ext cx="2568476" cy="61529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𝑽𝒂𝒓𝒊𝒂𝒏𝒄𝒆</m:t>
                          </m:r>
                          <m:r>
                            <a:rPr lang="en-US" sz="1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lang="en-US" sz="1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12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en-US" sz="1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12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12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12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2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12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2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12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sz="12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2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en-US" sz="12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</m:e>
                          </m:nary>
                        </m:e>
                      </m:d>
                      <m:r>
                        <a:rPr lang="en-US" sz="12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1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12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e>
                        <m:sup>
                          <m:r>
                            <a:rPr lang="en-US" sz="12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aa-ET" sz="12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7066A71-8742-4C0B-B1F1-B3D79D933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479" y="2612540"/>
                <a:ext cx="2568476" cy="615297"/>
              </a:xfrm>
              <a:prstGeom prst="rect">
                <a:avLst/>
              </a:prstGeom>
              <a:blipFill>
                <a:blip r:embed="rId5"/>
                <a:stretch>
                  <a:fillRect t="-86000" b="-13800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87AC87DB-E519-4A63-AA17-25B48FFA68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1480" y="3398110"/>
            <a:ext cx="3193256" cy="45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62ED32-7D74-4279-B8F6-97A0FE10D2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5433" y="3885445"/>
            <a:ext cx="771525" cy="2071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F1A5DE-C78A-4D49-9047-78B97B2060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9105" y="4514523"/>
            <a:ext cx="1614488" cy="257175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B68AD7C5-2556-485B-9545-3D854BF36EB0}"/>
              </a:ext>
            </a:extLst>
          </p:cNvPr>
          <p:cNvGrpSpPr/>
          <p:nvPr/>
        </p:nvGrpSpPr>
        <p:grpSpPr>
          <a:xfrm>
            <a:off x="1649644" y="4985029"/>
            <a:ext cx="3955597" cy="294035"/>
            <a:chOff x="2199525" y="5503704"/>
            <a:chExt cx="5274129" cy="392047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2DC7E6F0-FDD9-4432-8B71-48897B7E77F9}"/>
                </a:ext>
              </a:extLst>
            </p:cNvPr>
            <p:cNvSpPr/>
            <p:nvPr/>
          </p:nvSpPr>
          <p:spPr>
            <a:xfrm>
              <a:off x="2199525" y="5503704"/>
              <a:ext cx="364534" cy="379747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a-ET" sz="135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4D70526-D796-4CA8-9DC4-5F8B206F3DEC}"/>
                </a:ext>
              </a:extLst>
            </p:cNvPr>
            <p:cNvSpPr/>
            <p:nvPr/>
          </p:nvSpPr>
          <p:spPr>
            <a:xfrm>
              <a:off x="7109120" y="5516004"/>
              <a:ext cx="364534" cy="379747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a-ET" sz="1350"/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82A517E-EC7A-4F38-AC24-F934F17356A5}"/>
              </a:ext>
            </a:extLst>
          </p:cNvPr>
          <p:cNvCxnSpPr>
            <a:stCxn id="23" idx="2"/>
            <a:endCxn id="19" idx="0"/>
          </p:cNvCxnSpPr>
          <p:nvPr/>
        </p:nvCxnSpPr>
        <p:spPr>
          <a:xfrm flipH="1">
            <a:off x="5468541" y="4824806"/>
            <a:ext cx="553286" cy="169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6EB36AA-11E8-49E5-992A-CD491DFEB107}"/>
              </a:ext>
            </a:extLst>
          </p:cNvPr>
          <p:cNvGrpSpPr/>
          <p:nvPr/>
        </p:nvGrpSpPr>
        <p:grpSpPr>
          <a:xfrm>
            <a:off x="1786345" y="4109224"/>
            <a:ext cx="5652390" cy="875804"/>
            <a:chOff x="2121843" y="4622603"/>
            <a:chExt cx="7536520" cy="116773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6E4BF8E-524E-4FAE-8650-4EF0CDFD140C}"/>
                </a:ext>
              </a:extLst>
            </p:cNvPr>
            <p:cNvSpPr txBox="1"/>
            <p:nvPr/>
          </p:nvSpPr>
          <p:spPr>
            <a:xfrm>
              <a:off x="5879940" y="4622603"/>
              <a:ext cx="3778423" cy="95410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0000"/>
                  </a:solidFill>
                </a:rPr>
                <a:t>How many standard deviations away are these data points from mean?</a:t>
              </a:r>
              <a:endParaRPr lang="aa-ET" sz="1350" b="1" dirty="0">
                <a:solidFill>
                  <a:srgbClr val="FF0000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912D380-8791-4349-B78F-68C698C6C7F5}"/>
                </a:ext>
              </a:extLst>
            </p:cNvPr>
            <p:cNvCxnSpPr>
              <a:cxnSpLocks/>
              <a:stCxn id="23" idx="2"/>
              <a:endCxn id="17" idx="0"/>
            </p:cNvCxnSpPr>
            <p:nvPr/>
          </p:nvCxnSpPr>
          <p:spPr>
            <a:xfrm flipH="1">
              <a:off x="2121843" y="5576711"/>
              <a:ext cx="5647310" cy="2136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3588884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DF257-61A3-4795-8EBB-FDF7781E9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 and Standard Deviation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000D3-DF4A-4A77-A840-1DF20E65B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380" y="1303635"/>
            <a:ext cx="7543800" cy="3392157"/>
          </a:xfrm>
        </p:spPr>
        <p:txBody>
          <a:bodyPr/>
          <a:lstStyle/>
          <a:p>
            <a:r>
              <a:rPr lang="en-US" b="1" dirty="0"/>
              <a:t>One Standard Deviation</a:t>
            </a:r>
          </a:p>
          <a:p>
            <a:endParaRPr lang="en-US" b="1" dirty="0"/>
          </a:p>
          <a:p>
            <a:r>
              <a:rPr lang="en-US" b="1" dirty="0"/>
              <a:t>Two Standard Deviations</a:t>
            </a:r>
          </a:p>
          <a:p>
            <a:endParaRPr lang="en-US" b="1" dirty="0"/>
          </a:p>
          <a:p>
            <a:r>
              <a:rPr lang="en-US" b="1" dirty="0"/>
              <a:t>Three Standard Deviations</a:t>
            </a:r>
          </a:p>
          <a:p>
            <a:pPr lvl="1"/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81464-E913-4E35-A488-1060FBCD0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16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2B22DCE-5621-4697-ABFB-9ADA8A8B50AD}"/>
              </a:ext>
            </a:extLst>
          </p:cNvPr>
          <p:cNvGrpSpPr/>
          <p:nvPr/>
        </p:nvGrpSpPr>
        <p:grpSpPr>
          <a:xfrm>
            <a:off x="1329849" y="4984777"/>
            <a:ext cx="5732045" cy="495803"/>
            <a:chOff x="1796281" y="2771246"/>
            <a:chExt cx="7642726" cy="66107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CAA6F0F-33EA-4EF9-9F11-D9643C936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6281" y="2870342"/>
              <a:ext cx="6305550" cy="56197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A43371C-2C6C-46A3-BFA3-C3AC39DE5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62657" y="2771246"/>
              <a:ext cx="1276350" cy="62865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159135-EECB-4EE4-B8F6-3494E2AA1DCF}"/>
                  </a:ext>
                </a:extLst>
              </p:cNvPr>
              <p:cNvSpPr txBox="1"/>
              <p:nvPr/>
            </p:nvSpPr>
            <p:spPr>
              <a:xfrm>
                <a:off x="1841480" y="1991860"/>
                <a:ext cx="1656968" cy="27699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sz="12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12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𝝈</m:t>
                      </m:r>
                      <m:r>
                        <a:rPr lang="en-US" sz="12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a-ET" sz="12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159135-EECB-4EE4-B8F6-3494E2AA1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480" y="1991860"/>
                <a:ext cx="1656968" cy="276999"/>
              </a:xfrm>
              <a:prstGeom prst="rect">
                <a:avLst/>
              </a:prstGeom>
              <a:blipFill>
                <a:blip r:embed="rId4"/>
                <a:stretch>
                  <a:fillRect b="-416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B68AD7C5-2556-485B-9545-3D854BF36EB0}"/>
              </a:ext>
            </a:extLst>
          </p:cNvPr>
          <p:cNvGrpSpPr/>
          <p:nvPr/>
        </p:nvGrpSpPr>
        <p:grpSpPr>
          <a:xfrm>
            <a:off x="1649644" y="4985029"/>
            <a:ext cx="3955597" cy="294035"/>
            <a:chOff x="2199525" y="5503704"/>
            <a:chExt cx="5274129" cy="392047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2DC7E6F0-FDD9-4432-8B71-48897B7E77F9}"/>
                </a:ext>
              </a:extLst>
            </p:cNvPr>
            <p:cNvSpPr/>
            <p:nvPr/>
          </p:nvSpPr>
          <p:spPr>
            <a:xfrm>
              <a:off x="2199525" y="5503704"/>
              <a:ext cx="364534" cy="379747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a-ET" sz="135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4D70526-D796-4CA8-9DC4-5F8B206F3DEC}"/>
                </a:ext>
              </a:extLst>
            </p:cNvPr>
            <p:cNvSpPr/>
            <p:nvPr/>
          </p:nvSpPr>
          <p:spPr>
            <a:xfrm>
              <a:off x="7109120" y="5516004"/>
              <a:ext cx="364534" cy="379747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a-ET" sz="1350"/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82A517E-EC7A-4F38-AC24-F934F17356A5}"/>
              </a:ext>
            </a:extLst>
          </p:cNvPr>
          <p:cNvCxnSpPr>
            <a:stCxn id="23" idx="2"/>
            <a:endCxn id="19" idx="0"/>
          </p:cNvCxnSpPr>
          <p:nvPr/>
        </p:nvCxnSpPr>
        <p:spPr>
          <a:xfrm flipH="1">
            <a:off x="5468541" y="4668696"/>
            <a:ext cx="369545" cy="325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6EB36AA-11E8-49E5-992A-CD491DFEB107}"/>
              </a:ext>
            </a:extLst>
          </p:cNvPr>
          <p:cNvGrpSpPr/>
          <p:nvPr/>
        </p:nvGrpSpPr>
        <p:grpSpPr>
          <a:xfrm>
            <a:off x="1786345" y="3953116"/>
            <a:ext cx="5468649" cy="1031914"/>
            <a:chOff x="2366831" y="4622603"/>
            <a:chExt cx="7291532" cy="137588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6E4BF8E-524E-4FAE-8650-4EF0CDFD140C}"/>
                </a:ext>
              </a:extLst>
            </p:cNvPr>
            <p:cNvSpPr txBox="1"/>
            <p:nvPr/>
          </p:nvSpPr>
          <p:spPr>
            <a:xfrm>
              <a:off x="5879940" y="4622603"/>
              <a:ext cx="3778423" cy="95410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0000"/>
                  </a:solidFill>
                </a:rPr>
                <a:t>How many standard deviations away are these data points from mean?</a:t>
              </a:r>
              <a:endParaRPr lang="aa-ET" sz="1350" b="1" dirty="0">
                <a:solidFill>
                  <a:srgbClr val="FF0000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912D380-8791-4349-B78F-68C698C6C7F5}"/>
                </a:ext>
              </a:extLst>
            </p:cNvPr>
            <p:cNvCxnSpPr>
              <a:cxnSpLocks/>
              <a:stCxn id="23" idx="2"/>
              <a:endCxn id="17" idx="0"/>
            </p:cNvCxnSpPr>
            <p:nvPr/>
          </p:nvCxnSpPr>
          <p:spPr>
            <a:xfrm flipH="1">
              <a:off x="2366831" y="5576711"/>
              <a:ext cx="5402322" cy="4217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085FB56-11FD-4836-9005-DD4FD4C29D19}"/>
                  </a:ext>
                </a:extLst>
              </p:cNvPr>
              <p:cNvSpPr txBox="1"/>
              <p:nvPr/>
            </p:nvSpPr>
            <p:spPr>
              <a:xfrm>
                <a:off x="1841480" y="2795230"/>
                <a:ext cx="1656968" cy="27699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sz="12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12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sz="12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𝝈</m:t>
                      </m:r>
                      <m:r>
                        <a:rPr lang="en-US" sz="12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a-ET" sz="12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085FB56-11FD-4836-9005-DD4FD4C29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480" y="2795230"/>
                <a:ext cx="1656968" cy="276999"/>
              </a:xfrm>
              <a:prstGeom prst="rect">
                <a:avLst/>
              </a:prstGeom>
              <a:blipFill>
                <a:blip r:embed="rId5"/>
                <a:stretch>
                  <a:fillRect b="-833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6265A19-8D1D-4BB2-837A-5E72BED102DC}"/>
                  </a:ext>
                </a:extLst>
              </p:cNvPr>
              <p:cNvSpPr txBox="1"/>
              <p:nvPr/>
            </p:nvSpPr>
            <p:spPr>
              <a:xfrm>
                <a:off x="1841479" y="3533894"/>
                <a:ext cx="1656968" cy="27699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sz="12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12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US" sz="12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𝝈</m:t>
                      </m:r>
                      <m:r>
                        <a:rPr lang="en-US" sz="12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a-ET" sz="12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6265A19-8D1D-4BB2-837A-5E72BED10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479" y="3533894"/>
                <a:ext cx="1656968" cy="276999"/>
              </a:xfrm>
              <a:prstGeom prst="rect">
                <a:avLst/>
              </a:prstGeom>
              <a:blipFill>
                <a:blip r:embed="rId6"/>
                <a:stretch>
                  <a:fillRect b="-833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74B3E947-8126-499F-BA0F-144EEF187E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9105" y="4514523"/>
            <a:ext cx="1614488" cy="2571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88C858D-6F29-4988-AD2B-68F5A4D65D1B}"/>
                  </a:ext>
                </a:extLst>
              </p:cNvPr>
              <p:cNvSpPr txBox="1"/>
              <p:nvPr/>
            </p:nvSpPr>
            <p:spPr>
              <a:xfrm>
                <a:off x="6334773" y="1957496"/>
                <a:ext cx="2031988" cy="450636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𝑺𝑻</m:t>
                      </m:r>
                      <m:sSub>
                        <m:sSubPr>
                          <m:ctrlP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𝒂𝒘𝒂𝒚</m:t>
                          </m:r>
                        </m:sub>
                      </m:sSub>
                      <m:r>
                        <a:rPr lang="en-US" sz="12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2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sz="12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d>
                            <m:dPr>
                              <m:ctrlPr>
                                <a:rPr lang="en-US" sz="12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𝒐𝒓</m:t>
                              </m:r>
                              <m:r>
                                <a:rPr lang="en-US" sz="12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2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</m:d>
                        </m:num>
                        <m:den>
                          <m: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den>
                      </m:f>
                    </m:oMath>
                  </m:oMathPara>
                </a14:m>
                <a:endParaRPr lang="aa-ET" sz="12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88C858D-6F29-4988-AD2B-68F5A4D65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773" y="1957496"/>
                <a:ext cx="2031988" cy="4506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0166205-E3D6-47EF-90BD-53DCFE395F47}"/>
                  </a:ext>
                </a:extLst>
              </p:cNvPr>
              <p:cNvSpPr txBox="1"/>
              <p:nvPr/>
            </p:nvSpPr>
            <p:spPr>
              <a:xfrm>
                <a:off x="5848677" y="2516103"/>
                <a:ext cx="2518083" cy="443006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𝑺𝑻</m:t>
                      </m:r>
                      <m:sSub>
                        <m:sSubPr>
                          <m:ctrlP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𝒂𝒘𝒂𝒚</m:t>
                          </m:r>
                        </m:sub>
                      </m:sSub>
                      <m:r>
                        <a:rPr lang="en-US" sz="12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𝟕𝟎</m:t>
                          </m:r>
                          <m: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𝟓𝟖</m:t>
                          </m:r>
                        </m:num>
                        <m:den>
                          <m: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𝟏𝟗</m:t>
                          </m:r>
                          <m: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𝟒𝟕</m:t>
                          </m:r>
                        </m:den>
                      </m:f>
                      <m:r>
                        <a:rPr lang="en-US" sz="12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2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𝟔𝟐</m:t>
                      </m:r>
                    </m:oMath>
                  </m:oMathPara>
                </a14:m>
                <a:endParaRPr lang="aa-ET" sz="12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0166205-E3D6-47EF-90BD-53DCFE395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677" y="2516103"/>
                <a:ext cx="2518083" cy="44300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F49CDB4-2F9D-4A3A-BD99-05E3561E9028}"/>
                  </a:ext>
                </a:extLst>
              </p:cNvPr>
              <p:cNvSpPr txBox="1"/>
              <p:nvPr/>
            </p:nvSpPr>
            <p:spPr>
              <a:xfrm>
                <a:off x="5848677" y="3080966"/>
                <a:ext cx="2518083" cy="443006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𝑺𝑻</m:t>
                      </m:r>
                      <m:sSub>
                        <m:sSubPr>
                          <m:ctrlP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𝒂𝒘𝒂𝒚</m:t>
                          </m:r>
                        </m:sub>
                      </m:sSub>
                      <m:r>
                        <a:rPr lang="en-US" sz="12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𝟑𝟎</m:t>
                          </m:r>
                          <m: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𝟓𝟖</m:t>
                          </m:r>
                        </m:num>
                        <m:den>
                          <m: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𝟏𝟗</m:t>
                          </m:r>
                          <m: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𝟒𝟕</m:t>
                          </m:r>
                        </m:den>
                      </m:f>
                      <m:r>
                        <a:rPr lang="en-US" sz="12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12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2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𝟒𝟒</m:t>
                      </m:r>
                    </m:oMath>
                  </m:oMathPara>
                </a14:m>
                <a:endParaRPr lang="aa-ET" sz="12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F49CDB4-2F9D-4A3A-BD99-05E3561E9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677" y="3080966"/>
                <a:ext cx="2518083" cy="44300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eft Brace 9">
            <a:extLst>
              <a:ext uri="{FF2B5EF4-FFF2-40B4-BE49-F238E27FC236}">
                <a16:creationId xmlns:a16="http://schemas.microsoft.com/office/drawing/2014/main" id="{91B3D32F-BEC0-4771-80A9-5D2C31C5E7C1}"/>
              </a:ext>
            </a:extLst>
          </p:cNvPr>
          <p:cNvSpPr/>
          <p:nvPr/>
        </p:nvSpPr>
        <p:spPr>
          <a:xfrm>
            <a:off x="5605240" y="1786118"/>
            <a:ext cx="221624" cy="210080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aa-ET" sz="1350"/>
          </a:p>
        </p:txBody>
      </p:sp>
      <p:sp>
        <p:nvSpPr>
          <p:cNvPr id="12" name="Callout: Right Arrow 11">
            <a:extLst>
              <a:ext uri="{FF2B5EF4-FFF2-40B4-BE49-F238E27FC236}">
                <a16:creationId xmlns:a16="http://schemas.microsoft.com/office/drawing/2014/main" id="{D3DFE5D7-3D0C-490A-BD88-DED72FA831F9}"/>
              </a:ext>
            </a:extLst>
          </p:cNvPr>
          <p:cNvSpPr/>
          <p:nvPr/>
        </p:nvSpPr>
        <p:spPr>
          <a:xfrm>
            <a:off x="4526280" y="2590753"/>
            <a:ext cx="1057148" cy="458393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 dirty="0"/>
              <a:t>Z-Score</a:t>
            </a:r>
            <a:endParaRPr lang="aa-ET" sz="1350" b="1" dirty="0"/>
          </a:p>
        </p:txBody>
      </p:sp>
    </p:spTree>
    <p:extLst>
      <p:ext uri="{BB962C8B-B14F-4D97-AF65-F5344CB8AC3E}">
        <p14:creationId xmlns:p14="http://schemas.microsoft.com/office/powerpoint/2010/main" val="52403366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0" grpId="0" animBg="1"/>
      <p:bldP spid="21" grpId="0" animBg="1"/>
      <p:bldP spid="27" grpId="0" animBg="1"/>
      <p:bldP spid="28" grpId="0" animBg="1"/>
      <p:bldP spid="29" grpId="0" animBg="1"/>
      <p:bldP spid="10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AD401-F291-4A46-8E34-B8876DC01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Z-Score: Standard Normal Distribution</a:t>
            </a:r>
            <a:endParaRPr lang="aa-E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7DC514-FA8F-413A-898F-DE6095218D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To standardize a value from a normal distribution, convert the individual value into a z-score:</a:t>
                </a:r>
              </a:p>
              <a:p>
                <a:pPr lvl="1"/>
                <a:r>
                  <a:rPr lang="en-US" dirty="0">
                    <a:solidFill>
                      <a:srgbClr val="FF00FF"/>
                    </a:solidFill>
                  </a:rPr>
                  <a:t>Subtract</a:t>
                </a:r>
                <a:r>
                  <a:rPr lang="en-US" dirty="0"/>
                  <a:t> the mean from your individual value.</a:t>
                </a:r>
              </a:p>
              <a:p>
                <a:pPr lvl="1"/>
                <a:r>
                  <a:rPr lang="en-US" dirty="0">
                    <a:solidFill>
                      <a:srgbClr val="FF00FF"/>
                    </a:solidFill>
                  </a:rPr>
                  <a:t>Divide</a:t>
                </a:r>
                <a:r>
                  <a:rPr lang="en-US" dirty="0"/>
                  <a:t> the difference by the standard deviation.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>
                    <a:solidFill>
                      <a:srgbClr val="FF00FF"/>
                    </a:solidFill>
                  </a:rPr>
                  <a:t>Z-scores</a:t>
                </a:r>
                <a:r>
                  <a:rPr lang="en-US" dirty="0"/>
                  <a:t> tell you how many standard deviations from the mean each value lies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Standard Normal Distribution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𝑀𝑒𝑎𝑛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𝑆𝑇𝐷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aa-ET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7DC514-FA8F-413A-898F-DE6095218D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5" t="-1799" r="-1080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B66FB-28CD-4B72-9284-BD23BAA24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F2C1F6-AE32-4B4D-950D-D3B879F5D6D0}"/>
              </a:ext>
            </a:extLst>
          </p:cNvPr>
          <p:cNvSpPr txBox="1"/>
          <p:nvPr/>
        </p:nvSpPr>
        <p:spPr>
          <a:xfrm>
            <a:off x="104172" y="5702089"/>
            <a:ext cx="763061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Working Example and Explanation: </a:t>
            </a:r>
            <a:r>
              <a:rPr lang="en-US" sz="1350" dirty="0">
                <a:hlinkClick r:id="rId3"/>
              </a:rPr>
              <a:t>https://www.scribbr.com/statistics/standard-normal-distribution</a:t>
            </a:r>
            <a:r>
              <a:rPr lang="en-US" sz="1350" dirty="0"/>
              <a:t> </a:t>
            </a:r>
            <a:endParaRPr lang="aa-ET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DD6447-BFC2-4681-B8A2-569DB0683595}"/>
                  </a:ext>
                </a:extLst>
              </p:cNvPr>
              <p:cNvSpPr txBox="1"/>
              <p:nvPr/>
            </p:nvSpPr>
            <p:spPr>
              <a:xfrm>
                <a:off x="3159259" y="3150235"/>
                <a:ext cx="1656968" cy="41113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n-US" sz="12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num>
                        <m:den>
                          <m:r>
                            <a:rPr lang="en-US" sz="12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den>
                      </m:f>
                    </m:oMath>
                  </m:oMathPara>
                </a14:m>
                <a:endParaRPr lang="aa-ET" sz="12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DD6447-BFC2-4681-B8A2-569DB0683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9259" y="3150235"/>
                <a:ext cx="1656968" cy="4111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4365BC-E514-4183-8534-609FA381EF06}"/>
                  </a:ext>
                </a:extLst>
              </p:cNvPr>
              <p:cNvSpPr txBox="1"/>
              <p:nvPr/>
            </p:nvSpPr>
            <p:spPr>
              <a:xfrm>
                <a:off x="2447730" y="3767746"/>
                <a:ext cx="308002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𝐀𝐥𝐬𝐨</m:t>
                      </m:r>
                      <m:r>
                        <a:rPr lang="en-US" sz="1200" b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𝐜𝐚𝐥𝐥𝐞𝐝</m:t>
                      </m:r>
                      <m:r>
                        <a:rPr lang="en-US" sz="1200" b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US" sz="1200" b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b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𝐬𝐜𝐨𝐫𝐞</m:t>
                      </m:r>
                      <m:r>
                        <a:rPr lang="en-US" sz="1200" b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𝐧𝐨𝐫𝐦𝐚𝐥𝐢𝐳𝐚𝐭𝐢𝐨𝐧</m:t>
                      </m:r>
                    </m:oMath>
                  </m:oMathPara>
                </a14:m>
                <a:endParaRPr lang="aa-ET" sz="12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4365BC-E514-4183-8534-609FA381E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730" y="3767746"/>
                <a:ext cx="3080024" cy="276999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361447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AD401-F291-4A46-8E34-B8876DC01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Z-Score: Standard Normal Distribution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DC514-FA8F-413A-898F-DE6095218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FF00FF"/>
                </a:solidFill>
              </a:rPr>
              <a:t>positive z-score </a:t>
            </a:r>
            <a:r>
              <a:rPr lang="en-US" dirty="0"/>
              <a:t>means that your x-value is greater than the mean.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FF00FF"/>
                </a:solidFill>
              </a:rPr>
              <a:t>negative z-score </a:t>
            </a:r>
            <a:r>
              <a:rPr lang="en-US" dirty="0"/>
              <a:t>means that your x-value is less than the mean.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FF00FF"/>
                </a:solidFill>
              </a:rPr>
              <a:t>z-score of zero</a:t>
            </a:r>
            <a:r>
              <a:rPr lang="en-US" dirty="0"/>
              <a:t> means that your x-value is equal to the mean.</a:t>
            </a:r>
          </a:p>
          <a:p>
            <a:endParaRPr lang="en-US" dirty="0"/>
          </a:p>
          <a:p>
            <a:r>
              <a:rPr lang="en-US" b="1" i="1" dirty="0">
                <a:solidFill>
                  <a:srgbClr val="FF0000"/>
                </a:solidFill>
              </a:rPr>
              <a:t>Note:</a:t>
            </a:r>
            <a:r>
              <a:rPr lang="en-US" dirty="0"/>
              <a:t> </a:t>
            </a:r>
            <a:r>
              <a:rPr lang="en-US" i="1" dirty="0">
                <a:solidFill>
                  <a:srgbClr val="00B050"/>
                </a:solidFill>
              </a:rPr>
              <a:t>Relative Grading is done using Z-Score</a:t>
            </a:r>
            <a:endParaRPr lang="aa-ET" i="1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B66FB-28CD-4B72-9284-BD23BAA24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F2C1F6-AE32-4B4D-950D-D3B879F5D6D0}"/>
              </a:ext>
            </a:extLst>
          </p:cNvPr>
          <p:cNvSpPr txBox="1"/>
          <p:nvPr/>
        </p:nvSpPr>
        <p:spPr>
          <a:xfrm>
            <a:off x="104172" y="5702089"/>
            <a:ext cx="763061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Working Example and Explanation: </a:t>
            </a:r>
            <a:r>
              <a:rPr lang="en-US" sz="1350" dirty="0">
                <a:hlinkClick r:id="rId2"/>
              </a:rPr>
              <a:t>https://www.scribbr.com/statistics/standard-normal-distribution</a:t>
            </a:r>
            <a:r>
              <a:rPr lang="en-US" sz="1350" dirty="0"/>
              <a:t> </a:t>
            </a:r>
            <a:endParaRPr lang="aa-ET" sz="1350" dirty="0"/>
          </a:p>
        </p:txBody>
      </p:sp>
    </p:spTree>
    <p:extLst>
      <p:ext uri="{BB962C8B-B14F-4D97-AF65-F5344CB8AC3E}">
        <p14:creationId xmlns:p14="http://schemas.microsoft.com/office/powerpoint/2010/main" val="355748103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05027-B64B-4365-88F5-E9C0FC986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Normal Distribution Curve</a:t>
            </a:r>
            <a:endParaRPr lang="aa-E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E56D24-09B2-496D-AB28-F0BB3F5B3A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AKA Empirical Rule</a:t>
                </a:r>
              </a:p>
              <a:p>
                <a:r>
                  <a:rPr lang="en-US" b="1" dirty="0"/>
                  <a:t>In a Normal Distribution Curve:</a:t>
                </a:r>
              </a:p>
              <a:p>
                <a:pPr lvl="1"/>
                <a:r>
                  <a:rPr lang="en-US" dirty="0"/>
                  <a:t>From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FF00FF"/>
                    </a:solidFill>
                  </a:rPr>
                  <a:t> </a:t>
                </a:r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: Contains about 68% of the data</a:t>
                </a:r>
              </a:p>
              <a:p>
                <a:pPr lvl="1"/>
                <a:r>
                  <a:rPr lang="en-US" dirty="0"/>
                  <a:t>From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b="0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FF00FF"/>
                    </a:solidFill>
                  </a:rPr>
                  <a:t> </a:t>
                </a:r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: Contains about 95% of the data</a:t>
                </a:r>
              </a:p>
              <a:p>
                <a:pPr lvl="1"/>
                <a:r>
                  <a:rPr lang="en-US" dirty="0"/>
                  <a:t>From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b="0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b="0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: Contains about 99.7% of the data</a:t>
                </a:r>
              </a:p>
              <a:p>
                <a:pPr lvl="1"/>
                <a:endParaRPr lang="en-US" dirty="0"/>
              </a:p>
              <a:p>
                <a:pPr lvl="1"/>
                <a:endParaRPr lang="aa-ET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E56D24-09B2-496D-AB28-F0BB3F5B3A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88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AF8AD-D876-4FA3-A27A-31D8EA6C6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5" name="Picture 5" descr="normal1-95">
            <a:extLst>
              <a:ext uri="{FF2B5EF4-FFF2-40B4-BE49-F238E27FC236}">
                <a16:creationId xmlns:a16="http://schemas.microsoft.com/office/drawing/2014/main" id="{FA878D79-A443-42F1-B173-2D6F240B9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4986" y="3636667"/>
            <a:ext cx="2171700" cy="1943100"/>
          </a:xfrm>
          <a:prstGeom prst="rect">
            <a:avLst/>
          </a:prstGeom>
          <a:noFill/>
        </p:spPr>
      </p:pic>
      <p:pic>
        <p:nvPicPr>
          <p:cNvPr id="6" name="Picture 7" descr="normal1-68">
            <a:extLst>
              <a:ext uri="{FF2B5EF4-FFF2-40B4-BE49-F238E27FC236}">
                <a16:creationId xmlns:a16="http://schemas.microsoft.com/office/drawing/2014/main" id="{A7D44EAF-23F1-4DEB-AFBE-29B100313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4380" y="3754538"/>
            <a:ext cx="2239566" cy="1828800"/>
          </a:xfrm>
          <a:prstGeom prst="rect">
            <a:avLst/>
          </a:prstGeom>
          <a:noFill/>
        </p:spPr>
      </p:pic>
      <p:pic>
        <p:nvPicPr>
          <p:cNvPr id="7" name="Picture 9" descr="normal1-99">
            <a:extLst>
              <a:ext uri="{FF2B5EF4-FFF2-40B4-BE49-F238E27FC236}">
                <a16:creationId xmlns:a16="http://schemas.microsoft.com/office/drawing/2014/main" id="{558F7D49-7034-40CC-86E9-7EDD3DEDF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798" y="3693817"/>
            <a:ext cx="223956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809120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Number Placeholder 5">
            <a:extLst>
              <a:ext uri="{FF2B5EF4-FFF2-40B4-BE49-F238E27FC236}">
                <a16:creationId xmlns:a16="http://schemas.microsoft.com/office/drawing/2014/main" id="{1DEABA28-37E9-B57F-200A-E7191C7867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41ABB15-0B6E-8041-B8D7-3ECE8DAE4078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200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810958C3-FFD4-FA8A-8784-4B4B6583E1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170981"/>
                </a:solidFill>
              </a:rPr>
              <a:t>Reading Homework</a:t>
            </a:r>
            <a:endParaRPr lang="en-US" altLang="en-US" dirty="0">
              <a:solidFill>
                <a:schemeClr val="hlink"/>
              </a:solidFill>
            </a:endParaRP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D5DA2CC4-F326-8312-22A3-7FD9E5FA1A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382000" cy="5257800"/>
          </a:xfrm>
        </p:spPr>
        <p:txBody>
          <a:bodyPr/>
          <a:lstStyle/>
          <a:p>
            <a:pPr marL="292100" indent="-292100" eaLnBrk="1" hangingPunct="1">
              <a:lnSpc>
                <a:spcPct val="90000"/>
              </a:lnSpc>
            </a:pPr>
            <a:r>
              <a:rPr lang="en-US" altLang="en-US" dirty="0"/>
              <a:t>Chapter 2 (Han and </a:t>
            </a:r>
            <a:r>
              <a:rPr lang="en-US" altLang="en-US"/>
              <a:t>Kamber</a:t>
            </a:r>
            <a:r>
              <a:rPr lang="en-US" alt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80547782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Origin">
  <a:themeElements>
    <a:clrScheme name="Origi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0000FF"/>
      </a:hlink>
      <a:folHlink>
        <a:srgbClr val="FF00FF"/>
      </a:folHlink>
    </a:clrScheme>
    <a:fontScheme name="Origin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>
          <a:outerShdw blurRad="50800" dist="43000" dir="5400000" rotWithShape="0">
            <a:srgbClr val="000000">
              <a:alpha val="40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l Sans MT"/>
            <a:ea typeface="Gill Sans MT"/>
            <a:cs typeface="Gill Sans MT"/>
            <a:sym typeface="Gill Sans 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40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l Sans MT"/>
            <a:ea typeface="Gill Sans MT"/>
            <a:cs typeface="Gill Sans MT"/>
            <a:sym typeface="Gill Sans 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rigin">
  <a:themeElements>
    <a:clrScheme name="Origi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0000FF"/>
      </a:hlink>
      <a:folHlink>
        <a:srgbClr val="FF00FF"/>
      </a:folHlink>
    </a:clrScheme>
    <a:fontScheme name="Origin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>
          <a:outerShdw blurRad="50800" dist="43000" dir="5400000" rotWithShape="0">
            <a:srgbClr val="000000">
              <a:alpha val="40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l Sans MT"/>
            <a:ea typeface="Gill Sans MT"/>
            <a:cs typeface="Gill Sans MT"/>
            <a:sym typeface="Gill Sans 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40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l Sans MT"/>
            <a:ea typeface="Gill Sans MT"/>
            <a:cs typeface="Gill Sans MT"/>
            <a:sym typeface="Gill Sans 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926</TotalTime>
  <Words>883</Words>
  <Application>Microsoft Office PowerPoint</Application>
  <PresentationFormat>On-screen Show (4:3)</PresentationFormat>
  <Paragraphs>220</Paragraphs>
  <Slides>20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Bookman Old Style</vt:lpstr>
      <vt:lpstr>Calibri</vt:lpstr>
      <vt:lpstr>Cambria Math</vt:lpstr>
      <vt:lpstr>Gill Sans MT</vt:lpstr>
      <vt:lpstr>Origin</vt:lpstr>
      <vt:lpstr>Equation</vt:lpstr>
      <vt:lpstr>CS4048  Data Science</vt:lpstr>
      <vt:lpstr>Measuring the Central Tendency</vt:lpstr>
      <vt:lpstr>Measuring the Central Tendency</vt:lpstr>
      <vt:lpstr>Measuring the Central Tendency</vt:lpstr>
      <vt:lpstr>Median Estimation</vt:lpstr>
      <vt:lpstr>Measuring the Central Tendency</vt:lpstr>
      <vt:lpstr>Symmetric VS Skewed Data</vt:lpstr>
      <vt:lpstr>Five Number Summary of Dataset</vt:lpstr>
      <vt:lpstr>Five Number Summary of Dataset</vt:lpstr>
      <vt:lpstr>Five Number Summary of Dataset</vt:lpstr>
      <vt:lpstr>Five Number Summary of Dataset</vt:lpstr>
      <vt:lpstr>MEASURE OF DISPERSION</vt:lpstr>
      <vt:lpstr>Variance and Standard Deviation</vt:lpstr>
      <vt:lpstr>Variance and Standard Deviation</vt:lpstr>
      <vt:lpstr>Variance and Standard Deviation</vt:lpstr>
      <vt:lpstr>Variance and Standard Deviation</vt:lpstr>
      <vt:lpstr>Z-Score: Standard Normal Distribution</vt:lpstr>
      <vt:lpstr>Z-Score: Standard Normal Distribution</vt:lpstr>
      <vt:lpstr>Properties of Normal Distribution Curve</vt:lpstr>
      <vt:lpstr>Reading 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</dc:title>
  <cp:lastModifiedBy>Dr.Kashif Zafar</cp:lastModifiedBy>
  <cp:revision>16</cp:revision>
  <dcterms:modified xsi:type="dcterms:W3CDTF">2026-01-23T00:03:48Z</dcterms:modified>
</cp:coreProperties>
</file>