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39"/>
  </p:notesMasterIdLst>
  <p:sldIdLst>
    <p:sldId id="257" r:id="rId2"/>
    <p:sldId id="271" r:id="rId3"/>
    <p:sldId id="313" r:id="rId4"/>
    <p:sldId id="314" r:id="rId5"/>
    <p:sldId id="315" r:id="rId6"/>
    <p:sldId id="316" r:id="rId7"/>
    <p:sldId id="317" r:id="rId8"/>
    <p:sldId id="319" r:id="rId9"/>
    <p:sldId id="318" r:id="rId10"/>
    <p:sldId id="320" r:id="rId11"/>
    <p:sldId id="32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31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619-48F0-AAC6-78241C302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9083520"/>
        <c:axId val="359082432"/>
      </c:scatterChart>
      <c:valAx>
        <c:axId val="359083520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359082432"/>
        <c:crosses val="autoZero"/>
        <c:crossBetween val="midCat"/>
      </c:valAx>
      <c:valAx>
        <c:axId val="359082432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59083520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A5E-4A89-A824-E5863B47E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9080256"/>
        <c:axId val="359081888"/>
      </c:scatterChart>
      <c:valAx>
        <c:axId val="359080256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359081888"/>
        <c:crosses val="autoZero"/>
        <c:crossBetween val="midCat"/>
      </c:valAx>
      <c:valAx>
        <c:axId val="359081888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59080256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67D4C-589D-40B8-A0A0-130D4980D78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5B66C-A224-4E0C-8ED0-66ECC6E42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1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/>
          </a:p>
        </p:txBody>
      </p:sp>
    </p:spTree>
    <p:extLst>
      <p:ext uri="{BB962C8B-B14F-4D97-AF65-F5344CB8AC3E}">
        <p14:creationId xmlns:p14="http://schemas.microsoft.com/office/powerpoint/2010/main" val="3705184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8FF38DAD-5F37-4EA5-A798-26ED1E4539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56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49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50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10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53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62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60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22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9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22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33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92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05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81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181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31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08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71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64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59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7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3E267-D7DE-4A56-92FA-A88024D4E99E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0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92692-7932-4AE2-85EC-5F2E418BE4C9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C53B-9473-42BF-8187-2BF4372E2FB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0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ED82-84F3-4FA4-8E5A-EA330F780794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C1C1D-DA9F-457C-9CDB-F9D1EAFE1D26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5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360BE-1BE4-45FC-8738-41E896740C65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1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22CA-DF95-47E3-AC4D-3FF22F73248D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2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9C62-D09D-4E67-B6F1-A8E3DE4A0E96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7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2844D-A5FC-4035-8F4C-8DC0A3689F81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7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C82B4-D065-4579-BA73-B0271676D12E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8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C35E-F3E9-4C20-8843-6050F3CF79A3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18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8FFD-FAF8-4226-A029-6C3E86F54249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23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BBB85-0DEB-41FE-9B2C-197C57D3AB3E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5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FB40-7DFD-4E38-8A0B-DC0C52AFF9B9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69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37CF7-D60B-4D12-82D2-FC8AA2F5CED0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49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06A64-2275-4157-8FCF-BBE21B659A7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12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4901E-557E-4893-8C10-F73A02940C8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2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1E2D569-9FBD-48F7-88A1-5146B1753319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3EB212F-51B1-46F6-AD1A-A2AE64F73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13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5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1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2462213" y="1434866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1" y="896704"/>
            <a:ext cx="8815387" cy="12620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b="1" dirty="0"/>
              <a:t>Data Science</a:t>
            </a:r>
            <a:br>
              <a:rPr lang="en-US" b="1" dirty="0"/>
            </a:br>
            <a:r>
              <a:rPr lang="en-US" b="1" dirty="0"/>
              <a:t>CS 4048</a:t>
            </a:r>
            <a:endParaRPr lang="fr-BE" b="1" dirty="0"/>
          </a:p>
        </p:txBody>
      </p:sp>
      <p:sp>
        <p:nvSpPr>
          <p:cNvPr id="4100" name="Rectangle 2"/>
          <p:cNvSpPr>
            <a:spLocks noGrp="1"/>
          </p:cNvSpPr>
          <p:nvPr>
            <p:ph type="body" sz="half" idx="2"/>
          </p:nvPr>
        </p:nvSpPr>
        <p:spPr>
          <a:xfrm>
            <a:off x="3501543" y="5640082"/>
            <a:ext cx="5008563" cy="1066800"/>
          </a:xfrm>
        </p:spPr>
        <p:txBody>
          <a:bodyPr vert="horz" lIns="0" tIns="0" rIns="40639" bIns="0" rtlCol="0">
            <a:normAutofit/>
          </a:bodyPr>
          <a:lstStyle/>
          <a:p>
            <a:pPr marL="382588" indent="-342900" algn="ctr">
              <a:spcBef>
                <a:spcPts val="550"/>
              </a:spcBef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382588" indent="-342900" algn="ctr">
              <a:spcBef>
                <a:spcPts val="550"/>
              </a:spcBef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00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1852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2005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2157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>
              <a:solidFill>
                <a:schemeClr val="tx1"/>
              </a:solidFill>
            </a:endParaRPr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2157413" y="2553125"/>
            <a:ext cx="77470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sv-SE" altLang="en-US" sz="16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sv-SE" altLang="en-US" sz="1600" dirty="0">
                <a:solidFill>
                  <a:schemeClr val="tx1"/>
                </a:solidFill>
              </a:rPr>
              <a:t>(Simple Linear Regression</a:t>
            </a:r>
            <a:r>
              <a:rPr lang="sv-SE" altLang="en-US" sz="2800" dirty="0">
                <a:solidFill>
                  <a:schemeClr val="tx1"/>
                </a:solidFill>
              </a:rPr>
              <a:t>)</a:t>
            </a:r>
          </a:p>
          <a:p>
            <a:pPr algn="ctr" eaLnBrk="1" hangingPunct="1">
              <a:defRPr/>
            </a:pPr>
            <a:r>
              <a:rPr lang="sv-SE" altLang="en-US" sz="2800" dirty="0">
                <a:solidFill>
                  <a:schemeClr val="tx1"/>
                </a:solidFill>
              </a:rPr>
              <a:t>Lecture No. 4</a:t>
            </a: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2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endParaRPr lang="sv-SE" altLang="en-US" sz="18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sv-SE" altLang="en-US" sz="1800" dirty="0">
                <a:solidFill>
                  <a:schemeClr val="tx1"/>
                </a:solidFill>
              </a:rPr>
              <a:t>February 3, 2026 </a:t>
            </a:r>
          </a:p>
        </p:txBody>
      </p:sp>
      <p:grpSp>
        <p:nvGrpSpPr>
          <p:cNvPr id="10" name="Group 152"/>
          <p:cNvGrpSpPr>
            <a:grpSpLocks/>
          </p:cNvGrpSpPr>
          <p:nvPr/>
        </p:nvGrpSpPr>
        <p:grpSpPr bwMode="auto">
          <a:xfrm>
            <a:off x="7874336" y="3567447"/>
            <a:ext cx="2428764" cy="2042845"/>
            <a:chOff x="1555" y="1968"/>
            <a:chExt cx="2160" cy="2160"/>
          </a:xfrm>
        </p:grpSpPr>
        <p:grpSp>
          <p:nvGrpSpPr>
            <p:cNvPr id="11" name="Group 8"/>
            <p:cNvGrpSpPr>
              <a:grpSpLocks/>
            </p:cNvGrpSpPr>
            <p:nvPr/>
          </p:nvGrpSpPr>
          <p:grpSpPr bwMode="auto">
            <a:xfrm>
              <a:off x="1828" y="1968"/>
              <a:ext cx="270" cy="2160"/>
              <a:chOff x="720" y="0"/>
              <a:chExt cx="576" cy="4608"/>
            </a:xfrm>
          </p:grpSpPr>
          <p:sp>
            <p:nvSpPr>
              <p:cNvPr id="147" name="Rectangle 9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8" name="Rectangle 10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Rectangle 11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0" name="Rectangle 12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Rectangle 13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2" name="Rectangle 14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Rectangle 15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" name="Rectangle 16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17"/>
            <p:cNvGrpSpPr>
              <a:grpSpLocks/>
            </p:cNvGrpSpPr>
            <p:nvPr/>
          </p:nvGrpSpPr>
          <p:grpSpPr bwMode="auto">
            <a:xfrm rot="10800000">
              <a:off x="2098" y="1968"/>
              <a:ext cx="269" cy="2160"/>
              <a:chOff x="720" y="0"/>
              <a:chExt cx="576" cy="4608"/>
            </a:xfrm>
          </p:grpSpPr>
          <p:sp>
            <p:nvSpPr>
              <p:cNvPr id="139" name="Rectangle 18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19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1" name="Rectangle 20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2" name="Rectangle 21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" name="Rectangle 22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Rectangle 23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" name="Rectangle 24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" name="Rectangle 25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2367" y="1968"/>
              <a:ext cx="270" cy="2160"/>
              <a:chOff x="720" y="0"/>
              <a:chExt cx="576" cy="4608"/>
            </a:xfrm>
          </p:grpSpPr>
          <p:sp>
            <p:nvSpPr>
              <p:cNvPr id="131" name="Rectangle 27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Rectangle 28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Rectangle 29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Rectangle 30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Rectangle 31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Rectangle 32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Rectangle 33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Rectangle 34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35"/>
            <p:cNvGrpSpPr>
              <a:grpSpLocks/>
            </p:cNvGrpSpPr>
            <p:nvPr/>
          </p:nvGrpSpPr>
          <p:grpSpPr bwMode="auto">
            <a:xfrm rot="10800000">
              <a:off x="2637" y="1968"/>
              <a:ext cx="269" cy="2160"/>
              <a:chOff x="720" y="0"/>
              <a:chExt cx="576" cy="4608"/>
            </a:xfrm>
          </p:grpSpPr>
          <p:sp>
            <p:nvSpPr>
              <p:cNvPr id="123" name="Rectangle 36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37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38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39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40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8" name="Rectangle 41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Rectangle 42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Rectangle 43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2906" y="1968"/>
              <a:ext cx="270" cy="2160"/>
              <a:chOff x="720" y="0"/>
              <a:chExt cx="576" cy="4608"/>
            </a:xfrm>
          </p:grpSpPr>
          <p:sp>
            <p:nvSpPr>
              <p:cNvPr id="115" name="Rectangle 45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46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47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48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49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50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51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52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53"/>
            <p:cNvGrpSpPr>
              <a:grpSpLocks/>
            </p:cNvGrpSpPr>
            <p:nvPr/>
          </p:nvGrpSpPr>
          <p:grpSpPr bwMode="auto">
            <a:xfrm rot="10800000">
              <a:off x="3176" y="1968"/>
              <a:ext cx="269" cy="2160"/>
              <a:chOff x="720" y="0"/>
              <a:chExt cx="576" cy="4608"/>
            </a:xfrm>
          </p:grpSpPr>
          <p:sp>
            <p:nvSpPr>
              <p:cNvPr id="107" name="Rectangle 54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55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56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57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58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59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60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61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" name="Group 62"/>
            <p:cNvGrpSpPr>
              <a:grpSpLocks/>
            </p:cNvGrpSpPr>
            <p:nvPr/>
          </p:nvGrpSpPr>
          <p:grpSpPr bwMode="auto">
            <a:xfrm>
              <a:off x="3445" y="1968"/>
              <a:ext cx="270" cy="2160"/>
              <a:chOff x="720" y="0"/>
              <a:chExt cx="576" cy="4608"/>
            </a:xfrm>
          </p:grpSpPr>
          <p:sp>
            <p:nvSpPr>
              <p:cNvPr id="99" name="Rectangle 63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64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65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66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Rectangle 67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68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9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0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" name="Group 71"/>
            <p:cNvGrpSpPr>
              <a:grpSpLocks/>
            </p:cNvGrpSpPr>
            <p:nvPr/>
          </p:nvGrpSpPr>
          <p:grpSpPr bwMode="auto">
            <a:xfrm rot="10800000">
              <a:off x="1555" y="1968"/>
              <a:ext cx="269" cy="2160"/>
              <a:chOff x="720" y="0"/>
              <a:chExt cx="576" cy="4608"/>
            </a:xfrm>
          </p:grpSpPr>
          <p:sp>
            <p:nvSpPr>
              <p:cNvPr id="91" name="Rectangle 72"/>
              <p:cNvSpPr>
                <a:spLocks noChangeArrowheads="1"/>
              </p:cNvSpPr>
              <p:nvPr/>
            </p:nvSpPr>
            <p:spPr bwMode="auto">
              <a:xfrm>
                <a:off x="720" y="0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73"/>
              <p:cNvSpPr>
                <a:spLocks noChangeArrowheads="1"/>
              </p:cNvSpPr>
              <p:nvPr/>
            </p:nvSpPr>
            <p:spPr bwMode="auto">
              <a:xfrm>
                <a:off x="720" y="576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74"/>
              <p:cNvSpPr>
                <a:spLocks noChangeArrowheads="1"/>
              </p:cNvSpPr>
              <p:nvPr/>
            </p:nvSpPr>
            <p:spPr bwMode="auto">
              <a:xfrm>
                <a:off x="720" y="1152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75"/>
              <p:cNvSpPr>
                <a:spLocks noChangeArrowheads="1"/>
              </p:cNvSpPr>
              <p:nvPr/>
            </p:nvSpPr>
            <p:spPr bwMode="auto">
              <a:xfrm>
                <a:off x="720" y="1728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Rectangle 76"/>
              <p:cNvSpPr>
                <a:spLocks noChangeArrowheads="1"/>
              </p:cNvSpPr>
              <p:nvPr/>
            </p:nvSpPr>
            <p:spPr bwMode="auto">
              <a:xfrm>
                <a:off x="720" y="2304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Rectangle 77"/>
              <p:cNvSpPr>
                <a:spLocks noChangeArrowheads="1"/>
              </p:cNvSpPr>
              <p:nvPr/>
            </p:nvSpPr>
            <p:spPr bwMode="auto">
              <a:xfrm>
                <a:off x="720" y="2880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Rectangle 78"/>
              <p:cNvSpPr>
                <a:spLocks noChangeArrowheads="1"/>
              </p:cNvSpPr>
              <p:nvPr/>
            </p:nvSpPr>
            <p:spPr bwMode="auto">
              <a:xfrm>
                <a:off x="720" y="3456"/>
                <a:ext cx="576" cy="576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79"/>
              <p:cNvSpPr>
                <a:spLocks noChangeArrowheads="1"/>
              </p:cNvSpPr>
              <p:nvPr/>
            </p:nvSpPr>
            <p:spPr bwMode="auto">
              <a:xfrm>
                <a:off x="720" y="4032"/>
                <a:ext cx="576" cy="57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80"/>
            <p:cNvGrpSpPr>
              <a:grpSpLocks/>
            </p:cNvGrpSpPr>
            <p:nvPr/>
          </p:nvGrpSpPr>
          <p:grpSpPr bwMode="auto">
            <a:xfrm>
              <a:off x="1828" y="1968"/>
              <a:ext cx="270" cy="270"/>
              <a:chOff x="912" y="720"/>
              <a:chExt cx="360" cy="360"/>
            </a:xfrm>
          </p:grpSpPr>
          <p:sp>
            <p:nvSpPr>
              <p:cNvPr id="89" name="Rectangle 81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Oval 82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2367" y="1968"/>
              <a:ext cx="270" cy="270"/>
              <a:chOff x="912" y="720"/>
              <a:chExt cx="360" cy="360"/>
            </a:xfrm>
          </p:grpSpPr>
          <p:sp>
            <p:nvSpPr>
              <p:cNvPr id="87" name="Rectangle 84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Oval 85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86"/>
            <p:cNvGrpSpPr>
              <a:grpSpLocks/>
            </p:cNvGrpSpPr>
            <p:nvPr/>
          </p:nvGrpSpPr>
          <p:grpSpPr bwMode="auto">
            <a:xfrm>
              <a:off x="3176" y="2238"/>
              <a:ext cx="269" cy="270"/>
              <a:chOff x="912" y="720"/>
              <a:chExt cx="360" cy="360"/>
            </a:xfrm>
          </p:grpSpPr>
          <p:sp>
            <p:nvSpPr>
              <p:cNvPr id="85" name="Rectangle 87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Oval 88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2" name="Group 89"/>
            <p:cNvGrpSpPr>
              <a:grpSpLocks/>
            </p:cNvGrpSpPr>
            <p:nvPr/>
          </p:nvGrpSpPr>
          <p:grpSpPr bwMode="auto">
            <a:xfrm>
              <a:off x="2632" y="2238"/>
              <a:ext cx="270" cy="270"/>
              <a:chOff x="912" y="720"/>
              <a:chExt cx="360" cy="360"/>
            </a:xfrm>
          </p:grpSpPr>
          <p:sp>
            <p:nvSpPr>
              <p:cNvPr id="83" name="Rectangle 90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Oval 91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92"/>
            <p:cNvGrpSpPr>
              <a:grpSpLocks/>
            </p:cNvGrpSpPr>
            <p:nvPr/>
          </p:nvGrpSpPr>
          <p:grpSpPr bwMode="auto">
            <a:xfrm>
              <a:off x="2098" y="2238"/>
              <a:ext cx="269" cy="270"/>
              <a:chOff x="912" y="720"/>
              <a:chExt cx="360" cy="360"/>
            </a:xfrm>
          </p:grpSpPr>
          <p:sp>
            <p:nvSpPr>
              <p:cNvPr id="81" name="Rectangle 93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Oval 94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4" name="Group 95"/>
            <p:cNvGrpSpPr>
              <a:grpSpLocks/>
            </p:cNvGrpSpPr>
            <p:nvPr/>
          </p:nvGrpSpPr>
          <p:grpSpPr bwMode="auto">
            <a:xfrm>
              <a:off x="3441" y="1968"/>
              <a:ext cx="269" cy="270"/>
              <a:chOff x="912" y="720"/>
              <a:chExt cx="360" cy="360"/>
            </a:xfrm>
          </p:grpSpPr>
          <p:sp>
            <p:nvSpPr>
              <p:cNvPr id="79" name="Rectangle 96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Oval 97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5" name="Group 98"/>
            <p:cNvGrpSpPr>
              <a:grpSpLocks/>
            </p:cNvGrpSpPr>
            <p:nvPr/>
          </p:nvGrpSpPr>
          <p:grpSpPr bwMode="auto">
            <a:xfrm>
              <a:off x="2902" y="1968"/>
              <a:ext cx="269" cy="270"/>
              <a:chOff x="912" y="720"/>
              <a:chExt cx="360" cy="360"/>
            </a:xfrm>
          </p:grpSpPr>
          <p:sp>
            <p:nvSpPr>
              <p:cNvPr id="77" name="Rectangle 99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Oval 100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Group 101"/>
            <p:cNvGrpSpPr>
              <a:grpSpLocks/>
            </p:cNvGrpSpPr>
            <p:nvPr/>
          </p:nvGrpSpPr>
          <p:grpSpPr bwMode="auto">
            <a:xfrm>
              <a:off x="1556" y="2238"/>
              <a:ext cx="270" cy="270"/>
              <a:chOff x="912" y="720"/>
              <a:chExt cx="360" cy="360"/>
            </a:xfrm>
          </p:grpSpPr>
          <p:sp>
            <p:nvSpPr>
              <p:cNvPr id="75" name="Rectangle 102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Oval 103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7" name="Group 104"/>
            <p:cNvGrpSpPr>
              <a:grpSpLocks/>
            </p:cNvGrpSpPr>
            <p:nvPr/>
          </p:nvGrpSpPr>
          <p:grpSpPr bwMode="auto">
            <a:xfrm>
              <a:off x="3441" y="2508"/>
              <a:ext cx="269" cy="270"/>
              <a:chOff x="912" y="720"/>
              <a:chExt cx="360" cy="360"/>
            </a:xfrm>
          </p:grpSpPr>
          <p:sp>
            <p:nvSpPr>
              <p:cNvPr id="73" name="Rectangle 105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Oval 106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8" name="Group 107"/>
            <p:cNvGrpSpPr>
              <a:grpSpLocks/>
            </p:cNvGrpSpPr>
            <p:nvPr/>
          </p:nvGrpSpPr>
          <p:grpSpPr bwMode="auto">
            <a:xfrm>
              <a:off x="2906" y="2513"/>
              <a:ext cx="270" cy="270"/>
              <a:chOff x="912" y="720"/>
              <a:chExt cx="360" cy="360"/>
            </a:xfrm>
          </p:grpSpPr>
          <p:sp>
            <p:nvSpPr>
              <p:cNvPr id="71" name="Rectangle 108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Oval 109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29" name="Group 110"/>
            <p:cNvGrpSpPr>
              <a:grpSpLocks/>
            </p:cNvGrpSpPr>
            <p:nvPr/>
          </p:nvGrpSpPr>
          <p:grpSpPr bwMode="auto">
            <a:xfrm>
              <a:off x="2363" y="2508"/>
              <a:ext cx="269" cy="270"/>
              <a:chOff x="912" y="720"/>
              <a:chExt cx="360" cy="360"/>
            </a:xfrm>
          </p:grpSpPr>
          <p:sp>
            <p:nvSpPr>
              <p:cNvPr id="69" name="Rectangle 111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Oval 112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0" name="Group 113"/>
            <p:cNvGrpSpPr>
              <a:grpSpLocks/>
            </p:cNvGrpSpPr>
            <p:nvPr/>
          </p:nvGrpSpPr>
          <p:grpSpPr bwMode="auto">
            <a:xfrm>
              <a:off x="1824" y="2508"/>
              <a:ext cx="269" cy="270"/>
              <a:chOff x="912" y="720"/>
              <a:chExt cx="360" cy="360"/>
            </a:xfrm>
          </p:grpSpPr>
          <p:sp>
            <p:nvSpPr>
              <p:cNvPr id="67" name="Rectangle 114"/>
              <p:cNvSpPr>
                <a:spLocks noChangeArrowheads="1"/>
              </p:cNvSpPr>
              <p:nvPr/>
            </p:nvSpPr>
            <p:spPr bwMode="auto">
              <a:xfrm>
                <a:off x="912" y="720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Oval 115"/>
              <p:cNvSpPr>
                <a:spLocks noChangeArrowheads="1"/>
              </p:cNvSpPr>
              <p:nvPr/>
            </p:nvSpPr>
            <p:spPr bwMode="auto">
              <a:xfrm>
                <a:off x="942" y="762"/>
                <a:ext cx="288" cy="288"/>
              </a:xfrm>
              <a:prstGeom prst="ellipse">
                <a:avLst/>
              </a:prstGeom>
              <a:solidFill>
                <a:srgbClr val="C0C0C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1" name="Group 116"/>
            <p:cNvGrpSpPr>
              <a:grpSpLocks/>
            </p:cNvGrpSpPr>
            <p:nvPr/>
          </p:nvGrpSpPr>
          <p:grpSpPr bwMode="auto">
            <a:xfrm>
              <a:off x="2098" y="3318"/>
              <a:ext cx="269" cy="270"/>
              <a:chOff x="4416" y="2016"/>
              <a:chExt cx="360" cy="360"/>
            </a:xfrm>
          </p:grpSpPr>
          <p:sp>
            <p:nvSpPr>
              <p:cNvPr id="65" name="Rectangle 117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" name="Oval 118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2" name="Group 119"/>
            <p:cNvGrpSpPr>
              <a:grpSpLocks/>
            </p:cNvGrpSpPr>
            <p:nvPr/>
          </p:nvGrpSpPr>
          <p:grpSpPr bwMode="auto">
            <a:xfrm>
              <a:off x="2367" y="3588"/>
              <a:ext cx="270" cy="270"/>
              <a:chOff x="4416" y="2016"/>
              <a:chExt cx="360" cy="360"/>
            </a:xfrm>
          </p:grpSpPr>
          <p:sp>
            <p:nvSpPr>
              <p:cNvPr id="63" name="Rectangle 120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Oval 121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3" name="Group 122"/>
            <p:cNvGrpSpPr>
              <a:grpSpLocks/>
            </p:cNvGrpSpPr>
            <p:nvPr/>
          </p:nvGrpSpPr>
          <p:grpSpPr bwMode="auto">
            <a:xfrm>
              <a:off x="1828" y="3588"/>
              <a:ext cx="270" cy="270"/>
              <a:chOff x="4416" y="2016"/>
              <a:chExt cx="360" cy="360"/>
            </a:xfrm>
          </p:grpSpPr>
          <p:sp>
            <p:nvSpPr>
              <p:cNvPr id="61" name="Rectangle 123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Oval 124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4" name="Group 125"/>
            <p:cNvGrpSpPr>
              <a:grpSpLocks/>
            </p:cNvGrpSpPr>
            <p:nvPr/>
          </p:nvGrpSpPr>
          <p:grpSpPr bwMode="auto">
            <a:xfrm>
              <a:off x="2098" y="3858"/>
              <a:ext cx="269" cy="270"/>
              <a:chOff x="4416" y="2016"/>
              <a:chExt cx="360" cy="360"/>
            </a:xfrm>
          </p:grpSpPr>
          <p:sp>
            <p:nvSpPr>
              <p:cNvPr id="59" name="Rectangle 126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Oval 127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5" name="Group 128"/>
            <p:cNvGrpSpPr>
              <a:grpSpLocks/>
            </p:cNvGrpSpPr>
            <p:nvPr/>
          </p:nvGrpSpPr>
          <p:grpSpPr bwMode="auto">
            <a:xfrm>
              <a:off x="2637" y="3858"/>
              <a:ext cx="269" cy="270"/>
              <a:chOff x="4416" y="2016"/>
              <a:chExt cx="360" cy="360"/>
            </a:xfrm>
          </p:grpSpPr>
          <p:sp>
            <p:nvSpPr>
              <p:cNvPr id="57" name="Rectangle 129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Oval 130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6" name="Group 131"/>
            <p:cNvGrpSpPr>
              <a:grpSpLocks/>
            </p:cNvGrpSpPr>
            <p:nvPr/>
          </p:nvGrpSpPr>
          <p:grpSpPr bwMode="auto">
            <a:xfrm>
              <a:off x="2906" y="3588"/>
              <a:ext cx="270" cy="270"/>
              <a:chOff x="4416" y="2016"/>
              <a:chExt cx="360" cy="360"/>
            </a:xfrm>
          </p:grpSpPr>
          <p:sp>
            <p:nvSpPr>
              <p:cNvPr id="55" name="Rectangle 132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Oval 133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7" name="Group 134"/>
            <p:cNvGrpSpPr>
              <a:grpSpLocks/>
            </p:cNvGrpSpPr>
            <p:nvPr/>
          </p:nvGrpSpPr>
          <p:grpSpPr bwMode="auto">
            <a:xfrm>
              <a:off x="1555" y="3858"/>
              <a:ext cx="269" cy="270"/>
              <a:chOff x="4416" y="2016"/>
              <a:chExt cx="360" cy="360"/>
            </a:xfrm>
          </p:grpSpPr>
          <p:sp>
            <p:nvSpPr>
              <p:cNvPr id="53" name="Rectangle 135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Oval 136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8" name="Group 137"/>
            <p:cNvGrpSpPr>
              <a:grpSpLocks/>
            </p:cNvGrpSpPr>
            <p:nvPr/>
          </p:nvGrpSpPr>
          <p:grpSpPr bwMode="auto">
            <a:xfrm>
              <a:off x="3176" y="3858"/>
              <a:ext cx="269" cy="270"/>
              <a:chOff x="4416" y="2016"/>
              <a:chExt cx="360" cy="360"/>
            </a:xfrm>
          </p:grpSpPr>
          <p:sp>
            <p:nvSpPr>
              <p:cNvPr id="51" name="Rectangle 138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Oval 139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39" name="Group 140"/>
            <p:cNvGrpSpPr>
              <a:grpSpLocks/>
            </p:cNvGrpSpPr>
            <p:nvPr/>
          </p:nvGrpSpPr>
          <p:grpSpPr bwMode="auto">
            <a:xfrm>
              <a:off x="3445" y="3588"/>
              <a:ext cx="270" cy="270"/>
              <a:chOff x="4416" y="2016"/>
              <a:chExt cx="360" cy="360"/>
            </a:xfrm>
          </p:grpSpPr>
          <p:sp>
            <p:nvSpPr>
              <p:cNvPr id="49" name="Rectangle 141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Oval 142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0" name="Group 143"/>
            <p:cNvGrpSpPr>
              <a:grpSpLocks/>
            </p:cNvGrpSpPr>
            <p:nvPr/>
          </p:nvGrpSpPr>
          <p:grpSpPr bwMode="auto">
            <a:xfrm>
              <a:off x="1555" y="3318"/>
              <a:ext cx="269" cy="270"/>
              <a:chOff x="4416" y="2016"/>
              <a:chExt cx="360" cy="360"/>
            </a:xfrm>
          </p:grpSpPr>
          <p:sp>
            <p:nvSpPr>
              <p:cNvPr id="47" name="Rectangle 144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Oval 145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1" name="Group 146"/>
            <p:cNvGrpSpPr>
              <a:grpSpLocks/>
            </p:cNvGrpSpPr>
            <p:nvPr/>
          </p:nvGrpSpPr>
          <p:grpSpPr bwMode="auto">
            <a:xfrm>
              <a:off x="3176" y="3318"/>
              <a:ext cx="269" cy="270"/>
              <a:chOff x="4416" y="2016"/>
              <a:chExt cx="360" cy="360"/>
            </a:xfrm>
          </p:grpSpPr>
          <p:sp>
            <p:nvSpPr>
              <p:cNvPr id="45" name="Rectangle 147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Oval 148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  <p:grpSp>
          <p:nvGrpSpPr>
            <p:cNvPr id="42" name="Group 149"/>
            <p:cNvGrpSpPr>
              <a:grpSpLocks/>
            </p:cNvGrpSpPr>
            <p:nvPr/>
          </p:nvGrpSpPr>
          <p:grpSpPr bwMode="auto">
            <a:xfrm>
              <a:off x="2637" y="3318"/>
              <a:ext cx="269" cy="270"/>
              <a:chOff x="4416" y="2016"/>
              <a:chExt cx="360" cy="360"/>
            </a:xfrm>
          </p:grpSpPr>
          <p:sp>
            <p:nvSpPr>
              <p:cNvPr id="43" name="Rectangle 150"/>
              <p:cNvSpPr>
                <a:spLocks noChangeArrowheads="1"/>
              </p:cNvSpPr>
              <p:nvPr/>
            </p:nvSpPr>
            <p:spPr bwMode="auto">
              <a:xfrm>
                <a:off x="4416" y="2016"/>
                <a:ext cx="360" cy="360"/>
              </a:xfrm>
              <a:prstGeom prst="rect">
                <a:avLst/>
              </a:prstGeom>
              <a:solidFill>
                <a:srgbClr val="00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Oval 151"/>
              <p:cNvSpPr>
                <a:spLocks noChangeArrowheads="1"/>
              </p:cNvSpPr>
              <p:nvPr/>
            </p:nvSpPr>
            <p:spPr bwMode="auto">
              <a:xfrm>
                <a:off x="4446" y="2058"/>
                <a:ext cx="288" cy="288"/>
              </a:xfrm>
              <a:prstGeom prst="ellipse">
                <a:avLst/>
              </a:prstGeom>
              <a:solidFill>
                <a:srgbClr val="680000"/>
              </a:solidFill>
              <a:ln w="9525">
                <a:round/>
                <a:headEnd/>
                <a:tailEnd/>
              </a:ln>
              <a:scene3d>
                <a:camera prst="legacyObliqueTopRight"/>
                <a:lightRig rig="legacyFlat1" dir="t"/>
              </a:scene3d>
              <a:sp3d extrusionH="36500" prstMaterial="legacyMetal">
                <a:bevelT w="13500" h="13500" prst="angle"/>
                <a:bevelB w="13500" h="13500" prst="angle"/>
                <a:extrusionClr>
                  <a:schemeClr val="tx1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16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352800" y="15240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581400" y="297180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2708857" y="299085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solidFill>
                  <a:schemeClr val="accent2"/>
                </a:solidFill>
              </a:rPr>
              <a:t>Model representation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2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1732449"/>
            <a:ext cx="10559219" cy="4058751"/>
          </a:xfrm>
        </p:spPr>
        <p:txBody>
          <a:bodyPr>
            <a:normAutofit/>
          </a:bodyPr>
          <a:lstStyle/>
          <a:p>
            <a:r>
              <a:rPr lang="en-US" sz="2400" dirty="0"/>
              <a:t>Regression analysis is a statistical tool for investigating the relationship between a dependent variable and one or more independent variable. </a:t>
            </a:r>
          </a:p>
          <a:p>
            <a:r>
              <a:rPr lang="en-US" sz="2400" dirty="0"/>
              <a:t>Regression analysis is widely used for prediction and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0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0354"/>
            <a:ext cx="10353762" cy="970450"/>
          </a:xfrm>
        </p:spPr>
        <p:txBody>
          <a:bodyPr/>
          <a:lstStyle/>
          <a:p>
            <a:r>
              <a:rPr lang="en-US" dirty="0"/>
              <a:t>Sample Data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275009"/>
            <a:ext cx="10149157" cy="49733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/>
          <a:lstStyle/>
          <a:p>
            <a:r>
              <a:rPr lang="en-US" dirty="0"/>
              <a:t>Scatter Plot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369" y="1210614"/>
            <a:ext cx="10456187" cy="52932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51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0355"/>
            <a:ext cx="10353762" cy="970450"/>
          </a:xfrm>
        </p:spPr>
        <p:txBody>
          <a:bodyPr/>
          <a:lstStyle/>
          <a:p>
            <a:r>
              <a:rPr lang="en-US" dirty="0"/>
              <a:t>Simple Linear Regression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490" y="1339403"/>
            <a:ext cx="10290219" cy="490899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00507"/>
            <a:ext cx="10353762" cy="970450"/>
          </a:xfrm>
        </p:spPr>
        <p:txBody>
          <a:bodyPr/>
          <a:lstStyle/>
          <a:p>
            <a:r>
              <a:rPr lang="en-US" dirty="0"/>
              <a:t>Some Basic Assumptions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270957"/>
            <a:ext cx="10353761" cy="4977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62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39144"/>
            <a:ext cx="10353762" cy="970450"/>
          </a:xfrm>
        </p:spPr>
        <p:txBody>
          <a:bodyPr/>
          <a:lstStyle/>
          <a:p>
            <a:r>
              <a:rPr lang="en-US" dirty="0"/>
              <a:t>Normal Distribution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553" y="1309595"/>
            <a:ext cx="10263003" cy="50654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40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50" y="364902"/>
            <a:ext cx="10353762" cy="970450"/>
          </a:xfrm>
        </p:spPr>
        <p:txBody>
          <a:bodyPr/>
          <a:lstStyle/>
          <a:p>
            <a:r>
              <a:rPr lang="en-US" dirty="0"/>
              <a:t>Least Squares Estimation of Parameters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335352"/>
            <a:ext cx="10200673" cy="51298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39143"/>
            <a:ext cx="10353762" cy="970450"/>
          </a:xfrm>
        </p:spPr>
        <p:txBody>
          <a:bodyPr/>
          <a:lstStyle/>
          <a:p>
            <a:r>
              <a:rPr lang="en-US" dirty="0"/>
              <a:t>Fitted Line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481070"/>
            <a:ext cx="10239309" cy="491972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46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352023"/>
            <a:ext cx="10353762" cy="970450"/>
          </a:xfrm>
        </p:spPr>
        <p:txBody>
          <a:bodyPr/>
          <a:lstStyle/>
          <a:p>
            <a:r>
              <a:rPr lang="en-US" dirty="0"/>
              <a:t>Least Squares Estimation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459" y="1322473"/>
            <a:ext cx="10663707" cy="492592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1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4791052" y="99060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/>
        </p:nvGraphicFramePr>
        <p:xfrm>
          <a:off x="4791052" y="99060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77422" y="1066802"/>
            <a:ext cx="2351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228673"/>
            <a:ext cx="157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Price</a:t>
            </a:r>
          </a:p>
          <a:p>
            <a:pPr algn="ctr"/>
            <a:r>
              <a:rPr lang="en-US" sz="2400" dirty="0"/>
              <a:t>(in 1000s of dollars)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4958" y="3657602"/>
            <a:ext cx="1519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(feet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28197"/>
            <a:ext cx="4000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Supervised Learning</a:t>
            </a:r>
          </a:p>
          <a:p>
            <a:endParaRPr lang="en-US" sz="1000" dirty="0"/>
          </a:p>
          <a:p>
            <a:r>
              <a:rPr lang="en-US" sz="2400" dirty="0"/>
              <a:t>Given the “right answer” for each example in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0" y="4128197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Regression Problem</a:t>
            </a:r>
          </a:p>
          <a:p>
            <a:endParaRPr lang="en-US" sz="1000" dirty="0"/>
          </a:p>
          <a:p>
            <a:r>
              <a:rPr lang="en-US" sz="2400" dirty="0"/>
              <a:t>Predict real-valued output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5638800" y="4204397"/>
            <a:ext cx="0" cy="151060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37582" y="3352802"/>
            <a:ext cx="5512663" cy="1585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Notation:</a:t>
            </a:r>
          </a:p>
          <a:p>
            <a:r>
              <a:rPr lang="en-US" sz="100" dirty="0"/>
              <a:t> </a:t>
            </a:r>
            <a:endParaRPr lang="en-US" sz="2000" dirty="0"/>
          </a:p>
          <a:p>
            <a:r>
              <a:rPr lang="en-US" sz="2400" dirty="0"/>
              <a:t>   </a:t>
            </a:r>
            <a:r>
              <a:rPr lang="en-US" sz="2400" b="1" dirty="0"/>
              <a:t>m</a:t>
            </a:r>
            <a:r>
              <a:rPr lang="en-US" sz="2400" dirty="0"/>
              <a:t> = Number of training examples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x</a:t>
            </a:r>
            <a:r>
              <a:rPr lang="en-US" sz="2400" dirty="0"/>
              <a:t>’s = “input” variable / features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y</a:t>
            </a:r>
            <a:r>
              <a:rPr lang="en-US" sz="2400" dirty="0"/>
              <a:t>’s = “output” variable / “target”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00600" y="106680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>
                          <a:effectLst/>
                        </a:rPr>
                        <a:t> </a:t>
                      </a:r>
                      <a:r>
                        <a:rPr lang="en-US" sz="2400" b="1" u="none" strike="noStrike" dirty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>
                          <a:effectLst/>
                        </a:rPr>
                        <a:t>2</a:t>
                      </a:r>
                      <a:r>
                        <a:rPr lang="en-US" sz="2400" b="1" u="none" strike="noStrike" dirty="0">
                          <a:effectLst/>
                        </a:rPr>
                        <a:t> (</a:t>
                      </a:r>
                      <a:r>
                        <a:rPr lang="en-US" sz="2400" b="0" u="none" strike="noStrike" dirty="0">
                          <a:effectLst/>
                        </a:rPr>
                        <a:t>x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>
                          <a:effectLst/>
                        </a:rPr>
                        <a:t>y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93452" y="1066802"/>
            <a:ext cx="23198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Training set of</a:t>
            </a:r>
          </a:p>
          <a:p>
            <a:pPr algn="ctr"/>
            <a:r>
              <a:rPr lang="en-US" sz="2800" b="1" dirty="0"/>
              <a:t>housing prices</a:t>
            </a:r>
          </a:p>
          <a:p>
            <a:pPr algn="ctr"/>
            <a:endParaRPr lang="en-US" sz="28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48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6351431" y="1317486"/>
            <a:ext cx="0" cy="41148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72288" y="1256736"/>
            <a:ext cx="2533112" cy="6096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488" y="2475936"/>
            <a:ext cx="3142712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Learning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7844" y="3695136"/>
            <a:ext cx="762000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664805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 of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0" y="3664805"/>
            <a:ext cx="1531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Estimated price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3838844" y="1866336"/>
            <a:ext cx="0" cy="60960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3838844" y="3062492"/>
            <a:ext cx="0" cy="632644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>
            <a:off x="2667000" y="3988414"/>
            <a:ext cx="790844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4219844" y="3988414"/>
            <a:ext cx="733156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26736" y="1295402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do we represent </a:t>
            </a:r>
            <a:r>
              <a:rPr lang="en-US" sz="2400" b="1" i="1" dirty="0"/>
              <a:t>h</a:t>
            </a:r>
            <a:r>
              <a:rPr lang="en-US" sz="2400" b="1" dirty="0"/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4139" y="4724400"/>
            <a:ext cx="38930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regression with one variable.</a:t>
            </a:r>
          </a:p>
          <a:p>
            <a:r>
              <a:rPr lang="en-US" sz="2000" dirty="0"/>
              <a:t>Univariate linear regression.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76213"/>
            <a:ext cx="7772400" cy="1262062"/>
          </a:xfrm>
          <a:noFill/>
          <a:ln/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Simple Linear Regression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228850" y="16113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Model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228850" y="20685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Least Squares Method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228850" y="25257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228850" y="2982913"/>
            <a:ext cx="5549900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Model Assumptions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228850" y="3440113"/>
            <a:ext cx="5549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Testing for Significance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7" name="Rectangle 3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369670" name="Text Box 6"/>
          <p:cNvSpPr txBox="1">
            <a:spLocks noChangeArrowheads="1"/>
          </p:cNvSpPr>
          <p:nvPr/>
        </p:nvSpPr>
        <p:spPr bwMode="auto">
          <a:xfrm>
            <a:off x="2193926" y="1976439"/>
            <a:ext cx="719299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analysis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can be used to develop an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equation showing how the variables are related.</a:t>
            </a:r>
          </a:p>
        </p:txBody>
      </p:sp>
      <p:sp>
        <p:nvSpPr>
          <p:cNvPr id="369671" name="Text Box 7"/>
          <p:cNvSpPr txBox="1">
            <a:spLocks noChangeArrowheads="1"/>
          </p:cNvSpPr>
          <p:nvPr/>
        </p:nvSpPr>
        <p:spPr bwMode="auto">
          <a:xfrm>
            <a:off x="2193925" y="1119189"/>
            <a:ext cx="664797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Managerial decisions often are based on the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relationship between two or more variables.</a:t>
            </a:r>
          </a:p>
        </p:txBody>
      </p:sp>
      <p:sp>
        <p:nvSpPr>
          <p:cNvPr id="369674" name="Text Box 10"/>
          <p:cNvSpPr txBox="1">
            <a:spLocks noChangeArrowheads="1"/>
          </p:cNvSpPr>
          <p:nvPr/>
        </p:nvSpPr>
        <p:spPr bwMode="auto">
          <a:xfrm>
            <a:off x="2203450" y="3757614"/>
            <a:ext cx="7606570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variables being used to predict the value of the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dependent variable are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variables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are denoted by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369675" name="Text Box 11"/>
          <p:cNvSpPr txBox="1">
            <a:spLocks noChangeArrowheads="1"/>
          </p:cNvSpPr>
          <p:nvPr/>
        </p:nvSpPr>
        <p:spPr bwMode="auto">
          <a:xfrm>
            <a:off x="2203451" y="2900364"/>
            <a:ext cx="777488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variable being predicted is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variable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is denoted by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6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0" grpId="0" autoUpdateAnimBg="0"/>
      <p:bldP spid="369671" grpId="0" autoUpdateAnimBg="0"/>
      <p:bldP spid="369674" grpId="0" autoUpdateAnimBg="0"/>
      <p:bldP spid="36967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370691" name="Text Box 3"/>
          <p:cNvSpPr txBox="1">
            <a:spLocks noChangeArrowheads="1"/>
          </p:cNvSpPr>
          <p:nvPr/>
        </p:nvSpPr>
        <p:spPr bwMode="auto">
          <a:xfrm>
            <a:off x="2193925" y="1976439"/>
            <a:ext cx="680987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The relationship between the two variables is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approximated by a straight line.</a:t>
            </a:r>
          </a:p>
        </p:txBody>
      </p:sp>
      <p:sp>
        <p:nvSpPr>
          <p:cNvPr id="370692" name="Text Box 4"/>
          <p:cNvSpPr txBox="1">
            <a:spLocks noChangeArrowheads="1"/>
          </p:cNvSpPr>
          <p:nvPr/>
        </p:nvSpPr>
        <p:spPr bwMode="auto">
          <a:xfrm>
            <a:off x="2193926" y="1119189"/>
            <a:ext cx="754244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Simple linear regression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involves one independent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variable and one dependent variable.</a:t>
            </a:r>
          </a:p>
        </p:txBody>
      </p:sp>
      <p:sp>
        <p:nvSpPr>
          <p:cNvPr id="370696" name="Text Box 8"/>
          <p:cNvSpPr txBox="1">
            <a:spLocks noChangeArrowheads="1"/>
          </p:cNvSpPr>
          <p:nvPr/>
        </p:nvSpPr>
        <p:spPr bwMode="auto">
          <a:xfrm>
            <a:off x="2203450" y="2836864"/>
            <a:ext cx="766107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Regression analysis involving two or more </a:t>
            </a:r>
          </a:p>
          <a:p>
            <a:pPr algn="l">
              <a:buClr>
                <a:srgbClr val="66FFFF"/>
              </a:buClr>
              <a:buFont typeface="Wingdings" pitchFamily="2" charset="2"/>
              <a:buNone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     independent variables is called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multiple regression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9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1" grpId="0" autoUpdateAnimBg="0"/>
      <p:bldP spid="370692" grpId="0" autoUpdateAnimBg="0"/>
      <p:bldP spid="37069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5010150" y="2590800"/>
            <a:ext cx="2305050" cy="7620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4150"/>
            <a:ext cx="7772400" cy="5286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Simple Linear Regression Model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184776" y="2740025"/>
            <a:ext cx="163057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2613025" y="3348039"/>
            <a:ext cx="7035900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</a:pP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b</a:t>
            </a:r>
            <a:r>
              <a:rPr lang="en-US" sz="2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are called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parameters of the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</a:t>
            </a:r>
          </a:p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random variable called the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error term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  <a:endParaRPr lang="en-US" sz="2400" u="sng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2193926" y="1976438"/>
            <a:ext cx="5756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2193925" y="1119189"/>
            <a:ext cx="7795724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Clr>
                <a:srgbClr val="66FFFF"/>
              </a:buClr>
              <a:buFont typeface="Wingding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The equation that describes how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related to </a:t>
            </a:r>
            <a:r>
              <a:rPr lang="en-US" sz="2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</a:t>
            </a:r>
          </a:p>
          <a:p>
            <a:pPr algn="l"/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an error term is called 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model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51" grpId="0" autoUpdateAnimBg="0"/>
      <p:bldP spid="6152" grpId="0" autoUpdateAnimBg="0"/>
      <p:bldP spid="6153" grpId="0" autoUpdateAnimBg="0"/>
      <p:bldP spid="615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4781550" y="1695450"/>
            <a:ext cx="2628900" cy="7429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2193926" y="3862388"/>
            <a:ext cx="76739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is the expected value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for a given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value.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2193925" y="3421063"/>
            <a:ext cx="58435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slope of the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2193926" y="2982913"/>
            <a:ext cx="65563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intercept of the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39" name="Text Box 11"/>
          <p:cNvSpPr txBox="1">
            <a:spLocks noChangeArrowheads="1"/>
          </p:cNvSpPr>
          <p:nvPr/>
        </p:nvSpPr>
        <p:spPr bwMode="auto">
          <a:xfrm>
            <a:off x="2193925" y="2547938"/>
            <a:ext cx="77597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Graph of the regression equation is a straight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5070476" y="1820863"/>
            <a:ext cx="20875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=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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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</a:p>
        </p:txBody>
      </p:sp>
      <p:sp>
        <p:nvSpPr>
          <p:cNvPr id="176141" name="AutoShape 13"/>
          <p:cNvSpPr>
            <a:spLocks noChangeArrowheads="1"/>
          </p:cNvSpPr>
          <p:nvPr/>
        </p:nvSpPr>
        <p:spPr bwMode="auto">
          <a:xfrm rot="5400000">
            <a:off x="4429126" y="19939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1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3" grpId="0" animBg="1"/>
      <p:bldP spid="176134" grpId="0" autoUpdateAnimBg="0"/>
      <p:bldP spid="176136" grpId="0" autoUpdateAnimBg="0"/>
      <p:bldP spid="176138" grpId="0" autoUpdateAnimBg="0"/>
      <p:bldP spid="176139" grpId="0" autoUpdateAnimBg="0"/>
      <p:bldP spid="176140" grpId="0" autoUpdateAnimBg="0"/>
      <p:bldP spid="1761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9689"/>
            <a:ext cx="7772400" cy="814387"/>
          </a:xfrm>
        </p:spPr>
        <p:txBody>
          <a:bodyPr>
            <a:normAutofit fontScale="90000"/>
          </a:bodyPr>
          <a:lstStyle/>
          <a:p>
            <a:r>
              <a:rPr lang="en-US"/>
              <a:t>Simple Linear Regression Equation</a:t>
            </a:r>
          </a:p>
        </p:txBody>
      </p:sp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461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Positive Linear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8188" name="Rectangle 1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514850" y="1824038"/>
            <a:ext cx="725488" cy="3605212"/>
            <a:chOff x="2990850" y="1824038"/>
            <a:chExt cx="725488" cy="3605212"/>
          </a:xfrm>
        </p:grpSpPr>
        <p:sp>
          <p:nvSpPr>
            <p:cNvPr id="178180" name="Line 4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1" name="Text Box 5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857751" y="5138738"/>
            <a:ext cx="3806825" cy="457200"/>
            <a:chOff x="3333750" y="5138738"/>
            <a:chExt cx="3806825" cy="457200"/>
          </a:xfrm>
        </p:grpSpPr>
        <p:sp>
          <p:nvSpPr>
            <p:cNvPr id="178182" name="Line 6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183" name="Text Box 7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78184" name="Line 8"/>
          <p:cNvSpPr>
            <a:spLocks noChangeShapeType="1"/>
          </p:cNvSpPr>
          <p:nvPr/>
        </p:nvSpPr>
        <p:spPr bwMode="auto">
          <a:xfrm flipV="1">
            <a:off x="4857750" y="2800350"/>
            <a:ext cx="3295650" cy="133350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6732588" y="3630614"/>
            <a:ext cx="156485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positive</a:t>
            </a:r>
          </a:p>
        </p:txBody>
      </p:sp>
      <p:sp>
        <p:nvSpPr>
          <p:cNvPr id="178186" name="Text Box 10"/>
          <p:cNvSpPr txBox="1">
            <a:spLocks noChangeArrowheads="1"/>
          </p:cNvSpPr>
          <p:nvPr/>
        </p:nvSpPr>
        <p:spPr bwMode="auto">
          <a:xfrm>
            <a:off x="5067300" y="26670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78187" name="Text Box 11"/>
          <p:cNvSpPr txBox="1">
            <a:spLocks noChangeArrowheads="1"/>
          </p:cNvSpPr>
          <p:nvPr/>
        </p:nvSpPr>
        <p:spPr bwMode="auto">
          <a:xfrm>
            <a:off x="3379788" y="35004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8189" name="AutoShape 13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8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75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8" grpId="0" animBg="1"/>
      <p:bldP spid="178184" grpId="0" animBg="1"/>
      <p:bldP spid="178185" grpId="0" autoUpdateAnimBg="0"/>
      <p:bldP spid="178186" grpId="0" autoUpdateAnimBg="0"/>
      <p:bldP spid="178187" grpId="0" autoUpdateAnimBg="0"/>
      <p:bldP spid="17818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ChangeArrowheads="1"/>
          </p:cNvSpPr>
          <p:nvPr/>
        </p:nvSpPr>
        <p:spPr bwMode="auto">
          <a:xfrm>
            <a:off x="2209800" y="39689"/>
            <a:ext cx="7772400" cy="814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2208213" y="1098550"/>
            <a:ext cx="4991100" cy="622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Negative Linear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2274" name="Rectangle 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514851" y="1824038"/>
            <a:ext cx="4149725" cy="3771900"/>
            <a:chOff x="2990850" y="1824038"/>
            <a:chExt cx="4149725" cy="3771900"/>
          </a:xfrm>
        </p:grpSpPr>
        <p:sp>
          <p:nvSpPr>
            <p:cNvPr id="182277" name="Line 5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78" name="Text Box 6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  <p:sp>
          <p:nvSpPr>
            <p:cNvPr id="182279" name="Line 7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80" name="Text Box 8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82281" name="Line 9"/>
          <p:cNvSpPr>
            <a:spLocks noChangeShapeType="1"/>
          </p:cNvSpPr>
          <p:nvPr/>
        </p:nvSpPr>
        <p:spPr bwMode="auto">
          <a:xfrm>
            <a:off x="4857750" y="3219450"/>
            <a:ext cx="3276600" cy="87630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5338763" y="3954464"/>
            <a:ext cx="164500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negative</a:t>
            </a:r>
          </a:p>
        </p:txBody>
      </p:sp>
      <p:sp>
        <p:nvSpPr>
          <p:cNvPr id="182283" name="Text Box 11"/>
          <p:cNvSpPr txBox="1">
            <a:spLocks noChangeArrowheads="1"/>
          </p:cNvSpPr>
          <p:nvPr/>
        </p:nvSpPr>
        <p:spPr bwMode="auto">
          <a:xfrm>
            <a:off x="5372100" y="29337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82284" name="Text Box 12"/>
          <p:cNvSpPr txBox="1">
            <a:spLocks noChangeArrowheads="1"/>
          </p:cNvSpPr>
          <p:nvPr/>
        </p:nvSpPr>
        <p:spPr bwMode="auto">
          <a:xfrm>
            <a:off x="3379788" y="25860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2286" name="AutoShape 14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7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2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nimBg="1"/>
      <p:bldP spid="182281" grpId="0" animBg="1"/>
      <p:bldP spid="182282" grpId="0" autoUpdateAnimBg="0"/>
      <p:bldP spid="182283" grpId="0" autoUpdateAnimBg="0"/>
      <p:bldP spid="182284" grpId="0" autoUpdateAnimBg="0"/>
      <p:bldP spid="18228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/>
          <p:cNvSpPr>
            <a:spLocks noChangeArrowheads="1"/>
          </p:cNvSpPr>
          <p:nvPr/>
        </p:nvSpPr>
        <p:spPr bwMode="auto">
          <a:xfrm>
            <a:off x="2209800" y="39689"/>
            <a:ext cx="7772400" cy="814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 Equation</a:t>
            </a:r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2208213" y="1098550"/>
            <a:ext cx="7772400" cy="4610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No Relationship</a:t>
            </a:r>
            <a:endParaRPr lang="en-US" sz="2400" i="1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3219450" y="1638300"/>
            <a:ext cx="5810250" cy="4114800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514851" y="1824038"/>
            <a:ext cx="4149725" cy="3771900"/>
            <a:chOff x="2990850" y="1824038"/>
            <a:chExt cx="4149725" cy="3771900"/>
          </a:xfrm>
        </p:grpSpPr>
        <p:sp>
          <p:nvSpPr>
            <p:cNvPr id="183301" name="Line 5"/>
            <p:cNvSpPr>
              <a:spLocks noChangeShapeType="1"/>
            </p:cNvSpPr>
            <p:nvPr/>
          </p:nvSpPr>
          <p:spPr bwMode="auto">
            <a:xfrm>
              <a:off x="3333750" y="2343150"/>
              <a:ext cx="0" cy="30861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302" name="Text Box 6"/>
            <p:cNvSpPr txBox="1">
              <a:spLocks noChangeArrowheads="1"/>
            </p:cNvSpPr>
            <p:nvPr/>
          </p:nvSpPr>
          <p:spPr bwMode="auto">
            <a:xfrm>
              <a:off x="2990850" y="1824038"/>
              <a:ext cx="725488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(</a:t>
              </a:r>
              <a:r>
                <a:rPr lang="en-US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)</a:t>
              </a:r>
            </a:p>
          </p:txBody>
        </p:sp>
        <p:sp>
          <p:nvSpPr>
            <p:cNvPr id="183303" name="Line 7"/>
            <p:cNvSpPr>
              <a:spLocks noChangeShapeType="1"/>
            </p:cNvSpPr>
            <p:nvPr/>
          </p:nvSpPr>
          <p:spPr bwMode="auto">
            <a:xfrm rot="5400000">
              <a:off x="5010150" y="3733800"/>
              <a:ext cx="0" cy="3352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304" name="Text Box 8"/>
            <p:cNvSpPr txBox="1">
              <a:spLocks noChangeArrowheads="1"/>
            </p:cNvSpPr>
            <p:nvPr/>
          </p:nvSpPr>
          <p:spPr bwMode="auto">
            <a:xfrm>
              <a:off x="6804025" y="5138738"/>
              <a:ext cx="336550" cy="4572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endPara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</p:grpSp>
      <p:sp>
        <p:nvSpPr>
          <p:cNvPr id="183305" name="Line 9"/>
          <p:cNvSpPr>
            <a:spLocks noChangeShapeType="1"/>
          </p:cNvSpPr>
          <p:nvPr/>
        </p:nvSpPr>
        <p:spPr bwMode="auto">
          <a:xfrm flipV="1">
            <a:off x="4876800" y="3543300"/>
            <a:ext cx="3276600" cy="0"/>
          </a:xfrm>
          <a:prstGeom prst="line">
            <a:avLst/>
          </a:prstGeom>
          <a:noFill/>
          <a:ln w="38100">
            <a:solidFill>
              <a:srgbClr val="D20078"/>
            </a:solidFill>
            <a:round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3306" name="Text Box 10"/>
          <p:cNvSpPr txBox="1">
            <a:spLocks noChangeArrowheads="1"/>
          </p:cNvSpPr>
          <p:nvPr/>
        </p:nvSpPr>
        <p:spPr bwMode="auto">
          <a:xfrm>
            <a:off x="5937250" y="3725864"/>
            <a:ext cx="1284326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is 0</a:t>
            </a: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5384800" y="3035300"/>
            <a:ext cx="2343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line</a:t>
            </a:r>
          </a:p>
        </p:txBody>
      </p:sp>
      <p:sp>
        <p:nvSpPr>
          <p:cNvPr id="183308" name="Text Box 12"/>
          <p:cNvSpPr txBox="1">
            <a:spLocks noChangeArrowheads="1"/>
          </p:cNvSpPr>
          <p:nvPr/>
        </p:nvSpPr>
        <p:spPr bwMode="auto">
          <a:xfrm>
            <a:off x="3379788" y="2928939"/>
            <a:ext cx="1455848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Intercept</a:t>
            </a:r>
          </a:p>
          <a:p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             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3310" name="AutoShape 14"/>
          <p:cNvSpPr>
            <a:spLocks noChangeArrowheads="1"/>
          </p:cNvSpPr>
          <p:nvPr/>
        </p:nvSpPr>
        <p:spPr bwMode="auto">
          <a:xfrm rot="5400000">
            <a:off x="2943226" y="36322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4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3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/>
      <p:bldP spid="183305" grpId="0" animBg="1"/>
      <p:bldP spid="183306" grpId="0" autoUpdateAnimBg="0"/>
      <p:bldP spid="183307" grpId="0" autoUpdateAnimBg="0"/>
      <p:bldP spid="183308" grpId="0" autoUpdateAnimBg="0"/>
      <p:bldP spid="1833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4991100" y="1847850"/>
            <a:ext cx="2152650" cy="7620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2209800" y="184150"/>
            <a:ext cx="7772400" cy="528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Simple Linear Regression Equation</a:t>
            </a:r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2208213" y="1098550"/>
            <a:ext cx="77724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simple linear regression equation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5259389" y="1974850"/>
          <a:ext cx="1684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190440" progId="Equation.DSMT4">
                  <p:embed/>
                </p:oleObj>
              </mc:Choice>
              <mc:Fallback>
                <p:oleObj name="Equation" r:id="rId3" imgW="647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9" y="1974850"/>
                        <a:ext cx="1684337" cy="49530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7166" name="Group 14"/>
          <p:cNvGrpSpPr>
            <a:grpSpLocks/>
          </p:cNvGrpSpPr>
          <p:nvPr/>
        </p:nvGrpSpPr>
        <p:grpSpPr bwMode="auto">
          <a:xfrm>
            <a:off x="2193925" y="4167188"/>
            <a:ext cx="7480300" cy="512762"/>
            <a:chOff x="422" y="2625"/>
            <a:chExt cx="4712" cy="323"/>
          </a:xfrm>
        </p:grpSpPr>
        <p:sp>
          <p:nvSpPr>
            <p:cNvPr id="177165" name="Text Box 13"/>
            <p:cNvSpPr txBox="1">
              <a:spLocks noChangeArrowheads="1"/>
            </p:cNvSpPr>
            <p:nvPr/>
          </p:nvSpPr>
          <p:spPr bwMode="auto">
            <a:xfrm>
              <a:off x="422" y="2625"/>
              <a:ext cx="4712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1" algn="l">
                <a:spcBef>
                  <a:spcPct val="20000"/>
                </a:spcBef>
                <a:buClr>
                  <a:srgbClr val="66FFFF"/>
                </a:buClr>
                <a:buSzPct val="125000"/>
                <a:buFontTx/>
                <a:buChar char="•"/>
              </a:pP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 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is the estimated value of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for a given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value.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77160" name="Object 8"/>
            <p:cNvGraphicFramePr>
              <a:graphicFrameLocks noChangeAspect="1"/>
            </p:cNvGraphicFramePr>
            <p:nvPr/>
          </p:nvGraphicFramePr>
          <p:xfrm>
            <a:off x="977" y="2636"/>
            <a:ext cx="18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120" imgH="190440" progId="Equation.DSMT4">
                    <p:embed/>
                  </p:oleObj>
                </mc:Choice>
                <mc:Fallback>
                  <p:oleObj name="Equation" r:id="rId5" imgW="11412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" y="2636"/>
                          <a:ext cx="188" cy="312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62" name="Text Box 10"/>
          <p:cNvSpPr txBox="1">
            <a:spLocks noChangeArrowheads="1"/>
          </p:cNvSpPr>
          <p:nvPr/>
        </p:nvSpPr>
        <p:spPr bwMode="auto">
          <a:xfrm>
            <a:off x="2193926" y="3729038"/>
            <a:ext cx="43481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slope of the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3" name="Text Box 11"/>
          <p:cNvSpPr txBox="1">
            <a:spLocks noChangeArrowheads="1"/>
          </p:cNvSpPr>
          <p:nvPr/>
        </p:nvSpPr>
        <p:spPr bwMode="auto">
          <a:xfrm>
            <a:off x="2193925" y="3290888"/>
            <a:ext cx="50609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sz="24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intercept of the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2193926" y="2852738"/>
            <a:ext cx="75993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algn="l">
              <a:spcBef>
                <a:spcPct val="20000"/>
              </a:spcBef>
              <a:buClr>
                <a:srgbClr val="66FFFF"/>
              </a:buClr>
              <a:buSzPct val="125000"/>
              <a:buFontTx/>
              <a:buChar char="•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The graph is called the estimated regression line.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77167" name="AutoShape 15"/>
          <p:cNvSpPr>
            <a:spLocks noChangeArrowheads="1"/>
          </p:cNvSpPr>
          <p:nvPr/>
        </p:nvSpPr>
        <p:spPr bwMode="auto">
          <a:xfrm rot="5400000">
            <a:off x="4695826" y="212725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5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8" grpId="0" animBg="1"/>
      <p:bldP spid="177162" grpId="0" autoUpdateAnimBg="0"/>
      <p:bldP spid="177163" grpId="0" autoUpdateAnimBg="0"/>
      <p:bldP spid="177164" grpId="0" autoUpdateAnimBg="0"/>
      <p:bldP spid="1771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9689"/>
            <a:ext cx="7772400" cy="814387"/>
          </a:xfrm>
        </p:spPr>
        <p:txBody>
          <a:bodyPr/>
          <a:lstStyle/>
          <a:p>
            <a:r>
              <a:rPr lang="en-US"/>
              <a:t>Estimation Process</a:t>
            </a:r>
          </a:p>
        </p:txBody>
      </p:sp>
      <p:sp>
        <p:nvSpPr>
          <p:cNvPr id="174083" name="Oval 3"/>
          <p:cNvSpPr>
            <a:spLocks noChangeArrowheads="1"/>
          </p:cNvSpPr>
          <p:nvPr/>
        </p:nvSpPr>
        <p:spPr bwMode="auto">
          <a:xfrm>
            <a:off x="2286000" y="990600"/>
            <a:ext cx="3543300" cy="2324100"/>
          </a:xfrm>
          <a:prstGeom prst="ellipse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>
              <a:lnSpc>
                <a:spcPct val="90000"/>
              </a:lnSpc>
            </a:pPr>
            <a:endParaRPr lang="en-US" sz="6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Model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Regression Equation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(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 =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+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Unknown Parameters</a:t>
            </a:r>
          </a:p>
          <a:p>
            <a:pPr>
              <a:lnSpc>
                <a:spcPct val="90000"/>
              </a:lnSpc>
            </a:pP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endParaRPr lang="en-US" i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grpSp>
        <p:nvGrpSpPr>
          <p:cNvPr id="174100" name="Group 20"/>
          <p:cNvGrpSpPr>
            <a:grpSpLocks/>
          </p:cNvGrpSpPr>
          <p:nvPr/>
        </p:nvGrpSpPr>
        <p:grpSpPr bwMode="auto">
          <a:xfrm>
            <a:off x="6381750" y="952500"/>
            <a:ext cx="3486150" cy="2400300"/>
            <a:chOff x="3060" y="600"/>
            <a:chExt cx="2196" cy="151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74084" name="Oval 4"/>
            <p:cNvSpPr>
              <a:spLocks noChangeArrowheads="1"/>
            </p:cNvSpPr>
            <p:nvPr/>
          </p:nvSpPr>
          <p:spPr bwMode="auto">
            <a:xfrm>
              <a:off x="3060" y="600"/>
              <a:ext cx="2196" cy="1512"/>
            </a:xfrm>
            <a:prstGeom prst="ellipse">
              <a:avLst/>
            </a:prstGeom>
            <a:gradFill rotWithShape="0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Sample Data:</a:t>
              </a: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        y</a:t>
              </a:r>
            </a:p>
            <a:p>
              <a:pPr>
                <a:lnSpc>
                  <a:spcPct val="90000"/>
                </a:lnSpc>
              </a:pPr>
              <a:endParaRPr lang="en-US" sz="6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y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</a:p>
            <a:p>
              <a:pPr>
                <a:lnSpc>
                  <a:spcPct val="90000"/>
                </a:lnSpc>
              </a:pP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.       .</a:t>
              </a:r>
            </a:p>
            <a:p>
              <a:pPr>
                <a:lnSpc>
                  <a:spcPct val="90000"/>
                </a:lnSpc>
              </a:pPr>
              <a:r>
                <a:rPr lang="en-US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.       .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endParaRPr>
            </a:p>
            <a:p>
              <a:pPr>
                <a:lnSpc>
                  <a:spcPct val="90000"/>
                </a:lnSpc>
              </a:pP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n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n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sp>
          <p:nvSpPr>
            <p:cNvPr id="174085" name="Line 5"/>
            <p:cNvSpPr>
              <a:spLocks noChangeShapeType="1"/>
            </p:cNvSpPr>
            <p:nvPr/>
          </p:nvSpPr>
          <p:spPr bwMode="auto">
            <a:xfrm>
              <a:off x="3828" y="1188"/>
              <a:ext cx="6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87" name="Oval 7"/>
          <p:cNvSpPr>
            <a:spLocks noChangeArrowheads="1"/>
          </p:cNvSpPr>
          <p:nvPr/>
        </p:nvSpPr>
        <p:spPr bwMode="auto">
          <a:xfrm>
            <a:off x="2286000" y="3829050"/>
            <a:ext cx="3543300" cy="2324100"/>
          </a:xfrm>
          <a:prstGeom prst="ellipse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127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b</a:t>
            </a:r>
            <a:r>
              <a:rPr lang="en-US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  <a:endParaRPr lang="en-US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provide estimates of</a:t>
            </a:r>
          </a:p>
          <a:p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0</a:t>
            </a:r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and </a:t>
            </a:r>
            <a:r>
              <a:rPr lang="en-US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b</a:t>
            </a:r>
            <a:r>
              <a:rPr lang="en-US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</p:txBody>
      </p:sp>
      <p:cxnSp>
        <p:nvCxnSpPr>
          <p:cNvPr id="174090" name="AutoShape 10"/>
          <p:cNvCxnSpPr>
            <a:cxnSpLocks noChangeShapeType="1"/>
            <a:stCxn id="174083" idx="6"/>
            <a:endCxn id="174084" idx="2"/>
          </p:cNvCxnSpPr>
          <p:nvPr/>
        </p:nvCxnSpPr>
        <p:spPr bwMode="auto">
          <a:xfrm>
            <a:off x="5829300" y="2152650"/>
            <a:ext cx="552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1" name="AutoShape 11"/>
          <p:cNvCxnSpPr>
            <a:cxnSpLocks noChangeShapeType="1"/>
            <a:stCxn id="174086" idx="2"/>
            <a:endCxn id="174087" idx="6"/>
          </p:cNvCxnSpPr>
          <p:nvPr/>
        </p:nvCxnSpPr>
        <p:spPr bwMode="auto">
          <a:xfrm flipH="1">
            <a:off x="5829300" y="4991100"/>
            <a:ext cx="5524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2" name="AutoShape 12"/>
          <p:cNvCxnSpPr>
            <a:cxnSpLocks noChangeShapeType="1"/>
            <a:stCxn id="174084" idx="4"/>
            <a:endCxn id="174086" idx="0"/>
          </p:cNvCxnSpPr>
          <p:nvPr/>
        </p:nvCxnSpPr>
        <p:spPr bwMode="auto">
          <a:xfrm>
            <a:off x="8124825" y="3352800"/>
            <a:ext cx="0" cy="476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cxnSp>
        <p:nvCxnSpPr>
          <p:cNvPr id="174093" name="AutoShape 13"/>
          <p:cNvCxnSpPr>
            <a:cxnSpLocks noChangeShapeType="1"/>
            <a:stCxn id="174087" idx="0"/>
            <a:endCxn id="174083" idx="4"/>
          </p:cNvCxnSpPr>
          <p:nvPr/>
        </p:nvCxnSpPr>
        <p:spPr bwMode="auto">
          <a:xfrm flipV="1">
            <a:off x="4057650" y="3314700"/>
            <a:ext cx="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</p:cxnSp>
      <p:sp>
        <p:nvSpPr>
          <p:cNvPr id="174096" name="AutoShape 16"/>
          <p:cNvSpPr>
            <a:spLocks noChangeArrowheads="1"/>
          </p:cNvSpPr>
          <p:nvPr/>
        </p:nvSpPr>
        <p:spPr bwMode="auto">
          <a:xfrm rot="5400000">
            <a:off x="2009776" y="2070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7" name="AutoShape 17"/>
          <p:cNvSpPr>
            <a:spLocks noChangeArrowheads="1"/>
          </p:cNvSpPr>
          <p:nvPr/>
        </p:nvSpPr>
        <p:spPr bwMode="auto">
          <a:xfrm rot="16200000" flipH="1">
            <a:off x="9877426" y="2070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8" name="AutoShape 18"/>
          <p:cNvSpPr>
            <a:spLocks noChangeArrowheads="1"/>
          </p:cNvSpPr>
          <p:nvPr/>
        </p:nvSpPr>
        <p:spPr bwMode="auto">
          <a:xfrm rot="16200000" flipH="1">
            <a:off x="9896476" y="49276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099" name="AutoShape 19"/>
          <p:cNvSpPr>
            <a:spLocks noChangeArrowheads="1"/>
          </p:cNvSpPr>
          <p:nvPr/>
        </p:nvSpPr>
        <p:spPr bwMode="auto">
          <a:xfrm rot="5400000">
            <a:off x="2009776" y="494665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6381750" y="3829050"/>
            <a:ext cx="3486150" cy="2324100"/>
            <a:chOff x="4857750" y="3829050"/>
            <a:chExt cx="3486150" cy="2324100"/>
          </a:xfrm>
        </p:grpSpPr>
        <p:sp>
          <p:nvSpPr>
            <p:cNvPr id="174086" name="Oval 6"/>
            <p:cNvSpPr>
              <a:spLocks noChangeArrowheads="1"/>
            </p:cNvSpPr>
            <p:nvPr/>
          </p:nvSpPr>
          <p:spPr bwMode="auto">
            <a:xfrm>
              <a:off x="4857750" y="3829050"/>
              <a:ext cx="3486150" cy="2324100"/>
            </a:xfrm>
            <a:prstGeom prst="ellipse">
              <a:avLst/>
            </a:prstGeom>
            <a:gradFill rotWithShape="0">
              <a:gsLst>
                <a:gs pos="0">
                  <a:srgbClr val="0099CC">
                    <a:gamma/>
                    <a:shade val="46275"/>
                    <a:invGamma/>
                  </a:srgbClr>
                </a:gs>
                <a:gs pos="50000">
                  <a:srgbClr val="0099CC"/>
                </a:gs>
                <a:gs pos="100000">
                  <a:srgbClr val="0099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Estimated</a:t>
              </a:r>
            </a:p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Regression Equation</a:t>
              </a:r>
            </a:p>
            <a:p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  <a:p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Sample Statistics</a:t>
              </a:r>
            </a:p>
            <a:p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0</a:t>
              </a:r>
              <a:r>
                <a:rPr lang="en-US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, </a:t>
              </a:r>
              <a:r>
                <a:rPr lang="en-US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endParaRPr 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74088" name="Object 8"/>
            <p:cNvGraphicFramePr>
              <a:graphicFrameLocks noChangeAspect="1"/>
            </p:cNvGraphicFramePr>
            <p:nvPr/>
          </p:nvGraphicFramePr>
          <p:xfrm>
            <a:off x="5867400" y="4775200"/>
            <a:ext cx="155416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47640" imgH="190440" progId="Equation.DSMT4">
                    <p:embed/>
                  </p:oleObj>
                </mc:Choice>
                <mc:Fallback>
                  <p:oleObj name="Equation" r:id="rId3" imgW="6476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4775200"/>
                          <a:ext cx="1554163" cy="457200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6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74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4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animBg="1" autoUpdateAnimBg="0"/>
      <p:bldP spid="174087" grpId="0" animBg="1" autoUpdateAnimBg="0"/>
      <p:bldP spid="174096" grpId="0" animBg="1"/>
      <p:bldP spid="174097" grpId="0" animBg="1"/>
      <p:bldP spid="174098" grpId="0" animBg="1"/>
      <p:bldP spid="17409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4845050" y="1651000"/>
            <a:ext cx="2609850" cy="8001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84150"/>
            <a:ext cx="7772400" cy="5286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Least Squares Method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096964"/>
            <a:ext cx="7772400" cy="566737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Least Squares Criterion</a:t>
            </a:r>
            <a:endParaRPr lang="en-US"/>
          </a:p>
        </p:txBody>
      </p:sp>
      <p:graphicFrame>
        <p:nvGraphicFramePr>
          <p:cNvPr id="7172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5092701" y="1816101"/>
          <a:ext cx="2968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7920" imgH="820440" progId="Equation.DSMT4">
                  <p:embed/>
                </p:oleObj>
              </mc:Choice>
              <mc:Fallback>
                <p:oleObj name="Equation" r:id="rId3" imgW="2977920" imgH="82044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1" y="1816101"/>
                        <a:ext cx="2968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555875" y="2490789"/>
            <a:ext cx="7300396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observed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value of the dependent variable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  for the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 observation</a:t>
            </a:r>
          </a:p>
        </p:txBody>
      </p:sp>
      <p:sp>
        <p:nvSpPr>
          <p:cNvPr id="7177" name="AutoShape 9"/>
          <p:cNvSpPr>
            <a:spLocks noChangeArrowheads="1"/>
          </p:cNvSpPr>
          <p:nvPr/>
        </p:nvSpPr>
        <p:spPr bwMode="auto">
          <a:xfrm rot="5400000">
            <a:off x="4562476" y="19939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11"/>
          <p:cNvGrpSpPr>
            <a:grpSpLocks/>
          </p:cNvGrpSpPr>
          <p:nvPr/>
        </p:nvGrpSpPr>
        <p:grpSpPr bwMode="auto">
          <a:xfrm>
            <a:off x="3451226" y="3740151"/>
            <a:ext cx="6462713" cy="989013"/>
            <a:chOff x="1178" y="2944"/>
            <a:chExt cx="4071" cy="623"/>
          </a:xfrm>
        </p:grpSpPr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1201" y="2944"/>
              <a:ext cx="213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^</a:t>
              </a:r>
            </a:p>
          </p:txBody>
        </p:sp>
        <p:sp>
          <p:nvSpPr>
            <p:cNvPr id="7178" name="Text Box 10"/>
            <p:cNvSpPr txBox="1">
              <a:spLocks noChangeArrowheads="1"/>
            </p:cNvSpPr>
            <p:nvPr/>
          </p:nvSpPr>
          <p:spPr bwMode="auto">
            <a:xfrm>
              <a:off x="1178" y="2997"/>
              <a:ext cx="4071" cy="5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 i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</a:t>
              </a:r>
              <a:r>
                <a:rPr lang="en-US" sz="2400" u="sng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estimated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value of the dependent variable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      for the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i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th observation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5" grpId="0" autoUpdateAnimBg="0"/>
      <p:bldP spid="717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4202113" y="1684338"/>
            <a:ext cx="3808412" cy="13589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title"/>
          </p:nvPr>
        </p:nvSpPr>
        <p:spPr>
          <a:xfrm>
            <a:off x="2209800" y="158750"/>
            <a:ext cx="7772400" cy="5794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Least Squares Method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2208213" y="1096963"/>
            <a:ext cx="7772400" cy="533400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Slope for the Estimated Regression Equation</a:t>
            </a:r>
            <a:endParaRPr lang="en-US"/>
          </a:p>
        </p:txBody>
      </p:sp>
      <p:graphicFrame>
        <p:nvGraphicFramePr>
          <p:cNvPr id="8197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4452938" y="1862139"/>
          <a:ext cx="32940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01920" imgH="1041120" progId="Equation.DSMT4">
                  <p:embed/>
                </p:oleObj>
              </mc:Choice>
              <mc:Fallback>
                <p:oleObj name="Equation" r:id="rId3" imgW="3301920" imgH="10411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1862139"/>
                        <a:ext cx="32940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AutoShape 11"/>
          <p:cNvSpPr>
            <a:spLocks noChangeArrowheads="1"/>
          </p:cNvSpPr>
          <p:nvPr/>
        </p:nvSpPr>
        <p:spPr bwMode="auto">
          <a:xfrm rot="5400000">
            <a:off x="3800476" y="22987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2555875" y="3209926"/>
            <a:ext cx="6654386" cy="11633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value of independent variable for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   observation</a:t>
            </a:r>
          </a:p>
        </p:txBody>
      </p:sp>
      <p:grpSp>
        <p:nvGrpSpPr>
          <p:cNvPr id="8206" name="Group 14"/>
          <p:cNvGrpSpPr>
            <a:grpSpLocks/>
          </p:cNvGrpSpPr>
          <p:nvPr/>
        </p:nvGrpSpPr>
        <p:grpSpPr bwMode="auto">
          <a:xfrm>
            <a:off x="3546475" y="5214938"/>
            <a:ext cx="5392738" cy="709612"/>
            <a:chOff x="1370" y="3486"/>
            <a:chExt cx="3397" cy="447"/>
          </a:xfrm>
        </p:grpSpPr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>
              <a:off x="1370" y="3486"/>
              <a:ext cx="21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_</a:t>
              </a:r>
            </a:p>
          </p:txBody>
        </p:sp>
        <p:sp>
          <p:nvSpPr>
            <p:cNvPr id="8208" name="Text Box 16"/>
            <p:cNvSpPr txBox="1">
              <a:spLocks noChangeArrowheads="1"/>
            </p:cNvSpPr>
            <p:nvPr/>
          </p:nvSpPr>
          <p:spPr bwMode="auto">
            <a:xfrm>
              <a:off x="1370" y="3645"/>
              <a:ext cx="339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y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mean value for dependent variable</a:t>
              </a:r>
            </a:p>
          </p:txBody>
        </p:sp>
      </p:grpSp>
      <p:grpSp>
        <p:nvGrpSpPr>
          <p:cNvPr id="8209" name="Group 17"/>
          <p:cNvGrpSpPr>
            <a:grpSpLocks/>
          </p:cNvGrpSpPr>
          <p:nvPr/>
        </p:nvGrpSpPr>
        <p:grpSpPr bwMode="auto">
          <a:xfrm>
            <a:off x="3527425" y="4778376"/>
            <a:ext cx="5659438" cy="708025"/>
            <a:chOff x="1178" y="3427"/>
            <a:chExt cx="3565" cy="446"/>
          </a:xfrm>
        </p:grpSpPr>
        <p:sp>
          <p:nvSpPr>
            <p:cNvPr id="8210" name="Rectangle 18"/>
            <p:cNvSpPr>
              <a:spLocks noChangeArrowheads="1"/>
            </p:cNvSpPr>
            <p:nvPr/>
          </p:nvSpPr>
          <p:spPr bwMode="auto">
            <a:xfrm>
              <a:off x="1184" y="3427"/>
              <a:ext cx="212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_</a:t>
              </a:r>
            </a:p>
          </p:txBody>
        </p:sp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1178" y="3585"/>
              <a:ext cx="356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x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mean value for independent variable</a:t>
              </a:r>
            </a:p>
          </p:txBody>
        </p:sp>
      </p:grp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3470275" y="4362450"/>
            <a:ext cx="5461752" cy="7571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value of dependent variable for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i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  observation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2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 animBg="1"/>
      <p:bldP spid="8203" grpId="0" animBg="1"/>
      <p:bldP spid="8204" grpId="0" autoUpdateAnimBg="0"/>
      <p:bldP spid="821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4"/>
          <p:cNvSpPr>
            <a:spLocks noChangeArrowheads="1"/>
          </p:cNvSpPr>
          <p:nvPr/>
        </p:nvSpPr>
        <p:spPr bwMode="auto">
          <a:xfrm>
            <a:off x="2208213" y="1122363"/>
            <a:ext cx="7772400" cy="476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-Intercept for the Estimated Regression Equation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7394" name="Rectangle 2"/>
          <p:cNvSpPr>
            <a:spLocks noChangeArrowheads="1"/>
          </p:cNvSpPr>
          <p:nvPr/>
        </p:nvSpPr>
        <p:spPr bwMode="auto">
          <a:xfrm>
            <a:off x="5029201" y="1660526"/>
            <a:ext cx="2111375" cy="8858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7402" name="Rectangle 10"/>
          <p:cNvSpPr>
            <a:spLocks noChangeArrowheads="1"/>
          </p:cNvSpPr>
          <p:nvPr/>
        </p:nvSpPr>
        <p:spPr bwMode="auto">
          <a:xfrm>
            <a:off x="2209800" y="158750"/>
            <a:ext cx="7772400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Least Squares Method</a:t>
            </a:r>
          </a:p>
        </p:txBody>
      </p:sp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5259389" y="1846263"/>
          <a:ext cx="1684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190440" progId="Equation.DSMT4">
                  <p:embed/>
                </p:oleObj>
              </mc:Choice>
              <mc:Fallback>
                <p:oleObj name="Equation" r:id="rId3" imgW="647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9" y="1846263"/>
                        <a:ext cx="1684337" cy="49530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5" name="AutoShape 13"/>
          <p:cNvSpPr>
            <a:spLocks noChangeArrowheads="1"/>
          </p:cNvSpPr>
          <p:nvPr/>
        </p:nvSpPr>
        <p:spPr bwMode="auto">
          <a:xfrm rot="5400000">
            <a:off x="4733926" y="2017714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9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nimBg="1"/>
      <p:bldP spid="18740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51113" y="1557339"/>
            <a:ext cx="7772400" cy="2319337"/>
          </a:xfrm>
          <a:noFill/>
          <a:ln/>
        </p:spPr>
        <p:txBody>
          <a:bodyPr>
            <a:normAutofit/>
          </a:bodyPr>
          <a:lstStyle/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	Reed Auto periodically has a special week-long sale.  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As part of the advertising campaign Reed runs one or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more television commercials during the weekend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preceding the sale.  Data from a sample of 5 previous</a:t>
            </a:r>
          </a:p>
          <a:p>
            <a:pPr>
              <a:buNone/>
              <a:tabLst>
                <a:tab pos="2114550" algn="ctr"/>
                <a:tab pos="5200650" algn="ctr"/>
              </a:tabLst>
            </a:pPr>
            <a:r>
              <a:rPr lang="en-US"/>
              <a:t>sales are shown on the next slide.</a:t>
            </a:r>
          </a:p>
        </p:txBody>
      </p:sp>
      <p:sp>
        <p:nvSpPr>
          <p:cNvPr id="9436" name="Rectangle 220"/>
          <p:cNvSpPr>
            <a:spLocks noChangeArrowheads="1"/>
          </p:cNvSpPr>
          <p:nvPr/>
        </p:nvSpPr>
        <p:spPr bwMode="auto">
          <a:xfrm>
            <a:off x="2209800" y="127000"/>
            <a:ext cx="7772400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9437" name="Rectangle 221"/>
          <p:cNvSpPr>
            <a:spLocks noChangeArrowheads="1"/>
          </p:cNvSpPr>
          <p:nvPr/>
        </p:nvSpPr>
        <p:spPr bwMode="auto">
          <a:xfrm>
            <a:off x="2208213" y="1100139"/>
            <a:ext cx="5772150" cy="585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  <a:tabLst>
                <a:tab pos="2114550" algn="ctr"/>
                <a:tab pos="5200650" algn="ctr"/>
              </a:tabLst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Example:  Reed Auto Sales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9438" name="AutoShape 222"/>
          <p:cNvSpPr>
            <a:spLocks noChangeArrowheads="1"/>
          </p:cNvSpPr>
          <p:nvPr/>
        </p:nvSpPr>
        <p:spPr bwMode="auto">
          <a:xfrm rot="5400000">
            <a:off x="2276476" y="1689101"/>
            <a:ext cx="244475" cy="155575"/>
          </a:xfrm>
          <a:prstGeom prst="triangle">
            <a:avLst>
              <a:gd name="adj" fmla="val 50000"/>
            </a:avLst>
          </a:prstGeom>
          <a:solidFill>
            <a:srgbClr val="66FFFF"/>
          </a:solidFill>
          <a:ln w="12700">
            <a:solidFill>
              <a:srgbClr val="66FFFF"/>
            </a:solidFill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5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nimBg="1" autoUpdateAnimBg="0"/>
      <p:bldP spid="94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4053682" y="1685926"/>
            <a:ext cx="3963988" cy="3921125"/>
          </a:xfrm>
          <a:prstGeom prst="rect">
            <a:avLst/>
          </a:prstGeom>
          <a:gradFill rotWithShape="0">
            <a:gsLst>
              <a:gs pos="0">
                <a:srgbClr val="006699">
                  <a:gamma/>
                  <a:shade val="46275"/>
                  <a:invGamma/>
                </a:srgbClr>
              </a:gs>
              <a:gs pos="50000">
                <a:srgbClr val="006699"/>
              </a:gs>
              <a:gs pos="100000">
                <a:srgbClr val="006699">
                  <a:gamma/>
                  <a:shade val="46275"/>
                  <a:invGamma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2209800" y="127000"/>
            <a:ext cx="7772400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Simple Linear Regression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2208213" y="1100139"/>
            <a:ext cx="5772150" cy="5857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  <a:tabLst>
                <a:tab pos="2114550" algn="ctr"/>
                <a:tab pos="5200650" algn="ctr"/>
              </a:tabLst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Example:  Reed Auto Sales</a:t>
            </a: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86705" name="Text Box 337"/>
          <p:cNvSpPr txBox="1">
            <a:spLocks noChangeArrowheads="1"/>
          </p:cNvSpPr>
          <p:nvPr/>
        </p:nvSpPr>
        <p:spPr bwMode="auto">
          <a:xfrm>
            <a:off x="4203701" y="1804989"/>
            <a:ext cx="174278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</a:t>
            </a:r>
          </a:p>
          <a:p>
            <a:r>
              <a:rPr 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TV Ads (</a:t>
            </a:r>
            <a:r>
              <a:rPr lang="en-US" sz="2400" i="1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186706" name="Text Box 338"/>
          <p:cNvSpPr txBox="1">
            <a:spLocks noChangeArrowheads="1"/>
          </p:cNvSpPr>
          <p:nvPr/>
        </p:nvSpPr>
        <p:spPr bwMode="auto">
          <a:xfrm>
            <a:off x="6035676" y="1804989"/>
            <a:ext cx="1928733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</a:t>
            </a:r>
          </a:p>
          <a:p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Cars Sold (</a:t>
            </a:r>
            <a:r>
              <a:rPr lang="en-US" sz="2400" i="1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)</a:t>
            </a:r>
          </a:p>
        </p:txBody>
      </p:sp>
      <p:sp>
        <p:nvSpPr>
          <p:cNvPr id="186707" name="Text Box 339"/>
          <p:cNvSpPr txBox="1">
            <a:spLocks noChangeArrowheads="1"/>
          </p:cNvSpPr>
          <p:nvPr/>
        </p:nvSpPr>
        <p:spPr bwMode="auto">
          <a:xfrm>
            <a:off x="5027613" y="2624138"/>
            <a:ext cx="338554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</a:t>
            </a:r>
          </a:p>
        </p:txBody>
      </p:sp>
      <p:sp>
        <p:nvSpPr>
          <p:cNvPr id="186708" name="Text Box 340"/>
          <p:cNvSpPr txBox="1">
            <a:spLocks noChangeArrowheads="1"/>
          </p:cNvSpPr>
          <p:nvPr/>
        </p:nvSpPr>
        <p:spPr bwMode="auto">
          <a:xfrm>
            <a:off x="6837364" y="2624138"/>
            <a:ext cx="492443" cy="19389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14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24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18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17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27</a:t>
            </a:r>
          </a:p>
        </p:txBody>
      </p:sp>
      <p:sp>
        <p:nvSpPr>
          <p:cNvPr id="187298" name="Text Box 930"/>
          <p:cNvSpPr txBox="1">
            <a:spLocks noChangeArrowheads="1"/>
          </p:cNvSpPr>
          <p:nvPr/>
        </p:nvSpPr>
        <p:spPr bwMode="auto">
          <a:xfrm>
            <a:off x="4219576" y="4579938"/>
            <a:ext cx="1158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10</a:t>
            </a:r>
          </a:p>
        </p:txBody>
      </p:sp>
      <p:sp>
        <p:nvSpPr>
          <p:cNvPr id="187299" name="Line 931"/>
          <p:cNvSpPr>
            <a:spLocks noChangeShapeType="1"/>
          </p:cNvSpPr>
          <p:nvPr/>
        </p:nvSpPr>
        <p:spPr bwMode="auto">
          <a:xfrm flipV="1">
            <a:off x="4886325" y="4559300"/>
            <a:ext cx="522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40161" dir="1106097" algn="ctr" rotWithShape="0">
              <a:srgbClr val="00000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7300" name="Text Box 932"/>
          <p:cNvSpPr txBox="1">
            <a:spLocks noChangeArrowheads="1"/>
          </p:cNvSpPr>
          <p:nvPr/>
        </p:nvSpPr>
        <p:spPr bwMode="auto">
          <a:xfrm>
            <a:off x="5995989" y="4589463"/>
            <a:ext cx="13112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S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100</a:t>
            </a:r>
          </a:p>
        </p:txBody>
      </p:sp>
      <p:sp>
        <p:nvSpPr>
          <p:cNvPr id="187301" name="Line 933"/>
          <p:cNvSpPr>
            <a:spLocks noChangeShapeType="1"/>
          </p:cNvSpPr>
          <p:nvPr/>
        </p:nvSpPr>
        <p:spPr bwMode="auto">
          <a:xfrm flipV="1">
            <a:off x="6738938" y="4554538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>
            <a:outerShdw dist="40161" dir="1106097" algn="ctr" rotWithShape="0">
              <a:srgbClr val="000000"/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87302" name="Object 934"/>
          <p:cNvGraphicFramePr>
            <a:graphicFrameLocks noChangeAspect="1"/>
          </p:cNvGraphicFramePr>
          <p:nvPr/>
        </p:nvGraphicFramePr>
        <p:xfrm>
          <a:off x="4552950" y="5043488"/>
          <a:ext cx="812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160" imgH="152280" progId="Equation.DSMT4">
                  <p:embed/>
                </p:oleObj>
              </mc:Choice>
              <mc:Fallback>
                <p:oleObj name="Equation" r:id="rId3" imgW="31716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5043488"/>
                        <a:ext cx="812800" cy="37465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03" name="Object 935"/>
          <p:cNvGraphicFramePr>
            <a:graphicFrameLocks noChangeAspect="1"/>
          </p:cNvGraphicFramePr>
          <p:nvPr/>
        </p:nvGraphicFramePr>
        <p:xfrm>
          <a:off x="6310314" y="5049838"/>
          <a:ext cx="9747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80" imgH="177480" progId="Equation.DSMT4">
                  <p:embed/>
                </p:oleObj>
              </mc:Choice>
              <mc:Fallback>
                <p:oleObj name="Equation" r:id="rId5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4" y="5049838"/>
                        <a:ext cx="974725" cy="438150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5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300"/>
                                        <p:tgtEl>
                                          <p:spTgt spid="18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300"/>
                                        <p:tgtEl>
                                          <p:spTgt spid="18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8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8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nimBg="1"/>
      <p:bldP spid="186705" grpId="0" autoUpdateAnimBg="0"/>
      <p:bldP spid="186706" grpId="0" autoUpdateAnimBg="0"/>
      <p:bldP spid="186707" grpId="0" autoUpdateAnimBg="0"/>
      <p:bldP spid="186708" grpId="0" autoUpdateAnimBg="0"/>
      <p:bldP spid="187298" grpId="0" autoUpdateAnimBg="0"/>
      <p:bldP spid="187299" grpId="0" animBg="1"/>
      <p:bldP spid="187300" grpId="0" autoUpdateAnimBg="0"/>
      <p:bldP spid="18730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>
          <a:xfrm>
            <a:off x="2209800" y="141514"/>
            <a:ext cx="7772400" cy="6429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dirty="0"/>
              <a:t>Estimated Regression Equation</a:t>
            </a:r>
          </a:p>
        </p:txBody>
      </p:sp>
      <p:graphicFrame>
        <p:nvGraphicFramePr>
          <p:cNvPr id="10578" name="Object 338"/>
          <p:cNvGraphicFramePr>
            <a:graphicFrameLocks noChangeAspect="1"/>
          </p:cNvGraphicFramePr>
          <p:nvPr/>
        </p:nvGraphicFramePr>
        <p:xfrm>
          <a:off x="5359401" y="4343400"/>
          <a:ext cx="15208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560" imgH="419040" progId="Equation.DSMT4">
                  <p:embed/>
                </p:oleObj>
              </mc:Choice>
              <mc:Fallback>
                <p:oleObj name="Equation" r:id="rId3" imgW="1663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343400"/>
                        <a:ext cx="1520825" cy="382588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4" name="Object 34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011613" y="1614489"/>
          <a:ext cx="41973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22760" imgH="1041120" progId="Equation.DSMT4">
                  <p:embed/>
                </p:oleObj>
              </mc:Choice>
              <mc:Fallback>
                <p:oleObj name="Equation" r:id="rId5" imgW="4622760" imgH="10411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1614489"/>
                        <a:ext cx="419735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5" name="Object 345"/>
          <p:cNvGraphicFramePr>
            <a:graphicFrameLocks noChangeAspect="1"/>
          </p:cNvGraphicFramePr>
          <p:nvPr/>
        </p:nvGraphicFramePr>
        <p:xfrm>
          <a:off x="4232275" y="3165476"/>
          <a:ext cx="37671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280" imgH="190440" progId="Equation.DSMT4">
                  <p:embed/>
                </p:oleObj>
              </mc:Choice>
              <mc:Fallback>
                <p:oleObj name="Equation" r:id="rId7" imgW="15112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165476"/>
                        <a:ext cx="3767138" cy="455613"/>
                      </a:xfrm>
                      <a:prstGeom prst="rect">
                        <a:avLst/>
                      </a:prstGeom>
                      <a:noFill/>
                      <a:effectLst>
                        <a:outerShdw dist="1796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6" name="Rectangle 346"/>
          <p:cNvSpPr>
            <a:spLocks noChangeArrowheads="1"/>
          </p:cNvSpPr>
          <p:nvPr/>
        </p:nvSpPr>
        <p:spPr bwMode="auto">
          <a:xfrm>
            <a:off x="2208213" y="1103314"/>
            <a:ext cx="7181850" cy="471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Slope for the 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0587" name="Rectangle 347"/>
          <p:cNvSpPr>
            <a:spLocks noChangeArrowheads="1"/>
          </p:cNvSpPr>
          <p:nvPr/>
        </p:nvSpPr>
        <p:spPr bwMode="auto">
          <a:xfrm>
            <a:off x="2208213" y="2646364"/>
            <a:ext cx="7277100" cy="4714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y</a:t>
            </a: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-Intercept for the 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10588" name="Rectangle 348"/>
          <p:cNvSpPr>
            <a:spLocks noChangeArrowheads="1"/>
          </p:cNvSpPr>
          <p:nvPr/>
        </p:nvSpPr>
        <p:spPr bwMode="auto">
          <a:xfrm>
            <a:off x="2208213" y="3751264"/>
            <a:ext cx="6648450" cy="433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Estimated Regression Equation</a:t>
            </a:r>
            <a:endParaRPr lang="en-US" sz="2400" i="1"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6" grpId="0" autoUpdateAnimBg="0"/>
      <p:bldP spid="10587" grpId="0" autoUpdateAnimBg="0"/>
      <p:bldP spid="1058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4210050" y="1695450"/>
            <a:ext cx="3829050" cy="6858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3652838" y="2627314"/>
            <a:ext cx="4933950" cy="81597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857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Coefficient of Determination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208213" y="1106489"/>
            <a:ext cx="7772400" cy="547687"/>
          </a:xfrm>
          <a:noFill/>
          <a:ln/>
        </p:spPr>
        <p:txBody>
          <a:bodyPr/>
          <a:lstStyle/>
          <a:p>
            <a:r>
              <a:rPr lang="en-US">
                <a:solidFill>
                  <a:srgbClr val="66FFFF"/>
                </a:solidFill>
              </a:rPr>
              <a:t>Relationship Among SST, SSR, SSE</a:t>
            </a:r>
            <a:endParaRPr lang="en-US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2460625" y="3443288"/>
            <a:ext cx="6845144" cy="16804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SST = total sum of squares</a:t>
            </a: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SSR = sum of squares due to regression</a:t>
            </a: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 Antiqua" pitchFamily="18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    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SSE = sum of squares due to error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4479925" y="1804988"/>
            <a:ext cx="33099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SST    =    SSR    +    SSE</a:t>
            </a: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H="1">
            <a:off x="4591050" y="2266950"/>
            <a:ext cx="152400" cy="55245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7410450" y="2266950"/>
            <a:ext cx="323850" cy="53340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>
            <a:off x="6115050" y="2247900"/>
            <a:ext cx="0" cy="552450"/>
          </a:xfrm>
          <a:prstGeom prst="line">
            <a:avLst/>
          </a:prstGeom>
          <a:noFill/>
          <a:ln w="12700">
            <a:solidFill>
              <a:srgbClr val="66FF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1293" name="Object 29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57625" y="2822575"/>
          <a:ext cx="12890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000" imgH="507960" progId="Equation.DSMT4">
                  <p:embed/>
                </p:oleObj>
              </mc:Choice>
              <mc:Fallback>
                <p:oleObj name="Equation" r:id="rId3" imgW="163800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2822575"/>
                        <a:ext cx="12890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4" name="Object 30">
            <a:hlinkClick r:id="" action="ppaction://ole?verb=0"/>
          </p:cNvPr>
          <p:cNvGraphicFramePr>
            <a:graphicFrameLocks/>
          </p:cNvGraphicFramePr>
          <p:nvPr/>
        </p:nvGraphicFramePr>
        <p:xfrm>
          <a:off x="5214939" y="2822575"/>
          <a:ext cx="1508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7360" imgH="507960" progId="Equation.DSMT4">
                  <p:embed/>
                </p:oleObj>
              </mc:Choice>
              <mc:Fallback>
                <p:oleObj name="Equation" r:id="rId5" imgW="191736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9" y="2822575"/>
                        <a:ext cx="1508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5" name="Object 31">
            <a:hlinkClick r:id="" action="ppaction://ole?verb=0"/>
          </p:cNvPr>
          <p:cNvGraphicFramePr>
            <a:graphicFrameLocks/>
          </p:cNvGraphicFramePr>
          <p:nvPr/>
        </p:nvGraphicFramePr>
        <p:xfrm>
          <a:off x="6808789" y="2822575"/>
          <a:ext cx="15192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30320" imgH="507960" progId="Equation.DSMT4">
                  <p:embed/>
                </p:oleObj>
              </mc:Choice>
              <mc:Fallback>
                <p:oleObj name="Equation" r:id="rId7" imgW="1930320" imgH="50796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9" y="2822575"/>
                        <a:ext cx="15192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5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0"/>
                            </p:stCondLst>
                            <p:childTnLst>
                              <p:par>
                                <p:cTn id="42" presetID="17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0"/>
                            </p:stCondLst>
                            <p:childTnLst>
                              <p:par>
                                <p:cTn id="4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" grpId="0" animBg="1"/>
      <p:bldP spid="11273" grpId="0" animBg="1"/>
      <p:bldP spid="11276" grpId="0" autoUpdateAnimBg="0"/>
      <p:bldP spid="11278" grpId="0" autoUpdateAnimBg="0"/>
      <p:bldP spid="11280" grpId="0" animBg="1"/>
      <p:bldP spid="11281" grpId="0" animBg="1"/>
      <p:bldP spid="1128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ChangeArrowheads="1"/>
          </p:cNvSpPr>
          <p:nvPr/>
        </p:nvSpPr>
        <p:spPr bwMode="auto">
          <a:xfrm>
            <a:off x="4962525" y="1681164"/>
            <a:ext cx="2292350" cy="8096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188421" name="Rectangle 5"/>
          <p:cNvSpPr>
            <a:spLocks noChangeArrowheads="1"/>
          </p:cNvSpPr>
          <p:nvPr/>
        </p:nvSpPr>
        <p:spPr bwMode="auto">
          <a:xfrm>
            <a:off x="2208213" y="1106489"/>
            <a:ext cx="7772400" cy="5667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Char char="n"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</a:t>
            </a:r>
            <a:r>
              <a:rPr 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is:</a:t>
            </a:r>
          </a:p>
        </p:txBody>
      </p:sp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2209800" y="152400"/>
            <a:ext cx="7772400" cy="585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188428" name="Text Box 12"/>
          <p:cNvSpPr txBox="1">
            <a:spLocks noChangeArrowheads="1"/>
          </p:cNvSpPr>
          <p:nvPr/>
        </p:nvSpPr>
        <p:spPr bwMode="auto">
          <a:xfrm>
            <a:off x="2687639" y="2547939"/>
            <a:ext cx="6460423" cy="13480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where: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SSR = sum of squares due to regression</a:t>
            </a:r>
          </a:p>
          <a:p>
            <a:pPr algn="l">
              <a:spcBef>
                <a:spcPct val="20000"/>
              </a:spcBef>
              <a:buClr>
                <a:srgbClr val="66FFFF"/>
              </a:buClr>
              <a:buSzPct val="75000"/>
              <a:buFont typeface="Monotype Sort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	SST = total sum of squares</a:t>
            </a:r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5137150" y="1843088"/>
            <a:ext cx="19573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SSR/SST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1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nimBg="1"/>
      <p:bldP spid="188428" grpId="0" autoUpdateAnimBg="0"/>
      <p:bldP spid="18842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6" name="Rectangle 338"/>
          <p:cNvSpPr>
            <a:spLocks noChangeArrowheads="1"/>
          </p:cNvSpPr>
          <p:nvPr/>
        </p:nvSpPr>
        <p:spPr bwMode="auto">
          <a:xfrm>
            <a:off x="3581400" y="307851"/>
            <a:ext cx="7772400" cy="585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r>
              <a:rPr lang="en-US" sz="28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Coefficient of Determination</a:t>
            </a:r>
          </a:p>
        </p:txBody>
      </p:sp>
      <p:sp>
        <p:nvSpPr>
          <p:cNvPr id="12793" name="Text Box 505"/>
          <p:cNvSpPr txBox="1">
            <a:spLocks noChangeArrowheads="1"/>
          </p:cNvSpPr>
          <p:nvPr/>
        </p:nvSpPr>
        <p:spPr bwMode="auto">
          <a:xfrm>
            <a:off x="3813175" y="1443038"/>
            <a:ext cx="45672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SSR/SST = 100/114 =   .8772</a:t>
            </a:r>
          </a:p>
        </p:txBody>
      </p:sp>
      <p:sp>
        <p:nvSpPr>
          <p:cNvPr id="12794" name="Oval 506"/>
          <p:cNvSpPr>
            <a:spLocks noChangeArrowheads="1"/>
          </p:cNvSpPr>
          <p:nvPr/>
        </p:nvSpPr>
        <p:spPr bwMode="auto">
          <a:xfrm>
            <a:off x="7467600" y="1428750"/>
            <a:ext cx="990600" cy="495300"/>
          </a:xfrm>
          <a:prstGeom prst="ellips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796" name="Text Box 508"/>
          <p:cNvSpPr txBox="1">
            <a:spLocks noChangeArrowheads="1"/>
          </p:cNvSpPr>
          <p:nvPr/>
        </p:nvSpPr>
        <p:spPr bwMode="auto">
          <a:xfrm>
            <a:off x="875763" y="2384673"/>
            <a:ext cx="10391793" cy="13111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The regression relationship is very strong; 87.72% of the variability in the number of cars sold can be explained by the linear relationship between the</a:t>
            </a:r>
          </a:p>
          <a:p>
            <a:pPr algn="l">
              <a:lnSpc>
                <a:spcPct val="11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number of TV ads and the number of cars sold.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9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93" grpId="0" autoUpdateAnimBg="0"/>
      <p:bldP spid="12794" grpId="0" animBg="1"/>
      <p:bldP spid="1279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2652714" y="1322389"/>
            <a:ext cx="6886575" cy="1431925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09800" y="179614"/>
            <a:ext cx="7772400" cy="566738"/>
          </a:xfrm>
          <a:prstGeom prst="rect">
            <a:avLst/>
          </a:prstGeom>
          <a:noFill/>
          <a:ln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defRPr>
            </a:lvl9pPr>
          </a:lstStyle>
          <a:p>
            <a:r>
              <a:rPr lang="en-US" dirty="0"/>
              <a:t>Sample Correlation Coefficient</a:t>
            </a:r>
          </a:p>
        </p:txBody>
      </p:sp>
      <p:graphicFrame>
        <p:nvGraphicFramePr>
          <p:cNvPr id="4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2781301" y="2000250"/>
          <a:ext cx="29511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91960" progId="Equation.3">
                  <p:embed/>
                </p:oleObj>
              </mc:Choice>
              <mc:Fallback>
                <p:oleObj name="Equation" r:id="rId2" imgW="130788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2000250"/>
                        <a:ext cx="29511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2781301" y="1476375"/>
          <a:ext cx="6680199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266400" progId="Equation.3">
                  <p:embed/>
                </p:oleObj>
              </mc:Choice>
              <mc:Fallback>
                <p:oleObj name="Equation" r:id="rId4" imgW="29462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1" y="1476375"/>
                        <a:ext cx="6680199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2708275" y="2833688"/>
            <a:ext cx="6816726" cy="1376362"/>
            <a:chOff x="746" y="2013"/>
            <a:chExt cx="4294" cy="867"/>
          </a:xfrm>
        </p:grpSpPr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746" y="2013"/>
              <a:ext cx="4294" cy="8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where: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	 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= the slope of the estimated regression</a:t>
              </a:r>
            </a:p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	          equation</a:t>
              </a:r>
            </a:p>
          </p:txBody>
        </p:sp>
        <p:graphicFrame>
          <p:nvGraphicFramePr>
            <p:cNvPr id="9" name="Object 10"/>
            <p:cNvGraphicFramePr>
              <a:graphicFrameLocks noChangeAspect="1"/>
            </p:cNvGraphicFramePr>
            <p:nvPr/>
          </p:nvGraphicFramePr>
          <p:xfrm>
            <a:off x="2652" y="2574"/>
            <a:ext cx="969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600" imgH="228600" progId="Equation.3">
                    <p:embed/>
                  </p:oleObj>
                </mc:Choice>
                <mc:Fallback>
                  <p:oleObj name="Equation" r:id="rId6" imgW="723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2" y="2574"/>
                          <a:ext cx="969" cy="306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1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4" name="Rectangle 508"/>
          <p:cNvSpPr>
            <a:spLocks noChangeArrowheads="1"/>
          </p:cNvSpPr>
          <p:nvPr/>
        </p:nvSpPr>
        <p:spPr bwMode="auto">
          <a:xfrm>
            <a:off x="4476750" y="1314450"/>
            <a:ext cx="3276600" cy="8763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258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4648201" y="1428750"/>
          <a:ext cx="295116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91960" progId="Equation.3">
                  <p:embed/>
                </p:oleObj>
              </mc:Choice>
              <mc:Fallback>
                <p:oleObj name="Equation" r:id="rId3" imgW="1307880" imgH="291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1428750"/>
                        <a:ext cx="295116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088" name="Group 512"/>
          <p:cNvGrpSpPr>
            <a:grpSpLocks/>
          </p:cNvGrpSpPr>
          <p:nvPr/>
        </p:nvGrpSpPr>
        <p:grpSpPr bwMode="auto">
          <a:xfrm>
            <a:off x="2727325" y="2319338"/>
            <a:ext cx="6605588" cy="461962"/>
            <a:chOff x="998" y="2925"/>
            <a:chExt cx="4161" cy="291"/>
          </a:xfrm>
        </p:grpSpPr>
        <p:sp>
          <p:nvSpPr>
            <p:cNvPr id="153087" name="Text Box 511"/>
            <p:cNvSpPr txBox="1">
              <a:spLocks noChangeArrowheads="1"/>
            </p:cNvSpPr>
            <p:nvPr/>
          </p:nvSpPr>
          <p:spPr bwMode="auto">
            <a:xfrm>
              <a:off x="998" y="2925"/>
              <a:ext cx="4161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66FFFF"/>
                </a:buClr>
                <a:buSzPct val="75000"/>
                <a:buFont typeface="Monotype Sorts" pitchFamily="2" charset="2"/>
                <a:buNone/>
              </a:pP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The sign of </a:t>
              </a:r>
              <a:r>
                <a:rPr lang="en-US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b</a:t>
              </a:r>
              <a:r>
                <a:rPr lang="en-US" sz="24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1</a:t>
              </a:r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Book Antiqua" pitchFamily="18" charset="0"/>
                </a:rPr>
                <a:t> in the equation		 is “+”.</a:t>
              </a: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endParaRPr>
            </a:p>
          </p:txBody>
        </p:sp>
        <p:graphicFrame>
          <p:nvGraphicFramePr>
            <p:cNvPr id="152581" name="Object 5"/>
            <p:cNvGraphicFramePr>
              <a:graphicFrameLocks noChangeAspect="1"/>
            </p:cNvGraphicFramePr>
            <p:nvPr/>
          </p:nvGraphicFramePr>
          <p:xfrm>
            <a:off x="3588" y="2952"/>
            <a:ext cx="93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23600" imgH="203040" progId="Equation.DSMT4">
                    <p:embed/>
                  </p:oleObj>
                </mc:Choice>
                <mc:Fallback>
                  <p:oleObj name="Equation" r:id="rId5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2952"/>
                          <a:ext cx="939" cy="264"/>
                        </a:xfrm>
                        <a:prstGeom prst="rect">
                          <a:avLst/>
                        </a:prstGeom>
                        <a:noFill/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2582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5172075" y="2997201"/>
          <a:ext cx="18161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5480" imgH="253800" progId="Equation.DSMT4">
                  <p:embed/>
                </p:oleObj>
              </mc:Choice>
              <mc:Fallback>
                <p:oleObj name="Equation" r:id="rId7" imgW="825480" imgH="2538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2997201"/>
                        <a:ext cx="18161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7961" dir="2700000" algn="ctr" rotWithShape="0">
                          <a:srgbClr val="000000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917" name="Rectangle 341"/>
          <p:cNvSpPr>
            <a:spLocks noGrp="1" noChangeArrowheads="1"/>
          </p:cNvSpPr>
          <p:nvPr>
            <p:ph type="title"/>
          </p:nvPr>
        </p:nvSpPr>
        <p:spPr>
          <a:xfrm>
            <a:off x="2209800" y="165100"/>
            <a:ext cx="7772400" cy="56673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Sample Correlation Coefficient</a:t>
            </a:r>
          </a:p>
        </p:txBody>
      </p:sp>
      <p:sp>
        <p:nvSpPr>
          <p:cNvPr id="153085" name="Text Box 509"/>
          <p:cNvSpPr txBox="1">
            <a:spLocks noChangeArrowheads="1"/>
          </p:cNvSpPr>
          <p:nvPr/>
        </p:nvSpPr>
        <p:spPr bwMode="auto">
          <a:xfrm>
            <a:off x="5108576" y="3671888"/>
            <a:ext cx="19097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r</a:t>
            </a:r>
            <a:r>
              <a:rPr lang="en-US" sz="2400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xy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= </a:t>
            </a:r>
            <a:r>
              <a: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+.9366</a:t>
            </a:r>
          </a:p>
        </p:txBody>
      </p:sp>
      <p:sp>
        <p:nvSpPr>
          <p:cNvPr id="153086" name="Oval 510"/>
          <p:cNvSpPr>
            <a:spLocks noChangeArrowheads="1"/>
          </p:cNvSpPr>
          <p:nvPr/>
        </p:nvSpPr>
        <p:spPr bwMode="auto">
          <a:xfrm>
            <a:off x="5943600" y="3638550"/>
            <a:ext cx="1200150" cy="495300"/>
          </a:xfrm>
          <a:prstGeom prst="ellips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9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084" grpId="0" animBg="1"/>
      <p:bldP spid="153085" grpId="0" autoUpdateAnimBg="0"/>
      <p:bldP spid="15308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77800"/>
            <a:ext cx="7772400" cy="522288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Assumptions About the Error Term </a:t>
            </a:r>
            <a:r>
              <a:rPr lang="en-US" i="1">
                <a:latin typeface="Symbol" pitchFamily="18" charset="2"/>
              </a:rPr>
              <a:t>e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324100" y="1257300"/>
            <a:ext cx="7543800" cy="5715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1.  The error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random variable with mean of zero.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324100" y="1924050"/>
            <a:ext cx="7543800" cy="10096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2.  The variance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, denoted by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 </a:t>
            </a:r>
            <a:r>
              <a:rPr lang="en-US" sz="24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2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, is the same for</a:t>
            </a:r>
          </a:p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all values of the independent variable.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324100" y="3028950"/>
            <a:ext cx="7543800" cy="57150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l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3.  The values of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 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are independent.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324100" y="3695700"/>
            <a:ext cx="7543800" cy="1009650"/>
          </a:xfrm>
          <a:prstGeom prst="rect">
            <a:avLst/>
          </a:prstGeom>
          <a:gradFill flip="none" rotWithShape="1">
            <a:gsLst>
              <a:gs pos="0">
                <a:srgbClr val="69B800">
                  <a:shade val="30000"/>
                  <a:satMod val="115000"/>
                </a:srgbClr>
              </a:gs>
              <a:gs pos="50000">
                <a:srgbClr val="69B800">
                  <a:shade val="67500"/>
                  <a:satMod val="115000"/>
                </a:srgbClr>
              </a:gs>
              <a:gs pos="100000">
                <a:srgbClr val="69B800">
                  <a:shade val="100000"/>
                  <a:satMod val="115000"/>
                </a:srgbClr>
              </a:gs>
            </a:gsLst>
            <a:lin ang="16200000" scaled="1"/>
            <a:tileRect/>
          </a:gradFill>
          <a:ln w="635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4.  The error </a:t>
            </a:r>
            <a:r>
              <a:rPr lang="en-US" sz="2400" i="1"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</a:t>
            </a: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is a normally distributed random</a:t>
            </a:r>
          </a:p>
          <a:p>
            <a:pPr marL="457200" indent="-457200"/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     variable.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autoUpdateAnimBg="0"/>
      <p:bldP spid="14341" grpId="0" animBg="1" autoUpdateAnimBg="0"/>
      <p:bldP spid="14342" grpId="0" animBg="1" autoUpdateAnimBg="0"/>
      <p:bldP spid="1434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from Cengage Learning</a:t>
            </a:r>
          </a:p>
          <a:p>
            <a:r>
              <a:rPr lang="en-US" dirty="0"/>
              <a:t>Lectures from Prof. </a:t>
            </a:r>
            <a:r>
              <a:rPr lang="en-US" dirty="0" err="1"/>
              <a:t>Soumen</a:t>
            </a:r>
            <a:r>
              <a:rPr lang="en-US" dirty="0"/>
              <a:t> </a:t>
            </a:r>
            <a:r>
              <a:rPr lang="en-US" dirty="0" err="1"/>
              <a:t>Maity</a:t>
            </a:r>
            <a:r>
              <a:rPr lang="en-US" dirty="0"/>
              <a:t> (Indian Institute of Technology, Kharagpur)</a:t>
            </a:r>
          </a:p>
          <a:p>
            <a:r>
              <a:rPr lang="en-US" dirty="0"/>
              <a:t>Lecture from John S. </a:t>
            </a:r>
            <a:r>
              <a:rPr lang="en-US" dirty="0" err="1"/>
              <a:t>Loucks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B212F-51B1-46F6-AD1A-A2AE64F73904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67" y="3117880"/>
            <a:ext cx="6247189" cy="161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13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738</TotalTime>
  <Words>1156</Words>
  <Application>Microsoft Office PowerPoint</Application>
  <PresentationFormat>Widescreen</PresentationFormat>
  <Paragraphs>276</Paragraphs>
  <Slides>37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Book Antiqua</vt:lpstr>
      <vt:lpstr>Calibri</vt:lpstr>
      <vt:lpstr>Calisto MT</vt:lpstr>
      <vt:lpstr>Monotype Sorts</vt:lpstr>
      <vt:lpstr>Symbol</vt:lpstr>
      <vt:lpstr>Wingdings</vt:lpstr>
      <vt:lpstr>Wingdings 2</vt:lpstr>
      <vt:lpstr>Slate</vt:lpstr>
      <vt:lpstr>Equation</vt:lpstr>
      <vt:lpstr>Data Science CS 4048</vt:lpstr>
      <vt:lpstr>Model representation</vt:lpstr>
      <vt:lpstr>Regression Analysis</vt:lpstr>
      <vt:lpstr>Sample Data</vt:lpstr>
      <vt:lpstr>Scatter Plot</vt:lpstr>
      <vt:lpstr>Simple Linear Regression</vt:lpstr>
      <vt:lpstr>Some Basic Assumptions</vt:lpstr>
      <vt:lpstr>Normal Distribution</vt:lpstr>
      <vt:lpstr>Least Squares Estimation of Parameters</vt:lpstr>
      <vt:lpstr>Fitted Line</vt:lpstr>
      <vt:lpstr>Least Squares Estimation</vt:lpstr>
      <vt:lpstr>PowerPoint Presentation</vt:lpstr>
      <vt:lpstr>PowerPoint Presentation</vt:lpstr>
      <vt:lpstr>PowerPoint Presentation</vt:lpstr>
      <vt:lpstr> Simple Linear Regression</vt:lpstr>
      <vt:lpstr>PowerPoint Presentation</vt:lpstr>
      <vt:lpstr>PowerPoint Presentation</vt:lpstr>
      <vt:lpstr>Simple Linear Regression Model</vt:lpstr>
      <vt:lpstr>PowerPoint Presentation</vt:lpstr>
      <vt:lpstr>Simple Linear Regression Equation</vt:lpstr>
      <vt:lpstr>PowerPoint Presentation</vt:lpstr>
      <vt:lpstr>PowerPoint Presentation</vt:lpstr>
      <vt:lpstr>PowerPoint Presentation</vt:lpstr>
      <vt:lpstr>Estimation Process</vt:lpstr>
      <vt:lpstr>Least Squares Method</vt:lpstr>
      <vt:lpstr>Least Squares Method</vt:lpstr>
      <vt:lpstr>PowerPoint Presentation</vt:lpstr>
      <vt:lpstr>PowerPoint Presentation</vt:lpstr>
      <vt:lpstr>PowerPoint Presentation</vt:lpstr>
      <vt:lpstr>Estimated Regression Equation</vt:lpstr>
      <vt:lpstr>Coefficient of Determination</vt:lpstr>
      <vt:lpstr>PowerPoint Presentation</vt:lpstr>
      <vt:lpstr>PowerPoint Presentation</vt:lpstr>
      <vt:lpstr>PowerPoint Presentation</vt:lpstr>
      <vt:lpstr>Sample Correlation Coefficient</vt:lpstr>
      <vt:lpstr>Assumptions About the Error Term 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kashif.zafar</dc:creator>
  <cp:lastModifiedBy>Dr.Kashif Zafar</cp:lastModifiedBy>
  <cp:revision>50</cp:revision>
  <dcterms:created xsi:type="dcterms:W3CDTF">2018-10-25T06:07:17Z</dcterms:created>
  <dcterms:modified xsi:type="dcterms:W3CDTF">2026-02-03T21:22:32Z</dcterms:modified>
</cp:coreProperties>
</file>