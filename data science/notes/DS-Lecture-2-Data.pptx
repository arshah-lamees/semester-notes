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11"/>
  </p:notesMasterIdLst>
  <p:handoutMasterIdLst>
    <p:handoutMasterId r:id="rId12"/>
  </p:handoutMasterIdLst>
  <p:sldIdLst>
    <p:sldId id="1069" r:id="rId2"/>
    <p:sldId id="1020" r:id="rId3"/>
    <p:sldId id="1057" r:id="rId4"/>
    <p:sldId id="1023" r:id="rId5"/>
    <p:sldId id="1021" r:id="rId6"/>
    <p:sldId id="1058" r:id="rId7"/>
    <p:sldId id="1024" r:id="rId8"/>
    <p:sldId id="1059" r:id="rId9"/>
    <p:sldId id="1025" r:id="rId10"/>
  </p:sldIdLst>
  <p:sldSz cx="9144000" cy="6858000" type="screen4x3"/>
  <p:notesSz cx="7010400" cy="9236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1392" autoAdjust="0"/>
  </p:normalViewPr>
  <p:slideViewPr>
    <p:cSldViewPr>
      <p:cViewPr varScale="1">
        <p:scale>
          <a:sx n="64" d="100"/>
          <a:sy n="64" d="100"/>
        </p:scale>
        <p:origin x="159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352"/>
    </p:cViewPr>
  </p:sorterViewPr>
  <p:notesViewPr>
    <p:cSldViewPr>
      <p:cViewPr varScale="1">
        <p:scale>
          <a:sx n="38" d="100"/>
          <a:sy n="38" d="100"/>
        </p:scale>
        <p:origin x="-1530" y="-72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D7E9A0E1-8361-3DED-27BE-C39315B819C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B79441FE-EAFD-FAB7-04C8-44B51BB3163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925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8" name="Rectangle 4">
            <a:extLst>
              <a:ext uri="{FF2B5EF4-FFF2-40B4-BE49-F238E27FC236}">
                <a16:creationId xmlns:a16="http://schemas.microsoft.com/office/drawing/2014/main" id="{72DF6EC5-E6B9-BD85-F1CE-F2C67C7396E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7CF8BEE0-66D6-B838-EE9C-0ED6601E827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Times New Roman" panose="02020603050405020304" pitchFamily="18" charset="0"/>
              </a:defRPr>
            </a:lvl1pPr>
          </a:lstStyle>
          <a:p>
            <a:fld id="{5487FA70-BCED-AC4D-B6BD-4A2623146C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08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D7D704B-62A9-46C6-5EBE-654563C1400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1FDE6DD-BF9F-42DF-211E-8C1206A9591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>
            <a:lvl1pPr algn="r"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F5AA627B-36F6-2275-6463-73BFEF1A362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5388" y="692150"/>
            <a:ext cx="4619625" cy="3463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EB656BDA-A511-99DF-B609-647DBA73CDC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387850"/>
            <a:ext cx="5140325" cy="415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0E95ABE5-EA84-D5A2-CA31-A7F1E6628B9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defTabSz="93186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9" name="Rectangle 7">
            <a:extLst>
              <a:ext uri="{FF2B5EF4-FFF2-40B4-BE49-F238E27FC236}">
                <a16:creationId xmlns:a16="http://schemas.microsoft.com/office/drawing/2014/main" id="{FA9DB7EB-7848-FCC2-E9B5-9CA49B3E94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774113"/>
            <a:ext cx="3038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0" tIns="46586" rIns="93170" bIns="46586" numCol="1" anchor="b" anchorCtr="0" compatLnSpc="1">
            <a:prstTxWarp prst="textNoShape">
              <a:avLst/>
            </a:prstTxWarp>
          </a:bodyPr>
          <a:lstStyle>
            <a:lvl1pPr algn="r" defTabSz="931863">
              <a:defRPr sz="1200">
                <a:latin typeface="Times New Roman" panose="02020603050405020304" pitchFamily="18" charset="0"/>
              </a:defRPr>
            </a:lvl1pPr>
          </a:lstStyle>
          <a:p>
            <a:fld id="{DDBB9AA8-361B-E540-AD5F-DD0E9D7B97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93321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sv-SE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12788" indent="-274638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098550" indent="-2190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538288" indent="-2190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1976438" indent="-219075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4336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8908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3480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05238" indent="-2190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36330AF-A955-4CAE-9571-2BCC8537D67F}" type="slidenum">
              <a:rPr lang="fr-BE" altLang="en-US" smtClean="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</a:rPr>
              <a:pPr>
                <a:spcBef>
                  <a:spcPct val="0"/>
                </a:spcBef>
              </a:pPr>
              <a:t>1</a:t>
            </a:fld>
            <a:endParaRPr lang="fr-BE" altLang="en-US">
              <a:solidFill>
                <a:srgbClr val="000000"/>
              </a:solidFill>
              <a:latin typeface="Arial" panose="020B0604020202020204" pitchFamily="34" charset="0"/>
              <a:ea typeface="ヒラギノ角ゴ ProN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0141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>
            <a:extLst>
              <a:ext uri="{FF2B5EF4-FFF2-40B4-BE49-F238E27FC236}">
                <a16:creationId xmlns:a16="http://schemas.microsoft.com/office/drawing/2014/main" id="{47674935-B57C-086C-1B1F-A0AEB867F5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8" name="Notes Placeholder 2">
            <a:extLst>
              <a:ext uri="{FF2B5EF4-FFF2-40B4-BE49-F238E27FC236}">
                <a16:creationId xmlns:a16="http://schemas.microsoft.com/office/drawing/2014/main" id="{F5136FCA-7174-BDBC-1F01-E022B949C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183F3782-3412-AFF1-3785-96D612FA8E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21B6DCA-A15C-5543-8C3C-14B9C5603FFC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9138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>
            <a:extLst>
              <a:ext uri="{FF2B5EF4-FFF2-40B4-BE49-F238E27FC236}">
                <a16:creationId xmlns:a16="http://schemas.microsoft.com/office/drawing/2014/main" id="{A7EE1AEC-5153-CE72-5CBF-B342865303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6" name="Notes Placeholder 2">
            <a:extLst>
              <a:ext uri="{FF2B5EF4-FFF2-40B4-BE49-F238E27FC236}">
                <a16:creationId xmlns:a16="http://schemas.microsoft.com/office/drawing/2014/main" id="{D54A9840-21C2-7DBB-F62B-533D25363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6627" name="Slide Number Placeholder 3">
            <a:extLst>
              <a:ext uri="{FF2B5EF4-FFF2-40B4-BE49-F238E27FC236}">
                <a16:creationId xmlns:a16="http://schemas.microsoft.com/office/drawing/2014/main" id="{12FEC442-DCBA-921A-5F5D-6E3A9425D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8FB10B5-A865-5D4B-BA39-45451BDA1943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4454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0E683366-9CB3-3EEF-7544-6034600C5C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F5A71B8-C489-494A-B435-2FD8EAE0F294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694A87D5-A2C8-3ACD-A4AF-E2B227042E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693738"/>
            <a:ext cx="4616450" cy="3462337"/>
          </a:xfrm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FF7F282E-1FA7-7038-0D31-DCA4AF764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7037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0CC1EA5A-891B-6875-9FDA-C85AEFAFFB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A6D5768-23D2-6747-8990-7FD321E4C39E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A20EBF64-1248-1BAC-BB01-15ABB26B67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693738"/>
            <a:ext cx="4616450" cy="3462337"/>
          </a:xfrm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A1F9E80-0D4C-C396-0518-63BE30C2EF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9687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FDB1B3C4-6BA3-4906-66D9-529AD9787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1377CC3-2F7A-5046-8233-4FBD923BDBA2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18A987C2-3E10-1D6D-B3E1-23DBB061E9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693738"/>
            <a:ext cx="4616450" cy="3462337"/>
          </a:xfrm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1710DF8-BEC5-2A29-B08A-E93981161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5068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92C138A1-EFA0-5BBC-0DB6-7CAD258B19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9D5CFF8-F621-3547-A242-87BD89B816B5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98DCBC3B-6A50-9B8D-D81E-4F4C9B099D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693738"/>
            <a:ext cx="4616450" cy="3462337"/>
          </a:xfrm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8CEB87B3-48FF-92A0-DAAE-76874E62D4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3088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663F99FC-3360-CD6D-B167-CEEFE93010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2A694E1-86F7-9445-B41B-2FDC40D30F4A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B87C1741-4337-C378-FA18-BAB1EFFF61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98563" y="693738"/>
            <a:ext cx="4616450" cy="3462337"/>
          </a:xfrm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E806435-A50C-1D38-A45F-E9ED9AE9EC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6263"/>
            <a:ext cx="514032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748" tIns="45373" rIns="90748" bIns="45373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6872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00B90A0-8BDE-5733-D9C7-22E56BD8A8EE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1474F5D6-13C9-2FFF-D05A-7B6E68BA1B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72E16F5A-7773-A191-0B0D-82C5E96D2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29D257EA-DEA7-F970-1A46-3B15312B0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1EE7DA4E-583A-125C-0D32-8ED9214E1C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5762137-6E50-A8E9-A82C-ADFBCEAC76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0EE33DF-E539-12DC-7E5E-6FC9B701D7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77D816F6-5421-FD33-B6F7-23AA5705A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96273EE3-A9AF-E487-6A6F-D8086BC6B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FE9A8F7A-11A6-9F6D-00FA-472F69A6629D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9298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2980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C75F6EF0-D580-354A-7DA3-433AAB7C2A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722031DB-05BE-AE45-B829-D28AFCFDBFE5}" type="datetime4">
              <a:rPr lang="en-US"/>
              <a:pPr>
                <a:defRPr/>
              </a:pPr>
              <a:t>January 22, 2026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C412EB97-4B3B-6302-4AD7-0F88E02236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Data Mining: Concepts and Techniques</a:t>
            </a: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37F4A1FA-9684-67FD-966D-54D1EB24D5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fld id="{EA667FC0-8A90-D84D-8C93-8E6EA25760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2310108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E9F4754A-23EE-8969-D3AC-DCBED78DED7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F1D323-F673-284C-B885-A1FAF11150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072023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C39BAF9A-1FC2-6226-FCC0-C5A10EA8D7B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8F5C6E-E3BD-554F-850F-CE1FD31DC19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9652224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295400"/>
            <a:ext cx="411480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4FA63878-C7D2-83A4-0B96-337E07E06EF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09A16A-BC91-A448-BD47-0D926E8C16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602583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DDE51376-A502-6B9D-EE34-3D0D3B6F56A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29A5A8-B918-2E4B-B618-4C4A1D45F58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0327536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061">
            <a:extLst>
              <a:ext uri="{FF2B5EF4-FFF2-40B4-BE49-F238E27FC236}">
                <a16:creationId xmlns:a16="http://schemas.microsoft.com/office/drawing/2014/main" id="{594E5551-D6F5-559B-7549-1F9C6E7B9A0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6D980F-CC1E-7C4A-9DA6-DD7B5456CC1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5282520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061">
            <a:extLst>
              <a:ext uri="{FF2B5EF4-FFF2-40B4-BE49-F238E27FC236}">
                <a16:creationId xmlns:a16="http://schemas.microsoft.com/office/drawing/2014/main" id="{8A12BB3C-2729-D1E6-B0DD-CF7AF58EAB6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1BCBA8-39FF-A046-881C-C944AEFFC80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339733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875CD151-A422-F7C5-D535-4D7FE812FC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70642D-23AC-1F49-87CD-4F535CADF6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191934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108A9408-AB13-3B32-41D9-B5C16C04DB3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88171B-E5EE-C441-A068-C5247E735D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3832041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1EAA7FAE-3805-315D-2017-6D27954C074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51C617-D1DF-3E40-973B-BE666931DD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5233606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24650" y="304800"/>
            <a:ext cx="219075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304800"/>
            <a:ext cx="641985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061">
            <a:extLst>
              <a:ext uri="{FF2B5EF4-FFF2-40B4-BE49-F238E27FC236}">
                <a16:creationId xmlns:a16="http://schemas.microsoft.com/office/drawing/2014/main" id="{137869A5-61B9-009D-4044-8DE96EAB51F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974686-7C24-A145-93E1-FE5CFD4B5C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3684005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:a16="http://schemas.microsoft.com/office/drawing/2014/main" id="{541B3B2C-8B3C-69B3-8431-D1F83E5E5DA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782C10-6381-0D46-89A7-A2BCF6D813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0425659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F60A3189-6C6B-9744-019C-3E3C3A3B7F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51FDF1-1839-924A-A939-B661E7C494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2770120"/>
      </p:ext>
    </p:extLst>
  </p:cSld>
  <p:clrMapOvr>
    <a:masterClrMapping/>
  </p:clrMapOvr>
  <p:transition>
    <p:zoom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1295400"/>
            <a:ext cx="411480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572000" y="1295400"/>
            <a:ext cx="4114800" cy="51816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2061">
            <a:extLst>
              <a:ext uri="{FF2B5EF4-FFF2-40B4-BE49-F238E27FC236}">
                <a16:creationId xmlns:a16="http://schemas.microsoft.com/office/drawing/2014/main" id="{7176F020-7E9A-7503-1F6C-8BDE04AA8F9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8114FB-C5D8-2D48-A6F5-6F65CDC672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1442308"/>
      </p:ext>
    </p:extLst>
  </p:cSld>
  <p:clrMapOvr>
    <a:masterClrMapping/>
  </p:clrMapOvr>
  <p:transition>
    <p:zoom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152400" y="304800"/>
            <a:ext cx="87630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572000" y="1295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3048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3962400"/>
            <a:ext cx="4114800" cy="2514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061">
            <a:extLst>
              <a:ext uri="{FF2B5EF4-FFF2-40B4-BE49-F238E27FC236}">
                <a16:creationId xmlns:a16="http://schemas.microsoft.com/office/drawing/2014/main" id="{5BF28701-EF17-F6F6-F2E4-64F2FDE133D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F047D5-8610-2D4A-9357-DF87F291A1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2619688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056">
            <a:extLst>
              <a:ext uri="{FF2B5EF4-FFF2-40B4-BE49-F238E27FC236}">
                <a16:creationId xmlns:a16="http://schemas.microsoft.com/office/drawing/2014/main" id="{0B695CA6-0904-4BD9-EAC0-34CCF81BA56A}"/>
              </a:ext>
            </a:extLst>
          </p:cNvPr>
          <p:cNvSpPr>
            <a:spLocks noChangeArrowheads="1"/>
          </p:cNvSpPr>
          <p:nvPr/>
        </p:nvSpPr>
        <p:spPr bwMode="gray">
          <a:xfrm>
            <a:off x="304800" y="1143000"/>
            <a:ext cx="8226425" cy="46038"/>
          </a:xfrm>
          <a:prstGeom prst="rect">
            <a:avLst/>
          </a:prstGeom>
          <a:gradFill rotWithShape="0">
            <a:gsLst>
              <a:gs pos="0">
                <a:srgbClr val="008080">
                  <a:alpha val="95000"/>
                </a:srgb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7" name="Rectangle 2057">
            <a:extLst>
              <a:ext uri="{FF2B5EF4-FFF2-40B4-BE49-F238E27FC236}">
                <a16:creationId xmlns:a16="http://schemas.microsoft.com/office/drawing/2014/main" id="{AA221A06-B446-92CC-2F54-D7F624B373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304800"/>
            <a:ext cx="8763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2058">
            <a:extLst>
              <a:ext uri="{FF2B5EF4-FFF2-40B4-BE49-F238E27FC236}">
                <a16:creationId xmlns:a16="http://schemas.microsoft.com/office/drawing/2014/main" id="{99B3468A-17C6-CE2B-14FD-1F845F8A84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95400"/>
            <a:ext cx="83820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928781" name="Rectangle 2061">
            <a:extLst>
              <a:ext uri="{FF2B5EF4-FFF2-40B4-BE49-F238E27FC236}">
                <a16:creationId xmlns:a16="http://schemas.microsoft.com/office/drawing/2014/main" id="{6F4788B7-83C4-B846-F153-2466CF0C10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770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1972E43E-9479-A54A-8DD5-9AE081B7763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</p:sldLayoutIdLst>
  <p:transition>
    <p:zo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Berlin Sans FB Dem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/>
          </p:cNvSpPr>
          <p:nvPr/>
        </p:nvSpPr>
        <p:spPr bwMode="auto">
          <a:xfrm>
            <a:off x="912813" y="995363"/>
            <a:ext cx="73152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 anchor="ctr"/>
          <a:lstStyle>
            <a:lvl1pPr marL="39688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/>
            <a:endParaRPr lang="fr-FR" altLang="en-US" sz="4400">
              <a:solidFill>
                <a:srgbClr val="FF3300"/>
              </a:solidFill>
              <a:cs typeface="Arial" panose="020B0604020202020204" pitchFamily="34" charset="0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62719" y="-30163"/>
            <a:ext cx="8815387" cy="1262063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Data Science</a:t>
            </a:r>
            <a:b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32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CS 4048</a:t>
            </a:r>
            <a:endParaRPr lang="fr-BE" sz="32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100" name="Rectangle 2"/>
          <p:cNvSpPr>
            <a:spLocks noGrp="1"/>
          </p:cNvSpPr>
          <p:nvPr>
            <p:ph type="body" sz="half" idx="2"/>
          </p:nvPr>
        </p:nvSpPr>
        <p:spPr>
          <a:xfrm>
            <a:off x="1927225" y="4222750"/>
            <a:ext cx="5008563" cy="1066800"/>
          </a:xfrm>
        </p:spPr>
        <p:txBody>
          <a:bodyPr lIns="0" tIns="0" rIns="40639" bIns="0"/>
          <a:lstStyle/>
          <a:p>
            <a:pPr marL="382588" indent="-342900" algn="ctr" eaLnBrk="1" hangingPunct="1">
              <a:spcBef>
                <a:spcPts val="550"/>
              </a:spcBef>
            </a:pPr>
            <a:r>
              <a:rPr lang="en-US" altLang="en-US" sz="2400" dirty="0">
                <a:solidFill>
                  <a:srgbClr val="3333CC"/>
                </a:solidFill>
                <a:cs typeface="Arial" panose="020B0604020202020204" pitchFamily="34" charset="0"/>
              </a:rPr>
              <a:t>Instructor: Dr. </a:t>
            </a:r>
            <a:r>
              <a:rPr lang="en-US" altLang="en-US" sz="2400" dirty="0" err="1">
                <a:solidFill>
                  <a:srgbClr val="3333CC"/>
                </a:solidFill>
                <a:cs typeface="Arial" panose="020B0604020202020204" pitchFamily="34" charset="0"/>
              </a:rPr>
              <a:t>Kashif</a:t>
            </a:r>
            <a:r>
              <a:rPr lang="en-US" altLang="en-US" sz="2400" dirty="0">
                <a:solidFill>
                  <a:srgbClr val="3333CC"/>
                </a:solidFill>
                <a:cs typeface="Arial" panose="020B0604020202020204" pitchFamily="34" charset="0"/>
              </a:rPr>
              <a:t> Zafar</a:t>
            </a:r>
          </a:p>
          <a:p>
            <a:pPr marL="382588" indent="-342900" algn="ctr" eaLnBrk="1" hangingPunct="1">
              <a:spcBef>
                <a:spcPts val="550"/>
              </a:spcBef>
            </a:pPr>
            <a:endParaRPr lang="en-US" altLang="en-US" sz="24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marL="382588" indent="-342900" algn="ctr" eaLnBrk="1" hangingPunct="1">
              <a:spcBef>
                <a:spcPts val="550"/>
              </a:spcBef>
            </a:pPr>
            <a:r>
              <a:rPr lang="en-US" altLang="en-US" sz="1600" dirty="0">
                <a:solidFill>
                  <a:srgbClr val="3333CC"/>
                </a:solidFill>
                <a:cs typeface="Arial" panose="020B0604020202020204" pitchFamily="34" charset="0"/>
              </a:rPr>
              <a:t>January 22, 2026</a:t>
            </a:r>
          </a:p>
        </p:txBody>
      </p:sp>
      <p:sp>
        <p:nvSpPr>
          <p:cNvPr id="4101" name="Footer Placeholder 1"/>
          <p:cNvSpPr>
            <a:spLocks noGrp="1"/>
          </p:cNvSpPr>
          <p:nvPr>
            <p:ph type="ftr" sz="quarter" idx="4294967295"/>
          </p:nvPr>
        </p:nvSpPr>
        <p:spPr bwMode="auto">
          <a:xfrm>
            <a:off x="938213" y="5822950"/>
            <a:ext cx="6986587" cy="89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/>
            <a:r>
              <a:rPr lang="sv-SE" altLang="en-US" sz="2000" dirty="0">
                <a:solidFill>
                  <a:schemeClr val="tx2"/>
                </a:solidFill>
              </a:rPr>
              <a:t>National University of Computer and Emerging Sciences, Lahore</a:t>
            </a:r>
          </a:p>
        </p:txBody>
      </p:sp>
      <p:sp>
        <p:nvSpPr>
          <p:cNvPr id="4102" name="Slide Number Placeholder 2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fld id="{6A25CF07-12E1-4B58-96BB-517C25EECC3D}" type="slidenum">
              <a:rPr lang="en-US" altLang="en-US" sz="2800" smtClean="0">
                <a:solidFill>
                  <a:srgbClr val="FFFFFF"/>
                </a:solidFill>
              </a:rPr>
              <a:pPr/>
              <a:t>1</a:t>
            </a:fld>
            <a:endParaRPr lang="en-US" altLang="en-US" sz="2800">
              <a:solidFill>
                <a:srgbClr val="FFFFFF"/>
              </a:solidFill>
            </a:endParaRPr>
          </a:p>
        </p:txBody>
      </p:sp>
      <p:sp>
        <p:nvSpPr>
          <p:cNvPr id="4103" name="AutoShape 8" descr="Image result for mobile applications"/>
          <p:cNvSpPr>
            <a:spLocks noChangeAspect="1" noChangeArrowheads="1"/>
          </p:cNvSpPr>
          <p:nvPr/>
        </p:nvSpPr>
        <p:spPr bwMode="auto">
          <a:xfrm>
            <a:off x="176213" y="-1825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p:sp>
        <p:nvSpPr>
          <p:cNvPr id="4104" name="AutoShape 10" descr="Image result for mobile applications"/>
          <p:cNvSpPr>
            <a:spLocks noChangeAspect="1" noChangeArrowheads="1"/>
          </p:cNvSpPr>
          <p:nvPr/>
        </p:nvSpPr>
        <p:spPr bwMode="auto">
          <a:xfrm>
            <a:off x="328613" y="-301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p:sp>
        <p:nvSpPr>
          <p:cNvPr id="4105" name="AutoShape 12" descr="Image result for mobile applications"/>
          <p:cNvSpPr>
            <a:spLocks noChangeAspect="1" noChangeArrowheads="1"/>
          </p:cNvSpPr>
          <p:nvPr/>
        </p:nvSpPr>
        <p:spPr bwMode="auto">
          <a:xfrm>
            <a:off x="481013" y="1222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p:sp>
        <p:nvSpPr>
          <p:cNvPr id="4106" name="AutoShape 14" descr="data:image/jpeg;base64,/9j/4AAQSkZJRgABAQAAAQABAAD/2wCEAAkGBxQTEhUUExQVFRQXGBoWGBgYFxwcHhsdGBcXHRgbHB0YHiggHBwlHRgeITEiJSkrLi4uGB8zODMsNygtLi0BCgoKDg0OGxAQGywlICQvLCwvLCwsLC8sLCwsLywsLCwsLCwsLCwsLCwsLCwsLCwsLCwsLCwsLCwsLCwsLCwsLP/AABEIAJEBXAMBEQACEQEDEQH/xAAcAAEAAgMBAQEAAAAAAAAAAAAABQYDBAcCAQj/xABEEAACAQIEAwUFBQYDBwUBAAABAgMAEQQFEiEGMUETIlFhcQcygZGhFEJSscEjM2Jy0fCCsuEVNFNjc8LxJTVDksMk/8QAGwEBAAMBAQEBAAAAAAAAAAAAAAIDBAEFBgf/xAA3EQACAQIFAQYGAgEBCQAAAAAAAQIDEQQSITFBUQUTYXGB8CIykaGx0cHhI0IUFTM0UnKSovH/2gAMAwEAAhEDEQA/AO40AoBQCgFAKAUAoBQCgFAKAUAoBQCgFAKAwY9mEblPeCkj1tUo2zK5XVclBuO9jmEGIYSqJJ5mXUAwMsnI9dmHrzFem4LLol9EfKRxMo1UpybV+r/fqbs2Owm4IxAO4vqe4+eIPL0NVqlU8PfoaJY7DbNT++n/ALk5wHjtpIGYsyHULkna9mAv0B3/AMVU4mFrSXJu7JxLlmoyeq9v7/ktbuACTsBWKc4wi5Sdkj2km3ZETPPr3LMF52Xw5C/qdq+er4lYj4nOUY76XWmyv/3PRb3eyauzVGOXSyuYcHhyWGk2PMnwqODwcm007S3b6e/v5EqlTTXYjc+9n0GKxRxEjuoZVDolhqK7Aljcju2G3hzr350FKV2W4ftSrQpd3FLwb4Ga4nCZTGogw69o+yheZA6vIbtb5n621YbDKTstDzcb2hUlrUbk+nH6RXMTmsmIiEuKYFGLHswWVFVTpuFRg0jarXLG2493nXowpqE8sN+um/rt6a+Z5VSq5wzT26a7em+vXTyMuW5guCk7VVYRGyyKTc6SdnA59QRfc6tvvaezg68cr34/Xv8AV64z/wBnlnXy8rw6++vnaw8TTDWjGRzC6XUI2zfpaxBvvzr43tSnLvkpyko22XVHrupFK58wv2JEDswa4vZjc+mlflvXaOEwNOCnLXz/AEg6sbXuaeHzPs8b0VS+iwtYK1gvu7eB+FRp/wCLFtpWV7ej229Cl17Tsy9V7poFAKAUAoBQCgFAKAUAoBQCgFAKAUAoBQCgFAKAUAoBQCgFAKAUAoBQCgOU8VImGxPeAZb30kkal2IG2/I2+FenTqXp7nyOPoKlib5brp1XvT0IGfN42kLkLYtq0d63O9r87VNTSja5hnGU6rqZd3e3HkTHDWddpmEZiUAu2kot7BNNm5+CjV6iqajj3WVs9HBurLGKpGKV+F0t7fmXfi3M2iKqVbQfvDkW8Phzt1+FfJdrurK0No/l9PT7+h9pQyrXk0cFjZZWUGKQryB0mw9Ta3xrJTp16ko503bRaaL31ZY5RS0LZg8PoW3U8z/fSvoqFFUo255Mk5ZmZ6uIkJxbkYxUJAt2qXaM+fVT5Ny+R6VZSnklcprUu8jbk5Xhs17Jikv7Ox2fRcoRcFbXuNyQbb95h1BX2FHvI5o+q9+/58ZVO7lllp0dtvf766bK2mjfD4NTO723UN3F1aj2jyqv3tVrWB1G+43jfJJTq6W+/GiRZlU4OnS1vz051b9S1Yzh+aDLFRi00sTa9KAsQGNiibXIF7+O3oK8HtRLEvNFcm+NCUKChe7XuxAJgsW+hZgIF30CV+9Ym7aY1u3PncCvPjg6kkk+CCw9Wehasr4HjsryTPJyYae4viPE/IitEMFGO7LI4NJ/Ey41sNYoBQCgFAKAUAoBQCgFAKAUAoBQCgFAKAUAoBQCgFAKAj8Rm6IxUhiRtsB+pqSiyxUm1c134hQfdf6f1plJdy+pv5bjVmjWRQQGvz57Ej9KiyqSs7GzQ4U/Dys6j9pIWP8AGT6i1/De/Kvk+7qzgrTk5t2+Z9Xpa91ZfFfa2huzRT2VvL35Gw8DAX1kjlcMT86qxGGr0o5nO61V020vPoShOL4J3Kv3Y9T+dfS4BWoJGOr8x4x2T4eZg0sMUjAWBdFY28NxyrapNbGeVKEneST9DWTLcEjaVhw6tysI05/AVRLG0lNU3NZulyccKkrqCt5ElDhkX3UVfRQPyq+4SS2Krxj7Q8LgDoN5p/8AhRkXXw1k7L6bnflapRg5HHJI3+B+JRj8MJtHZuGZHj1atJB271he6lTy6kdK5KOV2Op3M+bZ6I7rGA78v4V9T1PkPpXEiyNNsgziZ2G8z6r76e6tvK1rfX1qSiWxp6m3l2GkZgQWYgg3ZiQPnUnZE5ZYrUZ3wNBicQJnZgvN41sNbDYEtzUW52sTYG43vKniZ01aJ5dTC06kryLDgMBHCgjiRY0HRRb1J8SfE7mqpScnds0RioqyRFY/OWMjxRjSUsCx57i/dHL4n5USuXU4KW5p4XBLqJa5JBZje7Gw2uTufLwqe2xdpFfCTWTTApp/D+R5frUJLUpqxs7khUSoUAoBQCgFAKAUAoBQCgFAKAUAoBQCgFAKAUAoBQCgFAV7HgGZ1uAdrX6mwsPK9WLY0xdoJkPn05WNo0Pe6sPxeXkOVWUUnNZtinEylGjKadnbQiMuMiRLqxEigkWVZggUMb35Ekkam+HXpulGF7Rivpc8WM6jSlOb18bELxXjMVDE7pi8RawKntmuO8t1Ok2JF9+m/wAKshGnJfKvoVuVSM18Ta8zcyDOO/cm9mYWv5kV+fyaw+JzWvZvwPp7OUbFqXGJp0ob3N7npblWbEVMNToulRbd3e74ttbrfXfX7E4qbleR8zviN8Jl8k0IRpQ4Ch7le9IisTpIOwY9RuK+gwFWCjTpN6yvb0V2Za8WryKZgONc3xbCNBhxsSSI3AAHVj2hIHT1IrfiMLCpGzlJLwaV/W1yiFWSeiXqasHE2YCVY3ESEOFa0ZuveAP3yLisVPsHCJprN9f6JTxlWzvb6f2dB47x2I/2Y02Gco4CtIVHe0cpNJ+6Re+rmADaxsa20JwqO66teqdvyiM7qJxXIo0SUSOQQdYJYahdlYXYfeF2uR13rVJaFSepdPZ7mX2fGfZ2dGixSWVk93UCwQi9rbh0t42qE1dX6EouzOjRZFJ1KD0v/QVTc05zciyf8TXHOwFvreu5gqjWxJxxhRYCwqJBtvcq+L41j1ukKCXQdLOXCpq6gEBmNup0286jmvsZnXTbUdbeP/38FWx/tFxRYrGkCDxBMnyNwPp/Sq3UZ5WI7UqQdkl+SyY6Q3w+JKlTKgSQEWsxFxz/ALstXwdz3cNUcoqTVro2ftI0EabMRa9+YuDy8dqstqbMrvfg38mwjqdR2BFrHmfh0qMmiqrNNWRL1AoFAKAUAoBQCgFAKAUAoBQCgFAKAUAoBQCgFAKAUAoBQEXjsn7Ry2si9treAt41JSsWxq5VaxC8Q8P6cNO/aG6RO3u/hQnx8quoS/yx80U4qrehNeD/AAUfA4wTwBVdRIoRSvZRMe6QqsNZBYWLEnpf5+nUXdzu1pry/wCDw6X+WmknqrcJ7efqQfHGaIw7NGDWDlioUC7sG09wkNa3ME8/G9Toxai2/D7eYqtOpFR4v9/I7nlMSNDE2le9GjXsN7qDevBlFX2PdT0NwRL+EfIVHLHoduyqe1KMf7OlbqhjPwMsYP8AflUe4Uq1OfMW/umrfh+hyUrQa6nKuFsW7O8aLFKHXS0UkgTWNQICsSO8Dvty8K2ztuURPeJxMSYspA+uISKEa4YEErex6gEkA9bXqcL6XIzSs7HYeHlLxMjreNlA3GxutmHmCK8DA95GvXi08ueTT8bu9jdKzpw62X4OCcTZa2DxE0DE2jbYnqpF0a/mpF/O/hXvRd1cxNWdiw5XlNjh8XmJMEaBewhjXTLL2bFwwXYRpc+9sT5XBKEJTuoHJ1Iws5l4n46xEovhoI40N9MmIcb2veyAqNgDuGIFjfkamsLGLtOWvRIqeKlJXgvVsrOY53mCuJXmk1RsJAgIVGCndbR2DLa43v1rXDD0HGyXqY54mspLN9Cy+0riSRcJA2H2hxI70gNmsVDKg8CwJ3590ivDrJweV+RsxlaSppw55KNlhx7KFghlC9CsR22AFmIsOV+m+/Wq03sjz4PE5bRT+hduCOC3DCbFpYqbrGSCS34msT8vHny3lGHLLMH2dJVHVrei/llt4qxOHTDk4qVYoyRZiQDe9wFHMnyAJ51cr8HtXsbGVYaLQskbCQMAVkuCCCNiCNrHxFdbZOVRyRIVEgKAUAoBQCgFAKAUAoBQCgFAKAUAoBQCgFAKAUAoBQCgFAVv2gTSJg2aJ2jYMveU6TYmxFxuKjLYxdoVJU6DlHw/JQswy3FISPt0zKFkLntJdjHpDJYtvdnVQeuqoWa5PPqKtF/O3o778cW8bpLzI/gvDf8AqEEcoEiP2isjjUNo2IuG6ggVONaqpL4n9WRwVTPVUZfRo6SuSQ6riCAHmP2MW3xKbVe6knu39T2VBLZL6El2kg21n5L/AEqsldmbIcS8kIaSxa7A2FuTG30oycXdHvOcrjxMLwSgmNxY2NjsQRY+oFE7O4auUIezCBXOjtxY91u0t6G9r/KvJniO0+9cIxi1fRtaW+v8FypUMt3c3sH7K8IhVi8xZSDsy22Nx929erSqVVH/ACNN+CsvyyiUIPYuL4iOFQt9lAAUbmwFh/5Ndd27jSKsRcUGFxEwlkgjM6gKrOoY2BJGkkbEXPnvXbtKwVmyN9pmUiXDia3ehNz/ACNYN8iFPoDWnB1Ms8vUy4ynmhm6fgpcuJHZoVZEARWUhdbfswxsA11BCtfmpujeG2uEfiaeuvktbeu/nujLUfwpp20utLvS/XTby2Z7zKYnDvIRJZQjq0hts7gaVU9Fu45nbTzAFrKVlUUdOdvD2vuU1k3ScteHr4v+Nft4Fk9kmaiTDvh23aBrpf8AA9yPkdQ9CKy9oUss8y5/Js7Pq56eV8FwzTOIMOAZ5Uj1bLqYAnxsOZrzz1KdGdR2gm/Ip/HntD+y6IsKiyyyxiVXJ/Zqj3CtYG7k25bC29+lWQhcqqNwbi90c2ZftYaXFzh8VqIBlkKqqEKe6oUrzBGlQvO5ubVb8r0Kr3WpNcOcVS5ZIsUlpMO4D6UNxpfcSRk+O+xtffkd65KKlqgnlOzYLFpLGksZ1I6hlPiCLg771nasXGegFAKAUAoBQCgFAKAUAoBQHy9AeWkANibE3Pytf865dHUmz4Zl8RTMjuV9DycUv9iuZ0d7uRjbGDoKi5nVTMT44+QqLqE1SNds0I8DUO+aLO4TJOCYOoZeRrRGSkrozSi4uzMldIigFAKArftEjJwE2kFiNBsBc7SJfYeV6jPYx4+Dnh5JeH5OdYHiaSMJ23asQ6k6ha0ag7C/3ixDXP4E3qtSPKp4qpTS7xN6r6L+b6+iPWRY4TZrhWj1tpsrMw7zaYipd7E2v6npvXE7yRbh6iqYlSjfZK73dluzpSzWJvyOx+f+laT17nqSYWWxO22/re/1oLlJbiTFRTPFGR2YO3cB3JN968ztDEVqLThtboTh4krHxFiiN2F/5RXjPtfFJ20+n9lmhh4M4nxU2YSQTEvH2bMDpXuFXsCSqjZhfY33tX0WFqupSUpb/wBJl0clTDd4kk1Jx51S82X+UbVoMzIefC6Dq94X/u9SIbGjOqkbn0sN/j0+tDlzZy/MO0vBMNYcFL+IINw3wvv/AOaLR3R291ZlAynhfMoZnjjjVolcgPI2kEAnSylDrFwb2G25uK9SrWw84qUnr4f3oefSoV6cnFLTx93LFH7PmkULPMqICWMcCnckk7ySklrFjYaQN+VZ1jMrvFXfV/pF8sJnjlk7Lov2yv4/ieHAdphsuiIfUVknluTqQlSFB52N+dlBvsb1TUqzrO82fQ9m9iQUcz0T4W782VeeIOwkxWIbtpQGuUMllO6GQ6gVBBuFUNYEGwvakYeB9BSi4JqjTulpva75to722u2tSz5ZwyuPwrREiPHYNiiSdGQksivb3kvqAIvYWIuCQeSllemzPn+2aEe8VaG01f15X78Sg4qOaCYxSKY50Ybdb37pHQg7EEXB86sTTR4exf8Ah72fYjFsJ8e7qth3T+9Ybkarjujf712ttYWFVuajpEmot6s6zhoFjRUQWVVCqPAKLAfIVQWmSgFAKAUAoBQCgFAKAUAoBQGv9pFdsDQx0t3X0P5iqKu6NFHZnyoFhjdmHSuNs6kma82NsLG6nxqDmTVMgsbO55k1nbbNKSWx8wGPPuv866pHHHlEvkeO7OQo3utuPDyP6GrqNTK7PYor088brdFrrcecKAUByLMzjHmxDjFyIscrpbtnUAByB3U2sBbfzFePOVaUpNSsk3yfZ0Y4SNKnF0k3KKfyp8dWRuaY3Hwxa/tcpDKzKRKWuFtc2PqOYpGrWjKN5aMSw+CqRnlp2cfBr+jr3DeKMuEw0rG7PDE7HxLIpJ+Zr1ou6TPkKscs5R6NnPfaBmGK+3CGGaZbqmhI3KbtcfdI69Sdq0wgnHMz6TsvC4eWEdWpFaN3bV9vfBDy51jFVjHi45igu6qgJAHNgXjGtR1IJPXlvTu35CXZeGk1mpON9m39tJOz6J+W+hM8G8QyywYyScdqYBGUCgJfVr526XAuegBqDi1KzPOxPZdOFeFJO2Z7v0PXDmIYSySPdhpLPa23eG9rjbe23jXjUMTPvZSnqrfS3vzPBVS0muETuc5sHhXs9WktYki3ui9vrf4VHH11VopR2b/B2VXS6NThPPsLAJ+2kjjlaQnf3mQAaeXMai9vU1swKboJpbdPJFNHERSkpu3xN/Wx4zP2hMWth0TT4vvf4KRaqa1bGJ3hSaXim39tvuXrEUP+tfVF3wc6zRpIvJ1DW9RyPn0rfTmpxUlyWNEZjMvJe0Y9b8l+P6VZchlNTO2+wYZ8QoEko0qNVwvedQbAf3tUJyaRXWqdzTcyrp7SsUoBkwiWYXU3dLjxBYG48xVed9DF/vGUUnKO/vob2G9qCn38K6/yyBvzC13vPAf71gleSZX/AGk5cNaYhAQs6CSxHUgagbdbFT6k1qozSPtew8VmVn75X6IbE9j2UWJSQdujRK0bEWtHGqggW3F47npZ6lneq4PSg6veToSXwNSaa8W3v6/VF34NwuIOKlx8ijD4Z0NxIbEqAuk2sLAab6mtsbC43qptWseNjqtGGGjh080o8rbm/wCf58D3i+MYZMSJYcIswiFvtLCzBWax0d0kKeQJIuTyq6FBtau1z5Ov2jGEvhV7bvoX9GBAI3B3HxrMekmmro9UOigFAKAUAoBQCgFAKAUAoBQEF2ldOmnmGK0tGf5h9BWevpZmnDa3R7XHjqapzl/dmGbOEtYNvXHVR1UWRuNxhNVynctjGxqYfFh+6fhUCVjUzBiki+DC4+Frj6j50sdN/D4sWAPL8j4il7HGi2cO5jrBjY3ZeR8V/wBK20Kl1lZgxNLK8y5JmtBlFAcezrEth8XigYHYNKXVrWC6gddgyMrBlcr6E9Tt5s1lnLTk+0w8YV8NStNJqNmutttmmrNX+nrAcQ53HNHZQVfv6yWWxuioLBQALKgWwAGw251XJqTT98GulhZ04Tu7prTfTd7vfVtmpwwuIII7V1sp0hiT7o7qC/LYbDyr1IfKj4fEO9WXmSkWJZZ45JyW7p8iUYOu3pcmtEW8lj6TsmEqmAlCO+Z/VZWbuC+xpPiXF+zUHsB3tw3dZbNubqxHeqUpTaSZsrLFzo04vd/NtpbVPTx6Et7IYgZMZGwurRxAg9R+1B/OoVXd3PL7ebjUhJb6/wAG5xJmGTYObsZ5mjkABKr2j6QRcX0q1tje3O1YJYOk3ex8rLDwk23yQeYZ9l0if/wYlpZQ26Orju2NyNSLvfSOfWpU+zaVSVrv36GLGRjQp511sYsvlgHemi7Rmub6UO1yLDVv08etejSwfdLLTehhjjqEY/5I3b146258j7m6Qk64lCKVBC2tyYg7XPh41qjFqNmYMZWpzd4Kya29X59C4ezPNtaPh2O6d9P5WPeA9G3/AMdfO4CVoZOnv8n1lOd20XSadUF3ZVHixA/Ot5aVb2mTD7ASCCGdLHx3uPyqE9jB2n/y79CuYXHxz2dSTplR1VxYLI6JHFGNzcagXNui1y9yhVada0lw09eG0kl9dSDz/ACKzCQyBzJ3iuk6o30vcXOxO4PnUZPQ8fG0O7aea97/AFT1OmZvkAxWEjiLaCoQhrXtZbEWuOYJHPwq6Oh9lhKzoNSXQ0uGeA4MKQ7/ALeYbhmFlX+VLkA+ZufC1Scrm/F9qVa/wr4Y9P2yse0KeeXGHDytaABXjjGwfYd59+8Qwaw5DSNr71pw8YvU+W7Rq1Ippbe/5PbZqqQxwRxgBgA5tzJ2YqNyW2943PQWHPQqXxOTex5NTGpU40YR33/Dt4+L16Fx4LxxeAxv+8hYxsPT3f6f4ax4iKU7rZ6ntdlVXKjkl80Hlfpt+vQsFUHpCgFAKAUAoBQCgFAKAUAoBQFUZ66SIvPHOlD/ABf9jVRiPlNGG+YiVnJ61iNpr67k1EkbMM/jQ6R63jkZb3BJdT/CxO3wNx8K6CTt2yEeG4boCP1I2tz3riTONpGth5Li9Dpv4TGGOzqbMp2+PTn/AHeuxbTujkoqSs9mdFwk+tFcbalDW8LjlXpxd1c8iUcraK1i49Uzi5LaiAOZ6kegAHwr4nE0KlTF1EpPNmdl9X10SS8baaHqQsqadtLEDxMjrhpSryxuq6gVkkQixB+6wruDrYqnXjGcpeTv/JZGlTk07Jl8ythJBC7WYtGjXO/NQb19otUmeRO8ZNI5/m2Wzpi5nSGQgy9oGVGIPXmu1tzUyJjmwDMmkwlNwfdI5avEfxW+AoSjOUfldi1cM5DC2Ei7fDRl7G/aRLq95rX1C/K1LtF0cZiI7VJf+T/ZO4HLooQRDEkYO50KFv62G9G29yurWqVXepJt+Luci4s4Ujxmc4vXH2rLBA6oZTEpv3GJZUY7AXG3Mb1wqKy2QYTB5gcNA2JecqF7+jRdwrhbgA302N+XSrqE1GV2ef2nh51qGWCu7p8Ey2OXEKJokVYVAS6XtsTzLdSSa0f7TRp2Upq76s8DE4XETtLurJJLT3ySGLwskxUwYaVYyAE2ZgeZJ1kWsSSb8hVkakct8yZVWw9SpNd3Sklst/z6lrwTQYQFcJGZZiLNK2/ra3MXtstl2G5ryqdGNNaH18IqO25DZqk0h1TFmPnaw9ANgKuR1p7sk8PlxzDAjDCXs2hkU3K6rrZtIIuLDcj/AACq5xuU16Pf08l7EW/s9xqALHNEyhu0A1Mp1DYNbSRew8aryM819m14q0JKyd/UxZnw1mUzDtI1awIBVolUXN2NgRuSbk2ua5KMmU4jB4ytJZktPJLxL1xBxRBglAdtUlu7Gu7Hwv8AhHmfrVx9EipZdx5i2kLvAjQnki7OBci4N+9yN+7bbpXTp742xUWKhjxMJPaQmzqRZgjkC5HWzaRcXHfNW0ZWZixtJThr7uQmU4V8QY48OG7VWZmc+6oOnQb9LaSfEk7XrZOoldvY+Zo4WdRxp0080W7vhbW/B0/IMkTDKQCXkc3kc82O/wAhudvOsNSo5s+owuEjh4u2re76slKrNQoBQCgFAKAUAoBQCgFAKAUBTwa6SIrP27qD+I/Qf61nxD+E0YZfEyLwakgjrWQ2HiTDFSSNxYH5Gx+lq44klI8OPConUYMVD2iAgAvGSy6hcEfeUjrcfUCueBI23xbuqghFTmAq29NyS31rtiCVmeJJP2mwJLW2A3vyNh8L11akmakmOBJQHkd/Ig8vUEV1qxxanReC8yV4ezLDUn5H/W/0rVh53jlfBhxVNqWZcmti4Jo8WZViZ0DXGmxuCtj59TXk1MNVhjHXUW1e+nlY3U50amGVNzSdufMhuNJZZ45tMEykwsoUxtctpa1rDe9xVVdTrYuFXJJbLVdGX4enClSazxe70aJTIsAPs0AmMkcqwxKe8w0kRqCpsbixvX0kVaKPnqsk6kteWfcwwckaSFZZgwRmU9tIw2UkGzMRbarIJOSTKak5Ri2t7MsHDmJaTCwO51M0alj4mwudvOuVYqM2kdw83OlGT3aRI1AuFAUniDhzGfbWxeEeEF4kiYSX+6xPLTbw3v40OkNPlGZduuIbBYKWZBpWQCzAb9TKPE9NrmgJD2YcKyYWB48REACdlbS17G4NgSK44p7o49S/EdK6Co53huzk1A21bE/L9LGpIrejK/jZ9ALI+sD3huOfr+dSSvoccsquncy8H4l/tw7FS8TJ+0I5ICLrq6A3AsOdmNq618Ou5BTvUSjt+CxcVcbwYO6D9tP0iQ8vDW3JB9fAGslWvCmtT18H2dWxL+FWXUq+T8Y4zFFoXaOFpAezeNCSrcwO8xuCoIvsb2rNQxneVMrWh6WP7Ghh8P3kJNtb9LeHvYiWyaWB27Ua9W5kID3IvbdhcX5b2O/lXoHz5u4TB3AFrA/dUHvH0/pQFzyLh7SCZVXQylTGQDcH8XT4UucaTVmUTifjLG4fEyxZThIWw8R0ORHcvKNpCoR1ZgpshIB3Vt6Nt7kYwjH5VYwcNe1HNJcUmHxGDiS4LsSksZCLzbvsevdBtzIrhI7FhJ9aK9iNQvY0BmoBQCgFAKAUAoBQCgFAKAUBRsAjCNFY3YAA+ZrpI+ZjlzPpI30j3fXn+nyqirTctUXUqqjoyRyXIF0Bn1An7uwI9edchR5Z2dd7I0854IWRG0SHVuVDAbnoLgi1+V7Vx4foyUMU09UVHAB/dkB1AlTfnsSLHzrK9zb4kjhMvdj3B+g+JrmRs5nSK/mecvhyY2h0MOWs/I2A3HoamoC/JAYfPpVcyByGPWjh0LoVI2s0ZWzftJDIdix7/wDN4/H87+NLPZnJqK1jsWvhnMuyOq4JP5VG7iyLjm0OgZVm9x5f38q0QqMx1aCJuLEq3X51oU0zJKDRB4nE6JXDawC6ixQ6WVrajqtba9aowvFWPOnWyzad91w7W8/A0MXmSGEjUCQzoBffSVuDbnapqk8xVLFQcN+WiW4KJ+wwXBHc6+RNqqxH/EZowLvh4eRN1SaxQCgFAKAUBEcSYEywtpF2AuAPEdPiLj41KDV9Suom4uxXsv4Uech8QOxTQEMaHvML37x+5fbYb+Yq2U1HRalUacp6y0VrW6/o0PaBjJ8KI8NhAuHgZCS8Ys5N7MoP3eYJb3jq5ivLxmInBpLnk+m7E7Pw9aLlP/S9uPPxvqVPLuHyI+2ZWdTc6Y+87bkFmIvoXUCNRBNwdutecqcpLPLXy3/pH0M8VCEu5p2j4vRLwW2Z24v68Enm6vFGssUSxGAx95LEXcAkMbk6kl7tmOo6vKr5U7JSSta3v0ZnwzhUm6dSTlnzaPfS+2ytKOummnidIwnZYzDpKBbtEB26EjcHxINx8K9WEs0Uz5DEUZUKsqcuHb+/Uz5Tk0cA27z9XPP4eA/vepFBHce5/wDYsHJKv71v2cX873sbdQoBcjqFNAcczDEYaTDJh4sQYOSvI0TlmTvF7lRuWc6jvYknxoSLT7O8nMrdqwYdoFRAxuUw0I0xgnxb3iepcUOHWwLUOH2gFAKAUAoBQCgFAKAUAoBQEFhcKq7nvH6V06bYehw+Ge1AYMzzRYIXmc91Re3ieijzJ2+NclLKrkoRcpWRSeGYZJy88xJ1sWt0F/DyHL4Vh+aVz02lCKiTGYzPEhKqSB4eHoKO6OwjGT1KFxZncckP7Qavw+I8xblUY5myc0o7nPmxB6Xt5itGUzZ+hkweJBYee1RlEsp1CyZZK0TqXuFv3SevkbVW1cmnY6LFmPaKrRe9969wLeO43N/75VzV7EW0tzcwmYshJlmhUfxSKB9TU1GZXKdOxIRcZ4RNnx2E9BMh/Jia0QUluY5uL2RixPH+X/exMLeis/5A1am0UuKe6NSb2p4AcpyfSGT9VrhKxqv7WMMCNPbSeXZqPqzC1BYv2W41Z4o5UvpkVXF+dmF7HzocNmgFAKAUAoBQEFxll3bYZja7R98fD3h/9b/ECsuMpd5Sdt1qej2ZiO6rrXR6fr7nLMJmqRhxKHLpq7EobEdqumTvH3RpAIIBtc7b1gouKjf6eu59fWw0ptODVnbNfX5Xdac67rS9lqbeTcP4nMWuxEMGotc33J5soJ1SOesjk8zueVaIUpVNePf18zJisfh8Cssfina3l4O2kV0ikvLk6nlmAhwWHEakrGgJJY3O5JYk+JJ6fAVtWWlDXZHyWIr1MTVdSe7KlmuezylpInMUKbDe1/4jtufL9a8idbEYi9Sk8sFy9L+Oz9+Ny2nThFqMtWzVybEz4hxFPeeOTZ4nsQF2u3kRzB8bdTVWFxdeVaMU83Xy6+n9cnpYjBUYUHKWj48+nqSWO9nGXBSx1wqOZ7U2Hxl1CvoDwbli4fyZMMlkkaQG1mfSTpHIXUAEUOErQCgFAKAUAoBQCgFAKAUAoBQEOi25106fS9dBjvc1wFC9oeZ65Y8MvuqQ7+p90fAXP+IVmry4NuFh/qZOZNmqhFQDYDYCqIy4NFSld3N/E3YbLc+ZtU3qQjofn7MMdiWeRZGEZDkMhjFwRzHuHl6/OtCpw4RkdWpfVmg8bn3pNv5f62qSikQdST3ZgSQf8Yj0AH5Gu2QuyXhyXGOmtYsc6WuCA9iPEbXI9KjniiWSTNPEYIBQ0iyWPIuT+q1K5XY9w5dtqXDSlfxCOS3zG1Rzx6lipT6GysCi20Y8rqTv4gkkVK6IZW+Cx5DwjNigXhjQqDYkBdj8QKJpnJJx3RYoPZjijz0r8E/RqkQuycy/2YGw7SZgL72PTwsOvneguzo+GgWNFRRZVAUDwAFhXAZaAUAoBQCgFAKAqg9n+E7UyMHcWsELd0c99gCbDYXJ5VmhhKcHp9D1p9tYqVLu00vFb+/KxF4jJ8Xlx14XVicKNzAx/aRj/lOeYt907cgNPOtas9zyTznmaTTqLRydla6jTcsSNmbTcbdBy6+nzGM7SjUqOCdkrrXR36u/Tp/O3oUKKWtyIwqTTMqNdjfupYCx8TYdPPlvUJVq1e1JO/0/g9ejQo4eLqvQuUckOAj07POwuwBsT4XJ91B8zvsa97CYSNCFuXu/fB4WMxcsRO/C2RTs6xsuJcGRiR91F2UegO7Hz5/lWyxibNfLcXLH+4kkjsSCDbT5907E325eNaadDNvsefiMaoaR3Or5fKzxIzAqxUEgi1jbfas00lJpG+lJygpSVnY2KiWCgFAKAUAoBQCgFAKAUAoCmJmr/eF66SsbAzRT5UOWM0mIFrgigOOS4gzTPLe+pyw9CTb6bVhk7tnqwWVJEph8cQ3Mj9aqsWZiYhz8gWNdTZFpFJ4wxepy6gK3Ujr6g7GrabaKqkVJamlw1l5xDa5wGRT3V0gBjtckKBcVOrUa0RChRTd2dDx2AieBlbDpYDUCVAsRuLfGqE3wbMtPkmMDPKwFth4mizcCbpLfc5umWdpmM8ti6LK+m++4O/wDXt6VZOfwpFFOCzuTOmYGd2WwWwt15VCN2XTUE7tlebgovM7hNmYty8T4V20tkVKpTWrOg8I5B9lV+QL6dv5b/wBa0Uqbje5ixNZVGrcFgq4zCgFAKAUAoBQCgFAKAUAoCIzrKGlQ9jKYJOYYKrAnzVgR8qw1uzMLWm51IXb5u1+GiyNWcVZMq+XZycHNox8awyvZRiBfsZPDc37Fieh7pNt72FW4fA0cOv8AEvq2/wAkqmIqVIqEnotiZzrKoZNUpsptdiNjy59Q3StOZJXZR3bk7IqWJyg6lGtZUfvK1gL+rXOwuPnWqjOko529jz8VTxLmqUI767fzx5l14f4fjiAckO/Qj3V/lH6n6VCpiXU0jsWYfAKi7z1l+PL9k9VBtFAKAUB8JtzoDwJ1va4qOddSWSXQyVIiKAUAoBQHxmsLmgIvERuzEiWw8Nq6dOO4TjHEbBoY2JIGxYc/Leh25YosykO5jW3hc/naljtjcixwP/xOPiKWFiGw3BWl9UEkgQ/cePVbyBUj61TKimXrENbmzmHBk6qZEVmA3ItZvMhQSSPr5VVKk1sWwxEXo9Cu6CB58qqLzRx2BDsoI25n0Fv1Irqdg9SfyPD6V2HLp+dQe53gzZxaSWK4JILEHytY+m5H1rt7kY6Flw7AKBfp8amtitrU+5Tw+SzMljdix8ixJ512NNtnJ1klYuOX4ARjfdvy9K0xhYxTnmN2pkBQCgFAKAUAoBQCgFAKAUAoBQCgMGNwccyFJEDodiCL0BzzMYZcqlVcOxmwzC4w7kgrvYiCQ7A/8s7HYADc1xyjezJqEnHMuDaw/YYxTJhHCuv7yJhpIPg6c0JP3hdTz3FU1KHQ0UcXKOj2MmAzUQN2byGOT8Dkb+Gk8mHpVKvA0StV1LVh8c3NuX9+FXRqPkyypLg3opg3KrlJMolFx3E8yopZjYCjaSuzkYuTsiv4zipAO7sPE8/lWaVfoa4YXqR7ZpLIRq7ifxHvH0X7vqbVS5uW5oVOMdjLHnMQOnVv5An60UzjgTWDzMX0vy6H+v8AWtFOrwzNUo8xJWtBlFAKAUBXM8xhldsPFKEdACy23a4uBz5f1rp1FRlzCWMlHDXHheh0tc3AuELq6o0ZU3srbHyIa9h6WpciT0eCjUWWNB6KK4DMqAcgBQHqgFAQ2b8NQT3Yrpc82Xa/qOR9efnVcqakWwrSiU/F8HPE5Y99baQVB5b8xzH5edZ5UpI1xrxkvEw4fChedV2Jt3NqPBGUqUUkr5ePOpKLexFyS3LTlOTgd6RdzyB/M1ohT5ZlqVXsiajjCiygAeAFXJWKW29z1Q4KAUAoBQCgFAKAUAoBQCgFAKAUAoBQEXxDlK4iIqRci9geRv0qupDMi2jUcJXOT5plc0Eof9orqbLIm0qX8ekiHwbnYXJA01TGrKGkjVKhCqrxdn9mS+B4ognCJmCx91joxK7Rhv4usD+N+7yJ03ArRaM1dGT46crPcnZUmw4Jvrh5q6jdQfxKNiv8S7b8hzrNKm4muFWM99zPLnHYRrI5UA2t3h1Gx26H9a5mcdSThGehS894zkmk7NLuWNkVRcn0A/vaovNN6lkYRghl+BeEkz2EwPuag2i4B3IJBex5jYch4mMo2diSndaG00zyd2PdiQCegvfdj0Gx9bbVEJdSXhgRLb3P5/0ojhtzY2TbuHT63qV2csi34OW8SN4qp+YFb46pHmT0kzIs1SInmUMQbMPKuAr+ZY+ZSBMpQC9nF9DAjkWHuHwJrp0rOausbJ2zMA28WJG7KR9yS3vDzHT4iugncPjInUF2R25Fl5H5iuAuNcOCgFAKAUAoBQGOWBW95Vb1AP51xpM6m1sekQAWAAHgBaunG7nqgFAKAUAoBQCgFAKAUAoBQCgFAKAUAoBQCgFAVvjWwSMnnqI+Gkk/kKor7I0Ye92cy/2eG7RkcK2onyYcrMOvLY/kbGs6bi7o3NxayzV0MizyfB6RHZojuIGbuEeOHf7h/gNxyABJLVqhVUtHozFVwzgs0dV90TkmBwuZqz4eRo5V9/DtZSD4MpuUuRbUh0n50nR5Qp4lrR7HPMwzSXBu0QjOGcc77MfDvffU22IJBttVHdy5N8a0OFc1cLxC8kwEk3vsqlri4Gw69bUyWRyU1J6I6CuKWMBI1bSe7ZLF2P4hf3m23v08LC1XBzdmXD6kGqRg0ngPdUfq30HIX5nh19DZh4pUdyzDzqV2cyovuVYoNDGRyKL+Vb4fKjzKnzM3FqRAarUB6E3jQELiMHHOhGhLXHNQVPw/Wh0014dC7CCAjyW30oNC3Vw4KAUAoBQCgFAKAUAoBQCgFAKAUAoBQCgFAKAUAoBQCgFAKAUAoBQFb46/cp/P/wBrVRX2Rpw3zM5tiPd+B/Ws5s5NTiP/AHGb+U/5K6t0cMXD3/u2E/6X/wCSV6X+g8n/AFHTeIuS+h/zLWeoaKfJk4T/AHKfyfpU1sVy3Zzvhr3j/wBI/wCZawSPVRuS+61RiJEHPzqYOrcM/wC6Qf8ATWt0PlR5lT535k5hPdHpUisxS866geh7p9D+VcB5w/ufCgMuE9xfSug//9k="/>
          <p:cNvSpPr>
            <a:spLocks noChangeAspect="1" noChangeArrowheads="1"/>
          </p:cNvSpPr>
          <p:nvPr/>
        </p:nvSpPr>
        <p:spPr bwMode="auto">
          <a:xfrm>
            <a:off x="633413" y="2746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eaLnBrk="1" hangingPunct="1"/>
            <a:endParaRPr lang="sv-SE" altLang="en-US"/>
          </a:p>
        </p:txBody>
      </p:sp>
      <p:sp>
        <p:nvSpPr>
          <p:cNvPr id="4107" name="TextBox 1"/>
          <p:cNvSpPr txBox="1">
            <a:spLocks noChangeArrowheads="1"/>
          </p:cNvSpPr>
          <p:nvPr/>
        </p:nvSpPr>
        <p:spPr bwMode="auto">
          <a:xfrm>
            <a:off x="1219200" y="1867693"/>
            <a:ext cx="6003925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Arial" panose="020B0604020202020204" pitchFamily="34" charset="0"/>
                <a:ea typeface="ヒラギノ角ゴ ProN W3" charset="-128"/>
                <a:sym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sv-SE" altLang="en-US" sz="4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Data </a:t>
            </a:r>
          </a:p>
          <a:p>
            <a:pPr algn="ctr" eaLnBrk="1" hangingPunct="1">
              <a:defRPr/>
            </a:pPr>
            <a:endParaRPr lang="sv-SE" altLang="en-US" sz="4000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 eaLnBrk="1" hangingPunct="1">
              <a:defRPr/>
            </a:pPr>
            <a:r>
              <a:rPr lang="sv-SE" altLang="en-US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Lecture No. 2</a:t>
            </a:r>
          </a:p>
          <a:p>
            <a:pPr algn="ctr" eaLnBrk="1" hangingPunct="1">
              <a:defRPr/>
            </a:pPr>
            <a:endParaRPr lang="sv-SE" altLang="en-US" sz="1800" dirty="0">
              <a:solidFill>
                <a:srgbClr val="18069C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7F0B5BCB-9010-0D44-D121-C8DAD3D42A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0D145A-C9CD-DB47-A2CC-D95783BB9D62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C20B9BF7-6EC3-0198-21F2-0660E02AA2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Data Objects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2C7DD48-55BD-185C-9A2D-C1CF44C2C4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/>
              <a:t>Data sets are made up of data objects.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A </a:t>
            </a:r>
            <a:r>
              <a:rPr lang="en-US" altLang="en-US" sz="2400" b="1"/>
              <a:t>data object</a:t>
            </a:r>
            <a:r>
              <a:rPr lang="en-US" altLang="en-US" sz="2400"/>
              <a:t> represents an entity.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Examples: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sales database:  customers, store items, sales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medical database: patients, treatments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/>
              <a:t>university database: students, professors, courses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Also called </a:t>
            </a:r>
            <a:r>
              <a:rPr lang="en-US" altLang="en-US" sz="2400" i="1"/>
              <a:t>samples , examples, instances, data points, objects, tuples</a:t>
            </a:r>
            <a:r>
              <a:rPr lang="en-US" altLang="en-US" sz="2400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Data objects are described by </a:t>
            </a:r>
            <a:r>
              <a:rPr lang="en-US" altLang="en-US" sz="2400" b="1"/>
              <a:t>attributes</a:t>
            </a:r>
            <a:r>
              <a:rPr lang="en-US" altLang="en-US" sz="2400"/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/>
              <a:t>Database rows -&gt; data objects; columns -&gt;attributes.</a:t>
            </a:r>
          </a:p>
        </p:txBody>
      </p:sp>
    </p:spTree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Title 1">
            <a:extLst>
              <a:ext uri="{FF2B5EF4-FFF2-40B4-BE49-F238E27FC236}">
                <a16:creationId xmlns:a16="http://schemas.microsoft.com/office/drawing/2014/main" id="{B16A1BE5-BE04-E598-406D-319A41DC9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aa-ET"/>
              <a:t>EXAMPLE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A60CA46-9FB0-6092-7C04-C8A3BE76BB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6525" y="1524000"/>
          <a:ext cx="6781800" cy="4084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40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80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29712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Name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Age 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Location 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gender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Marital status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712">
                <a:tc>
                  <a:txBody>
                    <a:bodyPr/>
                    <a:lstStyle/>
                    <a:p>
                      <a:pPr marL="914400" lvl="2" algn="r" defTabSz="914400" rtl="1" eaLnBrk="1" latinLnBrk="0" hangingPunct="1"/>
                      <a:r>
                        <a:rPr lang="en-US" sz="1800" dirty="0"/>
                        <a:t>s1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xyz</a:t>
                      </a:r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25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DHA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712">
                <a:tc>
                  <a:txBody>
                    <a:bodyPr/>
                    <a:lstStyle/>
                    <a:p>
                      <a:r>
                        <a:rPr lang="en-US" sz="1800" dirty="0"/>
                        <a:t>s2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abc</a:t>
                      </a:r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34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JT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9712">
                <a:tc>
                  <a:txBody>
                    <a:bodyPr/>
                    <a:lstStyle/>
                    <a:p>
                      <a:r>
                        <a:rPr lang="en-US" sz="1800" dirty="0"/>
                        <a:t>s3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qwe</a:t>
                      </a:r>
                      <a:endParaRPr lang="en-US" sz="1800" dirty="0"/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29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JT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88">
                <a:tc>
                  <a:txBody>
                    <a:bodyPr/>
                    <a:lstStyle/>
                    <a:p>
                      <a:r>
                        <a:rPr lang="en-US" sz="1800" dirty="0"/>
                        <a:t>….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….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….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….</a:t>
                      </a:r>
                    </a:p>
                  </a:txBody>
                  <a:tcPr marT="45724" marB="45724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….</a:t>
                      </a:r>
                    </a:p>
                  </a:txBody>
                  <a:tcPr marT="45724" marB="4572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0030" name="Slide Number Placeholder 3">
            <a:extLst>
              <a:ext uri="{FF2B5EF4-FFF2-40B4-BE49-F238E27FC236}">
                <a16:creationId xmlns:a16="http://schemas.microsoft.com/office/drawing/2014/main" id="{363699DF-A2A4-A632-9250-1DA91AA446A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56387B5-6253-CB47-B827-515EEB53E1F2}" type="slidenum">
              <a:rPr lang="en-US" altLang="en-US" sz="1200"/>
              <a:pPr/>
              <a:t>3</a:t>
            </a:fld>
            <a:endParaRPr lang="en-US" altLang="en-US" sz="1200"/>
          </a:p>
        </p:txBody>
      </p:sp>
    </p:spTree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5">
            <a:extLst>
              <a:ext uri="{FF2B5EF4-FFF2-40B4-BE49-F238E27FC236}">
                <a16:creationId xmlns:a16="http://schemas.microsoft.com/office/drawing/2014/main" id="{4CE4406B-0A82-3A4E-EA1E-ADD104282A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3B3EE9F-F520-4546-B43E-3738312561EA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0C308440-6158-C951-5B3D-DB605A6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Attributes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672DB890-0EC4-50B3-DE43-C70C75817C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686800" cy="5181600"/>
          </a:xfrm>
        </p:spPr>
        <p:txBody>
          <a:bodyPr/>
          <a:lstStyle/>
          <a:p>
            <a:pPr eaLnBrk="1" hangingPunct="1"/>
            <a:r>
              <a:rPr lang="en-US" altLang="en-US" b="1"/>
              <a:t>Attribute (</a:t>
            </a:r>
            <a:r>
              <a:rPr lang="en-US" altLang="en-US"/>
              <a:t>or</a:t>
            </a:r>
            <a:r>
              <a:rPr lang="en-US" altLang="en-US" b="1"/>
              <a:t> dimensions, features, variables</a:t>
            </a:r>
            <a:r>
              <a:rPr lang="en-US" altLang="en-US"/>
              <a:t>): a data field, representing a characteristic or feature of a data object.</a:t>
            </a:r>
          </a:p>
          <a:p>
            <a:pPr lvl="1" eaLnBrk="1" hangingPunct="1"/>
            <a:r>
              <a:rPr lang="en-US" altLang="en-US" i="1"/>
              <a:t>E.g., customer _ID, name, address</a:t>
            </a:r>
          </a:p>
          <a:p>
            <a:pPr eaLnBrk="1" hangingPunct="1"/>
            <a:r>
              <a:rPr lang="en-US" altLang="en-US"/>
              <a:t>Types:</a:t>
            </a:r>
          </a:p>
          <a:p>
            <a:pPr lvl="1" eaLnBrk="1" hangingPunct="1"/>
            <a:r>
              <a:rPr lang="en-US" altLang="en-US"/>
              <a:t>Nominal</a:t>
            </a:r>
          </a:p>
          <a:p>
            <a:pPr lvl="1" eaLnBrk="1" hangingPunct="1"/>
            <a:r>
              <a:rPr lang="en-US" altLang="en-US"/>
              <a:t>Binary</a:t>
            </a:r>
          </a:p>
          <a:p>
            <a:pPr lvl="1" eaLnBrk="1" hangingPunct="1"/>
            <a:r>
              <a:rPr lang="en-US" altLang="en-US"/>
              <a:t>Numeric: quantitative</a:t>
            </a:r>
          </a:p>
          <a:p>
            <a:pPr lvl="2" eaLnBrk="1" hangingPunct="1"/>
            <a:r>
              <a:rPr lang="en-US" altLang="en-US" sz="2800"/>
              <a:t>Interval-scaled</a:t>
            </a:r>
          </a:p>
          <a:p>
            <a:pPr lvl="2" eaLnBrk="1" hangingPunct="1"/>
            <a:r>
              <a:rPr lang="en-US" altLang="en-US" sz="2800"/>
              <a:t>Ratio-scaled</a:t>
            </a:r>
            <a:endParaRPr lang="en-US" altLang="en-US"/>
          </a:p>
        </p:txBody>
      </p:sp>
    </p:spTree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5">
            <a:extLst>
              <a:ext uri="{FF2B5EF4-FFF2-40B4-BE49-F238E27FC236}">
                <a16:creationId xmlns:a16="http://schemas.microsoft.com/office/drawing/2014/main" id="{B35D81A0-D7BF-74B3-1D5F-F0A9B3634A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5D1C0F-B53C-C947-A349-3A5EE18B48F3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435EBBE2-F8C7-EB36-7870-53B43CEC36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Qualitative Attribute Types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232E345D-F83A-C005-5512-3E4C700E28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92100" indent="-292100" eaLnBrk="1" hangingPunct="1">
              <a:lnSpc>
                <a:spcPct val="90000"/>
              </a:lnSpc>
              <a:defRPr/>
            </a:pPr>
            <a:r>
              <a:rPr lang="en-US" altLang="en-US" sz="2000" b="1" dirty="0"/>
              <a:t>Nominal:</a:t>
            </a:r>
            <a:r>
              <a:rPr lang="en-US" altLang="en-US" sz="2000" dirty="0"/>
              <a:t> categories, states, or “names of things”</a:t>
            </a:r>
          </a:p>
          <a:p>
            <a:pPr marL="692150" lvl="1" indent="-292100" eaLnBrk="1" hangingPunct="1">
              <a:lnSpc>
                <a:spcPct val="90000"/>
              </a:lnSpc>
              <a:defRPr/>
            </a:pPr>
            <a:r>
              <a:rPr lang="en-US" altLang="en-US" sz="2000" dirty="0"/>
              <a:t>No meaningful order (enumerations)</a:t>
            </a:r>
          </a:p>
          <a:p>
            <a:pPr marL="749300" lvl="1" indent="-342900" eaLnBrk="1" hangingPunct="1">
              <a:lnSpc>
                <a:spcPct val="90000"/>
              </a:lnSpc>
              <a:defRPr/>
            </a:pPr>
            <a:r>
              <a:rPr lang="en-US" altLang="en-US" sz="2000" i="1" dirty="0" err="1"/>
              <a:t>Hair_color</a:t>
            </a:r>
            <a:r>
              <a:rPr lang="en-US" altLang="en-US" sz="2000" i="1" dirty="0"/>
              <a:t> = </a:t>
            </a:r>
            <a:r>
              <a:rPr lang="en-US" altLang="en-US" sz="2000" dirty="0"/>
              <a:t>{</a:t>
            </a:r>
            <a:r>
              <a:rPr lang="en-US" altLang="en-US" sz="2000" i="1" dirty="0"/>
              <a:t>auburn, black, blond, brown, grey, red, white</a:t>
            </a:r>
            <a:r>
              <a:rPr lang="en-US" altLang="en-US" sz="2000" dirty="0"/>
              <a:t>}</a:t>
            </a:r>
          </a:p>
          <a:p>
            <a:pPr marL="749300" lvl="1" indent="-342900" eaLnBrk="1" hangingPunct="1">
              <a:lnSpc>
                <a:spcPct val="90000"/>
              </a:lnSpc>
              <a:defRPr/>
            </a:pPr>
            <a:r>
              <a:rPr lang="en-US" altLang="en-US" sz="2000" dirty="0"/>
              <a:t>marital status, occupation, </a:t>
            </a:r>
            <a:r>
              <a:rPr lang="en-US" altLang="en-US" sz="2000" dirty="0">
                <a:solidFill>
                  <a:schemeClr val="accent1">
                    <a:lumMod val="50000"/>
                  </a:schemeClr>
                </a:solidFill>
              </a:rPr>
              <a:t>ID numbers, zip codes</a:t>
            </a:r>
          </a:p>
          <a:p>
            <a:pPr marL="749300" lvl="1" indent="-342900" eaLnBrk="1" hangingPunct="1">
              <a:lnSpc>
                <a:spcPct val="90000"/>
              </a:lnSpc>
              <a:defRPr/>
            </a:pPr>
            <a:r>
              <a:rPr lang="en-US" altLang="en-US" sz="2000" dirty="0"/>
              <a:t>Possible to represent with numbers (</a:t>
            </a:r>
            <a:r>
              <a:rPr lang="en-US" altLang="en-US" sz="2000" dirty="0" err="1"/>
              <a:t>haircolor</a:t>
            </a:r>
            <a:r>
              <a:rPr lang="en-US" altLang="en-US" sz="2000" dirty="0"/>
              <a:t>: black = 0 brown = 1 and so on)</a:t>
            </a:r>
          </a:p>
          <a:p>
            <a:pPr marL="749300" lvl="1" indent="-342900" eaLnBrk="1" hangingPunct="1">
              <a:lnSpc>
                <a:spcPct val="90000"/>
              </a:lnSpc>
              <a:defRPr/>
            </a:pPr>
            <a:r>
              <a:rPr lang="en-US" altLang="en-US" sz="2000" dirty="0"/>
              <a:t>May have integer value but not considered numeric ID vs age</a:t>
            </a:r>
          </a:p>
          <a:p>
            <a:pPr marL="749300" lvl="1" indent="-342900" eaLnBrk="1" hangingPunct="1">
              <a:lnSpc>
                <a:spcPct val="90000"/>
              </a:lnSpc>
              <a:defRPr/>
            </a:pPr>
            <a:r>
              <a:rPr lang="en-US" altLang="en-US" sz="2000" dirty="0"/>
              <a:t>No sense to find mean and median. Mode can be useful</a:t>
            </a:r>
          </a:p>
          <a:p>
            <a:pPr marL="292100" indent="-292100" eaLnBrk="1" hangingPunct="1">
              <a:lnSpc>
                <a:spcPct val="90000"/>
              </a:lnSpc>
              <a:defRPr/>
            </a:pPr>
            <a:r>
              <a:rPr lang="en-US" altLang="en-US" sz="2000" b="1" dirty="0"/>
              <a:t>Binary</a:t>
            </a:r>
          </a:p>
          <a:p>
            <a:pPr marL="749300" lvl="1" indent="-342900" eaLnBrk="1" hangingPunct="1">
              <a:lnSpc>
                <a:spcPct val="90000"/>
              </a:lnSpc>
              <a:defRPr/>
            </a:pPr>
            <a:r>
              <a:rPr lang="en-US" altLang="en-US" sz="2000" dirty="0"/>
              <a:t>Nominal attribute with only 2 states (0 and 1)</a:t>
            </a:r>
          </a:p>
          <a:p>
            <a:pPr marL="749300" lvl="1" indent="-342900" eaLnBrk="1" hangingPunct="1">
              <a:lnSpc>
                <a:spcPct val="90000"/>
              </a:lnSpc>
              <a:defRPr/>
            </a:pPr>
            <a:r>
              <a:rPr lang="en-US" altLang="en-US" sz="2000" u="sng" dirty="0"/>
              <a:t>Symmetric binary</a:t>
            </a:r>
            <a:r>
              <a:rPr lang="en-US" altLang="en-US" sz="2000" dirty="0"/>
              <a:t>: both outcomes equally important</a:t>
            </a:r>
          </a:p>
          <a:p>
            <a:pPr marL="1257300" lvl="2" indent="-393700" eaLnBrk="1" hangingPunct="1">
              <a:lnSpc>
                <a:spcPct val="90000"/>
              </a:lnSpc>
              <a:defRPr/>
            </a:pPr>
            <a:r>
              <a:rPr lang="en-US" altLang="en-US" sz="2000" dirty="0"/>
              <a:t>e.g., gender</a:t>
            </a:r>
          </a:p>
          <a:p>
            <a:pPr marL="749300" lvl="1" indent="-342900" eaLnBrk="1" hangingPunct="1">
              <a:lnSpc>
                <a:spcPct val="90000"/>
              </a:lnSpc>
              <a:defRPr/>
            </a:pPr>
            <a:r>
              <a:rPr lang="en-US" altLang="en-US" sz="2000" u="sng" dirty="0"/>
              <a:t>Asymmetric binary</a:t>
            </a:r>
            <a:r>
              <a:rPr lang="en-US" altLang="en-US" sz="2000" dirty="0"/>
              <a:t>: outcomes not equally important.  </a:t>
            </a:r>
          </a:p>
          <a:p>
            <a:pPr marL="1257300" lvl="2" indent="-393700" eaLnBrk="1" hangingPunct="1">
              <a:lnSpc>
                <a:spcPct val="90000"/>
              </a:lnSpc>
              <a:defRPr/>
            </a:pPr>
            <a:r>
              <a:rPr lang="en-US" altLang="en-US" sz="2000" dirty="0"/>
              <a:t>e.g., medical test (positive vs. negative)</a:t>
            </a:r>
          </a:p>
          <a:p>
            <a:pPr marL="1257300" lvl="2" indent="-393700" eaLnBrk="1" hangingPunct="1">
              <a:lnSpc>
                <a:spcPct val="90000"/>
              </a:lnSpc>
              <a:defRPr/>
            </a:pPr>
            <a:r>
              <a:rPr lang="en-US" altLang="en-US" sz="2000" dirty="0"/>
              <a:t>Convention: assign 1 to most important outcome (e.g., HIV)</a:t>
            </a:r>
          </a:p>
        </p:txBody>
      </p:sp>
    </p:spTree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>
            <a:extLst>
              <a:ext uri="{FF2B5EF4-FFF2-40B4-BE49-F238E27FC236}">
                <a16:creationId xmlns:a16="http://schemas.microsoft.com/office/drawing/2014/main" id="{A0BCEBB6-467C-07C9-4507-DCDF1B4B5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95D9183-9710-5C4E-81A0-C259C81542CC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401B9974-3AA8-1B32-103A-310D6D7166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Qualitative Attribute Types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1C480BEA-1C9A-876D-0039-FBA9C3E55A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92100" indent="-292100" eaLnBrk="1" hangingPunct="1">
              <a:lnSpc>
                <a:spcPct val="90000"/>
              </a:lnSpc>
              <a:defRPr/>
            </a:pPr>
            <a:r>
              <a:rPr lang="en-US" altLang="en-US" sz="2000" b="1" dirty="0"/>
              <a:t>Ordinal</a:t>
            </a:r>
          </a:p>
          <a:p>
            <a:pPr marL="749300" lvl="1" indent="-342900" eaLnBrk="1" hangingPunct="1">
              <a:lnSpc>
                <a:spcPct val="90000"/>
              </a:lnSpc>
              <a:defRPr/>
            </a:pPr>
            <a:r>
              <a:rPr lang="en-US" altLang="en-US" sz="2000" dirty="0"/>
              <a:t>Values have a meaningful order (ranking) but magnitude between successive values is not known.</a:t>
            </a:r>
          </a:p>
          <a:p>
            <a:pPr marL="749300" lvl="1" indent="-342900" eaLnBrk="1" hangingPunct="1">
              <a:lnSpc>
                <a:spcPct val="90000"/>
              </a:lnSpc>
              <a:defRPr/>
            </a:pPr>
            <a:r>
              <a:rPr lang="en-US" altLang="en-US" sz="2000" i="1" dirty="0"/>
              <a:t>Size = </a:t>
            </a:r>
            <a:r>
              <a:rPr lang="en-US" altLang="en-US" sz="2000" dirty="0"/>
              <a:t>{</a:t>
            </a:r>
            <a:r>
              <a:rPr lang="en-US" altLang="en-US" sz="2000" i="1" dirty="0"/>
              <a:t>small, medium, large</a:t>
            </a:r>
            <a:r>
              <a:rPr lang="en-US" altLang="en-US" sz="2000" dirty="0"/>
              <a:t>}</a:t>
            </a:r>
            <a:r>
              <a:rPr lang="en-US" altLang="en-US" sz="2000" i="1" dirty="0"/>
              <a:t>,</a:t>
            </a:r>
            <a:r>
              <a:rPr lang="en-US" altLang="en-US" sz="2000" dirty="0"/>
              <a:t> grades, army rankings, professional ranks</a:t>
            </a:r>
          </a:p>
          <a:p>
            <a:pPr marL="749300" lvl="1" indent="-342900" eaLnBrk="1" hangingPunct="1">
              <a:lnSpc>
                <a:spcPct val="90000"/>
              </a:lnSpc>
              <a:defRPr/>
            </a:pPr>
            <a:r>
              <a:rPr lang="en-US" altLang="en-US" sz="2000" dirty="0"/>
              <a:t>Ordinal attributes are used in surveys for ratings. </a:t>
            </a:r>
          </a:p>
          <a:p>
            <a:pPr marL="749300" lvl="1" indent="-342900" eaLnBrk="1" hangingPunct="1">
              <a:lnSpc>
                <a:spcPct val="90000"/>
              </a:lnSpc>
              <a:defRPr/>
            </a:pPr>
            <a:r>
              <a:rPr lang="en-US" altLang="en-US" sz="2000" dirty="0"/>
              <a:t>Can be obtained from the discretization of numeric quantities</a:t>
            </a:r>
          </a:p>
          <a:p>
            <a:pPr marL="749300" lvl="1" indent="-342900" eaLnBrk="1" hangingPunct="1">
              <a:lnSpc>
                <a:spcPct val="90000"/>
              </a:lnSpc>
              <a:defRPr/>
            </a:pPr>
            <a:r>
              <a:rPr lang="en-US" altLang="en-US" sz="2000" dirty="0"/>
              <a:t>Mode and Median can be used</a:t>
            </a:r>
          </a:p>
          <a:p>
            <a:pPr marL="749300" lvl="1" indent="-342900" eaLnBrk="1" hangingPunct="1">
              <a:lnSpc>
                <a:spcPct val="90000"/>
              </a:lnSpc>
              <a:defRPr/>
            </a:pPr>
            <a:endParaRPr lang="en-US" altLang="en-US" sz="2000" dirty="0"/>
          </a:p>
          <a:p>
            <a:pPr marL="349250" eaLnBrk="1" hangingPunct="1">
              <a:lnSpc>
                <a:spcPct val="90000"/>
              </a:lnSpc>
              <a:defRPr/>
            </a:pPr>
            <a:r>
              <a:rPr lang="en-US" altLang="en-US" sz="2000" dirty="0"/>
              <a:t>Nominal, binary and ordinal are qualitative attributes.</a:t>
            </a:r>
          </a:p>
        </p:txBody>
      </p:sp>
    </p:spTree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5">
            <a:extLst>
              <a:ext uri="{FF2B5EF4-FFF2-40B4-BE49-F238E27FC236}">
                <a16:creationId xmlns:a16="http://schemas.microsoft.com/office/drawing/2014/main" id="{1ED34C25-1009-CAEF-D771-67315B6C10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774548-BDA1-A745-A75F-A4BA607D216F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37A9F16D-BFB5-DDCF-6C1E-5646F8760F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Numeric Attribute Types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AF9FD98E-006E-65B1-ED1C-B5B6045B7F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82000" cy="5257800"/>
          </a:xfrm>
        </p:spPr>
        <p:txBody>
          <a:bodyPr/>
          <a:lstStyle/>
          <a:p>
            <a:pPr marL="292100" indent="-292100" eaLnBrk="1" hangingPunct="1">
              <a:lnSpc>
                <a:spcPct val="90000"/>
              </a:lnSpc>
            </a:pPr>
            <a:r>
              <a:rPr lang="en-US" altLang="en-US" sz="2400"/>
              <a:t>Quantity (integer or real-valued)</a:t>
            </a:r>
          </a:p>
          <a:p>
            <a:pPr marL="292100" indent="-292100" eaLnBrk="1" hangingPunct="1">
              <a:lnSpc>
                <a:spcPct val="90000"/>
              </a:lnSpc>
            </a:pPr>
            <a:r>
              <a:rPr lang="en-US" altLang="en-US" sz="2400" b="1"/>
              <a:t>Interval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altLang="en-US"/>
              <a:t>Measured on a scale of </a:t>
            </a:r>
            <a:r>
              <a:rPr lang="en-US" altLang="en-US" b="1"/>
              <a:t>equal-sized units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altLang="en-US"/>
              <a:t>Values have order</a:t>
            </a:r>
          </a:p>
          <a:p>
            <a:pPr marL="1714500" lvl="3" indent="-393700" eaLnBrk="1" hangingPunct="1">
              <a:lnSpc>
                <a:spcPct val="90000"/>
              </a:lnSpc>
            </a:pPr>
            <a:r>
              <a:rPr lang="en-US" altLang="en-US" sz="2400"/>
              <a:t>E.g., </a:t>
            </a:r>
            <a:r>
              <a:rPr lang="en-US" altLang="en-US" sz="2400" i="1"/>
              <a:t>temperature in C</a:t>
            </a:r>
            <a:r>
              <a:rPr lang="en-US" altLang="en-US" sz="2400" i="1">
                <a:cs typeface="Tahoma" panose="020B0604030504040204" pitchFamily="34" charset="0"/>
              </a:rPr>
              <a:t>˚</a:t>
            </a:r>
            <a:r>
              <a:rPr lang="en-US" altLang="en-US" sz="2400" i="1"/>
              <a:t>or F</a:t>
            </a:r>
            <a:r>
              <a:rPr lang="en-US" altLang="en-US" sz="2400" i="1">
                <a:cs typeface="Tahoma" panose="020B0604030504040204" pitchFamily="34" charset="0"/>
              </a:rPr>
              <a:t>˚</a:t>
            </a:r>
            <a:r>
              <a:rPr lang="en-US" altLang="en-US" sz="2400" i="1"/>
              <a:t>, calendar dates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altLang="en-US"/>
              <a:t>No true zero-point (</a:t>
            </a:r>
            <a:r>
              <a:rPr lang="en-US" altLang="en-US" i="1"/>
              <a:t>0</a:t>
            </a:r>
            <a:r>
              <a:rPr lang="en-US" altLang="en-US" i="1">
                <a:cs typeface="Tahoma" panose="020B0604030504040204" pitchFamily="34" charset="0"/>
              </a:rPr>
              <a:t>˚C doesn’t indicate no temperature</a:t>
            </a:r>
            <a:r>
              <a:rPr lang="en-US" altLang="en-US"/>
              <a:t>)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altLang="en-US"/>
              <a:t>Cannot speak of values in terms of ratios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altLang="en-US"/>
              <a:t>Mean, median and mode all valid</a:t>
            </a:r>
          </a:p>
        </p:txBody>
      </p:sp>
    </p:spTree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Number Placeholder 5">
            <a:extLst>
              <a:ext uri="{FF2B5EF4-FFF2-40B4-BE49-F238E27FC236}">
                <a16:creationId xmlns:a16="http://schemas.microsoft.com/office/drawing/2014/main" id="{A13D1FA6-F35B-3097-50A7-1162DD3C81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6E2EC6-AEC8-5D47-A325-5E1F9509F0E7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117DF919-2830-7F0B-D204-FA399D4397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rgbClr val="170981"/>
                </a:solidFill>
              </a:rPr>
              <a:t>Numeric Attribute Types</a:t>
            </a:r>
            <a:r>
              <a:rPr lang="en-US" altLang="en-US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C39C15D-2507-6387-D546-A826019EBC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382000" cy="5257800"/>
          </a:xfrm>
        </p:spPr>
        <p:txBody>
          <a:bodyPr/>
          <a:lstStyle/>
          <a:p>
            <a:pPr marL="292100" indent="-292100" eaLnBrk="1" hangingPunct="1">
              <a:lnSpc>
                <a:spcPct val="90000"/>
              </a:lnSpc>
            </a:pPr>
            <a:r>
              <a:rPr lang="en-US" altLang="en-US" sz="2400"/>
              <a:t>Quantity (integer or real-valued)</a:t>
            </a:r>
          </a:p>
          <a:p>
            <a:pPr marL="292100" indent="-292100" eaLnBrk="1" hangingPunct="1">
              <a:lnSpc>
                <a:spcPct val="90000"/>
              </a:lnSpc>
            </a:pPr>
            <a:r>
              <a:rPr lang="en-US" altLang="en-US" sz="2400" b="1"/>
              <a:t>Ratio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altLang="en-US"/>
              <a:t>Inherent </a:t>
            </a:r>
            <a:r>
              <a:rPr lang="en-US" altLang="en-US" b="1"/>
              <a:t>zero-point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altLang="en-US"/>
              <a:t>Values can be represented in ratios of each other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altLang="en-US"/>
              <a:t>We can speak of values as being an order of magnitude larger than the unit of measurement (10 K</a:t>
            </a:r>
            <a:r>
              <a:rPr lang="en-US" altLang="en-US">
                <a:cs typeface="Tahoma" panose="020B0604030504040204" pitchFamily="34" charset="0"/>
              </a:rPr>
              <a:t>˚</a:t>
            </a:r>
            <a:r>
              <a:rPr lang="en-US" altLang="en-US"/>
              <a:t> is twice as high as 5 K</a:t>
            </a:r>
            <a:r>
              <a:rPr lang="en-US" altLang="en-US">
                <a:cs typeface="Tahoma" panose="020B0604030504040204" pitchFamily="34" charset="0"/>
              </a:rPr>
              <a:t>˚</a:t>
            </a:r>
            <a:r>
              <a:rPr lang="en-US" altLang="en-US"/>
              <a:t>).</a:t>
            </a:r>
          </a:p>
          <a:p>
            <a:pPr marL="1714500" lvl="3" indent="-393700" eaLnBrk="1" hangingPunct="1">
              <a:lnSpc>
                <a:spcPct val="90000"/>
              </a:lnSpc>
            </a:pPr>
            <a:r>
              <a:rPr lang="en-US" altLang="en-US" sz="2400"/>
              <a:t>e.g., </a:t>
            </a:r>
            <a:r>
              <a:rPr lang="en-US" altLang="en-US" sz="2400" i="1"/>
              <a:t>temperature in Kelvin, length, counts, monetary quantities, no. of words, years of experience</a:t>
            </a:r>
          </a:p>
          <a:p>
            <a:pPr marL="1257300" lvl="2" indent="-393700" eaLnBrk="1" hangingPunct="1">
              <a:lnSpc>
                <a:spcPct val="90000"/>
              </a:lnSpc>
            </a:pPr>
            <a:r>
              <a:rPr lang="en-US" altLang="en-US"/>
              <a:t>0 K</a:t>
            </a:r>
            <a:r>
              <a:rPr lang="en-US" altLang="en-US">
                <a:cs typeface="Tahoma" panose="020B0604030504040204" pitchFamily="34" charset="0"/>
              </a:rPr>
              <a:t>˚ means particles with zero kinetic energy</a:t>
            </a:r>
            <a:endParaRPr lang="en-US" altLang="en-US" i="1"/>
          </a:p>
        </p:txBody>
      </p:sp>
    </p:spTree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5">
            <a:extLst>
              <a:ext uri="{FF2B5EF4-FFF2-40B4-BE49-F238E27FC236}">
                <a16:creationId xmlns:a16="http://schemas.microsoft.com/office/drawing/2014/main" id="{72EC41DE-F74E-610F-8E43-C8D0C1ACE9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018AB0-3202-E043-90BF-73E206F5DAE1}" type="slidenum">
              <a:rPr lang="en-US" altLang="en-US" sz="12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BE107DD8-51FD-AB43-4F66-9002FE3D51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Discrete vs. Continuous Attributes 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CFD02780-4AF2-B40A-5615-55B0129335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19200"/>
            <a:ext cx="85344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b="1"/>
              <a:t>Discrete</a:t>
            </a:r>
            <a:r>
              <a:rPr lang="en-US" altLang="en-US" sz="2400"/>
              <a:t> </a:t>
            </a:r>
            <a:r>
              <a:rPr lang="en-US" altLang="en-US" sz="2400" b="1"/>
              <a:t>Attribute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Has only a finite or countably infinite set of values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E.g., zip codes, profession, or the set of words in a collection of documents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Sometimes, represented as integer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Note: Binary attributes are a special case of discrete attributes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b="1"/>
              <a:t>Continuous</a:t>
            </a:r>
            <a:r>
              <a:rPr lang="en-US" altLang="en-US" sz="2400"/>
              <a:t> </a:t>
            </a:r>
            <a:r>
              <a:rPr lang="en-US" altLang="en-US" sz="2400" b="1"/>
              <a:t>Attribute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Has real numbers as attribute values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E.g., temperature, height, or weight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Practically, real values can only be measured and represented using a finite number of digits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Continuous attributes are typically represented as floating-point variables</a:t>
            </a:r>
          </a:p>
        </p:txBody>
      </p:sp>
    </p:spTree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Berlin Sans FB Demi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Watermark</Template>
  <TotalTime>23265</TotalTime>
  <Words>655</Words>
  <Application>Microsoft Office PowerPoint</Application>
  <PresentationFormat>On-screen Show (4:3)</PresentationFormat>
  <Paragraphs>126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Berlin Sans FB Demi</vt:lpstr>
      <vt:lpstr>Tahoma</vt:lpstr>
      <vt:lpstr>Times New Roman</vt:lpstr>
      <vt:lpstr>Wingdings</vt:lpstr>
      <vt:lpstr>Blends</vt:lpstr>
      <vt:lpstr>Data Science CS 4048</vt:lpstr>
      <vt:lpstr>Data Objects</vt:lpstr>
      <vt:lpstr>EXAMPLE</vt:lpstr>
      <vt:lpstr>Attributes</vt:lpstr>
      <vt:lpstr>Qualitative Attribute Types </vt:lpstr>
      <vt:lpstr>Qualitative Attribute Types </vt:lpstr>
      <vt:lpstr>Numeric Attribute Types </vt:lpstr>
      <vt:lpstr>Numeric Attribute Types </vt:lpstr>
      <vt:lpstr>Discrete vs. Continuous Attributes </vt:lpstr>
    </vt:vector>
  </TitlesOfParts>
  <Company>S.F.U.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cp:lastModifiedBy>Dr.Kashif Zafar</cp:lastModifiedBy>
  <cp:revision>792</cp:revision>
  <cp:lastPrinted>1999-09-10T20:38:56Z</cp:lastPrinted>
  <dcterms:created xsi:type="dcterms:W3CDTF">1998-06-19T04:38:52Z</dcterms:created>
  <dcterms:modified xsi:type="dcterms:W3CDTF">2026-01-22T22:37:29Z</dcterms:modified>
</cp:coreProperties>
</file>