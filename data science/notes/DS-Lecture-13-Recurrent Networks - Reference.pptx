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8" r:id="rId2"/>
    <p:sldId id="260" r:id="rId3"/>
    <p:sldId id="268" r:id="rId4"/>
    <p:sldId id="269" r:id="rId5"/>
    <p:sldId id="270" r:id="rId6"/>
    <p:sldId id="271" r:id="rId7"/>
    <p:sldId id="301" r:id="rId8"/>
    <p:sldId id="302" r:id="rId9"/>
    <p:sldId id="307" r:id="rId10"/>
    <p:sldId id="308" r:id="rId11"/>
    <p:sldId id="303" r:id="rId12"/>
    <p:sldId id="304" r:id="rId13"/>
    <p:sldId id="305" r:id="rId14"/>
    <p:sldId id="285" r:id="rId15"/>
    <p:sldId id="286" r:id="rId16"/>
    <p:sldId id="272" r:id="rId17"/>
    <p:sldId id="289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90" r:id="rId27"/>
    <p:sldId id="29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89066" autoAdjust="0"/>
  </p:normalViewPr>
  <p:slideViewPr>
    <p:cSldViewPr snapToGrid="0">
      <p:cViewPr varScale="1">
        <p:scale>
          <a:sx n="62" d="100"/>
          <a:sy n="62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53CF4-8E97-4D3D-9F31-53E8B9753F48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A175E-EE97-427D-A05D-6F6519D035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6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en-US" sz="1200" b="0" dirty="0"/>
              <a:t>7</a:t>
            </a:fld>
            <a:endParaRPr lang="en-US" altLang="en-US" sz="1200" b="0" dirty="0"/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8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49712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en-US" sz="1200" b="0" dirty="0"/>
              <a:t>8</a:t>
            </a:fld>
            <a:endParaRPr lang="en-US" altLang="en-US" sz="1200" b="0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39565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en-US" sz="1200" b="0" dirty="0"/>
              <a:t>10</a:t>
            </a:fld>
            <a:endParaRPr lang="en-US" altLang="en-US" sz="1200" b="0" dirty="0"/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3873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en-US" sz="1200" b="0" dirty="0"/>
              <a:t>11</a:t>
            </a:fld>
            <a:endParaRPr lang="en-US" altLang="en-US" sz="1200" b="0" dirty="0"/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644542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en-US" sz="1200" b="0" dirty="0"/>
              <a:t>12</a:t>
            </a:fld>
            <a:endParaRPr lang="en-US" altLang="en-US" sz="1200" b="0" dirty="0"/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503839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/>
            <a:fld id="{9A0DB2DC-4C9A-4742-B13C-FB6460FD3503}" type="slidenum">
              <a:rPr lang="en-US" altLang="en-US" sz="1200" b="0" dirty="0"/>
              <a:t>13</a:t>
            </a:fld>
            <a:endParaRPr lang="en-US" altLang="en-US" sz="1200" b="0" dirty="0"/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wrap="square" lIns="91440" tIns="45720" rIns="91440" bIns="45720" anchor="t" anchorCtr="0"/>
          <a:lstStyle/>
          <a:p>
            <a:pPr lvl="0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38375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39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 , One 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A175E-EE97-427D-A05D-6F6519D035C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23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644493F-841E-4B9E-B823-5BBD67ECE70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377A150-00FF-4D5B-A156-E90840A7F9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tiff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1192" y="1931493"/>
            <a:ext cx="11029615" cy="1497507"/>
          </a:xfrm>
        </p:spPr>
        <p:txBody>
          <a:bodyPr/>
          <a:lstStyle/>
          <a:p>
            <a:pPr algn="ctr"/>
            <a:r>
              <a:rPr lang="en-US" dirty="0"/>
              <a:t>Recurrent neural network (RNN)</a:t>
            </a:r>
            <a:br>
              <a:rPr lang="en-US" dirty="0"/>
            </a:br>
            <a:r>
              <a:rPr lang="en-US" sz="2400" dirty="0"/>
              <a:t>Reference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60003" y="573237"/>
            <a:ext cx="4995285" cy="456650"/>
          </a:xfrm>
        </p:spPr>
        <p:txBody>
          <a:bodyPr anchor="t">
            <a:normAutofit fontScale="90000"/>
          </a:bodyPr>
          <a:lstStyle/>
          <a:p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Examples of sequence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9435830" y="-39299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01" name="Group 100"/>
          <p:cNvGrpSpPr/>
          <p:nvPr/>
        </p:nvGrpSpPr>
        <p:grpSpPr>
          <a:xfrm>
            <a:off x="178994" y="1614114"/>
            <a:ext cx="11496143" cy="942975"/>
            <a:chOff x="178994" y="2060516"/>
            <a:chExt cx="11496143" cy="942975"/>
          </a:xfrm>
        </p:grpSpPr>
        <p:sp>
          <p:nvSpPr>
            <p:cNvPr id="45" name="TextBox 44"/>
            <p:cNvSpPr txBox="1"/>
            <p:nvPr/>
          </p:nvSpPr>
          <p:spPr>
            <a:xfrm>
              <a:off x="178994" y="2323572"/>
              <a:ext cx="26484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Music generation</a:t>
              </a:r>
            </a:p>
          </p:txBody>
        </p:sp>
        <p:pic>
          <p:nvPicPr>
            <p:cNvPr id="62" name="Picture 61"/>
            <p:cNvPicPr>
              <a:picLocks noChangeAspect="1"/>
            </p:cNvPicPr>
            <p:nvPr/>
          </p:nvPicPr>
          <p:blipFill rotWithShape="1">
            <a:blip r:embed="rId2"/>
            <a:srcRect l="29075" t="63067" r="51253" b="29284"/>
            <a:stretch>
              <a:fillRect/>
            </a:stretch>
          </p:blipFill>
          <p:spPr>
            <a:xfrm>
              <a:off x="8925760" y="2060516"/>
              <a:ext cx="2749377" cy="9429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/>
                <p:cNvSpPr txBox="1"/>
                <p:nvPr/>
              </p:nvSpPr>
              <p:spPr>
                <a:xfrm>
                  <a:off x="5339504" y="2221207"/>
                  <a:ext cx="49244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smtClean="0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∅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63" name="TextBox 6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9504" y="2221207"/>
                  <a:ext cx="492443" cy="52322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Straight Arrow Connector 64"/>
            <p:cNvCxnSpPr/>
            <p:nvPr/>
          </p:nvCxnSpPr>
          <p:spPr>
            <a:xfrm>
              <a:off x="7514169" y="2557647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/>
          <p:cNvGrpSpPr/>
          <p:nvPr/>
        </p:nvGrpSpPr>
        <p:grpSpPr>
          <a:xfrm>
            <a:off x="178994" y="517772"/>
            <a:ext cx="12449881" cy="1757363"/>
            <a:chOff x="178994" y="731501"/>
            <a:chExt cx="12449881" cy="1757363"/>
          </a:xfrm>
        </p:grpSpPr>
        <p:sp>
          <p:nvSpPr>
            <p:cNvPr id="9" name="TextBox 8"/>
            <p:cNvSpPr txBox="1"/>
            <p:nvPr/>
          </p:nvSpPr>
          <p:spPr>
            <a:xfrm>
              <a:off x="178994" y="1305849"/>
              <a:ext cx="29775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Speech recognition</a:t>
              </a: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 rotWithShape="1">
            <a:blip r:embed="rId4"/>
            <a:srcRect l="-1" t="24417" r="40431" b="17652"/>
            <a:stretch>
              <a:fillRect/>
            </a:stretch>
          </p:blipFill>
          <p:spPr>
            <a:xfrm>
              <a:off x="4334377" y="731501"/>
              <a:ext cx="2589257" cy="1757363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452696" y="1167772"/>
              <a:ext cx="417617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“The quick brown fox jumped over the lazy dog.”</a:t>
              </a:r>
            </a:p>
          </p:txBody>
        </p:sp>
        <p:cxnSp>
          <p:nvCxnSpPr>
            <p:cNvPr id="66" name="Straight Arrow Connector 65"/>
            <p:cNvCxnSpPr/>
            <p:nvPr/>
          </p:nvCxnSpPr>
          <p:spPr>
            <a:xfrm>
              <a:off x="7514169" y="1521715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/>
          <p:cNvGrpSpPr/>
          <p:nvPr/>
        </p:nvGrpSpPr>
        <p:grpSpPr>
          <a:xfrm>
            <a:off x="178994" y="2456881"/>
            <a:ext cx="11308945" cy="707886"/>
            <a:chOff x="178994" y="3037197"/>
            <a:chExt cx="11308945" cy="707886"/>
          </a:xfrm>
        </p:grpSpPr>
        <p:sp>
          <p:nvSpPr>
            <p:cNvPr id="67" name="TextBox 66"/>
            <p:cNvSpPr txBox="1"/>
            <p:nvPr/>
          </p:nvSpPr>
          <p:spPr>
            <a:xfrm>
              <a:off x="178994" y="3160307"/>
              <a:ext cx="36070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Sentiment classification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021857" y="3037197"/>
              <a:ext cx="321430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“There is nothing to like in this movie.”</a:t>
              </a:r>
            </a:p>
          </p:txBody>
        </p:sp>
        <p:cxnSp>
          <p:nvCxnSpPr>
            <p:cNvPr id="69" name="Straight Arrow Connector 68"/>
            <p:cNvCxnSpPr/>
            <p:nvPr/>
          </p:nvCxnSpPr>
          <p:spPr>
            <a:xfrm>
              <a:off x="7514169" y="3399076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/>
            <p:cNvGrpSpPr/>
            <p:nvPr/>
          </p:nvGrpSpPr>
          <p:grpSpPr>
            <a:xfrm>
              <a:off x="9182935" y="3266545"/>
              <a:ext cx="2305004" cy="377607"/>
              <a:chOff x="8533045" y="3242433"/>
              <a:chExt cx="2305004" cy="377607"/>
            </a:xfrm>
          </p:grpSpPr>
          <p:sp>
            <p:nvSpPr>
              <p:cNvPr id="71" name="5-Point Star 70"/>
              <p:cNvSpPr/>
              <p:nvPr/>
            </p:nvSpPr>
            <p:spPr>
              <a:xfrm>
                <a:off x="8533045" y="3247680"/>
                <a:ext cx="400050" cy="372303"/>
              </a:xfrm>
              <a:prstGeom prst="star5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5-Point Star 71"/>
              <p:cNvSpPr/>
              <p:nvPr/>
            </p:nvSpPr>
            <p:spPr>
              <a:xfrm>
                <a:off x="9009284" y="3242434"/>
                <a:ext cx="400050" cy="372303"/>
              </a:xfrm>
              <a:prstGeom prst="star5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5-Point Star 72"/>
              <p:cNvSpPr/>
              <p:nvPr/>
            </p:nvSpPr>
            <p:spPr>
              <a:xfrm>
                <a:off x="9485522" y="3242434"/>
                <a:ext cx="400050" cy="372303"/>
              </a:xfrm>
              <a:prstGeom prst="star5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5-Point Star 73"/>
              <p:cNvSpPr/>
              <p:nvPr/>
            </p:nvSpPr>
            <p:spPr>
              <a:xfrm>
                <a:off x="9961760" y="3247737"/>
                <a:ext cx="400050" cy="372303"/>
              </a:xfrm>
              <a:prstGeom prst="star5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5-Point Star 74"/>
              <p:cNvSpPr/>
              <p:nvPr/>
            </p:nvSpPr>
            <p:spPr>
              <a:xfrm>
                <a:off x="10437999" y="3242433"/>
                <a:ext cx="400050" cy="372303"/>
              </a:xfrm>
              <a:prstGeom prst="star5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3" name="Group 102"/>
          <p:cNvGrpSpPr/>
          <p:nvPr/>
        </p:nvGrpSpPr>
        <p:grpSpPr>
          <a:xfrm>
            <a:off x="184387" y="3348280"/>
            <a:ext cx="11815440" cy="461665"/>
            <a:chOff x="184387" y="4018442"/>
            <a:chExt cx="11815440" cy="461665"/>
          </a:xfrm>
        </p:grpSpPr>
        <p:sp>
          <p:nvSpPr>
            <p:cNvPr id="77" name="TextBox 76"/>
            <p:cNvSpPr txBox="1"/>
            <p:nvPr/>
          </p:nvSpPr>
          <p:spPr>
            <a:xfrm>
              <a:off x="184387" y="4018442"/>
              <a:ext cx="35269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DNA sequence analysis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979926" y="4068782"/>
              <a:ext cx="3390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AGCCCCTGTGAGGAACTAG</a:t>
              </a:r>
            </a:p>
          </p:txBody>
        </p:sp>
        <p:cxnSp>
          <p:nvCxnSpPr>
            <p:cNvPr id="79" name="Straight Arrow Connector 78"/>
            <p:cNvCxnSpPr/>
            <p:nvPr/>
          </p:nvCxnSpPr>
          <p:spPr>
            <a:xfrm>
              <a:off x="7514169" y="4263561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8609155" y="4055129"/>
              <a:ext cx="3390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AG</a:t>
              </a:r>
              <a:r>
                <a:rPr lang="en-US" dirty="0">
                  <a:solidFill>
                    <a:srgbClr val="FF0000"/>
                  </a:solidFill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CCCCTGTGAGGAACT</a:t>
              </a:r>
              <a:r>
                <a:rPr lang="en-US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AG</a:t>
              </a:r>
            </a:p>
          </p:txBody>
        </p:sp>
      </p:grpSp>
      <p:grpSp>
        <p:nvGrpSpPr>
          <p:cNvPr id="104" name="Group 103"/>
          <p:cNvGrpSpPr/>
          <p:nvPr/>
        </p:nvGrpSpPr>
        <p:grpSpPr>
          <a:xfrm>
            <a:off x="185066" y="4058510"/>
            <a:ext cx="11856975" cy="718505"/>
            <a:chOff x="185066" y="4828043"/>
            <a:chExt cx="11856975" cy="718505"/>
          </a:xfrm>
        </p:grpSpPr>
        <p:sp>
          <p:nvSpPr>
            <p:cNvPr id="82" name="TextBox 81"/>
            <p:cNvSpPr txBox="1"/>
            <p:nvPr/>
          </p:nvSpPr>
          <p:spPr>
            <a:xfrm>
              <a:off x="185066" y="4838662"/>
              <a:ext cx="30764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Machine translation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3887412" y="4828043"/>
              <a:ext cx="34831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Voulez-vous chanter avec moi?</a:t>
              </a: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>
              <a:off x="7514169" y="5086150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/>
          </p:nvSpPr>
          <p:spPr>
            <a:xfrm>
              <a:off x="8558855" y="4838662"/>
              <a:ext cx="34831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Do you want to sing with me?</a:t>
              </a:r>
            </a:p>
          </p:txBody>
        </p:sp>
      </p:grpSp>
      <p:pic>
        <p:nvPicPr>
          <p:cNvPr id="91" name="Picture 9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438" y="8001811"/>
            <a:ext cx="482042" cy="896259"/>
          </a:xfrm>
          <a:prstGeom prst="rect">
            <a:avLst/>
          </a:prstGeom>
        </p:spPr>
      </p:pic>
      <p:grpSp>
        <p:nvGrpSpPr>
          <p:cNvPr id="105" name="Group 104"/>
          <p:cNvGrpSpPr/>
          <p:nvPr/>
        </p:nvGrpSpPr>
        <p:grpSpPr>
          <a:xfrm>
            <a:off x="182880" y="4855111"/>
            <a:ext cx="10797123" cy="844378"/>
            <a:chOff x="182880" y="5535928"/>
            <a:chExt cx="10797123" cy="844378"/>
          </a:xfrm>
        </p:grpSpPr>
        <p:sp>
          <p:nvSpPr>
            <p:cNvPr id="86" name="TextBox 85"/>
            <p:cNvSpPr txBox="1"/>
            <p:nvPr/>
          </p:nvSpPr>
          <p:spPr>
            <a:xfrm>
              <a:off x="182880" y="5651581"/>
              <a:ext cx="38154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Video activity recognition</a:t>
              </a:r>
            </a:p>
          </p:txBody>
        </p:sp>
        <p:grpSp>
          <p:nvGrpSpPr>
            <p:cNvPr id="92" name="Group 91"/>
            <p:cNvGrpSpPr/>
            <p:nvPr/>
          </p:nvGrpSpPr>
          <p:grpSpPr>
            <a:xfrm>
              <a:off x="4402334" y="5535928"/>
              <a:ext cx="2372797" cy="844378"/>
              <a:chOff x="4402334" y="5535928"/>
              <a:chExt cx="2372797" cy="844378"/>
            </a:xfrm>
          </p:grpSpPr>
          <p:pic>
            <p:nvPicPr>
              <p:cNvPr id="87" name="Picture 8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02334" y="5535929"/>
                <a:ext cx="553931" cy="844376"/>
              </a:xfrm>
              <a:prstGeom prst="rect">
                <a:avLst/>
              </a:prstGeom>
            </p:spPr>
          </p:pic>
          <p:pic>
            <p:nvPicPr>
              <p:cNvPr id="88" name="Picture 8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4572"/>
              <a:stretch>
                <a:fillRect/>
              </a:stretch>
            </p:blipFill>
            <p:spPr>
              <a:xfrm>
                <a:off x="5622662" y="5535928"/>
                <a:ext cx="545607" cy="844377"/>
              </a:xfrm>
              <a:prstGeom prst="rect">
                <a:avLst/>
              </a:prstGeom>
            </p:spPr>
          </p:pic>
          <p:pic>
            <p:nvPicPr>
              <p:cNvPr id="89" name="Picture 88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21200" y="5535928"/>
                <a:ext cx="553931" cy="844377"/>
              </a:xfrm>
              <a:prstGeom prst="rect">
                <a:avLst/>
              </a:prstGeom>
            </p:spPr>
          </p:pic>
          <p:pic>
            <p:nvPicPr>
              <p:cNvPr id="90" name="Picture 89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21045" y="5535928"/>
                <a:ext cx="545606" cy="844378"/>
              </a:xfrm>
              <a:prstGeom prst="rect">
                <a:avLst/>
              </a:prstGeom>
            </p:spPr>
          </p:pic>
        </p:grpSp>
        <p:cxnSp>
          <p:nvCxnSpPr>
            <p:cNvPr id="93" name="Straight Arrow Connector 92"/>
            <p:cNvCxnSpPr/>
            <p:nvPr/>
          </p:nvCxnSpPr>
          <p:spPr>
            <a:xfrm>
              <a:off x="7514169" y="5967598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>
            <a:xfrm>
              <a:off x="9763003" y="5696415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Running</a:t>
              </a:r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82880" y="5876548"/>
            <a:ext cx="12086032" cy="715604"/>
            <a:chOff x="347877" y="6357015"/>
            <a:chExt cx="12086032" cy="715604"/>
          </a:xfrm>
        </p:grpSpPr>
        <p:sp>
          <p:nvSpPr>
            <p:cNvPr id="95" name="TextBox 94"/>
            <p:cNvSpPr txBox="1"/>
            <p:nvPr/>
          </p:nvSpPr>
          <p:spPr>
            <a:xfrm>
              <a:off x="347877" y="6357015"/>
              <a:ext cx="36343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Name entity recognition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4098666" y="6364733"/>
              <a:ext cx="34831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Yesterday, Harry Potter met Hermione Granger.</a:t>
              </a:r>
            </a:p>
          </p:txBody>
        </p:sp>
        <p:cxnSp>
          <p:nvCxnSpPr>
            <p:cNvPr id="97" name="Straight Arrow Connector 96"/>
            <p:cNvCxnSpPr/>
            <p:nvPr/>
          </p:nvCxnSpPr>
          <p:spPr>
            <a:xfrm>
              <a:off x="7679166" y="6626939"/>
              <a:ext cx="6224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/>
          </p:nvSpPr>
          <p:spPr>
            <a:xfrm>
              <a:off x="8999154" y="6364733"/>
              <a:ext cx="343475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Yesterday, </a:t>
              </a:r>
              <a:r>
                <a:rPr lang="en-US" sz="2000" dirty="0">
                  <a:solidFill>
                    <a:srgbClr val="FF0000"/>
                  </a:solidFill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Harry Potter  </a:t>
              </a:r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met </a:t>
              </a:r>
              <a:r>
                <a:rPr lang="en-US" sz="2000" dirty="0">
                  <a:solidFill>
                    <a:srgbClr val="FF0000"/>
                  </a:solidFill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Hermione Granger</a:t>
              </a:r>
              <a:r>
                <a:rPr lang="en-US" sz="20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rPr>
                <a:t>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types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449" y="2502394"/>
            <a:ext cx="9954085" cy="3200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in text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9643" y="2727949"/>
            <a:ext cx="8891179" cy="2315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in video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383" y="2065805"/>
            <a:ext cx="7875848" cy="4069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 in audio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7741" y="1866591"/>
            <a:ext cx="6345484" cy="48970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85E7BB-AE0F-4383-8102-97B84020F52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Text Box 3"/>
          <p:cNvSpPr txBox="1"/>
          <p:nvPr/>
        </p:nvSpPr>
        <p:spPr>
          <a:xfrm>
            <a:off x="2057400" y="1495425"/>
            <a:ext cx="8153400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to predict tomorrow’s stock market’s average y(t+1)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1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733800"/>
            <a:ext cx="2352675" cy="2514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Text Box 5"/>
          <p:cNvSpPr txBox="1"/>
          <p:nvPr/>
        </p:nvSpPr>
        <p:spPr>
          <a:xfrm>
            <a:off x="2133600" y="3203575"/>
            <a:ext cx="5410200" cy="267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want the prediction to be  based on today’s and yesterday’s economic indicators x</a:t>
            </a:r>
            <a:r>
              <a:rPr lang="en-US" altLang="en-US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&amp; </a:t>
            </a:r>
            <a:r>
              <a:rPr lang="en-US" altLang="en-US" sz="2400" b="1" dirty="0">
                <a:latin typeface="Times New Roman" panose="02020603050405020304" pitchFamily="18" charset="0"/>
              </a:rPr>
              <a:t>x</a:t>
            </a:r>
            <a:r>
              <a:rPr lang="en-US" altLang="en-US" sz="24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400" b="1" dirty="0">
                <a:latin typeface="Times New Roman" panose="02020603050405020304" pitchFamily="18" charset="0"/>
              </a:rPr>
              <a:t>(t-1)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</a:rPr>
              <a:t>In this case we can have as many input neurons as the number of known elements in the data</a:t>
            </a:r>
          </a:p>
        </p:txBody>
      </p:sp>
      <p:sp>
        <p:nvSpPr>
          <p:cNvPr id="563206" name="Text Box 6"/>
          <p:cNvSpPr txBox="1">
            <a:spLocks noChangeArrowheads="1"/>
          </p:cNvSpPr>
          <p:nvPr/>
        </p:nvSpPr>
        <p:spPr bwMode="auto">
          <a:xfrm>
            <a:off x="2667000" y="381000"/>
            <a:ext cx="716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RECURRENT NETWORKS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64F31D-2192-480F-A2C6-EAC37A2C82C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Text Box 3"/>
          <p:cNvSpPr txBox="1"/>
          <p:nvPr/>
        </p:nvSpPr>
        <p:spPr>
          <a:xfrm>
            <a:off x="812165" y="1285240"/>
            <a:ext cx="10798175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if we wish the network to consider an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arbitrary-sized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 of time in the past </a:t>
            </a:r>
            <a:r>
              <a:rPr lang="en-US" altLang="en-US" sz="2400" b="1" dirty="0">
                <a:latin typeface="Times New Roman" panose="02020603050405020304" pitchFamily="18" charset="0"/>
              </a:rPr>
              <a:t>(e.g. sometimes two days, sometimes 20 days)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a different solution is required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sz="2400" dirty="0">
                <a:sym typeface="+mn-ea"/>
              </a:rPr>
              <a:t>Why not a standard network?</a:t>
            </a:r>
            <a:endParaRPr lang="en-US" sz="2400" dirty="0"/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26694" name="Text Box 6"/>
          <p:cNvSpPr txBox="1">
            <a:spLocks noChangeArrowheads="1"/>
          </p:cNvSpPr>
          <p:nvPr/>
        </p:nvSpPr>
        <p:spPr bwMode="auto">
          <a:xfrm>
            <a:off x="2629535" y="749300"/>
            <a:ext cx="716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RECURRENT NETWORKS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a standard neural network?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72912" y="1934924"/>
            <a:ext cx="1164421" cy="2768459"/>
            <a:chOff x="1110640" y="1179337"/>
            <a:chExt cx="1164421" cy="27684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1110640" y="1179337"/>
                  <a:ext cx="104637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&lt;1&gt;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latin typeface="Century Schoolbook" panose="02040604050505020304" charset="0"/>
                    <a:ea typeface="Century Schoolbook" panose="02040604050505020304" charset="0"/>
                    <a:cs typeface="Century Schoolbook" panose="02040604050505020304" charset="0"/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640" y="1179337"/>
                  <a:ext cx="1046377" cy="52322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110640" y="1886578"/>
                  <a:ext cx="104637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&lt;2&gt;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latin typeface="Century Schoolbook" panose="02040604050505020304" charset="0"/>
                    <a:ea typeface="Century Schoolbook" panose="02040604050505020304" charset="0"/>
                    <a:cs typeface="Century Schoolbook" panose="02040604050505020304" charset="0"/>
                  </a:endParaRPr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640" y="1886578"/>
                  <a:ext cx="1046377" cy="52322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1435697" y="2695131"/>
                  <a:ext cx="39626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charset="0"/>
                            <a:ea typeface="Cambria Math" panose="02040503050406030204" charset="0"/>
                            <a:cs typeface="Cambria Math" panose="02040503050406030204" charset="0"/>
                          </a:rPr>
                          <m:t>⋮</m:t>
                        </m:r>
                      </m:oMath>
                    </m:oMathPara>
                  </a14:m>
                  <a:endParaRPr lang="en-US" sz="2800" dirty="0">
                    <a:latin typeface="Century Schoolbook" panose="02040604050505020304" charset="0"/>
                    <a:ea typeface="Century Schoolbook" panose="02040604050505020304" charset="0"/>
                    <a:cs typeface="Century Schoolbook" panose="02040604050505020304" charset="0"/>
                  </a:endParaRP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5697" y="2695131"/>
                  <a:ext cx="396262" cy="52322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1110640" y="3424576"/>
                  <a:ext cx="116442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entury Schoolbook" panose="02040604050505020304" charset="0"/>
                                    <a:cs typeface="Century Schoolbook" panose="02040604050505020304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charset="0"/>
                                    <a:ea typeface="Century Schoolbook" panose="02040604050505020304" charset="0"/>
                                    <a:cs typeface="Century Schoolbook" panose="02040604050505020304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charset="0"/>
                                    <a:ea typeface="Century Schoolbook" panose="02040604050505020304" charset="0"/>
                                    <a:cs typeface="Century Schoolbook" panose="02040604050505020304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sz="2800" b="0" i="1" smtClean="0">
                                <a:latin typeface="Cambria Math" panose="02040503050406030204" charset="0"/>
                                <a:ea typeface="Century Schoolbook" panose="02040604050505020304" charset="0"/>
                                <a:cs typeface="Century Schoolbook" panose="02040604050505020304" charset="0"/>
                              </a:rPr>
                              <m:t>&gt;</m:t>
                            </m:r>
                          </m:sup>
                        </m:sSup>
                      </m:oMath>
                    </m:oMathPara>
                  </a14:m>
                  <a:endParaRPr lang="en-US" sz="2800" dirty="0">
                    <a:latin typeface="Century Schoolbook" panose="02040604050505020304" charset="0"/>
                    <a:ea typeface="Century Schoolbook" panose="02040604050505020304" charset="0"/>
                    <a:cs typeface="Century Schoolbook" panose="02040604050505020304" charset="0"/>
                  </a:endParaRPr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640" y="3424576"/>
                  <a:ext cx="1164421" cy="52322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Oval 8"/>
          <p:cNvSpPr/>
          <p:nvPr/>
        </p:nvSpPr>
        <p:spPr>
          <a:xfrm>
            <a:off x="4273128" y="2260819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73128" y="2784039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273128" y="4129607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257877" y="3378093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⋮</m:t>
                      </m:r>
                    </m:oMath>
                  </m:oMathPara>
                </a14:m>
                <a:endParaRPr lang="en-US" sz="28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7877" y="3378093"/>
                <a:ext cx="396262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51" t="-101" r="57" b="9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236039" y="2221947"/>
            <a:ext cx="439938" cy="23137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542563" y="2260110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542563" y="2783330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542563" y="4128898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27312" y="3377384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⋮</m:t>
                      </m:r>
                    </m:oMath>
                  </m:oMathPara>
                </a14:m>
                <a:endParaRPr lang="en-US" sz="28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312" y="3377384"/>
                <a:ext cx="396262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37" t="-87" r="43" b="8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505474" y="2221238"/>
            <a:ext cx="439938" cy="23137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5197055" y="3554315"/>
            <a:ext cx="851405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804146" y="2046494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2804146" y="2739282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2804146" y="4267509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318758" y="2216329"/>
            <a:ext cx="599158" cy="235290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318758" y="4128898"/>
            <a:ext cx="636247" cy="32149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3325053" y="2957164"/>
            <a:ext cx="611407" cy="143692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299481" y="2043076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8299481" y="2782094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8299481" y="4260129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8299481" y="3521112"/>
            <a:ext cx="365760" cy="365760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flipV="1">
            <a:off x="7226446" y="2363498"/>
            <a:ext cx="783626" cy="19556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226446" y="2964974"/>
            <a:ext cx="783626" cy="57647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226446" y="3596441"/>
            <a:ext cx="783626" cy="10755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226446" y="4289643"/>
            <a:ext cx="783626" cy="107551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9032073" y="1922506"/>
                <a:ext cx="10538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&lt;1&gt;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073" y="1922506"/>
                <a:ext cx="1053878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44" t="-69" r="23" b="6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032073" y="2665777"/>
                <a:ext cx="105387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&lt;2&gt;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073" y="2665777"/>
                <a:ext cx="1053878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44" t="-9" r="23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9357130" y="3442382"/>
                <a:ext cx="3962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charset="0"/>
                          <a:ea typeface="Cambria Math" panose="02040503050406030204" charset="0"/>
                          <a:cs typeface="Cambria Math" panose="02040503050406030204" charset="0"/>
                        </a:rPr>
                        <m:t>⋮</m:t>
                      </m:r>
                    </m:oMath>
                  </m:oMathPara>
                </a14:m>
                <a:endParaRPr lang="en-US" sz="28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130" y="3442382"/>
                <a:ext cx="396262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102" t="-9" r="108" b="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9032073" y="4171827"/>
                <a:ext cx="1183144" cy="5315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entury Schoolbook" panose="02040604050505020304" charset="0"/>
                                  <a:cs typeface="Century Schoolbook" panose="02040604050505020304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charset="0"/>
                                  <a:ea typeface="Century Schoolbook" panose="02040604050505020304" charset="0"/>
                                  <a:cs typeface="Century Schoolbook" panose="02040604050505020304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charset="0"/>
                                  <a:ea typeface="Century Schoolbook" panose="02040604050505020304" charset="0"/>
                                  <a:cs typeface="Century Schoolbook" panose="02040604050505020304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charset="0"/>
                              <a:ea typeface="Century Schoolbook" panose="02040604050505020304" charset="0"/>
                              <a:cs typeface="Century Schoolbook" panose="02040604050505020304" charset="0"/>
                            </a:rPr>
                            <m:t>&gt;</m:t>
                          </m:r>
                        </m:sup>
                      </m:sSup>
                    </m:oMath>
                  </m:oMathPara>
                </a14:m>
                <a:endParaRPr lang="en-US" sz="2800" dirty="0">
                  <a:latin typeface="Century Schoolbook" panose="02040604050505020304" charset="0"/>
                  <a:ea typeface="Century Schoolbook" panose="02040604050505020304" charset="0"/>
                  <a:cs typeface="Century Schoolbook" panose="02040604050505020304" charset="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073" y="4171827"/>
                <a:ext cx="1183144" cy="531556"/>
              </a:xfrm>
              <a:prstGeom prst="rect">
                <a:avLst/>
              </a:prstGeom>
              <a:blipFill rotWithShape="1">
                <a:blip r:embed="rId8"/>
                <a:stretch>
                  <a:fillRect l="-40" t="-96" r="51" b="10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/>
          <p:cNvSpPr txBox="1"/>
          <p:nvPr/>
        </p:nvSpPr>
        <p:spPr>
          <a:xfrm>
            <a:off x="235804" y="4950305"/>
            <a:ext cx="20794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entury Schoolbook" panose="02040604050505020304" charset="0"/>
                <a:ea typeface="Century Schoolbook" panose="02040604050505020304" charset="0"/>
                <a:cs typeface="Century Schoolbook" panose="02040604050505020304" charset="0"/>
              </a:rPr>
              <a:t>Problems: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192" y="5550687"/>
            <a:ext cx="106250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panose="02040604050505020304" charset="0"/>
                <a:ea typeface="Century Schoolbook" panose="02040604050505020304" charset="0"/>
                <a:cs typeface="Century Schoolbook" panose="02040604050505020304" charset="0"/>
              </a:rPr>
              <a:t>- Inputs, outputs can be different lengths in different examples.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192" y="6136515"/>
            <a:ext cx="10988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entury Schoolbook" panose="02040604050505020304" charset="0"/>
                <a:ea typeface="Century Schoolbook" panose="02040604050505020304" charset="0"/>
                <a:cs typeface="Century Schoolbook" panose="02040604050505020304" charset="0"/>
              </a:rPr>
              <a:t>- Doesn’t share features learned across different positions of text.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F64F31D-2192-480F-A2C6-EAC37A2C82C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1" name="Text Box 3"/>
          <p:cNvSpPr txBox="1"/>
          <p:nvPr/>
        </p:nvSpPr>
        <p:spPr>
          <a:xfrm>
            <a:off x="2057400" y="1447800"/>
            <a:ext cx="8153400" cy="4892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if we wish the network to consider an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arbitrary-sized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 of time in the past </a:t>
            </a:r>
            <a:r>
              <a:rPr lang="en-US" altLang="en-US" sz="2400" b="1" dirty="0">
                <a:latin typeface="Times New Roman" panose="02020603050405020304" pitchFamily="18" charset="0"/>
              </a:rPr>
              <a:t>(e.g. sometimes two days, sometimes 20 days)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a different solution is required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recurrent networks provide one such solution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used to learn sequential or time-varying patterns, in which the current value of the pattern is dependent upon its past history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Elman, 1990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26694" name="Text Box 6"/>
          <p:cNvSpPr txBox="1">
            <a:spLocks noChangeArrowheads="1"/>
          </p:cNvSpPr>
          <p:nvPr/>
        </p:nvSpPr>
        <p:spPr bwMode="auto">
          <a:xfrm>
            <a:off x="2435860" y="650240"/>
            <a:ext cx="716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RECURRENT NETWORKS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F81B5D-672E-4D4F-BA2E-00AF0E3C2019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19" name="Text Box 3"/>
          <p:cNvSpPr txBox="1"/>
          <p:nvPr/>
        </p:nvSpPr>
        <p:spPr>
          <a:xfrm>
            <a:off x="2057400" y="1422400"/>
            <a:ext cx="3276600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specific group of units receives feedback signals from the previous time step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units are known as context units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22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447800"/>
            <a:ext cx="5091113" cy="3078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Text Box 5"/>
          <p:cNvSpPr txBox="1"/>
          <p:nvPr/>
        </p:nvSpPr>
        <p:spPr>
          <a:xfrm>
            <a:off x="2057400" y="5121275"/>
            <a:ext cx="79248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weights on the feedback connections to the context units are fixed (e.g. 1)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91878" name="Text Box 6"/>
          <p:cNvSpPr txBox="1">
            <a:spLocks noChangeArrowheads="1"/>
          </p:cNvSpPr>
          <p:nvPr/>
        </p:nvSpPr>
        <p:spPr bwMode="auto">
          <a:xfrm>
            <a:off x="2667000" y="381000"/>
            <a:ext cx="716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RECURRENT NETWORKS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2ECB14-DB9E-4DDB-81B9-107E456A444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7" name="Text Box 3"/>
          <p:cNvSpPr txBox="1"/>
          <p:nvPr/>
        </p:nvSpPr>
        <p:spPr>
          <a:xfrm>
            <a:off x="521335" y="1308735"/>
            <a:ext cx="4888865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unit is feed-forward connected to its hidden unit &amp; all other hidden unit 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context units = number of hidden units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126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55700"/>
            <a:ext cx="5091113" cy="3078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9" name="Text Box 5"/>
          <p:cNvSpPr txBox="1"/>
          <p:nvPr/>
        </p:nvSpPr>
        <p:spPr>
          <a:xfrm>
            <a:off x="803275" y="4752975"/>
            <a:ext cx="950468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hidden unit has feedback connection to one context unit only</a:t>
            </a:r>
          </a:p>
          <a:p>
            <a:pPr marL="0" lvl="0" indent="0" algn="just" eaLnBrk="1" hangingPunct="1">
              <a:spcBef>
                <a:spcPct val="0"/>
              </a:spcBef>
              <a:buNone/>
            </a:pP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time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 the activations of the context units are the activations (output signals) of the hidden units at the previous time step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02118" name="Text Box 6"/>
          <p:cNvSpPr txBox="1">
            <a:spLocks noChangeArrowheads="1"/>
          </p:cNvSpPr>
          <p:nvPr/>
        </p:nvSpPr>
        <p:spPr bwMode="auto">
          <a:xfrm>
            <a:off x="2667000" y="381000"/>
            <a:ext cx="716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RECURRENT NETWORKS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 txBox="1"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6" tIns="45718" rIns="91436" bIns="45718" numCol="1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AE1333-0BD4-42C1-8759-C3531031F32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5" name="Text Box 2"/>
          <p:cNvSpPr txBox="1"/>
          <p:nvPr/>
        </p:nvSpPr>
        <p:spPr>
          <a:xfrm>
            <a:off x="2057400" y="1438275"/>
            <a:ext cx="3352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 eaLnBrk="1" hangingPunct="1">
              <a:spcBef>
                <a:spcPct val="0"/>
              </a:spcBef>
              <a:buNone/>
            </a:pPr>
            <a:r>
              <a:rPr lang="en-US" altLang="en-US" sz="24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altLang="en-US" sz="24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4885" name="Text Box 5"/>
          <p:cNvSpPr txBox="1">
            <a:spLocks noChangeArrowheads="1"/>
          </p:cNvSpPr>
          <p:nvPr/>
        </p:nvSpPr>
        <p:spPr bwMode="auto">
          <a:xfrm>
            <a:off x="2667000" y="381000"/>
            <a:ext cx="716280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algn="ctr" defTabSz="914400" eaLnBrk="1" hangingPunct="1">
              <a:buClrTx/>
              <a:buSzTx/>
              <a:buFontTx/>
              <a:buNone/>
              <a:defRPr/>
            </a:pPr>
            <a:r>
              <a:rPr kumimoji="0" lang="en-US" altLang="en-US" u="sng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+mn-ea"/>
                <a:cs typeface="+mn-cs"/>
              </a:rPr>
              <a:t>RECURRENT NETWORKS</a:t>
            </a:r>
          </a:p>
        </p:txBody>
      </p:sp>
      <p:pic>
        <p:nvPicPr>
          <p:cNvPr id="1331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6700" y="1946275"/>
            <a:ext cx="5981700" cy="43989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8" name="Content Placeholder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398905" y="1798955"/>
          <a:ext cx="9617710" cy="4758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21880" imgH="3672840" progId="Paint.Picture">
                  <p:embed/>
                </p:oleObj>
              </mc:Choice>
              <mc:Fallback>
                <p:oleObj r:id="rId3" imgW="7421880" imgH="3672840" progId="Paint.Picture">
                  <p:embed/>
                  <p:pic>
                    <p:nvPicPr>
                      <p:cNvPr id="0" name="Picture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98905" y="1798955"/>
                        <a:ext cx="9617710" cy="4758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7782560" y="5328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Input sequence i length is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05664" y="3999675"/>
            <a:ext cx="18101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= 367</a:t>
            </a:r>
          </a:p>
          <a:p>
            <a:r>
              <a:rPr lang="en-US" dirty="0"/>
              <a:t>Invented = 4700</a:t>
            </a:r>
          </a:p>
          <a:p>
            <a:r>
              <a:rPr lang="en-US" dirty="0"/>
              <a:t>A = 1</a:t>
            </a:r>
          </a:p>
          <a:p>
            <a:r>
              <a:rPr lang="en-US" dirty="0"/>
              <a:t>New = 5976</a:t>
            </a:r>
          </a:p>
          <a:p>
            <a:r>
              <a:rPr lang="en-US" dirty="0"/>
              <a:t>Spell = 8376</a:t>
            </a:r>
          </a:p>
          <a:p>
            <a:r>
              <a:rPr lang="en-US" dirty="0"/>
              <a:t>Harry = 4075</a:t>
            </a:r>
          </a:p>
          <a:p>
            <a:r>
              <a:rPr lang="en-US" dirty="0"/>
              <a:t>Potter = 6830</a:t>
            </a:r>
          </a:p>
          <a:p>
            <a:r>
              <a:rPr lang="en-US" dirty="0"/>
              <a:t>Hermione = 4200</a:t>
            </a:r>
          </a:p>
          <a:p>
            <a:r>
              <a:rPr lang="en-US" dirty="0"/>
              <a:t>Gran… = 4000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03630" y="1801495"/>
            <a:ext cx="8710295" cy="4145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7625" y="2144329"/>
            <a:ext cx="8016516" cy="40598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Propagation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634337" y="2333384"/>
            <a:ext cx="8955005" cy="3674125"/>
            <a:chOff x="1201782" y="1655554"/>
            <a:chExt cx="9198194" cy="3577290"/>
          </a:xfrm>
        </p:grpSpPr>
        <p:grpSp>
          <p:nvGrpSpPr>
            <p:cNvPr id="5" name="Group 4"/>
            <p:cNvGrpSpPr/>
            <p:nvPr/>
          </p:nvGrpSpPr>
          <p:grpSpPr>
            <a:xfrm>
              <a:off x="1201782" y="1655554"/>
              <a:ext cx="9198194" cy="3577290"/>
              <a:chOff x="1201782" y="610526"/>
              <a:chExt cx="9198194" cy="3577290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1201782" y="610526"/>
                <a:ext cx="9198194" cy="3577290"/>
                <a:chOff x="182880" y="479897"/>
                <a:chExt cx="9198194" cy="357729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6" name="TextBox 15"/>
                    <p:cNvSpPr txBox="1"/>
                    <p:nvPr/>
                  </p:nvSpPr>
                  <p:spPr>
                    <a:xfrm>
                      <a:off x="182880" y="1904146"/>
                      <a:ext cx="90544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&lt;0&gt;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6" name="Text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2880" y="1904146"/>
                      <a:ext cx="905441" cy="461665"/>
                    </a:xfrm>
                    <a:prstGeom prst="rect">
                      <a:avLst/>
                    </a:prstGeom>
                    <a:blipFill rotWithShape="1">
                      <a:blip r:embed="rId2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7" name="Group 16"/>
                <p:cNvGrpSpPr/>
                <p:nvPr/>
              </p:nvGrpSpPr>
              <p:grpSpPr>
                <a:xfrm>
                  <a:off x="1846722" y="1371448"/>
                  <a:ext cx="374428" cy="1642834"/>
                  <a:chOff x="3773923" y="1474697"/>
                  <a:chExt cx="439938" cy="1941364"/>
                </a:xfrm>
              </p:grpSpPr>
              <p:sp>
                <p:nvSpPr>
                  <p:cNvPr id="52" name="Oval 51"/>
                  <p:cNvSpPr/>
                  <p:nvPr/>
                </p:nvSpPr>
                <p:spPr>
                  <a:xfrm>
                    <a:off x="3811012" y="1559575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" name="Oval 52"/>
                  <p:cNvSpPr/>
                  <p:nvPr/>
                </p:nvSpPr>
                <p:spPr>
                  <a:xfrm>
                    <a:off x="3811012" y="2036788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" name="Oval 53"/>
                  <p:cNvSpPr/>
                  <p:nvPr/>
                </p:nvSpPr>
                <p:spPr>
                  <a:xfrm>
                    <a:off x="3811012" y="2991214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3773923" y="1474697"/>
                    <a:ext cx="439938" cy="19413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" name="Oval 55"/>
                  <p:cNvSpPr/>
                  <p:nvPr/>
                </p:nvSpPr>
                <p:spPr>
                  <a:xfrm>
                    <a:off x="3811012" y="2514001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18" name="Straight Arrow Connector 17"/>
                <p:cNvCxnSpPr/>
                <p:nvPr/>
              </p:nvCxnSpPr>
              <p:spPr>
                <a:xfrm>
                  <a:off x="1088321" y="2156620"/>
                  <a:ext cx="500332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/>
                    <p:cNvSpPr txBox="1"/>
                    <p:nvPr/>
                  </p:nvSpPr>
                  <p:spPr>
                    <a:xfrm>
                      <a:off x="1580574" y="3595522"/>
                      <a:ext cx="90672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&lt;1&gt;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19" name="TextBox 1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80574" y="3595522"/>
                      <a:ext cx="906723" cy="461665"/>
                    </a:xfrm>
                    <a:prstGeom prst="rect">
                      <a:avLst/>
                    </a:prstGeom>
                    <a:blipFill rotWithShape="1">
                      <a:blip r:embed="rId3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/>
                    <p:cNvSpPr txBox="1"/>
                    <p:nvPr/>
                  </p:nvSpPr>
                  <p:spPr>
                    <a:xfrm>
                      <a:off x="1744396" y="479897"/>
                      <a:ext cx="91294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&lt;1&gt;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0" name="TextBox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44396" y="479897"/>
                      <a:ext cx="912942" cy="461665"/>
                    </a:xfrm>
                    <a:prstGeom prst="rect">
                      <a:avLst/>
                    </a:prstGeom>
                    <a:blipFill rotWithShape="1">
                      <a:blip r:embed="rId4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/>
                    <p:cNvSpPr txBox="1"/>
                    <p:nvPr/>
                  </p:nvSpPr>
                  <p:spPr>
                    <a:xfrm>
                      <a:off x="2261507" y="1638036"/>
                      <a:ext cx="90544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&lt;1&gt;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1" name="TextBox 2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61507" y="1638036"/>
                      <a:ext cx="905441" cy="461665"/>
                    </a:xfrm>
                    <a:prstGeom prst="rect">
                      <a:avLst/>
                    </a:prstGeom>
                    <a:blipFill rotWithShape="1">
                      <a:blip r:embed="rId5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2" name="Group 21"/>
                <p:cNvGrpSpPr/>
                <p:nvPr/>
              </p:nvGrpSpPr>
              <p:grpSpPr>
                <a:xfrm>
                  <a:off x="3233380" y="1371448"/>
                  <a:ext cx="374428" cy="1642834"/>
                  <a:chOff x="3773923" y="1474697"/>
                  <a:chExt cx="439938" cy="1941364"/>
                </a:xfrm>
              </p:grpSpPr>
              <p:sp>
                <p:nvSpPr>
                  <p:cNvPr id="47" name="Oval 46"/>
                  <p:cNvSpPr/>
                  <p:nvPr/>
                </p:nvSpPr>
                <p:spPr>
                  <a:xfrm>
                    <a:off x="3811012" y="1559575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Oval 47"/>
                  <p:cNvSpPr/>
                  <p:nvPr/>
                </p:nvSpPr>
                <p:spPr>
                  <a:xfrm>
                    <a:off x="3811012" y="2036788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" name="Oval 48"/>
                  <p:cNvSpPr/>
                  <p:nvPr/>
                </p:nvSpPr>
                <p:spPr>
                  <a:xfrm>
                    <a:off x="3811012" y="2991214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3773923" y="1474697"/>
                    <a:ext cx="439938" cy="19413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" name="Oval 50"/>
                  <p:cNvSpPr/>
                  <p:nvPr/>
                </p:nvSpPr>
                <p:spPr>
                  <a:xfrm>
                    <a:off x="3811012" y="2514001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3" name="Straight Arrow Connector 22"/>
                <p:cNvCxnSpPr/>
                <p:nvPr/>
              </p:nvCxnSpPr>
              <p:spPr>
                <a:xfrm>
                  <a:off x="2474979" y="2156620"/>
                  <a:ext cx="500332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/>
                    <p:cNvSpPr txBox="1"/>
                    <p:nvPr/>
                  </p:nvSpPr>
                  <p:spPr>
                    <a:xfrm>
                      <a:off x="2967232" y="3595521"/>
                      <a:ext cx="90672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&lt;2&gt;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4" name="TextBox 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67232" y="3595521"/>
                      <a:ext cx="906723" cy="461665"/>
                    </a:xfrm>
                    <a:prstGeom prst="rect">
                      <a:avLst/>
                    </a:prstGeom>
                    <a:blipFill rotWithShape="1">
                      <a:blip r:embed="rId6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/>
                    <p:cNvSpPr txBox="1"/>
                    <p:nvPr/>
                  </p:nvSpPr>
                  <p:spPr>
                    <a:xfrm>
                      <a:off x="3131054" y="479897"/>
                      <a:ext cx="91294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&lt;2&gt;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5" name="TextBox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31054" y="479897"/>
                      <a:ext cx="912942" cy="461665"/>
                    </a:xfrm>
                    <a:prstGeom prst="rect">
                      <a:avLst/>
                    </a:prstGeom>
                    <a:blipFill rotWithShape="1">
                      <a:blip r:embed="rId7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/>
                    <p:cNvSpPr txBox="1"/>
                    <p:nvPr/>
                  </p:nvSpPr>
                  <p:spPr>
                    <a:xfrm>
                      <a:off x="3735177" y="1659677"/>
                      <a:ext cx="90544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&lt;2&gt;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6" name="Text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35177" y="1659677"/>
                      <a:ext cx="905441" cy="461665"/>
                    </a:xfrm>
                    <a:prstGeom prst="rect">
                      <a:avLst/>
                    </a:prstGeom>
                    <a:blipFill rotWithShape="1">
                      <a:blip r:embed="rId8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7" name="Group 26"/>
                <p:cNvGrpSpPr/>
                <p:nvPr/>
              </p:nvGrpSpPr>
              <p:grpSpPr>
                <a:xfrm>
                  <a:off x="4707050" y="1371448"/>
                  <a:ext cx="374428" cy="1642834"/>
                  <a:chOff x="3773923" y="1474697"/>
                  <a:chExt cx="439938" cy="1941364"/>
                </a:xfrm>
              </p:grpSpPr>
              <p:sp>
                <p:nvSpPr>
                  <p:cNvPr id="42" name="Oval 41"/>
                  <p:cNvSpPr/>
                  <p:nvPr/>
                </p:nvSpPr>
                <p:spPr>
                  <a:xfrm>
                    <a:off x="3811012" y="1559575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" name="Oval 42"/>
                  <p:cNvSpPr/>
                  <p:nvPr/>
                </p:nvSpPr>
                <p:spPr>
                  <a:xfrm>
                    <a:off x="3811012" y="2036788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" name="Oval 43"/>
                  <p:cNvSpPr/>
                  <p:nvPr/>
                </p:nvSpPr>
                <p:spPr>
                  <a:xfrm>
                    <a:off x="3811012" y="2991214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" name="Rectangle 44"/>
                  <p:cNvSpPr/>
                  <p:nvPr/>
                </p:nvSpPr>
                <p:spPr>
                  <a:xfrm>
                    <a:off x="3773923" y="1474697"/>
                    <a:ext cx="439938" cy="19413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" name="Oval 45"/>
                  <p:cNvSpPr/>
                  <p:nvPr/>
                </p:nvSpPr>
                <p:spPr>
                  <a:xfrm>
                    <a:off x="3811012" y="2514001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8" name="Straight Arrow Connector 27"/>
                <p:cNvCxnSpPr/>
                <p:nvPr/>
              </p:nvCxnSpPr>
              <p:spPr>
                <a:xfrm>
                  <a:off x="3948649" y="2156620"/>
                  <a:ext cx="500332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/>
                    <p:cNvSpPr txBox="1"/>
                    <p:nvPr/>
                  </p:nvSpPr>
                  <p:spPr>
                    <a:xfrm>
                      <a:off x="4448981" y="3595520"/>
                      <a:ext cx="90672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&lt;3&gt;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29" name="TextBox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48981" y="3595520"/>
                      <a:ext cx="906723" cy="461665"/>
                    </a:xfrm>
                    <a:prstGeom prst="rect">
                      <a:avLst/>
                    </a:prstGeom>
                    <a:blipFill rotWithShape="1">
                      <a:blip r:embed="rId9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/>
                    <p:cNvSpPr txBox="1"/>
                    <p:nvPr/>
                  </p:nvSpPr>
                  <p:spPr>
                    <a:xfrm>
                      <a:off x="4604724" y="501538"/>
                      <a:ext cx="912942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&lt;3&gt;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0" name="TextBox 2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04724" y="501538"/>
                      <a:ext cx="912942" cy="461665"/>
                    </a:xfrm>
                    <a:prstGeom prst="rect">
                      <a:avLst/>
                    </a:prstGeom>
                    <a:blipFill rotWithShape="1">
                      <a:blip r:embed="rId10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/>
                    <p:cNvSpPr txBox="1"/>
                    <p:nvPr/>
                  </p:nvSpPr>
                  <p:spPr>
                    <a:xfrm>
                      <a:off x="7054668" y="1609118"/>
                      <a:ext cx="130131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−1&gt;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1" name="TextBox 3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54668" y="1609118"/>
                      <a:ext cx="1301318" cy="461665"/>
                    </a:xfrm>
                    <a:prstGeom prst="rect">
                      <a:avLst/>
                    </a:prstGeom>
                    <a:blipFill rotWithShape="1">
                      <a:blip r:embed="rId11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2" name="Group 31"/>
                <p:cNvGrpSpPr/>
                <p:nvPr/>
              </p:nvGrpSpPr>
              <p:grpSpPr>
                <a:xfrm>
                  <a:off x="8458312" y="1371448"/>
                  <a:ext cx="374428" cy="1642834"/>
                  <a:chOff x="3773923" y="1474697"/>
                  <a:chExt cx="439938" cy="1941364"/>
                </a:xfrm>
              </p:grpSpPr>
              <p:sp>
                <p:nvSpPr>
                  <p:cNvPr id="37" name="Oval 36"/>
                  <p:cNvSpPr/>
                  <p:nvPr/>
                </p:nvSpPr>
                <p:spPr>
                  <a:xfrm>
                    <a:off x="3811012" y="1559575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" name="Oval 37"/>
                  <p:cNvSpPr/>
                  <p:nvPr/>
                </p:nvSpPr>
                <p:spPr>
                  <a:xfrm>
                    <a:off x="3811012" y="2036788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" name="Oval 38"/>
                  <p:cNvSpPr/>
                  <p:nvPr/>
                </p:nvSpPr>
                <p:spPr>
                  <a:xfrm>
                    <a:off x="3811012" y="2991214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>
                  <a:xfrm>
                    <a:off x="3773923" y="1474697"/>
                    <a:ext cx="439938" cy="1941364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" name="Oval 40"/>
                  <p:cNvSpPr/>
                  <p:nvPr/>
                </p:nvSpPr>
                <p:spPr>
                  <a:xfrm>
                    <a:off x="3811012" y="2514001"/>
                    <a:ext cx="365760" cy="365760"/>
                  </a:xfrm>
                  <a:prstGeom prst="ellipse">
                    <a:avLst/>
                  </a:prstGeom>
                  <a:noFill/>
                  <a:ln w="158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33" name="Straight Arrow Connector 32"/>
                <p:cNvCxnSpPr/>
                <p:nvPr/>
              </p:nvCxnSpPr>
              <p:spPr>
                <a:xfrm>
                  <a:off x="7455161" y="2156620"/>
                  <a:ext cx="500332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4" name="TextBox 33"/>
                    <p:cNvSpPr txBox="1"/>
                    <p:nvPr/>
                  </p:nvSpPr>
                  <p:spPr>
                    <a:xfrm>
                      <a:off x="8140899" y="3595520"/>
                      <a:ext cx="1009251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4" name="TextBox 3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40899" y="3595520"/>
                      <a:ext cx="1009251" cy="461665"/>
                    </a:xfrm>
                    <a:prstGeom prst="rect">
                      <a:avLst/>
                    </a:prstGeom>
                    <a:blipFill rotWithShape="1">
                      <a:blip r:embed="rId12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5" name="TextBox 34"/>
                    <p:cNvSpPr txBox="1"/>
                    <p:nvPr/>
                  </p:nvSpPr>
                  <p:spPr>
                    <a:xfrm>
                      <a:off x="8355986" y="479897"/>
                      <a:ext cx="1025088" cy="46878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&lt;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charset="0"/>
                                      </a:rPr>
                                      <m:t>𝑦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charset="0"/>
                                  </a:rPr>
                                  <m:t>&gt;</m:t>
                                </m:r>
                              </m:sup>
                            </m:sSup>
                          </m:oMath>
                        </m:oMathPara>
                      </a14:m>
                      <a:endParaRPr lang="en-US" sz="2400" dirty="0"/>
                    </a:p>
                  </p:txBody>
                </p:sp>
              </mc:Choice>
              <mc:Fallback xmlns="">
                <p:sp>
                  <p:nvSpPr>
                    <p:cNvPr id="35" name="TextBox 3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355986" y="479897"/>
                      <a:ext cx="1025088" cy="468783"/>
                    </a:xfrm>
                    <a:prstGeom prst="rect">
                      <a:avLst/>
                    </a:prstGeom>
                    <a:blipFill rotWithShape="1">
                      <a:blip r:embed="rId13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/>
                    <p:cNvSpPr txBox="1"/>
                    <p:nvPr/>
                  </p:nvSpPr>
                  <p:spPr>
                    <a:xfrm>
                      <a:off x="6326710" y="1882473"/>
                      <a:ext cx="574195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i="1" smtClean="0">
                                <a:latin typeface="Cambria Math" panose="02040503050406030204" charset="0"/>
                                <a:ea typeface="Cambria Math" panose="02040503050406030204" charset="0"/>
                                <a:cs typeface="Cambria Math" panose="02040503050406030204" charset="0"/>
                              </a:rPr>
                              <m:t>⋯</m:t>
                            </m:r>
                          </m:oMath>
                        </m:oMathPara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36" name="TextBox 3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326710" y="1882473"/>
                      <a:ext cx="574195" cy="523220"/>
                    </a:xfrm>
                    <a:prstGeom prst="rect">
                      <a:avLst/>
                    </a:prstGeom>
                    <a:blipFill rotWithShape="1">
                      <a:blip r:embed="rId14"/>
                    </a:blipFill>
                  </p:spPr>
                  <p:txBody>
                    <a:bodyPr/>
                    <a:lstStyle/>
                    <a:p>
                      <a:r>
                        <a:rPr lang="en-US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1" name="Straight Arrow Connector 10"/>
              <p:cNvCxnSpPr/>
              <p:nvPr/>
            </p:nvCxnSpPr>
            <p:spPr>
              <a:xfrm flipH="1" flipV="1">
                <a:off x="3031993" y="3226525"/>
                <a:ext cx="0" cy="36576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 flipV="1">
                <a:off x="5884096" y="3226525"/>
                <a:ext cx="0" cy="36576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H="1" flipV="1">
                <a:off x="4453338" y="3226525"/>
                <a:ext cx="0" cy="36576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>
              <a:xfrm flipH="1" flipV="1">
                <a:off x="9664427" y="3226525"/>
                <a:ext cx="0" cy="36576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/>
              <p:nvPr/>
            </p:nvCxnSpPr>
            <p:spPr>
              <a:xfrm>
                <a:off x="6286402" y="2287249"/>
                <a:ext cx="500332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Arrow Connector 5"/>
            <p:cNvCxnSpPr/>
            <p:nvPr/>
          </p:nvCxnSpPr>
          <p:spPr>
            <a:xfrm flipH="1" flipV="1">
              <a:off x="3018150" y="2117219"/>
              <a:ext cx="0" cy="36576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H="1" flipV="1">
              <a:off x="5870253" y="2117219"/>
              <a:ext cx="0" cy="36576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flipH="1" flipV="1">
              <a:off x="4439495" y="2117219"/>
              <a:ext cx="0" cy="36576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 flipH="1" flipV="1">
              <a:off x="9650584" y="2117219"/>
              <a:ext cx="0" cy="36576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shortcut – folding in space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2012" y="1853650"/>
            <a:ext cx="9740994" cy="47241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986" t="4224"/>
          <a:stretch>
            <a:fillRect/>
          </a:stretch>
        </p:blipFill>
        <p:spPr>
          <a:xfrm>
            <a:off x="2536723" y="1681139"/>
            <a:ext cx="6188085" cy="38829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619" y="5427405"/>
            <a:ext cx="10981543" cy="1267135"/>
          </a:xfrm>
        </p:spPr>
        <p:txBody>
          <a:bodyPr>
            <a:normAutofit/>
          </a:bodyPr>
          <a:lstStyle/>
          <a:p>
            <a:r>
              <a:rPr lang="en-US" sz="2200" dirty="0"/>
              <a:t>A recurrent neural network (RNN) makes hidden state at time t directly dependent on the hidden state at time t-1 and therefore indirectly on all previous times. </a:t>
            </a:r>
          </a:p>
          <a:p>
            <a:r>
              <a:rPr lang="en-US" sz="2200" dirty="0"/>
              <a:t>Output </a:t>
            </a:r>
            <a:r>
              <a:rPr lang="en-US" sz="2200" dirty="0" err="1"/>
              <a:t>y^t</a:t>
            </a:r>
            <a:r>
              <a:rPr lang="en-US" sz="2200" dirty="0"/>
              <a:t> depends on all that the network has already seen so far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Representational shortcut – folding in time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4094" y="2011713"/>
            <a:ext cx="10503811" cy="42710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7004" y="2096766"/>
            <a:ext cx="9479524" cy="406805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mappings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7459" y="1797766"/>
            <a:ext cx="6990736" cy="49265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mappings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4206" y="1798859"/>
            <a:ext cx="6420465" cy="494115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propagation through time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451" y="1715956"/>
            <a:ext cx="9167897" cy="50225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propagation through time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606" y="1827264"/>
            <a:ext cx="10554479" cy="486850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 other notations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163" y="2361650"/>
            <a:ext cx="9239673" cy="36851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dimensions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0055" y="2295650"/>
            <a:ext cx="3974591" cy="3515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</TotalTime>
  <Words>575</Words>
  <Application>Microsoft Office PowerPoint</Application>
  <PresentationFormat>Widescreen</PresentationFormat>
  <Paragraphs>131</Paragraphs>
  <Slides>27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Calibri</vt:lpstr>
      <vt:lpstr>Cambria Math</vt:lpstr>
      <vt:lpstr>Century Schoolbook</vt:lpstr>
      <vt:lpstr>Gill Sans MT</vt:lpstr>
      <vt:lpstr>Times New Roman</vt:lpstr>
      <vt:lpstr>Wingdings 2</vt:lpstr>
      <vt:lpstr>Dividend</vt:lpstr>
      <vt:lpstr>Bitmap Image</vt:lpstr>
      <vt:lpstr>Recurrent neural network (RNN) Reference Lecture</vt:lpstr>
      <vt:lpstr>Examples of sequence data</vt:lpstr>
      <vt:lpstr>Input types</vt:lpstr>
      <vt:lpstr>Context in text</vt:lpstr>
      <vt:lpstr>Context in video </vt:lpstr>
      <vt:lpstr>Context in audio</vt:lpstr>
      <vt:lpstr>PowerPoint Presentation</vt:lpstr>
      <vt:lpstr>PowerPoint Presentation</vt:lpstr>
      <vt:lpstr>Why not a standard neural network?</vt:lpstr>
      <vt:lpstr>PowerPoint Presentation</vt:lpstr>
      <vt:lpstr>PowerPoint Presentation</vt:lpstr>
      <vt:lpstr>PowerPoint Presentation</vt:lpstr>
      <vt:lpstr>PowerPoint Presentation</vt:lpstr>
      <vt:lpstr>example</vt:lpstr>
      <vt:lpstr>Representing words</vt:lpstr>
      <vt:lpstr>Time series data</vt:lpstr>
      <vt:lpstr>Forward Propagation</vt:lpstr>
      <vt:lpstr>Representational shortcut – folding in space</vt:lpstr>
      <vt:lpstr>Recurrent neural network</vt:lpstr>
      <vt:lpstr>Representational shortcut – folding in time</vt:lpstr>
      <vt:lpstr>Recurrent neural network</vt:lpstr>
      <vt:lpstr>Sequence mappings</vt:lpstr>
      <vt:lpstr>Sequence mappings</vt:lpstr>
      <vt:lpstr>Forward propagation through time</vt:lpstr>
      <vt:lpstr>Forward propagation through time</vt:lpstr>
      <vt:lpstr>Similar other notations </vt:lpstr>
      <vt:lpstr>Vector dimensions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and visualization</dc:title>
  <dc:creator>NUCES</dc:creator>
  <cp:lastModifiedBy>Dr.Kashif Zafar</cp:lastModifiedBy>
  <cp:revision>93</cp:revision>
  <dcterms:created xsi:type="dcterms:W3CDTF">2023-10-12T02:33:00Z</dcterms:created>
  <dcterms:modified xsi:type="dcterms:W3CDTF">2025-11-30T21:26:54Z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F1ACDDA6694642DEB420E1C37C61E56F_12</vt:lpwstr>
  </property>
  <property fmtid="{D5CDD505-2E9C-101B-9397-08002B2CF9AE}" pid="3" name="KSOProductBuildVer">
    <vt:lpwstr>1033-12.2.0.13306</vt:lpwstr>
  </property>
</Properties>
</file>