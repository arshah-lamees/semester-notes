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3"/>
  </p:notesMasterIdLst>
  <p:sldIdLst>
    <p:sldId id="277" r:id="rId2"/>
    <p:sldId id="278" r:id="rId3"/>
    <p:sldId id="288" r:id="rId4"/>
    <p:sldId id="279" r:id="rId5"/>
    <p:sldId id="280" r:id="rId6"/>
    <p:sldId id="281" r:id="rId7"/>
    <p:sldId id="282" r:id="rId8"/>
    <p:sldId id="289" r:id="rId9"/>
    <p:sldId id="283" r:id="rId10"/>
    <p:sldId id="284" r:id="rId11"/>
    <p:sldId id="290" r:id="rId12"/>
    <p:sldId id="292" r:id="rId13"/>
    <p:sldId id="285" r:id="rId14"/>
    <p:sldId id="291" r:id="rId15"/>
    <p:sldId id="293" r:id="rId16"/>
    <p:sldId id="286" r:id="rId17"/>
    <p:sldId id="294" r:id="rId18"/>
    <p:sldId id="295" r:id="rId19"/>
    <p:sldId id="296" r:id="rId20"/>
    <p:sldId id="297" r:id="rId21"/>
    <p:sldId id="28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. Haroon Shakeel" initials="MHS" lastIdx="1" clrIdx="0">
    <p:extLst>
      <p:ext uri="{19B8F6BF-5375-455C-9EA6-DF929625EA0E}">
        <p15:presenceInfo xmlns:p15="http://schemas.microsoft.com/office/powerpoint/2012/main" userId="S::15030040@lums.edu.pk::5f591d03-044f-4960-98c3-1375a7aebd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F173-A4B3-4820-B589-092C9A86FAC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B9646-06AD-41A3-A043-DECF2E99E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5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2400"/>
            </a:lvl1pPr>
            <a:lvl2pPr marL="384048" indent="-182880">
              <a:buFont typeface="Wingdings" panose="05000000000000000000" pitchFamily="2" charset="2"/>
              <a:buChar char="§"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3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0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3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4429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6218"/>
            <a:ext cx="10058400" cy="4522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160333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0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5wGWV5H7oM&amp;t=80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C5DD-3D41-4695-AE64-EB87FC4554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9EB3D-51E1-4882-A2BE-42E4DAA33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  <a:p>
            <a:r>
              <a:rPr lang="en-US" dirty="0"/>
              <a:t>- classification and regression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7BE35-0D79-432A-849B-2E6FD014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D294-4F5B-4224-A095-6DDF2940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Two Types of Decis</a:t>
            </a:r>
            <a:r>
              <a:rPr lang="en-GB" dirty="0" err="1"/>
              <a:t>i</a:t>
            </a:r>
            <a:r>
              <a:rPr lang="en-PK" dirty="0"/>
              <a:t>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E981-751D-5B7B-9819-C0F2C4BB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Classification</a:t>
            </a:r>
          </a:p>
          <a:p>
            <a:pPr lvl="1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anose="020B0604020202020204" pitchFamily="34" charset="0"/>
              </a:rPr>
              <a:t>Classification trees are applied on data when the outcome is discrete in nature or is categorical such as presence or absence of students in a class, a person died or survived, approval of loan</a:t>
            </a:r>
            <a:endParaRPr lang="en-PK" dirty="0"/>
          </a:p>
          <a:p>
            <a:r>
              <a:rPr lang="en-PK" dirty="0"/>
              <a:t>Regression</a:t>
            </a:r>
          </a:p>
          <a:p>
            <a:pPr lvl="1"/>
            <a:r>
              <a:rPr lang="en-GB" dirty="0">
                <a:solidFill>
                  <a:srgbClr val="444444"/>
                </a:solidFill>
                <a:latin typeface="Poppins" pitchFamily="2" charset="77"/>
              </a:rPr>
              <a:t>R</a:t>
            </a:r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egression trees are used when the outcome of the data is continuous in nature such as prices, age of a person, length of stay in a hotel, etc.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FA4AD-08FF-C0B8-9471-3703DE10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1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FC03-0E2B-5BC9-8E35-5B55FE739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Decision Tree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A6600-9FE2-E8B2-56F4-864879CC0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ID3, C4.5, </a:t>
            </a:r>
            <a:r>
              <a:rPr lang="en-US" dirty="0"/>
              <a:t>AND </a:t>
            </a:r>
            <a:r>
              <a:rPr lang="en-PK" dirty="0"/>
              <a:t>CART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F9CE6-DA97-367E-130E-C7B55809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7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4E9A-D3D8-BC78-9B36-316B65AE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ID3 – </a:t>
            </a:r>
            <a:r>
              <a:rPr lang="en-GB" b="0" i="0" u="none" strike="noStrike" dirty="0">
                <a:solidFill>
                  <a:srgbClr val="292929"/>
                </a:solidFill>
                <a:effectLst/>
                <a:latin typeface="source-serif-pro"/>
              </a:rPr>
              <a:t>Iterative </a:t>
            </a:r>
            <a:r>
              <a:rPr lang="en-GB" b="0" i="0" u="none" strike="noStrike" dirty="0" err="1">
                <a:solidFill>
                  <a:srgbClr val="292929"/>
                </a:solidFill>
                <a:effectLst/>
                <a:latin typeface="source-serif-pro"/>
              </a:rPr>
              <a:t>Dichotomiser</a:t>
            </a:r>
            <a:r>
              <a:rPr lang="en-GB" b="0" i="0" u="none" strike="noStrike" dirty="0">
                <a:solidFill>
                  <a:srgbClr val="292929"/>
                </a:solidFill>
                <a:effectLst/>
                <a:latin typeface="source-serif-pro"/>
              </a:rPr>
              <a:t>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D158-75C6-EE51-CD99-D9139DD8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ID3 generates a tree by considering the whole set S as the root node.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then iterates on every attribute and splits the data into fragments known as subsets to calculate the entropy or the information gain of that attribute.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After splitting, the algorithm recourses on every subset by taking those attributes which were not taken before into the iterated ones.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not an ideal algorithm as it generally overfits the data and on continuous variables, splitting the data can be time consuming.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610FC-D0FA-C257-EC53-3165BC73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3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C70B-8899-B58A-683B-38291486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C4.5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24E5-97CF-3145-07B2-8E516F48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quite advanced compared to ID3.</a:t>
            </a:r>
          </a:p>
          <a:p>
            <a:pPr algn="just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The splitting is done based on the normalized information gain and the feature having the highest information gain makes the decision. </a:t>
            </a:r>
          </a:p>
          <a:p>
            <a:pPr algn="just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Unlike ID3, it can handle both continuous and discrete attributes very efficiently and after building a tree, </a:t>
            </a:r>
            <a:r>
              <a:rPr lang="en-GB" dirty="0">
                <a:solidFill>
                  <a:srgbClr val="444444"/>
                </a:solidFill>
                <a:latin typeface="Poppins" pitchFamily="2" charset="77"/>
              </a:rPr>
              <a:t>I</a:t>
            </a:r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t undergoes pruning by removing all the branches having low importance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6BF09-4F4A-867C-02C1-161465C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4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5DBA-F0ED-E206-4FC1-9621D935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dirty="0"/>
              <a:t>CART - </a:t>
            </a:r>
            <a:r>
              <a:rPr lang="en-GB" b="0" i="0" u="none" strike="noStrike" dirty="0">
                <a:solidFill>
                  <a:srgbClr val="292929"/>
                </a:solidFill>
                <a:effectLst/>
                <a:latin typeface="source-serif-pro"/>
              </a:rPr>
              <a:t>Classification and Regression Trees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BE24-312A-B39B-AC89-185D4D26F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CART can perform both classification and regression tasks and they create decision points by considering Gini index unlike ID3 or C4.5 which uses information gain for split.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 For splitting, CART follows a greedy algorithm which aims only to reduce the cost function.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For classification, cost function such as Gini index is used to indicate the purity of the leaf nodes.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 For regression, sum squared error is chosen by the algorithm as the cost function to find out the best prediction.</a:t>
            </a:r>
          </a:p>
          <a:p>
            <a:endParaRPr lang="en-PK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DEF7C-FD2F-29D3-3409-B43BB412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6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F9EF-2CD9-3EF8-1D20-AD939E48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3E2F-0AE6-BE78-1850-548577FE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CHAID or Chi-square Automatic Interaction Detector is a process which can deal with any type of variables be it nominal, ordinal or continuous.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In regression tree, it uses F-test and in classification trees, it uses the Chi-Square test. 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In this analysis, continuous predictors are separated into equal number of observations until an outcome is achieved.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very less used and adopted in real world problems compared to other algorithms.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5092-F9B4-1A83-9A91-4E531FDC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5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D065-4ECA-EEC9-C35D-9F9C6200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Splitting Criterias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7969C-DC6A-3B57-2973-A12125D6A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Entropy, Information gain, Gini Index, Chi-Square and Reduction in Variance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48F25-CC5B-D2BD-08E2-1B522B93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0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DCC3-06EE-F602-8A85-67C31F05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Splitting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7F55D-5762-B140-26F5-A17F8197E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Entropy</a:t>
            </a:r>
          </a:p>
          <a:p>
            <a:r>
              <a:rPr lang="en-PK" dirty="0"/>
              <a:t>Information Gain</a:t>
            </a:r>
          </a:p>
          <a:p>
            <a:r>
              <a:rPr lang="en-PK" dirty="0"/>
              <a:t>Gini Index</a:t>
            </a:r>
          </a:p>
          <a:p>
            <a:r>
              <a:rPr lang="en-PK" dirty="0"/>
              <a:t>Chi - square</a:t>
            </a:r>
          </a:p>
          <a:p>
            <a:r>
              <a:rPr lang="en-PK" dirty="0"/>
              <a:t>Reduction in variance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A101-F495-4593-96ED-F6C8A1B9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40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194E-244F-76F3-7304-1A20CC95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A23A1-7DBF-980E-C5BC-949FD7915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defined as a measure of impurity present in the data.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The entropy is almost zero when the sample attains homogeneity but is one when it is equally divided.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Entropy with the lowest value makes a model better in terms of prediction as it segregates the classes better. 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71CA-F64B-7140-7564-534374E6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10</a:t>
            </a:fld>
            <a:endParaRPr lang="en-US"/>
          </a:p>
        </p:txBody>
      </p:sp>
      <p:pic>
        <p:nvPicPr>
          <p:cNvPr id="5" name="image.png" descr="image.png">
            <a:extLst>
              <a:ext uri="{FF2B5EF4-FFF2-40B4-BE49-F238E27FC236}">
                <a16:creationId xmlns:a16="http://schemas.microsoft.com/office/drawing/2014/main" id="{FC44B6AB-9C4D-7C83-A5FD-E175C55E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57" y="3607655"/>
            <a:ext cx="2503713" cy="125185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5830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CC75-AC8F-F829-FDD3-96EC294B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- Entropy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84E68C2-C7E6-93FF-0A2B-BB4A7BF79E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509186"/>
              </p:ext>
            </p:extLst>
          </p:nvPr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C8AE3-411E-846D-6E96-EDB26C45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76100-94F3-8A6C-F3E8-D4FB0537FD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329" r="5551" b="8173"/>
          <a:stretch/>
        </p:blipFill>
        <p:spPr>
          <a:xfrm>
            <a:off x="4160837" y="1347471"/>
            <a:ext cx="7316930" cy="46172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C63C0B-E876-BDC8-7C31-F66C546EF6E0}"/>
              </a:ext>
            </a:extLst>
          </p:cNvPr>
          <p:cNvSpPr/>
          <p:nvPr/>
        </p:nvSpPr>
        <p:spPr>
          <a:xfrm>
            <a:off x="4424516" y="4100052"/>
            <a:ext cx="5825613" cy="3982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614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8B76D-4D85-9824-3969-CB04EA43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- Entropy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C943D-8B68-0C66-C65E-54934680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8B6A2-2D3D-5F00-B294-4204FDDD9B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9" b="17678"/>
          <a:stretch/>
        </p:blipFill>
        <p:spPr>
          <a:xfrm>
            <a:off x="4221906" y="1319848"/>
            <a:ext cx="7346535" cy="421830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2481E5-489B-74F0-018C-BA33E2481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73114"/>
              </p:ext>
            </p:extLst>
          </p:nvPr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ACF8F7E-03CA-684F-61C7-DAFAA96C1F8C}"/>
              </a:ext>
            </a:extLst>
          </p:cNvPr>
          <p:cNvSpPr/>
          <p:nvPr/>
        </p:nvSpPr>
        <p:spPr>
          <a:xfrm>
            <a:off x="4221906" y="3908323"/>
            <a:ext cx="5825613" cy="3982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5382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20CA-F965-DDBC-4379-84731768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FA4DF-C832-4D60-AAB4-92100FB08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a measure used to generalize the impurity which is entropy in a dataset. </a:t>
            </a:r>
          </a:p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Higher the information gain, lower is the entropy. </a:t>
            </a:r>
          </a:p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An event having low probabilities to occur has lower entropy and high information whereas an event having high probabilities has higher entropy and low information. It is calculated as</a:t>
            </a:r>
          </a:p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Information Gain = Entropy of Parent – sum (weighted % * Entropy of Child)</a:t>
            </a:r>
          </a:p>
          <a:p>
            <a:pPr marL="0" indent="0">
              <a:buNone/>
            </a:pPr>
            <a:br>
              <a:rPr lang="en-GB" dirty="0"/>
            </a:b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536B5-397A-B230-B395-C6D84496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06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C6A0-D9F2-8468-38A6-CC1C6FA5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– Information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8DFD9-2135-F7F6-936A-54DF2447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14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ECB35-80AE-1FF5-877D-F5911CC0E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7355" y="1378857"/>
            <a:ext cx="6991157" cy="452278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EFA1C6-A923-8ECA-95B4-4F24FF6018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192884"/>
              </p:ext>
            </p:extLst>
          </p:nvPr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10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8A5E-A7C8-8B7B-12B6-6015ED07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– Information Gain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DA97F0-9D35-5B69-BF77-D5396A43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0FEBD-E754-DD2A-F0D7-C8F93F6F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837" y="1141487"/>
            <a:ext cx="7613821" cy="51816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4245E0-93F5-27C4-C02D-5DC9E6D6B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14124"/>
              </p:ext>
            </p:extLst>
          </p:nvPr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40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BFC2-9367-82AD-7B13-15451688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Gini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7633-78F2-681F-BDD5-1A8C6DBB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97" y="1378890"/>
            <a:ext cx="10058400" cy="4522876"/>
          </a:xfrm>
        </p:spPr>
        <p:txBody>
          <a:bodyPr/>
          <a:lstStyle/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It is a measure of misclassification and is used when the data contain multi class labels.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Gini is similar to entropy but it calculates much quicker than entropy. </a:t>
            </a:r>
          </a:p>
          <a:p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Algorithms like CART (Classification and Regression Tree) use Gini as an impurity parameter.</a:t>
            </a:r>
          </a:p>
          <a:p>
            <a:endParaRPr lang="en-GB" dirty="0">
              <a:solidFill>
                <a:srgbClr val="444444"/>
              </a:solidFill>
              <a:latin typeface="Poppins" pitchFamily="2" charset="77"/>
            </a:endParaRP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2131F-42FD-D7C5-9FB7-748C9AD6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Figure">
            <a:extLst>
              <a:ext uri="{FF2B5EF4-FFF2-40B4-BE49-F238E27FC236}">
                <a16:creationId xmlns:a16="http://schemas.microsoft.com/office/drawing/2014/main" id="{70FE2723-9548-35E1-D108-01F5BED4D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591" y="3882337"/>
            <a:ext cx="3501557" cy="119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061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99E8-1A6A-9A33-54CB-5BB10A23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– Gini 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50CB8-231A-A32A-5CD8-D5F5FF7A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48F72-CE99-97DF-7C2A-EFC2D996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209" y="1297769"/>
            <a:ext cx="7772400" cy="46563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B2509A-58A9-4037-F0A6-DE6A3A667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190741"/>
              </p:ext>
            </p:extLst>
          </p:nvPr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142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99E8-1A6A-9A33-54CB-5BB10A23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– Gini 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50CB8-231A-A32A-5CD8-D5F5FF7A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B2509A-58A9-4037-F0A6-DE6A3A6674E3}"/>
              </a:ext>
            </a:extLst>
          </p:cNvPr>
          <p:cNvGraphicFramePr>
            <a:graphicFrameLocks/>
          </p:cNvGraphicFramePr>
          <p:nvPr/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98DAF5-7C66-A6D8-88D8-D0CE056B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39" b="54355"/>
          <a:stretch/>
        </p:blipFill>
        <p:spPr>
          <a:xfrm>
            <a:off x="3988948" y="3535647"/>
            <a:ext cx="7505137" cy="2388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7C354-07EF-9D37-B7B5-C821E1A855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" b="66107"/>
          <a:stretch/>
        </p:blipFill>
        <p:spPr>
          <a:xfrm>
            <a:off x="4165209" y="1421895"/>
            <a:ext cx="7768028" cy="157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49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99E8-1A6A-9A33-54CB-5BB10A23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– Gini 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50CB8-231A-A32A-5CD8-D5F5FF7A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B2509A-58A9-4037-F0A6-DE6A3A6674E3}"/>
              </a:ext>
            </a:extLst>
          </p:cNvPr>
          <p:cNvGraphicFramePr>
            <a:graphicFrameLocks/>
          </p:cNvGraphicFramePr>
          <p:nvPr/>
        </p:nvGraphicFramePr>
        <p:xfrm>
          <a:off x="258763" y="1141487"/>
          <a:ext cx="36121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066">
                  <a:extLst>
                    <a:ext uri="{9D8B030D-6E8A-4147-A177-3AD203B41FA5}">
                      <a16:colId xmlns:a16="http://schemas.microsoft.com/office/drawing/2014/main" val="122990968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11307830"/>
                    </a:ext>
                  </a:extLst>
                </a:gridCol>
                <a:gridCol w="1204066">
                  <a:extLst>
                    <a:ext uri="{9D8B030D-6E8A-4147-A177-3AD203B41FA5}">
                      <a16:colId xmlns:a16="http://schemas.microsoft.com/office/drawing/2014/main" val="404166017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sz="2400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263747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1782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4756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511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23809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2816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92958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8895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5259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  <a:endParaRPr kumimoji="0" lang="en-P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81212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788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98DAF5-7C66-A6D8-88D8-D0CE056B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008" t="45645" r="1"/>
          <a:stretch/>
        </p:blipFill>
        <p:spPr>
          <a:xfrm>
            <a:off x="3731342" y="3429000"/>
            <a:ext cx="8083908" cy="28443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FD5DF1-1CA3-67C5-055E-61ABBFF44F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" b="66107"/>
          <a:stretch/>
        </p:blipFill>
        <p:spPr>
          <a:xfrm>
            <a:off x="4052138" y="1237960"/>
            <a:ext cx="8029120" cy="163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86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0B1F-A0D1-FA15-935D-86E96932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Chi-Square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1F631-978E-6E92-706E-3C81F3CD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73EFC4-0337-B2BF-8DB8-D90ECBA42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60" y="1274564"/>
            <a:ext cx="10260822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Let’s now understand the steps to calculate chi-square for a split-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First, we need to calculate the expected values for each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Then we calculate the chi-square for individual nodes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PK" altLang="en-PK" sz="2800" dirty="0">
                <a:solidFill>
                  <a:srgbClr val="222222"/>
                </a:solidFill>
                <a:latin typeface="Lato" panose="020F0502020204030203" pitchFamily="34" charset="0"/>
              </a:rPr>
              <a:t>   </a:t>
            </a: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this formula that we’ve seen before-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                                              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chi-square for decision trees">
            <a:extLst>
              <a:ext uri="{FF2B5EF4-FFF2-40B4-BE49-F238E27FC236}">
                <a16:creationId xmlns:a16="http://schemas.microsoft.com/office/drawing/2014/main" id="{7D8D0270-272F-0618-E7FF-812CF3251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921" y="3348555"/>
            <a:ext cx="75565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49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1B0A-1EB6-AC92-F09C-5530E268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Reduction in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4EA1-AA3E-5CBE-4F51-B4FA0CF37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Reduction in variance is used when the decision tree works for regression and the output is continuous in nature. The algorithm basically splits the population by using the variance formula.</a:t>
            </a:r>
          </a:p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The criteria of splitting are selected only when the variance is reduced to minimum. The variance is calculated by the basic formula</a:t>
            </a:r>
          </a:p>
          <a:p>
            <a:pPr algn="l" fontAlgn="base"/>
            <a:endParaRPr lang="en-GB" dirty="0">
              <a:solidFill>
                <a:srgbClr val="444444"/>
              </a:solidFill>
              <a:latin typeface="Poppins" pitchFamily="2" charset="77"/>
            </a:endParaRPr>
          </a:p>
          <a:p>
            <a:pPr algn="l" fontAlgn="base"/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</a:rPr>
              <a:t>Watch: </a:t>
            </a:r>
            <a:r>
              <a:rPr lang="en-GB" b="0" i="0" u="none" strike="noStrike" dirty="0">
                <a:solidFill>
                  <a:srgbClr val="444444"/>
                </a:solidFill>
                <a:effectLst/>
                <a:latin typeface="Poppins" pitchFamily="2" charset="77"/>
                <a:hlinkClick r:id="rId2"/>
              </a:rPr>
              <a:t>https://www.youtube.com/watch?v=i5wGWV5H7oM&amp;t=80s</a:t>
            </a:r>
            <a:endParaRPr lang="en-GB" b="0" i="0" u="none" strike="noStrike" dirty="0">
              <a:solidFill>
                <a:srgbClr val="444444"/>
              </a:solidFill>
              <a:effectLst/>
              <a:latin typeface="Poppins" pitchFamily="2" charset="77"/>
            </a:endParaRPr>
          </a:p>
          <a:p>
            <a:pPr algn="l" fontAlgn="base"/>
            <a:endParaRPr lang="en-GB" b="0" i="0" u="none" strike="noStrike" dirty="0">
              <a:solidFill>
                <a:srgbClr val="444444"/>
              </a:solidFill>
              <a:effectLst/>
              <a:latin typeface="Poppins" pitchFamily="2" charset="77"/>
            </a:endParaRP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B0B5E-3BD5-A678-11C1-D04C0ADE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653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26070</TotalTime>
  <Words>1024</Words>
  <Application>Microsoft Office PowerPoint</Application>
  <PresentationFormat>Widescreen</PresentationFormat>
  <Paragraphs>321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Lato</vt:lpstr>
      <vt:lpstr>Poppins</vt:lpstr>
      <vt:lpstr>source-serif-pro</vt:lpstr>
      <vt:lpstr>Wingdings</vt:lpstr>
      <vt:lpstr>Retrospect</vt:lpstr>
      <vt:lpstr>Classification</vt:lpstr>
      <vt:lpstr>Two Types of Decision Tree</vt:lpstr>
      <vt:lpstr>Decision Tree Algorithms</vt:lpstr>
      <vt:lpstr>ID3 – Iterative Dichotomiser 3</vt:lpstr>
      <vt:lpstr>C4.5</vt:lpstr>
      <vt:lpstr>CART - Classification and Regression Trees</vt:lpstr>
      <vt:lpstr>CHAID</vt:lpstr>
      <vt:lpstr>Splitting Criterias</vt:lpstr>
      <vt:lpstr>Splitting Criteria</vt:lpstr>
      <vt:lpstr>Entropy</vt:lpstr>
      <vt:lpstr>Example - Entropy</vt:lpstr>
      <vt:lpstr>Example - Entropy</vt:lpstr>
      <vt:lpstr>Information Gain</vt:lpstr>
      <vt:lpstr>Example – Information Gain</vt:lpstr>
      <vt:lpstr>Example – Information Gain</vt:lpstr>
      <vt:lpstr>Gini Index</vt:lpstr>
      <vt:lpstr>Example – Gini Index</vt:lpstr>
      <vt:lpstr>Example – Gini Index</vt:lpstr>
      <vt:lpstr>Example – Gini Index</vt:lpstr>
      <vt:lpstr>Chi-Square</vt:lpstr>
      <vt:lpstr>Reduction in Variance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</dc:title>
  <cp:lastModifiedBy>Dr.Kashif Zafar</cp:lastModifiedBy>
  <cp:revision>1741</cp:revision>
  <dcterms:created xsi:type="dcterms:W3CDTF">2020-10-10T13:04:44Z</dcterms:created>
  <dcterms:modified xsi:type="dcterms:W3CDTF">2026-05-01T18:13:07Z</dcterms:modified>
</cp:coreProperties>
</file>