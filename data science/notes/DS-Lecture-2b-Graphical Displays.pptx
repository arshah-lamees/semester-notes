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3555" r:id="rId2"/>
    <p:sldId id="779" r:id="rId3"/>
    <p:sldId id="3499" r:id="rId4"/>
    <p:sldId id="3500" r:id="rId5"/>
    <p:sldId id="3506" r:id="rId6"/>
    <p:sldId id="3509" r:id="rId7"/>
    <p:sldId id="3510" r:id="rId8"/>
    <p:sldId id="3511" r:id="rId9"/>
    <p:sldId id="3512" r:id="rId10"/>
    <p:sldId id="3513" r:id="rId11"/>
    <p:sldId id="3556" r:id="rId12"/>
    <p:sldId id="3528" r:id="rId13"/>
    <p:sldId id="3535" r:id="rId14"/>
    <p:sldId id="3536" r:id="rId15"/>
    <p:sldId id="3516" r:id="rId16"/>
    <p:sldId id="3518" r:id="rId17"/>
    <p:sldId id="3549" r:id="rId18"/>
    <p:sldId id="3550" r:id="rId19"/>
    <p:sldId id="3533" r:id="rId20"/>
    <p:sldId id="3519" r:id="rId21"/>
    <p:sldId id="3520" r:id="rId22"/>
    <p:sldId id="3521" r:id="rId23"/>
    <p:sldId id="3522" r:id="rId24"/>
    <p:sldId id="3526" r:id="rId25"/>
    <p:sldId id="3525" r:id="rId26"/>
    <p:sldId id="3551" r:id="rId27"/>
    <p:sldId id="3552" r:id="rId28"/>
    <p:sldId id="3553" r:id="rId29"/>
    <p:sldId id="3554" r:id="rId30"/>
    <p:sldId id="3524" r:id="rId31"/>
    <p:sldId id="3544" r:id="rId32"/>
    <p:sldId id="3545" r:id="rId33"/>
    <p:sldId id="3546" r:id="rId34"/>
    <p:sldId id="3547" r:id="rId35"/>
    <p:sldId id="3548" r:id="rId36"/>
    <p:sldId id="3531" r:id="rId37"/>
    <p:sldId id="3532" r:id="rId38"/>
    <p:sldId id="3534" r:id="rId39"/>
    <p:sldId id="819" r:id="rId40"/>
    <p:sldId id="3514" r:id="rId41"/>
    <p:sldId id="3515" r:id="rId42"/>
    <p:sldId id="3539" r:id="rId43"/>
    <p:sldId id="3541" r:id="rId44"/>
    <p:sldId id="3542" r:id="rId45"/>
    <p:sldId id="3543" r:id="rId46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D6E0"/>
          </a:solidFill>
        </a:fill>
      </a:tcStyle>
    </a:wholeTbl>
    <a:band2H>
      <a:tcTxStyle/>
      <a:tcStyle>
        <a:tcBdr/>
        <a:fill>
          <a:solidFill>
            <a:srgbClr val="EBECF0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EF1D6"/>
          </a:solidFill>
        </a:fill>
      </a:tcStyle>
    </a:wholeTbl>
    <a:band2H>
      <a:tcTxStyle/>
      <a:tcStyle>
        <a:tcBdr/>
        <a:fill>
          <a:solidFill>
            <a:srgbClr val="F7F8EC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D4D3"/>
          </a:solidFill>
        </a:fill>
      </a:tcStyle>
    </a:wholeTbl>
    <a:band2H>
      <a:tcTxStyle/>
      <a:tcStyle>
        <a:tcBdr/>
        <a:fill>
          <a:solidFill>
            <a:srgbClr val="EDEBEA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3"/>
    <p:restoredTop sz="94162" autoAdjust="0"/>
  </p:normalViewPr>
  <p:slideViewPr>
    <p:cSldViewPr snapToGrid="0">
      <p:cViewPr varScale="1">
        <p:scale>
          <a:sx n="65" d="100"/>
          <a:sy n="65" d="100"/>
        </p:scale>
        <p:origin x="14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F447A5-FE75-7BE5-27A6-A43AB08F0F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7CB2D-266E-D39C-A860-645FD90424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FDCFF-67F6-0545-B0B4-7D7E4EB34E39}" type="datetimeFigureOut">
              <a:rPr lang="aa-ET" smtClean="0"/>
              <a:t>01/22/2026</a:t>
            </a:fld>
            <a:endParaRPr lang="aa-E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67E79-EC7A-D7A4-3CE0-DBA5152B38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29070-3E4D-6EB5-0D4F-6E8537BA24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1F4F7-F321-074E-AB7B-51610595E519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6584102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49775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v-SE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2A4BF49-A9C6-4A58-A315-5AE7217380E6}" type="slidenum">
              <a:rPr lang="fr-BE" altLang="en-US" sz="1300" smtClea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</a:rPr>
              <a:pPr>
                <a:spcBef>
                  <a:spcPct val="0"/>
                </a:spcBef>
              </a:pPr>
              <a:t>1</a:t>
            </a:fld>
            <a:endParaRPr lang="fr-BE" altLang="en-US" sz="130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2493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0540A61C-D390-74DA-AB33-12BB199432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12BDFD0-6E77-C149-9EF9-C8F02170849C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C5F49542-0427-D8CA-D17C-783FFE3753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73100"/>
            <a:ext cx="4692650" cy="3519488"/>
          </a:xfrm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7A2B473D-FD4B-73B0-A46B-8E0470DFEF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5513" y="4418013"/>
            <a:ext cx="5159375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95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r>
              <a:rPr lang="aa-ET" dirty="0"/>
              <a:t>You think you see million of colors but you basically just see three colors Red Green and Blue</a:t>
            </a:r>
          </a:p>
          <a:p>
            <a:pPr algn="l" rtl="0" latinLnBrk="0"/>
            <a:endParaRPr lang="aa-ET" dirty="0"/>
          </a:p>
        </p:txBody>
      </p:sp>
    </p:spTree>
    <p:extLst>
      <p:ext uri="{BB962C8B-B14F-4D97-AF65-F5344CB8AC3E}">
        <p14:creationId xmlns:p14="http://schemas.microsoft.com/office/powerpoint/2010/main" val="1371204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r>
              <a:rPr lang="aa-ET"/>
              <a:t>If we are focusing on Low Price and City and Hwy Milage may be CAR C should be our choice but we have to compromise on Passenger room and engine displacement</a:t>
            </a:r>
          </a:p>
        </p:txBody>
      </p:sp>
    </p:spTree>
    <p:extLst>
      <p:ext uri="{BB962C8B-B14F-4D97-AF65-F5344CB8AC3E}">
        <p14:creationId xmlns:p14="http://schemas.microsoft.com/office/powerpoint/2010/main" val="3711165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180CB096-FD71-0974-5621-8567D279F8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803A2D-4CBC-4C4C-BFE5-D0C2A767489A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F5E3E83A-CC1A-328C-770C-061A16B0E8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15F58AF8-69FC-1BAB-7D56-1763DCA390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2327359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C56003FD-26A4-9E09-FFC8-C5F9C6F1EF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A38C3D3-BC68-9541-B58A-48F1752F0660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87B7C1B4-C1A2-FC13-FE1A-F092B3E89E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8F4BBCC5-221E-6F43-4220-55D1EE0ADC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3151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13905180-5C4F-BE01-2F05-CA2D6C1B6C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2D048A2-AE2E-284A-BD2E-D5CE2983278A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F4127465-DB45-CE56-99B9-4E3EA6CBDF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B53C34AF-D8EE-241B-2AD1-04DFAD6D07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737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>
            <a:extLst>
              <a:ext uri="{FF2B5EF4-FFF2-40B4-BE49-F238E27FC236}">
                <a16:creationId xmlns:a16="http://schemas.microsoft.com/office/drawing/2014/main" id="{4CBCFFBE-592F-4317-D80D-4090EBD6A1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977EDAB-F630-CE4F-8BFE-A56B9565E7BF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668ED646-7FE5-22B6-8845-E70756AA73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BFE924AB-BE88-11CB-2434-15BFBDBFF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992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bg>
      <p:bgPr>
        <a:solidFill>
          <a:srgbClr val="4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rgbClr val="DDE9EC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</p:spPr>
        <p:txBody>
          <a:bodyPr/>
          <a:lstStyle>
            <a:lvl1pPr marL="0" indent="0" algn="r">
              <a:buClrTx/>
              <a:buSzTx/>
              <a:buNone/>
              <a:defRPr sz="2000">
                <a:solidFill>
                  <a:srgbClr val="FFFFFF"/>
                </a:solidFill>
              </a:defRPr>
            </a:lvl1pPr>
            <a:lvl2pPr marL="0" indent="274320" algn="r">
              <a:buClrTx/>
              <a:buSzTx/>
              <a:buNone/>
              <a:defRPr sz="2000">
                <a:solidFill>
                  <a:srgbClr val="FFFFFF"/>
                </a:solidFill>
              </a:defRPr>
            </a:lvl2pPr>
            <a:lvl3pPr marL="0" indent="594360" algn="r">
              <a:buClrTx/>
              <a:buSzTx/>
              <a:buNone/>
              <a:defRPr sz="2000">
                <a:solidFill>
                  <a:srgbClr val="FFFFFF"/>
                </a:solidFill>
              </a:defRPr>
            </a:lvl3pPr>
            <a:lvl4pPr marL="0" indent="868680" algn="r">
              <a:buClrTx/>
              <a:buSzTx/>
              <a:buNone/>
              <a:defRPr sz="2000">
                <a:solidFill>
                  <a:srgbClr val="FFFFFF"/>
                </a:solidFill>
              </a:defRPr>
            </a:lvl4pPr>
            <a:lvl5pPr marL="0" indent="1143000" algn="r">
              <a:buClrTx/>
              <a:buSzTx/>
              <a:buNone/>
              <a:defRPr sz="20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69847" y="6355079"/>
            <a:ext cx="301909" cy="3073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9" name="Rectangle 6"/>
          <p:cNvSpPr/>
          <p:nvPr/>
        </p:nvSpPr>
        <p:spPr>
          <a:xfrm>
            <a:off x="914400" y="2819399"/>
            <a:ext cx="7315200" cy="1280162"/>
          </a:xfrm>
          <a:prstGeom prst="rect">
            <a:avLst/>
          </a:prstGeom>
          <a:ln w="6350" cap="rnd">
            <a:solidFill>
              <a:schemeClr val="accent1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" name="Rectangle 7"/>
          <p:cNvSpPr/>
          <p:nvPr/>
        </p:nvSpPr>
        <p:spPr>
          <a:xfrm>
            <a:off x="914400" y="2819399"/>
            <a:ext cx="228600" cy="128016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 b="1">
                <a:solidFill>
                  <a:schemeClr val="accent2"/>
                </a:solidFill>
              </a:defRPr>
            </a:lvl1pPr>
            <a:lvl2pPr marL="0" indent="274320">
              <a:buClrTx/>
              <a:buSzTx/>
              <a:buNone/>
              <a:defRPr sz="2400" b="1">
                <a:solidFill>
                  <a:schemeClr val="accent2"/>
                </a:solidFill>
              </a:defRPr>
            </a:lvl2pPr>
            <a:lvl3pPr marL="0" indent="594360">
              <a:buClrTx/>
              <a:buSzTx/>
              <a:buNone/>
              <a:defRPr sz="2400" b="1">
                <a:solidFill>
                  <a:schemeClr val="accent2"/>
                </a:solidFill>
              </a:defRPr>
            </a:lvl3pPr>
            <a:lvl4pPr marL="0" indent="868680">
              <a:buClrTx/>
              <a:buSzTx/>
              <a:buNone/>
              <a:defRPr sz="2400" b="1">
                <a:solidFill>
                  <a:schemeClr val="accent2"/>
                </a:solidFill>
              </a:defRPr>
            </a:lvl4pPr>
            <a:lvl5pPr marL="0" indent="1143000">
              <a:buClrTx/>
              <a:buSzTx/>
              <a:buNone/>
              <a:defRPr sz="2400" b="1">
                <a:solidFill>
                  <a:schemeClr val="accent2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 b="1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</p:spPr>
        <p:txBody>
          <a:bodyPr/>
          <a:lstStyle>
            <a:lvl1pPr>
              <a:defRPr sz="2000" b="1"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1pPr>
            <a:lvl2pPr marL="0" indent="27432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2pPr>
            <a:lvl3pPr marL="0" indent="59436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3pPr>
            <a:lvl4pPr marL="0" indent="86868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4pPr>
            <a:lvl5pPr marL="0" indent="1143000">
              <a:lnSpc>
                <a:spcPts val="2200"/>
              </a:lnSpc>
              <a:spcBef>
                <a:spcPts val="1000"/>
              </a:spcBef>
              <a:buClrTx/>
              <a:buSzTx/>
              <a:buNone/>
              <a:defRPr sz="1600">
                <a:solidFill>
                  <a:srgbClr val="46465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7" name="Straight Connector 7"/>
          <p:cNvSpPr/>
          <p:nvPr/>
        </p:nvSpPr>
        <p:spPr>
          <a:xfrm>
            <a:off x="457200" y="6353175"/>
            <a:ext cx="8229601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" name="Straight Connector 9"/>
          <p:cNvSpPr/>
          <p:nvPr/>
        </p:nvSpPr>
        <p:spPr>
          <a:xfrm flipH="1">
            <a:off x="6178800" y="307339"/>
            <a:ext cx="1" cy="6035041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Isosceles Triangle 8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bg>
      <p:bgPr>
        <a:solidFill>
          <a:srgbClr val="4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ln w="9525">
            <a:solidFill>
              <a:schemeClr val="accent1"/>
            </a:solidFill>
            <a:round/>
          </a:ln>
        </p:spPr>
        <p:txBody>
          <a:bodyPr anchor="ctr"/>
          <a:lstStyle>
            <a:lvl1pPr algn="r">
              <a:defRPr sz="2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7" name="Picture Placeholder 2"/>
          <p:cNvSpPr>
            <a:spLocks noGrp="1"/>
          </p:cNvSpPr>
          <p:nvPr>
            <p:ph type="pic" idx="21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1400">
                <a:solidFill>
                  <a:srgbClr val="FFFFFF"/>
                </a:solidFill>
              </a:defRPr>
            </a:lvl1pPr>
            <a:lvl2pPr marL="594360" indent="-320040">
              <a:buClrTx/>
              <a:defRPr sz="1400">
                <a:solidFill>
                  <a:srgbClr val="FFFFFF"/>
                </a:solidFill>
              </a:defRPr>
            </a:lvl2pPr>
            <a:lvl3pPr marL="914400" indent="-320039">
              <a:buClrTx/>
              <a:defRPr sz="1400">
                <a:solidFill>
                  <a:srgbClr val="FFFFFF"/>
                </a:solidFill>
              </a:defRPr>
            </a:lvl3pPr>
            <a:lvl4pPr marL="1224280" indent="-355600">
              <a:buClrTx/>
              <a:defRPr sz="1400">
                <a:solidFill>
                  <a:srgbClr val="FFFFFF"/>
                </a:solidFill>
              </a:defRPr>
            </a:lvl4pPr>
            <a:lvl5pPr marL="1498600" indent="-355600">
              <a:buClrTx/>
              <a:defRPr sz="1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0" name="Straight Connector 7"/>
          <p:cNvSpPr/>
          <p:nvPr/>
        </p:nvSpPr>
        <p:spPr>
          <a:xfrm>
            <a:off x="457200" y="6353175"/>
            <a:ext cx="8229601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Isosceles Triangle 8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" name="Rectangle 9"/>
          <p:cNvSpPr/>
          <p:nvPr/>
        </p:nvSpPr>
        <p:spPr>
          <a:xfrm>
            <a:off x="457199" y="500856"/>
            <a:ext cx="182882" cy="685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52182CF1-66F3-3C08-2E5A-3CCFD746043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154AB9-8CF8-D04A-9FFE-07EA0E881B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7603069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61">
            <a:extLst>
              <a:ext uri="{FF2B5EF4-FFF2-40B4-BE49-F238E27FC236}">
                <a16:creationId xmlns:a16="http://schemas.microsoft.com/office/drawing/2014/main" id="{8910E24C-335B-2F95-2A72-6D8159D69C3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5753A6-9DE3-8B4F-BC70-5E92334563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726650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048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524744A2-FB36-58E4-D208-BB3E9943808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17286A-EC03-FA48-910C-3DC1699B13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908336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27"/>
          <p:cNvSpPr/>
          <p:nvPr/>
        </p:nvSpPr>
        <p:spPr>
          <a:xfrm>
            <a:off x="457200" y="6353175"/>
            <a:ext cx="8229601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Straight Connector 28"/>
          <p:cNvSpPr/>
          <p:nvPr/>
        </p:nvSpPr>
        <p:spPr>
          <a:xfrm>
            <a:off x="457200" y="1143000"/>
            <a:ext cx="8229601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Isosceles Triangle 9"/>
          <p:cNvSpPr/>
          <p:nvPr/>
        </p:nvSpPr>
        <p:spPr>
          <a:xfrm rot="5400000">
            <a:off x="419099" y="6467474"/>
            <a:ext cx="190850" cy="120316"/>
          </a:xfrm>
          <a:prstGeom prst="triangl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12648" y="6356350"/>
            <a:ext cx="301908" cy="3073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64653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6" r:id="rId4"/>
    <p:sldLayoutId id="2147483657" r:id="rId5"/>
    <p:sldLayoutId id="2147483658" r:id="rId6"/>
    <p:sldLayoutId id="2147483661" r:id="rId7"/>
    <p:sldLayoutId id="2147483664" r:id="rId8"/>
  </p:sldLayoutIdLst>
  <p:transition spd="med"/>
  <p:hf sldNum="0"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64653"/>
          </a:solidFill>
          <a:uFillTx/>
          <a:latin typeface="Bookman Old Style"/>
          <a:ea typeface="Bookman Old Style"/>
          <a:cs typeface="Bookman Old Style"/>
          <a:sym typeface="Bookman Old Style"/>
        </a:defRPr>
      </a:lvl9pPr>
    </p:titleStyle>
    <p:bodyStyle>
      <a:lvl1pPr marL="2743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6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1pPr>
      <a:lvl2pPr marL="584420" marR="0" indent="-3101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6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2pPr>
      <a:lvl3pPr marL="891540" marR="0" indent="-29718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6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3pPr>
      <a:lvl4pPr marL="1198880" marR="0" indent="-3302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0000"/>
        <a:buFontTx/>
        <a:buChar char="◻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4pPr>
      <a:lvl5pPr marL="1514475" marR="0" indent="-371475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0000"/>
        <a:buFontTx/>
        <a:buChar char="◻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5pPr>
      <a:lvl6pPr marL="1760220" marR="0" indent="-29718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5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6pPr>
      <a:lvl7pPr marL="1985554" marR="0" indent="-339634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5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7pPr>
      <a:lvl8pPr marL="2168434" marR="0" indent="-339634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5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8pPr>
      <a:lvl9pPr marL="2407919" marR="0" indent="-39623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5000"/>
        <a:buFontTx/>
        <a:buChar char=""/>
        <a:tabLst/>
        <a:defRPr sz="2600" b="0" i="0" u="none" strike="noStrike" cap="none" spc="0" baseline="0">
          <a:solidFill>
            <a:srgbClr val="000000"/>
          </a:solidFill>
          <a:uFillTx/>
          <a:latin typeface="Gill Sans MT"/>
          <a:ea typeface="Gill Sans MT"/>
          <a:cs typeface="Gill Sans MT"/>
          <a:sym typeface="Gill Sans MT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hyperlink" Target="https://www.thoughtco.com/what-is-the-interquartile-range-rule-312624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asq.org/quality-resources/histogram" TargetMode="External"/><Relationship Id="rId3" Type="http://schemas.openxmlformats.org/officeDocument/2006/relationships/image" Target="../media/image7.gif"/><Relationship Id="rId7" Type="http://schemas.openxmlformats.org/officeDocument/2006/relationships/image" Target="../media/image11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gif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keydifferences.com/difference-between-histogram-and-bar-graph.html" TargetMode="Externa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/>
          </p:cNvSpPr>
          <p:nvPr/>
        </p:nvSpPr>
        <p:spPr bwMode="auto">
          <a:xfrm>
            <a:off x="912813" y="995363"/>
            <a:ext cx="731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 anchor="ctr"/>
          <a:lstStyle>
            <a:lvl1pPr marL="39688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en-US" sz="4400">
              <a:solidFill>
                <a:srgbClr val="FF3300"/>
              </a:solidFill>
              <a:cs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5"/>
                </a:solidFill>
              </a:rPr>
              <a:t>CS 4048</a:t>
            </a:r>
            <a:br>
              <a:rPr lang="en-US" sz="3200" b="1" dirty="0">
                <a:solidFill>
                  <a:schemeClr val="accent5"/>
                </a:solidFill>
              </a:rPr>
            </a:br>
            <a:r>
              <a:rPr lang="en-US" sz="3200" b="1" dirty="0">
                <a:solidFill>
                  <a:schemeClr val="accent5"/>
                </a:solidFill>
              </a:rPr>
              <a:t>Data Science</a:t>
            </a:r>
            <a:endParaRPr lang="fr-BE" sz="3200" b="1" dirty="0">
              <a:solidFill>
                <a:schemeClr val="accent5"/>
              </a:solidFill>
            </a:endParaRPr>
          </a:p>
        </p:txBody>
      </p:sp>
      <p:sp>
        <p:nvSpPr>
          <p:cNvPr id="4100" name="Rectangle 2"/>
          <p:cNvSpPr>
            <a:spLocks noGrp="1"/>
          </p:cNvSpPr>
          <p:nvPr>
            <p:ph idx="1"/>
          </p:nvPr>
        </p:nvSpPr>
        <p:spPr/>
        <p:txBody>
          <a:bodyPr lIns="0" tIns="0" rIns="40639" bIns="0"/>
          <a:lstStyle/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r>
              <a:rPr lang="en-US" altLang="en-US" sz="1800" dirty="0">
                <a:solidFill>
                  <a:srgbClr val="0070C0"/>
                </a:solidFill>
                <a:cs typeface="Arial" panose="020B0604020202020204" pitchFamily="34" charset="0"/>
              </a:rPr>
              <a:t>Instructor: Dr. </a:t>
            </a:r>
            <a:r>
              <a:rPr lang="en-US" altLang="en-US" sz="1800" dirty="0" err="1">
                <a:solidFill>
                  <a:srgbClr val="0070C0"/>
                </a:solidFill>
                <a:cs typeface="Arial" panose="020B0604020202020204" pitchFamily="34" charset="0"/>
              </a:rPr>
              <a:t>Kashif</a:t>
            </a:r>
            <a:r>
              <a:rPr lang="en-US" altLang="en-US" sz="1800" dirty="0">
                <a:solidFill>
                  <a:srgbClr val="0070C0"/>
                </a:solidFill>
                <a:cs typeface="Arial" panose="020B0604020202020204" pitchFamily="34" charset="0"/>
              </a:rPr>
              <a:t> Zafar</a:t>
            </a:r>
          </a:p>
          <a:p>
            <a:pPr marL="382588" indent="-342900" algn="ctr" eaLnBrk="1" hangingPunct="1">
              <a:spcBef>
                <a:spcPts val="550"/>
              </a:spcBef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9688" indent="0" algn="ctr" eaLnBrk="1" hangingPunct="1">
              <a:spcBef>
                <a:spcPts val="550"/>
              </a:spcBef>
              <a:buNone/>
            </a:pPr>
            <a:r>
              <a:rPr lang="en-US" altLang="en-US" sz="1600" dirty="0">
                <a:solidFill>
                  <a:srgbClr val="3333CC"/>
                </a:solidFill>
                <a:cs typeface="Arial" panose="020B0604020202020204" pitchFamily="34" charset="0"/>
              </a:rPr>
              <a:t>January 27, 2026</a:t>
            </a:r>
          </a:p>
        </p:txBody>
      </p:sp>
      <p:sp>
        <p:nvSpPr>
          <p:cNvPr id="4102" name="Slide Number Placeholder 2"/>
          <p:cNvSpPr>
            <a:spLocks noGrp="1"/>
          </p:cNvSpPr>
          <p:nvPr>
            <p:ph type="sldNum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fld id="{EFBA1D91-5649-4C00-8FEC-57055540A4AF}" type="slidenum">
              <a:rPr lang="en-US" altLang="en-US" sz="2800" smtClean="0">
                <a:solidFill>
                  <a:srgbClr val="FFFFFF"/>
                </a:solidFill>
              </a:rPr>
              <a:pPr/>
              <a:t>1</a:t>
            </a:fld>
            <a:endParaRPr lang="en-US" altLang="en-US" sz="2800">
              <a:solidFill>
                <a:srgbClr val="FFFFFF"/>
              </a:solidFill>
            </a:endParaRPr>
          </a:p>
        </p:txBody>
      </p:sp>
      <p:sp>
        <p:nvSpPr>
          <p:cNvPr id="4101" name="Footer Placeholder 1"/>
          <p:cNvSpPr>
            <a:spLocks noGrp="1"/>
          </p:cNvSpPr>
          <p:nvPr>
            <p:ph type="ftr" sz="quarter" idx="4294967295"/>
          </p:nvPr>
        </p:nvSpPr>
        <p:spPr bwMode="auto">
          <a:xfrm>
            <a:off x="1241425" y="5707697"/>
            <a:ext cx="6986588" cy="89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/>
            <a:r>
              <a:rPr lang="sv-SE" altLang="en-US" sz="2000" dirty="0">
                <a:solidFill>
                  <a:srgbClr val="0070C0"/>
                </a:solidFill>
              </a:rPr>
              <a:t>National University of Computer and Emerging Sciences, Lahore</a:t>
            </a:r>
          </a:p>
        </p:txBody>
      </p:sp>
      <p:sp>
        <p:nvSpPr>
          <p:cNvPr id="4103" name="AutoShape 8" descr="Image result for mobile applications"/>
          <p:cNvSpPr>
            <a:spLocks noChangeAspect="1" noChangeArrowheads="1"/>
          </p:cNvSpPr>
          <p:nvPr/>
        </p:nvSpPr>
        <p:spPr bwMode="auto">
          <a:xfrm>
            <a:off x="176213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4" name="AutoShape 10" descr="Image result for mobile applications"/>
          <p:cNvSpPr>
            <a:spLocks noChangeAspect="1" noChangeArrowheads="1"/>
          </p:cNvSpPr>
          <p:nvPr/>
        </p:nvSpPr>
        <p:spPr bwMode="auto">
          <a:xfrm>
            <a:off x="328613" y="-30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5" name="AutoShape 12" descr="Image result for mobile applications"/>
          <p:cNvSpPr>
            <a:spLocks noChangeAspect="1" noChangeArrowheads="1"/>
          </p:cNvSpPr>
          <p:nvPr/>
        </p:nvSpPr>
        <p:spPr bwMode="auto">
          <a:xfrm>
            <a:off x="481013" y="1222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6" name="AutoShape 14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>
            <a:spLocks noChangeAspect="1" noChangeArrowheads="1"/>
          </p:cNvSpPr>
          <p:nvPr/>
        </p:nvSpPr>
        <p:spPr bwMode="auto">
          <a:xfrm>
            <a:off x="633413" y="2746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467519" y="1719263"/>
            <a:ext cx="8205787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sv-SE" altLang="en-US" sz="2800" dirty="0">
                <a:solidFill>
                  <a:srgbClr val="0070C0"/>
                </a:solidFill>
              </a:rPr>
              <a:t>Graphical Displays</a:t>
            </a:r>
          </a:p>
          <a:p>
            <a:pPr algn="ctr" eaLnBrk="1" hangingPunct="1">
              <a:defRPr/>
            </a:pPr>
            <a:r>
              <a:rPr lang="en-US" sz="1600" dirty="0"/>
              <a:t>Box Plot, Histogram, Line Chart, Parallel Coordinate Plot and </a:t>
            </a:r>
            <a:br>
              <a:rPr lang="en-US" sz="1600" dirty="0"/>
            </a:br>
            <a:r>
              <a:rPr lang="en-US" sz="1600" dirty="0"/>
              <a:t>Scatter Plot, Quantile Plot, Q-Q Plot</a:t>
            </a:r>
            <a:br>
              <a:rPr lang="en-US" sz="2800" dirty="0"/>
            </a:br>
            <a:r>
              <a:rPr lang="sv-SE" altLang="en-US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</a:p>
          <a:p>
            <a:pPr algn="ctr" eaLnBrk="1" hangingPunct="1">
              <a:defRPr/>
            </a:pPr>
            <a:r>
              <a:rPr lang="sv-SE" altLang="en-US" sz="2800" dirty="0">
                <a:solidFill>
                  <a:srgbClr val="0070C0"/>
                </a:solidFill>
              </a:rPr>
              <a:t>Lecture No. 2b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Number Placeholder 5">
            <a:extLst>
              <a:ext uri="{FF2B5EF4-FFF2-40B4-BE49-F238E27FC236}">
                <a16:creationId xmlns:a16="http://schemas.microsoft.com/office/drawing/2014/main" id="{AD582FCD-850D-844F-0DE3-FF35EED7DD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BB4DC9-4059-334C-A821-ECD58320C21E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1C7F9669-6318-64EE-8E0A-A0D387DD9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>
                <a:solidFill>
                  <a:srgbClr val="170981"/>
                </a:solidFill>
              </a:rPr>
              <a:t>Graphic Displays of Basic Statistical Descriptions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7309A8D4-3591-8EC8-B407-6C1C65889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40000"/>
              </a:lnSpc>
              <a:buSzPct val="80000"/>
            </a:pPr>
            <a:r>
              <a:rPr lang="en-US" altLang="en-US" sz="2400" b="1"/>
              <a:t>Boxplot</a:t>
            </a:r>
            <a:r>
              <a:rPr lang="en-US" altLang="en-US" sz="2400"/>
              <a:t>: graphic display of five-number summary</a:t>
            </a:r>
          </a:p>
          <a:p>
            <a:pPr eaLnBrk="1" hangingPunct="1">
              <a:lnSpc>
                <a:spcPct val="140000"/>
              </a:lnSpc>
              <a:buSzPct val="80000"/>
            </a:pPr>
            <a:r>
              <a:rPr lang="en-US" altLang="en-US" sz="2400" b="1"/>
              <a:t>Histogram</a:t>
            </a:r>
            <a:r>
              <a:rPr lang="en-US" altLang="en-US" sz="2400"/>
              <a:t>: x-axis are values, y-axis repres. frequencies </a:t>
            </a:r>
          </a:p>
          <a:p>
            <a:pPr eaLnBrk="1" hangingPunct="1">
              <a:lnSpc>
                <a:spcPct val="140000"/>
              </a:lnSpc>
              <a:buSzPct val="80000"/>
            </a:pPr>
            <a:r>
              <a:rPr lang="en-US" altLang="en-US" sz="2400" b="1"/>
              <a:t>Quantile plot</a:t>
            </a:r>
            <a:r>
              <a:rPr lang="en-US" altLang="en-US" sz="2400"/>
              <a:t>:  each value </a:t>
            </a:r>
            <a:r>
              <a:rPr lang="en-US" altLang="en-US" sz="2400" i="1"/>
              <a:t>x</a:t>
            </a:r>
            <a:r>
              <a:rPr lang="en-US" altLang="en-US" sz="2400" i="1" baseline="-25000"/>
              <a:t>i</a:t>
            </a:r>
            <a:r>
              <a:rPr lang="en-US" altLang="en-US" sz="2400" baseline="-25000"/>
              <a:t>  </a:t>
            </a:r>
            <a:r>
              <a:rPr lang="en-US" altLang="en-US" sz="2400"/>
              <a:t>is paired with </a:t>
            </a:r>
            <a:r>
              <a:rPr lang="en-US" altLang="en-US" sz="2400" i="1"/>
              <a:t>f</a:t>
            </a:r>
            <a:r>
              <a:rPr lang="en-US" altLang="en-US" sz="2400" i="1" baseline="-25000"/>
              <a:t>i </a:t>
            </a:r>
            <a:r>
              <a:rPr lang="en-US" altLang="en-US" sz="2400"/>
              <a:t> indicating that approximately 100 </a:t>
            </a:r>
            <a:r>
              <a:rPr lang="en-US" altLang="en-US" sz="2400" i="1"/>
              <a:t>f</a:t>
            </a:r>
            <a:r>
              <a:rPr lang="en-US" altLang="en-US" sz="2400" i="1" baseline="-25000"/>
              <a:t>i </a:t>
            </a:r>
            <a:r>
              <a:rPr lang="en-US" altLang="en-US" sz="2400"/>
              <a:t>% of data  are </a:t>
            </a:r>
            <a:r>
              <a:rPr lang="en-US" altLang="en-US" sz="2400">
                <a:sym typeface="Symbol" pitchFamily="2" charset="2"/>
              </a:rPr>
              <a:t></a:t>
            </a:r>
            <a:r>
              <a:rPr lang="en-US" altLang="en-US" sz="2400"/>
              <a:t> </a:t>
            </a:r>
            <a:r>
              <a:rPr lang="en-US" altLang="en-US" sz="2400" i="1"/>
              <a:t>x</a:t>
            </a:r>
            <a:r>
              <a:rPr lang="en-US" altLang="en-US" sz="2400" i="1" baseline="-25000"/>
              <a:t>i</a:t>
            </a:r>
            <a:r>
              <a:rPr lang="en-US" altLang="en-US" sz="2400" baseline="-25000"/>
              <a:t> </a:t>
            </a:r>
            <a:endParaRPr lang="en-US" altLang="en-US" sz="2400"/>
          </a:p>
          <a:p>
            <a:pPr eaLnBrk="1" hangingPunct="1">
              <a:lnSpc>
                <a:spcPct val="140000"/>
              </a:lnSpc>
              <a:buSzPct val="80000"/>
            </a:pPr>
            <a:r>
              <a:rPr lang="en-US" altLang="en-US" sz="2400" b="1"/>
              <a:t>Quantile-quantile (q-q) plot</a:t>
            </a:r>
            <a:r>
              <a:rPr lang="en-US" altLang="en-US" sz="2400"/>
              <a:t>: graphs the quantiles of one univariant distribution against the corresponding quantiles of another</a:t>
            </a:r>
          </a:p>
          <a:p>
            <a:pPr eaLnBrk="1" hangingPunct="1">
              <a:lnSpc>
                <a:spcPct val="140000"/>
              </a:lnSpc>
              <a:buSzPct val="80000"/>
            </a:pPr>
            <a:r>
              <a:rPr lang="en-US" altLang="en-US" sz="2400" b="1"/>
              <a:t>Scatter plot</a:t>
            </a:r>
            <a:r>
              <a:rPr lang="en-US" altLang="en-US" sz="2400"/>
              <a:t>: each pair of values is a pair of coordinates and plotted as points in the plane</a:t>
            </a: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7FC0-AB22-4619-B7D3-F19404F8A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and Whisker Plot (aka Boxplot)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64FFC-60C4-41A8-8324-CFE0FC94E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44DD1A-9537-46F3-B7AC-8BB0D44FA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7" y="4064624"/>
            <a:ext cx="7458075" cy="77152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80EFB5F-F189-4043-A60D-C4FAFE8A372D}"/>
              </a:ext>
            </a:extLst>
          </p:cNvPr>
          <p:cNvGrpSpPr/>
          <p:nvPr/>
        </p:nvGrpSpPr>
        <p:grpSpPr>
          <a:xfrm>
            <a:off x="1317458" y="4346407"/>
            <a:ext cx="720193" cy="943795"/>
            <a:chOff x="1756611" y="4652211"/>
            <a:chExt cx="960256" cy="125839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CF5A1A-0C23-4779-A8B8-8ABA4DAD7B41}"/>
                </a:ext>
              </a:extLst>
            </p:cNvPr>
            <p:cNvCxnSpPr>
              <a:cxnSpLocks/>
            </p:cNvCxnSpPr>
            <p:nvPr/>
          </p:nvCxnSpPr>
          <p:spPr>
            <a:xfrm>
              <a:off x="2085474" y="4652211"/>
              <a:ext cx="0" cy="8823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68F73EA-0A52-482B-B28F-2F3EA57706AC}"/>
                </a:ext>
              </a:extLst>
            </p:cNvPr>
            <p:cNvSpPr txBox="1"/>
            <p:nvPr/>
          </p:nvSpPr>
          <p:spPr>
            <a:xfrm>
              <a:off x="1756611" y="5541272"/>
              <a:ext cx="960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FF"/>
                  </a:solidFill>
                </a:rPr>
                <a:t>MIN</a:t>
              </a:r>
              <a:endParaRPr lang="aa-ET" sz="1200" b="1" dirty="0">
                <a:solidFill>
                  <a:srgbClr val="FF00FF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F7ABFCC-3435-42A9-9CFE-AF4868B0BE9E}"/>
              </a:ext>
            </a:extLst>
          </p:cNvPr>
          <p:cNvGrpSpPr/>
          <p:nvPr/>
        </p:nvGrpSpPr>
        <p:grpSpPr>
          <a:xfrm>
            <a:off x="3392905" y="4346407"/>
            <a:ext cx="493295" cy="966877"/>
            <a:chOff x="1756611" y="4652211"/>
            <a:chExt cx="657726" cy="1289169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FB87DBB-A977-4443-B432-944CF4EB881A}"/>
                </a:ext>
              </a:extLst>
            </p:cNvPr>
            <p:cNvCxnSpPr>
              <a:cxnSpLocks/>
            </p:cNvCxnSpPr>
            <p:nvPr/>
          </p:nvCxnSpPr>
          <p:spPr>
            <a:xfrm>
              <a:off x="2085474" y="4652211"/>
              <a:ext cx="0" cy="8823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0488D30-BCB1-4000-9BB0-7387C2F0015C}"/>
                </a:ext>
              </a:extLst>
            </p:cNvPr>
            <p:cNvSpPr txBox="1"/>
            <p:nvPr/>
          </p:nvSpPr>
          <p:spPr>
            <a:xfrm>
              <a:off x="1756611" y="5541271"/>
              <a:ext cx="657726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00FF"/>
                  </a:solidFill>
                </a:rPr>
                <a:t>Q1</a:t>
              </a:r>
              <a:endParaRPr lang="aa-ET" sz="1350" b="1" dirty="0">
                <a:solidFill>
                  <a:srgbClr val="FF00FF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9933B-59B0-4948-BB47-B0D49EC02D2B}"/>
              </a:ext>
            </a:extLst>
          </p:cNvPr>
          <p:cNvGrpSpPr/>
          <p:nvPr/>
        </p:nvGrpSpPr>
        <p:grpSpPr>
          <a:xfrm>
            <a:off x="4157515" y="4346408"/>
            <a:ext cx="856043" cy="966878"/>
            <a:chOff x="1593786" y="4652211"/>
            <a:chExt cx="1141391" cy="128917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FB11297-487D-4CB6-9CF5-633EAF93944C}"/>
                </a:ext>
              </a:extLst>
            </p:cNvPr>
            <p:cNvCxnSpPr>
              <a:cxnSpLocks/>
            </p:cNvCxnSpPr>
            <p:nvPr/>
          </p:nvCxnSpPr>
          <p:spPr>
            <a:xfrm>
              <a:off x="2085474" y="4652211"/>
              <a:ext cx="0" cy="8823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42C9CC-3BD9-4DB5-B167-0FB122AE33A5}"/>
                </a:ext>
              </a:extLst>
            </p:cNvPr>
            <p:cNvSpPr txBox="1"/>
            <p:nvPr/>
          </p:nvSpPr>
          <p:spPr>
            <a:xfrm>
              <a:off x="1593786" y="5541272"/>
              <a:ext cx="1141391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00FF"/>
                  </a:solidFill>
                </a:rPr>
                <a:t>Median</a:t>
              </a:r>
              <a:endParaRPr lang="aa-ET" sz="1350" b="1" dirty="0">
                <a:solidFill>
                  <a:srgbClr val="FF00FF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03A7543-DC98-4D82-8B45-4665DEB3279F}"/>
              </a:ext>
            </a:extLst>
          </p:cNvPr>
          <p:cNvGrpSpPr/>
          <p:nvPr/>
        </p:nvGrpSpPr>
        <p:grpSpPr>
          <a:xfrm>
            <a:off x="5653644" y="4346134"/>
            <a:ext cx="737531" cy="966877"/>
            <a:chOff x="1593786" y="4652211"/>
            <a:chExt cx="983375" cy="1289169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949AE4A-96A9-4412-95FC-4B6531FA574B}"/>
                </a:ext>
              </a:extLst>
            </p:cNvPr>
            <p:cNvCxnSpPr>
              <a:cxnSpLocks/>
            </p:cNvCxnSpPr>
            <p:nvPr/>
          </p:nvCxnSpPr>
          <p:spPr>
            <a:xfrm>
              <a:off x="2085474" y="4652211"/>
              <a:ext cx="0" cy="8823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4E53EED-BA87-49FB-A3C8-B832F52ADEC9}"/>
                </a:ext>
              </a:extLst>
            </p:cNvPr>
            <p:cNvSpPr txBox="1"/>
            <p:nvPr/>
          </p:nvSpPr>
          <p:spPr>
            <a:xfrm>
              <a:off x="1593786" y="5541271"/>
              <a:ext cx="98337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00FF"/>
                  </a:solidFill>
                </a:rPr>
                <a:t>Q3</a:t>
              </a:r>
              <a:endParaRPr lang="aa-ET" sz="1350" b="1" dirty="0">
                <a:solidFill>
                  <a:srgbClr val="FF00FF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4E3AF3D-967A-440B-BCFF-67E0832D1C84}"/>
              </a:ext>
            </a:extLst>
          </p:cNvPr>
          <p:cNvGrpSpPr/>
          <p:nvPr/>
        </p:nvGrpSpPr>
        <p:grpSpPr>
          <a:xfrm>
            <a:off x="7746429" y="4344219"/>
            <a:ext cx="737531" cy="966877"/>
            <a:chOff x="1593786" y="4652211"/>
            <a:chExt cx="983375" cy="128916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0168F1E-54BE-49CD-8216-7E0D87E2DC6A}"/>
                </a:ext>
              </a:extLst>
            </p:cNvPr>
            <p:cNvCxnSpPr>
              <a:cxnSpLocks/>
            </p:cNvCxnSpPr>
            <p:nvPr/>
          </p:nvCxnSpPr>
          <p:spPr>
            <a:xfrm>
              <a:off x="2085474" y="4652211"/>
              <a:ext cx="0" cy="8823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68C4369-EB08-4F61-9E7E-896701DD0CEF}"/>
                </a:ext>
              </a:extLst>
            </p:cNvPr>
            <p:cNvSpPr txBox="1"/>
            <p:nvPr/>
          </p:nvSpPr>
          <p:spPr>
            <a:xfrm>
              <a:off x="1593786" y="5541271"/>
              <a:ext cx="98337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00FF"/>
                  </a:solidFill>
                </a:rPr>
                <a:t>MAX</a:t>
              </a:r>
              <a:endParaRPr lang="aa-ET" sz="1350" b="1" dirty="0">
                <a:solidFill>
                  <a:srgbClr val="FF00FF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D03932-861E-449D-B1A5-E603405C5165}"/>
              </a:ext>
            </a:extLst>
          </p:cNvPr>
          <p:cNvGrpSpPr/>
          <p:nvPr/>
        </p:nvGrpSpPr>
        <p:grpSpPr>
          <a:xfrm>
            <a:off x="1564106" y="3110887"/>
            <a:ext cx="6527128" cy="442760"/>
            <a:chOff x="2085474" y="3004850"/>
            <a:chExt cx="8702837" cy="590346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5DFAF26-9518-4E2A-8ABE-9C6827831316}"/>
                </a:ext>
              </a:extLst>
            </p:cNvPr>
            <p:cNvCxnSpPr/>
            <p:nvPr/>
          </p:nvCxnSpPr>
          <p:spPr>
            <a:xfrm>
              <a:off x="2085474" y="3006131"/>
              <a:ext cx="0" cy="58906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88AE93A-7EBE-43E5-A58C-5E50101712D2}"/>
                </a:ext>
              </a:extLst>
            </p:cNvPr>
            <p:cNvCxnSpPr/>
            <p:nvPr/>
          </p:nvCxnSpPr>
          <p:spPr>
            <a:xfrm>
              <a:off x="5991727" y="3004853"/>
              <a:ext cx="0" cy="58906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F0C7303-EC39-432B-90E8-9053794283FD}"/>
                </a:ext>
              </a:extLst>
            </p:cNvPr>
            <p:cNvCxnSpPr/>
            <p:nvPr/>
          </p:nvCxnSpPr>
          <p:spPr>
            <a:xfrm>
              <a:off x="8037092" y="3004852"/>
              <a:ext cx="0" cy="58906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A7F21FF-87ED-4EEF-AD81-7BCB52C4C241}"/>
                </a:ext>
              </a:extLst>
            </p:cNvPr>
            <p:cNvCxnSpPr/>
            <p:nvPr/>
          </p:nvCxnSpPr>
          <p:spPr>
            <a:xfrm>
              <a:off x="10788311" y="3004851"/>
              <a:ext cx="0" cy="58906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7C4AA08-4E5D-480E-B703-CCDDF42B0C5A}"/>
                </a:ext>
              </a:extLst>
            </p:cNvPr>
            <p:cNvCxnSpPr/>
            <p:nvPr/>
          </p:nvCxnSpPr>
          <p:spPr>
            <a:xfrm>
              <a:off x="4892895" y="3004850"/>
              <a:ext cx="0" cy="58906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413E23-2BE8-4862-9AF8-824E384D1271}"/>
              </a:ext>
            </a:extLst>
          </p:cNvPr>
          <p:cNvGrpSpPr/>
          <p:nvPr/>
        </p:nvGrpSpPr>
        <p:grpSpPr>
          <a:xfrm>
            <a:off x="3645608" y="3115527"/>
            <a:ext cx="2404467" cy="432746"/>
            <a:chOff x="4860811" y="3011036"/>
            <a:chExt cx="3205956" cy="57699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A7D5381-25C4-4F60-AF82-9D8628AEC4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60811" y="3011036"/>
              <a:ext cx="3192323" cy="2509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BE4FAAF-D364-40FC-868C-8739A2107B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74444" y="3562934"/>
              <a:ext cx="3192323" cy="2509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Brace 43">
            <a:extLst>
              <a:ext uri="{FF2B5EF4-FFF2-40B4-BE49-F238E27FC236}">
                <a16:creationId xmlns:a16="http://schemas.microsoft.com/office/drawing/2014/main" id="{290E9B04-A934-4387-B89C-192E87F62D76}"/>
              </a:ext>
            </a:extLst>
          </p:cNvPr>
          <p:cNvSpPr/>
          <p:nvPr/>
        </p:nvSpPr>
        <p:spPr>
          <a:xfrm rot="16200000">
            <a:off x="4619749" y="1582772"/>
            <a:ext cx="450131" cy="24105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6EACEC-4B8A-46E1-ADF1-BF070DAFB2DA}"/>
              </a:ext>
            </a:extLst>
          </p:cNvPr>
          <p:cNvSpPr txBox="1"/>
          <p:nvPr/>
        </p:nvSpPr>
        <p:spPr>
          <a:xfrm>
            <a:off x="3716301" y="2195837"/>
            <a:ext cx="2357488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00FF"/>
                </a:solidFill>
              </a:rPr>
              <a:t>IQR</a:t>
            </a:r>
            <a:endParaRPr lang="aa-ET" sz="1500" b="1" dirty="0">
              <a:solidFill>
                <a:srgbClr val="FF00FF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06001D7-B7C5-44BF-B93B-FE8DF81DAD04}"/>
              </a:ext>
            </a:extLst>
          </p:cNvPr>
          <p:cNvGrpSpPr/>
          <p:nvPr/>
        </p:nvGrpSpPr>
        <p:grpSpPr>
          <a:xfrm>
            <a:off x="1541851" y="3294884"/>
            <a:ext cx="6525062" cy="22739"/>
            <a:chOff x="2055800" y="3250178"/>
            <a:chExt cx="8700083" cy="30319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17BC842-6008-453C-94E9-B90B5CD230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5800" y="3250178"/>
              <a:ext cx="2837095" cy="1019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B5101BD-522B-4501-9E84-A655793548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4711" y="3280497"/>
              <a:ext cx="2711172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64E28B9C-402B-4C4A-86E4-267F57ED4705}"/>
              </a:ext>
            </a:extLst>
          </p:cNvPr>
          <p:cNvSpPr txBox="1"/>
          <p:nvPr/>
        </p:nvSpPr>
        <p:spPr>
          <a:xfrm>
            <a:off x="152997" y="1443110"/>
            <a:ext cx="2963027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B050"/>
                </a:solidFill>
              </a:rPr>
              <a:t>Boxplot is helpful in a lot of ways!</a:t>
            </a:r>
            <a:endParaRPr lang="aa-ET" sz="1500" b="1" dirty="0">
              <a:solidFill>
                <a:srgbClr val="00B05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4898FAA-1D6A-4D44-A1E4-15923D4066BB}"/>
              </a:ext>
            </a:extLst>
          </p:cNvPr>
          <p:cNvSpPr txBox="1"/>
          <p:nvPr/>
        </p:nvSpPr>
        <p:spPr>
          <a:xfrm>
            <a:off x="152996" y="2088417"/>
            <a:ext cx="2963027" cy="3231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B050"/>
                </a:solidFill>
              </a:rPr>
              <a:t>Can be used to find Outliers!</a:t>
            </a:r>
            <a:endParaRPr lang="aa-ET" sz="1500" b="1" dirty="0">
              <a:solidFill>
                <a:srgbClr val="00B05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D8AD19-86E2-4A2D-B808-BFF3BB283B85}"/>
              </a:ext>
            </a:extLst>
          </p:cNvPr>
          <p:cNvSpPr txBox="1"/>
          <p:nvPr/>
        </p:nvSpPr>
        <p:spPr>
          <a:xfrm>
            <a:off x="157363" y="2562968"/>
            <a:ext cx="2963027" cy="3231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0000"/>
                </a:solidFill>
              </a:rPr>
              <a:t>What is an outlier?</a:t>
            </a:r>
            <a:endParaRPr lang="aa-ET" sz="1500" b="1" dirty="0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2986F9-557D-4A24-BAD2-966B3827568F}"/>
              </a:ext>
            </a:extLst>
          </p:cNvPr>
          <p:cNvSpPr txBox="1"/>
          <p:nvPr/>
        </p:nvSpPr>
        <p:spPr>
          <a:xfrm>
            <a:off x="5496724" y="1448345"/>
            <a:ext cx="3494279" cy="7848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B050"/>
                </a:solidFill>
              </a:rPr>
              <a:t>An extreme value that is at abnormal distance from other values. </a:t>
            </a:r>
            <a:endParaRPr lang="aa-ET" sz="1500" b="1" dirty="0">
              <a:solidFill>
                <a:srgbClr val="00B05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8352E6-A905-4A3C-B769-2DB4C77F29F5}"/>
              </a:ext>
            </a:extLst>
          </p:cNvPr>
          <p:cNvSpPr txBox="1"/>
          <p:nvPr/>
        </p:nvSpPr>
        <p:spPr>
          <a:xfrm>
            <a:off x="5815213" y="2385436"/>
            <a:ext cx="2963027" cy="3231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0000"/>
                </a:solidFill>
              </a:rPr>
              <a:t>What distance is abnormal?</a:t>
            </a:r>
            <a:endParaRPr lang="aa-ET" sz="1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28518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7FC0-AB22-4619-B7D3-F19404F8A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 Detection with IQR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64FFC-60C4-41A8-8324-CFE0FC94E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44DD1A-9537-46F3-B7AC-8BB0D44FA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01" y="4064624"/>
            <a:ext cx="7458075" cy="77152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80EFB5F-F189-4043-A60D-C4FAFE8A372D}"/>
              </a:ext>
            </a:extLst>
          </p:cNvPr>
          <p:cNvGrpSpPr/>
          <p:nvPr/>
        </p:nvGrpSpPr>
        <p:grpSpPr>
          <a:xfrm>
            <a:off x="1317458" y="4346408"/>
            <a:ext cx="598074" cy="966878"/>
            <a:chOff x="1756611" y="4652211"/>
            <a:chExt cx="797431" cy="128917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CF5A1A-0C23-4779-A8B8-8ABA4DAD7B41}"/>
                </a:ext>
              </a:extLst>
            </p:cNvPr>
            <p:cNvCxnSpPr>
              <a:cxnSpLocks/>
            </p:cNvCxnSpPr>
            <p:nvPr/>
          </p:nvCxnSpPr>
          <p:spPr>
            <a:xfrm>
              <a:off x="2085474" y="4652211"/>
              <a:ext cx="0" cy="8823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68F73EA-0A52-482B-B28F-2F3EA57706AC}"/>
                </a:ext>
              </a:extLst>
            </p:cNvPr>
            <p:cNvSpPr txBox="1"/>
            <p:nvPr/>
          </p:nvSpPr>
          <p:spPr>
            <a:xfrm>
              <a:off x="1756611" y="5541272"/>
              <a:ext cx="797431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00FF"/>
                  </a:solidFill>
                </a:rPr>
                <a:t>MIN</a:t>
              </a:r>
              <a:endParaRPr lang="aa-ET" sz="1350" b="1" dirty="0">
                <a:solidFill>
                  <a:srgbClr val="FF00FF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F7ABFCC-3435-42A9-9CFE-AF4868B0BE9E}"/>
              </a:ext>
            </a:extLst>
          </p:cNvPr>
          <p:cNvGrpSpPr/>
          <p:nvPr/>
        </p:nvGrpSpPr>
        <p:grpSpPr>
          <a:xfrm>
            <a:off x="3392905" y="4346407"/>
            <a:ext cx="493295" cy="966877"/>
            <a:chOff x="1756611" y="4652211"/>
            <a:chExt cx="657726" cy="1289169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FB87DBB-A977-4443-B432-944CF4EB881A}"/>
                </a:ext>
              </a:extLst>
            </p:cNvPr>
            <p:cNvCxnSpPr>
              <a:cxnSpLocks/>
            </p:cNvCxnSpPr>
            <p:nvPr/>
          </p:nvCxnSpPr>
          <p:spPr>
            <a:xfrm>
              <a:off x="2085474" y="4652211"/>
              <a:ext cx="0" cy="8823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0488D30-BCB1-4000-9BB0-7387C2F0015C}"/>
                </a:ext>
              </a:extLst>
            </p:cNvPr>
            <p:cNvSpPr txBox="1"/>
            <p:nvPr/>
          </p:nvSpPr>
          <p:spPr>
            <a:xfrm>
              <a:off x="1756611" y="5541271"/>
              <a:ext cx="657726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00FF"/>
                  </a:solidFill>
                </a:rPr>
                <a:t>Q1</a:t>
              </a:r>
              <a:endParaRPr lang="aa-ET" sz="1350" b="1" dirty="0">
                <a:solidFill>
                  <a:srgbClr val="FF00FF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9933B-59B0-4948-BB47-B0D49EC02D2B}"/>
              </a:ext>
            </a:extLst>
          </p:cNvPr>
          <p:cNvGrpSpPr/>
          <p:nvPr/>
        </p:nvGrpSpPr>
        <p:grpSpPr>
          <a:xfrm>
            <a:off x="4157515" y="4346408"/>
            <a:ext cx="856045" cy="966878"/>
            <a:chOff x="1593786" y="4652211"/>
            <a:chExt cx="1141394" cy="128917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FB11297-487D-4CB6-9CF5-633EAF93944C}"/>
                </a:ext>
              </a:extLst>
            </p:cNvPr>
            <p:cNvCxnSpPr>
              <a:cxnSpLocks/>
            </p:cNvCxnSpPr>
            <p:nvPr/>
          </p:nvCxnSpPr>
          <p:spPr>
            <a:xfrm>
              <a:off x="2085474" y="4652211"/>
              <a:ext cx="0" cy="8823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42C9CC-3BD9-4DB5-B167-0FB122AE33A5}"/>
                </a:ext>
              </a:extLst>
            </p:cNvPr>
            <p:cNvSpPr txBox="1"/>
            <p:nvPr/>
          </p:nvSpPr>
          <p:spPr>
            <a:xfrm>
              <a:off x="1593786" y="5541272"/>
              <a:ext cx="1141394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00FF"/>
                  </a:solidFill>
                </a:rPr>
                <a:t>Median</a:t>
              </a:r>
              <a:endParaRPr lang="aa-ET" sz="1350" b="1" dirty="0">
                <a:solidFill>
                  <a:srgbClr val="FF00FF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03A7543-DC98-4D82-8B45-4665DEB3279F}"/>
              </a:ext>
            </a:extLst>
          </p:cNvPr>
          <p:cNvGrpSpPr/>
          <p:nvPr/>
        </p:nvGrpSpPr>
        <p:grpSpPr>
          <a:xfrm>
            <a:off x="5653644" y="4346134"/>
            <a:ext cx="737531" cy="966877"/>
            <a:chOff x="1593786" y="4652211"/>
            <a:chExt cx="983375" cy="1289169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949AE4A-96A9-4412-95FC-4B6531FA574B}"/>
                </a:ext>
              </a:extLst>
            </p:cNvPr>
            <p:cNvCxnSpPr>
              <a:cxnSpLocks/>
            </p:cNvCxnSpPr>
            <p:nvPr/>
          </p:nvCxnSpPr>
          <p:spPr>
            <a:xfrm>
              <a:off x="2085474" y="4652211"/>
              <a:ext cx="0" cy="8823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4E53EED-BA87-49FB-A3C8-B832F52ADEC9}"/>
                </a:ext>
              </a:extLst>
            </p:cNvPr>
            <p:cNvSpPr txBox="1"/>
            <p:nvPr/>
          </p:nvSpPr>
          <p:spPr>
            <a:xfrm>
              <a:off x="1593786" y="5541271"/>
              <a:ext cx="98337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00FF"/>
                  </a:solidFill>
                </a:rPr>
                <a:t>Q3</a:t>
              </a:r>
              <a:endParaRPr lang="aa-ET" sz="1350" b="1" dirty="0">
                <a:solidFill>
                  <a:srgbClr val="FF00FF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4E3AF3D-967A-440B-BCFF-67E0832D1C84}"/>
              </a:ext>
            </a:extLst>
          </p:cNvPr>
          <p:cNvGrpSpPr/>
          <p:nvPr/>
        </p:nvGrpSpPr>
        <p:grpSpPr>
          <a:xfrm>
            <a:off x="7746429" y="4344219"/>
            <a:ext cx="737531" cy="966877"/>
            <a:chOff x="1593786" y="4652211"/>
            <a:chExt cx="983375" cy="128916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0168F1E-54BE-49CD-8216-7E0D87E2DC6A}"/>
                </a:ext>
              </a:extLst>
            </p:cNvPr>
            <p:cNvCxnSpPr>
              <a:cxnSpLocks/>
            </p:cNvCxnSpPr>
            <p:nvPr/>
          </p:nvCxnSpPr>
          <p:spPr>
            <a:xfrm>
              <a:off x="2085474" y="4652211"/>
              <a:ext cx="0" cy="8823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68C4369-EB08-4F61-9E7E-896701DD0CEF}"/>
                </a:ext>
              </a:extLst>
            </p:cNvPr>
            <p:cNvSpPr txBox="1"/>
            <p:nvPr/>
          </p:nvSpPr>
          <p:spPr>
            <a:xfrm>
              <a:off x="1593786" y="5541271"/>
              <a:ext cx="98337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00FF"/>
                  </a:solidFill>
                </a:rPr>
                <a:t>MAX</a:t>
              </a:r>
              <a:endParaRPr lang="aa-ET" sz="1350" b="1" dirty="0">
                <a:solidFill>
                  <a:srgbClr val="FF00FF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D03932-861E-449D-B1A5-E603405C5165}"/>
              </a:ext>
            </a:extLst>
          </p:cNvPr>
          <p:cNvGrpSpPr/>
          <p:nvPr/>
        </p:nvGrpSpPr>
        <p:grpSpPr>
          <a:xfrm>
            <a:off x="1564106" y="3110887"/>
            <a:ext cx="6527128" cy="442760"/>
            <a:chOff x="2085474" y="3004850"/>
            <a:chExt cx="8702837" cy="590346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5DFAF26-9518-4E2A-8ABE-9C6827831316}"/>
                </a:ext>
              </a:extLst>
            </p:cNvPr>
            <p:cNvCxnSpPr/>
            <p:nvPr/>
          </p:nvCxnSpPr>
          <p:spPr>
            <a:xfrm>
              <a:off x="2085474" y="3006131"/>
              <a:ext cx="0" cy="58906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88AE93A-7EBE-43E5-A58C-5E50101712D2}"/>
                </a:ext>
              </a:extLst>
            </p:cNvPr>
            <p:cNvCxnSpPr/>
            <p:nvPr/>
          </p:nvCxnSpPr>
          <p:spPr>
            <a:xfrm>
              <a:off x="5991727" y="3004853"/>
              <a:ext cx="0" cy="58906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F0C7303-EC39-432B-90E8-9053794283FD}"/>
                </a:ext>
              </a:extLst>
            </p:cNvPr>
            <p:cNvCxnSpPr/>
            <p:nvPr/>
          </p:nvCxnSpPr>
          <p:spPr>
            <a:xfrm>
              <a:off x="8037092" y="3004852"/>
              <a:ext cx="0" cy="58906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A7F21FF-87ED-4EEF-AD81-7BCB52C4C241}"/>
                </a:ext>
              </a:extLst>
            </p:cNvPr>
            <p:cNvCxnSpPr/>
            <p:nvPr/>
          </p:nvCxnSpPr>
          <p:spPr>
            <a:xfrm>
              <a:off x="10788311" y="3004851"/>
              <a:ext cx="0" cy="58906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7C4AA08-4E5D-480E-B703-CCDDF42B0C5A}"/>
                </a:ext>
              </a:extLst>
            </p:cNvPr>
            <p:cNvCxnSpPr/>
            <p:nvPr/>
          </p:nvCxnSpPr>
          <p:spPr>
            <a:xfrm>
              <a:off x="4892895" y="3004850"/>
              <a:ext cx="0" cy="58906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413E23-2BE8-4862-9AF8-824E384D1271}"/>
              </a:ext>
            </a:extLst>
          </p:cNvPr>
          <p:cNvGrpSpPr/>
          <p:nvPr/>
        </p:nvGrpSpPr>
        <p:grpSpPr>
          <a:xfrm>
            <a:off x="3645608" y="3115527"/>
            <a:ext cx="2404467" cy="432746"/>
            <a:chOff x="4860811" y="3011036"/>
            <a:chExt cx="3205956" cy="57699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A7D5381-25C4-4F60-AF82-9D8628AEC4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60811" y="3011036"/>
              <a:ext cx="3192323" cy="2509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BE4FAAF-D364-40FC-868C-8739A2107B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74444" y="3562934"/>
              <a:ext cx="3192323" cy="2509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Brace 43">
            <a:extLst>
              <a:ext uri="{FF2B5EF4-FFF2-40B4-BE49-F238E27FC236}">
                <a16:creationId xmlns:a16="http://schemas.microsoft.com/office/drawing/2014/main" id="{290E9B04-A934-4387-B89C-192E87F62D76}"/>
              </a:ext>
            </a:extLst>
          </p:cNvPr>
          <p:cNvSpPr/>
          <p:nvPr/>
        </p:nvSpPr>
        <p:spPr>
          <a:xfrm rot="16200000">
            <a:off x="4619749" y="1582772"/>
            <a:ext cx="450131" cy="24105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aa-ET" sz="135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6EACEC-4B8A-46E1-ADF1-BF070DAFB2DA}"/>
              </a:ext>
            </a:extLst>
          </p:cNvPr>
          <p:cNvSpPr txBox="1"/>
          <p:nvPr/>
        </p:nvSpPr>
        <p:spPr>
          <a:xfrm>
            <a:off x="3716301" y="2195837"/>
            <a:ext cx="2357488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00FF"/>
                </a:solidFill>
              </a:rPr>
              <a:t>IQR</a:t>
            </a:r>
            <a:endParaRPr lang="aa-ET" sz="1500" b="1" dirty="0">
              <a:solidFill>
                <a:srgbClr val="FF00FF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06001D7-B7C5-44BF-B93B-FE8DF81DAD04}"/>
              </a:ext>
            </a:extLst>
          </p:cNvPr>
          <p:cNvGrpSpPr/>
          <p:nvPr/>
        </p:nvGrpSpPr>
        <p:grpSpPr>
          <a:xfrm>
            <a:off x="1541851" y="3294884"/>
            <a:ext cx="6525062" cy="22739"/>
            <a:chOff x="2055800" y="3250178"/>
            <a:chExt cx="8700083" cy="30319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17BC842-6008-453C-94E9-B90B5CD230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5800" y="3250178"/>
              <a:ext cx="2837095" cy="1019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B5101BD-522B-4501-9E84-A655793548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4711" y="3280497"/>
              <a:ext cx="2711172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4E28B9C-402B-4C4A-86E4-267F57ED4705}"/>
                  </a:ext>
                </a:extLst>
              </p:cNvPr>
              <p:cNvSpPr txBox="1"/>
              <p:nvPr/>
            </p:nvSpPr>
            <p:spPr>
              <a:xfrm>
                <a:off x="157363" y="1798122"/>
                <a:ext cx="2963027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𝑰𝑸𝑹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aa-ET" sz="1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4E28B9C-402B-4C4A-86E4-267F57ED4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63" y="1798122"/>
                <a:ext cx="2963027" cy="323165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AB2435-B469-4A65-8F99-FA2553FDC55E}"/>
                  </a:ext>
                </a:extLst>
              </p:cNvPr>
              <p:cNvSpPr txBox="1"/>
              <p:nvPr/>
            </p:nvSpPr>
            <p:spPr>
              <a:xfrm>
                <a:off x="157363" y="2249641"/>
                <a:ext cx="2963027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𝑰𝑸𝑹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𝟖𝟔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𝟕𝟎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aa-ET" sz="1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AB2435-B469-4A65-8F99-FA2553FDC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63" y="2249641"/>
                <a:ext cx="2963027" cy="323165"/>
              </a:xfrm>
              <a:prstGeom prst="rect">
                <a:avLst/>
              </a:prstGeom>
              <a:blipFill>
                <a:blip r:embed="rId4"/>
                <a:stretch>
                  <a:fillRect b="-71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B18165-197E-46AC-8038-A4EFBB2A4FA8}"/>
                  </a:ext>
                </a:extLst>
              </p:cNvPr>
              <p:cNvSpPr txBox="1"/>
              <p:nvPr/>
            </p:nvSpPr>
            <p:spPr>
              <a:xfrm>
                <a:off x="5653644" y="1820861"/>
                <a:ext cx="2963027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𝑶𝒖𝒕𝒍𝒊𝒆𝒓𝑻𝒉𝒓𝒆𝒔𝒉𝒐𝒍𝒅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𝑰𝑸𝑹</m:t>
                      </m:r>
                    </m:oMath>
                  </m:oMathPara>
                </a14:m>
                <a:endParaRPr lang="aa-ET" sz="1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9B18165-197E-46AC-8038-A4EFBB2A4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644" y="1820861"/>
                <a:ext cx="2963027" cy="323165"/>
              </a:xfrm>
              <a:prstGeom prst="rect">
                <a:avLst/>
              </a:prstGeom>
              <a:blipFill>
                <a:blip r:embed="rId5"/>
                <a:stretch>
                  <a:fillRect b="-370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CF72219-4ACC-4716-A04F-4FE7173EBAA2}"/>
                  </a:ext>
                </a:extLst>
              </p:cNvPr>
              <p:cNvSpPr txBox="1"/>
              <p:nvPr/>
            </p:nvSpPr>
            <p:spPr>
              <a:xfrm>
                <a:off x="5653644" y="2293627"/>
                <a:ext cx="3332989" cy="3231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𝑶𝒖𝒕𝒍𝒊𝒆𝒓𝑻𝒉𝒓𝒆𝒔𝒉𝒐𝒍𝒅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aa-ET" sz="1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CF72219-4ACC-4716-A04F-4FE7173EB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644" y="2293627"/>
                <a:ext cx="3332989" cy="3231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53C4EEB-CECC-4A3F-9F74-670D3C86166F}"/>
                  </a:ext>
                </a:extLst>
              </p:cNvPr>
              <p:cNvSpPr txBox="1"/>
              <p:nvPr/>
            </p:nvSpPr>
            <p:spPr>
              <a:xfrm>
                <a:off x="5653641" y="3611971"/>
                <a:ext cx="3435566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𝑶𝒖𝒕𝒍𝒊𝒆𝒓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𝑶𝒖𝒕𝒍𝒊𝒆𝒓𝑻𝒉𝒓𝒆𝒔𝒉𝒐𝒍𝒅</m:t>
                      </m:r>
                    </m:oMath>
                  </m:oMathPara>
                </a14:m>
                <a:endParaRPr lang="aa-ET" sz="1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53C4EEB-CECC-4A3F-9F74-670D3C861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641" y="3611971"/>
                <a:ext cx="3435566" cy="323165"/>
              </a:xfrm>
              <a:prstGeom prst="rect">
                <a:avLst/>
              </a:prstGeom>
              <a:blipFill>
                <a:blip r:embed="rId7"/>
                <a:stretch>
                  <a:fillRect b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2943058-51E3-4682-9C26-7CD8AF80BC87}"/>
                  </a:ext>
                </a:extLst>
              </p:cNvPr>
              <p:cNvSpPr txBox="1"/>
              <p:nvPr/>
            </p:nvSpPr>
            <p:spPr>
              <a:xfrm>
                <a:off x="754380" y="3612898"/>
                <a:ext cx="3435566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𝑶𝒖𝒕𝒍𝒊𝒆𝒓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15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𝑶𝒖𝒕𝒍𝒊𝒆𝒓𝑻𝒉𝒓𝒆𝒔𝒉𝒐𝒍𝒅</m:t>
                      </m:r>
                    </m:oMath>
                  </m:oMathPara>
                </a14:m>
                <a:endParaRPr lang="aa-ET" sz="1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2943058-51E3-4682-9C26-7CD8AF80B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" y="3612898"/>
                <a:ext cx="3435566" cy="323165"/>
              </a:xfrm>
              <a:prstGeom prst="rect">
                <a:avLst/>
              </a:prstGeom>
              <a:blipFill>
                <a:blip r:embed="rId8"/>
                <a:stretch>
                  <a:fillRect b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42DFAD6-791B-4441-AAF8-73F0DEF7C3F5}"/>
              </a:ext>
            </a:extLst>
          </p:cNvPr>
          <p:cNvSpPr txBox="1"/>
          <p:nvPr/>
        </p:nvSpPr>
        <p:spPr>
          <a:xfrm>
            <a:off x="157363" y="5687656"/>
            <a:ext cx="74580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Useful Article: </a:t>
            </a:r>
            <a:r>
              <a:rPr lang="en-US" sz="1350" dirty="0">
                <a:hlinkClick r:id="rId9"/>
              </a:rPr>
              <a:t>https://www.thoughtco.com/what-is-the-interquartile-range-rule-3126244</a:t>
            </a:r>
            <a:r>
              <a:rPr lang="en-US" sz="1350" dirty="0"/>
              <a:t>  </a:t>
            </a:r>
            <a:endParaRPr lang="aa-ET" sz="1350" dirty="0"/>
          </a:p>
        </p:txBody>
      </p:sp>
    </p:spTree>
    <p:extLst>
      <p:ext uri="{BB962C8B-B14F-4D97-AF65-F5344CB8AC3E}">
        <p14:creationId xmlns:p14="http://schemas.microsoft.com/office/powerpoint/2010/main" val="197482346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41" grpId="0" animBg="1"/>
      <p:bldP spid="47" grpId="0" animBg="1"/>
      <p:bldP spid="48" grpId="0" animBg="1"/>
      <p:bldP spid="49" grpId="0" animBg="1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4BAE1-AC1B-4F07-B814-D4497D9A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Boxplots with Outliers</a:t>
            </a:r>
            <a:endParaRPr lang="aa-E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C3395F-A60A-4FE6-BDBD-E85088C41C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Extend whiskers to extreme low and high observations </a:t>
                </a:r>
                <a:r>
                  <a:rPr lang="en-US" b="1" dirty="0">
                    <a:solidFill>
                      <a:srgbClr val="FF00FF"/>
                    </a:solidFill>
                  </a:rPr>
                  <a:t>only if these values are less than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𝑰𝑸𝑹</m:t>
                    </m:r>
                  </m:oMath>
                </a14:m>
                <a:endParaRPr lang="aa-ET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C3395F-A60A-4FE6-BDBD-E85088C41C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887" r="-230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8A512-9C9F-473E-A58D-4F29F53EC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A08562-BB7B-4BC8-9238-C21711E1A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088" y="2454836"/>
            <a:ext cx="3033562" cy="30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80881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57" name="Group 65">
            <a:extLst>
              <a:ext uri="{FF2B5EF4-FFF2-40B4-BE49-F238E27FC236}">
                <a16:creationId xmlns:a16="http://schemas.microsoft.com/office/drawing/2014/main" id="{12DC357B-3A9C-0471-B023-F4D99106A293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1905000"/>
            <a:ext cx="5313363" cy="2581275"/>
            <a:chOff x="1188" y="1488"/>
            <a:chExt cx="3347" cy="1626"/>
          </a:xfrm>
        </p:grpSpPr>
        <p:grpSp>
          <p:nvGrpSpPr>
            <p:cNvPr id="56335" name="Group 9">
              <a:extLst>
                <a:ext uri="{FF2B5EF4-FFF2-40B4-BE49-F238E27FC236}">
                  <a16:creationId xmlns:a16="http://schemas.microsoft.com/office/drawing/2014/main" id="{13C1C941-59E0-B3F4-888F-98AD662CA4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8" y="1512"/>
              <a:ext cx="891" cy="1602"/>
              <a:chOff x="1188" y="1776"/>
              <a:chExt cx="891" cy="1602"/>
            </a:xfrm>
          </p:grpSpPr>
          <p:grpSp>
            <p:nvGrpSpPr>
              <p:cNvPr id="56346" name="Group 10">
                <a:extLst>
                  <a:ext uri="{FF2B5EF4-FFF2-40B4-BE49-F238E27FC236}">
                    <a16:creationId xmlns:a16="http://schemas.microsoft.com/office/drawing/2014/main" id="{7279DD7D-6115-3D56-5395-1B21D493C1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8" y="2067"/>
                <a:ext cx="891" cy="1311"/>
                <a:chOff x="1188" y="2067"/>
                <a:chExt cx="891" cy="1311"/>
              </a:xfrm>
            </p:grpSpPr>
            <p:sp>
              <p:nvSpPr>
                <p:cNvPr id="56348" name="Line 11">
                  <a:extLst>
                    <a:ext uri="{FF2B5EF4-FFF2-40B4-BE49-F238E27FC236}">
                      <a16:creationId xmlns:a16="http://schemas.microsoft.com/office/drawing/2014/main" id="{F2454903-8FA6-2A7A-8804-4D64C8C639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9" y="2067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  <p:sp>
              <p:nvSpPr>
                <p:cNvPr id="12344" name="Text Box 12">
                  <a:extLst>
                    <a:ext uri="{FF2B5EF4-FFF2-40B4-BE49-F238E27FC236}">
                      <a16:creationId xmlns:a16="http://schemas.microsoft.com/office/drawing/2014/main" id="{00C18101-75C9-ADA6-F50B-51146EF9C2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8" y="2680"/>
                  <a:ext cx="891" cy="698"/>
                </a:xfrm>
                <a:prstGeom prst="rect">
                  <a:avLst/>
                </a:prstGeom>
                <a:gradFill rotWithShape="0"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GB" altLang="en-US" sz="2200" b="1" dirty="0">
                      <a:solidFill>
                        <a:schemeClr val="accent1">
                          <a:lumMod val="50000"/>
                        </a:schemeClr>
                      </a:solidFill>
                      <a:latin typeface="Comic Sans MS" panose="030F0902030302020204" pitchFamily="66" charset="0"/>
                    </a:rPr>
                    <a:t>Lower Quartile = 5½ </a:t>
                  </a:r>
                </a:p>
              </p:txBody>
            </p:sp>
          </p:grpSp>
          <p:sp>
            <p:nvSpPr>
              <p:cNvPr id="12342" name="Text Box 13">
                <a:extLst>
                  <a:ext uri="{FF2B5EF4-FFF2-40B4-BE49-F238E27FC236}">
                    <a16:creationId xmlns:a16="http://schemas.microsoft.com/office/drawing/2014/main" id="{9E61415F-EBD2-3262-376C-DAD67DBDD0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8" y="1776"/>
                <a:ext cx="372" cy="250"/>
              </a:xfrm>
              <a:prstGeom prst="rect">
                <a:avLst/>
              </a:prstGeom>
              <a:gradFill rotWithShape="0"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Q</a:t>
                </a:r>
                <a:r>
                  <a:rPr lang="en-GB" altLang="en-US" sz="20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1</a:t>
                </a:r>
                <a:endParaRPr lang="en-GB" altLang="en-US" sz="2000" b="1" dirty="0">
                  <a:solidFill>
                    <a:schemeClr val="accent1">
                      <a:lumMod val="50000"/>
                    </a:schemeClr>
                  </a:solidFill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56336" name="Group 14">
              <a:extLst>
                <a:ext uri="{FF2B5EF4-FFF2-40B4-BE49-F238E27FC236}">
                  <a16:creationId xmlns:a16="http://schemas.microsoft.com/office/drawing/2014/main" id="{E0D1C9D4-D3A2-4BE9-5D5C-DF70D21610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4" y="1512"/>
              <a:ext cx="891" cy="1571"/>
              <a:chOff x="3644" y="1776"/>
              <a:chExt cx="891" cy="1571"/>
            </a:xfrm>
          </p:grpSpPr>
          <p:grpSp>
            <p:nvGrpSpPr>
              <p:cNvPr id="56342" name="Group 15">
                <a:extLst>
                  <a:ext uri="{FF2B5EF4-FFF2-40B4-BE49-F238E27FC236}">
                    <a16:creationId xmlns:a16="http://schemas.microsoft.com/office/drawing/2014/main" id="{2AB5ADAE-B711-B7B5-B7EB-9A8E8C8F9D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4" y="2066"/>
                <a:ext cx="891" cy="1281"/>
                <a:chOff x="3644" y="2066"/>
                <a:chExt cx="891" cy="1281"/>
              </a:xfrm>
            </p:grpSpPr>
            <p:sp>
              <p:nvSpPr>
                <p:cNvPr id="56344" name="Line 16">
                  <a:extLst>
                    <a:ext uri="{FF2B5EF4-FFF2-40B4-BE49-F238E27FC236}">
                      <a16:creationId xmlns:a16="http://schemas.microsoft.com/office/drawing/2014/main" id="{291A2933-8FC3-C65F-076C-4FD3433CC3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53" y="2066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  <p:sp>
              <p:nvSpPr>
                <p:cNvPr id="12340" name="Text Box 17">
                  <a:extLst>
                    <a:ext uri="{FF2B5EF4-FFF2-40B4-BE49-F238E27FC236}">
                      <a16:creationId xmlns:a16="http://schemas.microsoft.com/office/drawing/2014/main" id="{06BF5B77-714E-C6AF-F489-02285043AC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44" y="2649"/>
                  <a:ext cx="891" cy="698"/>
                </a:xfrm>
                <a:prstGeom prst="rect">
                  <a:avLst/>
                </a:prstGeom>
                <a:gradFill rotWithShape="0"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GB" altLang="en-US" sz="2200" b="1" dirty="0">
                      <a:solidFill>
                        <a:schemeClr val="accent1">
                          <a:lumMod val="50000"/>
                        </a:schemeClr>
                      </a:solidFill>
                      <a:latin typeface="Comic Sans MS" panose="030F0902030302020204" pitchFamily="66" charset="0"/>
                    </a:rPr>
                    <a:t>Upper Quartile = 9</a:t>
                  </a:r>
                </a:p>
              </p:txBody>
            </p:sp>
          </p:grpSp>
          <p:sp>
            <p:nvSpPr>
              <p:cNvPr id="12338" name="Text Box 18">
                <a:extLst>
                  <a:ext uri="{FF2B5EF4-FFF2-40B4-BE49-F238E27FC236}">
                    <a16:creationId xmlns:a16="http://schemas.microsoft.com/office/drawing/2014/main" id="{A2BE187A-788E-A4D2-4F64-0082D41C2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6" y="1776"/>
                <a:ext cx="372" cy="250"/>
              </a:xfrm>
              <a:prstGeom prst="rect">
                <a:avLst/>
              </a:prstGeom>
              <a:gradFill rotWithShape="0"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Q</a:t>
                </a:r>
                <a:r>
                  <a:rPr lang="en-GB" altLang="en-US" sz="20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3</a:t>
                </a:r>
                <a:endParaRPr lang="en-GB" altLang="en-US" sz="2000" b="1" dirty="0">
                  <a:solidFill>
                    <a:schemeClr val="accent1">
                      <a:lumMod val="50000"/>
                    </a:schemeClr>
                  </a:solidFill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56337" name="Group 19">
              <a:extLst>
                <a:ext uri="{FF2B5EF4-FFF2-40B4-BE49-F238E27FC236}">
                  <a16:creationId xmlns:a16="http://schemas.microsoft.com/office/drawing/2014/main" id="{28922EC6-BF79-45CE-6312-02B2065448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7" y="1488"/>
              <a:ext cx="812" cy="1485"/>
              <a:chOff x="2437" y="1752"/>
              <a:chExt cx="812" cy="1485"/>
            </a:xfrm>
          </p:grpSpPr>
          <p:grpSp>
            <p:nvGrpSpPr>
              <p:cNvPr id="56338" name="Group 20">
                <a:extLst>
                  <a:ext uri="{FF2B5EF4-FFF2-40B4-BE49-F238E27FC236}">
                    <a16:creationId xmlns:a16="http://schemas.microsoft.com/office/drawing/2014/main" id="{BB29CB15-140E-F842-F777-B75F5830A0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7" y="2068"/>
                <a:ext cx="812" cy="1169"/>
                <a:chOff x="2409" y="2060"/>
                <a:chExt cx="812" cy="1169"/>
              </a:xfrm>
            </p:grpSpPr>
            <p:sp>
              <p:nvSpPr>
                <p:cNvPr id="56340" name="Line 21">
                  <a:extLst>
                    <a:ext uri="{FF2B5EF4-FFF2-40B4-BE49-F238E27FC236}">
                      <a16:creationId xmlns:a16="http://schemas.microsoft.com/office/drawing/2014/main" id="{C577950B-2828-9A07-9380-935B4F0008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62" y="2060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  <p:sp>
              <p:nvSpPr>
                <p:cNvPr id="12336" name="Text Box 22">
                  <a:extLst>
                    <a:ext uri="{FF2B5EF4-FFF2-40B4-BE49-F238E27FC236}">
                      <a16:creationId xmlns:a16="http://schemas.microsoft.com/office/drawing/2014/main" id="{BC8746E0-C2F2-3D63-DFB5-7AA539931A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09" y="2749"/>
                  <a:ext cx="812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GB" altLang="en-US" sz="2200" b="1" dirty="0">
                      <a:solidFill>
                        <a:schemeClr val="accent1">
                          <a:lumMod val="50000"/>
                        </a:schemeClr>
                      </a:solidFill>
                      <a:latin typeface="Comic Sans MS" panose="030F0902030302020204" pitchFamily="66" charset="0"/>
                    </a:rPr>
                    <a:t>Median = 8</a:t>
                  </a:r>
                </a:p>
              </p:txBody>
            </p:sp>
          </p:grpSp>
          <p:sp>
            <p:nvSpPr>
              <p:cNvPr id="12334" name="Text Box 23">
                <a:extLst>
                  <a:ext uri="{FF2B5EF4-FFF2-40B4-BE49-F238E27FC236}">
                    <a16:creationId xmlns:a16="http://schemas.microsoft.com/office/drawing/2014/main" id="{C1C26159-D901-6585-37DD-41C1E55EFA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1752"/>
                <a:ext cx="372" cy="250"/>
              </a:xfrm>
              <a:prstGeom prst="rect">
                <a:avLst/>
              </a:prstGeom>
              <a:gradFill rotWithShape="0"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Q</a:t>
                </a:r>
                <a:r>
                  <a:rPr lang="en-GB" altLang="en-US" sz="20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2</a:t>
                </a:r>
                <a:endParaRPr lang="en-GB" altLang="en-US" sz="2000" b="1" dirty="0">
                  <a:solidFill>
                    <a:schemeClr val="accent1">
                      <a:lumMod val="50000"/>
                    </a:schemeClr>
                  </a:solidFill>
                  <a:latin typeface="Comic Sans MS" panose="030F0902030302020204" pitchFamily="66" charset="0"/>
                </a:endParaRPr>
              </a:p>
            </p:txBody>
          </p:sp>
        </p:grpSp>
      </p:grpSp>
      <p:grpSp>
        <p:nvGrpSpPr>
          <p:cNvPr id="8269" name="Group 77">
            <a:extLst>
              <a:ext uri="{FF2B5EF4-FFF2-40B4-BE49-F238E27FC236}">
                <a16:creationId xmlns:a16="http://schemas.microsoft.com/office/drawing/2014/main" id="{2B8491E6-170E-87F9-3C81-BB4A43C2AE58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98488"/>
            <a:ext cx="8248650" cy="2411412"/>
            <a:chOff x="384" y="377"/>
            <a:chExt cx="5196" cy="1519"/>
          </a:xfrm>
        </p:grpSpPr>
        <p:sp>
          <p:nvSpPr>
            <p:cNvPr id="56327" name="Text Box 4">
              <a:extLst>
                <a:ext uri="{FF2B5EF4-FFF2-40B4-BE49-F238E27FC236}">
                  <a16:creationId xmlns:a16="http://schemas.microsoft.com/office/drawing/2014/main" id="{0F46A8EA-24F5-75B0-23D0-224D9BB8D3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" y="1608"/>
              <a:ext cx="50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400">
                  <a:latin typeface="Comic Sans MS" panose="030F0902030302020204" pitchFamily="66" charset="0"/>
                </a:rPr>
                <a:t>4,    4,    5,    6,    8,    8,    8,    9,     9,    9,    10,    12</a:t>
              </a:r>
            </a:p>
          </p:txBody>
        </p:sp>
        <p:sp>
          <p:nvSpPr>
            <p:cNvPr id="56328" name="Text Box 8">
              <a:extLst>
                <a:ext uri="{FF2B5EF4-FFF2-40B4-BE49-F238E27FC236}">
                  <a16:creationId xmlns:a16="http://schemas.microsoft.com/office/drawing/2014/main" id="{AEE323C5-5C1F-DE55-ECE8-1AD8639F4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756"/>
              <a:ext cx="519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200">
                  <a:solidFill>
                    <a:schemeClr val="accent2"/>
                  </a:solidFill>
                  <a:latin typeface="Comic Sans MS" panose="030F0902030302020204" pitchFamily="66" charset="0"/>
                </a:rPr>
                <a:t>Example 1</a:t>
              </a:r>
              <a:r>
                <a:rPr lang="en-GB" altLang="en-US" sz="2200">
                  <a:latin typeface="Comic Sans MS" panose="030F0902030302020204" pitchFamily="66" charset="0"/>
                </a:rPr>
                <a:t>:  Draw a Box plot for the data below</a:t>
              </a:r>
            </a:p>
          </p:txBody>
        </p:sp>
        <p:grpSp>
          <p:nvGrpSpPr>
            <p:cNvPr id="56329" name="Group 76">
              <a:extLst>
                <a:ext uri="{FF2B5EF4-FFF2-40B4-BE49-F238E27FC236}">
                  <a16:creationId xmlns:a16="http://schemas.microsoft.com/office/drawing/2014/main" id="{4765CBF5-6C68-7799-1B41-E7F805DCE1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" y="377"/>
              <a:ext cx="4359" cy="288"/>
              <a:chOff x="478" y="369"/>
              <a:chExt cx="4359" cy="288"/>
            </a:xfrm>
          </p:grpSpPr>
          <p:sp>
            <p:nvSpPr>
              <p:cNvPr id="56330" name="Text Box 2">
                <a:extLst>
                  <a:ext uri="{FF2B5EF4-FFF2-40B4-BE49-F238E27FC236}">
                    <a16:creationId xmlns:a16="http://schemas.microsoft.com/office/drawing/2014/main" id="{61A42B5B-0189-41BA-8143-A4A1571398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9" y="369"/>
                <a:ext cx="2311" cy="2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400">
                    <a:solidFill>
                      <a:srgbClr val="FFFF99"/>
                    </a:solidFill>
                    <a:latin typeface="Comic Sans MS" panose="030F0902030302020204" pitchFamily="66" charset="0"/>
                  </a:rPr>
                  <a:t>Drawing a Box Plot. </a:t>
                </a:r>
              </a:p>
            </p:txBody>
          </p:sp>
          <p:sp>
            <p:nvSpPr>
              <p:cNvPr id="56331" name="Line 66">
                <a:extLst>
                  <a:ext uri="{FF2B5EF4-FFF2-40B4-BE49-F238E27FC236}">
                    <a16:creationId xmlns:a16="http://schemas.microsoft.com/office/drawing/2014/main" id="{3F08E8EA-B938-AB10-92AC-B6431205A0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" y="521"/>
                <a:ext cx="97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6332" name="Line 68">
                <a:extLst>
                  <a:ext uri="{FF2B5EF4-FFF2-40B4-BE49-F238E27FC236}">
                    <a16:creationId xmlns:a16="http://schemas.microsoft.com/office/drawing/2014/main" id="{0A6BDE6E-8282-442A-67D0-0C5B091C52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8" y="400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6333" name="Line 71">
                <a:extLst>
                  <a:ext uri="{FF2B5EF4-FFF2-40B4-BE49-F238E27FC236}">
                    <a16:creationId xmlns:a16="http://schemas.microsoft.com/office/drawing/2014/main" id="{EFBA3379-E362-8A72-62F3-68140596C0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0" y="516"/>
                <a:ext cx="10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6334" name="Line 73">
                <a:extLst>
                  <a:ext uri="{FF2B5EF4-FFF2-40B4-BE49-F238E27FC236}">
                    <a16:creationId xmlns:a16="http://schemas.microsoft.com/office/drawing/2014/main" id="{58EACC4B-2707-8E60-D81C-C2B6BCAEFC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" y="382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</p:grpSp>
      </p:grpSp>
      <p:sp>
        <p:nvSpPr>
          <p:cNvPr id="56323" name="Rectangle 78">
            <a:extLst>
              <a:ext uri="{FF2B5EF4-FFF2-40B4-BE49-F238E27FC236}">
                <a16:creationId xmlns:a16="http://schemas.microsoft.com/office/drawing/2014/main" id="{DACC6C5B-A01A-7FAD-CFE9-393042280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905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6324" name="Rectangle 79">
            <a:extLst>
              <a:ext uri="{FF2B5EF4-FFF2-40B4-BE49-F238E27FC236}">
                <a16:creationId xmlns:a16="http://schemas.microsoft.com/office/drawing/2014/main" id="{A9E0845C-C797-3F79-6E36-2D9F095F8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67500"/>
            <a:ext cx="9144000" cy="1905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6325" name="Rectangle 80">
            <a:extLst>
              <a:ext uri="{FF2B5EF4-FFF2-40B4-BE49-F238E27FC236}">
                <a16:creationId xmlns:a16="http://schemas.microsoft.com/office/drawing/2014/main" id="{7DB8BDE8-B368-57AD-7901-AEAB1BD75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68580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6326" name="Rectangle 81">
            <a:extLst>
              <a:ext uri="{FF2B5EF4-FFF2-40B4-BE49-F238E27FC236}">
                <a16:creationId xmlns:a16="http://schemas.microsoft.com/office/drawing/2014/main" id="{F338EB82-B201-55D8-EC03-1D1054998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0"/>
            <a:ext cx="228600" cy="68580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15139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57" name="Group 65">
            <a:extLst>
              <a:ext uri="{FF2B5EF4-FFF2-40B4-BE49-F238E27FC236}">
                <a16:creationId xmlns:a16="http://schemas.microsoft.com/office/drawing/2014/main" id="{EC5FBF57-DF76-01D4-A0CB-AB9B59374A56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1905000"/>
            <a:ext cx="5313363" cy="2581275"/>
            <a:chOff x="1188" y="1488"/>
            <a:chExt cx="3347" cy="1626"/>
          </a:xfrm>
        </p:grpSpPr>
        <p:grpSp>
          <p:nvGrpSpPr>
            <p:cNvPr id="57388" name="Group 9">
              <a:extLst>
                <a:ext uri="{FF2B5EF4-FFF2-40B4-BE49-F238E27FC236}">
                  <a16:creationId xmlns:a16="http://schemas.microsoft.com/office/drawing/2014/main" id="{B8061EE2-41E2-2292-2460-DA6AFEAE0F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8" y="1512"/>
              <a:ext cx="891" cy="1602"/>
              <a:chOff x="1188" y="1776"/>
              <a:chExt cx="891" cy="1602"/>
            </a:xfrm>
          </p:grpSpPr>
          <p:grpSp>
            <p:nvGrpSpPr>
              <p:cNvPr id="57399" name="Group 10">
                <a:extLst>
                  <a:ext uri="{FF2B5EF4-FFF2-40B4-BE49-F238E27FC236}">
                    <a16:creationId xmlns:a16="http://schemas.microsoft.com/office/drawing/2014/main" id="{6CBDF0FE-CA7E-8413-827C-076BA46D95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8" y="2067"/>
                <a:ext cx="891" cy="1311"/>
                <a:chOff x="1188" y="2067"/>
                <a:chExt cx="891" cy="1311"/>
              </a:xfrm>
            </p:grpSpPr>
            <p:sp>
              <p:nvSpPr>
                <p:cNvPr id="57401" name="Line 11">
                  <a:extLst>
                    <a:ext uri="{FF2B5EF4-FFF2-40B4-BE49-F238E27FC236}">
                      <a16:creationId xmlns:a16="http://schemas.microsoft.com/office/drawing/2014/main" id="{082FD58D-A502-6A1E-C310-E35139CF2C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9" y="2067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  <p:sp>
              <p:nvSpPr>
                <p:cNvPr id="12344" name="Text Box 12">
                  <a:extLst>
                    <a:ext uri="{FF2B5EF4-FFF2-40B4-BE49-F238E27FC236}">
                      <a16:creationId xmlns:a16="http://schemas.microsoft.com/office/drawing/2014/main" id="{D97B4F1B-CD7A-DE10-6035-FD9FA82B4D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8" y="2680"/>
                  <a:ext cx="891" cy="698"/>
                </a:xfrm>
                <a:prstGeom prst="rect">
                  <a:avLst/>
                </a:prstGeom>
                <a:gradFill rotWithShape="0"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GB" altLang="en-US" sz="2200" b="1" dirty="0">
                      <a:solidFill>
                        <a:schemeClr val="accent1">
                          <a:lumMod val="50000"/>
                        </a:schemeClr>
                      </a:solidFill>
                      <a:latin typeface="Comic Sans MS" panose="030F0902030302020204" pitchFamily="66" charset="0"/>
                    </a:rPr>
                    <a:t>Lower Quartile = 5½ </a:t>
                  </a:r>
                </a:p>
              </p:txBody>
            </p:sp>
          </p:grpSp>
          <p:sp>
            <p:nvSpPr>
              <p:cNvPr id="12342" name="Text Box 13">
                <a:extLst>
                  <a:ext uri="{FF2B5EF4-FFF2-40B4-BE49-F238E27FC236}">
                    <a16:creationId xmlns:a16="http://schemas.microsoft.com/office/drawing/2014/main" id="{95C2B5D7-E434-1B4D-3B63-0BDBABAC58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8" y="1776"/>
                <a:ext cx="372" cy="250"/>
              </a:xfrm>
              <a:prstGeom prst="rect">
                <a:avLst/>
              </a:prstGeom>
              <a:gradFill rotWithShape="0"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Q</a:t>
                </a:r>
                <a:r>
                  <a:rPr lang="en-GB" altLang="en-US" sz="20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1</a:t>
                </a:r>
                <a:endParaRPr lang="en-GB" altLang="en-US" sz="2000" b="1" dirty="0">
                  <a:solidFill>
                    <a:schemeClr val="accent1">
                      <a:lumMod val="50000"/>
                    </a:schemeClr>
                  </a:solidFill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57389" name="Group 14">
              <a:extLst>
                <a:ext uri="{FF2B5EF4-FFF2-40B4-BE49-F238E27FC236}">
                  <a16:creationId xmlns:a16="http://schemas.microsoft.com/office/drawing/2014/main" id="{EB2B1A4A-CABC-7D5E-94C9-8148296655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4" y="1512"/>
              <a:ext cx="891" cy="1571"/>
              <a:chOff x="3644" y="1776"/>
              <a:chExt cx="891" cy="1571"/>
            </a:xfrm>
          </p:grpSpPr>
          <p:grpSp>
            <p:nvGrpSpPr>
              <p:cNvPr id="57395" name="Group 15">
                <a:extLst>
                  <a:ext uri="{FF2B5EF4-FFF2-40B4-BE49-F238E27FC236}">
                    <a16:creationId xmlns:a16="http://schemas.microsoft.com/office/drawing/2014/main" id="{870D0979-D70D-DBBD-8F69-72F49528C1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4" y="2066"/>
                <a:ext cx="891" cy="1281"/>
                <a:chOff x="3644" y="2066"/>
                <a:chExt cx="891" cy="1281"/>
              </a:xfrm>
            </p:grpSpPr>
            <p:sp>
              <p:nvSpPr>
                <p:cNvPr id="57397" name="Line 16">
                  <a:extLst>
                    <a:ext uri="{FF2B5EF4-FFF2-40B4-BE49-F238E27FC236}">
                      <a16:creationId xmlns:a16="http://schemas.microsoft.com/office/drawing/2014/main" id="{06D500B4-49FC-D401-647E-C0055B36A4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53" y="2066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  <p:sp>
              <p:nvSpPr>
                <p:cNvPr id="12340" name="Text Box 17">
                  <a:extLst>
                    <a:ext uri="{FF2B5EF4-FFF2-40B4-BE49-F238E27FC236}">
                      <a16:creationId xmlns:a16="http://schemas.microsoft.com/office/drawing/2014/main" id="{3F1F1215-46D8-FD97-0E48-59ED991789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44" y="2649"/>
                  <a:ext cx="891" cy="698"/>
                </a:xfrm>
                <a:prstGeom prst="rect">
                  <a:avLst/>
                </a:prstGeom>
                <a:gradFill rotWithShape="0"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GB" altLang="en-US" sz="2200" b="1" dirty="0">
                      <a:solidFill>
                        <a:schemeClr val="accent1">
                          <a:lumMod val="50000"/>
                        </a:schemeClr>
                      </a:solidFill>
                      <a:latin typeface="Comic Sans MS" panose="030F0902030302020204" pitchFamily="66" charset="0"/>
                    </a:rPr>
                    <a:t>Upper Quartile = 9</a:t>
                  </a:r>
                </a:p>
              </p:txBody>
            </p:sp>
          </p:grpSp>
          <p:sp>
            <p:nvSpPr>
              <p:cNvPr id="12338" name="Text Box 18">
                <a:extLst>
                  <a:ext uri="{FF2B5EF4-FFF2-40B4-BE49-F238E27FC236}">
                    <a16:creationId xmlns:a16="http://schemas.microsoft.com/office/drawing/2014/main" id="{1AD50F7C-97E5-CDA7-2FC5-82AB0F95D8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6" y="1776"/>
                <a:ext cx="372" cy="250"/>
              </a:xfrm>
              <a:prstGeom prst="rect">
                <a:avLst/>
              </a:prstGeom>
              <a:gradFill rotWithShape="0"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Q</a:t>
                </a:r>
                <a:r>
                  <a:rPr lang="en-GB" altLang="en-US" sz="20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3</a:t>
                </a:r>
                <a:endParaRPr lang="en-GB" altLang="en-US" sz="2000" b="1" dirty="0">
                  <a:solidFill>
                    <a:schemeClr val="accent1">
                      <a:lumMod val="50000"/>
                    </a:schemeClr>
                  </a:solidFill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57390" name="Group 19">
              <a:extLst>
                <a:ext uri="{FF2B5EF4-FFF2-40B4-BE49-F238E27FC236}">
                  <a16:creationId xmlns:a16="http://schemas.microsoft.com/office/drawing/2014/main" id="{A702CA5B-E66C-F421-05D3-02417F91BA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7" y="1488"/>
              <a:ext cx="812" cy="1485"/>
              <a:chOff x="2437" y="1752"/>
              <a:chExt cx="812" cy="1485"/>
            </a:xfrm>
          </p:grpSpPr>
          <p:grpSp>
            <p:nvGrpSpPr>
              <p:cNvPr id="57391" name="Group 20">
                <a:extLst>
                  <a:ext uri="{FF2B5EF4-FFF2-40B4-BE49-F238E27FC236}">
                    <a16:creationId xmlns:a16="http://schemas.microsoft.com/office/drawing/2014/main" id="{D589EF66-121D-663C-D29D-0C60CCF845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7" y="2068"/>
                <a:ext cx="812" cy="1169"/>
                <a:chOff x="2409" y="2060"/>
                <a:chExt cx="812" cy="1169"/>
              </a:xfrm>
            </p:grpSpPr>
            <p:sp>
              <p:nvSpPr>
                <p:cNvPr id="57393" name="Line 21">
                  <a:extLst>
                    <a:ext uri="{FF2B5EF4-FFF2-40B4-BE49-F238E27FC236}">
                      <a16:creationId xmlns:a16="http://schemas.microsoft.com/office/drawing/2014/main" id="{48A1F66C-2AA1-6A3B-4878-8EB237E9B9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62" y="2060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  <p:sp>
              <p:nvSpPr>
                <p:cNvPr id="12336" name="Text Box 22">
                  <a:extLst>
                    <a:ext uri="{FF2B5EF4-FFF2-40B4-BE49-F238E27FC236}">
                      <a16:creationId xmlns:a16="http://schemas.microsoft.com/office/drawing/2014/main" id="{F670E076-2A8E-E532-A0D2-C55D962A70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09" y="2749"/>
                  <a:ext cx="812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GB" altLang="en-US" sz="2200" b="1" dirty="0">
                      <a:solidFill>
                        <a:schemeClr val="accent1">
                          <a:lumMod val="50000"/>
                        </a:schemeClr>
                      </a:solidFill>
                      <a:latin typeface="Comic Sans MS" panose="030F0902030302020204" pitchFamily="66" charset="0"/>
                    </a:rPr>
                    <a:t>Median = 8</a:t>
                  </a:r>
                </a:p>
              </p:txBody>
            </p:sp>
          </p:grpSp>
          <p:sp>
            <p:nvSpPr>
              <p:cNvPr id="12334" name="Text Box 23">
                <a:extLst>
                  <a:ext uri="{FF2B5EF4-FFF2-40B4-BE49-F238E27FC236}">
                    <a16:creationId xmlns:a16="http://schemas.microsoft.com/office/drawing/2014/main" id="{5645BC24-4BFA-5F9F-9FA6-6EA696DC7F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1752"/>
                <a:ext cx="372" cy="250"/>
              </a:xfrm>
              <a:prstGeom prst="rect">
                <a:avLst/>
              </a:prstGeom>
              <a:gradFill rotWithShape="0"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Q</a:t>
                </a:r>
                <a:r>
                  <a:rPr lang="en-GB" altLang="en-US" sz="20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2</a:t>
                </a:r>
                <a:endParaRPr lang="en-GB" altLang="en-US" sz="2000" b="1" dirty="0">
                  <a:solidFill>
                    <a:schemeClr val="accent1">
                      <a:lumMod val="50000"/>
                    </a:schemeClr>
                  </a:solidFill>
                  <a:latin typeface="Comic Sans MS" panose="030F0902030302020204" pitchFamily="66" charset="0"/>
                </a:endParaRPr>
              </a:p>
            </p:txBody>
          </p:sp>
        </p:grpSp>
      </p:grpSp>
      <p:grpSp>
        <p:nvGrpSpPr>
          <p:cNvPr id="8269" name="Group 77">
            <a:extLst>
              <a:ext uri="{FF2B5EF4-FFF2-40B4-BE49-F238E27FC236}">
                <a16:creationId xmlns:a16="http://schemas.microsoft.com/office/drawing/2014/main" id="{4FEE676D-2BA5-1AA2-EECA-04B63E26E3B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98488"/>
            <a:ext cx="8248650" cy="2411412"/>
            <a:chOff x="384" y="377"/>
            <a:chExt cx="5196" cy="1519"/>
          </a:xfrm>
        </p:grpSpPr>
        <p:sp>
          <p:nvSpPr>
            <p:cNvPr id="57380" name="Text Box 4">
              <a:extLst>
                <a:ext uri="{FF2B5EF4-FFF2-40B4-BE49-F238E27FC236}">
                  <a16:creationId xmlns:a16="http://schemas.microsoft.com/office/drawing/2014/main" id="{FB79BA3C-2860-AD29-3876-BB78FED275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" y="1608"/>
              <a:ext cx="50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400">
                  <a:latin typeface="Comic Sans MS" panose="030F0902030302020204" pitchFamily="66" charset="0"/>
                </a:rPr>
                <a:t>4,    4,    5,    6,    8,    8,    8,    9,     9,    9,    10,    12</a:t>
              </a:r>
            </a:p>
          </p:txBody>
        </p:sp>
        <p:sp>
          <p:nvSpPr>
            <p:cNvPr id="57381" name="Text Box 8">
              <a:extLst>
                <a:ext uri="{FF2B5EF4-FFF2-40B4-BE49-F238E27FC236}">
                  <a16:creationId xmlns:a16="http://schemas.microsoft.com/office/drawing/2014/main" id="{345D1BBB-81FA-D5BF-56F6-FA19E0176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756"/>
              <a:ext cx="519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200">
                  <a:solidFill>
                    <a:schemeClr val="accent2"/>
                  </a:solidFill>
                  <a:latin typeface="Comic Sans MS" panose="030F0902030302020204" pitchFamily="66" charset="0"/>
                </a:rPr>
                <a:t>Example 1</a:t>
              </a:r>
              <a:r>
                <a:rPr lang="en-GB" altLang="en-US" sz="2200">
                  <a:latin typeface="Comic Sans MS" panose="030F0902030302020204" pitchFamily="66" charset="0"/>
                </a:rPr>
                <a:t>:  Draw a Box plot for the data below</a:t>
              </a:r>
            </a:p>
          </p:txBody>
        </p:sp>
        <p:grpSp>
          <p:nvGrpSpPr>
            <p:cNvPr id="57382" name="Group 76">
              <a:extLst>
                <a:ext uri="{FF2B5EF4-FFF2-40B4-BE49-F238E27FC236}">
                  <a16:creationId xmlns:a16="http://schemas.microsoft.com/office/drawing/2014/main" id="{8AC38788-7C28-B383-9FB1-80F61200BF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" y="377"/>
              <a:ext cx="4359" cy="288"/>
              <a:chOff x="478" y="369"/>
              <a:chExt cx="4359" cy="288"/>
            </a:xfrm>
          </p:grpSpPr>
          <p:sp>
            <p:nvSpPr>
              <p:cNvPr id="57383" name="Text Box 2">
                <a:extLst>
                  <a:ext uri="{FF2B5EF4-FFF2-40B4-BE49-F238E27FC236}">
                    <a16:creationId xmlns:a16="http://schemas.microsoft.com/office/drawing/2014/main" id="{A15401E7-272A-7F4F-5491-C2B401896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9" y="369"/>
                <a:ext cx="2311" cy="2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400">
                    <a:solidFill>
                      <a:srgbClr val="FFFF99"/>
                    </a:solidFill>
                    <a:latin typeface="Comic Sans MS" panose="030F0902030302020204" pitchFamily="66" charset="0"/>
                  </a:rPr>
                  <a:t>Drawing a Box Plot. </a:t>
                </a:r>
              </a:p>
            </p:txBody>
          </p:sp>
          <p:sp>
            <p:nvSpPr>
              <p:cNvPr id="57384" name="Line 66">
                <a:extLst>
                  <a:ext uri="{FF2B5EF4-FFF2-40B4-BE49-F238E27FC236}">
                    <a16:creationId xmlns:a16="http://schemas.microsoft.com/office/drawing/2014/main" id="{7EA13215-273D-A6E5-AA6A-4DF0A397C5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" y="521"/>
                <a:ext cx="97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7385" name="Line 68">
                <a:extLst>
                  <a:ext uri="{FF2B5EF4-FFF2-40B4-BE49-F238E27FC236}">
                    <a16:creationId xmlns:a16="http://schemas.microsoft.com/office/drawing/2014/main" id="{A35F5CF5-2D98-F50B-9327-0056AF588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8" y="400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7386" name="Line 71">
                <a:extLst>
                  <a:ext uri="{FF2B5EF4-FFF2-40B4-BE49-F238E27FC236}">
                    <a16:creationId xmlns:a16="http://schemas.microsoft.com/office/drawing/2014/main" id="{A851BF52-A56F-08FF-E69F-8D1C68D9F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0" y="516"/>
                <a:ext cx="10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7387" name="Line 73">
                <a:extLst>
                  <a:ext uri="{FF2B5EF4-FFF2-40B4-BE49-F238E27FC236}">
                    <a16:creationId xmlns:a16="http://schemas.microsoft.com/office/drawing/2014/main" id="{A1E8E941-790F-D8B1-9675-9E6823615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" y="382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</p:grpSp>
      </p:grpSp>
      <p:sp>
        <p:nvSpPr>
          <p:cNvPr id="57347" name="Rectangle 78">
            <a:extLst>
              <a:ext uri="{FF2B5EF4-FFF2-40B4-BE49-F238E27FC236}">
                <a16:creationId xmlns:a16="http://schemas.microsoft.com/office/drawing/2014/main" id="{A76775D3-52AE-3932-D3AA-41E5E7199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905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7348" name="Rectangle 79">
            <a:extLst>
              <a:ext uri="{FF2B5EF4-FFF2-40B4-BE49-F238E27FC236}">
                <a16:creationId xmlns:a16="http://schemas.microsoft.com/office/drawing/2014/main" id="{64C9CA44-4846-4340-3054-375757F40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67500"/>
            <a:ext cx="9144000" cy="1905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7349" name="Rectangle 80">
            <a:extLst>
              <a:ext uri="{FF2B5EF4-FFF2-40B4-BE49-F238E27FC236}">
                <a16:creationId xmlns:a16="http://schemas.microsoft.com/office/drawing/2014/main" id="{19EBCB4C-74C2-F61D-945B-1E567F967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68580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7350" name="Rectangle 81">
            <a:extLst>
              <a:ext uri="{FF2B5EF4-FFF2-40B4-BE49-F238E27FC236}">
                <a16:creationId xmlns:a16="http://schemas.microsoft.com/office/drawing/2014/main" id="{8689C7AD-20AE-E01C-129B-B6BF10156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0"/>
            <a:ext cx="228600" cy="68580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57351" name="Group 2">
            <a:extLst>
              <a:ext uri="{FF2B5EF4-FFF2-40B4-BE49-F238E27FC236}">
                <a16:creationId xmlns:a16="http://schemas.microsoft.com/office/drawing/2014/main" id="{035C5D10-ED42-5E38-E0F6-5BDD8B38D053}"/>
              </a:ext>
            </a:extLst>
          </p:cNvPr>
          <p:cNvGrpSpPr>
            <a:grpSpLocks/>
          </p:cNvGrpSpPr>
          <p:nvPr/>
        </p:nvGrpSpPr>
        <p:grpSpPr bwMode="auto">
          <a:xfrm>
            <a:off x="1631950" y="4803775"/>
            <a:ext cx="5394325" cy="1381125"/>
            <a:chOff x="1632030" y="4803494"/>
            <a:chExt cx="5394245" cy="1381406"/>
          </a:xfrm>
        </p:grpSpPr>
        <p:grpSp>
          <p:nvGrpSpPr>
            <p:cNvPr id="57352" name="Group 64">
              <a:extLst>
                <a:ext uri="{FF2B5EF4-FFF2-40B4-BE49-F238E27FC236}">
                  <a16:creationId xmlns:a16="http://schemas.microsoft.com/office/drawing/2014/main" id="{B1551705-BA14-8413-6DC0-93D769B5D7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313" y="5619750"/>
              <a:ext cx="5033962" cy="565150"/>
              <a:chOff x="1267" y="3780"/>
              <a:chExt cx="3171" cy="356"/>
            </a:xfrm>
          </p:grpSpPr>
          <p:grpSp>
            <p:nvGrpSpPr>
              <p:cNvPr id="57362" name="Group 40">
                <a:extLst>
                  <a:ext uri="{FF2B5EF4-FFF2-40B4-BE49-F238E27FC236}">
                    <a16:creationId xmlns:a16="http://schemas.microsoft.com/office/drawing/2014/main" id="{C78E3BE5-0645-FBFC-4639-63E609A790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87" y="3780"/>
                <a:ext cx="2805" cy="87"/>
                <a:chOff x="1248" y="3516"/>
                <a:chExt cx="1632" cy="204"/>
              </a:xfrm>
            </p:grpSpPr>
            <p:sp>
              <p:nvSpPr>
                <p:cNvPr id="57372" name="Rectangle 24">
                  <a:extLst>
                    <a:ext uri="{FF2B5EF4-FFF2-40B4-BE49-F238E27FC236}">
                      <a16:creationId xmlns:a16="http://schemas.microsoft.com/office/drawing/2014/main" id="{C4F1B6EC-D149-AF97-6954-548C9AA51A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3516"/>
                  <a:ext cx="204" cy="2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7373" name="Rectangle 25">
                  <a:extLst>
                    <a:ext uri="{FF2B5EF4-FFF2-40B4-BE49-F238E27FC236}">
                      <a16:creationId xmlns:a16="http://schemas.microsoft.com/office/drawing/2014/main" id="{0F71BC02-3634-E17E-B906-4C948241C8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2" y="3516"/>
                  <a:ext cx="204" cy="2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7374" name="Rectangle 26">
                  <a:extLst>
                    <a:ext uri="{FF2B5EF4-FFF2-40B4-BE49-F238E27FC236}">
                      <a16:creationId xmlns:a16="http://schemas.microsoft.com/office/drawing/2014/main" id="{73D74942-70EF-358E-57C5-A4E290AAE3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6" y="3516"/>
                  <a:ext cx="204" cy="2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7375" name="Rectangle 27">
                  <a:extLst>
                    <a:ext uri="{FF2B5EF4-FFF2-40B4-BE49-F238E27FC236}">
                      <a16:creationId xmlns:a16="http://schemas.microsoft.com/office/drawing/2014/main" id="{1901FFFD-A7C8-86AB-492F-36627D20FC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60" y="3516"/>
                  <a:ext cx="204" cy="2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7376" name="Rectangle 28">
                  <a:extLst>
                    <a:ext uri="{FF2B5EF4-FFF2-40B4-BE49-F238E27FC236}">
                      <a16:creationId xmlns:a16="http://schemas.microsoft.com/office/drawing/2014/main" id="{63E7A6D6-8333-7D0F-8C63-78D4DEF77B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3516"/>
                  <a:ext cx="204" cy="2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7377" name="Rectangle 29">
                  <a:extLst>
                    <a:ext uri="{FF2B5EF4-FFF2-40B4-BE49-F238E27FC236}">
                      <a16:creationId xmlns:a16="http://schemas.microsoft.com/office/drawing/2014/main" id="{EE8F77F5-3316-357B-272C-1CF645A60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68" y="3516"/>
                  <a:ext cx="204" cy="2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7378" name="Rectangle 30">
                  <a:extLst>
                    <a:ext uri="{FF2B5EF4-FFF2-40B4-BE49-F238E27FC236}">
                      <a16:creationId xmlns:a16="http://schemas.microsoft.com/office/drawing/2014/main" id="{DBFB3884-BA8D-E76C-AB5E-40C3443EE7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72" y="3516"/>
                  <a:ext cx="204" cy="2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7379" name="Rectangle 31">
                  <a:extLst>
                    <a:ext uri="{FF2B5EF4-FFF2-40B4-BE49-F238E27FC236}">
                      <a16:creationId xmlns:a16="http://schemas.microsoft.com/office/drawing/2014/main" id="{53DA5138-7754-7FFD-FA39-F444C01E16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76" y="3516"/>
                  <a:ext cx="204" cy="2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7363" name="Text Box 41">
                <a:extLst>
                  <a:ext uri="{FF2B5EF4-FFF2-40B4-BE49-F238E27FC236}">
                    <a16:creationId xmlns:a16="http://schemas.microsoft.com/office/drawing/2014/main" id="{AAB513DE-2B69-C2A4-DBC2-58A5B1AA49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7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4</a:t>
                </a:r>
              </a:p>
            </p:txBody>
          </p:sp>
          <p:sp>
            <p:nvSpPr>
              <p:cNvPr id="57364" name="Text Box 42">
                <a:extLst>
                  <a:ext uri="{FF2B5EF4-FFF2-40B4-BE49-F238E27FC236}">
                    <a16:creationId xmlns:a16="http://schemas.microsoft.com/office/drawing/2014/main" id="{FBBC431E-6447-008F-D14A-330600020B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3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5</a:t>
                </a:r>
              </a:p>
            </p:txBody>
          </p:sp>
          <p:sp>
            <p:nvSpPr>
              <p:cNvPr id="57365" name="Text Box 43">
                <a:extLst>
                  <a:ext uri="{FF2B5EF4-FFF2-40B4-BE49-F238E27FC236}">
                    <a16:creationId xmlns:a16="http://schemas.microsoft.com/office/drawing/2014/main" id="{B484FC00-079E-7FDA-0DD2-8006433BAB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6</a:t>
                </a:r>
              </a:p>
            </p:txBody>
          </p:sp>
          <p:sp>
            <p:nvSpPr>
              <p:cNvPr id="57366" name="Text Box 44">
                <a:extLst>
                  <a:ext uri="{FF2B5EF4-FFF2-40B4-BE49-F238E27FC236}">
                    <a16:creationId xmlns:a16="http://schemas.microsoft.com/office/drawing/2014/main" id="{39771A8C-289F-6639-3EB8-B4845BD605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7</a:t>
                </a:r>
              </a:p>
            </p:txBody>
          </p:sp>
          <p:sp>
            <p:nvSpPr>
              <p:cNvPr id="57367" name="Text Box 45">
                <a:extLst>
                  <a:ext uri="{FF2B5EF4-FFF2-40B4-BE49-F238E27FC236}">
                    <a16:creationId xmlns:a16="http://schemas.microsoft.com/office/drawing/2014/main" id="{1B7F15CF-C413-A833-AF86-75B8A20008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0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8</a:t>
                </a:r>
              </a:p>
            </p:txBody>
          </p:sp>
          <p:sp>
            <p:nvSpPr>
              <p:cNvPr id="57368" name="Text Box 46">
                <a:extLst>
                  <a:ext uri="{FF2B5EF4-FFF2-40B4-BE49-F238E27FC236}">
                    <a16:creationId xmlns:a16="http://schemas.microsoft.com/office/drawing/2014/main" id="{B910ADB5-25C6-B85D-EE67-F888AEE86F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9</a:t>
                </a:r>
              </a:p>
            </p:txBody>
          </p:sp>
          <p:sp>
            <p:nvSpPr>
              <p:cNvPr id="57369" name="Text Box 47">
                <a:extLst>
                  <a:ext uri="{FF2B5EF4-FFF2-40B4-BE49-F238E27FC236}">
                    <a16:creationId xmlns:a16="http://schemas.microsoft.com/office/drawing/2014/main" id="{1CE9FB3C-6BC9-6DFC-2EE5-6B773E7771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1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10</a:t>
                </a:r>
              </a:p>
            </p:txBody>
          </p:sp>
          <p:sp>
            <p:nvSpPr>
              <p:cNvPr id="57370" name="Text Box 48">
                <a:extLst>
                  <a:ext uri="{FF2B5EF4-FFF2-40B4-BE49-F238E27FC236}">
                    <a16:creationId xmlns:a16="http://schemas.microsoft.com/office/drawing/2014/main" id="{37177AAB-B92F-05F8-C2E6-10B05907F3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7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11</a:t>
                </a:r>
              </a:p>
            </p:txBody>
          </p:sp>
          <p:sp>
            <p:nvSpPr>
              <p:cNvPr id="57371" name="Text Box 49">
                <a:extLst>
                  <a:ext uri="{FF2B5EF4-FFF2-40B4-BE49-F238E27FC236}">
                    <a16:creationId xmlns:a16="http://schemas.microsoft.com/office/drawing/2014/main" id="{15A6DC22-30F6-97E2-6F12-9D53C3ABD8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3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12</a:t>
                </a:r>
              </a:p>
            </p:txBody>
          </p:sp>
        </p:grpSp>
        <p:sp>
          <p:nvSpPr>
            <p:cNvPr id="57353" name="Line 50">
              <a:extLst>
                <a:ext uri="{FF2B5EF4-FFF2-40B4-BE49-F238E27FC236}">
                  <a16:creationId xmlns:a16="http://schemas.microsoft.com/office/drawing/2014/main" id="{E3D19097-3C26-AAF1-EBB6-084D711B35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0075" y="5029200"/>
              <a:ext cx="0" cy="39052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aa-ET"/>
            </a:p>
          </p:txBody>
        </p:sp>
        <p:sp>
          <p:nvSpPr>
            <p:cNvPr id="57354" name="Rectangle 56">
              <a:extLst>
                <a:ext uri="{FF2B5EF4-FFF2-40B4-BE49-F238E27FC236}">
                  <a16:creationId xmlns:a16="http://schemas.microsoft.com/office/drawing/2014/main" id="{D12D1A42-3449-2073-6FBA-8B1A0EE86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413" y="5029200"/>
              <a:ext cx="1919287" cy="39052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7355" name="Group 60">
              <a:extLst>
                <a:ext uri="{FF2B5EF4-FFF2-40B4-BE49-F238E27FC236}">
                  <a16:creationId xmlns:a16="http://schemas.microsoft.com/office/drawing/2014/main" id="{8E29A73E-1DE2-D4DA-99D6-DD05A5FB72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9163" y="5111750"/>
              <a:ext cx="869950" cy="241300"/>
              <a:chOff x="1387" y="3460"/>
              <a:chExt cx="572" cy="152"/>
            </a:xfrm>
          </p:grpSpPr>
          <p:sp>
            <p:nvSpPr>
              <p:cNvPr id="57360" name="Line 57">
                <a:extLst>
                  <a:ext uri="{FF2B5EF4-FFF2-40B4-BE49-F238E27FC236}">
                    <a16:creationId xmlns:a16="http://schemas.microsoft.com/office/drawing/2014/main" id="{6A52F1F9-4DFC-C7D8-B701-4CFE5078E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7" y="3538"/>
                <a:ext cx="5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7361" name="Line 59">
                <a:extLst>
                  <a:ext uri="{FF2B5EF4-FFF2-40B4-BE49-F238E27FC236}">
                    <a16:creationId xmlns:a16="http://schemas.microsoft.com/office/drawing/2014/main" id="{1A273C22-B186-31B2-55AB-160CAF362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8" y="3460"/>
                <a:ext cx="0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</p:grpSp>
        <p:grpSp>
          <p:nvGrpSpPr>
            <p:cNvPr id="57356" name="Group 63">
              <a:extLst>
                <a:ext uri="{FF2B5EF4-FFF2-40B4-BE49-F238E27FC236}">
                  <a16:creationId xmlns:a16="http://schemas.microsoft.com/office/drawing/2014/main" id="{E7D309FD-B0A9-B659-43C0-165232932F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5700" y="5092700"/>
              <a:ext cx="1651000" cy="279400"/>
              <a:chOff x="3140" y="3448"/>
              <a:chExt cx="1040" cy="176"/>
            </a:xfrm>
          </p:grpSpPr>
          <p:sp>
            <p:nvSpPr>
              <p:cNvPr id="57358" name="Line 61">
                <a:extLst>
                  <a:ext uri="{FF2B5EF4-FFF2-40B4-BE49-F238E27FC236}">
                    <a16:creationId xmlns:a16="http://schemas.microsoft.com/office/drawing/2014/main" id="{C396927D-6046-21F3-0C31-2C05307520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0" y="3540"/>
                <a:ext cx="10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7359" name="Line 62">
                <a:extLst>
                  <a:ext uri="{FF2B5EF4-FFF2-40B4-BE49-F238E27FC236}">
                    <a16:creationId xmlns:a16="http://schemas.microsoft.com/office/drawing/2014/main" id="{A90885A4-92F1-3EB9-0302-EC107F435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2" y="3448"/>
                <a:ext cx="0" cy="1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</p:grpSp>
        <p:sp>
          <p:nvSpPr>
            <p:cNvPr id="57357" name="TextBox 1">
              <a:extLst>
                <a:ext uri="{FF2B5EF4-FFF2-40B4-BE49-F238E27FC236}">
                  <a16:creationId xmlns:a16="http://schemas.microsoft.com/office/drawing/2014/main" id="{1C1B634B-9D52-E366-AF33-3AEB7AF27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030" y="4803494"/>
              <a:ext cx="1847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aa-ET" altLang="aa-ET"/>
            </a:p>
          </p:txBody>
        </p:sp>
      </p:grpSp>
    </p:spTree>
    <p:extLst>
      <p:ext uri="{BB962C8B-B14F-4D97-AF65-F5344CB8AC3E}">
        <p14:creationId xmlns:p14="http://schemas.microsoft.com/office/powerpoint/2010/main" val="76389285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62" name="Group 46">
            <a:extLst>
              <a:ext uri="{FF2B5EF4-FFF2-40B4-BE49-F238E27FC236}">
                <a16:creationId xmlns:a16="http://schemas.microsoft.com/office/drawing/2014/main" id="{5E1D91DA-C118-5585-B514-786176EA13CF}"/>
              </a:ext>
            </a:extLst>
          </p:cNvPr>
          <p:cNvGrpSpPr>
            <a:grpSpLocks/>
          </p:cNvGrpSpPr>
          <p:nvPr/>
        </p:nvGrpSpPr>
        <p:grpSpPr bwMode="auto">
          <a:xfrm>
            <a:off x="1690688" y="1952625"/>
            <a:ext cx="5307012" cy="2543175"/>
            <a:chOff x="1080" y="1230"/>
            <a:chExt cx="3343" cy="1602"/>
          </a:xfrm>
        </p:grpSpPr>
        <p:grpSp>
          <p:nvGrpSpPr>
            <p:cNvPr id="58420" name="Group 2">
              <a:extLst>
                <a:ext uri="{FF2B5EF4-FFF2-40B4-BE49-F238E27FC236}">
                  <a16:creationId xmlns:a16="http://schemas.microsoft.com/office/drawing/2014/main" id="{C9AC99F1-8F12-5D5E-D9CE-6D2FB4D08E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2" y="1236"/>
              <a:ext cx="891" cy="1559"/>
              <a:chOff x="3652" y="1908"/>
              <a:chExt cx="891" cy="1559"/>
            </a:xfrm>
          </p:grpSpPr>
          <p:grpSp>
            <p:nvGrpSpPr>
              <p:cNvPr id="58433" name="Group 3">
                <a:extLst>
                  <a:ext uri="{FF2B5EF4-FFF2-40B4-BE49-F238E27FC236}">
                    <a16:creationId xmlns:a16="http://schemas.microsoft.com/office/drawing/2014/main" id="{E09F99AB-344A-9261-A279-2A6418BE20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2" y="2202"/>
                <a:ext cx="891" cy="1265"/>
                <a:chOff x="3652" y="2202"/>
                <a:chExt cx="891" cy="1265"/>
              </a:xfrm>
            </p:grpSpPr>
            <p:sp>
              <p:nvSpPr>
                <p:cNvPr id="58435" name="Oval 4">
                  <a:extLst>
                    <a:ext uri="{FF2B5EF4-FFF2-40B4-BE49-F238E27FC236}">
                      <a16:creationId xmlns:a16="http://schemas.microsoft.com/office/drawing/2014/main" id="{C8EC80C0-55E4-A5E8-054E-E07D715772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42" y="2202"/>
                  <a:ext cx="366" cy="30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79" name="Text Box 5">
                  <a:extLst>
                    <a:ext uri="{FF2B5EF4-FFF2-40B4-BE49-F238E27FC236}">
                      <a16:creationId xmlns:a16="http://schemas.microsoft.com/office/drawing/2014/main" id="{F1F70A86-C489-A17B-D563-B2140B46465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2" y="2769"/>
                  <a:ext cx="891" cy="698"/>
                </a:xfrm>
                <a:prstGeom prst="rect">
                  <a:avLst/>
                </a:prstGeom>
                <a:gradFill rotWithShape="0"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GB" altLang="en-US" sz="2200" b="1" dirty="0">
                      <a:solidFill>
                        <a:schemeClr val="accent1">
                          <a:lumMod val="50000"/>
                        </a:schemeClr>
                      </a:solidFill>
                      <a:latin typeface="Comic Sans MS" panose="030F0902030302020204" pitchFamily="66" charset="0"/>
                    </a:rPr>
                    <a:t>Upper Quartile = 10 </a:t>
                  </a:r>
                </a:p>
              </p:txBody>
            </p:sp>
            <p:sp>
              <p:nvSpPr>
                <p:cNvPr id="58437" name="Line 6">
                  <a:extLst>
                    <a:ext uri="{FF2B5EF4-FFF2-40B4-BE49-F238E27FC236}">
                      <a16:creationId xmlns:a16="http://schemas.microsoft.com/office/drawing/2014/main" id="{AD81EE40-3B26-92E7-D17B-9944C0BB9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34" y="2502"/>
                  <a:ext cx="0" cy="25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</p:grpSp>
          <p:sp>
            <p:nvSpPr>
              <p:cNvPr id="13377" name="Text Box 7">
                <a:extLst>
                  <a:ext uri="{FF2B5EF4-FFF2-40B4-BE49-F238E27FC236}">
                    <a16:creationId xmlns:a16="http://schemas.microsoft.com/office/drawing/2014/main" id="{C8C32AD3-8264-C873-8F5E-B7DCA3F77C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0" y="1908"/>
                <a:ext cx="372" cy="250"/>
              </a:xfrm>
              <a:prstGeom prst="rect">
                <a:avLst/>
              </a:prstGeom>
              <a:gradFill rotWithShape="0"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Q</a:t>
                </a:r>
                <a:r>
                  <a:rPr lang="en-GB" altLang="en-US" sz="20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3</a:t>
                </a:r>
                <a:endParaRPr lang="en-GB" altLang="en-US" sz="2000" b="1" dirty="0">
                  <a:solidFill>
                    <a:schemeClr val="accent1">
                      <a:lumMod val="50000"/>
                    </a:schemeClr>
                  </a:solidFill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58421" name="Group 8">
              <a:extLst>
                <a:ext uri="{FF2B5EF4-FFF2-40B4-BE49-F238E27FC236}">
                  <a16:creationId xmlns:a16="http://schemas.microsoft.com/office/drawing/2014/main" id="{223E5D7C-599E-08FC-C1D2-A4839764FB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0" y="1254"/>
              <a:ext cx="891" cy="1578"/>
              <a:chOff x="1200" y="1926"/>
              <a:chExt cx="891" cy="1578"/>
            </a:xfrm>
          </p:grpSpPr>
          <p:grpSp>
            <p:nvGrpSpPr>
              <p:cNvPr id="58428" name="Group 9">
                <a:extLst>
                  <a:ext uri="{FF2B5EF4-FFF2-40B4-BE49-F238E27FC236}">
                    <a16:creationId xmlns:a16="http://schemas.microsoft.com/office/drawing/2014/main" id="{CD0F1625-9295-AC1F-7254-999917EF04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0" y="2202"/>
                <a:ext cx="891" cy="1302"/>
                <a:chOff x="1200" y="2202"/>
                <a:chExt cx="891" cy="1302"/>
              </a:xfrm>
            </p:grpSpPr>
            <p:sp>
              <p:nvSpPr>
                <p:cNvPr id="58430" name="Oval 10">
                  <a:extLst>
                    <a:ext uri="{FF2B5EF4-FFF2-40B4-BE49-F238E27FC236}">
                      <a16:creationId xmlns:a16="http://schemas.microsoft.com/office/drawing/2014/main" id="{459C3287-D941-9ACA-D324-18DDB7A32E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8" y="2202"/>
                  <a:ext cx="366" cy="30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74" name="Text Box 11">
                  <a:extLst>
                    <a:ext uri="{FF2B5EF4-FFF2-40B4-BE49-F238E27FC236}">
                      <a16:creationId xmlns:a16="http://schemas.microsoft.com/office/drawing/2014/main" id="{4234D93E-1C54-8F7F-9AA2-B8D481D0EBB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0" y="2806"/>
                  <a:ext cx="891" cy="698"/>
                </a:xfrm>
                <a:prstGeom prst="rect">
                  <a:avLst/>
                </a:prstGeom>
                <a:gradFill rotWithShape="0"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GB" altLang="en-US" sz="2200" b="1" dirty="0">
                      <a:solidFill>
                        <a:schemeClr val="accent1">
                          <a:lumMod val="50000"/>
                        </a:schemeClr>
                      </a:solidFill>
                      <a:latin typeface="Comic Sans MS" panose="030F0902030302020204" pitchFamily="66" charset="0"/>
                    </a:rPr>
                    <a:t>Lower Quartile = 4 </a:t>
                  </a:r>
                </a:p>
              </p:txBody>
            </p:sp>
            <p:sp>
              <p:nvSpPr>
                <p:cNvPr id="58432" name="Line 12">
                  <a:extLst>
                    <a:ext uri="{FF2B5EF4-FFF2-40B4-BE49-F238E27FC236}">
                      <a16:creationId xmlns:a16="http://schemas.microsoft.com/office/drawing/2014/main" id="{DBF7E4E0-2632-A340-7940-8384B93359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44" y="2490"/>
                  <a:ext cx="0" cy="30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</p:grpSp>
          <p:sp>
            <p:nvSpPr>
              <p:cNvPr id="13372" name="Text Box 13">
                <a:extLst>
                  <a:ext uri="{FF2B5EF4-FFF2-40B4-BE49-F238E27FC236}">
                    <a16:creationId xmlns:a16="http://schemas.microsoft.com/office/drawing/2014/main" id="{B427AC0B-1A08-5FF5-BA15-6B4E759CC5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1926"/>
                <a:ext cx="372" cy="250"/>
              </a:xfrm>
              <a:prstGeom prst="rect">
                <a:avLst/>
              </a:prstGeom>
              <a:gradFill rotWithShape="0"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Q</a:t>
                </a:r>
                <a:r>
                  <a:rPr lang="en-GB" altLang="en-US" sz="20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1</a:t>
                </a:r>
                <a:endParaRPr lang="en-GB" altLang="en-US" sz="2000" b="1" dirty="0">
                  <a:solidFill>
                    <a:schemeClr val="accent1">
                      <a:lumMod val="50000"/>
                    </a:schemeClr>
                  </a:solidFill>
                  <a:latin typeface="Comic Sans MS" panose="030F0902030302020204" pitchFamily="66" charset="0"/>
                </a:endParaRPr>
              </a:p>
            </p:txBody>
          </p:sp>
        </p:grpSp>
        <p:grpSp>
          <p:nvGrpSpPr>
            <p:cNvPr id="58422" name="Group 14">
              <a:extLst>
                <a:ext uri="{FF2B5EF4-FFF2-40B4-BE49-F238E27FC236}">
                  <a16:creationId xmlns:a16="http://schemas.microsoft.com/office/drawing/2014/main" id="{4A011650-7E9F-D7A6-807A-3B414EFCD2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5" y="1230"/>
              <a:ext cx="812" cy="1579"/>
              <a:chOff x="2445" y="1902"/>
              <a:chExt cx="812" cy="1579"/>
            </a:xfrm>
          </p:grpSpPr>
          <p:grpSp>
            <p:nvGrpSpPr>
              <p:cNvPr id="58423" name="Group 15">
                <a:extLst>
                  <a:ext uri="{FF2B5EF4-FFF2-40B4-BE49-F238E27FC236}">
                    <a16:creationId xmlns:a16="http://schemas.microsoft.com/office/drawing/2014/main" id="{1E62BB09-98BD-D56A-5A6A-B309269F6A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5" y="2196"/>
                <a:ext cx="812" cy="1285"/>
                <a:chOff x="2445" y="2196"/>
                <a:chExt cx="812" cy="1285"/>
              </a:xfrm>
            </p:grpSpPr>
            <p:sp>
              <p:nvSpPr>
                <p:cNvPr id="58425" name="Oval 16">
                  <a:extLst>
                    <a:ext uri="{FF2B5EF4-FFF2-40B4-BE49-F238E27FC236}">
                      <a16:creationId xmlns:a16="http://schemas.microsoft.com/office/drawing/2014/main" id="{3C857A02-5BAF-43CB-1C8F-3CA784EC72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2" y="2196"/>
                  <a:ext cx="360" cy="30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26" name="Line 17">
                  <a:extLst>
                    <a:ext uri="{FF2B5EF4-FFF2-40B4-BE49-F238E27FC236}">
                      <a16:creationId xmlns:a16="http://schemas.microsoft.com/office/drawing/2014/main" id="{28DD7564-A90F-BB2B-9520-8301A1C2EA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4" y="2468"/>
                  <a:ext cx="0" cy="52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  <p:sp>
              <p:nvSpPr>
                <p:cNvPr id="13370" name="Text Box 18">
                  <a:extLst>
                    <a:ext uri="{FF2B5EF4-FFF2-40B4-BE49-F238E27FC236}">
                      <a16:creationId xmlns:a16="http://schemas.microsoft.com/office/drawing/2014/main" id="{87B104D9-30D4-DA36-01CA-B63E800628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5" y="3001"/>
                  <a:ext cx="812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A8A877"/>
                    </a:gs>
                    <a:gs pos="50000">
                      <a:srgbClr val="FDFDB3"/>
                    </a:gs>
                    <a:gs pos="100000">
                      <a:srgbClr val="A8A877"/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defRPr/>
                  </a:pPr>
                  <a:r>
                    <a:rPr lang="en-GB" altLang="en-US" sz="2200" b="1" dirty="0">
                      <a:solidFill>
                        <a:schemeClr val="accent1">
                          <a:lumMod val="50000"/>
                        </a:schemeClr>
                      </a:solidFill>
                      <a:latin typeface="Comic Sans MS" panose="030F0902030302020204" pitchFamily="66" charset="0"/>
                    </a:rPr>
                    <a:t>Median = 8</a:t>
                  </a:r>
                </a:p>
              </p:txBody>
            </p:sp>
          </p:grpSp>
          <p:sp>
            <p:nvSpPr>
              <p:cNvPr id="13367" name="Text Box 19">
                <a:extLst>
                  <a:ext uri="{FF2B5EF4-FFF2-40B4-BE49-F238E27FC236}">
                    <a16:creationId xmlns:a16="http://schemas.microsoft.com/office/drawing/2014/main" id="{4C13AADF-3479-18B6-5ABE-0FDD1F41EC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2" y="1902"/>
                <a:ext cx="372" cy="250"/>
              </a:xfrm>
              <a:prstGeom prst="rect">
                <a:avLst/>
              </a:prstGeom>
              <a:gradFill rotWithShape="0">
                <a:gsLst>
                  <a:gs pos="0">
                    <a:srgbClr val="A8A877"/>
                  </a:gs>
                  <a:gs pos="50000">
                    <a:srgbClr val="FDFDB3"/>
                  </a:gs>
                  <a:gs pos="100000">
                    <a:srgbClr val="A8A877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GB" alt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Q</a:t>
                </a:r>
                <a:r>
                  <a:rPr lang="en-GB" altLang="en-US" sz="20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Comic Sans MS" panose="030F0902030302020204" pitchFamily="66" charset="0"/>
                  </a:rPr>
                  <a:t>2</a:t>
                </a:r>
                <a:endParaRPr lang="en-GB" altLang="en-US" sz="2000" b="1" dirty="0">
                  <a:solidFill>
                    <a:schemeClr val="accent1">
                      <a:lumMod val="50000"/>
                    </a:schemeClr>
                  </a:solidFill>
                  <a:latin typeface="Comic Sans MS" panose="030F0902030302020204" pitchFamily="66" charset="0"/>
                </a:endParaRPr>
              </a:p>
            </p:txBody>
          </p:sp>
        </p:grpSp>
      </p:grpSp>
      <p:grpSp>
        <p:nvGrpSpPr>
          <p:cNvPr id="9326" name="Group 110">
            <a:extLst>
              <a:ext uri="{FF2B5EF4-FFF2-40B4-BE49-F238E27FC236}">
                <a16:creationId xmlns:a16="http://schemas.microsoft.com/office/drawing/2014/main" id="{E8862153-42AC-5A82-0A95-32F07E0115BC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77850"/>
            <a:ext cx="8248650" cy="2317750"/>
            <a:chOff x="384" y="364"/>
            <a:chExt cx="5196" cy="1460"/>
          </a:xfrm>
        </p:grpSpPr>
        <p:sp>
          <p:nvSpPr>
            <p:cNvPr id="58412" name="Text Box 20">
              <a:extLst>
                <a:ext uri="{FF2B5EF4-FFF2-40B4-BE49-F238E27FC236}">
                  <a16:creationId xmlns:a16="http://schemas.microsoft.com/office/drawing/2014/main" id="{33229155-C98B-5D8E-7E53-0E823B6FD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" y="1536"/>
              <a:ext cx="46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400">
                  <a:latin typeface="Comic Sans MS" panose="030F0902030302020204" pitchFamily="66" charset="0"/>
                </a:rPr>
                <a:t>3,    4,    4,    6,    8,    8,    8,    9,     10,    10,    15, </a:t>
              </a:r>
            </a:p>
          </p:txBody>
        </p:sp>
        <p:sp>
          <p:nvSpPr>
            <p:cNvPr id="58413" name="Text Box 38">
              <a:extLst>
                <a:ext uri="{FF2B5EF4-FFF2-40B4-BE49-F238E27FC236}">
                  <a16:creationId xmlns:a16="http://schemas.microsoft.com/office/drawing/2014/main" id="{BF6CAC7C-E38F-4215-6344-70AEDEEC1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756"/>
              <a:ext cx="519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200">
                  <a:solidFill>
                    <a:schemeClr val="accent2"/>
                  </a:solidFill>
                  <a:latin typeface="Comic Sans MS" panose="030F0902030302020204" pitchFamily="66" charset="0"/>
                </a:rPr>
                <a:t>Example 2</a:t>
              </a:r>
              <a:r>
                <a:rPr lang="en-GB" altLang="en-US" sz="2200">
                  <a:latin typeface="Comic Sans MS" panose="030F0902030302020204" pitchFamily="66" charset="0"/>
                </a:rPr>
                <a:t>:  Draw a Box plot for the data below</a:t>
              </a:r>
            </a:p>
          </p:txBody>
        </p:sp>
        <p:grpSp>
          <p:nvGrpSpPr>
            <p:cNvPr id="58414" name="Group 109">
              <a:extLst>
                <a:ext uri="{FF2B5EF4-FFF2-40B4-BE49-F238E27FC236}">
                  <a16:creationId xmlns:a16="http://schemas.microsoft.com/office/drawing/2014/main" id="{0B8B26DE-4331-84CB-CAB6-15BA042964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" y="364"/>
              <a:ext cx="4359" cy="288"/>
              <a:chOff x="612" y="364"/>
              <a:chExt cx="4359" cy="288"/>
            </a:xfrm>
          </p:grpSpPr>
          <p:sp>
            <p:nvSpPr>
              <p:cNvPr id="58415" name="Text Box 40">
                <a:extLst>
                  <a:ext uri="{FF2B5EF4-FFF2-40B4-BE49-F238E27FC236}">
                    <a16:creationId xmlns:a16="http://schemas.microsoft.com/office/drawing/2014/main" id="{D533D49E-2A2C-280B-945C-52F0866FA4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3" y="364"/>
                <a:ext cx="2311" cy="2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400">
                    <a:solidFill>
                      <a:srgbClr val="FFFF99"/>
                    </a:solidFill>
                    <a:latin typeface="Comic Sans MS" panose="030F0902030302020204" pitchFamily="66" charset="0"/>
                  </a:rPr>
                  <a:t>Drawing a Box Plot. </a:t>
                </a:r>
              </a:p>
            </p:txBody>
          </p:sp>
          <p:sp>
            <p:nvSpPr>
              <p:cNvPr id="58416" name="Line 41">
                <a:extLst>
                  <a:ext uri="{FF2B5EF4-FFF2-40B4-BE49-F238E27FC236}">
                    <a16:creationId xmlns:a16="http://schemas.microsoft.com/office/drawing/2014/main" id="{4CF7E240-10BE-176D-A225-5CED29A79D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1" y="516"/>
                <a:ext cx="97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8417" name="Line 42">
                <a:extLst>
                  <a:ext uri="{FF2B5EF4-FFF2-40B4-BE49-F238E27FC236}">
                    <a16:creationId xmlns:a16="http://schemas.microsoft.com/office/drawing/2014/main" id="{B63D625F-17B6-399F-7BA9-06A2807E12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395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8418" name="Line 43">
                <a:extLst>
                  <a:ext uri="{FF2B5EF4-FFF2-40B4-BE49-F238E27FC236}">
                    <a16:creationId xmlns:a16="http://schemas.microsoft.com/office/drawing/2014/main" id="{A9FD4F9F-8DF9-1465-1081-501D470E0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4" y="511"/>
                <a:ext cx="10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8419" name="Line 44">
                <a:extLst>
                  <a:ext uri="{FF2B5EF4-FFF2-40B4-BE49-F238E27FC236}">
                    <a16:creationId xmlns:a16="http://schemas.microsoft.com/office/drawing/2014/main" id="{E3719EE3-2701-366D-01F7-6870FB0E76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2" y="377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</p:grpSp>
      </p:grpSp>
      <p:grpSp>
        <p:nvGrpSpPr>
          <p:cNvPr id="58371" name="Group 1">
            <a:extLst>
              <a:ext uri="{FF2B5EF4-FFF2-40B4-BE49-F238E27FC236}">
                <a16:creationId xmlns:a16="http://schemas.microsoft.com/office/drawing/2014/main" id="{2216BB9C-6D48-DCDC-C6F0-9FF330B0081E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4953000"/>
            <a:ext cx="7218362" cy="1155700"/>
            <a:chOff x="1116013" y="4953000"/>
            <a:chExt cx="7218362" cy="1155700"/>
          </a:xfrm>
        </p:grpSpPr>
        <p:sp>
          <p:nvSpPr>
            <p:cNvPr id="58376" name="Line 66">
              <a:extLst>
                <a:ext uri="{FF2B5EF4-FFF2-40B4-BE49-F238E27FC236}">
                  <a16:creationId xmlns:a16="http://schemas.microsoft.com/office/drawing/2014/main" id="{150FCDC7-9EEB-5781-2380-850D76CB76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6225" y="4953000"/>
              <a:ext cx="0" cy="39052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aa-ET"/>
            </a:p>
          </p:txBody>
        </p:sp>
        <p:sp>
          <p:nvSpPr>
            <p:cNvPr id="58377" name="Rectangle 67">
              <a:extLst>
                <a:ext uri="{FF2B5EF4-FFF2-40B4-BE49-F238E27FC236}">
                  <a16:creationId xmlns:a16="http://schemas.microsoft.com/office/drawing/2014/main" id="{FF37FBDE-E3FE-6199-3B94-2D7C9CCDC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4363" y="4953000"/>
              <a:ext cx="3319462" cy="39052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8378" name="Group 68">
              <a:extLst>
                <a:ext uri="{FF2B5EF4-FFF2-40B4-BE49-F238E27FC236}">
                  <a16:creationId xmlns:a16="http://schemas.microsoft.com/office/drawing/2014/main" id="{A4F23F06-FB2A-19B9-920C-8CF1C026F5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2388" y="5016500"/>
              <a:ext cx="565150" cy="241300"/>
              <a:chOff x="1387" y="3460"/>
              <a:chExt cx="572" cy="152"/>
            </a:xfrm>
          </p:grpSpPr>
          <p:sp>
            <p:nvSpPr>
              <p:cNvPr id="58410" name="Line 69">
                <a:extLst>
                  <a:ext uri="{FF2B5EF4-FFF2-40B4-BE49-F238E27FC236}">
                    <a16:creationId xmlns:a16="http://schemas.microsoft.com/office/drawing/2014/main" id="{74B0D079-69FA-8608-1451-2E32AFE01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7" y="3538"/>
                <a:ext cx="5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8411" name="Line 70">
                <a:extLst>
                  <a:ext uri="{FF2B5EF4-FFF2-40B4-BE49-F238E27FC236}">
                    <a16:creationId xmlns:a16="http://schemas.microsoft.com/office/drawing/2014/main" id="{D4EC2BFE-FFC9-9B42-16AE-9B802E63A0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8" y="3460"/>
                <a:ext cx="0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</p:grpSp>
        <p:grpSp>
          <p:nvGrpSpPr>
            <p:cNvPr id="58379" name="Group 88">
              <a:extLst>
                <a:ext uri="{FF2B5EF4-FFF2-40B4-BE49-F238E27FC236}">
                  <a16:creationId xmlns:a16="http://schemas.microsoft.com/office/drawing/2014/main" id="{49F1725E-D6D2-AE6C-E5DF-C0803505F5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2875" y="5026025"/>
              <a:ext cx="2774950" cy="279400"/>
              <a:chOff x="3290" y="3166"/>
              <a:chExt cx="1748" cy="176"/>
            </a:xfrm>
          </p:grpSpPr>
          <p:sp>
            <p:nvSpPr>
              <p:cNvPr id="58408" name="Line 72">
                <a:extLst>
                  <a:ext uri="{FF2B5EF4-FFF2-40B4-BE49-F238E27FC236}">
                    <a16:creationId xmlns:a16="http://schemas.microsoft.com/office/drawing/2014/main" id="{B6022544-B104-3B9D-27A8-D3EEECA68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3252"/>
                <a:ext cx="17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8409" name="Line 73">
                <a:extLst>
                  <a:ext uri="{FF2B5EF4-FFF2-40B4-BE49-F238E27FC236}">
                    <a16:creationId xmlns:a16="http://schemas.microsoft.com/office/drawing/2014/main" id="{44CEC48B-0118-E659-3525-AA94815A93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1" y="3166"/>
                <a:ext cx="0" cy="1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</p:grpSp>
        <p:grpSp>
          <p:nvGrpSpPr>
            <p:cNvPr id="58380" name="Group 89">
              <a:extLst>
                <a:ext uri="{FF2B5EF4-FFF2-40B4-BE49-F238E27FC236}">
                  <a16:creationId xmlns:a16="http://schemas.microsoft.com/office/drawing/2014/main" id="{AD67D391-49FE-77F8-D1F8-89D8C3A601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6013" y="5543550"/>
              <a:ext cx="7218362" cy="565150"/>
              <a:chOff x="703" y="3492"/>
              <a:chExt cx="4547" cy="356"/>
            </a:xfrm>
          </p:grpSpPr>
          <p:sp>
            <p:nvSpPr>
              <p:cNvPr id="58381" name="Text Box 57">
                <a:extLst>
                  <a:ext uri="{FF2B5EF4-FFF2-40B4-BE49-F238E27FC236}">
                    <a16:creationId xmlns:a16="http://schemas.microsoft.com/office/drawing/2014/main" id="{C70E3616-A1D2-95B0-C0B5-73E101049B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" y="3579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3</a:t>
                </a:r>
              </a:p>
            </p:txBody>
          </p:sp>
          <p:sp>
            <p:nvSpPr>
              <p:cNvPr id="58382" name="Text Box 58">
                <a:extLst>
                  <a:ext uri="{FF2B5EF4-FFF2-40B4-BE49-F238E27FC236}">
                    <a16:creationId xmlns:a16="http://schemas.microsoft.com/office/drawing/2014/main" id="{925F3A34-4F2B-4AA3-D6BA-9D423D5238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" y="3579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4</a:t>
                </a:r>
              </a:p>
            </p:txBody>
          </p:sp>
          <p:sp>
            <p:nvSpPr>
              <p:cNvPr id="58383" name="Text Box 59">
                <a:extLst>
                  <a:ext uri="{FF2B5EF4-FFF2-40B4-BE49-F238E27FC236}">
                    <a16:creationId xmlns:a16="http://schemas.microsoft.com/office/drawing/2014/main" id="{24135AA2-A15A-6EC2-5258-A78D369C8F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5" y="3579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5</a:t>
                </a:r>
              </a:p>
            </p:txBody>
          </p:sp>
          <p:sp>
            <p:nvSpPr>
              <p:cNvPr id="58384" name="Text Box 60">
                <a:extLst>
                  <a:ext uri="{FF2B5EF4-FFF2-40B4-BE49-F238E27FC236}">
                    <a16:creationId xmlns:a16="http://schemas.microsoft.com/office/drawing/2014/main" id="{EBB52668-2E78-C102-1B3E-B217D5695F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5" y="3579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6</a:t>
                </a:r>
              </a:p>
            </p:txBody>
          </p:sp>
          <p:sp>
            <p:nvSpPr>
              <p:cNvPr id="58385" name="Text Box 61">
                <a:extLst>
                  <a:ext uri="{FF2B5EF4-FFF2-40B4-BE49-F238E27FC236}">
                    <a16:creationId xmlns:a16="http://schemas.microsoft.com/office/drawing/2014/main" id="{2AC58DD1-43ED-28DA-A499-724E0559F5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6" y="3579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7</a:t>
                </a:r>
              </a:p>
            </p:txBody>
          </p:sp>
          <p:sp>
            <p:nvSpPr>
              <p:cNvPr id="58386" name="Text Box 62">
                <a:extLst>
                  <a:ext uri="{FF2B5EF4-FFF2-40B4-BE49-F238E27FC236}">
                    <a16:creationId xmlns:a16="http://schemas.microsoft.com/office/drawing/2014/main" id="{90BD793B-7422-84C9-9D61-D8C5292A1B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3579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8</a:t>
                </a:r>
              </a:p>
            </p:txBody>
          </p:sp>
          <p:sp>
            <p:nvSpPr>
              <p:cNvPr id="58387" name="Text Box 63">
                <a:extLst>
                  <a:ext uri="{FF2B5EF4-FFF2-40B4-BE49-F238E27FC236}">
                    <a16:creationId xmlns:a16="http://schemas.microsoft.com/office/drawing/2014/main" id="{CB6BB728-3958-0DFB-2B9F-401D5CBEFE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7" y="3579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9</a:t>
                </a:r>
              </a:p>
            </p:txBody>
          </p:sp>
          <p:sp>
            <p:nvSpPr>
              <p:cNvPr id="58388" name="Text Box 64">
                <a:extLst>
                  <a:ext uri="{FF2B5EF4-FFF2-40B4-BE49-F238E27FC236}">
                    <a16:creationId xmlns:a16="http://schemas.microsoft.com/office/drawing/2014/main" id="{D5DF739B-491C-CE01-EB92-1789B3CDD4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3" y="3579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10</a:t>
                </a:r>
              </a:p>
            </p:txBody>
          </p:sp>
          <p:sp>
            <p:nvSpPr>
              <p:cNvPr id="58389" name="Text Box 65">
                <a:extLst>
                  <a:ext uri="{FF2B5EF4-FFF2-40B4-BE49-F238E27FC236}">
                    <a16:creationId xmlns:a16="http://schemas.microsoft.com/office/drawing/2014/main" id="{95A07959-8AD6-5508-63AF-C37595E530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9" y="3579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11</a:t>
                </a:r>
              </a:p>
            </p:txBody>
          </p:sp>
          <p:grpSp>
            <p:nvGrpSpPr>
              <p:cNvPr id="58390" name="Group 83">
                <a:extLst>
                  <a:ext uri="{FF2B5EF4-FFF2-40B4-BE49-F238E27FC236}">
                    <a16:creationId xmlns:a16="http://schemas.microsoft.com/office/drawing/2014/main" id="{D67896BF-AAAA-83E9-034C-52EB984AB5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3" y="3492"/>
                <a:ext cx="4211" cy="87"/>
                <a:chOff x="1375" y="3540"/>
                <a:chExt cx="4211" cy="87"/>
              </a:xfrm>
            </p:grpSpPr>
            <p:grpSp>
              <p:nvGrpSpPr>
                <p:cNvPr id="58395" name="Group 48">
                  <a:extLst>
                    <a:ext uri="{FF2B5EF4-FFF2-40B4-BE49-F238E27FC236}">
                      <a16:creationId xmlns:a16="http://schemas.microsoft.com/office/drawing/2014/main" id="{105EB210-A9B8-535E-7CB5-7DE1A9990B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75" y="3540"/>
                  <a:ext cx="2805" cy="87"/>
                  <a:chOff x="1248" y="3516"/>
                  <a:chExt cx="1632" cy="204"/>
                </a:xfrm>
              </p:grpSpPr>
              <p:sp>
                <p:nvSpPr>
                  <p:cNvPr id="58400" name="Rectangle 49">
                    <a:extLst>
                      <a:ext uri="{FF2B5EF4-FFF2-40B4-BE49-F238E27FC236}">
                        <a16:creationId xmlns:a16="http://schemas.microsoft.com/office/drawing/2014/main" id="{FBC7E025-59B5-549D-ECB2-40F9694B1B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3516"/>
                    <a:ext cx="204" cy="20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401" name="Rectangle 50">
                    <a:extLst>
                      <a:ext uri="{FF2B5EF4-FFF2-40B4-BE49-F238E27FC236}">
                        <a16:creationId xmlns:a16="http://schemas.microsoft.com/office/drawing/2014/main" id="{818DDE14-144D-A271-F796-EE741AC025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52" y="3516"/>
                    <a:ext cx="204" cy="20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402" name="Rectangle 51">
                    <a:extLst>
                      <a:ext uri="{FF2B5EF4-FFF2-40B4-BE49-F238E27FC236}">
                        <a16:creationId xmlns:a16="http://schemas.microsoft.com/office/drawing/2014/main" id="{11695499-2841-19DF-3086-604C94774B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56" y="3516"/>
                    <a:ext cx="204" cy="20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403" name="Rectangle 52">
                    <a:extLst>
                      <a:ext uri="{FF2B5EF4-FFF2-40B4-BE49-F238E27FC236}">
                        <a16:creationId xmlns:a16="http://schemas.microsoft.com/office/drawing/2014/main" id="{B71FDBB0-A2CE-1B37-2DAE-A1E04834FB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60" y="3516"/>
                    <a:ext cx="204" cy="20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404" name="Rectangle 53">
                    <a:extLst>
                      <a:ext uri="{FF2B5EF4-FFF2-40B4-BE49-F238E27FC236}">
                        <a16:creationId xmlns:a16="http://schemas.microsoft.com/office/drawing/2014/main" id="{7495249B-1845-8B4E-22CC-FC018DA9F6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64" y="3516"/>
                    <a:ext cx="204" cy="20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405" name="Rectangle 54">
                    <a:extLst>
                      <a:ext uri="{FF2B5EF4-FFF2-40B4-BE49-F238E27FC236}">
                        <a16:creationId xmlns:a16="http://schemas.microsoft.com/office/drawing/2014/main" id="{B4A4DBC1-37F5-3761-49E5-C0F3534B78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68" y="3516"/>
                    <a:ext cx="204" cy="20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406" name="Rectangle 55">
                    <a:extLst>
                      <a:ext uri="{FF2B5EF4-FFF2-40B4-BE49-F238E27FC236}">
                        <a16:creationId xmlns:a16="http://schemas.microsoft.com/office/drawing/2014/main" id="{E9B60765-C01C-E002-D228-4BA37B1F58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72" y="3516"/>
                    <a:ext cx="204" cy="20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407" name="Rectangle 56">
                    <a:extLst>
                      <a:ext uri="{FF2B5EF4-FFF2-40B4-BE49-F238E27FC236}">
                        <a16:creationId xmlns:a16="http://schemas.microsoft.com/office/drawing/2014/main" id="{11345006-B18E-655F-1C09-0B9157FD6F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76" y="3516"/>
                    <a:ext cx="204" cy="20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8396" name="Rectangle 75">
                  <a:extLst>
                    <a:ext uri="{FF2B5EF4-FFF2-40B4-BE49-F238E27FC236}">
                      <a16:creationId xmlns:a16="http://schemas.microsoft.com/office/drawing/2014/main" id="{1115D8B3-7642-A554-AD02-B6B9FD24D6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3" y="3540"/>
                  <a:ext cx="351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97" name="Rectangle 76">
                  <a:extLst>
                    <a:ext uri="{FF2B5EF4-FFF2-40B4-BE49-F238E27FC236}">
                      <a16:creationId xmlns:a16="http://schemas.microsoft.com/office/drawing/2014/main" id="{F56EE500-B684-7EED-B631-4429DD4E68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34" y="3540"/>
                  <a:ext cx="350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98" name="Rectangle 77">
                  <a:extLst>
                    <a:ext uri="{FF2B5EF4-FFF2-40B4-BE49-F238E27FC236}">
                      <a16:creationId xmlns:a16="http://schemas.microsoft.com/office/drawing/2014/main" id="{39E1597E-49B4-2668-0655-1860F32FD7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84" y="3540"/>
                  <a:ext cx="351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99" name="Rectangle 78">
                  <a:extLst>
                    <a:ext uri="{FF2B5EF4-FFF2-40B4-BE49-F238E27FC236}">
                      <a16:creationId xmlns:a16="http://schemas.microsoft.com/office/drawing/2014/main" id="{5D064EE2-50D2-87FE-F7D1-F48902805E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35" y="3540"/>
                  <a:ext cx="351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8391" name="Text Box 84">
                <a:extLst>
                  <a:ext uri="{FF2B5EF4-FFF2-40B4-BE49-F238E27FC236}">
                    <a16:creationId xmlns:a16="http://schemas.microsoft.com/office/drawing/2014/main" id="{44A588DE-1E23-1999-1067-7E15EB9B62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5" y="3573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12</a:t>
                </a:r>
              </a:p>
            </p:txBody>
          </p:sp>
          <p:sp>
            <p:nvSpPr>
              <p:cNvPr id="58392" name="Text Box 85">
                <a:extLst>
                  <a:ext uri="{FF2B5EF4-FFF2-40B4-BE49-F238E27FC236}">
                    <a16:creationId xmlns:a16="http://schemas.microsoft.com/office/drawing/2014/main" id="{434C273C-FEEB-0F87-B70C-DB6FE7772C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67" y="3573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13</a:t>
                </a:r>
              </a:p>
            </p:txBody>
          </p:sp>
          <p:sp>
            <p:nvSpPr>
              <p:cNvPr id="58393" name="Text Box 86">
                <a:extLst>
                  <a:ext uri="{FF2B5EF4-FFF2-40B4-BE49-F238E27FC236}">
                    <a16:creationId xmlns:a16="http://schemas.microsoft.com/office/drawing/2014/main" id="{3EDFA4FE-07B0-002E-8B6D-0FEF286FF3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9" y="3579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14</a:t>
                </a:r>
              </a:p>
            </p:txBody>
          </p:sp>
          <p:sp>
            <p:nvSpPr>
              <p:cNvPr id="58394" name="Text Box 87">
                <a:extLst>
                  <a:ext uri="{FF2B5EF4-FFF2-40B4-BE49-F238E27FC236}">
                    <a16:creationId xmlns:a16="http://schemas.microsoft.com/office/drawing/2014/main" id="{A1F7EC60-9996-BBAA-8ED3-21134753C3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5" y="3579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200">
                    <a:latin typeface="Comic Sans MS" panose="030F0902030302020204" pitchFamily="66" charset="0"/>
                  </a:rPr>
                  <a:t>15</a:t>
                </a:r>
              </a:p>
            </p:txBody>
          </p:sp>
        </p:grpSp>
      </p:grpSp>
      <p:sp>
        <p:nvSpPr>
          <p:cNvPr id="58372" name="Rectangle 111">
            <a:extLst>
              <a:ext uri="{FF2B5EF4-FFF2-40B4-BE49-F238E27FC236}">
                <a16:creationId xmlns:a16="http://schemas.microsoft.com/office/drawing/2014/main" id="{7B9A1CC0-6732-C0BD-CF1B-61D92ED4A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905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8373" name="Rectangle 112">
            <a:extLst>
              <a:ext uri="{FF2B5EF4-FFF2-40B4-BE49-F238E27FC236}">
                <a16:creationId xmlns:a16="http://schemas.microsoft.com/office/drawing/2014/main" id="{7BD9E220-A423-1E8B-92B5-22BE672BC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67500"/>
            <a:ext cx="9144000" cy="1905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8374" name="Rectangle 113">
            <a:extLst>
              <a:ext uri="{FF2B5EF4-FFF2-40B4-BE49-F238E27FC236}">
                <a16:creationId xmlns:a16="http://schemas.microsoft.com/office/drawing/2014/main" id="{E7AF55EE-A970-B25F-04FA-12C619E33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68580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8375" name="Rectangle 114">
            <a:extLst>
              <a:ext uri="{FF2B5EF4-FFF2-40B4-BE49-F238E27FC236}">
                <a16:creationId xmlns:a16="http://schemas.microsoft.com/office/drawing/2014/main" id="{BFB07373-81F3-24C7-35D9-E44D7FF4C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0"/>
            <a:ext cx="228600" cy="68580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1753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27" name="Group 87">
            <a:extLst>
              <a:ext uri="{FF2B5EF4-FFF2-40B4-BE49-F238E27FC236}">
                <a16:creationId xmlns:a16="http://schemas.microsoft.com/office/drawing/2014/main" id="{F4D0D086-D8FA-0045-1DF1-10105BCB4D45}"/>
              </a:ext>
            </a:extLst>
          </p:cNvPr>
          <p:cNvGrpSpPr>
            <a:grpSpLocks/>
          </p:cNvGrpSpPr>
          <p:nvPr/>
        </p:nvGrpSpPr>
        <p:grpSpPr bwMode="auto">
          <a:xfrm>
            <a:off x="1565275" y="1895475"/>
            <a:ext cx="5878513" cy="2570163"/>
            <a:chOff x="996" y="1194"/>
            <a:chExt cx="3703" cy="1619"/>
          </a:xfrm>
        </p:grpSpPr>
        <p:sp>
          <p:nvSpPr>
            <p:cNvPr id="59438" name="Oval 70">
              <a:extLst>
                <a:ext uri="{FF2B5EF4-FFF2-40B4-BE49-F238E27FC236}">
                  <a16:creationId xmlns:a16="http://schemas.microsoft.com/office/drawing/2014/main" id="{3AF138F0-B615-E660-055D-10E8C8654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6" y="1494"/>
              <a:ext cx="366" cy="306"/>
            </a:xfrm>
            <a:prstGeom prst="ellipse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9439" name="Oval 76">
              <a:extLst>
                <a:ext uri="{FF2B5EF4-FFF2-40B4-BE49-F238E27FC236}">
                  <a16:creationId xmlns:a16="http://schemas.microsoft.com/office/drawing/2014/main" id="{F041C77B-7B15-D7A2-9BE0-AE4852682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6" y="1482"/>
              <a:ext cx="366" cy="306"/>
            </a:xfrm>
            <a:prstGeom prst="ellipse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9440" name="Oval 82">
              <a:extLst>
                <a:ext uri="{FF2B5EF4-FFF2-40B4-BE49-F238E27FC236}">
                  <a16:creationId xmlns:a16="http://schemas.microsoft.com/office/drawing/2014/main" id="{898FF601-12C2-2031-54A8-2BC43D668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" y="1488"/>
              <a:ext cx="360" cy="300"/>
            </a:xfrm>
            <a:prstGeom prst="ellipse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9441" name="Text Box 71">
              <a:extLst>
                <a:ext uri="{FF2B5EF4-FFF2-40B4-BE49-F238E27FC236}">
                  <a16:creationId xmlns:a16="http://schemas.microsoft.com/office/drawing/2014/main" id="{91169830-DD4B-6566-8506-13C9D2F0EA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8" y="2121"/>
              <a:ext cx="891" cy="691"/>
            </a:xfrm>
            <a:prstGeom prst="rect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2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Upper Quartile = 180 </a:t>
              </a:r>
            </a:p>
          </p:txBody>
        </p:sp>
        <p:sp>
          <p:nvSpPr>
            <p:cNvPr id="59442" name="Line 72">
              <a:extLst>
                <a:ext uri="{FF2B5EF4-FFF2-40B4-BE49-F238E27FC236}">
                  <a16:creationId xmlns:a16="http://schemas.microsoft.com/office/drawing/2014/main" id="{5A52E7FB-9EF0-38F6-1068-90FEF47F9D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81" y="1800"/>
              <a:ext cx="0" cy="3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aa-ET"/>
            </a:p>
          </p:txBody>
        </p:sp>
        <p:sp>
          <p:nvSpPr>
            <p:cNvPr id="59443" name="Text Box 73">
              <a:extLst>
                <a:ext uri="{FF2B5EF4-FFF2-40B4-BE49-F238E27FC236}">
                  <a16:creationId xmlns:a16="http://schemas.microsoft.com/office/drawing/2014/main" id="{6FA01700-7776-2708-D924-25CFB8170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4" y="1200"/>
              <a:ext cx="372" cy="250"/>
            </a:xfrm>
            <a:prstGeom prst="rect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0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Q</a:t>
              </a:r>
              <a:r>
                <a:rPr lang="en-GB" altLang="en-US" sz="2000" b="1" baseline="-25000">
                  <a:solidFill>
                    <a:schemeClr val="accent2"/>
                  </a:solidFill>
                  <a:latin typeface="Comic Sans MS" panose="030F0902030302020204" pitchFamily="66" charset="0"/>
                </a:rPr>
                <a:t>u</a:t>
              </a:r>
              <a:endParaRPr lang="en-GB" altLang="en-US" sz="2000" b="1">
                <a:solidFill>
                  <a:schemeClr val="accent2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59444" name="Text Box 77">
              <a:extLst>
                <a:ext uri="{FF2B5EF4-FFF2-40B4-BE49-F238E27FC236}">
                  <a16:creationId xmlns:a16="http://schemas.microsoft.com/office/drawing/2014/main" id="{92FDA064-7F59-E1BA-6FF1-50D88FB7D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" y="2122"/>
              <a:ext cx="891" cy="691"/>
            </a:xfrm>
            <a:prstGeom prst="rect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2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Lower Quartile = 158 </a:t>
              </a:r>
            </a:p>
          </p:txBody>
        </p:sp>
        <p:sp>
          <p:nvSpPr>
            <p:cNvPr id="59445" name="Line 78">
              <a:extLst>
                <a:ext uri="{FF2B5EF4-FFF2-40B4-BE49-F238E27FC236}">
                  <a16:creationId xmlns:a16="http://schemas.microsoft.com/office/drawing/2014/main" id="{AC7EE091-3787-2AA1-1102-3CA9ED2FF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8" y="1788"/>
              <a:ext cx="0" cy="3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aa-ET"/>
            </a:p>
          </p:txBody>
        </p:sp>
        <p:sp>
          <p:nvSpPr>
            <p:cNvPr id="59446" name="Text Box 79">
              <a:extLst>
                <a:ext uri="{FF2B5EF4-FFF2-40B4-BE49-F238E27FC236}">
                  <a16:creationId xmlns:a16="http://schemas.microsoft.com/office/drawing/2014/main" id="{7B8DFA09-8CC0-9F27-6E81-DD4266D8D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2" y="1218"/>
              <a:ext cx="372" cy="250"/>
            </a:xfrm>
            <a:prstGeom prst="rect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0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Q</a:t>
              </a:r>
              <a:r>
                <a:rPr lang="en-GB" altLang="en-US" sz="2000" b="1" baseline="-25000">
                  <a:solidFill>
                    <a:schemeClr val="accent2"/>
                  </a:solidFill>
                  <a:latin typeface="Comic Sans MS" panose="030F0902030302020204" pitchFamily="66" charset="0"/>
                </a:rPr>
                <a:t>L</a:t>
              </a:r>
              <a:endParaRPr lang="en-GB" altLang="en-US" sz="2000" b="1">
                <a:solidFill>
                  <a:schemeClr val="accent2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59447" name="Line 83">
              <a:extLst>
                <a:ext uri="{FF2B5EF4-FFF2-40B4-BE49-F238E27FC236}">
                  <a16:creationId xmlns:a16="http://schemas.microsoft.com/office/drawing/2014/main" id="{992EE21D-413C-51B7-E3A2-B647539FA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0" y="1808"/>
              <a:ext cx="0" cy="5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aa-ET"/>
            </a:p>
          </p:txBody>
        </p:sp>
        <p:sp>
          <p:nvSpPr>
            <p:cNvPr id="59448" name="Text Box 84">
              <a:extLst>
                <a:ext uri="{FF2B5EF4-FFF2-40B4-BE49-F238E27FC236}">
                  <a16:creationId xmlns:a16="http://schemas.microsoft.com/office/drawing/2014/main" id="{E5114484-CA8D-FF3E-42E2-0F98D23C9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9" y="2329"/>
              <a:ext cx="812" cy="480"/>
            </a:xfrm>
            <a:prstGeom prst="rect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2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Median = 171</a:t>
              </a:r>
            </a:p>
          </p:txBody>
        </p:sp>
        <p:sp>
          <p:nvSpPr>
            <p:cNvPr id="59449" name="Text Box 85">
              <a:extLst>
                <a:ext uri="{FF2B5EF4-FFF2-40B4-BE49-F238E27FC236}">
                  <a16:creationId xmlns:a16="http://schemas.microsoft.com/office/drawing/2014/main" id="{7E0393CA-097A-0F7C-866A-1B4304A194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4" y="1194"/>
              <a:ext cx="372" cy="250"/>
            </a:xfrm>
            <a:prstGeom prst="rect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0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Q</a:t>
              </a:r>
              <a:r>
                <a:rPr lang="en-GB" altLang="en-US" sz="2000" b="1" baseline="-25000">
                  <a:solidFill>
                    <a:schemeClr val="accent2"/>
                  </a:solidFill>
                  <a:latin typeface="Comic Sans MS" panose="030F0902030302020204" pitchFamily="66" charset="0"/>
                </a:rPr>
                <a:t>2</a:t>
              </a:r>
              <a:endParaRPr lang="en-GB" altLang="en-US" sz="2000" b="1">
                <a:solidFill>
                  <a:schemeClr val="accent2"/>
                </a:solidFill>
                <a:latin typeface="Comic Sans MS" panose="030F0902030302020204" pitchFamily="66" charset="0"/>
              </a:endParaRPr>
            </a:p>
          </p:txBody>
        </p:sp>
      </p:grpSp>
      <p:grpSp>
        <p:nvGrpSpPr>
          <p:cNvPr id="10329" name="Group 89">
            <a:extLst>
              <a:ext uri="{FF2B5EF4-FFF2-40B4-BE49-F238E27FC236}">
                <a16:creationId xmlns:a16="http://schemas.microsoft.com/office/drawing/2014/main" id="{691E4E4B-E3CC-A75B-AC6D-B56BA29C6498}"/>
              </a:ext>
            </a:extLst>
          </p:cNvPr>
          <p:cNvGrpSpPr>
            <a:grpSpLocks/>
          </p:cNvGrpSpPr>
          <p:nvPr/>
        </p:nvGrpSpPr>
        <p:grpSpPr bwMode="auto">
          <a:xfrm>
            <a:off x="241300" y="585788"/>
            <a:ext cx="8674100" cy="2230437"/>
            <a:chOff x="152" y="369"/>
            <a:chExt cx="5464" cy="1405"/>
          </a:xfrm>
        </p:grpSpPr>
        <p:sp>
          <p:nvSpPr>
            <p:cNvPr id="59430" name="Text Box 23">
              <a:extLst>
                <a:ext uri="{FF2B5EF4-FFF2-40B4-BE49-F238E27FC236}">
                  <a16:creationId xmlns:a16="http://schemas.microsoft.com/office/drawing/2014/main" id="{34C4BC5C-D934-E662-D855-3BFC3B24F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756"/>
              <a:ext cx="5196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2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Question</a:t>
              </a:r>
              <a:r>
                <a:rPr lang="en-GB" altLang="en-US" sz="2200">
                  <a:latin typeface="Comic Sans MS" panose="030F0902030302020204" pitchFamily="66" charset="0"/>
                </a:rPr>
                <a:t>:  Stuart recorded the heights in cm of boys in his class as shown below. Draw a box plot for this data.</a:t>
              </a:r>
            </a:p>
          </p:txBody>
        </p:sp>
        <p:grpSp>
          <p:nvGrpSpPr>
            <p:cNvPr id="59431" name="Group 88">
              <a:extLst>
                <a:ext uri="{FF2B5EF4-FFF2-40B4-BE49-F238E27FC236}">
                  <a16:creationId xmlns:a16="http://schemas.microsoft.com/office/drawing/2014/main" id="{797D0E06-1539-F1DB-15DD-F5F95456A3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2" y="369"/>
              <a:ext cx="4359" cy="288"/>
              <a:chOff x="622" y="369"/>
              <a:chExt cx="4359" cy="288"/>
            </a:xfrm>
          </p:grpSpPr>
          <p:sp>
            <p:nvSpPr>
              <p:cNvPr id="59433" name="Text Box 25">
                <a:extLst>
                  <a:ext uri="{FF2B5EF4-FFF2-40B4-BE49-F238E27FC236}">
                    <a16:creationId xmlns:a16="http://schemas.microsoft.com/office/drawing/2014/main" id="{83EB7124-5FA7-AEA3-E98E-BC17DA5767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" y="369"/>
                <a:ext cx="2311" cy="2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400">
                    <a:solidFill>
                      <a:srgbClr val="FFFF99"/>
                    </a:solidFill>
                    <a:latin typeface="Comic Sans MS" panose="030F0902030302020204" pitchFamily="66" charset="0"/>
                  </a:rPr>
                  <a:t>Drawing a Box Plot. </a:t>
                </a:r>
              </a:p>
            </p:txBody>
          </p:sp>
          <p:sp>
            <p:nvSpPr>
              <p:cNvPr id="59434" name="Line 26">
                <a:extLst>
                  <a:ext uri="{FF2B5EF4-FFF2-40B4-BE49-F238E27FC236}">
                    <a16:creationId xmlns:a16="http://schemas.microsoft.com/office/drawing/2014/main" id="{FE5BB48A-3D4D-1E10-9C9E-E0C30FADB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1" y="521"/>
                <a:ext cx="97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9435" name="Line 27">
                <a:extLst>
                  <a:ext uri="{FF2B5EF4-FFF2-40B4-BE49-F238E27FC236}">
                    <a16:creationId xmlns:a16="http://schemas.microsoft.com/office/drawing/2014/main" id="{F0E7EDAC-1F86-6F7D-6B06-50BE934025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72" y="400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9436" name="Line 28">
                <a:extLst>
                  <a:ext uri="{FF2B5EF4-FFF2-40B4-BE49-F238E27FC236}">
                    <a16:creationId xmlns:a16="http://schemas.microsoft.com/office/drawing/2014/main" id="{C2EAB50E-506A-6F13-772E-A77789E291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24" y="516"/>
                <a:ext cx="10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59437" name="Line 29">
                <a:extLst>
                  <a:ext uri="{FF2B5EF4-FFF2-40B4-BE49-F238E27FC236}">
                    <a16:creationId xmlns:a16="http://schemas.microsoft.com/office/drawing/2014/main" id="{A2D5F27D-8ACC-9CA2-1810-4B8F33750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" y="382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</p:grpSp>
        <p:sp>
          <p:nvSpPr>
            <p:cNvPr id="59432" name="Text Box 66">
              <a:extLst>
                <a:ext uri="{FF2B5EF4-FFF2-40B4-BE49-F238E27FC236}">
                  <a16:creationId xmlns:a16="http://schemas.microsoft.com/office/drawing/2014/main" id="{4F403793-02A3-63E7-D86F-2C7CD326F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" y="1524"/>
              <a:ext cx="54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000">
                  <a:latin typeface="Comic Sans MS" panose="030F0902030302020204" pitchFamily="66" charset="0"/>
                </a:rPr>
                <a:t>137, 148, 155, 158, 165, 166, 166, 171, 171, 173, 175, 180, 184, 186, 186</a:t>
              </a:r>
            </a:p>
          </p:txBody>
        </p:sp>
      </p:grpSp>
      <p:sp>
        <p:nvSpPr>
          <p:cNvPr id="10369" name="Line 129">
            <a:extLst>
              <a:ext uri="{FF2B5EF4-FFF2-40B4-BE49-F238E27FC236}">
                <a16:creationId xmlns:a16="http://schemas.microsoft.com/office/drawing/2014/main" id="{D9684E03-7E35-6244-EB31-F8FB73B0E3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7125" y="5016500"/>
            <a:ext cx="0" cy="3905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a-ET"/>
          </a:p>
        </p:txBody>
      </p:sp>
      <p:sp>
        <p:nvSpPr>
          <p:cNvPr id="10370" name="Rectangle 130">
            <a:extLst>
              <a:ext uri="{FF2B5EF4-FFF2-40B4-BE49-F238E27FC236}">
                <a16:creationId xmlns:a16="http://schemas.microsoft.com/office/drawing/2014/main" id="{46F2D7AA-A622-E9AE-3834-7AF4269CC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0" y="5016500"/>
            <a:ext cx="3186113" cy="3905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0371" name="Group 131">
            <a:extLst>
              <a:ext uri="{FF2B5EF4-FFF2-40B4-BE49-F238E27FC236}">
                <a16:creationId xmlns:a16="http://schemas.microsoft.com/office/drawing/2014/main" id="{D3E2BE40-0293-CF19-08C7-6F929627BE73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5089525"/>
            <a:ext cx="2982913" cy="241300"/>
            <a:chOff x="1387" y="3460"/>
            <a:chExt cx="572" cy="152"/>
          </a:xfrm>
        </p:grpSpPr>
        <p:sp>
          <p:nvSpPr>
            <p:cNvPr id="59428" name="Line 132">
              <a:extLst>
                <a:ext uri="{FF2B5EF4-FFF2-40B4-BE49-F238E27FC236}">
                  <a16:creationId xmlns:a16="http://schemas.microsoft.com/office/drawing/2014/main" id="{1CEAB395-525A-4847-6CFB-BF3DAEB8C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7" y="3538"/>
              <a:ext cx="5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aa-ET"/>
            </a:p>
          </p:txBody>
        </p:sp>
        <p:sp>
          <p:nvSpPr>
            <p:cNvPr id="59429" name="Line 133">
              <a:extLst>
                <a:ext uri="{FF2B5EF4-FFF2-40B4-BE49-F238E27FC236}">
                  <a16:creationId xmlns:a16="http://schemas.microsoft.com/office/drawing/2014/main" id="{AD3FB93F-6EA6-B35E-0B2B-5B2B1C083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3460"/>
              <a:ext cx="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aa-ET"/>
            </a:p>
          </p:txBody>
        </p:sp>
      </p:grpSp>
      <p:grpSp>
        <p:nvGrpSpPr>
          <p:cNvPr id="10374" name="Group 134">
            <a:extLst>
              <a:ext uri="{FF2B5EF4-FFF2-40B4-BE49-F238E27FC236}">
                <a16:creationId xmlns:a16="http://schemas.microsoft.com/office/drawing/2014/main" id="{8511A41B-6C42-D61F-9F7D-ED6D84B5DB9A}"/>
              </a:ext>
            </a:extLst>
          </p:cNvPr>
          <p:cNvGrpSpPr>
            <a:grpSpLocks/>
          </p:cNvGrpSpPr>
          <p:nvPr/>
        </p:nvGrpSpPr>
        <p:grpSpPr bwMode="auto">
          <a:xfrm>
            <a:off x="7415213" y="5073650"/>
            <a:ext cx="842962" cy="279400"/>
            <a:chOff x="3290" y="3166"/>
            <a:chExt cx="1748" cy="176"/>
          </a:xfrm>
        </p:grpSpPr>
        <p:sp>
          <p:nvSpPr>
            <p:cNvPr id="59426" name="Line 135">
              <a:extLst>
                <a:ext uri="{FF2B5EF4-FFF2-40B4-BE49-F238E27FC236}">
                  <a16:creationId xmlns:a16="http://schemas.microsoft.com/office/drawing/2014/main" id="{405345D9-B1CB-8A27-D69F-BEAAA86A7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3252"/>
              <a:ext cx="17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aa-ET"/>
            </a:p>
          </p:txBody>
        </p:sp>
        <p:sp>
          <p:nvSpPr>
            <p:cNvPr id="59427" name="Line 136">
              <a:extLst>
                <a:ext uri="{FF2B5EF4-FFF2-40B4-BE49-F238E27FC236}">
                  <a16:creationId xmlns:a16="http://schemas.microsoft.com/office/drawing/2014/main" id="{8F3AA301-9EBD-DC4F-442E-66614ABEFA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1" y="3166"/>
              <a:ext cx="0" cy="1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aa-ET"/>
            </a:p>
          </p:txBody>
        </p:sp>
      </p:grpSp>
      <p:sp>
        <p:nvSpPr>
          <p:cNvPr id="59399" name="Rectangle 141">
            <a:extLst>
              <a:ext uri="{FF2B5EF4-FFF2-40B4-BE49-F238E27FC236}">
                <a16:creationId xmlns:a16="http://schemas.microsoft.com/office/drawing/2014/main" id="{0E14E4A9-A183-6CDB-0555-0B0F9D321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905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9400" name="Rectangle 142">
            <a:extLst>
              <a:ext uri="{FF2B5EF4-FFF2-40B4-BE49-F238E27FC236}">
                <a16:creationId xmlns:a16="http://schemas.microsoft.com/office/drawing/2014/main" id="{C4CCFBE4-C1DC-18E9-27DE-7FB64CB93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67500"/>
            <a:ext cx="9144000" cy="1905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9401" name="Rectangle 143">
            <a:extLst>
              <a:ext uri="{FF2B5EF4-FFF2-40B4-BE49-F238E27FC236}">
                <a16:creationId xmlns:a16="http://schemas.microsoft.com/office/drawing/2014/main" id="{41D0A340-D9CF-B6AF-CCE1-D4A9D9B96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68580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9402" name="Rectangle 144">
            <a:extLst>
              <a:ext uri="{FF2B5EF4-FFF2-40B4-BE49-F238E27FC236}">
                <a16:creationId xmlns:a16="http://schemas.microsoft.com/office/drawing/2014/main" id="{4B6B0F50-DE02-FE90-6AAA-9FD07EA21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0"/>
            <a:ext cx="228600" cy="68580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0380" name="Group 140">
            <a:extLst>
              <a:ext uri="{FF2B5EF4-FFF2-40B4-BE49-F238E27FC236}">
                <a16:creationId xmlns:a16="http://schemas.microsoft.com/office/drawing/2014/main" id="{DA13C4A3-1AB0-74CA-61A7-8A1DBFA07A7A}"/>
              </a:ext>
            </a:extLst>
          </p:cNvPr>
          <p:cNvGrpSpPr>
            <a:grpSpLocks/>
          </p:cNvGrpSpPr>
          <p:nvPr/>
        </p:nvGrpSpPr>
        <p:grpSpPr bwMode="auto">
          <a:xfrm>
            <a:off x="-60325" y="5543550"/>
            <a:ext cx="9204325" cy="474663"/>
            <a:chOff x="-38" y="3492"/>
            <a:chExt cx="5798" cy="299"/>
          </a:xfrm>
        </p:grpSpPr>
        <p:grpSp>
          <p:nvGrpSpPr>
            <p:cNvPr id="59404" name="Group 128">
              <a:extLst>
                <a:ext uri="{FF2B5EF4-FFF2-40B4-BE49-F238E27FC236}">
                  <a16:creationId xmlns:a16="http://schemas.microsoft.com/office/drawing/2014/main" id="{55933457-353A-20F4-DCA5-1B12AEC15F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8" y="3492"/>
              <a:ext cx="5798" cy="299"/>
              <a:chOff x="-38" y="3492"/>
              <a:chExt cx="5798" cy="299"/>
            </a:xfrm>
          </p:grpSpPr>
          <p:sp>
            <p:nvSpPr>
              <p:cNvPr id="59406" name="Text Box 91">
                <a:extLst>
                  <a:ext uri="{FF2B5EF4-FFF2-40B4-BE49-F238E27FC236}">
                    <a16:creationId xmlns:a16="http://schemas.microsoft.com/office/drawing/2014/main" id="{9005D3A2-8C86-9250-0D2B-B8CAC5D9AA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8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1600">
                    <a:latin typeface="Comic Sans MS" panose="030F0902030302020204" pitchFamily="66" charset="0"/>
                  </a:rPr>
                  <a:t>130</a:t>
                </a:r>
              </a:p>
            </p:txBody>
          </p:sp>
          <p:grpSp>
            <p:nvGrpSpPr>
              <p:cNvPr id="59407" name="Group 121">
                <a:extLst>
                  <a:ext uri="{FF2B5EF4-FFF2-40B4-BE49-F238E27FC236}">
                    <a16:creationId xmlns:a16="http://schemas.microsoft.com/office/drawing/2014/main" id="{F3555ABC-BA4A-6AC3-A96C-24E6744D2C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" y="3492"/>
                <a:ext cx="5459" cy="87"/>
                <a:chOff x="121" y="3492"/>
                <a:chExt cx="4211" cy="87"/>
              </a:xfrm>
            </p:grpSpPr>
            <p:sp>
              <p:nvSpPr>
                <p:cNvPr id="59414" name="Rectangle 102">
                  <a:extLst>
                    <a:ext uri="{FF2B5EF4-FFF2-40B4-BE49-F238E27FC236}">
                      <a16:creationId xmlns:a16="http://schemas.microsoft.com/office/drawing/2014/main" id="{452240FE-8651-BA63-C6E0-00D290B5D8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3" y="3492"/>
                  <a:ext cx="351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15" name="Rectangle 103">
                  <a:extLst>
                    <a:ext uri="{FF2B5EF4-FFF2-40B4-BE49-F238E27FC236}">
                      <a16:creationId xmlns:a16="http://schemas.microsoft.com/office/drawing/2014/main" id="{351CA7D9-48F4-8FC9-6BCD-C0E8698FB4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4" y="3492"/>
                  <a:ext cx="350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16" name="Rectangle 104">
                  <a:extLst>
                    <a:ext uri="{FF2B5EF4-FFF2-40B4-BE49-F238E27FC236}">
                      <a16:creationId xmlns:a16="http://schemas.microsoft.com/office/drawing/2014/main" id="{5B3F8102-A554-1B5B-7E89-3906627E0A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" y="3492"/>
                  <a:ext cx="351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17" name="Rectangle 105">
                  <a:extLst>
                    <a:ext uri="{FF2B5EF4-FFF2-40B4-BE49-F238E27FC236}">
                      <a16:creationId xmlns:a16="http://schemas.microsoft.com/office/drawing/2014/main" id="{D742193C-1D53-9DBF-8D04-1E9CE451DE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5" y="3492"/>
                  <a:ext cx="351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18" name="Rectangle 106">
                  <a:extLst>
                    <a:ext uri="{FF2B5EF4-FFF2-40B4-BE49-F238E27FC236}">
                      <a16:creationId xmlns:a16="http://schemas.microsoft.com/office/drawing/2014/main" id="{87BC29D1-DC18-0C08-4F21-0FD051A5E4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26" y="3492"/>
                  <a:ext cx="350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19" name="Rectangle 107">
                  <a:extLst>
                    <a:ext uri="{FF2B5EF4-FFF2-40B4-BE49-F238E27FC236}">
                      <a16:creationId xmlns:a16="http://schemas.microsoft.com/office/drawing/2014/main" id="{8F42E4D9-7260-E283-D362-487C5819AA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76" y="3492"/>
                  <a:ext cx="351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20" name="Rectangle 108">
                  <a:extLst>
                    <a:ext uri="{FF2B5EF4-FFF2-40B4-BE49-F238E27FC236}">
                      <a16:creationId xmlns:a16="http://schemas.microsoft.com/office/drawing/2014/main" id="{FFC05D61-8E8E-0069-D644-2BB4D55329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7" y="3492"/>
                  <a:ext cx="350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21" name="Rectangle 109">
                  <a:extLst>
                    <a:ext uri="{FF2B5EF4-FFF2-40B4-BE49-F238E27FC236}">
                      <a16:creationId xmlns:a16="http://schemas.microsoft.com/office/drawing/2014/main" id="{56EC44F9-98F4-0C4A-1C2F-ED0C353B0D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77" y="3492"/>
                  <a:ext cx="351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22" name="Rectangle 110">
                  <a:extLst>
                    <a:ext uri="{FF2B5EF4-FFF2-40B4-BE49-F238E27FC236}">
                      <a16:creationId xmlns:a16="http://schemas.microsoft.com/office/drawing/2014/main" id="{2B42D5E1-04D8-E054-ABC9-241234A8A6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31" y="3492"/>
                  <a:ext cx="351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23" name="Rectangle 111">
                  <a:extLst>
                    <a:ext uri="{FF2B5EF4-FFF2-40B4-BE49-F238E27FC236}">
                      <a16:creationId xmlns:a16="http://schemas.microsoft.com/office/drawing/2014/main" id="{C6209B16-471E-F2FD-F190-5ACB2798AE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2" y="3492"/>
                  <a:ext cx="350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24" name="Rectangle 118">
                  <a:extLst>
                    <a:ext uri="{FF2B5EF4-FFF2-40B4-BE49-F238E27FC236}">
                      <a16:creationId xmlns:a16="http://schemas.microsoft.com/office/drawing/2014/main" id="{D830C051-AC03-31D6-ECC1-F2E3700D7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2" y="3492"/>
                  <a:ext cx="351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9425" name="Rectangle 119">
                  <a:extLst>
                    <a:ext uri="{FF2B5EF4-FFF2-40B4-BE49-F238E27FC236}">
                      <a16:creationId xmlns:a16="http://schemas.microsoft.com/office/drawing/2014/main" id="{9A48C926-FD65-45AE-3B17-1AC4C1FDD8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" y="3492"/>
                  <a:ext cx="351" cy="8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9408" name="Text Box 122">
                <a:extLst>
                  <a:ext uri="{FF2B5EF4-FFF2-40B4-BE49-F238E27FC236}">
                    <a16:creationId xmlns:a16="http://schemas.microsoft.com/office/drawing/2014/main" id="{F2EDDD9D-861D-7696-2FE8-1BD82EF27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1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1600">
                    <a:latin typeface="Comic Sans MS" panose="030F0902030302020204" pitchFamily="66" charset="0"/>
                  </a:rPr>
                  <a:t>140</a:t>
                </a:r>
              </a:p>
            </p:txBody>
          </p:sp>
          <p:sp>
            <p:nvSpPr>
              <p:cNvPr id="59409" name="Text Box 123">
                <a:extLst>
                  <a:ext uri="{FF2B5EF4-FFF2-40B4-BE49-F238E27FC236}">
                    <a16:creationId xmlns:a16="http://schemas.microsoft.com/office/drawing/2014/main" id="{A045082B-2DD3-AA0B-7302-B7791E0E8C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0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1600">
                    <a:latin typeface="Comic Sans MS" panose="030F0902030302020204" pitchFamily="66" charset="0"/>
                  </a:rPr>
                  <a:t>150</a:t>
                </a:r>
              </a:p>
            </p:txBody>
          </p:sp>
          <p:sp>
            <p:nvSpPr>
              <p:cNvPr id="59410" name="Text Box 124">
                <a:extLst>
                  <a:ext uri="{FF2B5EF4-FFF2-40B4-BE49-F238E27FC236}">
                    <a16:creationId xmlns:a16="http://schemas.microsoft.com/office/drawing/2014/main" id="{0A5BFDBB-742D-DA18-8CB6-94A5AE9060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60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1600">
                    <a:latin typeface="Comic Sans MS" panose="030F0902030302020204" pitchFamily="66" charset="0"/>
                  </a:rPr>
                  <a:t>160</a:t>
                </a:r>
              </a:p>
            </p:txBody>
          </p:sp>
          <p:sp>
            <p:nvSpPr>
              <p:cNvPr id="59411" name="Text Box 125">
                <a:extLst>
                  <a:ext uri="{FF2B5EF4-FFF2-40B4-BE49-F238E27FC236}">
                    <a16:creationId xmlns:a16="http://schemas.microsoft.com/office/drawing/2014/main" id="{915E347F-B440-2F0F-CD11-15627C2E9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9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1600">
                    <a:latin typeface="Comic Sans MS" panose="030F0902030302020204" pitchFamily="66" charset="0"/>
                  </a:rPr>
                  <a:t>170</a:t>
                </a:r>
              </a:p>
            </p:txBody>
          </p:sp>
          <p:sp>
            <p:nvSpPr>
              <p:cNvPr id="59412" name="Text Box 126">
                <a:extLst>
                  <a:ext uri="{FF2B5EF4-FFF2-40B4-BE49-F238E27FC236}">
                    <a16:creationId xmlns:a16="http://schemas.microsoft.com/office/drawing/2014/main" id="{00931B56-CC73-420F-145F-C735B73F29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7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1600">
                    <a:latin typeface="Comic Sans MS" panose="030F0902030302020204" pitchFamily="66" charset="0"/>
                  </a:rPr>
                  <a:t>180</a:t>
                </a:r>
              </a:p>
            </p:txBody>
          </p:sp>
          <p:sp>
            <p:nvSpPr>
              <p:cNvPr id="59413" name="Text Box 127">
                <a:extLst>
                  <a:ext uri="{FF2B5EF4-FFF2-40B4-BE49-F238E27FC236}">
                    <a16:creationId xmlns:a16="http://schemas.microsoft.com/office/drawing/2014/main" id="{37834008-7857-9A18-58E5-4DBAF1BAB8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80" y="3579"/>
                <a:ext cx="3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1600">
                    <a:latin typeface="Comic Sans MS" panose="030F0902030302020204" pitchFamily="66" charset="0"/>
                  </a:rPr>
                  <a:t>190</a:t>
                </a:r>
              </a:p>
            </p:txBody>
          </p:sp>
        </p:grpSp>
        <p:sp>
          <p:nvSpPr>
            <p:cNvPr id="59405" name="Text Box 138">
              <a:extLst>
                <a:ext uri="{FF2B5EF4-FFF2-40B4-BE49-F238E27FC236}">
                  <a16:creationId xmlns:a16="http://schemas.microsoft.com/office/drawing/2014/main" id="{ABE22569-9FC5-75EA-1348-F1309350C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5" y="3579"/>
              <a:ext cx="45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1600">
                  <a:latin typeface="Comic Sans MS" panose="030F0902030302020204" pitchFamily="66" charset="0"/>
                </a:rPr>
                <a:t>cm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91605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59" name="Group 95">
            <a:extLst>
              <a:ext uri="{FF2B5EF4-FFF2-40B4-BE49-F238E27FC236}">
                <a16:creationId xmlns:a16="http://schemas.microsoft.com/office/drawing/2014/main" id="{A576FF02-3D26-A1DF-DC31-2863955E8588}"/>
              </a:ext>
            </a:extLst>
          </p:cNvPr>
          <p:cNvGrpSpPr>
            <a:grpSpLocks/>
          </p:cNvGrpSpPr>
          <p:nvPr/>
        </p:nvGrpSpPr>
        <p:grpSpPr bwMode="auto">
          <a:xfrm>
            <a:off x="0" y="585788"/>
            <a:ext cx="9204325" cy="5989637"/>
            <a:chOff x="0" y="369"/>
            <a:chExt cx="5798" cy="3773"/>
          </a:xfrm>
        </p:grpSpPr>
        <p:sp>
          <p:nvSpPr>
            <p:cNvPr id="60422" name="Text Box 86">
              <a:extLst>
                <a:ext uri="{FF2B5EF4-FFF2-40B4-BE49-F238E27FC236}">
                  <a16:creationId xmlns:a16="http://schemas.microsoft.com/office/drawing/2014/main" id="{73810CA1-FE70-054C-872C-75F937F91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3257"/>
              <a:ext cx="2539" cy="231"/>
            </a:xfrm>
            <a:prstGeom prst="rect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18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2.</a:t>
              </a:r>
              <a:r>
                <a:rPr lang="en-GB" altLang="en-US" sz="1800">
                  <a:latin typeface="Comic Sans MS" panose="030F0902030302020204" pitchFamily="66" charset="0"/>
                </a:rPr>
                <a:t> </a:t>
              </a:r>
              <a:r>
                <a:rPr lang="en-GB" altLang="en-US" sz="1700">
                  <a:latin typeface="Comic Sans MS" panose="030F0902030302020204" pitchFamily="66" charset="0"/>
                </a:rPr>
                <a:t>The boys are taller on average.</a:t>
              </a:r>
            </a:p>
          </p:txBody>
        </p:sp>
        <p:sp>
          <p:nvSpPr>
            <p:cNvPr id="60423" name="Text Box 16">
              <a:extLst>
                <a:ext uri="{FF2B5EF4-FFF2-40B4-BE49-F238E27FC236}">
                  <a16:creationId xmlns:a16="http://schemas.microsoft.com/office/drawing/2014/main" id="{A7CA02B2-1B05-D6D6-F60F-4123C2580B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" y="756"/>
              <a:ext cx="5459" cy="775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0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Question</a:t>
              </a:r>
              <a:r>
                <a:rPr lang="en-GB" altLang="en-US" sz="2000">
                  <a:latin typeface="Comic Sans MS" panose="030F0902030302020204" pitchFamily="66" charset="0"/>
                </a:rPr>
                <a:t>:  </a:t>
              </a:r>
              <a:r>
                <a:rPr lang="en-GB" altLang="en-US" sz="1800">
                  <a:latin typeface="Comic Sans MS" panose="030F0902030302020204" pitchFamily="66" charset="0"/>
                </a:rPr>
                <a:t>Gemma recorded the heights in cm of girls in the same class and constructed a box plot from the data. The box plots for both boys and girls are shown below. Use the box plots to choose some </a:t>
              </a:r>
              <a:r>
                <a:rPr lang="en-GB" altLang="en-US" sz="18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correct</a:t>
              </a:r>
              <a:r>
                <a:rPr lang="en-GB" altLang="en-US" sz="1800">
                  <a:latin typeface="Comic Sans MS" panose="030F0902030302020204" pitchFamily="66" charset="0"/>
                </a:rPr>
                <a:t> statements comparing heights of boys and girls in the class. Justify your answers.</a:t>
              </a:r>
            </a:p>
          </p:txBody>
        </p:sp>
        <p:grpSp>
          <p:nvGrpSpPr>
            <p:cNvPr id="60424" name="Group 17">
              <a:extLst>
                <a:ext uri="{FF2B5EF4-FFF2-40B4-BE49-F238E27FC236}">
                  <a16:creationId xmlns:a16="http://schemas.microsoft.com/office/drawing/2014/main" id="{C1A0A6CE-CC12-F8CB-F025-0F7DB1D2B4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0" y="369"/>
              <a:ext cx="4359" cy="288"/>
              <a:chOff x="622" y="369"/>
              <a:chExt cx="4359" cy="288"/>
            </a:xfrm>
          </p:grpSpPr>
          <p:sp>
            <p:nvSpPr>
              <p:cNvPr id="60471" name="Text Box 18">
                <a:extLst>
                  <a:ext uri="{FF2B5EF4-FFF2-40B4-BE49-F238E27FC236}">
                    <a16:creationId xmlns:a16="http://schemas.microsoft.com/office/drawing/2014/main" id="{2F017CD6-7DA5-F974-53E1-C477317B49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" y="369"/>
                <a:ext cx="2311" cy="2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2400">
                    <a:solidFill>
                      <a:srgbClr val="FFFF99"/>
                    </a:solidFill>
                    <a:latin typeface="Comic Sans MS" panose="030F0902030302020204" pitchFamily="66" charset="0"/>
                  </a:rPr>
                  <a:t>Drawing a Box Plot. </a:t>
                </a:r>
              </a:p>
            </p:txBody>
          </p:sp>
          <p:sp>
            <p:nvSpPr>
              <p:cNvPr id="60472" name="Line 19">
                <a:extLst>
                  <a:ext uri="{FF2B5EF4-FFF2-40B4-BE49-F238E27FC236}">
                    <a16:creationId xmlns:a16="http://schemas.microsoft.com/office/drawing/2014/main" id="{3FF8E0A6-1F65-B792-7B69-D3DD670CB2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1" y="521"/>
                <a:ext cx="97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60473" name="Line 20">
                <a:extLst>
                  <a:ext uri="{FF2B5EF4-FFF2-40B4-BE49-F238E27FC236}">
                    <a16:creationId xmlns:a16="http://schemas.microsoft.com/office/drawing/2014/main" id="{3E999B2A-C600-13A7-DC34-36969703B7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72" y="400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60474" name="Line 21">
                <a:extLst>
                  <a:ext uri="{FF2B5EF4-FFF2-40B4-BE49-F238E27FC236}">
                    <a16:creationId xmlns:a16="http://schemas.microsoft.com/office/drawing/2014/main" id="{621FAD3C-7F65-5B9C-F5A6-3EDE5536A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24" y="516"/>
                <a:ext cx="10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60475" name="Line 22">
                <a:extLst>
                  <a:ext uri="{FF2B5EF4-FFF2-40B4-BE49-F238E27FC236}">
                    <a16:creationId xmlns:a16="http://schemas.microsoft.com/office/drawing/2014/main" id="{08B52DED-5B5D-F1F1-364C-397B63129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" y="382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</p:grpSp>
        <p:grpSp>
          <p:nvGrpSpPr>
            <p:cNvPr id="60425" name="Group 24">
              <a:extLst>
                <a:ext uri="{FF2B5EF4-FFF2-40B4-BE49-F238E27FC236}">
                  <a16:creationId xmlns:a16="http://schemas.microsoft.com/office/drawing/2014/main" id="{B0430171-6E2F-98D7-4394-04FA0622B7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996"/>
              <a:ext cx="5798" cy="631"/>
              <a:chOff x="-38" y="3160"/>
              <a:chExt cx="5798" cy="631"/>
            </a:xfrm>
          </p:grpSpPr>
          <p:grpSp>
            <p:nvGrpSpPr>
              <p:cNvPr id="60442" name="Group 25">
                <a:extLst>
                  <a:ext uri="{FF2B5EF4-FFF2-40B4-BE49-F238E27FC236}">
                    <a16:creationId xmlns:a16="http://schemas.microsoft.com/office/drawing/2014/main" id="{CEFF0CBF-F73D-86FE-F1B7-2560E0DFEE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8" y="3492"/>
                <a:ext cx="5798" cy="299"/>
                <a:chOff x="-38" y="3492"/>
                <a:chExt cx="5798" cy="299"/>
              </a:xfrm>
            </p:grpSpPr>
            <p:sp>
              <p:nvSpPr>
                <p:cNvPr id="60451" name="Text Box 26">
                  <a:extLst>
                    <a:ext uri="{FF2B5EF4-FFF2-40B4-BE49-F238E27FC236}">
                      <a16:creationId xmlns:a16="http://schemas.microsoft.com/office/drawing/2014/main" id="{16D8A405-F53D-EB3E-7AFD-337D56A52EE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38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latin typeface="Comic Sans MS" panose="030F0902030302020204" pitchFamily="66" charset="0"/>
                    </a:rPr>
                    <a:t>130</a:t>
                  </a:r>
                </a:p>
              </p:txBody>
            </p:sp>
            <p:grpSp>
              <p:nvGrpSpPr>
                <p:cNvPr id="60452" name="Group 27">
                  <a:extLst>
                    <a:ext uri="{FF2B5EF4-FFF2-40B4-BE49-F238E27FC236}">
                      <a16:creationId xmlns:a16="http://schemas.microsoft.com/office/drawing/2014/main" id="{F713DE97-B527-14DB-1CD6-E7D5518487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1" y="3492"/>
                  <a:ext cx="5459" cy="87"/>
                  <a:chOff x="121" y="3492"/>
                  <a:chExt cx="4211" cy="87"/>
                </a:xfrm>
              </p:grpSpPr>
              <p:sp>
                <p:nvSpPr>
                  <p:cNvPr id="60459" name="Rectangle 28">
                    <a:extLst>
                      <a:ext uri="{FF2B5EF4-FFF2-40B4-BE49-F238E27FC236}">
                        <a16:creationId xmlns:a16="http://schemas.microsoft.com/office/drawing/2014/main" id="{448EDECC-FDEE-AFD2-17EC-9EE61524D9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23" y="3492"/>
                    <a:ext cx="351" cy="8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60" name="Rectangle 29">
                    <a:extLst>
                      <a:ext uri="{FF2B5EF4-FFF2-40B4-BE49-F238E27FC236}">
                        <a16:creationId xmlns:a16="http://schemas.microsoft.com/office/drawing/2014/main" id="{48293D1B-7537-8C1F-EDED-6133AAE782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4" y="3492"/>
                    <a:ext cx="350" cy="8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61" name="Rectangle 30">
                    <a:extLst>
                      <a:ext uri="{FF2B5EF4-FFF2-40B4-BE49-F238E27FC236}">
                        <a16:creationId xmlns:a16="http://schemas.microsoft.com/office/drawing/2014/main" id="{8B34B96F-55CF-7813-74EB-F0FD885AA0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4" y="3492"/>
                    <a:ext cx="351" cy="8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62" name="Rectangle 31">
                    <a:extLst>
                      <a:ext uri="{FF2B5EF4-FFF2-40B4-BE49-F238E27FC236}">
                        <a16:creationId xmlns:a16="http://schemas.microsoft.com/office/drawing/2014/main" id="{94664DDE-B86F-D712-10B1-6F611F8D96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75" y="3492"/>
                    <a:ext cx="351" cy="8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63" name="Rectangle 32">
                    <a:extLst>
                      <a:ext uri="{FF2B5EF4-FFF2-40B4-BE49-F238E27FC236}">
                        <a16:creationId xmlns:a16="http://schemas.microsoft.com/office/drawing/2014/main" id="{8D568A98-9819-FD0A-B229-99DE8B02C0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26" y="3492"/>
                    <a:ext cx="350" cy="8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64" name="Rectangle 33">
                    <a:extLst>
                      <a:ext uri="{FF2B5EF4-FFF2-40B4-BE49-F238E27FC236}">
                        <a16:creationId xmlns:a16="http://schemas.microsoft.com/office/drawing/2014/main" id="{194E3AED-2434-ED31-1872-BA0871D52A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76" y="3492"/>
                    <a:ext cx="351" cy="8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65" name="Rectangle 34">
                    <a:extLst>
                      <a:ext uri="{FF2B5EF4-FFF2-40B4-BE49-F238E27FC236}">
                        <a16:creationId xmlns:a16="http://schemas.microsoft.com/office/drawing/2014/main" id="{013E326D-063F-B804-939D-2CCDA56925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7" y="3492"/>
                    <a:ext cx="350" cy="8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66" name="Rectangle 35">
                    <a:extLst>
                      <a:ext uri="{FF2B5EF4-FFF2-40B4-BE49-F238E27FC236}">
                        <a16:creationId xmlns:a16="http://schemas.microsoft.com/office/drawing/2014/main" id="{5575045D-DB9F-3741-96CC-237211A96C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77" y="3492"/>
                    <a:ext cx="351" cy="8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67" name="Rectangle 36">
                    <a:extLst>
                      <a:ext uri="{FF2B5EF4-FFF2-40B4-BE49-F238E27FC236}">
                        <a16:creationId xmlns:a16="http://schemas.microsoft.com/office/drawing/2014/main" id="{D02371AA-9F00-3914-5036-63E1B61244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1" y="3492"/>
                    <a:ext cx="351" cy="8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68" name="Rectangle 37">
                    <a:extLst>
                      <a:ext uri="{FF2B5EF4-FFF2-40B4-BE49-F238E27FC236}">
                        <a16:creationId xmlns:a16="http://schemas.microsoft.com/office/drawing/2014/main" id="{DF119964-ECDE-B4A4-688B-1F1FFA3203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82" y="3492"/>
                    <a:ext cx="350" cy="8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69" name="Rectangle 38">
                    <a:extLst>
                      <a:ext uri="{FF2B5EF4-FFF2-40B4-BE49-F238E27FC236}">
                        <a16:creationId xmlns:a16="http://schemas.microsoft.com/office/drawing/2014/main" id="{98DF57D0-CA03-A346-E556-DA6B4DDD29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2" y="3492"/>
                    <a:ext cx="351" cy="8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470" name="Rectangle 39">
                    <a:extLst>
                      <a:ext uri="{FF2B5EF4-FFF2-40B4-BE49-F238E27FC236}">
                        <a16:creationId xmlns:a16="http://schemas.microsoft.com/office/drawing/2014/main" id="{89606CBA-E2C9-D53C-D492-51BAD9432F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1" y="3492"/>
                    <a:ext cx="351" cy="8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60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0000"/>
                      <a:buFont typeface="Wingdings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60453" name="Text Box 40">
                  <a:extLst>
                    <a:ext uri="{FF2B5EF4-FFF2-40B4-BE49-F238E27FC236}">
                      <a16:creationId xmlns:a16="http://schemas.microsoft.com/office/drawing/2014/main" id="{D0D6F942-FBF7-EC9C-7828-EC3E00D923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1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latin typeface="Comic Sans MS" panose="030F0902030302020204" pitchFamily="66" charset="0"/>
                    </a:rPr>
                    <a:t>140</a:t>
                  </a:r>
                </a:p>
              </p:txBody>
            </p:sp>
            <p:sp>
              <p:nvSpPr>
                <p:cNvPr id="60454" name="Text Box 41">
                  <a:extLst>
                    <a:ext uri="{FF2B5EF4-FFF2-40B4-BE49-F238E27FC236}">
                      <a16:creationId xmlns:a16="http://schemas.microsoft.com/office/drawing/2014/main" id="{45DFB78D-236E-4790-B7F9-38FCA24BEC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50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latin typeface="Comic Sans MS" panose="030F0902030302020204" pitchFamily="66" charset="0"/>
                    </a:rPr>
                    <a:t>150</a:t>
                  </a:r>
                </a:p>
              </p:txBody>
            </p:sp>
            <p:sp>
              <p:nvSpPr>
                <p:cNvPr id="60455" name="Text Box 42">
                  <a:extLst>
                    <a:ext uri="{FF2B5EF4-FFF2-40B4-BE49-F238E27FC236}">
                      <a16:creationId xmlns:a16="http://schemas.microsoft.com/office/drawing/2014/main" id="{B11E9A15-EC0E-C79A-24BA-DDADC238CA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60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latin typeface="Comic Sans MS" panose="030F0902030302020204" pitchFamily="66" charset="0"/>
                    </a:rPr>
                    <a:t>160</a:t>
                  </a:r>
                </a:p>
              </p:txBody>
            </p:sp>
            <p:sp>
              <p:nvSpPr>
                <p:cNvPr id="60456" name="Text Box 43">
                  <a:extLst>
                    <a:ext uri="{FF2B5EF4-FFF2-40B4-BE49-F238E27FC236}">
                      <a16:creationId xmlns:a16="http://schemas.microsoft.com/office/drawing/2014/main" id="{61F197BB-C2F5-21B7-B1A2-A67BCBC3C7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9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latin typeface="Comic Sans MS" panose="030F0902030302020204" pitchFamily="66" charset="0"/>
                    </a:rPr>
                    <a:t>170</a:t>
                  </a:r>
                </a:p>
              </p:txBody>
            </p:sp>
            <p:sp>
              <p:nvSpPr>
                <p:cNvPr id="60457" name="Text Box 44">
                  <a:extLst>
                    <a:ext uri="{FF2B5EF4-FFF2-40B4-BE49-F238E27FC236}">
                      <a16:creationId xmlns:a16="http://schemas.microsoft.com/office/drawing/2014/main" id="{486F8C6F-BC7E-6AFA-A4A5-BF56E1905E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77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latin typeface="Comic Sans MS" panose="030F0902030302020204" pitchFamily="66" charset="0"/>
                    </a:rPr>
                    <a:t>180</a:t>
                  </a:r>
                </a:p>
              </p:txBody>
            </p:sp>
            <p:sp>
              <p:nvSpPr>
                <p:cNvPr id="60458" name="Text Box 45">
                  <a:extLst>
                    <a:ext uri="{FF2B5EF4-FFF2-40B4-BE49-F238E27FC236}">
                      <a16:creationId xmlns:a16="http://schemas.microsoft.com/office/drawing/2014/main" id="{14DDE140-AEDD-91CE-7202-0CA78F1F76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80" y="3579"/>
                  <a:ext cx="380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latin typeface="Comic Sans MS" panose="030F0902030302020204" pitchFamily="66" charset="0"/>
                    </a:rPr>
                    <a:t>190</a:t>
                  </a:r>
                </a:p>
              </p:txBody>
            </p:sp>
          </p:grpSp>
          <p:sp>
            <p:nvSpPr>
              <p:cNvPr id="60443" name="Line 46">
                <a:extLst>
                  <a:ext uri="{FF2B5EF4-FFF2-40B4-BE49-F238E27FC236}">
                    <a16:creationId xmlns:a16="http://schemas.microsoft.com/office/drawing/2014/main" id="{05E7466A-4AE6-2AAE-DAC4-102E25D72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10" y="3160"/>
                <a:ext cx="0" cy="24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60444" name="Rectangle 47">
                <a:extLst>
                  <a:ext uri="{FF2B5EF4-FFF2-40B4-BE49-F238E27FC236}">
                    <a16:creationId xmlns:a16="http://schemas.microsoft.com/office/drawing/2014/main" id="{D9EE4324-8D7A-67CA-4B5A-A222595217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0" y="3160"/>
                <a:ext cx="2007" cy="2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0445" name="Group 48">
                <a:extLst>
                  <a:ext uri="{FF2B5EF4-FFF2-40B4-BE49-F238E27FC236}">
                    <a16:creationId xmlns:a16="http://schemas.microsoft.com/office/drawing/2014/main" id="{22A9FA70-EBFA-F8F8-C938-CF6820F359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3206"/>
                <a:ext cx="1879" cy="152"/>
                <a:chOff x="1387" y="3460"/>
                <a:chExt cx="572" cy="152"/>
              </a:xfrm>
            </p:grpSpPr>
            <p:sp>
              <p:nvSpPr>
                <p:cNvPr id="60449" name="Line 49">
                  <a:extLst>
                    <a:ext uri="{FF2B5EF4-FFF2-40B4-BE49-F238E27FC236}">
                      <a16:creationId xmlns:a16="http://schemas.microsoft.com/office/drawing/2014/main" id="{9BC5AF51-D505-5DBD-59EC-83BB8F8D54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87" y="3538"/>
                  <a:ext cx="57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  <p:sp>
              <p:nvSpPr>
                <p:cNvPr id="60450" name="Line 50">
                  <a:extLst>
                    <a:ext uri="{FF2B5EF4-FFF2-40B4-BE49-F238E27FC236}">
                      <a16:creationId xmlns:a16="http://schemas.microsoft.com/office/drawing/2014/main" id="{64036723-132D-9220-4D2D-51F70DC41B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88" y="3460"/>
                  <a:ext cx="0" cy="15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</p:grpSp>
          <p:grpSp>
            <p:nvGrpSpPr>
              <p:cNvPr id="60446" name="Group 51">
                <a:extLst>
                  <a:ext uri="{FF2B5EF4-FFF2-40B4-BE49-F238E27FC236}">
                    <a16:creationId xmlns:a16="http://schemas.microsoft.com/office/drawing/2014/main" id="{376080B0-B94C-F465-4140-AC7A14AE6A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71" y="3196"/>
                <a:ext cx="531" cy="176"/>
                <a:chOff x="3290" y="3166"/>
                <a:chExt cx="1748" cy="176"/>
              </a:xfrm>
            </p:grpSpPr>
            <p:sp>
              <p:nvSpPr>
                <p:cNvPr id="60447" name="Line 52">
                  <a:extLst>
                    <a:ext uri="{FF2B5EF4-FFF2-40B4-BE49-F238E27FC236}">
                      <a16:creationId xmlns:a16="http://schemas.microsoft.com/office/drawing/2014/main" id="{C70EF805-C364-5200-1CC2-7E9BC857E4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0" y="3252"/>
                  <a:ext cx="174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  <p:sp>
              <p:nvSpPr>
                <p:cNvPr id="60448" name="Line 53">
                  <a:extLst>
                    <a:ext uri="{FF2B5EF4-FFF2-40B4-BE49-F238E27FC236}">
                      <a16:creationId xmlns:a16="http://schemas.microsoft.com/office/drawing/2014/main" id="{6984C070-2BCF-5B27-5FED-64A1DCECC8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31" y="3166"/>
                  <a:ext cx="0" cy="17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aa-ET"/>
                </a:p>
              </p:txBody>
            </p:sp>
          </p:grpSp>
        </p:grpSp>
        <p:sp>
          <p:nvSpPr>
            <p:cNvPr id="60426" name="Line 76">
              <a:extLst>
                <a:ext uri="{FF2B5EF4-FFF2-40B4-BE49-F238E27FC236}">
                  <a16:creationId xmlns:a16="http://schemas.microsoft.com/office/drawing/2014/main" id="{093F8F97-2D1D-6103-96C5-F88B351D48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3" y="2723"/>
              <a:ext cx="0" cy="24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aa-ET"/>
            </a:p>
          </p:txBody>
        </p:sp>
        <p:sp>
          <p:nvSpPr>
            <p:cNvPr id="60427" name="Rectangle 77">
              <a:extLst>
                <a:ext uri="{FF2B5EF4-FFF2-40B4-BE49-F238E27FC236}">
                  <a16:creationId xmlns:a16="http://schemas.microsoft.com/office/drawing/2014/main" id="{BF72D89E-A9E1-9FEC-D330-EBF1D4C2C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3" y="2723"/>
              <a:ext cx="1616" cy="24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0428" name="Group 78">
              <a:extLst>
                <a:ext uri="{FF2B5EF4-FFF2-40B4-BE49-F238E27FC236}">
                  <a16:creationId xmlns:a16="http://schemas.microsoft.com/office/drawing/2014/main" id="{995D70EE-762B-3C51-B54A-56CEFCF429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4" y="2769"/>
              <a:ext cx="1879" cy="152"/>
              <a:chOff x="1387" y="3460"/>
              <a:chExt cx="572" cy="152"/>
            </a:xfrm>
          </p:grpSpPr>
          <p:sp>
            <p:nvSpPr>
              <p:cNvPr id="60440" name="Line 79">
                <a:extLst>
                  <a:ext uri="{FF2B5EF4-FFF2-40B4-BE49-F238E27FC236}">
                    <a16:creationId xmlns:a16="http://schemas.microsoft.com/office/drawing/2014/main" id="{5B5A2EAC-08BB-D6AA-3670-F61A4E2E68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7" y="3538"/>
                <a:ext cx="5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60441" name="Line 80">
                <a:extLst>
                  <a:ext uri="{FF2B5EF4-FFF2-40B4-BE49-F238E27FC236}">
                    <a16:creationId xmlns:a16="http://schemas.microsoft.com/office/drawing/2014/main" id="{AB73B0CF-712B-6383-899A-71D2F8EA5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8" y="3460"/>
                <a:ext cx="0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</p:grpSp>
        <p:grpSp>
          <p:nvGrpSpPr>
            <p:cNvPr id="60429" name="Group 81">
              <a:extLst>
                <a:ext uri="{FF2B5EF4-FFF2-40B4-BE49-F238E27FC236}">
                  <a16:creationId xmlns:a16="http://schemas.microsoft.com/office/drawing/2014/main" id="{CE353728-E0C1-EDB1-F8DF-F5E81E7B96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2" y="2759"/>
              <a:ext cx="531" cy="176"/>
              <a:chOff x="3290" y="3166"/>
              <a:chExt cx="1748" cy="176"/>
            </a:xfrm>
          </p:grpSpPr>
          <p:sp>
            <p:nvSpPr>
              <p:cNvPr id="60438" name="Line 82">
                <a:extLst>
                  <a:ext uri="{FF2B5EF4-FFF2-40B4-BE49-F238E27FC236}">
                    <a16:creationId xmlns:a16="http://schemas.microsoft.com/office/drawing/2014/main" id="{A921A799-FD49-909D-1E2B-4F1989682F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3252"/>
                <a:ext cx="17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  <p:sp>
            <p:nvSpPr>
              <p:cNvPr id="60439" name="Line 83">
                <a:extLst>
                  <a:ext uri="{FF2B5EF4-FFF2-40B4-BE49-F238E27FC236}">
                    <a16:creationId xmlns:a16="http://schemas.microsoft.com/office/drawing/2014/main" id="{3AF4025A-7B97-1DA2-7B7D-CA67EA2A83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1" y="3166"/>
                <a:ext cx="0" cy="1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aa-ET"/>
              </a:p>
            </p:txBody>
          </p:sp>
        </p:grpSp>
        <p:sp>
          <p:nvSpPr>
            <p:cNvPr id="60430" name="Text Box 84">
              <a:extLst>
                <a:ext uri="{FF2B5EF4-FFF2-40B4-BE49-F238E27FC236}">
                  <a16:creationId xmlns:a16="http://schemas.microsoft.com/office/drawing/2014/main" id="{8F0ACA7A-9B2A-426F-8FA1-75E66DD93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658"/>
              <a:ext cx="6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400">
                  <a:solidFill>
                    <a:schemeClr val="accent2"/>
                  </a:solidFill>
                  <a:latin typeface="Comic Sans MS" panose="030F0902030302020204" pitchFamily="66" charset="0"/>
                </a:rPr>
                <a:t>Boys</a:t>
              </a:r>
            </a:p>
          </p:txBody>
        </p:sp>
        <p:sp>
          <p:nvSpPr>
            <p:cNvPr id="60431" name="Text Box 85">
              <a:extLst>
                <a:ext uri="{FF2B5EF4-FFF2-40B4-BE49-F238E27FC236}">
                  <a16:creationId xmlns:a16="http://schemas.microsoft.com/office/drawing/2014/main" id="{78CBB377-08C7-D0C0-CCA3-DA6123DCA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0" y="2969"/>
              <a:ext cx="6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2400">
                  <a:solidFill>
                    <a:schemeClr val="accent2"/>
                  </a:solidFill>
                  <a:latin typeface="Comic Sans MS" panose="030F0902030302020204" pitchFamily="66" charset="0"/>
                </a:rPr>
                <a:t>Girls</a:t>
              </a:r>
            </a:p>
          </p:txBody>
        </p:sp>
        <p:sp>
          <p:nvSpPr>
            <p:cNvPr id="60432" name="Text Box 87">
              <a:extLst>
                <a:ext uri="{FF2B5EF4-FFF2-40B4-BE49-F238E27FC236}">
                  <a16:creationId xmlns:a16="http://schemas.microsoft.com/office/drawing/2014/main" id="{2BC6B2A2-2293-7777-56FB-CB10F76FC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6" y="2415"/>
              <a:ext cx="45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1600">
                  <a:latin typeface="Comic Sans MS" panose="030F0902030302020204" pitchFamily="66" charset="0"/>
                </a:rPr>
                <a:t>cm</a:t>
              </a:r>
            </a:p>
          </p:txBody>
        </p:sp>
        <p:sp>
          <p:nvSpPr>
            <p:cNvPr id="60433" name="Text Box 88">
              <a:extLst>
                <a:ext uri="{FF2B5EF4-FFF2-40B4-BE49-F238E27FC236}">
                  <a16:creationId xmlns:a16="http://schemas.microsoft.com/office/drawing/2014/main" id="{2C3E7100-CE1F-33FC-0B8D-8433A81DE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" y="3257"/>
              <a:ext cx="2539" cy="231"/>
            </a:xfrm>
            <a:prstGeom prst="rect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18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1.</a:t>
              </a:r>
              <a:r>
                <a:rPr lang="en-GB" altLang="en-US" sz="1800">
                  <a:latin typeface="Comic Sans MS" panose="030F0902030302020204" pitchFamily="66" charset="0"/>
                </a:rPr>
                <a:t> </a:t>
              </a:r>
              <a:r>
                <a:rPr lang="en-GB" altLang="en-US" sz="1700">
                  <a:latin typeface="Comic Sans MS" panose="030F0902030302020204" pitchFamily="66" charset="0"/>
                </a:rPr>
                <a:t>The girls are taller on average.</a:t>
              </a:r>
            </a:p>
          </p:txBody>
        </p:sp>
        <p:sp>
          <p:nvSpPr>
            <p:cNvPr id="60434" name="Text Box 89">
              <a:extLst>
                <a:ext uri="{FF2B5EF4-FFF2-40B4-BE49-F238E27FC236}">
                  <a16:creationId xmlns:a16="http://schemas.microsoft.com/office/drawing/2014/main" id="{C239B49C-B3C3-EEB1-84D9-369700C49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" y="3584"/>
              <a:ext cx="3088" cy="231"/>
            </a:xfrm>
            <a:prstGeom prst="rect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18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3.</a:t>
              </a:r>
              <a:r>
                <a:rPr lang="en-GB" altLang="en-US" sz="1800">
                  <a:latin typeface="Comic Sans MS" panose="030F0902030302020204" pitchFamily="66" charset="0"/>
                </a:rPr>
                <a:t> </a:t>
              </a:r>
              <a:r>
                <a:rPr lang="en-GB" altLang="en-US" sz="1700">
                  <a:latin typeface="Comic Sans MS" panose="030F0902030302020204" pitchFamily="66" charset="0"/>
                </a:rPr>
                <a:t>The girls show less variability in height.</a:t>
              </a:r>
            </a:p>
          </p:txBody>
        </p:sp>
        <p:sp>
          <p:nvSpPr>
            <p:cNvPr id="60435" name="Text Box 90">
              <a:extLst>
                <a:ext uri="{FF2B5EF4-FFF2-40B4-BE49-F238E27FC236}">
                  <a16:creationId xmlns:a16="http://schemas.microsoft.com/office/drawing/2014/main" id="{80E78DC2-1362-1B86-82FC-A87B6FE93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" y="3911"/>
              <a:ext cx="3088" cy="231"/>
            </a:xfrm>
            <a:prstGeom prst="rect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18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4.</a:t>
              </a:r>
              <a:r>
                <a:rPr lang="en-GB" altLang="en-US" sz="1800">
                  <a:latin typeface="Comic Sans MS" panose="030F0902030302020204" pitchFamily="66" charset="0"/>
                </a:rPr>
                <a:t> </a:t>
              </a:r>
              <a:r>
                <a:rPr lang="en-GB" altLang="en-US" sz="1700">
                  <a:latin typeface="Comic Sans MS" panose="030F0902030302020204" pitchFamily="66" charset="0"/>
                </a:rPr>
                <a:t>The boys show less variability in height.</a:t>
              </a:r>
            </a:p>
          </p:txBody>
        </p:sp>
        <p:sp>
          <p:nvSpPr>
            <p:cNvPr id="60436" name="Text Box 91">
              <a:extLst>
                <a:ext uri="{FF2B5EF4-FFF2-40B4-BE49-F238E27FC236}">
                  <a16:creationId xmlns:a16="http://schemas.microsoft.com/office/drawing/2014/main" id="{663171A3-7EA8-CB58-3C2A-4521D0B11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2" y="3584"/>
              <a:ext cx="2276" cy="231"/>
            </a:xfrm>
            <a:prstGeom prst="rect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18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5.</a:t>
              </a:r>
              <a:r>
                <a:rPr lang="en-GB" altLang="en-US" sz="1800">
                  <a:latin typeface="Comic Sans MS" panose="030F0902030302020204" pitchFamily="66" charset="0"/>
                </a:rPr>
                <a:t> </a:t>
              </a:r>
              <a:r>
                <a:rPr lang="en-GB" altLang="en-US" sz="1700">
                  <a:latin typeface="Comic Sans MS" panose="030F0902030302020204" pitchFamily="66" charset="0"/>
                </a:rPr>
                <a:t>The smallest person is a girl.</a:t>
              </a:r>
            </a:p>
          </p:txBody>
        </p:sp>
        <p:sp>
          <p:nvSpPr>
            <p:cNvPr id="60437" name="Text Box 92">
              <a:extLst>
                <a:ext uri="{FF2B5EF4-FFF2-40B4-BE49-F238E27FC236}">
                  <a16:creationId xmlns:a16="http://schemas.microsoft.com/office/drawing/2014/main" id="{DAC866AB-AC04-A675-35BC-CF43D20B9E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2" y="3911"/>
              <a:ext cx="2276" cy="231"/>
            </a:xfrm>
            <a:prstGeom prst="rect">
              <a:avLst/>
            </a:prstGeom>
            <a:gradFill rotWithShape="0">
              <a:gsLst>
                <a:gs pos="0">
                  <a:srgbClr val="A8A877"/>
                </a:gs>
                <a:gs pos="50000">
                  <a:srgbClr val="FDFDB3"/>
                </a:gs>
                <a:gs pos="100000">
                  <a:srgbClr val="A8A8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1800" b="1">
                  <a:solidFill>
                    <a:schemeClr val="accent2"/>
                  </a:solidFill>
                  <a:latin typeface="Comic Sans MS" panose="030F0902030302020204" pitchFamily="66" charset="0"/>
                </a:rPr>
                <a:t>6.</a:t>
              </a:r>
              <a:r>
                <a:rPr lang="en-GB" altLang="en-US" sz="1800">
                  <a:latin typeface="Comic Sans MS" panose="030F0902030302020204" pitchFamily="66" charset="0"/>
                </a:rPr>
                <a:t> </a:t>
              </a:r>
              <a:r>
                <a:rPr lang="en-GB" altLang="en-US" sz="1700">
                  <a:latin typeface="Comic Sans MS" panose="030F0902030302020204" pitchFamily="66" charset="0"/>
                </a:rPr>
                <a:t>The tallest person is a boy.</a:t>
              </a:r>
            </a:p>
          </p:txBody>
        </p:sp>
      </p:grpSp>
      <p:sp>
        <p:nvSpPr>
          <p:cNvPr id="60418" name="Rectangle 96">
            <a:extLst>
              <a:ext uri="{FF2B5EF4-FFF2-40B4-BE49-F238E27FC236}">
                <a16:creationId xmlns:a16="http://schemas.microsoft.com/office/drawing/2014/main" id="{B05944F4-B9E4-1DA2-049D-A316008D0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905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0419" name="Rectangle 97">
            <a:extLst>
              <a:ext uri="{FF2B5EF4-FFF2-40B4-BE49-F238E27FC236}">
                <a16:creationId xmlns:a16="http://schemas.microsoft.com/office/drawing/2014/main" id="{E6FE23CF-421B-2C9C-BB84-728CF6D2E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67500"/>
            <a:ext cx="9144000" cy="1905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0420" name="Rectangle 98">
            <a:extLst>
              <a:ext uri="{FF2B5EF4-FFF2-40B4-BE49-F238E27FC236}">
                <a16:creationId xmlns:a16="http://schemas.microsoft.com/office/drawing/2014/main" id="{3206A5DC-5400-B8E7-6EB2-3346C0261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68580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0421" name="Rectangle 99">
            <a:extLst>
              <a:ext uri="{FF2B5EF4-FFF2-40B4-BE49-F238E27FC236}">
                <a16:creationId xmlns:a16="http://schemas.microsoft.com/office/drawing/2014/main" id="{E93291CB-7228-6889-72AE-44B164490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0"/>
            <a:ext cx="228600" cy="6858000"/>
          </a:xfrm>
          <a:prstGeom prst="rect">
            <a:avLst/>
          </a:prstGeom>
          <a:gradFill rotWithShape="1">
            <a:gsLst>
              <a:gs pos="0">
                <a:srgbClr val="988B7B"/>
              </a:gs>
              <a:gs pos="50000">
                <a:srgbClr val="E5D1B9"/>
              </a:gs>
              <a:gs pos="100000">
                <a:srgbClr val="988B7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42724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E3672A-2E48-7D41-0C03-0E46733B312E}"/>
              </a:ext>
            </a:extLst>
          </p:cNvPr>
          <p:cNvSpPr txBox="1"/>
          <p:nvPr/>
        </p:nvSpPr>
        <p:spPr>
          <a:xfrm>
            <a:off x="729049" y="2166721"/>
            <a:ext cx="738934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/>
              <a:t>18, 34, 76, 29, 15, 41, 46, 25, 54, 38, 20, 32, 43, 22</a:t>
            </a:r>
          </a:p>
        </p:txBody>
      </p:sp>
    </p:spTree>
    <p:extLst>
      <p:ext uri="{BB962C8B-B14F-4D97-AF65-F5344CB8AC3E}">
        <p14:creationId xmlns:p14="http://schemas.microsoft.com/office/powerpoint/2010/main" val="3851237741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072D-6C93-4B17-BFA3-3BF6A7B2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this example from Lecture 2 (IRIS)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AFA00-5DD6-4125-B67B-5F40A9830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41A13C7-3B14-4F39-B4D7-EB4B8924E7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0" t="14976" r="10292" b="3598"/>
          <a:stretch/>
        </p:blipFill>
        <p:spPr bwMode="auto">
          <a:xfrm>
            <a:off x="1641764" y="1637587"/>
            <a:ext cx="5338538" cy="393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131185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25A2-7438-4728-91C2-B09BF52AE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 for All Attributes of IRIS dataset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6B6F-06F2-416D-A8A1-E217796F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42CF2B0C-CEAF-4872-9E56-8B50205BD4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25" y="1762987"/>
            <a:ext cx="6915002" cy="392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724689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56645-D865-4760-BFAB-687B6C96A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Boxplots of IRIS Dataset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0F200-4B28-4872-8308-662DFEC92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Setosa</a:t>
            </a:r>
            <a:r>
              <a:rPr lang="en-US" dirty="0"/>
              <a:t> is having </a:t>
            </a:r>
            <a:r>
              <a:rPr lang="en-US" b="1" dirty="0">
                <a:solidFill>
                  <a:srgbClr val="FF00FF"/>
                </a:solidFill>
              </a:rPr>
              <a:t>smaller feature and less distributed</a:t>
            </a:r>
          </a:p>
          <a:p>
            <a:r>
              <a:rPr lang="en-US" dirty="0"/>
              <a:t>Versicolor is distributed in a average manner and average features</a:t>
            </a:r>
          </a:p>
          <a:p>
            <a:r>
              <a:rPr lang="en-US" dirty="0"/>
              <a:t>Virginica is highly distributed with large no .of values and features</a:t>
            </a:r>
          </a:p>
          <a:p>
            <a:r>
              <a:rPr lang="en-US" dirty="0"/>
              <a:t>Clearly the mean/ median values are being shown by each plots for various features(sepal length &amp; width, petal length &amp; width)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0BF5C-1D5A-4128-A1DA-6D01B29B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0261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D109-7B87-42C1-841B-AAB6F524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histogram?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6F24E-5C3A-4F64-A1DC-45CFACCA2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90909"/>
                </a:solidFill>
                <a:effectLst/>
                <a:latin typeface="Helvetica" panose="020B0604020202020204" pitchFamily="34" charset="0"/>
              </a:rPr>
              <a:t>A </a:t>
            </a:r>
            <a:r>
              <a:rPr lang="en-US" b="1" i="0" dirty="0">
                <a:solidFill>
                  <a:srgbClr val="FF00FF"/>
                </a:solidFill>
                <a:effectLst/>
                <a:latin typeface="Helvetica" panose="020B0604020202020204" pitchFamily="34" charset="0"/>
              </a:rPr>
              <a:t>frequency distribution </a:t>
            </a:r>
            <a:r>
              <a:rPr lang="en-US" b="0" i="0" dirty="0">
                <a:solidFill>
                  <a:srgbClr val="090909"/>
                </a:solidFill>
                <a:effectLst/>
                <a:latin typeface="Helvetica" panose="020B0604020202020204" pitchFamily="34" charset="0"/>
              </a:rPr>
              <a:t>shows how often each different value in a set of data occurs. </a:t>
            </a:r>
          </a:p>
          <a:p>
            <a:r>
              <a:rPr lang="en-US" b="0" i="0" dirty="0">
                <a:solidFill>
                  <a:srgbClr val="090909"/>
                </a:solidFill>
                <a:effectLst/>
                <a:latin typeface="Helvetica" panose="020B0604020202020204" pitchFamily="34" charset="0"/>
              </a:rPr>
              <a:t>It looks very much like a </a:t>
            </a:r>
            <a:r>
              <a:rPr lang="en-US" b="1" i="0" dirty="0">
                <a:solidFill>
                  <a:srgbClr val="FF00FF"/>
                </a:solidFill>
                <a:effectLst/>
                <a:latin typeface="Helvetica" panose="020B0604020202020204" pitchFamily="34" charset="0"/>
              </a:rPr>
              <a:t>bar chart</a:t>
            </a:r>
            <a:r>
              <a:rPr lang="en-US" b="0" i="0" dirty="0">
                <a:solidFill>
                  <a:srgbClr val="090909"/>
                </a:solidFill>
                <a:effectLst/>
                <a:latin typeface="Helvetica" panose="020B0604020202020204" pitchFamily="34" charset="0"/>
              </a:rPr>
              <a:t>, but there are important differences between them. 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F697F-A990-4A4D-8977-5B52BBC34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050" name="Picture 2" descr="Histogram Example">
            <a:extLst>
              <a:ext uri="{FF2B5EF4-FFF2-40B4-BE49-F238E27FC236}">
                <a16:creationId xmlns:a16="http://schemas.microsoft.com/office/drawing/2014/main" id="{5CB54A1C-25A3-4C4E-9ABD-5D2199EC1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056" y="3021157"/>
            <a:ext cx="3835609" cy="2566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07970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49E5-DB0A-4A5F-B85D-01CCAD97E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Histogram Shapes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3DBC5-4FA1-4037-BC43-62B2C35A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074" name="Picture 2" descr="Histogram normal distribution">
            <a:extLst>
              <a:ext uri="{FF2B5EF4-FFF2-40B4-BE49-F238E27FC236}">
                <a16:creationId xmlns:a16="http://schemas.microsoft.com/office/drawing/2014/main" id="{EE360E93-55FC-4224-98D9-52E186F15F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3" y="1957929"/>
            <a:ext cx="2393416" cy="147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ight-Skewed Distribution">
            <a:extLst>
              <a:ext uri="{FF2B5EF4-FFF2-40B4-BE49-F238E27FC236}">
                <a16:creationId xmlns:a16="http://schemas.microsoft.com/office/drawing/2014/main" id="{4A9C4A66-19D0-4B5A-BDB9-A1D12D088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903" y="1952624"/>
            <a:ext cx="2553704" cy="147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imodal (double-peaked) Distribution">
            <a:extLst>
              <a:ext uri="{FF2B5EF4-FFF2-40B4-BE49-F238E27FC236}">
                <a16:creationId xmlns:a16="http://schemas.microsoft.com/office/drawing/2014/main" id="{A865ECE6-EF90-490B-80A0-F85A9352E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521" y="2062595"/>
            <a:ext cx="3200418" cy="1363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lateau Distribution">
            <a:extLst>
              <a:ext uri="{FF2B5EF4-FFF2-40B4-BE49-F238E27FC236}">
                <a16:creationId xmlns:a16="http://schemas.microsoft.com/office/drawing/2014/main" id="{C9EE93E3-A53E-44C4-A765-E553A7953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6" y="3918250"/>
            <a:ext cx="2456205" cy="147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omb Distribution">
            <a:extLst>
              <a:ext uri="{FF2B5EF4-FFF2-40B4-BE49-F238E27FC236}">
                <a16:creationId xmlns:a16="http://schemas.microsoft.com/office/drawing/2014/main" id="{EE56D622-7466-41B4-A564-27883A21A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874" y="3918250"/>
            <a:ext cx="2456205" cy="1523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Dog Food Distribution">
            <a:extLst>
              <a:ext uri="{FF2B5EF4-FFF2-40B4-BE49-F238E27FC236}">
                <a16:creationId xmlns:a16="http://schemas.microsoft.com/office/drawing/2014/main" id="{EB04C26F-2865-436F-93F0-ED5D51115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677" y="4411648"/>
            <a:ext cx="2864387" cy="98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715996-CC0D-425F-B70A-E33BB2AA989A}"/>
              </a:ext>
            </a:extLst>
          </p:cNvPr>
          <p:cNvSpPr txBox="1"/>
          <p:nvPr/>
        </p:nvSpPr>
        <p:spPr>
          <a:xfrm>
            <a:off x="249382" y="5702089"/>
            <a:ext cx="56942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Credit: </a:t>
            </a:r>
            <a:r>
              <a:rPr lang="en-US" sz="1350" dirty="0">
                <a:hlinkClick r:id="rId8"/>
              </a:rPr>
              <a:t>https://asq.org/quality-resources/histogram</a:t>
            </a:r>
            <a:r>
              <a:rPr lang="en-US" sz="1350" dirty="0"/>
              <a:t> </a:t>
            </a:r>
            <a:endParaRPr lang="aa-ET" sz="1350" dirty="0"/>
          </a:p>
        </p:txBody>
      </p:sp>
    </p:spTree>
    <p:extLst>
      <p:ext uri="{BB962C8B-B14F-4D97-AF65-F5344CB8AC3E}">
        <p14:creationId xmlns:p14="http://schemas.microsoft.com/office/powerpoint/2010/main" val="21597807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30840-3CC6-DB8B-894D-EEB50F5A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a-ET" dirty="0"/>
              <a:t>Histogram </a:t>
            </a:r>
          </a:p>
        </p:txBody>
      </p:sp>
      <p:pic>
        <p:nvPicPr>
          <p:cNvPr id="2050" name="Picture 2" descr="Exploring Classifiers with Python Scikit-learn — Iris Dataset | by Dehao  Zhang | Towards Data Science">
            <a:extLst>
              <a:ext uri="{FF2B5EF4-FFF2-40B4-BE49-F238E27FC236}">
                <a16:creationId xmlns:a16="http://schemas.microsoft.com/office/drawing/2014/main" id="{4E540BF1-B533-84FA-3CE3-3F4D083E74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792412"/>
            <a:ext cx="27432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9ECB2E-4BE7-F714-0E7F-641195D524A5}"/>
              </a:ext>
            </a:extLst>
          </p:cNvPr>
          <p:cNvSpPr txBox="1"/>
          <p:nvPr/>
        </p:nvSpPr>
        <p:spPr>
          <a:xfrm>
            <a:off x="1655180" y="1782501"/>
            <a:ext cx="118397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aa-ET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ill Sans MT"/>
                <a:ea typeface="Gill Sans MT"/>
                <a:cs typeface="Gill Sans MT"/>
                <a:sym typeface="Gill Sans MT"/>
              </a:rPr>
              <a:t>When Data</a:t>
            </a:r>
          </a:p>
        </p:txBody>
      </p:sp>
    </p:spTree>
    <p:extLst>
      <p:ext uri="{BB962C8B-B14F-4D97-AF65-F5344CB8AC3E}">
        <p14:creationId xmlns:p14="http://schemas.microsoft.com/office/powerpoint/2010/main" val="1524291188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E545-6AC2-4332-A4BE-E3B896D4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B3D26-9ADA-4773-B7A6-D34CA878B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data is </a:t>
            </a:r>
            <a:r>
              <a:rPr lang="en-US" dirty="0">
                <a:solidFill>
                  <a:srgbClr val="FF00FF"/>
                </a:solidFill>
              </a:rPr>
              <a:t>Numerical</a:t>
            </a:r>
          </a:p>
          <a:p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4D43A-9339-468C-9462-CA2B4600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2" descr="Exploring Classifiers with Python Scikit-learn — Iris Dataset | by Dehao  Zhang | Towards Data Science">
            <a:extLst>
              <a:ext uri="{FF2B5EF4-FFF2-40B4-BE49-F238E27FC236}">
                <a16:creationId xmlns:a16="http://schemas.microsoft.com/office/drawing/2014/main" id="{201BA62D-C9A4-8CAF-D3C2-60A64743B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042" y="1612034"/>
            <a:ext cx="6679915" cy="4360501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4226956971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E545-6AC2-4332-A4BE-E3B896D4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Barplot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B3D26-9ADA-4773-B7A6-D34CA878B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data is </a:t>
            </a:r>
            <a:r>
              <a:rPr lang="en-US" dirty="0">
                <a:solidFill>
                  <a:srgbClr val="FF00FF"/>
                </a:solidFill>
              </a:rPr>
              <a:t>Categorical</a:t>
            </a:r>
          </a:p>
          <a:p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4D43A-9339-468C-9462-CA2B4600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26" name="Picture 2" descr="Guide to Data Visualization with Python: Part 1 - Analytics Vidhya">
            <a:extLst>
              <a:ext uri="{FF2B5EF4-FFF2-40B4-BE49-F238E27FC236}">
                <a16:creationId xmlns:a16="http://schemas.microsoft.com/office/drawing/2014/main" id="{3CEFD53C-5D72-47F8-A34C-4B2C39A44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778193"/>
            <a:ext cx="6743700" cy="44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390108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C635E-22E2-45F2-9BB0-46131EB35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Barplot</a:t>
            </a:r>
            <a:r>
              <a:rPr lang="en-US" dirty="0"/>
              <a:t>: Example 2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3A8D9-6D19-4CDD-9D41-7FDAB776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4098" name="Picture 2" descr="Barplot for Two Factors in R – Step-by-Step Tutorial">
            <a:extLst>
              <a:ext uri="{FF2B5EF4-FFF2-40B4-BE49-F238E27FC236}">
                <a16:creationId xmlns:a16="http://schemas.microsoft.com/office/drawing/2014/main" id="{67A16564-60DD-4750-B880-A913060C3D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02" y="2212611"/>
            <a:ext cx="8046597" cy="310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814197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9F691-4F40-4215-B593-5A8460EF0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in </a:t>
            </a:r>
            <a:r>
              <a:rPr lang="en-US" dirty="0" err="1"/>
              <a:t>Barplot</a:t>
            </a:r>
            <a:r>
              <a:rPr lang="en-US" dirty="0"/>
              <a:t> and Histogram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3EA60-F3A1-4408-A881-C9699D9AA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can’t reorder bars in a histogram; you can in a bar chart</a:t>
            </a:r>
          </a:p>
          <a:p>
            <a:r>
              <a:rPr lang="en-US" b="1" dirty="0"/>
              <a:t>Convention:</a:t>
            </a:r>
            <a:r>
              <a:rPr lang="en-US" dirty="0"/>
              <a:t> Bars touch in histogram, not in </a:t>
            </a:r>
            <a:r>
              <a:rPr lang="en-US" dirty="0" err="1"/>
              <a:t>barplot</a:t>
            </a:r>
            <a:endParaRPr lang="en-US" dirty="0"/>
          </a:p>
          <a:p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34AF9-5C07-4ECC-A03E-4E466D74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122" name="Picture 2" descr="bargrapgh vs histogram">
            <a:extLst>
              <a:ext uri="{FF2B5EF4-FFF2-40B4-BE49-F238E27FC236}">
                <a16:creationId xmlns:a16="http://schemas.microsoft.com/office/drawing/2014/main" id="{37C2A5BB-2176-41EC-A1E5-EEB653320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569" y="2936407"/>
            <a:ext cx="5544863" cy="243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23853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80C59-A910-49A7-80BA-B358424D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Summary</a:t>
            </a:r>
            <a:endParaRPr lang="aa-ET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E7E8156-DAA9-4401-95D4-55C6069211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0731247"/>
              </p:ext>
            </p:extLst>
          </p:nvPr>
        </p:nvGraphicFramePr>
        <p:xfrm>
          <a:off x="231494" y="1435261"/>
          <a:ext cx="8704161" cy="4495282"/>
        </p:xfrm>
        <a:graphic>
          <a:graphicData uri="http://schemas.openxmlformats.org/drawingml/2006/table">
            <a:tbl>
              <a:tblPr/>
              <a:tblGrid>
                <a:gridCol w="2901387">
                  <a:extLst>
                    <a:ext uri="{9D8B030D-6E8A-4147-A177-3AD203B41FA5}">
                      <a16:colId xmlns:a16="http://schemas.microsoft.com/office/drawing/2014/main" val="1976497463"/>
                    </a:ext>
                  </a:extLst>
                </a:gridCol>
                <a:gridCol w="2901387">
                  <a:extLst>
                    <a:ext uri="{9D8B030D-6E8A-4147-A177-3AD203B41FA5}">
                      <a16:colId xmlns:a16="http://schemas.microsoft.com/office/drawing/2014/main" val="3807281727"/>
                    </a:ext>
                  </a:extLst>
                </a:gridCol>
                <a:gridCol w="2901387">
                  <a:extLst>
                    <a:ext uri="{9D8B030D-6E8A-4147-A177-3AD203B41FA5}">
                      <a16:colId xmlns:a16="http://schemas.microsoft.com/office/drawing/2014/main" val="3144117053"/>
                    </a:ext>
                  </a:extLst>
                </a:gridCol>
              </a:tblGrid>
              <a:tr h="3101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cap="all" dirty="0">
                          <a:effectLst/>
                        </a:rPr>
                        <a:t>BASIS FOR COMPARISON</a:t>
                      </a:r>
                    </a:p>
                  </a:txBody>
                  <a:tcPr marL="20621" marR="20621" marT="20621" marB="20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cap="all">
                          <a:effectLst/>
                        </a:rPr>
                        <a:t>HISTOGRAM</a:t>
                      </a:r>
                    </a:p>
                  </a:txBody>
                  <a:tcPr marL="20621" marR="20621" marT="20621" marB="20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cap="all">
                          <a:effectLst/>
                        </a:rPr>
                        <a:t>BAR GRAPH</a:t>
                      </a:r>
                    </a:p>
                  </a:txBody>
                  <a:tcPr marL="20621" marR="20621" marT="20621" marB="20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668007"/>
                  </a:ext>
                </a:extLst>
              </a:tr>
              <a:tr h="1180432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effectLst/>
                        </a:rPr>
                        <a:t>Meaning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Histogram refers to a graphical representation, that displays data by way of bars to show the frequency of numerical data.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Bar graph is a pictorial representation of data that uses bars to compare different categories of data.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347637"/>
                  </a:ext>
                </a:extLst>
              </a:tr>
              <a:tr h="38929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effectLst/>
                        </a:rPr>
                        <a:t>Indicates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Distribution of non-discrete variables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Comparison of discrete variables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934824"/>
                  </a:ext>
                </a:extLst>
              </a:tr>
              <a:tr h="31010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effectLst/>
                        </a:rPr>
                        <a:t>Presents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Quantitative data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Categorical data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257919"/>
                  </a:ext>
                </a:extLst>
              </a:tr>
              <a:tr h="728352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effectLst/>
                        </a:rPr>
                        <a:t>Spaces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Bars touch each other, hence there are no spaces between bars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Bars do not touch each other, hence there are spaces between bars.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248280"/>
                  </a:ext>
                </a:extLst>
              </a:tr>
              <a:tr h="728352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effectLst/>
                        </a:rPr>
                        <a:t>Elements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Elements are grouped together, so that they are considered as ranges.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Elements are taken as individual entities.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042721"/>
                  </a:ext>
                </a:extLst>
              </a:tr>
              <a:tr h="31010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effectLst/>
                        </a:rPr>
                        <a:t>Can bars be reordered?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No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Yes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635807"/>
                  </a:ext>
                </a:extLst>
              </a:tr>
              <a:tr h="31010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effectLst/>
                        </a:rPr>
                        <a:t>Width of bars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Need not to be same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Same</a:t>
                      </a:r>
                    </a:p>
                  </a:txBody>
                  <a:tcPr marL="20621" marR="20621" marT="20621" marB="20621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70808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CA557-D764-4CE2-BAE2-95E9E32E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100F0-45FA-41BE-903D-29C3CE4AAFF0}"/>
              </a:ext>
            </a:extLst>
          </p:cNvPr>
          <p:cNvSpPr txBox="1"/>
          <p:nvPr/>
        </p:nvSpPr>
        <p:spPr>
          <a:xfrm>
            <a:off x="457200" y="5930543"/>
            <a:ext cx="70554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Credit: </a:t>
            </a:r>
            <a:r>
              <a:rPr lang="en-US" sz="1350" dirty="0">
                <a:hlinkClick r:id="rId2"/>
              </a:rPr>
              <a:t>https://keydifferences.com/difference-between-histogram-and-bar-graph.html</a:t>
            </a:r>
            <a:r>
              <a:rPr lang="en-US" sz="1350" dirty="0"/>
              <a:t> </a:t>
            </a:r>
            <a:endParaRPr lang="aa-ET" sz="1350" dirty="0"/>
          </a:p>
        </p:txBody>
      </p:sp>
    </p:spTree>
    <p:extLst>
      <p:ext uri="{BB962C8B-B14F-4D97-AF65-F5344CB8AC3E}">
        <p14:creationId xmlns:p14="http://schemas.microsoft.com/office/powerpoint/2010/main" val="2906521092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D9FA5-D7BC-4E37-8D54-7F2859B30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for Images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E1058-C1B8-43B3-A745-7A745B559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What does the histogram for an image represent?</a:t>
            </a:r>
            <a:endParaRPr lang="aa-ET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EB70C-97CA-4CD3-A452-BC48DAA6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172" name="Picture 4" descr="Image Histogram | Bright Image | Dark Image | Low Contrast Image | High  Contrast Image - Quick Image Processing Research Guide">
            <a:extLst>
              <a:ext uri="{FF2B5EF4-FFF2-40B4-BE49-F238E27FC236}">
                <a16:creationId xmlns:a16="http://schemas.microsoft.com/office/drawing/2014/main" id="{DD25064A-984F-492C-8384-D34A2CDD3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363" y="2080605"/>
            <a:ext cx="5800994" cy="284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09546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D9FA5-D7BC-4E37-8D54-7F2859B30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for Images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E1058-C1B8-43B3-A745-7A745B559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What does the histogram for an image represent?</a:t>
            </a:r>
            <a:endParaRPr lang="aa-ET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EB70C-97CA-4CD3-A452-BC48DAA6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6" descr="How to Read (and Use) Histograms for Beautiful Exposures">
            <a:extLst>
              <a:ext uri="{FF2B5EF4-FFF2-40B4-BE49-F238E27FC236}">
                <a16:creationId xmlns:a16="http://schemas.microsoft.com/office/drawing/2014/main" id="{A96B7410-9485-4BDC-BF6F-F91B91442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032" y="2556692"/>
            <a:ext cx="4768496" cy="243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810092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9435-E8D6-4DCD-BF89-BC317E37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Histogram: Important for Photographers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A27FC-1348-4F81-B274-E7221814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04E3EE-9AD3-43FC-BCBF-217D5B340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a-ET"/>
          </a:p>
        </p:txBody>
      </p:sp>
      <p:pic>
        <p:nvPicPr>
          <p:cNvPr id="9220" name="Picture 4" descr="Histogram Equalization">
            <a:extLst>
              <a:ext uri="{FF2B5EF4-FFF2-40B4-BE49-F238E27FC236}">
                <a16:creationId xmlns:a16="http://schemas.microsoft.com/office/drawing/2014/main" id="{80C14458-4967-4CE8-9796-C084938E7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437" y="1637587"/>
            <a:ext cx="5278907" cy="422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278294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90867-C0D7-9B2D-47A7-BFA54EF36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a-ET" dirty="0"/>
              <a:t>H</a:t>
            </a:r>
            <a:r>
              <a:rPr lang="en-GB" dirty="0"/>
              <a:t>o</a:t>
            </a:r>
            <a:r>
              <a:rPr lang="aa-ET" dirty="0"/>
              <a:t>w we Precieve color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E4A25B-2E4B-0A14-A16A-7721F824C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8042" y="1219200"/>
            <a:ext cx="8047915" cy="493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15668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DF0F-B098-7DF4-1CBE-47D70A892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a-ET" dirty="0"/>
              <a:t>Just Red Pixel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D726DA-E7A9-D692-B0BD-54CC778E2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27942"/>
            <a:ext cx="8229600" cy="471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30143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E3BF7-9786-0A06-FE1F-CAEBB574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a-ET" dirty="0"/>
              <a:t>All Pixels with full intensity – You precieve White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98C482-A5A8-C9F8-42AA-9D4879417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87996"/>
            <a:ext cx="8229600" cy="479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302640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1FA9-0190-7105-0E84-13A1D192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a-ET" dirty="0"/>
              <a:t>How you see Orange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8DCD84-2D1E-4797-C307-90DC43C85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560" y="1219200"/>
            <a:ext cx="8062880" cy="493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06138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0ED7-9158-443A-852E-96D12D03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for Color Images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CF537-DB63-4430-937F-415CD274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8194" name="Picture 2" descr="How to Use Color Histograms">
            <a:extLst>
              <a:ext uri="{FF2B5EF4-FFF2-40B4-BE49-F238E27FC236}">
                <a16:creationId xmlns:a16="http://schemas.microsoft.com/office/drawing/2014/main" id="{65E9CEE0-5600-4C6E-BE16-2DF62BF264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158" y="1236148"/>
            <a:ext cx="2138372" cy="438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348456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8A9E4-4FE6-F203-6449-34D70D0C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a-ET" dirty="0"/>
              <a:t>Multidimensional Line Chart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9FD788-5BC3-17F7-F970-02E4B2C03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15140"/>
            <a:ext cx="8229600" cy="394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30066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C740-D167-D5D9-7A10-9F2BDE206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a-ET" dirty="0"/>
              <a:t>Variables with completely different scale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2F8FEC-32DE-05A9-9300-11982E578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9919" y="1143000"/>
            <a:ext cx="8466881" cy="476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61052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Number Placeholder 5">
            <a:extLst>
              <a:ext uri="{FF2B5EF4-FFF2-40B4-BE49-F238E27FC236}">
                <a16:creationId xmlns:a16="http://schemas.microsoft.com/office/drawing/2014/main" id="{ACC25264-4309-BAB9-311D-950EE5605C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054D5D-179E-2B45-A71A-F125F93DA031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200"/>
          </a:p>
        </p:txBody>
      </p:sp>
      <p:sp>
        <p:nvSpPr>
          <p:cNvPr id="80898" name="Rectangle 1026">
            <a:extLst>
              <a:ext uri="{FF2B5EF4-FFF2-40B4-BE49-F238E27FC236}">
                <a16:creationId xmlns:a16="http://schemas.microsoft.com/office/drawing/2014/main" id="{1324B5E7-1EC7-5326-F3B2-5165F5657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Scatter plot</a:t>
            </a:r>
          </a:p>
        </p:txBody>
      </p:sp>
      <p:sp>
        <p:nvSpPr>
          <p:cNvPr id="80899" name="Rectangle 1027">
            <a:extLst>
              <a:ext uri="{FF2B5EF4-FFF2-40B4-BE49-F238E27FC236}">
                <a16:creationId xmlns:a16="http://schemas.microsoft.com/office/drawing/2014/main" id="{B6B0D213-1CF6-7AE8-11DA-57CDCF0D3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82000" cy="1779588"/>
          </a:xfrm>
        </p:spPr>
        <p:txBody>
          <a:bodyPr/>
          <a:lstStyle/>
          <a:p>
            <a:pPr eaLnBrk="1" hangingPunct="1"/>
            <a:r>
              <a:rPr lang="en-US" altLang="en-US" sz="2400"/>
              <a:t>Provides a first look at bivariate data to see clusters of points, outliers, etc</a:t>
            </a:r>
          </a:p>
          <a:p>
            <a:pPr eaLnBrk="1" hangingPunct="1"/>
            <a:r>
              <a:rPr lang="en-US" altLang="en-US" sz="2400"/>
              <a:t>Each pair of values is treated as a pair of coordinates and plotted as points in the plane</a:t>
            </a:r>
          </a:p>
        </p:txBody>
      </p:sp>
      <p:pic>
        <p:nvPicPr>
          <p:cNvPr id="80900" name="Picture 8">
            <a:extLst>
              <a:ext uri="{FF2B5EF4-FFF2-40B4-BE49-F238E27FC236}">
                <a16:creationId xmlns:a16="http://schemas.microsoft.com/office/drawing/2014/main" id="{3C88B6A5-CB3D-A31F-1845-3D8F89D46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71800"/>
            <a:ext cx="7391400" cy="354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499429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Number Placeholder 5">
            <a:extLst>
              <a:ext uri="{FF2B5EF4-FFF2-40B4-BE49-F238E27FC236}">
                <a16:creationId xmlns:a16="http://schemas.microsoft.com/office/drawing/2014/main" id="{1D0CC183-D23E-78F5-0976-D32253309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05FA54-1429-EC40-B756-5F1BCA46138D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200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ED2C9FE3-2EA0-6BD9-F9C5-A376BF1F4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914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Positively and Negatively Correlated Data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338D2227-516C-228D-77F1-4EFB28D5F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0" y="4906963"/>
            <a:ext cx="4267200" cy="141287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</a:pPr>
            <a:r>
              <a:rPr lang="en-US" altLang="en-US" sz="1800"/>
              <a:t>The left half fragment is positively correlated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800"/>
              <a:t>The right half is negative correlated</a:t>
            </a:r>
            <a:endParaRPr lang="en-US" altLang="en-US" sz="1800">
              <a:solidFill>
                <a:schemeClr val="hlink"/>
              </a:solidFill>
            </a:endParaRPr>
          </a:p>
        </p:txBody>
      </p:sp>
      <p:pic>
        <p:nvPicPr>
          <p:cNvPr id="82948" name="Picture 4" descr="ha02correl1">
            <a:extLst>
              <a:ext uri="{FF2B5EF4-FFF2-40B4-BE49-F238E27FC236}">
                <a16:creationId xmlns:a16="http://schemas.microsoft.com/office/drawing/2014/main" id="{03FF4CFB-4383-34B8-A5AB-E0DC99327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3365500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49" name="Picture 5" descr="ha02correl2">
            <a:extLst>
              <a:ext uri="{FF2B5EF4-FFF2-40B4-BE49-F238E27FC236}">
                <a16:creationId xmlns:a16="http://schemas.microsoft.com/office/drawing/2014/main" id="{F683FA99-FBFF-3C08-40C1-685BCC7B6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219200"/>
            <a:ext cx="38100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50" name="Picture 6" descr="fig46">
            <a:extLst>
              <a:ext uri="{FF2B5EF4-FFF2-40B4-BE49-F238E27FC236}">
                <a16:creationId xmlns:a16="http://schemas.microsoft.com/office/drawing/2014/main" id="{38CD6902-BA67-9BCF-21F6-93ADD53CA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114800"/>
            <a:ext cx="35052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51" name="Rectangle 7">
            <a:extLst>
              <a:ext uri="{FF2B5EF4-FFF2-40B4-BE49-F238E27FC236}">
                <a16:creationId xmlns:a16="http://schemas.microsoft.com/office/drawing/2014/main" id="{6B573ABF-15FD-F32A-7DF6-F6BB352B6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953000"/>
            <a:ext cx="42672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21676483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Number Placeholder 8">
            <a:extLst>
              <a:ext uri="{FF2B5EF4-FFF2-40B4-BE49-F238E27FC236}">
                <a16:creationId xmlns:a16="http://schemas.microsoft.com/office/drawing/2014/main" id="{ED6BF7CC-8DCD-F5F3-0AD8-206EAE2589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8A4B45-66BE-2E4D-8F3E-AE777188079C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200"/>
          </a:p>
        </p:txBody>
      </p:sp>
      <p:pic>
        <p:nvPicPr>
          <p:cNvPr id="84994" name="Picture 3" descr="fig18-1">
            <a:extLst>
              <a:ext uri="{FF2B5EF4-FFF2-40B4-BE49-F238E27FC236}">
                <a16:creationId xmlns:a16="http://schemas.microsoft.com/office/drawing/2014/main" id="{BAF7B5A5-68F9-5E04-8F12-74B478898ED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0"/>
            <a:ext cx="4038600" cy="3733800"/>
          </a:xfrm>
          <a:noFill/>
        </p:spPr>
      </p:pic>
      <p:pic>
        <p:nvPicPr>
          <p:cNvPr id="84995" name="Picture 4" descr="fig18-2">
            <a:extLst>
              <a:ext uri="{FF2B5EF4-FFF2-40B4-BE49-F238E27FC236}">
                <a16:creationId xmlns:a16="http://schemas.microsoft.com/office/drawing/2014/main" id="{2A6EDDA2-D73A-2C55-2DF8-CAA8BE3E0907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3352800"/>
            <a:ext cx="4191000" cy="3505200"/>
          </a:xfrm>
          <a:noFill/>
        </p:spPr>
      </p:pic>
      <p:pic>
        <p:nvPicPr>
          <p:cNvPr id="84996" name="Picture 5" descr="fig18-3">
            <a:extLst>
              <a:ext uri="{FF2B5EF4-FFF2-40B4-BE49-F238E27FC236}">
                <a16:creationId xmlns:a16="http://schemas.microsoft.com/office/drawing/2014/main" id="{C703AEB6-5A61-9941-D5AA-B891061B5B38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2001838"/>
            <a:ext cx="4267200" cy="3606800"/>
          </a:xfrm>
          <a:noFill/>
        </p:spPr>
      </p:pic>
      <p:sp>
        <p:nvSpPr>
          <p:cNvPr id="84997" name="Rectangle 2">
            <a:extLst>
              <a:ext uri="{FF2B5EF4-FFF2-40B4-BE49-F238E27FC236}">
                <a16:creationId xmlns:a16="http://schemas.microsoft.com/office/drawing/2014/main" id="{C30ADB84-F405-22C3-7E86-9330A15821F9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 Uncorrelated Data</a:t>
            </a:r>
          </a:p>
        </p:txBody>
      </p:sp>
    </p:spTree>
    <p:extLst>
      <p:ext uri="{BB962C8B-B14F-4D97-AF65-F5344CB8AC3E}">
        <p14:creationId xmlns:p14="http://schemas.microsoft.com/office/powerpoint/2010/main" val="368328819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7057D-E8C4-4B54-B501-5E9220E7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4007A-535B-4B39-B61E-1A5D5A34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13314" name="Picture 2" descr="Exploratory Data Analysis of IRIS Data Set Using Python | by Venkata Sai  Reddy Avuluri | Medium">
            <a:extLst>
              <a:ext uri="{FF2B5EF4-FFF2-40B4-BE49-F238E27FC236}">
                <a16:creationId xmlns:a16="http://schemas.microsoft.com/office/drawing/2014/main" id="{7276F48A-093E-4E17-8BD1-E44E0957DF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602" y="1829559"/>
            <a:ext cx="5261426" cy="3619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3479206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7057D-E8C4-4B54-B501-5E9220E7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 Matrix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4007A-535B-4B39-B61E-1A5D5A34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16EB-C20C-48CA-96BB-438110937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a-ET" dirty="0"/>
              <a:t>red = Satosa blue = </a:t>
            </a:r>
            <a:r>
              <a:rPr lang="en-US" dirty="0"/>
              <a:t>Versicolor green = Virginica </a:t>
            </a:r>
            <a:endParaRPr lang="aa-ET" dirty="0"/>
          </a:p>
        </p:txBody>
      </p:sp>
      <p:pic>
        <p:nvPicPr>
          <p:cNvPr id="14338" name="Picture 2" descr="A scatter plot matrix of the iris data set [50]. The colors indicate... |  Download Scientific Diagram">
            <a:extLst>
              <a:ext uri="{FF2B5EF4-FFF2-40B4-BE49-F238E27FC236}">
                <a16:creationId xmlns:a16="http://schemas.microsoft.com/office/drawing/2014/main" id="{655E2525-8410-479F-9638-C03ABEB5F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1866913"/>
            <a:ext cx="4948021" cy="3713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640891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DF43-BFA9-454E-A390-7E715CF9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Scatter Plot and Parallel Coordinates Insights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21C4D-0E8D-4B47-B317-91B15D616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FF"/>
                </a:solidFill>
              </a:rPr>
              <a:t>High correlation </a:t>
            </a:r>
            <a:r>
              <a:rPr lang="en-US" dirty="0"/>
              <a:t>between </a:t>
            </a:r>
            <a:r>
              <a:rPr lang="en-US" b="1" dirty="0">
                <a:solidFill>
                  <a:srgbClr val="FF00FF"/>
                </a:solidFill>
              </a:rPr>
              <a:t>petal length </a:t>
            </a:r>
            <a:r>
              <a:rPr lang="en-US" dirty="0"/>
              <a:t>and </a:t>
            </a:r>
            <a:r>
              <a:rPr lang="en-US" b="1" dirty="0">
                <a:solidFill>
                  <a:srgbClr val="FF00FF"/>
                </a:solidFill>
              </a:rPr>
              <a:t>petal width </a:t>
            </a:r>
            <a:r>
              <a:rPr lang="en-US" dirty="0"/>
              <a:t>columns.</a:t>
            </a:r>
          </a:p>
          <a:p>
            <a:r>
              <a:rPr lang="en-US" dirty="0" err="1"/>
              <a:t>Setosa</a:t>
            </a:r>
            <a:r>
              <a:rPr lang="en-US" dirty="0"/>
              <a:t> has both low petal length and width</a:t>
            </a:r>
          </a:p>
          <a:p>
            <a:r>
              <a:rPr lang="en-US" dirty="0"/>
              <a:t>Versicolor has both average petal length and width</a:t>
            </a:r>
          </a:p>
          <a:p>
            <a:r>
              <a:rPr lang="en-US" dirty="0"/>
              <a:t>Virginica has both high petal length and width.</a:t>
            </a:r>
          </a:p>
          <a:p>
            <a:r>
              <a:rPr lang="en-US" dirty="0"/>
              <a:t>Sepal width for </a:t>
            </a:r>
            <a:r>
              <a:rPr lang="en-US" dirty="0" err="1"/>
              <a:t>setosa</a:t>
            </a:r>
            <a:r>
              <a:rPr lang="en-US" dirty="0"/>
              <a:t> is high and length is low.</a:t>
            </a:r>
          </a:p>
          <a:p>
            <a:r>
              <a:rPr lang="en-US" dirty="0"/>
              <a:t>Versicolor have average values for sepal dimensions.</a:t>
            </a:r>
          </a:p>
          <a:p>
            <a:r>
              <a:rPr lang="en-US" dirty="0"/>
              <a:t>Virginica has small width but large sepal length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C89B5-795A-417D-B3D5-51A63BAE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FDB37-1193-456C-9ADF-4BC7A4E5C745}"/>
              </a:ext>
            </a:extLst>
          </p:cNvPr>
          <p:cNvSpPr txBox="1"/>
          <p:nvPr/>
        </p:nvSpPr>
        <p:spPr>
          <a:xfrm>
            <a:off x="2414276" y="4838059"/>
            <a:ext cx="4224008" cy="4154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>
                <a:solidFill>
                  <a:srgbClr val="FF0000"/>
                </a:solidFill>
              </a:rPr>
              <a:t>What is correlation?</a:t>
            </a:r>
            <a:endParaRPr lang="aa-ET" sz="2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52690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Number Placeholder 5">
            <a:extLst>
              <a:ext uri="{FF2B5EF4-FFF2-40B4-BE49-F238E27FC236}">
                <a16:creationId xmlns:a16="http://schemas.microsoft.com/office/drawing/2014/main" id="{DEC1C8A7-8146-EEE9-B3BD-AC0A32ABB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BCC29A-6C6C-264B-9735-628E2CED86B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200"/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1E13CED0-072B-0C64-71B4-E580A30FF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609600"/>
          </a:xfrm>
        </p:spPr>
        <p:txBody>
          <a:bodyPr/>
          <a:lstStyle/>
          <a:p>
            <a:pPr eaLnBrk="1" hangingPunct="1"/>
            <a:r>
              <a:rPr lang="de-DE" altLang="en-US" sz="3200">
                <a:latin typeface="Arial" panose="020B0604020202020204" pitchFamily="34" charset="0"/>
              </a:rPr>
              <a:t>Scatterplot Matrices</a:t>
            </a:r>
            <a:endParaRPr lang="en-US" altLang="en-US" sz="3200">
              <a:latin typeface="Arial" panose="020B0604020202020204" pitchFamily="34" charset="0"/>
            </a:endParaRP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72B8DEA1-86A4-3533-0733-28EA5B650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6172200"/>
            <a:ext cx="8382000" cy="304800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600"/>
              <a:t>Matrix </a:t>
            </a:r>
            <a:r>
              <a:rPr lang="de-DE" altLang="en-US" sz="1600"/>
              <a:t>of scatterplots (x-y-diagrams) of the k-dim. data [total of (k2/2-k) scatterplots]</a:t>
            </a:r>
            <a:endParaRPr lang="en-US" altLang="en-US" sz="1600"/>
          </a:p>
        </p:txBody>
      </p:sp>
      <p:pic>
        <p:nvPicPr>
          <p:cNvPr id="99332" name="Picture 4" descr="scatplot">
            <a:extLst>
              <a:ext uri="{FF2B5EF4-FFF2-40B4-BE49-F238E27FC236}">
                <a16:creationId xmlns:a16="http://schemas.microsoft.com/office/drawing/2014/main" id="{281C3FF1-46AF-2F6F-75B3-CB498975E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806450"/>
            <a:ext cx="5410200" cy="528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3" name="Text Box 5">
            <a:extLst>
              <a:ext uri="{FF2B5EF4-FFF2-40B4-BE49-F238E27FC236}">
                <a16:creationId xmlns:a16="http://schemas.microsoft.com/office/drawing/2014/main" id="{419CC8B1-BAD5-2871-B1AC-F9A05FC57D2D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69056" y="3421856"/>
            <a:ext cx="3155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de-DE" altLang="en-US" sz="800">
                <a:solidFill>
                  <a:schemeClr val="accent1"/>
                </a:solidFill>
                <a:latin typeface="Arial" panose="020B0604020202020204" pitchFamily="34" charset="0"/>
              </a:rPr>
              <a:t>Used by</a:t>
            </a:r>
            <a:r>
              <a:rPr lang="de-DE" altLang="en-US" sz="800" u="sng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r>
              <a:rPr lang="de-DE" altLang="en-US" sz="800">
                <a:solidFill>
                  <a:schemeClr val="accent1"/>
                </a:solidFill>
                <a:latin typeface="Arial" panose="020B0604020202020204" pitchFamily="34" charset="0"/>
              </a:rPr>
              <a:t>ermission of M. Ward, Worcester Polytechnic</a:t>
            </a:r>
            <a:r>
              <a:rPr lang="de-DE" altLang="en-US" sz="120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r>
              <a:rPr lang="de-DE" altLang="en-US" sz="800">
                <a:solidFill>
                  <a:schemeClr val="accent1"/>
                </a:solidFill>
                <a:latin typeface="Arial" panose="020B0604020202020204" pitchFamily="34" charset="0"/>
              </a:rPr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470984029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1BF83-5855-4387-B600-882FA67E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Quantile Plot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09AA1-9AC7-4375-BC58-28BAD4D8C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Effective for </a:t>
            </a:r>
            <a:r>
              <a:rPr lang="en-US" b="1" dirty="0">
                <a:solidFill>
                  <a:srgbClr val="FF00FF"/>
                </a:solidFill>
              </a:rPr>
              <a:t>univariate</a:t>
            </a:r>
            <a:r>
              <a:rPr lang="en-US" dirty="0"/>
              <a:t> data distribution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Univariate data has only one variable </a:t>
            </a:r>
            <a:r>
              <a:rPr lang="en-US" dirty="0"/>
              <a:t>(i.e., feature or column or dimension or attribute)</a:t>
            </a:r>
          </a:p>
          <a:p>
            <a:r>
              <a:rPr lang="en-US" b="1" dirty="0">
                <a:solidFill>
                  <a:srgbClr val="00B050"/>
                </a:solidFill>
              </a:rPr>
              <a:t>Multivariate data has two or more variables</a:t>
            </a:r>
            <a:endParaRPr lang="aa-ET" b="1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9F2BB-CADF-4C5E-91FD-6EAC7F28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7F1541-9710-407D-92C1-41539CEBB6C5}"/>
              </a:ext>
            </a:extLst>
          </p:cNvPr>
          <p:cNvSpPr txBox="1"/>
          <p:nvPr/>
        </p:nvSpPr>
        <p:spPr>
          <a:xfrm>
            <a:off x="1276260" y="1617219"/>
            <a:ext cx="363353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is univariate data analysis?</a:t>
            </a:r>
            <a:endParaRPr lang="aa-ET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58707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5FDCE-33D2-4E53-B84F-98980A1F3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Quantile Plot</a:t>
            </a:r>
            <a:endParaRPr lang="aa-E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0206E9-2078-415A-925C-7DDE2E0BD6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Displays all of the data for the given attribute</a:t>
                </a:r>
              </a:p>
              <a:p>
                <a:r>
                  <a:rPr lang="en-US" dirty="0"/>
                  <a:t>Plots Quantile Information.</a:t>
                </a:r>
              </a:p>
              <a:p>
                <a:endParaRPr lang="en-US" dirty="0"/>
              </a:p>
              <a:p>
                <a:r>
                  <a:rPr lang="en-US" dirty="0"/>
                  <a:t>Suppose you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data points.</a:t>
                </a:r>
              </a:p>
              <a:p>
                <a:pPr lvl="1"/>
                <a:r>
                  <a:rPr lang="en-US" dirty="0"/>
                  <a:t>The data points are sorted in increasing order</a:t>
                </a:r>
                <a:endParaRPr lang="aa-ET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0206E9-2078-415A-925C-7DDE2E0BD6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88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8F441-B7C7-42F8-8AD5-546B4FCE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9A4CB9-94A8-4D9C-AFF9-96228101A63F}"/>
                  </a:ext>
                </a:extLst>
              </p:cNvPr>
              <p:cNvSpPr txBox="1"/>
              <p:nvPr/>
            </p:nvSpPr>
            <p:spPr>
              <a:xfrm>
                <a:off x="600155" y="3360289"/>
                <a:ext cx="8254375" cy="92333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FF00FF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FF"/>
                    </a:solidFill>
                  </a:rPr>
                  <a:t>, for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rgbClr val="FF00FF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b="1" dirty="0">
                    <a:solidFill>
                      <a:srgbClr val="FF00FF"/>
                    </a:solidFill>
                  </a:rPr>
                  <a:t>, be the data sorted in increasing order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FF"/>
                    </a:solidFill>
                  </a:rPr>
                  <a:t> is the smallest observation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FF"/>
                    </a:solidFill>
                  </a:rPr>
                  <a:t> is the largest for some ordinal or numeric attribute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>
                    <a:solidFill>
                      <a:srgbClr val="FF00FF"/>
                    </a:solidFill>
                  </a:rPr>
                  <a:t>.</a:t>
                </a:r>
                <a:endParaRPr lang="aa-ET" b="1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9A4CB9-94A8-4D9C-AFF9-96228101A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55" y="3360289"/>
                <a:ext cx="8254375" cy="923330"/>
              </a:xfrm>
              <a:prstGeom prst="rect">
                <a:avLst/>
              </a:prstGeom>
              <a:blipFill>
                <a:blip r:embed="rId3"/>
                <a:stretch>
                  <a:fillRect l="-307" t="-2703" r="-1227" b="-945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86A3D9-E188-4676-8905-2194744E58A2}"/>
                  </a:ext>
                </a:extLst>
              </p:cNvPr>
              <p:cNvSpPr txBox="1"/>
              <p:nvPr/>
            </p:nvSpPr>
            <p:spPr>
              <a:xfrm>
                <a:off x="624930" y="4283619"/>
                <a:ext cx="8254375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FF00FF"/>
                    </a:solidFill>
                  </a:rPr>
                  <a:t>Each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FF"/>
                    </a:solidFill>
                  </a:rPr>
                  <a:t> is paired with a percentage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FF"/>
                    </a:solidFill>
                  </a:rPr>
                  <a:t> which indicates that approximately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b="1" i="1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>
                    <a:solidFill>
                      <a:srgbClr val="FF00FF"/>
                    </a:solidFill>
                  </a:rPr>
                  <a:t> of the data are below the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FF"/>
                    </a:solidFill>
                  </a:rPr>
                  <a:t>.</a:t>
                </a:r>
                <a:endParaRPr lang="aa-ET" b="1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86A3D9-E188-4676-8905-2194744E5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30" y="4283619"/>
                <a:ext cx="8254375" cy="646331"/>
              </a:xfrm>
              <a:prstGeom prst="rect">
                <a:avLst/>
              </a:prstGeom>
              <a:blipFill>
                <a:blip r:embed="rId4"/>
                <a:stretch>
                  <a:fillRect t="-1887" b="-1320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869726-A66B-43E8-A48C-FAF8D769B33A}"/>
                  </a:ext>
                </a:extLst>
              </p:cNvPr>
              <p:cNvSpPr txBox="1"/>
              <p:nvPr/>
            </p:nvSpPr>
            <p:spPr>
              <a:xfrm>
                <a:off x="3831702" y="4969218"/>
                <a:ext cx="1840829" cy="61651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</m:oMath>
                  </m:oMathPara>
                </a14:m>
                <a:endParaRPr lang="aa-ET" b="1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869726-A66B-43E8-A48C-FAF8D769B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702" y="4969218"/>
                <a:ext cx="1840829" cy="616515"/>
              </a:xfrm>
              <a:prstGeom prst="rect">
                <a:avLst/>
              </a:prstGeom>
              <a:blipFill>
                <a:blip r:embed="rId5"/>
                <a:stretch>
                  <a:fillRect b="-392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00938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5FDCE-33D2-4E53-B84F-98980A1F3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Quantile Plot: Example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8F441-B7C7-42F8-8AD5-546B4FCE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6C51E1-3DBE-4182-9657-BE1471084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23" y="1918238"/>
            <a:ext cx="2711430" cy="34500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AB2C9B-6657-4C9A-AC1C-9F46E8EA5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362" y="3056979"/>
            <a:ext cx="4985174" cy="24925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A3E207-311F-43AC-BA9F-D8FAAC2378E0}"/>
                  </a:ext>
                </a:extLst>
              </p:cNvPr>
              <p:cNvSpPr txBox="1"/>
              <p:nvPr/>
            </p:nvSpPr>
            <p:spPr>
              <a:xfrm>
                <a:off x="6076524" y="1918238"/>
                <a:ext cx="1840829" cy="61651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</m:oMath>
                  </m:oMathPara>
                </a14:m>
                <a:endParaRPr lang="aa-ET" b="1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A3E207-311F-43AC-BA9F-D8FAAC237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524" y="1918238"/>
                <a:ext cx="1840829" cy="616515"/>
              </a:xfrm>
              <a:prstGeom prst="rect">
                <a:avLst/>
              </a:prstGeom>
              <a:blipFill>
                <a:blip r:embed="rId4"/>
                <a:stretch>
                  <a:fillRect b="-392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549694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C837-3FD8-42D7-855E-35B75537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q-q Plot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0725D-8DC8-4315-BC25-BD7205E0A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66913"/>
            <a:ext cx="3243714" cy="22388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Unit Prices sold at two branches</a:t>
            </a:r>
          </a:p>
          <a:p>
            <a:r>
              <a:rPr lang="en-US" b="1" dirty="0"/>
              <a:t>Each point </a:t>
            </a:r>
            <a:r>
              <a:rPr lang="en-US" dirty="0"/>
              <a:t>shows the unit price of items sold at branch 1 versus branch 2 for each quantile</a:t>
            </a:r>
          </a:p>
          <a:p>
            <a:r>
              <a:rPr lang="en-US" dirty="0"/>
              <a:t>The </a:t>
            </a:r>
            <a:r>
              <a:rPr lang="en-US" b="1" dirty="0"/>
              <a:t>darker points </a:t>
            </a:r>
            <a:r>
              <a:rPr lang="en-US" dirty="0"/>
              <a:t>correspond to the data for Q1, the median, and Q3 respectively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2F37A-6343-4BA4-842F-F7DA010A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902D6B-9DE2-4C57-BA52-AD5FC96B4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243" y="2329427"/>
            <a:ext cx="4546611" cy="24501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8D0F0F-0F8B-4659-81B8-A0AAED8FF343}"/>
              </a:ext>
            </a:extLst>
          </p:cNvPr>
          <p:cNvSpPr txBox="1"/>
          <p:nvPr/>
        </p:nvSpPr>
        <p:spPr>
          <a:xfrm>
            <a:off x="2216217" y="4929193"/>
            <a:ext cx="638503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FF"/>
                </a:solidFill>
              </a:rPr>
              <a:t>We will take equal number of data points for each branch (i.e., length of x and y axis is the same)</a:t>
            </a:r>
            <a:endParaRPr lang="aa-ET" b="1" dirty="0">
              <a:solidFill>
                <a:srgbClr val="FF00FF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49999A-5A2E-4197-9A68-D3A507A2ECB4}"/>
              </a:ext>
            </a:extLst>
          </p:cNvPr>
          <p:cNvGrpSpPr/>
          <p:nvPr/>
        </p:nvGrpSpPr>
        <p:grpSpPr>
          <a:xfrm>
            <a:off x="4572000" y="1429180"/>
            <a:ext cx="4474422" cy="2351744"/>
            <a:chOff x="6096000" y="762573"/>
            <a:chExt cx="5965896" cy="313565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ECDA864-24F1-4B75-9AE2-C970624F7FA7}"/>
                </a:ext>
              </a:extLst>
            </p:cNvPr>
            <p:cNvSpPr txBox="1"/>
            <p:nvPr/>
          </p:nvSpPr>
          <p:spPr>
            <a:xfrm>
              <a:off x="6096000" y="762573"/>
              <a:ext cx="5965896" cy="160043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00FF"/>
                  </a:solidFill>
                </a:rPr>
                <a:t>25% of items sold at branch 1 were less than or equal to $60, while 25% of items sold at branch 2 were less than or equal to $64.</a:t>
              </a:r>
              <a:endParaRPr lang="aa-ET" b="1" dirty="0">
                <a:solidFill>
                  <a:srgbClr val="FF00FF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DA9E5D4-5097-44FE-A1FB-8EFD10416FB4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>
              <a:off x="7780421" y="1962902"/>
              <a:ext cx="961643" cy="193533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659040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C837-3FD8-42D7-855E-35B75537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q-q Plot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0725D-8DC8-4315-BC25-BD7205E0A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66913"/>
            <a:ext cx="3243714" cy="22388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Unit Prices sold at two branches</a:t>
            </a:r>
          </a:p>
          <a:p>
            <a:r>
              <a:rPr lang="en-US" b="1" dirty="0"/>
              <a:t>Each point </a:t>
            </a:r>
            <a:r>
              <a:rPr lang="en-US" dirty="0"/>
              <a:t>shows the unit price of items sold at branch 1 versus branch 2 for each quantile</a:t>
            </a:r>
          </a:p>
          <a:p>
            <a:r>
              <a:rPr lang="en-US" dirty="0"/>
              <a:t>The </a:t>
            </a:r>
            <a:r>
              <a:rPr lang="en-US" b="1" dirty="0"/>
              <a:t>darker points </a:t>
            </a:r>
            <a:r>
              <a:rPr lang="en-US" dirty="0"/>
              <a:t>correspond to the data for Q1, the median, and Q3 respectively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2F37A-6343-4BA4-842F-F7DA010A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902D6B-9DE2-4C57-BA52-AD5FC96B4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243" y="2329427"/>
            <a:ext cx="4546611" cy="24501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8D0F0F-0F8B-4659-81B8-A0AAED8FF343}"/>
              </a:ext>
            </a:extLst>
          </p:cNvPr>
          <p:cNvSpPr txBox="1"/>
          <p:nvPr/>
        </p:nvSpPr>
        <p:spPr>
          <a:xfrm>
            <a:off x="2216217" y="4929193"/>
            <a:ext cx="638503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FF"/>
                </a:solidFill>
              </a:rPr>
              <a:t>We will take equal number of data points for each branch (i.e., length of x and y axis is the same)</a:t>
            </a:r>
            <a:endParaRPr lang="aa-ET" b="1" dirty="0">
              <a:solidFill>
                <a:srgbClr val="FF00FF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49999A-5A2E-4197-9A68-D3A507A2ECB4}"/>
              </a:ext>
            </a:extLst>
          </p:cNvPr>
          <p:cNvGrpSpPr/>
          <p:nvPr/>
        </p:nvGrpSpPr>
        <p:grpSpPr>
          <a:xfrm>
            <a:off x="4559969" y="1393085"/>
            <a:ext cx="4474422" cy="1870481"/>
            <a:chOff x="6096000" y="762573"/>
            <a:chExt cx="5965896" cy="249397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ECDA864-24F1-4B75-9AE2-C970624F7FA7}"/>
                </a:ext>
              </a:extLst>
            </p:cNvPr>
            <p:cNvSpPr txBox="1"/>
            <p:nvPr/>
          </p:nvSpPr>
          <p:spPr>
            <a:xfrm>
              <a:off x="6096000" y="762573"/>
              <a:ext cx="5965896" cy="123110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00FF"/>
                  </a:solidFill>
                </a:rPr>
                <a:t>At median, 50% of items sold at branch 1 were less than $78 while 50% of items at branch 2 were less than $85</a:t>
              </a:r>
              <a:endParaRPr lang="aa-ET" b="1" dirty="0">
                <a:solidFill>
                  <a:srgbClr val="FF00FF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DA9E5D4-5097-44FE-A1FB-8EFD10416FB4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>
              <a:off x="8742064" y="1962902"/>
              <a:ext cx="225473" cy="129364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8536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C837-3FD8-42D7-855E-35B75537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q-q Plot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0725D-8DC8-4315-BC25-BD7205E0A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66913"/>
            <a:ext cx="3243714" cy="22388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Unit Prices sold at two branches</a:t>
            </a:r>
          </a:p>
          <a:p>
            <a:r>
              <a:rPr lang="en-US" b="1" dirty="0"/>
              <a:t>Each point </a:t>
            </a:r>
            <a:r>
              <a:rPr lang="en-US" dirty="0"/>
              <a:t>shows the unit price of items sold at branch 1 versus branch 2 for each quantile</a:t>
            </a:r>
          </a:p>
          <a:p>
            <a:r>
              <a:rPr lang="en-US" dirty="0"/>
              <a:t>The </a:t>
            </a:r>
            <a:r>
              <a:rPr lang="en-US" b="1" dirty="0"/>
              <a:t>darker points </a:t>
            </a:r>
            <a:r>
              <a:rPr lang="en-US" dirty="0"/>
              <a:t>correspond to the data for Q1, the median, and Q3 respectively</a:t>
            </a:r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2F37A-6343-4BA4-842F-F7DA010A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D8BA92-921E-4261-AD97-A03D4D041050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902D6B-9DE2-4C57-BA52-AD5FC96B4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243" y="2329427"/>
            <a:ext cx="4546611" cy="24501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8D0F0F-0F8B-4659-81B8-A0AAED8FF343}"/>
              </a:ext>
            </a:extLst>
          </p:cNvPr>
          <p:cNvSpPr txBox="1"/>
          <p:nvPr/>
        </p:nvSpPr>
        <p:spPr>
          <a:xfrm>
            <a:off x="2216217" y="4929193"/>
            <a:ext cx="638503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FF"/>
                </a:solidFill>
              </a:rPr>
              <a:t>We will take equal number of data points for each branch (i.e., length of x and y axis is the same)</a:t>
            </a:r>
            <a:endParaRPr lang="aa-ET" b="1" dirty="0">
              <a:solidFill>
                <a:srgbClr val="FF00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CDA864-24F1-4B75-9AE2-C970624F7FA7}"/>
              </a:ext>
            </a:extLst>
          </p:cNvPr>
          <p:cNvSpPr txBox="1"/>
          <p:nvPr/>
        </p:nvSpPr>
        <p:spPr>
          <a:xfrm>
            <a:off x="4572000" y="1766832"/>
            <a:ext cx="447442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FF"/>
                </a:solidFill>
              </a:rPr>
              <a:t>Overall, items sold at branch 1 tend to be lower in price than those at branch 2</a:t>
            </a:r>
            <a:endParaRPr lang="aa-ET" b="1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21289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heme/theme1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00FF"/>
      </a:hlink>
      <a:folHlink>
        <a:srgbClr val="FF00FF"/>
      </a:folHlink>
    </a:clrScheme>
    <a:fontScheme name="Origin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00FF"/>
      </a:hlink>
      <a:folHlink>
        <a:srgbClr val="FF00FF"/>
      </a:folHlink>
    </a:clrScheme>
    <a:fontScheme name="Origin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1756</Words>
  <Application>Microsoft Office PowerPoint</Application>
  <PresentationFormat>On-screen Show (4:3)</PresentationFormat>
  <Paragraphs>291</Paragraphs>
  <Slides>45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Arial</vt:lpstr>
      <vt:lpstr>Bookman Old Style</vt:lpstr>
      <vt:lpstr>Calibri</vt:lpstr>
      <vt:lpstr>Cambria Math</vt:lpstr>
      <vt:lpstr>Comic Sans MS</vt:lpstr>
      <vt:lpstr>Gill Sans MT</vt:lpstr>
      <vt:lpstr>Helvetica</vt:lpstr>
      <vt:lpstr>Symbol</vt:lpstr>
      <vt:lpstr>Times New Roman</vt:lpstr>
      <vt:lpstr>Wingdings</vt:lpstr>
      <vt:lpstr>Origin</vt:lpstr>
      <vt:lpstr>CS 4048 Data Science</vt:lpstr>
      <vt:lpstr>Graphic Displays of Basic Statistical Descriptions</vt:lpstr>
      <vt:lpstr>Box and Whisker Plot (aka Boxplot)</vt:lpstr>
      <vt:lpstr>Outlier Detection with IQR</vt:lpstr>
      <vt:lpstr>Boxplots with Outliers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Recall this example from Lecture 2 (IRIS)</vt:lpstr>
      <vt:lpstr>Boxplot for All Attributes of IRIS dataset</vt:lpstr>
      <vt:lpstr>Insights from Boxplots of IRIS Dataset</vt:lpstr>
      <vt:lpstr>What is a histogram?</vt:lpstr>
      <vt:lpstr>Typical Histogram Shapes</vt:lpstr>
      <vt:lpstr>Histogram </vt:lpstr>
      <vt:lpstr>Histogram</vt:lpstr>
      <vt:lpstr>Barplot</vt:lpstr>
      <vt:lpstr>Barplot: Example 2</vt:lpstr>
      <vt:lpstr>Differences in Barplot and Histogram</vt:lpstr>
      <vt:lpstr>Differences Summary</vt:lpstr>
      <vt:lpstr>Histogram for Images</vt:lpstr>
      <vt:lpstr>Histogram for Images</vt:lpstr>
      <vt:lpstr>Histogram: Important for Photographers</vt:lpstr>
      <vt:lpstr>How we Precieve color</vt:lpstr>
      <vt:lpstr>Just Red Pixel</vt:lpstr>
      <vt:lpstr>All Pixels with full intensity – You precieve White</vt:lpstr>
      <vt:lpstr>How you see Orange</vt:lpstr>
      <vt:lpstr>Histogram for Color Images</vt:lpstr>
      <vt:lpstr>Multidimensional Line Chart</vt:lpstr>
      <vt:lpstr>Variables with completely different scale</vt:lpstr>
      <vt:lpstr>Scatter plot</vt:lpstr>
      <vt:lpstr>Positively and Negatively Correlated Data</vt:lpstr>
      <vt:lpstr> Uncorrelated Data</vt:lpstr>
      <vt:lpstr>Scatter Plot</vt:lpstr>
      <vt:lpstr>Scatter Plot Matrix</vt:lpstr>
      <vt:lpstr>Scatter Plot and Parallel Coordinates Insights</vt:lpstr>
      <vt:lpstr>Scatterplot Matrices</vt:lpstr>
      <vt:lpstr>Quantile Plot</vt:lpstr>
      <vt:lpstr>Quantile Plot</vt:lpstr>
      <vt:lpstr>Quantile Plot: Example</vt:lpstr>
      <vt:lpstr>q-q Plot</vt:lpstr>
      <vt:lpstr>q-q Plot</vt:lpstr>
      <vt:lpstr>q-q Plot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cp:lastModifiedBy>Dr.Kashif Zafar</cp:lastModifiedBy>
  <cp:revision>24</cp:revision>
  <dcterms:modified xsi:type="dcterms:W3CDTF">2026-01-23T00:04:05Z</dcterms:modified>
</cp:coreProperties>
</file>