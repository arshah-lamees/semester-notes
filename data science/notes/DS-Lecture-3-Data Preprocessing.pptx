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7" r:id="rId2"/>
    <p:sldId id="274" r:id="rId3"/>
    <p:sldId id="258" r:id="rId4"/>
    <p:sldId id="259" r:id="rId5"/>
    <p:sldId id="260" r:id="rId6"/>
    <p:sldId id="261" r:id="rId7"/>
    <p:sldId id="262" r:id="rId8"/>
    <p:sldId id="275" r:id="rId9"/>
    <p:sldId id="263" r:id="rId10"/>
    <p:sldId id="264" r:id="rId11"/>
    <p:sldId id="265" r:id="rId12"/>
    <p:sldId id="302" r:id="rId13"/>
    <p:sldId id="266" r:id="rId14"/>
    <p:sldId id="270" r:id="rId15"/>
    <p:sldId id="303" r:id="rId16"/>
    <p:sldId id="306" r:id="rId17"/>
    <p:sldId id="304" r:id="rId18"/>
    <p:sldId id="401" r:id="rId19"/>
    <p:sldId id="267" r:id="rId20"/>
    <p:sldId id="268" r:id="rId21"/>
    <p:sldId id="301" r:id="rId22"/>
    <p:sldId id="269" r:id="rId23"/>
    <p:sldId id="299" r:id="rId24"/>
    <p:sldId id="271" r:id="rId25"/>
    <p:sldId id="273" r:id="rId26"/>
    <p:sldId id="321" r:id="rId27"/>
    <p:sldId id="322" r:id="rId28"/>
    <p:sldId id="323" r:id="rId29"/>
    <p:sldId id="324" r:id="rId30"/>
    <p:sldId id="325" r:id="rId31"/>
    <p:sldId id="326" r:id="rId32"/>
    <p:sldId id="327" r:id="rId33"/>
    <p:sldId id="328" r:id="rId34"/>
    <p:sldId id="329" r:id="rId35"/>
    <p:sldId id="331" r:id="rId36"/>
    <p:sldId id="332" r:id="rId37"/>
    <p:sldId id="368" r:id="rId38"/>
    <p:sldId id="333" r:id="rId39"/>
    <p:sldId id="334" r:id="rId40"/>
    <p:sldId id="335" r:id="rId41"/>
    <p:sldId id="339" r:id="rId42"/>
    <p:sldId id="340" r:id="rId43"/>
    <p:sldId id="341" r:id="rId44"/>
    <p:sldId id="342" r:id="rId45"/>
    <p:sldId id="343" r:id="rId46"/>
    <p:sldId id="344" r:id="rId47"/>
    <p:sldId id="345" r:id="rId48"/>
    <p:sldId id="346" r:id="rId49"/>
    <p:sldId id="347" r:id="rId50"/>
    <p:sldId id="348" r:id="rId51"/>
    <p:sldId id="349" r:id="rId52"/>
    <p:sldId id="350" r:id="rId53"/>
    <p:sldId id="351" r:id="rId54"/>
    <p:sldId id="352" r:id="rId55"/>
    <p:sldId id="353" r:id="rId56"/>
    <p:sldId id="354" r:id="rId57"/>
    <p:sldId id="355" r:id="rId58"/>
    <p:sldId id="356" r:id="rId59"/>
    <p:sldId id="357" r:id="rId60"/>
    <p:sldId id="358" r:id="rId61"/>
    <p:sldId id="359" r:id="rId62"/>
    <p:sldId id="360" r:id="rId63"/>
    <p:sldId id="361" r:id="rId64"/>
    <p:sldId id="362" r:id="rId65"/>
    <p:sldId id="363" r:id="rId66"/>
    <p:sldId id="364" r:id="rId67"/>
    <p:sldId id="365" r:id="rId68"/>
    <p:sldId id="366" r:id="rId69"/>
    <p:sldId id="367"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saac Nti" initials="I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1839" autoAdjust="0"/>
  </p:normalViewPr>
  <p:slideViewPr>
    <p:cSldViewPr snapToGrid="0">
      <p:cViewPr varScale="1">
        <p:scale>
          <a:sx n="50" d="100"/>
          <a:sy n="50" d="100"/>
        </p:scale>
        <p:origin x="150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E783F8-7515-4BF5-AFAA-D361FCD035C7}"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928F2B-8A2E-434F-9472-0F3CD5888103}" type="slidenum">
              <a:rPr lang="en-US" smtClean="0"/>
              <a:t>‹#›</a:t>
            </a:fld>
            <a:endParaRPr lang="en-US"/>
          </a:p>
        </p:txBody>
      </p:sp>
    </p:spTree>
    <p:extLst>
      <p:ext uri="{BB962C8B-B14F-4D97-AF65-F5344CB8AC3E}">
        <p14:creationId xmlns:p14="http://schemas.microsoft.com/office/powerpoint/2010/main" val="1753566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Discrete, students in class, shoe size (countable)</a:t>
            </a:r>
          </a:p>
          <a:p>
            <a:r>
              <a:rPr lang="en-US" dirty="0"/>
              <a:t>Continuous: weight height, temp (not countable)</a:t>
            </a:r>
          </a:p>
          <a:p>
            <a:r>
              <a:rPr lang="en-US" dirty="0"/>
              <a:t>Binary: yes</a:t>
            </a:r>
            <a:r>
              <a:rPr lang="en-US" baseline="0" dirty="0"/>
              <a:t>/no, true/false</a:t>
            </a:r>
          </a:p>
          <a:p>
            <a:r>
              <a:rPr lang="en-US" baseline="0" dirty="0"/>
              <a:t>Nominal: gender, hair color, cities</a:t>
            </a:r>
          </a:p>
          <a:p>
            <a:r>
              <a:rPr lang="en-US" baseline="0" dirty="0"/>
              <a:t>Ordinal: rating, class level, ranking</a:t>
            </a:r>
          </a:p>
        </p:txBody>
      </p:sp>
      <p:sp>
        <p:nvSpPr>
          <p:cNvPr id="4" name="Slide Number Placeholder 3"/>
          <p:cNvSpPr>
            <a:spLocks noGrp="1"/>
          </p:cNvSpPr>
          <p:nvPr>
            <p:ph type="sldNum" sz="quarter" idx="10"/>
          </p:nvPr>
        </p:nvSpPr>
        <p:spPr/>
        <p:txBody>
          <a:bodyPr/>
          <a:lstStyle/>
          <a:p>
            <a:fld id="{C4928F2B-8A2E-434F-9472-0F3CD5888103}" type="slidenum">
              <a:rPr lang="en-US" smtClean="0"/>
              <a:t>3</a:t>
            </a:fld>
            <a:endParaRPr lang="en-US"/>
          </a:p>
        </p:txBody>
      </p:sp>
    </p:spTree>
    <p:extLst>
      <p:ext uri="{BB962C8B-B14F-4D97-AF65-F5344CB8AC3E}">
        <p14:creationId xmlns:p14="http://schemas.microsoft.com/office/powerpoint/2010/main" val="1664051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200" dirty="0"/>
              <a:t>Issues: inconsistent formatting of dates and numbers, unusual character sets and symbols, duplicate entries, and different languages and measurement units</a:t>
            </a:r>
          </a:p>
          <a:p>
            <a:r>
              <a:rPr lang="en-US" sz="1200" dirty="0"/>
              <a:t>Accuracy: is</a:t>
            </a:r>
            <a:r>
              <a:rPr lang="en-US" sz="1200" baseline="0" dirty="0"/>
              <a:t> the information correct</a:t>
            </a:r>
            <a:endParaRPr lang="en-US" sz="1200" dirty="0"/>
          </a:p>
          <a:p>
            <a:r>
              <a:rPr lang="en-US" sz="1200" dirty="0"/>
              <a:t>Completeness: </a:t>
            </a:r>
            <a:r>
              <a:rPr lang="en-US" dirty="0"/>
              <a:t>data’s ability to effectively deliver all the required values </a:t>
            </a:r>
            <a:endParaRPr lang="en-US" sz="1200" dirty="0"/>
          </a:p>
          <a:p>
            <a:pPr marL="0" marR="0" lvl="0" indent="0" algn="l" defTabSz="914400" rtl="0" eaLnBrk="1" fontAlgn="auto" latinLnBrk="0" hangingPunct="1">
              <a:lnSpc>
                <a:spcPct val="100000"/>
              </a:lnSpc>
              <a:spcBef>
                <a:spcPts val="0"/>
              </a:spcBef>
              <a:spcAft>
                <a:spcPts val="0"/>
              </a:spcAft>
              <a:buClrTx/>
              <a:buSzTx/>
              <a:buFontTx/>
              <a:buNone/>
              <a:defRPr/>
            </a:pPr>
            <a:r>
              <a:rPr lang="en-US" sz="1200" dirty="0"/>
              <a:t>Consistency: </a:t>
            </a:r>
            <a:r>
              <a:rPr lang="en-US" dirty="0"/>
              <a:t>uniformity of data. The same data values stored in difference locations should not conflict with one another. </a:t>
            </a:r>
            <a:endParaRPr lang="en-US" sz="1200" dirty="0"/>
          </a:p>
          <a:p>
            <a:r>
              <a:rPr lang="en-US" sz="1200" dirty="0"/>
              <a:t>Timeliness:</a:t>
            </a:r>
            <a:r>
              <a:rPr lang="en-US" sz="1200" baseline="0" dirty="0"/>
              <a:t> </a:t>
            </a:r>
            <a:r>
              <a:rPr lang="en-US" dirty="0">
                <a:sym typeface="+mn-ea"/>
              </a:rPr>
              <a:t>How up-to-date is information</a:t>
            </a:r>
            <a:endParaRPr lang="en-US" sz="1200" dirty="0"/>
          </a:p>
          <a:p>
            <a:r>
              <a:rPr lang="en-US" sz="1200" dirty="0"/>
              <a:t>Believability:</a:t>
            </a:r>
            <a:r>
              <a:rPr lang="en-US" sz="1200" baseline="0" dirty="0"/>
              <a:t> is it trustable?</a:t>
            </a:r>
            <a:endParaRPr lang="en-US" sz="1200" dirty="0"/>
          </a:p>
          <a:p>
            <a:pPr marL="0" marR="0" lvl="0" indent="0" algn="l" defTabSz="914400" rtl="0" eaLnBrk="1" fontAlgn="auto" latinLnBrk="0" hangingPunct="1">
              <a:lnSpc>
                <a:spcPct val="100000"/>
              </a:lnSpc>
              <a:spcBef>
                <a:spcPts val="0"/>
              </a:spcBef>
              <a:spcAft>
                <a:spcPts val="0"/>
              </a:spcAft>
              <a:buClrTx/>
              <a:buSzTx/>
              <a:buFontTx/>
              <a:buNone/>
              <a:defRPr/>
            </a:pPr>
            <a:r>
              <a:rPr lang="en-US" sz="1200" dirty="0"/>
              <a:t>Interpretability: </a:t>
            </a:r>
            <a:r>
              <a:rPr lang="en-US" dirty="0">
                <a:sym typeface="+mn-ea"/>
              </a:rPr>
              <a:t>how easy the data is understood.</a:t>
            </a:r>
            <a:endParaRPr lang="en-US" sz="1200" dirty="0"/>
          </a:p>
          <a:p>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4</a:t>
            </a:fld>
            <a:endParaRPr lang="en-US"/>
          </a:p>
        </p:txBody>
      </p:sp>
    </p:spTree>
    <p:extLst>
      <p:ext uri="{BB962C8B-B14F-4D97-AF65-F5344CB8AC3E}">
        <p14:creationId xmlns:p14="http://schemas.microsoft.com/office/powerpoint/2010/main" val="39872884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42950" lvl="1" indent="-285750"/>
            <a:endParaRPr lang="en-US" altLang="en-US" sz="2200" dirty="0">
              <a:solidFill>
                <a:srgbClr val="FF0000"/>
              </a:solidFill>
            </a:endParaRPr>
          </a:p>
          <a:p>
            <a:pPr marL="742950" lvl="1" indent="-285750"/>
            <a:r>
              <a:rPr lang="en-US" altLang="en-US" sz="2200" dirty="0">
                <a:solidFill>
                  <a:srgbClr val="FF0000"/>
                </a:solidFill>
              </a:rPr>
              <a:t>incomplete:</a:t>
            </a:r>
            <a:r>
              <a:rPr lang="en-US" altLang="en-US" sz="2200" dirty="0"/>
              <a:t> missing attribute values, lack of certain attributes of interest, or containing only aggregate data</a:t>
            </a:r>
            <a:r>
              <a:rPr lang="en-US" altLang="en-US" sz="2200" baseline="0" dirty="0"/>
              <a:t> </a:t>
            </a:r>
            <a:r>
              <a:rPr lang="en-US" altLang="en-US" sz="2000" dirty="0"/>
              <a:t>e.g., occupation=“”</a:t>
            </a:r>
          </a:p>
          <a:p>
            <a:pPr marL="742950" lvl="1" indent="-285750"/>
            <a:r>
              <a:rPr lang="en-US" altLang="en-US" sz="2200" dirty="0">
                <a:solidFill>
                  <a:srgbClr val="FF0000"/>
                </a:solidFill>
              </a:rPr>
              <a:t>noisy</a:t>
            </a:r>
            <a:r>
              <a:rPr lang="en-US" altLang="en-US" sz="2200" dirty="0"/>
              <a:t>: containing errors or outliers</a:t>
            </a:r>
            <a:r>
              <a:rPr lang="en-US" altLang="en-US" sz="2200" baseline="0" dirty="0"/>
              <a:t> </a:t>
            </a:r>
            <a:r>
              <a:rPr lang="en-US" altLang="en-US" sz="2000" dirty="0"/>
              <a:t>e.g., Salary=“-10”</a:t>
            </a:r>
          </a:p>
          <a:p>
            <a:pPr marL="742950" lvl="1" indent="-285750"/>
            <a:r>
              <a:rPr lang="en-US" altLang="en-US" sz="2200" dirty="0">
                <a:solidFill>
                  <a:srgbClr val="FF0000"/>
                </a:solidFill>
              </a:rPr>
              <a:t>inconsistent:</a:t>
            </a:r>
            <a:r>
              <a:rPr lang="en-US" altLang="en-US" sz="2200" dirty="0"/>
              <a:t> containing discrepancies in codes or names</a:t>
            </a:r>
            <a:r>
              <a:rPr lang="en-US" altLang="en-US" sz="2200" baseline="0" dirty="0"/>
              <a:t> </a:t>
            </a:r>
            <a:r>
              <a:rPr lang="en-US" altLang="en-US" sz="2000" dirty="0"/>
              <a:t>e.g., Age=“42” Birthday=“03/07/1997”</a:t>
            </a:r>
            <a:r>
              <a:rPr lang="en-US" altLang="en-US" sz="2000" baseline="0" dirty="0"/>
              <a:t> </a:t>
            </a:r>
            <a:r>
              <a:rPr lang="en-US" altLang="en-US" sz="2000" dirty="0"/>
              <a:t>e.g., Was rating “1,2,3”, now rating “A, B, C”</a:t>
            </a:r>
            <a:r>
              <a:rPr lang="en-US" altLang="en-US" sz="2000" baseline="0" dirty="0"/>
              <a:t> </a:t>
            </a:r>
            <a:r>
              <a:rPr lang="en-US" altLang="en-US" sz="2000" dirty="0"/>
              <a:t>e.g., discrepancy between duplicate records</a:t>
            </a:r>
          </a:p>
          <a:p>
            <a:pPr marL="742950" lvl="1" indent="-285750"/>
            <a:endParaRPr lang="en-US" altLang="en-US" sz="2000"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dirty="0"/>
              <a:t>Quality decisions must be based on quality data </a:t>
            </a:r>
            <a:r>
              <a:rPr lang="en-US" altLang="en-US" sz="1200" dirty="0" err="1"/>
              <a:t>e.g</a:t>
            </a:r>
            <a:r>
              <a:rPr lang="en-US" altLang="en-US" sz="1200" dirty="0"/>
              <a:t>, duplicate or missing data may cause incorrect or even misleading statistics.</a:t>
            </a:r>
          </a:p>
          <a:p>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5</a:t>
            </a:fld>
            <a:endParaRPr lang="en-US"/>
          </a:p>
        </p:txBody>
      </p:sp>
    </p:spTree>
    <p:extLst>
      <p:ext uri="{BB962C8B-B14F-4D97-AF65-F5344CB8AC3E}">
        <p14:creationId xmlns:p14="http://schemas.microsoft.com/office/powerpoint/2010/main" val="1530119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200" dirty="0"/>
              <a:t>Data cleaning:</a:t>
            </a:r>
            <a:r>
              <a:rPr lang="en-US" altLang="en-US" sz="1200" baseline="0" dirty="0"/>
              <a:t> </a:t>
            </a:r>
            <a:r>
              <a:rPr lang="en-US" altLang="en-US" sz="1200" dirty="0"/>
              <a:t>Fill in missing values, smooth noisy data, identify or remove outliers and noisy data, and resolve inconsistencies</a:t>
            </a:r>
          </a:p>
          <a:p>
            <a:pPr marL="0" marR="0" lvl="0" indent="0" algn="l" defTabSz="914400" rtl="0" eaLnBrk="1" fontAlgn="auto" latinLnBrk="0" hangingPunct="1">
              <a:lnSpc>
                <a:spcPct val="100000"/>
              </a:lnSpc>
              <a:spcBef>
                <a:spcPts val="0"/>
              </a:spcBef>
              <a:spcAft>
                <a:spcPts val="0"/>
              </a:spcAft>
              <a:buClrTx/>
              <a:buSzTx/>
              <a:buFontTx/>
              <a:buNone/>
              <a:defRPr/>
            </a:pPr>
            <a:r>
              <a:rPr lang="en-US" altLang="en-US" sz="1200" dirty="0"/>
              <a:t>Data integration: Integration of multiple databases, or files </a:t>
            </a:r>
          </a:p>
          <a:p>
            <a:pPr marL="0" indent="0">
              <a:buNone/>
            </a:pPr>
            <a:r>
              <a:rPr lang="en-US" altLang="en-US" sz="1200" dirty="0"/>
              <a:t>Data reduction: Obtains reduced representation in volume but produces the same or similar analytical results, </a:t>
            </a:r>
            <a:r>
              <a:rPr lang="en-US" dirty="0"/>
              <a:t>dimensionality reduction and numerosity reduction. </a:t>
            </a:r>
            <a:r>
              <a:rPr lang="en-US" sz="1200" dirty="0"/>
              <a:t>It replaces the original data volume by alternative, smaller forms of data representation e.g., Regression, Histograms, Clustering, Sampling</a:t>
            </a:r>
            <a:endParaRPr lang="en-US" altLang="en-US" sz="1200"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en-US" sz="1200" dirty="0"/>
              <a:t>Data</a:t>
            </a:r>
            <a:r>
              <a:rPr lang="en-US" altLang="en-US" sz="1200" baseline="0" dirty="0"/>
              <a:t> transformation: </a:t>
            </a:r>
            <a:r>
              <a:rPr lang="en-US" altLang="en-US" sz="1200" dirty="0"/>
              <a:t>Normalization and aggregation</a:t>
            </a:r>
          </a:p>
          <a:p>
            <a:pPr marL="0" marR="0" lvl="0" indent="0" algn="l" defTabSz="914400" rtl="0" eaLnBrk="1" fontAlgn="auto" latinLnBrk="0" hangingPunct="1">
              <a:lnSpc>
                <a:spcPct val="100000"/>
              </a:lnSpc>
              <a:spcBef>
                <a:spcPts val="0"/>
              </a:spcBef>
              <a:spcAft>
                <a:spcPts val="0"/>
              </a:spcAft>
              <a:buClrTx/>
              <a:buSzTx/>
              <a:buFontTx/>
              <a:buNone/>
              <a:defRPr/>
            </a:pPr>
            <a:r>
              <a:rPr lang="en-US" altLang="en-US" sz="1200" dirty="0"/>
              <a:t>Discretization: </a:t>
            </a:r>
            <a:r>
              <a:rPr lang="en-US" dirty="0"/>
              <a:t>raw data values for attributes are replaced by ranges or higher conceptual levels. e.g. raw values for age may be replaced by higher-level concepts, such as youth, adult, or senior.</a:t>
            </a:r>
            <a:endParaRPr lang="en-US" altLang="en-US" sz="1200" dirty="0"/>
          </a:p>
        </p:txBody>
      </p:sp>
      <p:sp>
        <p:nvSpPr>
          <p:cNvPr id="4" name="Slide Number Placeholder 3"/>
          <p:cNvSpPr>
            <a:spLocks noGrp="1"/>
          </p:cNvSpPr>
          <p:nvPr>
            <p:ph type="sldNum" sz="quarter" idx="10"/>
          </p:nvPr>
        </p:nvSpPr>
        <p:spPr/>
        <p:txBody>
          <a:bodyPr/>
          <a:lstStyle/>
          <a:p>
            <a:fld id="{C4928F2B-8A2E-434F-9472-0F3CD5888103}" type="slidenum">
              <a:rPr lang="en-US" smtClean="0"/>
              <a:t>6</a:t>
            </a:fld>
            <a:endParaRPr lang="en-US"/>
          </a:p>
        </p:txBody>
      </p:sp>
    </p:spTree>
    <p:extLst>
      <p:ext uri="{BB962C8B-B14F-4D97-AF65-F5344CB8AC3E}">
        <p14:creationId xmlns:p14="http://schemas.microsoft.com/office/powerpoint/2010/main" val="1929632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200" dirty="0"/>
              <a:t>E.g., many tuples have no recorded values for several attributes, such as customer income in sales data</a:t>
            </a:r>
          </a:p>
          <a:p>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10</a:t>
            </a:fld>
            <a:endParaRPr lang="en-US"/>
          </a:p>
        </p:txBody>
      </p:sp>
    </p:spTree>
    <p:extLst>
      <p:ext uri="{BB962C8B-B14F-4D97-AF65-F5344CB8AC3E}">
        <p14:creationId xmlns:p14="http://schemas.microsoft.com/office/powerpoint/2010/main" val="3427107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not very effective, unless the tuple contains several attributes with missing values.</a:t>
            </a:r>
          </a:p>
          <a:p>
            <a:r>
              <a:rPr lang="en-US" dirty="0"/>
              <a:t>2- time consuming and may not be feasible given a large data set</a:t>
            </a:r>
          </a:p>
          <a:p>
            <a:r>
              <a:rPr lang="en-US" dirty="0"/>
              <a:t>3- If missing values are replaced by, say, “Unknown,” then the mining program may mistakenly think that they form an interesting concept</a:t>
            </a:r>
          </a:p>
          <a:p>
            <a:r>
              <a:rPr lang="en-US" dirty="0"/>
              <a:t>4-</a:t>
            </a:r>
            <a:r>
              <a:rPr lang="en-US" baseline="0" dirty="0"/>
              <a:t> </a:t>
            </a:r>
            <a:r>
              <a:rPr lang="en-US" dirty="0"/>
              <a:t>For normal (symmetric) data distributions, the mean can be used, while skewed data distribution should employ the median &amp; mode for categorical</a:t>
            </a:r>
            <a:r>
              <a:rPr lang="en-US" baseline="0" dirty="0"/>
              <a:t> data</a:t>
            </a:r>
          </a:p>
          <a:p>
            <a:r>
              <a:rPr lang="en-US" baseline="0" dirty="0"/>
              <a:t>5- </a:t>
            </a:r>
            <a:r>
              <a:rPr lang="en-US" dirty="0"/>
              <a:t>if classifying customers according to credit risk, we may replace the missing value with the mean income value for customers in the same credit risk category as that of the given tuple.</a:t>
            </a:r>
          </a:p>
          <a:p>
            <a:r>
              <a:rPr lang="en-US" dirty="0"/>
              <a:t>6- predict the missing</a:t>
            </a:r>
            <a:r>
              <a:rPr lang="en-US" baseline="0" dirty="0"/>
              <a:t> value (popular strategy)</a:t>
            </a:r>
          </a:p>
          <a:p>
            <a:r>
              <a:rPr lang="en-US" baseline="0" dirty="0"/>
              <a:t>Note: </a:t>
            </a:r>
            <a:r>
              <a:rPr lang="en-US" dirty="0"/>
              <a:t>a missing value may not imply an error in the data!. Ideally, each attribute should have one or more rules regarding the null condition. </a:t>
            </a:r>
          </a:p>
        </p:txBody>
      </p:sp>
      <p:sp>
        <p:nvSpPr>
          <p:cNvPr id="4" name="Slide Number Placeholder 3"/>
          <p:cNvSpPr>
            <a:spLocks noGrp="1"/>
          </p:cNvSpPr>
          <p:nvPr>
            <p:ph type="sldNum" sz="quarter" idx="10"/>
          </p:nvPr>
        </p:nvSpPr>
        <p:spPr/>
        <p:txBody>
          <a:bodyPr/>
          <a:lstStyle/>
          <a:p>
            <a:fld id="{C4928F2B-8A2E-434F-9472-0F3CD5888103}" type="slidenum">
              <a:rPr lang="en-US" smtClean="0"/>
              <a:t>11</a:t>
            </a:fld>
            <a:endParaRPr lang="en-US"/>
          </a:p>
        </p:txBody>
      </p:sp>
    </p:spTree>
    <p:extLst>
      <p:ext uri="{BB962C8B-B14F-4D97-AF65-F5344CB8AC3E}">
        <p14:creationId xmlns:p14="http://schemas.microsoft.com/office/powerpoint/2010/main" val="807863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What is the difference between</a:t>
            </a:r>
            <a:r>
              <a:rPr lang="en-US" sz="1200" b="1" i="0" kern="1200" dirty="0">
                <a:solidFill>
                  <a:schemeClr val="tx1"/>
                </a:solidFill>
                <a:effectLst/>
                <a:latin typeface="+mn-lt"/>
                <a:ea typeface="+mn-ea"/>
                <a:cs typeface="+mn-cs"/>
              </a:rPr>
              <a:t> interpolation </a:t>
            </a:r>
            <a:r>
              <a:rPr lang="en-US" sz="1200" b="0" i="0" kern="1200" dirty="0">
                <a:solidFill>
                  <a:schemeClr val="tx1"/>
                </a:solidFill>
                <a:effectLst/>
                <a:latin typeface="+mn-lt"/>
                <a:ea typeface="+mn-ea"/>
                <a:cs typeface="+mn-cs"/>
              </a:rPr>
              <a:t>and </a:t>
            </a:r>
            <a:r>
              <a:rPr lang="en-US" sz="1200" b="1" i="0" kern="1200" dirty="0">
                <a:solidFill>
                  <a:schemeClr val="tx1"/>
                </a:solidFill>
                <a:effectLst/>
                <a:latin typeface="+mn-lt"/>
                <a:ea typeface="+mn-ea"/>
                <a:cs typeface="+mn-cs"/>
              </a:rPr>
              <a:t>imputation</a:t>
            </a:r>
            <a:r>
              <a:rPr lang="en-US" sz="1200" b="0" i="0" kern="1200" dirty="0">
                <a:solidFill>
                  <a:schemeClr val="tx1"/>
                </a:solidFill>
                <a:effectLst/>
                <a:latin typeface="+mn-lt"/>
                <a:ea typeface="+mn-ea"/>
                <a:cs typeface="+mn-cs"/>
              </a:rPr>
              <a:t>? While imputation replaces missing data for the column's mean, interpolation is a sort of estimation that creates data points within the range of a discrete set of existing data points</a:t>
            </a:r>
            <a:endParaRPr lang="en-PK" dirty="0"/>
          </a:p>
        </p:txBody>
      </p:sp>
      <p:sp>
        <p:nvSpPr>
          <p:cNvPr id="4" name="Slide Number Placeholder 3"/>
          <p:cNvSpPr>
            <a:spLocks noGrp="1"/>
          </p:cNvSpPr>
          <p:nvPr>
            <p:ph type="sldNum" sz="quarter" idx="5"/>
          </p:nvPr>
        </p:nvSpPr>
        <p:spPr/>
        <p:txBody>
          <a:bodyPr/>
          <a:lstStyle/>
          <a:p>
            <a:fld id="{C4928F2B-8A2E-434F-9472-0F3CD5888103}" type="slidenum">
              <a:rPr lang="en-US" smtClean="0"/>
              <a:t>12</a:t>
            </a:fld>
            <a:endParaRPr lang="en-US"/>
          </a:p>
        </p:txBody>
      </p:sp>
    </p:spTree>
    <p:extLst>
      <p:ext uri="{BB962C8B-B14F-4D97-AF65-F5344CB8AC3E}">
        <p14:creationId xmlns:p14="http://schemas.microsoft.com/office/powerpoint/2010/main" val="162902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14</a:t>
            </a:fld>
            <a:endParaRPr lang="en-US"/>
          </a:p>
        </p:txBody>
      </p:sp>
    </p:spTree>
    <p:extLst>
      <p:ext uri="{BB962C8B-B14F-4D97-AF65-F5344CB8AC3E}">
        <p14:creationId xmlns:p14="http://schemas.microsoft.com/office/powerpoint/2010/main" val="3766755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Unfortunately, the mean and SD, which are both part of the formula for the Z-score standardization, are both rather sensitive to the presence of outliers.</a:t>
            </a:r>
          </a:p>
        </p:txBody>
      </p:sp>
      <p:sp>
        <p:nvSpPr>
          <p:cNvPr id="4" name="Slide Number Placeholder 3"/>
          <p:cNvSpPr>
            <a:spLocks noGrp="1"/>
          </p:cNvSpPr>
          <p:nvPr>
            <p:ph type="sldNum" sz="quarter" idx="5"/>
          </p:nvPr>
        </p:nvSpPr>
        <p:spPr/>
        <p:txBody>
          <a:bodyPr/>
          <a:lstStyle/>
          <a:p>
            <a:fld id="{BA599D4A-299E-4DE4-9D3F-1D6E8F153783}" type="slidenum">
              <a:rPr lang="en-US" smtClean="0"/>
              <a:t>15</a:t>
            </a:fld>
            <a:endParaRPr lang="en-US"/>
          </a:p>
        </p:txBody>
      </p:sp>
    </p:spTree>
    <p:extLst>
      <p:ext uri="{BB962C8B-B14F-4D97-AF65-F5344CB8AC3E}">
        <p14:creationId xmlns:p14="http://schemas.microsoft.com/office/powerpoint/2010/main" val="2844315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sym typeface="+mn-ea"/>
              </a:rPr>
              <a:t>The quartiles give an indication of a distribution’s center, spread, and shape.</a:t>
            </a:r>
            <a:endParaRPr lang="en-US"/>
          </a:p>
        </p:txBody>
      </p:sp>
      <p:sp>
        <p:nvSpPr>
          <p:cNvPr id="4" name="Slide Number Placeholder 3"/>
          <p:cNvSpPr>
            <a:spLocks noGrp="1"/>
          </p:cNvSpPr>
          <p:nvPr>
            <p:ph type="sldNum" sz="quarter" idx="5"/>
          </p:nvPr>
        </p:nvSpPr>
        <p:spPr/>
        <p:txBody>
          <a:bodyPr/>
          <a:lstStyle/>
          <a:p>
            <a:fld id="{BA599D4A-299E-4DE4-9D3F-1D6E8F153783}" type="slidenum">
              <a:rPr lang="en-US" smtClean="0"/>
              <a:t>17</a:t>
            </a:fld>
            <a:endParaRPr lang="en-US"/>
          </a:p>
        </p:txBody>
      </p:sp>
    </p:spTree>
    <p:extLst>
      <p:ext uri="{BB962C8B-B14F-4D97-AF65-F5344CB8AC3E}">
        <p14:creationId xmlns:p14="http://schemas.microsoft.com/office/powerpoint/2010/main" val="506657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altLang="en-US" sz="2400" dirty="0">
                <a:sym typeface="+mn-ea"/>
              </a:rPr>
              <a:t>first sort data and partition into (</a:t>
            </a:r>
            <a:r>
              <a:rPr lang="en-US" altLang="en-US" sz="2400" dirty="0" err="1">
                <a:sym typeface="+mn-ea"/>
              </a:rPr>
              <a:t>equi</a:t>
            </a:r>
            <a:r>
              <a:rPr lang="en-US" altLang="en-US" sz="2400" dirty="0">
                <a:sym typeface="+mn-ea"/>
              </a:rPr>
              <a:t>-depth/</a:t>
            </a:r>
            <a:r>
              <a:rPr lang="en-US" altLang="en-US" sz="2400" dirty="0" err="1">
                <a:sym typeface="+mn-ea"/>
              </a:rPr>
              <a:t>equi</a:t>
            </a:r>
            <a:r>
              <a:rPr lang="en-US" altLang="en-US" sz="2400" dirty="0">
                <a:sym typeface="+mn-ea"/>
              </a:rPr>
              <a:t>-width) bins</a:t>
            </a:r>
            <a:endParaRPr lang="en-US" altLang="en-US" sz="2400" dirty="0"/>
          </a:p>
          <a:p>
            <a:pPr lvl="1"/>
            <a:r>
              <a:rPr lang="en-US" altLang="en-US" sz="2400" dirty="0">
                <a:sym typeface="+mn-ea"/>
              </a:rPr>
              <a:t>then one can </a:t>
            </a:r>
            <a:r>
              <a:rPr lang="en-US" altLang="en-US" sz="2400" dirty="0">
                <a:solidFill>
                  <a:schemeClr val="accent2"/>
                </a:solidFill>
                <a:sym typeface="+mn-ea"/>
              </a:rPr>
              <a:t>smooth by bin means,  smooth by bin median, smooth by bin boundaries</a:t>
            </a:r>
            <a:r>
              <a:rPr lang="en-US" altLang="en-US" sz="2400" dirty="0">
                <a:sym typeface="+mn-ea"/>
              </a:rPr>
              <a:t>, etc.</a:t>
            </a:r>
            <a:endParaRPr lang="en-US" altLang="en-US" sz="2400" dirty="0"/>
          </a:p>
          <a:p>
            <a:pPr lvl="1"/>
            <a:r>
              <a:rPr lang="en-US" altLang="en-US" sz="2400" dirty="0">
                <a:sym typeface="+mn-ea"/>
              </a:rPr>
              <a:t>used also for discretization (discussed later)</a:t>
            </a:r>
            <a:endParaRPr lang="en-US" altLang="en-US" sz="2400" dirty="0"/>
          </a:p>
          <a:p>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20</a:t>
            </a:fld>
            <a:endParaRPr lang="en-US"/>
          </a:p>
        </p:txBody>
      </p:sp>
    </p:spTree>
    <p:extLst>
      <p:ext uri="{BB962C8B-B14F-4D97-AF65-F5344CB8AC3E}">
        <p14:creationId xmlns:p14="http://schemas.microsoft.com/office/powerpoint/2010/main" val="302400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200" dirty="0"/>
              <a:t>Schema integration: Entity identification problem: identify real world entities from multiple data sources, e.g., </a:t>
            </a:r>
            <a:r>
              <a:rPr lang="en-US" altLang="en-US" sz="1200" dirty="0" err="1"/>
              <a:t>A.cust</a:t>
            </a:r>
            <a:r>
              <a:rPr lang="en-US" altLang="en-US" sz="1200" dirty="0"/>
              <a:t>-id </a:t>
            </a:r>
            <a:r>
              <a:rPr lang="en-US" altLang="en-US" sz="1200" dirty="0">
                <a:sym typeface="Symbol" panose="05050102010706020507" pitchFamily="18" charset="2"/>
              </a:rPr>
              <a:t> </a:t>
            </a:r>
            <a:r>
              <a:rPr lang="en-US" altLang="en-US" sz="1200" dirty="0" err="1">
                <a:sym typeface="Symbol" panose="05050102010706020507" pitchFamily="18" charset="2"/>
              </a:rPr>
              <a:t>B.</a:t>
            </a:r>
            <a:r>
              <a:rPr lang="en-US" altLang="en-US" sz="1200" dirty="0" err="1"/>
              <a:t>cust</a:t>
            </a:r>
            <a:r>
              <a:rPr lang="en-US" altLang="en-US" sz="1200" dirty="0"/>
              <a:t>-#</a:t>
            </a:r>
          </a:p>
          <a:p>
            <a:pPr marL="0" marR="0" lvl="0" indent="0" algn="l" defTabSz="914400" rtl="0" eaLnBrk="1" fontAlgn="auto" latinLnBrk="0" hangingPunct="1">
              <a:lnSpc>
                <a:spcPct val="100000"/>
              </a:lnSpc>
              <a:spcBef>
                <a:spcPts val="0"/>
              </a:spcBef>
              <a:spcAft>
                <a:spcPts val="0"/>
              </a:spcAft>
              <a:buClrTx/>
              <a:buSzTx/>
              <a:buFontTx/>
              <a:buNone/>
              <a:defRPr/>
            </a:pPr>
            <a:r>
              <a:rPr lang="en-US" altLang="en-US" sz="1200" dirty="0"/>
              <a:t>Value conflict: for the same real world entity, attribute values from different sources are different, e.g., different scales, metric vs. British units</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en-US" sz="1200" dirty="0"/>
          </a:p>
          <a:p>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27</a:t>
            </a:fld>
            <a:endParaRPr lang="en-US"/>
          </a:p>
        </p:txBody>
      </p:sp>
    </p:spTree>
    <p:extLst>
      <p:ext uri="{BB962C8B-B14F-4D97-AF65-F5344CB8AC3E}">
        <p14:creationId xmlns:p14="http://schemas.microsoft.com/office/powerpoint/2010/main" val="2467936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schema integration is about putting together data in a way that makes sense, and</a:t>
            </a:r>
          </a:p>
          <a:p>
            <a:r>
              <a:rPr lang="en-US" sz="1200" b="0" i="0" kern="1200" dirty="0">
                <a:solidFill>
                  <a:schemeClr val="tx1"/>
                </a:solidFill>
                <a:effectLst/>
                <a:latin typeface="+mn-lt"/>
                <a:ea typeface="+mn-ea"/>
                <a:cs typeface="+mn-cs"/>
              </a:rPr>
              <a:t>object matching is like finding and connecting equivalent things from different sources. </a:t>
            </a:r>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28</a:t>
            </a:fld>
            <a:endParaRPr lang="en-US"/>
          </a:p>
        </p:txBody>
      </p:sp>
    </p:spTree>
    <p:extLst>
      <p:ext uri="{BB962C8B-B14F-4D97-AF65-F5344CB8AC3E}">
        <p14:creationId xmlns:p14="http://schemas.microsoft.com/office/powerpoint/2010/main" val="2906427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Dependencies: an example, such as the proper application of discounts in different systems.</a:t>
            </a:r>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29</a:t>
            </a:fld>
            <a:endParaRPr lang="en-US"/>
          </a:p>
        </p:txBody>
      </p:sp>
    </p:spTree>
    <p:extLst>
      <p:ext uri="{BB962C8B-B14F-4D97-AF65-F5344CB8AC3E}">
        <p14:creationId xmlns:p14="http://schemas.microsoft.com/office/powerpoint/2010/main" val="32634255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attribute (such as annual revenue, for instance) may be redundant if it can be “derived” from another attribute or set of attributes</a:t>
            </a:r>
          </a:p>
        </p:txBody>
      </p:sp>
      <p:sp>
        <p:nvSpPr>
          <p:cNvPr id="4" name="Slide Number Placeholder 3"/>
          <p:cNvSpPr>
            <a:spLocks noGrp="1"/>
          </p:cNvSpPr>
          <p:nvPr>
            <p:ph type="sldNum" sz="quarter" idx="10"/>
          </p:nvPr>
        </p:nvSpPr>
        <p:spPr/>
        <p:txBody>
          <a:bodyPr/>
          <a:lstStyle/>
          <a:p>
            <a:fld id="{C4928F2B-8A2E-434F-9472-0F3CD5888103}" type="slidenum">
              <a:rPr lang="en-US" smtClean="0"/>
              <a:t>30</a:t>
            </a:fld>
            <a:endParaRPr lang="en-US"/>
          </a:p>
        </p:txBody>
      </p:sp>
    </p:spTree>
    <p:extLst>
      <p:ext uri="{BB962C8B-B14F-4D97-AF65-F5344CB8AC3E}">
        <p14:creationId xmlns:p14="http://schemas.microsoft.com/office/powerpoint/2010/main" val="12185129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Significance value = less</a:t>
            </a:r>
            <a:r>
              <a:rPr lang="en-US" baseline="0" dirty="0"/>
              <a:t> the value more the precision</a:t>
            </a:r>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32</a:t>
            </a:fld>
            <a:endParaRPr lang="en-US"/>
          </a:p>
        </p:txBody>
      </p:sp>
    </p:spTree>
    <p:extLst>
      <p:ext uri="{BB962C8B-B14F-4D97-AF65-F5344CB8AC3E}">
        <p14:creationId xmlns:p14="http://schemas.microsoft.com/office/powerpoint/2010/main" val="6253800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in scale: correlation</a:t>
            </a:r>
            <a:r>
              <a:rPr lang="en-US" baseline="0" dirty="0"/>
              <a:t> no effect, covariance effected</a:t>
            </a:r>
          </a:p>
          <a:p>
            <a:r>
              <a:rPr lang="en-US" baseline="0" dirty="0"/>
              <a:t>Correlation -1 to +1, covariance –</a:t>
            </a:r>
            <a:r>
              <a:rPr lang="en-US" baseline="0" dirty="0" err="1"/>
              <a:t>inf</a:t>
            </a:r>
            <a:r>
              <a:rPr lang="en-US" baseline="0" dirty="0"/>
              <a:t> to +</a:t>
            </a:r>
            <a:r>
              <a:rPr lang="en-US" baseline="0" dirty="0" err="1"/>
              <a:t>inf</a:t>
            </a:r>
            <a:endParaRPr lang="en-US" baseline="0" dirty="0"/>
          </a:p>
          <a:p>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35</a:t>
            </a:fld>
            <a:endParaRPr lang="en-US"/>
          </a:p>
        </p:txBody>
      </p:sp>
    </p:spTree>
    <p:extLst>
      <p:ext uri="{BB962C8B-B14F-4D97-AF65-F5344CB8AC3E}">
        <p14:creationId xmlns:p14="http://schemas.microsoft.com/office/powerpoint/2010/main" val="3272102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36</a:t>
            </a:fld>
            <a:endParaRPr lang="en-US"/>
          </a:p>
        </p:txBody>
      </p:sp>
    </p:spTree>
    <p:extLst>
      <p:ext uri="{BB962C8B-B14F-4D97-AF65-F5344CB8AC3E}">
        <p14:creationId xmlns:p14="http://schemas.microsoft.com/office/powerpoint/2010/main" val="36942453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i.e., those with low variance (i.e., using the strongest principal components, it is possible to reconstruct a good approximation of the original data) </a:t>
            </a:r>
          </a:p>
          <a:p>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41</a:t>
            </a:fld>
            <a:endParaRPr lang="en-US"/>
          </a:p>
        </p:txBody>
      </p:sp>
    </p:spTree>
    <p:extLst>
      <p:ext uri="{BB962C8B-B14F-4D97-AF65-F5344CB8AC3E}">
        <p14:creationId xmlns:p14="http://schemas.microsoft.com/office/powerpoint/2010/main" val="1419486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 attributes, there are 2 n possible subsets</a:t>
            </a:r>
          </a:p>
          <a:p>
            <a:endParaRPr lang="en-US" dirty="0"/>
          </a:p>
          <a:p>
            <a:r>
              <a:rPr lang="en-US" dirty="0"/>
              <a:t>Attribute</a:t>
            </a:r>
            <a:r>
              <a:rPr lang="en-US" baseline="0" dirty="0"/>
              <a:t> construction: </a:t>
            </a:r>
            <a:r>
              <a:rPr lang="en-US" baseline="0" dirty="0" err="1"/>
              <a:t>h,w</a:t>
            </a:r>
            <a:r>
              <a:rPr lang="en-US" baseline="0" dirty="0"/>
              <a:t> to area</a:t>
            </a:r>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42</a:t>
            </a:fld>
            <a:endParaRPr lang="en-US"/>
          </a:p>
        </p:txBody>
      </p:sp>
    </p:spTree>
    <p:extLst>
      <p:ext uri="{BB962C8B-B14F-4D97-AF65-F5344CB8AC3E}">
        <p14:creationId xmlns:p14="http://schemas.microsoft.com/office/powerpoint/2010/main" val="29259680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Smoothing, which works to remove noise from the data. Techniques include binning, regression, and clustering. </a:t>
            </a:r>
          </a:p>
          <a:p>
            <a:r>
              <a:rPr lang="en-US" dirty="0"/>
              <a:t>Attribute construction (or feature construction), where new attributes are constructed and added from the given set of attributes</a:t>
            </a:r>
          </a:p>
          <a:p>
            <a:r>
              <a:rPr lang="en-US" dirty="0"/>
              <a:t>3. Aggregation, where summary or aggregation operations are applied to the data. For example, the daily sales data may be aggregated so as to compute monthly and annual total amounts. </a:t>
            </a:r>
          </a:p>
          <a:p>
            <a:r>
              <a:rPr lang="en-US" dirty="0"/>
              <a:t>4. Normalization, where the attribute data are scaled so as to fall within a smaller range, such as −1.0 to 1.0, or 0.0 to 1.0. </a:t>
            </a:r>
          </a:p>
          <a:p>
            <a:r>
              <a:rPr lang="en-US" dirty="0"/>
              <a:t>Discretization, where the raw values of a numeric attribute (e.g., age) are replaced by interval labels (e.g., 0–10, 11–20, etc.) or conceptual labels (e.g., youth, adult, senior). The labels, in turn, can be recursively organized into higher-level concepts, resulting in a concept hierarchy for the numeric attribute. More than one concept hierarchy can be defined for the same attribute to accommodate the needs of various users. </a:t>
            </a:r>
          </a:p>
          <a:p>
            <a:r>
              <a:rPr lang="en-US" dirty="0"/>
              <a:t>6. Concept hierarchy generation for nominal data, where attributes such as street can be generalized to higher-level concepts, like city or country.</a:t>
            </a:r>
          </a:p>
        </p:txBody>
      </p:sp>
      <p:sp>
        <p:nvSpPr>
          <p:cNvPr id="4" name="Slide Number Placeholder 3"/>
          <p:cNvSpPr>
            <a:spLocks noGrp="1"/>
          </p:cNvSpPr>
          <p:nvPr>
            <p:ph type="sldNum" sz="quarter" idx="10"/>
          </p:nvPr>
        </p:nvSpPr>
        <p:spPr/>
        <p:txBody>
          <a:bodyPr/>
          <a:lstStyle/>
          <a:p>
            <a:fld id="{C4928F2B-8A2E-434F-9472-0F3CD5888103}" type="slidenum">
              <a:rPr lang="en-US" smtClean="0"/>
              <a:t>52</a:t>
            </a:fld>
            <a:endParaRPr lang="en-US"/>
          </a:p>
        </p:txBody>
      </p:sp>
    </p:spTree>
    <p:extLst>
      <p:ext uri="{BB962C8B-B14F-4D97-AF65-F5344CB8AC3E}">
        <p14:creationId xmlns:p14="http://schemas.microsoft.com/office/powerpoint/2010/main" val="19393974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This approach is not effective when the maximum and minimum values are extreme value</a:t>
            </a:r>
          </a:p>
          <a:p>
            <a:r>
              <a:rPr lang="en-US"/>
              <a:t>outliers because of some mistake in data collection</a:t>
            </a:r>
          </a:p>
          <a:p>
            <a:endParaRPr lang="en-US"/>
          </a:p>
          <a:p>
            <a:r>
              <a:rPr lang="en-US"/>
              <a:t>Min-max normalization preserves the relationships among the original data values</a:t>
            </a:r>
          </a:p>
        </p:txBody>
      </p:sp>
      <p:sp>
        <p:nvSpPr>
          <p:cNvPr id="4" name="Slide Number Placeholder 3"/>
          <p:cNvSpPr>
            <a:spLocks noGrp="1"/>
          </p:cNvSpPr>
          <p:nvPr>
            <p:ph type="sldNum" sz="quarter" idx="5"/>
          </p:nvPr>
        </p:nvSpPr>
        <p:spPr/>
        <p:txBody>
          <a:bodyPr/>
          <a:lstStyle/>
          <a:p>
            <a:fld id="{BA599D4A-299E-4DE4-9D3F-1D6E8F153783}" type="slidenum">
              <a:rPr lang="en-US" smtClean="0"/>
              <a:t>54</a:t>
            </a:fld>
            <a:endParaRPr lang="en-US"/>
          </a:p>
        </p:txBody>
      </p:sp>
    </p:spTree>
    <p:extLst>
      <p:ext uri="{BB962C8B-B14F-4D97-AF65-F5344CB8AC3E}">
        <p14:creationId xmlns:p14="http://schemas.microsoft.com/office/powerpoint/2010/main" val="11759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dirty="0"/>
              <a:t>The mean absolute deviation, </a:t>
            </a:r>
            <a:r>
              <a:rPr lang="en-US" dirty="0" err="1"/>
              <a:t>sA</a:t>
            </a:r>
            <a:r>
              <a:rPr lang="en-US" dirty="0"/>
              <a:t>, is more robust to outliers than the standard deviation,</a:t>
            </a:r>
          </a:p>
          <a:p>
            <a:r>
              <a:rPr lang="en-US" dirty="0" err="1"/>
              <a:t>σA</a:t>
            </a:r>
            <a:r>
              <a:rPr lang="en-US" dirty="0"/>
              <a:t>. When computing the mean absolute deviation, the deviations from the mean (i.e.,</a:t>
            </a:r>
          </a:p>
          <a:p>
            <a:r>
              <a:rPr lang="en-US" dirty="0"/>
              <a:t>|xi − ¯x|) are not squared; hence, the effect of outliers is somewhat reduced</a:t>
            </a:r>
          </a:p>
          <a:p>
            <a:endParaRPr lang="en-US" dirty="0"/>
          </a:p>
          <a:p>
            <a:r>
              <a:rPr lang="en-US" dirty="0">
                <a:sym typeface="+mn-ea"/>
              </a:rPr>
              <a:t>A negative z-score indicates that the data point is below the mean.</a:t>
            </a:r>
            <a:endParaRPr lang="en-US" dirty="0"/>
          </a:p>
          <a:p>
            <a:r>
              <a:rPr lang="en-US" dirty="0">
                <a:sym typeface="+mn-ea"/>
              </a:rPr>
              <a:t>A positive z-score indicates that the data point is above the mean.</a:t>
            </a:r>
            <a:endParaRPr lang="en-US" dirty="0"/>
          </a:p>
          <a:p>
            <a:endParaRPr lang="en-US" dirty="0"/>
          </a:p>
        </p:txBody>
      </p:sp>
      <p:sp>
        <p:nvSpPr>
          <p:cNvPr id="4" name="Slide Number Placeholder 3"/>
          <p:cNvSpPr>
            <a:spLocks noGrp="1"/>
          </p:cNvSpPr>
          <p:nvPr>
            <p:ph type="sldNum" sz="quarter" idx="5"/>
          </p:nvPr>
        </p:nvSpPr>
        <p:spPr/>
        <p:txBody>
          <a:bodyPr/>
          <a:lstStyle/>
          <a:p>
            <a:fld id="{BA599D4A-299E-4DE4-9D3F-1D6E8F153783}" type="slidenum">
              <a:rPr lang="en-US" smtClean="0"/>
              <a:t>56</a:t>
            </a:fld>
            <a:endParaRPr lang="en-US"/>
          </a:p>
        </p:txBody>
      </p:sp>
    </p:spTree>
    <p:extLst>
      <p:ext uri="{BB962C8B-B14F-4D97-AF65-F5344CB8AC3E}">
        <p14:creationId xmlns:p14="http://schemas.microsoft.com/office/powerpoint/2010/main" val="22527101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If a categorical attribute has a large number of values (categories), or some values occur infrequently, then it may be beneficial for certain data mining tasks to reduce the number of categories by combining some of the values.</a:t>
            </a:r>
          </a:p>
          <a:p>
            <a:endParaRPr lang="en-US" dirty="0"/>
          </a:p>
        </p:txBody>
      </p:sp>
      <p:sp>
        <p:nvSpPr>
          <p:cNvPr id="4" name="Slide Number Placeholder 3"/>
          <p:cNvSpPr>
            <a:spLocks noGrp="1"/>
          </p:cNvSpPr>
          <p:nvPr>
            <p:ph type="sldNum" sz="quarter" idx="10"/>
          </p:nvPr>
        </p:nvSpPr>
        <p:spPr/>
        <p:txBody>
          <a:bodyPr/>
          <a:lstStyle/>
          <a:p>
            <a:fld id="{C4928F2B-8A2E-434F-9472-0F3CD5888103}" type="slidenum">
              <a:rPr lang="en-US" smtClean="0"/>
              <a:t>59</a:t>
            </a:fld>
            <a:endParaRPr lang="en-US"/>
          </a:p>
        </p:txBody>
      </p:sp>
    </p:spTree>
    <p:extLst>
      <p:ext uri="{BB962C8B-B14F-4D97-AF65-F5344CB8AC3E}">
        <p14:creationId xmlns:p14="http://schemas.microsoft.com/office/powerpoint/2010/main" val="1549962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A0529AED-82EF-4875-8262-0F292D4973F8}" type="datetimeFigureOut">
              <a:rPr lang="en-US" smtClean="0"/>
              <a:t>2/3/2026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3140DB37-65F7-4C98-831E-94C85A07FB5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529AED-82EF-4875-8262-0F292D4973F8}"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3140DB37-65F7-4C98-831E-94C85A07FB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A0529AED-82EF-4875-8262-0F292D4973F8}" type="datetimeFigureOut">
              <a:rPr lang="en-US" smtClean="0"/>
              <a:t>2/3/2026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3140DB37-65F7-4C98-831E-94C85A07FB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529AED-82EF-4875-8262-0F292D4973F8}"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40DB37-65F7-4C98-831E-94C85A07FB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529AED-82EF-4875-8262-0F292D4973F8}"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40DB37-65F7-4C98-831E-94C85A07FB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0529AED-82EF-4875-8262-0F292D4973F8}"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40DB37-65F7-4C98-831E-94C85A07FB54}" type="slidenum">
              <a:rPr lang="en-US" smtClean="0"/>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529AED-82EF-4875-8262-0F292D4973F8}"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40DB37-65F7-4C98-831E-94C85A07FB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A0529AED-82EF-4875-8262-0F292D4973F8}" type="datetimeFigureOut">
              <a:rPr lang="en-US" smtClean="0"/>
              <a:t>2/3/2026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3140DB37-65F7-4C98-831E-94C85A07FB5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0529AED-82EF-4875-8262-0F292D4973F8}"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40DB37-65F7-4C98-831E-94C85A07FB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529AED-82EF-4875-8262-0F292D4973F8}"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40DB37-65F7-4C98-831E-94C85A07FB5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A0529AED-82EF-4875-8262-0F292D4973F8}" type="datetimeFigureOut">
              <a:rPr lang="en-US" smtClean="0"/>
              <a:t>2/3/2026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3140DB37-65F7-4C98-831E-94C85A07FB5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A0529AED-82EF-4875-8262-0F292D4973F8}" type="datetimeFigureOut">
              <a:rPr lang="en-US" smtClean="0"/>
              <a:t>2/3/2026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3140DB37-65F7-4C98-831E-94C85A07FB54}"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7.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34.wmf"/><Relationship Id="rId7" Type="http://schemas.openxmlformats.org/officeDocument/2006/relationships/image" Target="../media/image36.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35.wmf"/><Relationship Id="rId4" Type="http://schemas.openxmlformats.org/officeDocument/2006/relationships/oleObject" Target="../embeddings/oleObject5.bin"/><Relationship Id="rId9" Type="http://schemas.openxmlformats.org/officeDocument/2006/relationships/image" Target="../media/image37.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34.wmf"/></Relationships>
</file>

<file path=ppt/slides/_rels/slide55.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8.bin"/><Relationship Id="rId1" Type="http://schemas.openxmlformats.org/officeDocument/2006/relationships/slideLayout" Target="../slideLayouts/slideLayout4.xml"/><Relationship Id="rId5" Type="http://schemas.openxmlformats.org/officeDocument/2006/relationships/image" Target="../media/image39.wmf"/><Relationship Id="rId4" Type="http://schemas.openxmlformats.org/officeDocument/2006/relationships/oleObject" Target="../embeddings/oleObject9.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0.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11.bin"/><Relationship Id="rId1" Type="http://schemas.openxmlformats.org/officeDocument/2006/relationships/slideLayout" Target="../slideLayouts/slideLayout4.xml"/><Relationship Id="rId5" Type="http://schemas.openxmlformats.org/officeDocument/2006/relationships/image" Target="../media/image42.wmf"/><Relationship Id="rId4" Type="http://schemas.openxmlformats.org/officeDocument/2006/relationships/oleObject" Target="../embeddings/oleObject12.bin"/></Relationships>
</file>

<file path=ppt/slides/_rels/slide63.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13.bin"/><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2142036"/>
            <a:ext cx="11029615" cy="1497507"/>
          </a:xfrm>
        </p:spPr>
        <p:txBody>
          <a:bodyPr>
            <a:normAutofit fontScale="90000"/>
          </a:bodyPr>
          <a:lstStyle/>
          <a:p>
            <a:pPr algn="ctr"/>
            <a:r>
              <a:rPr lang="en-US" sz="4400" dirty="0"/>
              <a:t>Data Preprocessing</a:t>
            </a:r>
            <a:br>
              <a:rPr lang="en-US" sz="4400" dirty="0"/>
            </a:br>
            <a:br>
              <a:rPr lang="en-US" sz="4400" dirty="0"/>
            </a:br>
            <a:r>
              <a:rPr lang="en-US" sz="4400" dirty="0"/>
              <a:t>Lecture no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data wrangling</a:t>
            </a:r>
          </a:p>
        </p:txBody>
      </p:sp>
      <p:sp>
        <p:nvSpPr>
          <p:cNvPr id="5" name="Content Placeholder 4"/>
          <p:cNvSpPr>
            <a:spLocks noGrp="1"/>
          </p:cNvSpPr>
          <p:nvPr>
            <p:ph idx="1"/>
          </p:nvPr>
        </p:nvSpPr>
        <p:spPr/>
        <p:txBody>
          <a:bodyPr>
            <a:normAutofit/>
          </a:bodyPr>
          <a:lstStyle/>
          <a:p>
            <a:pPr marL="0" indent="0">
              <a:buNone/>
            </a:pPr>
            <a:r>
              <a:rPr lang="en-US" sz="2800" dirty="0"/>
              <a:t>It is the process of converting raw data into a usable form. It may also be called:</a:t>
            </a:r>
          </a:p>
          <a:p>
            <a:r>
              <a:rPr lang="en-US" sz="2800" dirty="0"/>
              <a:t>Data preprocessing</a:t>
            </a:r>
          </a:p>
          <a:p>
            <a:r>
              <a:rPr lang="en-US" sz="2800" dirty="0"/>
              <a:t>Data preparation </a:t>
            </a:r>
          </a:p>
          <a:p>
            <a:r>
              <a:rPr lang="en-US" sz="2800" dirty="0"/>
              <a:t>Data munging</a:t>
            </a:r>
          </a:p>
          <a:p>
            <a:r>
              <a:rPr lang="en-US" sz="2800" dirty="0"/>
              <a:t>Data remediation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data</a:t>
            </a:r>
          </a:p>
        </p:txBody>
      </p:sp>
      <p:pic>
        <p:nvPicPr>
          <p:cNvPr id="1026" name="Picture 2" descr="Classification of data (variables) | Download Scientific Diagram"/>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581" t="1700" r="1581" b="2606"/>
          <a:stretch>
            <a:fillRect/>
          </a:stretch>
        </p:blipFill>
        <p:spPr bwMode="auto">
          <a:xfrm>
            <a:off x="1394692" y="1819561"/>
            <a:ext cx="9670472" cy="49272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of data</a:t>
            </a:r>
          </a:p>
        </p:txBody>
      </p:sp>
      <p:sp>
        <p:nvSpPr>
          <p:cNvPr id="3" name="Content Placeholder 2"/>
          <p:cNvSpPr>
            <a:spLocks noGrp="1"/>
          </p:cNvSpPr>
          <p:nvPr>
            <p:ph idx="1"/>
          </p:nvPr>
        </p:nvSpPr>
        <p:spPr>
          <a:xfrm>
            <a:off x="443060" y="2180496"/>
            <a:ext cx="11167747" cy="4437120"/>
          </a:xfrm>
        </p:spPr>
        <p:txBody>
          <a:bodyPr/>
          <a:lstStyle/>
          <a:p>
            <a:pPr marL="0" indent="0">
              <a:buNone/>
            </a:pPr>
            <a:r>
              <a:rPr lang="en-US" dirty="0"/>
              <a:t>Quality of data is measured on the basis of following factors:</a:t>
            </a:r>
          </a:p>
          <a:p>
            <a:r>
              <a:rPr lang="en-US" sz="2800" dirty="0"/>
              <a:t>Accuracy</a:t>
            </a:r>
          </a:p>
          <a:p>
            <a:r>
              <a:rPr lang="en-US" sz="2800" dirty="0"/>
              <a:t>Completeness</a:t>
            </a:r>
          </a:p>
          <a:p>
            <a:r>
              <a:rPr lang="en-US" sz="2800" dirty="0"/>
              <a:t>Consistency</a:t>
            </a:r>
          </a:p>
          <a:p>
            <a:r>
              <a:rPr lang="en-US" sz="2800" dirty="0"/>
              <a:t>Timeliness</a:t>
            </a:r>
          </a:p>
          <a:p>
            <a:r>
              <a:rPr lang="en-US" sz="2800" dirty="0"/>
              <a:t>Believability </a:t>
            </a:r>
          </a:p>
          <a:p>
            <a:r>
              <a:rPr lang="en-US" sz="2800" dirty="0"/>
              <a:t>Interpretability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Data Preprocessing?</a:t>
            </a:r>
          </a:p>
        </p:txBody>
      </p:sp>
      <p:sp>
        <p:nvSpPr>
          <p:cNvPr id="3" name="Content Placeholder 2"/>
          <p:cNvSpPr>
            <a:spLocks noGrp="1"/>
          </p:cNvSpPr>
          <p:nvPr>
            <p:ph idx="1"/>
          </p:nvPr>
        </p:nvSpPr>
        <p:spPr>
          <a:xfrm>
            <a:off x="509048" y="1932495"/>
            <a:ext cx="11101760" cy="4637987"/>
          </a:xfrm>
        </p:spPr>
        <p:txBody>
          <a:bodyPr>
            <a:normAutofit/>
          </a:bodyPr>
          <a:lstStyle/>
          <a:p>
            <a:r>
              <a:rPr lang="en-US" altLang="en-US" sz="2800" dirty="0"/>
              <a:t>Data in the real world is usually dirty</a:t>
            </a:r>
          </a:p>
          <a:p>
            <a:pPr marL="742950" lvl="1" indent="-285750"/>
            <a:r>
              <a:rPr lang="en-US" altLang="en-US" sz="2800" dirty="0">
                <a:solidFill>
                  <a:srgbClr val="FF0000"/>
                </a:solidFill>
              </a:rPr>
              <a:t>Incomplete</a:t>
            </a:r>
            <a:endParaRPr lang="en-US" altLang="en-US" sz="2800" dirty="0"/>
          </a:p>
          <a:p>
            <a:pPr marL="742950" lvl="1" indent="-285750"/>
            <a:r>
              <a:rPr lang="en-US" altLang="en-US" sz="2800" dirty="0">
                <a:solidFill>
                  <a:srgbClr val="FF0000"/>
                </a:solidFill>
              </a:rPr>
              <a:t>Noisy</a:t>
            </a:r>
            <a:endParaRPr lang="en-US" altLang="en-US" sz="2800" dirty="0"/>
          </a:p>
          <a:p>
            <a:pPr marL="742950" lvl="1" indent="-285750"/>
            <a:r>
              <a:rPr lang="en-US" altLang="en-US" sz="2800" dirty="0">
                <a:solidFill>
                  <a:srgbClr val="FF0000"/>
                </a:solidFill>
              </a:rPr>
              <a:t>Inconsistent</a:t>
            </a:r>
          </a:p>
          <a:p>
            <a:pPr marL="742950" lvl="1" indent="-285750"/>
            <a:endParaRPr lang="en-US" altLang="en-US" sz="2800" dirty="0">
              <a:solidFill>
                <a:srgbClr val="FF0000"/>
              </a:solidFill>
            </a:endParaRPr>
          </a:p>
          <a:p>
            <a:pPr marL="457200" lvl="1" indent="0">
              <a:buNone/>
            </a:pPr>
            <a:r>
              <a:rPr lang="en-US" altLang="en-US" sz="2800" dirty="0"/>
              <a:t>No quality data, no quality results! </a:t>
            </a:r>
            <a:endParaRPr lang="en-US" sz="2800" dirty="0"/>
          </a:p>
          <a:p>
            <a:pPr marL="457200" lvl="1" indent="0">
              <a:buNone/>
            </a:pPr>
            <a:endParaRPr lang="en-US"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p:cTn id="14"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p:cTn id="21"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 calcmode="lin" valueType="num">
                                      <p:cBhvr>
                                        <p:cTn id="28"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Tasks in Data Preprocessing </a:t>
            </a:r>
          </a:p>
        </p:txBody>
      </p:sp>
      <p:sp>
        <p:nvSpPr>
          <p:cNvPr id="3" name="Content Placeholder 2"/>
          <p:cNvSpPr>
            <a:spLocks noGrp="1"/>
          </p:cNvSpPr>
          <p:nvPr>
            <p:ph idx="1"/>
          </p:nvPr>
        </p:nvSpPr>
        <p:spPr>
          <a:xfrm>
            <a:off x="426720" y="1930400"/>
            <a:ext cx="11184087" cy="4572000"/>
          </a:xfrm>
        </p:spPr>
        <p:txBody>
          <a:bodyPr>
            <a:normAutofit/>
          </a:bodyPr>
          <a:lstStyle/>
          <a:p>
            <a:r>
              <a:rPr lang="en-US" altLang="en-US" sz="2800" dirty="0"/>
              <a:t>Data cleaning</a:t>
            </a:r>
          </a:p>
          <a:p>
            <a:r>
              <a:rPr lang="en-US" altLang="en-US" sz="2800" dirty="0"/>
              <a:t>Data integration</a:t>
            </a:r>
          </a:p>
          <a:p>
            <a:r>
              <a:rPr lang="en-US" altLang="en-US" sz="2800" dirty="0"/>
              <a:t>Data reduction</a:t>
            </a:r>
          </a:p>
          <a:p>
            <a:r>
              <a:rPr lang="en-US" altLang="en-US" sz="2800" dirty="0"/>
              <a:t>Data transformation</a:t>
            </a:r>
          </a:p>
          <a:p>
            <a:r>
              <a:rPr lang="en-US" altLang="en-US" sz="2800" dirty="0"/>
              <a:t>Data discretization (for numerical data)</a:t>
            </a:r>
          </a:p>
          <a:p>
            <a:pPr>
              <a:lnSpc>
                <a:spcPct val="110000"/>
              </a:lnSpc>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418632" y="2104609"/>
            <a:ext cx="4762913" cy="3543607"/>
          </a:xfrm>
          <a:prstGeom prst="rect">
            <a:avLst/>
          </a:prstGeom>
        </p:spPr>
      </p:pic>
      <p:pic>
        <p:nvPicPr>
          <p:cNvPr id="5" name="Picture 4"/>
          <p:cNvPicPr>
            <a:picLocks noChangeAspect="1"/>
          </p:cNvPicPr>
          <p:nvPr/>
        </p:nvPicPr>
        <p:blipFill>
          <a:blip r:embed="rId3"/>
          <a:stretch>
            <a:fillRect/>
          </a:stretch>
        </p:blipFill>
        <p:spPr>
          <a:xfrm>
            <a:off x="5259066" y="2408666"/>
            <a:ext cx="6932934" cy="29354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b="1" dirty="0"/>
              <a:t>Data Cleaning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cleaning</a:t>
            </a:r>
          </a:p>
        </p:txBody>
      </p:sp>
      <p:sp>
        <p:nvSpPr>
          <p:cNvPr id="3" name="Content Placeholder 2"/>
          <p:cNvSpPr>
            <a:spLocks noGrp="1"/>
          </p:cNvSpPr>
          <p:nvPr>
            <p:ph idx="1"/>
          </p:nvPr>
        </p:nvSpPr>
        <p:spPr/>
        <p:txBody>
          <a:bodyPr/>
          <a:lstStyle/>
          <a:p>
            <a:pPr marL="742950" lvl="1" indent="-285750">
              <a:lnSpc>
                <a:spcPct val="140000"/>
              </a:lnSpc>
              <a:spcBef>
                <a:spcPct val="0"/>
              </a:spcBef>
            </a:pPr>
            <a:r>
              <a:rPr lang="en-US" altLang="en-US" sz="2800" dirty="0"/>
              <a:t>Fill in missing values</a:t>
            </a:r>
          </a:p>
          <a:p>
            <a:pPr marL="742950" lvl="1" indent="-285750">
              <a:lnSpc>
                <a:spcPct val="140000"/>
              </a:lnSpc>
              <a:spcBef>
                <a:spcPct val="0"/>
              </a:spcBef>
            </a:pPr>
            <a:r>
              <a:rPr lang="en-US" altLang="en-US" sz="2800" dirty="0"/>
              <a:t>Identify outliers and smooth out noisy data </a:t>
            </a:r>
          </a:p>
          <a:p>
            <a:pPr marL="742950" lvl="1" indent="-285750">
              <a:lnSpc>
                <a:spcPct val="140000"/>
              </a:lnSpc>
              <a:spcBef>
                <a:spcPct val="0"/>
              </a:spcBef>
            </a:pPr>
            <a:r>
              <a:rPr lang="en-US" altLang="en-US" sz="2800" dirty="0"/>
              <a:t>Correct inconsistent data</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Values</a:t>
            </a:r>
          </a:p>
        </p:txBody>
      </p:sp>
      <p:sp>
        <p:nvSpPr>
          <p:cNvPr id="3" name="Content Placeholder 2"/>
          <p:cNvSpPr>
            <a:spLocks noGrp="1"/>
          </p:cNvSpPr>
          <p:nvPr>
            <p:ph idx="1"/>
          </p:nvPr>
        </p:nvSpPr>
        <p:spPr>
          <a:xfrm>
            <a:off x="436880" y="1920240"/>
            <a:ext cx="11173927" cy="4714240"/>
          </a:xfrm>
        </p:spPr>
        <p:txBody>
          <a:bodyPr>
            <a:normAutofit/>
          </a:bodyPr>
          <a:lstStyle/>
          <a:p>
            <a:pPr>
              <a:lnSpc>
                <a:spcPct val="120000"/>
              </a:lnSpc>
            </a:pPr>
            <a:r>
              <a:rPr lang="en-US" altLang="en-US" sz="2800" dirty="0"/>
              <a:t>Data is not always available</a:t>
            </a:r>
          </a:p>
          <a:p>
            <a:pPr>
              <a:lnSpc>
                <a:spcPct val="120000"/>
              </a:lnSpc>
            </a:pPr>
            <a:r>
              <a:rPr lang="en-US" altLang="en-US" sz="2800" dirty="0"/>
              <a:t>Missing data may be due to </a:t>
            </a:r>
          </a:p>
          <a:p>
            <a:pPr marL="742950" lvl="1" indent="-285750">
              <a:lnSpc>
                <a:spcPct val="120000"/>
              </a:lnSpc>
              <a:spcBef>
                <a:spcPct val="0"/>
              </a:spcBef>
            </a:pPr>
            <a:r>
              <a:rPr lang="en-US" altLang="en-US" sz="2400" dirty="0"/>
              <a:t>Equipment malfunction</a:t>
            </a:r>
          </a:p>
          <a:p>
            <a:pPr marL="742950" lvl="1" indent="-285750">
              <a:lnSpc>
                <a:spcPct val="120000"/>
              </a:lnSpc>
              <a:spcBef>
                <a:spcPct val="0"/>
              </a:spcBef>
            </a:pPr>
            <a:r>
              <a:rPr lang="en-US" altLang="en-US" sz="2400" dirty="0"/>
              <a:t>Inconsistent with other recorded data and thus deleted</a:t>
            </a:r>
          </a:p>
          <a:p>
            <a:pPr marL="742950" lvl="1" indent="-285750">
              <a:lnSpc>
                <a:spcPct val="120000"/>
              </a:lnSpc>
              <a:spcBef>
                <a:spcPct val="0"/>
              </a:spcBef>
            </a:pPr>
            <a:r>
              <a:rPr lang="en-US" altLang="en-US" sz="2400" dirty="0"/>
              <a:t>Data not entered due to misunderstanding</a:t>
            </a:r>
          </a:p>
          <a:p>
            <a:pPr marL="742950" lvl="1" indent="-285750">
              <a:lnSpc>
                <a:spcPct val="120000"/>
              </a:lnSpc>
              <a:spcBef>
                <a:spcPct val="0"/>
              </a:spcBef>
            </a:pPr>
            <a:r>
              <a:rPr lang="en-US" altLang="en-US" sz="2400" dirty="0"/>
              <a:t>Certain data may not be considered important at the time of entry</a:t>
            </a:r>
          </a:p>
          <a:p>
            <a:pPr marL="742950" lvl="1" indent="-285750">
              <a:lnSpc>
                <a:spcPct val="120000"/>
              </a:lnSpc>
              <a:spcBef>
                <a:spcPct val="0"/>
              </a:spcBef>
            </a:pPr>
            <a:r>
              <a:rPr lang="en-US" altLang="en-US" sz="2400" dirty="0"/>
              <a:t>Not register history or changes of the data</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handle missing data?</a:t>
            </a:r>
          </a:p>
        </p:txBody>
      </p:sp>
      <p:sp>
        <p:nvSpPr>
          <p:cNvPr id="3" name="Content Placeholder 2"/>
          <p:cNvSpPr>
            <a:spLocks noGrp="1"/>
          </p:cNvSpPr>
          <p:nvPr>
            <p:ph idx="1"/>
          </p:nvPr>
        </p:nvSpPr>
        <p:spPr>
          <a:xfrm>
            <a:off x="355600" y="2180496"/>
            <a:ext cx="11255207" cy="4423504"/>
          </a:xfrm>
        </p:spPr>
        <p:txBody>
          <a:bodyPr>
            <a:noAutofit/>
          </a:bodyPr>
          <a:lstStyle/>
          <a:p>
            <a:pPr marL="514350" indent="-514350">
              <a:buFont typeface="+mj-lt"/>
              <a:buAutoNum type="arabicPeriod"/>
            </a:pPr>
            <a:r>
              <a:rPr lang="en-US" sz="2600" dirty="0"/>
              <a:t>Ignore the tuple</a:t>
            </a:r>
          </a:p>
          <a:p>
            <a:pPr marL="514350" indent="-514350">
              <a:buFont typeface="+mj-lt"/>
              <a:buAutoNum type="arabicPeriod"/>
            </a:pPr>
            <a:r>
              <a:rPr lang="en-US" sz="2600" dirty="0"/>
              <a:t>Fill in the missing value manually</a:t>
            </a:r>
          </a:p>
          <a:p>
            <a:pPr marL="514350" indent="-514350">
              <a:buFont typeface="+mj-lt"/>
              <a:buAutoNum type="arabicPeriod"/>
            </a:pPr>
            <a:r>
              <a:rPr lang="en-US" sz="2600" dirty="0"/>
              <a:t>Use a global constant to fill in the missing value</a:t>
            </a:r>
          </a:p>
          <a:p>
            <a:pPr marL="514350" indent="-514350">
              <a:buFont typeface="+mj-lt"/>
              <a:buAutoNum type="arabicPeriod"/>
            </a:pPr>
            <a:r>
              <a:rPr lang="en-US" sz="2600" dirty="0"/>
              <a:t>Use a measure of central tendency for the attribute (e.g., the mean or median)</a:t>
            </a:r>
          </a:p>
          <a:p>
            <a:pPr marL="514350" indent="-514350">
              <a:buFont typeface="+mj-lt"/>
              <a:buAutoNum type="arabicPeriod"/>
            </a:pPr>
            <a:r>
              <a:rPr lang="en-US" sz="2600" dirty="0"/>
              <a:t>Use the attribute mean or median for all samples belonging to the same class.</a:t>
            </a:r>
          </a:p>
          <a:p>
            <a:pPr marL="514350" indent="-514350">
              <a:buFont typeface="+mj-lt"/>
              <a:buAutoNum type="arabicPeriod"/>
            </a:pPr>
            <a:r>
              <a:rPr lang="en-US" sz="2600" dirty="0"/>
              <a:t>Use the most probable value, </a:t>
            </a:r>
            <a:r>
              <a:rPr lang="en-US" altLang="en-US" sz="2600" dirty="0"/>
              <a:t>inference-based such as </a:t>
            </a:r>
            <a:r>
              <a:rPr lang="en-US" altLang="en-US" sz="2600" b="1" dirty="0"/>
              <a:t>regression</a:t>
            </a:r>
            <a:r>
              <a:rPr lang="en-US" altLang="en-US" sz="2600" dirty="0"/>
              <a:t>, Bayesian formula, decision tree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Regression Imputation</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898693" y="2524548"/>
                <a:ext cx="5422390" cy="3633047"/>
              </a:xfrm>
            </p:spPr>
            <p:txBody>
              <a:bodyPr>
                <a:noAutofit/>
              </a:bodyPr>
              <a:lstStyle/>
              <a:p>
                <a:r>
                  <a:rPr lang="en-US" sz="1700" i="1">
                    <a:latin typeface="Cambria Math" panose="02040503050406030204" pitchFamily="18" charset="0"/>
                    <a:sym typeface="+mn-ea"/>
                  </a:rPr>
                  <a:t>Corelated feature</a:t>
                </a:r>
              </a:p>
              <a:p>
                <a:r>
                  <a:rPr lang="en-US" sz="1700" i="1">
                    <a:latin typeface="Cambria Math" panose="02040503050406030204" pitchFamily="18" charset="0"/>
                    <a:sym typeface="+mn-ea"/>
                  </a:rPr>
                  <a:t>Linear regression</a:t>
                </a:r>
                <a14:m>
                  <m:oMath xmlns:m="http://schemas.openxmlformats.org/officeDocument/2006/math">
                    <m:r>
                      <a:rPr lang="en-US" sz="1700" b="0" i="1" smtClean="0">
                        <a:latin typeface="Cambria Math" panose="02040503050406030204" pitchFamily="18" charset="0"/>
                      </a:rPr>
                      <m:t>   </m:t>
                    </m:r>
                  </m:oMath>
                </a14:m>
                <a:endParaRPr lang="en-US" sz="1700" b="0"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1700" b="0" i="1" smtClean="0">
                          <a:latin typeface="Cambria Math" panose="02040503050406030204" pitchFamily="18" charset="0"/>
                        </a:rPr>
                        <m:t>𝑦</m:t>
                      </m:r>
                      <m:r>
                        <a:rPr lang="en-US" sz="1700" b="0" i="1" smtClean="0">
                          <a:latin typeface="Cambria Math" panose="02040503050406030204" pitchFamily="18" charset="0"/>
                        </a:rPr>
                        <m:t>=</m:t>
                      </m:r>
                      <m:r>
                        <a:rPr lang="en-US" sz="1700" b="0" i="1" smtClean="0">
                          <a:latin typeface="Cambria Math" panose="02040503050406030204" pitchFamily="18" charset="0"/>
                        </a:rPr>
                        <m:t>𝑎</m:t>
                      </m:r>
                      <m:r>
                        <a:rPr lang="en-US" sz="1700" b="0" i="1" smtClean="0">
                          <a:latin typeface="Cambria Math" panose="02040503050406030204" pitchFamily="18" charset="0"/>
                        </a:rPr>
                        <m:t> +</m:t>
                      </m:r>
                      <m:r>
                        <a:rPr lang="en-US" sz="1700" b="0" i="1" smtClean="0">
                          <a:latin typeface="Cambria Math" panose="02040503050406030204" pitchFamily="18" charset="0"/>
                        </a:rPr>
                        <m:t>𝑏𝑥</m:t>
                      </m:r>
                    </m:oMath>
                  </m:oMathPara>
                </a14:m>
                <a:endParaRPr lang="en-US" sz="1700" b="0" i="1">
                  <a:latin typeface="Cambria Math" panose="02040503050406030204" pitchFamily="18" charset="0"/>
                </a:endParaRPr>
              </a:p>
              <a:p>
                <a:endParaRPr lang="en-US" sz="1700" b="0" i="1">
                  <a:latin typeface="Cambria Math" panose="02040503050406030204" pitchFamily="18" charset="0"/>
                </a:endParaRPr>
              </a:p>
              <a:p>
                <a:r>
                  <a:rPr lang="en-US" sz="1700" dirty="0">
                    <a:sym typeface="+mn-ea"/>
                  </a:rPr>
                  <a:t>Slope b and intercept a</a:t>
                </a:r>
                <a:endParaRPr lang="en-US" sz="1700" dirty="0"/>
              </a:p>
              <a:p>
                <a:endParaRPr lang="en-US" sz="1700" b="0"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1700" b="0" i="1" smtClean="0">
                          <a:latin typeface="Cambria Math" panose="02040503050406030204" pitchFamily="18" charset="0"/>
                        </a:rPr>
                        <m:t>𝑎</m:t>
                      </m:r>
                      <m:r>
                        <a:rPr lang="en-US" sz="1700" b="0" i="1" smtClean="0">
                          <a:latin typeface="Cambria Math" panose="02040503050406030204" pitchFamily="18" charset="0"/>
                        </a:rPr>
                        <m:t>=</m:t>
                      </m:r>
                      <m:bar>
                        <m:barPr>
                          <m:pos m:val="top"/>
                          <m:ctrlPr>
                            <a:rPr lang="en-US" sz="1700" b="0" i="1" smtClean="0">
                              <a:latin typeface="Cambria Math" panose="02040503050406030204" pitchFamily="18" charset="0"/>
                            </a:rPr>
                          </m:ctrlPr>
                        </m:barPr>
                        <m:e>
                          <m:r>
                            <a:rPr lang="en-US" sz="1700" b="0" i="1" smtClean="0">
                              <a:latin typeface="Cambria Math" panose="02040503050406030204" pitchFamily="18" charset="0"/>
                            </a:rPr>
                            <m:t>𝑦</m:t>
                          </m:r>
                        </m:e>
                      </m:bar>
                      <m:r>
                        <a:rPr lang="en-US" sz="1700" b="0" i="1" smtClean="0">
                          <a:latin typeface="Cambria Math" panose="02040503050406030204" pitchFamily="18" charset="0"/>
                        </a:rPr>
                        <m:t> −</m:t>
                      </m:r>
                      <m:r>
                        <a:rPr lang="en-US" sz="1700" b="0" i="1" smtClean="0">
                          <a:latin typeface="Cambria Math" panose="02040503050406030204" pitchFamily="18" charset="0"/>
                        </a:rPr>
                        <m:t>𝑏</m:t>
                      </m:r>
                      <m:bar>
                        <m:barPr>
                          <m:pos m:val="top"/>
                          <m:ctrlPr>
                            <a:rPr lang="en-US" sz="1700" b="0" i="1" smtClean="0">
                              <a:latin typeface="Cambria Math" panose="02040503050406030204" pitchFamily="18" charset="0"/>
                            </a:rPr>
                          </m:ctrlPr>
                        </m:barPr>
                        <m:e>
                          <m:r>
                            <a:rPr lang="en-US" sz="1700" b="0" i="1" smtClean="0">
                              <a:latin typeface="Cambria Math" panose="02040503050406030204" pitchFamily="18" charset="0"/>
                            </a:rPr>
                            <m:t>𝑥</m:t>
                          </m:r>
                        </m:e>
                      </m:bar>
                    </m:oMath>
                  </m:oMathPara>
                </a14:m>
                <a:endParaRPr lang="en-US" sz="1700" b="0"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1700" b="0" i="1" smtClean="0">
                          <a:latin typeface="Cambria Math" panose="02040503050406030204" pitchFamily="18" charset="0"/>
                        </a:rPr>
                        <m:t>𝑏</m:t>
                      </m:r>
                      <m:r>
                        <a:rPr lang="en-US" sz="1700" b="0" i="1" smtClean="0">
                          <a:latin typeface="Cambria Math" panose="02040503050406030204" pitchFamily="18" charset="0"/>
                        </a:rPr>
                        <m:t>=</m:t>
                      </m:r>
                      <m:f>
                        <m:fPr>
                          <m:ctrlPr>
                            <a:rPr lang="en-US" sz="1700" b="0" i="1" smtClean="0">
                              <a:latin typeface="Cambria Math" panose="02040503050406030204" pitchFamily="18" charset="0"/>
                            </a:rPr>
                          </m:ctrlPr>
                        </m:fPr>
                        <m:num>
                          <m:nary>
                            <m:naryPr>
                              <m:chr m:val="∑"/>
                              <m:ctrlPr>
                                <a:rPr lang="en-US" sz="1700" i="1">
                                  <a:latin typeface="Cambria Math" panose="02040503050406030204" pitchFamily="18" charset="0"/>
                                </a:rPr>
                              </m:ctrlPr>
                            </m:naryPr>
                            <m:sub>
                              <m:r>
                                <m:rPr>
                                  <m:brk m:alnAt="23"/>
                                </m:rPr>
                                <a:rPr lang="en-US" sz="1700" i="1">
                                  <a:latin typeface="Cambria Math" panose="02040503050406030204" pitchFamily="18" charset="0"/>
                                </a:rPr>
                                <m:t>𝑖</m:t>
                              </m:r>
                              <m:r>
                                <a:rPr lang="en-US" sz="1700" i="1">
                                  <a:latin typeface="Cambria Math" panose="02040503050406030204" pitchFamily="18" charset="0"/>
                                </a:rPr>
                                <m:t>=1</m:t>
                              </m:r>
                            </m:sub>
                            <m:sup>
                              <m:r>
                                <a:rPr lang="en-US" sz="1700" i="1">
                                  <a:latin typeface="Cambria Math" panose="02040503050406030204" pitchFamily="18" charset="0"/>
                                </a:rPr>
                                <m:t>𝑛</m:t>
                              </m:r>
                            </m:sup>
                            <m:e>
                              <m:r>
                                <a:rPr lang="en-US" sz="1700" i="1">
                                  <a:latin typeface="Cambria Math" panose="02040503050406030204" pitchFamily="18" charset="0"/>
                                </a:rPr>
                                <m:t>(</m:t>
                              </m:r>
                              <m:sSub>
                                <m:sSubPr>
                                  <m:ctrlPr>
                                    <a:rPr lang="en-US" sz="1700" i="1">
                                      <a:latin typeface="Cambria Math" panose="02040503050406030204" pitchFamily="18" charset="0"/>
                                    </a:rPr>
                                  </m:ctrlPr>
                                </m:sSubPr>
                                <m:e>
                                  <m:r>
                                    <a:rPr lang="en-US" sz="1700" i="1">
                                      <a:latin typeface="Cambria Math" panose="02040503050406030204" pitchFamily="18" charset="0"/>
                                    </a:rPr>
                                    <m:t>𝑥</m:t>
                                  </m:r>
                                </m:e>
                                <m:sub>
                                  <m:r>
                                    <a:rPr lang="en-US" sz="1700" i="1">
                                      <a:latin typeface="Cambria Math" panose="02040503050406030204" pitchFamily="18" charset="0"/>
                                    </a:rPr>
                                    <m:t>𝑖</m:t>
                                  </m:r>
                                </m:sub>
                              </m:sSub>
                              <m:r>
                                <a:rPr lang="en-US" sz="1700" i="1">
                                  <a:latin typeface="Cambria Math" panose="02040503050406030204" pitchFamily="18" charset="0"/>
                                </a:rPr>
                                <m:t>−</m:t>
                              </m:r>
                              <m:bar>
                                <m:barPr>
                                  <m:pos m:val="top"/>
                                  <m:ctrlPr>
                                    <a:rPr lang="en-US" sz="1700" i="1">
                                      <a:latin typeface="Cambria Math" panose="02040503050406030204" pitchFamily="18" charset="0"/>
                                    </a:rPr>
                                  </m:ctrlPr>
                                </m:barPr>
                                <m:e>
                                  <m:r>
                                    <a:rPr lang="en-US" sz="1700" i="1">
                                      <a:latin typeface="Cambria Math" panose="02040503050406030204" pitchFamily="18" charset="0"/>
                                    </a:rPr>
                                    <m:t>𝑥</m:t>
                                  </m:r>
                                </m:e>
                              </m:bar>
                              <m:r>
                                <a:rPr lang="en-US" sz="1700" i="1">
                                  <a:latin typeface="Cambria Math" panose="02040503050406030204" pitchFamily="18" charset="0"/>
                                </a:rPr>
                                <m:t>)(</m:t>
                              </m:r>
                              <m:sSub>
                                <m:sSubPr>
                                  <m:ctrlPr>
                                    <a:rPr lang="en-US" sz="1700" i="1">
                                      <a:latin typeface="Cambria Math" panose="02040503050406030204" pitchFamily="18" charset="0"/>
                                    </a:rPr>
                                  </m:ctrlPr>
                                </m:sSubPr>
                                <m:e>
                                  <m:r>
                                    <a:rPr lang="en-US" sz="1700" i="1">
                                      <a:latin typeface="Cambria Math" panose="02040503050406030204" pitchFamily="18" charset="0"/>
                                    </a:rPr>
                                    <m:t>𝑦</m:t>
                                  </m:r>
                                </m:e>
                                <m:sub>
                                  <m:r>
                                    <a:rPr lang="en-US" sz="1700" i="1">
                                      <a:latin typeface="Cambria Math" panose="02040503050406030204" pitchFamily="18" charset="0"/>
                                    </a:rPr>
                                    <m:t>𝑖</m:t>
                                  </m:r>
                                </m:sub>
                              </m:sSub>
                              <m:r>
                                <a:rPr lang="en-US" sz="1700" i="1">
                                  <a:latin typeface="Cambria Math" panose="02040503050406030204" pitchFamily="18" charset="0"/>
                                </a:rPr>
                                <m:t>−</m:t>
                              </m:r>
                              <m:bar>
                                <m:barPr>
                                  <m:pos m:val="top"/>
                                  <m:ctrlPr>
                                    <a:rPr lang="en-US" sz="1700" i="1">
                                      <a:latin typeface="Cambria Math" panose="02040503050406030204" pitchFamily="18" charset="0"/>
                                    </a:rPr>
                                  </m:ctrlPr>
                                </m:barPr>
                                <m:e>
                                  <m:r>
                                    <a:rPr lang="en-US" sz="1700" i="1">
                                      <a:latin typeface="Cambria Math" panose="02040503050406030204" pitchFamily="18" charset="0"/>
                                    </a:rPr>
                                    <m:t>𝑦</m:t>
                                  </m:r>
                                </m:e>
                              </m:bar>
                              <m:r>
                                <a:rPr lang="en-US" sz="1700" i="1">
                                  <a:latin typeface="Cambria Math" panose="02040503050406030204" pitchFamily="18" charset="0"/>
                                </a:rPr>
                                <m:t>)</m:t>
                              </m:r>
                            </m:e>
                          </m:nary>
                        </m:num>
                        <m:den>
                          <m:nary>
                            <m:naryPr>
                              <m:chr m:val="∑"/>
                              <m:ctrlPr>
                                <a:rPr lang="en-US" sz="1700" i="1">
                                  <a:latin typeface="Cambria Math" panose="02040503050406030204" pitchFamily="18" charset="0"/>
                                </a:rPr>
                              </m:ctrlPr>
                            </m:naryPr>
                            <m:sub>
                              <m:r>
                                <m:rPr>
                                  <m:brk m:alnAt="23"/>
                                </m:rPr>
                                <a:rPr lang="en-US" sz="1700" i="1">
                                  <a:latin typeface="Cambria Math" panose="02040503050406030204" pitchFamily="18" charset="0"/>
                                </a:rPr>
                                <m:t>𝑖</m:t>
                              </m:r>
                              <m:r>
                                <a:rPr lang="en-US" sz="1700" i="1">
                                  <a:latin typeface="Cambria Math" panose="02040503050406030204" pitchFamily="18" charset="0"/>
                                </a:rPr>
                                <m:t>=1</m:t>
                              </m:r>
                            </m:sub>
                            <m:sup>
                              <m:r>
                                <a:rPr lang="en-US" sz="1700" i="1">
                                  <a:latin typeface="Cambria Math" panose="02040503050406030204" pitchFamily="18" charset="0"/>
                                </a:rPr>
                                <m:t>𝑛</m:t>
                              </m:r>
                            </m:sup>
                            <m:e>
                              <m:sSup>
                                <m:sSupPr>
                                  <m:ctrlPr>
                                    <a:rPr lang="en-US" sz="1700" i="1">
                                      <a:latin typeface="Cambria Math" panose="02040503050406030204" pitchFamily="18" charset="0"/>
                                    </a:rPr>
                                  </m:ctrlPr>
                                </m:sSupPr>
                                <m:e>
                                  <m:r>
                                    <a:rPr lang="en-US" sz="1700" i="1">
                                      <a:latin typeface="Cambria Math" panose="02040503050406030204" pitchFamily="18" charset="0"/>
                                    </a:rPr>
                                    <m:t>(</m:t>
                                  </m:r>
                                  <m:sSub>
                                    <m:sSubPr>
                                      <m:ctrlPr>
                                        <a:rPr lang="en-US" sz="1700" i="1">
                                          <a:latin typeface="Cambria Math" panose="02040503050406030204" pitchFamily="18" charset="0"/>
                                        </a:rPr>
                                      </m:ctrlPr>
                                    </m:sSubPr>
                                    <m:e>
                                      <m:r>
                                        <a:rPr lang="en-US" sz="1700" i="1">
                                          <a:latin typeface="Cambria Math" panose="02040503050406030204" pitchFamily="18" charset="0"/>
                                        </a:rPr>
                                        <m:t>𝑥</m:t>
                                      </m:r>
                                    </m:e>
                                    <m:sub>
                                      <m:r>
                                        <a:rPr lang="en-US" sz="1700" i="1">
                                          <a:latin typeface="Cambria Math" panose="02040503050406030204" pitchFamily="18" charset="0"/>
                                        </a:rPr>
                                        <m:t>𝑖</m:t>
                                      </m:r>
                                    </m:sub>
                                  </m:sSub>
                                  <m:r>
                                    <a:rPr lang="en-US" sz="1700" i="1">
                                      <a:latin typeface="Cambria Math" panose="02040503050406030204" pitchFamily="18" charset="0"/>
                                    </a:rPr>
                                    <m:t>−</m:t>
                                  </m:r>
                                  <m:bar>
                                    <m:barPr>
                                      <m:pos m:val="top"/>
                                      <m:ctrlPr>
                                        <a:rPr lang="en-US" sz="1700" i="1">
                                          <a:latin typeface="Cambria Math" panose="02040503050406030204" pitchFamily="18" charset="0"/>
                                        </a:rPr>
                                      </m:ctrlPr>
                                    </m:barPr>
                                    <m:e>
                                      <m:r>
                                        <a:rPr lang="en-US" sz="1700" i="1">
                                          <a:latin typeface="Cambria Math" panose="02040503050406030204" pitchFamily="18" charset="0"/>
                                        </a:rPr>
                                        <m:t>𝑥</m:t>
                                      </m:r>
                                    </m:e>
                                  </m:bar>
                                  <m:r>
                                    <a:rPr lang="en-US" sz="1700" i="1">
                                      <a:latin typeface="Cambria Math" panose="02040503050406030204" pitchFamily="18" charset="0"/>
                                    </a:rPr>
                                    <m:t>)</m:t>
                                  </m:r>
                                </m:e>
                                <m:sup>
                                  <m:r>
                                    <a:rPr lang="en-US" sz="1700" i="1">
                                      <a:latin typeface="Cambria Math" panose="02040503050406030204" pitchFamily="18" charset="0"/>
                                    </a:rPr>
                                    <m:t>2</m:t>
                                  </m:r>
                                </m:sup>
                              </m:sSup>
                              <m:r>
                                <a:rPr lang="en-US" sz="1700" i="1">
                                  <a:latin typeface="Cambria Math" panose="02040503050406030204" pitchFamily="18" charset="0"/>
                                </a:rPr>
                                <m:t> </m:t>
                              </m:r>
                            </m:e>
                          </m:nary>
                        </m:den>
                      </m:f>
                      <m:r>
                        <a:rPr lang="en-US" sz="1700" b="0" i="1" smtClean="0">
                          <a:latin typeface="Cambria Math" panose="02040503050406030204" pitchFamily="18" charset="0"/>
                        </a:rPr>
                        <m:t>=</m:t>
                      </m:r>
                      <m:f>
                        <m:fPr>
                          <m:ctrlPr>
                            <a:rPr lang="en-US" sz="1700" b="0" i="1" smtClean="0">
                              <a:latin typeface="Cambria Math" panose="02040503050406030204" pitchFamily="18" charset="0"/>
                            </a:rPr>
                          </m:ctrlPr>
                        </m:fPr>
                        <m:num>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ea typeface="Cambria Math" panose="02040503050406030204" pitchFamily="18" charset="0"/>
                                </a:rPr>
                                <m:t>𝜎</m:t>
                              </m:r>
                            </m:e>
                            <m:sub>
                              <m:r>
                                <a:rPr lang="en-US" sz="1700" b="0" i="1" smtClean="0">
                                  <a:latin typeface="Cambria Math" panose="02040503050406030204" pitchFamily="18" charset="0"/>
                                </a:rPr>
                                <m:t>𝑥𝑦</m:t>
                              </m:r>
                            </m:sub>
                          </m:sSub>
                        </m:num>
                        <m:den>
                          <m:sSubSup>
                            <m:sSubSupPr>
                              <m:ctrlPr>
                                <a:rPr lang="en-US" sz="1700" b="0" i="1" smtClean="0">
                                  <a:latin typeface="Cambria Math" panose="02040503050406030204" pitchFamily="18" charset="0"/>
                                </a:rPr>
                              </m:ctrlPr>
                            </m:sSubSupPr>
                            <m:e>
                              <m:r>
                                <a:rPr lang="en-US" sz="1700" b="0" i="1" smtClean="0">
                                  <a:latin typeface="Cambria Math" panose="02040503050406030204" pitchFamily="18" charset="0"/>
                                  <a:ea typeface="Cambria Math" panose="02040503050406030204" pitchFamily="18" charset="0"/>
                                </a:rPr>
                                <m:t>𝜎</m:t>
                              </m:r>
                            </m:e>
                            <m:sub>
                              <m:r>
                                <a:rPr lang="en-US" sz="1700" b="0" i="1" smtClean="0">
                                  <a:latin typeface="Cambria Math" panose="02040503050406030204" pitchFamily="18" charset="0"/>
                                </a:rPr>
                                <m:t>𝑥</m:t>
                              </m:r>
                            </m:sub>
                            <m:sup>
                              <m:r>
                                <a:rPr lang="en-US" sz="1700" b="0" i="1" smtClean="0">
                                  <a:latin typeface="Cambria Math" panose="02040503050406030204" pitchFamily="18" charset="0"/>
                                </a:rPr>
                                <m:t>2</m:t>
                              </m:r>
                            </m:sup>
                          </m:sSubSup>
                        </m:den>
                      </m:f>
                    </m:oMath>
                  </m:oMathPara>
                </a14:m>
                <a:endParaRPr lang="en-US" sz="1700" dirty="0"/>
              </a:p>
              <a:p>
                <a:endParaRPr lang="en-US" sz="1700" dirty="0"/>
              </a:p>
              <a:p>
                <a:r>
                  <a:rPr lang="en-US" sz="1700" dirty="0">
                    <a:sym typeface="+mn-ea"/>
                  </a:rPr>
                  <a:t>  a and b, together, are called the regression coefficients</a:t>
                </a:r>
                <a:endParaRPr lang="en-US" sz="1700"/>
              </a:p>
              <a:p>
                <a:endParaRPr lang="en-US" sz="1300"/>
              </a:p>
            </p:txBody>
          </p:sp>
        </mc:Choice>
        <mc:Fallback xmlns="">
          <p:sp>
            <p:nvSpPr>
              <p:cNvPr id="3" name="Content Placeholder 2"/>
              <p:cNvSpPr>
                <a:spLocks noRot="1" noChangeAspect="1" noMove="1" noResize="1" noEditPoints="1" noAdjustHandles="1" noChangeArrowheads="1" noChangeShapeType="1" noTextEdit="1"/>
              </p:cNvSpPr>
              <p:nvPr>
                <p:ph sz="half" idx="1"/>
              </p:nvPr>
            </p:nvSpPr>
            <p:spPr>
              <a:xfrm>
                <a:off x="898693" y="2524548"/>
                <a:ext cx="5422390" cy="3633047"/>
              </a:xfrm>
              <a:blipFill rotWithShape="1">
                <a:blip r:embed="rId3"/>
                <a:stretch>
                  <a:fillRect l="-3" t="-8436" r="5" b="-8442"/>
                </a:stretch>
              </a:blipFill>
            </p:spPr>
            <p:txBody>
              <a:bodyPr/>
              <a:lstStyle/>
              <a:p>
                <a:r>
                  <a:rPr lang="en-US" altLang="en-US">
                    <a:noFill/>
                  </a:rPr>
                  <a:t> </a:t>
                </a:r>
              </a:p>
            </p:txBody>
          </p:sp>
        </mc:Fallback>
      </mc:AlternateContent>
      <p:graphicFrame>
        <p:nvGraphicFramePr>
          <p:cNvPr id="4" name="Content Placeholder 3"/>
          <p:cNvGraphicFramePr>
            <a:graphicFrameLocks noGrp="1" noChangeAspect="1"/>
          </p:cNvGraphicFramePr>
          <p:nvPr>
            <p:ph sz="half" idx="2"/>
          </p:nvPr>
        </p:nvGraphicFramePr>
        <p:xfrm>
          <a:off x="4300308" y="2063961"/>
          <a:ext cx="3337560" cy="2141220"/>
        </p:xfrm>
        <a:graphic>
          <a:graphicData uri="http://schemas.openxmlformats.org/presentationml/2006/ole">
            <mc:AlternateContent xmlns:mc="http://schemas.openxmlformats.org/markup-compatibility/2006">
              <mc:Choice xmlns:v="urn:schemas-microsoft-com:vml" Requires="v">
                <p:oleObj r:id="rId4" imgW="3337560" imgH="2141220" progId="Paint.Picture">
                  <p:embed/>
                </p:oleObj>
              </mc:Choice>
              <mc:Fallback>
                <p:oleObj r:id="rId4" imgW="3337560" imgH="2141220" progId="Paint.Picture">
                  <p:embed/>
                  <p:pic>
                    <p:nvPicPr>
                      <p:cNvPr id="4" name="Content Placeholder 3"/>
                      <p:cNvPicPr/>
                      <p:nvPr/>
                    </p:nvPicPr>
                    <p:blipFill>
                      <a:blip r:embed="rId5"/>
                      <a:stretch>
                        <a:fillRect/>
                      </a:stretch>
                    </p:blipFill>
                    <p:spPr>
                      <a:xfrm>
                        <a:off x="4300308" y="2063961"/>
                        <a:ext cx="3337560" cy="2141220"/>
                      </a:xfrm>
                      <a:prstGeom prst="rect">
                        <a:avLst/>
                      </a:prstGeom>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Noisy data</a:t>
            </a:r>
          </a:p>
        </p:txBody>
      </p:sp>
      <p:sp>
        <p:nvSpPr>
          <p:cNvPr id="3" name="Content Placeholder 2"/>
          <p:cNvSpPr>
            <a:spLocks noGrp="1"/>
          </p:cNvSpPr>
          <p:nvPr>
            <p:ph idx="1"/>
          </p:nvPr>
        </p:nvSpPr>
        <p:spPr>
          <a:xfrm>
            <a:off x="581192" y="2180496"/>
            <a:ext cx="11029615" cy="4352384"/>
          </a:xfrm>
        </p:spPr>
        <p:txBody>
          <a:bodyPr>
            <a:normAutofit/>
          </a:bodyPr>
          <a:lstStyle/>
          <a:p>
            <a:r>
              <a:rPr lang="en-US" altLang="en-US" sz="2800" dirty="0"/>
              <a:t>Random error in a measured variable is noise. </a:t>
            </a:r>
          </a:p>
          <a:p>
            <a:r>
              <a:rPr lang="en-US" altLang="en-US" sz="2600" dirty="0"/>
              <a:t>Incorrect attribute values due to</a:t>
            </a:r>
          </a:p>
          <a:p>
            <a:pPr marL="742950" lvl="1" indent="-285750"/>
            <a:r>
              <a:rPr lang="en-US" altLang="en-US" sz="2400" dirty="0"/>
              <a:t>Faulty data collection instruments</a:t>
            </a:r>
          </a:p>
          <a:p>
            <a:pPr marL="742950" lvl="1" indent="-285750"/>
            <a:r>
              <a:rPr lang="en-US" altLang="en-US" sz="2400" dirty="0"/>
              <a:t>Data entry problems</a:t>
            </a:r>
          </a:p>
          <a:p>
            <a:pPr marL="742950" lvl="1" indent="-285750"/>
            <a:r>
              <a:rPr lang="en-US" altLang="en-US" sz="2400" dirty="0"/>
              <a:t>Data transmission problems</a:t>
            </a:r>
          </a:p>
          <a:p>
            <a:r>
              <a:rPr lang="en-US" altLang="en-US" sz="2800" dirty="0"/>
              <a:t>Other data problems which requires data cleaning</a:t>
            </a:r>
          </a:p>
          <a:p>
            <a:pPr marL="742950" lvl="1" indent="-285750"/>
            <a:r>
              <a:rPr lang="en-US" altLang="en-US" sz="2400" dirty="0"/>
              <a:t>duplicate records, incomplete data, inconsistent data</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Outliers</a:t>
            </a:r>
          </a:p>
        </p:txBody>
      </p:sp>
      <p:sp>
        <p:nvSpPr>
          <p:cNvPr id="3" name="Content Placeholder 2"/>
          <p:cNvSpPr>
            <a:spLocks noGrp="1"/>
          </p:cNvSpPr>
          <p:nvPr>
            <p:ph idx="1"/>
          </p:nvPr>
        </p:nvSpPr>
        <p:spPr>
          <a:xfrm>
            <a:off x="416560" y="1940560"/>
            <a:ext cx="11194247" cy="4775200"/>
          </a:xfrm>
        </p:spPr>
        <p:txBody>
          <a:bodyPr>
            <a:normAutofit/>
          </a:bodyPr>
          <a:lstStyle/>
          <a:p>
            <a:r>
              <a:rPr lang="en-US" altLang="en-US" sz="2600" dirty="0"/>
              <a:t>Data points inconsistent with the majority of data</a:t>
            </a:r>
          </a:p>
          <a:p>
            <a:r>
              <a:rPr lang="en-US" altLang="en-US" sz="2600" dirty="0"/>
              <a:t>Different outliers</a:t>
            </a:r>
          </a:p>
          <a:p>
            <a:pPr marL="742950" lvl="1" indent="-285750"/>
            <a:r>
              <a:rPr lang="en-US" altLang="en-US" sz="2200" dirty="0"/>
              <a:t>Valid: CEO’s salary, </a:t>
            </a:r>
          </a:p>
          <a:p>
            <a:pPr marL="742950" lvl="1" indent="-285750"/>
            <a:r>
              <a:rPr lang="en-US" altLang="en-US" sz="2200" dirty="0"/>
              <a:t>Noisy: One’s age = 200, widely deviated points</a:t>
            </a:r>
          </a:p>
          <a:p>
            <a:r>
              <a:rPr lang="en-US" altLang="en-US" sz="2600" dirty="0"/>
              <a:t>Removal methods</a:t>
            </a:r>
          </a:p>
          <a:p>
            <a:pPr marL="742950" lvl="1" indent="-285750"/>
            <a:r>
              <a:rPr lang="en-US" altLang="en-US" sz="2200" dirty="0"/>
              <a:t>Clustering</a:t>
            </a:r>
          </a:p>
          <a:p>
            <a:pPr marL="742950" lvl="1" indent="-285750"/>
            <a:r>
              <a:rPr lang="en-US" altLang="en-US" sz="2200" dirty="0"/>
              <a:t>Curve-fitting</a:t>
            </a:r>
          </a:p>
          <a:p>
            <a:pPr marL="742950" lvl="1" indent="-285750"/>
            <a:r>
              <a:rPr lang="en-US" altLang="en-US" sz="2200" dirty="0"/>
              <a:t>Hypothesis-testing with a given model</a:t>
            </a:r>
          </a:p>
          <a:p>
            <a:pPr marL="0" indent="0">
              <a:buNone/>
            </a:pPr>
            <a:endParaRPr lang="en-US"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identifying outliers: Z-score</a:t>
            </a:r>
          </a:p>
        </p:txBody>
      </p:sp>
      <p:sp>
        <p:nvSpPr>
          <p:cNvPr id="3" name="Date Placeholder 2"/>
          <p:cNvSpPr>
            <a:spLocks noGrp="1"/>
          </p:cNvSpPr>
          <p:nvPr>
            <p:ph type="dt" sz="half" idx="10"/>
          </p:nvPr>
        </p:nvSpPr>
        <p:spPr/>
        <p:txBody>
          <a:bodyPr/>
          <a:lstStyle/>
          <a:p>
            <a:fld id="{BA04ED17-C219-8C4C-847B-86C5D2677A23}" type="datetime1">
              <a:rPr lang="en-US" smtClean="0"/>
              <a:t>2/3/2026</a:t>
            </a:fld>
            <a:endParaRPr lang="en-US" dirty="0"/>
          </a:p>
        </p:txBody>
      </p:sp>
      <p:sp>
        <p:nvSpPr>
          <p:cNvPr id="4" name="Footer Placeholder 3"/>
          <p:cNvSpPr>
            <a:spLocks noGrp="1"/>
          </p:cNvSpPr>
          <p:nvPr>
            <p:ph type="ftr" sz="quarter" idx="11"/>
          </p:nvPr>
        </p:nvSpPr>
        <p:spPr/>
        <p:txBody>
          <a:bodyPr/>
          <a:lstStyle/>
          <a:p>
            <a:r>
              <a:rPr lang="en-US"/>
              <a:t>Data Science for Engineers</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15</a:t>
            </a:fld>
            <a:endParaRPr lang="en-US" dirty="0"/>
          </a:p>
        </p:txBody>
      </p:sp>
      <p:sp>
        <p:nvSpPr>
          <p:cNvPr id="6" name="Text Box 5"/>
          <p:cNvSpPr txBox="1"/>
          <p:nvPr/>
        </p:nvSpPr>
        <p:spPr>
          <a:xfrm>
            <a:off x="575945" y="2552065"/>
            <a:ext cx="11029315" cy="2584450"/>
          </a:xfrm>
          <a:prstGeom prst="rect">
            <a:avLst/>
          </a:prstGeom>
          <a:noFill/>
        </p:spPr>
        <p:txBody>
          <a:bodyPr wrap="square" rtlCol="0" anchor="t">
            <a:spAutoFit/>
          </a:bodyPr>
          <a:lstStyle/>
          <a:p>
            <a:endParaRPr lang="en-US" dirty="0"/>
          </a:p>
          <a:p>
            <a:r>
              <a:rPr lang="en-US" dirty="0"/>
              <a:t>z-score method for identifying outliers, states that a data value is an outlier if it has a Z- score that is either less than or greater than 3.</a:t>
            </a:r>
          </a:p>
          <a:p>
            <a:endParaRPr lang="en-US" dirty="0"/>
          </a:p>
          <a:p>
            <a:endParaRPr lang="en-US" dirty="0"/>
          </a:p>
          <a:p>
            <a:endParaRPr lang="en-US" dirty="0"/>
          </a:p>
          <a:p>
            <a:r>
              <a:rPr lang="en-US" dirty="0">
                <a:sym typeface="+mn-ea"/>
              </a:rPr>
              <a:t>Example: Suppose we have the following values for salary (in thousands of dollars), </a:t>
            </a:r>
          </a:p>
          <a:p>
            <a:r>
              <a:rPr lang="en-US" dirty="0">
                <a:sym typeface="+mn-ea"/>
              </a:rPr>
              <a:t>          				10,7,20,12,75,15,9,18,4,12,8,14</a:t>
            </a:r>
            <a:endParaRPr lang="en-US" dirty="0"/>
          </a:p>
          <a:p>
            <a:endParaRPr lang="en-US" dirty="0"/>
          </a:p>
        </p:txBody>
      </p:sp>
      <p:graphicFrame>
        <p:nvGraphicFramePr>
          <p:cNvPr id="7" name="Content Placeholder 6"/>
          <p:cNvGraphicFramePr>
            <a:graphicFrameLocks noGrp="1"/>
          </p:cNvGraphicFramePr>
          <p:nvPr>
            <p:ph idx="1"/>
          </p:nvPr>
        </p:nvGraphicFramePr>
        <p:xfrm>
          <a:off x="3744277" y="3317020"/>
          <a:ext cx="1960245" cy="755015"/>
        </p:xfrm>
        <a:graphic>
          <a:graphicData uri="http://schemas.openxmlformats.org/presentationml/2006/ole">
            <mc:AlternateContent xmlns:mc="http://schemas.openxmlformats.org/markup-compatibility/2006">
              <mc:Choice xmlns:v="urn:schemas-microsoft-com:vml" Requires="v">
                <p:oleObj r:id="rId3" imgW="1958340" imgH="754380" progId="Paint.Picture">
                  <p:embed/>
                </p:oleObj>
              </mc:Choice>
              <mc:Fallback>
                <p:oleObj r:id="rId3" imgW="1958340" imgH="754380" progId="Paint.Picture">
                  <p:embed/>
                  <p:pic>
                    <p:nvPicPr>
                      <p:cNvPr id="7" name="Content Placeholder 6"/>
                      <p:cNvPicPr/>
                      <p:nvPr/>
                    </p:nvPicPr>
                    <p:blipFill>
                      <a:blip r:embed="rId4"/>
                      <a:stretch>
                        <a:fillRect/>
                      </a:stretch>
                    </p:blipFill>
                    <p:spPr>
                      <a:xfrm>
                        <a:off x="3744277" y="3317020"/>
                        <a:ext cx="1960245" cy="755015"/>
                      </a:xfrm>
                      <a:prstGeom prst="rect">
                        <a:avLst/>
                      </a:prstGeom>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r>
              <a:rPr lang="en-US"/>
              <a:t>Slide #</a:t>
            </a:r>
            <a:fld id="{CBFA648F-E0A0-473A-B798-061019919282}" type="slidenum">
              <a:rPr lang="en-US"/>
              <a:t>16</a:t>
            </a:fld>
            <a:endParaRPr lang="en-US"/>
          </a:p>
        </p:txBody>
      </p:sp>
      <p:sp>
        <p:nvSpPr>
          <p:cNvPr id="21506" name="Rectangle 2"/>
          <p:cNvSpPr>
            <a:spLocks noGrp="1" noChangeArrowheads="1"/>
          </p:cNvSpPr>
          <p:nvPr>
            <p:ph type="title"/>
          </p:nvPr>
        </p:nvSpPr>
        <p:spPr/>
        <p:txBody>
          <a:bodyPr/>
          <a:lstStyle/>
          <a:p>
            <a:r>
              <a:rPr lang="en-US" sz="3600" dirty="0"/>
              <a:t>Standard Normal Distribution</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903" y="1981200"/>
            <a:ext cx="10045337"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identifying outliers:  IQR(Inter Quartile range)</a:t>
            </a:r>
          </a:p>
        </p:txBody>
      </p:sp>
      <p:sp>
        <p:nvSpPr>
          <p:cNvPr id="3" name="Date Placeholder 2"/>
          <p:cNvSpPr>
            <a:spLocks noGrp="1"/>
          </p:cNvSpPr>
          <p:nvPr>
            <p:ph type="dt" sz="half" idx="10"/>
          </p:nvPr>
        </p:nvSpPr>
        <p:spPr/>
        <p:txBody>
          <a:bodyPr/>
          <a:lstStyle/>
          <a:p>
            <a:fld id="{BA04ED17-C219-8C4C-847B-86C5D2677A23}" type="datetime1">
              <a:rPr lang="en-US" smtClean="0"/>
              <a:t>2/3/2026</a:t>
            </a:fld>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17</a:t>
            </a:fld>
            <a:endParaRPr lang="en-US" dirty="0"/>
          </a:p>
        </p:txBody>
      </p:sp>
      <p:sp>
        <p:nvSpPr>
          <p:cNvPr id="6" name="Text Box 5"/>
          <p:cNvSpPr txBox="1"/>
          <p:nvPr/>
        </p:nvSpPr>
        <p:spPr>
          <a:xfrm>
            <a:off x="513080" y="1962150"/>
            <a:ext cx="10565765" cy="3969385"/>
          </a:xfrm>
          <a:prstGeom prst="rect">
            <a:avLst/>
          </a:prstGeom>
          <a:noFill/>
        </p:spPr>
        <p:txBody>
          <a:bodyPr wrap="square" rtlCol="0" anchor="t">
            <a:spAutoFit/>
          </a:bodyPr>
          <a:lstStyle/>
          <a:p>
            <a:pPr marL="285750" indent="-285750">
              <a:buFont typeface="Arial" panose="020B0604020202020204" pitchFamily="34" charset="0"/>
              <a:buChar char="•"/>
            </a:pPr>
            <a:r>
              <a:rPr lang="en-US"/>
              <a:t>Robust statistical methods for outlier detection</a:t>
            </a:r>
          </a:p>
          <a:p>
            <a:pPr marL="285750" indent="-285750">
              <a:buFont typeface="Arial" panose="020B0604020202020204" pitchFamily="34" charset="0"/>
              <a:buChar char="•"/>
            </a:pPr>
            <a:r>
              <a:rPr lang="en-US"/>
              <a:t>Less sensitive to the presence of the outliers themselves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The quartiles of a data set divide the data set into the following four parts, each containing 25% of the data: </a:t>
            </a:r>
          </a:p>
          <a:p>
            <a:pPr marL="742950" lvl="1" indent="-285750">
              <a:buFont typeface="Arial" panose="020B0604020202020204" pitchFamily="34" charset="0"/>
              <a:buChar char="•"/>
            </a:pPr>
            <a:r>
              <a:rPr lang="en-US"/>
              <a:t>The first quartile (Q1) is the 25th percentile</a:t>
            </a:r>
          </a:p>
          <a:p>
            <a:pPr marL="742950" lvl="1" indent="-285750">
              <a:buFont typeface="Arial" panose="020B0604020202020204" pitchFamily="34" charset="0"/>
              <a:buChar char="•"/>
            </a:pPr>
            <a:r>
              <a:rPr lang="en-US"/>
              <a:t>The second quartile (Q2) is the 50th percentile, that is, the median.</a:t>
            </a:r>
          </a:p>
          <a:p>
            <a:pPr marL="742950" lvl="1" indent="-285750">
              <a:buFont typeface="Arial" panose="020B0604020202020204" pitchFamily="34" charset="0"/>
              <a:buChar char="•"/>
            </a:pPr>
            <a:r>
              <a:rPr lang="en-US"/>
              <a:t>The third quartile (Q3) is the 75th percentile</a:t>
            </a:r>
          </a:p>
          <a:p>
            <a:pPr marL="285750" indent="-285750">
              <a:buFont typeface="Arial" panose="020B0604020202020204" pitchFamily="34" charset="0"/>
              <a:buChar char="•"/>
            </a:pPr>
            <a:r>
              <a:rPr lang="en-US">
                <a:sym typeface="+mn-ea"/>
              </a:rPr>
              <a:t>Five-number summary of a data set consists of the minimum, Q1,median,Q3, and the maximum. </a:t>
            </a:r>
          </a:p>
          <a:p>
            <a:pPr marL="285750" indent="-285750">
              <a:buFont typeface="Arial" panose="020B0604020202020204" pitchFamily="34" charset="0"/>
              <a:buChar char="•"/>
            </a:pPr>
            <a:r>
              <a:rPr lang="en-US"/>
              <a:t>The IQR is a measure of variability, much more robust than the SD</a:t>
            </a:r>
          </a:p>
          <a:p>
            <a:pPr indent="0">
              <a:buFont typeface="Arial" panose="020B0604020202020204" pitchFamily="34" charset="0"/>
              <a:buNone/>
            </a:pPr>
            <a:r>
              <a:rPr lang="en-US"/>
              <a:t>				IQR = Q3 − Q1</a:t>
            </a:r>
          </a:p>
          <a:p>
            <a:pPr indent="0">
              <a:buFont typeface="Arial" panose="020B0604020202020204" pitchFamily="34" charset="0"/>
              <a:buNone/>
            </a:pPr>
            <a:r>
              <a:rPr lang="en-US"/>
              <a:t>   IQR may be interpreted to represent the spread of the middle 50% of the data</a:t>
            </a:r>
          </a:p>
          <a:p>
            <a:pPr marL="285750" indent="-285750">
              <a:buFont typeface="Arial" panose="020B0604020202020204" pitchFamily="34" charset="0"/>
              <a:buChar char="•"/>
            </a:pPr>
            <a:r>
              <a:rPr lang="en-US"/>
              <a:t> A data value is an outlier if</a:t>
            </a:r>
          </a:p>
          <a:p>
            <a:pPr marL="742950" lvl="1" indent="-285750"/>
            <a:r>
              <a:rPr lang="en-US"/>
              <a:t> </a:t>
            </a:r>
            <a:r>
              <a:rPr lang="en-US" b="1"/>
              <a:t>a.  </a:t>
            </a:r>
            <a:r>
              <a:rPr lang="en-US"/>
              <a:t>it is located 1.5(IQR) below the first quartile Q1, or</a:t>
            </a:r>
          </a:p>
          <a:p>
            <a:pPr lvl="1"/>
            <a:r>
              <a:rPr lang="en-US"/>
              <a:t> </a:t>
            </a:r>
            <a:r>
              <a:rPr lang="en-US" b="1"/>
              <a:t>b.</a:t>
            </a:r>
            <a:r>
              <a:rPr lang="en-US"/>
              <a:t>  it is located 1.5(IQR) above the third quartile Q3.</a:t>
            </a:r>
          </a:p>
        </p:txBody>
      </p:sp>
      <p:graphicFrame>
        <p:nvGraphicFramePr>
          <p:cNvPr id="7" name="Content Placeholder 6"/>
          <p:cNvGraphicFramePr>
            <a:graphicFrameLocks noGrp="1"/>
          </p:cNvGraphicFramePr>
          <p:nvPr>
            <p:ph sz="half" idx="1"/>
          </p:nvPr>
        </p:nvGraphicFramePr>
        <p:xfrm>
          <a:off x="8453120" y="4611370"/>
          <a:ext cx="3493770" cy="1710055"/>
        </p:xfrm>
        <a:graphic>
          <a:graphicData uri="http://schemas.openxmlformats.org/presentationml/2006/ole">
            <mc:AlternateContent xmlns:mc="http://schemas.openxmlformats.org/markup-compatibility/2006">
              <mc:Choice xmlns:v="urn:schemas-microsoft-com:vml" Requires="v">
                <p:oleObj r:id="rId3" imgW="3756660" imgH="1920240" progId="Paint.Picture">
                  <p:embed/>
                </p:oleObj>
              </mc:Choice>
              <mc:Fallback>
                <p:oleObj r:id="rId3" imgW="3756660" imgH="1920240" progId="Paint.Picture">
                  <p:embed/>
                  <p:pic>
                    <p:nvPicPr>
                      <p:cNvPr id="7" name="Content Placeholder 6"/>
                      <p:cNvPicPr/>
                      <p:nvPr/>
                    </p:nvPicPr>
                    <p:blipFill>
                      <a:blip r:embed="rId4"/>
                      <a:stretch>
                        <a:fillRect/>
                      </a:stretch>
                    </p:blipFill>
                    <p:spPr>
                      <a:xfrm>
                        <a:off x="8453120" y="4611370"/>
                        <a:ext cx="3493770" cy="1710055"/>
                      </a:xfrm>
                      <a:prstGeom prst="rect">
                        <a:avLst/>
                      </a:prstGeom>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 IQR(Inter Quartile range) Method</a:t>
            </a:r>
            <a:endParaRPr lang="en-US"/>
          </a:p>
        </p:txBody>
      </p:sp>
      <p:sp>
        <p:nvSpPr>
          <p:cNvPr id="3" name="Content Placeholder 2"/>
          <p:cNvSpPr>
            <a:spLocks noGrp="1"/>
          </p:cNvSpPr>
          <p:nvPr>
            <p:ph sz="half" idx="1"/>
          </p:nvPr>
        </p:nvSpPr>
        <p:spPr/>
        <p:txBody>
          <a:bodyPr/>
          <a:lstStyle/>
          <a:p>
            <a:r>
              <a:rPr lang="en-US">
                <a:sym typeface="+mn-ea"/>
              </a:rPr>
              <a:t>Step 1: Sort the data</a:t>
            </a:r>
            <a:endParaRPr lang="en-US"/>
          </a:p>
          <a:p>
            <a:r>
              <a:rPr lang="en-US">
                <a:sym typeface="+mn-ea"/>
              </a:rPr>
              <a:t>Step 2: Find min,,max, median</a:t>
            </a:r>
            <a:endParaRPr lang="en-US"/>
          </a:p>
          <a:p>
            <a:r>
              <a:rPr lang="en-US">
                <a:sym typeface="+mn-ea"/>
              </a:rPr>
              <a:t>Step 3: Find Q1,Q3</a:t>
            </a:r>
            <a:endParaRPr lang="en-US"/>
          </a:p>
          <a:p>
            <a:r>
              <a:rPr lang="en-US">
                <a:sym typeface="+mn-ea"/>
              </a:rPr>
              <a:t>Step 4: Find IQR</a:t>
            </a:r>
            <a:endParaRPr lang="en-US"/>
          </a:p>
          <a:p>
            <a:r>
              <a:rPr lang="en-US">
                <a:sym typeface="+mn-ea"/>
              </a:rPr>
              <a:t>Step 5: Identify outlier using IQR</a:t>
            </a:r>
          </a:p>
          <a:p>
            <a:endParaRPr lang="en-US">
              <a:sym typeface="+mn-ea"/>
            </a:endParaRPr>
          </a:p>
          <a:p>
            <a:pPr marL="0" lvl="1"/>
            <a:r>
              <a:rPr lang="en-US" sz="1800">
                <a:sym typeface="+mn-ea"/>
              </a:rPr>
              <a:t>Find outlier </a:t>
            </a:r>
          </a:p>
          <a:p>
            <a:pPr marL="0" lvl="1" indent="0">
              <a:buNone/>
            </a:pPr>
            <a:r>
              <a:rPr lang="en-US" sz="1800">
                <a:sym typeface="+mn-ea"/>
              </a:rPr>
              <a:t>		10,7,20,12,75,15,9,18,4,8,14</a:t>
            </a:r>
            <a:endParaRPr lang="en-US" sz="1800"/>
          </a:p>
          <a:p>
            <a:endParaRPr lang="en-US"/>
          </a:p>
          <a:p>
            <a:endParaRPr lang="en-US"/>
          </a:p>
        </p:txBody>
      </p:sp>
      <p:sp>
        <p:nvSpPr>
          <p:cNvPr id="4" name="Content Placeholder 3"/>
          <p:cNvSpPr>
            <a:spLocks noGrp="1"/>
          </p:cNvSpPr>
          <p:nvPr>
            <p:ph sz="half" idx="2"/>
          </p:nvPr>
        </p:nvSpPr>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handle noisy data</a:t>
            </a:r>
          </a:p>
        </p:txBody>
      </p:sp>
      <p:sp>
        <p:nvSpPr>
          <p:cNvPr id="3" name="Content Placeholder 2"/>
          <p:cNvSpPr>
            <a:spLocks noGrp="1"/>
          </p:cNvSpPr>
          <p:nvPr>
            <p:ph idx="1"/>
          </p:nvPr>
        </p:nvSpPr>
        <p:spPr>
          <a:xfrm>
            <a:off x="416560" y="2180496"/>
            <a:ext cx="11194247" cy="4332064"/>
          </a:xfrm>
        </p:spPr>
        <p:txBody>
          <a:bodyPr>
            <a:normAutofit/>
          </a:bodyPr>
          <a:lstStyle/>
          <a:p>
            <a:r>
              <a:rPr lang="en-US" altLang="en-US" sz="2800" dirty="0"/>
              <a:t>Binning method:</a:t>
            </a:r>
          </a:p>
          <a:p>
            <a:pPr marL="742950" lvl="1" indent="-285750"/>
            <a:r>
              <a:rPr lang="en-US" altLang="en-US" sz="2400" dirty="0"/>
              <a:t>first sort data and partition into bins</a:t>
            </a:r>
          </a:p>
          <a:p>
            <a:r>
              <a:rPr lang="en-US" altLang="en-US" sz="2800" dirty="0"/>
              <a:t>Clustering</a:t>
            </a:r>
          </a:p>
          <a:p>
            <a:pPr marL="742950" lvl="1" indent="-285750"/>
            <a:r>
              <a:rPr lang="en-US" altLang="en-US" sz="2400" dirty="0"/>
              <a:t>detect and remove outliers</a:t>
            </a:r>
          </a:p>
          <a:p>
            <a:r>
              <a:rPr lang="en-US" altLang="en-US" sz="2800" dirty="0"/>
              <a:t>Regression</a:t>
            </a:r>
          </a:p>
          <a:p>
            <a:pPr lvl="1"/>
            <a:r>
              <a:rPr lang="en-US" altLang="en-US" sz="2400" dirty="0"/>
              <a:t>smooth by fitting the data into regression functions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Binning</a:t>
            </a:r>
          </a:p>
        </p:txBody>
      </p:sp>
      <p:sp>
        <p:nvSpPr>
          <p:cNvPr id="3" name="Content Placeholder 2"/>
          <p:cNvSpPr>
            <a:spLocks noGrp="1"/>
          </p:cNvSpPr>
          <p:nvPr>
            <p:ph idx="1"/>
          </p:nvPr>
        </p:nvSpPr>
        <p:spPr/>
        <p:txBody>
          <a:bodyPr>
            <a:normAutofit/>
          </a:bodyPr>
          <a:lstStyle/>
          <a:p>
            <a:r>
              <a:rPr lang="en-US" altLang="en-US" sz="2800" dirty="0">
                <a:sym typeface="+mn-ea"/>
              </a:rPr>
              <a:t>Binning methods smooth a sorted data value by consulting its “neighborhood,” that is, the values around it</a:t>
            </a:r>
            <a:endParaRPr lang="en-US" altLang="en-US" sz="2800" dirty="0"/>
          </a:p>
          <a:p>
            <a:r>
              <a:rPr lang="en-US" altLang="en-US" sz="2800" dirty="0">
                <a:sym typeface="+mn-ea"/>
              </a:rPr>
              <a:t>Sorted values are distributed into a number of “buckets,” or bins</a:t>
            </a:r>
          </a:p>
          <a:p>
            <a:pPr marL="457200" lvl="2"/>
            <a:r>
              <a:rPr lang="en-US" altLang="en-US" sz="2450" dirty="0" err="1">
                <a:sym typeface="+mn-ea"/>
              </a:rPr>
              <a:t>equi</a:t>
            </a:r>
            <a:r>
              <a:rPr lang="en-US" altLang="en-US" sz="2450" dirty="0">
                <a:sym typeface="+mn-ea"/>
              </a:rPr>
              <a:t>-depth/</a:t>
            </a:r>
            <a:r>
              <a:rPr lang="en-US" altLang="en-US" sz="2450" dirty="0" err="1">
                <a:sym typeface="+mn-ea"/>
              </a:rPr>
              <a:t>equi</a:t>
            </a:r>
            <a:r>
              <a:rPr lang="en-US" altLang="en-US" sz="2450" dirty="0">
                <a:sym typeface="+mn-ea"/>
              </a:rPr>
              <a:t>-width bins</a:t>
            </a:r>
            <a:endParaRPr lang="en-US" altLang="en-US" sz="2450" dirty="0"/>
          </a:p>
          <a:p>
            <a:endParaRPr lang="en-US" altLang="en-US" sz="2800" dirty="0"/>
          </a:p>
          <a:p>
            <a:pPr marL="0" indent="0">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914400" y="749300"/>
            <a:ext cx="8458200" cy="914400"/>
          </a:xfrm>
        </p:spPr>
        <p:txBody>
          <a:bodyPr>
            <a:normAutofit/>
          </a:bodyPr>
          <a:lstStyle/>
          <a:p>
            <a:pPr eaLnBrk="1" hangingPunct="1"/>
            <a:r>
              <a:rPr lang="en-US" altLang="en-US" sz="4000" dirty="0">
                <a:sym typeface="+mn-ea"/>
              </a:rPr>
              <a:t>Binning</a:t>
            </a:r>
            <a:r>
              <a:rPr lang="en-US" altLang="en-US" sz="4000" dirty="0">
                <a:solidFill>
                  <a:schemeClr val="bg1"/>
                </a:solidFill>
              </a:rPr>
              <a:t> Methods: </a:t>
            </a:r>
          </a:p>
        </p:txBody>
      </p:sp>
      <p:sp>
        <p:nvSpPr>
          <p:cNvPr id="48131" name="Rectangle 3"/>
          <p:cNvSpPr>
            <a:spLocks noGrp="1" noChangeArrowheads="1"/>
          </p:cNvSpPr>
          <p:nvPr>
            <p:ph type="body" idx="1"/>
          </p:nvPr>
        </p:nvSpPr>
        <p:spPr>
          <a:xfrm>
            <a:off x="723900" y="1905000"/>
            <a:ext cx="8229600" cy="4705350"/>
          </a:xfrm>
        </p:spPr>
        <p:txBody>
          <a:bodyPr>
            <a:normAutofit/>
          </a:bodyPr>
          <a:lstStyle/>
          <a:p>
            <a:pPr eaLnBrk="1" hangingPunct="1"/>
            <a:r>
              <a:rPr lang="en-US" altLang="en-US" sz="2800" dirty="0">
                <a:solidFill>
                  <a:schemeClr val="accent2"/>
                </a:solidFill>
              </a:rPr>
              <a:t>Equal-width</a:t>
            </a:r>
            <a:r>
              <a:rPr lang="en-US" altLang="en-US" sz="2800" dirty="0"/>
              <a:t> (distance) partitioning:</a:t>
            </a:r>
          </a:p>
          <a:p>
            <a:pPr lvl="1" eaLnBrk="1" hangingPunct="1">
              <a:spcBef>
                <a:spcPct val="0"/>
              </a:spcBef>
            </a:pPr>
            <a:r>
              <a:rPr lang="en-US" altLang="en-US" sz="2400" dirty="0"/>
              <a:t>It divides the range into </a:t>
            </a:r>
            <a:r>
              <a:rPr lang="en-US" altLang="en-US" sz="2400" i="1" dirty="0"/>
              <a:t>N</a:t>
            </a:r>
            <a:r>
              <a:rPr lang="en-US" altLang="en-US" sz="2400" dirty="0"/>
              <a:t> intervals of equal size: </a:t>
            </a:r>
            <a:r>
              <a:rPr lang="en-US" altLang="en-US" sz="2400" dirty="0">
                <a:solidFill>
                  <a:srgbClr val="39513E"/>
                </a:solidFill>
              </a:rPr>
              <a:t>uniform grid</a:t>
            </a:r>
            <a:endParaRPr lang="en-US" altLang="en-US" sz="2400" dirty="0">
              <a:solidFill>
                <a:schemeClr val="hlink"/>
              </a:solidFill>
            </a:endParaRPr>
          </a:p>
          <a:p>
            <a:pPr lvl="1" eaLnBrk="1" hangingPunct="1">
              <a:spcBef>
                <a:spcPct val="0"/>
              </a:spcBef>
            </a:pPr>
            <a:r>
              <a:rPr lang="en-US" altLang="en-US" sz="2400" dirty="0"/>
              <a:t>if </a:t>
            </a:r>
            <a:r>
              <a:rPr lang="en-US" altLang="en-US" sz="2400" i="1" dirty="0"/>
              <a:t>A</a:t>
            </a:r>
            <a:r>
              <a:rPr lang="en-US" altLang="en-US" sz="2400" dirty="0"/>
              <a:t> and </a:t>
            </a:r>
            <a:r>
              <a:rPr lang="en-US" altLang="en-US" sz="2400" i="1" dirty="0"/>
              <a:t>B</a:t>
            </a:r>
            <a:r>
              <a:rPr lang="en-US" altLang="en-US" sz="2400" dirty="0"/>
              <a:t> are the lowest and highest values of the attribute, the width of intervals will be: </a:t>
            </a:r>
            <a:r>
              <a:rPr lang="en-US" altLang="en-US" sz="2400" i="1" dirty="0"/>
              <a:t>W </a:t>
            </a:r>
            <a:r>
              <a:rPr lang="en-US" altLang="en-US" sz="2400" dirty="0"/>
              <a:t>= (</a:t>
            </a:r>
            <a:r>
              <a:rPr lang="en-US" altLang="en-US" sz="2400" i="1" dirty="0"/>
              <a:t>B</a:t>
            </a:r>
            <a:r>
              <a:rPr lang="en-US" altLang="en-US" sz="2400" dirty="0"/>
              <a:t>-</a:t>
            </a:r>
            <a:r>
              <a:rPr lang="en-US" altLang="en-US" sz="2400" i="1" dirty="0"/>
              <a:t>A</a:t>
            </a:r>
            <a:r>
              <a:rPr lang="en-US" altLang="en-US" sz="2400" dirty="0"/>
              <a:t>)/</a:t>
            </a:r>
            <a:r>
              <a:rPr lang="en-US" altLang="en-US" sz="2400" i="1" dirty="0"/>
              <a:t>N.</a:t>
            </a:r>
            <a:endParaRPr lang="en-US" altLang="en-US" sz="2400" dirty="0"/>
          </a:p>
          <a:p>
            <a:pPr eaLnBrk="1" hangingPunct="1"/>
            <a:r>
              <a:rPr lang="en-US" altLang="en-US" sz="2800" dirty="0">
                <a:solidFill>
                  <a:schemeClr val="accent2"/>
                </a:solidFill>
              </a:rPr>
              <a:t>Equal-depth</a:t>
            </a:r>
            <a:r>
              <a:rPr lang="en-US" altLang="en-US" sz="2800" dirty="0"/>
              <a:t> (frequency) partitioning:</a:t>
            </a:r>
          </a:p>
          <a:p>
            <a:pPr lvl="1" eaLnBrk="1" hangingPunct="1">
              <a:spcBef>
                <a:spcPct val="0"/>
              </a:spcBef>
            </a:pPr>
            <a:r>
              <a:rPr lang="en-US" altLang="en-US" sz="2400" dirty="0"/>
              <a:t>It divides the range into </a:t>
            </a:r>
            <a:r>
              <a:rPr lang="en-US" altLang="en-US" sz="2400" i="1" dirty="0"/>
              <a:t>N</a:t>
            </a:r>
            <a:r>
              <a:rPr lang="en-US" altLang="en-US" sz="2400" dirty="0"/>
              <a:t> intervals, each containing approximately same number of samples</a:t>
            </a:r>
          </a:p>
          <a:p>
            <a:pPr lvl="1" eaLnBrk="1" hangingPunct="1">
              <a:spcBef>
                <a:spcPct val="0"/>
              </a:spcBef>
            </a:pPr>
            <a:endParaRPr lang="en-US" altLang="en-US" sz="2400" dirty="0"/>
          </a:p>
        </p:txBody>
      </p:sp>
    </p:spTree>
  </p:cSld>
  <p:clrMapOvr>
    <a:masterClrMapping/>
  </p:clrMapOvr>
  <p:transition>
    <p:checke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Binning methods for data smoothing </a:t>
            </a:r>
          </a:p>
        </p:txBody>
      </p:sp>
      <p:pic>
        <p:nvPicPr>
          <p:cNvPr id="4" name="Content Placeholder 3"/>
          <p:cNvPicPr>
            <a:picLocks noGrp="1" noChangeAspect="1"/>
          </p:cNvPicPr>
          <p:nvPr>
            <p:ph idx="1"/>
          </p:nvPr>
        </p:nvPicPr>
        <p:blipFill>
          <a:blip r:embed="rId2"/>
          <a:stretch>
            <a:fillRect/>
          </a:stretch>
        </p:blipFill>
        <p:spPr>
          <a:xfrm>
            <a:off x="2807949" y="1915947"/>
            <a:ext cx="5949971" cy="494205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838200" y="1079500"/>
            <a:ext cx="8458200" cy="609600"/>
          </a:xfrm>
        </p:spPr>
        <p:txBody>
          <a:bodyPr>
            <a:normAutofit fontScale="90000"/>
          </a:bodyPr>
          <a:lstStyle/>
          <a:p>
            <a:pPr eaLnBrk="1" hangingPunct="1"/>
            <a:r>
              <a:rPr lang="en-US" altLang="en-US" sz="4000" dirty="0">
                <a:solidFill>
                  <a:schemeClr val="bg1"/>
                </a:solidFill>
              </a:rPr>
              <a:t>Binning Methods for Data Smoothing</a:t>
            </a:r>
          </a:p>
        </p:txBody>
      </p:sp>
      <p:sp>
        <p:nvSpPr>
          <p:cNvPr id="49155" name="Rectangle 3"/>
          <p:cNvSpPr>
            <a:spLocks noGrp="1" noChangeArrowheads="1"/>
          </p:cNvSpPr>
          <p:nvPr>
            <p:ph type="body" idx="1"/>
          </p:nvPr>
        </p:nvSpPr>
        <p:spPr>
          <a:xfrm>
            <a:off x="1028700" y="2082800"/>
            <a:ext cx="7861300" cy="4445000"/>
          </a:xfrm>
        </p:spPr>
        <p:txBody>
          <a:bodyPr>
            <a:normAutofit/>
          </a:bodyPr>
          <a:lstStyle/>
          <a:p>
            <a:pPr eaLnBrk="1" hangingPunct="1">
              <a:buFontTx/>
              <a:buNone/>
            </a:pPr>
            <a:r>
              <a:rPr lang="en-US" altLang="en-US" sz="2400" dirty="0"/>
              <a:t>*  Sorted data : </a:t>
            </a:r>
            <a:r>
              <a:rPr lang="en-US" altLang="en-US" sz="2400" dirty="0">
                <a:sym typeface="+mn-ea"/>
              </a:rPr>
              <a:t>4, 8, 9, 15, 21, 21, 24, 25, 26, 28, 29, 34</a:t>
            </a:r>
          </a:p>
          <a:p>
            <a:pPr eaLnBrk="1" hangingPunct="1">
              <a:buFontTx/>
              <a:buNone/>
            </a:pPr>
            <a:r>
              <a:rPr lang="en-US" altLang="en-US" sz="2400" dirty="0">
                <a:sym typeface="+mn-ea"/>
              </a:rPr>
              <a:t>*  N=3</a:t>
            </a:r>
            <a:endParaRPr lang="en-US" altLang="en-US" sz="2400" dirty="0"/>
          </a:p>
          <a:p>
            <a:pPr eaLnBrk="1" hangingPunct="1">
              <a:buFontTx/>
              <a:buNone/>
            </a:pPr>
            <a:r>
              <a:rPr lang="en-US" altLang="en-US" sz="2400" dirty="0"/>
              <a:t>*  Partition into (</a:t>
            </a:r>
            <a:r>
              <a:rPr lang="en-US" altLang="en-US" sz="2400" dirty="0" err="1"/>
              <a:t>equi</a:t>
            </a:r>
            <a:r>
              <a:rPr lang="en-US" altLang="en-US" sz="2400" dirty="0"/>
              <a:t>-width) bins</a:t>
            </a:r>
          </a:p>
          <a:p>
            <a:pPr eaLnBrk="1" hangingPunct="1">
              <a:buFontTx/>
              <a:buNone/>
            </a:pPr>
            <a:r>
              <a:rPr lang="en-US" altLang="en-US" sz="2400" dirty="0"/>
              <a:t>      </a:t>
            </a:r>
          </a:p>
          <a:p>
            <a:pPr eaLnBrk="1" hangingPunct="1">
              <a:buFontTx/>
              <a:buNone/>
            </a:pPr>
            <a:endParaRPr lang="en-US" altLang="en-US" sz="2400" dirty="0"/>
          </a:p>
        </p:txBody>
      </p:sp>
    </p:spTree>
  </p:cSld>
  <p:clrMapOvr>
    <a:masterClrMapping/>
  </p:clrMapOvr>
  <p:transition>
    <p:checke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72783" y="668655"/>
            <a:ext cx="4787900" cy="1143000"/>
          </a:xfrm>
        </p:spPr>
        <p:txBody>
          <a:bodyPr/>
          <a:lstStyle/>
          <a:p>
            <a:pPr eaLnBrk="1" hangingPunct="1"/>
            <a:r>
              <a:rPr lang="en-US" altLang="en-US" dirty="0">
                <a:solidFill>
                  <a:schemeClr val="bg1"/>
                </a:solidFill>
              </a:rPr>
              <a:t>Regression</a:t>
            </a:r>
          </a:p>
        </p:txBody>
      </p:sp>
      <p:sp>
        <p:nvSpPr>
          <p:cNvPr id="51203" name="Line 3"/>
          <p:cNvSpPr>
            <a:spLocks noChangeShapeType="1"/>
          </p:cNvSpPr>
          <p:nvPr/>
        </p:nvSpPr>
        <p:spPr bwMode="auto">
          <a:xfrm>
            <a:off x="2830514" y="4392613"/>
            <a:ext cx="6923087"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4" name="Line 4"/>
          <p:cNvSpPr>
            <a:spLocks noChangeShapeType="1"/>
          </p:cNvSpPr>
          <p:nvPr/>
        </p:nvSpPr>
        <p:spPr bwMode="auto">
          <a:xfrm flipV="1">
            <a:off x="6080125" y="1633539"/>
            <a:ext cx="0" cy="470217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5" name="Oval 5"/>
          <p:cNvSpPr>
            <a:spLocks noChangeArrowheads="1"/>
          </p:cNvSpPr>
          <p:nvPr/>
        </p:nvSpPr>
        <p:spPr bwMode="auto">
          <a:xfrm flipV="1">
            <a:off x="7466013" y="3303588"/>
            <a:ext cx="42862" cy="4286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06" name="Oval 6"/>
          <p:cNvSpPr>
            <a:spLocks noChangeArrowheads="1"/>
          </p:cNvSpPr>
          <p:nvPr/>
        </p:nvSpPr>
        <p:spPr bwMode="auto">
          <a:xfrm flipV="1">
            <a:off x="7048501" y="3408363"/>
            <a:ext cx="42863" cy="4286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07" name="Oval 7"/>
          <p:cNvSpPr>
            <a:spLocks noChangeArrowheads="1"/>
          </p:cNvSpPr>
          <p:nvPr/>
        </p:nvSpPr>
        <p:spPr bwMode="auto">
          <a:xfrm flipV="1">
            <a:off x="6873876" y="2484438"/>
            <a:ext cx="42863" cy="4286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08" name="Oval 8"/>
          <p:cNvSpPr>
            <a:spLocks noChangeArrowheads="1"/>
          </p:cNvSpPr>
          <p:nvPr/>
        </p:nvSpPr>
        <p:spPr bwMode="auto">
          <a:xfrm flipV="1">
            <a:off x="6699251" y="3876676"/>
            <a:ext cx="42863" cy="42863"/>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09" name="Oval 9"/>
          <p:cNvSpPr>
            <a:spLocks noChangeArrowheads="1"/>
          </p:cNvSpPr>
          <p:nvPr/>
        </p:nvSpPr>
        <p:spPr bwMode="auto">
          <a:xfrm flipV="1">
            <a:off x="7570788" y="2951163"/>
            <a:ext cx="42862" cy="4286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10" name="Oval 10"/>
          <p:cNvSpPr>
            <a:spLocks noChangeArrowheads="1"/>
          </p:cNvSpPr>
          <p:nvPr/>
        </p:nvSpPr>
        <p:spPr bwMode="auto">
          <a:xfrm flipV="1">
            <a:off x="7772401" y="2678113"/>
            <a:ext cx="42863" cy="4286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11" name="Oval 11"/>
          <p:cNvSpPr>
            <a:spLocks noChangeArrowheads="1"/>
          </p:cNvSpPr>
          <p:nvPr/>
        </p:nvSpPr>
        <p:spPr bwMode="auto">
          <a:xfrm flipV="1">
            <a:off x="6340476" y="3973513"/>
            <a:ext cx="42863" cy="4286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12" name="Oval 12"/>
          <p:cNvSpPr>
            <a:spLocks noChangeArrowheads="1"/>
          </p:cNvSpPr>
          <p:nvPr/>
        </p:nvSpPr>
        <p:spPr bwMode="auto">
          <a:xfrm flipV="1">
            <a:off x="8093076" y="2673351"/>
            <a:ext cx="42863" cy="42863"/>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13" name="Oval 13"/>
          <p:cNvSpPr>
            <a:spLocks noChangeArrowheads="1"/>
          </p:cNvSpPr>
          <p:nvPr/>
        </p:nvSpPr>
        <p:spPr bwMode="auto">
          <a:xfrm flipV="1">
            <a:off x="8113713" y="2433638"/>
            <a:ext cx="42862" cy="4286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14" name="Oval 14"/>
          <p:cNvSpPr>
            <a:spLocks noChangeArrowheads="1"/>
          </p:cNvSpPr>
          <p:nvPr/>
        </p:nvSpPr>
        <p:spPr bwMode="auto">
          <a:xfrm flipV="1">
            <a:off x="8528051" y="2406651"/>
            <a:ext cx="42863" cy="42863"/>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15" name="Oval 15"/>
          <p:cNvSpPr>
            <a:spLocks noChangeArrowheads="1"/>
          </p:cNvSpPr>
          <p:nvPr/>
        </p:nvSpPr>
        <p:spPr bwMode="auto">
          <a:xfrm flipV="1">
            <a:off x="6296026" y="4240213"/>
            <a:ext cx="42863" cy="4286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16" name="Oval 16"/>
          <p:cNvSpPr>
            <a:spLocks noChangeArrowheads="1"/>
          </p:cNvSpPr>
          <p:nvPr/>
        </p:nvSpPr>
        <p:spPr bwMode="auto">
          <a:xfrm flipV="1">
            <a:off x="8507413" y="2155826"/>
            <a:ext cx="42862" cy="42863"/>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17" name="Oval 17"/>
          <p:cNvSpPr>
            <a:spLocks noChangeArrowheads="1"/>
          </p:cNvSpPr>
          <p:nvPr/>
        </p:nvSpPr>
        <p:spPr bwMode="auto">
          <a:xfrm flipV="1">
            <a:off x="8837613" y="2030413"/>
            <a:ext cx="42862" cy="4286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1218" name="Line 18"/>
          <p:cNvSpPr>
            <a:spLocks noChangeShapeType="1"/>
          </p:cNvSpPr>
          <p:nvPr/>
        </p:nvSpPr>
        <p:spPr bwMode="auto">
          <a:xfrm flipV="1">
            <a:off x="6062663" y="1943101"/>
            <a:ext cx="2906712" cy="2270125"/>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19" name="Text Box 19"/>
          <p:cNvSpPr txBox="1">
            <a:spLocks noChangeArrowheads="1"/>
          </p:cNvSpPr>
          <p:nvPr/>
        </p:nvSpPr>
        <p:spPr bwMode="auto">
          <a:xfrm>
            <a:off x="9628188" y="4379913"/>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r>
              <a:rPr lang="en-US" altLang="en-US">
                <a:solidFill>
                  <a:schemeClr val="tx1"/>
                </a:solidFill>
                <a:latin typeface="Times New Roman" panose="02020603050405020304" pitchFamily="18" charset="0"/>
              </a:rPr>
              <a:t>x</a:t>
            </a:r>
          </a:p>
        </p:txBody>
      </p:sp>
      <p:sp>
        <p:nvSpPr>
          <p:cNvPr id="51220" name="Text Box 20"/>
          <p:cNvSpPr txBox="1">
            <a:spLocks noChangeArrowheads="1"/>
          </p:cNvSpPr>
          <p:nvPr/>
        </p:nvSpPr>
        <p:spPr bwMode="auto">
          <a:xfrm>
            <a:off x="6281738" y="1455738"/>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r>
              <a:rPr lang="en-US" altLang="en-US">
                <a:solidFill>
                  <a:schemeClr val="tx1"/>
                </a:solidFill>
                <a:latin typeface="Times New Roman" panose="02020603050405020304" pitchFamily="18" charset="0"/>
              </a:rPr>
              <a:t>y</a:t>
            </a:r>
          </a:p>
        </p:txBody>
      </p:sp>
      <p:sp>
        <p:nvSpPr>
          <p:cNvPr id="51221" name="Text Box 21"/>
          <p:cNvSpPr txBox="1">
            <a:spLocks noChangeArrowheads="1"/>
          </p:cNvSpPr>
          <p:nvPr/>
        </p:nvSpPr>
        <p:spPr bwMode="auto">
          <a:xfrm>
            <a:off x="7848600" y="3219450"/>
            <a:ext cx="1289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r>
              <a:rPr lang="en-US" altLang="en-US">
                <a:solidFill>
                  <a:schemeClr val="tx1"/>
                </a:solidFill>
                <a:latin typeface="Times New Roman" panose="02020603050405020304" pitchFamily="18" charset="0"/>
              </a:rPr>
              <a:t>y = x + 1</a:t>
            </a:r>
          </a:p>
        </p:txBody>
      </p:sp>
      <p:sp>
        <p:nvSpPr>
          <p:cNvPr id="51222" name="Line 22"/>
          <p:cNvSpPr>
            <a:spLocks noChangeShapeType="1"/>
          </p:cNvSpPr>
          <p:nvPr/>
        </p:nvSpPr>
        <p:spPr bwMode="auto">
          <a:xfrm>
            <a:off x="6896100" y="2498726"/>
            <a:ext cx="0" cy="1909763"/>
          </a:xfrm>
          <a:prstGeom prst="line">
            <a:avLst/>
          </a:prstGeom>
          <a:noFill/>
          <a:ln w="9525">
            <a:solidFill>
              <a:srgbClr val="0066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23" name="Line 23"/>
          <p:cNvSpPr>
            <a:spLocks noChangeShapeType="1"/>
          </p:cNvSpPr>
          <p:nvPr/>
        </p:nvSpPr>
        <p:spPr bwMode="auto">
          <a:xfrm flipH="1">
            <a:off x="6080125" y="2514600"/>
            <a:ext cx="800100" cy="0"/>
          </a:xfrm>
          <a:prstGeom prst="line">
            <a:avLst/>
          </a:prstGeom>
          <a:noFill/>
          <a:ln w="9525">
            <a:solidFill>
              <a:srgbClr val="0066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24" name="Line 24"/>
          <p:cNvSpPr>
            <a:spLocks noChangeShapeType="1"/>
          </p:cNvSpPr>
          <p:nvPr/>
        </p:nvSpPr>
        <p:spPr bwMode="auto">
          <a:xfrm flipH="1">
            <a:off x="6064251" y="3525838"/>
            <a:ext cx="815975" cy="0"/>
          </a:xfrm>
          <a:prstGeom prst="line">
            <a:avLst/>
          </a:prstGeom>
          <a:noFill/>
          <a:ln w="9525">
            <a:solidFill>
              <a:srgbClr val="0066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25" name="Text Box 25"/>
          <p:cNvSpPr txBox="1">
            <a:spLocks noChangeArrowheads="1"/>
          </p:cNvSpPr>
          <p:nvPr/>
        </p:nvSpPr>
        <p:spPr bwMode="auto">
          <a:xfrm>
            <a:off x="6819900" y="4411664"/>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r>
              <a:rPr lang="en-US" altLang="en-US" sz="2000">
                <a:solidFill>
                  <a:schemeClr val="tx1"/>
                </a:solidFill>
                <a:latin typeface="Times New Roman" panose="02020603050405020304" pitchFamily="18" charset="0"/>
              </a:rPr>
              <a:t>X1</a:t>
            </a:r>
          </a:p>
        </p:txBody>
      </p:sp>
      <p:sp>
        <p:nvSpPr>
          <p:cNvPr id="51226" name="Text Box 26"/>
          <p:cNvSpPr txBox="1">
            <a:spLocks noChangeArrowheads="1"/>
          </p:cNvSpPr>
          <p:nvPr/>
        </p:nvSpPr>
        <p:spPr bwMode="auto">
          <a:xfrm>
            <a:off x="5562600" y="2286001"/>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r>
              <a:rPr lang="en-US" altLang="en-US" sz="2000">
                <a:solidFill>
                  <a:schemeClr val="tx1"/>
                </a:solidFill>
                <a:latin typeface="Times New Roman" panose="02020603050405020304" pitchFamily="18" charset="0"/>
              </a:rPr>
              <a:t>Y1</a:t>
            </a:r>
          </a:p>
        </p:txBody>
      </p:sp>
      <p:sp>
        <p:nvSpPr>
          <p:cNvPr id="51227" name="Text Box 27"/>
          <p:cNvSpPr txBox="1">
            <a:spLocks noChangeArrowheads="1"/>
          </p:cNvSpPr>
          <p:nvPr/>
        </p:nvSpPr>
        <p:spPr bwMode="auto">
          <a:xfrm>
            <a:off x="5595939" y="3268664"/>
            <a:ext cx="579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r>
              <a:rPr lang="en-US" altLang="en-US" sz="2000">
                <a:solidFill>
                  <a:schemeClr val="tx1"/>
                </a:solidFill>
                <a:latin typeface="Times New Roman" panose="02020603050405020304" pitchFamily="18" charset="0"/>
              </a:rPr>
              <a:t>Y1’</a:t>
            </a:r>
          </a:p>
        </p:txBody>
      </p:sp>
      <p:sp>
        <p:nvSpPr>
          <p:cNvPr id="51228" name="Text Box 28"/>
          <p:cNvSpPr txBox="1">
            <a:spLocks noChangeArrowheads="1"/>
          </p:cNvSpPr>
          <p:nvPr/>
        </p:nvSpPr>
        <p:spPr bwMode="auto">
          <a:xfrm>
            <a:off x="46037" y="4676776"/>
            <a:ext cx="612933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buFontTx/>
              <a:buChar char="•"/>
            </a:pPr>
            <a:r>
              <a:rPr lang="en-US" altLang="en-US" dirty="0">
                <a:solidFill>
                  <a:schemeClr val="tx1"/>
                </a:solidFill>
                <a:latin typeface="+mn-lt"/>
              </a:rPr>
              <a:t>Linear regression (best line to fit two variables)</a:t>
            </a:r>
          </a:p>
          <a:p>
            <a:pPr eaLnBrk="1" hangingPunct="1">
              <a:buFontTx/>
              <a:buChar char="•"/>
            </a:pPr>
            <a:r>
              <a:rPr lang="en-US" altLang="en-US" dirty="0">
                <a:solidFill>
                  <a:schemeClr val="tx1"/>
                </a:solidFill>
                <a:latin typeface="+mn-lt"/>
              </a:rPr>
              <a:t>Multiple linear regression (more than two variables, fit to a multidimensional surface)</a:t>
            </a:r>
          </a:p>
        </p:txBody>
      </p:sp>
    </p:spTree>
  </p:cSld>
  <p:clrMapOvr>
    <a:masterClrMapping/>
  </p:clrMapOvr>
  <p:transition>
    <p:checke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AutoShape 3"/>
          <p:cNvSpPr>
            <a:spLocks noChangeArrowheads="1"/>
          </p:cNvSpPr>
          <p:nvPr/>
        </p:nvSpPr>
        <p:spPr bwMode="auto">
          <a:xfrm>
            <a:off x="8221664" y="5761038"/>
            <a:ext cx="142875" cy="146050"/>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80" name="AutoShape 4"/>
          <p:cNvSpPr>
            <a:spLocks noChangeArrowheads="1"/>
          </p:cNvSpPr>
          <p:nvPr/>
        </p:nvSpPr>
        <p:spPr bwMode="auto">
          <a:xfrm>
            <a:off x="5300664" y="5940425"/>
            <a:ext cx="142875" cy="146050"/>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81" name="AutoShape 5"/>
          <p:cNvSpPr>
            <a:spLocks noChangeArrowheads="1"/>
          </p:cNvSpPr>
          <p:nvPr/>
        </p:nvSpPr>
        <p:spPr bwMode="auto">
          <a:xfrm>
            <a:off x="8599489" y="2514600"/>
            <a:ext cx="142875" cy="146050"/>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grpSp>
        <p:nvGrpSpPr>
          <p:cNvPr id="50182" name="Group 6"/>
          <p:cNvGrpSpPr/>
          <p:nvPr/>
        </p:nvGrpSpPr>
        <p:grpSpPr bwMode="auto">
          <a:xfrm>
            <a:off x="5665789" y="4845050"/>
            <a:ext cx="173037" cy="173038"/>
            <a:chOff x="1900" y="3589"/>
            <a:chExt cx="109" cy="109"/>
          </a:xfrm>
        </p:grpSpPr>
        <p:sp>
          <p:nvSpPr>
            <p:cNvPr id="50221" name="Line 7"/>
            <p:cNvSpPr>
              <a:spLocks noChangeShapeType="1"/>
            </p:cNvSpPr>
            <p:nvPr/>
          </p:nvSpPr>
          <p:spPr bwMode="auto">
            <a:xfrm>
              <a:off x="1900" y="3637"/>
              <a:ext cx="10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22" name="Line 8"/>
            <p:cNvSpPr>
              <a:spLocks noChangeShapeType="1"/>
            </p:cNvSpPr>
            <p:nvPr/>
          </p:nvSpPr>
          <p:spPr bwMode="auto">
            <a:xfrm rot="-5400000">
              <a:off x="1896" y="3644"/>
              <a:ext cx="10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183" name="Group 9"/>
          <p:cNvGrpSpPr/>
          <p:nvPr/>
        </p:nvGrpSpPr>
        <p:grpSpPr bwMode="auto">
          <a:xfrm>
            <a:off x="6684964" y="3625850"/>
            <a:ext cx="173037" cy="173038"/>
            <a:chOff x="1900" y="3589"/>
            <a:chExt cx="109" cy="109"/>
          </a:xfrm>
        </p:grpSpPr>
        <p:sp>
          <p:nvSpPr>
            <p:cNvPr id="50219" name="Line 10"/>
            <p:cNvSpPr>
              <a:spLocks noChangeShapeType="1"/>
            </p:cNvSpPr>
            <p:nvPr/>
          </p:nvSpPr>
          <p:spPr bwMode="auto">
            <a:xfrm>
              <a:off x="1900" y="3637"/>
              <a:ext cx="10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20" name="Line 11"/>
            <p:cNvSpPr>
              <a:spLocks noChangeShapeType="1"/>
            </p:cNvSpPr>
            <p:nvPr/>
          </p:nvSpPr>
          <p:spPr bwMode="auto">
            <a:xfrm rot="-5400000">
              <a:off x="1896" y="3644"/>
              <a:ext cx="10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184" name="Group 12"/>
          <p:cNvGrpSpPr/>
          <p:nvPr/>
        </p:nvGrpSpPr>
        <p:grpSpPr bwMode="auto">
          <a:xfrm>
            <a:off x="4448175" y="3959225"/>
            <a:ext cx="173038" cy="173038"/>
            <a:chOff x="1900" y="3589"/>
            <a:chExt cx="109" cy="109"/>
          </a:xfrm>
        </p:grpSpPr>
        <p:sp>
          <p:nvSpPr>
            <p:cNvPr id="50217" name="Line 13"/>
            <p:cNvSpPr>
              <a:spLocks noChangeShapeType="1"/>
            </p:cNvSpPr>
            <p:nvPr/>
          </p:nvSpPr>
          <p:spPr bwMode="auto">
            <a:xfrm>
              <a:off x="1900" y="3637"/>
              <a:ext cx="10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18" name="Line 14"/>
            <p:cNvSpPr>
              <a:spLocks noChangeShapeType="1"/>
            </p:cNvSpPr>
            <p:nvPr/>
          </p:nvSpPr>
          <p:spPr bwMode="auto">
            <a:xfrm rot="-5400000">
              <a:off x="1896" y="3644"/>
              <a:ext cx="10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0185" name="Group 15"/>
          <p:cNvGrpSpPr/>
          <p:nvPr/>
        </p:nvGrpSpPr>
        <p:grpSpPr bwMode="auto">
          <a:xfrm>
            <a:off x="3048001" y="2076451"/>
            <a:ext cx="6016625" cy="4113213"/>
            <a:chOff x="1028" y="1418"/>
            <a:chExt cx="3790" cy="2591"/>
          </a:xfrm>
        </p:grpSpPr>
        <p:sp>
          <p:nvSpPr>
            <p:cNvPr id="50186" name="AutoShape 16"/>
            <p:cNvSpPr>
              <a:spLocks noChangeArrowheads="1"/>
            </p:cNvSpPr>
            <p:nvPr/>
          </p:nvSpPr>
          <p:spPr bwMode="auto">
            <a:xfrm>
              <a:off x="1755" y="2737"/>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87" name="AutoShape 17"/>
            <p:cNvSpPr>
              <a:spLocks noChangeArrowheads="1"/>
            </p:cNvSpPr>
            <p:nvPr/>
          </p:nvSpPr>
          <p:spPr bwMode="auto">
            <a:xfrm>
              <a:off x="1633" y="2615"/>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88" name="AutoShape 18"/>
            <p:cNvSpPr>
              <a:spLocks noChangeArrowheads="1"/>
            </p:cNvSpPr>
            <p:nvPr/>
          </p:nvSpPr>
          <p:spPr bwMode="auto">
            <a:xfrm>
              <a:off x="1948" y="2630"/>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89" name="AutoShape 19"/>
            <p:cNvSpPr>
              <a:spLocks noChangeArrowheads="1"/>
            </p:cNvSpPr>
            <p:nvPr/>
          </p:nvSpPr>
          <p:spPr bwMode="auto">
            <a:xfrm>
              <a:off x="1797" y="2416"/>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90" name="AutoShape 20"/>
            <p:cNvSpPr>
              <a:spLocks noChangeArrowheads="1"/>
            </p:cNvSpPr>
            <p:nvPr/>
          </p:nvSpPr>
          <p:spPr bwMode="auto">
            <a:xfrm>
              <a:off x="1575" y="2757"/>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91" name="AutoShape 21"/>
            <p:cNvSpPr>
              <a:spLocks noChangeArrowheads="1"/>
            </p:cNvSpPr>
            <p:nvPr/>
          </p:nvSpPr>
          <p:spPr bwMode="auto">
            <a:xfrm>
              <a:off x="1662" y="2462"/>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92" name="AutoShape 22"/>
            <p:cNvSpPr>
              <a:spLocks noChangeArrowheads="1"/>
            </p:cNvSpPr>
            <p:nvPr/>
          </p:nvSpPr>
          <p:spPr bwMode="auto">
            <a:xfrm>
              <a:off x="3169" y="2124"/>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93" name="AutoShape 23"/>
            <p:cNvSpPr>
              <a:spLocks noChangeArrowheads="1"/>
            </p:cNvSpPr>
            <p:nvPr/>
          </p:nvSpPr>
          <p:spPr bwMode="auto">
            <a:xfrm>
              <a:off x="3100" y="2521"/>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94" name="AutoShape 24"/>
            <p:cNvSpPr>
              <a:spLocks noChangeArrowheads="1"/>
            </p:cNvSpPr>
            <p:nvPr/>
          </p:nvSpPr>
          <p:spPr bwMode="auto">
            <a:xfrm>
              <a:off x="3333" y="2298"/>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95" name="AutoShape 25"/>
            <p:cNvSpPr>
              <a:spLocks noChangeArrowheads="1"/>
            </p:cNvSpPr>
            <p:nvPr/>
          </p:nvSpPr>
          <p:spPr bwMode="auto">
            <a:xfrm>
              <a:off x="3010" y="2339"/>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96" name="AutoShape 26"/>
            <p:cNvSpPr>
              <a:spLocks noChangeArrowheads="1"/>
            </p:cNvSpPr>
            <p:nvPr/>
          </p:nvSpPr>
          <p:spPr bwMode="auto">
            <a:xfrm>
              <a:off x="3706" y="2372"/>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97" name="AutoShape 27"/>
            <p:cNvSpPr>
              <a:spLocks noChangeArrowheads="1"/>
            </p:cNvSpPr>
            <p:nvPr/>
          </p:nvSpPr>
          <p:spPr bwMode="auto">
            <a:xfrm>
              <a:off x="3594" y="2568"/>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98" name="Rectangle 28"/>
            <p:cNvSpPr>
              <a:spLocks noChangeArrowheads="1"/>
            </p:cNvSpPr>
            <p:nvPr/>
          </p:nvSpPr>
          <p:spPr bwMode="auto">
            <a:xfrm>
              <a:off x="1028" y="1418"/>
              <a:ext cx="3790" cy="259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199" name="AutoShape 29"/>
            <p:cNvSpPr>
              <a:spLocks noChangeArrowheads="1"/>
            </p:cNvSpPr>
            <p:nvPr/>
          </p:nvSpPr>
          <p:spPr bwMode="auto">
            <a:xfrm>
              <a:off x="1963" y="2828"/>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00" name="AutoShape 30"/>
            <p:cNvSpPr>
              <a:spLocks noChangeArrowheads="1"/>
            </p:cNvSpPr>
            <p:nvPr/>
          </p:nvSpPr>
          <p:spPr bwMode="auto">
            <a:xfrm>
              <a:off x="2359" y="2851"/>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01" name="AutoShape 31"/>
            <p:cNvSpPr>
              <a:spLocks noChangeArrowheads="1"/>
            </p:cNvSpPr>
            <p:nvPr/>
          </p:nvSpPr>
          <p:spPr bwMode="auto">
            <a:xfrm>
              <a:off x="3380" y="2616"/>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02" name="AutoShape 32"/>
            <p:cNvSpPr>
              <a:spLocks noChangeArrowheads="1"/>
            </p:cNvSpPr>
            <p:nvPr/>
          </p:nvSpPr>
          <p:spPr bwMode="auto">
            <a:xfrm>
              <a:off x="2819" y="2928"/>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03" name="AutoShape 33"/>
            <p:cNvSpPr>
              <a:spLocks noChangeArrowheads="1"/>
            </p:cNvSpPr>
            <p:nvPr/>
          </p:nvSpPr>
          <p:spPr bwMode="auto">
            <a:xfrm>
              <a:off x="2651" y="3242"/>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04" name="AutoShape 34"/>
            <p:cNvSpPr>
              <a:spLocks noChangeArrowheads="1"/>
            </p:cNvSpPr>
            <p:nvPr/>
          </p:nvSpPr>
          <p:spPr bwMode="auto">
            <a:xfrm>
              <a:off x="2746" y="3110"/>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05" name="AutoShape 35"/>
            <p:cNvSpPr>
              <a:spLocks noChangeArrowheads="1"/>
            </p:cNvSpPr>
            <p:nvPr/>
          </p:nvSpPr>
          <p:spPr bwMode="auto">
            <a:xfrm>
              <a:off x="2070" y="2452"/>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06" name="AutoShape 36"/>
            <p:cNvSpPr>
              <a:spLocks noChangeArrowheads="1"/>
            </p:cNvSpPr>
            <p:nvPr/>
          </p:nvSpPr>
          <p:spPr bwMode="auto">
            <a:xfrm>
              <a:off x="2466" y="3057"/>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07" name="AutoShape 37"/>
            <p:cNvSpPr>
              <a:spLocks noChangeArrowheads="1"/>
            </p:cNvSpPr>
            <p:nvPr/>
          </p:nvSpPr>
          <p:spPr bwMode="auto">
            <a:xfrm>
              <a:off x="2462" y="3208"/>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08" name="AutoShape 38"/>
            <p:cNvSpPr>
              <a:spLocks noChangeArrowheads="1"/>
            </p:cNvSpPr>
            <p:nvPr/>
          </p:nvSpPr>
          <p:spPr bwMode="auto">
            <a:xfrm>
              <a:off x="2082" y="2246"/>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09" name="AutoShape 39"/>
            <p:cNvSpPr>
              <a:spLocks noChangeArrowheads="1"/>
            </p:cNvSpPr>
            <p:nvPr/>
          </p:nvSpPr>
          <p:spPr bwMode="auto">
            <a:xfrm>
              <a:off x="2887" y="1942"/>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10" name="AutoShape 40"/>
            <p:cNvSpPr>
              <a:spLocks noChangeArrowheads="1"/>
            </p:cNvSpPr>
            <p:nvPr/>
          </p:nvSpPr>
          <p:spPr bwMode="auto">
            <a:xfrm>
              <a:off x="2001" y="2066"/>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11" name="AutoShape 41"/>
            <p:cNvSpPr>
              <a:spLocks noChangeArrowheads="1"/>
            </p:cNvSpPr>
            <p:nvPr/>
          </p:nvSpPr>
          <p:spPr bwMode="auto">
            <a:xfrm>
              <a:off x="2552" y="2752"/>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12" name="AutoShape 42"/>
            <p:cNvSpPr>
              <a:spLocks noChangeArrowheads="1"/>
            </p:cNvSpPr>
            <p:nvPr/>
          </p:nvSpPr>
          <p:spPr bwMode="auto">
            <a:xfrm>
              <a:off x="2656" y="2904"/>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13" name="AutoShape 43"/>
            <p:cNvSpPr>
              <a:spLocks noChangeArrowheads="1"/>
            </p:cNvSpPr>
            <p:nvPr/>
          </p:nvSpPr>
          <p:spPr bwMode="auto">
            <a:xfrm>
              <a:off x="2880" y="3217"/>
              <a:ext cx="90" cy="92"/>
            </a:xfrm>
            <a:prstGeom prst="flowChartConnector">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pPr eaLnBrk="1" hangingPunct="1"/>
              <a:endParaRPr lang="en-US" altLang="en-US">
                <a:solidFill>
                  <a:schemeClr val="tx1"/>
                </a:solidFill>
                <a:latin typeface="Times New Roman" panose="02020603050405020304" pitchFamily="18" charset="0"/>
              </a:endParaRPr>
            </a:p>
          </p:txBody>
        </p:sp>
        <p:sp>
          <p:nvSpPr>
            <p:cNvPr id="50214" name="Freeform 44"/>
            <p:cNvSpPr/>
            <p:nvPr/>
          </p:nvSpPr>
          <p:spPr bwMode="auto">
            <a:xfrm>
              <a:off x="2795" y="1842"/>
              <a:ext cx="1101" cy="1077"/>
            </a:xfrm>
            <a:custGeom>
              <a:avLst/>
              <a:gdLst>
                <a:gd name="T0" fmla="*/ 1041 w 1101"/>
                <a:gd name="T1" fmla="*/ 294 h 1077"/>
                <a:gd name="T2" fmla="*/ 1077 w 1101"/>
                <a:gd name="T3" fmla="*/ 485 h 1077"/>
                <a:gd name="T4" fmla="*/ 1013 w 1101"/>
                <a:gd name="T5" fmla="*/ 930 h 1077"/>
                <a:gd name="T6" fmla="*/ 950 w 1101"/>
                <a:gd name="T7" fmla="*/ 1040 h 1077"/>
                <a:gd name="T8" fmla="*/ 850 w 1101"/>
                <a:gd name="T9" fmla="*/ 1076 h 1077"/>
                <a:gd name="T10" fmla="*/ 595 w 1101"/>
                <a:gd name="T11" fmla="*/ 1040 h 1077"/>
                <a:gd name="T12" fmla="*/ 486 w 1101"/>
                <a:gd name="T13" fmla="*/ 994 h 1077"/>
                <a:gd name="T14" fmla="*/ 459 w 1101"/>
                <a:gd name="T15" fmla="*/ 985 h 1077"/>
                <a:gd name="T16" fmla="*/ 322 w 1101"/>
                <a:gd name="T17" fmla="*/ 876 h 1077"/>
                <a:gd name="T18" fmla="*/ 232 w 1101"/>
                <a:gd name="T19" fmla="*/ 803 h 1077"/>
                <a:gd name="T20" fmla="*/ 104 w 1101"/>
                <a:gd name="T21" fmla="*/ 685 h 1077"/>
                <a:gd name="T22" fmla="*/ 4 w 1101"/>
                <a:gd name="T23" fmla="*/ 449 h 1077"/>
                <a:gd name="T24" fmla="*/ 13 w 1101"/>
                <a:gd name="T25" fmla="*/ 130 h 1077"/>
                <a:gd name="T26" fmla="*/ 186 w 1101"/>
                <a:gd name="T27" fmla="*/ 21 h 1077"/>
                <a:gd name="T28" fmla="*/ 222 w 1101"/>
                <a:gd name="T29" fmla="*/ 12 h 1077"/>
                <a:gd name="T30" fmla="*/ 422 w 1101"/>
                <a:gd name="T31" fmla="*/ 30 h 1077"/>
                <a:gd name="T32" fmla="*/ 577 w 1101"/>
                <a:gd name="T33" fmla="*/ 103 h 1077"/>
                <a:gd name="T34" fmla="*/ 695 w 1101"/>
                <a:gd name="T35" fmla="*/ 176 h 1077"/>
                <a:gd name="T36" fmla="*/ 768 w 1101"/>
                <a:gd name="T37" fmla="*/ 203 h 1077"/>
                <a:gd name="T38" fmla="*/ 1041 w 1101"/>
                <a:gd name="T39" fmla="*/ 294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15" name="Freeform 45"/>
            <p:cNvSpPr/>
            <p:nvPr/>
          </p:nvSpPr>
          <p:spPr bwMode="auto">
            <a:xfrm>
              <a:off x="2291" y="2591"/>
              <a:ext cx="918" cy="965"/>
            </a:xfrm>
            <a:custGeom>
              <a:avLst/>
              <a:gdLst>
                <a:gd name="T0" fmla="*/ 227 w 918"/>
                <a:gd name="T1" fmla="*/ 818 h 965"/>
                <a:gd name="T2" fmla="*/ 191 w 918"/>
                <a:gd name="T3" fmla="*/ 782 h 965"/>
                <a:gd name="T4" fmla="*/ 118 w 918"/>
                <a:gd name="T5" fmla="*/ 737 h 965"/>
                <a:gd name="T6" fmla="*/ 81 w 918"/>
                <a:gd name="T7" fmla="*/ 700 h 965"/>
                <a:gd name="T8" fmla="*/ 45 w 918"/>
                <a:gd name="T9" fmla="*/ 646 h 965"/>
                <a:gd name="T10" fmla="*/ 0 w 918"/>
                <a:gd name="T11" fmla="*/ 464 h 965"/>
                <a:gd name="T12" fmla="*/ 9 w 918"/>
                <a:gd name="T13" fmla="*/ 200 h 965"/>
                <a:gd name="T14" fmla="*/ 81 w 918"/>
                <a:gd name="T15" fmla="*/ 136 h 965"/>
                <a:gd name="T16" fmla="*/ 291 w 918"/>
                <a:gd name="T17" fmla="*/ 0 h 965"/>
                <a:gd name="T18" fmla="*/ 391 w 918"/>
                <a:gd name="T19" fmla="*/ 18 h 965"/>
                <a:gd name="T20" fmla="*/ 491 w 918"/>
                <a:gd name="T21" fmla="*/ 55 h 965"/>
                <a:gd name="T22" fmla="*/ 691 w 918"/>
                <a:gd name="T23" fmla="*/ 164 h 965"/>
                <a:gd name="T24" fmla="*/ 718 w 918"/>
                <a:gd name="T25" fmla="*/ 218 h 965"/>
                <a:gd name="T26" fmla="*/ 745 w 918"/>
                <a:gd name="T27" fmla="*/ 246 h 965"/>
                <a:gd name="T28" fmla="*/ 809 w 918"/>
                <a:gd name="T29" fmla="*/ 346 h 965"/>
                <a:gd name="T30" fmla="*/ 845 w 918"/>
                <a:gd name="T31" fmla="*/ 427 h 965"/>
                <a:gd name="T32" fmla="*/ 863 w 918"/>
                <a:gd name="T33" fmla="*/ 518 h 965"/>
                <a:gd name="T34" fmla="*/ 890 w 918"/>
                <a:gd name="T35" fmla="*/ 609 h 965"/>
                <a:gd name="T36" fmla="*/ 918 w 918"/>
                <a:gd name="T37" fmla="*/ 773 h 965"/>
                <a:gd name="T38" fmla="*/ 827 w 918"/>
                <a:gd name="T39" fmla="*/ 927 h 965"/>
                <a:gd name="T40" fmla="*/ 754 w 918"/>
                <a:gd name="T41" fmla="*/ 946 h 965"/>
                <a:gd name="T42" fmla="*/ 718 w 918"/>
                <a:gd name="T43" fmla="*/ 955 h 965"/>
                <a:gd name="T44" fmla="*/ 354 w 918"/>
                <a:gd name="T45" fmla="*/ 937 h 965"/>
                <a:gd name="T46" fmla="*/ 245 w 918"/>
                <a:gd name="T47" fmla="*/ 864 h 965"/>
                <a:gd name="T48" fmla="*/ 227 w 918"/>
                <a:gd name="T49" fmla="*/ 81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16" name="Freeform 46"/>
            <p:cNvSpPr/>
            <p:nvPr/>
          </p:nvSpPr>
          <p:spPr bwMode="auto">
            <a:xfrm>
              <a:off x="1473" y="1882"/>
              <a:ext cx="869" cy="1173"/>
            </a:xfrm>
            <a:custGeom>
              <a:avLst/>
              <a:gdLst>
                <a:gd name="T0" fmla="*/ 754 w 869"/>
                <a:gd name="T1" fmla="*/ 791 h 1173"/>
                <a:gd name="T2" fmla="*/ 699 w 869"/>
                <a:gd name="T3" fmla="*/ 945 h 1173"/>
                <a:gd name="T4" fmla="*/ 654 w 869"/>
                <a:gd name="T5" fmla="*/ 1082 h 1173"/>
                <a:gd name="T6" fmla="*/ 636 w 869"/>
                <a:gd name="T7" fmla="*/ 1136 h 1173"/>
                <a:gd name="T8" fmla="*/ 618 w 869"/>
                <a:gd name="T9" fmla="*/ 1155 h 1173"/>
                <a:gd name="T10" fmla="*/ 563 w 869"/>
                <a:gd name="T11" fmla="*/ 1173 h 1173"/>
                <a:gd name="T12" fmla="*/ 290 w 869"/>
                <a:gd name="T13" fmla="*/ 1145 h 1173"/>
                <a:gd name="T14" fmla="*/ 127 w 869"/>
                <a:gd name="T15" fmla="*/ 1073 h 1173"/>
                <a:gd name="T16" fmla="*/ 36 w 869"/>
                <a:gd name="T17" fmla="*/ 1009 h 1173"/>
                <a:gd name="T18" fmla="*/ 0 w 869"/>
                <a:gd name="T19" fmla="*/ 955 h 1173"/>
                <a:gd name="T20" fmla="*/ 81 w 869"/>
                <a:gd name="T21" fmla="*/ 500 h 1173"/>
                <a:gd name="T22" fmla="*/ 109 w 869"/>
                <a:gd name="T23" fmla="*/ 236 h 1173"/>
                <a:gd name="T24" fmla="*/ 154 w 869"/>
                <a:gd name="T25" fmla="*/ 164 h 1173"/>
                <a:gd name="T26" fmla="*/ 200 w 869"/>
                <a:gd name="T27" fmla="*/ 136 h 1173"/>
                <a:gd name="T28" fmla="*/ 309 w 869"/>
                <a:gd name="T29" fmla="*/ 73 h 1173"/>
                <a:gd name="T30" fmla="*/ 354 w 869"/>
                <a:gd name="T31" fmla="*/ 45 h 1173"/>
                <a:gd name="T32" fmla="*/ 427 w 869"/>
                <a:gd name="T33" fmla="*/ 0 h 1173"/>
                <a:gd name="T34" fmla="*/ 709 w 869"/>
                <a:gd name="T35" fmla="*/ 82 h 1173"/>
                <a:gd name="T36" fmla="*/ 809 w 869"/>
                <a:gd name="T37" fmla="*/ 200 h 1173"/>
                <a:gd name="T38" fmla="*/ 845 w 869"/>
                <a:gd name="T39" fmla="*/ 255 h 1173"/>
                <a:gd name="T40" fmla="*/ 863 w 869"/>
                <a:gd name="T41" fmla="*/ 309 h 1173"/>
                <a:gd name="T42" fmla="*/ 790 w 869"/>
                <a:gd name="T43" fmla="*/ 709 h 1173"/>
                <a:gd name="T44" fmla="*/ 754 w 869"/>
                <a:gd name="T45" fmla="*/ 791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 name="Title 1"/>
          <p:cNvSpPr>
            <a:spLocks noGrp="1"/>
          </p:cNvSpPr>
          <p:nvPr>
            <p:ph type="title"/>
          </p:nvPr>
        </p:nvSpPr>
        <p:spPr/>
        <p:txBody>
          <a:bodyPr/>
          <a:lstStyle/>
          <a:p>
            <a:r>
              <a:rPr lang="en-US" dirty="0"/>
              <a:t>Clustering</a:t>
            </a:r>
          </a:p>
        </p:txBody>
      </p:sp>
    </p:spTree>
  </p:cSld>
  <p:clrMapOvr>
    <a:masterClrMapping/>
  </p:clrMapOvr>
  <p:transition>
    <p:checke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Data Integration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Data integration</a:t>
            </a:r>
          </a:p>
        </p:txBody>
      </p:sp>
      <p:sp>
        <p:nvSpPr>
          <p:cNvPr id="5" name="Content Placeholder 4"/>
          <p:cNvSpPr>
            <a:spLocks noGrp="1"/>
          </p:cNvSpPr>
          <p:nvPr>
            <p:ph idx="1"/>
          </p:nvPr>
        </p:nvSpPr>
        <p:spPr>
          <a:xfrm>
            <a:off x="406400" y="1889760"/>
            <a:ext cx="11204407" cy="4775200"/>
          </a:xfrm>
        </p:spPr>
        <p:txBody>
          <a:bodyPr>
            <a:normAutofit/>
          </a:bodyPr>
          <a:lstStyle/>
          <a:p>
            <a:pPr marL="0" indent="0" algn="ctr">
              <a:lnSpc>
                <a:spcPct val="90000"/>
              </a:lnSpc>
              <a:buNone/>
            </a:pPr>
            <a:r>
              <a:rPr lang="en-US" altLang="en-US" sz="3200" b="1" dirty="0"/>
              <a:t>Merging of data from multiple sources</a:t>
            </a:r>
          </a:p>
          <a:p>
            <a:pPr marL="0" indent="0">
              <a:lnSpc>
                <a:spcPct val="90000"/>
              </a:lnSpc>
              <a:buNone/>
            </a:pPr>
            <a:endParaRPr lang="en-US" altLang="en-US" sz="3200" b="1" dirty="0"/>
          </a:p>
          <a:p>
            <a:pPr marL="0" indent="0">
              <a:lnSpc>
                <a:spcPct val="90000"/>
              </a:lnSpc>
              <a:buNone/>
            </a:pPr>
            <a:endParaRPr lang="en-US" altLang="en-US" sz="3200" b="1" dirty="0"/>
          </a:p>
          <a:p>
            <a:pPr>
              <a:lnSpc>
                <a:spcPct val="90000"/>
              </a:lnSpc>
            </a:pPr>
            <a:r>
              <a:rPr lang="en-US" altLang="en-US" sz="2800" dirty="0"/>
              <a:t>Schema integration</a:t>
            </a:r>
          </a:p>
          <a:p>
            <a:pPr marL="742950" lvl="1" indent="-285750">
              <a:lnSpc>
                <a:spcPct val="90000"/>
              </a:lnSpc>
            </a:pPr>
            <a:r>
              <a:rPr lang="en-US" altLang="en-US" sz="2400" dirty="0"/>
              <a:t>integrate metadata from different sources</a:t>
            </a:r>
          </a:p>
          <a:p>
            <a:pPr>
              <a:lnSpc>
                <a:spcPct val="90000"/>
              </a:lnSpc>
            </a:pPr>
            <a:r>
              <a:rPr lang="en-US" altLang="en-US" sz="2800" dirty="0"/>
              <a:t>Detecting and resolving data value conflicts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Entity identification problem</a:t>
            </a:r>
          </a:p>
        </p:txBody>
      </p:sp>
      <p:sp>
        <p:nvSpPr>
          <p:cNvPr id="3" name="Content Placeholder 2"/>
          <p:cNvSpPr>
            <a:spLocks noGrp="1"/>
          </p:cNvSpPr>
          <p:nvPr>
            <p:ph idx="1"/>
          </p:nvPr>
        </p:nvSpPr>
        <p:spPr/>
        <p:txBody>
          <a:bodyPr>
            <a:normAutofit/>
          </a:bodyPr>
          <a:lstStyle/>
          <a:p>
            <a:pPr marL="0" indent="0">
              <a:buNone/>
            </a:pPr>
            <a:r>
              <a:rPr lang="en-US" sz="2800" dirty="0"/>
              <a:t>How can equivalent real-world entities from multiple data sources be matched up?</a:t>
            </a:r>
          </a:p>
          <a:p>
            <a:r>
              <a:rPr lang="en-US" sz="2800" dirty="0"/>
              <a:t>Schema Integration</a:t>
            </a:r>
          </a:p>
          <a:p>
            <a:r>
              <a:rPr lang="en-US" sz="2800" dirty="0"/>
              <a:t>Object matching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handle identification problem</a:t>
            </a:r>
          </a:p>
        </p:txBody>
      </p:sp>
      <p:sp>
        <p:nvSpPr>
          <p:cNvPr id="3" name="Content Placeholder 2"/>
          <p:cNvSpPr>
            <a:spLocks noGrp="1"/>
          </p:cNvSpPr>
          <p:nvPr>
            <p:ph idx="1"/>
          </p:nvPr>
        </p:nvSpPr>
        <p:spPr/>
        <p:txBody>
          <a:bodyPr>
            <a:normAutofit/>
          </a:bodyPr>
          <a:lstStyle/>
          <a:p>
            <a:r>
              <a:rPr lang="en-US" sz="2400" dirty="0"/>
              <a:t>Using meta-data associated with attributes (name, meaning, data type, and value range)</a:t>
            </a:r>
          </a:p>
          <a:p>
            <a:pPr lvl="1"/>
            <a:r>
              <a:rPr lang="en-US" sz="2000" dirty="0"/>
              <a:t>It also supports data transformation, especially with varying data codes.</a:t>
            </a:r>
          </a:p>
          <a:p>
            <a:pPr lvl="1"/>
            <a:endParaRPr lang="en-US" sz="2000" dirty="0"/>
          </a:p>
          <a:p>
            <a:r>
              <a:rPr lang="en-US" sz="2400" dirty="0"/>
              <a:t>Consider Data Structure when matching attributes</a:t>
            </a:r>
          </a:p>
          <a:p>
            <a:pPr lvl="1"/>
            <a:r>
              <a:rPr lang="en-US" sz="2000" dirty="0"/>
              <a:t>functional dependencies and referential constraints must align between sources. </a:t>
            </a:r>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Redundancy</a:t>
            </a:r>
          </a:p>
        </p:txBody>
      </p:sp>
      <p:sp>
        <p:nvSpPr>
          <p:cNvPr id="3" name="Content Placeholder 2"/>
          <p:cNvSpPr>
            <a:spLocks noGrp="1"/>
          </p:cNvSpPr>
          <p:nvPr>
            <p:ph idx="1"/>
          </p:nvPr>
        </p:nvSpPr>
        <p:spPr>
          <a:xfrm>
            <a:off x="396240" y="2180496"/>
            <a:ext cx="11214567" cy="4291424"/>
          </a:xfrm>
        </p:spPr>
        <p:txBody>
          <a:bodyPr>
            <a:normAutofit/>
          </a:bodyPr>
          <a:lstStyle/>
          <a:p>
            <a:r>
              <a:rPr lang="en-US" altLang="en-US" sz="2800" dirty="0"/>
              <a:t>Data redundancy occurs when the same piece of data is stored in two or more separate places</a:t>
            </a:r>
          </a:p>
          <a:p>
            <a:pPr marL="0" indent="0">
              <a:buNone/>
            </a:pPr>
            <a:endParaRPr lang="en-US" altLang="en-US" sz="2800" dirty="0"/>
          </a:p>
          <a:p>
            <a:pPr lvl="1"/>
            <a:r>
              <a:rPr lang="en-US" sz="2600" dirty="0"/>
              <a:t>An attribute may be redundant if it can be “derived” from another attribute</a:t>
            </a:r>
          </a:p>
          <a:p>
            <a:pPr lvl="1"/>
            <a:r>
              <a:rPr lang="en-US" sz="2600" dirty="0"/>
              <a:t>Inconsistencies in attribute or dimension naming can also cause redundancies</a:t>
            </a:r>
          </a:p>
          <a:p>
            <a:pPr marL="323850" lvl="1" indent="0">
              <a:buNone/>
            </a:pPr>
            <a:r>
              <a:rPr lang="en-US" sz="2600" dirty="0"/>
              <a:t> </a:t>
            </a:r>
          </a:p>
          <a:p>
            <a:r>
              <a:rPr lang="en-US" sz="2800" dirty="0"/>
              <a:t>Some redundancies can be detected by correlation analysis.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Correlation analysis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6080" y="2180496"/>
                <a:ext cx="11224727" cy="4464144"/>
              </a:xfrm>
            </p:spPr>
            <p:txBody>
              <a:bodyPr>
                <a:normAutofit/>
              </a:bodyPr>
              <a:lstStyle/>
              <a:p>
                <a:r>
                  <a:rPr lang="en-US" sz="3200" dirty="0"/>
                  <a:t>Given two attributes, such analysis can measure how strongly one attribute implies the other, based on the available data.</a:t>
                </a:r>
              </a:p>
              <a:p>
                <a:pPr lvl="1"/>
                <a:r>
                  <a:rPr lang="en-US" sz="2800" dirty="0"/>
                  <a:t>For nominal data:  </a:t>
                </a:r>
              </a:p>
              <a:p>
                <a:pPr lvl="2"/>
                <a:r>
                  <a:rPr lang="en-US" sz="2400" dirty="0"/>
                  <a:t>χ</a:t>
                </a:r>
                <a14:m>
                  <m:oMath xmlns:m="http://schemas.openxmlformats.org/officeDocument/2006/math">
                    <m:r>
                      <a:rPr lang="en-US" sz="2400" b="0" i="1" smtClean="0">
                        <a:latin typeface="Cambria Math" panose="02040503050406030204" pitchFamily="18" charset="0"/>
                      </a:rPr>
                      <m:t>2</m:t>
                    </m:r>
                  </m:oMath>
                </a14:m>
                <a:r>
                  <a:rPr lang="en-US" sz="2400" dirty="0"/>
                  <a:t> (chi-square) test </a:t>
                </a:r>
              </a:p>
              <a:p>
                <a:pPr lvl="1"/>
                <a:r>
                  <a:rPr lang="en-US" sz="2800" dirty="0"/>
                  <a:t>For numeric attributes: </a:t>
                </a:r>
              </a:p>
              <a:p>
                <a:pPr lvl="2"/>
                <a:r>
                  <a:rPr lang="en-US" sz="2400" dirty="0"/>
                  <a:t>correlation coefficient </a:t>
                </a:r>
              </a:p>
              <a:p>
                <a:pPr lvl="2"/>
                <a:r>
                  <a:rPr lang="en-US" sz="2400" dirty="0"/>
                  <a:t>covariance,</a:t>
                </a:r>
              </a:p>
              <a:p>
                <a:endParaRPr lang="en-US" sz="32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xfrm>
                <a:off x="386080" y="2180496"/>
                <a:ext cx="11224727" cy="4464144"/>
              </a:xfrm>
              <a:blipFill rotWithShape="1">
                <a:blip r:embed="rId2"/>
                <a:stretch>
                  <a:fillRect t="-12" r="4"/>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14:m>
                  <m:oMath xmlns:m="http://schemas.openxmlformats.org/officeDocument/2006/math">
                    <m:sSup>
                      <m:sSupPr>
                        <m:ctrlPr>
                          <a:rPr lang="el-GR" i="1" smtClean="0">
                            <a:latin typeface="Cambria Math" panose="02040503050406030204" pitchFamily="18" charset="0"/>
                          </a:rPr>
                        </m:ctrlPr>
                      </m:sSupPr>
                      <m:e>
                        <m:r>
                          <a:rPr lang="en-US" b="0" i="1" smtClean="0">
                            <a:latin typeface="Cambria Math" panose="02040503050406030204" pitchFamily="18" charset="0"/>
                          </a:rPr>
                          <m:t>𝑋</m:t>
                        </m:r>
                      </m:e>
                      <m:sup>
                        <m:r>
                          <a:rPr lang="el-GR" i="1" smtClean="0">
                            <a:latin typeface="Cambria Math" panose="02040503050406030204" pitchFamily="18" charset="0"/>
                          </a:rPr>
                          <m:t>2</m:t>
                        </m:r>
                      </m:sup>
                    </m:sSup>
                  </m:oMath>
                </a14:m>
                <a:r>
                  <a:rPr lang="el-GR" dirty="0"/>
                  <a:t> </a:t>
                </a:r>
                <a:r>
                  <a:rPr lang="en-US" dirty="0"/>
                  <a:t>Correlation Test</a:t>
                </a:r>
              </a:p>
            </p:txBody>
          </p:sp>
        </mc:Choice>
        <mc:Fallback xmlns="">
          <p:sp>
            <p:nvSpPr>
              <p:cNvPr id="2" name="Title 1"/>
              <p:cNvSpPr>
                <a:spLocks noRot="1" noChangeAspect="1" noMove="1" noResize="1" noEditPoints="1" noAdjustHandles="1" noChangeArrowheads="1" noChangeShapeType="1" noTextEdit="1"/>
              </p:cNvSpPr>
              <p:nvPr>
                <p:ph type="title"/>
              </p:nvPr>
            </p:nvSpPr>
            <p:spPr>
              <a:blipFill rotWithShape="1">
                <a:blip r:embed="rId3"/>
                <a:stretch>
                  <a:fillRect l="-2" t="-47" r="4" b="18"/>
                </a:stretch>
              </a:blipFill>
            </p:spPr>
            <p:txBody>
              <a:bodyPr/>
              <a:lstStyle/>
              <a:p>
                <a:r>
                  <a:rPr lang="en-US" altLang="en-US">
                    <a:noFill/>
                  </a:rPr>
                  <a:t> </a:t>
                </a:r>
              </a:p>
            </p:txBody>
          </p:sp>
        </mc:Fallback>
      </mc:AlternateContent>
      <p:sp>
        <p:nvSpPr>
          <p:cNvPr id="3" name="Content Placeholder 2"/>
          <p:cNvSpPr>
            <a:spLocks noGrp="1"/>
          </p:cNvSpPr>
          <p:nvPr>
            <p:ph idx="1"/>
          </p:nvPr>
        </p:nvSpPr>
        <p:spPr>
          <a:xfrm>
            <a:off x="396240" y="1899920"/>
            <a:ext cx="11214567" cy="4714240"/>
          </a:xfrm>
        </p:spPr>
        <p:txBody>
          <a:bodyPr>
            <a:normAutofit/>
          </a:bodyPr>
          <a:lstStyle/>
          <a:p>
            <a:pPr marL="342900" indent="-342900">
              <a:buAutoNum type="arabicParenR"/>
            </a:pPr>
            <a:r>
              <a:rPr lang="en-US" sz="2400" dirty="0"/>
              <a:t>Create a contingency table for any two attributes.</a:t>
            </a:r>
          </a:p>
          <a:p>
            <a:pPr marL="342900" indent="-342900">
              <a:buAutoNum type="arabicParenR"/>
            </a:pPr>
            <a:r>
              <a:rPr lang="en-US" sz="2400" dirty="0"/>
              <a:t> State hypothesis </a:t>
            </a:r>
          </a:p>
          <a:p>
            <a:pPr marL="342900" indent="-342900">
              <a:buAutoNum type="arabicParenR"/>
            </a:pPr>
            <a:r>
              <a:rPr lang="en-US" sz="2400" dirty="0"/>
              <a:t>Alpha value is selected (significance value)</a:t>
            </a:r>
          </a:p>
          <a:p>
            <a:pPr marL="342900" indent="-342900">
              <a:buAutoNum type="arabicParenR"/>
            </a:pPr>
            <a:r>
              <a:rPr lang="en-US" sz="2400" dirty="0"/>
              <a:t>Calculate expected values</a:t>
            </a:r>
          </a:p>
          <a:p>
            <a:pPr marL="342900" indent="-342900">
              <a:buAutoNum type="arabicParenR"/>
            </a:pPr>
            <a:r>
              <a:rPr lang="en-US" sz="2400" dirty="0"/>
              <a:t>If calculated value chi-square is less than or equal to the critical/tabular value, then the attributes are not correlated.</a:t>
            </a:r>
          </a:p>
          <a:p>
            <a:pPr marL="0" indent="0">
              <a:buNone/>
            </a:pPr>
            <a:endParaRPr lang="en-US" sz="2400" dirty="0"/>
          </a:p>
          <a:p>
            <a:pPr marL="0" indent="0">
              <a:buNone/>
            </a:pPr>
            <a:endParaRPr lang="en-US" sz="2400" dirty="0"/>
          </a:p>
          <a:p>
            <a:pPr marL="0" indent="0">
              <a:buNone/>
            </a:pPr>
            <a:endParaRPr lang="en-US" sz="2400" dirty="0"/>
          </a:p>
        </p:txBody>
      </p:sp>
      <p:pic>
        <p:nvPicPr>
          <p:cNvPr id="5" name="Picture 4"/>
          <p:cNvPicPr>
            <a:picLocks noChangeAspect="1"/>
          </p:cNvPicPr>
          <p:nvPr/>
        </p:nvPicPr>
        <p:blipFill>
          <a:blip r:embed="rId4"/>
          <a:stretch>
            <a:fillRect/>
          </a:stretch>
        </p:blipFill>
        <p:spPr>
          <a:xfrm>
            <a:off x="794321" y="5230094"/>
            <a:ext cx="2716042" cy="948459"/>
          </a:xfrm>
          <a:prstGeom prst="rect">
            <a:avLst/>
          </a:prstGeom>
        </p:spPr>
      </p:pic>
      <p:pic>
        <p:nvPicPr>
          <p:cNvPr id="6" name="Picture 5"/>
          <p:cNvPicPr>
            <a:picLocks noChangeAspect="1"/>
          </p:cNvPicPr>
          <p:nvPr/>
        </p:nvPicPr>
        <p:blipFill>
          <a:blip r:embed="rId5"/>
          <a:stretch>
            <a:fillRect/>
          </a:stretch>
        </p:blipFill>
        <p:spPr>
          <a:xfrm>
            <a:off x="5168778" y="5230094"/>
            <a:ext cx="4508259" cy="94845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75170" y="638996"/>
            <a:ext cx="3200677" cy="2537680"/>
          </a:xfrm>
          <a:prstGeom prst="rect">
            <a:avLst/>
          </a:prstGeom>
        </p:spPr>
      </p:pic>
      <p:pic>
        <p:nvPicPr>
          <p:cNvPr id="5" name="Picture 4"/>
          <p:cNvPicPr>
            <a:picLocks noChangeAspect="1"/>
          </p:cNvPicPr>
          <p:nvPr/>
        </p:nvPicPr>
        <p:blipFill>
          <a:blip r:embed="rId3"/>
          <a:stretch>
            <a:fillRect/>
          </a:stretch>
        </p:blipFill>
        <p:spPr>
          <a:xfrm>
            <a:off x="366772" y="3290756"/>
            <a:ext cx="5951736" cy="2591025"/>
          </a:xfrm>
          <a:prstGeom prst="rect">
            <a:avLst/>
          </a:prstGeom>
        </p:spPr>
      </p:pic>
      <p:pic>
        <p:nvPicPr>
          <p:cNvPr id="6" name="Picture 5"/>
          <p:cNvPicPr>
            <a:picLocks noChangeAspect="1"/>
          </p:cNvPicPr>
          <p:nvPr/>
        </p:nvPicPr>
        <p:blipFill>
          <a:blip r:embed="rId4"/>
          <a:stretch>
            <a:fillRect/>
          </a:stretch>
        </p:blipFill>
        <p:spPr>
          <a:xfrm>
            <a:off x="3941998" y="902941"/>
            <a:ext cx="1889924" cy="662997"/>
          </a:xfrm>
          <a:prstGeom prst="rect">
            <a:avLst/>
          </a:prstGeom>
        </p:spPr>
      </p:pic>
      <p:pic>
        <p:nvPicPr>
          <p:cNvPr id="7" name="Picture 6"/>
          <p:cNvPicPr>
            <a:picLocks noChangeAspect="1"/>
          </p:cNvPicPr>
          <p:nvPr/>
        </p:nvPicPr>
        <p:blipFill>
          <a:blip r:embed="rId5"/>
          <a:stretch>
            <a:fillRect/>
          </a:stretch>
        </p:blipFill>
        <p:spPr>
          <a:xfrm>
            <a:off x="3840350" y="2321536"/>
            <a:ext cx="2987299" cy="548688"/>
          </a:xfrm>
          <a:prstGeom prst="rect">
            <a:avLst/>
          </a:prstGeom>
        </p:spPr>
      </p:pic>
      <p:pic>
        <p:nvPicPr>
          <p:cNvPr id="8" name="Picture 7"/>
          <p:cNvPicPr>
            <a:picLocks noChangeAspect="1"/>
          </p:cNvPicPr>
          <p:nvPr/>
        </p:nvPicPr>
        <p:blipFill rotWithShape="1">
          <a:blip r:embed="rId6"/>
          <a:srcRect l="11386"/>
          <a:stretch>
            <a:fillRect/>
          </a:stretch>
        </p:blipFill>
        <p:spPr>
          <a:xfrm>
            <a:off x="6827649" y="994406"/>
            <a:ext cx="5044466" cy="4785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cont.</a:t>
            </a:r>
          </a:p>
        </p:txBody>
      </p:sp>
      <p:sp>
        <p:nvSpPr>
          <p:cNvPr id="3" name="Content Placeholder 2"/>
          <p:cNvSpPr>
            <a:spLocks noGrp="1"/>
          </p:cNvSpPr>
          <p:nvPr>
            <p:ph idx="1"/>
          </p:nvPr>
        </p:nvSpPr>
        <p:spPr>
          <a:xfrm>
            <a:off x="581193" y="1940560"/>
            <a:ext cx="10757368" cy="1717041"/>
          </a:xfrm>
        </p:spPr>
        <p:txBody>
          <a:bodyPr>
            <a:normAutofit/>
          </a:bodyPr>
          <a:lstStyle/>
          <a:p>
            <a:pPr fontAlgn="base"/>
            <a:r>
              <a:rPr lang="en-US" sz="2000" dirty="0"/>
              <a:t>The degrees of freedom is defined as : </a:t>
            </a:r>
            <a:r>
              <a:rPr lang="en-US" sz="2000" b="1" dirty="0"/>
              <a:t>(no. of rows – 1) * (no. of columns – 1) = (2-1) * (3-1) = 2</a:t>
            </a:r>
          </a:p>
          <a:p>
            <a:pPr marL="0" indent="0" fontAlgn="base">
              <a:buNone/>
            </a:pPr>
            <a:endParaRPr lang="en-US" sz="2000" dirty="0"/>
          </a:p>
        </p:txBody>
      </p:sp>
      <p:sp>
        <p:nvSpPr>
          <p:cNvPr id="4" name="AutoShape 2" descr="Light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5" name="Picture 4"/>
          <p:cNvPicPr>
            <a:picLocks noChangeAspect="1"/>
          </p:cNvPicPr>
          <p:nvPr/>
        </p:nvPicPr>
        <p:blipFill>
          <a:blip r:embed="rId2"/>
          <a:stretch>
            <a:fillRect/>
          </a:stretch>
        </p:blipFill>
        <p:spPr>
          <a:xfrm>
            <a:off x="499759" y="2992092"/>
            <a:ext cx="5954550" cy="665509"/>
          </a:xfrm>
          <a:prstGeom prst="rect">
            <a:avLst/>
          </a:prstGeom>
        </p:spPr>
      </p:pic>
      <p:pic>
        <p:nvPicPr>
          <p:cNvPr id="1028" name="Picture 4"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3134" y="2992092"/>
            <a:ext cx="3717667" cy="33782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822960" y="3882205"/>
            <a:ext cx="4475071" cy="769441"/>
          </a:xfrm>
          <a:prstGeom prst="rect">
            <a:avLst/>
          </a:prstGeom>
          <a:noFill/>
        </p:spPr>
        <p:txBody>
          <a:bodyPr wrap="none" rtlCol="0">
            <a:spAutoFit/>
          </a:bodyPr>
          <a:lstStyle/>
          <a:p>
            <a:pPr algn="ctr"/>
            <a:r>
              <a:rPr lang="en-US" sz="2400" dirty="0"/>
              <a:t>5.991 &gt; 4.54</a:t>
            </a:r>
          </a:p>
          <a:p>
            <a:r>
              <a:rPr lang="en-US" sz="2000" dirty="0"/>
              <a:t>So we can infer that no correlation exist. </a:t>
            </a:r>
          </a:p>
        </p:txBody>
      </p:sp>
      <p:sp>
        <p:nvSpPr>
          <p:cNvPr id="7" name="TextBox 6"/>
          <p:cNvSpPr txBox="1"/>
          <p:nvPr/>
        </p:nvSpPr>
        <p:spPr>
          <a:xfrm>
            <a:off x="460375" y="5039360"/>
            <a:ext cx="4934585" cy="1200329"/>
          </a:xfrm>
          <a:prstGeom prst="rect">
            <a:avLst/>
          </a:prstGeom>
          <a:noFill/>
        </p:spPr>
        <p:txBody>
          <a:bodyPr wrap="square" rtlCol="0">
            <a:spAutoFit/>
          </a:bodyPr>
          <a:lstStyle/>
          <a:p>
            <a:r>
              <a:rPr lang="en-US" sz="2400" b="1" dirty="0">
                <a:solidFill>
                  <a:srgbClr val="3399FF"/>
                </a:solidFill>
                <a:cs typeface="Courier New" panose="02070309020205020404" pitchFamily="49" charset="0"/>
              </a:rPr>
              <a:t>Library:</a:t>
            </a:r>
            <a:r>
              <a:rPr lang="en-US" sz="2400" b="1" dirty="0">
                <a:solidFill>
                  <a:srgbClr val="3399FF"/>
                </a:solidFill>
                <a:latin typeface="Courier New" panose="02070309020205020404" pitchFamily="49" charset="0"/>
                <a:cs typeface="Courier New" panose="02070309020205020404" pitchFamily="49" charset="0"/>
              </a:rPr>
              <a:t> </a:t>
            </a:r>
            <a:r>
              <a:rPr lang="en-US" sz="2400" b="1" dirty="0" err="1">
                <a:solidFill>
                  <a:srgbClr val="3399FF"/>
                </a:solidFill>
                <a:latin typeface="Courier New" panose="02070309020205020404" pitchFamily="49" charset="0"/>
                <a:cs typeface="Courier New" panose="02070309020205020404" pitchFamily="49" charset="0"/>
              </a:rPr>
              <a:t>scipy</a:t>
            </a:r>
            <a:endParaRPr lang="en-US" sz="2400" b="1" dirty="0">
              <a:solidFill>
                <a:srgbClr val="3399FF"/>
              </a:solidFill>
              <a:latin typeface="Courier New" panose="02070309020205020404" pitchFamily="49" charset="0"/>
              <a:cs typeface="Courier New" panose="02070309020205020404" pitchFamily="49" charset="0"/>
            </a:endParaRPr>
          </a:p>
          <a:p>
            <a:r>
              <a:rPr lang="en-US" sz="2400" b="1" dirty="0">
                <a:solidFill>
                  <a:srgbClr val="3399FF"/>
                </a:solidFill>
                <a:cs typeface="Courier New" panose="02070309020205020404" pitchFamily="49" charset="0"/>
              </a:rPr>
              <a:t>Function:</a:t>
            </a:r>
            <a:r>
              <a:rPr lang="en-US" sz="2400" b="1" dirty="0">
                <a:solidFill>
                  <a:srgbClr val="3399FF"/>
                </a:solidFill>
                <a:latin typeface="Courier New" panose="02070309020205020404" pitchFamily="49" charset="0"/>
                <a:cs typeface="Courier New" panose="02070309020205020404" pitchFamily="49" charset="0"/>
              </a:rPr>
              <a:t> chi2_contingency</a:t>
            </a:r>
          </a:p>
          <a:p>
            <a:endParaRPr lang="en-US" sz="2400" b="1" dirty="0">
              <a:solidFill>
                <a:srgbClr val="3399FF"/>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Covariance </a:t>
            </a:r>
          </a:p>
        </p:txBody>
      </p:sp>
      <p:sp>
        <p:nvSpPr>
          <p:cNvPr id="3" name="Content Placeholder 2"/>
          <p:cNvSpPr>
            <a:spLocks noGrp="1"/>
          </p:cNvSpPr>
          <p:nvPr>
            <p:ph idx="1"/>
          </p:nvPr>
        </p:nvSpPr>
        <p:spPr/>
        <p:txBody>
          <a:bodyPr>
            <a:normAutofit/>
          </a:bodyPr>
          <a:lstStyle/>
          <a:p>
            <a:r>
              <a:rPr lang="en-US" sz="2000" dirty="0"/>
              <a:t>For assessing how much two attributes change together. </a:t>
            </a:r>
          </a:p>
          <a:p>
            <a:pPr marL="342900" indent="-342900">
              <a:buAutoNum type="arabicParenR"/>
            </a:pPr>
            <a:r>
              <a:rPr lang="en-US" sz="2000" dirty="0"/>
              <a:t>Calculate expected value for each attribute</a:t>
            </a:r>
          </a:p>
          <a:p>
            <a:pPr marL="342900" indent="-342900">
              <a:buAutoNum type="arabicParenR"/>
            </a:pPr>
            <a:r>
              <a:rPr lang="en-US" sz="2000" dirty="0"/>
              <a:t>Compute covariance </a:t>
            </a:r>
          </a:p>
          <a:p>
            <a:pPr marL="0" indent="0">
              <a:buNone/>
            </a:pPr>
            <a:r>
              <a:rPr lang="en-US" sz="2000" dirty="0"/>
              <a:t>covariance of 0 imply independence</a:t>
            </a:r>
          </a:p>
          <a:p>
            <a:endParaRPr lang="en-US" sz="2000" dirty="0"/>
          </a:p>
        </p:txBody>
      </p:sp>
      <p:pic>
        <p:nvPicPr>
          <p:cNvPr id="4" name="Picture 3"/>
          <p:cNvPicPr>
            <a:picLocks noChangeAspect="1"/>
          </p:cNvPicPr>
          <p:nvPr/>
        </p:nvPicPr>
        <p:blipFill>
          <a:blip r:embed="rId3"/>
          <a:stretch>
            <a:fillRect/>
          </a:stretch>
        </p:blipFill>
        <p:spPr>
          <a:xfrm>
            <a:off x="8163490" y="2516860"/>
            <a:ext cx="2681894" cy="948784"/>
          </a:xfrm>
          <a:prstGeom prst="rect">
            <a:avLst/>
          </a:prstGeom>
        </p:spPr>
      </p:pic>
      <p:pic>
        <p:nvPicPr>
          <p:cNvPr id="5" name="Picture 4"/>
          <p:cNvPicPr>
            <a:picLocks noChangeAspect="1"/>
          </p:cNvPicPr>
          <p:nvPr/>
        </p:nvPicPr>
        <p:blipFill>
          <a:blip r:embed="rId4"/>
          <a:stretch>
            <a:fillRect/>
          </a:stretch>
        </p:blipFill>
        <p:spPr>
          <a:xfrm>
            <a:off x="5886962" y="4083115"/>
            <a:ext cx="5532384" cy="625400"/>
          </a:xfrm>
          <a:prstGeom prst="rect">
            <a:avLst/>
          </a:prstGeom>
        </p:spPr>
      </p:pic>
      <p:pic>
        <p:nvPicPr>
          <p:cNvPr id="6" name="Picture 5"/>
          <p:cNvPicPr>
            <a:picLocks noChangeAspect="1"/>
          </p:cNvPicPr>
          <p:nvPr/>
        </p:nvPicPr>
        <p:blipFill>
          <a:blip r:embed="rId5"/>
          <a:stretch>
            <a:fillRect/>
          </a:stretch>
        </p:blipFill>
        <p:spPr>
          <a:xfrm>
            <a:off x="7892259" y="5509419"/>
            <a:ext cx="3384847" cy="5700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Picture 3"/>
          <p:cNvPicPr>
            <a:picLocks noChangeAspect="1"/>
          </p:cNvPicPr>
          <p:nvPr/>
        </p:nvPicPr>
        <p:blipFill>
          <a:blip r:embed="rId3"/>
          <a:stretch>
            <a:fillRect/>
          </a:stretch>
        </p:blipFill>
        <p:spPr>
          <a:xfrm>
            <a:off x="479592" y="1914037"/>
            <a:ext cx="3778184" cy="2254885"/>
          </a:xfrm>
          <a:prstGeom prst="rect">
            <a:avLst/>
          </a:prstGeom>
        </p:spPr>
      </p:pic>
      <p:pic>
        <p:nvPicPr>
          <p:cNvPr id="5" name="Picture 4"/>
          <p:cNvPicPr>
            <a:picLocks noChangeAspect="1"/>
          </p:cNvPicPr>
          <p:nvPr/>
        </p:nvPicPr>
        <p:blipFill>
          <a:blip r:embed="rId4"/>
          <a:stretch>
            <a:fillRect/>
          </a:stretch>
        </p:blipFill>
        <p:spPr>
          <a:xfrm>
            <a:off x="5181457" y="2065842"/>
            <a:ext cx="5138815" cy="844574"/>
          </a:xfrm>
          <a:prstGeom prst="rect">
            <a:avLst/>
          </a:prstGeom>
        </p:spPr>
      </p:pic>
      <p:pic>
        <p:nvPicPr>
          <p:cNvPr id="6" name="Picture 5"/>
          <p:cNvPicPr>
            <a:picLocks noChangeAspect="1"/>
          </p:cNvPicPr>
          <p:nvPr/>
        </p:nvPicPr>
        <p:blipFill>
          <a:blip r:embed="rId5"/>
          <a:stretch>
            <a:fillRect/>
          </a:stretch>
        </p:blipFill>
        <p:spPr>
          <a:xfrm>
            <a:off x="5181457" y="3240854"/>
            <a:ext cx="5599721" cy="872684"/>
          </a:xfrm>
          <a:prstGeom prst="rect">
            <a:avLst/>
          </a:prstGeom>
        </p:spPr>
      </p:pic>
      <p:pic>
        <p:nvPicPr>
          <p:cNvPr id="7" name="Picture 6"/>
          <p:cNvPicPr>
            <a:picLocks noChangeAspect="1"/>
          </p:cNvPicPr>
          <p:nvPr/>
        </p:nvPicPr>
        <p:blipFill>
          <a:blip r:embed="rId6"/>
          <a:stretch>
            <a:fillRect/>
          </a:stretch>
        </p:blipFill>
        <p:spPr>
          <a:xfrm>
            <a:off x="2081727" y="4443976"/>
            <a:ext cx="8218225" cy="1072904"/>
          </a:xfrm>
          <a:prstGeom prst="rect">
            <a:avLst/>
          </a:prstGeom>
        </p:spPr>
      </p:pic>
      <p:sp>
        <p:nvSpPr>
          <p:cNvPr id="10" name="TextBox 9"/>
          <p:cNvSpPr txBox="1"/>
          <p:nvPr/>
        </p:nvSpPr>
        <p:spPr>
          <a:xfrm>
            <a:off x="781029" y="5932081"/>
            <a:ext cx="11002499" cy="461665"/>
          </a:xfrm>
          <a:prstGeom prst="rect">
            <a:avLst/>
          </a:prstGeom>
          <a:noFill/>
        </p:spPr>
        <p:txBody>
          <a:bodyPr wrap="none" rtlCol="0">
            <a:spAutoFit/>
          </a:bodyPr>
          <a:lstStyle/>
          <a:p>
            <a:r>
              <a:rPr lang="en-US" sz="2400" dirty="0"/>
              <a:t>The positive covariance we can say that stock prices for both companies rise together.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Correlation coefficient</a:t>
            </a:r>
          </a:p>
        </p:txBody>
      </p:sp>
      <p:sp>
        <p:nvSpPr>
          <p:cNvPr id="3" name="Content Placeholder 2"/>
          <p:cNvSpPr>
            <a:spLocks noGrp="1"/>
          </p:cNvSpPr>
          <p:nvPr>
            <p:ph idx="1"/>
          </p:nvPr>
        </p:nvSpPr>
        <p:spPr>
          <a:xfrm>
            <a:off x="581193" y="2180496"/>
            <a:ext cx="6299284" cy="4453984"/>
          </a:xfrm>
        </p:spPr>
        <p:txBody>
          <a:bodyPr>
            <a:normAutofit/>
          </a:bodyPr>
          <a:lstStyle/>
          <a:p>
            <a:r>
              <a:rPr lang="en-US" sz="2400" dirty="0"/>
              <a:t>If r is greater than 0, then A and B are positively correlated, may indicate redundancy. </a:t>
            </a:r>
          </a:p>
          <a:p>
            <a:endParaRPr lang="en-US" sz="2400" dirty="0"/>
          </a:p>
          <a:p>
            <a:r>
              <a:rPr lang="en-US" sz="2400" dirty="0"/>
              <a:t>If the resulting value is equal to 0, then A and B are independent. </a:t>
            </a:r>
          </a:p>
          <a:p>
            <a:endParaRPr lang="en-US" sz="2400" dirty="0"/>
          </a:p>
          <a:p>
            <a:r>
              <a:rPr lang="en-US" sz="2400" dirty="0"/>
              <a:t>If the resulting value is less than 0, then A and B are negatively correlated.</a:t>
            </a:r>
          </a:p>
        </p:txBody>
      </p:sp>
      <p:pic>
        <p:nvPicPr>
          <p:cNvPr id="5" name="Picture 4"/>
          <p:cNvPicPr>
            <a:picLocks noChangeAspect="1"/>
          </p:cNvPicPr>
          <p:nvPr/>
        </p:nvPicPr>
        <p:blipFill>
          <a:blip r:embed="rId2"/>
          <a:stretch>
            <a:fillRect/>
          </a:stretch>
        </p:blipFill>
        <p:spPr>
          <a:xfrm>
            <a:off x="6791118" y="2725864"/>
            <a:ext cx="5168533" cy="1297495"/>
          </a:xfrm>
          <a:prstGeom prst="rect">
            <a:avLst/>
          </a:prstGeom>
        </p:spPr>
      </p:pic>
      <p:pic>
        <p:nvPicPr>
          <p:cNvPr id="6" name="Picture 5"/>
          <p:cNvPicPr>
            <a:picLocks noChangeAspect="1"/>
          </p:cNvPicPr>
          <p:nvPr/>
        </p:nvPicPr>
        <p:blipFill>
          <a:blip r:embed="rId3"/>
          <a:stretch>
            <a:fillRect/>
          </a:stretch>
        </p:blipFill>
        <p:spPr>
          <a:xfrm>
            <a:off x="8259046" y="4773211"/>
            <a:ext cx="2569962" cy="52011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400" b="1" dirty="0"/>
              <a:t>Data reduction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reduction</a:t>
            </a:r>
          </a:p>
        </p:txBody>
      </p:sp>
      <p:sp>
        <p:nvSpPr>
          <p:cNvPr id="3" name="Content Placeholder 2"/>
          <p:cNvSpPr>
            <a:spLocks noGrp="1"/>
          </p:cNvSpPr>
          <p:nvPr>
            <p:ph idx="1"/>
          </p:nvPr>
        </p:nvSpPr>
        <p:spPr/>
        <p:txBody>
          <a:bodyPr>
            <a:normAutofit/>
          </a:bodyPr>
          <a:lstStyle/>
          <a:p>
            <a:pPr marL="0" indent="0">
              <a:buNone/>
            </a:pPr>
            <a:r>
              <a:rPr lang="en-US" sz="2800" dirty="0"/>
              <a:t>Data reduction techniques can be applied to obtain a reduced representation of the data set.</a:t>
            </a:r>
          </a:p>
          <a:p>
            <a:pPr marL="0" indent="0">
              <a:buNone/>
            </a:pPr>
            <a:endParaRPr lang="en-US" sz="2800" dirty="0"/>
          </a:p>
          <a:p>
            <a:r>
              <a:rPr lang="en-US" sz="2800" dirty="0"/>
              <a:t>Dimensionality reduction</a:t>
            </a:r>
          </a:p>
          <a:p>
            <a:r>
              <a:rPr lang="en-US" sz="2800" dirty="0" err="1"/>
              <a:t>Numerosity</a:t>
            </a:r>
            <a:r>
              <a:rPr lang="en-US" sz="2800" dirty="0"/>
              <a:t> reduction</a:t>
            </a:r>
          </a:p>
          <a:p>
            <a:r>
              <a:rPr lang="en-US" sz="2800" dirty="0"/>
              <a:t>Data compression</a:t>
            </a:r>
          </a:p>
          <a:p>
            <a:endParaRPr lang="en-US" sz="2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dimensionality reduction</a:t>
            </a:r>
          </a:p>
        </p:txBody>
      </p:sp>
      <p:sp>
        <p:nvSpPr>
          <p:cNvPr id="3" name="Content Placeholder 2"/>
          <p:cNvSpPr>
            <a:spLocks noGrp="1"/>
          </p:cNvSpPr>
          <p:nvPr>
            <p:ph idx="1"/>
          </p:nvPr>
        </p:nvSpPr>
        <p:spPr/>
        <p:txBody>
          <a:bodyPr>
            <a:normAutofit/>
          </a:bodyPr>
          <a:lstStyle/>
          <a:p>
            <a:pPr marL="0" indent="0">
              <a:buNone/>
            </a:pPr>
            <a:r>
              <a:rPr lang="en-US" sz="2800" dirty="0"/>
              <a:t>It is the process of reducing the number of attributes under consideration.</a:t>
            </a:r>
          </a:p>
          <a:p>
            <a:pPr marL="0" indent="0">
              <a:buNone/>
            </a:pPr>
            <a:r>
              <a:rPr lang="en-US" sz="2800" dirty="0"/>
              <a:t> </a:t>
            </a:r>
          </a:p>
          <a:p>
            <a:r>
              <a:rPr lang="en-US" sz="2800" dirty="0"/>
              <a:t>Wavelet Transforms</a:t>
            </a:r>
          </a:p>
          <a:p>
            <a:r>
              <a:rPr lang="en-US" sz="2800" dirty="0"/>
              <a:t>Principal Components Analysis</a:t>
            </a:r>
          </a:p>
          <a:p>
            <a:r>
              <a:rPr lang="en-US" sz="2800" dirty="0"/>
              <a:t>Attribute Subset Selection</a:t>
            </a:r>
          </a:p>
          <a:p>
            <a:endParaRPr 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Principal component analysis</a:t>
            </a:r>
          </a:p>
        </p:txBody>
      </p:sp>
      <p:sp>
        <p:nvSpPr>
          <p:cNvPr id="3" name="Content Placeholder 2"/>
          <p:cNvSpPr>
            <a:spLocks noGrp="1"/>
          </p:cNvSpPr>
          <p:nvPr>
            <p:ph idx="1"/>
          </p:nvPr>
        </p:nvSpPr>
        <p:spPr>
          <a:xfrm>
            <a:off x="375920" y="2180496"/>
            <a:ext cx="11234887" cy="4443824"/>
          </a:xfrm>
        </p:spPr>
        <p:txBody>
          <a:bodyPr/>
          <a:lstStyle/>
          <a:p>
            <a:pPr marL="0" indent="0">
              <a:buNone/>
            </a:pPr>
            <a:r>
              <a:rPr lang="en-US" dirty="0"/>
              <a:t>Given N data vectors from n-dimensions, find k≤ n orthogonal vectors (principal components) that can be best used to represent data </a:t>
            </a:r>
          </a:p>
          <a:p>
            <a:pPr marL="0" indent="0">
              <a:buNone/>
            </a:pPr>
            <a:endParaRPr lang="en-US" dirty="0"/>
          </a:p>
          <a:p>
            <a:r>
              <a:rPr lang="en-US" dirty="0"/>
              <a:t>Normalize input data</a:t>
            </a:r>
          </a:p>
          <a:p>
            <a:r>
              <a:rPr lang="en-US" dirty="0"/>
              <a:t>Compute k orthonormal (unit) vectors, i.e., principal components</a:t>
            </a:r>
          </a:p>
          <a:p>
            <a:r>
              <a:rPr lang="en-US" dirty="0"/>
              <a:t>The principal components are sorted in order of decreasing “significance” or strength</a:t>
            </a:r>
          </a:p>
          <a:p>
            <a:r>
              <a:rPr lang="en-US" dirty="0"/>
              <a:t>Since the components are sorted, the size of the data can be reduced by eliminating the weak components </a:t>
            </a:r>
          </a:p>
          <a:p>
            <a:endParaRPr lang="en-US" dirty="0"/>
          </a:p>
          <a:p>
            <a:pPr marL="0" indent="0">
              <a:buNone/>
            </a:pPr>
            <a:r>
              <a:rPr lang="en-US" dirty="0"/>
              <a:t>Works for numeric data only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 subset selection</a:t>
            </a:r>
          </a:p>
        </p:txBody>
      </p:sp>
      <p:sp>
        <p:nvSpPr>
          <p:cNvPr id="3" name="Content Placeholder 2"/>
          <p:cNvSpPr>
            <a:spLocks noGrp="1"/>
          </p:cNvSpPr>
          <p:nvPr>
            <p:ph idx="1"/>
          </p:nvPr>
        </p:nvSpPr>
        <p:spPr>
          <a:xfrm>
            <a:off x="314960" y="2180496"/>
            <a:ext cx="11295847" cy="4525104"/>
          </a:xfrm>
        </p:spPr>
        <p:txBody>
          <a:bodyPr>
            <a:normAutofit/>
          </a:bodyPr>
          <a:lstStyle/>
          <a:p>
            <a:pPr marL="0" indent="0">
              <a:buNone/>
            </a:pPr>
            <a:r>
              <a:rPr lang="en-US" sz="2400" dirty="0"/>
              <a:t>Reduces the data set size by removing irrelevant or redundant attributes (or dimensions).</a:t>
            </a:r>
          </a:p>
          <a:p>
            <a:pPr marL="0" indent="0">
              <a:buNone/>
            </a:pPr>
            <a:endParaRPr lang="en-US" sz="2400" dirty="0"/>
          </a:p>
          <a:p>
            <a:pPr marL="0" indent="0">
              <a:buNone/>
            </a:pPr>
            <a:r>
              <a:rPr lang="en-US" sz="2400" dirty="0"/>
              <a:t>Attribute selection methods:</a:t>
            </a:r>
          </a:p>
          <a:p>
            <a:r>
              <a:rPr lang="en-US" sz="2400" dirty="0"/>
              <a:t>Best step-wise feature selection:  The best single-attribute is picked first </a:t>
            </a:r>
          </a:p>
          <a:p>
            <a:r>
              <a:rPr lang="en-US" sz="2400" dirty="0"/>
              <a:t>Step-wise attribute elimination: Repeatedly eliminate the worst attribute </a:t>
            </a:r>
          </a:p>
          <a:p>
            <a:r>
              <a:rPr lang="en-US" sz="2400" dirty="0"/>
              <a:t>Best combined attribute selection and elimination</a:t>
            </a:r>
          </a:p>
          <a:p>
            <a:r>
              <a:rPr lang="en-US" sz="2400" dirty="0"/>
              <a:t>Decision Tree Induction</a:t>
            </a:r>
          </a:p>
          <a:p>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0555" y="601784"/>
            <a:ext cx="11897267" cy="610381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Numerosity</a:t>
            </a:r>
            <a:r>
              <a:rPr lang="en-US" dirty="0"/>
              <a:t> reduction</a:t>
            </a:r>
          </a:p>
        </p:txBody>
      </p:sp>
      <p:sp>
        <p:nvSpPr>
          <p:cNvPr id="3" name="Content Placeholder 2"/>
          <p:cNvSpPr>
            <a:spLocks noGrp="1"/>
          </p:cNvSpPr>
          <p:nvPr>
            <p:ph idx="1"/>
          </p:nvPr>
        </p:nvSpPr>
        <p:spPr>
          <a:xfrm>
            <a:off x="436880" y="2180496"/>
            <a:ext cx="11173927" cy="4362544"/>
          </a:xfrm>
        </p:spPr>
        <p:txBody>
          <a:bodyPr>
            <a:normAutofit/>
          </a:bodyPr>
          <a:lstStyle/>
          <a:p>
            <a:pPr marL="0" indent="0">
              <a:buNone/>
            </a:pPr>
            <a:r>
              <a:rPr lang="en-US" sz="2800" dirty="0"/>
              <a:t>It replaces the original data volume by alternative, smaller forms of data representation.</a:t>
            </a:r>
          </a:p>
          <a:p>
            <a:pPr marL="0" indent="0">
              <a:buNone/>
            </a:pPr>
            <a:endParaRPr lang="en-US" sz="2800" dirty="0"/>
          </a:p>
          <a:p>
            <a:r>
              <a:rPr lang="en-US" sz="2800" dirty="0"/>
              <a:t>Regression</a:t>
            </a:r>
          </a:p>
          <a:p>
            <a:r>
              <a:rPr lang="en-US" sz="2800" dirty="0"/>
              <a:t>Histograms</a:t>
            </a:r>
          </a:p>
          <a:p>
            <a:r>
              <a:rPr lang="en-US" sz="2800" dirty="0"/>
              <a:t>Clustering</a:t>
            </a:r>
          </a:p>
          <a:p>
            <a:r>
              <a:rPr lang="en-US" sz="2800" dirty="0"/>
              <a:t>Sampling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Numerosity</a:t>
            </a:r>
            <a:r>
              <a:rPr lang="en-US" dirty="0"/>
              <a:t> reduction</a:t>
            </a:r>
          </a:p>
        </p:txBody>
      </p:sp>
      <p:sp>
        <p:nvSpPr>
          <p:cNvPr id="3" name="Content Placeholder 2"/>
          <p:cNvSpPr>
            <a:spLocks noGrp="1"/>
          </p:cNvSpPr>
          <p:nvPr>
            <p:ph idx="1"/>
          </p:nvPr>
        </p:nvSpPr>
        <p:spPr>
          <a:xfrm>
            <a:off x="406400" y="2180496"/>
            <a:ext cx="11204407" cy="4362544"/>
          </a:xfrm>
        </p:spPr>
        <p:txBody>
          <a:bodyPr>
            <a:normAutofit/>
          </a:bodyPr>
          <a:lstStyle/>
          <a:p>
            <a:r>
              <a:rPr lang="en-US" sz="2400" dirty="0"/>
              <a:t>Parametric methods(e.g., regression) </a:t>
            </a:r>
          </a:p>
          <a:p>
            <a:pPr lvl="1"/>
            <a:r>
              <a:rPr lang="en-US" sz="2000" dirty="0"/>
              <a:t>Assume the data fits some model, estimate model parameters, store only the parameters, and discard the data (except possible outliers) </a:t>
            </a:r>
          </a:p>
          <a:p>
            <a:pPr lvl="1"/>
            <a:r>
              <a:rPr lang="en-US" sz="2000" dirty="0"/>
              <a:t>Ex.: Log-linear models—obtain value at a point in m-D space as the product on appropriate marginal subspaces </a:t>
            </a:r>
          </a:p>
          <a:p>
            <a:pPr lvl="1"/>
            <a:endParaRPr lang="en-US" sz="2000" dirty="0"/>
          </a:p>
          <a:p>
            <a:r>
              <a:rPr lang="en-US" sz="2400" dirty="0"/>
              <a:t>Non-parametric methods</a:t>
            </a:r>
          </a:p>
          <a:p>
            <a:pPr lvl="1"/>
            <a:r>
              <a:rPr lang="en-US" sz="2000" dirty="0"/>
              <a:t>Do not assume models </a:t>
            </a:r>
          </a:p>
          <a:p>
            <a:pPr lvl="1"/>
            <a:r>
              <a:rPr lang="en-US" sz="2000" dirty="0"/>
              <a:t>Major families: histograms, clustering, sampling, …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Histograms</a:t>
            </a:r>
          </a:p>
        </p:txBody>
      </p:sp>
      <p:sp>
        <p:nvSpPr>
          <p:cNvPr id="3" name="Content Placeholder 2"/>
          <p:cNvSpPr>
            <a:spLocks noGrp="1"/>
          </p:cNvSpPr>
          <p:nvPr>
            <p:ph idx="1"/>
          </p:nvPr>
        </p:nvSpPr>
        <p:spPr>
          <a:xfrm>
            <a:off x="254000" y="1812800"/>
            <a:ext cx="11668760" cy="4313680"/>
          </a:xfrm>
        </p:spPr>
        <p:txBody>
          <a:bodyPr>
            <a:normAutofit/>
          </a:bodyPr>
          <a:lstStyle/>
          <a:p>
            <a:pPr marL="0" indent="0">
              <a:buNone/>
            </a:pPr>
            <a:r>
              <a:rPr lang="en-US" sz="2400" dirty="0"/>
              <a:t>Histograms use binning to approximate data distributions and are a popular form of data reduction.</a:t>
            </a:r>
          </a:p>
          <a:p>
            <a:pPr marL="0" indent="0">
              <a:buNone/>
            </a:pPr>
            <a:endParaRPr lang="en-US" sz="2400" dirty="0"/>
          </a:p>
          <a:p>
            <a:r>
              <a:rPr lang="en-US" sz="2400" dirty="0"/>
              <a:t>Equal width bins</a:t>
            </a:r>
          </a:p>
          <a:p>
            <a:r>
              <a:rPr lang="en-US" sz="2400" dirty="0"/>
              <a:t>Equal frequency bins</a:t>
            </a:r>
          </a:p>
          <a:p>
            <a:pPr marL="0" indent="0">
              <a:buNone/>
            </a:pPr>
            <a:endParaRPr lang="en-US" sz="2400" dirty="0"/>
          </a:p>
          <a:p>
            <a:pPr marL="0" indent="0">
              <a:buNone/>
            </a:pPr>
            <a:endParaRPr 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304800" y="2760345"/>
            <a:ext cx="4325938" cy="3678238"/>
          </a:xfrm>
          <a:prstGeom prst="rect">
            <a:avLst/>
          </a:prstGeom>
        </p:spPr>
      </p:pic>
      <p:pic>
        <p:nvPicPr>
          <p:cNvPr id="5" name="Picture 4"/>
          <p:cNvPicPr>
            <a:picLocks noChangeAspect="1"/>
          </p:cNvPicPr>
          <p:nvPr/>
        </p:nvPicPr>
        <p:blipFill>
          <a:blip r:embed="rId3"/>
          <a:stretch>
            <a:fillRect/>
          </a:stretch>
        </p:blipFill>
        <p:spPr>
          <a:xfrm>
            <a:off x="6260249" y="3150396"/>
            <a:ext cx="4494339" cy="3084987"/>
          </a:xfrm>
          <a:prstGeom prst="rect">
            <a:avLst/>
          </a:prstGeom>
        </p:spPr>
      </p:pic>
      <p:pic>
        <p:nvPicPr>
          <p:cNvPr id="6" name="Picture 5"/>
          <p:cNvPicPr>
            <a:picLocks noChangeAspect="1"/>
          </p:cNvPicPr>
          <p:nvPr/>
        </p:nvPicPr>
        <p:blipFill>
          <a:blip r:embed="rId4"/>
          <a:stretch>
            <a:fillRect/>
          </a:stretch>
        </p:blipFill>
        <p:spPr>
          <a:xfrm>
            <a:off x="901320" y="729584"/>
            <a:ext cx="8763759" cy="1470787"/>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compression</a:t>
            </a:r>
          </a:p>
        </p:txBody>
      </p:sp>
      <p:sp>
        <p:nvSpPr>
          <p:cNvPr id="3" name="Content Placeholder 2"/>
          <p:cNvSpPr>
            <a:spLocks noGrp="1"/>
          </p:cNvSpPr>
          <p:nvPr>
            <p:ph idx="1"/>
          </p:nvPr>
        </p:nvSpPr>
        <p:spPr/>
        <p:txBody>
          <a:bodyPr>
            <a:normAutofit/>
          </a:bodyPr>
          <a:lstStyle/>
          <a:p>
            <a:pPr marL="0" indent="0">
              <a:buNone/>
            </a:pPr>
            <a:r>
              <a:rPr lang="en-US" sz="2800" dirty="0"/>
              <a:t>In data compression, transformations are applied so as to obtain a reduced or “compressed” representation of the original data.</a:t>
            </a:r>
          </a:p>
          <a:p>
            <a:pPr marL="0" indent="0">
              <a:buNone/>
            </a:pPr>
            <a:endParaRPr lang="en-US" sz="2800" dirty="0"/>
          </a:p>
          <a:p>
            <a:r>
              <a:rPr lang="en-US" sz="2800" dirty="0"/>
              <a:t>Lossless</a:t>
            </a:r>
          </a:p>
          <a:p>
            <a:r>
              <a:rPr lang="en-US" sz="2800" dirty="0" err="1"/>
              <a:t>Lossy</a:t>
            </a:r>
            <a:r>
              <a:rPr lang="en-US" sz="2800" dirty="0"/>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compression</a:t>
            </a:r>
          </a:p>
        </p:txBody>
      </p:sp>
      <p:sp>
        <p:nvSpPr>
          <p:cNvPr id="3" name="Content Placeholder 2"/>
          <p:cNvSpPr>
            <a:spLocks noGrp="1"/>
          </p:cNvSpPr>
          <p:nvPr>
            <p:ph idx="1"/>
          </p:nvPr>
        </p:nvSpPr>
        <p:spPr>
          <a:xfrm>
            <a:off x="375920" y="2180496"/>
            <a:ext cx="11234887" cy="4555584"/>
          </a:xfrm>
        </p:spPr>
        <p:txBody>
          <a:bodyPr>
            <a:normAutofit/>
          </a:bodyPr>
          <a:lstStyle/>
          <a:p>
            <a:r>
              <a:rPr lang="en-US" sz="2400" dirty="0"/>
              <a:t>String compression</a:t>
            </a:r>
          </a:p>
          <a:p>
            <a:pPr lvl="1"/>
            <a:r>
              <a:rPr lang="en-US" sz="2000" dirty="0"/>
              <a:t>There are extensive theories and well-tuned algorithms </a:t>
            </a:r>
          </a:p>
          <a:p>
            <a:pPr lvl="1"/>
            <a:r>
              <a:rPr lang="en-US" sz="2000" dirty="0"/>
              <a:t>Typically lossless, but only limited manipulation is possible without expansion</a:t>
            </a:r>
          </a:p>
          <a:p>
            <a:r>
              <a:rPr lang="en-US" sz="2400" dirty="0"/>
              <a:t>Audio/video compression</a:t>
            </a:r>
          </a:p>
          <a:p>
            <a:pPr lvl="1"/>
            <a:r>
              <a:rPr lang="en-US" sz="2000" dirty="0"/>
              <a:t>Typically </a:t>
            </a:r>
            <a:r>
              <a:rPr lang="en-US" sz="2000" dirty="0" err="1"/>
              <a:t>lossy</a:t>
            </a:r>
            <a:r>
              <a:rPr lang="en-US" sz="2000" dirty="0"/>
              <a:t> compression, with progressive refinement</a:t>
            </a:r>
          </a:p>
          <a:p>
            <a:pPr lvl="1"/>
            <a:r>
              <a:rPr lang="en-US" sz="2000" dirty="0"/>
              <a:t>Sometimes small fragments of signal can be reconstructed without reconstructing the whole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compression</a:t>
            </a:r>
          </a:p>
        </p:txBody>
      </p:sp>
      <p:pic>
        <p:nvPicPr>
          <p:cNvPr id="4" name="Content Placeholder 3"/>
          <p:cNvPicPr>
            <a:picLocks noGrp="1" noChangeAspect="1"/>
          </p:cNvPicPr>
          <p:nvPr>
            <p:ph idx="1"/>
          </p:nvPr>
        </p:nvPicPr>
        <p:blipFill>
          <a:blip r:embed="rId2"/>
          <a:stretch>
            <a:fillRect/>
          </a:stretch>
        </p:blipFill>
        <p:spPr>
          <a:xfrm>
            <a:off x="2509505" y="1940809"/>
            <a:ext cx="7172990" cy="431009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b="1" dirty="0"/>
              <a:t>Data transformation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Data transformation</a:t>
            </a:r>
          </a:p>
        </p:txBody>
      </p:sp>
      <p:sp>
        <p:nvSpPr>
          <p:cNvPr id="5" name="Content Placeholder 4"/>
          <p:cNvSpPr>
            <a:spLocks noGrp="1"/>
          </p:cNvSpPr>
          <p:nvPr>
            <p:ph idx="1"/>
          </p:nvPr>
        </p:nvSpPr>
        <p:spPr>
          <a:xfrm>
            <a:off x="355600" y="2180496"/>
            <a:ext cx="11255207" cy="4464144"/>
          </a:xfrm>
        </p:spPr>
        <p:txBody>
          <a:bodyPr>
            <a:noAutofit/>
          </a:bodyPr>
          <a:lstStyle/>
          <a:p>
            <a:pPr marL="0" indent="0">
              <a:buNone/>
            </a:pPr>
            <a:r>
              <a:rPr lang="en-US" sz="2400" dirty="0"/>
              <a:t>In data transformation, the data are transformed or consolidated into forms appropriate may be more efficient, and the patterns found may be easier to understand. </a:t>
            </a:r>
          </a:p>
          <a:p>
            <a:endParaRPr lang="en-US" sz="2400" dirty="0"/>
          </a:p>
          <a:p>
            <a:r>
              <a:rPr lang="en-US" sz="2400" dirty="0"/>
              <a:t>Smoothing</a:t>
            </a:r>
          </a:p>
          <a:p>
            <a:r>
              <a:rPr lang="en-US" sz="2400" dirty="0"/>
              <a:t>Attribute construction </a:t>
            </a:r>
          </a:p>
          <a:p>
            <a:r>
              <a:rPr lang="en-US" sz="2400" dirty="0"/>
              <a:t>Aggregation</a:t>
            </a:r>
          </a:p>
          <a:p>
            <a:r>
              <a:rPr lang="en-US" sz="2400" dirty="0"/>
              <a:t>Normalization</a:t>
            </a:r>
          </a:p>
          <a:p>
            <a:r>
              <a:rPr lang="en-US" sz="2400" dirty="0"/>
              <a:t>Discretization</a:t>
            </a:r>
          </a:p>
          <a:p>
            <a:r>
              <a:rPr lang="en-US" sz="2400" dirty="0"/>
              <a:t>Concept hierarchy generation for nominal data</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ym typeface="+mn-ea"/>
              </a:rPr>
              <a:t>Normalization techniques:</a:t>
            </a:r>
            <a:endParaRPr lang="en-US"/>
          </a:p>
        </p:txBody>
      </p:sp>
      <p:sp>
        <p:nvSpPr>
          <p:cNvPr id="30723" name="Rectangle 3"/>
          <p:cNvSpPr>
            <a:spLocks noGrp="1" noChangeArrowheads="1"/>
          </p:cNvSpPr>
          <p:nvPr/>
        </p:nvSpPr>
        <p:spPr>
          <a:xfrm>
            <a:off x="1090930" y="1715453"/>
            <a:ext cx="8077200" cy="4876800"/>
          </a:xfrm>
          <a:prstGeom prst="rect">
            <a:avLst/>
          </a:prstGeom>
        </p:spPr>
        <p:txBody>
          <a:bodyPr vert="horz" lIns="91440" tIns="45720" rIns="91440" bIns="45720" rtlCol="0" anchor="ctr">
            <a:normAutofit/>
          </a:bodyPr>
          <a:lst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eaLnBrk="1" hangingPunct="1"/>
            <a:r>
              <a:rPr lang="en-US" altLang="en-US" sz="2800" dirty="0">
                <a:solidFill>
                  <a:schemeClr val="accent2"/>
                </a:solidFill>
              </a:rPr>
              <a:t>min-max normalization</a:t>
            </a:r>
          </a:p>
          <a:p>
            <a:pPr lvl="1" eaLnBrk="1" hangingPunct="1"/>
            <a:endParaRPr lang="en-US" altLang="en-US" dirty="0"/>
          </a:p>
          <a:p>
            <a:pPr lvl="1" eaLnBrk="1" hangingPunct="1"/>
            <a:endParaRPr lang="en-US" altLang="en-US" sz="2400" dirty="0"/>
          </a:p>
          <a:p>
            <a:pPr eaLnBrk="1" hangingPunct="1"/>
            <a:r>
              <a:rPr lang="en-US" altLang="en-US" sz="2800" dirty="0">
                <a:solidFill>
                  <a:schemeClr val="accent2"/>
                </a:solidFill>
              </a:rPr>
              <a:t>z-score normalization</a:t>
            </a:r>
          </a:p>
          <a:p>
            <a:pPr lvl="1" eaLnBrk="1" hangingPunct="1"/>
            <a:endParaRPr lang="en-US" altLang="en-US" sz="2400" dirty="0">
              <a:solidFill>
                <a:schemeClr val="accent2"/>
              </a:solidFill>
            </a:endParaRPr>
          </a:p>
          <a:p>
            <a:pPr lvl="1" eaLnBrk="1" hangingPunct="1"/>
            <a:endParaRPr lang="en-US" altLang="en-US" sz="2400" dirty="0"/>
          </a:p>
          <a:p>
            <a:pPr eaLnBrk="1" hangingPunct="1"/>
            <a:r>
              <a:rPr lang="en-US" altLang="en-US" sz="2800" dirty="0">
                <a:solidFill>
                  <a:schemeClr val="accent2"/>
                </a:solidFill>
              </a:rPr>
              <a:t>normalization by decimal scaling</a:t>
            </a:r>
          </a:p>
          <a:p>
            <a:pPr lvl="1" eaLnBrk="1" hangingPunct="1"/>
            <a:endParaRPr lang="en-US" altLang="en-US" sz="2400" dirty="0"/>
          </a:p>
          <a:p>
            <a:pPr lvl="1" eaLnBrk="1" hangingPunct="1">
              <a:buFontTx/>
              <a:buNone/>
            </a:pPr>
            <a:endParaRPr lang="en-US" altLang="en-US" sz="2400" dirty="0"/>
          </a:p>
        </p:txBody>
      </p:sp>
      <p:graphicFrame>
        <p:nvGraphicFramePr>
          <p:cNvPr id="30724" name="Object 4"/>
          <p:cNvGraphicFramePr>
            <a:graphicFrameLocks noChangeAspect="1"/>
          </p:cNvGraphicFramePr>
          <p:nvPr/>
        </p:nvGraphicFramePr>
        <p:xfrm>
          <a:off x="2171065" y="2279334"/>
          <a:ext cx="7321550" cy="873125"/>
        </p:xfrm>
        <a:graphic>
          <a:graphicData uri="http://schemas.openxmlformats.org/presentationml/2006/ole">
            <mc:AlternateContent xmlns:mc="http://schemas.openxmlformats.org/markup-compatibility/2006">
              <mc:Choice xmlns:v="urn:schemas-microsoft-com:vml" Requires="v">
                <p:oleObj name="Equation" r:id="rId2" imgW="3340100" imgH="393700" progId="Equation.3">
                  <p:embed/>
                </p:oleObj>
              </mc:Choice>
              <mc:Fallback>
                <p:oleObj name="Equation" r:id="rId2" imgW="3340100" imgH="393700" progId="Equation.3">
                  <p:embed/>
                  <p:pic>
                    <p:nvPicPr>
                      <p:cNvPr id="3072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1065" y="2279334"/>
                        <a:ext cx="7321550" cy="873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5" name="Object 5"/>
          <p:cNvGraphicFramePr>
            <a:graphicFrameLocks noChangeAspect="1"/>
          </p:cNvGraphicFramePr>
          <p:nvPr/>
        </p:nvGraphicFramePr>
        <p:xfrm>
          <a:off x="3949700" y="3743961"/>
          <a:ext cx="2860040" cy="939800"/>
        </p:xfrm>
        <a:graphic>
          <a:graphicData uri="http://schemas.openxmlformats.org/presentationml/2006/ole">
            <mc:AlternateContent xmlns:mc="http://schemas.openxmlformats.org/markup-compatibility/2006">
              <mc:Choice xmlns:v="urn:schemas-microsoft-com:vml" Requires="v">
                <p:oleObj name="Equation" r:id="rId4" imgW="965200" imgH="419100" progId="Equation.3">
                  <p:embed/>
                </p:oleObj>
              </mc:Choice>
              <mc:Fallback>
                <p:oleObj name="Equation" r:id="rId4" imgW="965200" imgH="419100" progId="Equation.3">
                  <p:embed/>
                  <p:pic>
                    <p:nvPicPr>
                      <p:cNvPr id="30725" name="Object 5"/>
                      <p:cNvPicPr>
                        <a:picLocks noChangeAspect="1" noChangeArrowheads="1"/>
                      </p:cNvPicPr>
                      <p:nvPr/>
                    </p:nvPicPr>
                    <p:blipFill>
                      <a:blip r:embed="rId5"/>
                      <a:srcRect/>
                      <a:stretch>
                        <a:fillRect/>
                      </a:stretch>
                    </p:blipFill>
                    <p:spPr bwMode="auto">
                      <a:xfrm>
                        <a:off x="3949700" y="3743961"/>
                        <a:ext cx="286004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6" name="Object 6"/>
          <p:cNvGraphicFramePr>
            <a:graphicFrameLocks noChangeAspect="1"/>
          </p:cNvGraphicFramePr>
          <p:nvPr/>
        </p:nvGraphicFramePr>
        <p:xfrm>
          <a:off x="1822450" y="5449889"/>
          <a:ext cx="1066800" cy="847725"/>
        </p:xfrm>
        <a:graphic>
          <a:graphicData uri="http://schemas.openxmlformats.org/presentationml/2006/ole">
            <mc:AlternateContent xmlns:mc="http://schemas.openxmlformats.org/markup-compatibility/2006">
              <mc:Choice xmlns:v="urn:schemas-microsoft-com:vml" Requires="v">
                <p:oleObj name="Equation" r:id="rId6" imgW="495300" imgH="393700" progId="Equation.3">
                  <p:embed/>
                </p:oleObj>
              </mc:Choice>
              <mc:Fallback>
                <p:oleObj name="Equation" r:id="rId6" imgW="495300" imgH="393700" progId="Equation.3">
                  <p:embed/>
                  <p:pic>
                    <p:nvPicPr>
                      <p:cNvPr id="3072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2450" y="5449889"/>
                        <a:ext cx="1066800"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8" name="Text Box 8"/>
          <p:cNvSpPr txBox="1">
            <a:spLocks noChangeArrowheads="1"/>
          </p:cNvSpPr>
          <p:nvPr/>
        </p:nvSpPr>
        <p:spPr bwMode="auto">
          <a:xfrm>
            <a:off x="3041651" y="5754689"/>
            <a:ext cx="6126163"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rgbClr val="000000"/>
                </a:solidFill>
                <a:latin typeface="Arial" panose="020B0604020202020204" pitchFamily="34" charset="0"/>
                <a:ea typeface="ヒラギノ角ゴ ProN W3" charset="-128"/>
                <a:sym typeface="Arial" panose="020B0604020202020204" pitchFamily="34" charset="0"/>
              </a:defRPr>
            </a:lvl1pPr>
            <a:lvl2pPr marL="742950" indent="-285750">
              <a:defRPr sz="2400">
                <a:solidFill>
                  <a:srgbClr val="000000"/>
                </a:solidFill>
                <a:latin typeface="Arial" panose="020B0604020202020204" pitchFamily="34" charset="0"/>
                <a:ea typeface="ヒラギノ角ゴ ProN W3" charset="-128"/>
                <a:sym typeface="Arial" panose="020B0604020202020204" pitchFamily="34" charset="0"/>
              </a:defRPr>
            </a:lvl2pPr>
            <a:lvl3pPr marL="1143000" indent="-228600">
              <a:defRPr sz="2400">
                <a:solidFill>
                  <a:srgbClr val="000000"/>
                </a:solidFill>
                <a:latin typeface="Arial" panose="020B0604020202020204" pitchFamily="34" charset="0"/>
                <a:ea typeface="ヒラギノ角ゴ ProN W3" charset="-128"/>
                <a:sym typeface="Arial" panose="020B0604020202020204" pitchFamily="34" charset="0"/>
              </a:defRPr>
            </a:lvl3pPr>
            <a:lvl4pPr marL="1600200" indent="-228600">
              <a:defRPr sz="2400">
                <a:solidFill>
                  <a:srgbClr val="000000"/>
                </a:solidFill>
                <a:latin typeface="Arial" panose="020B0604020202020204" pitchFamily="34" charset="0"/>
                <a:ea typeface="ヒラギノ角ゴ ProN W3" charset="-128"/>
                <a:sym typeface="Arial" panose="020B0604020202020204" pitchFamily="34" charset="0"/>
              </a:defRPr>
            </a:lvl4pPr>
            <a:lvl5pPr marL="2057400" indent="-228600">
              <a:defRPr sz="2400">
                <a:solidFill>
                  <a:srgbClr val="000000"/>
                </a:solidFill>
                <a:latin typeface="Arial" panose="020B0604020202020204" pitchFamily="34" charset="0"/>
                <a:ea typeface="ヒラギノ角ゴ ProN W3" charset="-128"/>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ea typeface="ヒラギノ角ゴ ProN W3" charset="-128"/>
                <a:sym typeface="Arial" panose="020B0604020202020204" pitchFamily="34" charset="0"/>
              </a:defRPr>
            </a:lvl9pPr>
          </a:lstStyle>
          <a:p>
            <a:r>
              <a:rPr lang="en-US" altLang="en-US" sz="2000" dirty="0">
                <a:solidFill>
                  <a:schemeClr val="tx1"/>
                </a:solidFill>
                <a:latin typeface="Times New Roman" panose="02020603050405020304" pitchFamily="18" charset="0"/>
              </a:rPr>
              <a:t>Where </a:t>
            </a:r>
            <a:r>
              <a:rPr lang="en-US" altLang="en-US" sz="2000" i="1" dirty="0">
                <a:solidFill>
                  <a:schemeClr val="tx1"/>
                </a:solidFill>
                <a:latin typeface="Times New Roman" panose="02020603050405020304" pitchFamily="18" charset="0"/>
              </a:rPr>
              <a:t>j</a:t>
            </a:r>
            <a:r>
              <a:rPr lang="en-US" altLang="en-US" sz="2000" dirty="0">
                <a:solidFill>
                  <a:schemeClr val="tx1"/>
                </a:solidFill>
                <a:latin typeface="Times New Roman" panose="02020603050405020304" pitchFamily="18" charset="0"/>
              </a:rPr>
              <a:t> is the smallest integer such that Max (|    |) &lt; 1</a:t>
            </a:r>
            <a:endParaRPr lang="en-US" altLang="en-US" dirty="0">
              <a:solidFill>
                <a:schemeClr val="tx1"/>
              </a:solidFill>
              <a:latin typeface="Times New Roman" panose="02020603050405020304" pitchFamily="18" charset="0"/>
            </a:endParaRPr>
          </a:p>
        </p:txBody>
      </p:sp>
      <p:graphicFrame>
        <p:nvGraphicFramePr>
          <p:cNvPr id="30729" name="Object 9"/>
          <p:cNvGraphicFramePr>
            <a:graphicFrameLocks noGrp="1" noChangeAspect="1"/>
          </p:cNvGraphicFramePr>
          <p:nvPr>
            <p:ph idx="1"/>
          </p:nvPr>
        </p:nvGraphicFramePr>
        <p:xfrm>
          <a:off x="7884477" y="5820031"/>
          <a:ext cx="320675" cy="404813"/>
        </p:xfrm>
        <a:graphic>
          <a:graphicData uri="http://schemas.openxmlformats.org/presentationml/2006/ole">
            <mc:AlternateContent xmlns:mc="http://schemas.openxmlformats.org/markup-compatibility/2006">
              <mc:Choice xmlns:v="urn:schemas-microsoft-com:vml" Requires="v">
                <p:oleObj r:id="rId8" imgW="139700" imgH="177800" progId="Equation.3">
                  <p:embed/>
                </p:oleObj>
              </mc:Choice>
              <mc:Fallback>
                <p:oleObj r:id="rId8" imgW="139700" imgH="177800" progId="Equation.3">
                  <p:embed/>
                  <p:pic>
                    <p:nvPicPr>
                      <p:cNvPr id="30729" name="Object 9"/>
                      <p:cNvPicPr/>
                      <p:nvPr/>
                    </p:nvPicPr>
                    <p:blipFill>
                      <a:blip r:embed="rId9"/>
                      <a:stretch>
                        <a:fillRect/>
                      </a:stretch>
                    </p:blipFill>
                    <p:spPr>
                      <a:xfrm>
                        <a:off x="7884477" y="5820031"/>
                        <a:ext cx="320675" cy="404813"/>
                      </a:xfrm>
                      <a:prstGeom prst="rect">
                        <a:avLst/>
                      </a:prstGeom>
                      <a:noFill/>
                      <a:ln w="38100">
                        <a:noFill/>
                        <a:miter/>
                      </a:ln>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solidFill>
                  <a:schemeClr val="bg1"/>
                </a:solidFill>
                <a:sym typeface="+mn-ea"/>
              </a:rPr>
              <a:t>min-max normalization</a:t>
            </a:r>
            <a:endParaRPr lang="en-US" altLang="en-US" b="1" dirty="0">
              <a:solidFill>
                <a:schemeClr val="bg1"/>
              </a:solidFill>
            </a:endParaRPr>
          </a:p>
        </p:txBody>
      </p:sp>
      <p:sp>
        <p:nvSpPr>
          <p:cNvPr id="3" name="Content Placeholder 2"/>
          <p:cNvSpPr>
            <a:spLocks noGrp="1"/>
          </p:cNvSpPr>
          <p:nvPr>
            <p:ph sz="half" idx="1"/>
          </p:nvPr>
        </p:nvSpPr>
        <p:spPr>
          <a:xfrm>
            <a:off x="581025" y="2228215"/>
            <a:ext cx="9687560" cy="3632835"/>
          </a:xfrm>
        </p:spPr>
        <p:txBody>
          <a:bodyPr/>
          <a:lstStyle/>
          <a:p>
            <a:r>
              <a:rPr lang="en-US"/>
              <a:t>Suppose that the minimum and maximum values for the attribute income are $12,000 and $98,000, respectively. </a:t>
            </a:r>
          </a:p>
          <a:p>
            <a:r>
              <a:rPr lang="en-US"/>
              <a:t>We would like to map income to the range [0,1]</a:t>
            </a:r>
          </a:p>
          <a:p>
            <a:r>
              <a:rPr lang="en-US"/>
              <a:t>By min-max normalization, a value of $73,600 for income is transformed to </a:t>
            </a:r>
          </a:p>
          <a:p>
            <a:r>
              <a:rPr lang="en-US"/>
              <a:t>(73,600−12,000)/(98,000−12,000)* (1− 0) + 0 = 0.716.</a:t>
            </a:r>
          </a:p>
        </p:txBody>
      </p:sp>
      <p:graphicFrame>
        <p:nvGraphicFramePr>
          <p:cNvPr id="30724" name="Object 4"/>
          <p:cNvGraphicFramePr>
            <a:graphicFrameLocks noGrp="1" noChangeAspect="1"/>
          </p:cNvGraphicFramePr>
          <p:nvPr>
            <p:ph sz="half" idx="2"/>
          </p:nvPr>
        </p:nvGraphicFramePr>
        <p:xfrm>
          <a:off x="3896067" y="2228320"/>
          <a:ext cx="5422392" cy="646643"/>
        </p:xfrm>
        <a:graphic>
          <a:graphicData uri="http://schemas.openxmlformats.org/presentationml/2006/ole">
            <mc:AlternateContent xmlns:mc="http://schemas.openxmlformats.org/markup-compatibility/2006">
              <mc:Choice xmlns:v="urn:schemas-microsoft-com:vml" Requires="v">
                <p:oleObj name="Equation" r:id="rId3" imgW="3340100" imgH="393700" progId="Equation.3">
                  <p:embed/>
                </p:oleObj>
              </mc:Choice>
              <mc:Fallback>
                <p:oleObj name="Equation" r:id="rId3" imgW="3340100" imgH="393700" progId="Equation.3">
                  <p:embed/>
                  <p:pic>
                    <p:nvPicPr>
                      <p:cNvPr id="3072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6067" y="2228320"/>
                        <a:ext cx="5422392" cy="6466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olidFill>
                  <a:schemeClr val="bg1"/>
                </a:solidFill>
              </a:rPr>
              <a:t>Example</a:t>
            </a:r>
            <a:endParaRPr lang="en-US" dirty="0"/>
          </a:p>
        </p:txBody>
      </p:sp>
      <p:sp>
        <p:nvSpPr>
          <p:cNvPr id="5" name="Date Placeholder 4"/>
          <p:cNvSpPr>
            <a:spLocks noGrp="1"/>
          </p:cNvSpPr>
          <p:nvPr>
            <p:ph type="dt" sz="half" idx="10"/>
          </p:nvPr>
        </p:nvSpPr>
        <p:spPr/>
        <p:txBody>
          <a:bodyPr/>
          <a:lstStyle/>
          <a:p>
            <a:fld id="{E7C5950F-4759-DE44-A551-71805341A705}" type="datetime1">
              <a:rPr lang="en-US" smtClean="0"/>
              <a:t>2/3/2026</a:t>
            </a:fld>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55</a:t>
            </a:fld>
            <a:endParaRPr lang="en-US" dirty="0"/>
          </a:p>
        </p:txBody>
      </p:sp>
      <p:graphicFrame>
        <p:nvGraphicFramePr>
          <p:cNvPr id="8" name="Content Placeholder 7"/>
          <p:cNvGraphicFramePr>
            <a:graphicFrameLocks noGrp="1" noChangeAspect="1"/>
          </p:cNvGraphicFramePr>
          <p:nvPr>
            <p:ph sz="half" idx="1"/>
          </p:nvPr>
        </p:nvGraphicFramePr>
        <p:xfrm>
          <a:off x="6186170" y="3091815"/>
          <a:ext cx="5356860" cy="1493520"/>
        </p:xfrm>
        <a:graphic>
          <a:graphicData uri="http://schemas.openxmlformats.org/presentationml/2006/ole">
            <mc:AlternateContent xmlns:mc="http://schemas.openxmlformats.org/markup-compatibility/2006">
              <mc:Choice xmlns:v="urn:schemas-microsoft-com:vml" Requires="v">
                <p:oleObj r:id="rId2" imgW="5356860" imgH="1493520" progId="Paint.Picture">
                  <p:embed/>
                </p:oleObj>
              </mc:Choice>
              <mc:Fallback>
                <p:oleObj r:id="rId2" imgW="5356860" imgH="1493520" progId="Paint.Picture">
                  <p:embed/>
                  <p:pic>
                    <p:nvPicPr>
                      <p:cNvPr id="8" name="Content Placeholder 7"/>
                      <p:cNvPicPr/>
                      <p:nvPr/>
                    </p:nvPicPr>
                    <p:blipFill>
                      <a:blip r:embed="rId3"/>
                      <a:stretch>
                        <a:fillRect/>
                      </a:stretch>
                    </p:blipFill>
                    <p:spPr>
                      <a:xfrm>
                        <a:off x="6186170" y="3091815"/>
                        <a:ext cx="5356860" cy="1493520"/>
                      </a:xfrm>
                      <a:prstGeom prst="rect">
                        <a:avLst/>
                      </a:prstGeom>
                    </p:spPr>
                  </p:pic>
                </p:oleObj>
              </mc:Fallback>
            </mc:AlternateContent>
          </a:graphicData>
        </a:graphic>
      </p:graphicFrame>
      <p:graphicFrame>
        <p:nvGraphicFramePr>
          <p:cNvPr id="10" name="Content Placeholder 9"/>
          <p:cNvGraphicFramePr>
            <a:graphicFrameLocks noGrp="1" noChangeAspect="1"/>
          </p:cNvGraphicFramePr>
          <p:nvPr>
            <p:ph sz="half" idx="2"/>
          </p:nvPr>
        </p:nvGraphicFramePr>
        <p:xfrm>
          <a:off x="760095" y="3091815"/>
          <a:ext cx="5349240" cy="1485900"/>
        </p:xfrm>
        <a:graphic>
          <a:graphicData uri="http://schemas.openxmlformats.org/presentationml/2006/ole">
            <mc:AlternateContent xmlns:mc="http://schemas.openxmlformats.org/markup-compatibility/2006">
              <mc:Choice xmlns:v="urn:schemas-microsoft-com:vml" Requires="v">
                <p:oleObj r:id="rId4" imgW="5349240" imgH="1485900" progId="Paint.Picture">
                  <p:embed/>
                </p:oleObj>
              </mc:Choice>
              <mc:Fallback>
                <p:oleObj r:id="rId4" imgW="5349240" imgH="1485900" progId="Paint.Picture">
                  <p:embed/>
                  <p:pic>
                    <p:nvPicPr>
                      <p:cNvPr id="10" name="Content Placeholder 9"/>
                      <p:cNvPicPr/>
                      <p:nvPr/>
                    </p:nvPicPr>
                    <p:blipFill>
                      <a:blip r:embed="rId5"/>
                      <a:stretch>
                        <a:fillRect/>
                      </a:stretch>
                    </p:blipFill>
                    <p:spPr>
                      <a:xfrm>
                        <a:off x="760095" y="3091815"/>
                        <a:ext cx="5349240" cy="14859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solidFill>
                  <a:schemeClr val="bg1"/>
                </a:solidFill>
                <a:sym typeface="+mn-ea"/>
              </a:rPr>
              <a:t>z-score normalization</a:t>
            </a:r>
            <a:endParaRPr lang="en-US" altLang="en-US" b="1" dirty="0">
              <a:solidFill>
                <a:schemeClr val="bg1"/>
              </a:solidFill>
            </a:endParaRPr>
          </a:p>
        </p:txBody>
      </p:sp>
      <p:sp>
        <p:nvSpPr>
          <p:cNvPr id="3" name="Content Placeholder 2"/>
          <p:cNvSpPr>
            <a:spLocks noGrp="1"/>
          </p:cNvSpPr>
          <p:nvPr>
            <p:ph sz="half" idx="1"/>
          </p:nvPr>
        </p:nvSpPr>
        <p:spPr>
          <a:xfrm>
            <a:off x="581025" y="2228215"/>
            <a:ext cx="10930890" cy="3632835"/>
          </a:xfrm>
        </p:spPr>
        <p:txBody>
          <a:bodyPr/>
          <a:lstStyle/>
          <a:p>
            <a:r>
              <a:rPr lang="en-US"/>
              <a:t>Example: Suppose that the mean and standard deviation of the values for the attribute income are $54,000 and $16,000, respectively. </a:t>
            </a:r>
          </a:p>
          <a:p>
            <a:r>
              <a:rPr lang="en-US"/>
              <a:t>With z-score normalization, a value of $73,600 for income is transformed to 73,600−54,000 /16,000 = 1.225.</a:t>
            </a:r>
          </a:p>
          <a:p>
            <a:r>
              <a:rPr lang="en-US"/>
              <a:t>A variation of this z-score normalization replaces the standard deviation by the </a:t>
            </a:r>
            <a:r>
              <a:rPr lang="en-US" b="1" u="sng"/>
              <a:t>mean absolute deviation</a:t>
            </a:r>
            <a:r>
              <a:rPr lang="en-US"/>
              <a:t> of A</a:t>
            </a:r>
          </a:p>
          <a:p>
            <a:r>
              <a:rPr lang="en-US"/>
              <a:t>The mean absolute deviation of A, denoted s</a:t>
            </a:r>
            <a:r>
              <a:rPr lang="en-US" baseline="-25000"/>
              <a:t>A</a:t>
            </a:r>
            <a:r>
              <a:rPr lang="en-US"/>
              <a:t>, is</a:t>
            </a:r>
          </a:p>
          <a:p>
            <a:pPr marL="0" indent="0">
              <a:buNone/>
            </a:pPr>
            <a:endParaRPr lang="en-US"/>
          </a:p>
        </p:txBody>
      </p:sp>
      <p:graphicFrame>
        <p:nvGraphicFramePr>
          <p:cNvPr id="7" name="Content Placeholder 6"/>
          <p:cNvGraphicFramePr>
            <a:graphicFrameLocks noGrp="1"/>
          </p:cNvGraphicFramePr>
          <p:nvPr>
            <p:ph sz="half" idx="2"/>
          </p:nvPr>
        </p:nvGraphicFramePr>
        <p:xfrm>
          <a:off x="3338830" y="4901565"/>
          <a:ext cx="4846320" cy="817245"/>
        </p:xfrm>
        <a:graphic>
          <a:graphicData uri="http://schemas.openxmlformats.org/presentationml/2006/ole">
            <mc:AlternateContent xmlns:mc="http://schemas.openxmlformats.org/markup-compatibility/2006">
              <mc:Choice xmlns:v="urn:schemas-microsoft-com:vml" Requires="v">
                <p:oleObj r:id="rId3" imgW="3406140" imgH="556260" progId="Paint.Picture">
                  <p:embed/>
                </p:oleObj>
              </mc:Choice>
              <mc:Fallback>
                <p:oleObj r:id="rId3" imgW="3406140" imgH="556260" progId="Paint.Picture">
                  <p:embed/>
                  <p:pic>
                    <p:nvPicPr>
                      <p:cNvPr id="7" name="Content Placeholder 6"/>
                      <p:cNvPicPr/>
                      <p:nvPr/>
                    </p:nvPicPr>
                    <p:blipFill>
                      <a:blip r:embed="rId4"/>
                      <a:stretch>
                        <a:fillRect/>
                      </a:stretch>
                    </p:blipFill>
                    <p:spPr>
                      <a:xfrm>
                        <a:off x="3338830" y="4901565"/>
                        <a:ext cx="4846320" cy="817245"/>
                      </a:xfrm>
                      <a:prstGeom prst="rect">
                        <a:avLst/>
                      </a:prstGeom>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Decimal Scaling</a:t>
            </a:r>
          </a:p>
        </p:txBody>
      </p:sp>
      <p:sp>
        <p:nvSpPr>
          <p:cNvPr id="3" name="Content Placeholder 2"/>
          <p:cNvSpPr>
            <a:spLocks noGrp="1"/>
          </p:cNvSpPr>
          <p:nvPr>
            <p:ph idx="1"/>
          </p:nvPr>
        </p:nvSpPr>
        <p:spPr>
          <a:xfrm>
            <a:off x="581025" y="2180590"/>
            <a:ext cx="11029315" cy="3771265"/>
          </a:xfrm>
        </p:spPr>
        <p:txBody>
          <a:bodyPr/>
          <a:lstStyle/>
          <a:p>
            <a:r>
              <a:rPr lang="en-US" sz="2000" dirty="0"/>
              <a:t>Suppose that the recorded values of A range from −986 to 917.</a:t>
            </a:r>
          </a:p>
          <a:p>
            <a:r>
              <a:rPr lang="en-US" sz="2000" dirty="0"/>
              <a:t>The maximum absolute value of A is 986.</a:t>
            </a:r>
          </a:p>
          <a:p>
            <a:r>
              <a:rPr lang="en-US" sz="2000" dirty="0"/>
              <a:t>To normalize by decimal scaling, we therefore divide each value by 1000 (i.e., j = 3) so that −986 normalizes to −0.986 and 917 normalizes to 0.917.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ym typeface="+mn-ea"/>
              </a:rPr>
              <a:t>Normalization</a:t>
            </a:r>
            <a:endParaRPr lang="en-US" dirty="0"/>
          </a:p>
        </p:txBody>
      </p:sp>
      <p:sp>
        <p:nvSpPr>
          <p:cNvPr id="3" name="Content Placeholder 2"/>
          <p:cNvSpPr>
            <a:spLocks noGrp="1"/>
          </p:cNvSpPr>
          <p:nvPr>
            <p:ph idx="1"/>
          </p:nvPr>
        </p:nvSpPr>
        <p:spPr>
          <a:xfrm>
            <a:off x="581025" y="2180590"/>
            <a:ext cx="11029315" cy="2002790"/>
          </a:xfrm>
        </p:spPr>
        <p:txBody>
          <a:bodyPr/>
          <a:lstStyle/>
          <a:p>
            <a:r>
              <a:rPr lang="en-US" sz="2000"/>
              <a:t>Normalization can change the original data quite a bit, especially when using z-score normalization or decimal scaling</a:t>
            </a:r>
          </a:p>
          <a:p>
            <a:r>
              <a:rPr lang="en-US" sz="2000"/>
              <a:t>It is also necessary to save the normalization parameters (e.g., the mean and standard deviation if using z-score normalization) so that future data can be normalized in a uniform manner.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ym typeface="+mn-ea"/>
              </a:rPr>
              <a:t>discretization </a:t>
            </a:r>
            <a:endParaRPr lang="en-US" b="1" dirty="0"/>
          </a:p>
        </p:txBody>
      </p:sp>
      <p:sp>
        <p:nvSpPr>
          <p:cNvPr id="3" name="Content Placeholder 2"/>
          <p:cNvSpPr>
            <a:spLocks noGrp="1"/>
          </p:cNvSpPr>
          <p:nvPr>
            <p:ph idx="1"/>
          </p:nvPr>
        </p:nvSpPr>
        <p:spPr/>
        <p:txBody>
          <a:bodyPr>
            <a:normAutofit/>
          </a:bodyPr>
          <a:lstStyle/>
          <a:p>
            <a:r>
              <a:rPr lang="en-US" sz="2800" dirty="0"/>
              <a:t>It is often necessary to transform a continuous attribute into a categorical attribute (discretization), and both continuous and discrete attributes may need to be transformed into one or more binary attributes (</a:t>
            </a:r>
            <a:r>
              <a:rPr lang="en-US" sz="2800" dirty="0" err="1"/>
              <a:t>binarization</a:t>
            </a:r>
            <a:r>
              <a:rPr lang="en-US" sz="2800" dirty="0"/>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Discretization is Used?</a:t>
            </a:r>
          </a:p>
        </p:txBody>
      </p:sp>
      <p:sp>
        <p:nvSpPr>
          <p:cNvPr id="3" name="Content Placeholder 2"/>
          <p:cNvSpPr>
            <a:spLocks noGrp="1"/>
          </p:cNvSpPr>
          <p:nvPr>
            <p:ph idx="1"/>
          </p:nvPr>
        </p:nvSpPr>
        <p:spPr/>
        <p:txBody>
          <a:bodyPr/>
          <a:lstStyle/>
          <a:p>
            <a:r>
              <a:rPr lang="en-US" sz="2000"/>
              <a:t>Reduce data size</a:t>
            </a:r>
          </a:p>
          <a:p>
            <a:r>
              <a:rPr lang="en-US" sz="2000"/>
              <a:t> Transforming quantitative data to qualitative data</a:t>
            </a:r>
          </a:p>
          <a:p>
            <a:r>
              <a:rPr lang="en-US" sz="2000">
                <a:sym typeface="+mn-ea"/>
              </a:rPr>
              <a:t>Discretization can be performed recursively on an attribute</a:t>
            </a:r>
            <a:endParaRPr lang="en-US" sz="2000"/>
          </a:p>
          <a:p>
            <a:endParaRPr lang="en-US" sz="20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Discretization by Binning</a:t>
            </a:r>
          </a:p>
        </p:txBody>
      </p:sp>
      <p:sp>
        <p:nvSpPr>
          <p:cNvPr id="3" name="Content Placeholder 2"/>
          <p:cNvSpPr>
            <a:spLocks noGrp="1"/>
          </p:cNvSpPr>
          <p:nvPr>
            <p:ph idx="1"/>
          </p:nvPr>
        </p:nvSpPr>
        <p:spPr/>
        <p:txBody>
          <a:bodyPr>
            <a:normAutofit/>
          </a:bodyPr>
          <a:lstStyle/>
          <a:p>
            <a:pPr lvl="1" eaLnBrk="1" hangingPunct="1">
              <a:lnSpc>
                <a:spcPct val="110000"/>
              </a:lnSpc>
            </a:pPr>
            <a:r>
              <a:rPr lang="en-US" sz="2000" dirty="0"/>
              <a:t>Binning is a top-down splitting technique based on a specified number of bins</a:t>
            </a:r>
          </a:p>
          <a:p>
            <a:pPr lvl="1" eaLnBrk="1" hangingPunct="1">
              <a:lnSpc>
                <a:spcPct val="110000"/>
              </a:lnSpc>
            </a:pPr>
            <a:r>
              <a:rPr lang="en-US" sz="2000" dirty="0"/>
              <a:t>Attribute values can be discretized by applying equal-width or equal-frequency binning, and then replacing each bin value by the bin mean or median, as in smoothing by bin means or smoothing by bin medians, respectively. </a:t>
            </a:r>
          </a:p>
          <a:p>
            <a:pPr lvl="1" eaLnBrk="1" hangingPunct="1">
              <a:lnSpc>
                <a:spcPct val="110000"/>
              </a:lnSpc>
            </a:pPr>
            <a:r>
              <a:rPr lang="en-US" sz="2000" dirty="0"/>
              <a:t>These techniques can be applied </a:t>
            </a:r>
            <a:r>
              <a:rPr lang="en-US" sz="2000" b="1" dirty="0"/>
              <a:t>recursively</a:t>
            </a:r>
            <a:r>
              <a:rPr lang="en-US" sz="2000" dirty="0"/>
              <a:t> to the resulting partitions to generate concept hierarchies.</a:t>
            </a:r>
          </a:p>
          <a:p>
            <a:pPr lvl="1" eaLnBrk="1" hangingPunct="1">
              <a:lnSpc>
                <a:spcPct val="110000"/>
              </a:lnSpc>
            </a:pPr>
            <a:r>
              <a:rPr lang="en-US" sz="2000" dirty="0"/>
              <a:t>Binning does not use class information and is therefore an</a:t>
            </a:r>
            <a:r>
              <a:rPr lang="en-US" sz="2000" b="1" dirty="0"/>
              <a:t> unsupervised discretization technique</a:t>
            </a:r>
          </a:p>
          <a:p>
            <a:pPr lvl="1" eaLnBrk="1" hangingPunct="1">
              <a:lnSpc>
                <a:spcPct val="110000"/>
              </a:lnSpc>
            </a:pPr>
            <a:r>
              <a:rPr lang="en-US" sz="2000" dirty="0"/>
              <a:t>It is sensitive to the user-specified number of bins, as well as the presence of outliers.</a:t>
            </a:r>
          </a:p>
        </p:txBody>
      </p:sp>
      <p:sp>
        <p:nvSpPr>
          <p:cNvPr id="4" name="Date Placeholder 3"/>
          <p:cNvSpPr>
            <a:spLocks noGrp="1"/>
          </p:cNvSpPr>
          <p:nvPr>
            <p:ph type="dt" sz="half" idx="10"/>
          </p:nvPr>
        </p:nvSpPr>
        <p:spPr/>
        <p:txBody>
          <a:bodyPr/>
          <a:lstStyle/>
          <a:p>
            <a:fld id="{C2D3B7F3-D36D-8746-A8BB-F9F35AA656A2}" type="datetime1">
              <a:rPr lang="en-US" smtClean="0"/>
              <a:t>2/3/2026</a:t>
            </a:fld>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Discretization by Binning: Example</a:t>
            </a:r>
            <a:endParaRPr lang="en-US"/>
          </a:p>
        </p:txBody>
      </p:sp>
      <p:graphicFrame>
        <p:nvGraphicFramePr>
          <p:cNvPr id="7" name="Content Placeholder 6"/>
          <p:cNvGraphicFramePr>
            <a:graphicFrameLocks noGrp="1" noChangeAspect="1"/>
          </p:cNvGraphicFramePr>
          <p:nvPr>
            <p:ph sz="half" idx="1"/>
          </p:nvPr>
        </p:nvGraphicFramePr>
        <p:xfrm>
          <a:off x="1328420" y="1991995"/>
          <a:ext cx="8839835" cy="804545"/>
        </p:xfrm>
        <a:graphic>
          <a:graphicData uri="http://schemas.openxmlformats.org/presentationml/2006/ole">
            <mc:AlternateContent xmlns:mc="http://schemas.openxmlformats.org/markup-compatibility/2006">
              <mc:Choice xmlns:v="urn:schemas-microsoft-com:vml" Requires="v">
                <p:oleObj r:id="rId2" imgW="5859780" imgH="533400" progId="Paint.Picture">
                  <p:embed/>
                </p:oleObj>
              </mc:Choice>
              <mc:Fallback>
                <p:oleObj r:id="rId2" imgW="5859780" imgH="533400" progId="Paint.Picture">
                  <p:embed/>
                  <p:pic>
                    <p:nvPicPr>
                      <p:cNvPr id="7" name="Content Placeholder 6"/>
                      <p:cNvPicPr/>
                      <p:nvPr/>
                    </p:nvPicPr>
                    <p:blipFill>
                      <a:blip r:embed="rId3"/>
                      <a:stretch>
                        <a:fillRect/>
                      </a:stretch>
                    </p:blipFill>
                    <p:spPr>
                      <a:xfrm>
                        <a:off x="1328420" y="1991995"/>
                        <a:ext cx="8839835" cy="804545"/>
                      </a:xfrm>
                      <a:prstGeom prst="rect">
                        <a:avLst/>
                      </a:prstGeom>
                    </p:spPr>
                  </p:pic>
                </p:oleObj>
              </mc:Fallback>
            </mc:AlternateContent>
          </a:graphicData>
        </a:graphic>
      </p:graphicFrame>
      <p:graphicFrame>
        <p:nvGraphicFramePr>
          <p:cNvPr id="9" name="Content Placeholder 8"/>
          <p:cNvGraphicFramePr>
            <a:graphicFrameLocks noGrp="1"/>
          </p:cNvGraphicFramePr>
          <p:nvPr>
            <p:ph sz="half" idx="2"/>
          </p:nvPr>
        </p:nvGraphicFramePr>
        <p:xfrm>
          <a:off x="1329055" y="2934970"/>
          <a:ext cx="8930640" cy="1895475"/>
        </p:xfrm>
        <a:graphic>
          <a:graphicData uri="http://schemas.openxmlformats.org/presentationml/2006/ole">
            <mc:AlternateContent xmlns:mc="http://schemas.openxmlformats.org/markup-compatibility/2006">
              <mc:Choice xmlns:v="urn:schemas-microsoft-com:vml" Requires="v">
                <p:oleObj r:id="rId4" imgW="8519160" imgH="906780" progId="Paint.Picture">
                  <p:embed/>
                </p:oleObj>
              </mc:Choice>
              <mc:Fallback>
                <p:oleObj r:id="rId4" imgW="8519160" imgH="906780" progId="Paint.Picture">
                  <p:embed/>
                  <p:pic>
                    <p:nvPicPr>
                      <p:cNvPr id="9" name="Content Placeholder 8"/>
                      <p:cNvPicPr/>
                      <p:nvPr/>
                    </p:nvPicPr>
                    <p:blipFill>
                      <a:blip r:embed="rId5"/>
                      <a:stretch>
                        <a:fillRect/>
                      </a:stretch>
                    </p:blipFill>
                    <p:spPr>
                      <a:xfrm>
                        <a:off x="1329055" y="2934970"/>
                        <a:ext cx="8930640" cy="1895475"/>
                      </a:xfrm>
                      <a:prstGeom prst="rect">
                        <a:avLst/>
                      </a:prstGeom>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sym typeface="+mn-ea"/>
              </a:rPr>
              <a:t>Discretization by Binning: Example</a:t>
            </a:r>
            <a:endParaRPr lang="en-US"/>
          </a:p>
        </p:txBody>
      </p:sp>
      <p:sp>
        <p:nvSpPr>
          <p:cNvPr id="5" name="Date Placeholder 4"/>
          <p:cNvSpPr>
            <a:spLocks noGrp="1"/>
          </p:cNvSpPr>
          <p:nvPr>
            <p:ph type="dt" sz="half" idx="10"/>
          </p:nvPr>
        </p:nvSpPr>
        <p:spPr/>
        <p:txBody>
          <a:bodyPr/>
          <a:lstStyle/>
          <a:p>
            <a:fld id="{E7C5950F-4759-DE44-A551-71805341A705}" type="datetime1">
              <a:rPr lang="en-US" smtClean="0"/>
              <a:t>2/3/2026</a:t>
            </a:fld>
            <a:endParaRPr lang="en-US" dirty="0"/>
          </a:p>
        </p:txBody>
      </p:sp>
      <p:sp>
        <p:nvSpPr>
          <p:cNvPr id="11" name="Content Placeholder 10"/>
          <p:cNvSpPr>
            <a:spLocks noGrp="1"/>
          </p:cNvSpPr>
          <p:nvPr>
            <p:ph sz="half" idx="2"/>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t>63</a:t>
            </a:fld>
            <a:endParaRPr lang="en-US" dirty="0"/>
          </a:p>
        </p:txBody>
      </p:sp>
      <p:graphicFrame>
        <p:nvGraphicFramePr>
          <p:cNvPr id="8" name="Content Placeholder 7"/>
          <p:cNvGraphicFramePr>
            <a:graphicFrameLocks noGrp="1" noChangeAspect="1"/>
          </p:cNvGraphicFramePr>
          <p:nvPr>
            <p:ph sz="half" idx="1"/>
          </p:nvPr>
        </p:nvGraphicFramePr>
        <p:xfrm>
          <a:off x="2445385" y="2717165"/>
          <a:ext cx="6350000" cy="2783840"/>
        </p:xfrm>
        <a:graphic>
          <a:graphicData uri="http://schemas.openxmlformats.org/presentationml/2006/ole">
            <mc:AlternateContent xmlns:mc="http://schemas.openxmlformats.org/markup-compatibility/2006">
              <mc:Choice xmlns:v="urn:schemas-microsoft-com:vml" Requires="v">
                <p:oleObj r:id="rId2" imgW="3093720" imgH="1356360" progId="Paint.Picture">
                  <p:embed/>
                </p:oleObj>
              </mc:Choice>
              <mc:Fallback>
                <p:oleObj r:id="rId2" imgW="3093720" imgH="1356360" progId="Paint.Picture">
                  <p:embed/>
                  <p:pic>
                    <p:nvPicPr>
                      <p:cNvPr id="8" name="Content Placeholder 7"/>
                      <p:cNvPicPr/>
                      <p:nvPr/>
                    </p:nvPicPr>
                    <p:blipFill>
                      <a:blip r:embed="rId3"/>
                      <a:stretch>
                        <a:fillRect/>
                      </a:stretch>
                    </p:blipFill>
                    <p:spPr>
                      <a:xfrm>
                        <a:off x="2445385" y="2717165"/>
                        <a:ext cx="6350000" cy="2783840"/>
                      </a:xfrm>
                      <a:prstGeom prst="rect">
                        <a:avLst/>
                      </a:prstGeom>
                    </p:spPr>
                  </p:pic>
                </p:oleObj>
              </mc:Fallback>
            </mc:AlternateContent>
          </a:graphicData>
        </a:graphic>
      </p:graphicFrame>
      <p:sp>
        <p:nvSpPr>
          <p:cNvPr id="12" name="Text Box 11"/>
          <p:cNvSpPr txBox="1"/>
          <p:nvPr/>
        </p:nvSpPr>
        <p:spPr>
          <a:xfrm>
            <a:off x="1003300" y="2261870"/>
            <a:ext cx="1249680" cy="368300"/>
          </a:xfrm>
          <a:prstGeom prst="rect">
            <a:avLst/>
          </a:prstGeom>
          <a:noFill/>
        </p:spPr>
        <p:txBody>
          <a:bodyPr wrap="none" rtlCol="0">
            <a:spAutoFit/>
          </a:bodyPr>
          <a:lstStyle/>
          <a:p>
            <a:r>
              <a:rPr lang="en-US"/>
              <a:t>Iris Dataset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Discretization by Histogram Analysis</a:t>
            </a:r>
          </a:p>
        </p:txBody>
      </p:sp>
      <p:sp>
        <p:nvSpPr>
          <p:cNvPr id="3" name="Content Placeholder 2"/>
          <p:cNvSpPr>
            <a:spLocks noGrp="1"/>
          </p:cNvSpPr>
          <p:nvPr>
            <p:ph idx="1"/>
          </p:nvPr>
        </p:nvSpPr>
        <p:spPr>
          <a:xfrm>
            <a:off x="581827" y="2464341"/>
            <a:ext cx="11029615" cy="3678303"/>
          </a:xfrm>
        </p:spPr>
        <p:txBody>
          <a:bodyPr>
            <a:noAutofit/>
          </a:bodyPr>
          <a:lstStyle/>
          <a:p>
            <a:r>
              <a:rPr lang="en-US"/>
              <a:t>Like binning, histogram analysis is an</a:t>
            </a:r>
            <a:r>
              <a:rPr lang="en-US" b="1"/>
              <a:t> unsupervised discretization</a:t>
            </a:r>
            <a:r>
              <a:rPr lang="en-US"/>
              <a:t> technique because it does not use class information.</a:t>
            </a:r>
          </a:p>
          <a:p>
            <a:r>
              <a:rPr lang="en-US"/>
              <a:t>A histogram partitions the values of an attribute, A, into disjoint ranges called buckets or bins</a:t>
            </a:r>
          </a:p>
          <a:p>
            <a:r>
              <a:rPr lang="en-US"/>
              <a:t>Various partitioning rules can be used to define histograms </a:t>
            </a:r>
          </a:p>
          <a:p>
            <a:r>
              <a:rPr lang="en-US"/>
              <a:t>In an equal-width histogram, for example, the values are partitioned into equal-size partitions or ranges </a:t>
            </a:r>
          </a:p>
          <a:p>
            <a:r>
              <a:rPr lang="en-US"/>
              <a:t>With an equal-frequency histogram, the values are partitioned so that, ideally, each partition contains the same number of data tuples</a:t>
            </a:r>
          </a:p>
          <a:p>
            <a:r>
              <a:rPr lang="en-US"/>
              <a:t>The histogram analysis algorithm can be applied recursively to each partition in order to automatically generate a multilevel concept hierarchy, with the procedure terminating once a prespecified number of concept levels has been reached.</a:t>
            </a:r>
          </a:p>
          <a:p>
            <a:r>
              <a:rPr lang="en-US"/>
              <a:t>This specifies the minimum width of a partition, or the minimum number of values for each partition at each level.</a:t>
            </a:r>
          </a:p>
          <a:p>
            <a:endParaRPr lang="en-US"/>
          </a:p>
        </p:txBody>
      </p:sp>
      <p:sp>
        <p:nvSpPr>
          <p:cNvPr id="4" name="Date Placeholder 3"/>
          <p:cNvSpPr>
            <a:spLocks noGrp="1"/>
          </p:cNvSpPr>
          <p:nvPr>
            <p:ph type="dt" sz="half" idx="10"/>
          </p:nvPr>
        </p:nvSpPr>
        <p:spPr/>
        <p:txBody>
          <a:bodyPr/>
          <a:lstStyle/>
          <a:p>
            <a:fld id="{C2D3B7F3-D36D-8746-A8BB-F9F35AA656A2}" type="datetime1">
              <a:rPr lang="en-US" smtClean="0"/>
              <a:t>2/3/2026</a:t>
            </a:fld>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normAutofit/>
          </a:bodyPr>
          <a:lstStyle/>
          <a:p>
            <a:pPr eaLnBrk="1" hangingPunct="1"/>
            <a:r>
              <a:rPr lang="en-US" altLang="en-US" sz="4000" b="1">
                <a:solidFill>
                  <a:schemeClr val="bg1"/>
                </a:solidFill>
              </a:rPr>
              <a:t>Discretization methods:</a:t>
            </a:r>
          </a:p>
        </p:txBody>
      </p:sp>
      <p:sp>
        <p:nvSpPr>
          <p:cNvPr id="58371" name="Rectangle 3"/>
          <p:cNvSpPr>
            <a:spLocks noGrp="1" noChangeArrowheads="1"/>
          </p:cNvSpPr>
          <p:nvPr>
            <p:ph type="body" idx="1"/>
          </p:nvPr>
        </p:nvSpPr>
        <p:spPr>
          <a:xfrm>
            <a:off x="1027430" y="1692275"/>
            <a:ext cx="8928100" cy="4572000"/>
          </a:xfrm>
        </p:spPr>
        <p:txBody>
          <a:bodyPr>
            <a:normAutofit/>
          </a:bodyPr>
          <a:lstStyle/>
          <a:p>
            <a:pPr lvl="1" eaLnBrk="1" hangingPunct="1">
              <a:lnSpc>
                <a:spcPct val="170000"/>
              </a:lnSpc>
            </a:pPr>
            <a:r>
              <a:rPr lang="en-US" altLang="en-US" sz="2400"/>
              <a:t>Binning (data smoothing)</a:t>
            </a:r>
          </a:p>
          <a:p>
            <a:pPr lvl="1" eaLnBrk="1" hangingPunct="1">
              <a:lnSpc>
                <a:spcPct val="170000"/>
              </a:lnSpc>
            </a:pPr>
            <a:r>
              <a:rPr lang="en-US" altLang="en-US" sz="2400"/>
              <a:t>Histogram analysis </a:t>
            </a:r>
          </a:p>
          <a:p>
            <a:pPr lvl="1" eaLnBrk="1" hangingPunct="1">
              <a:lnSpc>
                <a:spcPct val="170000"/>
              </a:lnSpc>
            </a:pPr>
            <a:r>
              <a:rPr lang="en-US" altLang="en-US" sz="2400"/>
              <a:t>Clustering analysis </a:t>
            </a:r>
          </a:p>
          <a:p>
            <a:pPr lvl="1" eaLnBrk="1" hangingPunct="1">
              <a:lnSpc>
                <a:spcPct val="170000"/>
              </a:lnSpc>
            </a:pPr>
            <a:r>
              <a:rPr lang="en-US" altLang="en-US" sz="2485">
                <a:solidFill>
                  <a:schemeClr val="tx1"/>
                </a:solidFill>
              </a:rPr>
              <a:t>Entropy-based discretization</a:t>
            </a:r>
          </a:p>
          <a:p>
            <a:pPr eaLnBrk="1" hangingPunct="1">
              <a:lnSpc>
                <a:spcPct val="170000"/>
              </a:lnSpc>
            </a:pPr>
            <a:endParaRPr lang="en-US" altLang="en-US" sz="2485">
              <a:solidFill>
                <a:schemeClr val="tx1"/>
              </a:solidFill>
            </a:endParaRPr>
          </a:p>
        </p:txBody>
      </p:sp>
    </p:spTree>
  </p:cSld>
  <p:clrMapOvr>
    <a:masterClrMapping/>
  </p:clrMapOvr>
  <p:transition>
    <p:checker dir="vert"/>
  </p:transition>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Binarization</a:t>
            </a:r>
          </a:p>
        </p:txBody>
      </p:sp>
      <p:sp>
        <p:nvSpPr>
          <p:cNvPr id="3" name="Content Placeholder 2"/>
          <p:cNvSpPr>
            <a:spLocks noGrp="1"/>
          </p:cNvSpPr>
          <p:nvPr>
            <p:ph idx="1"/>
          </p:nvPr>
        </p:nvSpPr>
        <p:spPr/>
        <p:txBody>
          <a:bodyPr/>
          <a:lstStyle/>
          <a:p>
            <a:r>
              <a:rPr lang="en-US"/>
              <a:t>In some cases, it is desirable to use numeric data mining algorithms on categorical data</a:t>
            </a:r>
          </a:p>
          <a:p>
            <a:r>
              <a:rPr lang="en-US"/>
              <a:t>Because binary data is a special form of both numeric and categorical data, it is possible to convert the categorical attributes to binary form and then use numeric algorithms on the binarized data</a:t>
            </a:r>
          </a:p>
          <a:p>
            <a:r>
              <a:rPr lang="en-US"/>
              <a:t>If a categorical attribute has m different values, then m different binary attributes are created </a:t>
            </a:r>
          </a:p>
          <a:p>
            <a:r>
              <a:rPr lang="en-US"/>
              <a:t>Each binary attribute corresponds to one possible value of the categorical attribute</a:t>
            </a:r>
          </a:p>
          <a:p>
            <a:r>
              <a:rPr lang="en-US"/>
              <a:t>Therefore, exactly one of the m attributes takes on the value of 1, and the remaining take on the value of 0</a:t>
            </a:r>
          </a:p>
        </p:txBody>
      </p:sp>
      <p:sp>
        <p:nvSpPr>
          <p:cNvPr id="4" name="Date Placeholder 3"/>
          <p:cNvSpPr>
            <a:spLocks noGrp="1"/>
          </p:cNvSpPr>
          <p:nvPr>
            <p:ph type="dt" sz="half" idx="10"/>
          </p:nvPr>
        </p:nvSpPr>
        <p:spPr/>
        <p:txBody>
          <a:bodyPr/>
          <a:lstStyle/>
          <a:p>
            <a:fld id="{C2D3B7F3-D36D-8746-A8BB-F9F35AA656A2}" type="datetime1">
              <a:rPr lang="en-US" smtClean="0"/>
              <a:t>2/3/2026</a:t>
            </a:fld>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66</a:t>
            </a:fld>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Binarization</a:t>
            </a:r>
            <a:endParaRPr lang="en-US"/>
          </a:p>
        </p:txBody>
      </p:sp>
      <p:pic>
        <p:nvPicPr>
          <p:cNvPr id="7" name="Content Placeholder 6"/>
          <p:cNvPicPr>
            <a:picLocks noGrp="1" noChangeAspect="1"/>
          </p:cNvPicPr>
          <p:nvPr>
            <p:ph idx="1"/>
          </p:nvPr>
        </p:nvPicPr>
        <p:blipFill>
          <a:blip r:embed="rId2"/>
          <a:stretch>
            <a:fillRect/>
          </a:stretch>
        </p:blipFill>
        <p:spPr>
          <a:xfrm>
            <a:off x="1770425" y="2343921"/>
            <a:ext cx="8787875" cy="3300743"/>
          </a:xfrm>
          <a:prstGeom prst="rect">
            <a:avLst/>
          </a:prstGeom>
        </p:spPr>
      </p:pic>
      <p:sp>
        <p:nvSpPr>
          <p:cNvPr id="4" name="Date Placeholder 3"/>
          <p:cNvSpPr>
            <a:spLocks noGrp="1"/>
          </p:cNvSpPr>
          <p:nvPr>
            <p:ph type="dt" sz="half" idx="10"/>
          </p:nvPr>
        </p:nvSpPr>
        <p:spPr/>
        <p:txBody>
          <a:bodyPr/>
          <a:lstStyle/>
          <a:p>
            <a:fld id="{C2D3B7F3-D36D-8746-A8BB-F9F35AA656A2}" type="datetime1">
              <a:rPr lang="en-US" smtClean="0"/>
              <a:t>2/3/2026</a:t>
            </a:fld>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67</a:t>
            </a:fld>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Binarization</a:t>
            </a:r>
            <a:endParaRPr lang="en-US"/>
          </a:p>
        </p:txBody>
      </p:sp>
      <p:sp>
        <p:nvSpPr>
          <p:cNvPr id="3" name="Content Placeholder 2"/>
          <p:cNvSpPr>
            <a:spLocks noGrp="1"/>
          </p:cNvSpPr>
          <p:nvPr>
            <p:ph idx="1"/>
          </p:nvPr>
        </p:nvSpPr>
        <p:spPr/>
        <p:txBody>
          <a:bodyPr>
            <a:normAutofit/>
          </a:bodyPr>
          <a:lstStyle/>
          <a:p>
            <a:r>
              <a:rPr lang="en-US"/>
              <a:t>A binary attribute is a nominal attribute with only two categories or states: 0 or 1, where 0 typically means that the attribute is absent, and 1 means that it is present.</a:t>
            </a:r>
          </a:p>
          <a:p>
            <a:r>
              <a:rPr lang="en-US"/>
              <a:t>Binary attributes are referred to as Boolean if the two states correspond to true and false</a:t>
            </a:r>
          </a:p>
          <a:p>
            <a:r>
              <a:rPr lang="en-US"/>
              <a:t>A binary attribute is </a:t>
            </a:r>
            <a:r>
              <a:rPr lang="en-US" b="1" u="sng"/>
              <a:t>symmetric</a:t>
            </a:r>
            <a:r>
              <a:rPr lang="en-US"/>
              <a:t> if both of its states are equally valuable and carry the same weight; that is, there is no preference on which outcome should be coded as 0 or 1. </a:t>
            </a:r>
          </a:p>
          <a:p>
            <a:r>
              <a:rPr lang="en-US"/>
              <a:t>One such example could be the attribute gender having the states male and female.</a:t>
            </a:r>
          </a:p>
          <a:p>
            <a:r>
              <a:rPr lang="en-US"/>
              <a:t>A binary attribute is </a:t>
            </a:r>
            <a:r>
              <a:rPr lang="en-US" b="1" u="sng"/>
              <a:t>asymmetric</a:t>
            </a:r>
            <a:r>
              <a:rPr lang="en-US"/>
              <a:t> if the outcomes of the states are not equally important, such as the positive and negative outcomes of a medical test for HIV</a:t>
            </a:r>
          </a:p>
          <a:p>
            <a:r>
              <a:rPr lang="en-US"/>
              <a:t>By convention, we code the most important outcome, which is usually the rarest one, by 1 (e.g., HIV positive) and the other by 0 (e.g., HIV negative).</a:t>
            </a:r>
          </a:p>
        </p:txBody>
      </p:sp>
      <p:sp>
        <p:nvSpPr>
          <p:cNvPr id="4" name="Date Placeholder 3"/>
          <p:cNvSpPr>
            <a:spLocks noGrp="1"/>
          </p:cNvSpPr>
          <p:nvPr>
            <p:ph type="dt" sz="half" idx="10"/>
          </p:nvPr>
        </p:nvSpPr>
        <p:spPr/>
        <p:txBody>
          <a:bodyPr/>
          <a:lstStyle/>
          <a:p>
            <a:fld id="{C2D3B7F3-D36D-8746-A8BB-F9F35AA656A2}" type="datetime1">
              <a:rPr lang="en-US" smtClean="0"/>
              <a:t>2/3/2026</a:t>
            </a:fld>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68</a:t>
            </a:fld>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Binarization</a:t>
            </a:r>
            <a:endParaRPr lang="en-US"/>
          </a:p>
        </p:txBody>
      </p:sp>
      <p:pic>
        <p:nvPicPr>
          <p:cNvPr id="7" name="Content Placeholder 6"/>
          <p:cNvPicPr>
            <a:picLocks noGrp="1" noChangeAspect="1"/>
          </p:cNvPicPr>
          <p:nvPr>
            <p:ph idx="1"/>
          </p:nvPr>
        </p:nvPicPr>
        <p:blipFill>
          <a:blip r:embed="rId2"/>
          <a:stretch>
            <a:fillRect/>
          </a:stretch>
        </p:blipFill>
        <p:spPr>
          <a:xfrm>
            <a:off x="1785815" y="2420416"/>
            <a:ext cx="8620370" cy="2631990"/>
          </a:xfrm>
          <a:prstGeom prst="rect">
            <a:avLst/>
          </a:prstGeom>
        </p:spPr>
      </p:pic>
      <p:sp>
        <p:nvSpPr>
          <p:cNvPr id="4" name="Date Placeholder 3"/>
          <p:cNvSpPr>
            <a:spLocks noGrp="1"/>
          </p:cNvSpPr>
          <p:nvPr>
            <p:ph type="dt" sz="half" idx="10"/>
          </p:nvPr>
        </p:nvSpPr>
        <p:spPr/>
        <p:txBody>
          <a:bodyPr/>
          <a:lstStyle/>
          <a:p>
            <a:fld id="{C2D3B7F3-D36D-8746-A8BB-F9F35AA656A2}" type="datetime1">
              <a:rPr lang="en-US" smtClean="0"/>
              <a:t>2/3/2026</a:t>
            </a:fld>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69</a:t>
            </a:fld>
            <a:endParaRPr lang="en-US" dirty="0"/>
          </a:p>
        </p:txBody>
      </p:sp>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823</TotalTime>
  <Words>3887</Words>
  <Application>Microsoft Office PowerPoint</Application>
  <PresentationFormat>Widescreen</PresentationFormat>
  <Paragraphs>457</Paragraphs>
  <Slides>69</Slides>
  <Notes>24</Notes>
  <HiddenSlides>6</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3</vt:i4>
      </vt:variant>
      <vt:variant>
        <vt:lpstr>Slide Titles</vt:lpstr>
      </vt:variant>
      <vt:variant>
        <vt:i4>69</vt:i4>
      </vt:variant>
    </vt:vector>
  </HeadingPairs>
  <TitlesOfParts>
    <vt:vector size="81" baseType="lpstr">
      <vt:lpstr>Arial</vt:lpstr>
      <vt:lpstr>Calibri</vt:lpstr>
      <vt:lpstr>Cambria Math</vt:lpstr>
      <vt:lpstr>Courier New</vt:lpstr>
      <vt:lpstr>Gill Sans MT</vt:lpstr>
      <vt:lpstr>Symbol</vt:lpstr>
      <vt:lpstr>Times New Roman</vt:lpstr>
      <vt:lpstr>Wingdings 2</vt:lpstr>
      <vt:lpstr>Dividend</vt:lpstr>
      <vt:lpstr>Bitmap Image</vt:lpstr>
      <vt:lpstr>Equation</vt:lpstr>
      <vt:lpstr>Equation.3</vt:lpstr>
      <vt:lpstr>Data Preprocessing  Lecture no 3</vt:lpstr>
      <vt:lpstr>What is data wrangling</vt:lpstr>
      <vt:lpstr>Types of data</vt:lpstr>
      <vt:lpstr>Quality of data</vt:lpstr>
      <vt:lpstr>Why Data Preprocessing?</vt:lpstr>
      <vt:lpstr>Tasks in Data Preprocessing </vt:lpstr>
      <vt:lpstr>PowerPoint Presentation</vt:lpstr>
      <vt:lpstr>Data Cleaning</vt:lpstr>
      <vt:lpstr>Data cleaning</vt:lpstr>
      <vt:lpstr>Missing Values</vt:lpstr>
      <vt:lpstr>How to handle missing data?</vt:lpstr>
      <vt:lpstr>Regression Imputation</vt:lpstr>
      <vt:lpstr>Noisy data</vt:lpstr>
      <vt:lpstr>Outliers</vt:lpstr>
      <vt:lpstr>identifying outliers: Z-score</vt:lpstr>
      <vt:lpstr>Standard Normal Distribution</vt:lpstr>
      <vt:lpstr>identifying outliers:  IQR(Inter Quartile range)</vt:lpstr>
      <vt:lpstr> IQR(Inter Quartile range) Method</vt:lpstr>
      <vt:lpstr>How to handle noisy data</vt:lpstr>
      <vt:lpstr>Binning</vt:lpstr>
      <vt:lpstr>Binning Methods: </vt:lpstr>
      <vt:lpstr>Binning methods for data smoothing </vt:lpstr>
      <vt:lpstr>Binning Methods for Data Smoothing</vt:lpstr>
      <vt:lpstr>Regression</vt:lpstr>
      <vt:lpstr>Clustering</vt:lpstr>
      <vt:lpstr>Data Integration </vt:lpstr>
      <vt:lpstr>Data integration</vt:lpstr>
      <vt:lpstr>Entity identification problem</vt:lpstr>
      <vt:lpstr>How to handle identification problem</vt:lpstr>
      <vt:lpstr>Redundancy</vt:lpstr>
      <vt:lpstr>Correlation analysis </vt:lpstr>
      <vt:lpstr>X^2 Correlation Test</vt:lpstr>
      <vt:lpstr>PowerPoint Presentation</vt:lpstr>
      <vt:lpstr>Example cont.</vt:lpstr>
      <vt:lpstr>Covariance </vt:lpstr>
      <vt:lpstr>example</vt:lpstr>
      <vt:lpstr>Correlation coefficient</vt:lpstr>
      <vt:lpstr>Data reduction</vt:lpstr>
      <vt:lpstr>Data reduction</vt:lpstr>
      <vt:lpstr>dimensionality reduction</vt:lpstr>
      <vt:lpstr>Principal component analysis</vt:lpstr>
      <vt:lpstr>Attribute subset selection</vt:lpstr>
      <vt:lpstr>PowerPoint Presentation</vt:lpstr>
      <vt:lpstr>Numerosity reduction</vt:lpstr>
      <vt:lpstr>Numerosity reduction</vt:lpstr>
      <vt:lpstr>Histograms</vt:lpstr>
      <vt:lpstr>PowerPoint Presentation</vt:lpstr>
      <vt:lpstr>Data compression</vt:lpstr>
      <vt:lpstr>Data compression</vt:lpstr>
      <vt:lpstr>Data compression</vt:lpstr>
      <vt:lpstr>Data transformation</vt:lpstr>
      <vt:lpstr>Data transformation</vt:lpstr>
      <vt:lpstr>Normalization techniques:</vt:lpstr>
      <vt:lpstr>min-max normalization</vt:lpstr>
      <vt:lpstr>Example</vt:lpstr>
      <vt:lpstr>z-score normalization</vt:lpstr>
      <vt:lpstr>Decimal Scaling</vt:lpstr>
      <vt:lpstr>Normalization</vt:lpstr>
      <vt:lpstr>discretization </vt:lpstr>
      <vt:lpstr>Why Discretization is Used?</vt:lpstr>
      <vt:lpstr>Discretization by Binning</vt:lpstr>
      <vt:lpstr>Discretization by Binning: Example</vt:lpstr>
      <vt:lpstr>Discretization by Binning: Example</vt:lpstr>
      <vt:lpstr>Discretization by Histogram Analysis</vt:lpstr>
      <vt:lpstr>Discretization methods:</vt:lpstr>
      <vt:lpstr>Binarization</vt:lpstr>
      <vt:lpstr>Binarization</vt:lpstr>
      <vt:lpstr>Binarization</vt:lpstr>
      <vt:lpstr>Binarization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and visualization</dc:title>
  <dc:creator>NUCES</dc:creator>
  <cp:lastModifiedBy>Dr.Kashif Zafar</cp:lastModifiedBy>
  <cp:revision>84</cp:revision>
  <dcterms:created xsi:type="dcterms:W3CDTF">2023-08-29T04:20:00Z</dcterms:created>
  <dcterms:modified xsi:type="dcterms:W3CDTF">2026-02-03T21:22:48Z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84540C4EBD2D4569A0BD83EB1092F92A</vt:lpwstr>
  </property>
  <property fmtid="{D5CDD505-2E9C-101B-9397-08002B2CF9AE}" pid="3" name="KSOProductBuildVer">
    <vt:lpwstr>1033-11.2.0.11537</vt:lpwstr>
  </property>
</Properties>
</file>