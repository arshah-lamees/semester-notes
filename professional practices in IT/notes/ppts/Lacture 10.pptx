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6"/>
  </p:notesMasterIdLst>
  <p:sldIdLst>
    <p:sldId id="256" r:id="rId2"/>
    <p:sldId id="257" r:id="rId3"/>
    <p:sldId id="258" r:id="rId4"/>
    <p:sldId id="259" r:id="rId5"/>
    <p:sldId id="260" r:id="rId6"/>
    <p:sldId id="261" r:id="rId7"/>
    <p:sldId id="262" r:id="rId8"/>
    <p:sldId id="289"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Lst>
  <p:sldSz cx="12192000" cy="6858000"/>
  <p:notesSz cx="6858000" cy="9144000"/>
  <p:embeddedFontLst>
    <p:embeddedFont>
      <p:font typeface="Open Sans" panose="020B0606030504020204" pitchFamily="34" charset="0"/>
      <p:regular r:id="rId37"/>
      <p:bold r:id="rId38"/>
      <p:italic r:id="rId39"/>
      <p:boldItalic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834" autoAdjust="0"/>
  </p:normalViewPr>
  <p:slideViewPr>
    <p:cSldViewPr snapToGrid="0">
      <p:cViewPr varScale="1">
        <p:scale>
          <a:sx n="88" d="100"/>
          <a:sy n="88" d="100"/>
        </p:scale>
        <p:origin x="466" y="8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1.fntdata"/><Relationship Id="rId40"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39086153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608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2" name="Google Shape;9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23854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00908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01768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 name="Google Shape;110;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812967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6" name="Google Shape;11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46845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2" name="Google Shape;122;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23107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8" name="Google Shape;12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3131627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
        <p:cNvGrpSpPr/>
        <p:nvPr/>
      </p:nvGrpSpPr>
      <p:grpSpPr>
        <a:xfrm>
          <a:off x="0" y="0"/>
          <a:ext cx="0" cy="0"/>
          <a:chOff x="0" y="0"/>
          <a:chExt cx="0" cy="0"/>
        </a:xfrm>
      </p:grpSpPr>
      <p:sp>
        <p:nvSpPr>
          <p:cNvPr id="133" name="Google Shape;133;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4" name="Google Shape;13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396643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0" name="Google Shape;140;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27931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6" name="Google Shape;146;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6355844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2" name="Google Shape;15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Solution:</a:t>
            </a:r>
            <a:endParaRPr/>
          </a:p>
          <a:p>
            <a:pPr marL="0" lvl="0" indent="0" algn="l" rtl="0">
              <a:lnSpc>
                <a:spcPct val="100000"/>
              </a:lnSpc>
              <a:spcBef>
                <a:spcPts val="0"/>
              </a:spcBef>
              <a:spcAft>
                <a:spcPts val="0"/>
              </a:spcAft>
              <a:buSzPts val="1400"/>
              <a:buNone/>
            </a:pPr>
            <a:r>
              <a:rPr lang="en-US" sz="1200" b="0" i="0">
                <a:solidFill>
                  <a:schemeClr val="dk1"/>
                </a:solidFill>
                <a:latin typeface="Calibri"/>
                <a:ea typeface="Calibri"/>
                <a:cs typeface="Calibri"/>
                <a:sym typeface="Calibri"/>
              </a:rPr>
              <a:t>The answer is that the contract should provide a</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procedure for making variations to the specification or job description, then follow this</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through by providing a method of calculating payment for work done to facilitate the</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changes, and also perhaps provide for a variation of the level of anticipated performance,</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and maybe also vary the method of acceptance testing. In other words, once again, the</a:t>
            </a:r>
            <a:br>
              <a:rPr lang="en-US" sz="1200" b="0" i="0">
                <a:solidFill>
                  <a:schemeClr val="dk1"/>
                </a:solidFill>
                <a:latin typeface="Calibri"/>
                <a:ea typeface="Calibri"/>
                <a:cs typeface="Calibri"/>
                <a:sym typeface="Calibri"/>
              </a:rPr>
            </a:br>
            <a:r>
              <a:rPr lang="en-US" sz="1200" b="0" i="0">
                <a:solidFill>
                  <a:schemeClr val="dk1"/>
                </a:solidFill>
                <a:latin typeface="Calibri"/>
                <a:ea typeface="Calibri"/>
                <a:cs typeface="Calibri"/>
                <a:sym typeface="Calibri"/>
              </a:rPr>
              <a:t>contract should anticipate events and provide an agreed formula for modification.</a:t>
            </a:r>
            <a:r>
              <a:rPr lang="en-US"/>
              <a:t> </a:t>
            </a:r>
            <a:br>
              <a:rPr lang="en-US"/>
            </a:br>
            <a:endParaRPr/>
          </a:p>
        </p:txBody>
      </p:sp>
      <p:sp>
        <p:nvSpPr>
          <p:cNvPr id="153" name="Google Shape;15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extLst>
      <p:ext uri="{BB962C8B-B14F-4D97-AF65-F5344CB8AC3E}">
        <p14:creationId xmlns:p14="http://schemas.microsoft.com/office/powerpoint/2010/main" val="170087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9" name="Google Shape;159;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2472953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5" name="Google Shape;165;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dirty="0">
                <a:solidFill>
                  <a:srgbClr val="202124"/>
                </a:solidFill>
                <a:latin typeface="arial"/>
                <a:ea typeface="arial"/>
                <a:cs typeface="arial"/>
                <a:sym typeface="arial"/>
              </a:rPr>
              <a:t>An Exclusive </a:t>
            </a:r>
            <a:r>
              <a:rPr lang="en-US" b="0" i="0" dirty="0" err="1">
                <a:solidFill>
                  <a:srgbClr val="202124"/>
                </a:solidFill>
                <a:latin typeface="arial"/>
                <a:ea typeface="arial"/>
                <a:cs typeface="arial"/>
                <a:sym typeface="arial"/>
              </a:rPr>
              <a:t>Licence</a:t>
            </a:r>
            <a:r>
              <a:rPr lang="en-US" b="0" i="0" dirty="0">
                <a:solidFill>
                  <a:srgbClr val="202124"/>
                </a:solidFill>
                <a:latin typeface="arial"/>
                <a:ea typeface="arial"/>
                <a:cs typeface="arial"/>
                <a:sym typeface="arial"/>
              </a:rPr>
              <a:t> means that </a:t>
            </a:r>
            <a:r>
              <a:rPr lang="en-US" b="1" i="0" dirty="0">
                <a:solidFill>
                  <a:srgbClr val="202124"/>
                </a:solidFill>
                <a:latin typeface="arial"/>
                <a:ea typeface="arial"/>
                <a:cs typeface="arial"/>
                <a:sym typeface="arial"/>
              </a:rPr>
              <a:t>no person or company other than the named licensee can exploit the relevant intellectual property rights</a:t>
            </a:r>
            <a:r>
              <a:rPr lang="en-US" b="0" i="0" dirty="0">
                <a:solidFill>
                  <a:srgbClr val="202124"/>
                </a:solidFill>
                <a:latin typeface="arial"/>
                <a:ea typeface="arial"/>
                <a:cs typeface="arial"/>
                <a:sym typeface="arial"/>
              </a:rPr>
              <a:t>.</a:t>
            </a:r>
          </a:p>
          <a:p>
            <a:pPr marL="0" lvl="0" indent="0" algn="l" rtl="0">
              <a:lnSpc>
                <a:spcPct val="100000"/>
              </a:lnSpc>
              <a:spcBef>
                <a:spcPts val="0"/>
              </a:spcBef>
              <a:spcAft>
                <a:spcPts val="0"/>
              </a:spcAft>
              <a:buSzPts val="1400"/>
              <a:buNone/>
            </a:pPr>
            <a:r>
              <a:rPr lang="en-US" dirty="0"/>
              <a:t>Chapter 6. As we shall see there, software is potentially protectable by a number of intellectual property rights, such as copyright, design rights, confidentiality and trade marks.</a:t>
            </a:r>
            <a:endParaRPr dirty="0"/>
          </a:p>
        </p:txBody>
      </p:sp>
      <p:sp>
        <p:nvSpPr>
          <p:cNvPr id="166" name="Google Shape;166;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extLst>
      <p:ext uri="{BB962C8B-B14F-4D97-AF65-F5344CB8AC3E}">
        <p14:creationId xmlns:p14="http://schemas.microsoft.com/office/powerpoint/2010/main" val="3660539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2" name="Google Shape;17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43019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010429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4" name="Google Shape;18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3822185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Discretion: </a:t>
            </a:r>
            <a:r>
              <a:rPr lang="en-US" b="0" i="0">
                <a:solidFill>
                  <a:srgbClr val="202124"/>
                </a:solidFill>
                <a:latin typeface="arial"/>
                <a:ea typeface="arial"/>
                <a:cs typeface="arial"/>
                <a:sym typeface="arial"/>
              </a:rPr>
              <a:t>the freedom to decide what should be done in a particular situation.</a:t>
            </a:r>
            <a:endParaRPr/>
          </a:p>
          <a:p>
            <a:pPr marL="0" lvl="0" indent="0" algn="l" rtl="0">
              <a:lnSpc>
                <a:spcPct val="100000"/>
              </a:lnSpc>
              <a:spcBef>
                <a:spcPts val="0"/>
              </a:spcBef>
              <a:spcAft>
                <a:spcPts val="0"/>
              </a:spcAft>
              <a:buSzPts val="1400"/>
              <a:buNone/>
            </a:pPr>
            <a:r>
              <a:rPr lang="en-US" b="0" i="0">
                <a:solidFill>
                  <a:srgbClr val="202124"/>
                </a:solidFill>
                <a:latin typeface="arial"/>
                <a:ea typeface="arial"/>
                <a:cs typeface="arial"/>
                <a:sym typeface="arial"/>
              </a:rPr>
              <a:t>the minimum rate set by the Reserve Bank below which banks are not allowed to lend to its customers</a:t>
            </a:r>
            <a:endParaRPr/>
          </a:p>
          <a:p>
            <a:pPr marL="0" lvl="0" indent="0" algn="l" rtl="0">
              <a:lnSpc>
                <a:spcPct val="100000"/>
              </a:lnSpc>
              <a:spcBef>
                <a:spcPts val="0"/>
              </a:spcBef>
              <a:spcAft>
                <a:spcPts val="0"/>
              </a:spcAft>
              <a:buSzPts val="1400"/>
              <a:buNone/>
            </a:pPr>
            <a:r>
              <a:rPr lang="en-US" b="0" i="0">
                <a:solidFill>
                  <a:srgbClr val="5F6368"/>
                </a:solidFill>
                <a:latin typeface="arial"/>
                <a:ea typeface="arial"/>
                <a:cs typeface="arial"/>
                <a:sym typeface="arial"/>
              </a:rPr>
              <a:t>Banks</a:t>
            </a:r>
            <a:r>
              <a:rPr lang="en-US" b="0" i="0">
                <a:solidFill>
                  <a:srgbClr val="4D5156"/>
                </a:solidFill>
                <a:latin typeface="arial"/>
                <a:ea typeface="arial"/>
                <a:cs typeface="arial"/>
                <a:sym typeface="arial"/>
              </a:rPr>
              <a:t> used to follow the </a:t>
            </a:r>
            <a:r>
              <a:rPr lang="en-US" b="0" i="0">
                <a:solidFill>
                  <a:srgbClr val="5F6368"/>
                </a:solidFill>
                <a:latin typeface="arial"/>
                <a:ea typeface="arial"/>
                <a:cs typeface="arial"/>
                <a:sym typeface="arial"/>
              </a:rPr>
              <a:t>Base Lending Rate</a:t>
            </a:r>
            <a:r>
              <a:rPr lang="en-US" b="0" i="0">
                <a:solidFill>
                  <a:srgbClr val="4D5156"/>
                </a:solidFill>
                <a:latin typeface="arial"/>
                <a:ea typeface="arial"/>
                <a:cs typeface="arial"/>
                <a:sym typeface="arial"/>
              </a:rPr>
              <a:t> (BLR) to determine the interest rate to apply to your home loan</a:t>
            </a:r>
            <a:endParaRPr b="0"/>
          </a:p>
        </p:txBody>
      </p:sp>
      <p:sp>
        <p:nvSpPr>
          <p:cNvPr id="191" name="Google Shape;191;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19</a:t>
            </a:fld>
            <a:endParaRPr/>
          </a:p>
        </p:txBody>
      </p:sp>
    </p:spTree>
    <p:extLst>
      <p:ext uri="{BB962C8B-B14F-4D97-AF65-F5344CB8AC3E}">
        <p14:creationId xmlns:p14="http://schemas.microsoft.com/office/powerpoint/2010/main" val="4943087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7" name="Google Shape;197;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Premium:</a:t>
            </a:r>
            <a:r>
              <a:rPr lang="en-US" b="0" i="0">
                <a:solidFill>
                  <a:srgbClr val="202124"/>
                </a:solidFill>
                <a:latin typeface="arial"/>
                <a:ea typeface="arial"/>
                <a:cs typeface="arial"/>
                <a:sym typeface="arial"/>
              </a:rPr>
              <a:t>an amount to be paid for a contract of insurance</a:t>
            </a:r>
            <a:endParaRPr/>
          </a:p>
        </p:txBody>
      </p:sp>
      <p:sp>
        <p:nvSpPr>
          <p:cNvPr id="198" name="Google Shape;198;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extLst>
      <p:ext uri="{BB962C8B-B14F-4D97-AF65-F5344CB8AC3E}">
        <p14:creationId xmlns:p14="http://schemas.microsoft.com/office/powerpoint/2010/main" val="25419369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4" name="Google Shape;204;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46582820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0" name="Google Shape;210;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50220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6" name="Google Shape;21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7" name="Google Shape;217;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extLst>
      <p:ext uri="{BB962C8B-B14F-4D97-AF65-F5344CB8AC3E}">
        <p14:creationId xmlns:p14="http://schemas.microsoft.com/office/powerpoint/2010/main" val="1131984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203561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9" name="Google Shape;22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90190345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5" name="Google Shape;23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7642199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8368495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7" name="Google Shape;247;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a:solidFill>
                  <a:srgbClr val="202124"/>
                </a:solidFill>
                <a:latin typeface="arial"/>
                <a:ea typeface="arial"/>
                <a:cs typeface="arial"/>
                <a:sym typeface="arial"/>
              </a:rPr>
              <a:t>Arbitration is </a:t>
            </a:r>
            <a:r>
              <a:rPr lang="en-US" b="1" i="0">
                <a:solidFill>
                  <a:srgbClr val="202124"/>
                </a:solidFill>
                <a:latin typeface="arial"/>
                <a:ea typeface="arial"/>
                <a:cs typeface="arial"/>
                <a:sym typeface="arial"/>
              </a:rPr>
              <a:t>a procedure in which a dispute is submitted, by agreement of the parties</a:t>
            </a:r>
            <a:r>
              <a:rPr lang="en-US" b="0" i="0">
                <a:solidFill>
                  <a:srgbClr val="202124"/>
                </a:solidFill>
                <a:latin typeface="arial"/>
                <a:ea typeface="arial"/>
                <a:cs typeface="arial"/>
                <a:sym typeface="arial"/>
              </a:rPr>
              <a:t>, to one or more arbitrators who make a binding decision on the dispute</a:t>
            </a:r>
            <a:endParaRPr/>
          </a:p>
        </p:txBody>
      </p:sp>
      <p:sp>
        <p:nvSpPr>
          <p:cNvPr id="248" name="Google Shape;248;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extLst>
      <p:ext uri="{BB962C8B-B14F-4D97-AF65-F5344CB8AC3E}">
        <p14:creationId xmlns:p14="http://schemas.microsoft.com/office/powerpoint/2010/main" val="355497904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4" name="Google Shape;254;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90495789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 name="Google Shape;260;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615742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6" name="Google Shape;26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434549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2" name="Google Shape;272;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a:solidFill>
                  <a:srgbClr val="555555"/>
                </a:solidFill>
                <a:latin typeface="Open Sans"/>
                <a:ea typeface="Open Sans"/>
                <a:cs typeface="Open Sans"/>
                <a:sym typeface="Open Sans"/>
              </a:rPr>
              <a:t>For example, Joe the contractor has just been contacted by a homeowner who wants him to design and build a saltwater fish tank in the middle of the homeowner's home. Since this is a custom job and requires Joe to work on part of the house, Joe uses a time and materials contract to make sure he gets paid what he needs in order to do the job. This type of contract has the homeowner paying Joe for any materials he needs as well as all the time he needs to put in to finish the custom built tank.</a:t>
            </a:r>
            <a:endParaRPr/>
          </a:p>
        </p:txBody>
      </p:sp>
      <p:sp>
        <p:nvSpPr>
          <p:cNvPr id="273" name="Google Shape;273;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extLst>
      <p:ext uri="{BB962C8B-B14F-4D97-AF65-F5344CB8AC3E}">
        <p14:creationId xmlns:p14="http://schemas.microsoft.com/office/powerpoint/2010/main" val="160834184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9" name="Google Shape;27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b="0" i="0">
                <a:solidFill>
                  <a:srgbClr val="555555"/>
                </a:solidFill>
                <a:latin typeface="Open Sans"/>
                <a:ea typeface="Open Sans"/>
                <a:cs typeface="Open Sans"/>
                <a:sym typeface="Open Sans"/>
              </a:rPr>
              <a:t>For example, Joe the contractor has just been contacted by a homeowner who wants him to design and build a saltwater fish tank in the middle of the homeowner's home. Since this is a custom job and requires Joe to work on part of the house, Joe uses a time and materials contract to make sure he gets paid what he needs in order to do the job. This type of contract has the homeowner paying Joe for any materials he needs as well as all the time he needs to put in to finish the custom built tank.</a:t>
            </a:r>
            <a:endParaRPr/>
          </a:p>
        </p:txBody>
      </p:sp>
      <p:sp>
        <p:nvSpPr>
          <p:cNvPr id="280" name="Google Shape;280;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extLst>
      <p:ext uri="{BB962C8B-B14F-4D97-AF65-F5344CB8AC3E}">
        <p14:creationId xmlns:p14="http://schemas.microsoft.com/office/powerpoint/2010/main" val="380975074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721846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2"/>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2"/>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0"/>
          <p:cNvSpPr>
            <a:spLocks noGrp="1"/>
          </p:cNvSpPr>
          <p:nvPr>
            <p:ph type="pic" idx="2"/>
          </p:nvPr>
        </p:nvSpPr>
        <p:spPr>
          <a:xfrm>
            <a:off x="5183188" y="987425"/>
            <a:ext cx="6172200" cy="4873625"/>
          </a:xfrm>
          <a:prstGeom prst="rect">
            <a:avLst/>
          </a:prstGeom>
          <a:noFill/>
          <a:ln>
            <a:noFill/>
          </a:ln>
        </p:spPr>
      </p:sp>
      <p:sp>
        <p:nvSpPr>
          <p:cNvPr id="68" name="Google Shape;68;p1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524000" y="1134889"/>
            <a:ext cx="9144000" cy="2387600"/>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Calibri"/>
              <a:buNone/>
            </a:pPr>
            <a:r>
              <a:rPr lang="en-US"/>
              <a:t>Computer Contracts</a:t>
            </a:r>
            <a:endParaRPr/>
          </a:p>
        </p:txBody>
      </p:sp>
      <p:sp>
        <p:nvSpPr>
          <p:cNvPr id="89" name="Google Shape;89;p1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Introduction</a:t>
            </a:r>
            <a:endParaRPr/>
          </a:p>
        </p:txBody>
      </p:sp>
      <p:sp>
        <p:nvSpPr>
          <p:cNvPr id="95" name="Google Shape;95;p1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An agreement between two or more parties for the doing or not doing of something specified</a:t>
            </a:r>
            <a:endParaRPr/>
          </a:p>
          <a:p>
            <a:pPr marL="228600" lvl="0" indent="-228600" algn="l" rtl="0">
              <a:lnSpc>
                <a:spcPct val="90000"/>
              </a:lnSpc>
              <a:spcBef>
                <a:spcPts val="1000"/>
              </a:spcBef>
              <a:spcAft>
                <a:spcPts val="0"/>
              </a:spcAft>
              <a:buClr>
                <a:schemeClr val="dk1"/>
              </a:buClr>
              <a:buSzPts val="2800"/>
              <a:buChar char="•"/>
            </a:pPr>
            <a:r>
              <a:rPr lang="en-US"/>
              <a:t>Contracts serve the following purpose:</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Contracts set out the </a:t>
            </a:r>
            <a:r>
              <a:rPr lang="en-US" b="1"/>
              <a:t>agreement</a:t>
            </a:r>
            <a:r>
              <a:rPr lang="en-US"/>
              <a:t> between the parties</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 they set out the </a:t>
            </a:r>
            <a:r>
              <a:rPr lang="en-US" b="1"/>
              <a:t>aims</a:t>
            </a:r>
            <a:r>
              <a:rPr lang="en-US"/>
              <a:t> of the parties; </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provide for </a:t>
            </a:r>
            <a:r>
              <a:rPr lang="en-US" b="1"/>
              <a:t>matters arising </a:t>
            </a:r>
            <a:r>
              <a:rPr lang="en-US"/>
              <a:t>while the contract is running,</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 ways of </a:t>
            </a:r>
            <a:r>
              <a:rPr lang="en-US" b="1"/>
              <a:t>terminating</a:t>
            </a:r>
            <a:r>
              <a:rPr lang="en-US"/>
              <a:t> the contract and the consequences of termination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Introduction</a:t>
            </a:r>
            <a:endParaRPr/>
          </a:p>
        </p:txBody>
      </p:sp>
      <p:sp>
        <p:nvSpPr>
          <p:cNvPr id="101" name="Google Shape;101;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a:p>
            <a:pPr marL="228600" lvl="0" indent="-228600" algn="l" rtl="0">
              <a:lnSpc>
                <a:spcPct val="90000"/>
              </a:lnSpc>
              <a:spcBef>
                <a:spcPts val="1000"/>
              </a:spcBef>
              <a:spcAft>
                <a:spcPts val="0"/>
              </a:spcAft>
              <a:buClr>
                <a:schemeClr val="dk1"/>
              </a:buClr>
              <a:buSzPts val="2800"/>
              <a:buChar char="•"/>
            </a:pPr>
            <a:r>
              <a:rPr lang="en-US"/>
              <a:t>If contracts are too harsh or unfair causing any issue between parties  to be unresolved, it is the responsibility of the  contract laws to  contemplate according to the rules. </a:t>
            </a:r>
            <a:endParaRPr/>
          </a:p>
          <a:p>
            <a:pPr marL="228600" lvl="0" indent="-228600" algn="l" rtl="0">
              <a:lnSpc>
                <a:spcPct val="90000"/>
              </a:lnSpc>
              <a:spcBef>
                <a:spcPts val="1000"/>
              </a:spcBef>
              <a:spcAft>
                <a:spcPts val="0"/>
              </a:spcAft>
              <a:buClr>
                <a:schemeClr val="dk1"/>
              </a:buClr>
              <a:buSzPts val="2800"/>
              <a:buChar char="•"/>
            </a:pPr>
            <a:r>
              <a:rPr lang="en-US"/>
              <a:t>contract law provides rules for the termination of the contract if performance becomes impossible</a:t>
            </a:r>
            <a:endParaRPr/>
          </a:p>
          <a:p>
            <a:pPr marL="228600" lvl="0" indent="-228600" algn="l" rtl="0">
              <a:lnSpc>
                <a:spcPct val="90000"/>
              </a:lnSpc>
              <a:spcBef>
                <a:spcPts val="1000"/>
              </a:spcBef>
              <a:spcAft>
                <a:spcPts val="0"/>
              </a:spcAft>
              <a:buClr>
                <a:schemeClr val="dk1"/>
              </a:buClr>
              <a:buSzPts val="2800"/>
              <a:buChar char="•"/>
            </a:pPr>
            <a:r>
              <a:rPr lang="en-US"/>
              <a:t>it sets aside contracts which are too harsh or unconscionable(unreasonable)</a:t>
            </a:r>
            <a:endParaRPr/>
          </a:p>
          <a:p>
            <a:pPr marL="228600" lvl="0" indent="-50800" algn="l" rtl="0">
              <a:lnSpc>
                <a:spcPct val="90000"/>
              </a:lnSpc>
              <a:spcBef>
                <a:spcPts val="1000"/>
              </a:spcBef>
              <a:spcAft>
                <a:spcPts val="0"/>
              </a:spcAft>
              <a:buClr>
                <a:schemeClr val="dk1"/>
              </a:buClr>
              <a:buSzPts val="28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Introduction</a:t>
            </a:r>
            <a:endParaRPr/>
          </a:p>
        </p:txBody>
      </p:sp>
      <p:sp>
        <p:nvSpPr>
          <p:cNvPr id="107" name="Google Shape;107;p1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There are almost never disputes over contracts which run perfectly e.g marriage</a:t>
            </a:r>
            <a:endParaRPr/>
          </a:p>
          <a:p>
            <a:pPr marL="228600" lvl="0" indent="-228600" algn="l" rtl="0">
              <a:lnSpc>
                <a:spcPct val="90000"/>
              </a:lnSpc>
              <a:spcBef>
                <a:spcPts val="1000"/>
              </a:spcBef>
              <a:spcAft>
                <a:spcPts val="0"/>
              </a:spcAft>
              <a:buClr>
                <a:schemeClr val="dk1"/>
              </a:buClr>
              <a:buSzPts val="2800"/>
              <a:buChar char="•"/>
            </a:pPr>
            <a:r>
              <a:rPr lang="en-US"/>
              <a:t>Example: ship to carry a cargo</a:t>
            </a:r>
            <a:endParaRPr/>
          </a:p>
          <a:p>
            <a:pPr marL="228600" lvl="0" indent="-228600" algn="l" rtl="0">
              <a:lnSpc>
                <a:spcPct val="90000"/>
              </a:lnSpc>
              <a:spcBef>
                <a:spcPts val="1000"/>
              </a:spcBef>
              <a:spcAft>
                <a:spcPts val="0"/>
              </a:spcAft>
              <a:buClr>
                <a:schemeClr val="dk1"/>
              </a:buClr>
              <a:buSzPts val="2800"/>
              <a:buChar char="•"/>
            </a:pPr>
            <a:r>
              <a:rPr lang="en-US"/>
              <a:t>In order to avoid disputes and future difficulties it is better to draft a document which sets out:</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The terms on which both parties is to work.</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Methods of payment.</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Appropriate ways to terminate the contract-notice required.</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Introduction</a:t>
            </a:r>
            <a:endParaRPr/>
          </a:p>
        </p:txBody>
      </p:sp>
      <p:sp>
        <p:nvSpPr>
          <p:cNvPr id="113" name="Google Shape;113;p17"/>
          <p:cNvSpPr txBox="1">
            <a:spLocks noGrp="1"/>
          </p:cNvSpPr>
          <p:nvPr>
            <p:ph type="body" idx="1"/>
          </p:nvPr>
        </p:nvSpPr>
        <p:spPr>
          <a:xfrm>
            <a:off x="811696" y="1560581"/>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600"/>
              <a:buChar char="•"/>
            </a:pPr>
            <a:r>
              <a:rPr lang="en-US" sz="2600"/>
              <a:t>One noticeable growth area is e-commerce. However, again the law is able to cope, sometimes with minor modifications, e.g. relating to electronic signatures to documents exchanged over the Net. Since the advent of the Internet, the market has globalized to a far greater extent than ever before, and there is greater need for international harmonization of laws. The EU has therefore been very active in line with its policy of removing distortions of trade within the internal market and also in facilitating trade by EU businesses. There are therefore directives and proposals for directives on:</a:t>
            </a:r>
            <a:br>
              <a:rPr lang="en-US" sz="2600"/>
            </a:br>
            <a:r>
              <a:rPr lang="en-US" sz="2600"/>
              <a:t>1. electronic signatures;</a:t>
            </a:r>
            <a:br>
              <a:rPr lang="en-US" sz="2600"/>
            </a:br>
            <a:r>
              <a:rPr lang="en-US" sz="2600"/>
              <a:t>2. electronic commerce;</a:t>
            </a:r>
            <a:br>
              <a:rPr lang="en-US" sz="2600"/>
            </a:br>
            <a:r>
              <a:rPr lang="en-US" sz="2600"/>
              <a:t>3. distance contracts;</a:t>
            </a:r>
            <a:br>
              <a:rPr lang="en-US" sz="2600"/>
            </a:br>
            <a:r>
              <a:rPr lang="en-US" sz="2600"/>
              <a:t>4. distance selling of financial services. </a:t>
            </a:r>
            <a:br>
              <a:rPr lang="en-US" sz="2600"/>
            </a:br>
            <a:endParaRPr sz="26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Introduction</a:t>
            </a:r>
            <a:endParaRPr/>
          </a:p>
        </p:txBody>
      </p:sp>
      <p:sp>
        <p:nvSpPr>
          <p:cNvPr id="119" name="Google Shape;119;p18"/>
          <p:cNvSpPr txBox="1">
            <a:spLocks noGrp="1"/>
          </p:cNvSpPr>
          <p:nvPr>
            <p:ph type="body" idx="1"/>
          </p:nvPr>
        </p:nvSpPr>
        <p:spPr>
          <a:xfrm>
            <a:off x="811696" y="1560581"/>
            <a:ext cx="10515600" cy="4351338"/>
          </a:xfrm>
          <a:prstGeom prst="rect">
            <a:avLst/>
          </a:prstGeom>
          <a:noFill/>
          <a:ln>
            <a:noFill/>
          </a:ln>
        </p:spPr>
        <p:txBody>
          <a:bodyPr spcFirstLastPara="1" wrap="square" lIns="91425" tIns="45700" rIns="91425" bIns="45700" anchor="t" anchorCtr="0">
            <a:noAutofit/>
          </a:bodyPr>
          <a:lstStyle/>
          <a:p>
            <a:pPr marL="228600" lvl="0" indent="-228600" algn="l" rtl="0">
              <a:lnSpc>
                <a:spcPct val="90000"/>
              </a:lnSpc>
              <a:spcBef>
                <a:spcPts val="0"/>
              </a:spcBef>
              <a:spcAft>
                <a:spcPts val="0"/>
              </a:spcAft>
              <a:buClr>
                <a:schemeClr val="dk1"/>
              </a:buClr>
              <a:buSzPts val="2600"/>
              <a:buChar char="•"/>
            </a:pPr>
            <a:r>
              <a:rPr lang="en-US" sz="2600"/>
              <a:t>One of the problems with computing contracts is that many lawyers are still not familiar with the technology. But, on the other hand, even fewer computer scientists are familiar with the law; and as both lawyers and computer scientists use jargon known almost only to themselves, the difficulties are compounded.</a:t>
            </a:r>
            <a:endParaRPr/>
          </a:p>
          <a:p>
            <a:pPr marL="228600" lvl="0" indent="-228600" algn="l" rtl="0">
              <a:lnSpc>
                <a:spcPct val="90000"/>
              </a:lnSpc>
              <a:spcBef>
                <a:spcPts val="1000"/>
              </a:spcBef>
              <a:spcAft>
                <a:spcPts val="0"/>
              </a:spcAft>
              <a:buClr>
                <a:schemeClr val="dk1"/>
              </a:buClr>
              <a:buSzPts val="2600"/>
              <a:buChar char="•"/>
            </a:pPr>
            <a:r>
              <a:rPr lang="en-US" sz="2600"/>
              <a:t>Hilary Pearson 1 made a very telling statement when she said that, while optimists make the best deal makers, pessimists make the best contract writers. </a:t>
            </a:r>
            <a:endParaRPr sz="2600"/>
          </a:p>
          <a:p>
            <a:pPr marL="228600" lvl="0" indent="-228600" algn="l" rtl="0">
              <a:lnSpc>
                <a:spcPct val="90000"/>
              </a:lnSpc>
              <a:spcBef>
                <a:spcPts val="1000"/>
              </a:spcBef>
              <a:spcAft>
                <a:spcPts val="0"/>
              </a:spcAft>
              <a:buClr>
                <a:schemeClr val="dk1"/>
              </a:buClr>
              <a:buSzPts val="2600"/>
              <a:buChar char="•"/>
            </a:pPr>
            <a:r>
              <a:rPr lang="en-US" sz="2600"/>
              <a:t>When it comes to drafting a contract, lawyers in particular are born pessimists. This often gives rise to frustration on the part of a business client who is excited by the possibilities of a deal which may have taken considerable time and effort to negotiate. Resolving potential and hypothetical points of difficulty may just be seen as time-wasting by the client. </a:t>
            </a:r>
            <a:br>
              <a:rPr lang="en-US" sz="2400"/>
            </a:br>
            <a:br>
              <a:rPr lang="en-US" sz="2400"/>
            </a:br>
            <a:r>
              <a:rPr lang="en-US" sz="2400"/>
              <a:t> </a:t>
            </a:r>
            <a:br>
              <a:rPr lang="en-US" sz="2400"/>
            </a:br>
            <a:endParaRPr sz="26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Introduction</a:t>
            </a:r>
            <a:endParaRPr/>
          </a:p>
        </p:txBody>
      </p:sp>
      <p:sp>
        <p:nvSpPr>
          <p:cNvPr id="125" name="Google Shape;125;p19"/>
          <p:cNvSpPr txBox="1">
            <a:spLocks noGrp="1"/>
          </p:cNvSpPr>
          <p:nvPr>
            <p:ph type="body" idx="1"/>
          </p:nvPr>
        </p:nvSpPr>
        <p:spPr>
          <a:xfrm>
            <a:off x="838200" y="1865381"/>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Contract should be clear, consistent and concise. It is important that a contract is set out in a clear and logical manner and that it is complete and consistent</a:t>
            </a:r>
            <a:endParaRPr/>
          </a:p>
          <a:p>
            <a:pPr marL="228600" lvl="0" indent="-228600" algn="l" rtl="0">
              <a:lnSpc>
                <a:spcPct val="90000"/>
              </a:lnSpc>
              <a:spcBef>
                <a:spcPts val="1000"/>
              </a:spcBef>
              <a:spcAft>
                <a:spcPts val="0"/>
              </a:spcAft>
              <a:buClr>
                <a:schemeClr val="dk1"/>
              </a:buClr>
              <a:buSzPts val="2800"/>
              <a:buChar char="•"/>
            </a:pPr>
            <a:r>
              <a:rPr lang="en-US"/>
              <a:t>There should be no ambiguity and the parties to the agreement should be left in no doubt as to their rights and duties.</a:t>
            </a:r>
            <a:endParaRPr/>
          </a:p>
          <a:p>
            <a:pPr marL="228600" lvl="0" indent="-228600" algn="l" rtl="0">
              <a:lnSpc>
                <a:spcPct val="90000"/>
              </a:lnSpc>
              <a:spcBef>
                <a:spcPts val="1000"/>
              </a:spcBef>
              <a:spcAft>
                <a:spcPts val="0"/>
              </a:spcAft>
              <a:buClr>
                <a:schemeClr val="dk1"/>
              </a:buClr>
              <a:buSzPts val="2800"/>
              <a:buChar char="•"/>
            </a:pPr>
            <a:r>
              <a:rPr lang="en-US"/>
              <a:t>Ambiguity and doubts can lead to performance which is viewed as unsatisfactory. </a:t>
            </a:r>
            <a:endParaRPr/>
          </a:p>
          <a:p>
            <a:pPr marL="228600" lvl="0" indent="-228600" algn="l" rtl="0">
              <a:lnSpc>
                <a:spcPct val="90000"/>
              </a:lnSpc>
              <a:spcBef>
                <a:spcPts val="1000"/>
              </a:spcBef>
              <a:spcAft>
                <a:spcPts val="0"/>
              </a:spcAft>
              <a:buClr>
                <a:schemeClr val="dk1"/>
              </a:buClr>
              <a:buSzPts val="2800"/>
              <a:buChar char="•"/>
            </a:pPr>
            <a:r>
              <a:rPr lang="en-US"/>
              <a:t>This can lead to disagreement and the expenditure of time, effort and therefore money, in resolving the matter</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C5C93-5151-2C64-ABA7-5D30E603C384}"/>
              </a:ext>
            </a:extLst>
          </p:cNvPr>
          <p:cNvSpPr>
            <a:spLocks noGrp="1"/>
          </p:cNvSpPr>
          <p:nvPr>
            <p:ph type="title"/>
          </p:nvPr>
        </p:nvSpPr>
        <p:spPr/>
        <p:txBody>
          <a:bodyPr/>
          <a:lstStyle/>
          <a:p>
            <a:r>
              <a:rPr lang="en-US" dirty="0"/>
              <a:t>Identify the ambiguity </a:t>
            </a:r>
            <a:endParaRPr lang="en-PK" dirty="0"/>
          </a:p>
        </p:txBody>
      </p:sp>
      <p:sp>
        <p:nvSpPr>
          <p:cNvPr id="3" name="Text Placeholder 2">
            <a:extLst>
              <a:ext uri="{FF2B5EF4-FFF2-40B4-BE49-F238E27FC236}">
                <a16:creationId xmlns:a16="http://schemas.microsoft.com/office/drawing/2014/main" id="{A9091274-5114-70FD-6AEE-5BA7EBF69964}"/>
              </a:ext>
            </a:extLst>
          </p:cNvPr>
          <p:cNvSpPr>
            <a:spLocks noGrp="1"/>
          </p:cNvSpPr>
          <p:nvPr>
            <p:ph type="body" idx="1"/>
          </p:nvPr>
        </p:nvSpPr>
        <p:spPr>
          <a:xfrm>
            <a:off x="838200" y="1825625"/>
            <a:ext cx="10961914" cy="4351338"/>
          </a:xfrm>
        </p:spPr>
        <p:txBody>
          <a:bodyPr>
            <a:normAutofit/>
          </a:bodyPr>
          <a:lstStyle/>
          <a:p>
            <a:pPr marL="628650" indent="-514350">
              <a:buFont typeface="+mj-lt"/>
              <a:buAutoNum type="arabicPeriod"/>
            </a:pPr>
            <a:r>
              <a:rPr lang="en-US" sz="1600" dirty="0"/>
              <a:t>“All software, source code, documentation, and related materials produced during the term of this Agreement shall belong to the Client, except where the Developer includes any pre-existing elements or tools which, in the Developer’s opinion, are necessary for the functioning of the final product, in which case ownership of such elements shall remain with the Developer, while granting the Client sufficient rights to use them.”</a:t>
            </a:r>
          </a:p>
          <a:p>
            <a:pPr marL="628650" indent="-514350">
              <a:buFont typeface="+mj-lt"/>
              <a:buAutoNum type="arabicPeriod"/>
            </a:pPr>
            <a:r>
              <a:rPr lang="en-US" sz="1600" dirty="0"/>
              <a:t>“The Client agrees to compensate the Developer an amount deemed reasonable in light of the time, resources, and expertise required to complete the project. Payment shall be made in installments at stages that the parties mutually recognize as major milestones, provided that the Client is satisfied with the progress demonstrated by the Developer.”</a:t>
            </a:r>
          </a:p>
          <a:p>
            <a:pPr marL="628650" indent="-514350">
              <a:buFont typeface="+mj-lt"/>
              <a:buAutoNum type="arabicPeriod"/>
            </a:pPr>
            <a:r>
              <a:rPr lang="en-US" sz="1600" dirty="0"/>
              <a:t>“The Developer shall provide updates, bug fixes, and general maintenance of the software for a duration that can reasonably be expected to cover the normal functioning of the system, with the extent of such support depending on the availability of the Developer’s resources and the nature of the issues encountered by the Client.”</a:t>
            </a:r>
          </a:p>
          <a:p>
            <a:pPr marL="628650" indent="-514350">
              <a:buFont typeface="+mj-lt"/>
              <a:buAutoNum type="arabicPeriod"/>
            </a:pPr>
            <a:r>
              <a:rPr lang="en-US" sz="1600" dirty="0"/>
              <a:t>“The software shall be delivered within a timeframe appropriate to the complexity of the requirements and shall operate in accordance with acceptable industry norms, ensuring a level of performance that the Client and Developer both acknowledge as satisfactory for the intended purpose.”</a:t>
            </a:r>
          </a:p>
          <a:p>
            <a:pPr marL="628650" indent="-514350">
              <a:buFont typeface="+mj-lt"/>
              <a:buAutoNum type="arabicPeriod"/>
            </a:pPr>
            <a:r>
              <a:rPr lang="en-US" sz="1600" dirty="0"/>
              <a:t>“Either party may terminate this Agreement by providing notice within a period that is suitable given the circumstances, should the other party fail to perform its obligations to a standard that is generally regarded as timely and appropriate, or should unforeseen situations arise that make continuation of the Agreement impractical.”</a:t>
            </a:r>
          </a:p>
        </p:txBody>
      </p:sp>
    </p:spTree>
    <p:extLst>
      <p:ext uri="{BB962C8B-B14F-4D97-AF65-F5344CB8AC3E}">
        <p14:creationId xmlns:p14="http://schemas.microsoft.com/office/powerpoint/2010/main" val="19799951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9"/>
        <p:cNvGrpSpPr/>
        <p:nvPr/>
      </p:nvGrpSpPr>
      <p:grpSpPr>
        <a:xfrm>
          <a:off x="0" y="0"/>
          <a:ext cx="0" cy="0"/>
          <a:chOff x="0" y="0"/>
          <a:chExt cx="0" cy="0"/>
        </a:xfrm>
      </p:grpSpPr>
      <p:sp>
        <p:nvSpPr>
          <p:cNvPr id="130" name="Google Shape;130;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Introduction</a:t>
            </a:r>
            <a:endParaRPr/>
          </a:p>
        </p:txBody>
      </p:sp>
      <p:sp>
        <p:nvSpPr>
          <p:cNvPr id="131" name="Google Shape;131;p2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software engineers are likely to come across many different types of contract—insurance contracts, contracts of employment, contracts with hardware suppliers, consultancy contracts.</a:t>
            </a:r>
            <a:endParaRPr/>
          </a:p>
          <a:p>
            <a:pPr marL="228600" lvl="0" indent="-228600" algn="l" rtl="0">
              <a:lnSpc>
                <a:spcPct val="90000"/>
              </a:lnSpc>
              <a:spcBef>
                <a:spcPts val="1000"/>
              </a:spcBef>
              <a:spcAft>
                <a:spcPts val="0"/>
              </a:spcAft>
              <a:buClr>
                <a:schemeClr val="dk1"/>
              </a:buClr>
              <a:buSzPts val="2800"/>
              <a:buChar char="•"/>
            </a:pPr>
            <a:r>
              <a:rPr lang="en-US"/>
              <a:t>we shall concentrate on contracts which are relevant to the development and supply of software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p:cNvGrpSpPr/>
        <p:nvPr/>
      </p:nvGrpSpPr>
      <p:grpSpPr>
        <a:xfrm>
          <a:off x="0" y="0"/>
          <a:ext cx="0" cy="0"/>
          <a:chOff x="0" y="0"/>
          <a:chExt cx="0" cy="0"/>
        </a:xfrm>
      </p:grpSpPr>
      <p:sp>
        <p:nvSpPr>
          <p:cNvPr id="136" name="Google Shape;13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Contracts for the supply of custom-built software at a fixed price</a:t>
            </a:r>
            <a:endParaRPr/>
          </a:p>
        </p:txBody>
      </p:sp>
      <p:sp>
        <p:nvSpPr>
          <p:cNvPr id="137" name="Google Shape;13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20000"/>
          </a:bodyPr>
          <a:lstStyle/>
          <a:p>
            <a:pPr marL="228600" lvl="0" indent="-228600" algn="l" rtl="0">
              <a:lnSpc>
                <a:spcPct val="90000"/>
              </a:lnSpc>
              <a:spcBef>
                <a:spcPts val="0"/>
              </a:spcBef>
              <a:spcAft>
                <a:spcPts val="0"/>
              </a:spcAft>
              <a:buClr>
                <a:schemeClr val="dk1"/>
              </a:buClr>
              <a:buSzPct val="100000"/>
              <a:buChar char="•"/>
            </a:pPr>
            <a:r>
              <a:rPr lang="en-US"/>
              <a:t>Producing a good contract costs a lot of money; </a:t>
            </a:r>
            <a:endParaRPr/>
          </a:p>
          <a:p>
            <a:pPr marL="228600" lvl="0" indent="-228600" algn="l" rtl="0">
              <a:lnSpc>
                <a:spcPct val="90000"/>
              </a:lnSpc>
              <a:spcBef>
                <a:spcPts val="1000"/>
              </a:spcBef>
              <a:spcAft>
                <a:spcPts val="0"/>
              </a:spcAft>
              <a:buClr>
                <a:schemeClr val="dk1"/>
              </a:buClr>
              <a:buSzPct val="100000"/>
              <a:buChar char="•"/>
            </a:pPr>
            <a:r>
              <a:rPr lang="en-US"/>
              <a:t>good commercial lawyers are not cheap.</a:t>
            </a:r>
            <a:endParaRPr/>
          </a:p>
          <a:p>
            <a:pPr marL="228600" lvl="0" indent="-228600" algn="l" rtl="0">
              <a:lnSpc>
                <a:spcPct val="90000"/>
              </a:lnSpc>
              <a:spcBef>
                <a:spcPts val="1000"/>
              </a:spcBef>
              <a:spcAft>
                <a:spcPts val="0"/>
              </a:spcAft>
              <a:buClr>
                <a:schemeClr val="dk1"/>
              </a:buClr>
              <a:buSzPct val="100000"/>
              <a:buChar char="•"/>
            </a:pPr>
            <a:r>
              <a:rPr lang="en-US"/>
              <a:t>software suppliers try to use what are known as standard form contracts, which are used or intended to be used many times over</a:t>
            </a:r>
            <a:endParaRPr/>
          </a:p>
          <a:p>
            <a:pPr marL="0" lvl="0" indent="0" algn="l" rtl="0">
              <a:lnSpc>
                <a:spcPct val="90000"/>
              </a:lnSpc>
              <a:spcBef>
                <a:spcPts val="1000"/>
              </a:spcBef>
              <a:spcAft>
                <a:spcPts val="0"/>
              </a:spcAft>
              <a:buClr>
                <a:schemeClr val="dk1"/>
              </a:buClr>
              <a:buSzPct val="100000"/>
              <a:buNone/>
            </a:pPr>
            <a:r>
              <a:rPr lang="en-US" b="1"/>
              <a:t>Structure of the contract</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a short </a:t>
            </a:r>
            <a:r>
              <a:rPr lang="en-US" b="1"/>
              <a:t>introductory section </a:t>
            </a:r>
            <a:r>
              <a:rPr lang="en-US"/>
              <a:t>which specifies, among other things the names of the parties to the contract; </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a set of </a:t>
            </a:r>
            <a:r>
              <a:rPr lang="en-US" b="1"/>
              <a:t>standard terms and conditions</a:t>
            </a:r>
            <a:r>
              <a:rPr lang="en-US"/>
              <a:t>; </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a set of appendices or </a:t>
            </a:r>
            <a:r>
              <a:rPr lang="en-US" b="1"/>
              <a:t>annexes</a:t>
            </a:r>
            <a:r>
              <a:rPr lang="en-US"/>
              <a:t>. (</a:t>
            </a:r>
            <a:r>
              <a:rPr lang="en-US" b="0" i="0">
                <a:solidFill>
                  <a:srgbClr val="202124"/>
                </a:solidFill>
                <a:latin typeface="arial"/>
                <a:ea typeface="arial"/>
                <a:cs typeface="arial"/>
                <a:sym typeface="arial"/>
              </a:rPr>
              <a:t>an addition to a document.)</a:t>
            </a:r>
            <a:endParaRPr/>
          </a:p>
          <a:p>
            <a:pPr marL="0" lvl="0" indent="0" algn="l" rtl="0">
              <a:lnSpc>
                <a:spcPct val="90000"/>
              </a:lnSpc>
              <a:spcBef>
                <a:spcPts val="1000"/>
              </a:spcBef>
              <a:spcAft>
                <a:spcPts val="0"/>
              </a:spcAft>
              <a:buClr>
                <a:schemeClr val="dk1"/>
              </a:buClr>
              <a:buSzPct val="100000"/>
              <a:buNone/>
            </a:pPr>
            <a:r>
              <a:rPr lang="en-US"/>
              <a:t>The standard terms and conditions do not change from one project to another; they contain references to the annexes, which contain all the project specific material.</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Issues dealt with standard terms and conditions</a:t>
            </a:r>
            <a:endParaRPr/>
          </a:p>
        </p:txBody>
      </p:sp>
      <p:sp>
        <p:nvSpPr>
          <p:cNvPr id="143" name="Google Shape;143;p2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What is to be produced ?</a:t>
            </a:r>
            <a:endParaRPr/>
          </a:p>
          <a:p>
            <a:pPr marL="228600" lvl="0" indent="-228600" algn="l" rtl="0">
              <a:lnSpc>
                <a:spcPct val="90000"/>
              </a:lnSpc>
              <a:spcBef>
                <a:spcPts val="1000"/>
              </a:spcBef>
              <a:spcAft>
                <a:spcPts val="0"/>
              </a:spcAft>
              <a:buClr>
                <a:schemeClr val="dk1"/>
              </a:buClr>
              <a:buSzPts val="2800"/>
              <a:buChar char="•"/>
            </a:pPr>
            <a:r>
              <a:rPr lang="en-US"/>
              <a:t>What is to be delivered?</a:t>
            </a:r>
            <a:endParaRPr/>
          </a:p>
          <a:p>
            <a:pPr marL="228600" lvl="0" indent="-228600" algn="l" rtl="0">
              <a:lnSpc>
                <a:spcPct val="90000"/>
              </a:lnSpc>
              <a:spcBef>
                <a:spcPts val="1000"/>
              </a:spcBef>
              <a:spcAft>
                <a:spcPts val="0"/>
              </a:spcAft>
              <a:buClr>
                <a:schemeClr val="dk1"/>
              </a:buClr>
              <a:buSzPts val="2800"/>
              <a:buChar char="•"/>
            </a:pPr>
            <a:r>
              <a:rPr lang="en-US"/>
              <a:t>Ownership of rights</a:t>
            </a:r>
            <a:endParaRPr/>
          </a:p>
          <a:p>
            <a:pPr marL="228600" lvl="0" indent="-228600" algn="l" rtl="0">
              <a:lnSpc>
                <a:spcPct val="90000"/>
              </a:lnSpc>
              <a:spcBef>
                <a:spcPts val="1000"/>
              </a:spcBef>
              <a:spcAft>
                <a:spcPts val="0"/>
              </a:spcAft>
              <a:buClr>
                <a:schemeClr val="dk1"/>
              </a:buClr>
              <a:buSzPts val="2800"/>
              <a:buChar char="•"/>
            </a:pPr>
            <a:r>
              <a:rPr lang="en-US"/>
              <a:t>Payment terms</a:t>
            </a:r>
            <a:endParaRPr/>
          </a:p>
          <a:p>
            <a:pPr marL="228600" lvl="0" indent="-228600" algn="l" rtl="0">
              <a:lnSpc>
                <a:spcPct val="90000"/>
              </a:lnSpc>
              <a:spcBef>
                <a:spcPts val="1000"/>
              </a:spcBef>
              <a:spcAft>
                <a:spcPts val="0"/>
              </a:spcAft>
              <a:buClr>
                <a:schemeClr val="dk1"/>
              </a:buClr>
              <a:buSzPts val="2800"/>
              <a:buChar char="•"/>
            </a:pPr>
            <a:r>
              <a:rPr lang="en-US"/>
              <a:t>Calculating payments for delays and changes</a:t>
            </a:r>
            <a:endParaRPr/>
          </a:p>
          <a:p>
            <a:pPr marL="228600" lvl="0" indent="-228600" algn="l" rtl="0">
              <a:lnSpc>
                <a:spcPct val="90000"/>
              </a:lnSpc>
              <a:spcBef>
                <a:spcPts val="1000"/>
              </a:spcBef>
              <a:spcAft>
                <a:spcPts val="0"/>
              </a:spcAft>
              <a:buClr>
                <a:schemeClr val="dk1"/>
              </a:buClr>
              <a:buSzPts val="2800"/>
              <a:buChar char="•"/>
            </a:pPr>
            <a:r>
              <a:rPr lang="en-US"/>
              <a:t>Penalty clauses</a:t>
            </a:r>
            <a:endParaRPr/>
          </a:p>
          <a:p>
            <a:pPr marL="228600" lvl="0" indent="-228600" algn="l" rtl="0">
              <a:lnSpc>
                <a:spcPct val="90000"/>
              </a:lnSpc>
              <a:spcBef>
                <a:spcPts val="1000"/>
              </a:spcBef>
              <a:spcAft>
                <a:spcPts val="0"/>
              </a:spcAft>
              <a:buClr>
                <a:schemeClr val="dk1"/>
              </a:buClr>
              <a:buSzPts val="2800"/>
              <a:buChar char="•"/>
            </a:pPr>
            <a:r>
              <a:rPr lang="en-US"/>
              <a:t>Obligations o f the client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7"/>
        <p:cNvGrpSpPr/>
        <p:nvPr/>
      </p:nvGrpSpPr>
      <p:grpSpPr>
        <a:xfrm>
          <a:off x="0" y="0"/>
          <a:ext cx="0" cy="0"/>
          <a:chOff x="0" y="0"/>
          <a:chExt cx="0" cy="0"/>
        </a:xfrm>
      </p:grpSpPr>
      <p:sp>
        <p:nvSpPr>
          <p:cNvPr id="148" name="Google Shape;14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Issues dealt with standard terms and conditions</a:t>
            </a:r>
            <a:endParaRPr/>
          </a:p>
        </p:txBody>
      </p:sp>
      <p:sp>
        <p:nvSpPr>
          <p:cNvPr id="149" name="Google Shape;14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Standards and method of working</a:t>
            </a:r>
            <a:endParaRPr/>
          </a:p>
          <a:p>
            <a:pPr marL="228600" lvl="0" indent="-228600" algn="l" rtl="0">
              <a:lnSpc>
                <a:spcPct val="90000"/>
              </a:lnSpc>
              <a:spcBef>
                <a:spcPts val="1000"/>
              </a:spcBef>
              <a:spcAft>
                <a:spcPts val="0"/>
              </a:spcAft>
              <a:buClr>
                <a:schemeClr val="dk1"/>
              </a:buClr>
              <a:buSzPts val="2800"/>
              <a:buChar char="•"/>
            </a:pPr>
            <a:r>
              <a:rPr lang="en-US"/>
              <a:t>Progress meetings</a:t>
            </a:r>
            <a:endParaRPr/>
          </a:p>
          <a:p>
            <a:pPr marL="228600" lvl="0" indent="-228600" algn="l" rtl="0">
              <a:lnSpc>
                <a:spcPct val="90000"/>
              </a:lnSpc>
              <a:spcBef>
                <a:spcPts val="1000"/>
              </a:spcBef>
              <a:spcAft>
                <a:spcPts val="0"/>
              </a:spcAft>
              <a:buClr>
                <a:schemeClr val="dk1"/>
              </a:buClr>
              <a:buSzPts val="2800"/>
              <a:buChar char="•"/>
            </a:pPr>
            <a:r>
              <a:rPr lang="en-US"/>
              <a:t>Project managers</a:t>
            </a:r>
            <a:endParaRPr/>
          </a:p>
          <a:p>
            <a:pPr marL="228600" lvl="0" indent="-228600" algn="l" rtl="0">
              <a:lnSpc>
                <a:spcPct val="90000"/>
              </a:lnSpc>
              <a:spcBef>
                <a:spcPts val="1000"/>
              </a:spcBef>
              <a:spcAft>
                <a:spcPts val="0"/>
              </a:spcAft>
              <a:buClr>
                <a:schemeClr val="dk1"/>
              </a:buClr>
              <a:buSzPts val="2800"/>
              <a:buChar char="•"/>
            </a:pPr>
            <a:r>
              <a:rPr lang="en-US"/>
              <a:t>Acceptance procedure</a:t>
            </a:r>
            <a:endParaRPr/>
          </a:p>
          <a:p>
            <a:pPr marL="228600" lvl="0" indent="-228600" algn="l" rtl="0">
              <a:lnSpc>
                <a:spcPct val="90000"/>
              </a:lnSpc>
              <a:spcBef>
                <a:spcPts val="1000"/>
              </a:spcBef>
              <a:spcAft>
                <a:spcPts val="0"/>
              </a:spcAft>
              <a:buClr>
                <a:schemeClr val="dk1"/>
              </a:buClr>
              <a:buSzPts val="2800"/>
              <a:buChar char="•"/>
            </a:pPr>
            <a:r>
              <a:rPr lang="en-US"/>
              <a:t>Warranty and maintenance</a:t>
            </a:r>
            <a:endParaRPr/>
          </a:p>
          <a:p>
            <a:pPr marL="228600" lvl="0" indent="-228600" algn="l" rtl="0">
              <a:lnSpc>
                <a:spcPct val="90000"/>
              </a:lnSpc>
              <a:spcBef>
                <a:spcPts val="1000"/>
              </a:spcBef>
              <a:spcAft>
                <a:spcPts val="0"/>
              </a:spcAft>
              <a:buClr>
                <a:schemeClr val="dk1"/>
              </a:buClr>
              <a:buSzPts val="2800"/>
              <a:buChar char="•"/>
            </a:pPr>
            <a:r>
              <a:rPr lang="en-US"/>
              <a:t>Termination of the contract</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is to be produced</a:t>
            </a:r>
            <a:endParaRPr/>
          </a:p>
        </p:txBody>
      </p:sp>
      <p:sp>
        <p:nvSpPr>
          <p:cNvPr id="156" name="Google Shape;156;p2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90000"/>
              </a:lnSpc>
              <a:spcBef>
                <a:spcPts val="0"/>
              </a:spcBef>
              <a:spcAft>
                <a:spcPts val="0"/>
              </a:spcAft>
              <a:buClr>
                <a:schemeClr val="dk1"/>
              </a:buClr>
              <a:buSzPct val="100000"/>
              <a:buChar char="•"/>
            </a:pPr>
            <a:r>
              <a:rPr lang="en-US"/>
              <a:t>contract states what is to be produced.</a:t>
            </a:r>
            <a:endParaRPr/>
          </a:p>
          <a:p>
            <a:pPr marL="228600" lvl="0" indent="-228600" algn="l" rtl="0">
              <a:lnSpc>
                <a:spcPct val="90000"/>
              </a:lnSpc>
              <a:spcBef>
                <a:spcPts val="1000"/>
              </a:spcBef>
              <a:spcAft>
                <a:spcPts val="0"/>
              </a:spcAft>
              <a:buClr>
                <a:schemeClr val="dk1"/>
              </a:buClr>
              <a:buSzPct val="100000"/>
              <a:buChar char="•"/>
            </a:pPr>
            <a:r>
              <a:rPr lang="en-US"/>
              <a:t>the standard terms and conditions refer to an annex and the annex then refers to a separate document which constitutes the requirements specification</a:t>
            </a:r>
            <a:endParaRPr/>
          </a:p>
          <a:p>
            <a:pPr marL="228600" lvl="0" indent="-228600" algn="l" rtl="0">
              <a:lnSpc>
                <a:spcPct val="90000"/>
              </a:lnSpc>
              <a:spcBef>
                <a:spcPts val="1000"/>
              </a:spcBef>
              <a:spcAft>
                <a:spcPts val="0"/>
              </a:spcAft>
              <a:buClr>
                <a:schemeClr val="dk1"/>
              </a:buClr>
              <a:buSzPct val="100000"/>
              <a:buChar char="•"/>
            </a:pPr>
            <a:r>
              <a:rPr lang="en-US"/>
              <a:t>reference to the requirements specification identifies that document uniquely</a:t>
            </a:r>
            <a:endParaRPr/>
          </a:p>
          <a:p>
            <a:pPr marL="228600" lvl="0" indent="-228600" algn="l" rtl="0">
              <a:lnSpc>
                <a:spcPct val="90000"/>
              </a:lnSpc>
              <a:spcBef>
                <a:spcPts val="1000"/>
              </a:spcBef>
              <a:spcAft>
                <a:spcPts val="0"/>
              </a:spcAft>
              <a:buClr>
                <a:schemeClr val="dk1"/>
              </a:buClr>
              <a:buSzPct val="100000"/>
              <a:buChar char="•"/>
            </a:pPr>
            <a:r>
              <a:rPr lang="en-US"/>
              <a:t>A specification sets out the detailed requirements of the client. Ideally, the specification should be complete, consistent and accurate and set out all that the client wants to be done in the performance of the contract. </a:t>
            </a:r>
            <a:endParaRPr/>
          </a:p>
          <a:p>
            <a:pPr marL="228600" lvl="0" indent="-228600" algn="l" rtl="0">
              <a:lnSpc>
                <a:spcPct val="90000"/>
              </a:lnSpc>
              <a:spcBef>
                <a:spcPts val="1000"/>
              </a:spcBef>
              <a:spcAft>
                <a:spcPts val="0"/>
              </a:spcAft>
              <a:buClr>
                <a:schemeClr val="dk1"/>
              </a:buClr>
              <a:buSzPct val="100000"/>
              <a:buChar char="•"/>
            </a:pPr>
            <a:r>
              <a:rPr lang="en-US"/>
              <a:t>Unfortunately, we know that it is very difficult to achieve this ideal standard and, even if we succeed, the requirements of the client may evolve as the contract proceeds, and sometimes the changes may be substantial.</a:t>
            </a:r>
            <a:endParaRPr/>
          </a:p>
          <a:p>
            <a:pPr marL="228600" lvl="0" indent="-228600" algn="l" rtl="0">
              <a:lnSpc>
                <a:spcPct val="90000"/>
              </a:lnSpc>
              <a:spcBef>
                <a:spcPts val="1000"/>
              </a:spcBef>
              <a:spcAft>
                <a:spcPts val="0"/>
              </a:spcAft>
              <a:buClr>
                <a:schemeClr val="dk1"/>
              </a:buClr>
              <a:buSzPct val="100000"/>
              <a:buChar char="•"/>
            </a:pPr>
            <a:r>
              <a:rPr lang="en-US"/>
              <a:t>Solution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What is to be delivered</a:t>
            </a:r>
            <a:endParaRPr/>
          </a:p>
        </p:txBody>
      </p:sp>
      <p:sp>
        <p:nvSpPr>
          <p:cNvPr id="162" name="Google Shape;162;p2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7500" lnSpcReduction="20000"/>
          </a:bodyPr>
          <a:lstStyle/>
          <a:p>
            <a:pPr marL="228600" lvl="0" indent="-228600" algn="l" rtl="0">
              <a:lnSpc>
                <a:spcPct val="90000"/>
              </a:lnSpc>
              <a:spcBef>
                <a:spcPts val="0"/>
              </a:spcBef>
              <a:spcAft>
                <a:spcPts val="0"/>
              </a:spcAft>
              <a:buClr>
                <a:schemeClr val="dk1"/>
              </a:buClr>
              <a:buSzPct val="100000"/>
              <a:buChar char="•"/>
            </a:pPr>
            <a:r>
              <a:rPr lang="en-US"/>
              <a:t>Producing software for a client is not, usually, a matter of simply handing over the text of a program which does what is required.</a:t>
            </a:r>
            <a:endParaRPr/>
          </a:p>
          <a:p>
            <a:pPr marL="228600" lvl="0" indent="-228600" algn="l" rtl="0">
              <a:lnSpc>
                <a:spcPct val="90000"/>
              </a:lnSpc>
              <a:spcBef>
                <a:spcPts val="1000"/>
              </a:spcBef>
              <a:spcAft>
                <a:spcPts val="0"/>
              </a:spcAft>
              <a:buClr>
                <a:schemeClr val="dk1"/>
              </a:buClr>
              <a:buSzPct val="100000"/>
              <a:buChar char="•"/>
            </a:pPr>
            <a:r>
              <a:rPr lang="en-US"/>
              <a:t>contract states what precisely is to be provided</a:t>
            </a:r>
            <a:endParaRPr/>
          </a:p>
          <a:p>
            <a:pPr marL="228600" lvl="0" indent="-228600" algn="l" rtl="0">
              <a:lnSpc>
                <a:spcPct val="90000"/>
              </a:lnSpc>
              <a:spcBef>
                <a:spcPts val="1000"/>
              </a:spcBef>
              <a:spcAft>
                <a:spcPts val="0"/>
              </a:spcAft>
              <a:buClr>
                <a:schemeClr val="dk1"/>
              </a:buClr>
              <a:buSzPct val="100000"/>
              <a:buChar char="•"/>
            </a:pPr>
            <a:r>
              <a:rPr lang="en-US"/>
              <a:t>list of possibilities:</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source code; </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command files for building the executable code from the source and for installing it;</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documentation of the design and of the code;</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reference manuals, training manuals and operations manuals; </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software tools to help maintain the code; </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user training;</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training for the client’s maintenance staff; </a:t>
            </a:r>
            <a:endParaRPr/>
          </a:p>
          <a:p>
            <a:pPr marL="514350" lvl="0" indent="-514350" algn="l" rtl="0">
              <a:lnSpc>
                <a:spcPct val="90000"/>
              </a:lnSpc>
              <a:spcBef>
                <a:spcPts val="1000"/>
              </a:spcBef>
              <a:spcAft>
                <a:spcPts val="0"/>
              </a:spcAft>
              <a:buClr>
                <a:schemeClr val="dk1"/>
              </a:buClr>
              <a:buSzPct val="100000"/>
              <a:buFont typeface="Calibri"/>
              <a:buAutoNum type="arabicPeriod"/>
            </a:pPr>
            <a:r>
              <a:rPr lang="en-US"/>
              <a:t>test data and test results.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26"/>
          <p:cNvSpPr txBox="1">
            <a:spLocks noGrp="1"/>
          </p:cNvSpPr>
          <p:nvPr>
            <p:ph type="title"/>
          </p:nvPr>
        </p:nvSpPr>
        <p:spPr>
          <a:xfrm>
            <a:off x="1003453" y="12275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Ownership of rights</a:t>
            </a:r>
            <a:endParaRPr/>
          </a:p>
        </p:txBody>
      </p:sp>
      <p:sp>
        <p:nvSpPr>
          <p:cNvPr id="169" name="Google Shape;169;p2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90000"/>
              </a:lnSpc>
              <a:spcBef>
                <a:spcPts val="0"/>
              </a:spcBef>
              <a:spcAft>
                <a:spcPts val="0"/>
              </a:spcAft>
              <a:buClr>
                <a:schemeClr val="dk1"/>
              </a:buClr>
              <a:buSzPct val="100000"/>
              <a:buChar char="•"/>
            </a:pPr>
            <a:r>
              <a:rPr lang="en-US" dirty="0"/>
              <a:t>contract should also state just </a:t>
            </a:r>
            <a:r>
              <a:rPr lang="en-US" b="1" u="sng" dirty="0"/>
              <a:t>what legal rights </a:t>
            </a:r>
            <a:r>
              <a:rPr lang="en-US" dirty="0"/>
              <a:t>are being passed by the software house to the client under the contract.</a:t>
            </a:r>
            <a:endParaRPr dirty="0"/>
          </a:p>
          <a:p>
            <a:pPr marL="228600" lvl="0" indent="-228600" algn="l" rtl="0">
              <a:lnSpc>
                <a:spcPct val="90000"/>
              </a:lnSpc>
              <a:spcBef>
                <a:spcPts val="1000"/>
              </a:spcBef>
              <a:spcAft>
                <a:spcPts val="0"/>
              </a:spcAft>
              <a:buClr>
                <a:schemeClr val="dk1"/>
              </a:buClr>
              <a:buSzPct val="100000"/>
              <a:buChar char="•"/>
            </a:pPr>
            <a:r>
              <a:rPr lang="en-US" dirty="0"/>
              <a:t>Ownership in physical items such as books, documents or discs will usually pass from the software house to the client, but other intangible rights, known as </a:t>
            </a:r>
            <a:r>
              <a:rPr lang="en-US" b="1" u="sng" dirty="0"/>
              <a:t>intellectual property rights </a:t>
            </a:r>
            <a:r>
              <a:rPr lang="en-US" dirty="0"/>
              <a:t>should be addressed</a:t>
            </a:r>
            <a:endParaRPr dirty="0"/>
          </a:p>
          <a:p>
            <a:pPr marL="228600" lvl="0" indent="-228600" algn="l" rtl="0">
              <a:lnSpc>
                <a:spcPct val="90000"/>
              </a:lnSpc>
              <a:spcBef>
                <a:spcPts val="1000"/>
              </a:spcBef>
              <a:spcAft>
                <a:spcPts val="0"/>
              </a:spcAft>
              <a:buClr>
                <a:schemeClr val="dk1"/>
              </a:buClr>
              <a:buSzPct val="100000"/>
              <a:buChar char="•"/>
            </a:pPr>
            <a:r>
              <a:rPr lang="en-US" dirty="0"/>
              <a:t>Read page 106,107</a:t>
            </a:r>
            <a:endParaRPr dirty="0"/>
          </a:p>
          <a:p>
            <a:pPr marL="228600" lvl="0" indent="-228600" algn="l" rtl="0">
              <a:lnSpc>
                <a:spcPct val="90000"/>
              </a:lnSpc>
              <a:spcBef>
                <a:spcPts val="1000"/>
              </a:spcBef>
              <a:spcAft>
                <a:spcPts val="0"/>
              </a:spcAft>
              <a:buClr>
                <a:schemeClr val="dk1"/>
              </a:buClr>
              <a:buSzPct val="100000"/>
              <a:buChar char="•"/>
            </a:pPr>
            <a:r>
              <a:rPr lang="en-US" dirty="0"/>
              <a:t>If ownership of copyright passes to the client it is known as a sale or assignment and again a written agreement is necessary. Furthermore, the agreement will usually provide that </a:t>
            </a:r>
            <a:r>
              <a:rPr lang="en-US" b="1" u="sng" dirty="0"/>
              <a:t>copyright is only to pass to the client when the final payment has been made in full</a:t>
            </a:r>
            <a:r>
              <a:rPr lang="en-US" dirty="0"/>
              <a:t>. If copyright is to remain with the software house and the client is merely given permission to use the software, this is known as a </a:t>
            </a:r>
            <a:r>
              <a:rPr lang="en-US" b="1" u="sng" dirty="0" err="1"/>
              <a:t>licence</a:t>
            </a:r>
            <a:endParaRPr lang="en-US" b="1" u="sng" dirty="0"/>
          </a:p>
          <a:p>
            <a:pPr marL="228600" lvl="0" indent="-228600">
              <a:buSzPct val="100000"/>
            </a:pPr>
            <a:r>
              <a:rPr lang="en-US" dirty="0"/>
              <a:t>Client will often </a:t>
            </a:r>
            <a:r>
              <a:rPr lang="en-US" b="1" u="sng" dirty="0"/>
              <a:t>want exclusivity</a:t>
            </a:r>
            <a:r>
              <a:rPr lang="en-US" dirty="0"/>
              <a:t>. This can be achieved in a variety of ways</a:t>
            </a:r>
          </a:p>
          <a:p>
            <a:pPr marL="685800" lvl="1" indent="-228600">
              <a:buSzPct val="100000"/>
            </a:pPr>
            <a:r>
              <a:rPr lang="en-US" dirty="0"/>
              <a:t>Client can be outright owner of the copyright</a:t>
            </a:r>
            <a:endParaRPr dirty="0"/>
          </a:p>
          <a:p>
            <a:pPr marL="685800" lvl="1" indent="-228600">
              <a:spcBef>
                <a:spcPts val="1000"/>
              </a:spcBef>
              <a:buSzPct val="100000"/>
            </a:pPr>
            <a:r>
              <a:rPr lang="en-US" dirty="0"/>
              <a:t>If the client has an exclusive </a:t>
            </a:r>
            <a:r>
              <a:rPr lang="en-US" dirty="0" err="1"/>
              <a:t>licence</a:t>
            </a:r>
            <a:r>
              <a:rPr lang="en-US" dirty="0"/>
              <a:t> to use the software, it is the only organization entitled to use it. If the client takes ownership of the software or has an exclusive right to use it, the software house cannot make money from the software by licensing others to use it. </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Ownership of rights</a:t>
            </a:r>
            <a:endParaRPr/>
          </a:p>
        </p:txBody>
      </p:sp>
      <p:sp>
        <p:nvSpPr>
          <p:cNvPr id="175" name="Google Shape;175;p2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70000" lnSpcReduction="20000"/>
          </a:bodyPr>
          <a:lstStyle/>
          <a:p>
            <a:pPr marL="228600" lvl="0" indent="-228600" algn="l" rtl="0">
              <a:lnSpc>
                <a:spcPct val="90000"/>
              </a:lnSpc>
              <a:spcBef>
                <a:spcPts val="0"/>
              </a:spcBef>
              <a:spcAft>
                <a:spcPts val="0"/>
              </a:spcAft>
              <a:buClr>
                <a:schemeClr val="dk1"/>
              </a:buClr>
              <a:buSzPct val="100000"/>
              <a:buChar char="•"/>
            </a:pPr>
            <a:r>
              <a:rPr lang="en-US" dirty="0"/>
              <a:t>Where the client is granted a </a:t>
            </a:r>
            <a:r>
              <a:rPr lang="en-US" dirty="0" err="1"/>
              <a:t>licence</a:t>
            </a:r>
            <a:r>
              <a:rPr lang="en-US" dirty="0"/>
              <a:t>, the following matters should be dealt with in the contract</a:t>
            </a:r>
            <a:endParaRPr dirty="0"/>
          </a:p>
          <a:p>
            <a:pPr marL="514350" lvl="0" indent="-514350" algn="l" rtl="0">
              <a:lnSpc>
                <a:spcPct val="90000"/>
              </a:lnSpc>
              <a:spcBef>
                <a:spcPts val="1000"/>
              </a:spcBef>
              <a:spcAft>
                <a:spcPts val="0"/>
              </a:spcAft>
              <a:buClr>
                <a:schemeClr val="dk1"/>
              </a:buClr>
              <a:buSzPct val="100000"/>
              <a:buFont typeface="Calibri"/>
              <a:buAutoNum type="arabicPeriod"/>
            </a:pPr>
            <a:r>
              <a:rPr lang="en-US" b="1" u="sng" dirty="0"/>
              <a:t>duration of the </a:t>
            </a:r>
            <a:r>
              <a:rPr lang="en-US" b="1" u="sng" dirty="0" err="1"/>
              <a:t>licence</a:t>
            </a:r>
            <a:r>
              <a:rPr lang="en-US" dirty="0"/>
              <a:t>—a </a:t>
            </a:r>
            <a:r>
              <a:rPr lang="en-US" dirty="0" err="1"/>
              <a:t>licence</a:t>
            </a:r>
            <a:r>
              <a:rPr lang="en-US" dirty="0"/>
              <a:t> should be for a fixed period; or there should be some provision for termination, for example by giving notice, or on the happening of certain events, common terminating events being death; </a:t>
            </a:r>
            <a:endParaRPr dirty="0"/>
          </a:p>
          <a:p>
            <a:pPr marL="514350" lvl="0" indent="-514350" algn="l" rtl="0">
              <a:lnSpc>
                <a:spcPct val="90000"/>
              </a:lnSpc>
              <a:spcBef>
                <a:spcPts val="1000"/>
              </a:spcBef>
              <a:spcAft>
                <a:spcPts val="0"/>
              </a:spcAft>
              <a:buClr>
                <a:schemeClr val="dk1"/>
              </a:buClr>
              <a:buSzPct val="100000"/>
              <a:buFont typeface="Calibri"/>
              <a:buAutoNum type="arabicPeriod"/>
            </a:pPr>
            <a:r>
              <a:rPr lang="en-US" dirty="0"/>
              <a:t>the </a:t>
            </a:r>
            <a:r>
              <a:rPr lang="en-US" dirty="0" err="1"/>
              <a:t>licence</a:t>
            </a:r>
            <a:r>
              <a:rPr lang="en-US" dirty="0"/>
              <a:t> agreement should state whether the licensee can </a:t>
            </a:r>
            <a:r>
              <a:rPr lang="en-US" b="1" u="sng" dirty="0"/>
              <a:t>assign or transfer the </a:t>
            </a:r>
            <a:r>
              <a:rPr lang="en-US" b="1" u="sng" dirty="0" err="1"/>
              <a:t>licence</a:t>
            </a:r>
            <a:r>
              <a:rPr lang="en-US" b="1" u="sng" dirty="0"/>
              <a:t> </a:t>
            </a:r>
            <a:r>
              <a:rPr lang="en-US" dirty="0"/>
              <a:t>to another. If there is no provision giving the licensee the power to transfer the </a:t>
            </a:r>
            <a:r>
              <a:rPr lang="en-US" dirty="0" err="1"/>
              <a:t>licence</a:t>
            </a:r>
            <a:r>
              <a:rPr lang="en-US" dirty="0"/>
              <a:t> to another, then the </a:t>
            </a:r>
            <a:r>
              <a:rPr lang="en-US" dirty="0" err="1"/>
              <a:t>licence</a:t>
            </a:r>
            <a:r>
              <a:rPr lang="en-US" dirty="0"/>
              <a:t> is probably not assignable;</a:t>
            </a:r>
            <a:endParaRPr dirty="0"/>
          </a:p>
          <a:p>
            <a:pPr marL="514350" lvl="0" indent="-514350" algn="l" rtl="0">
              <a:lnSpc>
                <a:spcPct val="90000"/>
              </a:lnSpc>
              <a:spcBef>
                <a:spcPts val="1000"/>
              </a:spcBef>
              <a:spcAft>
                <a:spcPts val="0"/>
              </a:spcAft>
              <a:buClr>
                <a:schemeClr val="dk1"/>
              </a:buClr>
              <a:buSzPct val="100000"/>
              <a:buFont typeface="Calibri"/>
              <a:buAutoNum type="arabicPeriod"/>
            </a:pPr>
            <a:r>
              <a:rPr lang="en-US" b="1" u="sng" dirty="0"/>
              <a:t>scope of the </a:t>
            </a:r>
            <a:r>
              <a:rPr lang="en-US" b="1" u="sng" dirty="0" err="1"/>
              <a:t>licence</a:t>
            </a:r>
            <a:r>
              <a:rPr lang="en-US" dirty="0"/>
              <a:t>: does the </a:t>
            </a:r>
            <a:r>
              <a:rPr lang="en-US" dirty="0" err="1"/>
              <a:t>licence</a:t>
            </a:r>
            <a:r>
              <a:rPr lang="en-US" dirty="0"/>
              <a:t> cover use on one particular computer, or can the</a:t>
            </a:r>
            <a:br>
              <a:rPr lang="en-US" dirty="0"/>
            </a:br>
            <a:r>
              <a:rPr lang="en-US" dirty="0"/>
              <a:t>software be run on other machines. If so, is the </a:t>
            </a:r>
            <a:r>
              <a:rPr lang="en-US" dirty="0" err="1"/>
              <a:t>licence</a:t>
            </a:r>
            <a:r>
              <a:rPr lang="en-US" dirty="0"/>
              <a:t> limited to one site? If the client</a:t>
            </a:r>
            <a:br>
              <a:rPr lang="en-US" dirty="0"/>
            </a:br>
            <a:r>
              <a:rPr lang="en-US" dirty="0"/>
              <a:t>is one of a group of companies, can others in the group also benefit from the </a:t>
            </a:r>
            <a:r>
              <a:rPr lang="en-US" dirty="0" err="1"/>
              <a:t>licence</a:t>
            </a:r>
            <a:r>
              <a:rPr lang="en-US" dirty="0"/>
              <a:t>? </a:t>
            </a:r>
            <a:endParaRPr dirty="0"/>
          </a:p>
          <a:p>
            <a:pPr marL="514350" lvl="0" indent="-514350" algn="l" rtl="0">
              <a:lnSpc>
                <a:spcPct val="90000"/>
              </a:lnSpc>
              <a:spcBef>
                <a:spcPts val="1000"/>
              </a:spcBef>
              <a:spcAft>
                <a:spcPts val="0"/>
              </a:spcAft>
              <a:buClr>
                <a:schemeClr val="dk1"/>
              </a:buClr>
              <a:buSzPct val="100000"/>
              <a:buFont typeface="Calibri"/>
              <a:buAutoNum type="arabicPeriod"/>
            </a:pPr>
            <a:r>
              <a:rPr lang="en-US" b="1" u="sng" dirty="0"/>
              <a:t>confidentiality</a:t>
            </a:r>
            <a:r>
              <a:rPr lang="en-US" dirty="0"/>
              <a:t>: the </a:t>
            </a:r>
            <a:r>
              <a:rPr lang="en-US" dirty="0" err="1"/>
              <a:t>licence</a:t>
            </a:r>
            <a:r>
              <a:rPr lang="en-US" dirty="0"/>
              <a:t> will often seek to restrain the licensee from allowing</a:t>
            </a:r>
            <a:br>
              <a:rPr lang="en-US" dirty="0"/>
            </a:br>
            <a:r>
              <a:rPr lang="en-US" dirty="0"/>
              <a:t>anyone other than company employees to become familiar with the use of the</a:t>
            </a:r>
            <a:br>
              <a:rPr lang="en-US" dirty="0"/>
            </a:br>
            <a:r>
              <a:rPr lang="en-US" dirty="0"/>
              <a:t>software. This can be an embarrassment for educational establishments who wish to</a:t>
            </a:r>
            <a:br>
              <a:rPr lang="en-US" dirty="0"/>
            </a:br>
            <a:r>
              <a:rPr lang="en-US" dirty="0"/>
              <a:t>purchase the software for use by their students. </a:t>
            </a:r>
            <a:br>
              <a:rPr lang="en-US" dirty="0"/>
            </a:br>
            <a:br>
              <a:rPr lang="en-US" dirty="0"/>
            </a:br>
            <a:r>
              <a:rPr lang="en-US" dirty="0"/>
              <a:t> </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Ownership of rights</a:t>
            </a:r>
            <a:endParaRPr/>
          </a:p>
        </p:txBody>
      </p:sp>
      <p:sp>
        <p:nvSpPr>
          <p:cNvPr id="181" name="Google Shape;181;p2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If the supplier retains the copyright, major problems can arise for the client if the </a:t>
            </a:r>
            <a:r>
              <a:rPr lang="en-US" b="1"/>
              <a:t>supplier goes into liquidation or otherwise ceases </a:t>
            </a:r>
            <a:r>
              <a:rPr lang="en-US"/>
              <a:t>to trade. The supplier is then no longer able to maintain the software but the client may be unable to obtain copies of the up-to-date source listings of the programs and any tools used to construct them, in order to commission maintenance from a third party.</a:t>
            </a:r>
            <a:endParaRPr/>
          </a:p>
          <a:p>
            <a:pPr marL="228600" lvl="0" indent="-228600" algn="l" rtl="0">
              <a:lnSpc>
                <a:spcPct val="90000"/>
              </a:lnSpc>
              <a:spcBef>
                <a:spcPts val="1000"/>
              </a:spcBef>
              <a:spcAft>
                <a:spcPts val="0"/>
              </a:spcAft>
              <a:buClr>
                <a:schemeClr val="dk1"/>
              </a:buClr>
              <a:buSzPts val="2800"/>
              <a:buChar char="•"/>
            </a:pPr>
            <a:r>
              <a:rPr lang="en-US"/>
              <a:t>One way around this difficulty is for the contract to specify that, after acceptance, a copy of the listings and documentation is placed in escrow; this means that the </a:t>
            </a:r>
            <a:r>
              <a:rPr lang="en-US" b="1"/>
              <a:t>copy is placed in the hands of a third party (usually a lawyer) </a:t>
            </a:r>
            <a:r>
              <a:rPr lang="en-US"/>
              <a:t>to be released to the client if and when certain defined circumstances arise</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2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Confidentiality</a:t>
            </a:r>
            <a:endParaRPr/>
          </a:p>
        </p:txBody>
      </p:sp>
      <p:sp>
        <p:nvSpPr>
          <p:cNvPr id="187" name="Google Shape;187;p2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The commissioning client may well have to </a:t>
            </a:r>
            <a:r>
              <a:rPr lang="en-US" b="1" u="sng" dirty="0"/>
              <a:t>pass confidential information</a:t>
            </a:r>
            <a:r>
              <a:rPr lang="en-US" dirty="0"/>
              <a:t> about its business operations to the software house.</a:t>
            </a:r>
            <a:endParaRPr dirty="0"/>
          </a:p>
          <a:p>
            <a:pPr marL="228600" lvl="0" indent="-228600" algn="l" rtl="0">
              <a:lnSpc>
                <a:spcPct val="90000"/>
              </a:lnSpc>
              <a:spcBef>
                <a:spcPts val="1000"/>
              </a:spcBef>
              <a:spcAft>
                <a:spcPts val="0"/>
              </a:spcAft>
              <a:buClr>
                <a:schemeClr val="dk1"/>
              </a:buClr>
              <a:buSzPts val="2800"/>
              <a:buChar char="•"/>
            </a:pPr>
            <a:r>
              <a:rPr lang="en-US" dirty="0"/>
              <a:t>software house may not want the client to (</a:t>
            </a:r>
            <a:r>
              <a:rPr lang="en-US" b="1" u="sng" dirty="0"/>
              <a:t>disclose sensitive information</a:t>
            </a:r>
            <a:r>
              <a:rPr lang="en-US" dirty="0"/>
              <a:t>) divulge to others details of the program content or other information</a:t>
            </a:r>
            <a:endParaRPr dirty="0"/>
          </a:p>
          <a:p>
            <a:pPr marL="228600" lvl="0" indent="-228600" algn="l" rtl="0">
              <a:lnSpc>
                <a:spcPct val="90000"/>
              </a:lnSpc>
              <a:spcBef>
                <a:spcPts val="1000"/>
              </a:spcBef>
              <a:spcAft>
                <a:spcPts val="0"/>
              </a:spcAft>
              <a:buClr>
                <a:schemeClr val="dk1"/>
              </a:buClr>
              <a:buSzPts val="2800"/>
              <a:buChar char="•"/>
            </a:pPr>
            <a:r>
              <a:rPr lang="en-US" dirty="0"/>
              <a:t>For </a:t>
            </a:r>
            <a:r>
              <a:rPr lang="en-US" b="1" u="sng" dirty="0"/>
              <a:t>each party </a:t>
            </a:r>
            <a:r>
              <a:rPr lang="en-US" dirty="0"/>
              <a:t>to promise to maintain the confidentiality of the other’s secrets, and for express terms to that effect to be included in the contract.</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Payment terms</a:t>
            </a:r>
            <a:endParaRPr/>
          </a:p>
        </p:txBody>
      </p:sp>
      <p:sp>
        <p:nvSpPr>
          <p:cNvPr id="194" name="Google Shape;194;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Payment shall become due within thirty days of the date of issue of an invoice.</a:t>
            </a:r>
            <a:endParaRPr dirty="0"/>
          </a:p>
          <a:p>
            <a:pPr marL="228600" lvl="0" indent="-228600" algn="l" rtl="0">
              <a:lnSpc>
                <a:spcPct val="90000"/>
              </a:lnSpc>
              <a:spcBef>
                <a:spcPts val="1000"/>
              </a:spcBef>
              <a:spcAft>
                <a:spcPts val="0"/>
              </a:spcAft>
              <a:buClr>
                <a:schemeClr val="dk1"/>
              </a:buClr>
              <a:buSzPts val="2800"/>
              <a:buChar char="•"/>
            </a:pPr>
            <a:r>
              <a:rPr lang="en-US" dirty="0"/>
              <a:t> If payment is </a:t>
            </a:r>
            <a:r>
              <a:rPr lang="en-US" b="1" u="sng" dirty="0"/>
              <a:t>delayed</a:t>
            </a:r>
            <a:r>
              <a:rPr lang="en-US" dirty="0"/>
              <a:t> by more than thirty days from the due date, the Company shall have the right, at its discretion, to terminate the contract, or to apply a surcharge at an interest rate of 2 per cent above the bank base lending rate.</a:t>
            </a:r>
            <a:endParaRPr dirty="0"/>
          </a:p>
          <a:p>
            <a:pPr marL="228600" lvl="0" indent="-228600" algn="l" rtl="0">
              <a:lnSpc>
                <a:spcPct val="90000"/>
              </a:lnSpc>
              <a:spcBef>
                <a:spcPts val="1000"/>
              </a:spcBef>
              <a:spcAft>
                <a:spcPts val="0"/>
              </a:spcAft>
              <a:buClr>
                <a:schemeClr val="dk1"/>
              </a:buClr>
              <a:buSzPts val="2800"/>
              <a:buChar char="•"/>
            </a:pPr>
            <a:r>
              <a:rPr lang="en-US" dirty="0"/>
              <a:t>In practice, such clauses are only brought into effect in </a:t>
            </a:r>
            <a:r>
              <a:rPr lang="en-US" b="1" u="sng" dirty="0"/>
              <a:t>extreme cases</a:t>
            </a:r>
            <a:r>
              <a:rPr lang="en-US" dirty="0"/>
              <a:t>, since using them is likely to destroy the goodwill between supplier and client on which the success of the project depends.</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Payment terms</a:t>
            </a:r>
            <a:endParaRPr/>
          </a:p>
        </p:txBody>
      </p:sp>
      <p:sp>
        <p:nvSpPr>
          <p:cNvPr id="201" name="Google Shape;201;p3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Specify pattern of payments</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b="1" u="sng" dirty="0"/>
              <a:t>an initial payment </a:t>
            </a:r>
            <a:r>
              <a:rPr lang="en-US" dirty="0"/>
              <a:t>of, say, 15 per cent of the contract value becomes due on signature of the contract;</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b="1" u="sng" dirty="0"/>
              <a:t>further stage payments </a:t>
            </a:r>
            <a:r>
              <a:rPr lang="en-US" dirty="0"/>
              <a:t>become due at various points during the development, bringing the total up to, say, 65 per cent;</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a further 25 per cent becomes due on </a:t>
            </a:r>
            <a:r>
              <a:rPr lang="en-US" b="1" u="sng" dirty="0"/>
              <a:t>acceptance of the software</a:t>
            </a:r>
            <a:endParaRPr b="1" u="sng"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the final 10 per cent becomes due at the </a:t>
            </a:r>
            <a:r>
              <a:rPr lang="en-US" b="1" u="sng" dirty="0"/>
              <a:t>end of the warranty period</a:t>
            </a:r>
            <a:r>
              <a:rPr lang="en-US" dirty="0"/>
              <a:t>.</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Calculating payments for delays and changes</a:t>
            </a:r>
            <a:endParaRPr/>
          </a:p>
        </p:txBody>
      </p:sp>
      <p:sp>
        <p:nvSpPr>
          <p:cNvPr id="207" name="Google Shape;207;p3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dirty="0"/>
              <a:t>when the </a:t>
            </a:r>
            <a:r>
              <a:rPr lang="en-US" b="1" u="sng" dirty="0"/>
              <a:t>client fails to provide information </a:t>
            </a:r>
            <a:r>
              <a:rPr lang="en-US" dirty="0"/>
              <a:t>on a due date or when changes are requested </a:t>
            </a:r>
            <a:r>
              <a:rPr lang="en-US" b="1" u="sng" dirty="0"/>
              <a:t>which result in extra work</a:t>
            </a:r>
            <a:r>
              <a:rPr lang="en-US" dirty="0"/>
              <a:t>. </a:t>
            </a:r>
            <a:endParaRPr dirty="0"/>
          </a:p>
          <a:p>
            <a:pPr marL="228600" lvl="0" indent="-228600" algn="l" rtl="0">
              <a:lnSpc>
                <a:spcPct val="90000"/>
              </a:lnSpc>
              <a:spcBef>
                <a:spcPts val="1000"/>
              </a:spcBef>
              <a:spcAft>
                <a:spcPts val="0"/>
              </a:spcAft>
              <a:buClr>
                <a:schemeClr val="dk1"/>
              </a:buClr>
              <a:buSzPts val="2800"/>
              <a:buChar char="•"/>
            </a:pPr>
            <a:r>
              <a:rPr lang="en-US" dirty="0"/>
              <a:t>The contract must specify the process by which these </a:t>
            </a:r>
            <a:r>
              <a:rPr lang="en-US" b="1" u="sng" dirty="0"/>
              <a:t>extra payments are to be calculated</a:t>
            </a:r>
            <a:endParaRPr b="1" u="sng" dirty="0"/>
          </a:p>
          <a:p>
            <a:pPr marL="228600" lvl="0" indent="-228600" algn="l" rtl="0">
              <a:lnSpc>
                <a:spcPct val="90000"/>
              </a:lnSpc>
              <a:spcBef>
                <a:spcPts val="1000"/>
              </a:spcBef>
              <a:spcAft>
                <a:spcPts val="0"/>
              </a:spcAft>
              <a:buClr>
                <a:schemeClr val="dk1"/>
              </a:buClr>
              <a:buSzPts val="2800"/>
              <a:buChar char="•"/>
            </a:pPr>
            <a:r>
              <a:rPr lang="en-US" dirty="0"/>
              <a:t>annex will include </a:t>
            </a:r>
            <a:r>
              <a:rPr lang="en-US" b="1" u="sng" dirty="0"/>
              <a:t>daily charging rates </a:t>
            </a:r>
            <a:r>
              <a:rPr lang="en-US" dirty="0"/>
              <a:t>for each grade of staff employed on the contract and the amount of extra effort to be paid for will be agreed at progress meetings.</a:t>
            </a:r>
            <a:endParaRPr dirty="0"/>
          </a:p>
          <a:p>
            <a:pPr marL="228600" lvl="0" indent="-228600" algn="l" rtl="0">
              <a:lnSpc>
                <a:spcPct val="90000"/>
              </a:lnSpc>
              <a:spcBef>
                <a:spcPts val="1000"/>
              </a:spcBef>
              <a:spcAft>
                <a:spcPts val="0"/>
              </a:spcAft>
              <a:buClr>
                <a:schemeClr val="dk1"/>
              </a:buClr>
              <a:buSzPts val="2800"/>
              <a:buChar char="•"/>
            </a:pPr>
            <a:r>
              <a:rPr lang="en-US" b="1" u="sng" dirty="0"/>
              <a:t>Delay payments and payments </a:t>
            </a:r>
            <a:r>
              <a:rPr lang="en-US" dirty="0"/>
              <a:t>for variations to the original requirements are, perhaps, the commonest cause of contractual disputes, not only in software engineering but in most other contracting industries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Penalty clauses</a:t>
            </a:r>
            <a:endParaRPr/>
          </a:p>
        </p:txBody>
      </p:sp>
      <p:sp>
        <p:nvSpPr>
          <p:cNvPr id="213" name="Google Shape;213;p3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20000"/>
          </a:bodyPr>
          <a:lstStyle/>
          <a:p>
            <a:pPr marL="228600" lvl="0" indent="-228600" algn="l" rtl="0">
              <a:lnSpc>
                <a:spcPct val="90000"/>
              </a:lnSpc>
              <a:spcBef>
                <a:spcPts val="0"/>
              </a:spcBef>
              <a:spcAft>
                <a:spcPts val="0"/>
              </a:spcAft>
              <a:buClr>
                <a:schemeClr val="dk1"/>
              </a:buClr>
              <a:buSzPct val="100000"/>
              <a:buChar char="•"/>
            </a:pPr>
            <a:r>
              <a:rPr lang="en-US" dirty="0"/>
              <a:t>The normal mechanism used is to include a penalty clause which provides that the </a:t>
            </a:r>
            <a:r>
              <a:rPr lang="en-US" b="1" u="sng" dirty="0"/>
              <a:t>sum payable to the supplier is reduced by a specified amount for each week that acceptance of the product is delayed</a:t>
            </a:r>
            <a:r>
              <a:rPr lang="en-US" dirty="0"/>
              <a:t>, up to a certain maximum</a:t>
            </a:r>
            <a:endParaRPr dirty="0"/>
          </a:p>
          <a:p>
            <a:pPr marL="228600" lvl="0" indent="-228600" algn="l" rtl="0">
              <a:lnSpc>
                <a:spcPct val="90000"/>
              </a:lnSpc>
              <a:spcBef>
                <a:spcPts val="1000"/>
              </a:spcBef>
              <a:spcAft>
                <a:spcPts val="0"/>
              </a:spcAft>
              <a:buClr>
                <a:schemeClr val="dk1"/>
              </a:buClr>
              <a:buSzPct val="100000"/>
              <a:buChar char="•"/>
            </a:pPr>
            <a:r>
              <a:rPr lang="en-US" dirty="0"/>
              <a:t>Suppliers are very reluctant to accept penalty clauses</a:t>
            </a:r>
            <a:endParaRPr dirty="0"/>
          </a:p>
          <a:p>
            <a:pPr marL="228600" lvl="0" indent="-228600" algn="l" rtl="0">
              <a:lnSpc>
                <a:spcPct val="90000"/>
              </a:lnSpc>
              <a:spcBef>
                <a:spcPts val="1000"/>
              </a:spcBef>
              <a:spcAft>
                <a:spcPts val="0"/>
              </a:spcAft>
              <a:buClr>
                <a:schemeClr val="dk1"/>
              </a:buClr>
              <a:buSzPct val="100000"/>
              <a:buChar char="•"/>
            </a:pPr>
            <a:r>
              <a:rPr lang="en-US" dirty="0"/>
              <a:t>If the contract is to include penalty clauses, the bid price is likely to be increased by at least half the maximum value of the penalty.</a:t>
            </a:r>
            <a:endParaRPr dirty="0"/>
          </a:p>
          <a:p>
            <a:pPr marL="228600" lvl="0" indent="-228600" algn="l" rtl="0">
              <a:lnSpc>
                <a:spcPct val="90000"/>
              </a:lnSpc>
              <a:spcBef>
                <a:spcPts val="1000"/>
              </a:spcBef>
              <a:spcAft>
                <a:spcPts val="0"/>
              </a:spcAft>
              <a:buClr>
                <a:schemeClr val="dk1"/>
              </a:buClr>
              <a:buSzPct val="100000"/>
              <a:buChar char="•"/>
            </a:pPr>
            <a:r>
              <a:rPr lang="en-US" dirty="0"/>
              <a:t>If the software is </a:t>
            </a:r>
            <a:r>
              <a:rPr lang="en-US" b="1" u="sng" dirty="0"/>
              <a:t>seriously late and penalties approach their maximum</a:t>
            </a:r>
            <a:r>
              <a:rPr lang="en-US" dirty="0"/>
              <a:t>, there is little incentive for the supplier to complete the work since he will already have received in stage payments as much as he is going to get</a:t>
            </a:r>
            <a:endParaRPr dirty="0"/>
          </a:p>
          <a:p>
            <a:pPr marL="228600" lvl="0" indent="-228600" algn="l" rtl="0">
              <a:lnSpc>
                <a:spcPct val="90000"/>
              </a:lnSpc>
              <a:spcBef>
                <a:spcPts val="1000"/>
              </a:spcBef>
              <a:spcAft>
                <a:spcPts val="0"/>
              </a:spcAft>
              <a:buClr>
                <a:schemeClr val="dk1"/>
              </a:buClr>
              <a:buSzPct val="100000"/>
              <a:buChar char="•"/>
            </a:pPr>
            <a:r>
              <a:rPr lang="en-US" dirty="0"/>
              <a:t>It should be realized that the cost of delays on fixed price contracts is very high, regardless of penalty payments. Every delay </a:t>
            </a:r>
            <a:r>
              <a:rPr lang="en-US" b="1" u="sng" dirty="0"/>
              <a:t>eats into the supplier’s profit margin</a:t>
            </a:r>
            <a:r>
              <a:rPr lang="en-US" dirty="0"/>
              <a:t>. As a result, suppliers are strongly motivated to produce the software on time and delay is usually the result of genuine technical difficulties (or incompetence!) rather than lack of motivation. </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3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Obligations of the client</a:t>
            </a:r>
            <a:endParaRPr/>
          </a:p>
        </p:txBody>
      </p:sp>
      <p:sp>
        <p:nvSpPr>
          <p:cNvPr id="220" name="Google Shape;220;p3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92500" lnSpcReduction="10000"/>
          </a:bodyPr>
          <a:lstStyle/>
          <a:p>
            <a:pPr marL="228600" lvl="0" indent="-228600" algn="l" rtl="0">
              <a:lnSpc>
                <a:spcPct val="90000"/>
              </a:lnSpc>
              <a:spcBef>
                <a:spcPts val="0"/>
              </a:spcBef>
              <a:spcAft>
                <a:spcPts val="0"/>
              </a:spcAft>
              <a:buClr>
                <a:schemeClr val="dk1"/>
              </a:buClr>
              <a:buSzPct val="100000"/>
              <a:buChar char="•"/>
            </a:pPr>
            <a:r>
              <a:rPr lang="en-US" dirty="0"/>
              <a:t>client will have to </a:t>
            </a:r>
            <a:r>
              <a:rPr lang="en-US" b="1" u="sng" dirty="0"/>
              <a:t>fulfil certain obligations</a:t>
            </a:r>
            <a:r>
              <a:rPr lang="en-US" dirty="0"/>
              <a:t> if the contract is to be completed successfully.</a:t>
            </a:r>
            <a:endParaRPr dirty="0"/>
          </a:p>
          <a:p>
            <a:pPr marL="228600" lvl="0" indent="-228600" algn="l" rtl="0">
              <a:lnSpc>
                <a:spcPct val="90000"/>
              </a:lnSpc>
              <a:spcBef>
                <a:spcPts val="1000"/>
              </a:spcBef>
              <a:spcAft>
                <a:spcPts val="0"/>
              </a:spcAft>
              <a:buClr>
                <a:schemeClr val="dk1"/>
              </a:buClr>
              <a:buSzPct val="100000"/>
              <a:buChar char="•"/>
            </a:pPr>
            <a:r>
              <a:rPr lang="en-US" dirty="0"/>
              <a:t>provide </a:t>
            </a:r>
            <a:r>
              <a:rPr lang="en-US" b="1" u="sng" dirty="0"/>
              <a:t>documentation on aspects of the client’s activities</a:t>
            </a:r>
            <a:r>
              <a:rPr lang="en-US" dirty="0"/>
              <a:t> or the environment in which the system will run; </a:t>
            </a:r>
            <a:endParaRPr dirty="0"/>
          </a:p>
          <a:p>
            <a:pPr marL="228600" lvl="0" indent="-228600" algn="l" rtl="0">
              <a:lnSpc>
                <a:spcPct val="90000"/>
              </a:lnSpc>
              <a:spcBef>
                <a:spcPts val="1000"/>
              </a:spcBef>
              <a:spcAft>
                <a:spcPts val="0"/>
              </a:spcAft>
              <a:buClr>
                <a:schemeClr val="dk1"/>
              </a:buClr>
              <a:buSzPct val="100000"/>
              <a:buChar char="•"/>
            </a:pPr>
            <a:r>
              <a:rPr lang="en-US" dirty="0"/>
              <a:t>provide access to </a:t>
            </a:r>
            <a:r>
              <a:rPr lang="en-US" b="1" u="sng" dirty="0"/>
              <a:t>appropriate members of staff</a:t>
            </a:r>
            <a:r>
              <a:rPr lang="en-US" dirty="0"/>
              <a:t>; </a:t>
            </a:r>
            <a:endParaRPr dirty="0"/>
          </a:p>
          <a:p>
            <a:pPr marL="228600" lvl="0" indent="-228600" algn="l" rtl="0">
              <a:lnSpc>
                <a:spcPct val="90000"/>
              </a:lnSpc>
              <a:spcBef>
                <a:spcPts val="1000"/>
              </a:spcBef>
              <a:spcAft>
                <a:spcPts val="0"/>
              </a:spcAft>
              <a:buClr>
                <a:schemeClr val="dk1"/>
              </a:buClr>
              <a:buSzPct val="100000"/>
              <a:buChar char="•"/>
            </a:pPr>
            <a:r>
              <a:rPr lang="en-US" dirty="0"/>
              <a:t>provide machine </a:t>
            </a:r>
            <a:r>
              <a:rPr lang="en-US" b="1" u="sng" dirty="0"/>
              <a:t>facilities for development </a:t>
            </a:r>
            <a:r>
              <a:rPr lang="en-US" dirty="0"/>
              <a:t>and testing;</a:t>
            </a:r>
            <a:endParaRPr dirty="0"/>
          </a:p>
          <a:p>
            <a:pPr marL="228600" lvl="0" indent="-228600" algn="l" rtl="0">
              <a:lnSpc>
                <a:spcPct val="90000"/>
              </a:lnSpc>
              <a:spcBef>
                <a:spcPts val="1000"/>
              </a:spcBef>
              <a:spcAft>
                <a:spcPts val="0"/>
              </a:spcAft>
              <a:buClr>
                <a:schemeClr val="dk1"/>
              </a:buClr>
              <a:buSzPct val="100000"/>
              <a:buChar char="•"/>
            </a:pPr>
            <a:r>
              <a:rPr lang="en-US" dirty="0"/>
              <a:t>provide accommodation, telephone and secretarial facilities for the company’s staff when working on the client’s premises;</a:t>
            </a:r>
            <a:endParaRPr dirty="0"/>
          </a:p>
          <a:p>
            <a:pPr marL="228600" lvl="0" indent="-228600" algn="l" rtl="0">
              <a:lnSpc>
                <a:spcPct val="90000"/>
              </a:lnSpc>
              <a:spcBef>
                <a:spcPts val="1000"/>
              </a:spcBef>
              <a:spcAft>
                <a:spcPts val="0"/>
              </a:spcAft>
              <a:buClr>
                <a:schemeClr val="dk1"/>
              </a:buClr>
              <a:buSzPct val="100000"/>
              <a:buChar char="•"/>
            </a:pPr>
            <a:r>
              <a:rPr lang="en-US" dirty="0"/>
              <a:t>provide </a:t>
            </a:r>
            <a:r>
              <a:rPr lang="en-US" b="1" u="sng" dirty="0"/>
              <a:t>data communications </a:t>
            </a:r>
            <a:r>
              <a:rPr lang="en-US" dirty="0"/>
              <a:t>facilities to the site. </a:t>
            </a:r>
            <a:endParaRPr dirty="0"/>
          </a:p>
          <a:p>
            <a:pPr marL="228600" lvl="0" indent="-228600" algn="l" rtl="0">
              <a:lnSpc>
                <a:spcPct val="90000"/>
              </a:lnSpc>
              <a:spcBef>
                <a:spcPts val="1000"/>
              </a:spcBef>
              <a:spcAft>
                <a:spcPts val="0"/>
              </a:spcAft>
              <a:buClr>
                <a:schemeClr val="dk1"/>
              </a:buClr>
              <a:buSzPct val="100000"/>
              <a:buChar char="•"/>
            </a:pPr>
            <a:r>
              <a:rPr lang="en-US" dirty="0"/>
              <a:t>failure to meet the obligations may render the client liable for delay payments</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3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Standards and methods of working</a:t>
            </a:r>
            <a:endParaRPr/>
          </a:p>
        </p:txBody>
      </p:sp>
      <p:sp>
        <p:nvSpPr>
          <p:cNvPr id="226" name="Google Shape;226;p3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dirty="0"/>
              <a:t>supplier is likely to have company </a:t>
            </a:r>
            <a:r>
              <a:rPr lang="en-US" b="1" u="sng" dirty="0"/>
              <a:t>standards, methods of working</a:t>
            </a:r>
            <a:r>
              <a:rPr lang="en-US" dirty="0"/>
              <a:t>, quality assurance procedures, etc. and will normally prefer to use these</a:t>
            </a:r>
            <a:endParaRPr dirty="0"/>
          </a:p>
          <a:p>
            <a:pPr marL="228600" lvl="0" indent="-228600" algn="l" rtl="0">
              <a:lnSpc>
                <a:spcPct val="90000"/>
              </a:lnSpc>
              <a:spcBef>
                <a:spcPts val="1000"/>
              </a:spcBef>
              <a:spcAft>
                <a:spcPts val="0"/>
              </a:spcAft>
              <a:buClr>
                <a:schemeClr val="dk1"/>
              </a:buClr>
              <a:buSzPts val="2800"/>
              <a:buChar char="•"/>
            </a:pPr>
            <a:r>
              <a:rPr lang="en-US" dirty="0"/>
              <a:t>More sophisticated clients will have their own procedures</a:t>
            </a:r>
            <a:endParaRPr dirty="0"/>
          </a:p>
          <a:p>
            <a:pPr marL="228600" lvl="0" indent="-228600" algn="l" rtl="0">
              <a:lnSpc>
                <a:spcPct val="90000"/>
              </a:lnSpc>
              <a:spcBef>
                <a:spcPts val="1000"/>
              </a:spcBef>
              <a:spcAft>
                <a:spcPts val="0"/>
              </a:spcAft>
              <a:buClr>
                <a:schemeClr val="dk1"/>
              </a:buClr>
              <a:buSzPts val="2800"/>
              <a:buChar char="•"/>
            </a:pPr>
            <a:r>
              <a:rPr lang="en-US" dirty="0"/>
              <a:t>In some cases, the supplier may be required to allow the client to apply quality control procedures to the project. </a:t>
            </a:r>
            <a:endParaRPr dirty="0"/>
          </a:p>
          <a:p>
            <a:pPr marL="228600" lvl="0" indent="-228600" algn="l" rtl="0">
              <a:lnSpc>
                <a:spcPct val="90000"/>
              </a:lnSpc>
              <a:spcBef>
                <a:spcPts val="1000"/>
              </a:spcBef>
              <a:spcAft>
                <a:spcPts val="0"/>
              </a:spcAft>
              <a:buClr>
                <a:schemeClr val="dk1"/>
              </a:buClr>
              <a:buSzPts val="2800"/>
              <a:buChar char="•"/>
            </a:pPr>
            <a:r>
              <a:rPr lang="en-US" dirty="0"/>
              <a:t>The contract must specify which is to apply.</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Progress meetings, Project Managers, Acceptance procedure</a:t>
            </a:r>
            <a:endParaRPr/>
          </a:p>
        </p:txBody>
      </p:sp>
      <p:sp>
        <p:nvSpPr>
          <p:cNvPr id="232" name="Google Shape;232;p3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b="1" u="sng" dirty="0"/>
              <a:t>Progress meetings</a:t>
            </a:r>
            <a:r>
              <a:rPr lang="en-US" dirty="0"/>
              <a:t>: Regular progress meetings are essential to the successful completion of a fixed price contract and it is advisable that standard terms and conditions require them to be held.</a:t>
            </a:r>
            <a:endParaRPr dirty="0"/>
          </a:p>
          <a:p>
            <a:pPr marL="228600" lvl="0" indent="-228600" algn="l" rtl="0">
              <a:lnSpc>
                <a:spcPct val="90000"/>
              </a:lnSpc>
              <a:spcBef>
                <a:spcPts val="1000"/>
              </a:spcBef>
              <a:spcAft>
                <a:spcPts val="0"/>
              </a:spcAft>
              <a:buClr>
                <a:schemeClr val="dk1"/>
              </a:buClr>
              <a:buSzPts val="2800"/>
              <a:buChar char="•"/>
            </a:pPr>
            <a:r>
              <a:rPr lang="en-US" b="1" u="sng" dirty="0"/>
              <a:t>Project Managers</a:t>
            </a:r>
            <a:r>
              <a:rPr lang="en-US" dirty="0"/>
              <a:t>: The Project Managers must have at least the authority necessary to fulfil the obligations which the contract places on them.</a:t>
            </a:r>
            <a:endParaRPr dirty="0"/>
          </a:p>
          <a:p>
            <a:pPr marL="228600" lvl="0" indent="-228600" algn="l" rtl="0">
              <a:lnSpc>
                <a:spcPct val="90000"/>
              </a:lnSpc>
              <a:spcBef>
                <a:spcPts val="1000"/>
              </a:spcBef>
              <a:spcAft>
                <a:spcPts val="0"/>
              </a:spcAft>
              <a:buClr>
                <a:schemeClr val="dk1"/>
              </a:buClr>
              <a:buSzPts val="2800"/>
              <a:buChar char="•"/>
            </a:pPr>
            <a:r>
              <a:rPr lang="en-US" b="1" u="sng" dirty="0"/>
              <a:t>Acceptance procedure</a:t>
            </a:r>
            <a:r>
              <a:rPr lang="en-US" dirty="0"/>
              <a:t>: critical part of any fixed price contract, successful completion of the contract is judged, client should provide a fixed set of acceptance tests and expected results and that successful performance of these tests shall constitute acceptance of the system</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3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Warranty and maintenance</a:t>
            </a:r>
            <a:endParaRPr/>
          </a:p>
        </p:txBody>
      </p:sp>
      <p:sp>
        <p:nvSpPr>
          <p:cNvPr id="238" name="Google Shape;238;p3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b="1" u="sng" dirty="0"/>
              <a:t>Once the product has been accepted</a:t>
            </a:r>
            <a:r>
              <a:rPr lang="en-US" dirty="0"/>
              <a:t>, it is common practice to offer a warranty period of, typically, 90 days.</a:t>
            </a:r>
            <a:endParaRPr dirty="0"/>
          </a:p>
          <a:p>
            <a:pPr marL="228600" lvl="0" indent="-228600" algn="l" rtl="0">
              <a:lnSpc>
                <a:spcPct val="90000"/>
              </a:lnSpc>
              <a:spcBef>
                <a:spcPts val="1000"/>
              </a:spcBef>
              <a:spcAft>
                <a:spcPts val="0"/>
              </a:spcAft>
              <a:buClr>
                <a:schemeClr val="dk1"/>
              </a:buClr>
              <a:buSzPts val="2800"/>
              <a:buChar char="•"/>
            </a:pPr>
            <a:r>
              <a:rPr lang="en-US" dirty="0"/>
              <a:t> Any errors found in the software and reported within this period will be corrected free of charge. </a:t>
            </a:r>
            <a:endParaRPr dirty="0"/>
          </a:p>
          <a:p>
            <a:pPr marL="228600" lvl="0" indent="-228600" algn="l" rtl="0">
              <a:lnSpc>
                <a:spcPct val="90000"/>
              </a:lnSpc>
              <a:spcBef>
                <a:spcPts val="1000"/>
              </a:spcBef>
              <a:spcAft>
                <a:spcPts val="0"/>
              </a:spcAft>
              <a:buClr>
                <a:schemeClr val="dk1"/>
              </a:buClr>
              <a:buSzPts val="2800"/>
              <a:buChar char="•"/>
            </a:pPr>
            <a:r>
              <a:rPr lang="en-US" dirty="0"/>
              <a:t>This clause is, of course, subject to negotiation; reducing or eliminating the warranty period will reduce the overall cost of the contract prolonging the period will increase it.</a:t>
            </a:r>
            <a:endParaRPr dirty="0"/>
          </a:p>
          <a:p>
            <a:pPr marL="228600" lvl="0" indent="-228600" algn="l" rtl="0">
              <a:lnSpc>
                <a:spcPct val="90000"/>
              </a:lnSpc>
              <a:spcBef>
                <a:spcPts val="1000"/>
              </a:spcBef>
              <a:spcAft>
                <a:spcPts val="0"/>
              </a:spcAft>
              <a:buClr>
                <a:schemeClr val="dk1"/>
              </a:buClr>
              <a:buSzPts val="2800"/>
              <a:buChar char="•"/>
            </a:pPr>
            <a:r>
              <a:rPr lang="en-US" dirty="0"/>
              <a:t>Once the warranty period is over, the supplier may offer, or the client demand, that maintenance will continue to be available on request.</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3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b="1"/>
              <a:t>Termination of the contract</a:t>
            </a:r>
            <a:endParaRPr/>
          </a:p>
        </p:txBody>
      </p:sp>
      <p:sp>
        <p:nvSpPr>
          <p:cNvPr id="244" name="Google Shape;244;p3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b="1" dirty="0"/>
              <a:t>Termination of the contract</a:t>
            </a:r>
            <a:r>
              <a:rPr lang="en-US" dirty="0"/>
              <a:t>:</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the client to be taken over by another company which already has a system of the type being developed, or for a change in policy on the part of the client to mean that the system is no longer relevant to its needs.</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supplier is to be </a:t>
            </a:r>
            <a:r>
              <a:rPr lang="en-US" b="1" u="sng" dirty="0"/>
              <a:t>paid for all the work </a:t>
            </a:r>
            <a:r>
              <a:rPr lang="en-US" dirty="0"/>
              <a:t>carried out up to the point</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together with </a:t>
            </a:r>
            <a:r>
              <a:rPr lang="en-US" b="1" u="sng" dirty="0"/>
              <a:t>some compensation for the time </a:t>
            </a:r>
            <a:r>
              <a:rPr lang="en-US" dirty="0"/>
              <a:t>needed to redeploy staff on other revenue-earning work.</a:t>
            </a:r>
            <a:endParaRPr dirty="0"/>
          </a:p>
          <a:p>
            <a:pPr marL="514350" lvl="0" indent="-514350" algn="l" rtl="0">
              <a:lnSpc>
                <a:spcPct val="90000"/>
              </a:lnSpc>
              <a:spcBef>
                <a:spcPts val="1000"/>
              </a:spcBef>
              <a:spcAft>
                <a:spcPts val="0"/>
              </a:spcAft>
              <a:buClr>
                <a:schemeClr val="dk1"/>
              </a:buClr>
              <a:buSzPts val="2800"/>
              <a:buFont typeface="Calibri"/>
              <a:buAutoNum type="arabicPeriod"/>
            </a:pPr>
            <a:r>
              <a:rPr lang="en-US" dirty="0"/>
              <a:t>The question of ownership of the work so far carried out must also be addressed.</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Arbitration</a:t>
            </a:r>
            <a:endParaRPr/>
          </a:p>
        </p:txBody>
      </p:sp>
      <p:sp>
        <p:nvSpPr>
          <p:cNvPr id="251" name="Google Shape;251;p3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dirty="0"/>
              <a:t>Court action to resolve a contractual dispute is likely to be expensive.</a:t>
            </a:r>
            <a:endParaRPr dirty="0"/>
          </a:p>
          <a:p>
            <a:pPr marL="228600" lvl="0" indent="-228600" algn="l" rtl="0">
              <a:lnSpc>
                <a:spcPct val="90000"/>
              </a:lnSpc>
              <a:spcBef>
                <a:spcPts val="1000"/>
              </a:spcBef>
              <a:spcAft>
                <a:spcPts val="0"/>
              </a:spcAft>
              <a:buClr>
                <a:schemeClr val="dk1"/>
              </a:buClr>
              <a:buSzPts val="2800"/>
              <a:buChar char="•"/>
            </a:pPr>
            <a:r>
              <a:rPr lang="en-US" dirty="0"/>
              <a:t>It is common practice for contracts to include a statement that, in the </a:t>
            </a:r>
            <a:r>
              <a:rPr lang="en-US" b="1" u="sng" dirty="0"/>
              <a:t>event of a dispute that cannot be resolved by the parties themselves, they agree to accept the decision of an independent arbitrator</a:t>
            </a:r>
            <a:r>
              <a:rPr lang="en-US" dirty="0"/>
              <a:t>.</a:t>
            </a:r>
            <a:endParaRPr dirty="0"/>
          </a:p>
          <a:p>
            <a:pPr marL="228600" lvl="0" indent="-228600" algn="l" rtl="0">
              <a:lnSpc>
                <a:spcPct val="90000"/>
              </a:lnSpc>
              <a:spcBef>
                <a:spcPts val="1000"/>
              </a:spcBef>
              <a:spcAft>
                <a:spcPts val="0"/>
              </a:spcAft>
              <a:buClr>
                <a:schemeClr val="dk1"/>
              </a:buClr>
              <a:buSzPts val="2800"/>
              <a:buChar char="•"/>
            </a:pPr>
            <a:r>
              <a:rPr lang="en-US" dirty="0"/>
              <a:t>British Computer Society or by the President of the Institution of Electrical Engineers both bodies maintain lists of qualified arbitrators who have the necessary technical understanding.</a:t>
            </a:r>
            <a:endParaRPr dirty="0"/>
          </a:p>
          <a:p>
            <a:pPr marL="228600" lvl="0" indent="-228600" algn="l" rtl="0">
              <a:lnSpc>
                <a:spcPct val="90000"/>
              </a:lnSpc>
              <a:spcBef>
                <a:spcPts val="1000"/>
              </a:spcBef>
              <a:spcAft>
                <a:spcPts val="0"/>
              </a:spcAft>
              <a:buClr>
                <a:schemeClr val="dk1"/>
              </a:buClr>
              <a:buSzPts val="2800"/>
              <a:buChar char="•"/>
            </a:pPr>
            <a:r>
              <a:rPr lang="en-US" dirty="0"/>
              <a:t>Some organizations may be unwilling to accept an arbitration clause because they feel that they are signing away some of their legal rights.</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Inflation</a:t>
            </a:r>
            <a:endParaRPr/>
          </a:p>
        </p:txBody>
      </p:sp>
      <p:sp>
        <p:nvSpPr>
          <p:cNvPr id="257" name="Google Shape;257;p4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lnSpcReduction="10000"/>
          </a:bodyPr>
          <a:lstStyle/>
          <a:p>
            <a:pPr marL="228600" lvl="0" indent="-228600" algn="l" rtl="0">
              <a:lnSpc>
                <a:spcPct val="90000"/>
              </a:lnSpc>
              <a:spcBef>
                <a:spcPts val="0"/>
              </a:spcBef>
              <a:spcAft>
                <a:spcPts val="0"/>
              </a:spcAft>
              <a:buClr>
                <a:schemeClr val="dk1"/>
              </a:buClr>
              <a:buSzPts val="2800"/>
              <a:buChar char="•"/>
            </a:pPr>
            <a:r>
              <a:rPr lang="en-US"/>
              <a:t>commitment to long term maintenance, the supplier will wish to ensure protection against the effects of unpredictable inflation</a:t>
            </a:r>
            <a:endParaRPr/>
          </a:p>
          <a:p>
            <a:pPr marL="228600" lvl="0" indent="-228600" algn="l" rtl="0">
              <a:lnSpc>
                <a:spcPct val="90000"/>
              </a:lnSpc>
              <a:spcBef>
                <a:spcPts val="1000"/>
              </a:spcBef>
              <a:spcAft>
                <a:spcPts val="0"/>
              </a:spcAft>
              <a:buClr>
                <a:schemeClr val="dk1"/>
              </a:buClr>
              <a:buSzPts val="2800"/>
              <a:buChar char="•"/>
            </a:pPr>
            <a:r>
              <a:rPr lang="en-US"/>
              <a:t>include a clause which allows charges to be increased in accordance with the rise in costs</a:t>
            </a:r>
            <a:endParaRPr/>
          </a:p>
          <a:p>
            <a:pPr marL="228600" lvl="0" indent="-228600" algn="l" rtl="0">
              <a:lnSpc>
                <a:spcPct val="90000"/>
              </a:lnSpc>
              <a:spcBef>
                <a:spcPts val="1000"/>
              </a:spcBef>
              <a:spcAft>
                <a:spcPts val="0"/>
              </a:spcAft>
              <a:buClr>
                <a:schemeClr val="dk1"/>
              </a:buClr>
              <a:buSzPts val="2800"/>
              <a:buChar char="•"/>
            </a:pPr>
            <a:r>
              <a:rPr lang="en-US"/>
              <a:t>The clause should state how often (once a year, twice a year) charges can be increased and how the effect on the overall price is to be calculated</a:t>
            </a:r>
            <a:endParaRPr/>
          </a:p>
          <a:p>
            <a:pPr marL="228600" lvl="0" indent="-228600" algn="l" rtl="0">
              <a:lnSpc>
                <a:spcPct val="90000"/>
              </a:lnSpc>
              <a:spcBef>
                <a:spcPts val="1000"/>
              </a:spcBef>
              <a:spcAft>
                <a:spcPts val="0"/>
              </a:spcAft>
              <a:buClr>
                <a:schemeClr val="dk1"/>
              </a:buClr>
              <a:buSzPts val="2800"/>
              <a:buChar char="•"/>
            </a:pPr>
            <a:r>
              <a:rPr lang="en-US" b="1"/>
              <a:t>Applicable law: </a:t>
            </a:r>
            <a:r>
              <a:rPr lang="en-US"/>
              <a:t>Where the supplier and the client have their registered offices in different legal jurisdictions or performance of the contract involves more than one jurisdiction, it is necessary to state under which laws the contract is to be interpreted</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p4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Other types of software services contract</a:t>
            </a:r>
            <a:endParaRPr/>
          </a:p>
        </p:txBody>
      </p:sp>
      <p:sp>
        <p:nvSpPr>
          <p:cNvPr id="263" name="Google Shape;263;p4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There are four types of contractual arrangement which are widely used in connection with the provision of software services: </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contract hire; </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time and materials; </a:t>
            </a:r>
            <a:endParaRPr/>
          </a:p>
          <a:p>
            <a:pPr marL="514350" lvl="0" indent="-514350" algn="l" rtl="0">
              <a:lnSpc>
                <a:spcPct val="90000"/>
              </a:lnSpc>
              <a:spcBef>
                <a:spcPts val="1000"/>
              </a:spcBef>
              <a:spcAft>
                <a:spcPts val="0"/>
              </a:spcAft>
              <a:buClr>
                <a:schemeClr val="dk1"/>
              </a:buClr>
              <a:buSzPts val="2800"/>
              <a:buFont typeface="Calibri"/>
              <a:buAutoNum type="arabicPeriod"/>
            </a:pPr>
            <a:r>
              <a:rPr lang="en-US"/>
              <a:t>consultancy;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2"/>
          <p:cNvSpPr txBox="1">
            <a:spLocks noGrp="1"/>
          </p:cNvSpPr>
          <p:nvPr>
            <p:ph type="title"/>
          </p:nvPr>
        </p:nvSpPr>
        <p:spPr>
          <a:xfrm>
            <a:off x="838200" y="413251"/>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contract hire</a:t>
            </a:r>
            <a:endParaRPr/>
          </a:p>
        </p:txBody>
      </p:sp>
      <p:sp>
        <p:nvSpPr>
          <p:cNvPr id="269" name="Google Shape;269;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the supplier agrees to provide the services of one or more staff to work for the client;</a:t>
            </a:r>
            <a:endParaRPr/>
          </a:p>
          <a:p>
            <a:pPr marL="228600" lvl="0" indent="-228600" algn="l" rtl="0">
              <a:lnSpc>
                <a:spcPct val="90000"/>
              </a:lnSpc>
              <a:spcBef>
                <a:spcPts val="1000"/>
              </a:spcBef>
              <a:spcAft>
                <a:spcPts val="0"/>
              </a:spcAft>
              <a:buClr>
                <a:schemeClr val="dk1"/>
              </a:buClr>
              <a:buSzPts val="2800"/>
              <a:buChar char="•"/>
            </a:pPr>
            <a:r>
              <a:rPr lang="en-US"/>
              <a:t>staff work under the direction of the client and the supplier’s responsibility is limited to providing suitably competent people and replacing them if they become unavailable or are adjudged unsuitable by the client</a:t>
            </a:r>
            <a:endParaRPr/>
          </a:p>
          <a:p>
            <a:pPr marL="228600" lvl="0" indent="-228600" algn="l" rtl="0">
              <a:lnSpc>
                <a:spcPct val="90000"/>
              </a:lnSpc>
              <a:spcBef>
                <a:spcPts val="1000"/>
              </a:spcBef>
              <a:spcAft>
                <a:spcPts val="0"/>
              </a:spcAft>
              <a:buClr>
                <a:schemeClr val="dk1"/>
              </a:buClr>
              <a:buSzPts val="2800"/>
              <a:buChar char="•"/>
            </a:pPr>
            <a:r>
              <a:rPr lang="en-US"/>
              <a:t>Payment is on the basis of a fixed rate for each man day worked; the rate depends on the experience and qualifications of the staff</a:t>
            </a:r>
            <a:endParaRPr/>
          </a:p>
          <a:p>
            <a:pPr marL="228600" lvl="0" indent="-228600" algn="l" rtl="0">
              <a:lnSpc>
                <a:spcPct val="90000"/>
              </a:lnSpc>
              <a:spcBef>
                <a:spcPts val="1000"/>
              </a:spcBef>
              <a:spcAft>
                <a:spcPts val="0"/>
              </a:spcAft>
              <a:buClr>
                <a:schemeClr val="dk1"/>
              </a:buClr>
              <a:buSzPts val="2800"/>
              <a:buChar char="•"/>
            </a:pPr>
            <a:r>
              <a:rPr lang="en-US"/>
              <a:t>Issues such as delay payments, acceptance tests and many others simply do not arise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4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Time and materials</a:t>
            </a:r>
            <a:endParaRPr/>
          </a:p>
        </p:txBody>
      </p:sp>
      <p:sp>
        <p:nvSpPr>
          <p:cNvPr id="276" name="Google Shape;276;p4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fontScale="85000" lnSpcReduction="10000"/>
          </a:bodyPr>
          <a:lstStyle/>
          <a:p>
            <a:pPr marL="228600" lvl="0" indent="-228600" algn="l" rtl="0">
              <a:lnSpc>
                <a:spcPct val="90000"/>
              </a:lnSpc>
              <a:spcBef>
                <a:spcPts val="0"/>
              </a:spcBef>
              <a:spcAft>
                <a:spcPts val="0"/>
              </a:spcAft>
              <a:buClr>
                <a:schemeClr val="dk1"/>
              </a:buClr>
              <a:buSzPct val="100000"/>
              <a:buChar char="•"/>
            </a:pPr>
            <a:r>
              <a:rPr lang="en-US"/>
              <a:t>A time and materials contract (often referred to as a “cost plus” contract) is somewhere between a contract hire agreement and a fixed price contract.</a:t>
            </a:r>
            <a:endParaRPr/>
          </a:p>
          <a:p>
            <a:pPr marL="228600" lvl="0" indent="-228600" algn="l" rtl="0">
              <a:lnSpc>
                <a:spcPct val="90000"/>
              </a:lnSpc>
              <a:spcBef>
                <a:spcPts val="1000"/>
              </a:spcBef>
              <a:spcAft>
                <a:spcPts val="0"/>
              </a:spcAft>
              <a:buClr>
                <a:schemeClr val="dk1"/>
              </a:buClr>
              <a:buSzPct val="100000"/>
              <a:buChar char="•"/>
            </a:pPr>
            <a:r>
              <a:rPr lang="en-US"/>
              <a:t>The supplier agrees to undertake the development of the software in much the same way as in a fixed price contract but payment is made on the basis of the costs incurred, with labor charged in the same way as for contract hire</a:t>
            </a:r>
            <a:endParaRPr/>
          </a:p>
          <a:p>
            <a:pPr marL="228600" lvl="0" indent="-228600" algn="l" rtl="0">
              <a:lnSpc>
                <a:spcPct val="90000"/>
              </a:lnSpc>
              <a:spcBef>
                <a:spcPts val="1000"/>
              </a:spcBef>
              <a:spcAft>
                <a:spcPts val="0"/>
              </a:spcAft>
              <a:buClr>
                <a:schemeClr val="dk1"/>
              </a:buClr>
              <a:buSzPct val="100000"/>
              <a:buChar char="•"/>
            </a:pPr>
            <a:r>
              <a:rPr lang="en-US"/>
              <a:t> This is a type of contract that pays the contractor for the materials he or she uses as well as the amount of time spent to finish the job. </a:t>
            </a:r>
            <a:endParaRPr/>
          </a:p>
          <a:p>
            <a:pPr marL="228600" lvl="0" indent="-228600" algn="l" rtl="0">
              <a:lnSpc>
                <a:spcPct val="90000"/>
              </a:lnSpc>
              <a:spcBef>
                <a:spcPts val="1000"/>
              </a:spcBef>
              <a:spcAft>
                <a:spcPts val="0"/>
              </a:spcAft>
              <a:buClr>
                <a:schemeClr val="dk1"/>
              </a:buClr>
              <a:buSzPct val="100000"/>
              <a:buChar char="•"/>
            </a:pPr>
            <a:r>
              <a:rPr lang="en-US"/>
              <a:t>A time and materials contract usually signals to the customer that there is risk involved. The project could cost more than initially anticipated.</a:t>
            </a:r>
            <a:endParaRPr/>
          </a:p>
          <a:p>
            <a:pPr marL="228600" lvl="0" indent="-228600" algn="l" rtl="0">
              <a:lnSpc>
                <a:spcPct val="90000"/>
              </a:lnSpc>
              <a:spcBef>
                <a:spcPts val="1000"/>
              </a:spcBef>
              <a:spcAft>
                <a:spcPts val="0"/>
              </a:spcAft>
              <a:buClr>
                <a:schemeClr val="dk1"/>
              </a:buClr>
              <a:buSzPct val="100000"/>
              <a:buChar char="•"/>
            </a:pPr>
            <a:r>
              <a:rPr lang="en-US"/>
              <a:t>The supplier is not committed to completing the work for a fixed price, although a maximum payment may be fixed beyond which the project may be reviewed</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Time and materials</a:t>
            </a:r>
            <a:endParaRPr/>
          </a:p>
        </p:txBody>
      </p:sp>
      <p:sp>
        <p:nvSpPr>
          <p:cNvPr id="283" name="Google Shape;283;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Many of the complications of fixed price contracts still occur with time and materials contracts—ownership of rights, facilities to be provided by the client, progress monitoring arrangements, for instance—but others, </a:t>
            </a:r>
            <a:endParaRPr/>
          </a:p>
          <a:p>
            <a:pPr marL="228600" lvl="0" indent="-228600" algn="l" rtl="0">
              <a:lnSpc>
                <a:spcPct val="90000"/>
              </a:lnSpc>
              <a:spcBef>
                <a:spcPts val="1000"/>
              </a:spcBef>
              <a:spcAft>
                <a:spcPts val="0"/>
              </a:spcAft>
              <a:buClr>
                <a:schemeClr val="dk1"/>
              </a:buClr>
              <a:buSzPts val="2800"/>
              <a:buChar char="•"/>
            </a:pPr>
            <a:r>
              <a:rPr lang="en-US"/>
              <a:t>such as delay payments and acceptance testing do not; </a:t>
            </a:r>
            <a:endParaRPr/>
          </a:p>
          <a:p>
            <a:pPr marL="228600" lvl="0" indent="-228600" algn="l" rtl="0">
              <a:lnSpc>
                <a:spcPct val="90000"/>
              </a:lnSpc>
              <a:spcBef>
                <a:spcPts val="1000"/>
              </a:spcBef>
              <a:spcAft>
                <a:spcPts val="0"/>
              </a:spcAft>
              <a:buClr>
                <a:schemeClr val="dk1"/>
              </a:buClr>
              <a:buSzPts val="2800"/>
              <a:buChar char="•"/>
            </a:pPr>
            <a:r>
              <a:rPr lang="en-US"/>
              <a:t>this is not to say that no acceptance testing is done, only that it has no contractual significance since nothing contractual depends on its outcome </a:t>
            </a:r>
            <a:endParaRPr/>
          </a:p>
          <a:p>
            <a:pPr marL="228600" lvl="0" indent="-228600" algn="l" rtl="0">
              <a:lnSpc>
                <a:spcPct val="90000"/>
              </a:lnSpc>
              <a:spcBef>
                <a:spcPts val="1000"/>
              </a:spcBef>
              <a:spcAft>
                <a:spcPts val="0"/>
              </a:spcAft>
              <a:buClr>
                <a:schemeClr val="dk1"/>
              </a:buClr>
              <a:buSzPts val="2800"/>
              <a:buChar char="•"/>
            </a:pPr>
            <a:r>
              <a:rPr lang="en-US"/>
              <a:t>Time materials or fixed price, which one would you prefer ?</a:t>
            </a:r>
            <a:br>
              <a:rPr lang="en-US"/>
            </a:b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Calibri"/>
              <a:buNone/>
            </a:pPr>
            <a:r>
              <a:rPr lang="en-US"/>
              <a:t>Consultancy contract</a:t>
            </a:r>
            <a:endParaRPr/>
          </a:p>
        </p:txBody>
      </p:sp>
      <p:sp>
        <p:nvSpPr>
          <p:cNvPr id="289" name="Google Shape;289;p4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228600" algn="l" rtl="0">
              <a:lnSpc>
                <a:spcPct val="90000"/>
              </a:lnSpc>
              <a:spcBef>
                <a:spcPts val="0"/>
              </a:spcBef>
              <a:spcAft>
                <a:spcPts val="0"/>
              </a:spcAft>
              <a:buClr>
                <a:schemeClr val="dk1"/>
              </a:buClr>
              <a:buSzPts val="2800"/>
              <a:buChar char="•"/>
            </a:pPr>
            <a:r>
              <a:rPr lang="en-US"/>
              <a:t>You hire team of consultants</a:t>
            </a:r>
            <a:endParaRPr/>
          </a:p>
          <a:p>
            <a:pPr marL="228600" lvl="0" indent="-228600" algn="l" rtl="0">
              <a:lnSpc>
                <a:spcPct val="90000"/>
              </a:lnSpc>
              <a:spcBef>
                <a:spcPts val="1000"/>
              </a:spcBef>
              <a:spcAft>
                <a:spcPts val="0"/>
              </a:spcAft>
              <a:buClr>
                <a:schemeClr val="dk1"/>
              </a:buClr>
              <a:buSzPts val="2800"/>
              <a:buChar char="•"/>
            </a:pPr>
            <a:r>
              <a:rPr lang="en-US"/>
              <a:t>Consultants are typically used to assess some aspect of an organization and to make proposals for improvements.</a:t>
            </a:r>
            <a:endParaRPr/>
          </a:p>
          <a:p>
            <a:pPr marL="228600" lvl="0" indent="-228600" algn="l" rtl="0">
              <a:lnSpc>
                <a:spcPct val="90000"/>
              </a:lnSpc>
              <a:spcBef>
                <a:spcPts val="1000"/>
              </a:spcBef>
              <a:spcAft>
                <a:spcPts val="0"/>
              </a:spcAft>
              <a:buClr>
                <a:schemeClr val="dk1"/>
              </a:buClr>
              <a:buSzPts val="2800"/>
              <a:buChar char="•"/>
            </a:pPr>
            <a:r>
              <a:rPr lang="en-US"/>
              <a:t>The end product of a consultancy project is therefore usually a report or other document</a:t>
            </a:r>
            <a:endParaRPr/>
          </a:p>
          <a:p>
            <a:pPr marL="228600" lvl="0" indent="-228600" algn="l" rtl="0">
              <a:lnSpc>
                <a:spcPct val="90000"/>
              </a:lnSpc>
              <a:spcBef>
                <a:spcPts val="1000"/>
              </a:spcBef>
              <a:spcAft>
                <a:spcPts val="0"/>
              </a:spcAft>
              <a:buClr>
                <a:schemeClr val="dk1"/>
              </a:buClr>
              <a:buSzPts val="2800"/>
              <a:buChar char="•"/>
            </a:pPr>
            <a:r>
              <a:rPr lang="en-US"/>
              <a:t>Consultancy projects are usually undertaken for a fixed price but the form of contract is very much simpler than the fixed price contracts so far described</a:t>
            </a: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157</TotalTime>
  <Words>4037</Words>
  <Application>Microsoft Office PowerPoint</Application>
  <PresentationFormat>Widescreen</PresentationFormat>
  <Paragraphs>208</Paragraphs>
  <Slides>34</Slides>
  <Notes>33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34</vt:i4>
      </vt:variant>
    </vt:vector>
  </HeadingPairs>
  <TitlesOfParts>
    <vt:vector size="39" baseType="lpstr">
      <vt:lpstr>Arial</vt:lpstr>
      <vt:lpstr>Arial</vt:lpstr>
      <vt:lpstr>Calibri</vt:lpstr>
      <vt:lpstr>Open Sans</vt:lpstr>
      <vt:lpstr>Office Theme</vt:lpstr>
      <vt:lpstr>Computer Contracts</vt:lpstr>
      <vt:lpstr>Introduction</vt:lpstr>
      <vt:lpstr>Introduction</vt:lpstr>
      <vt:lpstr>Introduction</vt:lpstr>
      <vt:lpstr>Introduction</vt:lpstr>
      <vt:lpstr>Introduction</vt:lpstr>
      <vt:lpstr>Introduction</vt:lpstr>
      <vt:lpstr>Identify the ambiguity </vt:lpstr>
      <vt:lpstr>Introduction</vt:lpstr>
      <vt:lpstr>Contracts for the supply of custom-built software at a fixed price</vt:lpstr>
      <vt:lpstr>Issues dealt with standard terms and conditions</vt:lpstr>
      <vt:lpstr>Issues dealt with standard terms and conditions</vt:lpstr>
      <vt:lpstr>What is to be produced</vt:lpstr>
      <vt:lpstr>What is to be delivered</vt:lpstr>
      <vt:lpstr>Ownership of rights</vt:lpstr>
      <vt:lpstr>Ownership of rights</vt:lpstr>
      <vt:lpstr>Ownership of rights</vt:lpstr>
      <vt:lpstr>Confidentiality</vt:lpstr>
      <vt:lpstr>Payment terms</vt:lpstr>
      <vt:lpstr>Payment terms</vt:lpstr>
      <vt:lpstr>Calculating payments for delays and changes</vt:lpstr>
      <vt:lpstr>Penalty clauses</vt:lpstr>
      <vt:lpstr>Obligations of the client</vt:lpstr>
      <vt:lpstr>Standards and methods of working</vt:lpstr>
      <vt:lpstr>Progress meetings, Project Managers, Acceptance procedure</vt:lpstr>
      <vt:lpstr>Warranty and maintenance</vt:lpstr>
      <vt:lpstr>Termination of the contract</vt:lpstr>
      <vt:lpstr>Arbitration</vt:lpstr>
      <vt:lpstr>Inflation</vt:lpstr>
      <vt:lpstr>Other types of software services contract</vt:lpstr>
      <vt:lpstr>contract hire</vt:lpstr>
      <vt:lpstr>Time and materials</vt:lpstr>
      <vt:lpstr>Time and materials</vt:lpstr>
      <vt:lpstr>Consultancy contract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Contracts</dc:title>
  <cp:lastModifiedBy>Junaid Hocane</cp:lastModifiedBy>
  <cp:revision>4</cp:revision>
  <dcterms:modified xsi:type="dcterms:W3CDTF">2025-10-02T05:45:05Z</dcterms:modified>
</cp:coreProperties>
</file>