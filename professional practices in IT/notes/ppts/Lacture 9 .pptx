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3" r:id="rId15"/>
    <p:sldId id="274" r:id="rId16"/>
    <p:sldId id="275" r:id="rId17"/>
    <p:sldId id="276" r:id="rId18"/>
    <p:sldId id="277" r:id="rId19"/>
    <p:sldId id="271" r:id="rId20"/>
    <p:sldId id="272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d/discountrate.asp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investopedia.com/investing/pitfalls-of-discounted-cash-flow-analysis/" TargetMode="External"/><Relationship Id="rId4" Type="http://schemas.openxmlformats.org/officeDocument/2006/relationships/hyperlink" Target="https://www.investopedia.com/terms/n/npv.asp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11111"/>
                </a:solidFill>
                <a:highlight>
                  <a:srgbClr val="FFFFFF"/>
                </a:highlight>
              </a:rPr>
              <a:t>IRR is a </a:t>
            </a:r>
            <a:r>
              <a:rPr lang="en-US" sz="1350" u="sng">
                <a:solidFill>
                  <a:srgbClr val="2C40D0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discount rate</a:t>
            </a:r>
            <a:r>
              <a:rPr lang="en-US" sz="1350">
                <a:solidFill>
                  <a:srgbClr val="111111"/>
                </a:solidFill>
                <a:highlight>
                  <a:srgbClr val="FFFFFF"/>
                </a:highlight>
              </a:rPr>
              <a:t> that makes the </a:t>
            </a:r>
            <a:r>
              <a:rPr lang="en-US" sz="1350" u="sng">
                <a:solidFill>
                  <a:srgbClr val="2C40D0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 present value (NPV)</a:t>
            </a:r>
            <a:r>
              <a:rPr lang="en-US" sz="1350">
                <a:solidFill>
                  <a:srgbClr val="111111"/>
                </a:solidFill>
                <a:highlight>
                  <a:srgbClr val="FFFFFF"/>
                </a:highlight>
              </a:rPr>
              <a:t> of all cash flows equal to zero in a </a:t>
            </a:r>
            <a:r>
              <a:rPr lang="en-US" sz="1350" u="sng">
                <a:solidFill>
                  <a:srgbClr val="2C40D0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discounted cash flow analysis</a:t>
            </a:r>
            <a:r>
              <a:rPr lang="en-US" sz="1350">
                <a:solidFill>
                  <a:srgbClr val="111111"/>
                </a:solidFill>
                <a:highlight>
                  <a:srgbClr val="FFFFFF"/>
                </a:highlight>
              </a:rPr>
              <a:t>.</a:t>
            </a:r>
            <a:endParaRPr sz="135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11111"/>
                </a:solidFill>
                <a:highlight>
                  <a:srgbClr val="FFFFFF"/>
                </a:highlight>
              </a:rPr>
              <a:t>Cost of capital is a calculation of the minimum return that would be necessary in order to justify undertaking a capital budgeting project, such as building a new factory. It is an evaluation of whether a projected decision can be justified by its cost.</a:t>
            </a:r>
            <a:endParaRPr sz="135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Investment Appraisal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Chapter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Lesson Goals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Understand what is meant by time value money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 able to carry DCF analysis to assess the viability of a proposed investment proposal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 able to interpret a discounted cash flow analysis in commercial terms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Successful companies always looking to change and develop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Management is faced with different proposals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 single way of assessing and comparing different proposals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Factors taken into account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Consistent with company’s long term plans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Risk attached to proposals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Availability of necessary resources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One important criteria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Return on investment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Usual way is DCF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DCF tool is used for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Share price of a company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Purchase or lease it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Most financially appealing proposals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proposed project is worthwhile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Value of Money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promise of 103RS for 100RS in a years time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DCF – discounted cash flow analysis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 ÷ (1 + </a:t>
            </a:r>
            <a:r>
              <a:rPr lang="en-US" i="1"/>
              <a:t>r</a:t>
            </a:r>
            <a:r>
              <a:rPr lang="en-US"/>
              <a:t>)</a:t>
            </a:r>
            <a:r>
              <a:rPr lang="en-US" i="1"/>
              <a:t>t </a:t>
            </a:r>
            <a:r>
              <a:rPr lang="en-US"/>
              <a:t>is known as discount factor</a:t>
            </a:r>
            <a:endParaRPr/>
          </a:p>
        </p:txBody>
      </p:sp>
      <p:pic>
        <p:nvPicPr>
          <p:cNvPr id="2" name="Picture 1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07F9FAE8-8B45-AE9E-2013-4F51B20A8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178" y="4061989"/>
            <a:ext cx="5731510" cy="1849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Value of Money</a:t>
            </a:r>
            <a:endParaRPr/>
          </a:p>
        </p:txBody>
      </p:sp>
      <p:pic>
        <p:nvPicPr>
          <p:cNvPr id="115" name="Google Shape;115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19187" y="1986756"/>
            <a:ext cx="69056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Value of Money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1000 Rs payable in 4 years time with discount/interest rate 8%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1000 x 0.7350 = 735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Value of Money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Car Example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Buy or lease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b="1"/>
              <a:t>New Wolsey Hornet £8995 or only £500 down and £400 per month for 24 months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Using the idea of discount factors, we can calculate the present value of each of those monthly payments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we add the present value of all those payments to the £500 that we have to pay immediately, we shall obtain the present value of the total of the payments we have to make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this is more than £8,995, we shall be better off buying the car outright immediately.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Value of Money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Car Example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 result of applying this function (NPV) to a sequence of 24 payments of £400 with a discount rate of 0.2466 per cent per month (3% annual) is a net present value of £9,310.30.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this we must add the £500 down payment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This shows that the NPV of the payments on easy terms is £9,810.30.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Clearly we shall be much better off by buying the car outright for £8,995 if we have the money available.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APPLYING DCF TO A SIMPLE INVESTMENT PROJECT</a:t>
            </a: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The essence of investment is that money is spent now so as to produce benefits in the future</a:t>
            </a:r>
            <a:r>
              <a:rPr lang="en-US"/>
              <a:t>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Benefits in monetary terms, get present value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To do this, we calculate the net cash flows that the project will generate over each year of its life and convert these to a present day value.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Then we add these up to get the NPV of the project as a whole.</a:t>
            </a:r>
            <a:endParaRPr/>
          </a:p>
          <a:p>
            <a:pPr marL="74295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APPLYING DCF TO A SIMPLE INVESTMENT PROJECT</a:t>
            </a: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New van cost – 10,000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500 insurance and 150 road tax – annual cost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Maintenance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200 in first two years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300, 400, 500 in year 3, 4 ,5 respectively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Van to be sold at 2000 – end of year 5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Interest rate 10 %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Van hire cost 35 a day – 100 days a year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Inflation 5% </a:t>
            </a:r>
            <a:endParaRPr/>
          </a:p>
          <a:p>
            <a:pPr marL="1143000" lvl="2" indent="-76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APPLYING DCF TO A SIMPLE INVESTMENT PROJECT</a:t>
            </a:r>
            <a:endParaRPr/>
          </a:p>
        </p:txBody>
      </p:sp>
      <p:pic>
        <p:nvPicPr>
          <p:cNvPr id="151" name="Google Shape;15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752600"/>
            <a:ext cx="878047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DCF Analysis of a software project</a:t>
            </a:r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Pay-back period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Time required to get positive cash flow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IRR – internal rate of return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Cost of capital required for NPV to be zero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Proposal to be rejected when;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NPV not positive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Pay-back time is greater than a threshold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IRR is less than current cost of capital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Between 2 projects, with highest NPV is selected, or highest IRR or shortest pay-back time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5267-2AF1-B01B-FDAC-8A8124A0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Net Present Value (NPV)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5E38E-9BA4-C135-5F1C-492421C09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NPV is the value today of all future cash flows (both incoming and outgoing), discounted at a chosen rate (usually the cost of capital). It tells you whether a project adds value.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6353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1C24-64C2-A571-C33A-BAE50AF1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50C11-F9CA-4B21-E84A-80B87C98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11" y="1654175"/>
            <a:ext cx="573151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46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A918-64D1-9434-5C7F-8A17B1A9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56EC-E58B-1083-C9FD-0D68C7FE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PK" dirty="0"/>
          </a:p>
        </p:txBody>
      </p:sp>
      <p:pic>
        <p:nvPicPr>
          <p:cNvPr id="3" name="Picture 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4C7FE9FC-B93E-A038-EC8B-275E5B9DD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734502"/>
            <a:ext cx="5731510" cy="33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38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8B8B-0683-ABC2-250A-6D437055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29C71-EEE1-76F1-7811-DBD0FF4C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13" y="4032567"/>
            <a:ext cx="6465906" cy="2733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63877C-82F5-DDD1-3FD0-51CE1DDA689D}"/>
              </a:ext>
            </a:extLst>
          </p:cNvPr>
          <p:cNvSpPr txBox="1"/>
          <p:nvPr/>
        </p:nvSpPr>
        <p:spPr>
          <a:xfrm>
            <a:off x="1066799" y="1458501"/>
            <a:ext cx="7831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IRR is the discount rate that makes NPV = 0. In other words, it’s the project’s “break-even” return.</a:t>
            </a:r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D8ACF8-0302-B06B-3F08-68B4CA606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93" y="1705085"/>
            <a:ext cx="6767146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416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EDEFD-5A27-4B9D-D058-E6678CDD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A4-07C8-B377-0F46-A280342E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D6FB8-6AA8-51F2-2D52-174A8833C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10" y="1417638"/>
            <a:ext cx="7369179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89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PITFALLS OF DCF</a:t>
            </a:r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Too precise in nature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Rely on assumptions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Uncertainty not handled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DCF analysis incase of a software project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Most software takes more time than anticipated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Most software doesn’t work correctly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Not being able to sell copies as much as anticipated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Risk, that competitor will launch similar project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PITFALLS OF DCF</a:t>
            </a:r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 DCF analysis with different assumptions and changes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results vary with small changes-not good-high risk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the above example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in year 3, sales drop from 40 to 20, cash flow does not become positive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Project high risk, as sale not to predicted accurately for this long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price increased to 6000, NPV rises to 117420 - pay-back period falls to 2 years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This sensitivity of changes in sales and price is characteristics of software project development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889</Words>
  <Application>Microsoft Office PowerPoint</Application>
  <PresentationFormat>On-screen Show (4:3)</PresentationFormat>
  <Paragraphs>97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Investment Appraisal</vt:lpstr>
      <vt:lpstr>Lesson Goals</vt:lpstr>
      <vt:lpstr>Introduction</vt:lpstr>
      <vt:lpstr>Introduction</vt:lpstr>
      <vt:lpstr>The Time Value of Money</vt:lpstr>
      <vt:lpstr>The Time Value of Money</vt:lpstr>
      <vt:lpstr>The Time Value of Money</vt:lpstr>
      <vt:lpstr>The Time Value of Money</vt:lpstr>
      <vt:lpstr>The Time Value of Money</vt:lpstr>
      <vt:lpstr>APPLYING DCF TO A SIMPLE INVESTMENT PROJECT</vt:lpstr>
      <vt:lpstr>APPLYING DCF TO A SIMPLE INVESTMENT PROJECT</vt:lpstr>
      <vt:lpstr>APPLYING DCF TO A SIMPLE INVESTMENT PROJECT</vt:lpstr>
      <vt:lpstr>DCF Analysis of a software project</vt:lpstr>
      <vt:lpstr>Net Present Value (NPV)</vt:lpstr>
      <vt:lpstr>Example 1</vt:lpstr>
      <vt:lpstr>Example 2</vt:lpstr>
      <vt:lpstr>IRR</vt:lpstr>
      <vt:lpstr>IRR</vt:lpstr>
      <vt:lpstr>PITFALLS OF DCF</vt:lpstr>
      <vt:lpstr>PITFALLS OF DCF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Junaid Hocane</cp:lastModifiedBy>
  <cp:revision>2</cp:revision>
  <dcterms:modified xsi:type="dcterms:W3CDTF">2025-09-18T05:23:23Z</dcterms:modified>
</cp:coreProperties>
</file>