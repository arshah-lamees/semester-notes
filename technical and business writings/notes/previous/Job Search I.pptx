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61" r:id="rId3"/>
    <p:sldId id="262" r:id="rId4"/>
    <p:sldId id="277" r:id="rId5"/>
    <p:sldId id="285" r:id="rId6"/>
    <p:sldId id="269" r:id="rId7"/>
    <p:sldId id="268" r:id="rId8"/>
    <p:sldId id="288" r:id="rId9"/>
    <p:sldId id="289" r:id="rId10"/>
    <p:sldId id="272" r:id="rId11"/>
    <p:sldId id="284" r:id="rId12"/>
    <p:sldId id="286" r:id="rId13"/>
    <p:sldId id="266" r:id="rId14"/>
    <p:sldId id="263" r:id="rId15"/>
    <p:sldId id="264" r:id="rId16"/>
    <p:sldId id="267" r:id="rId17"/>
    <p:sldId id="273"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56" d="100"/>
          <a:sy n="56" d="100"/>
        </p:scale>
        <p:origin x="7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E6943-D865-4663-B36F-DDC9E30D225B}" type="datetimeFigureOut">
              <a:rPr lang="en-US" smtClean="0"/>
              <a:t>10/27/2024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68431-D4F2-4A54-820F-9121CA600293}" type="slidenum">
              <a:rPr lang="en-US" smtClean="0"/>
              <a:t>‹#›</a:t>
            </a:fld>
            <a:endParaRPr lang="en-US"/>
          </a:p>
        </p:txBody>
      </p:sp>
    </p:spTree>
    <p:extLst>
      <p:ext uri="{BB962C8B-B14F-4D97-AF65-F5344CB8AC3E}">
        <p14:creationId xmlns:p14="http://schemas.microsoft.com/office/powerpoint/2010/main" val="3180157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job letters and résumés are still sent through internet.</a:t>
            </a:r>
          </a:p>
          <a:p>
            <a:endParaRPr lang="en-US" dirty="0"/>
          </a:p>
          <a:p>
            <a:r>
              <a:rPr lang="en-US" dirty="0"/>
              <a:t>Your job application, no longer than one page, should be specific about the job you seek and your main selling points. </a:t>
            </a:r>
          </a:p>
          <a:p>
            <a:r>
              <a:rPr lang="en-US" dirty="0"/>
              <a:t>Then the résumé—one page or two at most—should simply, specifically, and neatly highlight your background.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280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882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58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r>
              <a:rPr lang="en-US" baseline="0" dirty="0"/>
              <a:t> s</a:t>
            </a:r>
            <a:r>
              <a:rPr lang="en-US" dirty="0"/>
              <a:t>uccessful, job letter or résumé is</a:t>
            </a:r>
            <a:r>
              <a:rPr lang="en-US" baseline="0" dirty="0"/>
              <a:t> the one that </a:t>
            </a:r>
            <a:r>
              <a:rPr lang="en-US" dirty="0"/>
              <a:t>gets you an interview. After that, your interpersonal skills help you land the job.</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962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8A070111-00C8-400B-894D-7EB0A21BF675}" type="datetimeFigureOut">
              <a:rPr lang="en-US" smtClean="0"/>
              <a:pPr/>
              <a:t>10/27/2024</a:t>
            </a:fld>
            <a:endParaRPr lang="en-US" dirty="0"/>
          </a:p>
        </p:txBody>
      </p:sp>
      <p:sp>
        <p:nvSpPr>
          <p:cNvPr id="17" name="Footer Placeholder 16"/>
          <p:cNvSpPr>
            <a:spLocks noGrp="1"/>
          </p:cNvSpPr>
          <p:nvPr>
            <p:ph type="ftr" sz="quarter" idx="11"/>
          </p:nvPr>
        </p:nvSpPr>
        <p:spPr>
          <a:xfrm>
            <a:off x="3864864" y="6355080"/>
            <a:ext cx="4632960" cy="365760"/>
          </a:xfrm>
        </p:spPr>
        <p:txBody>
          <a:bodyPr/>
          <a:lstStyle/>
          <a:p>
            <a:endParaRPr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7BF61C14-8E3E-4C9B-B580-DB118C2C457E}"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2837981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95630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8A070111-00C8-400B-894D-7EB0A21BF675}" type="datetimeFigureOut">
              <a:rPr lang="en-US" smtClean="0"/>
              <a:pPr/>
              <a:t>10/27/2024</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lang="en-US" dirty="0"/>
          </a:p>
        </p:txBody>
      </p:sp>
      <p:sp>
        <p:nvSpPr>
          <p:cNvPr id="6" name="Slide Number Placeholder 5"/>
          <p:cNvSpPr>
            <a:spLocks noGrp="1"/>
          </p:cNvSpPr>
          <p:nvPr>
            <p:ph type="sldNum" sz="quarter" idx="12"/>
          </p:nvPr>
        </p:nvSpPr>
        <p:spPr>
          <a:xfrm>
            <a:off x="1426464" y="6355080"/>
            <a:ext cx="2027936" cy="365760"/>
          </a:xfrm>
        </p:spPr>
        <p:txBody>
          <a:bodyPr/>
          <a:lstStyle/>
          <a:p>
            <a:fld id="{7BF61C14-8E3E-4C9B-B580-DB118C2C457E}" type="slidenum">
              <a:rPr lang="en-US" smtClean="0"/>
              <a:pPr/>
              <a:t>‹#›</a:t>
            </a:fld>
            <a:endParaRPr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30869587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84726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BF61C14-8E3E-4C9B-B580-DB118C2C457E}" type="slidenum">
              <a:rPr lang="en-US" smtClean="0"/>
              <a:pPr/>
              <a:t>‹#›</a:t>
            </a:fld>
            <a:endParaRPr lang="en-US" dirty="0"/>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998464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BF61C14-8E3E-4C9B-B580-DB118C2C457E}" type="slidenum">
              <a:rPr lang="en-US" smtClean="0"/>
              <a:pPr/>
              <a:t>‹#›</a:t>
            </a:fld>
            <a:endParaRPr lang="en-US" dirty="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794195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BF61C14-8E3E-4C9B-B580-DB118C2C457E}" type="slidenum">
              <a:rPr lang="en-US" smtClean="0"/>
              <a:pPr/>
              <a:t>‹#›</a:t>
            </a:fld>
            <a:endParaRPr lang="en-US" dirty="0"/>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170582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77960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145926381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Tree>
    <p:extLst>
      <p:ext uri="{BB962C8B-B14F-4D97-AF65-F5344CB8AC3E}">
        <p14:creationId xmlns:p14="http://schemas.microsoft.com/office/powerpoint/2010/main" val="2256889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A070111-00C8-400B-894D-7EB0A21BF675}" type="datetimeFigureOut">
              <a:rPr lang="en-US" smtClean="0"/>
              <a:pPr/>
              <a:t>10/27/2024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Tree>
    <p:extLst>
      <p:ext uri="{BB962C8B-B14F-4D97-AF65-F5344CB8AC3E}">
        <p14:creationId xmlns:p14="http://schemas.microsoft.com/office/powerpoint/2010/main" val="186450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A070111-00C8-400B-894D-7EB0A21BF675}" type="datetimeFigureOut">
              <a:rPr lang="en-US" smtClean="0"/>
              <a:pPr/>
              <a:t>10/27/2024</a:t>
            </a:fld>
            <a:endParaRPr lang="en-US" dirty="0"/>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fld id="{7BF61C14-8E3E-4C9B-B580-DB118C2C457E}" type="slidenum">
              <a:rPr lang="en-US" smtClean="0"/>
              <a:pPr/>
              <a:t>‹#›</a:t>
            </a:fld>
            <a:endParaRPr lang="en-US" dirty="0"/>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3343947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r>
              <a:rPr lang="en-US" dirty="0"/>
              <a:t>The Job Search</a:t>
            </a:r>
          </a:p>
        </p:txBody>
      </p:sp>
      <p:sp>
        <p:nvSpPr>
          <p:cNvPr id="3" name="Subtitle 2"/>
          <p:cNvSpPr>
            <a:spLocks noGrp="1"/>
          </p:cNvSpPr>
          <p:nvPr>
            <p:ph type="subTitle" idx="1"/>
          </p:nvPr>
        </p:nvSpPr>
        <p:spPr/>
        <p:txBody>
          <a:bodyPr/>
          <a:lstStyle/>
          <a:p>
            <a:r>
              <a:rPr lang="en-US" dirty="0"/>
              <a:t>Chapter: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5709" y="1676401"/>
            <a:ext cx="640080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362200" y="682336"/>
            <a:ext cx="7391400" cy="400110"/>
          </a:xfrm>
          <a:prstGeom prst="rect">
            <a:avLst/>
          </a:prstGeom>
          <a:noFill/>
        </p:spPr>
        <p:txBody>
          <a:bodyPr wrap="square" rtlCol="0">
            <a:spAutoFit/>
          </a:bodyPr>
          <a:lstStyle/>
          <a:p>
            <a:r>
              <a:rPr lang="en-US" sz="2000" b="1" dirty="0">
                <a:solidFill>
                  <a:srgbClr val="9FB8CD">
                    <a:lumMod val="75000"/>
                  </a:srgbClr>
                </a:solidFill>
                <a:latin typeface="Gill Sans MT"/>
              </a:rPr>
              <a:t>The Job Search Cycle</a:t>
            </a:r>
          </a:p>
        </p:txBody>
      </p:sp>
    </p:spTree>
    <p:extLst>
      <p:ext uri="{BB962C8B-B14F-4D97-AF65-F5344CB8AC3E}">
        <p14:creationId xmlns:p14="http://schemas.microsoft.com/office/powerpoint/2010/main" val="1866343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981200" y="1219200"/>
            <a:ext cx="5638800" cy="5257800"/>
          </a:xfrm>
        </p:spPr>
        <p:txBody>
          <a:bodyPr/>
          <a:lstStyle/>
          <a:p>
            <a:pPr>
              <a:buNone/>
            </a:pPr>
            <a:r>
              <a:rPr lang="en-US" b="1" dirty="0">
                <a:solidFill>
                  <a:schemeClr val="accent2">
                    <a:lumMod val="75000"/>
                  </a:schemeClr>
                </a:solidFill>
              </a:rPr>
              <a:t>Responsibilities of a Job Applicant</a:t>
            </a:r>
            <a:endParaRPr lang="en-US" dirty="0"/>
          </a:p>
          <a:p>
            <a:endParaRPr lang="en-US" dirty="0"/>
          </a:p>
          <a:p>
            <a:r>
              <a:rPr lang="en-US" dirty="0"/>
              <a:t>Preparing for the Interview</a:t>
            </a:r>
          </a:p>
          <a:p>
            <a:pPr lvl="1">
              <a:buFont typeface="Arial" pitchFamily="34" charset="0"/>
              <a:buChar char="•"/>
            </a:pPr>
            <a:r>
              <a:rPr lang="en-US" dirty="0"/>
              <a:t>Writing a cover letter</a:t>
            </a:r>
          </a:p>
          <a:p>
            <a:pPr lvl="1">
              <a:buFont typeface="Arial" pitchFamily="34" charset="0"/>
              <a:buChar char="•"/>
            </a:pPr>
            <a:r>
              <a:rPr lang="en-US" dirty="0"/>
              <a:t>Include a resume</a:t>
            </a:r>
          </a:p>
          <a:p>
            <a:endParaRPr lang="en-US" dirty="0"/>
          </a:p>
          <a:p>
            <a:r>
              <a:rPr lang="en-US" dirty="0"/>
              <a:t>The Interview</a:t>
            </a:r>
          </a:p>
          <a:p>
            <a:endParaRPr lang="en-US" dirty="0"/>
          </a:p>
        </p:txBody>
      </p:sp>
      <p:pic>
        <p:nvPicPr>
          <p:cNvPr id="4098" name="Picture 2" descr="E:\job-interview-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2895600"/>
            <a:ext cx="4505325" cy="3294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mn-lt"/>
              </a:rPr>
              <a:t>Job Correspondence</a:t>
            </a:r>
          </a:p>
        </p:txBody>
      </p:sp>
      <p:sp>
        <p:nvSpPr>
          <p:cNvPr id="3" name="Text Placeholder 2"/>
          <p:cNvSpPr>
            <a:spLocks noGrp="1"/>
          </p:cNvSpPr>
          <p:nvPr>
            <p:ph type="body" idx="1"/>
          </p:nvPr>
        </p:nvSpPr>
        <p:spPr/>
        <p:txBody>
          <a:bodyPr>
            <a:normAutofit/>
          </a:bodyPr>
          <a:lstStyle/>
          <a:p>
            <a:r>
              <a:rPr lang="en-US" sz="2400" dirty="0"/>
              <a:t>Resumes and Job Application</a:t>
            </a:r>
          </a:p>
        </p:txBody>
      </p:sp>
    </p:spTree>
    <p:extLst>
      <p:ext uri="{BB962C8B-B14F-4D97-AF65-F5344CB8AC3E}">
        <p14:creationId xmlns:p14="http://schemas.microsoft.com/office/powerpoint/2010/main" val="294946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6E3A4-54D4-2A0C-51BD-9377AAE6FF42}"/>
              </a:ext>
            </a:extLst>
          </p:cNvPr>
          <p:cNvSpPr>
            <a:spLocks noGrp="1"/>
          </p:cNvSpPr>
          <p:nvPr>
            <p:ph type="title"/>
          </p:nvPr>
        </p:nvSpPr>
        <p:spPr/>
        <p:txBody>
          <a:bodyPr/>
          <a:lstStyle/>
          <a:p>
            <a:r>
              <a:rPr lang="en-US" b="1" dirty="0">
                <a:solidFill>
                  <a:srgbClr val="7030A0"/>
                </a:solidFill>
              </a:rPr>
              <a:t>Format of a Cover Letter </a:t>
            </a:r>
          </a:p>
        </p:txBody>
      </p:sp>
      <p:pic>
        <p:nvPicPr>
          <p:cNvPr id="4" name="Picture 3">
            <a:extLst>
              <a:ext uri="{FF2B5EF4-FFF2-40B4-BE49-F238E27FC236}">
                <a16:creationId xmlns:a16="http://schemas.microsoft.com/office/drawing/2014/main" id="{88B4E783-2043-7D3B-5102-CC02E6F9C580}"/>
              </a:ext>
            </a:extLst>
          </p:cNvPr>
          <p:cNvPicPr>
            <a:picLocks noChangeAspect="1"/>
          </p:cNvPicPr>
          <p:nvPr/>
        </p:nvPicPr>
        <p:blipFill>
          <a:blip r:embed="rId2"/>
          <a:stretch>
            <a:fillRect/>
          </a:stretch>
        </p:blipFill>
        <p:spPr>
          <a:xfrm>
            <a:off x="7021901" y="0"/>
            <a:ext cx="3450297" cy="6961841"/>
          </a:xfrm>
          <a:prstGeom prst="rect">
            <a:avLst/>
          </a:prstGeom>
        </p:spPr>
      </p:pic>
      <p:pic>
        <p:nvPicPr>
          <p:cNvPr id="6" name="Picture 5">
            <a:extLst>
              <a:ext uri="{FF2B5EF4-FFF2-40B4-BE49-F238E27FC236}">
                <a16:creationId xmlns:a16="http://schemas.microsoft.com/office/drawing/2014/main" id="{F09D20A4-2471-3FD2-8DD9-49E0BE095583}"/>
              </a:ext>
            </a:extLst>
          </p:cNvPr>
          <p:cNvPicPr>
            <a:picLocks noChangeAspect="1"/>
          </p:cNvPicPr>
          <p:nvPr/>
        </p:nvPicPr>
        <p:blipFill>
          <a:blip r:embed="rId3"/>
          <a:stretch>
            <a:fillRect/>
          </a:stretch>
        </p:blipFill>
        <p:spPr>
          <a:xfrm>
            <a:off x="356828" y="3670540"/>
            <a:ext cx="5686426" cy="2654713"/>
          </a:xfrm>
          <a:prstGeom prst="rect">
            <a:avLst/>
          </a:prstGeom>
        </p:spPr>
      </p:pic>
    </p:spTree>
    <p:extLst>
      <p:ext uri="{BB962C8B-B14F-4D97-AF65-F5344CB8AC3E}">
        <p14:creationId xmlns:p14="http://schemas.microsoft.com/office/powerpoint/2010/main" val="583884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latin typeface="+mn-lt"/>
              </a:rPr>
              <a:t>Writing a Cover Letter</a:t>
            </a:r>
            <a:endParaRPr lang="en-US" dirty="0"/>
          </a:p>
        </p:txBody>
      </p:sp>
      <p:sp>
        <p:nvSpPr>
          <p:cNvPr id="3" name="Content Placeholder 2"/>
          <p:cNvSpPr>
            <a:spLocks noGrp="1"/>
          </p:cNvSpPr>
          <p:nvPr>
            <p:ph sz="quarter" idx="1"/>
          </p:nvPr>
        </p:nvSpPr>
        <p:spPr>
          <a:xfrm>
            <a:off x="293298" y="1143000"/>
            <a:ext cx="11898702" cy="5965166"/>
          </a:xfrm>
        </p:spPr>
        <p:txBody>
          <a:bodyPr>
            <a:normAutofit lnSpcReduction="10000"/>
          </a:bodyPr>
          <a:lstStyle/>
          <a:p>
            <a:pPr marL="0" indent="0">
              <a:buNone/>
            </a:pPr>
            <a:r>
              <a:rPr lang="en-US" sz="2400" dirty="0">
                <a:solidFill>
                  <a:schemeClr val="accent1"/>
                </a:solidFill>
              </a:rPr>
              <a:t>A job letter is just another type of sales letter – except that you are “selling” yourself, not a product or service.</a:t>
            </a:r>
          </a:p>
          <a:p>
            <a:pPr marL="0" indent="0">
              <a:buNone/>
            </a:pPr>
            <a:endParaRPr lang="en-US" sz="2400" dirty="0">
              <a:solidFill>
                <a:schemeClr val="accent1"/>
              </a:solidFill>
            </a:endParaRPr>
          </a:p>
          <a:p>
            <a:pPr marL="0" indent="0">
              <a:buNone/>
            </a:pPr>
            <a:r>
              <a:rPr lang="en-US" sz="2400" dirty="0"/>
              <a:t>A cover letter should include the following elements:</a:t>
            </a:r>
          </a:p>
          <a:p>
            <a:pPr lvl="0"/>
            <a:r>
              <a:rPr lang="en-US" sz="2400" dirty="0"/>
              <a:t>Where and how you found out about the position</a:t>
            </a:r>
          </a:p>
          <a:p>
            <a:pPr lvl="0"/>
            <a:r>
              <a:rPr lang="en-US" sz="2400" dirty="0"/>
              <a:t>Your reason for being interested in this company</a:t>
            </a:r>
          </a:p>
          <a:p>
            <a:pPr lvl="0"/>
            <a:r>
              <a:rPr lang="en-US" sz="2400" dirty="0"/>
              <a:t>Your main skills and accomplishments (summary of  few key points)</a:t>
            </a:r>
          </a:p>
          <a:p>
            <a:pPr lvl="0"/>
            <a:r>
              <a:rPr lang="en-US" sz="2400" dirty="0"/>
              <a:t>How you fit the requirements for the job</a:t>
            </a:r>
          </a:p>
          <a:p>
            <a:pPr lvl="0"/>
            <a:r>
              <a:rPr lang="en-US" sz="2400" dirty="0"/>
              <a:t>Items of special interest about you that would relate to your potential for the job</a:t>
            </a:r>
          </a:p>
          <a:p>
            <a:pPr lvl="0"/>
            <a:r>
              <a:rPr lang="en-US" sz="2400" dirty="0"/>
              <a:t>Request for an interview</a:t>
            </a:r>
          </a:p>
          <a:p>
            <a:pPr marL="0" indent="0">
              <a:buNone/>
            </a:pPr>
            <a:r>
              <a:rPr lang="en-US" sz="2400" dirty="0"/>
              <a:t> </a:t>
            </a:r>
          </a:p>
          <a:p>
            <a:pPr marL="0" indent="0">
              <a:buNone/>
            </a:pPr>
            <a:endParaRPr lang="en-US" sz="2400" dirty="0"/>
          </a:p>
          <a:p>
            <a:pPr marL="0" indent="0">
              <a:buNone/>
            </a:pPr>
            <a:r>
              <a:rPr lang="en-US" sz="2400" dirty="0"/>
              <a:t>The letter should be one page or less. You should always include a resume with the letter.</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08936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52600" y="152400"/>
            <a:ext cx="8534400" cy="6400800"/>
          </a:xfrm>
        </p:spPr>
        <p:txBody>
          <a:bodyPr>
            <a:normAutofit fontScale="92500" lnSpcReduction="10000"/>
          </a:bodyPr>
          <a:lstStyle/>
          <a:p>
            <a:pPr marL="0" indent="0" algn="ctr">
              <a:buNone/>
            </a:pPr>
            <a:r>
              <a:rPr lang="en-US" b="1" dirty="0">
                <a:solidFill>
                  <a:schemeClr val="accent1"/>
                </a:solidFill>
              </a:rPr>
              <a:t>ABC Format: Job Letters</a:t>
            </a:r>
          </a:p>
          <a:p>
            <a:pPr marL="0" indent="0" algn="ctr">
              <a:buNone/>
            </a:pPr>
            <a:r>
              <a:rPr lang="en-US" sz="2000" dirty="0">
                <a:solidFill>
                  <a:schemeClr val="accent1"/>
                </a:solidFill>
              </a:rPr>
              <a:t>Abstract</a:t>
            </a:r>
          </a:p>
          <a:p>
            <a:pPr marL="0" indent="0" algn="ctr">
              <a:buNone/>
            </a:pPr>
            <a:r>
              <a:rPr lang="en-US" sz="2000" dirty="0"/>
              <a:t>Apply for a specific job</a:t>
            </a:r>
          </a:p>
          <a:p>
            <a:r>
              <a:rPr lang="en-US" sz="2000" dirty="0"/>
              <a:t>Refer to ad, mutual friend, or other source of information about the job</a:t>
            </a:r>
          </a:p>
          <a:p>
            <a:r>
              <a:rPr lang="en-US" sz="2000" dirty="0"/>
              <a:t>Briefly state how you can meet the main need of your potential employer (optional)</a:t>
            </a:r>
          </a:p>
          <a:p>
            <a:pPr marL="0" indent="0" algn="ctr">
              <a:buNone/>
            </a:pPr>
            <a:r>
              <a:rPr lang="en-US" sz="2000" b="1" dirty="0">
                <a:solidFill>
                  <a:schemeClr val="accent1"/>
                </a:solidFill>
              </a:rPr>
              <a:t>Body</a:t>
            </a:r>
          </a:p>
          <a:p>
            <a:pPr marL="0" indent="0" algn="ctr">
              <a:buNone/>
            </a:pPr>
            <a:r>
              <a:rPr lang="en-US" sz="2000" dirty="0"/>
              <a:t>Specify your understanding of the reader’s main idea</a:t>
            </a:r>
          </a:p>
          <a:p>
            <a:r>
              <a:rPr lang="en-US" sz="2000" dirty="0"/>
              <a:t>Provide main qualifications that satisfy these needs (only highlight information from resume  do NOT simply repeat all resume information)</a:t>
            </a:r>
          </a:p>
          <a:p>
            <a:r>
              <a:rPr lang="en-US" sz="2000" dirty="0"/>
              <a:t>Avoid mentioning weak points or deficiencies</a:t>
            </a:r>
          </a:p>
          <a:p>
            <a:r>
              <a:rPr lang="en-US" sz="2000" dirty="0"/>
              <a:t>Keep body paragraphs to six or fewer lines</a:t>
            </a:r>
          </a:p>
          <a:p>
            <a:r>
              <a:rPr lang="en-US" sz="2000" dirty="0"/>
              <a:t>Use a bulleted numbered list if it helps draw attention to three or four main points</a:t>
            </a:r>
          </a:p>
          <a:p>
            <a:r>
              <a:rPr lang="en-US" sz="2000" dirty="0"/>
              <a:t>Maintain the “you” attitude throughout</a:t>
            </a:r>
          </a:p>
          <a:p>
            <a:pPr marL="0" indent="0" algn="ctr">
              <a:buNone/>
            </a:pPr>
            <a:r>
              <a:rPr lang="en-US" sz="2000" b="1" dirty="0">
                <a:solidFill>
                  <a:schemeClr val="accent1"/>
                </a:solidFill>
              </a:rPr>
              <a:t>Conclusion</a:t>
            </a:r>
          </a:p>
          <a:p>
            <a:pPr marL="0" indent="0" algn="ctr">
              <a:buNone/>
            </a:pPr>
            <a:r>
              <a:rPr lang="en-US" sz="2000" dirty="0"/>
              <a:t>Tie the letter together with one main theme or selling point</a:t>
            </a:r>
          </a:p>
          <a:p>
            <a:r>
              <a:rPr lang="en-US" sz="2000" dirty="0"/>
              <a:t>Refer to your resume</a:t>
            </a:r>
          </a:p>
          <a:p>
            <a:r>
              <a:rPr lang="en-US" sz="2000" dirty="0"/>
              <a:t>Explain how and when reader can contact you for an interview</a:t>
            </a:r>
          </a:p>
        </p:txBody>
      </p:sp>
    </p:spTree>
    <p:extLst>
      <p:ext uri="{BB962C8B-B14F-4D97-AF65-F5344CB8AC3E}">
        <p14:creationId xmlns:p14="http://schemas.microsoft.com/office/powerpoint/2010/main" val="595517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7F903-0019-9EA6-144F-59E84F4326B1}"/>
              </a:ext>
            </a:extLst>
          </p:cNvPr>
          <p:cNvSpPr>
            <a:spLocks noGrp="1"/>
          </p:cNvSpPr>
          <p:nvPr>
            <p:ph type="title"/>
          </p:nvPr>
        </p:nvSpPr>
        <p:spPr>
          <a:xfrm rot="16200000">
            <a:off x="-5029200" y="314864"/>
            <a:ext cx="10972800" cy="914400"/>
          </a:xfrm>
        </p:spPr>
        <p:txBody>
          <a:bodyPr/>
          <a:lstStyle/>
          <a:p>
            <a:r>
              <a:rPr lang="en-US" b="1" dirty="0">
                <a:solidFill>
                  <a:srgbClr val="7030A0"/>
                </a:solidFill>
              </a:rPr>
              <a:t>Example cover letter</a:t>
            </a:r>
          </a:p>
        </p:txBody>
      </p:sp>
      <p:pic>
        <p:nvPicPr>
          <p:cNvPr id="6" name="Picture 5">
            <a:extLst>
              <a:ext uri="{FF2B5EF4-FFF2-40B4-BE49-F238E27FC236}">
                <a16:creationId xmlns:a16="http://schemas.microsoft.com/office/drawing/2014/main" id="{D93296B9-E562-25E9-90F4-4B8B3BDA000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218964" y="0"/>
            <a:ext cx="9133397" cy="6967619"/>
          </a:xfrm>
          <a:prstGeom prst="rect">
            <a:avLst/>
          </a:prstGeom>
        </p:spPr>
      </p:pic>
    </p:spTree>
    <p:extLst>
      <p:ext uri="{BB962C8B-B14F-4D97-AF65-F5344CB8AC3E}">
        <p14:creationId xmlns:p14="http://schemas.microsoft.com/office/powerpoint/2010/main" val="220172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6C9B1-B94C-90DD-8489-22C11611241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54BC16C-E07B-309D-14B5-2C93D78AF11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315348" y="0"/>
            <a:ext cx="9001844" cy="6871155"/>
          </a:xfrm>
          <a:prstGeom prst="rect">
            <a:avLst/>
          </a:prstGeom>
        </p:spPr>
      </p:pic>
    </p:spTree>
    <p:extLst>
      <p:ext uri="{BB962C8B-B14F-4D97-AF65-F5344CB8AC3E}">
        <p14:creationId xmlns:p14="http://schemas.microsoft.com/office/powerpoint/2010/main" val="2368064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990600"/>
          </a:xfrm>
        </p:spPr>
        <p:txBody>
          <a:bodyPr>
            <a:normAutofit/>
          </a:bodyPr>
          <a:lstStyle/>
          <a:p>
            <a:r>
              <a:rPr lang="en-US" b="1" dirty="0">
                <a:solidFill>
                  <a:srgbClr val="7030A0"/>
                </a:solidFill>
                <a:latin typeface="+mn-lt"/>
              </a:rPr>
              <a:t>Cover Letter Do’s and Don’ts</a:t>
            </a:r>
            <a:endParaRPr lang="en-US" b="1" dirty="0">
              <a:solidFill>
                <a:srgbClr val="7030A0"/>
              </a:solidFill>
            </a:endParaRPr>
          </a:p>
        </p:txBody>
      </p:sp>
      <p:sp>
        <p:nvSpPr>
          <p:cNvPr id="3" name="Content Placeholder 2"/>
          <p:cNvSpPr>
            <a:spLocks noGrp="1"/>
          </p:cNvSpPr>
          <p:nvPr>
            <p:ph sz="quarter" idx="1"/>
          </p:nvPr>
        </p:nvSpPr>
        <p:spPr>
          <a:xfrm>
            <a:off x="0" y="1095555"/>
            <a:ext cx="10972799" cy="5285117"/>
          </a:xfrm>
        </p:spPr>
        <p:txBody>
          <a:bodyPr>
            <a:normAutofit/>
          </a:bodyPr>
          <a:lstStyle/>
          <a:p>
            <a:pPr marL="0" indent="0">
              <a:buNone/>
            </a:pPr>
            <a:r>
              <a:rPr lang="en-US" dirty="0"/>
              <a:t>Your cover letter—along with your c.v. and your letters of recommendation—will determine whether a search committee will pursue your candidacy. As many as half the applicants for a particular job are rejected after the search committee looks at the cover letter. The committee members may conclude that the candidate is not qualified for the job or that the applicant’s work is not engaging. In other words, it is crucial that your letter grab the committee’s interest.</a:t>
            </a:r>
          </a:p>
          <a:p>
            <a:pPr marL="0" indent="0">
              <a:buNone/>
            </a:pPr>
            <a:r>
              <a:rPr lang="en-US" dirty="0"/>
              <a:t>Avoid common cover letter blunders:</a:t>
            </a:r>
          </a:p>
          <a:p>
            <a:r>
              <a:rPr lang="en-US" dirty="0"/>
              <a:t>DO address the letter to a specific individual.</a:t>
            </a:r>
          </a:p>
          <a:p>
            <a:r>
              <a:rPr lang="en-US" dirty="0"/>
              <a:t>DO be concise. This is not the place for an overly lengthy discussion of your dissertation.</a:t>
            </a:r>
          </a:p>
          <a:p>
            <a:r>
              <a:rPr lang="en-US" dirty="0"/>
              <a:t>DON’T be too lengthy. Generally one or two pages is sufficient.</a:t>
            </a:r>
          </a:p>
          <a:p>
            <a:r>
              <a:rPr lang="en-US" dirty="0"/>
              <a:t>DON’T use hyperbole. Be professional in tone.</a:t>
            </a:r>
          </a:p>
        </p:txBody>
      </p:sp>
      <p:pic>
        <p:nvPicPr>
          <p:cNvPr id="5" name="Picture 4">
            <a:extLst>
              <a:ext uri="{FF2B5EF4-FFF2-40B4-BE49-F238E27FC236}">
                <a16:creationId xmlns:a16="http://schemas.microsoft.com/office/drawing/2014/main" id="{7C6F7E94-0888-A4DE-94ED-089D043BD516}"/>
              </a:ext>
            </a:extLst>
          </p:cNvPr>
          <p:cNvPicPr>
            <a:picLocks noChangeAspect="1"/>
          </p:cNvPicPr>
          <p:nvPr/>
        </p:nvPicPr>
        <p:blipFill>
          <a:blip r:embed="rId2"/>
          <a:stretch>
            <a:fillRect/>
          </a:stretch>
        </p:blipFill>
        <p:spPr>
          <a:xfrm>
            <a:off x="10335523" y="5016669"/>
            <a:ext cx="1884153" cy="1841331"/>
          </a:xfrm>
          <a:prstGeom prst="rect">
            <a:avLst/>
          </a:prstGeom>
        </p:spPr>
      </p:pic>
    </p:spTree>
    <p:extLst>
      <p:ext uri="{BB962C8B-B14F-4D97-AF65-F5344CB8AC3E}">
        <p14:creationId xmlns:p14="http://schemas.microsoft.com/office/powerpoint/2010/main" val="89351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DB2B9-300E-10A3-DF04-E36AB892C918}"/>
              </a:ext>
            </a:extLst>
          </p:cNvPr>
          <p:cNvSpPr>
            <a:spLocks noGrp="1"/>
          </p:cNvSpPr>
          <p:nvPr>
            <p:ph type="title"/>
          </p:nvPr>
        </p:nvSpPr>
        <p:spPr/>
        <p:txBody>
          <a:bodyPr/>
          <a:lstStyle/>
          <a:p>
            <a:r>
              <a:rPr lang="en-US" b="1" dirty="0">
                <a:solidFill>
                  <a:srgbClr val="7030A0"/>
                </a:solidFill>
              </a:rPr>
              <a:t>Don’t:</a:t>
            </a:r>
          </a:p>
        </p:txBody>
      </p:sp>
      <p:sp>
        <p:nvSpPr>
          <p:cNvPr id="3" name="Content Placeholder 2">
            <a:extLst>
              <a:ext uri="{FF2B5EF4-FFF2-40B4-BE49-F238E27FC236}">
                <a16:creationId xmlns:a16="http://schemas.microsoft.com/office/drawing/2014/main" id="{7BD0D7ED-D8C4-FD57-1BF4-2CDF0CCE7FC6}"/>
              </a:ext>
            </a:extLst>
          </p:cNvPr>
          <p:cNvSpPr>
            <a:spLocks noGrp="1"/>
          </p:cNvSpPr>
          <p:nvPr>
            <p:ph sz="quarter" idx="1"/>
          </p:nvPr>
        </p:nvSpPr>
        <p:spPr>
          <a:xfrm>
            <a:off x="147637" y="1315797"/>
            <a:ext cx="11894837" cy="5198853"/>
          </a:xfrm>
        </p:spPr>
        <p:txBody>
          <a:bodyPr>
            <a:normAutofit lnSpcReduction="10000"/>
          </a:bodyPr>
          <a:lstStyle/>
          <a:p>
            <a:r>
              <a:rPr lang="en-US" dirty="0"/>
              <a:t>Try to </a:t>
            </a:r>
            <a:r>
              <a:rPr lang="en-US" dirty="0" err="1"/>
              <a:t>summarise</a:t>
            </a:r>
            <a:r>
              <a:rPr lang="en-US" dirty="0"/>
              <a:t> your CV or give too much detail – you need to be selective about the points that you highlight</a:t>
            </a:r>
          </a:p>
          <a:p>
            <a:r>
              <a:rPr lang="en-US" dirty="0"/>
              <a:t>Make unsubstantiated statements about relevant skills and experience without giving examples</a:t>
            </a:r>
          </a:p>
          <a:p>
            <a:r>
              <a:rPr lang="en-US" dirty="0"/>
              <a:t>Send the same or a similar letter to more than one employer. Never ‘cut and paste’ as employers will suspect a lack of research and career focus</a:t>
            </a:r>
          </a:p>
          <a:p>
            <a:r>
              <a:rPr lang="en-US" dirty="0"/>
              <a:t>Make </a:t>
            </a:r>
            <a:r>
              <a:rPr lang="en-US" dirty="0" err="1"/>
              <a:t>generalised</a:t>
            </a:r>
            <a:r>
              <a:rPr lang="en-US" dirty="0"/>
              <a:t> statements about why you want to work for the institution (e.g. referring to ‘a top 50 global institution’ or ‘a department with a high reputation’)</a:t>
            </a:r>
          </a:p>
          <a:p>
            <a:r>
              <a:rPr lang="en-US" dirty="0"/>
              <a:t>Use jargon specific to your employer or profession which the employer might not understand</a:t>
            </a:r>
          </a:p>
          <a:p>
            <a:r>
              <a:rPr lang="en-US" dirty="0"/>
              <a:t>Focus on what the employer can do for you – it’s </a:t>
            </a:r>
            <a:r>
              <a:rPr lang="en-US" dirty="0" err="1"/>
              <a:t>moreabout</a:t>
            </a:r>
            <a:r>
              <a:rPr lang="en-US" dirty="0"/>
              <a:t> what you can do for the employer.</a:t>
            </a:r>
          </a:p>
        </p:txBody>
      </p:sp>
      <p:pic>
        <p:nvPicPr>
          <p:cNvPr id="5" name="Picture 4">
            <a:extLst>
              <a:ext uri="{FF2B5EF4-FFF2-40B4-BE49-F238E27FC236}">
                <a16:creationId xmlns:a16="http://schemas.microsoft.com/office/drawing/2014/main" id="{F025530E-6C3B-53B9-B2E3-81A097384EF3}"/>
              </a:ext>
            </a:extLst>
          </p:cNvPr>
          <p:cNvPicPr>
            <a:picLocks noChangeAspect="1"/>
          </p:cNvPicPr>
          <p:nvPr/>
        </p:nvPicPr>
        <p:blipFill>
          <a:blip r:embed="rId2"/>
          <a:stretch>
            <a:fillRect/>
          </a:stretch>
        </p:blipFill>
        <p:spPr>
          <a:xfrm>
            <a:off x="10963275" y="-33338"/>
            <a:ext cx="1228725" cy="1362075"/>
          </a:xfrm>
          <a:prstGeom prst="rect">
            <a:avLst/>
          </a:prstGeom>
        </p:spPr>
      </p:pic>
    </p:spTree>
    <p:extLst>
      <p:ext uri="{BB962C8B-B14F-4D97-AF65-F5344CB8AC3E}">
        <p14:creationId xmlns:p14="http://schemas.microsoft.com/office/powerpoint/2010/main" val="356525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B3E3-E562-C5C8-F461-5883172EC315}"/>
              </a:ext>
            </a:extLst>
          </p:cNvPr>
          <p:cNvSpPr>
            <a:spLocks noGrp="1"/>
          </p:cNvSpPr>
          <p:nvPr>
            <p:ph type="title"/>
          </p:nvPr>
        </p:nvSpPr>
        <p:spPr>
          <a:xfrm rot="16200000">
            <a:off x="-5029200" y="280358"/>
            <a:ext cx="10972800" cy="914400"/>
          </a:xfrm>
        </p:spPr>
        <p:txBody>
          <a:bodyPr/>
          <a:lstStyle/>
          <a:p>
            <a:r>
              <a:rPr lang="en-US" b="1" dirty="0">
                <a:solidFill>
                  <a:srgbClr val="7030A0"/>
                </a:solidFill>
              </a:rPr>
              <a:t>Cover Letter Rubric</a:t>
            </a:r>
          </a:p>
        </p:txBody>
      </p:sp>
      <p:pic>
        <p:nvPicPr>
          <p:cNvPr id="4" name="Picture 3">
            <a:extLst>
              <a:ext uri="{FF2B5EF4-FFF2-40B4-BE49-F238E27FC236}">
                <a16:creationId xmlns:a16="http://schemas.microsoft.com/office/drawing/2014/main" id="{C86A1714-4985-E98C-AD77-2EB197054392}"/>
              </a:ext>
            </a:extLst>
          </p:cNvPr>
          <p:cNvPicPr>
            <a:picLocks noChangeAspect="1"/>
          </p:cNvPicPr>
          <p:nvPr/>
        </p:nvPicPr>
        <p:blipFill>
          <a:blip r:embed="rId2"/>
          <a:stretch>
            <a:fillRect/>
          </a:stretch>
        </p:blipFill>
        <p:spPr>
          <a:xfrm>
            <a:off x="2627462" y="0"/>
            <a:ext cx="7517202" cy="6943649"/>
          </a:xfrm>
          <a:prstGeom prst="rect">
            <a:avLst/>
          </a:prstGeom>
        </p:spPr>
      </p:pic>
    </p:spTree>
    <p:extLst>
      <p:ext uri="{BB962C8B-B14F-4D97-AF65-F5344CB8AC3E}">
        <p14:creationId xmlns:p14="http://schemas.microsoft.com/office/powerpoint/2010/main" val="4236709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922"/>
            <a:ext cx="8229600" cy="990600"/>
          </a:xfrm>
        </p:spPr>
        <p:txBody>
          <a:bodyPr>
            <a:normAutofit fontScale="90000"/>
          </a:bodyPr>
          <a:lstStyle/>
          <a:p>
            <a:r>
              <a:rPr lang="en-US" b="1" dirty="0">
                <a:solidFill>
                  <a:schemeClr val="accent1"/>
                </a:solidFill>
                <a:latin typeface="+mn-lt"/>
              </a:rPr>
              <a:t>Include a Resume</a:t>
            </a:r>
            <a:br>
              <a:rPr lang="en-US" dirty="0"/>
            </a:br>
            <a:endParaRPr lang="en-US" dirty="0"/>
          </a:p>
        </p:txBody>
      </p:sp>
      <p:sp>
        <p:nvSpPr>
          <p:cNvPr id="3" name="Content Placeholder 2"/>
          <p:cNvSpPr>
            <a:spLocks noGrp="1"/>
          </p:cNvSpPr>
          <p:nvPr>
            <p:ph sz="quarter" idx="1"/>
          </p:nvPr>
        </p:nvSpPr>
        <p:spPr>
          <a:xfrm>
            <a:off x="1676400" y="609600"/>
            <a:ext cx="8839200" cy="6400800"/>
          </a:xfrm>
        </p:spPr>
        <p:txBody>
          <a:bodyPr>
            <a:normAutofit fontScale="62500" lnSpcReduction="20000"/>
          </a:bodyPr>
          <a:lstStyle/>
          <a:p>
            <a:pPr marL="0" indent="0">
              <a:buNone/>
            </a:pPr>
            <a:r>
              <a:rPr lang="en-US" sz="3200" dirty="0"/>
              <a:t>The resume, a summary of your skills and accomplishments, is your “</a:t>
            </a:r>
            <a:r>
              <a:rPr lang="en-US" sz="3200" b="1" dirty="0">
                <a:solidFill>
                  <a:schemeClr val="accent1"/>
                </a:solidFill>
              </a:rPr>
              <a:t>silent sales representative</a:t>
            </a:r>
            <a:r>
              <a:rPr lang="en-US" sz="3200" dirty="0"/>
              <a:t>”</a:t>
            </a:r>
          </a:p>
          <a:p>
            <a:pPr marL="0" indent="0">
              <a:buNone/>
            </a:pPr>
            <a:r>
              <a:rPr lang="en-US" sz="3200" dirty="0"/>
              <a:t>In writing a resume, include the following information:</a:t>
            </a:r>
          </a:p>
          <a:p>
            <a:pPr marL="0" indent="0">
              <a:buNone/>
            </a:pPr>
            <a:endParaRPr lang="en-US" sz="3200" dirty="0"/>
          </a:p>
          <a:p>
            <a:r>
              <a:rPr lang="en-US" sz="3200" dirty="0">
                <a:solidFill>
                  <a:schemeClr val="accent1"/>
                </a:solidFill>
              </a:rPr>
              <a:t>Contact information: </a:t>
            </a:r>
            <a:r>
              <a:rPr lang="en-US" sz="3200" dirty="0"/>
              <a:t>Your name,  address and telephone numbers at which you can be reached, your email address</a:t>
            </a:r>
          </a:p>
          <a:p>
            <a:r>
              <a:rPr lang="en-US" sz="3200" dirty="0">
                <a:solidFill>
                  <a:schemeClr val="accent1"/>
                </a:solidFill>
              </a:rPr>
              <a:t>Job Objective:  </a:t>
            </a:r>
            <a:r>
              <a:rPr lang="en-US" sz="3200" dirty="0"/>
              <a:t>A precise, clear sentence about your specific area of expertise</a:t>
            </a:r>
          </a:p>
          <a:p>
            <a:r>
              <a:rPr lang="en-US" sz="3200" dirty="0"/>
              <a:t>Example: To use my intellectual abilities, quantitative knowledge, communication skills, and proven leadership </a:t>
            </a:r>
            <a:r>
              <a:rPr lang="en-US" sz="3200" dirty="0" err="1"/>
              <a:t>ablility</a:t>
            </a:r>
            <a:r>
              <a:rPr lang="en-US" sz="3200" dirty="0"/>
              <a:t> creatively to further the organizational mission of a high integrity marketing research organization.</a:t>
            </a:r>
          </a:p>
          <a:p>
            <a:r>
              <a:rPr lang="en-US" sz="3200" dirty="0">
                <a:solidFill>
                  <a:schemeClr val="accent1"/>
                </a:solidFill>
              </a:rPr>
              <a:t>Employment History: </a:t>
            </a:r>
            <a:r>
              <a:rPr lang="en-US" sz="3200" dirty="0"/>
              <a:t>paid and nonpaid experiences, beginning with the most recent.be sure to give employment dates, and briefly list important duties and accomplishments.</a:t>
            </a:r>
          </a:p>
          <a:p>
            <a:r>
              <a:rPr lang="en-US" sz="3200" dirty="0">
                <a:solidFill>
                  <a:schemeClr val="accent1"/>
                </a:solidFill>
              </a:rPr>
              <a:t>Education: </a:t>
            </a:r>
            <a:r>
              <a:rPr lang="en-US" sz="3200" dirty="0"/>
              <a:t>Schools attended, degree completed</a:t>
            </a:r>
          </a:p>
          <a:p>
            <a:r>
              <a:rPr lang="en-US" sz="3200" dirty="0">
                <a:solidFill>
                  <a:schemeClr val="accent1"/>
                </a:solidFill>
              </a:rPr>
              <a:t>Relevant professional certifications and affiliations: </a:t>
            </a:r>
            <a:r>
              <a:rPr lang="en-US" sz="3200" dirty="0"/>
              <a:t>Memberships, offices held</a:t>
            </a:r>
          </a:p>
          <a:p>
            <a:r>
              <a:rPr lang="en-US" sz="3200" dirty="0">
                <a:solidFill>
                  <a:schemeClr val="accent1"/>
                </a:solidFill>
              </a:rPr>
              <a:t>Special skills</a:t>
            </a:r>
            <a:r>
              <a:rPr lang="en-US" sz="3200" dirty="0"/>
              <a:t>: Fluency in foreign languages, computer expertise</a:t>
            </a:r>
          </a:p>
          <a:p>
            <a:r>
              <a:rPr lang="en-US" sz="3200" dirty="0">
                <a:solidFill>
                  <a:schemeClr val="accent1"/>
                </a:solidFill>
              </a:rPr>
              <a:t>Interests and activities</a:t>
            </a:r>
            <a:r>
              <a:rPr lang="en-US" sz="3200" dirty="0"/>
              <a:t>: only those that are related to your objectives</a:t>
            </a:r>
          </a:p>
          <a:p>
            <a:r>
              <a:rPr lang="en-US" sz="3200" dirty="0">
                <a:solidFill>
                  <a:schemeClr val="accent1"/>
                </a:solidFill>
              </a:rPr>
              <a:t>References:</a:t>
            </a:r>
            <a:r>
              <a:rPr lang="en-US" sz="3200" dirty="0"/>
              <a:t> People who know your work, your capabilities, and your character who will vouch for you. Include only a statement that references are available on request.</a:t>
            </a:r>
          </a:p>
          <a:p>
            <a:pPr marL="0" indent="0">
              <a:buNone/>
            </a:pPr>
            <a:r>
              <a:rPr lang="en-US"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743201" y="-381000"/>
            <a:ext cx="6053137" cy="782988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599" y="1219199"/>
            <a:ext cx="11415623" cy="5319623"/>
          </a:xfrm>
        </p:spPr>
        <p:txBody>
          <a:bodyPr/>
          <a:lstStyle/>
          <a:p>
            <a:pPr marL="0" indent="0">
              <a:buNone/>
            </a:pPr>
            <a:endParaRPr lang="en-US" dirty="0"/>
          </a:p>
          <a:p>
            <a:r>
              <a:rPr lang="en-US" sz="2000" dirty="0"/>
              <a:t>Looking  at the resume for ten seconds. What do you remember? In other words, what stands out?</a:t>
            </a:r>
          </a:p>
          <a:p>
            <a:r>
              <a:rPr lang="en-US" sz="2000" dirty="0"/>
              <a:t>Does the resume look balanced and attractive? Explain.</a:t>
            </a:r>
          </a:p>
          <a:p>
            <a:r>
              <a:rPr lang="en-US" sz="2000" dirty="0"/>
              <a:t>What information is included in each major section?</a:t>
            </a:r>
          </a:p>
          <a:p>
            <a:r>
              <a:rPr lang="en-US" sz="2000" dirty="0"/>
              <a:t>How does Matt’s work experience relate to his job objective?</a:t>
            </a:r>
          </a:p>
          <a:p>
            <a:r>
              <a:rPr lang="en-US" sz="2000" dirty="0"/>
              <a:t>What impression does his earning some of his college expenses make?</a:t>
            </a:r>
          </a:p>
          <a:p>
            <a:r>
              <a:rPr lang="en-US" sz="2000" dirty="0"/>
              <a:t>What kind of impression does his volunteer work make?</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847082" y="152400"/>
            <a:ext cx="7982718" cy="658469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mn-lt"/>
              </a:rPr>
              <a:t>TASK 1: Who I am and How I know This</a:t>
            </a:r>
            <a:br>
              <a:rPr lang="en-US" dirty="0"/>
            </a:br>
            <a:endParaRPr lang="en-US" dirty="0"/>
          </a:p>
        </p:txBody>
      </p:sp>
      <p:sp>
        <p:nvSpPr>
          <p:cNvPr id="3" name="Content Placeholder 2"/>
          <p:cNvSpPr>
            <a:spLocks noGrp="1"/>
          </p:cNvSpPr>
          <p:nvPr>
            <p:ph sz="quarter" idx="1"/>
          </p:nvPr>
        </p:nvSpPr>
        <p:spPr>
          <a:xfrm>
            <a:off x="609600" y="1295399"/>
            <a:ext cx="10972800" cy="5173639"/>
          </a:xfrm>
        </p:spPr>
        <p:txBody>
          <a:bodyPr>
            <a:normAutofit fontScale="85000" lnSpcReduction="20000"/>
          </a:bodyPr>
          <a:lstStyle/>
          <a:p>
            <a:pPr marL="0" indent="0">
              <a:buNone/>
            </a:pPr>
            <a:r>
              <a:rPr lang="en-US" dirty="0"/>
              <a:t>1. First ask yourself, </a:t>
            </a:r>
            <a:r>
              <a:rPr lang="en-US" i="1" dirty="0"/>
              <a:t>How do I see myself</a:t>
            </a:r>
            <a:r>
              <a:rPr lang="en-US" dirty="0"/>
              <a:t>? List the skills, abilities, knowledge, competencies, and personality characteristics that describe how you see yourself. To generate this list, try completing the sentences: “I am skilled at . . . ,” “I have the ability to . . . ,” “I know things about . . . ,” “I am competent at doing . . . ,” and “One part of my personality is that I am . . . .” List as many characteristics in each category as you can think of. What you have developed is an inventory of your self-concept. Second ask, </a:t>
            </a:r>
            <a:r>
              <a:rPr lang="en-US" i="1" dirty="0"/>
              <a:t>How do others see me</a:t>
            </a:r>
            <a:r>
              <a:rPr lang="en-US" dirty="0"/>
              <a:t>? List the skills, abilities, and so on that describe how you think others see you by completing the sentences: “Other people believe I am skilled at . . . ,” “Other people believe I have the ability to . . . ,” “Other people believe I know things about . . . ,” “Other people believe I am competent at doing . . . ,” and “One part of my personality is that other people believe I am . . . .” Compare your two lists. How are they similar? Where are they different? </a:t>
            </a:r>
          </a:p>
          <a:p>
            <a:pPr marL="0" indent="0">
              <a:buNone/>
            </a:pPr>
            <a:r>
              <a:rPr lang="en-US" dirty="0"/>
              <a:t> </a:t>
            </a:r>
          </a:p>
          <a:p>
            <a:pPr marL="0" indent="0">
              <a:buNone/>
            </a:pPr>
            <a:r>
              <a:rPr lang="en-US" dirty="0"/>
              <a:t>2. Under the following headings, fill in information about yourself:</a:t>
            </a:r>
          </a:p>
          <a:p>
            <a:pPr lvl="1"/>
            <a:r>
              <a:rPr lang="en-US" b="1" dirty="0"/>
              <a:t>Qualification</a:t>
            </a:r>
            <a:r>
              <a:rPr lang="en-US" dirty="0"/>
              <a:t>: Degree, Institute, name</a:t>
            </a:r>
          </a:p>
          <a:p>
            <a:pPr lvl="1"/>
            <a:r>
              <a:rPr lang="en-US" b="1" dirty="0"/>
              <a:t>Work Experience</a:t>
            </a:r>
            <a:r>
              <a:rPr lang="en-US" dirty="0"/>
              <a:t>: nature of work, name of company, date (year</a:t>
            </a:r>
          </a:p>
          <a:p>
            <a:pPr lvl="1"/>
            <a:r>
              <a:rPr lang="en-US" b="1" dirty="0"/>
              <a:t>Professional skills</a:t>
            </a:r>
          </a:p>
          <a:p>
            <a:pPr marL="0" indent="0">
              <a:buNone/>
            </a:pPr>
            <a:endParaRPr lang="en-US" dirty="0"/>
          </a:p>
        </p:txBody>
      </p:sp>
    </p:spTree>
    <p:extLst>
      <p:ext uri="{BB962C8B-B14F-4D97-AF65-F5344CB8AC3E}">
        <p14:creationId xmlns:p14="http://schemas.microsoft.com/office/powerpoint/2010/main" val="209149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mn-lt"/>
              </a:rPr>
              <a:t>TASK 2:</a:t>
            </a:r>
          </a:p>
        </p:txBody>
      </p:sp>
      <p:sp>
        <p:nvSpPr>
          <p:cNvPr id="3" name="Content Placeholder 2"/>
          <p:cNvSpPr>
            <a:spLocks noGrp="1"/>
          </p:cNvSpPr>
          <p:nvPr>
            <p:ph sz="quarter" idx="1"/>
          </p:nvPr>
        </p:nvSpPr>
        <p:spPr>
          <a:xfrm>
            <a:off x="1981200" y="1219200"/>
            <a:ext cx="9769522" cy="5410200"/>
          </a:xfrm>
        </p:spPr>
        <p:txBody>
          <a:bodyPr/>
          <a:lstStyle/>
          <a:p>
            <a:pPr marL="514350" indent="-514350">
              <a:buFont typeface="+mj-lt"/>
              <a:buAutoNum type="arabicPeriod"/>
            </a:pPr>
            <a:r>
              <a:rPr lang="en-US" dirty="0"/>
              <a:t>Prepare your résumé. If you already have a résumé, revise it to follow this chapter’s guidelines.</a:t>
            </a:r>
          </a:p>
        </p:txBody>
      </p:sp>
    </p:spTree>
    <p:extLst>
      <p:ext uri="{BB962C8B-B14F-4D97-AF65-F5344CB8AC3E}">
        <p14:creationId xmlns:p14="http://schemas.microsoft.com/office/powerpoint/2010/main" val="2570056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1244</Words>
  <Application>Microsoft Office PowerPoint</Application>
  <PresentationFormat>Widescreen</PresentationFormat>
  <Paragraphs>98</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Gill Sans MT</vt:lpstr>
      <vt:lpstr>Wingdings</vt:lpstr>
      <vt:lpstr>Wingdings 3</vt:lpstr>
      <vt:lpstr>Origin</vt:lpstr>
      <vt:lpstr> The Job Search</vt:lpstr>
      <vt:lpstr>PowerPoint Presentation</vt:lpstr>
      <vt:lpstr>PowerPoint Presentation</vt:lpstr>
      <vt:lpstr>Job Correspondence</vt:lpstr>
      <vt:lpstr>Format of a Cover Letter </vt:lpstr>
      <vt:lpstr>Writing a Cover Letter</vt:lpstr>
      <vt:lpstr>PowerPoint Presentation</vt:lpstr>
      <vt:lpstr>Example cover letter</vt:lpstr>
      <vt:lpstr>PowerPoint Presentation</vt:lpstr>
      <vt:lpstr>Cover Letter Do’s and Don’ts</vt:lpstr>
      <vt:lpstr>Don’t:</vt:lpstr>
      <vt:lpstr>Cover Letter Rubric</vt:lpstr>
      <vt:lpstr>Include a Resume </vt:lpstr>
      <vt:lpstr>PowerPoint Presentation</vt:lpstr>
      <vt:lpstr>PowerPoint Presentation</vt:lpstr>
      <vt:lpstr>PowerPoint Presentation</vt:lpstr>
      <vt:lpstr>TASK 1: Who I am and How I know This </vt:lpstr>
      <vt:lpstr>TASK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Job Search</dc:title>
  <dc:creator>H.I. Butt</dc:creator>
  <cp:lastModifiedBy>H.I. Butt</cp:lastModifiedBy>
  <cp:revision>9</cp:revision>
  <dcterms:created xsi:type="dcterms:W3CDTF">2021-12-04T13:50:23Z</dcterms:created>
  <dcterms:modified xsi:type="dcterms:W3CDTF">2024-10-27T14:17:47Z</dcterms:modified>
</cp:coreProperties>
</file>