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embeddedFontLst>
    <p:embeddedFont>
      <p:font typeface="Lato" panose="020F0502020204030203" pitchFamily="34" charset="0"/>
      <p:regular r:id="rId44"/>
      <p:bold r:id="rId45"/>
      <p:italic r:id="rId46"/>
      <p:boldItalic r:id="rId47"/>
    </p:embeddedFont>
    <p:embeddedFont>
      <p:font typeface="Raleway" pitchFamily="2" charset="0"/>
      <p:regular r:id="rId48"/>
      <p:bold r:id="rId49"/>
      <p:italic r:id="rId50"/>
      <p:boldItalic r:id="rId51"/>
    </p:embeddedFont>
    <p:embeddedFont>
      <p:font typeface="Roboto" panose="02000000000000000000"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7951e7ebb5_0_2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7951e7ebb5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7951e7ebb5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7951e7ebb5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7951e7ebb5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7951e7ebb5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7951e7ebb5_0_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7951e7ebb5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7951e7ebb5_0_2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7951e7ebb5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7951e7ebb5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7951e7ebb5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7951e7ebb5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7951e7ebb5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7951e7ebb5_0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7951e7ebb5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7951e7ebb5_0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7951e7ebb5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7951e7ebb5_0_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7951e7ebb5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7951e7ebb5_0_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7951e7ebb5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7951e7ebb5_0_2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7951e7ebb5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7951e7ebb5_0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7951e7ebb5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7951e7ebb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7951e7eb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7951e7ebb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7951e7ebb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7951e7ebb5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7951e7ebb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7951e7ebb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7951e7ebb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7951e7ebb5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7951e7ebb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7951e7ebb5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7951e7ebb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7951e7ebb5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7951e7ebb5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7951e7ebb5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7951e7ebb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7951e7ebb5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7951e7ebb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7951e7ebb5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7951e7ebb5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7951e7ebb5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7951e7ebb5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7951e7ebb5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7951e7ebb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7951e7ebb5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7951e7ebb5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7951e7ebb5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7951e7ebb5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7951e7ebb5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7951e7ebb5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7951e7ebb5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7951e7ebb5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7d490da88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7d490da88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7d490da88a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7d490da88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7d490da88a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7d490da88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7d490da88a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7d490da88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7d490da88a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7d490da88a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7d490da88a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7d490da88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7d490da88a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7d490da88a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7d490da88a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7d490da88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7d490da88a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27d490da88a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7d490da88a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7d490da88a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7d490da88a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7d490da88a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docs.openzeppelin.com/contracts/4.x/wizard"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Token Standard Development</a:t>
            </a:r>
            <a:endParaRPr/>
          </a:p>
        </p:txBody>
      </p:sp>
      <p:sp>
        <p:nvSpPr>
          <p:cNvPr id="87" name="Google Shape;87;p13"/>
          <p:cNvSpPr txBox="1">
            <a:spLocks noGrp="1"/>
          </p:cNvSpPr>
          <p:nvPr>
            <p:ph type="subTitle" idx="1"/>
          </p:nvPr>
        </p:nvSpPr>
        <p:spPr>
          <a:xfrm>
            <a:off x="729452" y="27862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7650" y="4507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ERC-20 contract From Scratch</a:t>
            </a:r>
            <a:endParaRPr/>
          </a:p>
        </p:txBody>
      </p:sp>
      <p:sp>
        <p:nvSpPr>
          <p:cNvPr id="93" name="Google Shape;93;p14"/>
          <p:cNvSpPr txBox="1">
            <a:spLocks noGrp="1"/>
          </p:cNvSpPr>
          <p:nvPr>
            <p:ph type="body" idx="1"/>
          </p:nvPr>
        </p:nvSpPr>
        <p:spPr>
          <a:xfrm>
            <a:off x="729450" y="1387250"/>
            <a:ext cx="7688700" cy="3599700"/>
          </a:xfrm>
          <a:prstGeom prst="rect">
            <a:avLst/>
          </a:prstGeom>
        </p:spPr>
        <p:txBody>
          <a:bodyPr spcFirstLastPara="1" wrap="square" lIns="91425" tIns="91425" rIns="91425" bIns="91425" anchor="t" anchorCtr="0">
            <a:noAutofit/>
          </a:bodyPr>
          <a:lstStyle/>
          <a:p>
            <a:pPr marL="0" lvl="0" indent="0" algn="just" rtl="0">
              <a:lnSpc>
                <a:spcPct val="130000"/>
              </a:lnSpc>
              <a:spcBef>
                <a:spcPts val="0"/>
              </a:spcBef>
              <a:spcAft>
                <a:spcPts val="0"/>
              </a:spcAft>
              <a:buSzPts val="935"/>
              <a:buNone/>
            </a:pPr>
            <a:r>
              <a:rPr lang="en" sz="1520">
                <a:solidFill>
                  <a:schemeClr val="dk2"/>
                </a:solidFill>
                <a:latin typeface="Roboto"/>
                <a:ea typeface="Roboto"/>
                <a:cs typeface="Roboto"/>
                <a:sym typeface="Roboto"/>
              </a:rPr>
              <a:t>I can outline the algorithmic steps to create a basic ERC-20 token contract using Solidity, the programming language for Ethereum smart contracts. This is a simplified version for educational purposes and lacks many real-world features. Before deploying any smart contract, ensure you understand the code and security considerations. Here's a high-level algorithm for creating an ERC-20 token:</a:t>
            </a:r>
            <a:endParaRPr sz="1520">
              <a:solidFill>
                <a:schemeClr val="dk2"/>
              </a:solidFill>
              <a:latin typeface="Roboto"/>
              <a:ea typeface="Roboto"/>
              <a:cs typeface="Roboto"/>
              <a:sym typeface="Roboto"/>
            </a:endParaRPr>
          </a:p>
          <a:p>
            <a:pPr marL="0" lvl="0" indent="0" algn="l" rtl="0">
              <a:lnSpc>
                <a:spcPct val="130000"/>
              </a:lnSpc>
              <a:spcBef>
                <a:spcPts val="1500"/>
              </a:spcBef>
              <a:spcAft>
                <a:spcPts val="0"/>
              </a:spcAft>
              <a:buSzPts val="935"/>
              <a:buNone/>
            </a:pPr>
            <a:r>
              <a:rPr lang="en" sz="1520" b="1">
                <a:solidFill>
                  <a:schemeClr val="dk2"/>
                </a:solidFill>
                <a:latin typeface="Roboto"/>
                <a:ea typeface="Roboto"/>
                <a:cs typeface="Roboto"/>
                <a:sym typeface="Roboto"/>
              </a:rPr>
              <a:t>Contract Setup and Variables:</a:t>
            </a:r>
            <a:endParaRPr sz="1520" b="1">
              <a:solidFill>
                <a:schemeClr val="dk2"/>
              </a:solidFill>
              <a:latin typeface="Roboto"/>
              <a:ea typeface="Roboto"/>
              <a:cs typeface="Roboto"/>
              <a:sym typeface="Roboto"/>
            </a:endParaRPr>
          </a:p>
          <a:p>
            <a:pPr marL="457200" lvl="0" indent="-311150" algn="l" rtl="0">
              <a:lnSpc>
                <a:spcPct val="130000"/>
              </a:lnSpc>
              <a:spcBef>
                <a:spcPts val="0"/>
              </a:spcBef>
              <a:spcAft>
                <a:spcPts val="0"/>
              </a:spcAft>
              <a:buClr>
                <a:schemeClr val="dk2"/>
              </a:buClr>
              <a:buSzPts val="1300"/>
              <a:buChar char="●"/>
            </a:pPr>
            <a:r>
              <a:rPr lang="en" sz="1520">
                <a:solidFill>
                  <a:schemeClr val="dk2"/>
                </a:solidFill>
                <a:latin typeface="Roboto"/>
                <a:ea typeface="Roboto"/>
                <a:cs typeface="Roboto"/>
                <a:sym typeface="Roboto"/>
              </a:rPr>
              <a:t>Define the </a:t>
            </a:r>
            <a:r>
              <a:rPr lang="en" sz="1392">
                <a:solidFill>
                  <a:schemeClr val="dk2"/>
                </a:solidFill>
                <a:latin typeface="Courier New"/>
                <a:ea typeface="Courier New"/>
                <a:cs typeface="Courier New"/>
                <a:sym typeface="Courier New"/>
              </a:rPr>
              <a:t>pragma</a:t>
            </a:r>
            <a:r>
              <a:rPr lang="en" sz="1520">
                <a:solidFill>
                  <a:schemeClr val="dk2"/>
                </a:solidFill>
                <a:latin typeface="Roboto"/>
                <a:ea typeface="Roboto"/>
                <a:cs typeface="Roboto"/>
                <a:sym typeface="Roboto"/>
              </a:rPr>
              <a:t> directive to specify the compiler version.</a:t>
            </a:r>
            <a:endParaRPr sz="1520">
              <a:solidFill>
                <a:schemeClr val="dk2"/>
              </a:solidFill>
              <a:latin typeface="Roboto"/>
              <a:ea typeface="Roboto"/>
              <a:cs typeface="Roboto"/>
              <a:sym typeface="Roboto"/>
            </a:endParaRPr>
          </a:p>
          <a:p>
            <a:pPr marL="457200" lvl="0" indent="-325120" algn="l" rtl="0">
              <a:lnSpc>
                <a:spcPct val="130000"/>
              </a:lnSpc>
              <a:spcBef>
                <a:spcPts val="0"/>
              </a:spcBef>
              <a:spcAft>
                <a:spcPts val="0"/>
              </a:spcAft>
              <a:buClr>
                <a:schemeClr val="dk2"/>
              </a:buClr>
              <a:buSzPts val="1520"/>
              <a:buFont typeface="Roboto"/>
              <a:buChar char="●"/>
            </a:pPr>
            <a:r>
              <a:rPr lang="en" sz="1520">
                <a:solidFill>
                  <a:schemeClr val="dk2"/>
                </a:solidFill>
                <a:latin typeface="Roboto"/>
                <a:ea typeface="Roboto"/>
                <a:cs typeface="Roboto"/>
                <a:sym typeface="Roboto"/>
              </a:rPr>
              <a:t>Define the contract and its name.</a:t>
            </a:r>
            <a:endParaRPr sz="1520">
              <a:solidFill>
                <a:schemeClr val="dk2"/>
              </a:solidFill>
              <a:latin typeface="Roboto"/>
              <a:ea typeface="Roboto"/>
              <a:cs typeface="Roboto"/>
              <a:sym typeface="Roboto"/>
            </a:endParaRPr>
          </a:p>
          <a:p>
            <a:pPr marL="457200" lvl="0" indent="-325120" algn="l" rtl="0">
              <a:lnSpc>
                <a:spcPct val="130000"/>
              </a:lnSpc>
              <a:spcBef>
                <a:spcPts val="0"/>
              </a:spcBef>
              <a:spcAft>
                <a:spcPts val="0"/>
              </a:spcAft>
              <a:buClr>
                <a:schemeClr val="dk2"/>
              </a:buClr>
              <a:buSzPts val="1520"/>
              <a:buFont typeface="Roboto"/>
              <a:buChar char="●"/>
            </a:pPr>
            <a:r>
              <a:rPr lang="en" sz="1520">
                <a:solidFill>
                  <a:schemeClr val="dk2"/>
                </a:solidFill>
                <a:latin typeface="Roboto"/>
                <a:ea typeface="Roboto"/>
                <a:cs typeface="Roboto"/>
                <a:sym typeface="Roboto"/>
              </a:rPr>
              <a:t>Declare state variables for token name, symbol, decimals, total supply, and balances.</a:t>
            </a:r>
            <a:endParaRPr sz="1520">
              <a:solidFill>
                <a:schemeClr val="dk2"/>
              </a:solidFill>
              <a:latin typeface="Roboto"/>
              <a:ea typeface="Roboto"/>
              <a:cs typeface="Roboto"/>
              <a:sym typeface="Roboto"/>
            </a:endParaRPr>
          </a:p>
          <a:p>
            <a:pPr marL="457200" lvl="0" indent="-325120" algn="l" rtl="0">
              <a:lnSpc>
                <a:spcPct val="130000"/>
              </a:lnSpc>
              <a:spcBef>
                <a:spcPts val="0"/>
              </a:spcBef>
              <a:spcAft>
                <a:spcPts val="0"/>
              </a:spcAft>
              <a:buClr>
                <a:schemeClr val="dk2"/>
              </a:buClr>
              <a:buSzPts val="1520"/>
              <a:buFont typeface="Roboto"/>
              <a:buChar char="●"/>
            </a:pPr>
            <a:r>
              <a:rPr lang="en" sz="1520">
                <a:solidFill>
                  <a:schemeClr val="dk2"/>
                </a:solidFill>
                <a:latin typeface="Roboto"/>
                <a:ea typeface="Roboto"/>
                <a:cs typeface="Roboto"/>
                <a:sym typeface="Roboto"/>
              </a:rPr>
              <a:t>Declare mapping to maintain balances</a:t>
            </a:r>
            <a:endParaRPr sz="1520">
              <a:solidFill>
                <a:schemeClr val="dk2"/>
              </a:solidFill>
              <a:latin typeface="Roboto"/>
              <a:ea typeface="Roboto"/>
              <a:cs typeface="Roboto"/>
              <a:sym typeface="Roboto"/>
            </a:endParaRPr>
          </a:p>
          <a:p>
            <a:pPr marL="0" lvl="0" indent="0" algn="just" rtl="0">
              <a:lnSpc>
                <a:spcPct val="130000"/>
              </a:lnSpc>
              <a:spcBef>
                <a:spcPts val="0"/>
              </a:spcBef>
              <a:spcAft>
                <a:spcPts val="0"/>
              </a:spcAft>
              <a:buSzPts val="935"/>
              <a:buNone/>
            </a:pPr>
            <a:endParaRPr sz="1520">
              <a:solidFill>
                <a:schemeClr val="dk2"/>
              </a:solidFill>
              <a:latin typeface="Roboto"/>
              <a:ea typeface="Roboto"/>
              <a:cs typeface="Roboto"/>
              <a:sym typeface="Roboto"/>
            </a:endParaRPr>
          </a:p>
          <a:p>
            <a:pPr marL="457200" lvl="0" indent="-228600" algn="just" rtl="0">
              <a:lnSpc>
                <a:spcPct val="130000"/>
              </a:lnSpc>
              <a:spcBef>
                <a:spcPts val="1500"/>
              </a:spcBef>
              <a:spcAft>
                <a:spcPts val="0"/>
              </a:spcAft>
              <a:buClr>
                <a:schemeClr val="dk2"/>
              </a:buClr>
              <a:buSzPts val="1520"/>
              <a:buFont typeface="Roboto"/>
              <a:buNone/>
            </a:pPr>
            <a:endParaRPr sz="1520">
              <a:solidFill>
                <a:schemeClr val="dk2"/>
              </a:solidFill>
              <a:latin typeface="Roboto"/>
              <a:ea typeface="Roboto"/>
              <a:cs typeface="Roboto"/>
              <a:sym typeface="Roboto"/>
            </a:endParaRPr>
          </a:p>
          <a:p>
            <a:pPr marL="0" lvl="0" indent="0" algn="just" rtl="0">
              <a:lnSpc>
                <a:spcPct val="130000"/>
              </a:lnSpc>
              <a:spcBef>
                <a:spcPts val="1500"/>
              </a:spcBef>
              <a:spcAft>
                <a:spcPts val="1200"/>
              </a:spcAft>
              <a:buSzPts val="935"/>
              <a:buNone/>
            </a:pPr>
            <a:endParaRPr sz="1604">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672525" y="5005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a:t>
            </a:r>
            <a:endParaRPr/>
          </a:p>
        </p:txBody>
      </p:sp>
      <p:sp>
        <p:nvSpPr>
          <p:cNvPr id="99" name="Google Shape;99;p15"/>
          <p:cNvSpPr txBox="1">
            <a:spLocks noGrp="1"/>
          </p:cNvSpPr>
          <p:nvPr>
            <p:ph type="body" idx="1"/>
          </p:nvPr>
        </p:nvSpPr>
        <p:spPr>
          <a:xfrm>
            <a:off x="729450" y="1415700"/>
            <a:ext cx="7688700" cy="352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chemeClr val="dk2"/>
                </a:solidFill>
              </a:rPr>
              <a:t>constructor(uint256 initialSupply) {</a:t>
            </a:r>
            <a:endParaRPr sz="1600">
              <a:solidFill>
                <a:schemeClr val="dk2"/>
              </a:solidFill>
            </a:endParaRPr>
          </a:p>
          <a:p>
            <a:pPr marL="0" lvl="0" indent="0" algn="l" rtl="0">
              <a:spcBef>
                <a:spcPts val="1200"/>
              </a:spcBef>
              <a:spcAft>
                <a:spcPts val="0"/>
              </a:spcAft>
              <a:buNone/>
            </a:pPr>
            <a:r>
              <a:rPr lang="en" sz="1600">
                <a:solidFill>
                  <a:schemeClr val="dk2"/>
                </a:solidFill>
              </a:rPr>
              <a:t>    totalSupply = initialSupply * 10 ** uint256(decimals);</a:t>
            </a:r>
            <a:endParaRPr sz="1600">
              <a:solidFill>
                <a:schemeClr val="dk2"/>
              </a:solidFill>
            </a:endParaRPr>
          </a:p>
          <a:p>
            <a:pPr marL="0" lvl="0" indent="0" algn="l" rtl="0">
              <a:spcBef>
                <a:spcPts val="1200"/>
              </a:spcBef>
              <a:spcAft>
                <a:spcPts val="0"/>
              </a:spcAft>
              <a:buNone/>
            </a:pPr>
            <a:r>
              <a:rPr lang="en" sz="1600">
                <a:solidFill>
                  <a:schemeClr val="dk2"/>
                </a:solidFill>
              </a:rPr>
              <a:t>    balanceOf[msg.sender] = totalSupply;</a:t>
            </a:r>
            <a:endParaRPr sz="1600">
              <a:solidFill>
                <a:schemeClr val="dk2"/>
              </a:solidFill>
            </a:endParaRPr>
          </a:p>
          <a:p>
            <a:pPr marL="0" lvl="0" indent="0" algn="l" rtl="0">
              <a:spcBef>
                <a:spcPts val="1200"/>
              </a:spcBef>
              <a:spcAft>
                <a:spcPts val="0"/>
              </a:spcAft>
              <a:buNone/>
            </a:pPr>
            <a:r>
              <a:rPr lang="en" sz="1600">
                <a:solidFill>
                  <a:schemeClr val="dk2"/>
                </a:solidFill>
              </a:rPr>
              <a:t>}</a:t>
            </a:r>
            <a:endParaRPr sz="1600">
              <a:solidFill>
                <a:schemeClr val="dk2"/>
              </a:solidFill>
            </a:endParaRPr>
          </a:p>
          <a:p>
            <a:pPr marL="457200" lvl="0" indent="-317500" algn="just" rtl="0">
              <a:lnSpc>
                <a:spcPct val="150000"/>
              </a:lnSpc>
              <a:spcBef>
                <a:spcPts val="1200"/>
              </a:spcBef>
              <a:spcAft>
                <a:spcPts val="0"/>
              </a:spcAft>
              <a:buClr>
                <a:schemeClr val="dk2"/>
              </a:buClr>
              <a:buSzPts val="1400"/>
              <a:buFont typeface="Roboto"/>
              <a:buChar char="●"/>
            </a:pPr>
            <a:r>
              <a:rPr lang="en" sz="1400">
                <a:solidFill>
                  <a:schemeClr val="dk2"/>
                </a:solidFill>
                <a:latin typeface="Roboto"/>
                <a:ea typeface="Roboto"/>
                <a:cs typeface="Roboto"/>
                <a:sym typeface="Roboto"/>
              </a:rPr>
              <a:t>The constructor initializes the contract with an initial supply of tokens, which is multiplied by 10^decimals to account for the token's decimal places.</a:t>
            </a:r>
            <a:endParaRPr sz="1400">
              <a:solidFill>
                <a:schemeClr val="dk2"/>
              </a:solidFill>
              <a:latin typeface="Roboto"/>
              <a:ea typeface="Roboto"/>
              <a:cs typeface="Roboto"/>
              <a:sym typeface="Roboto"/>
            </a:endParaRPr>
          </a:p>
          <a:p>
            <a:pPr marL="457200" lvl="0" indent="-317500" algn="just" rtl="0">
              <a:lnSpc>
                <a:spcPct val="150000"/>
              </a:lnSpc>
              <a:spcBef>
                <a:spcPts val="0"/>
              </a:spcBef>
              <a:spcAft>
                <a:spcPts val="0"/>
              </a:spcAft>
              <a:buClr>
                <a:schemeClr val="dk2"/>
              </a:buClr>
              <a:buSzPts val="1400"/>
              <a:buFont typeface="Roboto"/>
              <a:buChar char="●"/>
            </a:pPr>
            <a:r>
              <a:rPr lang="en" sz="1400">
                <a:solidFill>
                  <a:schemeClr val="dk2"/>
                </a:solidFill>
                <a:latin typeface="Roboto"/>
                <a:ea typeface="Roboto"/>
                <a:cs typeface="Roboto"/>
                <a:sym typeface="Roboto"/>
              </a:rPr>
              <a:t>The total supply is assigned to the contract creator's address.</a:t>
            </a:r>
            <a:endParaRPr sz="1400">
              <a:solidFill>
                <a:schemeClr val="dk2"/>
              </a:solidFill>
              <a:latin typeface="Roboto"/>
              <a:ea typeface="Roboto"/>
              <a:cs typeface="Roboto"/>
              <a:sym typeface="Roboto"/>
            </a:endParaRPr>
          </a:p>
          <a:p>
            <a:pPr marL="457200" lvl="0" indent="-304800" algn="just" rtl="0">
              <a:lnSpc>
                <a:spcPct val="150000"/>
              </a:lnSpc>
              <a:spcBef>
                <a:spcPts val="0"/>
              </a:spcBef>
              <a:spcAft>
                <a:spcPts val="0"/>
              </a:spcAft>
              <a:buClr>
                <a:schemeClr val="dk2"/>
              </a:buClr>
              <a:buSzPts val="1200"/>
              <a:buFont typeface="Roboto"/>
              <a:buChar char="●"/>
            </a:pPr>
            <a:r>
              <a:rPr lang="en" sz="1400">
                <a:solidFill>
                  <a:schemeClr val="dk2"/>
                </a:solidFill>
                <a:latin typeface="Roboto"/>
                <a:ea typeface="Roboto"/>
                <a:cs typeface="Roboto"/>
                <a:sym typeface="Roboto"/>
              </a:rPr>
              <a:t>The </a:t>
            </a:r>
            <a:r>
              <a:rPr lang="en" sz="1250">
                <a:solidFill>
                  <a:schemeClr val="dk2"/>
                </a:solidFill>
                <a:latin typeface="Courier New"/>
                <a:ea typeface="Courier New"/>
                <a:cs typeface="Courier New"/>
                <a:sym typeface="Courier New"/>
              </a:rPr>
              <a:t>balanceOf</a:t>
            </a:r>
            <a:r>
              <a:rPr lang="en" sz="1400">
                <a:solidFill>
                  <a:schemeClr val="dk2"/>
                </a:solidFill>
                <a:latin typeface="Roboto"/>
                <a:ea typeface="Roboto"/>
                <a:cs typeface="Roboto"/>
                <a:sym typeface="Roboto"/>
              </a:rPr>
              <a:t> mapping is updated to show the initial balance of the contract creator</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700">
                <a:latin typeface="Roboto"/>
                <a:ea typeface="Roboto"/>
                <a:cs typeface="Roboto"/>
                <a:sym typeface="Roboto"/>
              </a:rPr>
              <a:t>Transfer Function</a:t>
            </a:r>
            <a:endParaRPr sz="3100"/>
          </a:p>
        </p:txBody>
      </p:sp>
      <p:sp>
        <p:nvSpPr>
          <p:cNvPr id="105" name="Google Shape;105;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23850" algn="l" rtl="0">
              <a:lnSpc>
                <a:spcPct val="150000"/>
              </a:lnSpc>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Implement a function to transfer tokens from the sender's address to another address.</a:t>
            </a:r>
            <a:endParaRPr sz="1500">
              <a:solidFill>
                <a:schemeClr val="dk2"/>
              </a:solidFill>
              <a:latin typeface="Roboto"/>
              <a:ea typeface="Roboto"/>
              <a:cs typeface="Roboto"/>
              <a:sym typeface="Roboto"/>
            </a:endParaRPr>
          </a:p>
          <a:p>
            <a:pPr marL="457200" lvl="0" indent="-323850" algn="l" rtl="0">
              <a:lnSpc>
                <a:spcPct val="150000"/>
              </a:lnSpc>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Check for valid addresses and sufficient balance.</a:t>
            </a:r>
            <a:endParaRPr sz="1500">
              <a:solidFill>
                <a:schemeClr val="dk2"/>
              </a:solidFill>
              <a:latin typeface="Roboto"/>
              <a:ea typeface="Roboto"/>
              <a:cs typeface="Roboto"/>
              <a:sym typeface="Roboto"/>
            </a:endParaRPr>
          </a:p>
          <a:p>
            <a:pPr marL="457200" lvl="0" indent="-323850" algn="l" rtl="0">
              <a:lnSpc>
                <a:spcPct val="150000"/>
              </a:lnSpc>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Update sender's and recipient's balances.</a:t>
            </a:r>
            <a:endParaRPr sz="1500">
              <a:solidFill>
                <a:schemeClr val="dk2"/>
              </a:solidFill>
              <a:latin typeface="Roboto"/>
              <a:ea typeface="Roboto"/>
              <a:cs typeface="Roboto"/>
              <a:sym typeface="Roboto"/>
            </a:endParaRPr>
          </a:p>
          <a:p>
            <a:pPr marL="457200" lvl="0" indent="-323850" algn="l" rtl="0">
              <a:lnSpc>
                <a:spcPct val="150000"/>
              </a:lnSpc>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Emit a Transfer event.</a:t>
            </a:r>
            <a:endParaRPr sz="1500">
              <a:solidFill>
                <a:schemeClr val="dk2"/>
              </a:solidFill>
              <a:latin typeface="Roboto"/>
              <a:ea typeface="Roboto"/>
              <a:cs typeface="Roboto"/>
              <a:sym typeface="Roboto"/>
            </a:endParaRPr>
          </a:p>
          <a:p>
            <a:pPr marL="0" lvl="0" indent="0" algn="l" rtl="0">
              <a:lnSpc>
                <a:spcPct val="150000"/>
              </a:lnSpc>
              <a:spcBef>
                <a:spcPts val="0"/>
              </a:spcBef>
              <a:spcAft>
                <a:spcPts val="1200"/>
              </a:spcAft>
              <a:buNone/>
            </a:pPr>
            <a:endParaRPr sz="16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5218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transfer()</a:t>
            </a:r>
            <a:endParaRPr/>
          </a:p>
        </p:txBody>
      </p:sp>
      <p:sp>
        <p:nvSpPr>
          <p:cNvPr id="111" name="Google Shape;111;p17"/>
          <p:cNvSpPr txBox="1">
            <a:spLocks noGrp="1"/>
          </p:cNvSpPr>
          <p:nvPr>
            <p:ph type="body" idx="1"/>
          </p:nvPr>
        </p:nvSpPr>
        <p:spPr>
          <a:xfrm>
            <a:off x="729450" y="1515300"/>
            <a:ext cx="7688700" cy="34575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solidFill>
                  <a:schemeClr val="dk2"/>
                </a:solidFill>
              </a:rPr>
              <a:t>function transfer(address to, uint256 value) external returns (bool) {</a:t>
            </a:r>
            <a:endParaRPr>
              <a:solidFill>
                <a:schemeClr val="dk2"/>
              </a:solidFill>
            </a:endParaRPr>
          </a:p>
          <a:p>
            <a:pPr marL="0" lvl="0" indent="0" algn="l" rtl="0">
              <a:spcBef>
                <a:spcPts val="1200"/>
              </a:spcBef>
              <a:spcAft>
                <a:spcPts val="0"/>
              </a:spcAft>
              <a:buNone/>
            </a:pPr>
            <a:r>
              <a:rPr lang="en">
                <a:solidFill>
                  <a:schemeClr val="dk2"/>
                </a:solidFill>
              </a:rPr>
              <a:t>    require(to != address(0), "Invalid address");</a:t>
            </a:r>
            <a:endParaRPr>
              <a:solidFill>
                <a:schemeClr val="dk2"/>
              </a:solidFill>
            </a:endParaRPr>
          </a:p>
          <a:p>
            <a:pPr marL="0" lvl="0" indent="0" algn="l" rtl="0">
              <a:spcBef>
                <a:spcPts val="1200"/>
              </a:spcBef>
              <a:spcAft>
                <a:spcPts val="0"/>
              </a:spcAft>
              <a:buNone/>
            </a:pPr>
            <a:r>
              <a:rPr lang="en">
                <a:solidFill>
                  <a:schemeClr val="dk2"/>
                </a:solidFill>
              </a:rPr>
              <a:t>    require(balanceOf[msg.sender] &gt;= value, "Insufficient balance");</a:t>
            </a:r>
            <a:endParaRPr>
              <a:solidFill>
                <a:schemeClr val="dk2"/>
              </a:solidFill>
            </a:endParaRPr>
          </a:p>
          <a:p>
            <a:pPr marL="0" lvl="0" indent="0" algn="l" rtl="0">
              <a:spcBef>
                <a:spcPts val="1200"/>
              </a:spcBef>
              <a:spcAft>
                <a:spcPts val="0"/>
              </a:spcAft>
              <a:buNone/>
            </a:pPr>
            <a:endParaRPr>
              <a:solidFill>
                <a:schemeClr val="dk2"/>
              </a:solidFill>
            </a:endParaRPr>
          </a:p>
          <a:p>
            <a:pPr marL="0" lvl="0" indent="0" algn="l" rtl="0">
              <a:spcBef>
                <a:spcPts val="1200"/>
              </a:spcBef>
              <a:spcAft>
                <a:spcPts val="0"/>
              </a:spcAft>
              <a:buNone/>
            </a:pPr>
            <a:r>
              <a:rPr lang="en">
                <a:solidFill>
                  <a:schemeClr val="dk2"/>
                </a:solidFill>
              </a:rPr>
              <a:t>    balanceOf[msg.sender] -= value;</a:t>
            </a:r>
            <a:endParaRPr>
              <a:solidFill>
                <a:schemeClr val="dk2"/>
              </a:solidFill>
            </a:endParaRPr>
          </a:p>
          <a:p>
            <a:pPr marL="0" lvl="0" indent="0" algn="l" rtl="0">
              <a:spcBef>
                <a:spcPts val="1200"/>
              </a:spcBef>
              <a:spcAft>
                <a:spcPts val="0"/>
              </a:spcAft>
              <a:buNone/>
            </a:pPr>
            <a:r>
              <a:rPr lang="en">
                <a:solidFill>
                  <a:schemeClr val="dk2"/>
                </a:solidFill>
              </a:rPr>
              <a:t>    balanceOf[to] += value;</a:t>
            </a:r>
            <a:endParaRPr>
              <a:solidFill>
                <a:schemeClr val="dk2"/>
              </a:solidFill>
            </a:endParaRPr>
          </a:p>
          <a:p>
            <a:pPr marL="0" lvl="0" indent="0" algn="l" rtl="0">
              <a:spcBef>
                <a:spcPts val="1200"/>
              </a:spcBef>
              <a:spcAft>
                <a:spcPts val="0"/>
              </a:spcAft>
              <a:buNone/>
            </a:pPr>
            <a:endParaRPr>
              <a:solidFill>
                <a:schemeClr val="dk2"/>
              </a:solidFill>
            </a:endParaRPr>
          </a:p>
          <a:p>
            <a:pPr marL="0" lvl="0" indent="0" algn="l" rtl="0">
              <a:spcBef>
                <a:spcPts val="1200"/>
              </a:spcBef>
              <a:spcAft>
                <a:spcPts val="0"/>
              </a:spcAft>
              <a:buNone/>
            </a:pPr>
            <a:r>
              <a:rPr lang="en">
                <a:solidFill>
                  <a:schemeClr val="dk2"/>
                </a:solidFill>
              </a:rPr>
              <a:t>    emit Transfer(msg.sender, to, value);</a:t>
            </a:r>
            <a:endParaRPr>
              <a:solidFill>
                <a:schemeClr val="dk2"/>
              </a:solidFill>
            </a:endParaRPr>
          </a:p>
          <a:p>
            <a:pPr marL="0" lvl="0" indent="0" algn="l" rtl="0">
              <a:spcBef>
                <a:spcPts val="1200"/>
              </a:spcBef>
              <a:spcAft>
                <a:spcPts val="0"/>
              </a:spcAft>
              <a:buNone/>
            </a:pPr>
            <a:r>
              <a:rPr lang="en">
                <a:solidFill>
                  <a:schemeClr val="dk2"/>
                </a:solidFill>
              </a:rPr>
              <a:t>    return true;</a:t>
            </a:r>
            <a:endParaRPr>
              <a:solidFill>
                <a:schemeClr val="dk2"/>
              </a:solidFill>
            </a:endParaRPr>
          </a:p>
          <a:p>
            <a:pPr marL="0" lvl="0" indent="0" algn="l" rtl="0">
              <a:spcBef>
                <a:spcPts val="1200"/>
              </a:spcBef>
              <a:spcAft>
                <a:spcPts val="1200"/>
              </a:spcAft>
              <a:buNone/>
            </a:pPr>
            <a:r>
              <a:rPr lang="en">
                <a:solidFill>
                  <a:schemeClr val="dk2"/>
                </a:solidFill>
              </a:rPr>
              <a:t>}</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Approve Function</a:t>
            </a:r>
            <a:endParaRPr/>
          </a:p>
        </p:txBody>
      </p:sp>
      <p:sp>
        <p:nvSpPr>
          <p:cNvPr id="117" name="Google Shape;117;p1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Implement a function to allow another address to spend tokens on behalf of the sender.</a:t>
            </a:r>
            <a:endParaRPr sz="1800">
              <a:solidFill>
                <a:schemeClr val="dk2"/>
              </a:solidFill>
              <a:latin typeface="Roboto"/>
              <a:ea typeface="Roboto"/>
              <a:cs typeface="Roboto"/>
              <a:sym typeface="Roboto"/>
            </a:endParaRPr>
          </a:p>
          <a:p>
            <a:pPr marL="457200" lvl="0" indent="-342900" algn="l" rtl="0">
              <a:lnSpc>
                <a:spcPct val="150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Store the allowance in the allowances mapping.</a:t>
            </a:r>
            <a:endParaRPr sz="1800">
              <a:solidFill>
                <a:schemeClr val="dk2"/>
              </a:solidFill>
              <a:latin typeface="Roboto"/>
              <a:ea typeface="Roboto"/>
              <a:cs typeface="Roboto"/>
              <a:sym typeface="Roboto"/>
            </a:endParaRPr>
          </a:p>
          <a:p>
            <a:pPr marL="457200" lvl="0" indent="-342900" algn="l" rtl="0">
              <a:lnSpc>
                <a:spcPct val="150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Emit an Approval event.</a:t>
            </a:r>
            <a:endParaRPr sz="19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5503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123" name="Google Shape;123;p19"/>
          <p:cNvSpPr txBox="1">
            <a:spLocks noGrp="1"/>
          </p:cNvSpPr>
          <p:nvPr>
            <p:ph type="body" idx="1"/>
          </p:nvPr>
        </p:nvSpPr>
        <p:spPr>
          <a:xfrm>
            <a:off x="729450" y="1266425"/>
            <a:ext cx="7688700" cy="3990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solidFill>
                  <a:schemeClr val="dk2"/>
                </a:solidFill>
              </a:rPr>
              <a:t>contract StudentCourses {</a:t>
            </a:r>
            <a:endParaRPr>
              <a:solidFill>
                <a:schemeClr val="dk2"/>
              </a:solidFill>
            </a:endParaRPr>
          </a:p>
          <a:p>
            <a:pPr marL="0" lvl="0" indent="0" algn="l" rtl="0">
              <a:spcBef>
                <a:spcPts val="1200"/>
              </a:spcBef>
              <a:spcAft>
                <a:spcPts val="0"/>
              </a:spcAft>
              <a:buNone/>
            </a:pPr>
            <a:r>
              <a:rPr lang="en">
                <a:solidFill>
                  <a:schemeClr val="dk2"/>
                </a:solidFill>
              </a:rPr>
              <a:t>    // Mapping from student addresses to their enrolled courses</a:t>
            </a:r>
            <a:endParaRPr>
              <a:solidFill>
                <a:schemeClr val="dk2"/>
              </a:solidFill>
            </a:endParaRPr>
          </a:p>
          <a:p>
            <a:pPr marL="0" lvl="0" indent="0" algn="l" rtl="0">
              <a:spcBef>
                <a:spcPts val="1200"/>
              </a:spcBef>
              <a:spcAft>
                <a:spcPts val="0"/>
              </a:spcAft>
              <a:buNone/>
            </a:pPr>
            <a:r>
              <a:rPr lang="en">
                <a:solidFill>
                  <a:schemeClr val="dk2"/>
                </a:solidFill>
              </a:rPr>
              <a:t>    mapping(address =&gt; mapping(uint256 =&gt; string)) public studentCourses;</a:t>
            </a:r>
            <a:endParaRPr>
              <a:solidFill>
                <a:schemeClr val="dk2"/>
              </a:solidFill>
            </a:endParaRPr>
          </a:p>
          <a:p>
            <a:pPr marL="0" lvl="0" indent="0" algn="l" rtl="0">
              <a:spcBef>
                <a:spcPts val="1200"/>
              </a:spcBef>
              <a:spcAft>
                <a:spcPts val="0"/>
              </a:spcAft>
              <a:buNone/>
            </a:pPr>
            <a:endParaRPr>
              <a:solidFill>
                <a:schemeClr val="dk2"/>
              </a:solidFill>
            </a:endParaRPr>
          </a:p>
          <a:p>
            <a:pPr marL="0" lvl="0" indent="0" algn="l" rtl="0">
              <a:spcBef>
                <a:spcPts val="1200"/>
              </a:spcBef>
              <a:spcAft>
                <a:spcPts val="0"/>
              </a:spcAft>
              <a:buNone/>
            </a:pPr>
            <a:r>
              <a:rPr lang="en">
                <a:solidFill>
                  <a:schemeClr val="dk2"/>
                </a:solidFill>
              </a:rPr>
              <a:t>    function enrollStudent(uint256 _courseId, string memory _courseName) public {</a:t>
            </a:r>
            <a:endParaRPr>
              <a:solidFill>
                <a:schemeClr val="dk2"/>
              </a:solidFill>
            </a:endParaRPr>
          </a:p>
          <a:p>
            <a:pPr marL="0" lvl="0" indent="0" algn="l" rtl="0">
              <a:spcBef>
                <a:spcPts val="1200"/>
              </a:spcBef>
              <a:spcAft>
                <a:spcPts val="0"/>
              </a:spcAft>
              <a:buNone/>
            </a:pPr>
            <a:r>
              <a:rPr lang="en">
                <a:solidFill>
                  <a:schemeClr val="dk2"/>
                </a:solidFill>
              </a:rPr>
              <a:t>        studentCourses[msg.sender][_courseId] = _courseName;</a:t>
            </a:r>
            <a:endParaRPr>
              <a:solidFill>
                <a:schemeClr val="dk2"/>
              </a:solidFill>
            </a:endParaRPr>
          </a:p>
          <a:p>
            <a:pPr marL="0" lvl="0" indent="0" algn="l" rtl="0">
              <a:spcBef>
                <a:spcPts val="1200"/>
              </a:spcBef>
              <a:spcAft>
                <a:spcPts val="0"/>
              </a:spcAft>
              <a:buNone/>
            </a:pPr>
            <a:r>
              <a:rPr lang="en">
                <a:solidFill>
                  <a:schemeClr val="dk2"/>
                </a:solidFill>
              </a:rPr>
              <a:t>    }</a:t>
            </a:r>
            <a:endParaRPr>
              <a:solidFill>
                <a:schemeClr val="dk2"/>
              </a:solidFill>
            </a:endParaRPr>
          </a:p>
          <a:p>
            <a:pPr marL="0" lvl="0" indent="0" algn="l" rtl="0">
              <a:spcBef>
                <a:spcPts val="1200"/>
              </a:spcBef>
              <a:spcAft>
                <a:spcPts val="0"/>
              </a:spcAft>
              <a:buNone/>
            </a:pPr>
            <a:r>
              <a:rPr lang="en">
                <a:solidFill>
                  <a:schemeClr val="dk2"/>
                </a:solidFill>
              </a:rPr>
              <a:t>    function getCourse(uint256 _courseId) public view returns (string memory) {</a:t>
            </a:r>
            <a:endParaRPr>
              <a:solidFill>
                <a:schemeClr val="dk2"/>
              </a:solidFill>
            </a:endParaRPr>
          </a:p>
          <a:p>
            <a:pPr marL="0" lvl="0" indent="0" algn="l" rtl="0">
              <a:spcBef>
                <a:spcPts val="1200"/>
              </a:spcBef>
              <a:spcAft>
                <a:spcPts val="0"/>
              </a:spcAft>
              <a:buNone/>
            </a:pPr>
            <a:r>
              <a:rPr lang="en">
                <a:solidFill>
                  <a:schemeClr val="dk2"/>
                </a:solidFill>
              </a:rPr>
              <a:t>        return studentCourses[msg.sender][_courseId];</a:t>
            </a:r>
            <a:endParaRPr>
              <a:solidFill>
                <a:schemeClr val="dk2"/>
              </a:solidFill>
            </a:endParaRPr>
          </a:p>
          <a:p>
            <a:pPr marL="0" lvl="0" indent="0" algn="l" rtl="0">
              <a:spcBef>
                <a:spcPts val="1200"/>
              </a:spcBef>
              <a:spcAft>
                <a:spcPts val="0"/>
              </a:spcAft>
              <a:buNone/>
            </a:pPr>
            <a:r>
              <a:rPr lang="en">
                <a:solidFill>
                  <a:schemeClr val="dk2"/>
                </a:solidFill>
              </a:rPr>
              <a:t>    }</a:t>
            </a:r>
            <a:endParaRPr>
              <a:solidFill>
                <a:schemeClr val="dk2"/>
              </a:solidFill>
            </a:endParaRPr>
          </a:p>
          <a:p>
            <a:pPr marL="0" lvl="0" indent="0" algn="l" rtl="0">
              <a:spcBef>
                <a:spcPts val="1200"/>
              </a:spcBef>
              <a:spcAft>
                <a:spcPts val="1200"/>
              </a:spcAft>
              <a:buNone/>
            </a:pPr>
            <a:r>
              <a:rPr lang="en">
                <a:solidFill>
                  <a:schemeClr val="dk2"/>
                </a:solidFill>
              </a:rPr>
              <a:t>}</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644100" y="5290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approve()</a:t>
            </a:r>
            <a:endParaRPr/>
          </a:p>
        </p:txBody>
      </p:sp>
      <p:sp>
        <p:nvSpPr>
          <p:cNvPr id="129" name="Google Shape;129;p20"/>
          <p:cNvSpPr txBox="1">
            <a:spLocks noGrp="1"/>
          </p:cNvSpPr>
          <p:nvPr>
            <p:ph type="body" idx="1"/>
          </p:nvPr>
        </p:nvSpPr>
        <p:spPr>
          <a:xfrm>
            <a:off x="615625" y="1799875"/>
            <a:ext cx="7688700" cy="2974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chemeClr val="dk2"/>
                </a:solidFill>
              </a:rPr>
              <a:t>function approve(address spender, uint256 value) external returns (bool) {</a:t>
            </a:r>
            <a:endParaRPr sz="1400">
              <a:solidFill>
                <a:schemeClr val="dk2"/>
              </a:solidFill>
            </a:endParaRPr>
          </a:p>
          <a:p>
            <a:pPr marL="0" lvl="0" indent="0" algn="l" rtl="0">
              <a:spcBef>
                <a:spcPts val="1200"/>
              </a:spcBef>
              <a:spcAft>
                <a:spcPts val="0"/>
              </a:spcAft>
              <a:buNone/>
            </a:pPr>
            <a:r>
              <a:rPr lang="en" sz="1400">
                <a:solidFill>
                  <a:schemeClr val="dk2"/>
                </a:solidFill>
              </a:rPr>
              <a:t>    allowance[msg.sender][spender] = value;</a:t>
            </a:r>
            <a:endParaRPr sz="1400">
              <a:solidFill>
                <a:schemeClr val="dk2"/>
              </a:solidFill>
            </a:endParaRPr>
          </a:p>
          <a:p>
            <a:pPr marL="0" lvl="0" indent="0" algn="l" rtl="0">
              <a:spcBef>
                <a:spcPts val="1200"/>
              </a:spcBef>
              <a:spcAft>
                <a:spcPts val="0"/>
              </a:spcAft>
              <a:buNone/>
            </a:pPr>
            <a:endParaRPr sz="1400">
              <a:solidFill>
                <a:schemeClr val="dk2"/>
              </a:solidFill>
            </a:endParaRPr>
          </a:p>
          <a:p>
            <a:pPr marL="0" lvl="0" indent="0" algn="l" rtl="0">
              <a:spcBef>
                <a:spcPts val="1200"/>
              </a:spcBef>
              <a:spcAft>
                <a:spcPts val="0"/>
              </a:spcAft>
              <a:buNone/>
            </a:pPr>
            <a:r>
              <a:rPr lang="en" sz="1400">
                <a:solidFill>
                  <a:schemeClr val="dk2"/>
                </a:solidFill>
              </a:rPr>
              <a:t>    emit Approval(msg.sender, spender, value);</a:t>
            </a:r>
            <a:endParaRPr sz="1400">
              <a:solidFill>
                <a:schemeClr val="dk2"/>
              </a:solidFill>
            </a:endParaRPr>
          </a:p>
          <a:p>
            <a:pPr marL="0" lvl="0" indent="0" algn="l" rtl="0">
              <a:spcBef>
                <a:spcPts val="1200"/>
              </a:spcBef>
              <a:spcAft>
                <a:spcPts val="0"/>
              </a:spcAft>
              <a:buNone/>
            </a:pPr>
            <a:r>
              <a:rPr lang="en" sz="1400">
                <a:solidFill>
                  <a:schemeClr val="dk2"/>
                </a:solidFill>
              </a:rPr>
              <a:t>    return true;</a:t>
            </a:r>
            <a:endParaRPr sz="1400">
              <a:solidFill>
                <a:schemeClr val="dk2"/>
              </a:solidFill>
            </a:endParaRPr>
          </a:p>
          <a:p>
            <a:pPr marL="0" lvl="0" indent="0" algn="l" rtl="0">
              <a:spcBef>
                <a:spcPts val="1200"/>
              </a:spcBef>
              <a:spcAft>
                <a:spcPts val="1200"/>
              </a:spcAft>
              <a:buNone/>
            </a:pPr>
            <a:r>
              <a:rPr lang="en" sz="1400">
                <a:solidFill>
                  <a:schemeClr val="dk2"/>
                </a:solidFill>
              </a:rPr>
              <a:t>}</a:t>
            </a:r>
            <a:endParaRPr sz="14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672550" y="5361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Transfer-From Function</a:t>
            </a:r>
            <a:endParaRPr/>
          </a:p>
        </p:txBody>
      </p:sp>
      <p:sp>
        <p:nvSpPr>
          <p:cNvPr id="135" name="Google Shape;135;p21"/>
          <p:cNvSpPr txBox="1">
            <a:spLocks noGrp="1"/>
          </p:cNvSpPr>
          <p:nvPr>
            <p:ph type="body" idx="1"/>
          </p:nvPr>
        </p:nvSpPr>
        <p:spPr>
          <a:xfrm>
            <a:off x="727650" y="1451275"/>
            <a:ext cx="7688700" cy="2874600"/>
          </a:xfrm>
          <a:prstGeom prst="rect">
            <a:avLst/>
          </a:prstGeom>
        </p:spPr>
        <p:txBody>
          <a:bodyPr spcFirstLastPara="1" wrap="square" lIns="91425" tIns="91425" rIns="91425" bIns="91425" anchor="t" anchorCtr="0">
            <a:normAutofit lnSpcReduction="20000"/>
          </a:bodyPr>
          <a:lstStyle/>
          <a:p>
            <a:pPr marL="457200" lvl="0" indent="-349250" algn="just" rtl="0">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Implement a function to allow an approved address to transfer tokens from a sender's address.</a:t>
            </a:r>
            <a:endParaRPr sz="1900">
              <a:solidFill>
                <a:schemeClr val="dk2"/>
              </a:solidFill>
              <a:latin typeface="Roboto"/>
              <a:ea typeface="Roboto"/>
              <a:cs typeface="Roboto"/>
              <a:sym typeface="Roboto"/>
            </a:endParaRPr>
          </a:p>
          <a:p>
            <a:pPr marL="457200" lvl="0" indent="-349250" algn="just" rtl="0">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Check for valid addresses, sufficient balance, and allowed amount.</a:t>
            </a:r>
            <a:endParaRPr sz="1900">
              <a:solidFill>
                <a:schemeClr val="dk2"/>
              </a:solidFill>
              <a:latin typeface="Roboto"/>
              <a:ea typeface="Roboto"/>
              <a:cs typeface="Roboto"/>
              <a:sym typeface="Roboto"/>
            </a:endParaRPr>
          </a:p>
          <a:p>
            <a:pPr marL="457200" lvl="0" indent="-349250" algn="just" rtl="0">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Update sender's and recipient's balances and allowances.</a:t>
            </a:r>
            <a:endParaRPr sz="1900">
              <a:solidFill>
                <a:schemeClr val="dk2"/>
              </a:solidFill>
              <a:latin typeface="Roboto"/>
              <a:ea typeface="Roboto"/>
              <a:cs typeface="Roboto"/>
              <a:sym typeface="Roboto"/>
            </a:endParaRPr>
          </a:p>
          <a:p>
            <a:pPr marL="457200" lvl="0" indent="-349250" algn="just" rtl="0">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Emit a Transfer event.</a:t>
            </a:r>
            <a:endParaRPr sz="1900">
              <a:solidFill>
                <a:schemeClr val="dk2"/>
              </a:solidFill>
              <a:latin typeface="Roboto"/>
              <a:ea typeface="Roboto"/>
              <a:cs typeface="Roboto"/>
              <a:sym typeface="Roboto"/>
            </a:endParaRPr>
          </a:p>
          <a:p>
            <a:pPr marL="0" lvl="0" indent="0" algn="just" rtl="0">
              <a:lnSpc>
                <a:spcPct val="150000"/>
              </a:lnSpc>
              <a:spcBef>
                <a:spcPts val="0"/>
              </a:spcBef>
              <a:spcAft>
                <a:spcPts val="1200"/>
              </a:spcAft>
              <a:buNone/>
            </a:pPr>
            <a:endParaRPr sz="20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636950" y="5361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trnasferFrom()</a:t>
            </a:r>
            <a:endParaRPr/>
          </a:p>
        </p:txBody>
      </p:sp>
      <p:sp>
        <p:nvSpPr>
          <p:cNvPr id="141" name="Google Shape;141;p22"/>
          <p:cNvSpPr txBox="1">
            <a:spLocks noGrp="1"/>
          </p:cNvSpPr>
          <p:nvPr>
            <p:ph type="body" idx="1"/>
          </p:nvPr>
        </p:nvSpPr>
        <p:spPr>
          <a:xfrm>
            <a:off x="729450" y="1166725"/>
            <a:ext cx="7688700" cy="3941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305">
                <a:solidFill>
                  <a:schemeClr val="dk2"/>
                </a:solidFill>
              </a:rPr>
              <a:t>function transferFrom(address from, address to, uint256 value) external returns (bool) {</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require(from != address(0), "Invalid address");</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require(to != address(0), "Invalid address");</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require(balanceOf[from] &gt;= value, "Insufficient balance");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require(allowance[from][msg.sender] &gt;= value, "Allowance exceeded");</a:t>
            </a:r>
            <a:endParaRPr sz="1305">
              <a:solidFill>
                <a:schemeClr val="dk2"/>
              </a:solidFill>
            </a:endParaRPr>
          </a:p>
          <a:p>
            <a:pPr marL="0" lvl="0" indent="0" algn="l" rtl="0">
              <a:lnSpc>
                <a:spcPct val="95000"/>
              </a:lnSpc>
              <a:spcBef>
                <a:spcPts val="1200"/>
              </a:spcBef>
              <a:spcAft>
                <a:spcPts val="0"/>
              </a:spcAft>
              <a:buSzPts val="935"/>
              <a:buNone/>
            </a:pP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balanceOf[from] -= value;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balanceOf[to] += value;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allowance[from][msg.sender] -= value;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emit Transfer(from, to, value);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return true;</a:t>
            </a:r>
            <a:endParaRPr sz="1305">
              <a:solidFill>
                <a:schemeClr val="dk2"/>
              </a:solidFill>
            </a:endParaRPr>
          </a:p>
          <a:p>
            <a:pPr marL="0" lvl="0" indent="0" algn="l" rtl="0">
              <a:lnSpc>
                <a:spcPct val="95000"/>
              </a:lnSpc>
              <a:spcBef>
                <a:spcPts val="1200"/>
              </a:spcBef>
              <a:spcAft>
                <a:spcPts val="1200"/>
              </a:spcAft>
              <a:buSzPts val="935"/>
              <a:buNone/>
            </a:pPr>
            <a:r>
              <a:rPr lang="en" sz="1305">
                <a:solidFill>
                  <a:schemeClr val="dk2"/>
                </a:solidFill>
              </a:rPr>
              <a:t>}</a:t>
            </a:r>
            <a:endParaRPr sz="1305">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644100" y="5290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approve()</a:t>
            </a:r>
            <a:endParaRPr/>
          </a:p>
        </p:txBody>
      </p:sp>
      <p:sp>
        <p:nvSpPr>
          <p:cNvPr id="147" name="Google Shape;147;p23"/>
          <p:cNvSpPr txBox="1">
            <a:spLocks noGrp="1"/>
          </p:cNvSpPr>
          <p:nvPr>
            <p:ph type="body" idx="1"/>
          </p:nvPr>
        </p:nvSpPr>
        <p:spPr>
          <a:xfrm>
            <a:off x="615625" y="1799875"/>
            <a:ext cx="7688700" cy="2974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chemeClr val="dk2"/>
                </a:solidFill>
              </a:rPr>
              <a:t>function approve(address spender, uint256 value) external returns (bool) {</a:t>
            </a:r>
            <a:endParaRPr sz="1400">
              <a:solidFill>
                <a:schemeClr val="dk2"/>
              </a:solidFill>
            </a:endParaRPr>
          </a:p>
          <a:p>
            <a:pPr marL="0" lvl="0" indent="0" algn="l" rtl="0">
              <a:spcBef>
                <a:spcPts val="1200"/>
              </a:spcBef>
              <a:spcAft>
                <a:spcPts val="0"/>
              </a:spcAft>
              <a:buNone/>
            </a:pPr>
            <a:r>
              <a:rPr lang="en" sz="1400">
                <a:solidFill>
                  <a:schemeClr val="dk2"/>
                </a:solidFill>
              </a:rPr>
              <a:t>    allowance[msg.sender][spender] = value;</a:t>
            </a:r>
            <a:endParaRPr sz="1400">
              <a:solidFill>
                <a:schemeClr val="dk2"/>
              </a:solidFill>
            </a:endParaRPr>
          </a:p>
          <a:p>
            <a:pPr marL="0" lvl="0" indent="0" algn="l" rtl="0">
              <a:spcBef>
                <a:spcPts val="1200"/>
              </a:spcBef>
              <a:spcAft>
                <a:spcPts val="0"/>
              </a:spcAft>
              <a:buNone/>
            </a:pPr>
            <a:endParaRPr sz="1400">
              <a:solidFill>
                <a:schemeClr val="dk2"/>
              </a:solidFill>
            </a:endParaRPr>
          </a:p>
          <a:p>
            <a:pPr marL="0" lvl="0" indent="0" algn="l" rtl="0">
              <a:spcBef>
                <a:spcPts val="1200"/>
              </a:spcBef>
              <a:spcAft>
                <a:spcPts val="0"/>
              </a:spcAft>
              <a:buNone/>
            </a:pPr>
            <a:r>
              <a:rPr lang="en" sz="1400">
                <a:solidFill>
                  <a:schemeClr val="dk2"/>
                </a:solidFill>
              </a:rPr>
              <a:t>    emit Approval(msg.sender, spender, value);</a:t>
            </a:r>
            <a:endParaRPr sz="1400">
              <a:solidFill>
                <a:schemeClr val="dk2"/>
              </a:solidFill>
            </a:endParaRPr>
          </a:p>
          <a:p>
            <a:pPr marL="0" lvl="0" indent="0" algn="l" rtl="0">
              <a:spcBef>
                <a:spcPts val="1200"/>
              </a:spcBef>
              <a:spcAft>
                <a:spcPts val="0"/>
              </a:spcAft>
              <a:buNone/>
            </a:pPr>
            <a:r>
              <a:rPr lang="en" sz="1400">
                <a:solidFill>
                  <a:schemeClr val="dk2"/>
                </a:solidFill>
              </a:rPr>
              <a:t>    return true;</a:t>
            </a:r>
            <a:endParaRPr sz="1400">
              <a:solidFill>
                <a:schemeClr val="dk2"/>
              </a:solidFill>
            </a:endParaRPr>
          </a:p>
          <a:p>
            <a:pPr marL="0" lvl="0" indent="0" algn="l" rtl="0">
              <a:spcBef>
                <a:spcPts val="1200"/>
              </a:spcBef>
              <a:spcAft>
                <a:spcPts val="1200"/>
              </a:spcAft>
              <a:buNone/>
            </a:pPr>
            <a:r>
              <a:rPr lang="en" sz="1400">
                <a:solidFill>
                  <a:schemeClr val="dk2"/>
                </a:solidFill>
              </a:rPr>
              <a:t>}</a:t>
            </a:r>
            <a:endParaRPr sz="14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672550" y="5361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Transfer-From Function</a:t>
            </a:r>
            <a:endParaRPr/>
          </a:p>
        </p:txBody>
      </p:sp>
      <p:sp>
        <p:nvSpPr>
          <p:cNvPr id="153" name="Google Shape;153;p24"/>
          <p:cNvSpPr txBox="1">
            <a:spLocks noGrp="1"/>
          </p:cNvSpPr>
          <p:nvPr>
            <p:ph type="body" idx="1"/>
          </p:nvPr>
        </p:nvSpPr>
        <p:spPr>
          <a:xfrm>
            <a:off x="727650" y="1451275"/>
            <a:ext cx="7688700" cy="2874600"/>
          </a:xfrm>
          <a:prstGeom prst="rect">
            <a:avLst/>
          </a:prstGeom>
        </p:spPr>
        <p:txBody>
          <a:bodyPr spcFirstLastPara="1" wrap="square" lIns="91425" tIns="91425" rIns="91425" bIns="91425" anchor="t" anchorCtr="0">
            <a:normAutofit lnSpcReduction="20000"/>
          </a:bodyPr>
          <a:lstStyle/>
          <a:p>
            <a:pPr marL="457200" lvl="0" indent="-349250" algn="just" rtl="0">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Implement a function to allow an approved address to transfer tokens from a sender's address.</a:t>
            </a:r>
            <a:endParaRPr sz="1900">
              <a:solidFill>
                <a:schemeClr val="dk2"/>
              </a:solidFill>
              <a:latin typeface="Roboto"/>
              <a:ea typeface="Roboto"/>
              <a:cs typeface="Roboto"/>
              <a:sym typeface="Roboto"/>
            </a:endParaRPr>
          </a:p>
          <a:p>
            <a:pPr marL="457200" lvl="0" indent="-349250" algn="just" rtl="0">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Check for valid addresses, sufficient balance, and allowed amount.</a:t>
            </a:r>
            <a:endParaRPr sz="1900">
              <a:solidFill>
                <a:schemeClr val="dk2"/>
              </a:solidFill>
              <a:latin typeface="Roboto"/>
              <a:ea typeface="Roboto"/>
              <a:cs typeface="Roboto"/>
              <a:sym typeface="Roboto"/>
            </a:endParaRPr>
          </a:p>
          <a:p>
            <a:pPr marL="457200" lvl="0" indent="-349250" algn="just" rtl="0">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Update sender's and recipient's balances and allowances.</a:t>
            </a:r>
            <a:endParaRPr sz="1900">
              <a:solidFill>
                <a:schemeClr val="dk2"/>
              </a:solidFill>
              <a:latin typeface="Roboto"/>
              <a:ea typeface="Roboto"/>
              <a:cs typeface="Roboto"/>
              <a:sym typeface="Roboto"/>
            </a:endParaRPr>
          </a:p>
          <a:p>
            <a:pPr marL="457200" lvl="0" indent="-349250" algn="just" rtl="0">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Emit a Transfer event.</a:t>
            </a:r>
            <a:endParaRPr sz="1900">
              <a:solidFill>
                <a:schemeClr val="dk2"/>
              </a:solidFill>
              <a:latin typeface="Roboto"/>
              <a:ea typeface="Roboto"/>
              <a:cs typeface="Roboto"/>
              <a:sym typeface="Roboto"/>
            </a:endParaRPr>
          </a:p>
          <a:p>
            <a:pPr marL="0" lvl="0" indent="0" algn="just" rtl="0">
              <a:lnSpc>
                <a:spcPct val="150000"/>
              </a:lnSpc>
              <a:spcBef>
                <a:spcPts val="0"/>
              </a:spcBef>
              <a:spcAft>
                <a:spcPts val="1200"/>
              </a:spcAft>
              <a:buNone/>
            </a:pPr>
            <a:endParaRPr sz="20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636950" y="5361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trnasferFrom()</a:t>
            </a:r>
            <a:endParaRPr/>
          </a:p>
        </p:txBody>
      </p:sp>
      <p:sp>
        <p:nvSpPr>
          <p:cNvPr id="159" name="Google Shape;159;p25"/>
          <p:cNvSpPr txBox="1">
            <a:spLocks noGrp="1"/>
          </p:cNvSpPr>
          <p:nvPr>
            <p:ph type="body" idx="1"/>
          </p:nvPr>
        </p:nvSpPr>
        <p:spPr>
          <a:xfrm>
            <a:off x="729450" y="1166725"/>
            <a:ext cx="7688700" cy="3941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305">
                <a:solidFill>
                  <a:schemeClr val="dk2"/>
                </a:solidFill>
              </a:rPr>
              <a:t>function transferFrom(address from, address to, uint256 value) external returns (bool) {</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require(from != address(0), "Invalid address");</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require(to != address(0), "Invalid address");</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require(balanceOf[from] &gt;= value, "Insufficient balance");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require(allowance[from][msg.sender] &gt;= value, "Allowance exceeded");</a:t>
            </a:r>
            <a:endParaRPr sz="1305">
              <a:solidFill>
                <a:schemeClr val="dk2"/>
              </a:solidFill>
            </a:endParaRPr>
          </a:p>
          <a:p>
            <a:pPr marL="0" lvl="0" indent="0" algn="l" rtl="0">
              <a:lnSpc>
                <a:spcPct val="95000"/>
              </a:lnSpc>
              <a:spcBef>
                <a:spcPts val="1200"/>
              </a:spcBef>
              <a:spcAft>
                <a:spcPts val="0"/>
              </a:spcAft>
              <a:buSzPts val="935"/>
              <a:buNone/>
            </a:pP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balanceOf[from] -= value;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balanceOf[to] += value;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allowance[from][msg.sender] -= value;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emit Transfer(from, to, value);</a:t>
            </a:r>
            <a:endParaRPr sz="1305">
              <a:solidFill>
                <a:schemeClr val="dk2"/>
              </a:solidFill>
            </a:endParaRPr>
          </a:p>
          <a:p>
            <a:pPr marL="0" lvl="0" indent="0" algn="l" rtl="0">
              <a:lnSpc>
                <a:spcPct val="95000"/>
              </a:lnSpc>
              <a:spcBef>
                <a:spcPts val="1200"/>
              </a:spcBef>
              <a:spcAft>
                <a:spcPts val="0"/>
              </a:spcAft>
              <a:buSzPts val="935"/>
              <a:buNone/>
            </a:pPr>
            <a:r>
              <a:rPr lang="en" sz="1305">
                <a:solidFill>
                  <a:schemeClr val="dk2"/>
                </a:solidFill>
              </a:rPr>
              <a:t>    return true;</a:t>
            </a:r>
            <a:endParaRPr sz="1305">
              <a:solidFill>
                <a:schemeClr val="dk2"/>
              </a:solidFill>
            </a:endParaRPr>
          </a:p>
          <a:p>
            <a:pPr marL="0" lvl="0" indent="0" algn="l" rtl="0">
              <a:lnSpc>
                <a:spcPct val="95000"/>
              </a:lnSpc>
              <a:spcBef>
                <a:spcPts val="1200"/>
              </a:spcBef>
              <a:spcAft>
                <a:spcPts val="1200"/>
              </a:spcAft>
              <a:buSzPts val="935"/>
              <a:buNone/>
            </a:pPr>
            <a:r>
              <a:rPr lang="en" sz="1305">
                <a:solidFill>
                  <a:schemeClr val="dk2"/>
                </a:solidFill>
              </a:rPr>
              <a:t>}</a:t>
            </a:r>
            <a:endParaRPr sz="1305">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Mininting function</a:t>
            </a:r>
            <a:endParaRPr/>
          </a:p>
        </p:txBody>
      </p:sp>
      <p:sp>
        <p:nvSpPr>
          <p:cNvPr id="165" name="Google Shape;165;p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852"/>
              <a:buNone/>
            </a:pPr>
            <a:r>
              <a:rPr lang="en" sz="1313">
                <a:solidFill>
                  <a:schemeClr val="dk2"/>
                </a:solidFill>
                <a:latin typeface="Arial"/>
                <a:ea typeface="Arial"/>
                <a:cs typeface="Arial"/>
                <a:sym typeface="Arial"/>
              </a:rPr>
              <a:t>function mint(address account, uint256 amount) public onlyOwner {</a:t>
            </a:r>
            <a:endParaRPr sz="1313">
              <a:solidFill>
                <a:schemeClr val="dk2"/>
              </a:solidFill>
              <a:latin typeface="Arial"/>
              <a:ea typeface="Arial"/>
              <a:cs typeface="Arial"/>
              <a:sym typeface="Arial"/>
            </a:endParaRPr>
          </a:p>
          <a:p>
            <a:pPr marL="0" lvl="0" indent="0" algn="l" rtl="0">
              <a:lnSpc>
                <a:spcPct val="95000"/>
              </a:lnSpc>
              <a:spcBef>
                <a:spcPts val="1200"/>
              </a:spcBef>
              <a:spcAft>
                <a:spcPts val="0"/>
              </a:spcAft>
              <a:buSzPts val="852"/>
              <a:buNone/>
            </a:pPr>
            <a:r>
              <a:rPr lang="en" sz="1313">
                <a:solidFill>
                  <a:schemeClr val="dk2"/>
                </a:solidFill>
                <a:latin typeface="Arial"/>
                <a:ea typeface="Arial"/>
                <a:cs typeface="Arial"/>
                <a:sym typeface="Arial"/>
              </a:rPr>
              <a:t>        require(account != address(0), "ERC20: Mint to the zero address");</a:t>
            </a:r>
            <a:endParaRPr sz="1313">
              <a:solidFill>
                <a:schemeClr val="dk2"/>
              </a:solidFill>
              <a:latin typeface="Arial"/>
              <a:ea typeface="Arial"/>
              <a:cs typeface="Arial"/>
              <a:sym typeface="Arial"/>
            </a:endParaRPr>
          </a:p>
          <a:p>
            <a:pPr marL="0" lvl="0" indent="0" algn="l" rtl="0">
              <a:lnSpc>
                <a:spcPct val="95000"/>
              </a:lnSpc>
              <a:spcBef>
                <a:spcPts val="1200"/>
              </a:spcBef>
              <a:spcAft>
                <a:spcPts val="0"/>
              </a:spcAft>
              <a:buSzPts val="852"/>
              <a:buNone/>
            </a:pPr>
            <a:r>
              <a:rPr lang="en" sz="1313">
                <a:solidFill>
                  <a:schemeClr val="dk2"/>
                </a:solidFill>
                <a:latin typeface="Arial"/>
                <a:ea typeface="Arial"/>
                <a:cs typeface="Arial"/>
                <a:sym typeface="Arial"/>
              </a:rPr>
              <a:t>        </a:t>
            </a:r>
            <a:endParaRPr sz="1313">
              <a:solidFill>
                <a:schemeClr val="dk2"/>
              </a:solidFill>
              <a:latin typeface="Arial"/>
              <a:ea typeface="Arial"/>
              <a:cs typeface="Arial"/>
              <a:sym typeface="Arial"/>
            </a:endParaRPr>
          </a:p>
          <a:p>
            <a:pPr marL="0" lvl="0" indent="0" algn="l" rtl="0">
              <a:lnSpc>
                <a:spcPct val="95000"/>
              </a:lnSpc>
              <a:spcBef>
                <a:spcPts val="1200"/>
              </a:spcBef>
              <a:spcAft>
                <a:spcPts val="0"/>
              </a:spcAft>
              <a:buSzPts val="852"/>
              <a:buNone/>
            </a:pPr>
            <a:r>
              <a:rPr lang="en" sz="1313">
                <a:solidFill>
                  <a:schemeClr val="dk2"/>
                </a:solidFill>
                <a:latin typeface="Arial"/>
                <a:ea typeface="Arial"/>
                <a:cs typeface="Arial"/>
                <a:sym typeface="Arial"/>
              </a:rPr>
              <a:t>        _totalSupply += amount;</a:t>
            </a:r>
            <a:endParaRPr sz="1313">
              <a:solidFill>
                <a:schemeClr val="dk2"/>
              </a:solidFill>
              <a:latin typeface="Arial"/>
              <a:ea typeface="Arial"/>
              <a:cs typeface="Arial"/>
              <a:sym typeface="Arial"/>
            </a:endParaRPr>
          </a:p>
          <a:p>
            <a:pPr marL="0" lvl="0" indent="0" algn="l" rtl="0">
              <a:lnSpc>
                <a:spcPct val="95000"/>
              </a:lnSpc>
              <a:spcBef>
                <a:spcPts val="1200"/>
              </a:spcBef>
              <a:spcAft>
                <a:spcPts val="0"/>
              </a:spcAft>
              <a:buSzPts val="852"/>
              <a:buNone/>
            </a:pPr>
            <a:r>
              <a:rPr lang="en" sz="1313">
                <a:solidFill>
                  <a:schemeClr val="dk2"/>
                </a:solidFill>
                <a:latin typeface="Arial"/>
                <a:ea typeface="Arial"/>
                <a:cs typeface="Arial"/>
                <a:sym typeface="Arial"/>
              </a:rPr>
              <a:t>        _balances[account] += amount;</a:t>
            </a:r>
            <a:endParaRPr sz="1313">
              <a:solidFill>
                <a:schemeClr val="dk2"/>
              </a:solidFill>
              <a:latin typeface="Arial"/>
              <a:ea typeface="Arial"/>
              <a:cs typeface="Arial"/>
              <a:sym typeface="Arial"/>
            </a:endParaRPr>
          </a:p>
          <a:p>
            <a:pPr marL="0" lvl="0" indent="0" algn="l" rtl="0">
              <a:lnSpc>
                <a:spcPct val="95000"/>
              </a:lnSpc>
              <a:spcBef>
                <a:spcPts val="1200"/>
              </a:spcBef>
              <a:spcAft>
                <a:spcPts val="0"/>
              </a:spcAft>
              <a:buSzPts val="852"/>
              <a:buNone/>
            </a:pPr>
            <a:endParaRPr sz="1313">
              <a:solidFill>
                <a:schemeClr val="dk2"/>
              </a:solidFill>
              <a:latin typeface="Arial"/>
              <a:ea typeface="Arial"/>
              <a:cs typeface="Arial"/>
              <a:sym typeface="Arial"/>
            </a:endParaRPr>
          </a:p>
          <a:p>
            <a:pPr marL="0" lvl="0" indent="0" algn="l" rtl="0">
              <a:lnSpc>
                <a:spcPct val="95000"/>
              </a:lnSpc>
              <a:spcBef>
                <a:spcPts val="1200"/>
              </a:spcBef>
              <a:spcAft>
                <a:spcPts val="0"/>
              </a:spcAft>
              <a:buSzPts val="852"/>
              <a:buNone/>
            </a:pPr>
            <a:r>
              <a:rPr lang="en" sz="1313">
                <a:solidFill>
                  <a:schemeClr val="dk2"/>
                </a:solidFill>
                <a:latin typeface="Arial"/>
                <a:ea typeface="Arial"/>
                <a:cs typeface="Arial"/>
                <a:sym typeface="Arial"/>
              </a:rPr>
              <a:t>        emit Transfer(address(0), account, amount);</a:t>
            </a:r>
            <a:endParaRPr sz="1313">
              <a:solidFill>
                <a:schemeClr val="dk2"/>
              </a:solidFill>
              <a:latin typeface="Arial"/>
              <a:ea typeface="Arial"/>
              <a:cs typeface="Arial"/>
              <a:sym typeface="Arial"/>
            </a:endParaRPr>
          </a:p>
          <a:p>
            <a:pPr marL="0" lvl="0" indent="0" algn="l" rtl="0">
              <a:lnSpc>
                <a:spcPct val="95000"/>
              </a:lnSpc>
              <a:spcBef>
                <a:spcPts val="1200"/>
              </a:spcBef>
              <a:spcAft>
                <a:spcPts val="1200"/>
              </a:spcAft>
              <a:buSzPts val="852"/>
              <a:buNone/>
            </a:pPr>
            <a:r>
              <a:rPr lang="en" sz="1313">
                <a:solidFill>
                  <a:schemeClr val="dk2"/>
                </a:solidFill>
                <a:latin typeface="Arial"/>
                <a:ea typeface="Arial"/>
                <a:cs typeface="Arial"/>
                <a:sym typeface="Arial"/>
              </a:rPr>
              <a:t>    }</a:t>
            </a:r>
            <a:endParaRPr sz="1507">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644075" y="5361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an ICO</a:t>
            </a:r>
            <a:endParaRPr/>
          </a:p>
        </p:txBody>
      </p:sp>
      <p:sp>
        <p:nvSpPr>
          <p:cNvPr id="171" name="Google Shape;171;p27"/>
          <p:cNvSpPr txBox="1">
            <a:spLocks noGrp="1"/>
          </p:cNvSpPr>
          <p:nvPr>
            <p:ph type="body" idx="1"/>
          </p:nvPr>
        </p:nvSpPr>
        <p:spPr>
          <a:xfrm>
            <a:off x="729450" y="1344575"/>
            <a:ext cx="7688700" cy="37350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 sz="1200">
                <a:solidFill>
                  <a:schemeClr val="dk2"/>
                </a:solidFill>
                <a:latin typeface="Roboto"/>
                <a:ea typeface="Roboto"/>
                <a:cs typeface="Roboto"/>
                <a:sym typeface="Roboto"/>
              </a:rPr>
              <a:t>An Initial Coin Offering (ICO) is a fundraising method used by cryptocurrency and blockchain projects to raise capital for their development and operations. In an ICO, a new cryptocurrency or token is created by the project and offered to the public in exchange for existing cryptocurrencies, typically Bitcoin (BTC) or Ethereum (ETH). Investors participating in the ICO receive the newly created tokens in proportion to their contribution.</a:t>
            </a:r>
            <a:endParaRPr sz="1200">
              <a:solidFill>
                <a:schemeClr val="dk2"/>
              </a:solidFill>
              <a:latin typeface="Roboto"/>
              <a:ea typeface="Roboto"/>
              <a:cs typeface="Roboto"/>
              <a:sym typeface="Roboto"/>
            </a:endParaRPr>
          </a:p>
          <a:p>
            <a:pPr marL="0" lvl="0" indent="0" algn="just" rtl="0">
              <a:lnSpc>
                <a:spcPct val="150000"/>
              </a:lnSpc>
              <a:spcBef>
                <a:spcPts val="1500"/>
              </a:spcBef>
              <a:spcAft>
                <a:spcPts val="0"/>
              </a:spcAft>
              <a:buNone/>
            </a:pPr>
            <a:r>
              <a:rPr lang="en" sz="1200">
                <a:solidFill>
                  <a:schemeClr val="dk2"/>
                </a:solidFill>
                <a:latin typeface="Roboto"/>
                <a:ea typeface="Roboto"/>
                <a:cs typeface="Roboto"/>
                <a:sym typeface="Roboto"/>
              </a:rPr>
              <a:t>The main features of an ICO include:</a:t>
            </a:r>
            <a:endParaRPr sz="1200">
              <a:solidFill>
                <a:schemeClr val="dk2"/>
              </a:solidFill>
              <a:latin typeface="Roboto"/>
              <a:ea typeface="Roboto"/>
              <a:cs typeface="Roboto"/>
              <a:sym typeface="Roboto"/>
            </a:endParaRPr>
          </a:p>
          <a:p>
            <a:pPr marL="457200" lvl="0" indent="-304800" algn="just" rtl="0">
              <a:lnSpc>
                <a:spcPct val="150000"/>
              </a:lnSpc>
              <a:spcBef>
                <a:spcPts val="1500"/>
              </a:spcBef>
              <a:spcAft>
                <a:spcPts val="0"/>
              </a:spcAft>
              <a:buClr>
                <a:schemeClr val="dk2"/>
              </a:buClr>
              <a:buSzPts val="1200"/>
              <a:buFont typeface="Roboto"/>
              <a:buAutoNum type="arabicPeriod"/>
            </a:pPr>
            <a:r>
              <a:rPr lang="en" sz="1200" b="1">
                <a:solidFill>
                  <a:schemeClr val="dk2"/>
                </a:solidFill>
                <a:latin typeface="Roboto"/>
                <a:ea typeface="Roboto"/>
                <a:cs typeface="Roboto"/>
                <a:sym typeface="Roboto"/>
              </a:rPr>
              <a:t>Token Creation: </a:t>
            </a:r>
            <a:r>
              <a:rPr lang="en" sz="1200">
                <a:solidFill>
                  <a:schemeClr val="dk2"/>
                </a:solidFill>
                <a:latin typeface="Roboto"/>
                <a:ea typeface="Roboto"/>
                <a:cs typeface="Roboto"/>
                <a:sym typeface="Roboto"/>
              </a:rPr>
              <a:t>The project creates a new cryptocurrency or token that will be used within its ecosystem. These tokens often have specific use cases, such as granting access to certain features or services.</a:t>
            </a:r>
            <a:endParaRPr sz="1200">
              <a:solidFill>
                <a:schemeClr val="dk2"/>
              </a:solidFill>
              <a:latin typeface="Roboto"/>
              <a:ea typeface="Roboto"/>
              <a:cs typeface="Roboto"/>
              <a:sym typeface="Roboto"/>
            </a:endParaRPr>
          </a:p>
          <a:p>
            <a:pPr marL="457200" lvl="0" indent="-304800" algn="just" rtl="0">
              <a:lnSpc>
                <a:spcPct val="150000"/>
              </a:lnSpc>
              <a:spcBef>
                <a:spcPts val="0"/>
              </a:spcBef>
              <a:spcAft>
                <a:spcPts val="0"/>
              </a:spcAft>
              <a:buClr>
                <a:schemeClr val="dk2"/>
              </a:buClr>
              <a:buSzPts val="1200"/>
              <a:buFont typeface="Roboto"/>
              <a:buAutoNum type="arabicPeriod"/>
            </a:pPr>
            <a:r>
              <a:rPr lang="en" sz="1200" b="1">
                <a:solidFill>
                  <a:schemeClr val="dk2"/>
                </a:solidFill>
                <a:latin typeface="Roboto"/>
                <a:ea typeface="Roboto"/>
                <a:cs typeface="Roboto"/>
                <a:sym typeface="Roboto"/>
              </a:rPr>
              <a:t>Token Sale: </a:t>
            </a:r>
            <a:r>
              <a:rPr lang="en" sz="1200">
                <a:solidFill>
                  <a:schemeClr val="dk2"/>
                </a:solidFill>
                <a:latin typeface="Roboto"/>
                <a:ea typeface="Roboto"/>
                <a:cs typeface="Roboto"/>
                <a:sym typeface="Roboto"/>
              </a:rPr>
              <a:t>The project sets a specific duration for the ICO during which contributors can send their cryptocurrencies (usually BTC or ETH) in exchange for the newly created tokens. The tokens' value is usually tied to the success and potential of the project.</a:t>
            </a:r>
            <a:endParaRPr sz="1200">
              <a:solidFill>
                <a:schemeClr val="dk2"/>
              </a:solidFill>
              <a:latin typeface="Roboto"/>
              <a:ea typeface="Roboto"/>
              <a:cs typeface="Roboto"/>
              <a:sym typeface="Roboto"/>
            </a:endParaRPr>
          </a:p>
          <a:p>
            <a:pPr marL="0" lvl="0" indent="0" algn="just" rtl="0">
              <a:lnSpc>
                <a:spcPct val="150000"/>
              </a:lnSpc>
              <a:spcBef>
                <a:spcPts val="1500"/>
              </a:spcBef>
              <a:spcAft>
                <a:spcPts val="0"/>
              </a:spcAft>
              <a:buNone/>
            </a:pPr>
            <a:endParaRPr sz="1100">
              <a:solidFill>
                <a:schemeClr val="dk2"/>
              </a:solidFill>
              <a:latin typeface="Arial"/>
              <a:ea typeface="Arial"/>
              <a:cs typeface="Arial"/>
              <a:sym typeface="Arial"/>
            </a:endParaRPr>
          </a:p>
          <a:p>
            <a:pPr marL="0" lvl="0" indent="0" algn="just" rtl="0">
              <a:lnSpc>
                <a:spcPct val="150000"/>
              </a:lnSpc>
              <a:spcBef>
                <a:spcPts val="0"/>
              </a:spcBef>
              <a:spcAft>
                <a:spcPts val="1200"/>
              </a:spcAft>
              <a:buNone/>
            </a:pPr>
            <a:endParaRPr sz="12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body" idx="1"/>
          </p:nvPr>
        </p:nvSpPr>
        <p:spPr>
          <a:xfrm>
            <a:off x="727650" y="1408600"/>
            <a:ext cx="7688700" cy="3678000"/>
          </a:xfrm>
          <a:prstGeom prst="rect">
            <a:avLst/>
          </a:prstGeom>
        </p:spPr>
        <p:txBody>
          <a:bodyPr spcFirstLastPara="1" wrap="square" lIns="91425" tIns="91425" rIns="91425" bIns="91425" anchor="t" anchorCtr="0">
            <a:noAutofit/>
          </a:bodyPr>
          <a:lstStyle/>
          <a:p>
            <a:pPr marL="457200" lvl="0" indent="-311785" algn="just" rtl="0">
              <a:lnSpc>
                <a:spcPct val="130000"/>
              </a:lnSpc>
              <a:spcBef>
                <a:spcPts val="1500"/>
              </a:spcBef>
              <a:spcAft>
                <a:spcPts val="0"/>
              </a:spcAft>
              <a:buClr>
                <a:schemeClr val="dk2"/>
              </a:buClr>
              <a:buSzPts val="1310"/>
              <a:buFont typeface="Roboto"/>
              <a:buChar char="●"/>
            </a:pPr>
            <a:r>
              <a:rPr lang="en" sz="1310" b="1">
                <a:solidFill>
                  <a:schemeClr val="dk2"/>
                </a:solidFill>
                <a:latin typeface="Roboto"/>
                <a:ea typeface="Roboto"/>
                <a:cs typeface="Roboto"/>
                <a:sym typeface="Roboto"/>
              </a:rPr>
              <a:t>Whitepaper: </a:t>
            </a:r>
            <a:endParaRPr sz="1310" b="1">
              <a:solidFill>
                <a:schemeClr val="dk2"/>
              </a:solidFill>
              <a:latin typeface="Roboto"/>
              <a:ea typeface="Roboto"/>
              <a:cs typeface="Roboto"/>
              <a:sym typeface="Roboto"/>
            </a:endParaRPr>
          </a:p>
          <a:p>
            <a:pPr marL="914400" lvl="1" indent="-311785" algn="just" rtl="0">
              <a:lnSpc>
                <a:spcPct val="130000"/>
              </a:lnSpc>
              <a:spcBef>
                <a:spcPts val="0"/>
              </a:spcBef>
              <a:spcAft>
                <a:spcPts val="0"/>
              </a:spcAft>
              <a:buClr>
                <a:schemeClr val="dk2"/>
              </a:buClr>
              <a:buSzPts val="1310"/>
              <a:buFont typeface="Roboto"/>
              <a:buChar char="○"/>
            </a:pPr>
            <a:r>
              <a:rPr lang="en" sz="1310">
                <a:solidFill>
                  <a:schemeClr val="dk2"/>
                </a:solidFill>
                <a:latin typeface="Roboto"/>
                <a:ea typeface="Roboto"/>
                <a:cs typeface="Roboto"/>
                <a:sym typeface="Roboto"/>
              </a:rPr>
              <a:t>Before launching an ICO, the project typically publishes a whitepaper that outlines the project's goals, vision, technical details, token use cases, and information about the ICO itself. This document helps potential investors understand the project and its potential.</a:t>
            </a:r>
            <a:endParaRPr sz="1310">
              <a:solidFill>
                <a:schemeClr val="dk2"/>
              </a:solidFill>
              <a:latin typeface="Roboto"/>
              <a:ea typeface="Roboto"/>
              <a:cs typeface="Roboto"/>
              <a:sym typeface="Roboto"/>
            </a:endParaRPr>
          </a:p>
          <a:p>
            <a:pPr marL="457200" lvl="0" indent="-311785" algn="just" rtl="0">
              <a:lnSpc>
                <a:spcPct val="130000"/>
              </a:lnSpc>
              <a:spcBef>
                <a:spcPts val="0"/>
              </a:spcBef>
              <a:spcAft>
                <a:spcPts val="0"/>
              </a:spcAft>
              <a:buClr>
                <a:schemeClr val="dk2"/>
              </a:buClr>
              <a:buSzPts val="1310"/>
              <a:buFont typeface="Roboto"/>
              <a:buChar char="●"/>
            </a:pPr>
            <a:r>
              <a:rPr lang="en" sz="1310" b="1">
                <a:solidFill>
                  <a:schemeClr val="dk2"/>
                </a:solidFill>
                <a:latin typeface="Roboto"/>
                <a:ea typeface="Roboto"/>
                <a:cs typeface="Roboto"/>
                <a:sym typeface="Roboto"/>
              </a:rPr>
              <a:t>Smart Contract: </a:t>
            </a:r>
            <a:endParaRPr sz="1310" b="1">
              <a:solidFill>
                <a:schemeClr val="dk2"/>
              </a:solidFill>
              <a:latin typeface="Roboto"/>
              <a:ea typeface="Roboto"/>
              <a:cs typeface="Roboto"/>
              <a:sym typeface="Roboto"/>
            </a:endParaRPr>
          </a:p>
          <a:p>
            <a:pPr marL="914400" lvl="1" indent="-311785" algn="just" rtl="0">
              <a:lnSpc>
                <a:spcPct val="130000"/>
              </a:lnSpc>
              <a:spcBef>
                <a:spcPts val="0"/>
              </a:spcBef>
              <a:spcAft>
                <a:spcPts val="0"/>
              </a:spcAft>
              <a:buClr>
                <a:schemeClr val="dk2"/>
              </a:buClr>
              <a:buSzPts val="1310"/>
              <a:buFont typeface="Roboto"/>
              <a:buChar char="○"/>
            </a:pPr>
            <a:r>
              <a:rPr lang="en" sz="1310">
                <a:solidFill>
                  <a:schemeClr val="dk2"/>
                </a:solidFill>
                <a:latin typeface="Roboto"/>
                <a:ea typeface="Roboto"/>
                <a:cs typeface="Roboto"/>
                <a:sym typeface="Roboto"/>
              </a:rPr>
              <a:t>An ICO is often facilitated through a smart contract deployed on a blockchain platform like Ethereum. The smart contract handles the distribution of tokens to investors and ensures transparency in the process.</a:t>
            </a:r>
            <a:endParaRPr sz="1310">
              <a:solidFill>
                <a:schemeClr val="dk2"/>
              </a:solidFill>
              <a:latin typeface="Roboto"/>
              <a:ea typeface="Roboto"/>
              <a:cs typeface="Roboto"/>
              <a:sym typeface="Roboto"/>
            </a:endParaRPr>
          </a:p>
          <a:p>
            <a:pPr marL="457200" lvl="0" indent="-311785" algn="just" rtl="0">
              <a:lnSpc>
                <a:spcPct val="130000"/>
              </a:lnSpc>
              <a:spcBef>
                <a:spcPts val="0"/>
              </a:spcBef>
              <a:spcAft>
                <a:spcPts val="0"/>
              </a:spcAft>
              <a:buClr>
                <a:schemeClr val="dk2"/>
              </a:buClr>
              <a:buSzPts val="1310"/>
              <a:buFont typeface="Roboto"/>
              <a:buChar char="●"/>
            </a:pPr>
            <a:r>
              <a:rPr lang="en" sz="1310" b="1">
                <a:solidFill>
                  <a:schemeClr val="dk2"/>
                </a:solidFill>
                <a:latin typeface="Roboto"/>
                <a:ea typeface="Roboto"/>
                <a:cs typeface="Roboto"/>
                <a:sym typeface="Roboto"/>
              </a:rPr>
              <a:t>Token Distribution: </a:t>
            </a:r>
            <a:endParaRPr sz="1310" b="1">
              <a:solidFill>
                <a:schemeClr val="dk2"/>
              </a:solidFill>
              <a:latin typeface="Roboto"/>
              <a:ea typeface="Roboto"/>
              <a:cs typeface="Roboto"/>
              <a:sym typeface="Roboto"/>
            </a:endParaRPr>
          </a:p>
          <a:p>
            <a:pPr marL="914400" lvl="1" indent="-311785" algn="just" rtl="0">
              <a:lnSpc>
                <a:spcPct val="130000"/>
              </a:lnSpc>
              <a:spcBef>
                <a:spcPts val="0"/>
              </a:spcBef>
              <a:spcAft>
                <a:spcPts val="0"/>
              </a:spcAft>
              <a:buClr>
                <a:schemeClr val="dk2"/>
              </a:buClr>
              <a:buSzPts val="1310"/>
              <a:buFont typeface="Roboto"/>
              <a:buChar char="○"/>
            </a:pPr>
            <a:r>
              <a:rPr lang="en" sz="1310">
                <a:solidFill>
                  <a:schemeClr val="dk2"/>
                </a:solidFill>
                <a:latin typeface="Roboto"/>
                <a:ea typeface="Roboto"/>
                <a:cs typeface="Roboto"/>
                <a:sym typeface="Roboto"/>
              </a:rPr>
              <a:t>Once the ICO concludes, the tokens are distributed to the investors' wallets based on the contribution amounts. Investors can hold or trade these tokens on cryptocurrency exchanges.</a:t>
            </a:r>
            <a:endParaRPr sz="1402">
              <a:solidFill>
                <a:schemeClr val="dk2"/>
              </a:solidFill>
            </a:endParaRPr>
          </a:p>
        </p:txBody>
      </p:sp>
      <p:sp>
        <p:nvSpPr>
          <p:cNvPr id="177" name="Google Shape;177;p28"/>
          <p:cNvSpPr txBox="1"/>
          <p:nvPr/>
        </p:nvSpPr>
        <p:spPr>
          <a:xfrm>
            <a:off x="960400" y="412600"/>
            <a:ext cx="4261500" cy="73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b="1">
                <a:solidFill>
                  <a:schemeClr val="dk2"/>
                </a:solidFill>
                <a:latin typeface="Raleway"/>
                <a:ea typeface="Raleway"/>
                <a:cs typeface="Raleway"/>
                <a:sym typeface="Raleway"/>
              </a:rPr>
              <a:t>Features</a:t>
            </a:r>
            <a:endParaRPr>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651200" y="5005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Features:</a:t>
            </a:r>
            <a:endParaRPr/>
          </a:p>
        </p:txBody>
      </p:sp>
      <p:sp>
        <p:nvSpPr>
          <p:cNvPr id="183" name="Google Shape;183;p29"/>
          <p:cNvSpPr txBox="1">
            <a:spLocks noGrp="1"/>
          </p:cNvSpPr>
          <p:nvPr>
            <p:ph type="body" idx="1"/>
          </p:nvPr>
        </p:nvSpPr>
        <p:spPr>
          <a:xfrm>
            <a:off x="729450" y="1358800"/>
            <a:ext cx="7688700" cy="3784800"/>
          </a:xfrm>
          <a:prstGeom prst="rect">
            <a:avLst/>
          </a:prstGeom>
        </p:spPr>
        <p:txBody>
          <a:bodyPr spcFirstLastPara="1" wrap="square" lIns="91425" tIns="91425" rIns="91425" bIns="91425" anchor="t" anchorCtr="0">
            <a:normAutofit lnSpcReduction="20000"/>
          </a:bodyPr>
          <a:lstStyle/>
          <a:p>
            <a:pPr marL="457200" lvl="0" indent="-318135" algn="just" rtl="0">
              <a:lnSpc>
                <a:spcPct val="115000"/>
              </a:lnSpc>
              <a:spcBef>
                <a:spcPts val="1500"/>
              </a:spcBef>
              <a:spcAft>
                <a:spcPts val="0"/>
              </a:spcAft>
              <a:buClr>
                <a:schemeClr val="dk2"/>
              </a:buClr>
              <a:buSzPts val="1410"/>
              <a:buFont typeface="Roboto"/>
              <a:buChar char="●"/>
            </a:pPr>
            <a:r>
              <a:rPr lang="en" sz="1410" b="1">
                <a:solidFill>
                  <a:schemeClr val="dk2"/>
                </a:solidFill>
                <a:latin typeface="Roboto"/>
                <a:ea typeface="Roboto"/>
                <a:cs typeface="Roboto"/>
                <a:sym typeface="Roboto"/>
              </a:rPr>
              <a:t>Funding: </a:t>
            </a:r>
            <a:endParaRPr sz="1410" b="1">
              <a:solidFill>
                <a:schemeClr val="dk2"/>
              </a:solidFill>
              <a:latin typeface="Roboto"/>
              <a:ea typeface="Roboto"/>
              <a:cs typeface="Roboto"/>
              <a:sym typeface="Roboto"/>
            </a:endParaRPr>
          </a:p>
          <a:p>
            <a:pPr marL="457200" lvl="0" indent="0" algn="just" rtl="0">
              <a:lnSpc>
                <a:spcPct val="115000"/>
              </a:lnSpc>
              <a:spcBef>
                <a:spcPts val="1500"/>
              </a:spcBef>
              <a:spcAft>
                <a:spcPts val="0"/>
              </a:spcAft>
              <a:buNone/>
            </a:pPr>
            <a:r>
              <a:rPr lang="en" sz="1410">
                <a:solidFill>
                  <a:schemeClr val="dk2"/>
                </a:solidFill>
                <a:latin typeface="Roboto"/>
                <a:ea typeface="Roboto"/>
                <a:cs typeface="Roboto"/>
                <a:sym typeface="Roboto"/>
              </a:rPr>
              <a:t>The funds raised through the ICO are used to support the development, marketing, and operations of the project. Projects often set a funding goal and a "soft cap" (minimum amount needed) to determine the success of the ICO.</a:t>
            </a:r>
            <a:endParaRPr sz="1410">
              <a:solidFill>
                <a:schemeClr val="dk2"/>
              </a:solidFill>
              <a:latin typeface="Roboto"/>
              <a:ea typeface="Roboto"/>
              <a:cs typeface="Roboto"/>
              <a:sym typeface="Roboto"/>
            </a:endParaRPr>
          </a:p>
          <a:p>
            <a:pPr marL="457200" lvl="0" indent="-318135" algn="just" rtl="0">
              <a:lnSpc>
                <a:spcPct val="115000"/>
              </a:lnSpc>
              <a:spcBef>
                <a:spcPts val="1500"/>
              </a:spcBef>
              <a:spcAft>
                <a:spcPts val="0"/>
              </a:spcAft>
              <a:buClr>
                <a:schemeClr val="dk2"/>
              </a:buClr>
              <a:buSzPts val="1410"/>
              <a:buFont typeface="Roboto"/>
              <a:buChar char="●"/>
            </a:pPr>
            <a:r>
              <a:rPr lang="en" sz="1410" b="1">
                <a:solidFill>
                  <a:schemeClr val="dk2"/>
                </a:solidFill>
                <a:latin typeface="Roboto"/>
                <a:ea typeface="Roboto"/>
                <a:cs typeface="Roboto"/>
                <a:sym typeface="Roboto"/>
              </a:rPr>
              <a:t>Regulation and Compliance: </a:t>
            </a:r>
            <a:endParaRPr sz="1410" b="1">
              <a:solidFill>
                <a:schemeClr val="dk2"/>
              </a:solidFill>
              <a:latin typeface="Roboto"/>
              <a:ea typeface="Roboto"/>
              <a:cs typeface="Roboto"/>
              <a:sym typeface="Roboto"/>
            </a:endParaRPr>
          </a:p>
          <a:p>
            <a:pPr marL="457200" lvl="0" indent="0" algn="just" rtl="0">
              <a:lnSpc>
                <a:spcPct val="115000"/>
              </a:lnSpc>
              <a:spcBef>
                <a:spcPts val="1500"/>
              </a:spcBef>
              <a:spcAft>
                <a:spcPts val="0"/>
              </a:spcAft>
              <a:buNone/>
            </a:pPr>
            <a:r>
              <a:rPr lang="en" sz="1410">
                <a:solidFill>
                  <a:schemeClr val="dk2"/>
                </a:solidFill>
                <a:latin typeface="Roboto"/>
                <a:ea typeface="Roboto"/>
                <a:cs typeface="Roboto"/>
                <a:sym typeface="Roboto"/>
              </a:rPr>
              <a:t>ICOs have faced regulatory scrutiny in various jurisdictions, and the regulatory environment has evolved over time. Some projects conduct ICOs following regulatory guidelines, while others may avoid jurisdictions with stricter regulations.</a:t>
            </a:r>
            <a:endParaRPr sz="1410">
              <a:solidFill>
                <a:schemeClr val="dk2"/>
              </a:solidFill>
              <a:latin typeface="Roboto"/>
              <a:ea typeface="Roboto"/>
              <a:cs typeface="Roboto"/>
              <a:sym typeface="Roboto"/>
            </a:endParaRPr>
          </a:p>
          <a:p>
            <a:pPr marL="457200" lvl="0" indent="-318135" algn="just" rtl="0">
              <a:lnSpc>
                <a:spcPct val="115000"/>
              </a:lnSpc>
              <a:spcBef>
                <a:spcPts val="1500"/>
              </a:spcBef>
              <a:spcAft>
                <a:spcPts val="0"/>
              </a:spcAft>
              <a:buClr>
                <a:schemeClr val="dk2"/>
              </a:buClr>
              <a:buSzPts val="1410"/>
              <a:buFont typeface="Roboto"/>
              <a:buChar char="●"/>
            </a:pPr>
            <a:r>
              <a:rPr lang="en" sz="1410" b="1">
                <a:solidFill>
                  <a:schemeClr val="dk2"/>
                </a:solidFill>
                <a:latin typeface="Roboto"/>
                <a:ea typeface="Roboto"/>
                <a:cs typeface="Roboto"/>
                <a:sym typeface="Roboto"/>
              </a:rPr>
              <a:t>Risk and Reward: </a:t>
            </a:r>
            <a:endParaRPr sz="1410" b="1">
              <a:solidFill>
                <a:schemeClr val="dk2"/>
              </a:solidFill>
              <a:latin typeface="Roboto"/>
              <a:ea typeface="Roboto"/>
              <a:cs typeface="Roboto"/>
              <a:sym typeface="Roboto"/>
            </a:endParaRPr>
          </a:p>
          <a:p>
            <a:pPr marL="457200" lvl="0" indent="0" algn="just" rtl="0">
              <a:lnSpc>
                <a:spcPct val="115000"/>
              </a:lnSpc>
              <a:spcBef>
                <a:spcPts val="1500"/>
              </a:spcBef>
              <a:spcAft>
                <a:spcPts val="1500"/>
              </a:spcAft>
              <a:buNone/>
            </a:pPr>
            <a:r>
              <a:rPr lang="en" sz="1410">
                <a:solidFill>
                  <a:schemeClr val="dk2"/>
                </a:solidFill>
                <a:latin typeface="Roboto"/>
                <a:ea typeface="Roboto"/>
                <a:cs typeface="Roboto"/>
                <a:sym typeface="Roboto"/>
              </a:rPr>
              <a:t>Participating in an ICO carries both potential rewards and risks. Investors may gain significant returns if the project succeeds, but they may also face the risk of losing their investment if the project fails or experiences setbacks.</a:t>
            </a:r>
            <a:endParaRPr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537375" y="5503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Step by Step Process</a:t>
            </a:r>
            <a:endParaRPr/>
          </a:p>
        </p:txBody>
      </p:sp>
      <p:sp>
        <p:nvSpPr>
          <p:cNvPr id="189" name="Google Shape;189;p30"/>
          <p:cNvSpPr txBox="1">
            <a:spLocks noGrp="1"/>
          </p:cNvSpPr>
          <p:nvPr>
            <p:ph type="body" idx="1"/>
          </p:nvPr>
        </p:nvSpPr>
        <p:spPr>
          <a:xfrm>
            <a:off x="727650" y="1558000"/>
            <a:ext cx="7688700" cy="2931300"/>
          </a:xfrm>
          <a:prstGeom prst="rect">
            <a:avLst/>
          </a:prstGeom>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Clr>
                <a:schemeClr val="dk2"/>
              </a:buClr>
              <a:buSzPts val="1200"/>
              <a:buFont typeface="Roboto"/>
              <a:buChar char="●"/>
            </a:pPr>
            <a:r>
              <a:rPr lang="en" sz="1200" b="1">
                <a:solidFill>
                  <a:schemeClr val="dk2"/>
                </a:solidFill>
                <a:latin typeface="Roboto"/>
                <a:ea typeface="Roboto"/>
                <a:cs typeface="Roboto"/>
                <a:sym typeface="Roboto"/>
              </a:rPr>
              <a:t>Import Required Libraries:</a:t>
            </a:r>
            <a:endParaRPr sz="1200" b="1">
              <a:solidFill>
                <a:schemeClr val="dk2"/>
              </a:solidFill>
              <a:latin typeface="Roboto"/>
              <a:ea typeface="Roboto"/>
              <a:cs typeface="Roboto"/>
              <a:sym typeface="Roboto"/>
            </a:endParaRPr>
          </a:p>
          <a:p>
            <a:pPr marL="914400" lvl="1" indent="-304800" algn="l" rtl="0">
              <a:lnSpc>
                <a:spcPct val="150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Begin by importing the necessary libraries:</a:t>
            </a:r>
            <a:endParaRPr sz="1200">
              <a:solidFill>
                <a:schemeClr val="dk2"/>
              </a:solidFill>
              <a:latin typeface="Roboto"/>
              <a:ea typeface="Roboto"/>
              <a:cs typeface="Roboto"/>
              <a:sym typeface="Roboto"/>
            </a:endParaRPr>
          </a:p>
          <a:p>
            <a:pPr marL="1371600" lvl="2" indent="-298450" algn="l" rtl="0">
              <a:lnSpc>
                <a:spcPct val="150000"/>
              </a:lnSpc>
              <a:spcBef>
                <a:spcPts val="0"/>
              </a:spcBef>
              <a:spcAft>
                <a:spcPts val="0"/>
              </a:spcAft>
              <a:buClr>
                <a:schemeClr val="dk2"/>
              </a:buClr>
              <a:buSzPts val="1100"/>
              <a:buChar char="■"/>
            </a:pPr>
            <a:r>
              <a:rPr lang="en" sz="1050">
                <a:solidFill>
                  <a:schemeClr val="dk2"/>
                </a:solidFill>
                <a:latin typeface="Courier New"/>
                <a:ea typeface="Courier New"/>
                <a:cs typeface="Courier New"/>
                <a:sym typeface="Courier New"/>
              </a:rPr>
              <a:t>IERC20</a:t>
            </a:r>
            <a:r>
              <a:rPr lang="en" sz="1200">
                <a:solidFill>
                  <a:schemeClr val="dk2"/>
                </a:solidFill>
                <a:latin typeface="Roboto"/>
                <a:ea typeface="Roboto"/>
                <a:cs typeface="Roboto"/>
                <a:sym typeface="Roboto"/>
              </a:rPr>
              <a:t> from OpenZeppelin for the ERC-20 token interface.- or</a:t>
            </a:r>
            <a:endParaRPr sz="1200">
              <a:solidFill>
                <a:schemeClr val="dk2"/>
              </a:solidFill>
              <a:latin typeface="Roboto"/>
              <a:ea typeface="Roboto"/>
              <a:cs typeface="Roboto"/>
              <a:sym typeface="Roboto"/>
            </a:endParaRPr>
          </a:p>
          <a:p>
            <a:pPr marL="1371600" lvl="2" indent="-304800" algn="l" rtl="0">
              <a:lnSpc>
                <a:spcPct val="150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Import “./IERC20”;</a:t>
            </a:r>
            <a:endParaRPr sz="1200">
              <a:solidFill>
                <a:schemeClr val="dk2"/>
              </a:solidFill>
              <a:latin typeface="Roboto"/>
              <a:ea typeface="Roboto"/>
              <a:cs typeface="Roboto"/>
              <a:sym typeface="Roboto"/>
            </a:endParaRPr>
          </a:p>
          <a:p>
            <a:pPr marL="457200" lvl="0" indent="-304800" algn="l" rtl="0">
              <a:lnSpc>
                <a:spcPct val="150000"/>
              </a:lnSpc>
              <a:spcBef>
                <a:spcPts val="0"/>
              </a:spcBef>
              <a:spcAft>
                <a:spcPts val="0"/>
              </a:spcAft>
              <a:buClr>
                <a:schemeClr val="dk2"/>
              </a:buClr>
              <a:buSzPts val="1200"/>
              <a:buFont typeface="Roboto"/>
              <a:buChar char="●"/>
            </a:pPr>
            <a:r>
              <a:rPr lang="en" sz="1200" b="1">
                <a:solidFill>
                  <a:schemeClr val="dk2"/>
                </a:solidFill>
                <a:latin typeface="Roboto"/>
                <a:ea typeface="Roboto"/>
                <a:cs typeface="Roboto"/>
                <a:sym typeface="Roboto"/>
              </a:rPr>
              <a:t>Contract Initialize</a:t>
            </a:r>
            <a:endParaRPr sz="1200">
              <a:solidFill>
                <a:schemeClr val="dk2"/>
              </a:solidFill>
              <a:latin typeface="Roboto"/>
              <a:ea typeface="Roboto"/>
              <a:cs typeface="Roboto"/>
              <a:sym typeface="Roboto"/>
            </a:endParaRPr>
          </a:p>
          <a:p>
            <a:pPr marL="457200" lvl="0" indent="0" algn="l" rtl="0">
              <a:lnSpc>
                <a:spcPct val="150000"/>
              </a:lnSpc>
              <a:spcBef>
                <a:spcPts val="0"/>
              </a:spcBef>
              <a:spcAft>
                <a:spcPts val="0"/>
              </a:spcAft>
              <a:buNone/>
            </a:pPr>
            <a:r>
              <a:rPr lang="en">
                <a:solidFill>
                  <a:schemeClr val="dk2"/>
                </a:solidFill>
              </a:rPr>
              <a:t>contract ICO {</a:t>
            </a:r>
            <a:endParaRPr>
              <a:solidFill>
                <a:schemeClr val="dk2"/>
              </a:solidFill>
            </a:endParaRPr>
          </a:p>
          <a:p>
            <a:pPr marL="457200" lvl="0" indent="0" algn="l" rtl="0">
              <a:lnSpc>
                <a:spcPct val="150000"/>
              </a:lnSpc>
              <a:spcBef>
                <a:spcPts val="1200"/>
              </a:spcBef>
              <a:spcAft>
                <a:spcPts val="0"/>
              </a:spcAft>
              <a:buNone/>
            </a:pPr>
            <a:r>
              <a:rPr lang="en">
                <a:solidFill>
                  <a:schemeClr val="dk2"/>
                </a:solidFill>
              </a:rPr>
              <a:t>   // Contract state variables and events will go here</a:t>
            </a:r>
            <a:endParaRPr>
              <a:solidFill>
                <a:schemeClr val="dk2"/>
              </a:solidFill>
            </a:endParaRPr>
          </a:p>
          <a:p>
            <a:pPr marL="457200" lvl="0" indent="0" algn="l" rtl="0">
              <a:lnSpc>
                <a:spcPct val="150000"/>
              </a:lnSpc>
              <a:spcBef>
                <a:spcPts val="1200"/>
              </a:spcBef>
              <a:spcAft>
                <a:spcPts val="1200"/>
              </a:spcAft>
              <a:buNone/>
            </a:pPr>
            <a:r>
              <a:rPr lang="en">
                <a:solidFill>
                  <a:schemeClr val="dk2"/>
                </a:solidFill>
              </a:rPr>
              <a:t>}</a:t>
            </a:r>
            <a:endParaRPr>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p:nvPr>
        </p:nvSpPr>
        <p:spPr>
          <a:xfrm>
            <a:off x="651200" y="543225"/>
            <a:ext cx="7688700" cy="5352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1866">
                <a:latin typeface="Roboto"/>
                <a:ea typeface="Roboto"/>
                <a:cs typeface="Roboto"/>
                <a:sym typeface="Roboto"/>
              </a:rPr>
              <a:t>Declare State Variables:</a:t>
            </a:r>
            <a:endParaRPr sz="1866">
              <a:latin typeface="Roboto"/>
              <a:ea typeface="Roboto"/>
              <a:cs typeface="Roboto"/>
              <a:sym typeface="Roboto"/>
            </a:endParaRPr>
          </a:p>
          <a:p>
            <a:pPr marL="0" lvl="0" indent="0" algn="l" rtl="0">
              <a:lnSpc>
                <a:spcPct val="115000"/>
              </a:lnSpc>
              <a:spcBef>
                <a:spcPts val="0"/>
              </a:spcBef>
              <a:spcAft>
                <a:spcPts val="0"/>
              </a:spcAft>
              <a:buNone/>
            </a:pPr>
            <a:endParaRPr sz="1100" b="0">
              <a:solidFill>
                <a:srgbClr val="000000"/>
              </a:solidFill>
              <a:latin typeface="Arial"/>
              <a:ea typeface="Arial"/>
              <a:cs typeface="Arial"/>
              <a:sym typeface="Arial"/>
            </a:endParaRPr>
          </a:p>
          <a:p>
            <a:pPr marL="0" lvl="0" indent="0" algn="l" rtl="0">
              <a:spcBef>
                <a:spcPts val="0"/>
              </a:spcBef>
              <a:spcAft>
                <a:spcPts val="0"/>
              </a:spcAft>
              <a:buNone/>
            </a:pPr>
            <a:endParaRPr/>
          </a:p>
        </p:txBody>
      </p:sp>
      <p:sp>
        <p:nvSpPr>
          <p:cNvPr id="195" name="Google Shape;195;p31"/>
          <p:cNvSpPr txBox="1">
            <a:spLocks noGrp="1"/>
          </p:cNvSpPr>
          <p:nvPr>
            <p:ph type="body" idx="1"/>
          </p:nvPr>
        </p:nvSpPr>
        <p:spPr>
          <a:xfrm>
            <a:off x="729450" y="1373025"/>
            <a:ext cx="7688700" cy="2967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500">
                <a:solidFill>
                  <a:schemeClr val="dk2"/>
                </a:solidFill>
                <a:latin typeface="Arial"/>
                <a:ea typeface="Arial"/>
                <a:cs typeface="Arial"/>
                <a:sym typeface="Arial"/>
              </a:rPr>
              <a:t>Declare the following state variables within the contract:</a:t>
            </a:r>
            <a:endParaRPr sz="1500">
              <a:solidFill>
                <a:schemeClr val="dk2"/>
              </a:solidFill>
              <a:latin typeface="Arial"/>
              <a:ea typeface="Arial"/>
              <a:cs typeface="Arial"/>
              <a:sym typeface="Arial"/>
            </a:endParaRPr>
          </a:p>
          <a:p>
            <a:pPr marL="457200" lvl="0" indent="-304800" algn="l" rtl="0">
              <a:lnSpc>
                <a:spcPct val="150000"/>
              </a:lnSpc>
              <a:spcBef>
                <a:spcPts val="0"/>
              </a:spcBef>
              <a:spcAft>
                <a:spcPts val="0"/>
              </a:spcAft>
              <a:buClr>
                <a:schemeClr val="dk2"/>
              </a:buClr>
              <a:buSzPts val="1200"/>
              <a:buFont typeface="Roboto"/>
              <a:buChar char="●"/>
            </a:pPr>
            <a:r>
              <a:rPr lang="en" sz="1350">
                <a:solidFill>
                  <a:schemeClr val="dk2"/>
                </a:solidFill>
                <a:latin typeface="Arial"/>
                <a:ea typeface="Arial"/>
                <a:cs typeface="Arial"/>
                <a:sym typeface="Arial"/>
              </a:rPr>
              <a:t>IERC20 public token</a:t>
            </a:r>
            <a:r>
              <a:rPr lang="en" sz="1500">
                <a:solidFill>
                  <a:schemeClr val="dk2"/>
                </a:solidFill>
                <a:latin typeface="Arial"/>
                <a:ea typeface="Arial"/>
                <a:cs typeface="Arial"/>
                <a:sym typeface="Arial"/>
              </a:rPr>
              <a:t> to represent the ERC-20 token being sold.</a:t>
            </a:r>
            <a:endParaRPr sz="1500">
              <a:solidFill>
                <a:schemeClr val="dk2"/>
              </a:solidFill>
              <a:latin typeface="Arial"/>
              <a:ea typeface="Arial"/>
              <a:cs typeface="Arial"/>
              <a:sym typeface="Arial"/>
            </a:endParaRPr>
          </a:p>
          <a:p>
            <a:pPr marL="457200" lvl="0" indent="-304800" algn="l" rtl="0">
              <a:lnSpc>
                <a:spcPct val="150000"/>
              </a:lnSpc>
              <a:spcBef>
                <a:spcPts val="0"/>
              </a:spcBef>
              <a:spcAft>
                <a:spcPts val="0"/>
              </a:spcAft>
              <a:buClr>
                <a:schemeClr val="dk2"/>
              </a:buClr>
              <a:buSzPts val="1200"/>
              <a:buFont typeface="Roboto"/>
              <a:buChar char="●"/>
            </a:pPr>
            <a:r>
              <a:rPr lang="en" sz="1350">
                <a:solidFill>
                  <a:schemeClr val="dk2"/>
                </a:solidFill>
                <a:latin typeface="Arial"/>
                <a:ea typeface="Arial"/>
                <a:cs typeface="Arial"/>
                <a:sym typeface="Arial"/>
              </a:rPr>
              <a:t>uint256 public tokenPrice</a:t>
            </a:r>
            <a:r>
              <a:rPr lang="en" sz="1500">
                <a:solidFill>
                  <a:schemeClr val="dk2"/>
                </a:solidFill>
                <a:latin typeface="Arial"/>
                <a:ea typeface="Arial"/>
                <a:cs typeface="Arial"/>
                <a:sym typeface="Arial"/>
              </a:rPr>
              <a:t> for the price of one token in wei.</a:t>
            </a:r>
            <a:endParaRPr sz="1500">
              <a:solidFill>
                <a:schemeClr val="dk2"/>
              </a:solidFill>
              <a:latin typeface="Arial"/>
              <a:ea typeface="Arial"/>
              <a:cs typeface="Arial"/>
              <a:sym typeface="Arial"/>
            </a:endParaRPr>
          </a:p>
          <a:p>
            <a:pPr marL="457200" lvl="0" indent="-304800" algn="l" rtl="0">
              <a:lnSpc>
                <a:spcPct val="150000"/>
              </a:lnSpc>
              <a:spcBef>
                <a:spcPts val="0"/>
              </a:spcBef>
              <a:spcAft>
                <a:spcPts val="0"/>
              </a:spcAft>
              <a:buClr>
                <a:schemeClr val="dk2"/>
              </a:buClr>
              <a:buSzPts val="1200"/>
              <a:buFont typeface="Roboto"/>
              <a:buChar char="●"/>
            </a:pPr>
            <a:r>
              <a:rPr lang="en" sz="1350">
                <a:solidFill>
                  <a:schemeClr val="dk2"/>
                </a:solidFill>
                <a:latin typeface="Arial"/>
                <a:ea typeface="Arial"/>
                <a:cs typeface="Arial"/>
                <a:sym typeface="Arial"/>
              </a:rPr>
              <a:t>uint256 public tokensSold</a:t>
            </a:r>
            <a:r>
              <a:rPr lang="en" sz="1500">
                <a:solidFill>
                  <a:schemeClr val="dk2"/>
                </a:solidFill>
                <a:latin typeface="Arial"/>
                <a:ea typeface="Arial"/>
                <a:cs typeface="Arial"/>
                <a:sym typeface="Arial"/>
              </a:rPr>
              <a:t> to keep track of tokens sold.</a:t>
            </a:r>
            <a:endParaRPr sz="1500">
              <a:solidFill>
                <a:schemeClr val="dk2"/>
              </a:solidFill>
              <a:latin typeface="Arial"/>
              <a:ea typeface="Arial"/>
              <a:cs typeface="Arial"/>
              <a:sym typeface="Arial"/>
            </a:endParaRPr>
          </a:p>
          <a:p>
            <a:pPr marL="457200" lvl="0" indent="-304800" algn="l" rtl="0">
              <a:lnSpc>
                <a:spcPct val="150000"/>
              </a:lnSpc>
              <a:spcBef>
                <a:spcPts val="0"/>
              </a:spcBef>
              <a:spcAft>
                <a:spcPts val="0"/>
              </a:spcAft>
              <a:buClr>
                <a:schemeClr val="dk2"/>
              </a:buClr>
              <a:buSzPts val="1200"/>
              <a:buFont typeface="Roboto"/>
              <a:buChar char="●"/>
            </a:pPr>
            <a:r>
              <a:rPr lang="en" sz="1350">
                <a:solidFill>
                  <a:schemeClr val="dk2"/>
                </a:solidFill>
                <a:latin typeface="Arial"/>
                <a:ea typeface="Arial"/>
                <a:cs typeface="Arial"/>
                <a:sym typeface="Arial"/>
              </a:rPr>
              <a:t>address[] private contributors</a:t>
            </a:r>
            <a:r>
              <a:rPr lang="en" sz="1500">
                <a:solidFill>
                  <a:schemeClr val="dk2"/>
                </a:solidFill>
                <a:latin typeface="Arial"/>
                <a:ea typeface="Arial"/>
                <a:cs typeface="Arial"/>
                <a:sym typeface="Arial"/>
              </a:rPr>
              <a:t> to store addresses of contributors</a:t>
            </a:r>
            <a:endParaRPr sz="1500">
              <a:solidFill>
                <a:schemeClr val="dk2"/>
              </a:solidFill>
              <a:latin typeface="Arial"/>
              <a:ea typeface="Arial"/>
              <a:cs typeface="Arial"/>
              <a:sym typeface="Arial"/>
            </a:endParaRPr>
          </a:p>
          <a:p>
            <a:pPr marL="457200" lvl="0" indent="0" algn="l" rtl="0">
              <a:lnSpc>
                <a:spcPct val="150000"/>
              </a:lnSpc>
              <a:spcBef>
                <a:spcPts val="0"/>
              </a:spcBef>
              <a:spcAft>
                <a:spcPts val="0"/>
              </a:spcAft>
              <a:buNone/>
            </a:pPr>
            <a:r>
              <a:rPr lang="en" sz="1500" b="1">
                <a:solidFill>
                  <a:schemeClr val="dk2"/>
                </a:solidFill>
                <a:latin typeface="Arial"/>
                <a:ea typeface="Arial"/>
                <a:cs typeface="Arial"/>
                <a:sym typeface="Arial"/>
              </a:rPr>
              <a:t>IERC20 public token;</a:t>
            </a:r>
            <a:endParaRPr sz="1500" b="1">
              <a:solidFill>
                <a:schemeClr val="dk2"/>
              </a:solidFill>
              <a:latin typeface="Arial"/>
              <a:ea typeface="Arial"/>
              <a:cs typeface="Arial"/>
              <a:sym typeface="Arial"/>
            </a:endParaRPr>
          </a:p>
          <a:p>
            <a:pPr marL="457200" lvl="0" indent="0" algn="l" rtl="0">
              <a:lnSpc>
                <a:spcPct val="150000"/>
              </a:lnSpc>
              <a:spcBef>
                <a:spcPts val="0"/>
              </a:spcBef>
              <a:spcAft>
                <a:spcPts val="0"/>
              </a:spcAft>
              <a:buNone/>
            </a:pPr>
            <a:r>
              <a:rPr lang="en" sz="1500" b="1">
                <a:solidFill>
                  <a:schemeClr val="dk2"/>
                </a:solidFill>
                <a:latin typeface="Arial"/>
                <a:ea typeface="Arial"/>
                <a:cs typeface="Arial"/>
                <a:sym typeface="Arial"/>
              </a:rPr>
              <a:t>uint256 public tokenPrice;</a:t>
            </a:r>
            <a:endParaRPr sz="1500" b="1">
              <a:solidFill>
                <a:schemeClr val="dk2"/>
              </a:solidFill>
              <a:latin typeface="Arial"/>
              <a:ea typeface="Arial"/>
              <a:cs typeface="Arial"/>
              <a:sym typeface="Arial"/>
            </a:endParaRPr>
          </a:p>
          <a:p>
            <a:pPr marL="457200" lvl="0" indent="0" algn="l" rtl="0">
              <a:lnSpc>
                <a:spcPct val="150000"/>
              </a:lnSpc>
              <a:spcBef>
                <a:spcPts val="0"/>
              </a:spcBef>
              <a:spcAft>
                <a:spcPts val="0"/>
              </a:spcAft>
              <a:buNone/>
            </a:pPr>
            <a:r>
              <a:rPr lang="en" sz="1500" b="1">
                <a:solidFill>
                  <a:schemeClr val="dk2"/>
                </a:solidFill>
                <a:latin typeface="Arial"/>
                <a:ea typeface="Arial"/>
                <a:cs typeface="Arial"/>
                <a:sym typeface="Arial"/>
              </a:rPr>
              <a:t>uint256 public tokensSold;</a:t>
            </a:r>
            <a:endParaRPr sz="1500" b="1">
              <a:solidFill>
                <a:schemeClr val="dk2"/>
              </a:solidFill>
              <a:latin typeface="Arial"/>
              <a:ea typeface="Arial"/>
              <a:cs typeface="Arial"/>
              <a:sym typeface="Arial"/>
            </a:endParaRPr>
          </a:p>
          <a:p>
            <a:pPr marL="457200" lvl="0" indent="0" algn="l" rtl="0">
              <a:lnSpc>
                <a:spcPct val="150000"/>
              </a:lnSpc>
              <a:spcBef>
                <a:spcPts val="0"/>
              </a:spcBef>
              <a:spcAft>
                <a:spcPts val="0"/>
              </a:spcAft>
              <a:buNone/>
            </a:pPr>
            <a:r>
              <a:rPr lang="en" sz="1500" b="1">
                <a:solidFill>
                  <a:schemeClr val="dk2"/>
                </a:solidFill>
                <a:latin typeface="Arial"/>
                <a:ea typeface="Arial"/>
                <a:cs typeface="Arial"/>
                <a:sym typeface="Arial"/>
              </a:rPr>
              <a:t>address[] private contributors;</a:t>
            </a:r>
            <a:endParaRPr sz="1500" b="1">
              <a:solidFill>
                <a:schemeClr val="dk2"/>
              </a:solidFill>
              <a:latin typeface="Arial"/>
              <a:ea typeface="Arial"/>
              <a:cs typeface="Arial"/>
              <a:sym typeface="Arial"/>
            </a:endParaRPr>
          </a:p>
          <a:p>
            <a:pPr marL="457200" lvl="0" indent="0" algn="l" rtl="0">
              <a:lnSpc>
                <a:spcPct val="150000"/>
              </a:lnSpc>
              <a:spcBef>
                <a:spcPts val="0"/>
              </a:spcBef>
              <a:spcAft>
                <a:spcPts val="0"/>
              </a:spcAft>
              <a:buNone/>
            </a:pPr>
            <a:endParaRPr sz="1500">
              <a:solidFill>
                <a:schemeClr val="dk2"/>
              </a:solidFill>
              <a:latin typeface="Arial"/>
              <a:ea typeface="Arial"/>
              <a:cs typeface="Arial"/>
              <a:sym typeface="Arial"/>
            </a:endParaRPr>
          </a:p>
          <a:p>
            <a:pPr marL="0" lvl="0" indent="0" algn="l" rtl="0">
              <a:lnSpc>
                <a:spcPct val="150000"/>
              </a:lnSpc>
              <a:spcBef>
                <a:spcPts val="0"/>
              </a:spcBef>
              <a:spcAft>
                <a:spcPts val="1200"/>
              </a:spcAft>
              <a:buNone/>
            </a:pPr>
            <a:endParaRPr sz="1600">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Create constructor</a:t>
            </a:r>
            <a:endParaRPr/>
          </a:p>
        </p:txBody>
      </p:sp>
      <p:sp>
        <p:nvSpPr>
          <p:cNvPr id="201" name="Google Shape;201;p3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lnSpc>
                <a:spcPct val="140000"/>
              </a:lnSpc>
              <a:spcBef>
                <a:spcPts val="0"/>
              </a:spcBef>
              <a:spcAft>
                <a:spcPts val="0"/>
              </a:spcAft>
              <a:buSzPts val="1018"/>
              <a:buNone/>
            </a:pPr>
            <a:r>
              <a:rPr lang="en" sz="1510">
                <a:solidFill>
                  <a:schemeClr val="dk2"/>
                </a:solidFill>
                <a:latin typeface="Arial"/>
                <a:ea typeface="Arial"/>
                <a:cs typeface="Arial"/>
                <a:sym typeface="Arial"/>
              </a:rPr>
              <a:t>Write the constructor that takes </a:t>
            </a:r>
            <a:r>
              <a:rPr lang="en" sz="1371">
                <a:solidFill>
                  <a:schemeClr val="dk2"/>
                </a:solidFill>
                <a:latin typeface="Arial"/>
                <a:ea typeface="Arial"/>
                <a:cs typeface="Arial"/>
                <a:sym typeface="Arial"/>
              </a:rPr>
              <a:t>_tokenAddress</a:t>
            </a:r>
            <a:r>
              <a:rPr lang="en" sz="1510">
                <a:solidFill>
                  <a:schemeClr val="dk2"/>
                </a:solidFill>
                <a:latin typeface="Arial"/>
                <a:ea typeface="Arial"/>
                <a:cs typeface="Arial"/>
                <a:sym typeface="Arial"/>
              </a:rPr>
              <a:t> and </a:t>
            </a:r>
            <a:r>
              <a:rPr lang="en" sz="1371">
                <a:solidFill>
                  <a:schemeClr val="dk2"/>
                </a:solidFill>
                <a:latin typeface="Arial"/>
                <a:ea typeface="Arial"/>
                <a:cs typeface="Arial"/>
                <a:sym typeface="Arial"/>
              </a:rPr>
              <a:t>_initialTokenPrice</a:t>
            </a:r>
            <a:r>
              <a:rPr lang="en" sz="1510">
                <a:solidFill>
                  <a:schemeClr val="dk2"/>
                </a:solidFill>
                <a:latin typeface="Arial"/>
                <a:ea typeface="Arial"/>
                <a:cs typeface="Arial"/>
                <a:sym typeface="Arial"/>
              </a:rPr>
              <a:t> as parameters to initialize the contract:</a:t>
            </a:r>
            <a:endParaRPr sz="1510">
              <a:solidFill>
                <a:schemeClr val="dk2"/>
              </a:solidFill>
              <a:latin typeface="Arial"/>
              <a:ea typeface="Arial"/>
              <a:cs typeface="Arial"/>
              <a:sym typeface="Arial"/>
            </a:endParaRPr>
          </a:p>
          <a:p>
            <a:pPr marL="0" lvl="0" indent="0" algn="l" rtl="0">
              <a:lnSpc>
                <a:spcPct val="140000"/>
              </a:lnSpc>
              <a:spcBef>
                <a:spcPts val="0"/>
              </a:spcBef>
              <a:spcAft>
                <a:spcPts val="0"/>
              </a:spcAft>
              <a:buSzPts val="1018"/>
              <a:buNone/>
            </a:pPr>
            <a:endParaRPr sz="1510">
              <a:solidFill>
                <a:schemeClr val="dk2"/>
              </a:solidFill>
              <a:latin typeface="Arial"/>
              <a:ea typeface="Arial"/>
              <a:cs typeface="Arial"/>
              <a:sym typeface="Arial"/>
            </a:endParaRPr>
          </a:p>
          <a:p>
            <a:pPr marL="0" lvl="0" indent="0" algn="l" rtl="0">
              <a:lnSpc>
                <a:spcPct val="140000"/>
              </a:lnSpc>
              <a:spcBef>
                <a:spcPts val="0"/>
              </a:spcBef>
              <a:spcAft>
                <a:spcPts val="0"/>
              </a:spcAft>
              <a:buSzPts val="1018"/>
              <a:buNone/>
            </a:pPr>
            <a:r>
              <a:rPr lang="en" sz="1510" b="1">
                <a:solidFill>
                  <a:schemeClr val="dk2"/>
                </a:solidFill>
                <a:latin typeface="Arial"/>
                <a:ea typeface="Arial"/>
                <a:cs typeface="Arial"/>
                <a:sym typeface="Arial"/>
              </a:rPr>
              <a:t>constructor(address _tokenAddress, uint256 _initialTokenPrice) {</a:t>
            </a:r>
            <a:endParaRPr sz="1510" b="1">
              <a:solidFill>
                <a:schemeClr val="dk2"/>
              </a:solidFill>
              <a:latin typeface="Arial"/>
              <a:ea typeface="Arial"/>
              <a:cs typeface="Arial"/>
              <a:sym typeface="Arial"/>
            </a:endParaRPr>
          </a:p>
          <a:p>
            <a:pPr marL="0" lvl="0" indent="0" algn="l" rtl="0">
              <a:lnSpc>
                <a:spcPct val="140000"/>
              </a:lnSpc>
              <a:spcBef>
                <a:spcPts val="0"/>
              </a:spcBef>
              <a:spcAft>
                <a:spcPts val="0"/>
              </a:spcAft>
              <a:buSzPts val="1018"/>
              <a:buNone/>
            </a:pPr>
            <a:r>
              <a:rPr lang="en" sz="1510" b="1">
                <a:solidFill>
                  <a:schemeClr val="dk2"/>
                </a:solidFill>
                <a:latin typeface="Arial"/>
                <a:ea typeface="Arial"/>
                <a:cs typeface="Arial"/>
                <a:sym typeface="Arial"/>
              </a:rPr>
              <a:t>    token = IERC20(_tokenAddress);</a:t>
            </a:r>
            <a:endParaRPr sz="1510" b="1">
              <a:solidFill>
                <a:schemeClr val="dk2"/>
              </a:solidFill>
              <a:latin typeface="Arial"/>
              <a:ea typeface="Arial"/>
              <a:cs typeface="Arial"/>
              <a:sym typeface="Arial"/>
            </a:endParaRPr>
          </a:p>
          <a:p>
            <a:pPr marL="0" lvl="0" indent="0" algn="l" rtl="0">
              <a:lnSpc>
                <a:spcPct val="140000"/>
              </a:lnSpc>
              <a:spcBef>
                <a:spcPts val="0"/>
              </a:spcBef>
              <a:spcAft>
                <a:spcPts val="0"/>
              </a:spcAft>
              <a:buSzPts val="1018"/>
              <a:buNone/>
            </a:pPr>
            <a:r>
              <a:rPr lang="en" sz="1510" b="1">
                <a:solidFill>
                  <a:schemeClr val="dk2"/>
                </a:solidFill>
                <a:latin typeface="Arial"/>
                <a:ea typeface="Arial"/>
                <a:cs typeface="Arial"/>
                <a:sym typeface="Arial"/>
              </a:rPr>
              <a:t>    tokenPrice = _initialTokenPrice;</a:t>
            </a:r>
            <a:endParaRPr sz="1510" b="1">
              <a:solidFill>
                <a:schemeClr val="dk2"/>
              </a:solidFill>
              <a:latin typeface="Arial"/>
              <a:ea typeface="Arial"/>
              <a:cs typeface="Arial"/>
              <a:sym typeface="Arial"/>
            </a:endParaRPr>
          </a:p>
          <a:p>
            <a:pPr marL="0" lvl="0" indent="0" algn="l" rtl="0">
              <a:lnSpc>
                <a:spcPct val="140000"/>
              </a:lnSpc>
              <a:spcBef>
                <a:spcPts val="0"/>
              </a:spcBef>
              <a:spcAft>
                <a:spcPts val="0"/>
              </a:spcAft>
              <a:buSzPts val="1018"/>
              <a:buNone/>
            </a:pPr>
            <a:r>
              <a:rPr lang="en" sz="1510" b="1">
                <a:solidFill>
                  <a:schemeClr val="dk2"/>
                </a:solidFill>
                <a:latin typeface="Arial"/>
                <a:ea typeface="Arial"/>
                <a:cs typeface="Arial"/>
                <a:sym typeface="Arial"/>
              </a:rPr>
              <a:t>}</a:t>
            </a:r>
            <a:endParaRPr sz="1510" b="1">
              <a:solidFill>
                <a:schemeClr val="dk2"/>
              </a:solidFill>
              <a:latin typeface="Arial"/>
              <a:ea typeface="Arial"/>
              <a:cs typeface="Arial"/>
              <a:sym typeface="Arial"/>
            </a:endParaRPr>
          </a:p>
          <a:p>
            <a:pPr marL="0" lvl="0" indent="0" algn="l" rtl="0">
              <a:lnSpc>
                <a:spcPct val="140000"/>
              </a:lnSpc>
              <a:spcBef>
                <a:spcPts val="0"/>
              </a:spcBef>
              <a:spcAft>
                <a:spcPts val="0"/>
              </a:spcAft>
              <a:buSzPts val="1018"/>
              <a:buNone/>
            </a:pPr>
            <a:endParaRPr sz="1510">
              <a:solidFill>
                <a:schemeClr val="dk2"/>
              </a:solidFill>
              <a:latin typeface="Arial"/>
              <a:ea typeface="Arial"/>
              <a:cs typeface="Arial"/>
              <a:sym typeface="Arial"/>
            </a:endParaRPr>
          </a:p>
          <a:p>
            <a:pPr marL="0" lvl="0" indent="0" algn="l" rtl="0">
              <a:lnSpc>
                <a:spcPct val="140000"/>
              </a:lnSpc>
              <a:spcBef>
                <a:spcPts val="0"/>
              </a:spcBef>
              <a:spcAft>
                <a:spcPts val="0"/>
              </a:spcAft>
              <a:buSzPts val="1018"/>
              <a:buNone/>
            </a:pPr>
            <a:endParaRPr sz="1510">
              <a:solidFill>
                <a:schemeClr val="dk2"/>
              </a:solidFill>
              <a:latin typeface="Arial"/>
              <a:ea typeface="Arial"/>
              <a:cs typeface="Arial"/>
              <a:sym typeface="Arial"/>
            </a:endParaRPr>
          </a:p>
          <a:p>
            <a:pPr marL="0" lvl="0" indent="0" algn="l" rtl="0">
              <a:lnSpc>
                <a:spcPct val="140000"/>
              </a:lnSpc>
              <a:spcBef>
                <a:spcPts val="0"/>
              </a:spcBef>
              <a:spcAft>
                <a:spcPts val="1200"/>
              </a:spcAft>
              <a:buSzPts val="1018"/>
              <a:buNone/>
            </a:pPr>
            <a:endParaRPr sz="1602">
              <a:solidFill>
                <a:schemeClr val="dk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txBox="1">
            <a:spLocks noGrp="1"/>
          </p:cNvSpPr>
          <p:nvPr>
            <p:ph type="title"/>
          </p:nvPr>
        </p:nvSpPr>
        <p:spPr>
          <a:xfrm>
            <a:off x="651200" y="5858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Implementing buyToken() Function</a:t>
            </a:r>
            <a:endParaRPr/>
          </a:p>
        </p:txBody>
      </p:sp>
      <p:sp>
        <p:nvSpPr>
          <p:cNvPr id="207" name="Google Shape;207;p33"/>
          <p:cNvSpPr txBox="1">
            <a:spLocks noGrp="1"/>
          </p:cNvSpPr>
          <p:nvPr>
            <p:ph type="body" idx="1"/>
          </p:nvPr>
        </p:nvSpPr>
        <p:spPr>
          <a:xfrm>
            <a:off x="729450" y="1337450"/>
            <a:ext cx="7688700" cy="3806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solidFill>
                  <a:schemeClr val="dk2"/>
                </a:solidFill>
                <a:latin typeface="Arial"/>
                <a:ea typeface="Arial"/>
                <a:cs typeface="Arial"/>
                <a:sym typeface="Arial"/>
              </a:rPr>
              <a:t>Implement the buyTokens function, which allows participants to buy tokens. It takes _numTokens as the number of tokens to purchase.</a:t>
            </a:r>
            <a:endParaRPr sz="1400">
              <a:solidFill>
                <a:schemeClr val="dk2"/>
              </a:solidFill>
              <a:latin typeface="Arial"/>
              <a:ea typeface="Arial"/>
              <a:cs typeface="Arial"/>
              <a:sym typeface="Arial"/>
            </a:endParaRPr>
          </a:p>
          <a:p>
            <a:pPr marL="0" lvl="0" indent="0" algn="l" rtl="0">
              <a:lnSpc>
                <a:spcPct val="115000"/>
              </a:lnSpc>
              <a:spcBef>
                <a:spcPts val="0"/>
              </a:spcBef>
              <a:spcAft>
                <a:spcPts val="0"/>
              </a:spcAft>
              <a:buNone/>
            </a:pPr>
            <a:endParaRPr sz="1400">
              <a:solidFill>
                <a:schemeClr val="dk2"/>
              </a:solidFill>
              <a:latin typeface="Arial"/>
              <a:ea typeface="Arial"/>
              <a:cs typeface="Arial"/>
              <a:sym typeface="Arial"/>
            </a:endParaRPr>
          </a:p>
          <a:p>
            <a:pPr marL="0" lvl="0" indent="0" algn="l" rtl="0">
              <a:lnSpc>
                <a:spcPct val="115000"/>
              </a:lnSpc>
              <a:spcBef>
                <a:spcPts val="0"/>
              </a:spcBef>
              <a:spcAft>
                <a:spcPts val="0"/>
              </a:spcAft>
              <a:buNone/>
            </a:pPr>
            <a:r>
              <a:rPr lang="en" sz="1400" b="1">
                <a:solidFill>
                  <a:schemeClr val="dk2"/>
                </a:solidFill>
                <a:latin typeface="Arial"/>
                <a:ea typeface="Arial"/>
                <a:cs typeface="Arial"/>
                <a:sym typeface="Arial"/>
              </a:rPr>
              <a:t>function buyTokens(uint256 _numTokens) external payable {</a:t>
            </a:r>
            <a:endParaRPr sz="1400" b="1">
              <a:solidFill>
                <a:schemeClr val="dk2"/>
              </a:solidFill>
              <a:latin typeface="Arial"/>
              <a:ea typeface="Arial"/>
              <a:cs typeface="Arial"/>
              <a:sym typeface="Arial"/>
            </a:endParaRPr>
          </a:p>
          <a:p>
            <a:pPr marL="0" lvl="0" indent="0" algn="l" rtl="0">
              <a:lnSpc>
                <a:spcPct val="115000"/>
              </a:lnSpc>
              <a:spcBef>
                <a:spcPts val="0"/>
              </a:spcBef>
              <a:spcAft>
                <a:spcPts val="0"/>
              </a:spcAft>
              <a:buNone/>
            </a:pPr>
            <a:r>
              <a:rPr lang="en" sz="1400" b="1">
                <a:solidFill>
                  <a:schemeClr val="dk2"/>
                </a:solidFill>
                <a:latin typeface="Arial"/>
                <a:ea typeface="Arial"/>
                <a:cs typeface="Arial"/>
                <a:sym typeface="Arial"/>
              </a:rPr>
              <a:t>    // Function implementation here</a:t>
            </a:r>
            <a:endParaRPr sz="1400" b="1">
              <a:solidFill>
                <a:schemeClr val="dk2"/>
              </a:solidFill>
              <a:latin typeface="Arial"/>
              <a:ea typeface="Arial"/>
              <a:cs typeface="Arial"/>
              <a:sym typeface="Arial"/>
            </a:endParaRPr>
          </a:p>
          <a:p>
            <a:pPr marL="0" lvl="0" indent="0" algn="l" rtl="0">
              <a:lnSpc>
                <a:spcPct val="115000"/>
              </a:lnSpc>
              <a:spcBef>
                <a:spcPts val="0"/>
              </a:spcBef>
              <a:spcAft>
                <a:spcPts val="0"/>
              </a:spcAft>
              <a:buNone/>
            </a:pPr>
            <a:r>
              <a:rPr lang="en" sz="1400" b="1">
                <a:solidFill>
                  <a:schemeClr val="dk2"/>
                </a:solidFill>
                <a:latin typeface="Arial"/>
                <a:ea typeface="Arial"/>
                <a:cs typeface="Arial"/>
                <a:sym typeface="Arial"/>
              </a:rPr>
              <a:t>}</a:t>
            </a:r>
            <a:endParaRPr sz="1400" b="1">
              <a:solidFill>
                <a:schemeClr val="dk2"/>
              </a:solidFill>
              <a:latin typeface="Arial"/>
              <a:ea typeface="Arial"/>
              <a:cs typeface="Arial"/>
              <a:sym typeface="Arial"/>
            </a:endParaRPr>
          </a:p>
          <a:p>
            <a:pPr marL="0" lvl="0" indent="0" algn="l" rtl="0">
              <a:lnSpc>
                <a:spcPct val="115000"/>
              </a:lnSpc>
              <a:spcBef>
                <a:spcPts val="0"/>
              </a:spcBef>
              <a:spcAft>
                <a:spcPts val="0"/>
              </a:spcAft>
              <a:buNone/>
            </a:pPr>
            <a:r>
              <a:rPr lang="en" sz="1400">
                <a:solidFill>
                  <a:schemeClr val="dk2"/>
                </a:solidFill>
                <a:latin typeface="Roboto"/>
                <a:ea typeface="Roboto"/>
                <a:cs typeface="Roboto"/>
                <a:sym typeface="Roboto"/>
              </a:rPr>
              <a:t>Inside the function, perform the following steps:</a:t>
            </a:r>
            <a:endParaRPr sz="140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sz="1400">
                <a:solidFill>
                  <a:schemeClr val="dk2"/>
                </a:solidFill>
                <a:latin typeface="Roboto"/>
                <a:ea typeface="Roboto"/>
                <a:cs typeface="Roboto"/>
                <a:sym typeface="Roboto"/>
              </a:rPr>
              <a:t>Ensure </a:t>
            </a:r>
            <a:r>
              <a:rPr lang="en" sz="1400">
                <a:solidFill>
                  <a:schemeClr val="dk2"/>
                </a:solidFill>
                <a:latin typeface="Courier New"/>
                <a:ea typeface="Courier New"/>
                <a:cs typeface="Courier New"/>
                <a:sym typeface="Courier New"/>
              </a:rPr>
              <a:t>_numTokens</a:t>
            </a:r>
            <a:r>
              <a:rPr lang="en" sz="1400">
                <a:solidFill>
                  <a:schemeClr val="dk2"/>
                </a:solidFill>
                <a:latin typeface="Roboto"/>
                <a:ea typeface="Roboto"/>
                <a:cs typeface="Roboto"/>
                <a:sym typeface="Roboto"/>
              </a:rPr>
              <a:t> is greater than 0.</a:t>
            </a:r>
            <a:endParaRPr sz="140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sz="1400">
                <a:solidFill>
                  <a:schemeClr val="dk2"/>
                </a:solidFill>
                <a:latin typeface="Roboto"/>
                <a:ea typeface="Roboto"/>
                <a:cs typeface="Roboto"/>
                <a:sym typeface="Roboto"/>
              </a:rPr>
              <a:t>Calculate </a:t>
            </a:r>
            <a:r>
              <a:rPr lang="en" sz="1400">
                <a:solidFill>
                  <a:schemeClr val="dk2"/>
                </a:solidFill>
                <a:latin typeface="Courier New"/>
                <a:ea typeface="Courier New"/>
                <a:cs typeface="Courier New"/>
                <a:sym typeface="Courier New"/>
              </a:rPr>
              <a:t>totalPrice</a:t>
            </a:r>
            <a:r>
              <a:rPr lang="en" sz="1400">
                <a:solidFill>
                  <a:schemeClr val="dk2"/>
                </a:solidFill>
                <a:latin typeface="Roboto"/>
                <a:ea typeface="Roboto"/>
                <a:cs typeface="Roboto"/>
                <a:sym typeface="Roboto"/>
              </a:rPr>
              <a:t> by multiplying </a:t>
            </a:r>
            <a:r>
              <a:rPr lang="en" sz="1400">
                <a:solidFill>
                  <a:schemeClr val="dk2"/>
                </a:solidFill>
                <a:latin typeface="Courier New"/>
                <a:ea typeface="Courier New"/>
                <a:cs typeface="Courier New"/>
                <a:sym typeface="Courier New"/>
              </a:rPr>
              <a:t>_numTokens</a:t>
            </a:r>
            <a:r>
              <a:rPr lang="en" sz="1400">
                <a:solidFill>
                  <a:schemeClr val="dk2"/>
                </a:solidFill>
                <a:latin typeface="Roboto"/>
                <a:ea typeface="Roboto"/>
                <a:cs typeface="Roboto"/>
                <a:sym typeface="Roboto"/>
              </a:rPr>
              <a:t> with </a:t>
            </a:r>
            <a:r>
              <a:rPr lang="en" sz="1400">
                <a:solidFill>
                  <a:schemeClr val="dk2"/>
                </a:solidFill>
                <a:latin typeface="Courier New"/>
                <a:ea typeface="Courier New"/>
                <a:cs typeface="Courier New"/>
                <a:sym typeface="Courier New"/>
              </a:rPr>
              <a:t>tokenPrice</a:t>
            </a:r>
            <a:r>
              <a:rPr lang="en" sz="1400">
                <a:solidFill>
                  <a:schemeClr val="dk2"/>
                </a:solidFill>
                <a:latin typeface="Roboto"/>
                <a:ea typeface="Roboto"/>
                <a:cs typeface="Roboto"/>
                <a:sym typeface="Roboto"/>
              </a:rPr>
              <a:t>.</a:t>
            </a:r>
            <a:endParaRPr sz="140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sz="1400">
                <a:solidFill>
                  <a:schemeClr val="dk2"/>
                </a:solidFill>
                <a:latin typeface="Roboto"/>
                <a:ea typeface="Roboto"/>
                <a:cs typeface="Roboto"/>
                <a:sym typeface="Roboto"/>
              </a:rPr>
              <a:t>Require that the sent Ether is at least equal to </a:t>
            </a:r>
            <a:r>
              <a:rPr lang="en" sz="1400">
                <a:solidFill>
                  <a:schemeClr val="dk2"/>
                </a:solidFill>
                <a:latin typeface="Courier New"/>
                <a:ea typeface="Courier New"/>
                <a:cs typeface="Courier New"/>
                <a:sym typeface="Courier New"/>
              </a:rPr>
              <a:t>totalPrice</a:t>
            </a:r>
            <a:r>
              <a:rPr lang="en" sz="1400">
                <a:solidFill>
                  <a:schemeClr val="dk2"/>
                </a:solidFill>
                <a:latin typeface="Roboto"/>
                <a:ea typeface="Roboto"/>
                <a:cs typeface="Roboto"/>
                <a:sym typeface="Roboto"/>
              </a:rPr>
              <a:t>.</a:t>
            </a:r>
            <a:endParaRPr sz="140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sz="1400">
                <a:solidFill>
                  <a:schemeClr val="dk2"/>
                </a:solidFill>
                <a:latin typeface="Roboto"/>
                <a:ea typeface="Roboto"/>
                <a:cs typeface="Roboto"/>
                <a:sym typeface="Roboto"/>
              </a:rPr>
              <a:t>Transfer </a:t>
            </a:r>
            <a:r>
              <a:rPr lang="en" sz="1400">
                <a:solidFill>
                  <a:schemeClr val="dk2"/>
                </a:solidFill>
                <a:latin typeface="Courier New"/>
                <a:ea typeface="Courier New"/>
                <a:cs typeface="Courier New"/>
                <a:sym typeface="Courier New"/>
              </a:rPr>
              <a:t>_numTokens</a:t>
            </a:r>
            <a:r>
              <a:rPr lang="en" sz="1400">
                <a:solidFill>
                  <a:schemeClr val="dk2"/>
                </a:solidFill>
                <a:latin typeface="Roboto"/>
                <a:ea typeface="Roboto"/>
                <a:cs typeface="Roboto"/>
                <a:sym typeface="Roboto"/>
              </a:rPr>
              <a:t> tokens to the sender.</a:t>
            </a:r>
            <a:endParaRPr sz="140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sz="1400">
                <a:solidFill>
                  <a:schemeClr val="dk2"/>
                </a:solidFill>
                <a:latin typeface="Roboto"/>
                <a:ea typeface="Roboto"/>
                <a:cs typeface="Roboto"/>
                <a:sym typeface="Roboto"/>
              </a:rPr>
              <a:t>Increment </a:t>
            </a:r>
            <a:r>
              <a:rPr lang="en" sz="1400">
                <a:solidFill>
                  <a:schemeClr val="dk2"/>
                </a:solidFill>
                <a:latin typeface="Courier New"/>
                <a:ea typeface="Courier New"/>
                <a:cs typeface="Courier New"/>
                <a:sym typeface="Courier New"/>
              </a:rPr>
              <a:t>tokensSold</a:t>
            </a:r>
            <a:r>
              <a:rPr lang="en" sz="1400">
                <a:solidFill>
                  <a:schemeClr val="dk2"/>
                </a:solidFill>
                <a:latin typeface="Roboto"/>
                <a:ea typeface="Roboto"/>
                <a:cs typeface="Roboto"/>
                <a:sym typeface="Roboto"/>
              </a:rPr>
              <a:t> by </a:t>
            </a:r>
            <a:r>
              <a:rPr lang="en" sz="1400">
                <a:solidFill>
                  <a:schemeClr val="dk2"/>
                </a:solidFill>
                <a:latin typeface="Courier New"/>
                <a:ea typeface="Courier New"/>
                <a:cs typeface="Courier New"/>
                <a:sym typeface="Courier New"/>
              </a:rPr>
              <a:t>_numTokens</a:t>
            </a:r>
            <a:r>
              <a:rPr lang="en" sz="1400">
                <a:solidFill>
                  <a:schemeClr val="dk2"/>
                </a:solidFill>
                <a:latin typeface="Roboto"/>
                <a:ea typeface="Roboto"/>
                <a:cs typeface="Roboto"/>
                <a:sym typeface="Roboto"/>
              </a:rPr>
              <a:t>.</a:t>
            </a:r>
            <a:endParaRPr sz="140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sz="1400">
                <a:solidFill>
                  <a:schemeClr val="dk2"/>
                </a:solidFill>
                <a:latin typeface="Roboto"/>
                <a:ea typeface="Roboto"/>
                <a:cs typeface="Roboto"/>
                <a:sym typeface="Roboto"/>
              </a:rPr>
              <a:t>Add the sender's address to </a:t>
            </a:r>
            <a:r>
              <a:rPr lang="en" sz="1400">
                <a:solidFill>
                  <a:schemeClr val="dk2"/>
                </a:solidFill>
                <a:latin typeface="Courier New"/>
                <a:ea typeface="Courier New"/>
                <a:cs typeface="Courier New"/>
                <a:sym typeface="Courier New"/>
              </a:rPr>
              <a:t>contributors</a:t>
            </a:r>
            <a:r>
              <a:rPr lang="en" sz="1400">
                <a:solidFill>
                  <a:schemeClr val="dk2"/>
                </a:solidFill>
                <a:latin typeface="Roboto"/>
                <a:ea typeface="Roboto"/>
                <a:cs typeface="Roboto"/>
                <a:sym typeface="Roboto"/>
              </a:rPr>
              <a:t> if not already added.</a:t>
            </a:r>
            <a:endParaRPr sz="140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sz="1400">
                <a:solidFill>
                  <a:schemeClr val="dk2"/>
                </a:solidFill>
                <a:latin typeface="Roboto"/>
                <a:ea typeface="Roboto"/>
                <a:cs typeface="Roboto"/>
                <a:sym typeface="Roboto"/>
              </a:rPr>
              <a:t>Emit the </a:t>
            </a:r>
            <a:r>
              <a:rPr lang="en" sz="1400">
                <a:solidFill>
                  <a:schemeClr val="dk2"/>
                </a:solidFill>
                <a:latin typeface="Courier New"/>
                <a:ea typeface="Courier New"/>
                <a:cs typeface="Courier New"/>
                <a:sym typeface="Courier New"/>
              </a:rPr>
              <a:t>TokensPurchased</a:t>
            </a:r>
            <a:r>
              <a:rPr lang="en" sz="1400">
                <a:solidFill>
                  <a:schemeClr val="dk2"/>
                </a:solidFill>
                <a:latin typeface="Roboto"/>
                <a:ea typeface="Roboto"/>
                <a:cs typeface="Roboto"/>
                <a:sym typeface="Roboto"/>
              </a:rPr>
              <a:t> event</a:t>
            </a:r>
            <a:endParaRPr sz="1400">
              <a:solidFill>
                <a:schemeClr val="dk2"/>
              </a:solidFill>
              <a:latin typeface="Roboto"/>
              <a:ea typeface="Roboto"/>
              <a:cs typeface="Roboto"/>
              <a:sym typeface="Roboto"/>
            </a:endParaRPr>
          </a:p>
          <a:p>
            <a:pPr marL="0" lvl="0" indent="0" algn="l" rtl="0">
              <a:lnSpc>
                <a:spcPct val="115000"/>
              </a:lnSpc>
              <a:spcBef>
                <a:spcPts val="0"/>
              </a:spcBef>
              <a:spcAft>
                <a:spcPts val="0"/>
              </a:spcAft>
              <a:buNone/>
            </a:pPr>
            <a:endParaRPr sz="1400" b="1">
              <a:solidFill>
                <a:schemeClr val="dk2"/>
              </a:solidFill>
              <a:latin typeface="Arial"/>
              <a:ea typeface="Arial"/>
              <a:cs typeface="Arial"/>
              <a:sym typeface="Arial"/>
            </a:endParaRPr>
          </a:p>
          <a:p>
            <a:pPr marL="0" lvl="0" indent="0" algn="l" rtl="0">
              <a:lnSpc>
                <a:spcPct val="115000"/>
              </a:lnSpc>
              <a:spcBef>
                <a:spcPts val="0"/>
              </a:spcBef>
              <a:spcAft>
                <a:spcPts val="0"/>
              </a:spcAft>
              <a:buNone/>
            </a:pPr>
            <a:endParaRPr sz="1400" b="1">
              <a:solidFill>
                <a:schemeClr val="dk2"/>
              </a:solidFill>
              <a:latin typeface="Arial"/>
              <a:ea typeface="Arial"/>
              <a:cs typeface="Arial"/>
              <a:sym typeface="Arial"/>
            </a:endParaRPr>
          </a:p>
          <a:p>
            <a:pPr marL="0" lvl="0" indent="0" algn="l" rtl="0">
              <a:lnSpc>
                <a:spcPct val="115000"/>
              </a:lnSpc>
              <a:spcBef>
                <a:spcPts val="0"/>
              </a:spcBef>
              <a:spcAft>
                <a:spcPts val="0"/>
              </a:spcAft>
              <a:buNone/>
            </a:pPr>
            <a:endParaRPr sz="1400">
              <a:solidFill>
                <a:schemeClr val="dk2"/>
              </a:solidFill>
              <a:latin typeface="Arial"/>
              <a:ea typeface="Arial"/>
              <a:cs typeface="Arial"/>
              <a:sym typeface="Arial"/>
            </a:endParaRPr>
          </a:p>
          <a:p>
            <a:pPr marL="0" lvl="0" indent="0" algn="l" rtl="0">
              <a:lnSpc>
                <a:spcPct val="115000"/>
              </a:lnSpc>
              <a:spcBef>
                <a:spcPts val="0"/>
              </a:spcBef>
              <a:spcAft>
                <a:spcPts val="1200"/>
              </a:spcAft>
              <a:buNone/>
            </a:pPr>
            <a:endParaRPr sz="1400">
              <a:solidFill>
                <a:schemeClr val="dk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body" idx="1"/>
          </p:nvPr>
        </p:nvSpPr>
        <p:spPr>
          <a:xfrm>
            <a:off x="729450" y="192075"/>
            <a:ext cx="7688700" cy="47310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092" b="1">
                <a:solidFill>
                  <a:schemeClr val="dk2"/>
                </a:solidFill>
                <a:latin typeface="Arial"/>
                <a:ea typeface="Arial"/>
                <a:cs typeface="Arial"/>
                <a:sym typeface="Arial"/>
              </a:rPr>
              <a:t>  // Function to buy tokens</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function buyTokens(uint256 _numTokens) external payable {</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require(_numTokens &gt; 0, "Number of tokens must be greater than 0");</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uint256 totalPrice = _numTokens * tokenPrice;</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require(msg.value &gt;= totalPrice, "Insufficient Ether sent");</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token.transfer(msg.sender, _numTokens);</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tokensSold += _numTokens;</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if (!isContributor(msg.sender)) {</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contributors.push(msg.sender);</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a:t>
            </a:r>
            <a:endParaRPr sz="1092" b="1">
              <a:solidFill>
                <a:schemeClr val="dk2"/>
              </a:solidFill>
              <a:latin typeface="Arial"/>
              <a:ea typeface="Arial"/>
              <a:cs typeface="Arial"/>
              <a:sym typeface="Arial"/>
            </a:endParaRPr>
          </a:p>
          <a:p>
            <a:pPr marL="0" lvl="0" indent="0" algn="l" rtl="0">
              <a:lnSpc>
                <a:spcPct val="95000"/>
              </a:lnSpc>
              <a:spcBef>
                <a:spcPts val="1200"/>
              </a:spcBef>
              <a:spcAft>
                <a:spcPts val="0"/>
              </a:spcAft>
              <a:buSzPts val="935"/>
              <a:buNone/>
            </a:pPr>
            <a:r>
              <a:rPr lang="en" sz="1092" b="1">
                <a:solidFill>
                  <a:schemeClr val="dk2"/>
                </a:solidFill>
                <a:latin typeface="Arial"/>
                <a:ea typeface="Arial"/>
                <a:cs typeface="Arial"/>
                <a:sym typeface="Arial"/>
              </a:rPr>
              <a:t>        emit TokensPurchased(msg.sender, _numTokens, totalPrice);</a:t>
            </a:r>
            <a:endParaRPr sz="1092" b="1">
              <a:solidFill>
                <a:schemeClr val="dk2"/>
              </a:solidFill>
              <a:latin typeface="Arial"/>
              <a:ea typeface="Arial"/>
              <a:cs typeface="Arial"/>
              <a:sym typeface="Arial"/>
            </a:endParaRPr>
          </a:p>
          <a:p>
            <a:pPr marL="0" lvl="0" indent="0" algn="l" rtl="0">
              <a:lnSpc>
                <a:spcPct val="95000"/>
              </a:lnSpc>
              <a:spcBef>
                <a:spcPts val="1200"/>
              </a:spcBef>
              <a:spcAft>
                <a:spcPts val="1200"/>
              </a:spcAft>
              <a:buSzPts val="935"/>
              <a:buNone/>
            </a:pPr>
            <a:r>
              <a:rPr lang="en" sz="1092" b="1">
                <a:solidFill>
                  <a:schemeClr val="dk2"/>
                </a:solidFill>
                <a:latin typeface="Arial"/>
                <a:ea typeface="Arial"/>
                <a:cs typeface="Arial"/>
                <a:sym typeface="Arial"/>
              </a:rPr>
              <a:t>    }</a:t>
            </a:r>
            <a:endParaRPr sz="1305" b="1">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 isContributor() function</a:t>
            </a:r>
            <a:endParaRPr/>
          </a:p>
        </p:txBody>
      </p:sp>
      <p:sp>
        <p:nvSpPr>
          <p:cNvPr id="218" name="Google Shape;218;p35"/>
          <p:cNvSpPr txBox="1">
            <a:spLocks noGrp="1"/>
          </p:cNvSpPr>
          <p:nvPr>
            <p:ph type="body" idx="1"/>
          </p:nvPr>
        </p:nvSpPr>
        <p:spPr>
          <a:xfrm>
            <a:off x="729450" y="2078875"/>
            <a:ext cx="7688700" cy="285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chemeClr val="dk2"/>
                </a:solidFill>
                <a:latin typeface="Arial"/>
                <a:ea typeface="Arial"/>
                <a:cs typeface="Arial"/>
                <a:sym typeface="Arial"/>
              </a:rPr>
              <a:t>Implement the </a:t>
            </a:r>
            <a:r>
              <a:rPr lang="en" sz="1450">
                <a:solidFill>
                  <a:schemeClr val="dk2"/>
                </a:solidFill>
                <a:latin typeface="Arial"/>
                <a:ea typeface="Arial"/>
                <a:cs typeface="Arial"/>
                <a:sym typeface="Arial"/>
              </a:rPr>
              <a:t>isContributor</a:t>
            </a:r>
            <a:r>
              <a:rPr lang="en" sz="1600">
                <a:solidFill>
                  <a:schemeClr val="dk2"/>
                </a:solidFill>
                <a:latin typeface="Arial"/>
                <a:ea typeface="Arial"/>
                <a:cs typeface="Arial"/>
                <a:sym typeface="Arial"/>
              </a:rPr>
              <a:t> function to check if an address is a contributor.</a:t>
            </a:r>
            <a:endParaRPr sz="1600">
              <a:solidFill>
                <a:schemeClr val="dk2"/>
              </a:solidFill>
              <a:latin typeface="Arial"/>
              <a:ea typeface="Arial"/>
              <a:cs typeface="Arial"/>
              <a:sym typeface="Arial"/>
            </a:endParaRPr>
          </a:p>
          <a:p>
            <a:pPr marL="0" lvl="0" indent="0" algn="l" rtl="0">
              <a:spcBef>
                <a:spcPts val="0"/>
              </a:spcBef>
              <a:spcAft>
                <a:spcPts val="0"/>
              </a:spcAft>
              <a:buNone/>
            </a:pPr>
            <a:r>
              <a:rPr lang="en" sz="1700">
                <a:solidFill>
                  <a:schemeClr val="dk2"/>
                </a:solidFill>
                <a:latin typeface="Arial"/>
                <a:ea typeface="Arial"/>
                <a:cs typeface="Arial"/>
                <a:sym typeface="Arial"/>
              </a:rPr>
              <a:t>function isContributor(address _address) public view returns (bool) {</a:t>
            </a:r>
            <a:endParaRPr sz="1700">
              <a:solidFill>
                <a:schemeClr val="dk2"/>
              </a:solidFill>
              <a:latin typeface="Arial"/>
              <a:ea typeface="Arial"/>
              <a:cs typeface="Arial"/>
              <a:sym typeface="Arial"/>
            </a:endParaRPr>
          </a:p>
          <a:p>
            <a:pPr marL="0" lvl="0" indent="0" algn="l" rtl="0">
              <a:spcBef>
                <a:spcPts val="1200"/>
              </a:spcBef>
              <a:spcAft>
                <a:spcPts val="0"/>
              </a:spcAft>
              <a:buNone/>
            </a:pPr>
            <a:r>
              <a:rPr lang="en" sz="1700">
                <a:solidFill>
                  <a:schemeClr val="dk2"/>
                </a:solidFill>
                <a:latin typeface="Arial"/>
                <a:ea typeface="Arial"/>
                <a:cs typeface="Arial"/>
                <a:sym typeface="Arial"/>
              </a:rPr>
              <a:t>    // Function implementation here</a:t>
            </a:r>
            <a:endParaRPr sz="1700">
              <a:solidFill>
                <a:schemeClr val="dk2"/>
              </a:solidFill>
              <a:latin typeface="Arial"/>
              <a:ea typeface="Arial"/>
              <a:cs typeface="Arial"/>
              <a:sym typeface="Arial"/>
            </a:endParaRPr>
          </a:p>
          <a:p>
            <a:pPr marL="0" lvl="0" indent="0" algn="l" rtl="0">
              <a:spcBef>
                <a:spcPts val="1200"/>
              </a:spcBef>
              <a:spcAft>
                <a:spcPts val="0"/>
              </a:spcAft>
              <a:buNone/>
            </a:pPr>
            <a:r>
              <a:rPr lang="en" sz="1700">
                <a:solidFill>
                  <a:schemeClr val="dk2"/>
                </a:solidFill>
                <a:latin typeface="Arial"/>
                <a:ea typeface="Arial"/>
                <a:cs typeface="Arial"/>
                <a:sym typeface="Arial"/>
              </a:rPr>
              <a:t>}</a:t>
            </a:r>
            <a:endParaRPr sz="1700">
              <a:solidFill>
                <a:schemeClr val="dk2"/>
              </a:solidFill>
              <a:latin typeface="Arial"/>
              <a:ea typeface="Arial"/>
              <a:cs typeface="Arial"/>
              <a:sym typeface="Arial"/>
            </a:endParaRPr>
          </a:p>
          <a:p>
            <a:pPr marL="0" lvl="0" indent="0" algn="l" rtl="0">
              <a:spcBef>
                <a:spcPts val="1200"/>
              </a:spcBef>
              <a:spcAft>
                <a:spcPts val="0"/>
              </a:spcAft>
              <a:buNone/>
            </a:pPr>
            <a:r>
              <a:rPr lang="en" sz="1600">
                <a:solidFill>
                  <a:schemeClr val="dk2"/>
                </a:solidFill>
                <a:latin typeface="Arial"/>
                <a:ea typeface="Arial"/>
                <a:cs typeface="Arial"/>
                <a:sym typeface="Arial"/>
              </a:rPr>
              <a:t>Inside the function, loop through the </a:t>
            </a:r>
            <a:r>
              <a:rPr lang="en" sz="1450">
                <a:solidFill>
                  <a:schemeClr val="dk2"/>
                </a:solidFill>
                <a:latin typeface="Arial"/>
                <a:ea typeface="Arial"/>
                <a:cs typeface="Arial"/>
                <a:sym typeface="Arial"/>
              </a:rPr>
              <a:t>contributors</a:t>
            </a:r>
            <a:r>
              <a:rPr lang="en" sz="1600">
                <a:solidFill>
                  <a:schemeClr val="dk2"/>
                </a:solidFill>
                <a:latin typeface="Arial"/>
                <a:ea typeface="Arial"/>
                <a:cs typeface="Arial"/>
                <a:sym typeface="Arial"/>
              </a:rPr>
              <a:t> array and return </a:t>
            </a:r>
            <a:r>
              <a:rPr lang="en" sz="1450">
                <a:solidFill>
                  <a:schemeClr val="dk2"/>
                </a:solidFill>
                <a:latin typeface="Arial"/>
                <a:ea typeface="Arial"/>
                <a:cs typeface="Arial"/>
                <a:sym typeface="Arial"/>
              </a:rPr>
              <a:t>true</a:t>
            </a:r>
            <a:r>
              <a:rPr lang="en" sz="1600">
                <a:solidFill>
                  <a:schemeClr val="dk2"/>
                </a:solidFill>
                <a:latin typeface="Arial"/>
                <a:ea typeface="Arial"/>
                <a:cs typeface="Arial"/>
                <a:sym typeface="Arial"/>
              </a:rPr>
              <a:t> if the given </a:t>
            </a:r>
            <a:r>
              <a:rPr lang="en" sz="1450">
                <a:solidFill>
                  <a:schemeClr val="dk2"/>
                </a:solidFill>
                <a:latin typeface="Arial"/>
                <a:ea typeface="Arial"/>
                <a:cs typeface="Arial"/>
                <a:sym typeface="Arial"/>
              </a:rPr>
              <a:t>_address</a:t>
            </a:r>
            <a:r>
              <a:rPr lang="en" sz="1600">
                <a:solidFill>
                  <a:schemeClr val="dk2"/>
                </a:solidFill>
                <a:latin typeface="Arial"/>
                <a:ea typeface="Arial"/>
                <a:cs typeface="Arial"/>
                <a:sym typeface="Arial"/>
              </a:rPr>
              <a:t> is found.</a:t>
            </a:r>
            <a:endParaRPr sz="1600">
              <a:solidFill>
                <a:schemeClr val="dk2"/>
              </a:solidFill>
              <a:latin typeface="Arial"/>
              <a:ea typeface="Arial"/>
              <a:cs typeface="Arial"/>
              <a:sym typeface="Arial"/>
            </a:endParaRPr>
          </a:p>
          <a:p>
            <a:pPr marL="457200" lvl="0" indent="-228600" algn="l" rtl="0">
              <a:spcBef>
                <a:spcPts val="1500"/>
              </a:spcBef>
              <a:spcAft>
                <a:spcPts val="0"/>
              </a:spcAft>
              <a:buClr>
                <a:schemeClr val="dk2"/>
              </a:buClr>
              <a:buSzPts val="1600"/>
              <a:buFont typeface="Arial"/>
              <a:buNone/>
            </a:pPr>
            <a:endParaRPr sz="1700">
              <a:solidFill>
                <a:schemeClr val="dk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Implementation </a:t>
            </a:r>
            <a:endParaRPr/>
          </a:p>
        </p:txBody>
      </p:sp>
      <p:sp>
        <p:nvSpPr>
          <p:cNvPr id="224" name="Google Shape;224;p3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lnSpc>
                <a:spcPct val="125714"/>
              </a:lnSpc>
              <a:spcBef>
                <a:spcPts val="0"/>
              </a:spcBef>
              <a:spcAft>
                <a:spcPts val="0"/>
              </a:spcAft>
              <a:buNone/>
            </a:pPr>
            <a:r>
              <a:rPr lang="en" sz="1350">
                <a:solidFill>
                  <a:srgbClr val="008000"/>
                </a:solidFill>
                <a:latin typeface="Courier New"/>
                <a:ea typeface="Courier New"/>
                <a:cs typeface="Courier New"/>
                <a:sym typeface="Courier New"/>
              </a:rPr>
              <a:t>// Function to check if an address has contributed</a:t>
            </a:r>
            <a:endParaRPr sz="1350">
              <a:solidFill>
                <a:srgbClr val="008000"/>
              </a:solidFill>
              <a:latin typeface="Courier New"/>
              <a:ea typeface="Courier New"/>
              <a:cs typeface="Courier New"/>
              <a:sym typeface="Courier New"/>
            </a:endParaRPr>
          </a:p>
          <a:p>
            <a:pPr marL="0" lvl="0" indent="0" algn="l" rtl="0">
              <a:lnSpc>
                <a:spcPct val="12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0000FF"/>
                </a:solidFill>
                <a:latin typeface="Courier New"/>
                <a:ea typeface="Courier New"/>
                <a:cs typeface="Courier New"/>
                <a:sym typeface="Courier New"/>
              </a:rPr>
              <a:t>function</a:t>
            </a:r>
            <a:r>
              <a:rPr lang="en" sz="1350">
                <a:solidFill>
                  <a:srgbClr val="343A40"/>
                </a:solidFill>
                <a:latin typeface="Courier New"/>
                <a:ea typeface="Courier New"/>
                <a:cs typeface="Courier New"/>
                <a:sym typeface="Courier New"/>
              </a:rPr>
              <a:t> isContributor</a:t>
            </a:r>
            <a:r>
              <a:rPr lang="en" sz="1350">
                <a:solidFill>
                  <a:srgbClr val="000000"/>
                </a:solidFill>
                <a:latin typeface="Courier New"/>
                <a:ea typeface="Courier New"/>
                <a:cs typeface="Courier New"/>
                <a:sym typeface="Courier New"/>
              </a:rPr>
              <a:t>(</a:t>
            </a:r>
            <a:r>
              <a:rPr lang="en" sz="1350">
                <a:solidFill>
                  <a:srgbClr val="0000FF"/>
                </a:solidFill>
                <a:latin typeface="Courier New"/>
                <a:ea typeface="Courier New"/>
                <a:cs typeface="Courier New"/>
                <a:sym typeface="Courier New"/>
              </a:rPr>
              <a:t>address</a:t>
            </a:r>
            <a:r>
              <a:rPr lang="en" sz="1350">
                <a:solidFill>
                  <a:srgbClr val="343A40"/>
                </a:solidFill>
                <a:latin typeface="Courier New"/>
                <a:ea typeface="Courier New"/>
                <a:cs typeface="Courier New"/>
                <a:sym typeface="Courier New"/>
              </a:rPr>
              <a:t> _address</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a:t>
            </a:r>
            <a:r>
              <a:rPr lang="en" sz="1350">
                <a:solidFill>
                  <a:srgbClr val="3CB521"/>
                </a:solidFill>
                <a:latin typeface="Courier New"/>
                <a:ea typeface="Courier New"/>
                <a:cs typeface="Courier New"/>
                <a:sym typeface="Courier New"/>
              </a:rPr>
              <a:t>public</a:t>
            </a:r>
            <a:r>
              <a:rPr lang="en" sz="1350">
                <a:solidFill>
                  <a:srgbClr val="343A40"/>
                </a:solidFill>
                <a:latin typeface="Courier New"/>
                <a:ea typeface="Courier New"/>
                <a:cs typeface="Courier New"/>
                <a:sym typeface="Courier New"/>
              </a:rPr>
              <a:t> </a:t>
            </a:r>
            <a:r>
              <a:rPr lang="en" sz="1350">
                <a:solidFill>
                  <a:srgbClr val="3CB521"/>
                </a:solidFill>
                <a:latin typeface="Courier New"/>
                <a:ea typeface="Courier New"/>
                <a:cs typeface="Courier New"/>
                <a:sym typeface="Courier New"/>
              </a:rPr>
              <a:t>view</a:t>
            </a:r>
            <a:r>
              <a:rPr lang="en" sz="1350">
                <a:solidFill>
                  <a:srgbClr val="343A40"/>
                </a:solidFill>
                <a:latin typeface="Courier New"/>
                <a:ea typeface="Courier New"/>
                <a:cs typeface="Courier New"/>
                <a:sym typeface="Courier New"/>
              </a:rPr>
              <a:t> </a:t>
            </a:r>
            <a:r>
              <a:rPr lang="en" sz="1350">
                <a:solidFill>
                  <a:srgbClr val="3CB521"/>
                </a:solidFill>
                <a:latin typeface="Courier New"/>
                <a:ea typeface="Courier New"/>
                <a:cs typeface="Courier New"/>
                <a:sym typeface="Courier New"/>
              </a:rPr>
              <a:t>returns</a:t>
            </a: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r>
              <a:rPr lang="en" sz="1350">
                <a:solidFill>
                  <a:srgbClr val="0000FF"/>
                </a:solidFill>
                <a:latin typeface="Courier New"/>
                <a:ea typeface="Courier New"/>
                <a:cs typeface="Courier New"/>
                <a:sym typeface="Courier New"/>
              </a:rPr>
              <a:t>bool</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2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D47500"/>
                </a:solidFill>
                <a:latin typeface="Courier New"/>
                <a:ea typeface="Courier New"/>
                <a:cs typeface="Courier New"/>
                <a:sym typeface="Courier New"/>
              </a:rPr>
              <a:t>for</a:t>
            </a: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r>
              <a:rPr lang="en" sz="1350">
                <a:solidFill>
                  <a:srgbClr val="0000FF"/>
                </a:solidFill>
                <a:latin typeface="Courier New"/>
                <a:ea typeface="Courier New"/>
                <a:cs typeface="Courier New"/>
                <a:sym typeface="Courier New"/>
              </a:rPr>
              <a:t>uint256</a:t>
            </a:r>
            <a:r>
              <a:rPr lang="en" sz="1350">
                <a:solidFill>
                  <a:srgbClr val="343A40"/>
                </a:solidFill>
                <a:latin typeface="Courier New"/>
                <a:ea typeface="Courier New"/>
                <a:cs typeface="Courier New"/>
                <a:sym typeface="Courier New"/>
              </a:rPr>
              <a:t> i </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a:t>
            </a:r>
            <a:r>
              <a:rPr lang="en" sz="1350">
                <a:solidFill>
                  <a:srgbClr val="098658"/>
                </a:solidFill>
                <a:latin typeface="Courier New"/>
                <a:ea typeface="Courier New"/>
                <a:cs typeface="Courier New"/>
                <a:sym typeface="Courier New"/>
              </a:rPr>
              <a:t>0</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i </a:t>
            </a:r>
            <a:r>
              <a:rPr lang="en" sz="1350">
                <a:solidFill>
                  <a:srgbClr val="000000"/>
                </a:solidFill>
                <a:latin typeface="Courier New"/>
                <a:ea typeface="Courier New"/>
                <a:cs typeface="Courier New"/>
                <a:sym typeface="Courier New"/>
              </a:rPr>
              <a:t>&lt;</a:t>
            </a:r>
            <a:r>
              <a:rPr lang="en" sz="1350">
                <a:solidFill>
                  <a:srgbClr val="343A40"/>
                </a:solidFill>
                <a:latin typeface="Courier New"/>
                <a:ea typeface="Courier New"/>
                <a:cs typeface="Courier New"/>
                <a:sym typeface="Courier New"/>
              </a:rPr>
              <a:t> contributors</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length</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i</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2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D47500"/>
                </a:solidFill>
                <a:latin typeface="Courier New"/>
                <a:ea typeface="Courier New"/>
                <a:cs typeface="Courier New"/>
                <a:sym typeface="Courier New"/>
              </a:rPr>
              <a:t>if</a:t>
            </a: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contributors</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i</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_address</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2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3CB521"/>
                </a:solidFill>
                <a:latin typeface="Courier New"/>
                <a:ea typeface="Courier New"/>
                <a:cs typeface="Courier New"/>
                <a:sym typeface="Courier New"/>
              </a:rPr>
              <a:t>return</a:t>
            </a:r>
            <a:r>
              <a:rPr lang="en" sz="1350">
                <a:solidFill>
                  <a:srgbClr val="343A40"/>
                </a:solidFill>
                <a:latin typeface="Courier New"/>
                <a:ea typeface="Courier New"/>
                <a:cs typeface="Courier New"/>
                <a:sym typeface="Courier New"/>
              </a:rPr>
              <a:t> </a:t>
            </a:r>
            <a:r>
              <a:rPr lang="en" sz="1350">
                <a:solidFill>
                  <a:srgbClr val="0000FF"/>
                </a:solidFill>
                <a:latin typeface="Courier New"/>
                <a:ea typeface="Courier New"/>
                <a:cs typeface="Courier New"/>
                <a:sym typeface="Courier New"/>
              </a:rPr>
              <a:t>true</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2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2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2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3CB521"/>
                </a:solidFill>
                <a:latin typeface="Courier New"/>
                <a:ea typeface="Courier New"/>
                <a:cs typeface="Courier New"/>
                <a:sym typeface="Courier New"/>
              </a:rPr>
              <a:t>return</a:t>
            </a:r>
            <a:r>
              <a:rPr lang="en" sz="1350">
                <a:solidFill>
                  <a:srgbClr val="343A40"/>
                </a:solidFill>
                <a:latin typeface="Courier New"/>
                <a:ea typeface="Courier New"/>
                <a:cs typeface="Courier New"/>
                <a:sym typeface="Courier New"/>
              </a:rPr>
              <a:t> </a:t>
            </a:r>
            <a:r>
              <a:rPr lang="en" sz="1350">
                <a:solidFill>
                  <a:srgbClr val="0000FF"/>
                </a:solidFill>
                <a:latin typeface="Courier New"/>
                <a:ea typeface="Courier New"/>
                <a:cs typeface="Courier New"/>
                <a:sym typeface="Courier New"/>
              </a:rPr>
              <a:t>false</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2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05000"/>
              </a:lnSpc>
              <a:spcBef>
                <a:spcPts val="0"/>
              </a:spcBef>
              <a:spcAft>
                <a:spcPts val="1200"/>
              </a:spcAft>
              <a:buNone/>
            </a:pP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 getContributor() function</a:t>
            </a:r>
            <a:endParaRPr/>
          </a:p>
          <a:p>
            <a:pPr marL="0" lvl="0" indent="0" algn="l" rtl="0">
              <a:spcBef>
                <a:spcPts val="0"/>
              </a:spcBef>
              <a:spcAft>
                <a:spcPts val="0"/>
              </a:spcAft>
              <a:buNone/>
            </a:pPr>
            <a:endParaRPr/>
          </a:p>
        </p:txBody>
      </p:sp>
      <p:sp>
        <p:nvSpPr>
          <p:cNvPr id="230" name="Google Shape;230;p37"/>
          <p:cNvSpPr txBox="1">
            <a:spLocks noGrp="1"/>
          </p:cNvSpPr>
          <p:nvPr>
            <p:ph type="body" idx="1"/>
          </p:nvPr>
        </p:nvSpPr>
        <p:spPr>
          <a:xfrm>
            <a:off x="729450" y="2078875"/>
            <a:ext cx="7688700" cy="2879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chemeClr val="dk2"/>
                </a:solidFill>
                <a:latin typeface="Arial"/>
                <a:ea typeface="Arial"/>
                <a:cs typeface="Arial"/>
                <a:sym typeface="Arial"/>
              </a:rPr>
              <a:t>Implement the </a:t>
            </a:r>
            <a:r>
              <a:rPr lang="en" sz="1250">
                <a:solidFill>
                  <a:schemeClr val="dk2"/>
                </a:solidFill>
                <a:latin typeface="Arial"/>
                <a:ea typeface="Arial"/>
                <a:cs typeface="Arial"/>
                <a:sym typeface="Arial"/>
              </a:rPr>
              <a:t>getTotalContributors</a:t>
            </a:r>
            <a:r>
              <a:rPr lang="en" sz="1400">
                <a:solidFill>
                  <a:schemeClr val="dk2"/>
                </a:solidFill>
                <a:latin typeface="Arial"/>
                <a:ea typeface="Arial"/>
                <a:cs typeface="Arial"/>
                <a:sym typeface="Arial"/>
              </a:rPr>
              <a:t> function to return the total number of contributors.</a:t>
            </a:r>
            <a:endParaRPr sz="1400">
              <a:solidFill>
                <a:schemeClr val="dk2"/>
              </a:solidFill>
              <a:latin typeface="Arial"/>
              <a:ea typeface="Arial"/>
              <a:cs typeface="Arial"/>
              <a:sym typeface="Arial"/>
            </a:endParaRPr>
          </a:p>
          <a:p>
            <a:pPr marL="0" lvl="0" indent="0" algn="l" rtl="0">
              <a:spcBef>
                <a:spcPts val="0"/>
              </a:spcBef>
              <a:spcAft>
                <a:spcPts val="0"/>
              </a:spcAft>
              <a:buNone/>
            </a:pPr>
            <a:endParaRPr sz="1400">
              <a:solidFill>
                <a:schemeClr val="dk2"/>
              </a:solidFill>
              <a:latin typeface="Arial"/>
              <a:ea typeface="Arial"/>
              <a:cs typeface="Arial"/>
              <a:sym typeface="Arial"/>
            </a:endParaRPr>
          </a:p>
          <a:p>
            <a:pPr marL="0" lvl="0" indent="0" algn="l" rtl="0">
              <a:spcBef>
                <a:spcPts val="0"/>
              </a:spcBef>
              <a:spcAft>
                <a:spcPts val="0"/>
              </a:spcAft>
              <a:buNone/>
            </a:pPr>
            <a:r>
              <a:rPr lang="en" sz="1500">
                <a:solidFill>
                  <a:schemeClr val="dk2"/>
                </a:solidFill>
                <a:latin typeface="Arial"/>
                <a:ea typeface="Arial"/>
                <a:cs typeface="Arial"/>
                <a:sym typeface="Arial"/>
              </a:rPr>
              <a:t>function getTotalContributors() external view returns (uint256) {</a:t>
            </a:r>
            <a:endParaRPr sz="1500">
              <a:solidFill>
                <a:schemeClr val="dk2"/>
              </a:solidFill>
              <a:latin typeface="Arial"/>
              <a:ea typeface="Arial"/>
              <a:cs typeface="Arial"/>
              <a:sym typeface="Arial"/>
            </a:endParaRPr>
          </a:p>
          <a:p>
            <a:pPr marL="0" lvl="0" indent="0" algn="l" rtl="0">
              <a:spcBef>
                <a:spcPts val="1200"/>
              </a:spcBef>
              <a:spcAft>
                <a:spcPts val="0"/>
              </a:spcAft>
              <a:buNone/>
            </a:pPr>
            <a:r>
              <a:rPr lang="en" sz="1500">
                <a:solidFill>
                  <a:schemeClr val="dk2"/>
                </a:solidFill>
                <a:latin typeface="Arial"/>
                <a:ea typeface="Arial"/>
                <a:cs typeface="Arial"/>
                <a:sym typeface="Arial"/>
              </a:rPr>
              <a:t>    // Function implementation here</a:t>
            </a:r>
            <a:endParaRPr sz="1500">
              <a:solidFill>
                <a:schemeClr val="dk2"/>
              </a:solidFill>
              <a:latin typeface="Arial"/>
              <a:ea typeface="Arial"/>
              <a:cs typeface="Arial"/>
              <a:sym typeface="Arial"/>
            </a:endParaRPr>
          </a:p>
          <a:p>
            <a:pPr marL="0" lvl="0" indent="0" algn="l" rtl="0">
              <a:spcBef>
                <a:spcPts val="1200"/>
              </a:spcBef>
              <a:spcAft>
                <a:spcPts val="0"/>
              </a:spcAft>
              <a:buNone/>
            </a:pPr>
            <a:r>
              <a:rPr lang="en" sz="1500">
                <a:solidFill>
                  <a:schemeClr val="dk2"/>
                </a:solidFill>
                <a:latin typeface="Arial"/>
                <a:ea typeface="Arial"/>
                <a:cs typeface="Arial"/>
                <a:sym typeface="Arial"/>
              </a:rPr>
              <a:t>}</a:t>
            </a:r>
            <a:endParaRPr sz="1500">
              <a:solidFill>
                <a:schemeClr val="dk2"/>
              </a:solidFill>
              <a:latin typeface="Arial"/>
              <a:ea typeface="Arial"/>
              <a:cs typeface="Arial"/>
              <a:sym typeface="Arial"/>
            </a:endParaRPr>
          </a:p>
          <a:p>
            <a:pPr marL="0" lvl="0" indent="0" algn="l" rtl="0">
              <a:spcBef>
                <a:spcPts val="1200"/>
              </a:spcBef>
              <a:spcAft>
                <a:spcPts val="1500"/>
              </a:spcAft>
              <a:buNone/>
            </a:pPr>
            <a:r>
              <a:rPr lang="en" sz="1400">
                <a:solidFill>
                  <a:schemeClr val="dk2"/>
                </a:solidFill>
                <a:latin typeface="Arial"/>
                <a:ea typeface="Arial"/>
                <a:cs typeface="Arial"/>
                <a:sym typeface="Arial"/>
              </a:rPr>
              <a:t>Simply return the length of the </a:t>
            </a:r>
            <a:r>
              <a:rPr lang="en" sz="1250">
                <a:solidFill>
                  <a:schemeClr val="dk2"/>
                </a:solidFill>
                <a:latin typeface="Arial"/>
                <a:ea typeface="Arial"/>
                <a:cs typeface="Arial"/>
                <a:sym typeface="Arial"/>
              </a:rPr>
              <a:t>contributors</a:t>
            </a:r>
            <a:r>
              <a:rPr lang="en" sz="1400">
                <a:solidFill>
                  <a:schemeClr val="dk2"/>
                </a:solidFill>
                <a:latin typeface="Arial"/>
                <a:ea typeface="Arial"/>
                <a:cs typeface="Arial"/>
                <a:sym typeface="Arial"/>
              </a:rPr>
              <a:t> array.</a:t>
            </a:r>
            <a:endParaRPr sz="1500">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Implementation </a:t>
            </a:r>
            <a:endParaRPr/>
          </a:p>
          <a:p>
            <a:pPr marL="0" lvl="0" indent="0" algn="l" rtl="0">
              <a:spcBef>
                <a:spcPts val="0"/>
              </a:spcBef>
              <a:spcAft>
                <a:spcPts val="0"/>
              </a:spcAft>
              <a:buNone/>
            </a:pPr>
            <a:endParaRPr/>
          </a:p>
        </p:txBody>
      </p:sp>
      <p:sp>
        <p:nvSpPr>
          <p:cNvPr id="236" name="Google Shape;236;p3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008000"/>
                </a:solidFill>
                <a:latin typeface="Courier New"/>
                <a:ea typeface="Courier New"/>
                <a:cs typeface="Courier New"/>
                <a:sym typeface="Courier New"/>
              </a:rPr>
              <a:t>// Function to get the total number of contributors</a:t>
            </a:r>
            <a:endParaRPr sz="1450">
              <a:solidFill>
                <a:srgbClr val="008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0000FF"/>
                </a:solidFill>
                <a:latin typeface="Courier New"/>
                <a:ea typeface="Courier New"/>
                <a:cs typeface="Courier New"/>
                <a:sym typeface="Courier New"/>
              </a:rPr>
              <a:t>function</a:t>
            </a:r>
            <a:r>
              <a:rPr lang="en" sz="1450">
                <a:solidFill>
                  <a:srgbClr val="343A40"/>
                </a:solidFill>
                <a:latin typeface="Courier New"/>
                <a:ea typeface="Courier New"/>
                <a:cs typeface="Courier New"/>
                <a:sym typeface="Courier New"/>
              </a:rPr>
              <a:t> getTotalContributors</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external</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view</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returns</a:t>
            </a: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r>
              <a:rPr lang="en" sz="1450">
                <a:solidFill>
                  <a:srgbClr val="0000FF"/>
                </a:solidFill>
                <a:latin typeface="Courier New"/>
                <a:ea typeface="Courier New"/>
                <a:cs typeface="Courier New"/>
                <a:sym typeface="Courier New"/>
              </a:rPr>
              <a:t>uint256</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return</a:t>
            </a:r>
            <a:r>
              <a:rPr lang="en" sz="1450">
                <a:solidFill>
                  <a:srgbClr val="343A40"/>
                </a:solidFill>
                <a:latin typeface="Courier New"/>
                <a:ea typeface="Courier New"/>
                <a:cs typeface="Courier New"/>
                <a:sym typeface="Courier New"/>
              </a:rPr>
              <a:t> contributors</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length</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spcBef>
                <a:spcPts val="0"/>
              </a:spcBef>
              <a:spcAft>
                <a:spcPts val="1200"/>
              </a:spcAft>
              <a:buNone/>
            </a:pPr>
            <a:endParaRPr sz="17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 withdraw() function</a:t>
            </a:r>
            <a:endParaRPr/>
          </a:p>
        </p:txBody>
      </p:sp>
      <p:sp>
        <p:nvSpPr>
          <p:cNvPr id="242" name="Google Shape;242;p3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chemeClr val="dk2"/>
                </a:solidFill>
                <a:latin typeface="Roboto"/>
                <a:ea typeface="Roboto"/>
                <a:cs typeface="Roboto"/>
                <a:sym typeface="Roboto"/>
              </a:rPr>
              <a:t>Implement the </a:t>
            </a:r>
            <a:r>
              <a:rPr lang="en" sz="1250">
                <a:solidFill>
                  <a:schemeClr val="dk2"/>
                </a:solidFill>
                <a:latin typeface="Courier New"/>
                <a:ea typeface="Courier New"/>
                <a:cs typeface="Courier New"/>
                <a:sym typeface="Courier New"/>
              </a:rPr>
              <a:t>withdrawEther</a:t>
            </a:r>
            <a:r>
              <a:rPr lang="en" sz="1400">
                <a:solidFill>
                  <a:schemeClr val="dk2"/>
                </a:solidFill>
                <a:latin typeface="Roboto"/>
                <a:ea typeface="Roboto"/>
                <a:cs typeface="Roboto"/>
                <a:sym typeface="Roboto"/>
              </a:rPr>
              <a:t> function to allow the owner to withdraw Ether from the contract.</a:t>
            </a:r>
            <a:endParaRPr sz="1400">
              <a:solidFill>
                <a:schemeClr val="dk2"/>
              </a:solidFill>
              <a:latin typeface="Roboto"/>
              <a:ea typeface="Roboto"/>
              <a:cs typeface="Roboto"/>
              <a:sym typeface="Roboto"/>
            </a:endParaRPr>
          </a:p>
          <a:p>
            <a:pPr marL="0" lvl="0" indent="0" algn="l" rtl="0">
              <a:spcBef>
                <a:spcPts val="0"/>
              </a:spcBef>
              <a:spcAft>
                <a:spcPts val="0"/>
              </a:spcAft>
              <a:buNone/>
            </a:pPr>
            <a:endParaRPr sz="1500">
              <a:solidFill>
                <a:schemeClr val="dk2"/>
              </a:solidFill>
            </a:endParaRPr>
          </a:p>
          <a:p>
            <a:pPr marL="0" lvl="0" indent="0" algn="l" rtl="0">
              <a:spcBef>
                <a:spcPts val="1200"/>
              </a:spcBef>
              <a:spcAft>
                <a:spcPts val="0"/>
              </a:spcAft>
              <a:buNone/>
            </a:pPr>
            <a:r>
              <a:rPr lang="en" sz="1500">
                <a:solidFill>
                  <a:schemeClr val="dk2"/>
                </a:solidFill>
              </a:rPr>
              <a:t>function withdrawEther() external onlyOwner {</a:t>
            </a:r>
            <a:endParaRPr sz="1500">
              <a:solidFill>
                <a:schemeClr val="dk2"/>
              </a:solidFill>
            </a:endParaRPr>
          </a:p>
          <a:p>
            <a:pPr marL="0" lvl="0" indent="0" algn="l" rtl="0">
              <a:spcBef>
                <a:spcPts val="1200"/>
              </a:spcBef>
              <a:spcAft>
                <a:spcPts val="0"/>
              </a:spcAft>
              <a:buNone/>
            </a:pPr>
            <a:r>
              <a:rPr lang="en" sz="1500">
                <a:solidFill>
                  <a:schemeClr val="dk2"/>
                </a:solidFill>
              </a:rPr>
              <a:t>    // Function implementation here</a:t>
            </a:r>
            <a:endParaRPr sz="1500">
              <a:solidFill>
                <a:schemeClr val="dk2"/>
              </a:solidFill>
            </a:endParaRPr>
          </a:p>
          <a:p>
            <a:pPr marL="0" lvl="0" indent="0" algn="l" rtl="0">
              <a:spcBef>
                <a:spcPts val="1200"/>
              </a:spcBef>
              <a:spcAft>
                <a:spcPts val="0"/>
              </a:spcAft>
              <a:buNone/>
            </a:pPr>
            <a:r>
              <a:rPr lang="en" sz="1500">
                <a:solidFill>
                  <a:schemeClr val="dk2"/>
                </a:solidFill>
              </a:rPr>
              <a:t>}</a:t>
            </a:r>
            <a:endParaRPr sz="1500">
              <a:solidFill>
                <a:schemeClr val="dk2"/>
              </a:solidFill>
            </a:endParaRPr>
          </a:p>
          <a:p>
            <a:pPr marL="457200" lvl="0" indent="-228600" algn="l" rtl="0">
              <a:spcBef>
                <a:spcPts val="1200"/>
              </a:spcBef>
              <a:spcAft>
                <a:spcPts val="0"/>
              </a:spcAft>
              <a:buClr>
                <a:schemeClr val="dk2"/>
              </a:buClr>
              <a:buSzPts val="1400"/>
              <a:buFont typeface="Roboto"/>
              <a:buNone/>
            </a:pPr>
            <a:r>
              <a:rPr lang="en" sz="1400">
                <a:solidFill>
                  <a:schemeClr val="dk2"/>
                </a:solidFill>
                <a:latin typeface="Roboto"/>
                <a:ea typeface="Roboto"/>
                <a:cs typeface="Roboto"/>
                <a:sym typeface="Roboto"/>
              </a:rPr>
              <a:t>Transfer the entire balance of the contract to the contract owner.</a:t>
            </a:r>
            <a:endParaRPr sz="15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Implementation </a:t>
            </a:r>
            <a:endParaRPr/>
          </a:p>
          <a:p>
            <a:pPr marL="0" lvl="0" indent="0" algn="l" rtl="0">
              <a:spcBef>
                <a:spcPts val="0"/>
              </a:spcBef>
              <a:spcAft>
                <a:spcPts val="0"/>
              </a:spcAft>
              <a:buNone/>
            </a:pPr>
            <a:endParaRPr/>
          </a:p>
        </p:txBody>
      </p:sp>
      <p:sp>
        <p:nvSpPr>
          <p:cNvPr id="248" name="Google Shape;248;p4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008000"/>
                </a:solidFill>
                <a:latin typeface="Courier New"/>
                <a:ea typeface="Courier New"/>
                <a:cs typeface="Courier New"/>
                <a:sym typeface="Courier New"/>
              </a:rPr>
              <a:t>// Function to withdraw Ether from the contract (only by the owner)</a:t>
            </a:r>
            <a:endParaRPr sz="1350">
              <a:solidFill>
                <a:srgbClr val="008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0000FF"/>
                </a:solidFill>
                <a:latin typeface="Courier New"/>
                <a:ea typeface="Courier New"/>
                <a:cs typeface="Courier New"/>
                <a:sym typeface="Courier New"/>
              </a:rPr>
              <a:t>function</a:t>
            </a:r>
            <a:r>
              <a:rPr lang="en" sz="1350">
                <a:solidFill>
                  <a:srgbClr val="343A40"/>
                </a:solidFill>
                <a:latin typeface="Courier New"/>
                <a:ea typeface="Courier New"/>
                <a:cs typeface="Courier New"/>
                <a:sym typeface="Courier New"/>
              </a:rPr>
              <a:t> withdrawEther</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a:t>
            </a:r>
            <a:r>
              <a:rPr lang="en" sz="1350">
                <a:solidFill>
                  <a:srgbClr val="3CB521"/>
                </a:solidFill>
                <a:latin typeface="Courier New"/>
                <a:ea typeface="Courier New"/>
                <a:cs typeface="Courier New"/>
                <a:sym typeface="Courier New"/>
              </a:rPr>
              <a:t>external</a:t>
            </a:r>
            <a:r>
              <a:rPr lang="en" sz="1350">
                <a:solidFill>
                  <a:srgbClr val="343A40"/>
                </a:solidFill>
                <a:latin typeface="Courier New"/>
                <a:ea typeface="Courier New"/>
                <a:cs typeface="Courier New"/>
                <a:sym typeface="Courier New"/>
              </a:rPr>
              <a:t> onlyOwner </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0000FF"/>
                </a:solidFill>
                <a:latin typeface="Courier New"/>
                <a:ea typeface="Courier New"/>
                <a:cs typeface="Courier New"/>
                <a:sym typeface="Courier New"/>
              </a:rPr>
              <a:t>uint256</a:t>
            </a:r>
            <a:r>
              <a:rPr lang="en" sz="1350">
                <a:solidFill>
                  <a:srgbClr val="343A40"/>
                </a:solidFill>
                <a:latin typeface="Courier New"/>
                <a:ea typeface="Courier New"/>
                <a:cs typeface="Courier New"/>
                <a:sym typeface="Courier New"/>
              </a:rPr>
              <a:t> balance </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 </a:t>
            </a:r>
            <a:r>
              <a:rPr lang="en" sz="1350">
                <a:solidFill>
                  <a:srgbClr val="0000FF"/>
                </a:solidFill>
                <a:latin typeface="Courier New"/>
                <a:ea typeface="Courier New"/>
                <a:cs typeface="Courier New"/>
                <a:sym typeface="Courier New"/>
              </a:rPr>
              <a:t>address</a:t>
            </a:r>
            <a:r>
              <a:rPr lang="en" sz="1350">
                <a:solidFill>
                  <a:srgbClr val="000000"/>
                </a:solidFill>
                <a:latin typeface="Courier New"/>
                <a:ea typeface="Courier New"/>
                <a:cs typeface="Courier New"/>
                <a:sym typeface="Courier New"/>
              </a:rPr>
              <a:t>(</a:t>
            </a:r>
            <a:r>
              <a:rPr lang="en" sz="1350">
                <a:solidFill>
                  <a:srgbClr val="3399F3"/>
                </a:solidFill>
                <a:latin typeface="Courier New"/>
                <a:ea typeface="Courier New"/>
                <a:cs typeface="Courier New"/>
                <a:sym typeface="Courier New"/>
              </a:rPr>
              <a:t>this</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balance</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3CB521"/>
                </a:solidFill>
                <a:latin typeface="Courier New"/>
                <a:ea typeface="Courier New"/>
                <a:cs typeface="Courier New"/>
                <a:sym typeface="Courier New"/>
              </a:rPr>
              <a:t>payable</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owner</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transfer</a:t>
            </a:r>
            <a:r>
              <a:rPr lang="en" sz="1350">
                <a:solidFill>
                  <a:srgbClr val="000000"/>
                </a:solidFill>
                <a:latin typeface="Courier New"/>
                <a:ea typeface="Courier New"/>
                <a:cs typeface="Courier New"/>
                <a:sym typeface="Courier New"/>
              </a:rPr>
              <a:t>(</a:t>
            </a:r>
            <a:r>
              <a:rPr lang="en" sz="1350">
                <a:solidFill>
                  <a:srgbClr val="343A40"/>
                </a:solidFill>
                <a:latin typeface="Courier New"/>
                <a:ea typeface="Courier New"/>
                <a:cs typeface="Courier New"/>
                <a:sym typeface="Courier New"/>
              </a:rPr>
              <a:t>balance</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350">
                <a:solidFill>
                  <a:srgbClr val="343A40"/>
                </a:solidFill>
                <a:latin typeface="Courier New"/>
                <a:ea typeface="Courier New"/>
                <a:cs typeface="Courier New"/>
                <a:sym typeface="Courier New"/>
              </a:rPr>
              <a:t>   </a:t>
            </a:r>
            <a:r>
              <a:rPr lang="en" sz="1350">
                <a:solidFill>
                  <a:srgbClr val="000000"/>
                </a:solidFill>
                <a:latin typeface="Courier New"/>
                <a:ea typeface="Courier New"/>
                <a:cs typeface="Courier New"/>
                <a:sym typeface="Courier New"/>
              </a:rPr>
              <a:t>}</a:t>
            </a:r>
            <a:endParaRPr sz="1350">
              <a:solidFill>
                <a:srgbClr val="000000"/>
              </a:solidFill>
              <a:latin typeface="Courier New"/>
              <a:ea typeface="Courier New"/>
              <a:cs typeface="Courier New"/>
              <a:sym typeface="Courier New"/>
            </a:endParaRPr>
          </a:p>
          <a:p>
            <a:pPr marL="0" lvl="0" indent="0" algn="l" rtl="0">
              <a:spcBef>
                <a:spcPts val="0"/>
              </a:spcBef>
              <a:spcAft>
                <a:spcPts val="1200"/>
              </a:spcAft>
              <a:buNone/>
            </a:pPr>
            <a:endParaRPr sz="16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 updateTokenPrice() fucntion</a:t>
            </a:r>
            <a:endParaRPr/>
          </a:p>
        </p:txBody>
      </p:sp>
      <p:sp>
        <p:nvSpPr>
          <p:cNvPr id="254" name="Google Shape;254;p4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a:solidFill>
                  <a:schemeClr val="dk2"/>
                </a:solidFill>
                <a:latin typeface="Roboto"/>
                <a:ea typeface="Roboto"/>
                <a:cs typeface="Roboto"/>
                <a:sym typeface="Roboto"/>
              </a:rPr>
              <a:t>Implement the </a:t>
            </a:r>
            <a:r>
              <a:rPr lang="en" sz="1350">
                <a:solidFill>
                  <a:schemeClr val="dk2"/>
                </a:solidFill>
                <a:latin typeface="Courier New"/>
                <a:ea typeface="Courier New"/>
                <a:cs typeface="Courier New"/>
                <a:sym typeface="Courier New"/>
              </a:rPr>
              <a:t>updateTokenPrice</a:t>
            </a:r>
            <a:r>
              <a:rPr lang="en" sz="1500">
                <a:solidFill>
                  <a:schemeClr val="dk2"/>
                </a:solidFill>
                <a:latin typeface="Roboto"/>
                <a:ea typeface="Roboto"/>
                <a:cs typeface="Roboto"/>
                <a:sym typeface="Roboto"/>
              </a:rPr>
              <a:t> function to allow the owner to update the token price.</a:t>
            </a:r>
            <a:endParaRPr sz="1500">
              <a:solidFill>
                <a:schemeClr val="dk2"/>
              </a:solidFill>
              <a:latin typeface="Roboto"/>
              <a:ea typeface="Roboto"/>
              <a:cs typeface="Roboto"/>
              <a:sym typeface="Roboto"/>
            </a:endParaRPr>
          </a:p>
          <a:p>
            <a:pPr marL="0" lvl="0" indent="0" algn="l" rtl="0">
              <a:spcBef>
                <a:spcPts val="0"/>
              </a:spcBef>
              <a:spcAft>
                <a:spcPts val="0"/>
              </a:spcAft>
              <a:buNone/>
            </a:pPr>
            <a:endParaRPr sz="1500">
              <a:solidFill>
                <a:schemeClr val="dk2"/>
              </a:solidFill>
              <a:latin typeface="Roboto"/>
              <a:ea typeface="Roboto"/>
              <a:cs typeface="Roboto"/>
              <a:sym typeface="Roboto"/>
            </a:endParaRPr>
          </a:p>
          <a:p>
            <a:pPr marL="0" lvl="0" indent="0" algn="l" rtl="0">
              <a:spcBef>
                <a:spcPts val="0"/>
              </a:spcBef>
              <a:spcAft>
                <a:spcPts val="0"/>
              </a:spcAft>
              <a:buNone/>
            </a:pPr>
            <a:r>
              <a:rPr lang="en" sz="1600">
                <a:solidFill>
                  <a:schemeClr val="dk2"/>
                </a:solidFill>
              </a:rPr>
              <a:t>function updateTokenPrice(uint256 _newPrice) external onlyOwner {</a:t>
            </a:r>
            <a:endParaRPr sz="1600">
              <a:solidFill>
                <a:schemeClr val="dk2"/>
              </a:solidFill>
            </a:endParaRPr>
          </a:p>
          <a:p>
            <a:pPr marL="0" lvl="0" indent="0" algn="l" rtl="0">
              <a:spcBef>
                <a:spcPts val="1200"/>
              </a:spcBef>
              <a:spcAft>
                <a:spcPts val="0"/>
              </a:spcAft>
              <a:buNone/>
            </a:pPr>
            <a:r>
              <a:rPr lang="en" sz="1600">
                <a:solidFill>
                  <a:schemeClr val="dk2"/>
                </a:solidFill>
              </a:rPr>
              <a:t>    // Function implementation here</a:t>
            </a:r>
            <a:endParaRPr sz="1600">
              <a:solidFill>
                <a:schemeClr val="dk2"/>
              </a:solidFill>
            </a:endParaRPr>
          </a:p>
          <a:p>
            <a:pPr marL="0" lvl="0" indent="0" algn="l" rtl="0">
              <a:spcBef>
                <a:spcPts val="1200"/>
              </a:spcBef>
              <a:spcAft>
                <a:spcPts val="0"/>
              </a:spcAft>
              <a:buNone/>
            </a:pPr>
            <a:r>
              <a:rPr lang="en" sz="1600">
                <a:solidFill>
                  <a:schemeClr val="dk2"/>
                </a:solidFill>
              </a:rPr>
              <a:t>}</a:t>
            </a:r>
            <a:endParaRPr sz="1600">
              <a:solidFill>
                <a:schemeClr val="dk2"/>
              </a:solidFill>
            </a:endParaRPr>
          </a:p>
          <a:p>
            <a:pPr marL="0" lvl="0" indent="0" algn="l" rtl="0">
              <a:spcBef>
                <a:spcPts val="1200"/>
              </a:spcBef>
              <a:spcAft>
                <a:spcPts val="1500"/>
              </a:spcAft>
              <a:buNone/>
            </a:pPr>
            <a:r>
              <a:rPr lang="en" sz="1500">
                <a:solidFill>
                  <a:schemeClr val="dk2"/>
                </a:solidFill>
                <a:latin typeface="Roboto"/>
                <a:ea typeface="Roboto"/>
                <a:cs typeface="Roboto"/>
                <a:sym typeface="Roboto"/>
              </a:rPr>
              <a:t>Update the </a:t>
            </a:r>
            <a:r>
              <a:rPr lang="en" sz="1350">
                <a:solidFill>
                  <a:schemeClr val="dk2"/>
                </a:solidFill>
                <a:latin typeface="Courier New"/>
                <a:ea typeface="Courier New"/>
                <a:cs typeface="Courier New"/>
                <a:sym typeface="Courier New"/>
              </a:rPr>
              <a:t>tokenPrice</a:t>
            </a:r>
            <a:r>
              <a:rPr lang="en" sz="1500">
                <a:solidFill>
                  <a:schemeClr val="dk2"/>
                </a:solidFill>
                <a:latin typeface="Roboto"/>
                <a:ea typeface="Roboto"/>
                <a:cs typeface="Roboto"/>
                <a:sym typeface="Roboto"/>
              </a:rPr>
              <a:t> with </a:t>
            </a:r>
            <a:r>
              <a:rPr lang="en" sz="1350">
                <a:solidFill>
                  <a:schemeClr val="dk2"/>
                </a:solidFill>
                <a:latin typeface="Courier New"/>
                <a:ea typeface="Courier New"/>
                <a:cs typeface="Courier New"/>
                <a:sym typeface="Courier New"/>
              </a:rPr>
              <a:t>_newPrice</a:t>
            </a:r>
            <a:r>
              <a:rPr lang="en" sz="1500">
                <a:solidFill>
                  <a:schemeClr val="dk2"/>
                </a:solidFill>
                <a:latin typeface="Roboto"/>
                <a:ea typeface="Roboto"/>
                <a:cs typeface="Roboto"/>
                <a:sym typeface="Roboto"/>
              </a:rPr>
              <a:t>.</a:t>
            </a:r>
            <a:endParaRPr sz="16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Implementation </a:t>
            </a:r>
            <a:endParaRPr/>
          </a:p>
          <a:p>
            <a:pPr marL="0" lvl="0" indent="0" algn="l" rtl="0">
              <a:spcBef>
                <a:spcPts val="0"/>
              </a:spcBef>
              <a:spcAft>
                <a:spcPts val="0"/>
              </a:spcAft>
              <a:buNone/>
            </a:pPr>
            <a:endParaRPr/>
          </a:p>
        </p:txBody>
      </p:sp>
      <p:sp>
        <p:nvSpPr>
          <p:cNvPr id="260" name="Google Shape;260;p4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008000"/>
                </a:solidFill>
                <a:latin typeface="Courier New"/>
                <a:ea typeface="Courier New"/>
                <a:cs typeface="Courier New"/>
                <a:sym typeface="Courier New"/>
              </a:rPr>
              <a:t>// Function to update the token price (only by the owner)</a:t>
            </a:r>
            <a:endParaRPr sz="1450">
              <a:solidFill>
                <a:srgbClr val="008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0000FF"/>
                </a:solidFill>
                <a:latin typeface="Courier New"/>
                <a:ea typeface="Courier New"/>
                <a:cs typeface="Courier New"/>
                <a:sym typeface="Courier New"/>
              </a:rPr>
              <a:t>function</a:t>
            </a:r>
            <a:r>
              <a:rPr lang="en" sz="1450">
                <a:solidFill>
                  <a:srgbClr val="343A40"/>
                </a:solidFill>
                <a:latin typeface="Courier New"/>
                <a:ea typeface="Courier New"/>
                <a:cs typeface="Courier New"/>
                <a:sym typeface="Courier New"/>
              </a:rPr>
              <a:t> updateTokenPrice</a:t>
            </a:r>
            <a:r>
              <a:rPr lang="en" sz="1450">
                <a:solidFill>
                  <a:srgbClr val="000000"/>
                </a:solidFill>
                <a:latin typeface="Courier New"/>
                <a:ea typeface="Courier New"/>
                <a:cs typeface="Courier New"/>
                <a:sym typeface="Courier New"/>
              </a:rPr>
              <a:t>(</a:t>
            </a:r>
            <a:r>
              <a:rPr lang="en" sz="1450">
                <a:solidFill>
                  <a:srgbClr val="0000FF"/>
                </a:solidFill>
                <a:latin typeface="Courier New"/>
                <a:ea typeface="Courier New"/>
                <a:cs typeface="Courier New"/>
                <a:sym typeface="Courier New"/>
              </a:rPr>
              <a:t>uint256</a:t>
            </a:r>
            <a:r>
              <a:rPr lang="en" sz="1450">
                <a:solidFill>
                  <a:srgbClr val="343A40"/>
                </a:solidFill>
                <a:latin typeface="Courier New"/>
                <a:ea typeface="Courier New"/>
                <a:cs typeface="Courier New"/>
                <a:sym typeface="Courier New"/>
              </a:rPr>
              <a:t> _newPrice</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external</a:t>
            </a:r>
            <a:r>
              <a:rPr lang="en" sz="1450">
                <a:solidFill>
                  <a:srgbClr val="343A40"/>
                </a:solidFill>
                <a:latin typeface="Courier New"/>
                <a:ea typeface="Courier New"/>
                <a:cs typeface="Courier New"/>
                <a:sym typeface="Courier New"/>
              </a:rPr>
              <a:t> onlyOwner </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tokenPrice </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_newPrice</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spcBef>
                <a:spcPts val="0"/>
              </a:spcBef>
              <a:spcAft>
                <a:spcPts val="1200"/>
              </a:spcAft>
              <a:buNone/>
            </a:pPr>
            <a:endParaRPr sz="17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43"/>
          <p:cNvPicPr preferRelativeResize="0"/>
          <p:nvPr/>
        </p:nvPicPr>
        <p:blipFill>
          <a:blip r:embed="rId3">
            <a:alphaModFix/>
          </a:blip>
          <a:stretch>
            <a:fillRect/>
          </a:stretch>
        </p:blipFill>
        <p:spPr>
          <a:xfrm>
            <a:off x="152400" y="152400"/>
            <a:ext cx="8602133" cy="4838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44"/>
          <p:cNvPicPr preferRelativeResize="0"/>
          <p:nvPr/>
        </p:nvPicPr>
        <p:blipFill rotWithShape="1">
          <a:blip r:embed="rId3">
            <a:alphaModFix/>
          </a:blip>
          <a:srcRect t="10380" b="10077"/>
          <a:stretch/>
        </p:blipFill>
        <p:spPr>
          <a:xfrm>
            <a:off x="152400" y="654500"/>
            <a:ext cx="8602123" cy="38487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ABI Encode </a:t>
            </a:r>
            <a:endParaRPr/>
          </a:p>
        </p:txBody>
      </p:sp>
      <p:sp>
        <p:nvSpPr>
          <p:cNvPr id="276" name="Google Shape;276;p4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0" lvl="0" indent="0" algn="just" rtl="0">
              <a:lnSpc>
                <a:spcPct val="150000"/>
              </a:lnSpc>
              <a:spcBef>
                <a:spcPts val="0"/>
              </a:spcBef>
              <a:spcAft>
                <a:spcPts val="0"/>
              </a:spcAft>
              <a:buNone/>
            </a:pPr>
            <a:r>
              <a:rPr lang="en" sz="1500">
                <a:solidFill>
                  <a:schemeClr val="dk2"/>
                </a:solidFill>
                <a:latin typeface="Roboto"/>
                <a:ea typeface="Roboto"/>
                <a:cs typeface="Roboto"/>
                <a:sym typeface="Roboto"/>
              </a:rPr>
              <a:t>ABI (Application Binary Interface) encoding and decoding are used to serialize and deserialize data structures in Ethereum smart contracts. It's a way to encode complex data types, such as structs or arrays, into a format that can be efficiently passed between different parts of a smart contract or between contracts themselves. Here's an example of how you can use ABI encoding and decoding in Solidity:</a:t>
            </a:r>
            <a:endParaRPr sz="1500">
              <a:solidFill>
                <a:schemeClr val="dk2"/>
              </a:solidFill>
              <a:latin typeface="Roboto"/>
              <a:ea typeface="Roboto"/>
              <a:cs typeface="Roboto"/>
              <a:sym typeface="Roboto"/>
            </a:endParaRPr>
          </a:p>
          <a:p>
            <a:pPr marL="0" lvl="0" indent="0" algn="just" rtl="0">
              <a:lnSpc>
                <a:spcPct val="150000"/>
              </a:lnSpc>
              <a:spcBef>
                <a:spcPts val="1500"/>
              </a:spcBef>
              <a:spcAft>
                <a:spcPts val="1200"/>
              </a:spcAft>
              <a:buNone/>
            </a:pPr>
            <a:endParaRPr sz="16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6"/>
          <p:cNvSpPr txBox="1">
            <a:spLocks noGrp="1"/>
          </p:cNvSpPr>
          <p:nvPr>
            <p:ph type="title"/>
          </p:nvPr>
        </p:nvSpPr>
        <p:spPr>
          <a:xfrm>
            <a:off x="644075" y="6855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282" name="Google Shape;282;p46"/>
          <p:cNvSpPr txBox="1">
            <a:spLocks noGrp="1"/>
          </p:cNvSpPr>
          <p:nvPr>
            <p:ph type="body" idx="1"/>
          </p:nvPr>
        </p:nvSpPr>
        <p:spPr>
          <a:xfrm>
            <a:off x="729450" y="1358800"/>
            <a:ext cx="3012600" cy="3692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523"/>
              <a:buNone/>
            </a:pPr>
            <a:r>
              <a:rPr lang="en" sz="1617">
                <a:solidFill>
                  <a:schemeClr val="dk2"/>
                </a:solidFill>
              </a:rPr>
              <a:t>// SPDX-License-Identifier: MIT</a:t>
            </a:r>
            <a:endParaRPr sz="1617">
              <a:solidFill>
                <a:schemeClr val="dk2"/>
              </a:solidFill>
            </a:endParaRPr>
          </a:p>
          <a:p>
            <a:pPr marL="0" lvl="0" indent="0" algn="l" rtl="0">
              <a:lnSpc>
                <a:spcPct val="95000"/>
              </a:lnSpc>
              <a:spcBef>
                <a:spcPts val="1200"/>
              </a:spcBef>
              <a:spcAft>
                <a:spcPts val="0"/>
              </a:spcAft>
              <a:buSzPts val="523"/>
              <a:buNone/>
            </a:pPr>
            <a:r>
              <a:rPr lang="en" sz="1617">
                <a:solidFill>
                  <a:schemeClr val="dk2"/>
                </a:solidFill>
              </a:rPr>
              <a:t>pragma solidity ^0.8.0;</a:t>
            </a:r>
            <a:endParaRPr sz="1617">
              <a:solidFill>
                <a:schemeClr val="dk2"/>
              </a:solidFill>
            </a:endParaRPr>
          </a:p>
          <a:p>
            <a:pPr marL="0" lvl="0" indent="0" algn="l" rtl="0">
              <a:lnSpc>
                <a:spcPct val="95000"/>
              </a:lnSpc>
              <a:spcBef>
                <a:spcPts val="1200"/>
              </a:spcBef>
              <a:spcAft>
                <a:spcPts val="0"/>
              </a:spcAft>
              <a:buSzPts val="523"/>
              <a:buNone/>
            </a:pPr>
            <a:r>
              <a:rPr lang="en" sz="1617">
                <a:solidFill>
                  <a:schemeClr val="dk2"/>
                </a:solidFill>
              </a:rPr>
              <a:t>contract ABIExample {</a:t>
            </a:r>
            <a:endParaRPr sz="1617">
              <a:solidFill>
                <a:schemeClr val="dk2"/>
              </a:solidFill>
            </a:endParaRPr>
          </a:p>
          <a:p>
            <a:pPr marL="0" lvl="0" indent="0" algn="l" rtl="0">
              <a:lnSpc>
                <a:spcPct val="95000"/>
              </a:lnSpc>
              <a:spcBef>
                <a:spcPts val="1200"/>
              </a:spcBef>
              <a:spcAft>
                <a:spcPts val="0"/>
              </a:spcAft>
              <a:buSzPts val="523"/>
              <a:buNone/>
            </a:pPr>
            <a:r>
              <a:rPr lang="en" sz="1617">
                <a:solidFill>
                  <a:schemeClr val="dk2"/>
                </a:solidFill>
              </a:rPr>
              <a:t>    struct Person {</a:t>
            </a:r>
            <a:endParaRPr sz="1617">
              <a:solidFill>
                <a:schemeClr val="dk2"/>
              </a:solidFill>
            </a:endParaRPr>
          </a:p>
          <a:p>
            <a:pPr marL="0" lvl="0" indent="0" algn="l" rtl="0">
              <a:lnSpc>
                <a:spcPct val="95000"/>
              </a:lnSpc>
              <a:spcBef>
                <a:spcPts val="1200"/>
              </a:spcBef>
              <a:spcAft>
                <a:spcPts val="0"/>
              </a:spcAft>
              <a:buSzPts val="523"/>
              <a:buNone/>
            </a:pPr>
            <a:r>
              <a:rPr lang="en" sz="1617">
                <a:solidFill>
                  <a:schemeClr val="dk2"/>
                </a:solidFill>
              </a:rPr>
              <a:t>        string name;</a:t>
            </a:r>
            <a:endParaRPr sz="1617">
              <a:solidFill>
                <a:schemeClr val="dk2"/>
              </a:solidFill>
            </a:endParaRPr>
          </a:p>
          <a:p>
            <a:pPr marL="0" lvl="0" indent="0" algn="l" rtl="0">
              <a:lnSpc>
                <a:spcPct val="95000"/>
              </a:lnSpc>
              <a:spcBef>
                <a:spcPts val="1200"/>
              </a:spcBef>
              <a:spcAft>
                <a:spcPts val="0"/>
              </a:spcAft>
              <a:buSzPts val="523"/>
              <a:buNone/>
            </a:pPr>
            <a:r>
              <a:rPr lang="en" sz="1617">
                <a:solidFill>
                  <a:schemeClr val="dk2"/>
                </a:solidFill>
              </a:rPr>
              <a:t>        uint256 age;</a:t>
            </a:r>
            <a:endParaRPr sz="1617">
              <a:solidFill>
                <a:schemeClr val="dk2"/>
              </a:solidFill>
            </a:endParaRPr>
          </a:p>
          <a:p>
            <a:pPr marL="0" lvl="0" indent="0" algn="l" rtl="0">
              <a:lnSpc>
                <a:spcPct val="95000"/>
              </a:lnSpc>
              <a:spcBef>
                <a:spcPts val="1200"/>
              </a:spcBef>
              <a:spcAft>
                <a:spcPts val="0"/>
              </a:spcAft>
              <a:buSzPts val="523"/>
              <a:buNone/>
            </a:pPr>
            <a:r>
              <a:rPr lang="en" sz="1617">
                <a:solidFill>
                  <a:schemeClr val="dk2"/>
                </a:solidFill>
              </a:rPr>
              <a:t>    }</a:t>
            </a:r>
            <a:endParaRPr sz="1617">
              <a:solidFill>
                <a:schemeClr val="dk2"/>
              </a:solidFill>
            </a:endParaRPr>
          </a:p>
          <a:p>
            <a:pPr marL="0" lvl="0" indent="0" algn="l" rtl="0">
              <a:lnSpc>
                <a:spcPct val="95000"/>
              </a:lnSpc>
              <a:spcBef>
                <a:spcPts val="1200"/>
              </a:spcBef>
              <a:spcAft>
                <a:spcPts val="1200"/>
              </a:spcAft>
              <a:buSzPts val="523"/>
              <a:buNone/>
            </a:pPr>
            <a:r>
              <a:rPr lang="en" sz="1617">
                <a:solidFill>
                  <a:schemeClr val="dk2"/>
                </a:solidFill>
              </a:rPr>
              <a:t>}</a:t>
            </a:r>
            <a:endParaRPr sz="1617">
              <a:solidFill>
                <a:schemeClr val="dk2"/>
              </a:solidFill>
            </a:endParaRPr>
          </a:p>
        </p:txBody>
      </p:sp>
      <p:sp>
        <p:nvSpPr>
          <p:cNvPr id="283" name="Google Shape;283;p46"/>
          <p:cNvSpPr txBox="1"/>
          <p:nvPr/>
        </p:nvSpPr>
        <p:spPr>
          <a:xfrm>
            <a:off x="4353825" y="1195175"/>
            <a:ext cx="3898500" cy="36921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Clr>
                <a:srgbClr val="000000"/>
              </a:buClr>
              <a:buSzPts val="523"/>
              <a:buFont typeface="Arial"/>
              <a:buNone/>
            </a:pPr>
            <a:r>
              <a:rPr lang="en" sz="1317">
                <a:solidFill>
                  <a:schemeClr val="dk2"/>
                </a:solidFill>
                <a:latin typeface="Lato"/>
                <a:ea typeface="Lato"/>
                <a:cs typeface="Lato"/>
                <a:sym typeface="Lato"/>
              </a:rPr>
              <a:t>    function encodePerson(string memory name, uint256 age) public pure returns (bytes memory) {</a:t>
            </a:r>
            <a:endParaRPr sz="1317">
              <a:solidFill>
                <a:schemeClr val="dk2"/>
              </a:solidFill>
              <a:latin typeface="Lato"/>
              <a:ea typeface="Lato"/>
              <a:cs typeface="Lato"/>
              <a:sym typeface="Lato"/>
            </a:endParaRPr>
          </a:p>
          <a:p>
            <a:pPr marL="0" lvl="0" indent="0" algn="l" rtl="0">
              <a:lnSpc>
                <a:spcPct val="95000"/>
              </a:lnSpc>
              <a:spcBef>
                <a:spcPts val="1200"/>
              </a:spcBef>
              <a:spcAft>
                <a:spcPts val="0"/>
              </a:spcAft>
              <a:buClr>
                <a:srgbClr val="000000"/>
              </a:buClr>
              <a:buSzPts val="523"/>
              <a:buFont typeface="Arial"/>
              <a:buNone/>
            </a:pPr>
            <a:r>
              <a:rPr lang="en" sz="1317">
                <a:solidFill>
                  <a:schemeClr val="dk2"/>
                </a:solidFill>
                <a:latin typeface="Lato"/>
                <a:ea typeface="Lato"/>
                <a:cs typeface="Lato"/>
                <a:sym typeface="Lato"/>
              </a:rPr>
              <a:t>        return abi.encode(name, age);</a:t>
            </a:r>
            <a:endParaRPr sz="1317">
              <a:solidFill>
                <a:schemeClr val="dk2"/>
              </a:solidFill>
              <a:latin typeface="Lato"/>
              <a:ea typeface="Lato"/>
              <a:cs typeface="Lato"/>
              <a:sym typeface="Lato"/>
            </a:endParaRPr>
          </a:p>
          <a:p>
            <a:pPr marL="0" lvl="0" indent="0" algn="l" rtl="0">
              <a:lnSpc>
                <a:spcPct val="95000"/>
              </a:lnSpc>
              <a:spcBef>
                <a:spcPts val="1200"/>
              </a:spcBef>
              <a:spcAft>
                <a:spcPts val="0"/>
              </a:spcAft>
              <a:buClr>
                <a:srgbClr val="000000"/>
              </a:buClr>
              <a:buSzPts val="523"/>
              <a:buFont typeface="Arial"/>
              <a:buNone/>
            </a:pPr>
            <a:r>
              <a:rPr lang="en" sz="1317">
                <a:solidFill>
                  <a:schemeClr val="dk2"/>
                </a:solidFill>
                <a:latin typeface="Lato"/>
                <a:ea typeface="Lato"/>
                <a:cs typeface="Lato"/>
                <a:sym typeface="Lato"/>
              </a:rPr>
              <a:t>    }</a:t>
            </a:r>
            <a:endParaRPr sz="1317">
              <a:solidFill>
                <a:schemeClr val="dk2"/>
              </a:solidFill>
              <a:latin typeface="Lato"/>
              <a:ea typeface="Lato"/>
              <a:cs typeface="Lato"/>
              <a:sym typeface="Lato"/>
            </a:endParaRPr>
          </a:p>
          <a:p>
            <a:pPr marL="0" lvl="0" indent="0" algn="l" rtl="0">
              <a:lnSpc>
                <a:spcPct val="95000"/>
              </a:lnSpc>
              <a:spcBef>
                <a:spcPts val="1200"/>
              </a:spcBef>
              <a:spcAft>
                <a:spcPts val="0"/>
              </a:spcAft>
              <a:buClr>
                <a:srgbClr val="000000"/>
              </a:buClr>
              <a:buSzPts val="523"/>
              <a:buFont typeface="Arial"/>
              <a:buNone/>
            </a:pPr>
            <a:r>
              <a:rPr lang="en" sz="1317">
                <a:solidFill>
                  <a:schemeClr val="dk2"/>
                </a:solidFill>
                <a:latin typeface="Lato"/>
                <a:ea typeface="Lato"/>
                <a:cs typeface="Lato"/>
                <a:sym typeface="Lato"/>
              </a:rPr>
              <a:t>    function decodePerson(bytes memory encodedData) public pure returns (string memory, uint256) {</a:t>
            </a:r>
            <a:endParaRPr sz="1317">
              <a:solidFill>
                <a:schemeClr val="dk2"/>
              </a:solidFill>
              <a:latin typeface="Lato"/>
              <a:ea typeface="Lato"/>
              <a:cs typeface="Lato"/>
              <a:sym typeface="Lato"/>
            </a:endParaRPr>
          </a:p>
          <a:p>
            <a:pPr marL="0" lvl="0" indent="0" algn="l" rtl="0">
              <a:lnSpc>
                <a:spcPct val="95000"/>
              </a:lnSpc>
              <a:spcBef>
                <a:spcPts val="1200"/>
              </a:spcBef>
              <a:spcAft>
                <a:spcPts val="0"/>
              </a:spcAft>
              <a:buClr>
                <a:srgbClr val="000000"/>
              </a:buClr>
              <a:buSzPts val="523"/>
              <a:buFont typeface="Arial"/>
              <a:buNone/>
            </a:pPr>
            <a:r>
              <a:rPr lang="en" sz="1317">
                <a:solidFill>
                  <a:schemeClr val="dk2"/>
                </a:solidFill>
                <a:latin typeface="Lato"/>
                <a:ea typeface="Lato"/>
                <a:cs typeface="Lato"/>
                <a:sym typeface="Lato"/>
              </a:rPr>
              <a:t>        (string memory name, uint256 age) = abi.decode(encodedData, (string, uint256));</a:t>
            </a:r>
            <a:endParaRPr sz="1317">
              <a:solidFill>
                <a:schemeClr val="dk2"/>
              </a:solidFill>
              <a:latin typeface="Lato"/>
              <a:ea typeface="Lato"/>
              <a:cs typeface="Lato"/>
              <a:sym typeface="Lato"/>
            </a:endParaRPr>
          </a:p>
          <a:p>
            <a:pPr marL="0" lvl="0" indent="0" algn="l" rtl="0">
              <a:lnSpc>
                <a:spcPct val="95000"/>
              </a:lnSpc>
              <a:spcBef>
                <a:spcPts val="1200"/>
              </a:spcBef>
              <a:spcAft>
                <a:spcPts val="0"/>
              </a:spcAft>
              <a:buClr>
                <a:srgbClr val="000000"/>
              </a:buClr>
              <a:buSzPts val="523"/>
              <a:buFont typeface="Arial"/>
              <a:buNone/>
            </a:pPr>
            <a:r>
              <a:rPr lang="en" sz="1317">
                <a:solidFill>
                  <a:schemeClr val="dk2"/>
                </a:solidFill>
                <a:latin typeface="Lato"/>
                <a:ea typeface="Lato"/>
                <a:cs typeface="Lato"/>
                <a:sym typeface="Lato"/>
              </a:rPr>
              <a:t>        return (name, age);</a:t>
            </a:r>
            <a:endParaRPr sz="1317">
              <a:solidFill>
                <a:schemeClr val="dk2"/>
              </a:solidFill>
              <a:latin typeface="Lato"/>
              <a:ea typeface="Lato"/>
              <a:cs typeface="Lato"/>
              <a:sym typeface="Lato"/>
            </a:endParaRPr>
          </a:p>
          <a:p>
            <a:pPr marL="0" lvl="0" indent="0" algn="l" rtl="0">
              <a:lnSpc>
                <a:spcPct val="95000"/>
              </a:lnSpc>
              <a:spcBef>
                <a:spcPts val="1200"/>
              </a:spcBef>
              <a:spcAft>
                <a:spcPts val="1200"/>
              </a:spcAft>
              <a:buClr>
                <a:srgbClr val="000000"/>
              </a:buClr>
              <a:buSzPts val="523"/>
              <a:buFont typeface="Arial"/>
              <a:buNone/>
            </a:pPr>
            <a:r>
              <a:rPr lang="en" sz="1317">
                <a:solidFill>
                  <a:schemeClr val="dk2"/>
                </a:solidFill>
                <a:latin typeface="Lato"/>
                <a:ea typeface="Lato"/>
                <a:cs typeface="Lato"/>
                <a:sym typeface="Lato"/>
              </a:rPr>
              <a:t>    }</a:t>
            </a:r>
            <a:endParaRPr sz="2000">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PackedEncoding </a:t>
            </a:r>
            <a:endParaRPr/>
          </a:p>
        </p:txBody>
      </p:sp>
      <p:sp>
        <p:nvSpPr>
          <p:cNvPr id="289" name="Google Shape;289;p4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lnSpc>
                <a:spcPct val="150000"/>
              </a:lnSpc>
              <a:spcBef>
                <a:spcPts val="0"/>
              </a:spcBef>
              <a:spcAft>
                <a:spcPts val="1200"/>
              </a:spcAft>
              <a:buNone/>
            </a:pPr>
            <a:r>
              <a:rPr lang="en" sz="1500">
                <a:solidFill>
                  <a:schemeClr val="dk2"/>
                </a:solidFill>
                <a:latin typeface="Roboto"/>
                <a:ea typeface="Roboto"/>
                <a:cs typeface="Roboto"/>
                <a:sym typeface="Roboto"/>
              </a:rPr>
              <a:t>Packed encoding in ABI refers to encoding data without adding padding between elements. This can be useful when you want to minimize the size of the encoded data for storage or transmission. Here's an example of how you can use packed ABI encoding in Solidity:</a:t>
            </a:r>
            <a:endParaRPr sz="16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Create an NFT through Openzeppelin</a:t>
            </a:r>
            <a:endParaRPr/>
          </a:p>
        </p:txBody>
      </p:sp>
      <p:sp>
        <p:nvSpPr>
          <p:cNvPr id="295" name="Google Shape;295;p4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2"/>
                </a:solidFill>
              </a:rPr>
              <a:t>You have to import Libraries into your contract through openzeppelin.</a:t>
            </a:r>
            <a:endParaRPr>
              <a:solidFill>
                <a:schemeClr val="dk2"/>
              </a:solidFill>
            </a:endParaRPr>
          </a:p>
          <a:p>
            <a:pPr marL="0" lvl="0" indent="0" algn="l" rtl="0">
              <a:spcBef>
                <a:spcPts val="1200"/>
              </a:spcBef>
              <a:spcAft>
                <a:spcPts val="0"/>
              </a:spcAft>
              <a:buNone/>
            </a:pPr>
            <a:r>
              <a:rPr lang="en">
                <a:solidFill>
                  <a:schemeClr val="dk2"/>
                </a:solidFill>
              </a:rPr>
              <a:t>You can also use openzeppeline Wizard for creating NFTs.</a:t>
            </a:r>
            <a:endParaRPr>
              <a:solidFill>
                <a:schemeClr val="dk2"/>
              </a:solidFill>
            </a:endParaRPr>
          </a:p>
          <a:p>
            <a:pPr marL="0" lvl="0" indent="0" algn="l" rtl="0">
              <a:spcBef>
                <a:spcPts val="1200"/>
              </a:spcBef>
              <a:spcAft>
                <a:spcPts val="0"/>
              </a:spcAft>
              <a:buNone/>
            </a:pPr>
            <a:r>
              <a:rPr lang="en" u="sng">
                <a:solidFill>
                  <a:schemeClr val="hlink"/>
                </a:solidFill>
                <a:hlinkClick r:id="rId3"/>
              </a:rPr>
              <a:t>https://docs.openzeppelin.com/contracts/4.x/wizard</a:t>
            </a:r>
            <a:endParaRPr>
              <a:solidFill>
                <a:schemeClr val="dk2"/>
              </a:solidFill>
            </a:endParaRPr>
          </a:p>
          <a:p>
            <a:pPr marL="0" lvl="0" indent="0" algn="l" rtl="0">
              <a:spcBef>
                <a:spcPts val="1200"/>
              </a:spcBef>
              <a:spcAft>
                <a:spcPts val="1200"/>
              </a:spcAft>
              <a:buNone/>
            </a:pPr>
            <a:r>
              <a:rPr lang="en">
                <a:solidFill>
                  <a:schemeClr val="dk2"/>
                </a:solidFill>
              </a:rPr>
              <a:t>Click on above link to create your NFTs.</a:t>
            </a:r>
            <a:endParaRPr>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Create a custom NFT Contract.</a:t>
            </a:r>
            <a:endParaRPr/>
          </a:p>
        </p:txBody>
      </p:sp>
      <p:sp>
        <p:nvSpPr>
          <p:cNvPr id="301" name="Google Shape;301;p49"/>
          <p:cNvSpPr txBox="1">
            <a:spLocks noGrp="1"/>
          </p:cNvSpPr>
          <p:nvPr>
            <p:ph type="body" idx="1"/>
          </p:nvPr>
        </p:nvSpPr>
        <p:spPr>
          <a:xfrm>
            <a:off x="729450" y="2078875"/>
            <a:ext cx="7688700" cy="2993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500">
                <a:solidFill>
                  <a:schemeClr val="dk2"/>
                </a:solidFill>
              </a:rPr>
              <a:t>You have to create a NFT contract where you can buy nft with ether. And also control its totalSupply. </a:t>
            </a:r>
            <a:endParaRPr sz="1500">
              <a:solidFill>
                <a:schemeClr val="dk2"/>
              </a:solidFill>
            </a:endParaRPr>
          </a:p>
          <a:p>
            <a:pPr marL="0" lvl="0" indent="0" algn="l" rtl="0">
              <a:lnSpc>
                <a:spcPct val="150000"/>
              </a:lnSpc>
              <a:spcBef>
                <a:spcPts val="1200"/>
              </a:spcBef>
              <a:spcAft>
                <a:spcPts val="0"/>
              </a:spcAft>
              <a:buNone/>
            </a:pPr>
            <a:r>
              <a:rPr lang="en" sz="1500">
                <a:solidFill>
                  <a:schemeClr val="dk2"/>
                </a:solidFill>
              </a:rPr>
              <a:t>There are following instructions that you have to follow.</a:t>
            </a:r>
            <a:endParaRPr sz="1500">
              <a:solidFill>
                <a:schemeClr val="dk2"/>
              </a:solidFill>
            </a:endParaRPr>
          </a:p>
          <a:p>
            <a:pPr marL="457200" lvl="0" indent="-323850" algn="l" rtl="0">
              <a:lnSpc>
                <a:spcPct val="150000"/>
              </a:lnSpc>
              <a:spcBef>
                <a:spcPts val="1200"/>
              </a:spcBef>
              <a:spcAft>
                <a:spcPts val="0"/>
              </a:spcAft>
              <a:buClr>
                <a:schemeClr val="dk2"/>
              </a:buClr>
              <a:buSzPts val="1500"/>
              <a:buAutoNum type="arabicPeriod"/>
            </a:pPr>
            <a:r>
              <a:rPr lang="en" sz="1500">
                <a:solidFill>
                  <a:schemeClr val="dk2"/>
                </a:solidFill>
              </a:rPr>
              <a:t>Import libraries from openzeppelin that are require.</a:t>
            </a:r>
            <a:endParaRPr sz="1500">
              <a:solidFill>
                <a:schemeClr val="dk2"/>
              </a:solidFill>
            </a:endParaRPr>
          </a:p>
          <a:p>
            <a:pPr marL="457200" lvl="0" indent="-323850" algn="l" rtl="0">
              <a:lnSpc>
                <a:spcPct val="150000"/>
              </a:lnSpc>
              <a:spcBef>
                <a:spcPts val="0"/>
              </a:spcBef>
              <a:spcAft>
                <a:spcPts val="0"/>
              </a:spcAft>
              <a:buClr>
                <a:schemeClr val="dk2"/>
              </a:buClr>
              <a:buSzPts val="1500"/>
              <a:buAutoNum type="arabicPeriod"/>
            </a:pPr>
            <a:r>
              <a:rPr lang="en" sz="1500">
                <a:solidFill>
                  <a:schemeClr val="dk2"/>
                </a:solidFill>
              </a:rPr>
              <a:t>Declare state variable.</a:t>
            </a:r>
            <a:endParaRPr sz="1500">
              <a:solidFill>
                <a:schemeClr val="dk2"/>
              </a:solidFill>
            </a:endParaRPr>
          </a:p>
          <a:p>
            <a:pPr marL="457200" lvl="0" indent="-323850" algn="l" rtl="0">
              <a:lnSpc>
                <a:spcPct val="150000"/>
              </a:lnSpc>
              <a:spcBef>
                <a:spcPts val="0"/>
              </a:spcBef>
              <a:spcAft>
                <a:spcPts val="0"/>
              </a:spcAft>
              <a:buClr>
                <a:schemeClr val="dk2"/>
              </a:buClr>
              <a:buSzPts val="1500"/>
              <a:buAutoNum type="arabicPeriod"/>
            </a:pPr>
            <a:r>
              <a:rPr lang="en" sz="1500">
                <a:solidFill>
                  <a:schemeClr val="dk2"/>
                </a:solidFill>
              </a:rPr>
              <a:t>Declare mapping to keep track of balances.</a:t>
            </a:r>
            <a:endParaRPr sz="1500">
              <a:solidFill>
                <a:schemeClr val="dk2"/>
              </a:solidFill>
            </a:endParaRPr>
          </a:p>
          <a:p>
            <a:pPr marL="457200" lvl="0" indent="-323850" algn="l" rtl="0">
              <a:lnSpc>
                <a:spcPct val="150000"/>
              </a:lnSpc>
              <a:spcBef>
                <a:spcPts val="0"/>
              </a:spcBef>
              <a:spcAft>
                <a:spcPts val="0"/>
              </a:spcAft>
              <a:buClr>
                <a:schemeClr val="dk2"/>
              </a:buClr>
              <a:buSzPts val="1500"/>
              <a:buAutoNum type="arabicPeriod"/>
            </a:pPr>
            <a:r>
              <a:rPr lang="en" sz="1500">
                <a:solidFill>
                  <a:schemeClr val="dk2"/>
                </a:solidFill>
              </a:rPr>
              <a:t>Declare constructor</a:t>
            </a:r>
            <a:endParaRPr sz="1500">
              <a:solidFill>
                <a:schemeClr val="dk2"/>
              </a:solidFill>
            </a:endParaRPr>
          </a:p>
          <a:p>
            <a:pPr marL="0" lvl="0" indent="0" algn="l" rtl="0">
              <a:lnSpc>
                <a:spcPct val="150000"/>
              </a:lnSpc>
              <a:spcBef>
                <a:spcPts val="1200"/>
              </a:spcBef>
              <a:spcAft>
                <a:spcPts val="1200"/>
              </a:spcAft>
              <a:buNone/>
            </a:pPr>
            <a:endParaRPr sz="15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0"/>
          <p:cNvSpPr txBox="1">
            <a:spLocks noGrp="1"/>
          </p:cNvSpPr>
          <p:nvPr>
            <p:ph type="body" idx="1"/>
          </p:nvPr>
        </p:nvSpPr>
        <p:spPr>
          <a:xfrm>
            <a:off x="729450" y="498000"/>
            <a:ext cx="7688700" cy="44535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Clr>
                <a:schemeClr val="dk2"/>
              </a:buClr>
              <a:buSzPts val="1800"/>
              <a:buChar char="●"/>
            </a:pPr>
            <a:r>
              <a:rPr lang="en" sz="1800">
                <a:solidFill>
                  <a:schemeClr val="dk2"/>
                </a:solidFill>
              </a:rPr>
              <a:t> Create a function that control minting that its is allowed or not</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 sz="1800">
                <a:solidFill>
                  <a:schemeClr val="dk2"/>
                </a:solidFill>
              </a:rPr>
              <a:t>Create a function to set maxSupply</a:t>
            </a:r>
            <a:endParaRPr sz="1800">
              <a:solidFill>
                <a:schemeClr val="dk2"/>
              </a:solidFill>
            </a:endParaRPr>
          </a:p>
          <a:p>
            <a:pPr marL="457200" lvl="0" indent="-342900" algn="l" rtl="0">
              <a:lnSpc>
                <a:spcPct val="150000"/>
              </a:lnSpc>
              <a:spcBef>
                <a:spcPts val="0"/>
              </a:spcBef>
              <a:spcAft>
                <a:spcPts val="0"/>
              </a:spcAft>
              <a:buClr>
                <a:schemeClr val="dk2"/>
              </a:buClr>
              <a:buSzPts val="1800"/>
              <a:buChar char="●"/>
            </a:pPr>
            <a:r>
              <a:rPr lang="en" sz="1800">
                <a:solidFill>
                  <a:schemeClr val="dk2"/>
                </a:solidFill>
              </a:rPr>
              <a:t>Create a minting function that consist of following steps</a:t>
            </a:r>
            <a:endParaRPr sz="1800">
              <a:solidFill>
                <a:schemeClr val="dk2"/>
              </a:solidFill>
            </a:endParaRPr>
          </a:p>
          <a:p>
            <a:pPr marL="914400" lvl="1" indent="-330200" algn="l" rtl="0">
              <a:lnSpc>
                <a:spcPct val="150000"/>
              </a:lnSpc>
              <a:spcBef>
                <a:spcPts val="0"/>
              </a:spcBef>
              <a:spcAft>
                <a:spcPts val="0"/>
              </a:spcAft>
              <a:buClr>
                <a:schemeClr val="dk2"/>
              </a:buClr>
              <a:buSzPts val="1600"/>
              <a:buChar char="○"/>
            </a:pPr>
            <a:r>
              <a:rPr lang="en" sz="1600">
                <a:solidFill>
                  <a:schemeClr val="dk2"/>
                </a:solidFill>
              </a:rPr>
              <a:t>Check sufficient balance;</a:t>
            </a:r>
            <a:endParaRPr sz="1600">
              <a:solidFill>
                <a:schemeClr val="dk2"/>
              </a:solidFill>
            </a:endParaRPr>
          </a:p>
          <a:p>
            <a:pPr marL="914400" lvl="1" indent="-330200" algn="l" rtl="0">
              <a:lnSpc>
                <a:spcPct val="150000"/>
              </a:lnSpc>
              <a:spcBef>
                <a:spcPts val="0"/>
              </a:spcBef>
              <a:spcAft>
                <a:spcPts val="0"/>
              </a:spcAft>
              <a:buClr>
                <a:schemeClr val="dk2"/>
              </a:buClr>
              <a:buSzPts val="1600"/>
              <a:buChar char="○"/>
            </a:pPr>
            <a:r>
              <a:rPr lang="en" sz="1600">
                <a:solidFill>
                  <a:schemeClr val="dk2"/>
                </a:solidFill>
              </a:rPr>
              <a:t>Only  1 nft can be mint on 1 address;</a:t>
            </a:r>
            <a:endParaRPr sz="1600">
              <a:solidFill>
                <a:schemeClr val="dk2"/>
              </a:solidFill>
            </a:endParaRPr>
          </a:p>
          <a:p>
            <a:pPr marL="914400" lvl="1" indent="-330200" algn="l" rtl="0">
              <a:lnSpc>
                <a:spcPct val="150000"/>
              </a:lnSpc>
              <a:spcBef>
                <a:spcPts val="0"/>
              </a:spcBef>
              <a:spcAft>
                <a:spcPts val="0"/>
              </a:spcAft>
              <a:buClr>
                <a:schemeClr val="dk2"/>
              </a:buClr>
              <a:buSzPts val="1600"/>
              <a:buChar char="○"/>
            </a:pPr>
            <a:r>
              <a:rPr lang="en" sz="1600">
                <a:solidFill>
                  <a:schemeClr val="dk2"/>
                </a:solidFill>
              </a:rPr>
              <a:t>maxSupply greater then Totalsupply;</a:t>
            </a:r>
            <a:endParaRPr sz="1600">
              <a:solidFill>
                <a:schemeClr val="dk2"/>
              </a:solidFill>
            </a:endParaRPr>
          </a:p>
          <a:p>
            <a:pPr marL="914400" lvl="1" indent="-330200" algn="l" rtl="0">
              <a:lnSpc>
                <a:spcPct val="150000"/>
              </a:lnSpc>
              <a:spcBef>
                <a:spcPts val="0"/>
              </a:spcBef>
              <a:spcAft>
                <a:spcPts val="0"/>
              </a:spcAft>
              <a:buClr>
                <a:schemeClr val="dk2"/>
              </a:buClr>
              <a:buSzPts val="1600"/>
              <a:buChar char="○"/>
            </a:pPr>
            <a:r>
              <a:rPr lang="en" sz="1600">
                <a:solidFill>
                  <a:schemeClr val="dk2"/>
                </a:solidFill>
              </a:rPr>
              <a:t>Minting function is toggled;</a:t>
            </a:r>
            <a:endParaRPr sz="1600">
              <a:solidFill>
                <a:schemeClr val="dk2"/>
              </a:solidFill>
            </a:endParaRPr>
          </a:p>
          <a:p>
            <a:pPr marL="1371600" lvl="2" indent="-330200" algn="l" rtl="0">
              <a:lnSpc>
                <a:spcPct val="150000"/>
              </a:lnSpc>
              <a:spcBef>
                <a:spcPts val="0"/>
              </a:spcBef>
              <a:spcAft>
                <a:spcPts val="0"/>
              </a:spcAft>
              <a:buClr>
                <a:schemeClr val="dk2"/>
              </a:buClr>
              <a:buSzPts val="1600"/>
              <a:buChar char="■"/>
            </a:pPr>
            <a:r>
              <a:rPr lang="en" sz="1600">
                <a:solidFill>
                  <a:schemeClr val="dk2"/>
                </a:solidFill>
              </a:rPr>
              <a:t>Increment caller Address</a:t>
            </a:r>
            <a:endParaRPr sz="1600">
              <a:solidFill>
                <a:schemeClr val="dk2"/>
              </a:solidFill>
            </a:endParaRPr>
          </a:p>
          <a:p>
            <a:pPr marL="1371600" lvl="2" indent="-330200" algn="l" rtl="0">
              <a:lnSpc>
                <a:spcPct val="150000"/>
              </a:lnSpc>
              <a:spcBef>
                <a:spcPts val="0"/>
              </a:spcBef>
              <a:spcAft>
                <a:spcPts val="0"/>
              </a:spcAft>
              <a:buClr>
                <a:schemeClr val="dk2"/>
              </a:buClr>
              <a:buSzPts val="1600"/>
              <a:buChar char="■"/>
            </a:pPr>
            <a:r>
              <a:rPr lang="en" sz="1600">
                <a:solidFill>
                  <a:schemeClr val="dk2"/>
                </a:solidFill>
              </a:rPr>
              <a:t>Increment totalSupply</a:t>
            </a:r>
            <a:endParaRPr sz="1600">
              <a:solidFill>
                <a:schemeClr val="dk2"/>
              </a:solidFill>
            </a:endParaRPr>
          </a:p>
          <a:p>
            <a:pPr marL="1371600" lvl="2" indent="-330200" algn="l" rtl="0">
              <a:lnSpc>
                <a:spcPct val="150000"/>
              </a:lnSpc>
              <a:spcBef>
                <a:spcPts val="0"/>
              </a:spcBef>
              <a:spcAft>
                <a:spcPts val="0"/>
              </a:spcAft>
              <a:buClr>
                <a:schemeClr val="dk2"/>
              </a:buClr>
              <a:buSzPts val="1600"/>
              <a:buChar char="■"/>
            </a:pPr>
            <a:r>
              <a:rPr lang="en" sz="1600">
                <a:solidFill>
                  <a:schemeClr val="dk2"/>
                </a:solidFill>
              </a:rPr>
              <a:t>Assign totalSupply to a tokenID</a:t>
            </a:r>
            <a:endParaRPr sz="1600">
              <a:solidFill>
                <a:schemeClr val="dk2"/>
              </a:solidFill>
            </a:endParaRPr>
          </a:p>
          <a:p>
            <a:pPr marL="1371600" lvl="2" indent="-330200" algn="l" rtl="0">
              <a:lnSpc>
                <a:spcPct val="150000"/>
              </a:lnSpc>
              <a:spcBef>
                <a:spcPts val="0"/>
              </a:spcBef>
              <a:spcAft>
                <a:spcPts val="0"/>
              </a:spcAft>
              <a:buClr>
                <a:schemeClr val="dk2"/>
              </a:buClr>
              <a:buSzPts val="1600"/>
              <a:buChar char="■"/>
            </a:pPr>
            <a:r>
              <a:rPr lang="en" sz="1600">
                <a:solidFill>
                  <a:schemeClr val="dk2"/>
                </a:solidFill>
              </a:rPr>
              <a:t>Call mint function from ERC721 contract</a:t>
            </a:r>
            <a:endParaRPr sz="16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51"/>
          <p:cNvSpPr txBox="1">
            <a:spLocks noGrp="1"/>
          </p:cNvSpPr>
          <p:nvPr>
            <p:ph type="title"/>
          </p:nvPr>
        </p:nvSpPr>
        <p:spPr>
          <a:xfrm>
            <a:off x="665425" y="4934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Smart Contract</a:t>
            </a:r>
            <a:endParaRPr/>
          </a:p>
        </p:txBody>
      </p:sp>
      <p:sp>
        <p:nvSpPr>
          <p:cNvPr id="312" name="Google Shape;312;p51"/>
          <p:cNvSpPr txBox="1">
            <a:spLocks noGrp="1"/>
          </p:cNvSpPr>
          <p:nvPr>
            <p:ph type="body" idx="1"/>
          </p:nvPr>
        </p:nvSpPr>
        <p:spPr>
          <a:xfrm>
            <a:off x="729450" y="1287650"/>
            <a:ext cx="7688700" cy="37848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r>
              <a:rPr lang="en" sz="1150">
                <a:solidFill>
                  <a:srgbClr val="008000"/>
                </a:solidFill>
                <a:latin typeface="Courier New"/>
                <a:ea typeface="Courier New"/>
                <a:cs typeface="Courier New"/>
                <a:sym typeface="Courier New"/>
              </a:rPr>
              <a:t>// SPDX-License-Identifier: MIT</a:t>
            </a:r>
            <a:endParaRPr sz="1150">
              <a:solidFill>
                <a:srgbClr val="008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pragma</a:t>
            </a:r>
            <a:r>
              <a:rPr lang="en" sz="1150">
                <a:solidFill>
                  <a:srgbClr val="343A40"/>
                </a:solidFill>
                <a:latin typeface="Courier New"/>
                <a:ea typeface="Courier New"/>
                <a:cs typeface="Courier New"/>
                <a:sym typeface="Courier New"/>
              </a:rPr>
              <a:t> </a:t>
            </a:r>
            <a:r>
              <a:rPr lang="en" sz="1150">
                <a:solidFill>
                  <a:srgbClr val="0000FF"/>
                </a:solidFill>
                <a:latin typeface="Courier New"/>
                <a:ea typeface="Courier New"/>
                <a:cs typeface="Courier New"/>
                <a:sym typeface="Courier New"/>
              </a:rPr>
              <a:t>solidity</a:t>
            </a:r>
            <a:r>
              <a:rPr lang="en" sz="1150">
                <a:solidFill>
                  <a:srgbClr val="343A40"/>
                </a:solidFill>
                <a:latin typeface="Courier New"/>
                <a:ea typeface="Courier New"/>
                <a:cs typeface="Courier New"/>
                <a:sym typeface="Courier New"/>
              </a:rPr>
              <a:t> </a:t>
            </a:r>
            <a:r>
              <a:rPr lang="en" sz="1150">
                <a:solidFill>
                  <a:srgbClr val="000000"/>
                </a:solidFill>
                <a:latin typeface="Courier New"/>
                <a:ea typeface="Courier New"/>
                <a:cs typeface="Courier New"/>
                <a:sym typeface="Courier New"/>
              </a:rPr>
              <a:t>^</a:t>
            </a:r>
            <a:r>
              <a:rPr lang="en" sz="1150">
                <a:solidFill>
                  <a:srgbClr val="098658"/>
                </a:solidFill>
                <a:latin typeface="Courier New"/>
                <a:ea typeface="Courier New"/>
                <a:cs typeface="Courier New"/>
                <a:sym typeface="Courier New"/>
              </a:rPr>
              <a:t>0.8.0</a:t>
            </a:r>
            <a:r>
              <a:rPr lang="en"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150">
              <a:solidFill>
                <a:srgbClr val="343A4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import</a:t>
            </a:r>
            <a:r>
              <a:rPr lang="en" sz="1150">
                <a:solidFill>
                  <a:srgbClr val="343A40"/>
                </a:solidFill>
                <a:latin typeface="Courier New"/>
                <a:ea typeface="Courier New"/>
                <a:cs typeface="Courier New"/>
                <a:sym typeface="Courier New"/>
              </a:rPr>
              <a:t> </a:t>
            </a:r>
            <a:r>
              <a:rPr lang="en" sz="1150">
                <a:solidFill>
                  <a:srgbClr val="A31515"/>
                </a:solidFill>
                <a:latin typeface="Courier New"/>
                <a:ea typeface="Courier New"/>
                <a:cs typeface="Courier New"/>
                <a:sym typeface="Courier New"/>
              </a:rPr>
              <a:t>"@openzeppelin/contracts/token/ERC721/ERC721.sol"</a:t>
            </a:r>
            <a:r>
              <a:rPr lang="en"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import</a:t>
            </a:r>
            <a:r>
              <a:rPr lang="en" sz="1150">
                <a:solidFill>
                  <a:srgbClr val="343A40"/>
                </a:solidFill>
                <a:latin typeface="Courier New"/>
                <a:ea typeface="Courier New"/>
                <a:cs typeface="Courier New"/>
                <a:sym typeface="Courier New"/>
              </a:rPr>
              <a:t> </a:t>
            </a:r>
            <a:r>
              <a:rPr lang="en" sz="1150">
                <a:solidFill>
                  <a:srgbClr val="A31515"/>
                </a:solidFill>
                <a:latin typeface="Courier New"/>
                <a:ea typeface="Courier New"/>
                <a:cs typeface="Courier New"/>
                <a:sym typeface="Courier New"/>
              </a:rPr>
              <a:t>"@openzeppelin/contracts/access/Ownable.sol"</a:t>
            </a:r>
            <a:r>
              <a:rPr lang="en"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150">
              <a:solidFill>
                <a:srgbClr val="343A4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contract</a:t>
            </a:r>
            <a:r>
              <a:rPr lang="en" sz="1150">
                <a:solidFill>
                  <a:srgbClr val="343A40"/>
                </a:solidFill>
                <a:latin typeface="Courier New"/>
                <a:ea typeface="Courier New"/>
                <a:cs typeface="Courier New"/>
                <a:sym typeface="Courier New"/>
              </a:rPr>
              <a:t> SimpleNFTcontract </a:t>
            </a:r>
            <a:r>
              <a:rPr lang="en" sz="1150">
                <a:solidFill>
                  <a:srgbClr val="0000FF"/>
                </a:solidFill>
                <a:latin typeface="Courier New"/>
                <a:ea typeface="Courier New"/>
                <a:cs typeface="Courier New"/>
                <a:sym typeface="Courier New"/>
              </a:rPr>
              <a:t>is</a:t>
            </a:r>
            <a:r>
              <a:rPr lang="en" sz="1150">
                <a:solidFill>
                  <a:srgbClr val="343A40"/>
                </a:solidFill>
                <a:latin typeface="Courier New"/>
                <a:ea typeface="Courier New"/>
                <a:cs typeface="Courier New"/>
                <a:sym typeface="Courier New"/>
              </a:rPr>
              <a:t> ERC721</a:t>
            </a:r>
            <a:r>
              <a:rPr lang="en" sz="1150">
                <a:solidFill>
                  <a:srgbClr val="000000"/>
                </a:solidFill>
                <a:latin typeface="Courier New"/>
                <a:ea typeface="Courier New"/>
                <a:cs typeface="Courier New"/>
                <a:sym typeface="Courier New"/>
              </a:rPr>
              <a:t>,</a:t>
            </a:r>
            <a:r>
              <a:rPr lang="en" sz="1150">
                <a:solidFill>
                  <a:srgbClr val="343A40"/>
                </a:solidFill>
                <a:latin typeface="Courier New"/>
                <a:ea typeface="Courier New"/>
                <a:cs typeface="Courier New"/>
                <a:sym typeface="Courier New"/>
              </a:rPr>
              <a:t> Ownable </a:t>
            </a:r>
            <a:r>
              <a:rPr lang="en"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150">
              <a:solidFill>
                <a:srgbClr val="343A4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uint</a:t>
            </a:r>
            <a:r>
              <a:rPr lang="en" sz="1150">
                <a:solidFill>
                  <a:srgbClr val="343A40"/>
                </a:solidFill>
                <a:latin typeface="Courier New"/>
                <a:ea typeface="Courier New"/>
                <a:cs typeface="Courier New"/>
                <a:sym typeface="Courier New"/>
              </a:rPr>
              <a:t> </a:t>
            </a:r>
            <a:r>
              <a:rPr lang="en" sz="1150">
                <a:solidFill>
                  <a:srgbClr val="3CB521"/>
                </a:solidFill>
                <a:latin typeface="Courier New"/>
                <a:ea typeface="Courier New"/>
                <a:cs typeface="Courier New"/>
                <a:sym typeface="Courier New"/>
              </a:rPr>
              <a:t>public</a:t>
            </a:r>
            <a:r>
              <a:rPr lang="en" sz="1150">
                <a:solidFill>
                  <a:srgbClr val="343A40"/>
                </a:solidFill>
                <a:latin typeface="Courier New"/>
                <a:ea typeface="Courier New"/>
                <a:cs typeface="Courier New"/>
                <a:sym typeface="Courier New"/>
              </a:rPr>
              <a:t> mintPrice </a:t>
            </a:r>
            <a:r>
              <a:rPr lang="en" sz="1150">
                <a:solidFill>
                  <a:srgbClr val="000000"/>
                </a:solidFill>
                <a:latin typeface="Courier New"/>
                <a:ea typeface="Courier New"/>
                <a:cs typeface="Courier New"/>
                <a:sym typeface="Courier New"/>
              </a:rPr>
              <a:t>=</a:t>
            </a:r>
            <a:r>
              <a:rPr lang="en" sz="1150">
                <a:solidFill>
                  <a:srgbClr val="343A40"/>
                </a:solidFill>
                <a:latin typeface="Courier New"/>
                <a:ea typeface="Courier New"/>
                <a:cs typeface="Courier New"/>
                <a:sym typeface="Courier New"/>
              </a:rPr>
              <a:t> </a:t>
            </a:r>
            <a:r>
              <a:rPr lang="en" sz="1150">
                <a:solidFill>
                  <a:srgbClr val="098658"/>
                </a:solidFill>
                <a:latin typeface="Courier New"/>
                <a:ea typeface="Courier New"/>
                <a:cs typeface="Courier New"/>
                <a:sym typeface="Courier New"/>
              </a:rPr>
              <a:t>0.5</a:t>
            </a:r>
            <a:r>
              <a:rPr lang="en" sz="1150">
                <a:solidFill>
                  <a:srgbClr val="343A40"/>
                </a:solidFill>
                <a:latin typeface="Courier New"/>
                <a:ea typeface="Courier New"/>
                <a:cs typeface="Courier New"/>
                <a:sym typeface="Courier New"/>
              </a:rPr>
              <a:t> ether</a:t>
            </a:r>
            <a:r>
              <a:rPr lang="en"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uint</a:t>
            </a:r>
            <a:r>
              <a:rPr lang="en" sz="1150">
                <a:solidFill>
                  <a:srgbClr val="343A40"/>
                </a:solidFill>
                <a:latin typeface="Courier New"/>
                <a:ea typeface="Courier New"/>
                <a:cs typeface="Courier New"/>
                <a:sym typeface="Courier New"/>
              </a:rPr>
              <a:t> </a:t>
            </a:r>
            <a:r>
              <a:rPr lang="en" sz="1150">
                <a:solidFill>
                  <a:srgbClr val="3CB521"/>
                </a:solidFill>
                <a:latin typeface="Courier New"/>
                <a:ea typeface="Courier New"/>
                <a:cs typeface="Courier New"/>
                <a:sym typeface="Courier New"/>
              </a:rPr>
              <a:t>public</a:t>
            </a:r>
            <a:r>
              <a:rPr lang="en" sz="1150">
                <a:solidFill>
                  <a:srgbClr val="343A40"/>
                </a:solidFill>
                <a:latin typeface="Courier New"/>
                <a:ea typeface="Courier New"/>
                <a:cs typeface="Courier New"/>
                <a:sym typeface="Courier New"/>
              </a:rPr>
              <a:t> totalSuplly</a:t>
            </a:r>
            <a:r>
              <a:rPr lang="en"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uint</a:t>
            </a:r>
            <a:r>
              <a:rPr lang="en" sz="1150">
                <a:solidFill>
                  <a:srgbClr val="343A40"/>
                </a:solidFill>
                <a:latin typeface="Courier New"/>
                <a:ea typeface="Courier New"/>
                <a:cs typeface="Courier New"/>
                <a:sym typeface="Courier New"/>
              </a:rPr>
              <a:t> </a:t>
            </a:r>
            <a:r>
              <a:rPr lang="en" sz="1150">
                <a:solidFill>
                  <a:srgbClr val="3CB521"/>
                </a:solidFill>
                <a:latin typeface="Courier New"/>
                <a:ea typeface="Courier New"/>
                <a:cs typeface="Courier New"/>
                <a:sym typeface="Courier New"/>
              </a:rPr>
              <a:t>public</a:t>
            </a:r>
            <a:r>
              <a:rPr lang="en" sz="1150">
                <a:solidFill>
                  <a:srgbClr val="343A40"/>
                </a:solidFill>
                <a:latin typeface="Courier New"/>
                <a:ea typeface="Courier New"/>
                <a:cs typeface="Courier New"/>
                <a:sym typeface="Courier New"/>
              </a:rPr>
              <a:t> maxSupply</a:t>
            </a:r>
            <a:r>
              <a:rPr lang="en"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bool</a:t>
            </a:r>
            <a:r>
              <a:rPr lang="en" sz="1150">
                <a:solidFill>
                  <a:srgbClr val="343A40"/>
                </a:solidFill>
                <a:latin typeface="Courier New"/>
                <a:ea typeface="Courier New"/>
                <a:cs typeface="Courier New"/>
                <a:sym typeface="Courier New"/>
              </a:rPr>
              <a:t> </a:t>
            </a:r>
            <a:r>
              <a:rPr lang="en" sz="1150">
                <a:solidFill>
                  <a:srgbClr val="3CB521"/>
                </a:solidFill>
                <a:latin typeface="Courier New"/>
                <a:ea typeface="Courier New"/>
                <a:cs typeface="Courier New"/>
                <a:sym typeface="Courier New"/>
              </a:rPr>
              <a:t>public</a:t>
            </a:r>
            <a:r>
              <a:rPr lang="en" sz="1150">
                <a:solidFill>
                  <a:srgbClr val="343A40"/>
                </a:solidFill>
                <a:latin typeface="Courier New"/>
                <a:ea typeface="Courier New"/>
                <a:cs typeface="Courier New"/>
                <a:sym typeface="Courier New"/>
              </a:rPr>
              <a:t> isMintable</a:t>
            </a:r>
            <a:r>
              <a:rPr lang="en" sz="1150">
                <a:solidFill>
                  <a:srgbClr val="000000"/>
                </a:solidFill>
                <a:latin typeface="Courier New"/>
                <a:ea typeface="Courier New"/>
                <a:cs typeface="Courier New"/>
                <a:sym typeface="Courier New"/>
              </a:rPr>
              <a:t>;</a:t>
            </a:r>
            <a:endParaRPr sz="11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150">
              <a:solidFill>
                <a:srgbClr val="343A4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150">
                <a:solidFill>
                  <a:srgbClr val="0000FF"/>
                </a:solidFill>
                <a:latin typeface="Courier New"/>
                <a:ea typeface="Courier New"/>
                <a:cs typeface="Courier New"/>
                <a:sym typeface="Courier New"/>
              </a:rPr>
              <a:t>mapping</a:t>
            </a:r>
            <a:r>
              <a:rPr lang="en" sz="1150">
                <a:solidFill>
                  <a:srgbClr val="000000"/>
                </a:solidFill>
                <a:latin typeface="Courier New"/>
                <a:ea typeface="Courier New"/>
                <a:cs typeface="Courier New"/>
                <a:sym typeface="Courier New"/>
              </a:rPr>
              <a:t>(</a:t>
            </a:r>
            <a:r>
              <a:rPr lang="en" sz="1150">
                <a:solidFill>
                  <a:srgbClr val="0000FF"/>
                </a:solidFill>
                <a:latin typeface="Courier New"/>
                <a:ea typeface="Courier New"/>
                <a:cs typeface="Courier New"/>
                <a:sym typeface="Courier New"/>
              </a:rPr>
              <a:t>address</a:t>
            </a:r>
            <a:r>
              <a:rPr lang="en" sz="1150">
                <a:solidFill>
                  <a:srgbClr val="343A40"/>
                </a:solidFill>
                <a:latin typeface="Courier New"/>
                <a:ea typeface="Courier New"/>
                <a:cs typeface="Courier New"/>
                <a:sym typeface="Courier New"/>
              </a:rPr>
              <a:t> =&gt; </a:t>
            </a:r>
            <a:r>
              <a:rPr lang="en" sz="1150">
                <a:solidFill>
                  <a:srgbClr val="0000FF"/>
                </a:solidFill>
                <a:latin typeface="Courier New"/>
                <a:ea typeface="Courier New"/>
                <a:cs typeface="Courier New"/>
                <a:sym typeface="Courier New"/>
              </a:rPr>
              <a:t>uint</a:t>
            </a:r>
            <a:r>
              <a:rPr lang="en" sz="1150">
                <a:solidFill>
                  <a:srgbClr val="000000"/>
                </a:solidFill>
                <a:latin typeface="Courier New"/>
                <a:ea typeface="Courier New"/>
                <a:cs typeface="Courier New"/>
                <a:sym typeface="Courier New"/>
              </a:rPr>
              <a:t>)</a:t>
            </a:r>
            <a:r>
              <a:rPr lang="en" sz="1150">
                <a:solidFill>
                  <a:srgbClr val="343A40"/>
                </a:solidFill>
                <a:latin typeface="Courier New"/>
                <a:ea typeface="Courier New"/>
                <a:cs typeface="Courier New"/>
                <a:sym typeface="Courier New"/>
              </a:rPr>
              <a:t> </a:t>
            </a:r>
            <a:r>
              <a:rPr lang="en" sz="1150">
                <a:solidFill>
                  <a:srgbClr val="3CB521"/>
                </a:solidFill>
                <a:latin typeface="Courier New"/>
                <a:ea typeface="Courier New"/>
                <a:cs typeface="Courier New"/>
                <a:sym typeface="Courier New"/>
              </a:rPr>
              <a:t>public</a:t>
            </a:r>
            <a:r>
              <a:rPr lang="en" sz="1150">
                <a:solidFill>
                  <a:srgbClr val="343A40"/>
                </a:solidFill>
                <a:latin typeface="Courier New"/>
                <a:ea typeface="Courier New"/>
                <a:cs typeface="Courier New"/>
                <a:sym typeface="Courier New"/>
              </a:rPr>
              <a:t> mintedWallet</a:t>
            </a:r>
            <a:r>
              <a:rPr lang="en" sz="1150">
                <a:solidFill>
                  <a:srgbClr val="000000"/>
                </a:solidFill>
                <a:latin typeface="Courier New"/>
                <a:ea typeface="Courier New"/>
                <a:cs typeface="Courier New"/>
                <a:sym typeface="Courier New"/>
              </a:rPr>
              <a:t>;</a:t>
            </a:r>
            <a:endParaRPr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52"/>
          <p:cNvSpPr txBox="1">
            <a:spLocks noGrp="1"/>
          </p:cNvSpPr>
          <p:nvPr>
            <p:ph type="title"/>
          </p:nvPr>
        </p:nvSpPr>
        <p:spPr>
          <a:xfrm>
            <a:off x="729450" y="4934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 be continued</a:t>
            </a:r>
            <a:endParaRPr/>
          </a:p>
        </p:txBody>
      </p:sp>
      <p:sp>
        <p:nvSpPr>
          <p:cNvPr id="318" name="Google Shape;318;p52"/>
          <p:cNvSpPr txBox="1">
            <a:spLocks noGrp="1"/>
          </p:cNvSpPr>
          <p:nvPr>
            <p:ph type="body" idx="1"/>
          </p:nvPr>
        </p:nvSpPr>
        <p:spPr>
          <a:xfrm>
            <a:off x="729450" y="1351675"/>
            <a:ext cx="7688700" cy="37206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endParaRPr sz="1450">
              <a:solidFill>
                <a:srgbClr val="E83E8C"/>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E83E8C"/>
                </a:solidFill>
                <a:latin typeface="Courier New"/>
                <a:ea typeface="Courier New"/>
                <a:cs typeface="Courier New"/>
                <a:sym typeface="Courier New"/>
              </a:rPr>
              <a:t>constructor</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payable</a:t>
            </a:r>
            <a:r>
              <a:rPr lang="en" sz="1450">
                <a:solidFill>
                  <a:srgbClr val="343A40"/>
                </a:solidFill>
                <a:latin typeface="Courier New"/>
                <a:ea typeface="Courier New"/>
                <a:cs typeface="Courier New"/>
                <a:sym typeface="Courier New"/>
              </a:rPr>
              <a:t> ERC721</a:t>
            </a:r>
            <a:r>
              <a:rPr lang="en" sz="1450">
                <a:solidFill>
                  <a:srgbClr val="000000"/>
                </a:solidFill>
                <a:latin typeface="Courier New"/>
                <a:ea typeface="Courier New"/>
                <a:cs typeface="Courier New"/>
                <a:sym typeface="Courier New"/>
              </a:rPr>
              <a:t>(</a:t>
            </a:r>
            <a:r>
              <a:rPr lang="en" sz="1450">
                <a:solidFill>
                  <a:srgbClr val="A31515"/>
                </a:solidFill>
                <a:latin typeface="Courier New"/>
                <a:ea typeface="Courier New"/>
                <a:cs typeface="Courier New"/>
                <a:sym typeface="Courier New"/>
              </a:rPr>
              <a:t>"ABC"</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A31515"/>
                </a:solidFill>
                <a:latin typeface="Courier New"/>
                <a:ea typeface="Courier New"/>
                <a:cs typeface="Courier New"/>
                <a:sym typeface="Courier New"/>
              </a:rPr>
              <a:t>"abc"</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maxSupply </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098658"/>
                </a:solidFill>
                <a:latin typeface="Courier New"/>
                <a:ea typeface="Courier New"/>
                <a:cs typeface="Courier New"/>
                <a:sym typeface="Courier New"/>
              </a:rPr>
              <a:t>2</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0000FF"/>
                </a:solidFill>
                <a:latin typeface="Courier New"/>
                <a:ea typeface="Courier New"/>
                <a:cs typeface="Courier New"/>
                <a:sym typeface="Courier New"/>
              </a:rPr>
              <a:t>function</a:t>
            </a:r>
            <a:r>
              <a:rPr lang="en" sz="1450">
                <a:solidFill>
                  <a:srgbClr val="343A40"/>
                </a:solidFill>
                <a:latin typeface="Courier New"/>
                <a:ea typeface="Courier New"/>
                <a:cs typeface="Courier New"/>
                <a:sym typeface="Courier New"/>
              </a:rPr>
              <a:t> toggleMint</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external</a:t>
            </a: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isMintable </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isMintable</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0000FF"/>
                </a:solidFill>
                <a:latin typeface="Courier New"/>
                <a:ea typeface="Courier New"/>
                <a:cs typeface="Courier New"/>
                <a:sym typeface="Courier New"/>
              </a:rPr>
              <a:t>function</a:t>
            </a:r>
            <a:r>
              <a:rPr lang="en" sz="1450">
                <a:solidFill>
                  <a:srgbClr val="343A40"/>
                </a:solidFill>
                <a:latin typeface="Courier New"/>
                <a:ea typeface="Courier New"/>
                <a:cs typeface="Courier New"/>
                <a:sym typeface="Courier New"/>
              </a:rPr>
              <a:t> setSupply</a:t>
            </a:r>
            <a:r>
              <a:rPr lang="en" sz="1450">
                <a:solidFill>
                  <a:srgbClr val="000000"/>
                </a:solidFill>
                <a:latin typeface="Courier New"/>
                <a:ea typeface="Courier New"/>
                <a:cs typeface="Courier New"/>
                <a:sym typeface="Courier New"/>
              </a:rPr>
              <a:t>(</a:t>
            </a:r>
            <a:r>
              <a:rPr lang="en" sz="1450">
                <a:solidFill>
                  <a:srgbClr val="0000FF"/>
                </a:solidFill>
                <a:latin typeface="Courier New"/>
                <a:ea typeface="Courier New"/>
                <a:cs typeface="Courier New"/>
                <a:sym typeface="Courier New"/>
              </a:rPr>
              <a:t>uint</a:t>
            </a:r>
            <a:r>
              <a:rPr lang="en" sz="1450">
                <a:solidFill>
                  <a:srgbClr val="343A40"/>
                </a:solidFill>
                <a:latin typeface="Courier New"/>
                <a:ea typeface="Courier New"/>
                <a:cs typeface="Courier New"/>
                <a:sym typeface="Courier New"/>
              </a:rPr>
              <a:t> _maxSupply</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public</a:t>
            </a: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maxSupply </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_maxSupply</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spcBef>
                <a:spcPts val="0"/>
              </a:spcBef>
              <a:spcAft>
                <a:spcPts val="1200"/>
              </a:spcAft>
              <a:buNone/>
            </a:pPr>
            <a:endParaRPr sz="17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3"/>
          <p:cNvSpPr txBox="1">
            <a:spLocks noGrp="1"/>
          </p:cNvSpPr>
          <p:nvPr>
            <p:ph type="title"/>
          </p:nvPr>
        </p:nvSpPr>
        <p:spPr>
          <a:xfrm>
            <a:off x="572950" y="5787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Exit</a:t>
            </a:r>
            <a:endParaRPr/>
          </a:p>
        </p:txBody>
      </p:sp>
      <p:sp>
        <p:nvSpPr>
          <p:cNvPr id="324" name="Google Shape;324;p53"/>
          <p:cNvSpPr txBox="1">
            <a:spLocks noGrp="1"/>
          </p:cNvSpPr>
          <p:nvPr>
            <p:ph type="body" idx="1"/>
          </p:nvPr>
        </p:nvSpPr>
        <p:spPr>
          <a:xfrm>
            <a:off x="729450" y="1394375"/>
            <a:ext cx="7688700" cy="3635400"/>
          </a:xfrm>
          <a:prstGeom prst="rect">
            <a:avLst/>
          </a:prstGeom>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450">
                <a:solidFill>
                  <a:srgbClr val="0000FF"/>
                </a:solidFill>
                <a:latin typeface="Courier New"/>
                <a:ea typeface="Courier New"/>
                <a:cs typeface="Courier New"/>
                <a:sym typeface="Courier New"/>
              </a:rPr>
              <a:t>function</a:t>
            </a:r>
            <a:r>
              <a:rPr lang="en" sz="1450">
                <a:solidFill>
                  <a:srgbClr val="343A40"/>
                </a:solidFill>
                <a:latin typeface="Courier New"/>
                <a:ea typeface="Courier New"/>
                <a:cs typeface="Courier New"/>
                <a:sym typeface="Courier New"/>
              </a:rPr>
              <a:t> mint</a:t>
            </a:r>
            <a:r>
              <a:rPr lang="en" sz="1450">
                <a:solidFill>
                  <a:srgbClr val="000000"/>
                </a:solidFill>
                <a:latin typeface="Courier New"/>
                <a:ea typeface="Courier New"/>
                <a:cs typeface="Courier New"/>
                <a:sym typeface="Courier New"/>
              </a:rPr>
              <a:t>(</a:t>
            </a:r>
            <a:r>
              <a:rPr lang="en" sz="1450">
                <a:solidFill>
                  <a:srgbClr val="0000FF"/>
                </a:solidFill>
                <a:latin typeface="Courier New"/>
                <a:ea typeface="Courier New"/>
                <a:cs typeface="Courier New"/>
                <a:sym typeface="Courier New"/>
              </a:rPr>
              <a:t>uint</a:t>
            </a:r>
            <a:r>
              <a:rPr lang="en" sz="1450">
                <a:solidFill>
                  <a:srgbClr val="343A40"/>
                </a:solidFill>
                <a:latin typeface="Courier New"/>
                <a:ea typeface="Courier New"/>
                <a:cs typeface="Courier New"/>
                <a:sym typeface="Courier New"/>
              </a:rPr>
              <a:t> mintValue</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payable</a:t>
            </a:r>
            <a:r>
              <a:rPr lang="en" sz="1450">
                <a:solidFill>
                  <a:srgbClr val="343A40"/>
                </a:solidFill>
                <a:latin typeface="Courier New"/>
                <a:ea typeface="Courier New"/>
                <a:cs typeface="Courier New"/>
                <a:sym typeface="Courier New"/>
              </a:rPr>
              <a:t> </a:t>
            </a:r>
            <a:r>
              <a:rPr lang="en" sz="1450">
                <a:solidFill>
                  <a:srgbClr val="3CB521"/>
                </a:solidFill>
                <a:latin typeface="Courier New"/>
                <a:ea typeface="Courier New"/>
                <a:cs typeface="Courier New"/>
                <a:sym typeface="Courier New"/>
              </a:rPr>
              <a:t>public</a:t>
            </a: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446E9B"/>
                </a:solidFill>
                <a:latin typeface="Courier New"/>
                <a:ea typeface="Courier New"/>
                <a:cs typeface="Courier New"/>
                <a:sym typeface="Courier New"/>
              </a:rPr>
              <a:t>require</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isMintable</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A31515"/>
                </a:solidFill>
                <a:latin typeface="Courier New"/>
                <a:ea typeface="Courier New"/>
                <a:cs typeface="Courier New"/>
                <a:sym typeface="Courier New"/>
              </a:rPr>
              <a:t>"Not Mintable"</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446E9B"/>
                </a:solidFill>
                <a:latin typeface="Courier New"/>
                <a:ea typeface="Courier New"/>
                <a:cs typeface="Courier New"/>
                <a:sym typeface="Courier New"/>
              </a:rPr>
              <a:t>require</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mintedWallet</a:t>
            </a:r>
            <a:r>
              <a:rPr lang="en" sz="1450">
                <a:solidFill>
                  <a:srgbClr val="000000"/>
                </a:solidFill>
                <a:latin typeface="Courier New"/>
                <a:ea typeface="Courier New"/>
                <a:cs typeface="Courier New"/>
                <a:sym typeface="Courier New"/>
              </a:rPr>
              <a:t>[</a:t>
            </a:r>
            <a:r>
              <a:rPr lang="en" sz="1450">
                <a:solidFill>
                  <a:srgbClr val="446E9B"/>
                </a:solidFill>
                <a:latin typeface="Courier New"/>
                <a:ea typeface="Courier New"/>
                <a:cs typeface="Courier New"/>
                <a:sym typeface="Courier New"/>
              </a:rPr>
              <a:t>msg</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sender</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000000"/>
                </a:solidFill>
                <a:latin typeface="Courier New"/>
                <a:ea typeface="Courier New"/>
                <a:cs typeface="Courier New"/>
                <a:sym typeface="Courier New"/>
              </a:rPr>
              <a:t>&gt;</a:t>
            </a:r>
            <a:r>
              <a:rPr lang="en" sz="1450">
                <a:solidFill>
                  <a:srgbClr val="343A40"/>
                </a:solidFill>
                <a:latin typeface="Courier New"/>
                <a:ea typeface="Courier New"/>
                <a:cs typeface="Courier New"/>
                <a:sym typeface="Courier New"/>
              </a:rPr>
              <a:t> </a:t>
            </a:r>
            <a:r>
              <a:rPr lang="en" sz="1450">
                <a:solidFill>
                  <a:srgbClr val="098658"/>
                </a:solidFill>
                <a:latin typeface="Courier New"/>
                <a:ea typeface="Courier New"/>
                <a:cs typeface="Courier New"/>
                <a:sym typeface="Courier New"/>
              </a:rPr>
              <a:t>1</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A31515"/>
                </a:solidFill>
                <a:latin typeface="Courier New"/>
                <a:ea typeface="Courier New"/>
                <a:cs typeface="Courier New"/>
                <a:sym typeface="Courier New"/>
              </a:rPr>
              <a:t>"Minted value Exceed"</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446E9B"/>
                </a:solidFill>
                <a:latin typeface="Courier New"/>
                <a:ea typeface="Courier New"/>
                <a:cs typeface="Courier New"/>
                <a:sym typeface="Courier New"/>
              </a:rPr>
              <a:t>require</a:t>
            </a:r>
            <a:r>
              <a:rPr lang="en" sz="1450">
                <a:solidFill>
                  <a:srgbClr val="000000"/>
                </a:solidFill>
                <a:latin typeface="Courier New"/>
                <a:ea typeface="Courier New"/>
                <a:cs typeface="Courier New"/>
                <a:sym typeface="Courier New"/>
              </a:rPr>
              <a:t>(</a:t>
            </a:r>
            <a:r>
              <a:rPr lang="en" sz="1450">
                <a:solidFill>
                  <a:srgbClr val="446E9B"/>
                </a:solidFill>
                <a:latin typeface="Courier New"/>
                <a:ea typeface="Courier New"/>
                <a:cs typeface="Courier New"/>
                <a:sym typeface="Courier New"/>
              </a:rPr>
              <a:t>msg</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value </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mintValue</a:t>
            </a:r>
            <a:r>
              <a:rPr lang="en" sz="1450">
                <a:solidFill>
                  <a:srgbClr val="000000"/>
                </a:solidFill>
                <a:latin typeface="Courier New"/>
                <a:ea typeface="Courier New"/>
                <a:cs typeface="Courier New"/>
                <a:sym typeface="Courier New"/>
              </a:rPr>
              <a:t>,</a:t>
            </a:r>
            <a:r>
              <a:rPr lang="en" sz="1450">
                <a:solidFill>
                  <a:srgbClr val="A31515"/>
                </a:solidFill>
                <a:latin typeface="Courier New"/>
                <a:ea typeface="Courier New"/>
                <a:cs typeface="Courier New"/>
                <a:sym typeface="Courier New"/>
              </a:rPr>
              <a:t>"Wrong Value"</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446E9B"/>
                </a:solidFill>
                <a:latin typeface="Courier New"/>
                <a:ea typeface="Courier New"/>
                <a:cs typeface="Courier New"/>
                <a:sym typeface="Courier New"/>
              </a:rPr>
              <a:t>require</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maxSupply</a:t>
            </a:r>
            <a:r>
              <a:rPr lang="en" sz="1450">
                <a:solidFill>
                  <a:srgbClr val="000000"/>
                </a:solidFill>
                <a:latin typeface="Courier New"/>
                <a:ea typeface="Courier New"/>
                <a:cs typeface="Courier New"/>
                <a:sym typeface="Courier New"/>
              </a:rPr>
              <a:t>&gt;</a:t>
            </a:r>
            <a:r>
              <a:rPr lang="en" sz="1450">
                <a:solidFill>
                  <a:srgbClr val="343A40"/>
                </a:solidFill>
                <a:latin typeface="Courier New"/>
                <a:ea typeface="Courier New"/>
                <a:cs typeface="Courier New"/>
                <a:sym typeface="Courier New"/>
              </a:rPr>
              <a:t>totalSuplly</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a:t>
            </a:r>
            <a:r>
              <a:rPr lang="en" sz="1450">
                <a:solidFill>
                  <a:srgbClr val="A31515"/>
                </a:solidFill>
                <a:latin typeface="Courier New"/>
                <a:ea typeface="Courier New"/>
                <a:cs typeface="Courier New"/>
                <a:sym typeface="Courier New"/>
              </a:rPr>
              <a:t>"sold out"</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450">
              <a:solidFill>
                <a:srgbClr val="343A4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mintedWallet</a:t>
            </a:r>
            <a:r>
              <a:rPr lang="en" sz="1450">
                <a:solidFill>
                  <a:srgbClr val="000000"/>
                </a:solidFill>
                <a:latin typeface="Courier New"/>
                <a:ea typeface="Courier New"/>
                <a:cs typeface="Courier New"/>
                <a:sym typeface="Courier New"/>
              </a:rPr>
              <a:t>[</a:t>
            </a:r>
            <a:r>
              <a:rPr lang="en" sz="1450">
                <a:solidFill>
                  <a:srgbClr val="446E9B"/>
                </a:solidFill>
                <a:latin typeface="Courier New"/>
                <a:ea typeface="Courier New"/>
                <a:cs typeface="Courier New"/>
                <a:sym typeface="Courier New"/>
              </a:rPr>
              <a:t>msg</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sender</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totalSuplly</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a:t>
            </a:r>
            <a:r>
              <a:rPr lang="en" sz="1450">
                <a:solidFill>
                  <a:srgbClr val="0000FF"/>
                </a:solidFill>
                <a:latin typeface="Courier New"/>
                <a:ea typeface="Courier New"/>
                <a:cs typeface="Courier New"/>
                <a:sym typeface="Courier New"/>
              </a:rPr>
              <a:t>uint</a:t>
            </a:r>
            <a:r>
              <a:rPr lang="en" sz="1450">
                <a:solidFill>
                  <a:srgbClr val="343A40"/>
                </a:solidFill>
                <a:latin typeface="Courier New"/>
                <a:ea typeface="Courier New"/>
                <a:cs typeface="Courier New"/>
                <a:sym typeface="Courier New"/>
              </a:rPr>
              <a:t> tokenID </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totalSuplly</a:t>
            </a: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343A40"/>
                </a:solidFill>
                <a:latin typeface="Courier New"/>
                <a:ea typeface="Courier New"/>
                <a:cs typeface="Courier New"/>
                <a:sym typeface="Courier New"/>
              </a:rPr>
              <a:t>   _safeMint</a:t>
            </a:r>
            <a:r>
              <a:rPr lang="en" sz="1450">
                <a:solidFill>
                  <a:srgbClr val="000000"/>
                </a:solidFill>
                <a:latin typeface="Courier New"/>
                <a:ea typeface="Courier New"/>
                <a:cs typeface="Courier New"/>
                <a:sym typeface="Courier New"/>
              </a:rPr>
              <a:t>(</a:t>
            </a:r>
            <a:r>
              <a:rPr lang="en" sz="1450">
                <a:solidFill>
                  <a:srgbClr val="446E9B"/>
                </a:solidFill>
                <a:latin typeface="Courier New"/>
                <a:ea typeface="Courier New"/>
                <a:cs typeface="Courier New"/>
                <a:sym typeface="Courier New"/>
              </a:rPr>
              <a:t>msg</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sender</a:t>
            </a:r>
            <a:r>
              <a:rPr lang="en" sz="1450">
                <a:solidFill>
                  <a:srgbClr val="000000"/>
                </a:solidFill>
                <a:latin typeface="Courier New"/>
                <a:ea typeface="Courier New"/>
                <a:cs typeface="Courier New"/>
                <a:sym typeface="Courier New"/>
              </a:rPr>
              <a:t>,</a:t>
            </a:r>
            <a:r>
              <a:rPr lang="en" sz="1450">
                <a:solidFill>
                  <a:srgbClr val="343A40"/>
                </a:solidFill>
                <a:latin typeface="Courier New"/>
                <a:ea typeface="Courier New"/>
                <a:cs typeface="Courier New"/>
                <a:sym typeface="Courier New"/>
              </a:rPr>
              <a:t> tokenID</a:t>
            </a:r>
            <a:r>
              <a:rPr lang="en" sz="1450">
                <a:solidFill>
                  <a:srgbClr val="000000"/>
                </a:solidFill>
                <a:latin typeface="Courier New"/>
                <a:ea typeface="Courier New"/>
                <a:cs typeface="Courier New"/>
                <a:sym typeface="Courier New"/>
              </a:rPr>
              <a:t>);</a:t>
            </a:r>
            <a:endParaRPr sz="1450">
              <a:solidFill>
                <a:srgbClr val="343A4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n" sz="1450">
                <a:solidFill>
                  <a:srgbClr val="000000"/>
                </a:solidFill>
                <a:latin typeface="Courier New"/>
                <a:ea typeface="Courier New"/>
                <a:cs typeface="Courier New"/>
                <a:sym typeface="Courier New"/>
              </a:rPr>
              <a:t>}</a:t>
            </a:r>
            <a:endParaRPr sz="1450">
              <a:solidFill>
                <a:srgbClr val="000000"/>
              </a:solidFill>
              <a:latin typeface="Courier New"/>
              <a:ea typeface="Courier New"/>
              <a:cs typeface="Courier New"/>
              <a:sym typeface="Courier New"/>
            </a:endParaRPr>
          </a:p>
          <a:p>
            <a:pPr marL="0" lvl="0" indent="0" algn="l" rtl="0">
              <a:spcBef>
                <a:spcPts val="0"/>
              </a:spcBef>
              <a:spcAft>
                <a:spcPts val="1200"/>
              </a:spcAft>
              <a:buNone/>
            </a:pPr>
            <a:endParaRPr sz="1700"/>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2694</Words>
  <Application>Microsoft Office PowerPoint</Application>
  <PresentationFormat>On-screen Show (16:9)</PresentationFormat>
  <Paragraphs>319</Paragraphs>
  <Slides>41</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Roboto</vt:lpstr>
      <vt:lpstr>Raleway</vt:lpstr>
      <vt:lpstr>Arial</vt:lpstr>
      <vt:lpstr>Courier New</vt:lpstr>
      <vt:lpstr>Lato</vt:lpstr>
      <vt:lpstr>Streamline</vt:lpstr>
      <vt:lpstr>Token Standard Development</vt:lpstr>
      <vt:lpstr>Creating ERC-20 contract From Scratch</vt:lpstr>
      <vt:lpstr>Constructor</vt:lpstr>
      <vt:lpstr>Transfer Function</vt:lpstr>
      <vt:lpstr>transfer()</vt:lpstr>
      <vt:lpstr>Approve Function</vt:lpstr>
      <vt:lpstr>Example:</vt:lpstr>
      <vt:lpstr>approve()</vt:lpstr>
      <vt:lpstr>Transfer-From Function</vt:lpstr>
      <vt:lpstr>trnasferFrom()</vt:lpstr>
      <vt:lpstr>approve()</vt:lpstr>
      <vt:lpstr>Transfer-From Function</vt:lpstr>
      <vt:lpstr>trnasferFrom()</vt:lpstr>
      <vt:lpstr>Mininting function</vt:lpstr>
      <vt:lpstr>Creating an ICO</vt:lpstr>
      <vt:lpstr>PowerPoint Presentation</vt:lpstr>
      <vt:lpstr>Features:</vt:lpstr>
      <vt:lpstr>Step by Step Process</vt:lpstr>
      <vt:lpstr>Declare State Variables:  </vt:lpstr>
      <vt:lpstr>Create constructor</vt:lpstr>
      <vt:lpstr>Implementing buyToken() Function</vt:lpstr>
      <vt:lpstr>PowerPoint Presentation</vt:lpstr>
      <vt:lpstr>Implement isContributor() function</vt:lpstr>
      <vt:lpstr>Implementation </vt:lpstr>
      <vt:lpstr>Implement getContributor() function </vt:lpstr>
      <vt:lpstr>Implementation  </vt:lpstr>
      <vt:lpstr>Implement withdraw() function</vt:lpstr>
      <vt:lpstr>Implementation  </vt:lpstr>
      <vt:lpstr>Implement updateTokenPrice() fucntion</vt:lpstr>
      <vt:lpstr>Implementation  </vt:lpstr>
      <vt:lpstr>PowerPoint Presentation</vt:lpstr>
      <vt:lpstr>PowerPoint Presentation</vt:lpstr>
      <vt:lpstr>ABI Encode </vt:lpstr>
      <vt:lpstr>Example:</vt:lpstr>
      <vt:lpstr>PackedEncoding </vt:lpstr>
      <vt:lpstr>Create an NFT through Openzeppelin</vt:lpstr>
      <vt:lpstr>Create a custom NFT Contract.</vt:lpstr>
      <vt:lpstr>PowerPoint Presentation</vt:lpstr>
      <vt:lpstr>Smart Contract</vt:lpstr>
      <vt:lpstr>To be continued</vt:lpstr>
      <vt:lpstr>Exit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Dr Sayed Qaiser Ali Shah</cp:lastModifiedBy>
  <cp:revision>1</cp:revision>
  <dcterms:modified xsi:type="dcterms:W3CDTF">2025-12-02T17:02:31Z</dcterms:modified>
</cp:coreProperties>
</file>