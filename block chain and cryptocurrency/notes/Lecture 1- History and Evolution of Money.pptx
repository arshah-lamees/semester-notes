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521" r:id="rId3"/>
    <p:sldId id="262" r:id="rId4"/>
    <p:sldId id="258" r:id="rId5"/>
    <p:sldId id="259" r:id="rId6"/>
    <p:sldId id="522" r:id="rId7"/>
    <p:sldId id="260" r:id="rId8"/>
    <p:sldId id="261" r:id="rId9"/>
    <p:sldId id="52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3323E8-EDB2-4A63-9753-31CCFBA39611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1D276-6C71-4222-8A41-197F0F7A64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63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59dc25e607_0_0:notes"/>
          <p:cNvSpPr txBox="1">
            <a:spLocks noGrp="1"/>
          </p:cNvSpPr>
          <p:nvPr>
            <p:ph type="body" idx="1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259dc25e6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8083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5f6d611d54_0_0:notes"/>
          <p:cNvSpPr txBox="1">
            <a:spLocks noGrp="1"/>
          </p:cNvSpPr>
          <p:nvPr>
            <p:ph type="body" idx="1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g25f6d611d5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4193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c39709e0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c39709e0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c39709e0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g36c39709e0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03C1830E-AED3-473F-A5E5-6716AD599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c39709e0f_0_10:notes">
            <a:extLst>
              <a:ext uri="{FF2B5EF4-FFF2-40B4-BE49-F238E27FC236}">
                <a16:creationId xmlns:a16="http://schemas.microsoft.com/office/drawing/2014/main" id="{A26A57BC-5085-EB94-1118-AEA06F77A1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g36c39709e0f_0_10:notes">
            <a:extLst>
              <a:ext uri="{FF2B5EF4-FFF2-40B4-BE49-F238E27FC236}">
                <a16:creationId xmlns:a16="http://schemas.microsoft.com/office/drawing/2014/main" id="{94369849-AAAC-F06F-41A7-8940257E55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74972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c39709e0f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36c39709e0f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c39709e0f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6c39709e0f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DD5E5D89-5DDD-852F-F900-009F9828E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c39709e0f_0_20:notes">
            <a:extLst>
              <a:ext uri="{FF2B5EF4-FFF2-40B4-BE49-F238E27FC236}">
                <a16:creationId xmlns:a16="http://schemas.microsoft.com/office/drawing/2014/main" id="{6C78CC20-B4E0-11E4-28E6-D101A5CC53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6c39709e0f_0_20:notes">
            <a:extLst>
              <a:ext uri="{FF2B5EF4-FFF2-40B4-BE49-F238E27FC236}">
                <a16:creationId xmlns:a16="http://schemas.microsoft.com/office/drawing/2014/main" id="{19665319-B280-A91B-8380-87277E414B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93155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5f6d611d5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5f6d611d5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52838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5f6d611d54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5f6d611d54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02220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5f6d611d5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5f6d611d5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30312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5f6d611d54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5f6d611d54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81168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59dc25e607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59dc25e607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04076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1624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C229A-F0E0-8965-DE0A-5EB07CD2C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6927C7-1917-AD2A-B8E7-059C52357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16F1F-4741-8AF3-E91B-77665102D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0A44-5DB4-4C5E-B08A-2C38921B2EC3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7A7B6-E830-840F-9276-10642CDCC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19735-3A52-AA6B-A456-197779E27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0635-79C9-433C-B675-32B444458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804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7EE2A-A639-5FC3-0DAC-27754EB23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10577-6101-914E-1217-0343ABE9B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68009-7C3E-9A35-F2F6-2673FF55A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0A44-5DB4-4C5E-B08A-2C38921B2EC3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5AD61-E58F-6C5A-3D20-B80F70A48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EEF57-5BD0-DBEF-ABF3-87E096CE2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0635-79C9-433C-B675-32B444458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044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7E4E1-3B87-6692-9AB6-2E24408DC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906E2-CA75-FF8E-4A24-2B0963E4A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CA4B-D36D-22B4-68D6-D760372FB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0A44-5DB4-4C5E-B08A-2C38921B2EC3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03D3D-FA45-F666-5DAB-2E2F55A0C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9BADB-5EAE-0E77-CB5B-1AD97A07E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0635-79C9-433C-B675-32B444458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852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41B3A-BA3A-38B4-2AB6-7ADBAB6B5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06646-6544-3699-72B6-C974DC8FF0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43AFC2-8033-42E5-149E-421DA8638D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4B88-F6A3-15B0-3419-AD5012C4B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0A44-5DB4-4C5E-B08A-2C38921B2EC3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B2A697-6E45-0E62-00B3-13B5647D9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B9B2C1-733D-54FE-C810-289F5E0E0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0635-79C9-433C-B675-32B444458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343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D10CD-5BEE-C976-52C4-E4EA41C85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2D373B-AB6A-608F-358D-E403999E0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7F888C-657D-6094-6E2D-1BA7E1509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E58239-7950-EC63-220D-BC8E5F2660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92AB83-637E-A4A2-59ED-4B93B80357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63A6F4-1E9C-22FA-0813-7338AE0DF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0A44-5DB4-4C5E-B08A-2C38921B2EC3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AAC1A4-C105-48AF-8054-7CACAB5F0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496509-F7F5-0A91-DE22-33D20B06D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0635-79C9-433C-B675-32B444458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417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253FD-603A-9F41-87F7-153DC640B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941A03-52C3-903B-4B8F-7ADF2CBC1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0A44-5DB4-4C5E-B08A-2C38921B2EC3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9F2DEF-CC08-E709-D52B-28781F9D5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E13857-335E-E781-FB94-7A98516E9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0635-79C9-433C-B675-32B444458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616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F7CC2D-7143-DFA3-00FE-354B1BA02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0A44-5DB4-4C5E-B08A-2C38921B2EC3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DFBE6C-6C25-05D5-3F78-B49949B5D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B2BDB-4788-D91B-7657-2856D3A25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0635-79C9-433C-B675-32B444458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035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D0100-8FE2-08FF-EF25-76F22B790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87796-5D53-C1C4-244C-1D5C43743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ABF541-05E7-9FD0-D1E9-4E190C24E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8668EC-989C-0424-4432-FF50F5533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0A44-5DB4-4C5E-B08A-2C38921B2EC3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27300B-3C64-A199-8B5E-7BD50587C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871FD4-3C4B-A053-0631-13369518E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0635-79C9-433C-B675-32B444458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004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85A5E-E38A-463A-6582-440BDC651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B25F2A-A353-4716-9D28-E2D3C92158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8494B-D006-15E7-BDEB-8E3B7E20A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7F2C9-73CD-333C-7D5E-5E3011F05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0A44-5DB4-4C5E-B08A-2C38921B2EC3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E191A5-6AE1-C431-1BAA-F26977BA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608F9-BEFB-37C6-79AD-63938A8C3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0635-79C9-433C-B675-32B444458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388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F57A5-5E91-0C2F-0034-BE0F41E6A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6A8B5A-792D-0C10-D03D-5DD0DBD91B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E0B6B-4442-B6F6-2ABC-56363B009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0A44-5DB4-4C5E-B08A-2C38921B2EC3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A1FC0-3EE2-0A22-6CAD-3FF16624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7C092-09E9-AA80-1970-94B3AEEEA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0635-79C9-433C-B675-32B444458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74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F7793E-A805-4E39-8D36-778C5C102C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A220FA-4F14-F982-D4AA-7EFFF46510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F20D2-6031-74AC-1CA9-3A08121B8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0A44-5DB4-4C5E-B08A-2C38921B2EC3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D7045-2FFF-7734-34D6-A3ADE9DFF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28201-617C-6239-2C1E-43EE86756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0635-79C9-433C-B675-32B444458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4574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05357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7F8C30-4CCA-A4AB-A489-FD7BF7676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4E93F-7625-EA42-3F6A-4425CB14A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2FE48-2540-1EB0-5D01-9E00499DF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C40A44-5DB4-4C5E-B08A-2C38921B2EC3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8CE47-0406-6614-7AD0-0ADC48762F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E5289-EABC-7F4D-9025-0FD20B7A9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C30635-79C9-433C-B675-32B444458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849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"/>
          <p:cNvSpPr txBox="1"/>
          <p:nvPr/>
        </p:nvSpPr>
        <p:spPr>
          <a:xfrm>
            <a:off x="203200" y="6478549"/>
            <a:ext cx="11702800" cy="22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33" rIns="0" bIns="0" anchor="t" anchorCtr="0">
            <a:spAutoFit/>
          </a:bodyPr>
          <a:lstStyle/>
          <a:p>
            <a:r>
              <a:rPr lang="en" sz="2000" b="1" baseline="30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rPr>
              <a:t>Blockchain Fundamentals	</a:t>
            </a:r>
            <a:r>
              <a:rPr lang="en" sz="1333" b="1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rPr>
              <a:t>Created by 101blockchains.com</a:t>
            </a:r>
            <a:endParaRPr sz="1333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5"/>
          <p:cNvSpPr/>
          <p:nvPr/>
        </p:nvSpPr>
        <p:spPr>
          <a:xfrm>
            <a:off x="53484" y="-47167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2400"/>
          </a:p>
        </p:txBody>
      </p:sp>
      <p:sp>
        <p:nvSpPr>
          <p:cNvPr id="189" name="Google Shape;189;p35"/>
          <p:cNvSpPr txBox="1">
            <a:spLocks noGrp="1"/>
          </p:cNvSpPr>
          <p:nvPr>
            <p:ph type="ctrTitle"/>
          </p:nvPr>
        </p:nvSpPr>
        <p:spPr>
          <a:xfrm>
            <a:off x="2521800" y="2569768"/>
            <a:ext cx="9126000" cy="69420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6933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" b="1" dirty="0">
                <a:solidFill>
                  <a:srgbClr val="00FFFF"/>
                </a:solidFill>
              </a:rPr>
              <a:t>Blockchain </a:t>
            </a:r>
            <a:r>
              <a:rPr lang="en-US" b="1" dirty="0">
                <a:solidFill>
                  <a:srgbClr val="00FFFF"/>
                </a:solidFill>
              </a:rPr>
              <a:t>and It’s Applications</a:t>
            </a:r>
            <a:endParaRPr dirty="0">
              <a:solidFill>
                <a:srgbClr val="00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6BA44A9-2A3E-1059-95E1-49A439B69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Blockchain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AB9ABBC-73E4-9A2F-5CB2-3F6190E3D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Non-Technically.</a:t>
            </a:r>
          </a:p>
        </p:txBody>
      </p:sp>
      <p:pic>
        <p:nvPicPr>
          <p:cNvPr id="4" name="Google Shape;364;p66">
            <a:extLst>
              <a:ext uri="{FF2B5EF4-FFF2-40B4-BE49-F238E27FC236}">
                <a16:creationId xmlns:a16="http://schemas.microsoft.com/office/drawing/2014/main" id="{19166074-A2C3-3BF2-9CDC-F2867D03B187}"/>
              </a:ext>
            </a:extLst>
          </p:cNvPr>
          <p:cNvPicPr preferRelativeResize="0"/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12400" y="2723850"/>
            <a:ext cx="9245381" cy="30846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03083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1"/>
          <p:cNvSpPr txBox="1"/>
          <p:nvPr/>
        </p:nvSpPr>
        <p:spPr>
          <a:xfrm>
            <a:off x="203200" y="6478549"/>
            <a:ext cx="11702800" cy="22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33" rIns="0" bIns="0" anchor="t" anchorCtr="0">
            <a:spAutoFit/>
          </a:bodyPr>
          <a:lstStyle/>
          <a:p>
            <a:r>
              <a:rPr lang="en" sz="2000" b="1" baseline="30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rPr>
              <a:t>Blockchain Fundamentals	</a:t>
            </a:r>
            <a:r>
              <a:rPr lang="en" sz="1333" b="1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rPr>
              <a:t>Created by 101blockchains.com</a:t>
            </a:r>
            <a:endParaRPr sz="1333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1"/>
          <p:cNvSpPr/>
          <p:nvPr/>
        </p:nvSpPr>
        <p:spPr>
          <a:xfrm>
            <a:off x="53484" y="-47167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2400"/>
          </a:p>
        </p:txBody>
      </p:sp>
      <p:sp>
        <p:nvSpPr>
          <p:cNvPr id="223" name="Google Shape;223;p41"/>
          <p:cNvSpPr txBox="1">
            <a:spLocks noGrp="1"/>
          </p:cNvSpPr>
          <p:nvPr>
            <p:ph type="ctrTitle"/>
          </p:nvPr>
        </p:nvSpPr>
        <p:spPr>
          <a:xfrm>
            <a:off x="2521800" y="2569768"/>
            <a:ext cx="9126000" cy="137131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6933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" b="1">
                <a:solidFill>
                  <a:srgbClr val="00FFFF"/>
                </a:solidFill>
              </a:rPr>
              <a:t>Blockchain Basics</a:t>
            </a:r>
            <a:endParaRPr b="1">
              <a:solidFill>
                <a:srgbClr val="00FFFF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">
                <a:solidFill>
                  <a:srgbClr val="00FFFF"/>
                </a:solidFill>
              </a:rPr>
              <a:t>			Module 1</a:t>
            </a:r>
            <a:endParaRPr>
              <a:solidFill>
                <a:srgbClr val="00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History and Evolution of Money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415600" y="1931446"/>
            <a:ext cx="11360800" cy="417856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" sz="2667" dirty="0"/>
              <a:t>Visible money exists today is $40 Trillion </a:t>
            </a:r>
            <a:endParaRPr sz="2667" dirty="0"/>
          </a:p>
          <a:p>
            <a:pPr>
              <a:lnSpc>
                <a:spcPct val="150000"/>
              </a:lnSpc>
            </a:pPr>
            <a:r>
              <a:rPr lang="en" sz="2667" dirty="0"/>
              <a:t>Invisible money is more than $1300 Trillion </a:t>
            </a:r>
            <a:endParaRPr sz="2667" dirty="0"/>
          </a:p>
          <a:p>
            <a:pPr>
              <a:lnSpc>
                <a:spcPct val="150000"/>
              </a:lnSpc>
            </a:pPr>
            <a:r>
              <a:rPr lang="en" sz="2667" dirty="0"/>
              <a:t>15000BC people lived in tribes </a:t>
            </a:r>
            <a:endParaRPr sz="2667" dirty="0"/>
          </a:p>
          <a:p>
            <a:pPr lvl="1">
              <a:lnSpc>
                <a:spcPct val="150000"/>
              </a:lnSpc>
            </a:pPr>
            <a:r>
              <a:rPr lang="en" sz="2667" dirty="0"/>
              <a:t>only aim pray and survive</a:t>
            </a:r>
            <a:endParaRPr sz="2667" dirty="0"/>
          </a:p>
          <a:p>
            <a:pPr>
              <a:lnSpc>
                <a:spcPct val="150000"/>
              </a:lnSpc>
            </a:pPr>
            <a:r>
              <a:rPr lang="en" sz="2667" dirty="0"/>
              <a:t>No pray daily, started Bartering system (Exchange of things)</a:t>
            </a:r>
            <a:endParaRPr sz="2667" dirty="0"/>
          </a:p>
          <a:p>
            <a:pPr>
              <a:lnSpc>
                <a:spcPct val="150000"/>
              </a:lnSpc>
            </a:pPr>
            <a:r>
              <a:rPr lang="en" sz="2667" dirty="0"/>
              <a:t>Bartering system started in Mesopotamiam tribes now Iraq</a:t>
            </a:r>
            <a:endParaRPr sz="2667" dirty="0"/>
          </a:p>
          <a:p>
            <a:pPr>
              <a:lnSpc>
                <a:spcPct val="150000"/>
              </a:lnSpc>
            </a:pPr>
            <a:r>
              <a:rPr lang="en" sz="2667" dirty="0"/>
              <a:t>People started trading</a:t>
            </a:r>
            <a:endParaRPr sz="2667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415600" y="432340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>
              <a:lnSpc>
                <a:spcPct val="100000"/>
              </a:lnSpc>
              <a:buSzPct val="111111"/>
            </a:pPr>
            <a:r>
              <a:rPr lang="en" dirty="0">
                <a:solidFill>
                  <a:schemeClr val="tx1"/>
                </a:solidFill>
              </a:rPr>
              <a:t>History of Cryptocurrency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415600" y="1651652"/>
            <a:ext cx="11360800" cy="498306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85000" lnSpcReduction="10000"/>
          </a:bodyPr>
          <a:lstStyle/>
          <a:p>
            <a:pPr lvl="0">
              <a:lnSpc>
                <a:spcPct val="160000"/>
              </a:lnSpc>
            </a:pPr>
            <a:r>
              <a:rPr lang="en-US" sz="2667" dirty="0"/>
              <a:t>Problem raised with increase in population</a:t>
            </a:r>
          </a:p>
          <a:p>
            <a:pPr lvl="1">
              <a:lnSpc>
                <a:spcPct val="160000"/>
              </a:lnSpc>
            </a:pPr>
            <a:r>
              <a:rPr lang="en-US" sz="2667" dirty="0"/>
              <a:t>Started writing on clay, Introduction of accounting</a:t>
            </a:r>
          </a:p>
          <a:p>
            <a:pPr>
              <a:lnSpc>
                <a:spcPct val="160000"/>
              </a:lnSpc>
            </a:pPr>
            <a:r>
              <a:rPr lang="en-US" sz="2667" dirty="0"/>
              <a:t>Problem with barter system is that if you don’t need one thing than why exchange?</a:t>
            </a:r>
          </a:p>
          <a:p>
            <a:pPr>
              <a:lnSpc>
                <a:spcPct val="160000"/>
              </a:lnSpc>
            </a:pPr>
            <a:r>
              <a:rPr lang="en" sz="2667" dirty="0"/>
              <a:t>2500BC commodity money was introduced like cow, alcohol, goat, swords, knife, tobacco and even human (Slaves)</a:t>
            </a:r>
            <a:endParaRPr sz="2667" dirty="0"/>
          </a:p>
          <a:p>
            <a:pPr>
              <a:lnSpc>
                <a:spcPct val="160000"/>
              </a:lnSpc>
            </a:pPr>
            <a:r>
              <a:rPr lang="en" sz="2667" dirty="0"/>
              <a:t>In yap Island people used heavy stones </a:t>
            </a:r>
            <a:endParaRPr sz="2667" dirty="0"/>
          </a:p>
          <a:p>
            <a:pPr lvl="1">
              <a:lnSpc>
                <a:spcPct val="160000"/>
              </a:lnSpc>
            </a:pPr>
            <a:r>
              <a:rPr lang="en" sz="2667" dirty="0"/>
              <a:t>weight was about 5 ton called Rai stones</a:t>
            </a:r>
            <a:endParaRPr sz="2667" dirty="0"/>
          </a:p>
          <a:p>
            <a:pPr>
              <a:lnSpc>
                <a:spcPct val="160000"/>
              </a:lnSpc>
            </a:pPr>
            <a:r>
              <a:rPr lang="en" sz="2667" dirty="0"/>
              <a:t>They remembered the ownership</a:t>
            </a:r>
            <a:endParaRPr sz="2667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29842893-E4BD-95CB-F1A2-E7DE0436C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>
            <a:extLst>
              <a:ext uri="{FF2B5EF4-FFF2-40B4-BE49-F238E27FC236}">
                <a16:creationId xmlns:a16="http://schemas.microsoft.com/office/drawing/2014/main" id="{34C3ABD4-C5E0-3092-C6F1-8CA7FBD124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432340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>
              <a:lnSpc>
                <a:spcPct val="100000"/>
              </a:lnSpc>
              <a:buSzPct val="111111"/>
            </a:pPr>
            <a:r>
              <a:rPr lang="en" dirty="0">
                <a:solidFill>
                  <a:schemeClr val="tx1"/>
                </a:solidFill>
              </a:rPr>
              <a:t>History of Cryptocurrency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88ED2700-7519-C5C3-F9F4-B3586455C2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6126" y="1609612"/>
            <a:ext cx="12065876" cy="5321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>
              <a:lnSpc>
                <a:spcPct val="160000"/>
              </a:lnSpc>
            </a:pPr>
            <a:r>
              <a:rPr lang="en-US" sz="2667" dirty="0"/>
              <a:t>Problem with commodity money is the worth of that? </a:t>
            </a:r>
          </a:p>
          <a:p>
            <a:pPr lvl="1">
              <a:lnSpc>
                <a:spcPct val="160000"/>
              </a:lnSpc>
            </a:pPr>
            <a:r>
              <a:rPr lang="en-US" sz="2667" dirty="0"/>
              <a:t>can reduce the worth like alcohol expired</a:t>
            </a:r>
          </a:p>
          <a:p>
            <a:pPr>
              <a:lnSpc>
                <a:spcPct val="115000"/>
              </a:lnSpc>
            </a:pPr>
            <a:r>
              <a:rPr lang="en" sz="2667" dirty="0"/>
              <a:t>600BC metallic money in Ancient Greece (The Lydian Stater) </a:t>
            </a:r>
            <a:r>
              <a:rPr lang="en" sz="2667" dirty="0">
                <a:sym typeface="Wingdings" panose="05000000000000000000" pitchFamily="2" charset="2"/>
              </a:rPr>
              <a:t></a:t>
            </a:r>
            <a:r>
              <a:rPr lang="en" sz="2667" dirty="0"/>
              <a:t> The first coin</a:t>
            </a:r>
            <a:endParaRPr sz="2667" dirty="0"/>
          </a:p>
          <a:p>
            <a:pPr>
              <a:lnSpc>
                <a:spcPct val="115000"/>
              </a:lnSpc>
            </a:pPr>
            <a:r>
              <a:rPr lang="en" sz="2667" dirty="0"/>
              <a:t>After Lydian Stater, every empire introduced their coin and started trading </a:t>
            </a:r>
            <a:endParaRPr sz="2667" dirty="0"/>
          </a:p>
          <a:p>
            <a:pPr lvl="1">
              <a:lnSpc>
                <a:spcPct val="115000"/>
              </a:lnSpc>
            </a:pPr>
            <a:r>
              <a:rPr lang="en" sz="2667" dirty="0"/>
              <a:t>difficult to carry large amount of coins</a:t>
            </a:r>
            <a:endParaRPr sz="2667" dirty="0"/>
          </a:p>
          <a:p>
            <a:pPr lvl="1">
              <a:lnSpc>
                <a:spcPct val="115000"/>
              </a:lnSpc>
            </a:pPr>
            <a:r>
              <a:rPr lang="en" sz="2667" dirty="0"/>
              <a:t>got stolen and counting problem</a:t>
            </a:r>
          </a:p>
          <a:p>
            <a:pPr marL="795827" lvl="1" indent="0">
              <a:lnSpc>
                <a:spcPct val="115000"/>
              </a:lnSpc>
              <a:buNone/>
            </a:pPr>
            <a:endParaRPr sz="2667" dirty="0"/>
          </a:p>
        </p:txBody>
      </p:sp>
    </p:spTree>
    <p:extLst>
      <p:ext uri="{BB962C8B-B14F-4D97-AF65-F5344CB8AC3E}">
        <p14:creationId xmlns:p14="http://schemas.microsoft.com/office/powerpoint/2010/main" val="3507398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415600" y="432348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>
              <a:lnSpc>
                <a:spcPct val="100000"/>
              </a:lnSpc>
              <a:buSzPct val="111111"/>
            </a:pPr>
            <a:r>
              <a:rPr lang="en" dirty="0">
                <a:solidFill>
                  <a:schemeClr val="tx1"/>
                </a:solidFill>
              </a:rPr>
              <a:t>History of Cryptocurrency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415600" y="1663153"/>
            <a:ext cx="11360800" cy="5321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US" sz="2667" dirty="0"/>
              <a:t>The era of paper money started in Mongolian </a:t>
            </a:r>
            <a:r>
              <a:rPr lang="en-US" sz="2667" dirty="0" err="1"/>
              <a:t>china</a:t>
            </a:r>
            <a:r>
              <a:rPr lang="en-US" sz="2667" dirty="0"/>
              <a:t> by emperor Kubla Khan, the grandson of Genghis Khan</a:t>
            </a:r>
          </a:p>
          <a:p>
            <a:pPr lvl="1">
              <a:lnSpc>
                <a:spcPct val="150000"/>
              </a:lnSpc>
            </a:pPr>
            <a:r>
              <a:rPr lang="en-US" sz="2667" dirty="0"/>
              <a:t>Introduced paper money</a:t>
            </a:r>
          </a:p>
          <a:p>
            <a:pPr lvl="1">
              <a:lnSpc>
                <a:spcPct val="150000"/>
              </a:lnSpc>
            </a:pPr>
            <a:r>
              <a:rPr lang="en-US" sz="2667" dirty="0"/>
              <a:t>Those who refused to trade with paper money were killed</a:t>
            </a:r>
          </a:p>
          <a:p>
            <a:pPr lvl="1">
              <a:lnSpc>
                <a:spcPct val="150000"/>
              </a:lnSpc>
            </a:pPr>
            <a:r>
              <a:rPr lang="en-US" sz="2667" dirty="0"/>
              <a:t>This paper money was called IOU (I owe you)</a:t>
            </a:r>
          </a:p>
          <a:p>
            <a:pPr>
              <a:lnSpc>
                <a:spcPct val="150000"/>
              </a:lnSpc>
            </a:pPr>
            <a:r>
              <a:rPr lang="en" sz="2400" dirty="0"/>
              <a:t>People thought why not use this for trading?</a:t>
            </a:r>
            <a:endParaRPr sz="2400" dirty="0"/>
          </a:p>
          <a:p>
            <a:pPr>
              <a:lnSpc>
                <a:spcPct val="150000"/>
              </a:lnSpc>
            </a:pPr>
            <a:r>
              <a:rPr lang="en" sz="2400" dirty="0"/>
              <a:t>Introduced banking system</a:t>
            </a:r>
            <a:endParaRPr sz="2400" dirty="0"/>
          </a:p>
          <a:p>
            <a:pPr indent="-304784">
              <a:lnSpc>
                <a:spcPct val="150000"/>
              </a:lnSpc>
              <a:buNone/>
            </a:pP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415600" y="374831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>
              <a:lnSpc>
                <a:spcPct val="100000"/>
              </a:lnSpc>
              <a:buSzPct val="111111"/>
            </a:pPr>
            <a:r>
              <a:rPr lang="en" dirty="0">
                <a:solidFill>
                  <a:schemeClr val="tx1"/>
                </a:solidFill>
              </a:rPr>
              <a:t>History of Cryptocurrency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415600" y="17094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lnSpcReduction="10000"/>
          </a:bodyPr>
          <a:lstStyle/>
          <a:p>
            <a:pPr lvl="0">
              <a:lnSpc>
                <a:spcPct val="150000"/>
              </a:lnSpc>
            </a:pPr>
            <a:r>
              <a:rPr lang="en-US" sz="2400" dirty="0"/>
              <a:t>People started exchange the gold with IOUs issued by people (Bank)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IOU was issued in large amount and started inflation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People contacted banks for their gold again not enough gold against that IOU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stopped trading against IOU</a:t>
            </a:r>
          </a:p>
          <a:p>
            <a:pPr indent="-469532">
              <a:lnSpc>
                <a:spcPct val="115000"/>
              </a:lnSpc>
              <a:buSzPts val="1946"/>
            </a:pPr>
            <a:r>
              <a:rPr lang="en" sz="2667" dirty="0"/>
              <a:t>1816 Britain brought a law </a:t>
            </a:r>
            <a:endParaRPr sz="2667" dirty="0"/>
          </a:p>
          <a:p>
            <a:pPr lvl="1" indent="-432921">
              <a:lnSpc>
                <a:spcPct val="115000"/>
              </a:lnSpc>
              <a:buSzPts val="1514"/>
            </a:pPr>
            <a:r>
              <a:rPr lang="en" sz="2667" dirty="0"/>
              <a:t>Paper money against gold standard</a:t>
            </a:r>
            <a:endParaRPr sz="2667" dirty="0"/>
          </a:p>
          <a:p>
            <a:pPr indent="-469532">
              <a:lnSpc>
                <a:spcPct val="115000"/>
              </a:lnSpc>
              <a:buSzPts val="1946"/>
            </a:pPr>
            <a:r>
              <a:rPr lang="en" sz="2667" dirty="0"/>
              <a:t>Raised an issue of deflation</a:t>
            </a:r>
            <a:endParaRPr sz="2667" dirty="0"/>
          </a:p>
          <a:p>
            <a:pPr indent="-469532">
              <a:lnSpc>
                <a:spcPct val="115000"/>
              </a:lnSpc>
              <a:buSzPts val="1946"/>
            </a:pPr>
            <a:r>
              <a:rPr lang="en" sz="2667" dirty="0"/>
              <a:t>1933 President of America Franklin D. Roosevelt ended the relationship between gold and money</a:t>
            </a:r>
            <a:endParaRPr sz="2667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049CBE0-6ED7-1C95-D6E9-6FE40A6A1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>
            <a:extLst>
              <a:ext uri="{FF2B5EF4-FFF2-40B4-BE49-F238E27FC236}">
                <a16:creationId xmlns:a16="http://schemas.microsoft.com/office/drawing/2014/main" id="{B0381A0A-99EB-BC06-F31F-F540535F8C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374831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>
              <a:lnSpc>
                <a:spcPct val="100000"/>
              </a:lnSpc>
              <a:buSzPct val="111111"/>
            </a:pPr>
            <a:r>
              <a:rPr lang="en" dirty="0">
                <a:solidFill>
                  <a:schemeClr val="tx1"/>
                </a:solidFill>
              </a:rPr>
              <a:t>History of Cryptocurrency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1" name="Google Shape;91;p19">
            <a:extLst>
              <a:ext uri="{FF2B5EF4-FFF2-40B4-BE49-F238E27FC236}">
                <a16:creationId xmlns:a16="http://schemas.microsoft.com/office/drawing/2014/main" id="{CE089A2E-D360-C16F-0D16-24456F1DE6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5600" y="17094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indent="-469532">
              <a:lnSpc>
                <a:spcPct val="115000"/>
              </a:lnSpc>
              <a:buSzPts val="1946"/>
            </a:pPr>
            <a:r>
              <a:rPr lang="en-US" sz="2667" dirty="0"/>
              <a:t>Banks started publishing money like previous</a:t>
            </a:r>
          </a:p>
          <a:p>
            <a:pPr indent="-469532">
              <a:lnSpc>
                <a:spcPct val="115000"/>
              </a:lnSpc>
              <a:buSzPts val="1946"/>
            </a:pPr>
            <a:r>
              <a:rPr lang="en-US" sz="2667" dirty="0"/>
              <a:t>Relationship of money and gold is ended so money is just a piece of paper (FIAT money)</a:t>
            </a:r>
          </a:p>
          <a:p>
            <a:pPr indent="-469532">
              <a:lnSpc>
                <a:spcPct val="115000"/>
              </a:lnSpc>
              <a:buSzPts val="1946"/>
            </a:pPr>
            <a:r>
              <a:rPr lang="en-US" sz="2667" dirty="0"/>
              <a:t>1980 E-Money was introduced to be transmitted immediately</a:t>
            </a:r>
          </a:p>
          <a:p>
            <a:pPr lvl="1" indent="-432921">
              <a:lnSpc>
                <a:spcPct val="115000"/>
              </a:lnSpc>
              <a:buSzPts val="1514"/>
            </a:pPr>
            <a:r>
              <a:rPr lang="en-US" sz="2667" dirty="0"/>
              <a:t>The problem with digital money is hacking which is difficult but not impossible</a:t>
            </a:r>
          </a:p>
          <a:p>
            <a:pPr indent="-469532">
              <a:lnSpc>
                <a:spcPct val="115000"/>
              </a:lnSpc>
              <a:buSzPts val="1946"/>
            </a:pPr>
            <a:r>
              <a:rPr lang="en-US" sz="2667" dirty="0"/>
              <a:t>In 2009 Bitcoin was introduced which is cryptocurrency and is unable to get theft</a:t>
            </a:r>
          </a:p>
          <a:p>
            <a:pPr marL="140036" indent="0">
              <a:lnSpc>
                <a:spcPct val="115000"/>
              </a:lnSpc>
              <a:buSzPts val="1946"/>
              <a:buNone/>
            </a:pPr>
            <a:endParaRPr sz="2667" dirty="0"/>
          </a:p>
        </p:txBody>
      </p:sp>
    </p:spTree>
    <p:extLst>
      <p:ext uri="{BB962C8B-B14F-4D97-AF65-F5344CB8AC3E}">
        <p14:creationId xmlns:p14="http://schemas.microsoft.com/office/powerpoint/2010/main" val="3611389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0" y="203200"/>
            <a:ext cx="11785600" cy="6216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601" y="545067"/>
            <a:ext cx="11099033" cy="613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67" y="192834"/>
            <a:ext cx="10477467" cy="6354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0" y="203201"/>
            <a:ext cx="11596299" cy="645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0" y="203200"/>
            <a:ext cx="11803469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48"/>
          <p:cNvPicPr preferRelativeResize="0"/>
          <p:nvPr/>
        </p:nvPicPr>
        <p:blipFill rotWithShape="1">
          <a:blip r:embed="rId3">
            <a:alphaModFix/>
          </a:blip>
          <a:srcRect l="22544" t="9788" r="9140"/>
          <a:stretch/>
        </p:blipFill>
        <p:spPr>
          <a:xfrm>
            <a:off x="322500" y="104333"/>
            <a:ext cx="11733536" cy="6550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</Words>
  <Application>Microsoft Office PowerPoint</Application>
  <PresentationFormat>Widescreen</PresentationFormat>
  <Paragraphs>52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Wingdings</vt:lpstr>
      <vt:lpstr>Office Theme</vt:lpstr>
      <vt:lpstr>Blockchain and It’s Applications</vt:lpstr>
      <vt:lpstr>Blockchain</vt:lpstr>
      <vt:lpstr>Blockchain Basics    Module 1</vt:lpstr>
      <vt:lpstr>History and Evolution of Money</vt:lpstr>
      <vt:lpstr>History of Cryptocurrency</vt:lpstr>
      <vt:lpstr>History of Cryptocurrency</vt:lpstr>
      <vt:lpstr>History of Cryptocurrency</vt:lpstr>
      <vt:lpstr>History of Cryptocurrency</vt:lpstr>
      <vt:lpstr>History of Cryptocurrency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Sayed Qaiser Ali Shah</dc:creator>
  <cp:lastModifiedBy>Dr Sayed Qaiser Ali Shah</cp:lastModifiedBy>
  <cp:revision>1</cp:revision>
  <dcterms:created xsi:type="dcterms:W3CDTF">2025-08-20T05:42:26Z</dcterms:created>
  <dcterms:modified xsi:type="dcterms:W3CDTF">2025-08-20T05:43:00Z</dcterms:modified>
</cp:coreProperties>
</file>