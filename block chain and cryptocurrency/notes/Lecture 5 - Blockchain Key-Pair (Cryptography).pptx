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9" r:id="rId3"/>
  </p:sldMasterIdLst>
  <p:notesMasterIdLst>
    <p:notesMasterId r:id="rId26"/>
  </p:notesMasterIdLst>
  <p:sldIdLst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270" r:id="rId19"/>
    <p:sldId id="351" r:id="rId20"/>
    <p:sldId id="352" r:id="rId21"/>
    <p:sldId id="353" r:id="rId22"/>
    <p:sldId id="354" r:id="rId23"/>
    <p:sldId id="429" r:id="rId24"/>
    <p:sldId id="35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9705B-E1E7-4E04-8602-D631D3C2BACF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2E22-7665-4455-90F5-C0D66610D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0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5a97cf8431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5a97cf8431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7187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5a97cf8431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5a97cf8431_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68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5a97cf8431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5a97cf8431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329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5a97cf8431_5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5a97cf8431_5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008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5a97cf8431_5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5a97cf8431_5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67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5a97cf8431_5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5a97cf8431_5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992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5a97cf8431_5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5a97cf8431_5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5725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5a97cf8431_5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5a97cf8431_5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91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5a97cf8431_5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5a97cf8431_5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73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5a97cf8431_5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5a97cf8431_5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174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5a97cf8431_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5a97cf8431_5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185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5a97cf8431_5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5a97cf8431_5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682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5a97cf8431_5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5a97cf8431_5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874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5a97cf8431_5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5a97cf8431_5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394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5a97cf8431_5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5a97cf8431_5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282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83f802398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83f802398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6c39709e0f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36c39709e0f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c39709e0f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g36c39709e0f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c39709e0f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2" name="Google Shape;582;g36c39709e0f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6c39709e0f_0_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g36c39709e0f_0_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>
          <a:extLst>
            <a:ext uri="{FF2B5EF4-FFF2-40B4-BE49-F238E27FC236}">
              <a16:creationId xmlns:a16="http://schemas.microsoft.com/office/drawing/2014/main" id="{11298054-2C15-044C-3118-24AED54E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6c39709e0f_0_672:notes">
            <a:extLst>
              <a:ext uri="{FF2B5EF4-FFF2-40B4-BE49-F238E27FC236}">
                <a16:creationId xmlns:a16="http://schemas.microsoft.com/office/drawing/2014/main" id="{991FB902-3453-0919-D841-0988AA698C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7" name="Google Shape;587;g36c39709e0f_0_672:notes">
            <a:extLst>
              <a:ext uri="{FF2B5EF4-FFF2-40B4-BE49-F238E27FC236}">
                <a16:creationId xmlns:a16="http://schemas.microsoft.com/office/drawing/2014/main" id="{51588381-3289-8A56-731D-89B3E5D6A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9115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c39709e0f_0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7" name="Google Shape;597;g36c39709e0f_0_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DAC9-AEFA-1269-AB96-E652656A9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47176-9FAF-3A5E-1E68-30D13286C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AF8F-454D-42E8-9C5C-5D287D18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F8567-2B2B-9C75-3A30-5908796D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FD1E-1C6D-A6DB-5EEF-5FE575EE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9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8A25-5BF3-11A3-CE9D-94514CCA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19D61-DBD3-CCF2-8268-2D1600F01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8D3E4-5801-90A1-B165-D51A290F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66FF5-2227-6D7F-2FEB-7C3BFAFA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0F165-FBA6-E729-6473-E60ED399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8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8F5F-8E0A-ED43-585B-302C7C7EC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963CD-38E0-31E5-FE4C-CBE3975AA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10641-1165-A0DF-FF15-50E4BB77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CEF47-3A0C-BF9E-A165-4C3E8F55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FE312-E63C-F22A-8591-53D27873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7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DC96-D383-5495-1CD7-9BA98FE30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D516-C733-7BBD-3B7A-853B689E6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98138-242B-D096-CB63-F1D4BECE6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A2018-D39A-B48E-AA3B-9A5D1A08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41772-652F-41D1-83A8-BBC73E44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F21EA-7EE1-E0C0-D35D-52918A48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0E29-08F0-3D51-1019-8D8167C5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C7033-6951-4EEE-E049-0E71B923A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9EF22-1F4B-E37D-8970-8A72403CE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9ADE3-FA21-BE46-8933-BF5F83A6C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45284-0CBF-6F89-019F-FF3634466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89374-748D-D23D-FDE2-89B5623F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8CFCF-CDFD-E54D-704E-B5F12BA1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BBA4B-F39E-860B-C50E-D0B25D36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65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4EAA-D22B-9CC1-0A1C-A05E5970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933A8-5933-DBFA-F07C-2C25EBB9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E14F-4931-8DC7-6D30-E8F8F1ED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868EF-6BA5-A9B7-AE51-8D2AEA3C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568C1-78C6-1D9B-437A-F1C3560A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B0850-C5B5-B14D-4A9B-5CF667B0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13C8D-24DC-4980-1A33-4B48C2F4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4940-E8E5-3115-9963-407EB73E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A9BD9-F2E1-99E1-E51E-4CCB6F341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DA1EF-95AD-5FC0-8DCE-8421047D7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A0784-D181-557B-C109-5F5C68AD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1141B-D7B3-1EFC-8B96-46FC7959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E7BF6-7B84-E94C-7049-144C308F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37DF-88F2-DB1D-2692-42758782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76B38-D453-60C4-C3D7-161F4AEB3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4A6DE-087E-3ED2-72DF-45E83BEF2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C5CBA-7320-8FC7-81B4-E97CFF36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85D72-258E-6176-3092-89A7982D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08BC-2A3D-CD42-DAF3-5E2746B2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9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C09C9-7468-DD3F-3097-D4BBCA85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F1582-19C0-F707-F278-1CDD35C8A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5E867-9D87-89EA-77D6-E6F310A3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A0A2-AAB9-D283-1B53-43932966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7EC74-C0FD-304D-DBAD-95CD2291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92835-16C8-35FA-5D58-7043E35CF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761AF-1A0C-8414-4F94-4A8E53E5E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6FD1F-5F00-CF00-583B-BE39D2FC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F9A97-361F-1221-0D58-2771D7C5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11C89-247B-002E-A5E6-293471BC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01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6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68" name="Google Shape;68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16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797467" y="2366963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797451" y="3621217"/>
            <a:ext cx="109628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7922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8"/>
          <p:cNvGrpSpPr/>
          <p:nvPr/>
        </p:nvGrpSpPr>
        <p:grpSpPr>
          <a:xfrm>
            <a:off x="0" y="5204893"/>
            <a:ext cx="12192000" cy="1653233"/>
            <a:chOff x="0" y="3903669"/>
            <a:chExt cx="9144000" cy="1239925"/>
          </a:xfrm>
        </p:grpSpPr>
        <p:sp>
          <p:nvSpPr>
            <p:cNvPr id="87" name="Google Shape;87;p1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1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1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1163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15600" y="1639967"/>
            <a:ext cx="53332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2"/>
          </p:nvPr>
        </p:nvSpPr>
        <p:spPr>
          <a:xfrm>
            <a:off x="6443200" y="1639967"/>
            <a:ext cx="5333200" cy="44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21206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22540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415600" y="1954405"/>
            <a:ext cx="3744000" cy="4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14823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4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2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109" name="Google Shape;109;p2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2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2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2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2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916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7401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6096000" y="-233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18" name="Google Shape;118;p23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54000" y="1534800"/>
            <a:ext cx="5393600" cy="2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1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2319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body" idx="1"/>
          </p:nvPr>
        </p:nvSpPr>
        <p:spPr>
          <a:xfrm>
            <a:off x="426000" y="5640767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41805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5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128" name="Google Shape;128;p2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2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25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2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2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3" name="Google Shape;133;p25"/>
          <p:cNvSpPr txBox="1">
            <a:spLocks noGrp="1"/>
          </p:cNvSpPr>
          <p:nvPr>
            <p:ph type="title" hasCustomPrompt="1"/>
          </p:nvPr>
        </p:nvSpPr>
        <p:spPr>
          <a:xfrm>
            <a:off x="415600" y="1674733"/>
            <a:ext cx="11360800" cy="27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415600" y="4492300"/>
            <a:ext cx="11360800" cy="1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8023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1180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1_Title Slide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ctrTitle"/>
          </p:nvPr>
        </p:nvSpPr>
        <p:spPr>
          <a:xfrm>
            <a:off x="1308404" y="2452793"/>
            <a:ext cx="9575200" cy="10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6400" b="0" i="0">
                <a:solidFill>
                  <a:srgbClr val="00AAE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318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63127" y="6584753"/>
            <a:ext cx="21268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3" b="1" i="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dt" idx="10"/>
          </p:nvPr>
        </p:nvSpPr>
        <p:spPr>
          <a:xfrm>
            <a:off x="9515517" y="6593288"/>
            <a:ext cx="2602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33" b="1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613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11672145" y="6437199"/>
            <a:ext cx="2904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813771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Blank 1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9001" y="0"/>
            <a:ext cx="6215327" cy="66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11672145" y="6437199"/>
            <a:ext cx="2904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8509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Title Only 1"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F6DF1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751031" y="1302168"/>
            <a:ext cx="10690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ldNum" idx="12"/>
          </p:nvPr>
        </p:nvSpPr>
        <p:spPr>
          <a:xfrm>
            <a:off x="8778240" y="6377941"/>
            <a:ext cx="28040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3956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520733" y="580604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199869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Title Only 3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69001" y="0"/>
            <a:ext cx="6215327" cy="66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5695" y="552021"/>
            <a:ext cx="1980787" cy="633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3"/>
          <p:cNvSpPr txBox="1">
            <a:spLocks noGrp="1"/>
          </p:cNvSpPr>
          <p:nvPr>
            <p:ph type="title"/>
          </p:nvPr>
        </p:nvSpPr>
        <p:spPr>
          <a:xfrm>
            <a:off x="520733" y="610201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06552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4">
  <p:cSld name="Title Only 4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520733" y="682079"/>
            <a:ext cx="11150400" cy="57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 b="0" i="0">
                <a:solidFill>
                  <a:srgbClr val="3C85C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sldNum" idx="12"/>
          </p:nvPr>
        </p:nvSpPr>
        <p:spPr>
          <a:xfrm>
            <a:off x="11765619" y="6437200"/>
            <a:ext cx="197200" cy="615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 rtl="0">
              <a:lnSpc>
                <a:spcPct val="100000"/>
              </a:lnSpc>
              <a:spcBef>
                <a:spcPts val="0"/>
              </a:spcBef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679089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7"/>
          <p:cNvGrpSpPr/>
          <p:nvPr/>
        </p:nvGrpSpPr>
        <p:grpSpPr>
          <a:xfrm>
            <a:off x="8131172" y="7"/>
            <a:ext cx="4060833" cy="2707427"/>
            <a:chOff x="6098378" y="5"/>
            <a:chExt cx="3045625" cy="2030570"/>
          </a:xfrm>
        </p:grpSpPr>
        <p:sp>
          <p:nvSpPr>
            <p:cNvPr id="78" name="Google Shape;7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17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8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5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8756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73822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0799" algn="l"/>
            <a:fld id="{00000000-1234-1234-1234-123412341234}" type="slidenum">
              <a:rPr lang="en" smtClean="0"/>
              <a:pPr marL="50799" algn="l"/>
              <a:t>‹#›</a:t>
            </a:fld>
            <a:endParaRPr lang="en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464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543594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3711036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5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996049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4249844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381149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341132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7791090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88268192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79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081250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924823"/>
            <a:ext cx="11360800" cy="4339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71012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589972" y="3243741"/>
            <a:ext cx="9012000" cy="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 b="1" i="0">
                <a:solidFill>
                  <a:srgbClr val="3C85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20733" y="1607563"/>
            <a:ext cx="11152400" cy="30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33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marL="1828754" lvl="2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marL="2438339" lvl="3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marL="3047924" lvl="4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marL="3657509" lvl="5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marL="4267093" lvl="6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marL="4876678" lvl="7" indent="-3047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marL="5486263" lvl="8" indent="-3047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206992" y="6494517"/>
            <a:ext cx="2631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000" cy="28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11375667" y="6437198"/>
            <a:ext cx="586879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799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0799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0799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50799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50799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50799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50799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0799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799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637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6616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E0F86-1F8B-CA8B-5D4D-79D28449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52101-A598-D044-8E2F-B934969F8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C98D6-8F43-D88C-977C-5E6A12D57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F33B5-F7A6-461F-9816-59BAA540ACF8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A87A9-1C5F-B236-7EB3-0CADA7BA8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07A38-5278-17B3-EA25-3FFA0485C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BC8F4-1379-4F40-8CA5-CCD04F24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6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800" cy="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15600" y="1639833"/>
            <a:ext cx="11360800" cy="4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3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02447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12192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6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6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rgbClr val="FFFFFF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55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hf sldNum="0"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85"/>
          <p:cNvSpPr txBox="1">
            <a:spLocks noGrp="1"/>
          </p:cNvSpPr>
          <p:nvPr>
            <p:ph type="title"/>
          </p:nvPr>
        </p:nvSpPr>
        <p:spPr>
          <a:xfrm>
            <a:off x="797467" y="2869796"/>
            <a:ext cx="10962800" cy="111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en"/>
              <a:t>Blockchain Key-Pair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46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Google Shape;1040;p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Google Shape;1055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p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972600" y="760967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Applications for Public-Key Cryptosystems</a:t>
            </a:r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972600" y="1754400"/>
            <a:ext cx="10251600" cy="403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"/>
              <a:t>Public-key systems are characterized by the use of a cryptographic algorithm with two keys, one held private and one available publicly. </a:t>
            </a:r>
            <a:endParaRPr/>
          </a:p>
          <a:p>
            <a:pPr marL="0" indent="0">
              <a:spcBef>
                <a:spcPts val="1600"/>
              </a:spcBef>
              <a:buNone/>
            </a:pPr>
            <a:r>
              <a:rPr lang="en"/>
              <a:t>Depending on the application, the sender uses either the sender’s private key or the receiver’s public key, or both, to perform some type of cryptographic function</a:t>
            </a: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118" y="3284197"/>
            <a:ext cx="6630565" cy="3318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9047"/>
            </a:pPr>
            <a:r>
              <a:rPr lang="en"/>
              <a:t>Wallet</a:t>
            </a:r>
            <a:endParaRPr/>
          </a:p>
        </p:txBody>
      </p:sp>
      <p:pic>
        <p:nvPicPr>
          <p:cNvPr id="574" name="Google Shape;574;p109"/>
          <p:cNvPicPr preferRelativeResize="0"/>
          <p:nvPr/>
        </p:nvPicPr>
        <p:blipFill rotWithShape="1">
          <a:blip r:embed="rId3">
            <a:alphaModFix/>
          </a:blip>
          <a:srcRect l="71165" t="13321" r="12059" b="61129"/>
          <a:stretch/>
        </p:blipFill>
        <p:spPr>
          <a:xfrm>
            <a:off x="2983936" y="2186152"/>
            <a:ext cx="5508424" cy="392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3405-4FDA-6B3B-DDE4-D5BD0A13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an Ethereum Wallet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48FF1-1575-0BB0-CBB9-DD0A2D6CB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61422" indent="-461422">
              <a:buFont typeface="Arial" panose="020B0604020202020204" pitchFamily="34" charset="0"/>
              <a:buChar char="•"/>
            </a:pPr>
            <a:r>
              <a:rPr lang="en-US" sz="2667" dirty="0"/>
              <a:t>Wallet means a software application that manages your Ethereum Account.</a:t>
            </a:r>
          </a:p>
          <a:p>
            <a:pPr marL="461422" indent="-461422">
              <a:buFont typeface="Arial" panose="020B0604020202020204" pitchFamily="34" charset="0"/>
              <a:buChar char="•"/>
            </a:pPr>
            <a:r>
              <a:rPr lang="en-US" sz="2667" dirty="0"/>
              <a:t>It holds your keys and can create and broadcast transactions on your behalf.</a:t>
            </a:r>
          </a:p>
          <a:p>
            <a:pPr marL="461422" indent="-461422">
              <a:buFont typeface="Arial" panose="020B0604020202020204" pitchFamily="34" charset="0"/>
              <a:buChar char="•"/>
            </a:pPr>
            <a:r>
              <a:rPr lang="en-US" sz="2667" dirty="0"/>
              <a:t>If you choose a wallet and don’t like you can change wallets quite easily.</a:t>
            </a:r>
          </a:p>
          <a:p>
            <a:pPr marL="461422" indent="-461422">
              <a:buFont typeface="Arial" panose="020B0604020202020204" pitchFamily="34" charset="0"/>
              <a:buChar char="•"/>
            </a:pPr>
            <a:r>
              <a:rPr lang="en-US" sz="2667" dirty="0"/>
              <a:t>Make a transaction to send your funds from the old wallet to the new.</a:t>
            </a:r>
          </a:p>
          <a:p>
            <a:pPr marL="461422" indent="-461422">
              <a:buFont typeface="Arial" panose="020B0604020202020204" pitchFamily="34" charset="0"/>
              <a:buChar char="•"/>
            </a:pPr>
            <a:r>
              <a:rPr lang="en-US" sz="2667" dirty="0"/>
              <a:t>Export your </a:t>
            </a:r>
            <a:r>
              <a:rPr lang="en-US" sz="2667" dirty="0" err="1"/>
              <a:t>priate</a:t>
            </a:r>
            <a:r>
              <a:rPr lang="en-US" sz="2667" dirty="0"/>
              <a:t> keys and import them into the new 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111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53436" t="28769" r="17251" b="53356"/>
          <a:stretch>
            <a:fillRect/>
          </a:stretch>
        </p:blipFill>
        <p:spPr>
          <a:xfrm>
            <a:off x="7034677" y="1845735"/>
            <a:ext cx="4229439" cy="1450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F55216-E487-816E-C6EB-7341C6EB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Wallet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53AA-0FB8-20AE-AD99-0DC01195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67" b="1" dirty="0"/>
              <a:t>Cold Wallet</a:t>
            </a:r>
          </a:p>
          <a:p>
            <a:r>
              <a:rPr lang="en-US" sz="2667" b="1" dirty="0"/>
              <a:t>Hot Wallet</a:t>
            </a:r>
          </a:p>
          <a:p>
            <a:pPr lvl="1"/>
            <a:r>
              <a:rPr lang="en-US" sz="2667" dirty="0"/>
              <a:t>Mobile Wallet</a:t>
            </a:r>
          </a:p>
          <a:p>
            <a:pPr lvl="1"/>
            <a:r>
              <a:rPr lang="en-US" sz="2667" dirty="0"/>
              <a:t>Desktop Wallet</a:t>
            </a:r>
          </a:p>
          <a:p>
            <a:pPr lvl="1"/>
            <a:r>
              <a:rPr lang="en-US" sz="2667" dirty="0"/>
              <a:t>Web-based Wallet</a:t>
            </a:r>
          </a:p>
          <a:p>
            <a:pPr marL="201163" lvl="1" indent="0">
              <a:buNone/>
            </a:pPr>
            <a:r>
              <a:rPr lang="en-US" sz="2667" dirty="0"/>
              <a:t>Generally, the more popular a wallet application is , the more trustworthy it is likely to be</a:t>
            </a:r>
          </a:p>
          <a:p>
            <a:pPr marL="201163" lvl="1" indent="0">
              <a:buNone/>
            </a:pPr>
            <a:r>
              <a:rPr lang="en-US" sz="2667" dirty="0"/>
              <a:t>It is good practice to avoid “putting all your eggs in one basket” and have you Ethereum accounts spread across a couple of wallets.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112"/>
          <p:cNvPicPr preferRelativeResize="0"/>
          <p:nvPr/>
        </p:nvPicPr>
        <p:blipFill rotWithShape="1">
          <a:blip r:embed="rId3">
            <a:alphaModFix/>
          </a:blip>
          <a:srcRect l="70867" t="19725" r="15218" b="53966"/>
          <a:stretch>
            <a:fillRect/>
          </a:stretch>
        </p:blipFill>
        <p:spPr>
          <a:xfrm>
            <a:off x="9656495" y="1845735"/>
            <a:ext cx="2039195" cy="2168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444670-274D-4598-B9A4-AA9C7293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good starter wallets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658D-7A80-CFC1-B443-A39838D0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490" y="1845735"/>
            <a:ext cx="8203165" cy="4023360"/>
          </a:xfrm>
        </p:spPr>
        <p:txBody>
          <a:bodyPr>
            <a:normAutofit/>
          </a:bodyPr>
          <a:lstStyle/>
          <a:p>
            <a:r>
              <a:rPr lang="en-US" sz="2667" dirty="0" err="1"/>
              <a:t>Metamask</a:t>
            </a:r>
            <a:endParaRPr lang="en-US" sz="2667" dirty="0"/>
          </a:p>
          <a:p>
            <a:pPr lvl="1"/>
            <a:r>
              <a:rPr lang="en-US" sz="2667" dirty="0"/>
              <a:t>Browser extension wallet that runs in your browser</a:t>
            </a:r>
          </a:p>
          <a:p>
            <a:pPr lvl="1"/>
            <a:r>
              <a:rPr lang="en-US" sz="2667" dirty="0"/>
              <a:t>It is easy to use and convenient for testing</a:t>
            </a:r>
          </a:p>
          <a:p>
            <a:pPr lvl="1"/>
            <a:r>
              <a:rPr lang="en-US" sz="2667" dirty="0"/>
              <a:t>Able to connect to a variety of Ethereum nodes and test blockchains.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>
          <a:extLst>
            <a:ext uri="{FF2B5EF4-FFF2-40B4-BE49-F238E27FC236}">
              <a16:creationId xmlns:a16="http://schemas.microsoft.com/office/drawing/2014/main" id="{C6AE841D-1012-2224-87F2-64A68A9D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402C-D3DB-B582-0F79-492F11053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good starter wallets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FC26-233B-DDF5-2C3C-D4DFA4E38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490" y="1845735"/>
            <a:ext cx="8203165" cy="4023360"/>
          </a:xfrm>
        </p:spPr>
        <p:txBody>
          <a:bodyPr>
            <a:normAutofit/>
          </a:bodyPr>
          <a:lstStyle/>
          <a:p>
            <a:pPr algn="just"/>
            <a:r>
              <a:rPr lang="en-US" sz="2667" dirty="0"/>
              <a:t>Jaxx</a:t>
            </a:r>
          </a:p>
          <a:p>
            <a:pPr lvl="1" algn="just"/>
            <a:r>
              <a:rPr lang="en-US" sz="2667" dirty="0"/>
              <a:t>Multiplatform and multicurrency wallet that runs on a variety of Operating Systems</a:t>
            </a:r>
          </a:p>
          <a:p>
            <a:pPr lvl="1" algn="just"/>
            <a:r>
              <a:rPr lang="en-US" sz="2667" dirty="0"/>
              <a:t>It is often a good choice for new users as it is designed for simplicity and ease of use.</a:t>
            </a:r>
          </a:p>
          <a:p>
            <a:pPr lvl="1" algn="just"/>
            <a:r>
              <a:rPr lang="en-US" sz="2667" dirty="0"/>
              <a:t>Jaxx is either a mobile or a desktop wallet</a:t>
            </a:r>
          </a:p>
        </p:txBody>
      </p:sp>
      <p:pic>
        <p:nvPicPr>
          <p:cNvPr id="594" name="Google Shape;594;p113"/>
          <p:cNvPicPr preferRelativeResize="0"/>
          <p:nvPr/>
        </p:nvPicPr>
        <p:blipFill rotWithShape="1">
          <a:blip r:embed="rId3">
            <a:alphaModFix/>
          </a:blip>
          <a:srcRect l="69123" t="25385" r="13296" b="60782"/>
          <a:stretch>
            <a:fillRect/>
          </a:stretch>
        </p:blipFill>
        <p:spPr>
          <a:xfrm>
            <a:off x="9494655" y="1984745"/>
            <a:ext cx="2594344" cy="1148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2394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114"/>
          <p:cNvPicPr preferRelativeResize="0"/>
          <p:nvPr/>
        </p:nvPicPr>
        <p:blipFill rotWithShape="1">
          <a:blip r:embed="rId3">
            <a:alphaModFix/>
          </a:blip>
          <a:srcRect l="62741" t="31288" r="13866" b="35167"/>
          <a:stretch>
            <a:fillRect/>
          </a:stretch>
        </p:blipFill>
        <p:spPr>
          <a:xfrm>
            <a:off x="9512595" y="1737362"/>
            <a:ext cx="2495108" cy="21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78510B-0AD3-EDD4-B23D-2A101DA3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good starter wallets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FD27-9C7F-93AE-9D1B-E2588F6A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67" dirty="0" err="1"/>
              <a:t>MyEtherWallet</a:t>
            </a:r>
            <a:r>
              <a:rPr lang="en-US" sz="2667" dirty="0"/>
              <a:t> (MEW)</a:t>
            </a:r>
          </a:p>
          <a:p>
            <a:pPr lvl="1"/>
            <a:r>
              <a:rPr lang="en-US" sz="2667" dirty="0"/>
              <a:t>Web-based wallet that runs in any browser.</a:t>
            </a:r>
          </a:p>
          <a:p>
            <a:pPr lvl="1"/>
            <a:endParaRPr lang="en-US" sz="2667" dirty="0"/>
          </a:p>
          <a:p>
            <a:pPr marL="201163" lvl="1" indent="0">
              <a:buNone/>
            </a:pPr>
            <a:r>
              <a:rPr lang="en-US" sz="2667" dirty="0"/>
              <a:t>Emerald Wallet</a:t>
            </a:r>
          </a:p>
          <a:p>
            <a:pPr lvl="1"/>
            <a:r>
              <a:rPr lang="en-US" sz="2667" dirty="0"/>
              <a:t>It is an open-source desktop application</a:t>
            </a:r>
          </a:p>
          <a:p>
            <a:pPr lvl="1"/>
            <a:r>
              <a:rPr lang="en-US" sz="2667" dirty="0"/>
              <a:t>Can run a full node/ connect to public remote node, working in light mode.</a:t>
            </a:r>
          </a:p>
          <a:p>
            <a:pPr lvl="1"/>
            <a:r>
              <a:rPr lang="en-US" sz="2667" dirty="0"/>
              <a:t>It also has a comparison tool to do all the operations from the command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324</Words>
  <Application>Microsoft Office PowerPoint</Application>
  <PresentationFormat>Widescreen</PresentationFormat>
  <Paragraphs>37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Roboto</vt:lpstr>
      <vt:lpstr>Office Theme</vt:lpstr>
      <vt:lpstr>Geometric</vt:lpstr>
      <vt:lpstr>Retrospect</vt:lpstr>
      <vt:lpstr>Blockchain Key-Pair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for Public-Key Cryptosystems</vt:lpstr>
      <vt:lpstr>Wallet</vt:lpstr>
      <vt:lpstr>Choosing an Ethereum Wallet</vt:lpstr>
      <vt:lpstr>Types of Wallet</vt:lpstr>
      <vt:lpstr>Some good starter wallets</vt:lpstr>
      <vt:lpstr>Some good starter wallets</vt:lpstr>
      <vt:lpstr>Some good starter wallets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3</cp:revision>
  <dcterms:created xsi:type="dcterms:W3CDTF">2025-09-02T18:16:15Z</dcterms:created>
  <dcterms:modified xsi:type="dcterms:W3CDTF">2025-09-10T17:22:54Z</dcterms:modified>
</cp:coreProperties>
</file>