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70"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6591D7-CEB1-4B27-A34B-68D38A437A56}"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BE8D78-6469-4C39-B728-E4A6C48A2D15}" type="slidenum">
              <a:rPr lang="en-US" smtClean="0"/>
              <a:t>‹#›</a:t>
            </a:fld>
            <a:endParaRPr lang="en-US"/>
          </a:p>
        </p:txBody>
      </p:sp>
    </p:spTree>
    <p:extLst>
      <p:ext uri="{BB962C8B-B14F-4D97-AF65-F5344CB8AC3E}">
        <p14:creationId xmlns:p14="http://schemas.microsoft.com/office/powerpoint/2010/main" val="2091075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59dc25e607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59dc25e607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6005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59dc25e607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59dc25e607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6763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59dc25e607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59dc25e607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7330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59dc25e607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59dc25e60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0332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59dc25e60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59dc25e60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9474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59dc25e607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59dc25e60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835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59dc25e607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59dc25e607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0134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59dc25e607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59dc25e607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029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59dc25e607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59dc25e607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1804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59dc25e607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59dc25e607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4014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59dc25e607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259dc25e607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7343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59dc25e607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59dc25e607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7758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59dc25e607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59dc25e607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9077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59dc25e607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259dc25e607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2055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59dc25e60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259dc25e60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2712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9dc25e607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g259dc25e607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9425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59dc25e607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g259dc25e607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8909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59dc25e607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0" name="Google Shape;360;g259dc25e607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7026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259dc25e607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259dc25e607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72600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59dc25e607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59dc25e607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15881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59dc25e607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59dc25e607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0395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59dc25e607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59dc25e607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6220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59dc25e607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59dc25e607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71948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59dc25e607_0_142: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g259dc25e607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7522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B0AFE-E9E3-64FD-6E0C-E42D0CD875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007ADE-8819-9A7F-90E4-566D5F443C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292290-DDBA-7999-0640-791BC19FA785}"/>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5" name="Footer Placeholder 4">
            <a:extLst>
              <a:ext uri="{FF2B5EF4-FFF2-40B4-BE49-F238E27FC236}">
                <a16:creationId xmlns:a16="http://schemas.microsoft.com/office/drawing/2014/main" id="{0099AB23-23FF-6952-2AB7-5899313EC5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12D395-CDA9-14A8-F230-17D9DC88F893}"/>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2539465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A3E7-CFF3-FAF0-2CC1-D200E331CD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2F21CE-F5CE-78D9-A94E-1609CD26C3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C5F1F-2C08-9503-BFD3-A21DA8680132}"/>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5" name="Footer Placeholder 4">
            <a:extLst>
              <a:ext uri="{FF2B5EF4-FFF2-40B4-BE49-F238E27FC236}">
                <a16:creationId xmlns:a16="http://schemas.microsoft.com/office/drawing/2014/main" id="{E81DECAD-118F-5334-666D-295EB9056C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25E59-8E4A-B607-BB38-2EFF86B9C7B6}"/>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1397508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62BD6-6B23-8907-D745-EF5E2C4C70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5220D9-624E-800F-FAAC-C05BA9FF15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D524F-883B-CC8C-9F98-71A023B6F268}"/>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5" name="Footer Placeholder 4">
            <a:extLst>
              <a:ext uri="{FF2B5EF4-FFF2-40B4-BE49-F238E27FC236}">
                <a16:creationId xmlns:a16="http://schemas.microsoft.com/office/drawing/2014/main" id="{D3E135FB-814E-CD84-EAE0-C97D7AA236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51E14E-F153-515D-F391-09DC199FC2EC}"/>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960460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0C60-9054-695F-40CC-74B54B0E56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1B97A5-145E-E341-4147-46FFC612A4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DD89B7-16E9-8B7B-A0DA-53B7143DFF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160B2F-E7D2-CA8F-2F59-00455D02CDC3}"/>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6" name="Footer Placeholder 5">
            <a:extLst>
              <a:ext uri="{FF2B5EF4-FFF2-40B4-BE49-F238E27FC236}">
                <a16:creationId xmlns:a16="http://schemas.microsoft.com/office/drawing/2014/main" id="{A7582DE7-69C2-DA39-FDBE-5358845BC1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BC2970-5C98-E35E-2226-862A54F75246}"/>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2852236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EC5E8-08BA-0CFE-9F0C-C8105EEABA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CAF424-8031-9F86-E622-3A4C32F665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D223BC-9407-72DD-9BB0-382602FB2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A01600-1452-EED1-6E61-3CCC62F92C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882CA8-BE89-6373-C34B-1CA606E571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01D586-5463-8F13-64C3-77C3A5A2B587}"/>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8" name="Footer Placeholder 7">
            <a:extLst>
              <a:ext uri="{FF2B5EF4-FFF2-40B4-BE49-F238E27FC236}">
                <a16:creationId xmlns:a16="http://schemas.microsoft.com/office/drawing/2014/main" id="{C5B6F03A-82CD-E3BB-BEA0-7C9E589B81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1D11E6-B28F-DC27-E6F9-B8CEA18B1DD8}"/>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226508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7BA09-B978-44F3-8946-96899C3FE2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10F664-2977-8A6B-F6E2-BAD70ADF6F27}"/>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4" name="Footer Placeholder 3">
            <a:extLst>
              <a:ext uri="{FF2B5EF4-FFF2-40B4-BE49-F238E27FC236}">
                <a16:creationId xmlns:a16="http://schemas.microsoft.com/office/drawing/2014/main" id="{DFB3F754-08CD-164D-51E8-77B92C3329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4AD71-E030-3789-C9E4-02698574C8CC}"/>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3424695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6C5FCF-2E24-986E-FF1B-9EC6919359E7}"/>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3" name="Footer Placeholder 2">
            <a:extLst>
              <a:ext uri="{FF2B5EF4-FFF2-40B4-BE49-F238E27FC236}">
                <a16:creationId xmlns:a16="http://schemas.microsoft.com/office/drawing/2014/main" id="{C9FA8591-2326-E028-C9BB-D0B0C2B087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BA86E7-F1CB-6626-B1B4-52F11EA99379}"/>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3176714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9BC3-9BF2-082F-0759-3BCAB9BE44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B0F09F-DAF7-06C6-64B7-59A27DF1EE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A9F0B0-F843-CC63-BB4D-990071E92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57575-CA5C-CE36-4A27-0DE2F8F69F75}"/>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6" name="Footer Placeholder 5">
            <a:extLst>
              <a:ext uri="{FF2B5EF4-FFF2-40B4-BE49-F238E27FC236}">
                <a16:creationId xmlns:a16="http://schemas.microsoft.com/office/drawing/2014/main" id="{1F22F1A9-3321-8582-14DE-571315165D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C92A6A-05E5-81C4-9C91-CEC5B07C7C94}"/>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2225469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48AB-DB84-E399-AA31-2996E793B3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2B4B4C-92CA-9637-4B2B-3A82295BD6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D090A2-7AAC-38A7-8998-263ED4A924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F0CF6-EC64-DB82-4280-C859A8A41FCF}"/>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6" name="Footer Placeholder 5">
            <a:extLst>
              <a:ext uri="{FF2B5EF4-FFF2-40B4-BE49-F238E27FC236}">
                <a16:creationId xmlns:a16="http://schemas.microsoft.com/office/drawing/2014/main" id="{79A7DC99-5480-BCB4-8B74-EB046A480A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38A821-0CB8-BADF-617E-B91C937CDCA0}"/>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351156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47326-3B69-2AC0-022D-C66AA5E1CA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2CF55-36E7-F699-905D-5D26984FBC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37483D-F9B1-0CE3-A866-759C89E63F24}"/>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5" name="Footer Placeholder 4">
            <a:extLst>
              <a:ext uri="{FF2B5EF4-FFF2-40B4-BE49-F238E27FC236}">
                <a16:creationId xmlns:a16="http://schemas.microsoft.com/office/drawing/2014/main" id="{1362AB76-F4F1-9CB0-4FA5-B28365248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43FF2-DA4F-2FF7-39D1-CBC60E8E6CD2}"/>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1237092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A60636-7F7B-EEFA-0FF4-EFC7E362EA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2BE127-47B7-A4B1-57CA-C808245FBD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BA1ED5-983A-D116-8DFE-F2B24A24DDAE}"/>
              </a:ext>
            </a:extLst>
          </p:cNvPr>
          <p:cNvSpPr>
            <a:spLocks noGrp="1"/>
          </p:cNvSpPr>
          <p:nvPr>
            <p:ph type="dt" sz="half" idx="10"/>
          </p:nvPr>
        </p:nvSpPr>
        <p:spPr/>
        <p:txBody>
          <a:bodyPr/>
          <a:lstStyle/>
          <a:p>
            <a:fld id="{B8FC90B2-F431-41DF-B4EA-569CE31DB534}" type="datetimeFigureOut">
              <a:rPr lang="en-US" smtClean="0"/>
              <a:t>1/22/2026</a:t>
            </a:fld>
            <a:endParaRPr lang="en-US"/>
          </a:p>
        </p:txBody>
      </p:sp>
      <p:sp>
        <p:nvSpPr>
          <p:cNvPr id="5" name="Footer Placeholder 4">
            <a:extLst>
              <a:ext uri="{FF2B5EF4-FFF2-40B4-BE49-F238E27FC236}">
                <a16:creationId xmlns:a16="http://schemas.microsoft.com/office/drawing/2014/main" id="{E36EA451-FCFC-D166-09F2-CD9401C681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D2E43-AC7B-1F66-5E5F-0FBF0D855FD3}"/>
              </a:ext>
            </a:extLst>
          </p:cNvPr>
          <p:cNvSpPr>
            <a:spLocks noGrp="1"/>
          </p:cNvSpPr>
          <p:nvPr>
            <p:ph type="sldNum" sz="quarter" idx="12"/>
          </p:nvPr>
        </p:nvSpPr>
        <p:spPr/>
        <p:txBody>
          <a:bodyPr/>
          <a:lstStyle/>
          <a:p>
            <a:fld id="{C6AB3591-B0DA-4755-88C9-C5F95BC723EB}" type="slidenum">
              <a:rPr lang="en-US" smtClean="0"/>
              <a:t>‹#›</a:t>
            </a:fld>
            <a:endParaRPr lang="en-US"/>
          </a:p>
        </p:txBody>
      </p:sp>
    </p:spTree>
    <p:extLst>
      <p:ext uri="{BB962C8B-B14F-4D97-AF65-F5344CB8AC3E}">
        <p14:creationId xmlns:p14="http://schemas.microsoft.com/office/powerpoint/2010/main" val="4281025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20305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19977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1589972" y="3243741"/>
            <a:ext cx="9012000" cy="775597"/>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800"/>
              <a:buNone/>
              <a:defRPr sz="5600" b="1" i="0">
                <a:solidFill>
                  <a:srgbClr val="3C85C5"/>
                </a:solidFill>
                <a:latin typeface="Calibri"/>
                <a:ea typeface="Calibri"/>
                <a:cs typeface="Calibri"/>
                <a:sym typeface="Calibri"/>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14"/>
          <p:cNvSpPr txBox="1">
            <a:spLocks noGrp="1"/>
          </p:cNvSpPr>
          <p:nvPr>
            <p:ph type="body" idx="1"/>
          </p:nvPr>
        </p:nvSpPr>
        <p:spPr>
          <a:xfrm>
            <a:off x="520733" y="1607563"/>
            <a:ext cx="11152400" cy="240002"/>
          </a:xfrm>
          <a:prstGeom prst="rect">
            <a:avLst/>
          </a:prstGeom>
          <a:noFill/>
          <a:ln>
            <a:noFill/>
          </a:ln>
        </p:spPr>
        <p:txBody>
          <a:bodyPr spcFirstLastPara="1" wrap="square" lIns="0" tIns="0" rIns="0" bIns="0" anchor="t" anchorCtr="0">
            <a:spAutoFit/>
          </a:bodyPr>
          <a:lstStyle>
            <a:lvl1pPr marL="609585" lvl="0" indent="-304792" algn="l" rtl="0">
              <a:spcBef>
                <a:spcPts val="0"/>
              </a:spcBef>
              <a:spcAft>
                <a:spcPts val="0"/>
              </a:spcAft>
              <a:buSzPts val="1800"/>
              <a:buNone/>
              <a:defRPr sz="1733" b="0" i="0">
                <a:solidFill>
                  <a:schemeClr val="dk1"/>
                </a:solidFill>
                <a:latin typeface="Calibri"/>
                <a:ea typeface="Calibri"/>
                <a:cs typeface="Calibri"/>
                <a:sym typeface="Calibri"/>
              </a:defRPr>
            </a:lvl1pPr>
            <a:lvl2pPr marL="1219170" lvl="1" indent="-304792" algn="l" rtl="0">
              <a:spcBef>
                <a:spcPts val="1600"/>
              </a:spcBef>
              <a:spcAft>
                <a:spcPts val="0"/>
              </a:spcAft>
              <a:buSzPts val="1400"/>
              <a:buNone/>
              <a:defRPr/>
            </a:lvl2pPr>
            <a:lvl3pPr marL="1828754" lvl="2" indent="-304792" algn="l" rtl="0">
              <a:spcBef>
                <a:spcPts val="1600"/>
              </a:spcBef>
              <a:spcAft>
                <a:spcPts val="0"/>
              </a:spcAft>
              <a:buSzPts val="1400"/>
              <a:buNone/>
              <a:defRPr/>
            </a:lvl3pPr>
            <a:lvl4pPr marL="2438339" lvl="3" indent="-304792" algn="l" rtl="0">
              <a:spcBef>
                <a:spcPts val="1600"/>
              </a:spcBef>
              <a:spcAft>
                <a:spcPts val="0"/>
              </a:spcAft>
              <a:buSzPts val="1400"/>
              <a:buNone/>
              <a:defRPr/>
            </a:lvl4pPr>
            <a:lvl5pPr marL="3047924" lvl="4" indent="-304792" algn="l" rtl="0">
              <a:spcBef>
                <a:spcPts val="1600"/>
              </a:spcBef>
              <a:spcAft>
                <a:spcPts val="0"/>
              </a:spcAft>
              <a:buSzPts val="1400"/>
              <a:buNone/>
              <a:defRPr/>
            </a:lvl5pPr>
            <a:lvl6pPr marL="3657509" lvl="5" indent="-304792" algn="l" rtl="0">
              <a:spcBef>
                <a:spcPts val="1600"/>
              </a:spcBef>
              <a:spcAft>
                <a:spcPts val="0"/>
              </a:spcAft>
              <a:buSzPts val="1400"/>
              <a:buNone/>
              <a:defRPr/>
            </a:lvl6pPr>
            <a:lvl7pPr marL="4267093" lvl="6" indent="-304792" algn="l" rtl="0">
              <a:spcBef>
                <a:spcPts val="1600"/>
              </a:spcBef>
              <a:spcAft>
                <a:spcPts val="0"/>
              </a:spcAft>
              <a:buSzPts val="1400"/>
              <a:buNone/>
              <a:defRPr/>
            </a:lvl7pPr>
            <a:lvl8pPr marL="4876678" lvl="7" indent="-304792" algn="l" rtl="0">
              <a:spcBef>
                <a:spcPts val="1600"/>
              </a:spcBef>
              <a:spcAft>
                <a:spcPts val="0"/>
              </a:spcAft>
              <a:buSzPts val="1400"/>
              <a:buNone/>
              <a:defRPr/>
            </a:lvl8pPr>
            <a:lvl9pPr marL="5486263" lvl="8" indent="-304792" algn="l" rtl="0">
              <a:spcBef>
                <a:spcPts val="1600"/>
              </a:spcBef>
              <a:spcAft>
                <a:spcPts val="1600"/>
              </a:spcAft>
              <a:buSzPts val="1400"/>
              <a:buNone/>
              <a:defRPr/>
            </a:lvl9pPr>
          </a:lstStyle>
          <a:p>
            <a:endParaRPr/>
          </a:p>
        </p:txBody>
      </p:sp>
      <p:sp>
        <p:nvSpPr>
          <p:cNvPr id="59" name="Google Shape;59;p14"/>
          <p:cNvSpPr txBox="1">
            <a:spLocks noGrp="1"/>
          </p:cNvSpPr>
          <p:nvPr>
            <p:ph type="ftr" idx="11"/>
          </p:nvPr>
        </p:nvSpPr>
        <p:spPr>
          <a:xfrm>
            <a:off x="206992" y="6494517"/>
            <a:ext cx="2631600" cy="246221"/>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600" b="0" i="0">
                <a:solidFill>
                  <a:srgbClr val="888888"/>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1600" b="0" i="0" u="none" strike="noStrike" kern="1200" cap="none" spc="0" normalizeH="0" baseline="0" noProof="0">
              <a:ln>
                <a:noFill/>
              </a:ln>
              <a:solidFill>
                <a:srgbClr val="888888"/>
              </a:solidFill>
              <a:effectLst/>
              <a:uLnTx/>
              <a:uFillTx/>
              <a:latin typeface="Calibri"/>
              <a:ea typeface="Calibri"/>
              <a:cs typeface="Calibri"/>
              <a:sym typeface="Calibri"/>
            </a:endParaRPr>
          </a:p>
        </p:txBody>
      </p:sp>
      <p:sp>
        <p:nvSpPr>
          <p:cNvPr id="60" name="Google Shape;60;p14"/>
          <p:cNvSpPr txBox="1">
            <a:spLocks noGrp="1"/>
          </p:cNvSpPr>
          <p:nvPr>
            <p:ph type="dt" idx="10"/>
          </p:nvPr>
        </p:nvSpPr>
        <p:spPr>
          <a:xfrm>
            <a:off x="609600" y="6377940"/>
            <a:ext cx="2804000" cy="184666"/>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1200" b="0" i="0" u="none" strike="noStrike" kern="1200" cap="none" spc="0" normalizeH="0" baseline="0" noProof="0">
              <a:ln>
                <a:noFill/>
              </a:ln>
              <a:solidFill>
                <a:srgbClr val="888888"/>
              </a:solidFill>
              <a:effectLst/>
              <a:uLnTx/>
              <a:uFillTx/>
              <a:latin typeface="Aptos" panose="02110004020202020204"/>
              <a:ea typeface="+mn-ea"/>
              <a:cs typeface="+mn-cs"/>
            </a:endParaRPr>
          </a:p>
        </p:txBody>
      </p:sp>
      <p:sp>
        <p:nvSpPr>
          <p:cNvPr id="61" name="Google Shape;61;p14"/>
          <p:cNvSpPr txBox="1">
            <a:spLocks noGrp="1"/>
          </p:cNvSpPr>
          <p:nvPr>
            <p:ph type="sldNum" idx="12"/>
          </p:nvPr>
        </p:nvSpPr>
        <p:spPr>
          <a:xfrm>
            <a:off x="11672145" y="6437199"/>
            <a:ext cx="290400" cy="205121"/>
          </a:xfrm>
          <a:prstGeom prst="rect">
            <a:avLst/>
          </a:prstGeom>
          <a:noFill/>
          <a:ln>
            <a:noFill/>
          </a:ln>
        </p:spPr>
        <p:txBody>
          <a:bodyPr spcFirstLastPara="1" wrap="square" lIns="0" tIns="0" rIns="0" bIns="0" anchor="t" anchorCtr="0">
            <a:spAutoFit/>
          </a:bodyPr>
          <a:lstStyle>
            <a:lvl1pPr marL="50799" marR="0" lvl="0" indent="0" algn="l" rtl="0">
              <a:lnSpc>
                <a:spcPct val="100000"/>
              </a:lnSpc>
              <a:spcBef>
                <a:spcPts val="0"/>
              </a:spcBef>
              <a:buNone/>
              <a:defRPr sz="1333" b="0" i="0" u="none" strike="noStrike" cap="none">
                <a:solidFill>
                  <a:srgbClr val="585858"/>
                </a:solidFill>
                <a:latin typeface="Arial"/>
                <a:ea typeface="Arial"/>
                <a:cs typeface="Arial"/>
                <a:sym typeface="Arial"/>
              </a:defRPr>
            </a:lvl1pPr>
            <a:lvl2pPr marL="50799" marR="0" lvl="1" indent="0" algn="l" rtl="0">
              <a:lnSpc>
                <a:spcPct val="100000"/>
              </a:lnSpc>
              <a:spcBef>
                <a:spcPts val="0"/>
              </a:spcBef>
              <a:buNone/>
              <a:defRPr sz="1333" b="0" i="0" u="none" strike="noStrike" cap="none">
                <a:solidFill>
                  <a:srgbClr val="585858"/>
                </a:solidFill>
                <a:latin typeface="Arial"/>
                <a:ea typeface="Arial"/>
                <a:cs typeface="Arial"/>
                <a:sym typeface="Arial"/>
              </a:defRPr>
            </a:lvl2pPr>
            <a:lvl3pPr marL="50799" marR="0" lvl="2" indent="0" algn="l" rtl="0">
              <a:lnSpc>
                <a:spcPct val="100000"/>
              </a:lnSpc>
              <a:spcBef>
                <a:spcPts val="0"/>
              </a:spcBef>
              <a:buNone/>
              <a:defRPr sz="1333" b="0" i="0" u="none" strike="noStrike" cap="none">
                <a:solidFill>
                  <a:srgbClr val="585858"/>
                </a:solidFill>
                <a:latin typeface="Arial"/>
                <a:ea typeface="Arial"/>
                <a:cs typeface="Arial"/>
                <a:sym typeface="Arial"/>
              </a:defRPr>
            </a:lvl3pPr>
            <a:lvl4pPr marL="50799" marR="0" lvl="3" indent="0" algn="l" rtl="0">
              <a:lnSpc>
                <a:spcPct val="100000"/>
              </a:lnSpc>
              <a:spcBef>
                <a:spcPts val="0"/>
              </a:spcBef>
              <a:buNone/>
              <a:defRPr sz="1333" b="0" i="0" u="none" strike="noStrike" cap="none">
                <a:solidFill>
                  <a:srgbClr val="585858"/>
                </a:solidFill>
                <a:latin typeface="Arial"/>
                <a:ea typeface="Arial"/>
                <a:cs typeface="Arial"/>
                <a:sym typeface="Arial"/>
              </a:defRPr>
            </a:lvl4pPr>
            <a:lvl5pPr marL="50799" marR="0" lvl="4" indent="0" algn="l" rtl="0">
              <a:lnSpc>
                <a:spcPct val="100000"/>
              </a:lnSpc>
              <a:spcBef>
                <a:spcPts val="0"/>
              </a:spcBef>
              <a:buNone/>
              <a:defRPr sz="1333" b="0" i="0" u="none" strike="noStrike" cap="none">
                <a:solidFill>
                  <a:srgbClr val="585858"/>
                </a:solidFill>
                <a:latin typeface="Arial"/>
                <a:ea typeface="Arial"/>
                <a:cs typeface="Arial"/>
                <a:sym typeface="Arial"/>
              </a:defRPr>
            </a:lvl5pPr>
            <a:lvl6pPr marL="50799" marR="0" lvl="5" indent="0" algn="l" rtl="0">
              <a:lnSpc>
                <a:spcPct val="100000"/>
              </a:lnSpc>
              <a:spcBef>
                <a:spcPts val="0"/>
              </a:spcBef>
              <a:buNone/>
              <a:defRPr sz="1333" b="0" i="0" u="none" strike="noStrike" cap="none">
                <a:solidFill>
                  <a:srgbClr val="585858"/>
                </a:solidFill>
                <a:latin typeface="Arial"/>
                <a:ea typeface="Arial"/>
                <a:cs typeface="Arial"/>
                <a:sym typeface="Arial"/>
              </a:defRPr>
            </a:lvl6pPr>
            <a:lvl7pPr marL="50799" marR="0" lvl="6" indent="0" algn="l" rtl="0">
              <a:lnSpc>
                <a:spcPct val="100000"/>
              </a:lnSpc>
              <a:spcBef>
                <a:spcPts val="0"/>
              </a:spcBef>
              <a:buNone/>
              <a:defRPr sz="1333" b="0" i="0" u="none" strike="noStrike" cap="none">
                <a:solidFill>
                  <a:srgbClr val="585858"/>
                </a:solidFill>
                <a:latin typeface="Arial"/>
                <a:ea typeface="Arial"/>
                <a:cs typeface="Arial"/>
                <a:sym typeface="Arial"/>
              </a:defRPr>
            </a:lvl7pPr>
            <a:lvl8pPr marL="50799" marR="0" lvl="7" indent="0" algn="l" rtl="0">
              <a:lnSpc>
                <a:spcPct val="100000"/>
              </a:lnSpc>
              <a:spcBef>
                <a:spcPts val="0"/>
              </a:spcBef>
              <a:buNone/>
              <a:defRPr sz="1333" b="0" i="0" u="none" strike="noStrike" cap="none">
                <a:solidFill>
                  <a:srgbClr val="585858"/>
                </a:solidFill>
                <a:latin typeface="Arial"/>
                <a:ea typeface="Arial"/>
                <a:cs typeface="Arial"/>
                <a:sym typeface="Arial"/>
              </a:defRPr>
            </a:lvl8pPr>
            <a:lvl9pPr marL="50799" marR="0" lvl="8" indent="0" algn="l" rtl="0">
              <a:lnSpc>
                <a:spcPct val="100000"/>
              </a:lnSpc>
              <a:spcBef>
                <a:spcPts val="0"/>
              </a:spcBef>
              <a:buNone/>
              <a:defRPr sz="1333" b="0" i="0" u="none" strike="noStrike" cap="none">
                <a:solidFill>
                  <a:srgbClr val="585858"/>
                </a:solidFill>
                <a:latin typeface="Arial"/>
                <a:ea typeface="Arial"/>
                <a:cs typeface="Arial"/>
                <a:sym typeface="Arial"/>
              </a:defRPr>
            </a:lvl9pPr>
          </a:lstStyle>
          <a:p>
            <a:pPr marL="50799" marR="0" lvl="0" indent="0" algn="l"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333" b="0" i="0" u="none" strike="noStrike" kern="1200" cap="none" spc="0" normalizeH="0" baseline="0" noProof="0" smtClean="0">
                <a:ln>
                  <a:noFill/>
                </a:ln>
                <a:solidFill>
                  <a:srgbClr val="585858"/>
                </a:solidFill>
                <a:effectLst/>
                <a:uLnTx/>
                <a:uFillTx/>
                <a:latin typeface="Arial"/>
                <a:cs typeface="Arial"/>
                <a:sym typeface="Arial"/>
              </a:rPr>
              <a:pPr marL="50799" marR="0" lvl="0" indent="0" algn="l" defTabSz="914400" rtl="0" eaLnBrk="1" fontAlgn="auto" latinLnBrk="0" hangingPunct="1">
                <a:lnSpc>
                  <a:spcPct val="100000"/>
                </a:lnSpc>
                <a:spcBef>
                  <a:spcPts val="0"/>
                </a:spcBef>
                <a:spcAft>
                  <a:spcPts val="0"/>
                </a:spcAft>
                <a:buClrTx/>
                <a:buSzTx/>
                <a:buFontTx/>
                <a:buNone/>
                <a:tabLst/>
                <a:defRPr/>
              </a:pPr>
              <a:t>‹#›</a:t>
            </a:fld>
            <a:endParaRPr kumimoji="0" lang="en" sz="1333" b="0" i="0" u="none" strike="noStrike" kern="1200" cap="none" spc="0" normalizeH="0" baseline="0" noProof="0">
              <a:ln>
                <a:noFill/>
              </a:ln>
              <a:solidFill>
                <a:srgbClr val="0E2841"/>
              </a:solidFill>
              <a:effectLst/>
              <a:uLnTx/>
              <a:uFillTx/>
              <a:latin typeface="Arial"/>
              <a:cs typeface="Arial"/>
              <a:sym typeface="Arial"/>
            </a:endParaRPr>
          </a:p>
        </p:txBody>
      </p:sp>
    </p:spTree>
    <p:extLst>
      <p:ext uri="{BB962C8B-B14F-4D97-AF65-F5344CB8AC3E}">
        <p14:creationId xmlns:p14="http://schemas.microsoft.com/office/powerpoint/2010/main" val="3853792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2FECAE-3A81-4A02-96FE-D97AFDB846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63FE2A-9B8A-0E36-17B6-1FED5379E3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9036E-79A4-D43E-600B-896BC36B3E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FC90B2-F431-41DF-B4EA-569CE31DB534}" type="datetimeFigureOut">
              <a:rPr lang="en-US" smtClean="0"/>
              <a:t>1/22/2026</a:t>
            </a:fld>
            <a:endParaRPr lang="en-US"/>
          </a:p>
        </p:txBody>
      </p:sp>
      <p:sp>
        <p:nvSpPr>
          <p:cNvPr id="5" name="Footer Placeholder 4">
            <a:extLst>
              <a:ext uri="{FF2B5EF4-FFF2-40B4-BE49-F238E27FC236}">
                <a16:creationId xmlns:a16="http://schemas.microsoft.com/office/drawing/2014/main" id="{1DB68E30-AE49-2490-B579-727F7CBB54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CAD693-67F7-4B98-8F87-E148A0A9B7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AB3591-B0DA-4755-88C9-C5F95BC723EB}" type="slidenum">
              <a:rPr lang="en-US" smtClean="0"/>
              <a:t>‹#›</a:t>
            </a:fld>
            <a:endParaRPr lang="en-US"/>
          </a:p>
        </p:txBody>
      </p:sp>
    </p:spTree>
    <p:extLst>
      <p:ext uri="{BB962C8B-B14F-4D97-AF65-F5344CB8AC3E}">
        <p14:creationId xmlns:p14="http://schemas.microsoft.com/office/powerpoint/2010/main" val="88537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49"/>
          <p:cNvPicPr preferRelativeResize="0"/>
          <p:nvPr/>
        </p:nvPicPr>
        <p:blipFill rotWithShape="1">
          <a:blip r:embed="rId3">
            <a:alphaModFix/>
          </a:blip>
          <a:srcRect l="20379" t="17663" r="16951" b="4623"/>
          <a:stretch/>
        </p:blipFill>
        <p:spPr>
          <a:xfrm>
            <a:off x="425100" y="0"/>
            <a:ext cx="11568397"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50"/>
          <p:cNvSpPr txBox="1">
            <a:spLocks noGrp="1"/>
          </p:cNvSpPr>
          <p:nvPr>
            <p:ph type="ctrTitle"/>
          </p:nvPr>
        </p:nvSpPr>
        <p:spPr>
          <a:xfrm>
            <a:off x="415611" y="992767"/>
            <a:ext cx="11360800" cy="2736800"/>
          </a:xfrm>
          <a:prstGeom prst="rect">
            <a:avLst/>
          </a:prstGeom>
        </p:spPr>
        <p:txBody>
          <a:bodyPr spcFirstLastPara="1" vert="horz" wrap="square" lIns="121900" tIns="121900" rIns="121900" bIns="121900" rtlCol="0" anchor="b" anchorCtr="0">
            <a:normAutofit/>
          </a:bodyPr>
          <a:lstStyle/>
          <a:p>
            <a:pPr>
              <a:spcBef>
                <a:spcPts val="0"/>
              </a:spcBef>
            </a:pPr>
            <a:endParaRPr/>
          </a:p>
        </p:txBody>
      </p:sp>
      <p:sp>
        <p:nvSpPr>
          <p:cNvPr id="271" name="Google Shape;271;p50"/>
          <p:cNvSpPr txBox="1">
            <a:spLocks noGrp="1"/>
          </p:cNvSpPr>
          <p:nvPr>
            <p:ph type="subTitle" idx="1"/>
          </p:nvPr>
        </p:nvSpPr>
        <p:spPr>
          <a:xfrm>
            <a:off x="415600" y="3778833"/>
            <a:ext cx="11360800" cy="1056800"/>
          </a:xfrm>
          <a:prstGeom prst="rect">
            <a:avLst/>
          </a:prstGeom>
        </p:spPr>
        <p:txBody>
          <a:bodyPr spcFirstLastPara="1" vert="horz" wrap="square" lIns="121900" tIns="121900" rIns="121900" bIns="121900" rtlCol="0" anchor="t" anchorCtr="0">
            <a:normAutofit/>
          </a:bodyPr>
          <a:lstStyle/>
          <a:p>
            <a:pPr>
              <a:spcBef>
                <a:spcPts val="0"/>
              </a:spcBef>
            </a:pPr>
            <a:endParaRPr/>
          </a:p>
        </p:txBody>
      </p:sp>
      <p:pic>
        <p:nvPicPr>
          <p:cNvPr id="272" name="Google Shape;272;p50"/>
          <p:cNvPicPr preferRelativeResize="0"/>
          <p:nvPr/>
        </p:nvPicPr>
        <p:blipFill rotWithShape="1">
          <a:blip r:embed="rId3">
            <a:alphaModFix/>
          </a:blip>
          <a:srcRect l="20759" t="14926" r="17198" b="7733"/>
          <a:stretch/>
        </p:blipFill>
        <p:spPr>
          <a:xfrm>
            <a:off x="0" y="0"/>
            <a:ext cx="1219200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51"/>
          <p:cNvPicPr preferRelativeResize="0"/>
          <p:nvPr/>
        </p:nvPicPr>
        <p:blipFill rotWithShape="1">
          <a:blip r:embed="rId3">
            <a:alphaModFix/>
          </a:blip>
          <a:srcRect l="20382" t="18415" r="17455" b="1623"/>
          <a:stretch/>
        </p:blipFill>
        <p:spPr>
          <a:xfrm>
            <a:off x="0" y="1"/>
            <a:ext cx="12114701" cy="7033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2" name="Google Shape;282;p52"/>
          <p:cNvPicPr preferRelativeResize="0"/>
          <p:nvPr/>
        </p:nvPicPr>
        <p:blipFill rotWithShape="1">
          <a:blip r:embed="rId3">
            <a:alphaModFix/>
          </a:blip>
          <a:srcRect l="21477" t="15719" r="22678" b="6112"/>
          <a:stretch/>
        </p:blipFill>
        <p:spPr>
          <a:xfrm>
            <a:off x="386433" y="0"/>
            <a:ext cx="11805568" cy="70137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53"/>
          <p:cNvPicPr preferRelativeResize="0"/>
          <p:nvPr/>
        </p:nvPicPr>
        <p:blipFill rotWithShape="1">
          <a:blip r:embed="rId3">
            <a:alphaModFix/>
          </a:blip>
          <a:srcRect l="20548" t="15868" r="17539" b="5964"/>
          <a:stretch/>
        </p:blipFill>
        <p:spPr>
          <a:xfrm>
            <a:off x="115933" y="46800"/>
            <a:ext cx="12076064"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54"/>
          <p:cNvPicPr preferRelativeResize="0"/>
          <p:nvPr/>
        </p:nvPicPr>
        <p:blipFill rotWithShape="1">
          <a:blip r:embed="rId3">
            <a:alphaModFix/>
          </a:blip>
          <a:srcRect l="20631" t="16618" r="17540" b="5066"/>
          <a:stretch/>
        </p:blipFill>
        <p:spPr>
          <a:xfrm>
            <a:off x="0" y="0"/>
            <a:ext cx="12134035" cy="6936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55"/>
          <p:cNvPicPr preferRelativeResize="0"/>
          <p:nvPr/>
        </p:nvPicPr>
        <p:blipFill rotWithShape="1">
          <a:blip r:embed="rId3">
            <a:alphaModFix/>
          </a:blip>
          <a:srcRect l="20125" t="17364" r="17375" b="4765"/>
          <a:stretch/>
        </p:blipFill>
        <p:spPr>
          <a:xfrm>
            <a:off x="0" y="0"/>
            <a:ext cx="12192000" cy="691716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56"/>
          <p:cNvPicPr preferRelativeResize="0"/>
          <p:nvPr/>
        </p:nvPicPr>
        <p:blipFill rotWithShape="1">
          <a:blip r:embed="rId3">
            <a:alphaModFix/>
          </a:blip>
          <a:srcRect l="21220" t="16917" r="17376" b="5515"/>
          <a:stretch/>
        </p:blipFill>
        <p:spPr>
          <a:xfrm>
            <a:off x="0" y="0"/>
            <a:ext cx="12192000" cy="6936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b="1"/>
              <a:t>History of Blockchain </a:t>
            </a:r>
            <a:endParaRPr b="1"/>
          </a:p>
        </p:txBody>
      </p:sp>
      <p:sp>
        <p:nvSpPr>
          <p:cNvPr id="308" name="Google Shape;308;p57"/>
          <p:cNvSpPr txBox="1">
            <a:spLocks noGrp="1"/>
          </p:cNvSpPr>
          <p:nvPr>
            <p:ph type="body" idx="1"/>
          </p:nvPr>
        </p:nvSpPr>
        <p:spPr>
          <a:xfrm>
            <a:off x="415600" y="1536633"/>
            <a:ext cx="5333200" cy="4555200"/>
          </a:xfrm>
          <a:prstGeom prst="rect">
            <a:avLst/>
          </a:prstGeom>
        </p:spPr>
        <p:txBody>
          <a:bodyPr spcFirstLastPara="1" vert="horz" wrap="square" lIns="121900" tIns="121900" rIns="121900" bIns="121900" rtlCol="0" anchor="t" anchorCtr="0">
            <a:noAutofit/>
          </a:bodyPr>
          <a:lstStyle/>
          <a:p>
            <a:pPr marL="0" indent="0" algn="just">
              <a:lnSpc>
                <a:spcPct val="150000"/>
              </a:lnSpc>
              <a:spcAft>
                <a:spcPts val="1600"/>
              </a:spcAft>
              <a:buNone/>
            </a:pPr>
            <a:r>
              <a:rPr lang="en" b="1">
                <a:solidFill>
                  <a:srgbClr val="273239"/>
                </a:solidFill>
                <a:highlight>
                  <a:srgbClr val="FFFFFF"/>
                </a:highlight>
                <a:latin typeface="Nunito"/>
                <a:ea typeface="Nunito"/>
                <a:cs typeface="Nunito"/>
                <a:sym typeface="Nunito"/>
              </a:rPr>
              <a:t>1991: </a:t>
            </a:r>
            <a:r>
              <a:rPr lang="en">
                <a:solidFill>
                  <a:srgbClr val="273239"/>
                </a:solidFill>
                <a:highlight>
                  <a:srgbClr val="FFFFFF"/>
                </a:highlight>
                <a:latin typeface="Nunito"/>
                <a:ea typeface="Nunito"/>
                <a:cs typeface="Nunito"/>
                <a:sym typeface="Nunito"/>
              </a:rPr>
              <a:t>In 1991, researcher scientists named Stuart Haber and W. Scott Stornetta introduce Blockchain Technology. These scientists wanted some Computational practical Solution for time-stamping the digital documents so that they couldn’t be tempered or misdated. So both scientists together developed a system with the help of Cryptography. In this System, the time-stamped documents are stored in a Chain of Blocks.</a:t>
            </a:r>
            <a:endParaRPr sz="2000"/>
          </a:p>
        </p:txBody>
      </p:sp>
      <p:sp>
        <p:nvSpPr>
          <p:cNvPr id="309" name="Google Shape;309;p57"/>
          <p:cNvSpPr txBox="1">
            <a:spLocks noGrp="1"/>
          </p:cNvSpPr>
          <p:nvPr>
            <p:ph type="body" idx="2"/>
          </p:nvPr>
        </p:nvSpPr>
        <p:spPr>
          <a:xfrm>
            <a:off x="6443200" y="1536633"/>
            <a:ext cx="5333200" cy="4555200"/>
          </a:xfrm>
          <a:prstGeom prst="rect">
            <a:avLst/>
          </a:prstGeom>
        </p:spPr>
        <p:txBody>
          <a:bodyPr spcFirstLastPara="1" vert="horz" wrap="square" lIns="121900" tIns="121900" rIns="121900" bIns="121900" rtlCol="0" anchor="t" anchorCtr="0">
            <a:normAutofit fontScale="92500"/>
          </a:bodyPr>
          <a:lstStyle/>
          <a:p>
            <a:pPr marL="0" indent="0" algn="just">
              <a:lnSpc>
                <a:spcPct val="150000"/>
              </a:lnSpc>
              <a:spcAft>
                <a:spcPts val="1067"/>
              </a:spcAft>
              <a:buNone/>
            </a:pPr>
            <a:r>
              <a:rPr lang="en" b="1">
                <a:solidFill>
                  <a:srgbClr val="273239"/>
                </a:solidFill>
                <a:highlight>
                  <a:srgbClr val="FFFFFF"/>
                </a:highlight>
                <a:latin typeface="Nunito"/>
                <a:ea typeface="Nunito"/>
                <a:cs typeface="Nunito"/>
                <a:sym typeface="Nunito"/>
              </a:rPr>
              <a:t>1992: </a:t>
            </a:r>
            <a:r>
              <a:rPr lang="en">
                <a:solidFill>
                  <a:srgbClr val="273239"/>
                </a:solidFill>
                <a:highlight>
                  <a:srgbClr val="FFFFFF"/>
                </a:highlight>
                <a:latin typeface="Nunito"/>
                <a:ea typeface="Nunito"/>
                <a:cs typeface="Nunito"/>
                <a:sym typeface="Nunito"/>
              </a:rPr>
              <a:t>After that in 1992, Merkle Trees formed a legal corporation by using a system developed by Stuart Haber and W. Scott Stornetta with some more features. Hence, Blockchain Technology became efficient to store several documents to be collected into one block. Merkle used a Secured Chain of Blocks that stores multiple data records in a sequence. However, this technology became unused when the Patent came into existence in 2004.</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b="1"/>
              <a:t>History of Blockchain</a:t>
            </a:r>
            <a:endParaRPr b="1"/>
          </a:p>
          <a:p>
            <a:endParaRPr/>
          </a:p>
        </p:txBody>
      </p:sp>
      <p:sp>
        <p:nvSpPr>
          <p:cNvPr id="315" name="Google Shape;315;p58"/>
          <p:cNvSpPr txBox="1">
            <a:spLocks noGrp="1"/>
          </p:cNvSpPr>
          <p:nvPr>
            <p:ph type="body" idx="1"/>
          </p:nvPr>
        </p:nvSpPr>
        <p:spPr>
          <a:xfrm>
            <a:off x="415600" y="1536633"/>
            <a:ext cx="5333200" cy="4555200"/>
          </a:xfrm>
          <a:prstGeom prst="rect">
            <a:avLst/>
          </a:prstGeom>
        </p:spPr>
        <p:txBody>
          <a:bodyPr spcFirstLastPara="1" vert="horz" wrap="square" lIns="121900" tIns="121900" rIns="121900" bIns="121900" rtlCol="0" anchor="t" anchorCtr="0">
            <a:noAutofit/>
          </a:bodyPr>
          <a:lstStyle/>
          <a:p>
            <a:pPr marL="0" indent="0" algn="just">
              <a:lnSpc>
                <a:spcPct val="150000"/>
              </a:lnSpc>
              <a:spcAft>
                <a:spcPts val="1067"/>
              </a:spcAft>
              <a:buNone/>
            </a:pPr>
            <a:r>
              <a:rPr lang="en" sz="2133" b="1">
                <a:solidFill>
                  <a:srgbClr val="273239"/>
                </a:solidFill>
                <a:highlight>
                  <a:srgbClr val="FFFFFF"/>
                </a:highlight>
                <a:latin typeface="Nunito"/>
                <a:ea typeface="Nunito"/>
                <a:cs typeface="Nunito"/>
                <a:sym typeface="Nunito"/>
              </a:rPr>
              <a:t>2004: </a:t>
            </a:r>
            <a:r>
              <a:rPr lang="en" sz="2133">
                <a:solidFill>
                  <a:srgbClr val="273239"/>
                </a:solidFill>
                <a:highlight>
                  <a:srgbClr val="FFFFFF"/>
                </a:highlight>
                <a:latin typeface="Nunito"/>
                <a:ea typeface="Nunito"/>
                <a:cs typeface="Nunito"/>
                <a:sym typeface="Nunito"/>
              </a:rPr>
              <a:t>In the year 2004, Cryptographic activist Hal Finney introduced a system for digital cash known as “Reusable Proof of Work”. This step was the game-changer in the history of Blockchain and Cryptography. This System helps others to solve the Double Spending Problem by keeping the ownership of tokens registered on a trusted server.</a:t>
            </a:r>
            <a:endParaRPr sz="2267"/>
          </a:p>
        </p:txBody>
      </p:sp>
      <p:sp>
        <p:nvSpPr>
          <p:cNvPr id="316" name="Google Shape;316;p58"/>
          <p:cNvSpPr txBox="1">
            <a:spLocks noGrp="1"/>
          </p:cNvSpPr>
          <p:nvPr>
            <p:ph type="body" idx="2"/>
          </p:nvPr>
        </p:nvSpPr>
        <p:spPr>
          <a:xfrm>
            <a:off x="6443200" y="1536633"/>
            <a:ext cx="5333200" cy="4555200"/>
          </a:xfrm>
          <a:prstGeom prst="rect">
            <a:avLst/>
          </a:prstGeom>
        </p:spPr>
        <p:txBody>
          <a:bodyPr spcFirstLastPara="1" vert="horz" wrap="square" lIns="121900" tIns="121900" rIns="121900" bIns="121900" rtlCol="0" anchor="t" anchorCtr="0">
            <a:noAutofit/>
          </a:bodyPr>
          <a:lstStyle/>
          <a:p>
            <a:pPr marL="0" indent="0" algn="just">
              <a:lnSpc>
                <a:spcPct val="150000"/>
              </a:lnSpc>
              <a:spcAft>
                <a:spcPts val="1067"/>
              </a:spcAft>
              <a:buNone/>
            </a:pPr>
            <a:r>
              <a:rPr lang="en" sz="2000" b="1">
                <a:solidFill>
                  <a:srgbClr val="273239"/>
                </a:solidFill>
                <a:highlight>
                  <a:srgbClr val="FFFFFF"/>
                </a:highlight>
                <a:latin typeface="Nunito"/>
                <a:ea typeface="Nunito"/>
                <a:cs typeface="Nunito"/>
                <a:sym typeface="Nunito"/>
              </a:rPr>
              <a:t>2008: </a:t>
            </a:r>
            <a:r>
              <a:rPr lang="en" sz="2000">
                <a:solidFill>
                  <a:srgbClr val="273239"/>
                </a:solidFill>
                <a:highlight>
                  <a:srgbClr val="FFFFFF"/>
                </a:highlight>
                <a:latin typeface="Nunito"/>
                <a:ea typeface="Nunito"/>
                <a:cs typeface="Nunito"/>
                <a:sym typeface="Nunito"/>
              </a:rPr>
              <a:t>After that 2008, Satoshi Nakamoto conceptualized the concept of “Distributed Blockchain” in his white paper: ”A Peer to Peer Electronic Cash System”. He modified the model of Merkle Tree and created a system that is more secure and contains the secure history of data exchange. His System follows a peer-to-peer network of time stamping. His system became so useful that Blockchain become the backbone of Cryptography.</a:t>
            </a:r>
            <a:endParaRPr sz="2133"/>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b="1"/>
              <a:t>History of Blockchain</a:t>
            </a:r>
            <a:endParaRPr b="1"/>
          </a:p>
          <a:p>
            <a:endParaRPr/>
          </a:p>
          <a:p>
            <a:endParaRPr b="1"/>
          </a:p>
        </p:txBody>
      </p:sp>
      <p:sp>
        <p:nvSpPr>
          <p:cNvPr id="322" name="Google Shape;322;p59"/>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lnSpcReduction="10000"/>
          </a:bodyPr>
          <a:lstStyle/>
          <a:p>
            <a:pPr marL="0" indent="0" algn="just">
              <a:lnSpc>
                <a:spcPct val="150000"/>
              </a:lnSpc>
              <a:spcAft>
                <a:spcPts val="1067"/>
              </a:spcAft>
              <a:buNone/>
            </a:pPr>
            <a:r>
              <a:rPr lang="en" sz="2133" b="1">
                <a:solidFill>
                  <a:srgbClr val="273239"/>
                </a:solidFill>
                <a:highlight>
                  <a:srgbClr val="FFFFFF"/>
                </a:highlight>
                <a:latin typeface="Nunito"/>
                <a:ea typeface="Nunito"/>
                <a:cs typeface="Nunito"/>
                <a:sym typeface="Nunito"/>
              </a:rPr>
              <a:t>2009: </a:t>
            </a:r>
            <a:r>
              <a:rPr lang="en" sz="2133">
                <a:solidFill>
                  <a:srgbClr val="273239"/>
                </a:solidFill>
                <a:highlight>
                  <a:srgbClr val="FFFFFF"/>
                </a:highlight>
                <a:latin typeface="Nunito"/>
                <a:ea typeface="Nunito"/>
                <a:cs typeface="Nunito"/>
                <a:sym typeface="Nunito"/>
              </a:rPr>
              <a:t>After that, the evolution of Blockchain is steady and promising and became a need in various fields. In 2009, Satoshi Nakamoto Releases Bitcoin White Paper. Blockchain technology is so secure that the following surprising news will give proof of that. A person named, James Howells was an IT worker in the United Kingdom, he starts mining bitcoins which are part of Blockchain in 2009 and stopped this in 2013. He spends $17,000 on it and after he stopped he sells the parts of his laptop on eBay and keep the drive with him so that when he needs to work again on bitcoin he will utilize it but while cleaning his house in 2013, he thrashed his drive with garbage and now his bitcoins cost nearly $127 million. This money now remains unclaimed in the Bitcoin system.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60"/>
          <p:cNvPicPr preferRelativeResize="0"/>
          <p:nvPr/>
        </p:nvPicPr>
        <p:blipFill rotWithShape="1">
          <a:blip r:embed="rId3">
            <a:alphaModFix/>
          </a:blip>
          <a:srcRect t="6286" b="5670"/>
          <a:stretch/>
        </p:blipFill>
        <p:spPr>
          <a:xfrm>
            <a:off x="203201" y="608634"/>
            <a:ext cx="11469497" cy="56805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61"/>
          <p:cNvPicPr preferRelativeResize="0"/>
          <p:nvPr/>
        </p:nvPicPr>
        <p:blipFill rotWithShape="1">
          <a:blip r:embed="rId3">
            <a:alphaModFix/>
          </a:blip>
          <a:srcRect t="6438" b="5362"/>
          <a:stretch/>
        </p:blipFill>
        <p:spPr>
          <a:xfrm>
            <a:off x="203201" y="618300"/>
            <a:ext cx="11469497" cy="569023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62"/>
          <p:cNvSpPr txBox="1">
            <a:spLocks noGrp="1"/>
          </p:cNvSpPr>
          <p:nvPr>
            <p:ph type="title"/>
          </p:nvPr>
        </p:nvSpPr>
        <p:spPr>
          <a:xfrm>
            <a:off x="415600" y="179567"/>
            <a:ext cx="11360800" cy="810400"/>
          </a:xfrm>
          <a:prstGeom prst="rect">
            <a:avLst/>
          </a:prstGeom>
        </p:spPr>
        <p:txBody>
          <a:bodyPr spcFirstLastPara="1" vert="horz" wrap="square" lIns="121900" tIns="121900" rIns="121900" bIns="121900" rtlCol="0" anchor="t" anchorCtr="0">
            <a:normAutofit fontScale="90000"/>
          </a:bodyPr>
          <a:lstStyle/>
          <a:p>
            <a:r>
              <a:rPr lang="en" b="1"/>
              <a:t>History of Blockchain 2015-2023</a:t>
            </a:r>
            <a:endParaRPr b="1"/>
          </a:p>
        </p:txBody>
      </p:sp>
      <p:sp>
        <p:nvSpPr>
          <p:cNvPr id="338" name="Google Shape;338;p62"/>
          <p:cNvSpPr txBox="1">
            <a:spLocks noGrp="1"/>
          </p:cNvSpPr>
          <p:nvPr>
            <p:ph type="body" idx="1"/>
          </p:nvPr>
        </p:nvSpPr>
        <p:spPr>
          <a:xfrm>
            <a:off x="415600" y="989967"/>
            <a:ext cx="11360800" cy="5502400"/>
          </a:xfrm>
          <a:prstGeom prst="rect">
            <a:avLst/>
          </a:prstGeom>
        </p:spPr>
        <p:txBody>
          <a:bodyPr spcFirstLastPara="1" vert="horz" wrap="square" lIns="121900" tIns="121900" rIns="121900" bIns="121900" rtlCol="0" anchor="t" anchorCtr="0">
            <a:normAutofit fontScale="92500"/>
          </a:bodyPr>
          <a:lstStyle/>
          <a:p>
            <a:pPr marL="0" indent="0" algn="just">
              <a:lnSpc>
                <a:spcPct val="150000"/>
              </a:lnSpc>
              <a:buNone/>
            </a:pPr>
            <a:r>
              <a:rPr lang="en" sz="1733" b="1">
                <a:solidFill>
                  <a:srgbClr val="273239"/>
                </a:solidFill>
                <a:latin typeface="Nunito"/>
                <a:ea typeface="Nunito"/>
                <a:cs typeface="Nunito"/>
                <a:sym typeface="Nunito"/>
              </a:rPr>
              <a:t>2015: </a:t>
            </a:r>
            <a:r>
              <a:rPr lang="en" sz="1733">
                <a:solidFill>
                  <a:srgbClr val="273239"/>
                </a:solidFill>
                <a:latin typeface="Nunito"/>
                <a:ea typeface="Nunito"/>
                <a:cs typeface="Nunito"/>
                <a:sym typeface="Nunito"/>
              </a:rPr>
              <a:t>In 2015, Ethereum Frontier Network was launched, thus enabling developers to write smart contracts and dApps that could be deployed to a live network. In the same year, the Linux Foundation launched the Hyperledger project. </a:t>
            </a:r>
            <a:endParaRPr sz="1733">
              <a:solidFill>
                <a:srgbClr val="273239"/>
              </a:solidFill>
              <a:latin typeface="Nunito"/>
              <a:ea typeface="Nunito"/>
              <a:cs typeface="Nunito"/>
              <a:sym typeface="Nunito"/>
            </a:endParaRPr>
          </a:p>
          <a:p>
            <a:pPr marL="0" indent="0" algn="just">
              <a:lnSpc>
                <a:spcPct val="150000"/>
              </a:lnSpc>
              <a:spcBef>
                <a:spcPts val="1067"/>
              </a:spcBef>
              <a:buNone/>
            </a:pPr>
            <a:r>
              <a:rPr lang="en" sz="1733" b="1">
                <a:solidFill>
                  <a:srgbClr val="273239"/>
                </a:solidFill>
                <a:latin typeface="Nunito"/>
                <a:ea typeface="Nunito"/>
                <a:cs typeface="Nunito"/>
                <a:sym typeface="Nunito"/>
              </a:rPr>
              <a:t>2016: </a:t>
            </a:r>
            <a:r>
              <a:rPr lang="en" sz="1733">
                <a:solidFill>
                  <a:srgbClr val="273239"/>
                </a:solidFill>
                <a:latin typeface="Nunito"/>
                <a:ea typeface="Nunito"/>
                <a:cs typeface="Nunito"/>
                <a:sym typeface="Nunito"/>
              </a:rPr>
              <a:t>The word Blockchain is accepted as a single word instead of two different concepts as they were in Nakamoto’s original paper. The same year, a bug in the Ethereum DAO code was exploited resulting in a hard fork of the Ethereum Network. The Bitfinex bitcoin exchange was hacked resulting in 120,000 bitcoin being stolen.</a:t>
            </a:r>
            <a:endParaRPr sz="1733">
              <a:solidFill>
                <a:srgbClr val="273239"/>
              </a:solidFill>
              <a:latin typeface="Nunito"/>
              <a:ea typeface="Nunito"/>
              <a:cs typeface="Nunito"/>
              <a:sym typeface="Nunito"/>
            </a:endParaRPr>
          </a:p>
          <a:p>
            <a:pPr marL="0" indent="0" algn="just">
              <a:lnSpc>
                <a:spcPct val="150000"/>
              </a:lnSpc>
              <a:spcBef>
                <a:spcPts val="1067"/>
              </a:spcBef>
              <a:buNone/>
            </a:pPr>
            <a:r>
              <a:rPr lang="en" sz="1733" b="1">
                <a:solidFill>
                  <a:srgbClr val="273239"/>
                </a:solidFill>
                <a:latin typeface="Nunito"/>
                <a:ea typeface="Nunito"/>
                <a:cs typeface="Nunito"/>
                <a:sym typeface="Nunito"/>
              </a:rPr>
              <a:t>2017: </a:t>
            </a:r>
            <a:r>
              <a:rPr lang="en" sz="1733">
                <a:solidFill>
                  <a:srgbClr val="273239"/>
                </a:solidFill>
                <a:latin typeface="Nunito"/>
                <a:ea typeface="Nunito"/>
                <a:cs typeface="Nunito"/>
                <a:sym typeface="Nunito"/>
              </a:rPr>
              <a:t>In the year 2017, Japan recognized Bitcoin as a legal currency. Block.one company introduced the EOS blockchain operating system which was designed to support commercial decentralized applications.</a:t>
            </a:r>
            <a:endParaRPr sz="1733">
              <a:solidFill>
                <a:srgbClr val="273239"/>
              </a:solidFill>
              <a:latin typeface="Nunito"/>
              <a:ea typeface="Nunito"/>
              <a:cs typeface="Nunito"/>
              <a:sym typeface="Nunito"/>
            </a:endParaRPr>
          </a:p>
          <a:p>
            <a:pPr marL="0" indent="0" algn="just">
              <a:lnSpc>
                <a:spcPct val="150000"/>
              </a:lnSpc>
              <a:spcBef>
                <a:spcPts val="1067"/>
              </a:spcBef>
              <a:buNone/>
            </a:pPr>
            <a:r>
              <a:rPr lang="en" sz="1733" b="1">
                <a:solidFill>
                  <a:srgbClr val="273239"/>
                </a:solidFill>
                <a:latin typeface="Nunito"/>
                <a:ea typeface="Nunito"/>
                <a:cs typeface="Nunito"/>
                <a:sym typeface="Nunito"/>
              </a:rPr>
              <a:t>2018: </a:t>
            </a:r>
            <a:r>
              <a:rPr lang="en" sz="1733">
                <a:solidFill>
                  <a:srgbClr val="273239"/>
                </a:solidFill>
                <a:latin typeface="Nunito"/>
                <a:ea typeface="Nunito"/>
                <a:cs typeface="Nunito"/>
                <a:sym typeface="Nunito"/>
              </a:rPr>
              <a:t>Bitcoin turned down in the year 2018. The bitcoin value continued to drop, reaching </a:t>
            </a:r>
            <a:endParaRPr sz="1733">
              <a:solidFill>
                <a:srgbClr val="273239"/>
              </a:solidFill>
              <a:latin typeface="Nunito"/>
              <a:ea typeface="Nunito"/>
              <a:cs typeface="Nunito"/>
              <a:sym typeface="Nunito"/>
            </a:endParaRPr>
          </a:p>
          <a:p>
            <a:pPr marL="0" indent="0" algn="just">
              <a:lnSpc>
                <a:spcPct val="150000"/>
              </a:lnSpc>
              <a:spcBef>
                <a:spcPts val="1067"/>
              </a:spcBef>
              <a:buNone/>
            </a:pPr>
            <a:r>
              <a:rPr lang="en" sz="1733">
                <a:solidFill>
                  <a:srgbClr val="273239"/>
                </a:solidFill>
                <a:latin typeface="Nunito"/>
                <a:ea typeface="Nunito"/>
                <a:cs typeface="Nunito"/>
                <a:sym typeface="Nunito"/>
              </a:rPr>
              <a:t>the value of $3,800 at the end of the year. Online platforms like Google, Twitter,</a:t>
            </a:r>
            <a:endParaRPr sz="1733">
              <a:solidFill>
                <a:srgbClr val="273239"/>
              </a:solidFill>
              <a:latin typeface="Nunito"/>
              <a:ea typeface="Nunito"/>
              <a:cs typeface="Nunito"/>
              <a:sym typeface="Nunito"/>
            </a:endParaRPr>
          </a:p>
          <a:p>
            <a:pPr marL="0" indent="0" algn="just">
              <a:lnSpc>
                <a:spcPct val="150000"/>
              </a:lnSpc>
              <a:spcBef>
                <a:spcPts val="1067"/>
              </a:spcBef>
              <a:spcAft>
                <a:spcPts val="1067"/>
              </a:spcAft>
              <a:buNone/>
            </a:pPr>
            <a:r>
              <a:rPr lang="en" sz="1733">
                <a:solidFill>
                  <a:srgbClr val="273239"/>
                </a:solidFill>
                <a:latin typeface="Nunito"/>
                <a:ea typeface="Nunito"/>
                <a:cs typeface="Nunito"/>
                <a:sym typeface="Nunito"/>
              </a:rPr>
              <a:t>and Facebook banned the advertising of cryptocurrencies.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63"/>
          <p:cNvSpPr txBox="1">
            <a:spLocks noGrp="1"/>
          </p:cNvSpPr>
          <p:nvPr>
            <p:ph type="title"/>
          </p:nvPr>
        </p:nvSpPr>
        <p:spPr>
          <a:xfrm>
            <a:off x="415600" y="440433"/>
            <a:ext cx="11360800" cy="810400"/>
          </a:xfrm>
          <a:prstGeom prst="rect">
            <a:avLst/>
          </a:prstGeom>
        </p:spPr>
        <p:txBody>
          <a:bodyPr spcFirstLastPara="1" vert="horz" wrap="square" lIns="121900" tIns="121900" rIns="121900" bIns="121900" rtlCol="0" anchor="t" anchorCtr="0">
            <a:normAutofit fontScale="90000"/>
          </a:bodyPr>
          <a:lstStyle/>
          <a:p>
            <a:r>
              <a:rPr lang="en" b="1"/>
              <a:t>History of Blockchain 2015-2022</a:t>
            </a:r>
            <a:endParaRPr b="1"/>
          </a:p>
          <a:p>
            <a:endParaRPr/>
          </a:p>
        </p:txBody>
      </p:sp>
      <p:sp>
        <p:nvSpPr>
          <p:cNvPr id="344" name="Google Shape;344;p63"/>
          <p:cNvSpPr txBox="1">
            <a:spLocks noGrp="1"/>
          </p:cNvSpPr>
          <p:nvPr>
            <p:ph type="body" idx="1"/>
          </p:nvPr>
        </p:nvSpPr>
        <p:spPr>
          <a:xfrm>
            <a:off x="415600" y="1330700"/>
            <a:ext cx="11360800" cy="4452000"/>
          </a:xfrm>
          <a:prstGeom prst="rect">
            <a:avLst/>
          </a:prstGeom>
        </p:spPr>
        <p:txBody>
          <a:bodyPr spcFirstLastPara="1" vert="horz" wrap="square" lIns="121900" tIns="121900" rIns="121900" bIns="121900" rtlCol="0" anchor="t" anchorCtr="0">
            <a:noAutofit/>
          </a:bodyPr>
          <a:lstStyle/>
          <a:p>
            <a:pPr marL="0" indent="0" algn="just">
              <a:lnSpc>
                <a:spcPct val="150000"/>
              </a:lnSpc>
              <a:buNone/>
            </a:pPr>
            <a:r>
              <a:rPr lang="en" sz="2000" b="1">
                <a:solidFill>
                  <a:srgbClr val="273239"/>
                </a:solidFill>
                <a:latin typeface="Nunito"/>
                <a:ea typeface="Nunito"/>
                <a:cs typeface="Nunito"/>
                <a:sym typeface="Nunito"/>
              </a:rPr>
              <a:t>2019: </a:t>
            </a:r>
            <a:r>
              <a:rPr lang="en" sz="2000">
                <a:solidFill>
                  <a:srgbClr val="273239"/>
                </a:solidFill>
                <a:latin typeface="Nunito"/>
                <a:ea typeface="Nunito"/>
                <a:cs typeface="Nunito"/>
                <a:sym typeface="Nunito"/>
              </a:rPr>
              <a:t>In the year 2019, Ethereum network transactions exceeded 1 million per day. Amazon announced the general availability of the Amazon Managed Blockchain service on AWS.</a:t>
            </a:r>
            <a:endParaRPr sz="2000">
              <a:solidFill>
                <a:srgbClr val="273239"/>
              </a:solidFill>
              <a:latin typeface="Nunito"/>
              <a:ea typeface="Nunito"/>
              <a:cs typeface="Nunito"/>
              <a:sym typeface="Nunito"/>
            </a:endParaRPr>
          </a:p>
          <a:p>
            <a:pPr marL="0" indent="0" algn="just">
              <a:lnSpc>
                <a:spcPct val="150000"/>
              </a:lnSpc>
              <a:spcBef>
                <a:spcPts val="1067"/>
              </a:spcBef>
              <a:buNone/>
            </a:pPr>
            <a:r>
              <a:rPr lang="en" sz="2000" b="1">
                <a:solidFill>
                  <a:srgbClr val="273239"/>
                </a:solidFill>
                <a:latin typeface="Nunito"/>
                <a:ea typeface="Nunito"/>
                <a:cs typeface="Nunito"/>
                <a:sym typeface="Nunito"/>
              </a:rPr>
              <a:t>2020: </a:t>
            </a:r>
            <a:r>
              <a:rPr lang="en" sz="2000">
                <a:solidFill>
                  <a:srgbClr val="273239"/>
                </a:solidFill>
                <a:latin typeface="Nunito"/>
                <a:ea typeface="Nunito"/>
                <a:cs typeface="Nunito"/>
                <a:sym typeface="Nunito"/>
              </a:rPr>
              <a:t>Stablecoins were in demand as they promised more stability than traditional cryptocurrencies. The same year Ethereum launched Beacon Chain in preparation for Ethereum 2.0.</a:t>
            </a:r>
            <a:endParaRPr sz="2000">
              <a:solidFill>
                <a:srgbClr val="273239"/>
              </a:solidFill>
              <a:latin typeface="Nunito"/>
              <a:ea typeface="Nunito"/>
              <a:cs typeface="Nunito"/>
              <a:sym typeface="Nunito"/>
            </a:endParaRPr>
          </a:p>
          <a:p>
            <a:pPr marL="0" indent="0" algn="just">
              <a:lnSpc>
                <a:spcPct val="150000"/>
              </a:lnSpc>
              <a:spcBef>
                <a:spcPts val="1067"/>
              </a:spcBef>
              <a:buNone/>
            </a:pPr>
            <a:r>
              <a:rPr lang="en" sz="2000" b="1">
                <a:solidFill>
                  <a:srgbClr val="273239"/>
                </a:solidFill>
                <a:latin typeface="Nunito"/>
                <a:ea typeface="Nunito"/>
                <a:cs typeface="Nunito"/>
                <a:sym typeface="Nunito"/>
              </a:rPr>
              <a:t>2022 : </a:t>
            </a:r>
            <a:r>
              <a:rPr lang="en" sz="2000">
                <a:solidFill>
                  <a:srgbClr val="273239"/>
                </a:solidFill>
                <a:latin typeface="Nunito"/>
                <a:ea typeface="Nunito"/>
                <a:cs typeface="Nunito"/>
                <a:sym typeface="Nunito"/>
              </a:rPr>
              <a:t>Ethereum has shifted from Proof of Work(PoW) to Proof of Stake(PoS) consensus  mechanism. The original Ethereum mainnet merged with Beacon Chain which has  Proof-of-Stake. Now it is existing as one chain. Ethereum’s energy </a:t>
            </a:r>
            <a:endParaRPr sz="2000">
              <a:solidFill>
                <a:srgbClr val="273239"/>
              </a:solidFill>
              <a:latin typeface="Nunito"/>
              <a:ea typeface="Nunito"/>
              <a:cs typeface="Nunito"/>
              <a:sym typeface="Nunito"/>
            </a:endParaRPr>
          </a:p>
          <a:p>
            <a:pPr marL="0" indent="0" algn="just">
              <a:lnSpc>
                <a:spcPct val="150000"/>
              </a:lnSpc>
              <a:spcBef>
                <a:spcPts val="1067"/>
              </a:spcBef>
              <a:spcAft>
                <a:spcPts val="1067"/>
              </a:spcAft>
              <a:buNone/>
            </a:pPr>
            <a:r>
              <a:rPr lang="en" sz="2000">
                <a:solidFill>
                  <a:srgbClr val="273239"/>
                </a:solidFill>
                <a:latin typeface="Nunito"/>
                <a:ea typeface="Nunito"/>
                <a:cs typeface="Nunito"/>
                <a:sym typeface="Nunito"/>
              </a:rPr>
              <a:t>consumption has reduced by ~99.95%.</a:t>
            </a:r>
            <a:endParaRPr sz="2667"/>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64"/>
          <p:cNvSpPr txBox="1">
            <a:spLocks noGrp="1"/>
          </p:cNvSpPr>
          <p:nvPr>
            <p:ph type="title"/>
          </p:nvPr>
        </p:nvSpPr>
        <p:spPr>
          <a:xfrm>
            <a:off x="714613" y="429100"/>
            <a:ext cx="5601600" cy="919974"/>
          </a:xfrm>
          <a:prstGeom prst="rect">
            <a:avLst/>
          </a:prstGeom>
          <a:noFill/>
          <a:ln>
            <a:noFill/>
          </a:ln>
        </p:spPr>
        <p:txBody>
          <a:bodyPr spcFirstLastPara="1" vert="horz" wrap="square" lIns="0" tIns="16933" rIns="0" bIns="0" rtlCol="0" anchor="t" anchorCtr="0">
            <a:spAutoFit/>
          </a:bodyPr>
          <a:lstStyle/>
          <a:p>
            <a:pPr marL="16933">
              <a:lnSpc>
                <a:spcPct val="100000"/>
              </a:lnSpc>
            </a:pPr>
            <a:r>
              <a:rPr lang="en" sz="5867">
                <a:solidFill>
                  <a:srgbClr val="262626"/>
                </a:solidFill>
              </a:rPr>
              <a:t>Definition?</a:t>
            </a:r>
            <a:endParaRPr sz="5867"/>
          </a:p>
        </p:txBody>
      </p:sp>
      <p:sp>
        <p:nvSpPr>
          <p:cNvPr id="350" name="Google Shape;350;p64"/>
          <p:cNvSpPr txBox="1"/>
          <p:nvPr/>
        </p:nvSpPr>
        <p:spPr>
          <a:xfrm>
            <a:off x="714601" y="1381767"/>
            <a:ext cx="10668000" cy="2878894"/>
          </a:xfrm>
          <a:prstGeom prst="rect">
            <a:avLst/>
          </a:prstGeom>
          <a:noFill/>
          <a:ln>
            <a:noFill/>
          </a:ln>
        </p:spPr>
        <p:txBody>
          <a:bodyPr spcFirstLastPara="1" wrap="square" lIns="0" tIns="47400" rIns="0" bIns="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133" b="0" i="0" u="none" strike="noStrike" kern="1200" cap="none" spc="0" normalizeH="0" baseline="0" noProof="0" dirty="0">
                <a:ln>
                  <a:noFill/>
                </a:ln>
                <a:solidFill>
                  <a:srgbClr val="262626"/>
                </a:solidFill>
                <a:effectLst/>
                <a:uLnTx/>
                <a:uFillTx/>
                <a:latin typeface="Aptos" panose="02110004020202020204"/>
                <a:ea typeface="+mn-ea"/>
                <a:cs typeface="+mn-cs"/>
              </a:rPr>
              <a:t>Let's</a:t>
            </a: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 build our own definition</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a:p>
            <a:pPr marL="474121" marR="0" lvl="0" indent="-457189" algn="l" defTabSz="914400" rtl="0" eaLnBrk="1" fontAlgn="auto" latinLnBrk="0" hangingPunct="1">
              <a:lnSpc>
                <a:spcPct val="100000"/>
              </a:lnSpc>
              <a:spcBef>
                <a:spcPts val="240"/>
              </a:spcBef>
              <a:spcAft>
                <a:spcPts val="0"/>
              </a:spcAft>
              <a:buClr>
                <a:srgbClr val="262626"/>
              </a:buClr>
              <a:buSzPts val="1600"/>
              <a:buFont typeface="Arial"/>
              <a:buChar char="•"/>
              <a:tabLst/>
              <a:defRPr/>
            </a:pP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It’s a decentralized database which stores information in the form of transactions</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a:p>
            <a:pPr marL="474121" marR="0" lvl="0" indent="-457189" algn="l" defTabSz="914400" rtl="0" eaLnBrk="1" fontAlgn="auto" latinLnBrk="0" hangingPunct="1">
              <a:lnSpc>
                <a:spcPct val="100000"/>
              </a:lnSpc>
              <a:spcBef>
                <a:spcPts val="240"/>
              </a:spcBef>
              <a:spcAft>
                <a:spcPts val="0"/>
              </a:spcAft>
              <a:buClr>
                <a:srgbClr val="262626"/>
              </a:buClr>
              <a:buSzPts val="1600"/>
              <a:buFont typeface="Arial"/>
              <a:buChar char="•"/>
              <a:tabLst/>
              <a:defRPr/>
            </a:pP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It can be public or private</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a:p>
            <a:pPr marL="474121" marR="0" lvl="0" indent="-457189" algn="l" defTabSz="914400" rtl="0" eaLnBrk="1" fontAlgn="auto" latinLnBrk="0" hangingPunct="1">
              <a:lnSpc>
                <a:spcPct val="100000"/>
              </a:lnSpc>
              <a:spcBef>
                <a:spcPts val="240"/>
              </a:spcBef>
              <a:spcAft>
                <a:spcPts val="0"/>
              </a:spcAft>
              <a:buClr>
                <a:srgbClr val="262626"/>
              </a:buClr>
              <a:buSzPts val="1600"/>
              <a:buFont typeface="Arial"/>
              <a:buChar char="•"/>
              <a:tabLst/>
              <a:defRPr/>
            </a:pP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Stored data is Immutable</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a:p>
            <a:pPr marL="474121" marR="0" lvl="0" indent="-457189" algn="l" defTabSz="914400" rtl="0" eaLnBrk="1" fontAlgn="auto" latinLnBrk="0" hangingPunct="1">
              <a:lnSpc>
                <a:spcPct val="100000"/>
              </a:lnSpc>
              <a:spcBef>
                <a:spcPts val="240"/>
              </a:spcBef>
              <a:spcAft>
                <a:spcPts val="0"/>
              </a:spcAft>
              <a:buClr>
                <a:srgbClr val="262626"/>
              </a:buClr>
              <a:buSzPts val="1600"/>
              <a:buFont typeface="Arial"/>
              <a:buChar char="•"/>
              <a:tabLst/>
              <a:defRPr/>
            </a:pP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Highly secure</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a:p>
            <a:pPr marL="474121" marR="0" lvl="0" indent="-457189" algn="l" defTabSz="914400" rtl="0" eaLnBrk="1" fontAlgn="auto" latinLnBrk="0" hangingPunct="1">
              <a:lnSpc>
                <a:spcPct val="100000"/>
              </a:lnSpc>
              <a:spcBef>
                <a:spcPts val="240"/>
              </a:spcBef>
              <a:spcAft>
                <a:spcPts val="0"/>
              </a:spcAft>
              <a:buClr>
                <a:srgbClr val="262626"/>
              </a:buClr>
              <a:buSzPts val="1600"/>
              <a:buFont typeface="Arial"/>
              <a:buChar char="•"/>
              <a:tabLst/>
              <a:defRPr/>
            </a:pP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Data gets recorded via consensus based algorithms</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a:p>
            <a:pPr marL="474121" marR="0" lvl="0" indent="-457189" algn="l" defTabSz="914400" rtl="0" eaLnBrk="1" fontAlgn="auto" latinLnBrk="0" hangingPunct="1">
              <a:lnSpc>
                <a:spcPct val="100000"/>
              </a:lnSpc>
              <a:spcBef>
                <a:spcPts val="373"/>
              </a:spcBef>
              <a:spcAft>
                <a:spcPts val="0"/>
              </a:spcAft>
              <a:buClr>
                <a:srgbClr val="262626"/>
              </a:buClr>
              <a:buSzPts val="1600"/>
              <a:buFont typeface="Arial"/>
              <a:buChar char="•"/>
              <a:tabLst/>
              <a:defRPr/>
            </a:pP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Uses cryptography</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a:p>
            <a:pPr marL="474121" marR="0" lvl="0" indent="-457189" algn="l" defTabSz="914400" rtl="0" eaLnBrk="1" fontAlgn="auto" latinLnBrk="0" hangingPunct="1">
              <a:lnSpc>
                <a:spcPct val="100000"/>
              </a:lnSpc>
              <a:spcBef>
                <a:spcPts val="240"/>
              </a:spcBef>
              <a:spcAft>
                <a:spcPts val="0"/>
              </a:spcAft>
              <a:buClr>
                <a:srgbClr val="262626"/>
              </a:buClr>
              <a:buSzPts val="1600"/>
              <a:buFont typeface="Arial"/>
              <a:buChar char="•"/>
              <a:tabLst/>
              <a:defRPr/>
            </a:pPr>
            <a:r>
              <a:rPr kumimoji="0" lang="en" sz="2133" b="0" i="0" u="none" strike="noStrike" kern="1200" cap="none" spc="0" normalizeH="0" baseline="0" noProof="0" dirty="0">
                <a:ln>
                  <a:noFill/>
                </a:ln>
                <a:solidFill>
                  <a:srgbClr val="262626"/>
                </a:solidFill>
                <a:effectLst/>
                <a:uLnTx/>
                <a:uFillTx/>
                <a:latin typeface="Arial"/>
                <a:ea typeface="Arial"/>
                <a:cs typeface="Arial"/>
                <a:sym typeface="Arial"/>
              </a:rPr>
              <a:t>Generally exist over peer-to-peer network</a:t>
            </a:r>
            <a:endParaRPr kumimoji="0" sz="2133" b="0" i="0" u="none" strike="noStrike" kern="1200" cap="none" spc="0" normalizeH="0" baseline="0" noProof="0" dirty="0">
              <a:ln>
                <a:noFill/>
              </a:ln>
              <a:solidFill>
                <a:prstClr val="black"/>
              </a:solidFill>
              <a:effectLst/>
              <a:uLnTx/>
              <a:uFillTx/>
              <a:latin typeface="Arial"/>
              <a:ea typeface="Arial"/>
              <a:cs typeface="Arial"/>
              <a:sym typeface="Arial"/>
            </a:endParaRPr>
          </a:p>
        </p:txBody>
      </p:sp>
      <p:sp>
        <p:nvSpPr>
          <p:cNvPr id="351" name="Google Shape;351;p64"/>
          <p:cNvSpPr txBox="1"/>
          <p:nvPr/>
        </p:nvSpPr>
        <p:spPr>
          <a:xfrm>
            <a:off x="816787" y="4424626"/>
            <a:ext cx="10668000" cy="2212965"/>
          </a:xfrm>
          <a:prstGeom prst="rect">
            <a:avLst/>
          </a:prstGeom>
          <a:noFill/>
          <a:ln>
            <a:noFill/>
          </a:ln>
        </p:spPr>
        <p:txBody>
          <a:bodyPr spcFirstLastPara="1" wrap="square" lIns="0" tIns="43167" rIns="0" bIns="0" anchor="t" anchorCtr="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lang="en" sz="2400" b="0" i="0" u="none" strike="noStrike" kern="1200" cap="none" spc="0" normalizeH="0" baseline="0" noProof="0">
                <a:ln>
                  <a:noFill/>
                </a:ln>
                <a:solidFill>
                  <a:srgbClr val="262626"/>
                </a:solidFill>
                <a:effectLst/>
                <a:uLnTx/>
                <a:uFillTx/>
                <a:latin typeface="Arial"/>
                <a:ea typeface="Arial"/>
                <a:cs typeface="Arial"/>
                <a:sym typeface="Arial"/>
              </a:rPr>
              <a:t>So here is our definition:</a:t>
            </a: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a:p>
            <a:pPr marL="16933" marR="6773" lvl="0" indent="0" algn="ctr" defTabSz="914400" rtl="0" eaLnBrk="1" fontAlgn="auto" latinLnBrk="0" hangingPunct="1">
              <a:lnSpc>
                <a:spcPct val="132142"/>
              </a:lnSpc>
              <a:spcBef>
                <a:spcPts val="107"/>
              </a:spcBef>
              <a:spcAft>
                <a:spcPts val="0"/>
              </a:spcAft>
              <a:buClrTx/>
              <a:buSzTx/>
              <a:buFontTx/>
              <a:buNone/>
              <a:tabLst/>
              <a:defRPr/>
            </a:pPr>
            <a:r>
              <a:rPr kumimoji="0" lang="en" sz="2933" b="0" i="0" u="sng" strike="noStrike" kern="1200" cap="none" spc="0" normalizeH="0" baseline="0" noProof="0">
                <a:ln>
                  <a:noFill/>
                </a:ln>
                <a:solidFill>
                  <a:srgbClr val="073763"/>
                </a:solidFill>
                <a:effectLst/>
                <a:uLnTx/>
                <a:uFillTx/>
                <a:latin typeface="Arial"/>
                <a:ea typeface="Arial"/>
                <a:cs typeface="Arial"/>
                <a:sym typeface="Arial"/>
              </a:rPr>
              <a:t>“Blockchain is a consensus-based secure  decentralized public/private database which stores  information immutably over peer-to-peer network”</a:t>
            </a:r>
            <a:endParaRPr kumimoji="0" sz="2933" b="0" i="0" u="sng" strike="noStrike" kern="1200" cap="none" spc="0" normalizeH="0" baseline="0" noProof="0">
              <a:ln>
                <a:noFill/>
              </a:ln>
              <a:solidFill>
                <a:srgbClr val="073763"/>
              </a:solidFill>
              <a:effectLst/>
              <a:uLnTx/>
              <a:uFillTx/>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65"/>
          <p:cNvSpPr txBox="1">
            <a:spLocks noGrp="1"/>
          </p:cNvSpPr>
          <p:nvPr>
            <p:ph type="title"/>
          </p:nvPr>
        </p:nvSpPr>
        <p:spPr>
          <a:xfrm>
            <a:off x="714613" y="429100"/>
            <a:ext cx="5601600" cy="919974"/>
          </a:xfrm>
          <a:prstGeom prst="rect">
            <a:avLst/>
          </a:prstGeom>
          <a:noFill/>
          <a:ln>
            <a:noFill/>
          </a:ln>
        </p:spPr>
        <p:txBody>
          <a:bodyPr spcFirstLastPara="1" vert="horz" wrap="square" lIns="0" tIns="16933" rIns="0" bIns="0" rtlCol="0" anchor="t" anchorCtr="0">
            <a:spAutoFit/>
          </a:bodyPr>
          <a:lstStyle/>
          <a:p>
            <a:pPr marL="16933">
              <a:lnSpc>
                <a:spcPct val="100000"/>
              </a:lnSpc>
            </a:pPr>
            <a:r>
              <a:rPr lang="en" sz="5867">
                <a:solidFill>
                  <a:srgbClr val="262626"/>
                </a:solidFill>
              </a:rPr>
              <a:t>Definition?</a:t>
            </a:r>
            <a:endParaRPr sz="5867"/>
          </a:p>
        </p:txBody>
      </p:sp>
      <p:sp>
        <p:nvSpPr>
          <p:cNvPr id="357" name="Google Shape;357;p65"/>
          <p:cNvSpPr txBox="1"/>
          <p:nvPr/>
        </p:nvSpPr>
        <p:spPr>
          <a:xfrm>
            <a:off x="464067" y="1770334"/>
            <a:ext cx="11481600" cy="4760943"/>
          </a:xfrm>
          <a:prstGeom prst="rect">
            <a:avLst/>
          </a:prstGeom>
          <a:noFill/>
          <a:ln>
            <a:noFill/>
          </a:ln>
        </p:spPr>
        <p:txBody>
          <a:bodyPr spcFirstLastPara="1" wrap="square" lIns="121900" tIns="121900" rIns="121900" bIns="121900" anchor="t" anchorCtr="0">
            <a:spAutoFit/>
          </a:bodyPr>
          <a:lstStyle/>
          <a:p>
            <a:pPr marL="609585" marR="0" lvl="0" indent="-474121" algn="just" defTabSz="914400" rtl="0" eaLnBrk="1" fontAlgn="auto" latinLnBrk="0" hangingPunct="1">
              <a:lnSpc>
                <a:spcPct val="100000"/>
              </a:lnSpc>
              <a:spcBef>
                <a:spcPts val="0"/>
              </a:spcBef>
              <a:spcAft>
                <a:spcPts val="0"/>
              </a:spcAft>
              <a:buClrTx/>
              <a:buSzPts val="2000"/>
              <a:buFont typeface="Roboto"/>
              <a:buChar char="●"/>
              <a:tabLst/>
              <a:defRPr/>
            </a:pPr>
            <a:r>
              <a:rPr kumimoji="0" lang="en" sz="2667" b="0" i="0" u="none" strike="noStrike" kern="1200" cap="none" spc="0" normalizeH="0" baseline="0" noProof="0">
                <a:ln>
                  <a:noFill/>
                </a:ln>
                <a:solidFill>
                  <a:prstClr val="black"/>
                </a:solidFill>
                <a:effectLst/>
                <a:uLnTx/>
                <a:uFillTx/>
                <a:latin typeface="Roboto"/>
                <a:ea typeface="Roboto"/>
                <a:cs typeface="Roboto"/>
                <a:sym typeface="Roboto"/>
              </a:rPr>
              <a:t>A blockchain, by design, is resistant to the modification of data. The ledger can record transactions between two parties in a verifiable and permanent way. </a:t>
            </a:r>
            <a:endParaRPr kumimoji="0" sz="2667" b="0" i="0" u="none" strike="noStrike" kern="1200" cap="none" spc="0" normalizeH="0" baseline="0" noProof="0">
              <a:ln>
                <a:noFill/>
              </a:ln>
              <a:solidFill>
                <a:prstClr val="black"/>
              </a:solidFill>
              <a:effectLst/>
              <a:uLnTx/>
              <a:uFillTx/>
              <a:latin typeface="Roboto"/>
              <a:ea typeface="Roboto"/>
              <a:cs typeface="Roboto"/>
              <a:sym typeface="Roboto"/>
            </a:endParaRPr>
          </a:p>
          <a:p>
            <a:pPr marL="609585" marR="0" lvl="0" indent="-474121" algn="just" defTabSz="914400" rtl="0" eaLnBrk="1" fontAlgn="auto" latinLnBrk="0" hangingPunct="1">
              <a:lnSpc>
                <a:spcPct val="100000"/>
              </a:lnSpc>
              <a:spcBef>
                <a:spcPts val="0"/>
              </a:spcBef>
              <a:spcAft>
                <a:spcPts val="0"/>
              </a:spcAft>
              <a:buClrTx/>
              <a:buSzPts val="2000"/>
              <a:buFont typeface="Roboto"/>
              <a:buChar char="●"/>
              <a:tabLst/>
              <a:defRPr/>
            </a:pPr>
            <a:r>
              <a:rPr kumimoji="0" lang="en" sz="2667" b="0" i="0" u="none" strike="noStrike" kern="1200" cap="none" spc="0" normalizeH="0" baseline="0" noProof="0">
                <a:ln>
                  <a:noFill/>
                </a:ln>
                <a:solidFill>
                  <a:prstClr val="black"/>
                </a:solidFill>
                <a:effectLst/>
                <a:uLnTx/>
                <a:uFillTx/>
                <a:latin typeface="Roboto"/>
                <a:ea typeface="Roboto"/>
                <a:cs typeface="Roboto"/>
                <a:sym typeface="Roboto"/>
              </a:rPr>
              <a:t>Whenever there is a change in the ledger using transactions, changes are distributed to all the nodes, to verify and update their own copy of the ledger. Once a transaction is stored and verified by all the nodes in the network, then it is not feasible to change the transaction without altering all the subsequent and previous blocks. </a:t>
            </a:r>
            <a:endParaRPr kumimoji="0" sz="2667" b="0" i="0" u="none" strike="noStrike" kern="1200" cap="none" spc="0" normalizeH="0" baseline="0" noProof="0">
              <a:ln>
                <a:noFill/>
              </a:ln>
              <a:solidFill>
                <a:prstClr val="black"/>
              </a:solidFill>
              <a:effectLst/>
              <a:uLnTx/>
              <a:uFillTx/>
              <a:latin typeface="Roboto"/>
              <a:ea typeface="Roboto"/>
              <a:cs typeface="Roboto"/>
              <a:sym typeface="Roboto"/>
            </a:endParaRPr>
          </a:p>
          <a:p>
            <a:pPr marL="609585" marR="0" lvl="0" indent="-474121" algn="just" defTabSz="914400" rtl="0" eaLnBrk="1" fontAlgn="auto" latinLnBrk="0" hangingPunct="1">
              <a:lnSpc>
                <a:spcPct val="100000"/>
              </a:lnSpc>
              <a:spcBef>
                <a:spcPts val="0"/>
              </a:spcBef>
              <a:spcAft>
                <a:spcPts val="0"/>
              </a:spcAft>
              <a:buClrTx/>
              <a:buSzPts val="2000"/>
              <a:buFont typeface="Roboto"/>
              <a:buChar char="●"/>
              <a:tabLst/>
              <a:defRPr/>
            </a:pPr>
            <a:r>
              <a:rPr kumimoji="0" lang="en" sz="2667" b="0" i="0" u="none" strike="noStrike" kern="1200" cap="none" spc="0" normalizeH="0" baseline="0" noProof="0">
                <a:ln>
                  <a:noFill/>
                </a:ln>
                <a:solidFill>
                  <a:prstClr val="black"/>
                </a:solidFill>
                <a:effectLst/>
                <a:uLnTx/>
                <a:uFillTx/>
                <a:latin typeface="Roboto"/>
                <a:ea typeface="Roboto"/>
                <a:cs typeface="Roboto"/>
                <a:sym typeface="Roboto"/>
              </a:rPr>
              <a:t>That's why blockchain transactions are irreversible, as blockchain transactions and their data are append only.</a:t>
            </a:r>
            <a:endParaRPr kumimoji="0" sz="2667" b="0" i="0" u="none" strike="noStrike" kern="1200" cap="none" spc="0" normalizeH="0" baseline="0" noProof="0">
              <a:ln>
                <a:noFill/>
              </a:ln>
              <a:solidFill>
                <a:prstClr val="black"/>
              </a:solidFill>
              <a:effectLst/>
              <a:uLnTx/>
              <a:uFillTx/>
              <a:latin typeface="Roboto"/>
              <a:ea typeface="Roboto"/>
              <a:cs typeface="Roboto"/>
              <a:sym typeface="Roboto"/>
            </a:endParaRPr>
          </a:p>
          <a:p>
            <a:pPr marL="609585" marR="0" lvl="0" indent="0" algn="just" defTabSz="914400" rtl="0" eaLnBrk="1" fontAlgn="auto" latinLnBrk="0" hangingPunct="1">
              <a:lnSpc>
                <a:spcPct val="100000"/>
              </a:lnSpc>
              <a:spcBef>
                <a:spcPts val="0"/>
              </a:spcBef>
              <a:spcAft>
                <a:spcPts val="0"/>
              </a:spcAft>
              <a:buClrTx/>
              <a:buSzTx/>
              <a:buFontTx/>
              <a:buNone/>
              <a:tabLst/>
              <a:defRPr/>
            </a:pPr>
            <a:endParaRPr kumimoji="0" sz="2667" b="0" i="0" u="none" strike="noStrike" kern="1200" cap="none" spc="0" normalizeH="0" baseline="0" noProof="0">
              <a:ln>
                <a:noFill/>
              </a:ln>
              <a:solidFill>
                <a:prstClr val="black"/>
              </a:solidFill>
              <a:effectLst/>
              <a:uLnTx/>
              <a:uFillTx/>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6"/>
          <p:cNvSpPr txBox="1">
            <a:spLocks noGrp="1"/>
          </p:cNvSpPr>
          <p:nvPr>
            <p:ph type="title"/>
          </p:nvPr>
        </p:nvSpPr>
        <p:spPr>
          <a:xfrm>
            <a:off x="714613" y="429100"/>
            <a:ext cx="5601600" cy="919974"/>
          </a:xfrm>
          <a:prstGeom prst="rect">
            <a:avLst/>
          </a:prstGeom>
          <a:noFill/>
          <a:ln>
            <a:noFill/>
          </a:ln>
        </p:spPr>
        <p:txBody>
          <a:bodyPr spcFirstLastPara="1" vert="horz" wrap="square" lIns="0" tIns="16933" rIns="0" bIns="0" rtlCol="0" anchor="t" anchorCtr="0">
            <a:spAutoFit/>
          </a:bodyPr>
          <a:lstStyle/>
          <a:p>
            <a:pPr marL="16933">
              <a:lnSpc>
                <a:spcPct val="100000"/>
              </a:lnSpc>
            </a:pPr>
            <a:r>
              <a:rPr lang="en" sz="5867">
                <a:solidFill>
                  <a:srgbClr val="262626"/>
                </a:solidFill>
              </a:rPr>
              <a:t>Definition?</a:t>
            </a:r>
            <a:endParaRPr sz="5867"/>
          </a:p>
        </p:txBody>
      </p:sp>
      <p:sp>
        <p:nvSpPr>
          <p:cNvPr id="363" name="Google Shape;363;p66"/>
          <p:cNvSpPr txBox="1"/>
          <p:nvPr/>
        </p:nvSpPr>
        <p:spPr>
          <a:xfrm>
            <a:off x="0" y="1770334"/>
            <a:ext cx="11945600" cy="2831504"/>
          </a:xfrm>
          <a:prstGeom prst="rect">
            <a:avLst/>
          </a:prstGeom>
          <a:noFill/>
          <a:ln>
            <a:noFill/>
          </a:ln>
        </p:spPr>
        <p:txBody>
          <a:bodyPr spcFirstLastPara="1" wrap="square" lIns="121900" tIns="121900" rIns="121900" bIns="121900" anchor="t" anchorCtr="0">
            <a:spAutoFit/>
          </a:bodyPr>
          <a:lstStyle/>
          <a:p>
            <a:pPr marL="609585" marR="0" lvl="0" indent="-457189" algn="just" defTabSz="914400" rtl="0" eaLnBrk="1" fontAlgn="auto" latinLnBrk="0" hangingPunct="1">
              <a:lnSpc>
                <a:spcPct val="100000"/>
              </a:lnSpc>
              <a:spcBef>
                <a:spcPts val="0"/>
              </a:spcBef>
              <a:spcAft>
                <a:spcPts val="0"/>
              </a:spcAft>
              <a:buClrTx/>
              <a:buSzPts val="1800"/>
              <a:buFont typeface="Roboto"/>
              <a:buChar char="●"/>
              <a:tabLst/>
              <a:defRPr/>
            </a:pPr>
            <a:r>
              <a:rPr kumimoji="0" lang="en" sz="2400" b="0" i="0" u="none" strike="noStrike" kern="1200" cap="none" spc="0" normalizeH="0" baseline="0" noProof="0">
                <a:ln>
                  <a:noFill/>
                </a:ln>
                <a:solidFill>
                  <a:prstClr val="black"/>
                </a:solidFill>
                <a:effectLst/>
                <a:uLnTx/>
                <a:uFillTx/>
                <a:latin typeface="Roboto"/>
                <a:ea typeface="Roboto"/>
                <a:cs typeface="Roboto"/>
                <a:sym typeface="Roboto"/>
              </a:rPr>
              <a:t>Each computer that participates in this P2P network is called a node. Each node maintains the records of transactions in multiple consecutive blocks. </a:t>
            </a:r>
            <a:endParaRPr kumimoji="0" sz="2400" b="0" i="0" u="none" strike="noStrike" kern="1200" cap="none" spc="0" normalizeH="0" baseline="0" noProof="0">
              <a:ln>
                <a:noFill/>
              </a:ln>
              <a:solidFill>
                <a:prstClr val="black"/>
              </a:solidFill>
              <a:effectLst/>
              <a:uLnTx/>
              <a:uFillTx/>
              <a:latin typeface="Roboto"/>
              <a:ea typeface="Roboto"/>
              <a:cs typeface="Roboto"/>
              <a:sym typeface="Roboto"/>
            </a:endParaRPr>
          </a:p>
          <a:p>
            <a:pPr marL="609585" marR="0" lvl="0" indent="0" algn="just"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Roboto"/>
              <a:ea typeface="Roboto"/>
              <a:cs typeface="Roboto"/>
              <a:sym typeface="Roboto"/>
            </a:endParaRPr>
          </a:p>
          <a:p>
            <a:pPr marL="609585" marR="0" lvl="0" indent="-457189" algn="just" defTabSz="914400" rtl="0" eaLnBrk="1" fontAlgn="auto" latinLnBrk="0" hangingPunct="1">
              <a:lnSpc>
                <a:spcPct val="100000"/>
              </a:lnSpc>
              <a:spcBef>
                <a:spcPts val="0"/>
              </a:spcBef>
              <a:spcAft>
                <a:spcPts val="0"/>
              </a:spcAft>
              <a:buClrTx/>
              <a:buSzPts val="1800"/>
              <a:buFont typeface="Roboto"/>
              <a:buChar char="●"/>
              <a:tabLst/>
              <a:defRPr/>
            </a:pPr>
            <a:r>
              <a:rPr kumimoji="0" lang="en" sz="2400" b="0" i="0" u="none" strike="noStrike" kern="1200" cap="none" spc="0" normalizeH="0" baseline="0" noProof="0">
                <a:ln>
                  <a:noFill/>
                </a:ln>
                <a:solidFill>
                  <a:prstClr val="black"/>
                </a:solidFill>
                <a:effectLst/>
                <a:uLnTx/>
                <a:uFillTx/>
                <a:latin typeface="Roboto"/>
                <a:ea typeface="Roboto"/>
                <a:cs typeface="Roboto"/>
                <a:sym typeface="Roboto"/>
              </a:rPr>
              <a:t>Blockchain technology is also called Decentralized Ledger Technology (DLT), as each node in the network keeps the same copy of the ledger. Please have a look at the following diagram</a:t>
            </a:r>
            <a:endParaRPr kumimoji="0" sz="2400" b="0" i="0" u="none" strike="noStrike" kern="1200" cap="none" spc="0" normalizeH="0" baseline="0" noProof="0">
              <a:ln>
                <a:noFill/>
              </a:ln>
              <a:solidFill>
                <a:prstClr val="black"/>
              </a:solidFill>
              <a:effectLst/>
              <a:uLnTx/>
              <a:uFillTx/>
              <a:latin typeface="Roboto"/>
              <a:ea typeface="Roboto"/>
              <a:cs typeface="Roboto"/>
              <a:sym typeface="Roboto"/>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Roboto"/>
              <a:ea typeface="Roboto"/>
              <a:cs typeface="Roboto"/>
              <a:sym typeface="Roboto"/>
            </a:endParaRPr>
          </a:p>
        </p:txBody>
      </p:sp>
      <p:pic>
        <p:nvPicPr>
          <p:cNvPr id="364" name="Google Shape;364;p66"/>
          <p:cNvPicPr preferRelativeResize="0"/>
          <p:nvPr/>
        </p:nvPicPr>
        <p:blipFill>
          <a:blip r:embed="rId3">
            <a:alphaModFix/>
          </a:blip>
          <a:stretch>
            <a:fillRect/>
          </a:stretch>
        </p:blipFill>
        <p:spPr>
          <a:xfrm>
            <a:off x="2222000" y="4299067"/>
            <a:ext cx="6935032" cy="218076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67"/>
          <p:cNvPicPr preferRelativeResize="0"/>
          <p:nvPr/>
        </p:nvPicPr>
        <p:blipFill rotWithShape="1">
          <a:blip r:embed="rId3">
            <a:alphaModFix/>
          </a:blip>
          <a:srcRect t="-3230" r="2200" b="9050"/>
          <a:stretch/>
        </p:blipFill>
        <p:spPr>
          <a:xfrm>
            <a:off x="203200" y="203201"/>
            <a:ext cx="11217299" cy="6076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p68"/>
          <p:cNvPicPr preferRelativeResize="0"/>
          <p:nvPr/>
        </p:nvPicPr>
        <p:blipFill rotWithShape="1">
          <a:blip r:embed="rId3">
            <a:alphaModFix/>
          </a:blip>
          <a:srcRect r="1370" b="8575"/>
          <a:stretch/>
        </p:blipFill>
        <p:spPr>
          <a:xfrm>
            <a:off x="336001" y="336001"/>
            <a:ext cx="11312167" cy="536476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pic>
        <p:nvPicPr>
          <p:cNvPr id="379" name="Google Shape;379;p69"/>
          <p:cNvPicPr preferRelativeResize="0"/>
          <p:nvPr/>
        </p:nvPicPr>
        <p:blipFill rotWithShape="1">
          <a:blip r:embed="rId3">
            <a:alphaModFix/>
          </a:blip>
          <a:srcRect r="1536" b="8759"/>
          <a:stretch/>
        </p:blipFill>
        <p:spPr>
          <a:xfrm>
            <a:off x="203200" y="203201"/>
            <a:ext cx="11293203" cy="588646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70"/>
          <p:cNvPicPr preferRelativeResize="0"/>
          <p:nvPr/>
        </p:nvPicPr>
        <p:blipFill rotWithShape="1">
          <a:blip r:embed="rId3">
            <a:alphaModFix/>
          </a:blip>
          <a:srcRect r="1370" b="9049"/>
          <a:stretch/>
        </p:blipFill>
        <p:spPr>
          <a:xfrm>
            <a:off x="203201" y="203201"/>
            <a:ext cx="11312167" cy="5867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p71"/>
          <p:cNvPicPr preferRelativeResize="0"/>
          <p:nvPr/>
        </p:nvPicPr>
        <p:blipFill rotWithShape="1">
          <a:blip r:embed="rId3">
            <a:alphaModFix/>
          </a:blip>
          <a:srcRect r="1205" b="9198"/>
          <a:stretch/>
        </p:blipFill>
        <p:spPr>
          <a:xfrm>
            <a:off x="203200" y="203200"/>
            <a:ext cx="11331136" cy="585803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72"/>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b="0"/>
              <a:t>Need of Blockchain</a:t>
            </a:r>
            <a:endParaRPr sz="3600"/>
          </a:p>
        </p:txBody>
      </p:sp>
      <p:sp>
        <p:nvSpPr>
          <p:cNvPr id="395" name="Google Shape;395;p72"/>
          <p:cNvSpPr/>
          <p:nvPr/>
        </p:nvSpPr>
        <p:spPr>
          <a:xfrm>
            <a:off x="537498" y="1977082"/>
            <a:ext cx="9030545" cy="272625"/>
          </a:xfrm>
          <a:custGeom>
            <a:avLst/>
            <a:gdLst/>
            <a:ahLst/>
            <a:cxnLst/>
            <a:rect l="l" t="t" r="r" b="b"/>
            <a:pathLst>
              <a:path w="6772909" h="204469" extrusionOk="0">
                <a:moveTo>
                  <a:pt x="6772630" y="0"/>
                </a:moveTo>
                <a:lnTo>
                  <a:pt x="6772630" y="0"/>
                </a:lnTo>
                <a:lnTo>
                  <a:pt x="0" y="0"/>
                </a:lnTo>
                <a:lnTo>
                  <a:pt x="0" y="204203"/>
                </a:lnTo>
                <a:lnTo>
                  <a:pt x="6772630" y="204203"/>
                </a:lnTo>
                <a:lnTo>
                  <a:pt x="6772630" y="0"/>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6" name="Google Shape;396;p72"/>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97" name="Google Shape;397;p72"/>
          <p:cNvPicPr preferRelativeResize="0"/>
          <p:nvPr/>
        </p:nvPicPr>
        <p:blipFill>
          <a:blip r:embed="rId3">
            <a:alphaModFix/>
          </a:blip>
          <a:stretch>
            <a:fillRect/>
          </a:stretch>
        </p:blipFill>
        <p:spPr>
          <a:xfrm>
            <a:off x="1448967" y="1655534"/>
            <a:ext cx="9767267" cy="44051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987</Words>
  <Application>Microsoft Office PowerPoint</Application>
  <PresentationFormat>Widescreen</PresentationFormat>
  <Paragraphs>40</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Calibri</vt:lpstr>
      <vt:lpstr>Nunito</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History of Blockchain </vt:lpstr>
      <vt:lpstr>History of Blockchain </vt:lpstr>
      <vt:lpstr>History of Blockchain  </vt:lpstr>
      <vt:lpstr>PowerPoint Presentation</vt:lpstr>
      <vt:lpstr>PowerPoint Presentation</vt:lpstr>
      <vt:lpstr>History of Blockchain 2015-2023</vt:lpstr>
      <vt:lpstr>History of Blockchain 2015-2022 </vt:lpstr>
      <vt:lpstr>Definition?</vt:lpstr>
      <vt:lpstr>Definition?</vt:lpstr>
      <vt:lpstr>Definition?</vt:lpstr>
      <vt:lpstr>PowerPoint Presentation</vt:lpstr>
      <vt:lpstr>PowerPoint Presentation</vt:lpstr>
      <vt:lpstr>PowerPoint Presentation</vt:lpstr>
      <vt:lpstr>PowerPoint Presentation</vt:lpstr>
      <vt:lpstr>PowerPoint Presentation</vt:lpstr>
      <vt:lpstr>Need of Blockchain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Sayed Qaiser Ali Shah</dc:creator>
  <cp:lastModifiedBy>Dr Sayed Qaiser Ali Shah</cp:lastModifiedBy>
  <cp:revision>3</cp:revision>
  <dcterms:created xsi:type="dcterms:W3CDTF">2025-08-26T06:12:44Z</dcterms:created>
  <dcterms:modified xsi:type="dcterms:W3CDTF">2026-01-22T05:00:54Z</dcterms:modified>
</cp:coreProperties>
</file>