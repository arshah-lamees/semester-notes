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5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2644E-1DA7-424D-9DE1-09D06F53E37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285D9-B427-4A40-8934-6C2D0E57E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6c39709e0f_0_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6c39709e0f_0_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Steps for Sentiment Analysis:</a:t>
            </a:r>
          </a:p>
          <a:p>
            <a:r>
              <a:rPr lang="en-US" b="1" dirty="0"/>
              <a:t>Use Sentiment Indicators:</a:t>
            </a:r>
            <a:endParaRPr lang="en-US" dirty="0"/>
          </a:p>
          <a:p>
            <a:pPr lvl="1"/>
            <a:r>
              <a:rPr lang="en-US" b="1" dirty="0"/>
              <a:t>Crypto Fear &amp; Greed Index</a:t>
            </a:r>
            <a:r>
              <a:rPr lang="en-US" dirty="0"/>
              <a:t> (alternative.me).</a:t>
            </a:r>
          </a:p>
          <a:p>
            <a:pPr lvl="1"/>
            <a:r>
              <a:rPr lang="en-US" dirty="0"/>
              <a:t>Social media buzz (Twitter, Reddit mentions).</a:t>
            </a:r>
          </a:p>
          <a:p>
            <a:pPr lvl="1"/>
            <a:r>
              <a:rPr lang="en-US" dirty="0"/>
              <a:t>Google Trends for crypto-related keywords.</a:t>
            </a:r>
          </a:p>
          <a:p>
            <a:r>
              <a:rPr lang="en-US" b="1" dirty="0"/>
              <a:t>News &amp; Social Media Monitoring:</a:t>
            </a:r>
            <a:endParaRPr lang="en-US" dirty="0"/>
          </a:p>
          <a:p>
            <a:pPr lvl="1"/>
            <a:r>
              <a:rPr lang="en-US" dirty="0"/>
              <a:t>Track crypto news portals (CoinDesk, </a:t>
            </a:r>
            <a:r>
              <a:rPr lang="en-US" dirty="0" err="1"/>
              <a:t>CoinTelegraph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Monitor influencers’ posts and opinions.</a:t>
            </a:r>
          </a:p>
          <a:p>
            <a:pPr lvl="1"/>
            <a:r>
              <a:rPr lang="en-US" dirty="0"/>
              <a:t>Use tools like </a:t>
            </a:r>
            <a:r>
              <a:rPr lang="en-US" b="1" dirty="0" err="1"/>
              <a:t>LunarCrush</a:t>
            </a:r>
            <a:r>
              <a:rPr lang="en-US" dirty="0"/>
              <a:t> or </a:t>
            </a:r>
            <a:r>
              <a:rPr lang="en-US" b="1" dirty="0" err="1"/>
              <a:t>Santiment</a:t>
            </a:r>
            <a:r>
              <a:rPr lang="en-US" dirty="0"/>
              <a:t> for social metrics.</a:t>
            </a:r>
          </a:p>
          <a:p>
            <a:r>
              <a:rPr lang="en-US" b="1" dirty="0"/>
              <a:t>Volume &amp; Funding Rates:</a:t>
            </a:r>
            <a:endParaRPr lang="en-US" dirty="0"/>
          </a:p>
          <a:p>
            <a:pPr lvl="1"/>
            <a:r>
              <a:rPr lang="en-US" dirty="0"/>
              <a:t>Analyze </a:t>
            </a:r>
            <a:r>
              <a:rPr lang="en-US" b="1" dirty="0"/>
              <a:t>funding rates</a:t>
            </a:r>
            <a:r>
              <a:rPr lang="en-US" dirty="0"/>
              <a:t> on derivatives exchanges (positive funding = bullish sentiment).</a:t>
            </a:r>
          </a:p>
          <a:p>
            <a:pPr lvl="1"/>
            <a:r>
              <a:rPr lang="en-US" dirty="0"/>
              <a:t>Track </a:t>
            </a:r>
            <a:r>
              <a:rPr lang="en-US" b="1" dirty="0"/>
              <a:t>trading volume surges</a:t>
            </a:r>
            <a:r>
              <a:rPr lang="en-US" dirty="0"/>
              <a:t> (often tied to hype or panic).</a:t>
            </a:r>
          </a:p>
          <a:p>
            <a:r>
              <a:rPr lang="en-US" b="1" dirty="0"/>
              <a:t>Community Sentiment:</a:t>
            </a:r>
            <a:endParaRPr lang="en-US" dirty="0"/>
          </a:p>
          <a:p>
            <a:pPr lvl="1"/>
            <a:r>
              <a:rPr lang="en-US" dirty="0"/>
              <a:t>Twitter sentiment analysis (using tools like </a:t>
            </a:r>
            <a:r>
              <a:rPr lang="en-US" dirty="0" err="1"/>
              <a:t>TweetSentiment</a:t>
            </a:r>
            <a:r>
              <a:rPr lang="en-US" dirty="0"/>
              <a:t> or </a:t>
            </a:r>
            <a:r>
              <a:rPr lang="en-US" dirty="0" err="1"/>
              <a:t>Glassnode’s</a:t>
            </a:r>
            <a:r>
              <a:rPr lang="en-US" dirty="0"/>
              <a:t> sentiment reports).</a:t>
            </a:r>
          </a:p>
          <a:p>
            <a:pPr lvl="1"/>
            <a:r>
              <a:rPr lang="en-US" dirty="0"/>
              <a:t>Reddit threads (r/Bitcoin, r/</a:t>
            </a:r>
            <a:r>
              <a:rPr lang="en-US" dirty="0" err="1"/>
              <a:t>CryptoMarkets</a:t>
            </a:r>
            <a:r>
              <a:rPr lang="en-US" dirty="0"/>
              <a:t>).</a:t>
            </a: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5976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6c39709e0f_0_10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g36c39709e0f_0_10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7071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6c39709e0f_0_10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g36c39709e0f_0_1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2149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6c39709e0f_0_9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" name="Google Shape;727;g36c39709e0f_0_9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0299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6c39709e0f_0_9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6" name="Google Shape;736;g36c39709e0f_0_9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810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6c39709e0f_0_10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5" name="Google Shape;745;g36c39709e0f_0_10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708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6c39709e0f_0_10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5" name="Google Shape;755;g36c39709e0f_0_10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8633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6c39709e0f_0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3" name="Google Shape;763;g36c39709e0f_0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8385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6c39709e0f_0_10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3" name="Google Shape;773;g36c39709e0f_0_10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7137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6c39709e0f_0_1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0" name="Google Shape;780;g36c39709e0f_0_10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7231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1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7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82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3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8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82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88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8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05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44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95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 algn="ctr">
              <a:buNone/>
              <a:defRPr sz="2400"/>
            </a:lvl2pPr>
            <a:lvl3pPr marL="914377" indent="0" algn="ctr">
              <a:buNone/>
              <a:defRPr sz="24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58620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0799" algn="l"/>
            <a:fld id="{00000000-1234-1234-1234-123412341234}" type="slidenum">
              <a:rPr lang="en" smtClean="0"/>
              <a:pPr marL="50799" algn="l"/>
              <a:t>‹#›</a:t>
            </a:fld>
            <a:endParaRPr lang="en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338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5058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9890965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5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364722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0002789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94277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>
              <a:solidFill>
                <a:srgbClr val="63705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000000-1234-1234-1234-123412341234}" type="slidenum">
              <a:rPr lang="en" smtClean="0">
                <a:solidFill>
                  <a:srgbClr val="637052"/>
                </a:solidFill>
              </a:rPr>
              <a:pPr/>
              <a:t>‹#›</a:t>
            </a:fld>
            <a:endParaRPr lang="en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73351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1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4158571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9880544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79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3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9076684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924823"/>
            <a:ext cx="11360800" cy="43398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94219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589972" y="3243741"/>
            <a:ext cx="9012000" cy="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 b="1" i="0">
                <a:solidFill>
                  <a:srgbClr val="3C85C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20733" y="1607563"/>
            <a:ext cx="11152400" cy="30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33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lvl="1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marL="1828754" lvl="2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marL="2438339" lvl="3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marL="3047924" lvl="4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marL="3657509" lvl="5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marL="4267093" lvl="6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marL="4876678" lvl="7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marL="5486263" lvl="8" indent="-304792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11375667" y="6437197"/>
            <a:ext cx="586879" cy="20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2184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49981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 algn="ctr">
              <a:buNone/>
              <a:defRPr sz="2400"/>
            </a:lvl2pPr>
            <a:lvl3pPr marL="914377" indent="0" algn="ctr">
              <a:buNone/>
              <a:defRPr sz="24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07239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0799" algn="l"/>
            <a:fld id="{00000000-1234-1234-1234-123412341234}" type="slidenum">
              <a:rPr lang="en" smtClean="0"/>
              <a:pPr marL="50799" algn="l"/>
              <a:t>‹#›</a:t>
            </a:fld>
            <a:endParaRPr lang="en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8493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911884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86106761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5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94395390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69788221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618355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>
              <a:solidFill>
                <a:srgbClr val="63705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000000-1234-1234-1234-123412341234}" type="slidenum">
              <a:rPr lang="en" smtClean="0">
                <a:solidFill>
                  <a:srgbClr val="637052"/>
                </a:solidFill>
              </a:rPr>
              <a:pPr/>
              <a:t>‹#›</a:t>
            </a:fld>
            <a:endParaRPr lang="en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274422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1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88535986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51178916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79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3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53985425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924823"/>
            <a:ext cx="11360800" cy="43398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0065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589972" y="3243741"/>
            <a:ext cx="9012000" cy="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 b="1" i="0">
                <a:solidFill>
                  <a:srgbClr val="3C85C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20733" y="1607563"/>
            <a:ext cx="11152400" cy="30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33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lvl="1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marL="1828754" lvl="2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marL="2438339" lvl="3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marL="3047924" lvl="4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marL="3657509" lvl="5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marL="4267093" lvl="6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marL="4876678" lvl="7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marL="5486263" lvl="8" indent="-304792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11375667" y="6437197"/>
            <a:ext cx="586879" cy="20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7236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89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3C889-CA91-4144-8CA4-95F320FFADD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AECF4-EC19-4F73-9798-6323A5BD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5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6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defTabSz="609585"/>
            <a:fld id="{98624D31-43A5-475A-80CF-332C9F6DCF35}" type="datetimeFigureOut">
              <a:rPr lang="en-US" smtClean="0"/>
              <a:pPr defTabSz="609585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6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defTabSz="609585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6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rgbClr val="FFFFFF"/>
                </a:solidFill>
              </a:defRPr>
            </a:lvl1pPr>
          </a:lstStyle>
          <a:p>
            <a:pPr defTabSz="609585"/>
            <a:fld id="{00000000-1234-1234-1234-123412341234}" type="slidenum">
              <a:rPr lang="en" smtClean="0"/>
              <a:pPr defTabSz="609585"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12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4800" kern="1200" spc="-51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38" indent="-91438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38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14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789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65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97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6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6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5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5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6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defTabSz="609585"/>
            <a:fld id="{98624D31-43A5-475A-80CF-332C9F6DCF35}" type="datetimeFigureOut">
              <a:rPr lang="en-US" smtClean="0"/>
              <a:pPr defTabSz="609585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6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defTabSz="609585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6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rgbClr val="FFFFFF"/>
                </a:solidFill>
              </a:defRPr>
            </a:lvl1pPr>
          </a:lstStyle>
          <a:p>
            <a:pPr defTabSz="609585"/>
            <a:fld id="{00000000-1234-1234-1234-123412341234}" type="slidenum">
              <a:rPr lang="en" smtClean="0"/>
              <a:pPr defTabSz="609585"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80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sldNum="0" hdr="0" ft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4800" kern="1200" spc="-51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38" indent="-91438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38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14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789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65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97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6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6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5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ryptet.com/e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31"/>
          <p:cNvSpPr txBox="1">
            <a:spLocks noGrp="1"/>
          </p:cNvSpPr>
          <p:nvPr>
            <p:ph type="title"/>
          </p:nvPr>
        </p:nvSpPr>
        <p:spPr>
          <a:xfrm>
            <a:off x="867481" y="173164"/>
            <a:ext cx="9755200" cy="8617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/>
              <a:t>Sentiment Analysis</a:t>
            </a:r>
            <a:endParaRPr/>
          </a:p>
        </p:txBody>
      </p:sp>
      <p:sp>
        <p:nvSpPr>
          <p:cNvPr id="723" name="Google Shape;723;p131"/>
          <p:cNvSpPr txBox="1">
            <a:spLocks noGrp="1"/>
          </p:cNvSpPr>
          <p:nvPr>
            <p:ph type="body" idx="1"/>
          </p:nvPr>
        </p:nvSpPr>
        <p:spPr>
          <a:xfrm>
            <a:off x="229454" y="1743739"/>
            <a:ext cx="11866921" cy="455278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914377" indent="-609585">
              <a:buFont typeface="Arial"/>
              <a:buChar char="•"/>
            </a:pPr>
            <a:r>
              <a:rPr lang="en" sz="2267" dirty="0">
                <a:latin typeface="+mj-lt"/>
              </a:rPr>
              <a:t>Twitter Sentiment – Trump, Elon Musk, Blackrock etc</a:t>
            </a:r>
            <a:endParaRPr sz="2267" dirty="0">
              <a:latin typeface="+mj-lt"/>
            </a:endParaRPr>
          </a:p>
          <a:p>
            <a:pPr marL="914377" indent="-609585">
              <a:buFont typeface="Arial"/>
              <a:buChar char="•"/>
            </a:pPr>
            <a:r>
              <a:rPr lang="en" sz="2267" dirty="0">
                <a:latin typeface="+mj-lt"/>
              </a:rPr>
              <a:t>News Impact</a:t>
            </a:r>
            <a:endParaRPr sz="2267" dirty="0">
              <a:latin typeface="+mj-lt"/>
            </a:endParaRPr>
          </a:p>
          <a:p>
            <a:pPr marL="914377" indent="-609585">
              <a:buFont typeface="Arial"/>
              <a:buChar char="•"/>
            </a:pPr>
            <a:r>
              <a:rPr lang="en" sz="2267" dirty="0">
                <a:latin typeface="+mj-lt"/>
              </a:rPr>
              <a:t>Fear and Greed Index</a:t>
            </a:r>
            <a:endParaRPr sz="2267" dirty="0">
              <a:latin typeface="+mj-lt"/>
            </a:endParaRPr>
          </a:p>
          <a:p>
            <a:pPr marL="914377" indent="-609585">
              <a:buFont typeface="Arial"/>
              <a:buChar char="•"/>
            </a:pPr>
            <a:r>
              <a:rPr lang="en" sz="2267" dirty="0">
                <a:latin typeface="+mj-lt"/>
              </a:rPr>
              <a:t>FOMC Meeting</a:t>
            </a:r>
            <a:endParaRPr sz="2267" dirty="0">
              <a:latin typeface="+mj-lt"/>
            </a:endParaRPr>
          </a:p>
          <a:p>
            <a:pPr marL="914377" indent="-609585">
              <a:buFont typeface="Arial"/>
              <a:buChar char="•"/>
            </a:pPr>
            <a:r>
              <a:rPr lang="en" sz="2267" dirty="0">
                <a:latin typeface="+mj-lt"/>
              </a:rPr>
              <a:t>CPI/PPI Data</a:t>
            </a:r>
            <a:endParaRPr sz="2267" dirty="0">
              <a:latin typeface="+mj-lt"/>
            </a:endParaRPr>
          </a:p>
          <a:p>
            <a:pPr marL="914377" indent="-609585">
              <a:buFont typeface="Arial"/>
              <a:buChar char="•"/>
            </a:pPr>
            <a:r>
              <a:rPr lang="en" sz="2267" dirty="0">
                <a:latin typeface="+mj-lt"/>
              </a:rPr>
              <a:t>Cryptocurrency Specific Events</a:t>
            </a:r>
            <a:endParaRPr sz="2267" dirty="0">
              <a:latin typeface="+mj-lt"/>
            </a:endParaRPr>
          </a:p>
          <a:p>
            <a:pPr marL="1523962" lvl="1" indent="-609585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" sz="2267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BTC Halving</a:t>
            </a:r>
            <a:endParaRPr sz="2267" dirty="0">
              <a:latin typeface="+mj-lt"/>
            </a:endParaRPr>
          </a:p>
          <a:p>
            <a:pPr marL="1523962" lvl="1" indent="-609585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" sz="2267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Eth Upgrades</a:t>
            </a:r>
            <a:endParaRPr sz="2267" dirty="0">
              <a:latin typeface="+mj-lt"/>
            </a:endParaRPr>
          </a:p>
          <a:p>
            <a:pPr marL="1523962" lvl="1" indent="-609585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" sz="2267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Major Exchange Listings</a:t>
            </a:r>
            <a:endParaRPr sz="2267" dirty="0">
              <a:latin typeface="+mj-lt"/>
            </a:endParaRPr>
          </a:p>
          <a:p>
            <a:pPr marL="914377" indent="-609585">
              <a:buFont typeface="Arial"/>
              <a:buChar char="•"/>
            </a:pPr>
            <a:r>
              <a:rPr lang="en" sz="2267" dirty="0">
                <a:latin typeface="+mj-lt"/>
              </a:rPr>
              <a:t>Macro Events</a:t>
            </a:r>
            <a:endParaRPr sz="2267" dirty="0">
              <a:latin typeface="+mj-lt"/>
            </a:endParaRPr>
          </a:p>
          <a:p>
            <a:pPr marL="1523962" lvl="1" indent="-609585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" sz="2267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Geo Political Tension</a:t>
            </a:r>
            <a:endParaRPr sz="2267" dirty="0">
              <a:latin typeface="+mj-lt"/>
            </a:endParaRPr>
          </a:p>
          <a:p>
            <a:pPr marL="1523962" lvl="1" indent="-609585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" sz="2267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Bank Collapses or Financial Crisis</a:t>
            </a:r>
            <a:endParaRPr sz="2267" dirty="0">
              <a:latin typeface="+mj-lt"/>
            </a:endParaRPr>
          </a:p>
        </p:txBody>
      </p:sp>
      <p:sp>
        <p:nvSpPr>
          <p:cNvPr id="724" name="Google Shape;724;p1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fld id="{00000000-1234-1234-1234-123412341234}" type="slidenum">
              <a:rPr lang="en"/>
              <a:pPr/>
              <a:t>1</a:t>
            </a:fld>
            <a:endParaRPr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2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1141020A-B15D-1BB8-5F49-DE837745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chain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A18944AC-0F36-3F7B-E2D5-6B104C6BA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670" y="1758527"/>
            <a:ext cx="10523620" cy="4023360"/>
          </a:xfrm>
        </p:spPr>
        <p:txBody>
          <a:bodyPr>
            <a:noAutofit/>
          </a:bodyPr>
          <a:lstStyle/>
          <a:p>
            <a:r>
              <a:rPr lang="en-US" sz="2400" dirty="0"/>
              <a:t>On-chain analysis looks directly at blockchain data (transactions, addresses, etc.) to assess investor behavior.</a:t>
            </a:r>
          </a:p>
          <a:p>
            <a:pPr marL="0" indent="0">
              <a:buNone/>
            </a:pPr>
            <a:r>
              <a:rPr lang="en-US" sz="2400" b="1" dirty="0"/>
              <a:t>Steps for On-Chain Analysis:</a:t>
            </a:r>
          </a:p>
          <a:p>
            <a:r>
              <a:rPr lang="en-US" sz="2400" dirty="0"/>
              <a:t>Check Active Addresses &amp; Transactions:</a:t>
            </a:r>
          </a:p>
          <a:p>
            <a:r>
              <a:rPr lang="en-US" sz="2400" dirty="0"/>
              <a:t>Increasing active addresses = more network activity (bullish).</a:t>
            </a:r>
          </a:p>
          <a:p>
            <a:r>
              <a:rPr lang="en-US" sz="2400" b="1" dirty="0"/>
              <a:t>Tools: </a:t>
            </a:r>
            <a:r>
              <a:rPr lang="en-US" sz="2400" dirty="0" err="1"/>
              <a:t>Glassnode</a:t>
            </a:r>
            <a:r>
              <a:rPr lang="en-US" sz="2400" dirty="0"/>
              <a:t>, </a:t>
            </a:r>
            <a:r>
              <a:rPr lang="en-US" sz="2400" dirty="0" err="1"/>
              <a:t>IntoTheBlock</a:t>
            </a:r>
            <a:r>
              <a:rPr lang="en-US" sz="2400" dirty="0"/>
              <a:t>, </a:t>
            </a:r>
            <a:r>
              <a:rPr lang="en-US" sz="2400" dirty="0" err="1"/>
              <a:t>CryptoQuant</a:t>
            </a:r>
            <a:r>
              <a:rPr lang="en-US" sz="2400" dirty="0"/>
              <a:t>.</a:t>
            </a:r>
          </a:p>
          <a:p>
            <a:r>
              <a:rPr lang="en-US" sz="2400" b="1" dirty="0"/>
              <a:t>Whale Activity:</a:t>
            </a:r>
          </a:p>
          <a:p>
            <a:r>
              <a:rPr lang="en-US" sz="2400" dirty="0"/>
              <a:t>Monitor wallets holding 1,000+ </a:t>
            </a:r>
            <a:r>
              <a:rPr lang="en-US" sz="2400" dirty="0" err="1"/>
              <a:t>BTC.Track</a:t>
            </a:r>
            <a:r>
              <a:rPr lang="en-US" sz="2400" dirty="0"/>
              <a:t> whale inflows/outflows on </a:t>
            </a:r>
            <a:r>
              <a:rPr lang="en-US" sz="2400" dirty="0" err="1"/>
              <a:t>Glassnode</a:t>
            </a:r>
            <a:r>
              <a:rPr lang="en-US" sz="2400" dirty="0"/>
              <a:t> or </a:t>
            </a:r>
            <a:r>
              <a:rPr lang="en-US" sz="2400" dirty="0" err="1"/>
              <a:t>WhaleAlert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621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2C0B2E1-0268-42EC-ABD3-94F81A05BC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D2256B4-48EA-40FC-BBC0-AA1EE6E008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3D44BCCA-102D-4A9D-B1E4-2450CAF0B0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07657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xmlns="" id="{FBDCECDC-EEE3-4128-AA5E-82A8C08796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5D2C0CD-BC94-80C1-D6B8-84C245F9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121920" tIns="60960" rIns="121920" bIns="60960" rtlCol="0" anchor="b">
            <a:normAutofit/>
          </a:bodyPr>
          <a:lstStyle/>
          <a:p>
            <a:pPr algn="ctr" defTabSz="1219170">
              <a:spcBef>
                <a:spcPts val="1600"/>
              </a:spcBef>
              <a:spcAft>
                <a:spcPts val="267"/>
              </a:spcAft>
            </a:pPr>
            <a:r>
              <a:rPr lang="en-US" cap="all" spc="267" dirty="0">
                <a:solidFill>
                  <a:schemeClr val="tx1"/>
                </a:solidFill>
              </a:rPr>
              <a:t>Risk Management and Trading Psychology</a:t>
            </a:r>
            <a:endParaRPr lang="en-US" cap="all" spc="267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4260EDE0-989C-4E16-AF94-F652294D82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1F3985C0-E548-44D2-B30E-F3E42DADE1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01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39"/>
          <p:cNvSpPr txBox="1">
            <a:spLocks noGrp="1"/>
          </p:cNvSpPr>
          <p:nvPr>
            <p:ph type="title"/>
          </p:nvPr>
        </p:nvSpPr>
        <p:spPr>
          <a:xfrm>
            <a:off x="867481" y="173164"/>
            <a:ext cx="10805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 sz="4800"/>
              <a:t>Risk Management in Trading</a:t>
            </a:r>
            <a:endParaRPr/>
          </a:p>
        </p:txBody>
      </p:sp>
      <p:sp>
        <p:nvSpPr>
          <p:cNvPr id="790" name="Google Shape;790;p139"/>
          <p:cNvSpPr txBox="1">
            <a:spLocks noGrp="1"/>
          </p:cNvSpPr>
          <p:nvPr>
            <p:ph type="body" idx="1"/>
          </p:nvPr>
        </p:nvSpPr>
        <p:spPr>
          <a:xfrm>
            <a:off x="519800" y="1839998"/>
            <a:ext cx="11152400" cy="459561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indent="-609585" algn="just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3733" b="1" dirty="0"/>
              <a:t>Volatility:</a:t>
            </a:r>
            <a:r>
              <a:rPr lang="en" sz="3733" dirty="0"/>
              <a:t> Understanding and managing the inherent risk of volatile markets.</a:t>
            </a:r>
            <a:endParaRPr dirty="0"/>
          </a:p>
          <a:p>
            <a:pPr indent="-609585" algn="just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3733" b="1" dirty="0"/>
              <a:t>Setting stop-loss orders</a:t>
            </a:r>
            <a:r>
              <a:rPr lang="en" sz="3733" dirty="0"/>
              <a:t> and </a:t>
            </a:r>
            <a:r>
              <a:rPr lang="en" sz="3733" b="1" dirty="0"/>
              <a:t>take-profit levels</a:t>
            </a:r>
            <a:r>
              <a:rPr lang="en" sz="3733" dirty="0"/>
              <a:t>.</a:t>
            </a:r>
            <a:endParaRPr dirty="0"/>
          </a:p>
          <a:p>
            <a:pPr indent="-609585" algn="just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3733" b="1" dirty="0"/>
              <a:t>Diversification:</a:t>
            </a:r>
            <a:r>
              <a:rPr lang="en" sz="3733" dirty="0"/>
              <a:t> Not putting all your funds in one asset.</a:t>
            </a:r>
            <a:endParaRPr dirty="0"/>
          </a:p>
          <a:p>
            <a:pPr indent="-609585" algn="just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3733" dirty="0"/>
              <a:t>Avoiding emotional trading and FOMO (Fear of Missing Out).</a:t>
            </a:r>
            <a:endParaRPr dirty="0"/>
          </a:p>
          <a:p>
            <a:pPr indent="-609585" algn="just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3733" dirty="0"/>
              <a:t>Using only what you can afford to lose in crypto investments. </a:t>
            </a:r>
            <a:endParaRPr dirty="0"/>
          </a:p>
        </p:txBody>
      </p:sp>
      <p:sp>
        <p:nvSpPr>
          <p:cNvPr id="791" name="Google Shape;791;p1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25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40"/>
          <p:cNvSpPr txBox="1">
            <a:spLocks noGrp="1"/>
          </p:cNvSpPr>
          <p:nvPr>
            <p:ph type="title"/>
          </p:nvPr>
        </p:nvSpPr>
        <p:spPr>
          <a:xfrm>
            <a:off x="867481" y="173164"/>
            <a:ext cx="10805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 sz="4800"/>
              <a:t>Common Mistakes to avoid</a:t>
            </a:r>
            <a:endParaRPr/>
          </a:p>
        </p:txBody>
      </p:sp>
      <p:sp>
        <p:nvSpPr>
          <p:cNvPr id="797" name="Google Shape;797;p140"/>
          <p:cNvSpPr txBox="1">
            <a:spLocks noGrp="1"/>
          </p:cNvSpPr>
          <p:nvPr>
            <p:ph type="body" idx="1"/>
          </p:nvPr>
        </p:nvSpPr>
        <p:spPr>
          <a:xfrm>
            <a:off x="519800" y="1849104"/>
            <a:ext cx="11152400" cy="34467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indent="-609585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3733" dirty="0"/>
              <a:t>Overtradig</a:t>
            </a:r>
          </a:p>
          <a:p>
            <a:pPr indent="-609585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3733" dirty="0"/>
              <a:t>Chasing losses or overleveraging.</a:t>
            </a:r>
            <a:endParaRPr dirty="0"/>
          </a:p>
          <a:p>
            <a:pPr indent="-609585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3733" dirty="0"/>
              <a:t>Falling for “pump-and-dump” schemes.</a:t>
            </a:r>
            <a:endParaRPr dirty="0"/>
          </a:p>
          <a:p>
            <a:pPr indent="-609585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3733" dirty="0"/>
              <a:t>Lack of a solid trading plan.</a:t>
            </a:r>
            <a:endParaRPr dirty="0"/>
          </a:p>
          <a:p>
            <a:pPr indent="-609585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3733" dirty="0"/>
              <a:t>Failing to understand the technology behind the coin you are trading. </a:t>
            </a:r>
            <a:endParaRPr dirty="0"/>
          </a:p>
        </p:txBody>
      </p:sp>
      <p:sp>
        <p:nvSpPr>
          <p:cNvPr id="798" name="Google Shape;798;p14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57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6197BDDD-1427-D24F-7960-C64B1C3C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Trading Styles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04F9F25-AE0A-6B6D-AE2C-88C90CF64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67" dirty="0"/>
              <a:t>Scalping</a:t>
            </a:r>
          </a:p>
          <a:p>
            <a:r>
              <a:rPr lang="en-US" sz="2667" dirty="0"/>
              <a:t>Intraday Trading</a:t>
            </a:r>
          </a:p>
          <a:p>
            <a:r>
              <a:rPr lang="en-US" sz="2667" dirty="0"/>
              <a:t>Swing Trading</a:t>
            </a:r>
          </a:p>
          <a:p>
            <a:r>
              <a:rPr lang="en-US" sz="2667" dirty="0"/>
              <a:t>Position Trading</a:t>
            </a:r>
          </a:p>
        </p:txBody>
      </p:sp>
    </p:spTree>
    <p:extLst>
      <p:ext uri="{BB962C8B-B14F-4D97-AF65-F5344CB8AC3E}">
        <p14:creationId xmlns:p14="http://schemas.microsoft.com/office/powerpoint/2010/main" val="244945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32"/>
          <p:cNvSpPr txBox="1">
            <a:spLocks noGrp="1"/>
          </p:cNvSpPr>
          <p:nvPr>
            <p:ph type="title"/>
          </p:nvPr>
        </p:nvSpPr>
        <p:spPr>
          <a:xfrm>
            <a:off x="867481" y="173164"/>
            <a:ext cx="9755200" cy="8617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/>
              <a:t>Position Strategies</a:t>
            </a:r>
            <a:endParaRPr/>
          </a:p>
        </p:txBody>
      </p:sp>
      <p:sp>
        <p:nvSpPr>
          <p:cNvPr id="733" name="Google Shape;733;p1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>
              <a:solidFill>
                <a:srgbClr val="637052"/>
              </a:solidFill>
            </a:endParaRPr>
          </a:p>
        </p:txBody>
      </p:sp>
      <p:pic>
        <p:nvPicPr>
          <p:cNvPr id="730" name="Google Shape;730;p132"/>
          <p:cNvPicPr preferRelativeResize="0"/>
          <p:nvPr/>
        </p:nvPicPr>
        <p:blipFill rotWithShape="1">
          <a:blip r:embed="rId3">
            <a:alphaModFix/>
          </a:blip>
          <a:srcRect t="4871" b="5418"/>
          <a:stretch/>
        </p:blipFill>
        <p:spPr>
          <a:xfrm>
            <a:off x="8665099" y="1458259"/>
            <a:ext cx="2491919" cy="509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132"/>
          <p:cNvPicPr preferRelativeResize="0"/>
          <p:nvPr/>
        </p:nvPicPr>
        <p:blipFill rotWithShape="1">
          <a:blip r:embed="rId4">
            <a:alphaModFix/>
          </a:blip>
          <a:srcRect t="4871" b="5418"/>
          <a:stretch/>
        </p:blipFill>
        <p:spPr>
          <a:xfrm>
            <a:off x="5000181" y="1458259"/>
            <a:ext cx="2491919" cy="509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1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7481" y="1458259"/>
            <a:ext cx="2959699" cy="50919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345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33"/>
          <p:cNvSpPr txBox="1">
            <a:spLocks noGrp="1"/>
          </p:cNvSpPr>
          <p:nvPr>
            <p:ph type="title"/>
          </p:nvPr>
        </p:nvSpPr>
        <p:spPr>
          <a:xfrm>
            <a:off x="358588" y="173165"/>
            <a:ext cx="11833600" cy="8617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/>
              <a:t>Position Strategies (The Bull/Bear Trap)</a:t>
            </a:r>
            <a:endParaRPr/>
          </a:p>
        </p:txBody>
      </p:sp>
      <p:sp>
        <p:nvSpPr>
          <p:cNvPr id="739" name="Google Shape;739;p13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>
              <a:solidFill>
                <a:srgbClr val="637052"/>
              </a:solidFill>
            </a:endParaRPr>
          </a:p>
        </p:txBody>
      </p:sp>
      <p:pic>
        <p:nvPicPr>
          <p:cNvPr id="740" name="Google Shape;740;p133"/>
          <p:cNvPicPr preferRelativeResize="0"/>
          <p:nvPr/>
        </p:nvPicPr>
        <p:blipFill rotWithShape="1">
          <a:blip r:embed="rId3">
            <a:alphaModFix/>
          </a:blip>
          <a:srcRect t="4039" b="5191"/>
          <a:stretch/>
        </p:blipFill>
        <p:spPr>
          <a:xfrm>
            <a:off x="604053" y="1034939"/>
            <a:ext cx="2814604" cy="5823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133"/>
          <p:cNvPicPr preferRelativeResize="0"/>
          <p:nvPr/>
        </p:nvPicPr>
        <p:blipFill rotWithShape="1">
          <a:blip r:embed="rId4">
            <a:alphaModFix/>
          </a:blip>
          <a:srcRect t="4742" b="5102"/>
          <a:stretch/>
        </p:blipFill>
        <p:spPr>
          <a:xfrm>
            <a:off x="4204529" y="1034939"/>
            <a:ext cx="2835696" cy="5823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133"/>
          <p:cNvPicPr preferRelativeResize="0"/>
          <p:nvPr/>
        </p:nvPicPr>
        <p:blipFill rotWithShape="1">
          <a:blip r:embed="rId5">
            <a:alphaModFix/>
          </a:blip>
          <a:srcRect t="3893" b="5337"/>
          <a:stretch/>
        </p:blipFill>
        <p:spPr>
          <a:xfrm>
            <a:off x="7875443" y="1038579"/>
            <a:ext cx="2814604" cy="58194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675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34"/>
          <p:cNvSpPr txBox="1">
            <a:spLocks noGrp="1"/>
          </p:cNvSpPr>
          <p:nvPr>
            <p:ph type="title"/>
          </p:nvPr>
        </p:nvSpPr>
        <p:spPr>
          <a:xfrm>
            <a:off x="358588" y="173165"/>
            <a:ext cx="11833600" cy="8617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/>
              <a:t>Position Strategies (Catch the Swing)</a:t>
            </a:r>
            <a:endParaRPr/>
          </a:p>
        </p:txBody>
      </p:sp>
      <p:sp>
        <p:nvSpPr>
          <p:cNvPr id="748" name="Google Shape;748;p1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>
              <a:solidFill>
                <a:srgbClr val="637052"/>
              </a:solidFill>
            </a:endParaRPr>
          </a:p>
        </p:txBody>
      </p:sp>
      <p:pic>
        <p:nvPicPr>
          <p:cNvPr id="749" name="Google Shape;749;p134"/>
          <p:cNvPicPr preferRelativeResize="0"/>
          <p:nvPr/>
        </p:nvPicPr>
        <p:blipFill rotWithShape="1">
          <a:blip r:embed="rId3">
            <a:alphaModFix/>
          </a:blip>
          <a:srcRect t="4553" b="4915"/>
          <a:stretch/>
        </p:blipFill>
        <p:spPr>
          <a:xfrm>
            <a:off x="143441" y="1008161"/>
            <a:ext cx="2835156" cy="5849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134"/>
          <p:cNvPicPr preferRelativeResize="0"/>
          <p:nvPr/>
        </p:nvPicPr>
        <p:blipFill rotWithShape="1">
          <a:blip r:embed="rId4">
            <a:alphaModFix/>
          </a:blip>
          <a:srcRect t="4423" b="5664"/>
          <a:stretch/>
        </p:blipFill>
        <p:spPr>
          <a:xfrm>
            <a:off x="3236160" y="1008161"/>
            <a:ext cx="2822179" cy="5783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134"/>
          <p:cNvPicPr preferRelativeResize="0"/>
          <p:nvPr/>
        </p:nvPicPr>
        <p:blipFill rotWithShape="1">
          <a:blip r:embed="rId5">
            <a:alphaModFix/>
          </a:blip>
          <a:srcRect t="4417" b="5051"/>
          <a:stretch/>
        </p:blipFill>
        <p:spPr>
          <a:xfrm>
            <a:off x="6299981" y="1008162"/>
            <a:ext cx="2822179" cy="5823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134"/>
          <p:cNvPicPr preferRelativeResize="0"/>
          <p:nvPr/>
        </p:nvPicPr>
        <p:blipFill rotWithShape="1">
          <a:blip r:embed="rId6">
            <a:alphaModFix/>
          </a:blip>
          <a:srcRect t="5406" b="4487"/>
          <a:stretch/>
        </p:blipFill>
        <p:spPr>
          <a:xfrm>
            <a:off x="9272769" y="1034939"/>
            <a:ext cx="2835311" cy="58230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645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35"/>
          <p:cNvSpPr txBox="1">
            <a:spLocks noGrp="1"/>
          </p:cNvSpPr>
          <p:nvPr>
            <p:ph type="title"/>
          </p:nvPr>
        </p:nvSpPr>
        <p:spPr>
          <a:xfrm>
            <a:off x="358588" y="173165"/>
            <a:ext cx="11833600" cy="8617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/>
              <a:t>Position Strategies (Catch the Swing)</a:t>
            </a:r>
            <a:endParaRPr/>
          </a:p>
        </p:txBody>
      </p:sp>
      <p:sp>
        <p:nvSpPr>
          <p:cNvPr id="758" name="Google Shape;758;p1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>
              <a:solidFill>
                <a:srgbClr val="637052"/>
              </a:solidFill>
            </a:endParaRPr>
          </a:p>
        </p:txBody>
      </p:sp>
      <p:pic>
        <p:nvPicPr>
          <p:cNvPr id="759" name="Google Shape;759;p135"/>
          <p:cNvPicPr preferRelativeResize="0"/>
          <p:nvPr/>
        </p:nvPicPr>
        <p:blipFill rotWithShape="1">
          <a:blip r:embed="rId3">
            <a:alphaModFix/>
          </a:blip>
          <a:srcRect t="5406" b="4786"/>
          <a:stretch/>
        </p:blipFill>
        <p:spPr>
          <a:xfrm>
            <a:off x="6794409" y="1044644"/>
            <a:ext cx="2841904" cy="5816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135"/>
          <p:cNvPicPr preferRelativeResize="0"/>
          <p:nvPr/>
        </p:nvPicPr>
        <p:blipFill rotWithShape="1">
          <a:blip r:embed="rId4">
            <a:alphaModFix/>
          </a:blip>
          <a:srcRect t="5145" b="5047"/>
          <a:stretch/>
        </p:blipFill>
        <p:spPr>
          <a:xfrm>
            <a:off x="2282221" y="1044644"/>
            <a:ext cx="2841905" cy="58133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9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36"/>
          <p:cNvSpPr txBox="1">
            <a:spLocks noGrp="1"/>
          </p:cNvSpPr>
          <p:nvPr>
            <p:ph type="title"/>
          </p:nvPr>
        </p:nvSpPr>
        <p:spPr>
          <a:xfrm>
            <a:off x="867481" y="173164"/>
            <a:ext cx="9755200" cy="8617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/>
              <a:t>Some Real Stories</a:t>
            </a:r>
            <a:endParaRPr/>
          </a:p>
        </p:txBody>
      </p:sp>
      <p:sp>
        <p:nvSpPr>
          <p:cNvPr id="766" name="Google Shape;766;p1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>
              <a:solidFill>
                <a:srgbClr val="637052"/>
              </a:solidFill>
            </a:endParaRPr>
          </a:p>
        </p:txBody>
      </p:sp>
      <p:pic>
        <p:nvPicPr>
          <p:cNvPr id="767" name="Google Shape;767;p136"/>
          <p:cNvPicPr preferRelativeResize="0"/>
          <p:nvPr/>
        </p:nvPicPr>
        <p:blipFill rotWithShape="1">
          <a:blip r:embed="rId3">
            <a:alphaModFix/>
          </a:blip>
          <a:srcRect t="4256" b="4201"/>
          <a:stretch/>
        </p:blipFill>
        <p:spPr>
          <a:xfrm>
            <a:off x="3310966" y="920865"/>
            <a:ext cx="2868497" cy="583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136"/>
          <p:cNvPicPr preferRelativeResize="0"/>
          <p:nvPr/>
        </p:nvPicPr>
        <p:blipFill rotWithShape="1">
          <a:blip r:embed="rId4">
            <a:alphaModFix/>
          </a:blip>
          <a:srcRect t="4190" b="5695"/>
          <a:stretch/>
        </p:blipFill>
        <p:spPr>
          <a:xfrm>
            <a:off x="229457" y="924514"/>
            <a:ext cx="2913015" cy="5835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136"/>
          <p:cNvPicPr preferRelativeResize="0"/>
          <p:nvPr/>
        </p:nvPicPr>
        <p:blipFill rotWithShape="1">
          <a:blip r:embed="rId5">
            <a:alphaModFix/>
          </a:blip>
          <a:srcRect t="4363" b="5853"/>
          <a:stretch/>
        </p:blipFill>
        <p:spPr>
          <a:xfrm>
            <a:off x="6372855" y="873255"/>
            <a:ext cx="2868496" cy="587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1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09846" y="1745328"/>
            <a:ext cx="2552700" cy="31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060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37"/>
          <p:cNvSpPr txBox="1">
            <a:spLocks noGrp="1"/>
          </p:cNvSpPr>
          <p:nvPr>
            <p:ph type="title"/>
          </p:nvPr>
        </p:nvSpPr>
        <p:spPr>
          <a:xfrm>
            <a:off x="867481" y="173165"/>
            <a:ext cx="9755200" cy="8617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/>
              <a:t>Price Predictions Platforms</a:t>
            </a:r>
            <a:endParaRPr/>
          </a:p>
        </p:txBody>
      </p:sp>
      <p:sp>
        <p:nvSpPr>
          <p:cNvPr id="776" name="Google Shape;776;p137"/>
          <p:cNvSpPr txBox="1">
            <a:spLocks noGrp="1"/>
          </p:cNvSpPr>
          <p:nvPr>
            <p:ph type="body" idx="1"/>
          </p:nvPr>
        </p:nvSpPr>
        <p:spPr>
          <a:xfrm>
            <a:off x="520733" y="1607563"/>
            <a:ext cx="11152400" cy="19818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914377" indent="-609585">
              <a:buFont typeface="Arial"/>
              <a:buChar char="•"/>
            </a:pPr>
            <a:r>
              <a:rPr lang="en" sz="3733"/>
              <a:t>CryptET </a:t>
            </a:r>
            <a:r>
              <a:rPr lang="en" sz="3733" u="sng">
                <a:solidFill>
                  <a:schemeClr val="hlink"/>
                </a:solidFill>
                <a:hlinkClick r:id="rId3"/>
              </a:rPr>
              <a:t>https://cryptet.com/en/</a:t>
            </a:r>
            <a:endParaRPr sz="3733"/>
          </a:p>
          <a:p>
            <a:pPr marL="914377" indent="-609585">
              <a:buFont typeface="Arial"/>
              <a:buChar char="•"/>
            </a:pPr>
            <a:r>
              <a:rPr lang="en" sz="3733"/>
              <a:t>AI Models like ChatGPT</a:t>
            </a:r>
            <a:endParaRPr/>
          </a:p>
          <a:p>
            <a:pPr marL="914377" indent="-609585">
              <a:buFont typeface="Arial"/>
              <a:buChar char="•"/>
            </a:pPr>
            <a:r>
              <a:rPr lang="en" sz="3733"/>
              <a:t>Telegram Channels</a:t>
            </a:r>
            <a:endParaRPr/>
          </a:p>
        </p:txBody>
      </p:sp>
      <p:sp>
        <p:nvSpPr>
          <p:cNvPr id="777" name="Google Shape;777;p13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fld id="{00000000-1234-1234-1234-123412341234}" type="slidenum">
              <a:rPr lang="en"/>
              <a:pPr/>
              <a:t>12</a:t>
            </a:fld>
            <a:endParaRPr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45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38"/>
          <p:cNvSpPr txBox="1">
            <a:spLocks noGrp="1"/>
          </p:cNvSpPr>
          <p:nvPr>
            <p:ph type="title"/>
          </p:nvPr>
        </p:nvSpPr>
        <p:spPr>
          <a:xfrm>
            <a:off x="867481" y="173165"/>
            <a:ext cx="9755200" cy="8617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/>
              <a:t>Other Methods of Earning</a:t>
            </a:r>
            <a:endParaRPr/>
          </a:p>
        </p:txBody>
      </p:sp>
      <p:sp>
        <p:nvSpPr>
          <p:cNvPr id="783" name="Google Shape;783;p138"/>
          <p:cNvSpPr txBox="1">
            <a:spLocks noGrp="1"/>
          </p:cNvSpPr>
          <p:nvPr>
            <p:ph type="body" idx="1"/>
          </p:nvPr>
        </p:nvSpPr>
        <p:spPr>
          <a:xfrm>
            <a:off x="520733" y="1607563"/>
            <a:ext cx="11152400" cy="19818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914377" indent="-609585">
              <a:buFont typeface="Arial"/>
              <a:buChar char="•"/>
            </a:pPr>
            <a:r>
              <a:rPr lang="en" sz="3733"/>
              <a:t>Trading Bots</a:t>
            </a:r>
            <a:endParaRPr/>
          </a:p>
          <a:p>
            <a:pPr marL="914377" indent="-609585">
              <a:buFont typeface="Arial"/>
              <a:buChar char="•"/>
            </a:pPr>
            <a:r>
              <a:rPr lang="en" sz="3733"/>
              <a:t>Staking – Passive Income</a:t>
            </a:r>
            <a:endParaRPr/>
          </a:p>
          <a:p>
            <a:pPr marL="914377" indent="-609585">
              <a:buFont typeface="Arial"/>
              <a:buChar char="•"/>
            </a:pPr>
            <a:r>
              <a:rPr lang="en" sz="3733"/>
              <a:t>Etc.</a:t>
            </a:r>
            <a:endParaRPr/>
          </a:p>
        </p:txBody>
      </p:sp>
      <p:sp>
        <p:nvSpPr>
          <p:cNvPr id="784" name="Google Shape;784;p13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fld id="{00000000-1234-1234-1234-123412341234}" type="slidenum">
              <a:rPr lang="en"/>
              <a:pPr/>
              <a:t>13</a:t>
            </a:fld>
            <a:endParaRPr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38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Microsoft Office PowerPoint</Application>
  <PresentationFormat>Widescreen</PresentationFormat>
  <Paragraphs>77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Retrospect</vt:lpstr>
      <vt:lpstr>1_Retrospect</vt:lpstr>
      <vt:lpstr>Sentiment Analysis</vt:lpstr>
      <vt:lpstr>On chain Analysis</vt:lpstr>
      <vt:lpstr>Risk Management and Trading Psychology</vt:lpstr>
      <vt:lpstr>Risk Management in Trading</vt:lpstr>
      <vt:lpstr>Common Mistakes to avoid</vt:lpstr>
      <vt:lpstr>Trading Styles</vt:lpstr>
      <vt:lpstr>Position Strategies</vt:lpstr>
      <vt:lpstr>Position Strategies (The Bull/Bear Trap)</vt:lpstr>
      <vt:lpstr>Position Strategies (Catch the Swing)</vt:lpstr>
      <vt:lpstr>Position Strategies (Catch the Swing)</vt:lpstr>
      <vt:lpstr>Some Real Stories</vt:lpstr>
      <vt:lpstr>Price Predictions Platforms</vt:lpstr>
      <vt:lpstr>Other Methods of Earning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</dc:title>
  <dc:creator>Microsoft account</dc:creator>
  <cp:lastModifiedBy>Microsoft account</cp:lastModifiedBy>
  <cp:revision>1</cp:revision>
  <dcterms:created xsi:type="dcterms:W3CDTF">2026-04-29T18:47:23Z</dcterms:created>
  <dcterms:modified xsi:type="dcterms:W3CDTF">2026-04-29T18:47:35Z</dcterms:modified>
</cp:coreProperties>
</file>