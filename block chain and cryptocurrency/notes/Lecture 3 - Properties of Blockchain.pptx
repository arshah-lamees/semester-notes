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336" r:id="rId2"/>
    <p:sldId id="294" r:id="rId3"/>
    <p:sldId id="295" r:id="rId4"/>
    <p:sldId id="296" r:id="rId5"/>
    <p:sldId id="297" r:id="rId6"/>
    <p:sldId id="298" r:id="rId7"/>
    <p:sldId id="299" r:id="rId8"/>
    <p:sldId id="300" r:id="rId9"/>
    <p:sldId id="301" r:id="rId10"/>
    <p:sldId id="302" r:id="rId11"/>
    <p:sldId id="303" r:id="rId12"/>
    <p:sldId id="310" r:id="rId13"/>
    <p:sldId id="311" r:id="rId14"/>
    <p:sldId id="312" r:id="rId15"/>
    <p:sldId id="313" r:id="rId16"/>
    <p:sldId id="314" r:id="rId17"/>
    <p:sldId id="315" r:id="rId18"/>
    <p:sldId id="316"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518E08-804F-47BF-99EB-8B1CC881C47A}"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C434AE-3003-4151-97A2-39EC09E29959}" type="slidenum">
              <a:rPr lang="en-US" smtClean="0"/>
              <a:t>‹#›</a:t>
            </a:fld>
            <a:endParaRPr lang="en-US"/>
          </a:p>
        </p:txBody>
      </p:sp>
    </p:spTree>
    <p:extLst>
      <p:ext uri="{BB962C8B-B14F-4D97-AF65-F5344CB8AC3E}">
        <p14:creationId xmlns:p14="http://schemas.microsoft.com/office/powerpoint/2010/main" val="2059286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59dc25e607_0_149: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259dc25e607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3971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59dc25e607_0_155: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g259dc25e607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6477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59dc25e607_0_161: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4" name="Google Shape;414;g259dc25e607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2191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59dc25e607_0_167: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 name="Google Shape;421;g259dc25e607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2890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59dc25e607_0_173: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8" name="Google Shape;428;g259dc25e607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2423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259dc25e607_0_179: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g259dc25e607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9079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59dc25e607_0_185: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g259dc25e607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41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59dc25e607_0_191: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9" name="Google Shape;449;g259dc25e607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381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59dc25e607_0_197: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g259dc25e607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3590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59dc25e607_0_203: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3" name="Google Shape;463;g259dc25e607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0725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259dc25e607_0_245: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g259dc25e607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8487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59dc25e607_0_251: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9" name="Google Shape;519;g259dc25e607_0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9466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59dc25e607_0_257: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6" name="Google Shape;526;g259dc25e607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1556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259dc25e607_0_263: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3" name="Google Shape;533;g259dc25e607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8995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59dc25e607_0_269: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0" name="Google Shape;540;g259dc25e607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7985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259dc25e607_0_275: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7" name="Google Shape;547;g259dc25e607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3901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259dc25e607_0_281:notes"/>
          <p:cNvSpPr txBox="1">
            <a:spLocks noGrp="1"/>
          </p:cNvSpPr>
          <p:nvPr>
            <p:ph type="body" idx="1"/>
          </p:nvPr>
        </p:nvSpPr>
        <p:spPr>
          <a:xfrm>
            <a:off x="685800" y="4343393"/>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4" name="Google Shape;554;g259dc25e607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5502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25a008b2384_1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25a008b2384_1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5110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25a008b2384_1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25a008b2384_1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01985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25a008b2384_1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25a008b2384_1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87212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25a008b2384_1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25a008b2384_1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1247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25a008b2384_1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25a008b2384_1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53878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25a008b2384_1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25a008b2384_1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13498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25a008b2384_1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25a008b2384_1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01510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25a008b2384_1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25a008b2384_1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30291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25a008b2384_1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25a008b2384_1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37956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5a008b2384_1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5a008b2384_1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41755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25a61f25d0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25a61f25d0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99691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25a61f25d0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25a61f25d0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04968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25a61f25d0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25a61f25d06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76480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25a61f25d06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25a61f25d0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10458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25a61f25d06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25a61f25d06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81113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25a61f25d0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25a61f25d0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8749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25a61f25d06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25a61f25d06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35892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25a61f25d06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25a61f25d06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7761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DCAE1-AB79-F8AC-1316-71DC26F270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14F1C7-1052-DB65-688B-7CF0E57ACE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77CFED-AD30-F0CA-3494-4AD59406F2A8}"/>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5" name="Footer Placeholder 4">
            <a:extLst>
              <a:ext uri="{FF2B5EF4-FFF2-40B4-BE49-F238E27FC236}">
                <a16:creationId xmlns:a16="http://schemas.microsoft.com/office/drawing/2014/main" id="{7FA9B4D2-7A15-CD81-2D91-41C8B48AD5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D5C732-0962-2F0D-BF96-3DF18340EA80}"/>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2028959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FD7E2-86C1-B530-56FB-9084B50849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BB8381-1275-4178-B0E1-3E5D65D3D9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4DE67A-9CBD-64B7-A82E-F9A442C0814F}"/>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5" name="Footer Placeholder 4">
            <a:extLst>
              <a:ext uri="{FF2B5EF4-FFF2-40B4-BE49-F238E27FC236}">
                <a16:creationId xmlns:a16="http://schemas.microsoft.com/office/drawing/2014/main" id="{75B8C40B-E492-0AA8-D886-43F82C6945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A2D050-D0B0-1A41-83EF-DAAC428F797D}"/>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3442718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29C37-CFC5-0DCF-018A-484D84EC29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329177-8941-47E4-114C-0FB2727E2B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9F02B8-D06C-1557-085A-618DE076A371}"/>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5" name="Footer Placeholder 4">
            <a:extLst>
              <a:ext uri="{FF2B5EF4-FFF2-40B4-BE49-F238E27FC236}">
                <a16:creationId xmlns:a16="http://schemas.microsoft.com/office/drawing/2014/main" id="{7EB19E88-A165-3F44-3971-40E26E70AC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3BD041-36EA-5CA4-0328-201E45E6D391}"/>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2351912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55AE8-3B9F-543A-911F-D7785893C2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952E8A-B772-984A-6B09-77222073B9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2058A5-3611-BB5C-201A-E1584059B9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AD67B7-2094-0033-15AA-CAFC8B6A8852}"/>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6" name="Footer Placeholder 5">
            <a:extLst>
              <a:ext uri="{FF2B5EF4-FFF2-40B4-BE49-F238E27FC236}">
                <a16:creationId xmlns:a16="http://schemas.microsoft.com/office/drawing/2014/main" id="{7C81FA66-580E-E7B2-59AF-BBCC475493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C7E86E-7F0F-F209-F5B9-8EC1B3658DBB}"/>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3345496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922BC-079F-E87D-0D65-63759B277E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50F8AB-A2B8-F634-A89D-80DE45202D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4FF44-4526-5A99-A4BD-9475D22BFB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BD78CF-C60A-2303-7B4A-FA5783DEBD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73A752-FF4D-B4C7-6904-11E0BA3AE0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059046-C709-FFFA-A3E0-3DE5F81B4EDF}"/>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8" name="Footer Placeholder 7">
            <a:extLst>
              <a:ext uri="{FF2B5EF4-FFF2-40B4-BE49-F238E27FC236}">
                <a16:creationId xmlns:a16="http://schemas.microsoft.com/office/drawing/2014/main" id="{1B6F2EB2-3C2E-74F7-A060-1C260180A5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C8CB0C-D9BC-5366-CC35-A94E9DFFF35A}"/>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1508541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515E-ADC7-7538-F1BD-60BEC490A3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38DBD8-EF42-B94E-B212-0DDFF0CC04C9}"/>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4" name="Footer Placeholder 3">
            <a:extLst>
              <a:ext uri="{FF2B5EF4-FFF2-40B4-BE49-F238E27FC236}">
                <a16:creationId xmlns:a16="http://schemas.microsoft.com/office/drawing/2014/main" id="{7BB91C74-43CC-7263-35FF-4A0E0CFE25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B3209D-36E5-A77E-88A2-267DF85B2F29}"/>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4270618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4CD539-F40B-D013-4674-DEB4676D3C9F}"/>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3" name="Footer Placeholder 2">
            <a:extLst>
              <a:ext uri="{FF2B5EF4-FFF2-40B4-BE49-F238E27FC236}">
                <a16:creationId xmlns:a16="http://schemas.microsoft.com/office/drawing/2014/main" id="{E4885C3E-C6C1-F043-4D82-47B794955E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97D071-D818-0F0B-6D9D-A949638C5EE6}"/>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2385822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7037A-1BBD-DA5A-E38F-4EA1C0B4A2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CD658A-F356-DCAC-1ABC-158A747BB9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25B7E0-BC58-04F6-FA88-9B27F261F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3807CC-01FF-E9DE-94DF-E0E61C8DC09A}"/>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6" name="Footer Placeholder 5">
            <a:extLst>
              <a:ext uri="{FF2B5EF4-FFF2-40B4-BE49-F238E27FC236}">
                <a16:creationId xmlns:a16="http://schemas.microsoft.com/office/drawing/2014/main" id="{C5ED80F8-D746-B718-DC75-44BC33F866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BDEBC4-4DE8-EAFA-8508-491574A1BD39}"/>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3770685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4276A-C582-8DC9-542D-AB73ACB4B6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A0824E-5715-08A7-EFD8-F6B4BBF976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18983A-C18A-07CF-3370-7F0AECD044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AE65CB-C2F9-9F68-3870-412D52CBBEA0}"/>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6" name="Footer Placeholder 5">
            <a:extLst>
              <a:ext uri="{FF2B5EF4-FFF2-40B4-BE49-F238E27FC236}">
                <a16:creationId xmlns:a16="http://schemas.microsoft.com/office/drawing/2014/main" id="{ABA5EA6A-3CA9-D139-00B5-290F493526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04CAF8-E274-D2DE-4AEE-5E60C3518E48}"/>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701771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A9729-FFCD-6D9F-2BF3-4563C30F2F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5BF25D-BF7C-516C-3A0C-2019277DE0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C3C30B-D1AE-06B0-5CAA-8E64BC1820D5}"/>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5" name="Footer Placeholder 4">
            <a:extLst>
              <a:ext uri="{FF2B5EF4-FFF2-40B4-BE49-F238E27FC236}">
                <a16:creationId xmlns:a16="http://schemas.microsoft.com/office/drawing/2014/main" id="{B94C566E-644E-E627-CD90-DD05A7475F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EC456-F475-0EDA-E0E1-2965E27794F5}"/>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2892632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BD0A2E-D2F4-3765-2985-916863EE67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B7522B-9D4E-8C0F-8283-37D6DCD53A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2AA06B-B693-1E8B-801E-334B26DAAA4E}"/>
              </a:ext>
            </a:extLst>
          </p:cNvPr>
          <p:cNvSpPr>
            <a:spLocks noGrp="1"/>
          </p:cNvSpPr>
          <p:nvPr>
            <p:ph type="dt" sz="half" idx="10"/>
          </p:nvPr>
        </p:nvSpPr>
        <p:spPr/>
        <p:txBody>
          <a:bodyPr/>
          <a:lstStyle/>
          <a:p>
            <a:fld id="{ED5CF447-74BE-4137-BB09-B03E55DA3ECA}" type="datetimeFigureOut">
              <a:rPr lang="en-US" smtClean="0"/>
              <a:t>1/22/2026</a:t>
            </a:fld>
            <a:endParaRPr lang="en-US"/>
          </a:p>
        </p:txBody>
      </p:sp>
      <p:sp>
        <p:nvSpPr>
          <p:cNvPr id="5" name="Footer Placeholder 4">
            <a:extLst>
              <a:ext uri="{FF2B5EF4-FFF2-40B4-BE49-F238E27FC236}">
                <a16:creationId xmlns:a16="http://schemas.microsoft.com/office/drawing/2014/main" id="{F83DCA17-E100-8A79-282B-4AAE4C7235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0D4304-7E9F-C449-EB10-055BF0F788CF}"/>
              </a:ext>
            </a:extLst>
          </p:cNvPr>
          <p:cNvSpPr>
            <a:spLocks noGrp="1"/>
          </p:cNvSpPr>
          <p:nvPr>
            <p:ph type="sldNum" sz="quarter" idx="12"/>
          </p:nvPr>
        </p:nvSpPr>
        <p:spPr/>
        <p:txBody>
          <a:bodyPr/>
          <a:lstStyle/>
          <a:p>
            <a:fld id="{B5A36E44-A421-4BD9-A05D-7139D0E85938}" type="slidenum">
              <a:rPr lang="en-US" smtClean="0"/>
              <a:t>‹#›</a:t>
            </a:fld>
            <a:endParaRPr lang="en-US"/>
          </a:p>
        </p:txBody>
      </p:sp>
    </p:spTree>
    <p:extLst>
      <p:ext uri="{BB962C8B-B14F-4D97-AF65-F5344CB8AC3E}">
        <p14:creationId xmlns:p14="http://schemas.microsoft.com/office/powerpoint/2010/main" val="2997159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39791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1589972" y="3243741"/>
            <a:ext cx="9012000" cy="775597"/>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800"/>
              <a:buNone/>
              <a:defRPr sz="5600" b="1" i="0">
                <a:solidFill>
                  <a:srgbClr val="3C85C5"/>
                </a:solidFill>
                <a:latin typeface="Calibri"/>
                <a:ea typeface="Calibri"/>
                <a:cs typeface="Calibri"/>
                <a:sym typeface="Calibri"/>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 name="Google Shape;58;p14"/>
          <p:cNvSpPr txBox="1">
            <a:spLocks noGrp="1"/>
          </p:cNvSpPr>
          <p:nvPr>
            <p:ph type="body" idx="1"/>
          </p:nvPr>
        </p:nvSpPr>
        <p:spPr>
          <a:xfrm>
            <a:off x="520733" y="1607563"/>
            <a:ext cx="11152400" cy="240002"/>
          </a:xfrm>
          <a:prstGeom prst="rect">
            <a:avLst/>
          </a:prstGeom>
          <a:noFill/>
          <a:ln>
            <a:noFill/>
          </a:ln>
        </p:spPr>
        <p:txBody>
          <a:bodyPr spcFirstLastPara="1" wrap="square" lIns="0" tIns="0" rIns="0" bIns="0" anchor="t" anchorCtr="0">
            <a:spAutoFit/>
          </a:bodyPr>
          <a:lstStyle>
            <a:lvl1pPr marL="609585" lvl="0" indent="-304792" algn="l" rtl="0">
              <a:spcBef>
                <a:spcPts val="0"/>
              </a:spcBef>
              <a:spcAft>
                <a:spcPts val="0"/>
              </a:spcAft>
              <a:buSzPts val="1800"/>
              <a:buNone/>
              <a:defRPr sz="1733" b="0" i="0">
                <a:solidFill>
                  <a:schemeClr val="dk1"/>
                </a:solidFill>
                <a:latin typeface="Calibri"/>
                <a:ea typeface="Calibri"/>
                <a:cs typeface="Calibri"/>
                <a:sym typeface="Calibri"/>
              </a:defRPr>
            </a:lvl1pPr>
            <a:lvl2pPr marL="1219170" lvl="1" indent="-304792" algn="l" rtl="0">
              <a:spcBef>
                <a:spcPts val="1600"/>
              </a:spcBef>
              <a:spcAft>
                <a:spcPts val="0"/>
              </a:spcAft>
              <a:buSzPts val="1400"/>
              <a:buNone/>
              <a:defRPr/>
            </a:lvl2pPr>
            <a:lvl3pPr marL="1828754" lvl="2" indent="-304792" algn="l" rtl="0">
              <a:spcBef>
                <a:spcPts val="1600"/>
              </a:spcBef>
              <a:spcAft>
                <a:spcPts val="0"/>
              </a:spcAft>
              <a:buSzPts val="1400"/>
              <a:buNone/>
              <a:defRPr/>
            </a:lvl3pPr>
            <a:lvl4pPr marL="2438339" lvl="3" indent="-304792" algn="l" rtl="0">
              <a:spcBef>
                <a:spcPts val="1600"/>
              </a:spcBef>
              <a:spcAft>
                <a:spcPts val="0"/>
              </a:spcAft>
              <a:buSzPts val="1400"/>
              <a:buNone/>
              <a:defRPr/>
            </a:lvl4pPr>
            <a:lvl5pPr marL="3047924" lvl="4" indent="-304792" algn="l" rtl="0">
              <a:spcBef>
                <a:spcPts val="1600"/>
              </a:spcBef>
              <a:spcAft>
                <a:spcPts val="0"/>
              </a:spcAft>
              <a:buSzPts val="1400"/>
              <a:buNone/>
              <a:defRPr/>
            </a:lvl5pPr>
            <a:lvl6pPr marL="3657509" lvl="5" indent="-304792" algn="l" rtl="0">
              <a:spcBef>
                <a:spcPts val="1600"/>
              </a:spcBef>
              <a:spcAft>
                <a:spcPts val="0"/>
              </a:spcAft>
              <a:buSzPts val="1400"/>
              <a:buNone/>
              <a:defRPr/>
            </a:lvl6pPr>
            <a:lvl7pPr marL="4267093" lvl="6" indent="-304792" algn="l" rtl="0">
              <a:spcBef>
                <a:spcPts val="1600"/>
              </a:spcBef>
              <a:spcAft>
                <a:spcPts val="0"/>
              </a:spcAft>
              <a:buSzPts val="1400"/>
              <a:buNone/>
              <a:defRPr/>
            </a:lvl7pPr>
            <a:lvl8pPr marL="4876678" lvl="7" indent="-304792" algn="l" rtl="0">
              <a:spcBef>
                <a:spcPts val="1600"/>
              </a:spcBef>
              <a:spcAft>
                <a:spcPts val="0"/>
              </a:spcAft>
              <a:buSzPts val="1400"/>
              <a:buNone/>
              <a:defRPr/>
            </a:lvl8pPr>
            <a:lvl9pPr marL="5486263" lvl="8" indent="-304792" algn="l" rtl="0">
              <a:spcBef>
                <a:spcPts val="1600"/>
              </a:spcBef>
              <a:spcAft>
                <a:spcPts val="1600"/>
              </a:spcAft>
              <a:buSzPts val="1400"/>
              <a:buNone/>
              <a:defRPr/>
            </a:lvl9pPr>
          </a:lstStyle>
          <a:p>
            <a:endParaRPr/>
          </a:p>
        </p:txBody>
      </p:sp>
      <p:sp>
        <p:nvSpPr>
          <p:cNvPr id="59" name="Google Shape;59;p14"/>
          <p:cNvSpPr txBox="1">
            <a:spLocks noGrp="1"/>
          </p:cNvSpPr>
          <p:nvPr>
            <p:ph type="ftr" idx="11"/>
          </p:nvPr>
        </p:nvSpPr>
        <p:spPr>
          <a:xfrm>
            <a:off x="206992" y="6494517"/>
            <a:ext cx="2631600" cy="246221"/>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600" b="0" i="0">
                <a:solidFill>
                  <a:srgbClr val="888888"/>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0" name="Google Shape;60;p14"/>
          <p:cNvSpPr txBox="1">
            <a:spLocks noGrp="1"/>
          </p:cNvSpPr>
          <p:nvPr>
            <p:ph type="dt" idx="10"/>
          </p:nvPr>
        </p:nvSpPr>
        <p:spPr>
          <a:xfrm>
            <a:off x="609600" y="6377940"/>
            <a:ext cx="2804000" cy="184666"/>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11672145" y="6437199"/>
            <a:ext cx="290400" cy="205121"/>
          </a:xfrm>
          <a:prstGeom prst="rect">
            <a:avLst/>
          </a:prstGeom>
          <a:noFill/>
          <a:ln>
            <a:noFill/>
          </a:ln>
        </p:spPr>
        <p:txBody>
          <a:bodyPr spcFirstLastPara="1" wrap="square" lIns="0" tIns="0" rIns="0" bIns="0" anchor="t" anchorCtr="0">
            <a:spAutoFit/>
          </a:bodyPr>
          <a:lstStyle>
            <a:lvl1pPr marL="50799" marR="0" lvl="0" indent="0" algn="l" rtl="0">
              <a:lnSpc>
                <a:spcPct val="100000"/>
              </a:lnSpc>
              <a:spcBef>
                <a:spcPts val="0"/>
              </a:spcBef>
              <a:buNone/>
              <a:defRPr sz="1333" b="0" i="0" u="none" strike="noStrike" cap="none">
                <a:solidFill>
                  <a:srgbClr val="585858"/>
                </a:solidFill>
                <a:latin typeface="Arial"/>
                <a:ea typeface="Arial"/>
                <a:cs typeface="Arial"/>
                <a:sym typeface="Arial"/>
              </a:defRPr>
            </a:lvl1pPr>
            <a:lvl2pPr marL="50799" marR="0" lvl="1" indent="0" algn="l" rtl="0">
              <a:lnSpc>
                <a:spcPct val="100000"/>
              </a:lnSpc>
              <a:spcBef>
                <a:spcPts val="0"/>
              </a:spcBef>
              <a:buNone/>
              <a:defRPr sz="1333" b="0" i="0" u="none" strike="noStrike" cap="none">
                <a:solidFill>
                  <a:srgbClr val="585858"/>
                </a:solidFill>
                <a:latin typeface="Arial"/>
                <a:ea typeface="Arial"/>
                <a:cs typeface="Arial"/>
                <a:sym typeface="Arial"/>
              </a:defRPr>
            </a:lvl2pPr>
            <a:lvl3pPr marL="50799" marR="0" lvl="2" indent="0" algn="l" rtl="0">
              <a:lnSpc>
                <a:spcPct val="100000"/>
              </a:lnSpc>
              <a:spcBef>
                <a:spcPts val="0"/>
              </a:spcBef>
              <a:buNone/>
              <a:defRPr sz="1333" b="0" i="0" u="none" strike="noStrike" cap="none">
                <a:solidFill>
                  <a:srgbClr val="585858"/>
                </a:solidFill>
                <a:latin typeface="Arial"/>
                <a:ea typeface="Arial"/>
                <a:cs typeface="Arial"/>
                <a:sym typeface="Arial"/>
              </a:defRPr>
            </a:lvl3pPr>
            <a:lvl4pPr marL="50799" marR="0" lvl="3" indent="0" algn="l" rtl="0">
              <a:lnSpc>
                <a:spcPct val="100000"/>
              </a:lnSpc>
              <a:spcBef>
                <a:spcPts val="0"/>
              </a:spcBef>
              <a:buNone/>
              <a:defRPr sz="1333" b="0" i="0" u="none" strike="noStrike" cap="none">
                <a:solidFill>
                  <a:srgbClr val="585858"/>
                </a:solidFill>
                <a:latin typeface="Arial"/>
                <a:ea typeface="Arial"/>
                <a:cs typeface="Arial"/>
                <a:sym typeface="Arial"/>
              </a:defRPr>
            </a:lvl4pPr>
            <a:lvl5pPr marL="50799" marR="0" lvl="4" indent="0" algn="l" rtl="0">
              <a:lnSpc>
                <a:spcPct val="100000"/>
              </a:lnSpc>
              <a:spcBef>
                <a:spcPts val="0"/>
              </a:spcBef>
              <a:buNone/>
              <a:defRPr sz="1333" b="0" i="0" u="none" strike="noStrike" cap="none">
                <a:solidFill>
                  <a:srgbClr val="585858"/>
                </a:solidFill>
                <a:latin typeface="Arial"/>
                <a:ea typeface="Arial"/>
                <a:cs typeface="Arial"/>
                <a:sym typeface="Arial"/>
              </a:defRPr>
            </a:lvl5pPr>
            <a:lvl6pPr marL="50799" marR="0" lvl="5" indent="0" algn="l" rtl="0">
              <a:lnSpc>
                <a:spcPct val="100000"/>
              </a:lnSpc>
              <a:spcBef>
                <a:spcPts val="0"/>
              </a:spcBef>
              <a:buNone/>
              <a:defRPr sz="1333" b="0" i="0" u="none" strike="noStrike" cap="none">
                <a:solidFill>
                  <a:srgbClr val="585858"/>
                </a:solidFill>
                <a:latin typeface="Arial"/>
                <a:ea typeface="Arial"/>
                <a:cs typeface="Arial"/>
                <a:sym typeface="Arial"/>
              </a:defRPr>
            </a:lvl6pPr>
            <a:lvl7pPr marL="50799" marR="0" lvl="6" indent="0" algn="l" rtl="0">
              <a:lnSpc>
                <a:spcPct val="100000"/>
              </a:lnSpc>
              <a:spcBef>
                <a:spcPts val="0"/>
              </a:spcBef>
              <a:buNone/>
              <a:defRPr sz="1333" b="0" i="0" u="none" strike="noStrike" cap="none">
                <a:solidFill>
                  <a:srgbClr val="585858"/>
                </a:solidFill>
                <a:latin typeface="Arial"/>
                <a:ea typeface="Arial"/>
                <a:cs typeface="Arial"/>
                <a:sym typeface="Arial"/>
              </a:defRPr>
            </a:lvl7pPr>
            <a:lvl8pPr marL="50799" marR="0" lvl="7" indent="0" algn="l" rtl="0">
              <a:lnSpc>
                <a:spcPct val="100000"/>
              </a:lnSpc>
              <a:spcBef>
                <a:spcPts val="0"/>
              </a:spcBef>
              <a:buNone/>
              <a:defRPr sz="1333" b="0" i="0" u="none" strike="noStrike" cap="none">
                <a:solidFill>
                  <a:srgbClr val="585858"/>
                </a:solidFill>
                <a:latin typeface="Arial"/>
                <a:ea typeface="Arial"/>
                <a:cs typeface="Arial"/>
                <a:sym typeface="Arial"/>
              </a:defRPr>
            </a:lvl8pPr>
            <a:lvl9pPr marL="50799" marR="0" lvl="8" indent="0" algn="l" rtl="0">
              <a:lnSpc>
                <a:spcPct val="100000"/>
              </a:lnSpc>
              <a:spcBef>
                <a:spcPts val="0"/>
              </a:spcBef>
              <a:buNone/>
              <a:defRPr sz="1333" b="0" i="0" u="none" strike="noStrike" cap="none">
                <a:solidFill>
                  <a:srgbClr val="585858"/>
                </a:solidFill>
                <a:latin typeface="Arial"/>
                <a:ea typeface="Arial"/>
                <a:cs typeface="Arial"/>
                <a:sym typeface="Arial"/>
              </a:defRPr>
            </a:lvl9pPr>
          </a:lstStyle>
          <a:p>
            <a:fld id="{00000000-1234-1234-1234-123412341234}" type="slidenum">
              <a:rPr lang="en" smtClean="0"/>
              <a:pPr/>
              <a:t>‹#›</a:t>
            </a:fld>
            <a:endParaRPr lang="en">
              <a:solidFill>
                <a:schemeClr val="dk2"/>
              </a:solidFill>
            </a:endParaRPr>
          </a:p>
        </p:txBody>
      </p:sp>
    </p:spTree>
    <p:extLst>
      <p:ext uri="{BB962C8B-B14F-4D97-AF65-F5344CB8AC3E}">
        <p14:creationId xmlns:p14="http://schemas.microsoft.com/office/powerpoint/2010/main" val="3153008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BB97A2-7863-FD54-0EE5-8ACA0C3102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F55D51-5B6F-BFCF-6BFA-FD25BB0AFC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C46374-91F7-01B1-76D9-447E760BD6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5CF447-74BE-4137-BB09-B03E55DA3ECA}" type="datetimeFigureOut">
              <a:rPr lang="en-US" smtClean="0"/>
              <a:t>1/22/2026</a:t>
            </a:fld>
            <a:endParaRPr lang="en-US"/>
          </a:p>
        </p:txBody>
      </p:sp>
      <p:sp>
        <p:nvSpPr>
          <p:cNvPr id="5" name="Footer Placeholder 4">
            <a:extLst>
              <a:ext uri="{FF2B5EF4-FFF2-40B4-BE49-F238E27FC236}">
                <a16:creationId xmlns:a16="http://schemas.microsoft.com/office/drawing/2014/main" id="{631B6D76-7CC4-5307-F920-04A84220AF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FF6585-197B-16D1-C27D-A336AC8AAD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A36E44-A421-4BD9-A05D-7139D0E85938}" type="slidenum">
              <a:rPr lang="en-US" smtClean="0"/>
              <a:t>‹#›</a:t>
            </a:fld>
            <a:endParaRPr lang="en-US"/>
          </a:p>
        </p:txBody>
      </p:sp>
    </p:spTree>
    <p:extLst>
      <p:ext uri="{BB962C8B-B14F-4D97-AF65-F5344CB8AC3E}">
        <p14:creationId xmlns:p14="http://schemas.microsoft.com/office/powerpoint/2010/main" val="2444950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hyperlink" Target="https://www.geeksforgeeks.org/introduction-to-merkle-tree/" TargetMode="External"/><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hyperlink" Target="https://www.analyticssteps.com/blogs/3-types-block-blockchain-network" TargetMode="External"/><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F964D-AC3E-866B-E21F-FB179C8FD4F6}"/>
              </a:ext>
            </a:extLst>
          </p:cNvPr>
          <p:cNvSpPr>
            <a:spLocks noGrp="1"/>
          </p:cNvSpPr>
          <p:nvPr>
            <p:ph type="ctrTitle"/>
          </p:nvPr>
        </p:nvSpPr>
        <p:spPr/>
        <p:txBody>
          <a:bodyPr/>
          <a:lstStyle/>
          <a:p>
            <a:r>
              <a:rPr lang="en-US" dirty="0"/>
              <a:t>Properties of Blockchain</a:t>
            </a:r>
          </a:p>
        </p:txBody>
      </p:sp>
      <p:sp>
        <p:nvSpPr>
          <p:cNvPr id="3" name="Subtitle 2">
            <a:extLst>
              <a:ext uri="{FF2B5EF4-FFF2-40B4-BE49-F238E27FC236}">
                <a16:creationId xmlns:a16="http://schemas.microsoft.com/office/drawing/2014/main" id="{C834E763-98BA-28EB-B9F5-529FD0604B0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62881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73"/>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b="0"/>
              <a:t>Properties of Blockchain</a:t>
            </a:r>
            <a:endParaRPr sz="3600"/>
          </a:p>
        </p:txBody>
      </p:sp>
      <p:sp>
        <p:nvSpPr>
          <p:cNvPr id="403" name="Google Shape;403;p73"/>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404" name="Google Shape;404;p73"/>
          <p:cNvSpPr txBox="1"/>
          <p:nvPr/>
        </p:nvSpPr>
        <p:spPr>
          <a:xfrm>
            <a:off x="893767" y="1564101"/>
            <a:ext cx="10708000" cy="4308255"/>
          </a:xfrm>
          <a:prstGeom prst="rect">
            <a:avLst/>
          </a:prstGeom>
          <a:noFill/>
          <a:ln>
            <a:noFill/>
          </a:ln>
        </p:spPr>
        <p:txBody>
          <a:bodyPr spcFirstLastPara="1" wrap="square" lIns="121900" tIns="121900" rIns="121900" bIns="121900" anchor="t" anchorCtr="0">
            <a:spAutoFit/>
          </a:bodyPr>
          <a:lstStyle/>
          <a:p>
            <a:pPr marL="609585" indent="-491054" algn="just">
              <a:buSzPts val="2200"/>
              <a:buFont typeface="Roboto"/>
              <a:buChar char="●"/>
            </a:pPr>
            <a:r>
              <a:rPr lang="en" sz="2933">
                <a:latin typeface="Roboto"/>
                <a:ea typeface="Roboto"/>
                <a:cs typeface="Roboto"/>
                <a:sym typeface="Roboto"/>
              </a:rPr>
              <a:t>Blockchain has properties of both decentralized and distributed networks. </a:t>
            </a:r>
            <a:endParaRPr sz="2933">
              <a:latin typeface="Roboto"/>
              <a:ea typeface="Roboto"/>
              <a:cs typeface="Roboto"/>
              <a:sym typeface="Roboto"/>
            </a:endParaRPr>
          </a:p>
          <a:p>
            <a:pPr marL="609585" indent="-491054" algn="just">
              <a:buSzPts val="2200"/>
              <a:buFont typeface="Roboto"/>
              <a:buChar char="●"/>
            </a:pPr>
            <a:r>
              <a:rPr lang="en" sz="2933">
                <a:latin typeface="Roboto"/>
                <a:ea typeface="Roboto"/>
                <a:cs typeface="Roboto"/>
                <a:sym typeface="Roboto"/>
              </a:rPr>
              <a:t>Using those types of networks along with cryptography adds more properties. </a:t>
            </a:r>
            <a:endParaRPr sz="2933">
              <a:latin typeface="Roboto"/>
              <a:ea typeface="Roboto"/>
              <a:cs typeface="Roboto"/>
              <a:sym typeface="Roboto"/>
            </a:endParaRPr>
          </a:p>
          <a:p>
            <a:pPr marL="609585" indent="-491054" algn="just">
              <a:buSzPts val="2200"/>
              <a:buFont typeface="Roboto"/>
              <a:buChar char="●"/>
            </a:pPr>
            <a:r>
              <a:rPr lang="en" sz="2933">
                <a:latin typeface="Roboto"/>
                <a:ea typeface="Roboto"/>
                <a:cs typeface="Roboto"/>
                <a:sym typeface="Roboto"/>
              </a:rPr>
              <a:t>We are covering here in this course properties related to the Ethereum blockchain rather than other blockchain implementation properties. </a:t>
            </a:r>
            <a:endParaRPr sz="2933">
              <a:latin typeface="Roboto"/>
              <a:ea typeface="Roboto"/>
              <a:cs typeface="Roboto"/>
              <a:sym typeface="Roboto"/>
            </a:endParaRPr>
          </a:p>
          <a:p>
            <a:pPr marL="609585" indent="-491054" algn="just">
              <a:buSzPts val="2200"/>
              <a:buFont typeface="Roboto"/>
              <a:buChar char="●"/>
            </a:pPr>
            <a:r>
              <a:rPr lang="en" sz="2933">
                <a:latin typeface="Roboto"/>
                <a:ea typeface="Roboto"/>
                <a:cs typeface="Roboto"/>
                <a:sym typeface="Roboto"/>
              </a:rPr>
              <a:t>The other blockchain implementations might have different properties. </a:t>
            </a:r>
            <a:endParaRPr sz="2933">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74"/>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b="0"/>
              <a:t>1-Distributed Ledger</a:t>
            </a:r>
            <a:endParaRPr sz="3600"/>
          </a:p>
        </p:txBody>
      </p:sp>
      <p:sp>
        <p:nvSpPr>
          <p:cNvPr id="410" name="Google Shape;410;p74"/>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411" name="Google Shape;411;p74"/>
          <p:cNvSpPr txBox="1"/>
          <p:nvPr/>
        </p:nvSpPr>
        <p:spPr>
          <a:xfrm>
            <a:off x="893767" y="1564100"/>
            <a:ext cx="10708000" cy="1600206"/>
          </a:xfrm>
          <a:prstGeom prst="rect">
            <a:avLst/>
          </a:prstGeom>
          <a:noFill/>
          <a:ln>
            <a:noFill/>
          </a:ln>
        </p:spPr>
        <p:txBody>
          <a:bodyPr spcFirstLastPara="1" wrap="square" lIns="121900" tIns="121900" rIns="121900" bIns="121900" anchor="t" anchorCtr="0">
            <a:spAutoFit/>
          </a:bodyPr>
          <a:lstStyle/>
          <a:p>
            <a:pPr marL="609585" indent="-491054" algn="just">
              <a:buSzPts val="2200"/>
              <a:buFont typeface="Roboto"/>
              <a:buChar char="●"/>
            </a:pPr>
            <a:r>
              <a:rPr lang="en" sz="2933">
                <a:latin typeface="Roboto"/>
                <a:ea typeface="Roboto"/>
                <a:cs typeface="Roboto"/>
                <a:sym typeface="Roboto"/>
              </a:rPr>
              <a:t>Multiple nodes make up a distributed blockchain network. All nodes share a common ledger, where records of transactions are kept.</a:t>
            </a:r>
            <a:endParaRPr sz="2933">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75"/>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b="0"/>
              <a:t>2-Fault Tolerance</a:t>
            </a:r>
            <a:endParaRPr sz="3600"/>
          </a:p>
        </p:txBody>
      </p:sp>
      <p:sp>
        <p:nvSpPr>
          <p:cNvPr id="417" name="Google Shape;417;p75"/>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418" name="Google Shape;418;p75"/>
          <p:cNvSpPr txBox="1"/>
          <p:nvPr/>
        </p:nvSpPr>
        <p:spPr>
          <a:xfrm>
            <a:off x="893767" y="1564100"/>
            <a:ext cx="10708000" cy="2954230"/>
          </a:xfrm>
          <a:prstGeom prst="rect">
            <a:avLst/>
          </a:prstGeom>
          <a:noFill/>
          <a:ln>
            <a:noFill/>
          </a:ln>
        </p:spPr>
        <p:txBody>
          <a:bodyPr spcFirstLastPara="1" wrap="square" lIns="121900" tIns="121900" rIns="121900" bIns="121900" anchor="t" anchorCtr="0">
            <a:spAutoFit/>
          </a:bodyPr>
          <a:lstStyle/>
          <a:p>
            <a:pPr marL="609585" indent="-491054" algn="just">
              <a:buSzPts val="2200"/>
              <a:buFont typeface="Roboto"/>
              <a:buChar char="●"/>
            </a:pPr>
            <a:r>
              <a:rPr lang="en" sz="2933">
                <a:latin typeface="Roboto"/>
                <a:ea typeface="Roboto"/>
                <a:cs typeface="Roboto"/>
                <a:sym typeface="Roboto"/>
              </a:rPr>
              <a:t>A blockchain network is decentralized and each node maintains the same record of the ledger.</a:t>
            </a:r>
            <a:endParaRPr sz="2933">
              <a:latin typeface="Roboto"/>
              <a:ea typeface="Roboto"/>
              <a:cs typeface="Roboto"/>
              <a:sym typeface="Roboto"/>
            </a:endParaRPr>
          </a:p>
          <a:p>
            <a:pPr marL="609585" indent="-491054" algn="just">
              <a:buSzPts val="2200"/>
              <a:buFont typeface="Roboto"/>
              <a:buChar char="●"/>
            </a:pPr>
            <a:r>
              <a:rPr lang="en" sz="2933">
                <a:latin typeface="Roboto"/>
                <a:ea typeface="Roboto"/>
                <a:cs typeface="Roboto"/>
                <a:sym typeface="Roboto"/>
              </a:rPr>
              <a:t>Even if some nodes in the network are corrupted or go down, it can continue operating</a:t>
            </a:r>
            <a:endParaRPr sz="2933">
              <a:latin typeface="Roboto"/>
              <a:ea typeface="Roboto"/>
              <a:cs typeface="Roboto"/>
              <a:sym typeface="Roboto"/>
            </a:endParaRPr>
          </a:p>
          <a:p>
            <a:pPr marL="609585" indent="-491054" algn="just">
              <a:buSzPts val="2200"/>
              <a:buFont typeface="Roboto"/>
              <a:buChar char="●"/>
            </a:pPr>
            <a:r>
              <a:rPr lang="en" sz="2933">
                <a:latin typeface="Roboto"/>
                <a:ea typeface="Roboto"/>
                <a:cs typeface="Roboto"/>
                <a:sym typeface="Roboto"/>
              </a:rPr>
              <a:t>Safely up to a certain limit, as well as processing transactions with running nodes.</a:t>
            </a:r>
            <a:endParaRPr sz="2933">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76"/>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b="0"/>
              <a:t>3-Attack Resistance </a:t>
            </a:r>
            <a:endParaRPr sz="3600"/>
          </a:p>
        </p:txBody>
      </p:sp>
      <p:sp>
        <p:nvSpPr>
          <p:cNvPr id="424" name="Google Shape;424;p76"/>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425" name="Google Shape;425;p76"/>
          <p:cNvSpPr txBox="1"/>
          <p:nvPr/>
        </p:nvSpPr>
        <p:spPr>
          <a:xfrm>
            <a:off x="893767" y="1564101"/>
            <a:ext cx="10708000" cy="3856913"/>
          </a:xfrm>
          <a:prstGeom prst="rect">
            <a:avLst/>
          </a:prstGeom>
          <a:noFill/>
          <a:ln>
            <a:noFill/>
          </a:ln>
        </p:spPr>
        <p:txBody>
          <a:bodyPr spcFirstLastPara="1" wrap="square" lIns="121900" tIns="121900" rIns="121900" bIns="121900" anchor="t" anchorCtr="0">
            <a:spAutoFit/>
          </a:bodyPr>
          <a:lstStyle/>
          <a:p>
            <a:pPr marL="609585" indent="-491054" algn="just">
              <a:buSzPts val="2200"/>
              <a:buFont typeface="Roboto"/>
              <a:buChar char="●"/>
            </a:pPr>
            <a:r>
              <a:rPr lang="en" sz="2933">
                <a:latin typeface="Roboto"/>
                <a:ea typeface="Roboto"/>
                <a:cs typeface="Roboto"/>
                <a:sym typeface="Roboto"/>
              </a:rPr>
              <a:t>A blockchain network does not have centralized control.</a:t>
            </a:r>
            <a:endParaRPr sz="2933">
              <a:latin typeface="Roboto"/>
              <a:ea typeface="Roboto"/>
              <a:cs typeface="Roboto"/>
              <a:sym typeface="Roboto"/>
            </a:endParaRPr>
          </a:p>
          <a:p>
            <a:pPr marL="609585" indent="-491054" algn="just">
              <a:buSzPts val="2200"/>
              <a:buFont typeface="Roboto"/>
              <a:buChar char="●"/>
            </a:pPr>
            <a:r>
              <a:rPr lang="en" sz="2933">
                <a:latin typeface="Roboto"/>
                <a:ea typeface="Roboto"/>
                <a:cs typeface="Roboto"/>
                <a:sym typeface="Roboto"/>
              </a:rPr>
              <a:t>The network's resistance to attacks is maintained by the miners who are putting their processing power (using nodes) into use to guard against malicious attacks. </a:t>
            </a:r>
            <a:endParaRPr sz="2933">
              <a:latin typeface="Roboto"/>
              <a:ea typeface="Roboto"/>
              <a:cs typeface="Roboto"/>
              <a:sym typeface="Roboto"/>
            </a:endParaRPr>
          </a:p>
          <a:p>
            <a:pPr marL="609585" indent="-491054" algn="just">
              <a:buSzPts val="2200"/>
              <a:buFont typeface="Roboto"/>
              <a:buChar char="●"/>
            </a:pPr>
            <a:r>
              <a:rPr lang="en" sz="2933">
                <a:latin typeface="Roboto"/>
                <a:ea typeface="Roboto"/>
                <a:cs typeface="Roboto"/>
                <a:sym typeface="Roboto"/>
              </a:rPr>
              <a:t>These miners earn some incentives to keep the network</a:t>
            </a:r>
            <a:endParaRPr sz="2933">
              <a:latin typeface="Roboto"/>
              <a:ea typeface="Roboto"/>
              <a:cs typeface="Roboto"/>
              <a:sym typeface="Roboto"/>
            </a:endParaRPr>
          </a:p>
          <a:p>
            <a:pPr marL="609585" algn="just"/>
            <a:r>
              <a:rPr lang="en" sz="2933">
                <a:latin typeface="Roboto"/>
                <a:ea typeface="Roboto"/>
                <a:cs typeface="Roboto"/>
                <a:sym typeface="Roboto"/>
              </a:rPr>
              <a:t>safe by behaving honestly. </a:t>
            </a:r>
            <a:endParaRPr sz="2933">
              <a:latin typeface="Roboto"/>
              <a:ea typeface="Roboto"/>
              <a:cs typeface="Roboto"/>
              <a:sym typeface="Roboto"/>
            </a:endParaRPr>
          </a:p>
          <a:p>
            <a:pPr marL="609585" algn="just"/>
            <a:r>
              <a:rPr lang="en" sz="2933">
                <a:latin typeface="Roboto"/>
                <a:ea typeface="Roboto"/>
                <a:cs typeface="Roboto"/>
                <a:sym typeface="Roboto"/>
              </a:rPr>
              <a:t>This is done by using the decentralized network and cryptographic techniques.</a:t>
            </a:r>
            <a:endParaRPr sz="2933">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77"/>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b="0"/>
              <a:t>4-Remove Intermediaries </a:t>
            </a:r>
            <a:endParaRPr sz="3600"/>
          </a:p>
        </p:txBody>
      </p:sp>
      <p:sp>
        <p:nvSpPr>
          <p:cNvPr id="431" name="Google Shape;431;p77"/>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432" name="Google Shape;432;p77"/>
          <p:cNvSpPr txBox="1"/>
          <p:nvPr/>
        </p:nvSpPr>
        <p:spPr>
          <a:xfrm>
            <a:off x="893767" y="1564100"/>
            <a:ext cx="10708000" cy="3631403"/>
          </a:xfrm>
          <a:prstGeom prst="rect">
            <a:avLst/>
          </a:prstGeom>
          <a:noFill/>
          <a:ln>
            <a:noFill/>
          </a:ln>
        </p:spPr>
        <p:txBody>
          <a:bodyPr spcFirstLastPara="1" wrap="square" lIns="121900" tIns="121900" rIns="121900" bIns="121900" anchor="t" anchorCtr="0">
            <a:spAutoFit/>
          </a:bodyPr>
          <a:lstStyle/>
          <a:p>
            <a:pPr marL="609585" indent="-491054" algn="just">
              <a:lnSpc>
                <a:spcPct val="150000"/>
              </a:lnSpc>
              <a:buSzPts val="2200"/>
              <a:buFont typeface="Roboto"/>
              <a:buChar char="●"/>
            </a:pPr>
            <a:r>
              <a:rPr lang="en" sz="2933">
                <a:latin typeface="Roboto"/>
                <a:ea typeface="Roboto"/>
                <a:cs typeface="Roboto"/>
                <a:sym typeface="Roboto"/>
              </a:rPr>
              <a:t>Blockchain technology removes the dependence on TTP/middle parties/intermediaries.</a:t>
            </a:r>
            <a:endParaRPr sz="2933">
              <a:latin typeface="Roboto"/>
              <a:ea typeface="Roboto"/>
              <a:cs typeface="Roboto"/>
              <a:sym typeface="Roboto"/>
            </a:endParaRPr>
          </a:p>
          <a:p>
            <a:pPr marL="609585" indent="-491054" algn="just">
              <a:lnSpc>
                <a:spcPct val="150000"/>
              </a:lnSpc>
              <a:buSzPts val="2200"/>
              <a:buFont typeface="Roboto"/>
              <a:buChar char="●"/>
            </a:pPr>
            <a:r>
              <a:rPr lang="en" sz="2933">
                <a:latin typeface="Roboto"/>
                <a:ea typeface="Roboto"/>
                <a:cs typeface="Roboto"/>
                <a:sym typeface="Roboto"/>
              </a:rPr>
              <a:t>Using blockchain technology, a transaction can be done directly between two entities/systems. In place of intermediaries, we can place blockchain systems.</a:t>
            </a:r>
            <a:endParaRPr sz="2933">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78"/>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t>5-Consensus Protocol </a:t>
            </a:r>
            <a:endParaRPr sz="3600"/>
          </a:p>
        </p:txBody>
      </p:sp>
      <p:sp>
        <p:nvSpPr>
          <p:cNvPr id="438" name="Google Shape;438;p78"/>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439" name="Google Shape;439;p78"/>
          <p:cNvSpPr txBox="1"/>
          <p:nvPr/>
        </p:nvSpPr>
        <p:spPr>
          <a:xfrm>
            <a:off x="940933" y="1328268"/>
            <a:ext cx="10880000" cy="5232161"/>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This is a protocol that ensures that all nodes participating in the network ensure the safety of the network.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All nodes use a consensus protocol (a specific algorithm) to reach a consensus and discard the blocks generated by the attacker/bad node, to avoid catastrophic system failure.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Ethereum uses the Ethash PoW consensus algorithm, which is Application Specific Integrated Circuit (ASIC) resistance.</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In the future, Ethereum will switch its consensus algorithm from PoW to Proof-of-Stake (PoS).</a:t>
            </a:r>
            <a:endParaRPr sz="240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79"/>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t>6-Faster Settlement</a:t>
            </a:r>
            <a:endParaRPr sz="3600"/>
          </a:p>
        </p:txBody>
      </p:sp>
      <p:sp>
        <p:nvSpPr>
          <p:cNvPr id="445" name="Google Shape;445;p79"/>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446" name="Google Shape;446;p79"/>
          <p:cNvSpPr txBox="1"/>
          <p:nvPr/>
        </p:nvSpPr>
        <p:spPr>
          <a:xfrm>
            <a:off x="893767" y="1564100"/>
            <a:ext cx="10880000" cy="3570168"/>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Traditional banking systems can be slow in some cases, as they need additional time for processing a transaction; for example, cross-border payments..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However, with blockchain technology, there are no intermediaries; therefore, the transaction happens directly between entities and the settlement is much faster, compared to traditional systems.</a:t>
            </a:r>
            <a:endParaRPr sz="240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80"/>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b="0"/>
              <a:t>7-Low Transaction Fee</a:t>
            </a:r>
            <a:endParaRPr sz="3600"/>
          </a:p>
        </p:txBody>
      </p:sp>
      <p:sp>
        <p:nvSpPr>
          <p:cNvPr id="452" name="Google Shape;452;p80"/>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453" name="Google Shape;453;p80"/>
          <p:cNvSpPr txBox="1"/>
          <p:nvPr/>
        </p:nvSpPr>
        <p:spPr>
          <a:xfrm>
            <a:off x="893767" y="1564100"/>
            <a:ext cx="10880000" cy="4124166"/>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Using the traditional banking system, doing a cross-border payments is costly.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The intermediaries take their commission to process the transaction between two parties.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But by using blockchain technology, the cost of doing transactions is significantly lower because we can remove the intermediaries and perform the transactions directly.</a:t>
            </a:r>
            <a:endParaRPr sz="2400">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81"/>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t>8-Transparency </a:t>
            </a:r>
            <a:endParaRPr sz="3600"/>
          </a:p>
        </p:txBody>
      </p:sp>
      <p:sp>
        <p:nvSpPr>
          <p:cNvPr id="459" name="Google Shape;459;p81"/>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460" name="Google Shape;460;p81"/>
          <p:cNvSpPr txBox="1"/>
          <p:nvPr/>
        </p:nvSpPr>
        <p:spPr>
          <a:xfrm>
            <a:off x="893767" y="1564100"/>
            <a:ext cx="10880000" cy="4124166"/>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Some blockchain systems maintain transparency. Ethereum is a public blockchain network.</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All the transactions of the Ethereum blockchain are public and transparent. Anyone can see the balance and transaction history of any wallet at any time, just by accessing the Ethereum public blockchain via a block explorer. </a:t>
            </a:r>
            <a:endParaRPr sz="2400">
              <a:latin typeface="Roboto"/>
              <a:ea typeface="Roboto"/>
              <a:cs typeface="Roboto"/>
              <a:sym typeface="Roboto"/>
            </a:endParaRPr>
          </a:p>
          <a:p>
            <a:pPr algn="just">
              <a:lnSpc>
                <a:spcPct val="150000"/>
              </a:lnSpc>
            </a:pPr>
            <a:endParaRPr sz="2400">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82"/>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t>9-Immutability</a:t>
            </a:r>
            <a:endParaRPr sz="3600"/>
          </a:p>
        </p:txBody>
      </p:sp>
      <p:sp>
        <p:nvSpPr>
          <p:cNvPr id="466" name="Google Shape;466;p82"/>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467" name="Google Shape;467;p82"/>
          <p:cNvSpPr txBox="1"/>
          <p:nvPr/>
        </p:nvSpPr>
        <p:spPr>
          <a:xfrm>
            <a:off x="893767" y="1564101"/>
            <a:ext cx="10880000" cy="5232161"/>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Every transaction that happens on the Ethereum blockchain is immutable. Smart contracts on the Ethereum blockchain are also immutable.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Once the smart contract code is deployed, it cannot be changed. Smart contract code will remain on the blockchain forever.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Anyone can see any deployed smart contract any time in the future as well, just by putting its contract address on the block explorers.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Data that is being stored in smart contract variables is also immutable, unless there are data removal techniques that have not been exposed by the contract code.</a:t>
            </a:r>
            <a:endParaRPr sz="240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89"/>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t>10-Irreversible transactions </a:t>
            </a:r>
            <a:endParaRPr sz="3600"/>
          </a:p>
        </p:txBody>
      </p:sp>
      <p:sp>
        <p:nvSpPr>
          <p:cNvPr id="515" name="Google Shape;515;p89"/>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516" name="Google Shape;516;p89"/>
          <p:cNvSpPr txBox="1"/>
          <p:nvPr/>
        </p:nvSpPr>
        <p:spPr>
          <a:xfrm>
            <a:off x="893767" y="1564100"/>
            <a:ext cx="10880000" cy="3016170"/>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Once a transaction is executed on a blockchain and it receives sufficient confirmation, the transaction becomes irreversible.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The irreversible transaction ensures the safety of the value transfer.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The higher the number of confirmations received for a transaction, the harder it becomes to reverse the transaction from the attacker.</a:t>
            </a:r>
            <a:endParaRPr sz="2400">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90"/>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t>11-Trustless Systems </a:t>
            </a:r>
            <a:endParaRPr sz="3600"/>
          </a:p>
        </p:txBody>
      </p:sp>
      <p:sp>
        <p:nvSpPr>
          <p:cNvPr id="522" name="Google Shape;522;p90"/>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523" name="Google Shape;523;p90"/>
          <p:cNvSpPr txBox="1"/>
          <p:nvPr/>
        </p:nvSpPr>
        <p:spPr>
          <a:xfrm>
            <a:off x="893767" y="1564101"/>
            <a:ext cx="10880000" cy="2462172"/>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Two people, without knowing each other, can do transactions using blockchain technology.</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They do not have to trust each other, they only have to trust blockchain technology. For both persons, it is a trustless system.</a:t>
            </a:r>
            <a:endParaRPr sz="2400">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91"/>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t>12-Availability </a:t>
            </a:r>
            <a:endParaRPr sz="3600"/>
          </a:p>
        </p:txBody>
      </p:sp>
      <p:sp>
        <p:nvSpPr>
          <p:cNvPr id="529" name="Google Shape;529;p91"/>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530" name="Google Shape;530;p91"/>
          <p:cNvSpPr txBox="1"/>
          <p:nvPr/>
        </p:nvSpPr>
        <p:spPr>
          <a:xfrm>
            <a:off x="893767" y="1564100"/>
            <a:ext cx="10880000" cy="3016170"/>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Centralized systems sometimes have to go through regular maintenance and downtime, resulting in inconvenience to the users.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The blockchain is decentralized, so even if some nodes go down/are corrupted, the network will continue to function and will be available to process transactions 24/7.</a:t>
            </a:r>
            <a:endParaRPr sz="2400">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92"/>
          <p:cNvSpPr txBox="1">
            <a:spLocks noGrp="1"/>
          </p:cNvSpPr>
          <p:nvPr>
            <p:ph type="title"/>
          </p:nvPr>
        </p:nvSpPr>
        <p:spPr>
          <a:xfrm>
            <a:off x="1147100" y="665834"/>
            <a:ext cx="57500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t>13-Empower Individuals </a:t>
            </a:r>
            <a:endParaRPr sz="3600"/>
          </a:p>
        </p:txBody>
      </p:sp>
      <p:sp>
        <p:nvSpPr>
          <p:cNvPr id="536" name="Google Shape;536;p92"/>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537" name="Google Shape;537;p92"/>
          <p:cNvSpPr txBox="1"/>
          <p:nvPr/>
        </p:nvSpPr>
        <p:spPr>
          <a:xfrm>
            <a:off x="893767" y="1564100"/>
            <a:ext cx="10880000" cy="5232161"/>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Each individual entity/person has their own wallet's public and private keys on the blockchain network. Using those wallets, they are in full control of their assets and the privileges available for those wallets.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Blockchain assures that the ownership of a person's data is in their hands.</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However, an individual can only maintain full control over their cryptocurrency or data when they own the private keys of their wallet. When the private keys of their wallet is maintained by another entity, such as centralized exchanges, they may not have full control.</a:t>
            </a:r>
            <a:endParaRPr sz="2400">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93"/>
          <p:cNvSpPr txBox="1">
            <a:spLocks noGrp="1"/>
          </p:cNvSpPr>
          <p:nvPr>
            <p:ph type="title"/>
          </p:nvPr>
        </p:nvSpPr>
        <p:spPr>
          <a:xfrm>
            <a:off x="1147100" y="665834"/>
            <a:ext cx="92344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t>14-Chronological order of transactions</a:t>
            </a:r>
            <a:endParaRPr sz="3600"/>
          </a:p>
        </p:txBody>
      </p:sp>
      <p:sp>
        <p:nvSpPr>
          <p:cNvPr id="543" name="Google Shape;543;p93"/>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544" name="Google Shape;544;p93"/>
          <p:cNvSpPr txBox="1"/>
          <p:nvPr/>
        </p:nvSpPr>
        <p:spPr>
          <a:xfrm>
            <a:off x="893767" y="1564101"/>
            <a:ext cx="10880000" cy="3016170"/>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Blockchains keep their transactions in blocks.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Multiple transactions are coupled together and stored in a new block. Next, that new block is appended to the chain of previous blocks.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This keeps all the blockchain transactions maintained in chronological order.</a:t>
            </a:r>
            <a:endParaRPr sz="2400">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94"/>
          <p:cNvSpPr txBox="1">
            <a:spLocks noGrp="1"/>
          </p:cNvSpPr>
          <p:nvPr>
            <p:ph type="title"/>
          </p:nvPr>
        </p:nvSpPr>
        <p:spPr>
          <a:xfrm>
            <a:off x="1147100" y="665834"/>
            <a:ext cx="92344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t>15-Timestamped</a:t>
            </a:r>
            <a:endParaRPr sz="3600"/>
          </a:p>
        </p:txBody>
      </p:sp>
      <p:sp>
        <p:nvSpPr>
          <p:cNvPr id="550" name="Google Shape;550;p94"/>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551" name="Google Shape;551;p94"/>
          <p:cNvSpPr txBox="1"/>
          <p:nvPr/>
        </p:nvSpPr>
        <p:spPr>
          <a:xfrm>
            <a:off x="893767" y="1564100"/>
            <a:ext cx="10880000" cy="3016170"/>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Every transaction on the blockchain is stamped with the current time.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This enables the blockchain to maintain all the transaction histories of an account.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Also, this can be used to prove whether or not a transaction happened on a certain date and at a certain time.</a:t>
            </a:r>
            <a:endParaRPr sz="24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95"/>
          <p:cNvSpPr txBox="1">
            <a:spLocks noGrp="1"/>
          </p:cNvSpPr>
          <p:nvPr>
            <p:ph type="title"/>
          </p:nvPr>
        </p:nvSpPr>
        <p:spPr>
          <a:xfrm>
            <a:off x="1147100" y="665834"/>
            <a:ext cx="9234400" cy="572779"/>
          </a:xfrm>
          <a:prstGeom prst="rect">
            <a:avLst/>
          </a:prstGeom>
          <a:noFill/>
          <a:ln>
            <a:noFill/>
          </a:ln>
        </p:spPr>
        <p:txBody>
          <a:bodyPr spcFirstLastPara="1" vert="horz" wrap="square" lIns="0" tIns="18600" rIns="0" bIns="0" rtlCol="0" anchor="t" anchorCtr="0">
            <a:spAutoFit/>
          </a:bodyPr>
          <a:lstStyle/>
          <a:p>
            <a:pPr marL="16933">
              <a:lnSpc>
                <a:spcPct val="100000"/>
              </a:lnSpc>
            </a:pPr>
            <a:r>
              <a:rPr lang="en" sz="3600">
                <a:solidFill>
                  <a:srgbClr val="0B5394"/>
                </a:solidFill>
              </a:rPr>
              <a:t>16-Sealed with cryptography</a:t>
            </a:r>
            <a:endParaRPr sz="3600">
              <a:solidFill>
                <a:srgbClr val="0B5394"/>
              </a:solidFill>
            </a:endParaRPr>
          </a:p>
        </p:txBody>
      </p:sp>
      <p:sp>
        <p:nvSpPr>
          <p:cNvPr id="557" name="Google Shape;557;p95"/>
          <p:cNvSpPr/>
          <p:nvPr/>
        </p:nvSpPr>
        <p:spPr>
          <a:xfrm>
            <a:off x="1147098" y="4099916"/>
            <a:ext cx="1032933" cy="272627"/>
          </a:xfrm>
          <a:custGeom>
            <a:avLst/>
            <a:gdLst/>
            <a:ahLst/>
            <a:cxnLst/>
            <a:rect l="l" t="t" r="r" b="b"/>
            <a:pathLst>
              <a:path w="774700" h="204470" extrusionOk="0">
                <a:moveTo>
                  <a:pt x="774153" y="0"/>
                </a:moveTo>
                <a:lnTo>
                  <a:pt x="774153" y="0"/>
                </a:lnTo>
                <a:lnTo>
                  <a:pt x="0" y="0"/>
                </a:lnTo>
                <a:lnTo>
                  <a:pt x="0" y="204216"/>
                </a:lnTo>
                <a:lnTo>
                  <a:pt x="774153" y="204216"/>
                </a:lnTo>
                <a:lnTo>
                  <a:pt x="774153" y="0"/>
                </a:lnTo>
                <a:close/>
              </a:path>
            </a:pathLst>
          </a:custGeom>
          <a:solidFill>
            <a:srgbClr val="FFFFFF"/>
          </a:solidFill>
          <a:ln>
            <a:noFill/>
          </a:ln>
        </p:spPr>
        <p:txBody>
          <a:bodyPr spcFirstLastPara="1" wrap="square" lIns="0" tIns="0" rIns="0" bIns="0" anchor="t" anchorCtr="0">
            <a:noAutofit/>
          </a:bodyPr>
          <a:lstStyle/>
          <a:p>
            <a:endParaRPr sz="2400"/>
          </a:p>
        </p:txBody>
      </p:sp>
      <p:sp>
        <p:nvSpPr>
          <p:cNvPr id="558" name="Google Shape;558;p95"/>
          <p:cNvSpPr txBox="1"/>
          <p:nvPr/>
        </p:nvSpPr>
        <p:spPr>
          <a:xfrm>
            <a:off x="893767" y="1564101"/>
            <a:ext cx="10880000" cy="3016170"/>
          </a:xfrm>
          <a:prstGeom prst="rect">
            <a:avLst/>
          </a:prstGeom>
          <a:noFill/>
          <a:ln>
            <a:noFill/>
          </a:ln>
        </p:spPr>
        <p:txBody>
          <a:bodyPr spcFirstLastPara="1" wrap="square" lIns="121900" tIns="121900" rIns="121900" bIns="121900" anchor="t" anchorCtr="0">
            <a:spAutoFit/>
          </a:bodyPr>
          <a:lstStyle/>
          <a:p>
            <a:pPr marL="609585" indent="-457189" algn="just">
              <a:lnSpc>
                <a:spcPct val="150000"/>
              </a:lnSpc>
              <a:buSzPts val="1800"/>
              <a:buFont typeface="Roboto"/>
              <a:buChar char="●"/>
            </a:pPr>
            <a:r>
              <a:rPr lang="en" sz="2400">
                <a:latin typeface="Roboto"/>
                <a:ea typeface="Roboto"/>
                <a:cs typeface="Roboto"/>
                <a:sym typeface="Roboto"/>
              </a:rPr>
              <a:t>Asymmetric cryptography is used for wallet generation and transaction signing using the Elliptic Curve Digital Signature Algorithm (ECDSA).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All transactions are packed together using the Merkle tree and SHA-256 cryptographic algorithms. </a:t>
            </a:r>
            <a:endParaRPr sz="2400">
              <a:latin typeface="Roboto"/>
              <a:ea typeface="Roboto"/>
              <a:cs typeface="Roboto"/>
              <a:sym typeface="Roboto"/>
            </a:endParaRPr>
          </a:p>
          <a:p>
            <a:pPr marL="609585" indent="-457189" algn="just">
              <a:lnSpc>
                <a:spcPct val="150000"/>
              </a:lnSpc>
              <a:buSzPts val="1800"/>
              <a:buFont typeface="Roboto"/>
              <a:buChar char="●"/>
            </a:pPr>
            <a:r>
              <a:rPr lang="en" sz="2400">
                <a:latin typeface="Roboto"/>
                <a:ea typeface="Roboto"/>
                <a:cs typeface="Roboto"/>
                <a:sym typeface="Roboto"/>
              </a:rPr>
              <a:t>This makes blockchains secure and reliable to use.</a:t>
            </a:r>
            <a:endParaRPr sz="2400">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pic>
        <p:nvPicPr>
          <p:cNvPr id="569" name="Google Shape;569;p97"/>
          <p:cNvPicPr preferRelativeResize="0"/>
          <p:nvPr/>
        </p:nvPicPr>
        <p:blipFill>
          <a:blip r:embed="rId3">
            <a:alphaModFix/>
          </a:blip>
          <a:stretch>
            <a:fillRect/>
          </a:stretch>
        </p:blipFill>
        <p:spPr>
          <a:xfrm>
            <a:off x="203201" y="203200"/>
            <a:ext cx="11469511" cy="6451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pic>
        <p:nvPicPr>
          <p:cNvPr id="574" name="Google Shape;574;p98"/>
          <p:cNvPicPr preferRelativeResize="0"/>
          <p:nvPr/>
        </p:nvPicPr>
        <p:blipFill>
          <a:blip r:embed="rId3">
            <a:alphaModFix/>
          </a:blip>
          <a:stretch>
            <a:fillRect/>
          </a:stretch>
        </p:blipFill>
        <p:spPr>
          <a:xfrm>
            <a:off x="203201" y="203200"/>
            <a:ext cx="11469511" cy="6451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pic>
        <p:nvPicPr>
          <p:cNvPr id="579" name="Google Shape;579;p99"/>
          <p:cNvPicPr preferRelativeResize="0"/>
          <p:nvPr/>
        </p:nvPicPr>
        <p:blipFill>
          <a:blip r:embed="rId3">
            <a:alphaModFix/>
          </a:blip>
          <a:stretch>
            <a:fillRect/>
          </a:stretch>
        </p:blipFill>
        <p:spPr>
          <a:xfrm>
            <a:off x="203201" y="203200"/>
            <a:ext cx="11469511" cy="6451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pic>
        <p:nvPicPr>
          <p:cNvPr id="584" name="Google Shape;584;p100"/>
          <p:cNvPicPr preferRelativeResize="0"/>
          <p:nvPr/>
        </p:nvPicPr>
        <p:blipFill>
          <a:blip r:embed="rId3">
            <a:alphaModFix/>
          </a:blip>
          <a:stretch>
            <a:fillRect/>
          </a:stretch>
        </p:blipFill>
        <p:spPr>
          <a:xfrm>
            <a:off x="203201" y="203200"/>
            <a:ext cx="11469511" cy="6451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pic>
        <p:nvPicPr>
          <p:cNvPr id="589" name="Google Shape;589;p101"/>
          <p:cNvPicPr preferRelativeResize="0"/>
          <p:nvPr/>
        </p:nvPicPr>
        <p:blipFill>
          <a:blip r:embed="rId3">
            <a:alphaModFix/>
          </a:blip>
          <a:stretch>
            <a:fillRect/>
          </a:stretch>
        </p:blipFill>
        <p:spPr>
          <a:xfrm>
            <a:off x="203201" y="203200"/>
            <a:ext cx="11469511" cy="6451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pic>
        <p:nvPicPr>
          <p:cNvPr id="594" name="Google Shape;594;p102"/>
          <p:cNvPicPr preferRelativeResize="0"/>
          <p:nvPr/>
        </p:nvPicPr>
        <p:blipFill>
          <a:blip r:embed="rId3">
            <a:alphaModFix/>
          </a:blip>
          <a:stretch>
            <a:fillRect/>
          </a:stretch>
        </p:blipFill>
        <p:spPr>
          <a:xfrm>
            <a:off x="203201" y="203200"/>
            <a:ext cx="11469511" cy="6451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pic>
        <p:nvPicPr>
          <p:cNvPr id="599" name="Google Shape;599;p103"/>
          <p:cNvPicPr preferRelativeResize="0"/>
          <p:nvPr/>
        </p:nvPicPr>
        <p:blipFill>
          <a:blip r:embed="rId3">
            <a:alphaModFix/>
          </a:blip>
          <a:stretch>
            <a:fillRect/>
          </a:stretch>
        </p:blipFill>
        <p:spPr>
          <a:xfrm>
            <a:off x="203201" y="203200"/>
            <a:ext cx="11469511" cy="6451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pic>
        <p:nvPicPr>
          <p:cNvPr id="604" name="Google Shape;604;p104"/>
          <p:cNvPicPr preferRelativeResize="0"/>
          <p:nvPr/>
        </p:nvPicPr>
        <p:blipFill>
          <a:blip r:embed="rId3">
            <a:alphaModFix/>
          </a:blip>
          <a:stretch>
            <a:fillRect/>
          </a:stretch>
        </p:blipFill>
        <p:spPr>
          <a:xfrm>
            <a:off x="203201" y="203200"/>
            <a:ext cx="11469511" cy="6451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pic>
        <p:nvPicPr>
          <p:cNvPr id="609" name="Google Shape;609;p105"/>
          <p:cNvPicPr preferRelativeResize="0"/>
          <p:nvPr/>
        </p:nvPicPr>
        <p:blipFill>
          <a:blip r:embed="rId3">
            <a:alphaModFix/>
          </a:blip>
          <a:stretch>
            <a:fillRect/>
          </a:stretch>
        </p:blipFill>
        <p:spPr>
          <a:xfrm>
            <a:off x="203201" y="203200"/>
            <a:ext cx="11469511" cy="6451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pic>
        <p:nvPicPr>
          <p:cNvPr id="614" name="Google Shape;614;p106"/>
          <p:cNvPicPr preferRelativeResize="0"/>
          <p:nvPr/>
        </p:nvPicPr>
        <p:blipFill>
          <a:blip r:embed="rId3">
            <a:alphaModFix/>
          </a:blip>
          <a:stretch>
            <a:fillRect/>
          </a:stretch>
        </p:blipFill>
        <p:spPr>
          <a:xfrm>
            <a:off x="203201" y="203200"/>
            <a:ext cx="11469511" cy="6451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107"/>
          <p:cNvSpPr txBox="1">
            <a:spLocks noGrp="1"/>
          </p:cNvSpPr>
          <p:nvPr>
            <p:ph type="title"/>
          </p:nvPr>
        </p:nvSpPr>
        <p:spPr>
          <a:xfrm>
            <a:off x="415600" y="546667"/>
            <a:ext cx="11360800" cy="810400"/>
          </a:xfrm>
          <a:prstGeom prst="rect">
            <a:avLst/>
          </a:prstGeom>
        </p:spPr>
        <p:txBody>
          <a:bodyPr spcFirstLastPara="1" vert="horz" wrap="square" lIns="121900" tIns="121900" rIns="121900" bIns="121900" rtlCol="0" anchor="t" anchorCtr="0">
            <a:normAutofit fontScale="90000"/>
          </a:bodyPr>
          <a:lstStyle/>
          <a:p>
            <a:r>
              <a:rPr lang="en" b="1"/>
              <a:t>Blocks in Blockchain</a:t>
            </a:r>
            <a:endParaRPr b="1"/>
          </a:p>
        </p:txBody>
      </p:sp>
      <p:sp>
        <p:nvSpPr>
          <p:cNvPr id="620" name="Google Shape;620;p107"/>
          <p:cNvSpPr txBox="1">
            <a:spLocks noGrp="1"/>
          </p:cNvSpPr>
          <p:nvPr>
            <p:ph type="body" idx="1"/>
          </p:nvPr>
        </p:nvSpPr>
        <p:spPr>
          <a:xfrm>
            <a:off x="415600" y="1639833"/>
            <a:ext cx="11360800" cy="4452000"/>
          </a:xfrm>
          <a:prstGeom prst="rect">
            <a:avLst/>
          </a:prstGeom>
        </p:spPr>
        <p:txBody>
          <a:bodyPr spcFirstLastPara="1" vert="horz" wrap="square" lIns="121900" tIns="121900" rIns="121900" bIns="121900" rtlCol="0" anchor="t" anchorCtr="0">
            <a:normAutofit/>
          </a:bodyPr>
          <a:lstStyle/>
          <a:p>
            <a:pPr marL="0" indent="0">
              <a:lnSpc>
                <a:spcPct val="177777"/>
              </a:lnSpc>
              <a:buClr>
                <a:schemeClr val="dk1"/>
              </a:buClr>
              <a:buSzPts val="1100"/>
              <a:buNone/>
            </a:pPr>
            <a:r>
              <a:rPr lang="en" sz="1800">
                <a:solidFill>
                  <a:srgbClr val="0F0F0F"/>
                </a:solidFill>
                <a:highlight>
                  <a:srgbClr val="FFFFFF"/>
                </a:highlight>
                <a:latin typeface="Roboto"/>
                <a:ea typeface="Roboto"/>
                <a:cs typeface="Roboto"/>
                <a:sym typeface="Roboto"/>
              </a:rPr>
              <a:t>Blockchain is a method of securely recording data or information which makes it hard to hack or change the system. A blockchain is simply a virtual record of transactions that is replicated and distributed throughout the blockchain's complete network of computer systems.</a:t>
            </a:r>
            <a:endParaRPr sz="1800">
              <a:solidFill>
                <a:srgbClr val="0F0F0F"/>
              </a:solidFill>
              <a:highlight>
                <a:srgbClr val="FFFFFF"/>
              </a:highlight>
              <a:latin typeface="Roboto"/>
              <a:ea typeface="Roboto"/>
              <a:cs typeface="Roboto"/>
              <a:sym typeface="Roboto"/>
            </a:endParaRPr>
          </a:p>
          <a:p>
            <a:pPr marL="0" indent="0">
              <a:lnSpc>
                <a:spcPct val="177777"/>
              </a:lnSpc>
              <a:buNone/>
            </a:pPr>
            <a:r>
              <a:rPr lang="en" sz="1800">
                <a:solidFill>
                  <a:srgbClr val="0F0F0F"/>
                </a:solidFill>
                <a:highlight>
                  <a:srgbClr val="FFFFFF"/>
                </a:highlight>
                <a:latin typeface="Roboto"/>
                <a:ea typeface="Roboto"/>
                <a:cs typeface="Roboto"/>
                <a:sym typeface="Roboto"/>
              </a:rPr>
              <a:t>Each block on the chain comprises a number of transactions,</a:t>
            </a:r>
            <a:endParaRPr sz="1800">
              <a:solidFill>
                <a:srgbClr val="0F0F0F"/>
              </a:solidFill>
              <a:highlight>
                <a:srgbClr val="FFFFFF"/>
              </a:highlight>
              <a:latin typeface="Roboto"/>
              <a:ea typeface="Roboto"/>
              <a:cs typeface="Roboto"/>
              <a:sym typeface="Roboto"/>
            </a:endParaRPr>
          </a:p>
          <a:p>
            <a:pPr marL="0" indent="0">
              <a:lnSpc>
                <a:spcPct val="177777"/>
              </a:lnSpc>
              <a:buNone/>
            </a:pPr>
            <a:r>
              <a:rPr lang="en" sz="1800">
                <a:solidFill>
                  <a:srgbClr val="0F0F0F"/>
                </a:solidFill>
                <a:highlight>
                  <a:srgbClr val="FFFFFF"/>
                </a:highlight>
                <a:latin typeface="Roboto"/>
                <a:ea typeface="Roboto"/>
                <a:cs typeface="Roboto"/>
                <a:sym typeface="Roboto"/>
              </a:rPr>
              <a:t> and whenever a new transaction happens on the blockchain, </a:t>
            </a:r>
            <a:endParaRPr sz="1800">
              <a:solidFill>
                <a:srgbClr val="0F0F0F"/>
              </a:solidFill>
              <a:highlight>
                <a:srgbClr val="FFFFFF"/>
              </a:highlight>
              <a:latin typeface="Roboto"/>
              <a:ea typeface="Roboto"/>
              <a:cs typeface="Roboto"/>
              <a:sym typeface="Roboto"/>
            </a:endParaRPr>
          </a:p>
          <a:p>
            <a:pPr marL="0" indent="0">
              <a:lnSpc>
                <a:spcPct val="177777"/>
              </a:lnSpc>
              <a:buNone/>
            </a:pPr>
            <a:r>
              <a:rPr lang="en" sz="1800">
                <a:solidFill>
                  <a:srgbClr val="0F0F0F"/>
                </a:solidFill>
                <a:highlight>
                  <a:srgbClr val="FFFFFF"/>
                </a:highlight>
                <a:latin typeface="Roboto"/>
                <a:ea typeface="Roboto"/>
                <a:cs typeface="Roboto"/>
                <a:sym typeface="Roboto"/>
              </a:rPr>
              <a:t>a record of that transaction is added to the ledger of every </a:t>
            </a:r>
            <a:endParaRPr sz="1800">
              <a:solidFill>
                <a:srgbClr val="0F0F0F"/>
              </a:solidFill>
              <a:highlight>
                <a:srgbClr val="FFFFFF"/>
              </a:highlight>
              <a:latin typeface="Roboto"/>
              <a:ea typeface="Roboto"/>
              <a:cs typeface="Roboto"/>
              <a:sym typeface="Roboto"/>
            </a:endParaRPr>
          </a:p>
          <a:p>
            <a:pPr marL="0" indent="0">
              <a:lnSpc>
                <a:spcPct val="177777"/>
              </a:lnSpc>
              <a:buNone/>
            </a:pPr>
            <a:r>
              <a:rPr lang="en" sz="1800">
                <a:solidFill>
                  <a:srgbClr val="0F0F0F"/>
                </a:solidFill>
                <a:highlight>
                  <a:srgbClr val="FFFFFF"/>
                </a:highlight>
                <a:latin typeface="Roboto"/>
                <a:ea typeface="Roboto"/>
                <a:cs typeface="Roboto"/>
                <a:sym typeface="Roboto"/>
              </a:rPr>
              <a:t>participant. A blockchain network consists of millions of bloc</a:t>
            </a:r>
            <a:r>
              <a:rPr lang="en" sz="1800">
                <a:solidFill>
                  <a:srgbClr val="0F0F0F"/>
                </a:solidFill>
                <a:highlight>
                  <a:srgbClr val="FFFFFF"/>
                </a:highlight>
              </a:rPr>
              <a:t>ks.</a:t>
            </a:r>
            <a:endParaRPr sz="1800">
              <a:solidFill>
                <a:srgbClr val="0F0F0F"/>
              </a:solidFill>
              <a:highlight>
                <a:srgbClr val="FFFFFF"/>
              </a:highlight>
              <a:latin typeface="Roboto"/>
              <a:ea typeface="Roboto"/>
              <a:cs typeface="Roboto"/>
              <a:sym typeface="Roboto"/>
            </a:endParaRPr>
          </a:p>
          <a:p>
            <a:pPr marL="0" indent="0">
              <a:spcAft>
                <a:spcPts val="1600"/>
              </a:spcAft>
              <a:buNone/>
            </a:pPr>
            <a:endParaRPr>
              <a:solidFill>
                <a:srgbClr val="0F0F0F"/>
              </a:solidFill>
            </a:endParaRPr>
          </a:p>
        </p:txBody>
      </p:sp>
      <p:pic>
        <p:nvPicPr>
          <p:cNvPr id="621" name="Google Shape;621;p107"/>
          <p:cNvPicPr preferRelativeResize="0"/>
          <p:nvPr/>
        </p:nvPicPr>
        <p:blipFill>
          <a:blip r:embed="rId3">
            <a:alphaModFix/>
          </a:blip>
          <a:stretch>
            <a:fillRect/>
          </a:stretch>
        </p:blipFill>
        <p:spPr>
          <a:xfrm>
            <a:off x="7272051" y="2944200"/>
            <a:ext cx="3390900" cy="1905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108"/>
          <p:cNvSpPr txBox="1">
            <a:spLocks noGrp="1"/>
          </p:cNvSpPr>
          <p:nvPr>
            <p:ph type="title"/>
          </p:nvPr>
        </p:nvSpPr>
        <p:spPr>
          <a:xfrm>
            <a:off x="415600" y="546667"/>
            <a:ext cx="11360800" cy="810400"/>
          </a:xfrm>
          <a:prstGeom prst="rect">
            <a:avLst/>
          </a:prstGeom>
        </p:spPr>
        <p:txBody>
          <a:bodyPr spcFirstLastPara="1" vert="horz" wrap="square" lIns="121900" tIns="121900" rIns="121900" bIns="121900" rtlCol="0" anchor="t" anchorCtr="0">
            <a:normAutofit fontScale="90000"/>
          </a:bodyPr>
          <a:lstStyle/>
          <a:p>
            <a:r>
              <a:rPr lang="en"/>
              <a:t>How does Blocks works</a:t>
            </a:r>
            <a:endParaRPr/>
          </a:p>
        </p:txBody>
      </p:sp>
      <p:sp>
        <p:nvSpPr>
          <p:cNvPr id="627" name="Google Shape;627;p108"/>
          <p:cNvSpPr txBox="1">
            <a:spLocks noGrp="1"/>
          </p:cNvSpPr>
          <p:nvPr>
            <p:ph type="body" idx="1"/>
          </p:nvPr>
        </p:nvSpPr>
        <p:spPr>
          <a:xfrm>
            <a:off x="415600" y="1639833"/>
            <a:ext cx="11360800" cy="4452000"/>
          </a:xfrm>
          <a:prstGeom prst="rect">
            <a:avLst/>
          </a:prstGeom>
        </p:spPr>
        <p:txBody>
          <a:bodyPr spcFirstLastPara="1" vert="horz" wrap="square" lIns="121900" tIns="121900" rIns="121900" bIns="121900" rtlCol="0" anchor="t" anchorCtr="0">
            <a:normAutofit/>
          </a:bodyPr>
          <a:lstStyle/>
          <a:p>
            <a:pPr marL="0" indent="0">
              <a:lnSpc>
                <a:spcPct val="177777"/>
              </a:lnSpc>
              <a:buClr>
                <a:schemeClr val="dk1"/>
              </a:buClr>
              <a:buSzPts val="1100"/>
              <a:buNone/>
            </a:pPr>
            <a:r>
              <a:rPr lang="en" sz="1800">
                <a:solidFill>
                  <a:schemeClr val="dk1"/>
                </a:solidFill>
                <a:highlight>
                  <a:srgbClr val="FFFFFF"/>
                </a:highlight>
                <a:latin typeface="Roboto"/>
                <a:ea typeface="Roboto"/>
                <a:cs typeface="Roboto"/>
                <a:sym typeface="Roboto"/>
              </a:rPr>
              <a:t>in any cryptocurrency, there are a huge number of transactions occurring every day throughout the world. It is important for the users to keep track of these transactions, and they can do it with the help of blocks. A block contains the recent data and every time the block is completed, it becomes a part of the past and makes room for a new block on the blockchain. </a:t>
            </a:r>
            <a:endParaRPr sz="1800">
              <a:solidFill>
                <a:schemeClr val="dk1"/>
              </a:solidFill>
              <a:highlight>
                <a:srgbClr val="FFFFFF"/>
              </a:highlight>
              <a:latin typeface="Roboto"/>
              <a:ea typeface="Roboto"/>
              <a:cs typeface="Roboto"/>
              <a:sym typeface="Roboto"/>
            </a:endParaRPr>
          </a:p>
          <a:p>
            <a:pPr marL="0" indent="0">
              <a:lnSpc>
                <a:spcPct val="177777"/>
              </a:lnSpc>
              <a:buClr>
                <a:schemeClr val="dk1"/>
              </a:buClr>
              <a:buSzPts val="1100"/>
              <a:buNone/>
            </a:pPr>
            <a:r>
              <a:rPr lang="en" sz="1800">
                <a:solidFill>
                  <a:schemeClr val="dk1"/>
                </a:solidFill>
                <a:highlight>
                  <a:srgbClr val="FFFFFF"/>
                </a:highlight>
                <a:latin typeface="Roboto"/>
                <a:ea typeface="Roboto"/>
                <a:cs typeface="Roboto"/>
                <a:sym typeface="Roboto"/>
              </a:rPr>
              <a:t> </a:t>
            </a:r>
            <a:endParaRPr sz="1800">
              <a:solidFill>
                <a:schemeClr val="dk1"/>
              </a:solidFill>
              <a:highlight>
                <a:srgbClr val="FFFFFF"/>
              </a:highlight>
              <a:latin typeface="Roboto"/>
              <a:ea typeface="Roboto"/>
              <a:cs typeface="Roboto"/>
              <a:sym typeface="Roboto"/>
            </a:endParaRPr>
          </a:p>
          <a:p>
            <a:pPr marL="0" indent="0">
              <a:lnSpc>
                <a:spcPct val="177777"/>
              </a:lnSpc>
              <a:buClr>
                <a:schemeClr val="dk1"/>
              </a:buClr>
              <a:buSzPts val="1100"/>
              <a:buNone/>
            </a:pPr>
            <a:r>
              <a:rPr lang="en" sz="1800">
                <a:solidFill>
                  <a:schemeClr val="dk1"/>
                </a:solidFill>
                <a:highlight>
                  <a:srgbClr val="FFFFFF"/>
                </a:highlight>
                <a:latin typeface="Roboto"/>
                <a:ea typeface="Roboto"/>
                <a:cs typeface="Roboto"/>
                <a:sym typeface="Roboto"/>
              </a:rPr>
              <a:t>The completed block is a permanent record of prior transactions, and new ones are recorded in the current one. As a result, the entire system enters into a loop that permanently saves all data.</a:t>
            </a:r>
            <a:endParaRPr sz="1800">
              <a:solidFill>
                <a:schemeClr val="dk1"/>
              </a:solidFill>
              <a:highlight>
                <a:srgbClr val="FFFFFF"/>
              </a:highlight>
              <a:latin typeface="Roboto"/>
              <a:ea typeface="Roboto"/>
              <a:cs typeface="Roboto"/>
              <a:sym typeface="Roboto"/>
            </a:endParaRPr>
          </a:p>
          <a:p>
            <a:pPr marL="0" indent="0">
              <a:spcAft>
                <a:spcPts val="160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109"/>
          <p:cNvSpPr txBox="1">
            <a:spLocks noGrp="1"/>
          </p:cNvSpPr>
          <p:nvPr>
            <p:ph type="body" idx="1"/>
          </p:nvPr>
        </p:nvSpPr>
        <p:spPr>
          <a:xfrm>
            <a:off x="415600" y="96600"/>
            <a:ext cx="11360800" cy="5995200"/>
          </a:xfrm>
          <a:prstGeom prst="rect">
            <a:avLst/>
          </a:prstGeom>
        </p:spPr>
        <p:txBody>
          <a:bodyPr spcFirstLastPara="1" vert="horz" wrap="square" lIns="121900" tIns="121900" rIns="121900" bIns="121900" rtlCol="0" anchor="t" anchorCtr="0">
            <a:normAutofit fontScale="92500" lnSpcReduction="10000"/>
          </a:bodyPr>
          <a:lstStyle/>
          <a:p>
            <a:pPr marL="50799" marR="50799" indent="0" algn="ctr">
              <a:lnSpc>
                <a:spcPct val="200000"/>
              </a:lnSpc>
              <a:buClr>
                <a:schemeClr val="dk1"/>
              </a:buClr>
              <a:buSzPts val="1100"/>
              <a:buNone/>
            </a:pPr>
            <a:r>
              <a:rPr lang="en" sz="1200" i="1">
                <a:solidFill>
                  <a:schemeClr val="dk1"/>
                </a:solidFill>
                <a:highlight>
                  <a:srgbClr val="FFFFFF"/>
                </a:highlight>
                <a:latin typeface="Nunito"/>
                <a:ea typeface="Nunito"/>
                <a:cs typeface="Nunito"/>
                <a:sym typeface="Nunito"/>
              </a:rPr>
              <a:t> </a:t>
            </a:r>
            <a:endParaRPr sz="1200" i="1">
              <a:solidFill>
                <a:schemeClr val="dk1"/>
              </a:solidFill>
              <a:highlight>
                <a:srgbClr val="FFFFFF"/>
              </a:highlight>
              <a:latin typeface="Nunito"/>
              <a:ea typeface="Nunito"/>
              <a:cs typeface="Nunito"/>
              <a:sym typeface="Nunito"/>
            </a:endParaRPr>
          </a:p>
          <a:p>
            <a:pPr marL="914377" indent="-414856">
              <a:lnSpc>
                <a:spcPct val="158000"/>
              </a:lnSpc>
              <a:spcBef>
                <a:spcPts val="1067"/>
              </a:spcBef>
              <a:buClr>
                <a:schemeClr val="dk1"/>
              </a:buClr>
              <a:buSzPts val="1300"/>
              <a:buFont typeface="Nunito"/>
              <a:buAutoNum type="arabicPeriod"/>
            </a:pPr>
            <a:r>
              <a:rPr lang="en" sz="1733" b="1">
                <a:solidFill>
                  <a:schemeClr val="dk1"/>
                </a:solidFill>
                <a:highlight>
                  <a:srgbClr val="FFFFFF"/>
                </a:highlight>
                <a:latin typeface="Nunito"/>
                <a:ea typeface="Nunito"/>
                <a:cs typeface="Nunito"/>
                <a:sym typeface="Nunito"/>
              </a:rPr>
              <a:t>Header:</a:t>
            </a:r>
            <a:r>
              <a:rPr lang="en" sz="1733">
                <a:solidFill>
                  <a:schemeClr val="dk1"/>
                </a:solidFill>
                <a:highlight>
                  <a:srgbClr val="FFFFFF"/>
                </a:highlight>
                <a:latin typeface="Nunito"/>
                <a:ea typeface="Nunito"/>
                <a:cs typeface="Nunito"/>
                <a:sym typeface="Nunito"/>
              </a:rPr>
              <a:t> It is used to identify the particular block in the entire blockchain. It handles all blocks in the blockchain. A block header is hashed periodically by miners by changing the nonce value as part of normal mining activity, also Three sets of block metadata are contained in the block header.</a:t>
            </a:r>
            <a:endParaRPr sz="1733">
              <a:solidFill>
                <a:schemeClr val="dk1"/>
              </a:solidFill>
              <a:highlight>
                <a:srgbClr val="FFFFFF"/>
              </a:highlight>
              <a:latin typeface="Nunito"/>
              <a:ea typeface="Nunito"/>
              <a:cs typeface="Nunito"/>
              <a:sym typeface="Nunito"/>
            </a:endParaRPr>
          </a:p>
          <a:p>
            <a:pPr marL="914377" indent="-414856">
              <a:lnSpc>
                <a:spcPct val="158000"/>
              </a:lnSpc>
              <a:buClr>
                <a:schemeClr val="dk1"/>
              </a:buClr>
              <a:buSzPts val="1300"/>
              <a:buFont typeface="Nunito"/>
              <a:buAutoNum type="arabicPeriod"/>
            </a:pPr>
            <a:r>
              <a:rPr lang="en" sz="1733" b="1">
                <a:solidFill>
                  <a:schemeClr val="dk1"/>
                </a:solidFill>
                <a:highlight>
                  <a:srgbClr val="FFFFFF"/>
                </a:highlight>
                <a:latin typeface="Nunito"/>
                <a:ea typeface="Nunito"/>
                <a:cs typeface="Nunito"/>
                <a:sym typeface="Nunito"/>
              </a:rPr>
              <a:t>Previous Block Address/ Hash:</a:t>
            </a:r>
            <a:r>
              <a:rPr lang="en" sz="1733">
                <a:solidFill>
                  <a:schemeClr val="dk1"/>
                </a:solidFill>
                <a:highlight>
                  <a:srgbClr val="FFFFFF"/>
                </a:highlight>
                <a:latin typeface="Nunito"/>
                <a:ea typeface="Nunito"/>
                <a:cs typeface="Nunito"/>
                <a:sym typeface="Nunito"/>
              </a:rPr>
              <a:t> It is used to connect the i+1</a:t>
            </a:r>
            <a:r>
              <a:rPr lang="en" sz="1267">
                <a:solidFill>
                  <a:schemeClr val="dk1"/>
                </a:solidFill>
                <a:highlight>
                  <a:srgbClr val="FFFFFF"/>
                </a:highlight>
                <a:latin typeface="Nunito"/>
                <a:ea typeface="Nunito"/>
                <a:cs typeface="Nunito"/>
                <a:sym typeface="Nunito"/>
              </a:rPr>
              <a:t>th</a:t>
            </a:r>
            <a:r>
              <a:rPr lang="en" sz="1733">
                <a:solidFill>
                  <a:schemeClr val="dk1"/>
                </a:solidFill>
                <a:highlight>
                  <a:srgbClr val="FFFFFF"/>
                </a:highlight>
                <a:latin typeface="Nunito"/>
                <a:ea typeface="Nunito"/>
                <a:cs typeface="Nunito"/>
                <a:sym typeface="Nunito"/>
              </a:rPr>
              <a:t> block to the i</a:t>
            </a:r>
            <a:r>
              <a:rPr lang="en" sz="1267">
                <a:solidFill>
                  <a:schemeClr val="dk1"/>
                </a:solidFill>
                <a:highlight>
                  <a:srgbClr val="FFFFFF"/>
                </a:highlight>
                <a:latin typeface="Nunito"/>
                <a:ea typeface="Nunito"/>
                <a:cs typeface="Nunito"/>
                <a:sym typeface="Nunito"/>
              </a:rPr>
              <a:t>th</a:t>
            </a:r>
            <a:r>
              <a:rPr lang="en" sz="1733">
                <a:solidFill>
                  <a:schemeClr val="dk1"/>
                </a:solidFill>
                <a:highlight>
                  <a:srgbClr val="FFFFFF"/>
                </a:highlight>
                <a:latin typeface="Nunito"/>
                <a:ea typeface="Nunito"/>
                <a:cs typeface="Nunito"/>
                <a:sym typeface="Nunito"/>
              </a:rPr>
              <a:t> block using the hash. In short, it is a reference to the hash of the previous (parent) block in the chain.</a:t>
            </a:r>
            <a:endParaRPr sz="1733">
              <a:solidFill>
                <a:schemeClr val="dk1"/>
              </a:solidFill>
              <a:highlight>
                <a:srgbClr val="FFFFFF"/>
              </a:highlight>
              <a:latin typeface="Nunito"/>
              <a:ea typeface="Nunito"/>
              <a:cs typeface="Nunito"/>
              <a:sym typeface="Nunito"/>
            </a:endParaRPr>
          </a:p>
          <a:p>
            <a:pPr marL="914377" indent="-414856">
              <a:lnSpc>
                <a:spcPct val="158000"/>
              </a:lnSpc>
              <a:buClr>
                <a:schemeClr val="dk1"/>
              </a:buClr>
              <a:buSzPts val="1300"/>
              <a:buFont typeface="Nunito"/>
              <a:buAutoNum type="arabicPeriod"/>
            </a:pPr>
            <a:r>
              <a:rPr lang="en" sz="1733" b="1">
                <a:solidFill>
                  <a:schemeClr val="dk1"/>
                </a:solidFill>
                <a:highlight>
                  <a:srgbClr val="FFFFFF"/>
                </a:highlight>
                <a:latin typeface="Nunito"/>
                <a:ea typeface="Nunito"/>
                <a:cs typeface="Nunito"/>
                <a:sym typeface="Nunito"/>
              </a:rPr>
              <a:t>Timestamp: </a:t>
            </a:r>
            <a:r>
              <a:rPr lang="en" sz="1733">
                <a:solidFill>
                  <a:schemeClr val="dk1"/>
                </a:solidFill>
                <a:highlight>
                  <a:srgbClr val="FFFFFF"/>
                </a:highlight>
                <a:latin typeface="Nunito"/>
                <a:ea typeface="Nunito"/>
                <a:cs typeface="Nunito"/>
                <a:sym typeface="Nunito"/>
              </a:rPr>
              <a:t>It is a system verify the data into the block and assigns a time or date of creation for digital documents. The timestamp is a string of characters that uniquely identifies the document or event and indicates when it was created.</a:t>
            </a:r>
            <a:endParaRPr sz="1733">
              <a:solidFill>
                <a:schemeClr val="dk1"/>
              </a:solidFill>
              <a:highlight>
                <a:srgbClr val="FFFFFF"/>
              </a:highlight>
              <a:latin typeface="Nunito"/>
              <a:ea typeface="Nunito"/>
              <a:cs typeface="Nunito"/>
              <a:sym typeface="Nunito"/>
            </a:endParaRPr>
          </a:p>
          <a:p>
            <a:pPr marL="914377" indent="-414856">
              <a:lnSpc>
                <a:spcPct val="158000"/>
              </a:lnSpc>
              <a:buClr>
                <a:schemeClr val="dk1"/>
              </a:buClr>
              <a:buSzPts val="1300"/>
              <a:buFont typeface="Nunito"/>
              <a:buAutoNum type="arabicPeriod"/>
            </a:pPr>
            <a:r>
              <a:rPr lang="en" sz="1733" b="1">
                <a:solidFill>
                  <a:schemeClr val="dk1"/>
                </a:solidFill>
                <a:highlight>
                  <a:srgbClr val="FFFFFF"/>
                </a:highlight>
                <a:latin typeface="Nunito"/>
                <a:ea typeface="Nunito"/>
                <a:cs typeface="Nunito"/>
                <a:sym typeface="Nunito"/>
              </a:rPr>
              <a:t>Nonce: </a:t>
            </a:r>
            <a:r>
              <a:rPr lang="en" sz="1733">
                <a:solidFill>
                  <a:schemeClr val="dk1"/>
                </a:solidFill>
                <a:highlight>
                  <a:srgbClr val="FFFFFF"/>
                </a:highlight>
                <a:latin typeface="Nunito"/>
                <a:ea typeface="Nunito"/>
                <a:cs typeface="Nunito"/>
                <a:sym typeface="Nunito"/>
              </a:rPr>
              <a:t>A nonce number which uses only once. It is a central part of the proof of work in the block. It is compared to the live target if it is smaller or equal to the current target. People who mine, test, and eliminate many Nonce per second until they find that Valuable Nonce is valid.</a:t>
            </a:r>
            <a:endParaRPr sz="1733">
              <a:solidFill>
                <a:schemeClr val="dk1"/>
              </a:solidFill>
              <a:highlight>
                <a:srgbClr val="FFFFFF"/>
              </a:highlight>
              <a:latin typeface="Nunito"/>
              <a:ea typeface="Nunito"/>
              <a:cs typeface="Nunito"/>
              <a:sym typeface="Nunito"/>
            </a:endParaRPr>
          </a:p>
          <a:p>
            <a:pPr marL="914377" indent="-414856">
              <a:lnSpc>
                <a:spcPct val="158000"/>
              </a:lnSpc>
              <a:buClr>
                <a:schemeClr val="dk1"/>
              </a:buClr>
              <a:buSzPts val="1300"/>
              <a:buFont typeface="Nunito"/>
              <a:buAutoNum type="arabicPeriod"/>
            </a:pPr>
            <a:r>
              <a:rPr lang="en" sz="1733" b="1">
                <a:solidFill>
                  <a:schemeClr val="dk1"/>
                </a:solidFill>
                <a:highlight>
                  <a:srgbClr val="FFFFFF"/>
                </a:highlight>
                <a:latin typeface="Nunito"/>
                <a:ea typeface="Nunito"/>
                <a:cs typeface="Nunito"/>
                <a:sym typeface="Nunito"/>
              </a:rPr>
              <a:t>Merkel Root:</a:t>
            </a:r>
            <a:r>
              <a:rPr lang="en" sz="1733">
                <a:solidFill>
                  <a:schemeClr val="dk1"/>
                </a:solidFill>
                <a:highlight>
                  <a:srgbClr val="FFFFFF"/>
                </a:highlight>
                <a:latin typeface="Nunito"/>
                <a:ea typeface="Nunito"/>
                <a:cs typeface="Nunito"/>
                <a:sym typeface="Nunito"/>
              </a:rPr>
              <a:t> It is a type of data structure frame of different blocks of data. A </a:t>
            </a:r>
            <a:r>
              <a:rPr lang="en" sz="1733" u="sng">
                <a:solidFill>
                  <a:schemeClr val="dk1"/>
                </a:solidFill>
                <a:highlight>
                  <a:srgbClr val="FFFFFF"/>
                </a:highlight>
                <a:latin typeface="Nunito"/>
                <a:ea typeface="Nunito"/>
                <a:cs typeface="Nunito"/>
                <a:sym typeface="Nunito"/>
                <a:hlinkClick r:id="rId3">
                  <a:extLst>
                    <a:ext uri="{A12FA001-AC4F-418D-AE19-62706E023703}">
                      <ahyp:hlinkClr xmlns:ahyp="http://schemas.microsoft.com/office/drawing/2018/hyperlinkcolor" val="tx"/>
                    </a:ext>
                  </a:extLst>
                </a:hlinkClick>
              </a:rPr>
              <a:t>Merkle Tree</a:t>
            </a:r>
            <a:r>
              <a:rPr lang="en" sz="1733">
                <a:solidFill>
                  <a:schemeClr val="dk1"/>
                </a:solidFill>
                <a:highlight>
                  <a:srgbClr val="FFFFFF"/>
                </a:highlight>
                <a:latin typeface="Nunito"/>
                <a:ea typeface="Nunito"/>
                <a:cs typeface="Nunito"/>
                <a:sym typeface="Nunito"/>
              </a:rPr>
              <a:t> stores all the transactions in a block by producing a digital fingerprint of the entire transaction. It allows the users to verify whether a transaction can be included in a block or not.</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110"/>
          <p:cNvSpPr txBox="1">
            <a:spLocks noGrp="1"/>
          </p:cNvSpPr>
          <p:nvPr>
            <p:ph type="title"/>
          </p:nvPr>
        </p:nvSpPr>
        <p:spPr>
          <a:xfrm>
            <a:off x="415600" y="546667"/>
            <a:ext cx="11360800" cy="810400"/>
          </a:xfrm>
          <a:prstGeom prst="rect">
            <a:avLst/>
          </a:prstGeom>
        </p:spPr>
        <p:txBody>
          <a:bodyPr spcFirstLastPara="1" vert="horz" wrap="square" lIns="121900" tIns="121900" rIns="121900" bIns="121900" rtlCol="0" anchor="t" anchorCtr="0">
            <a:normAutofit fontScale="90000"/>
          </a:bodyPr>
          <a:lstStyle/>
          <a:p>
            <a:r>
              <a:rPr lang="en" b="1"/>
              <a:t>Types of Blocks</a:t>
            </a:r>
            <a:endParaRPr b="1"/>
          </a:p>
        </p:txBody>
      </p:sp>
      <p:sp>
        <p:nvSpPr>
          <p:cNvPr id="638" name="Google Shape;638;p110"/>
          <p:cNvSpPr txBox="1">
            <a:spLocks noGrp="1"/>
          </p:cNvSpPr>
          <p:nvPr>
            <p:ph type="body" idx="1"/>
          </p:nvPr>
        </p:nvSpPr>
        <p:spPr>
          <a:xfrm>
            <a:off x="415600" y="1639833"/>
            <a:ext cx="11360800" cy="4452000"/>
          </a:xfrm>
          <a:prstGeom prst="rect">
            <a:avLst/>
          </a:prstGeom>
        </p:spPr>
        <p:txBody>
          <a:bodyPr spcFirstLastPara="1" vert="horz" wrap="square" lIns="121900" tIns="121900" rIns="121900" bIns="121900" rtlCol="0" anchor="t" anchorCtr="0">
            <a:normAutofit/>
          </a:bodyPr>
          <a:lstStyle/>
          <a:p>
            <a:pPr marL="0" indent="0">
              <a:buNone/>
            </a:pPr>
            <a:r>
              <a:rPr lang="en">
                <a:solidFill>
                  <a:schemeClr val="dk1"/>
                </a:solidFill>
              </a:rPr>
              <a:t>There are three type of blocks in blockchain</a:t>
            </a:r>
            <a:endParaRPr>
              <a:solidFill>
                <a:schemeClr val="dk1"/>
              </a:solidFill>
            </a:endParaRPr>
          </a:p>
          <a:p>
            <a:pPr>
              <a:lnSpc>
                <a:spcPct val="150000"/>
              </a:lnSpc>
              <a:spcBef>
                <a:spcPts val="1600"/>
              </a:spcBef>
              <a:buClr>
                <a:schemeClr val="dk1"/>
              </a:buClr>
            </a:pPr>
            <a:r>
              <a:rPr lang="en">
                <a:solidFill>
                  <a:schemeClr val="dk1"/>
                </a:solidFill>
              </a:rPr>
              <a:t>Genesis Block</a:t>
            </a:r>
            <a:endParaRPr>
              <a:solidFill>
                <a:schemeClr val="dk1"/>
              </a:solidFill>
            </a:endParaRPr>
          </a:p>
          <a:p>
            <a:pPr>
              <a:lnSpc>
                <a:spcPct val="150000"/>
              </a:lnSpc>
              <a:buClr>
                <a:schemeClr val="dk1"/>
              </a:buClr>
            </a:pPr>
            <a:r>
              <a:rPr lang="en">
                <a:solidFill>
                  <a:schemeClr val="dk1"/>
                </a:solidFill>
              </a:rPr>
              <a:t>Valid Block</a:t>
            </a:r>
            <a:endParaRPr>
              <a:solidFill>
                <a:schemeClr val="dk1"/>
              </a:solidFill>
            </a:endParaRPr>
          </a:p>
          <a:p>
            <a:pPr>
              <a:lnSpc>
                <a:spcPct val="150000"/>
              </a:lnSpc>
              <a:buClr>
                <a:schemeClr val="dk1"/>
              </a:buClr>
            </a:pPr>
            <a:r>
              <a:rPr lang="en">
                <a:solidFill>
                  <a:schemeClr val="dk1"/>
                </a:solidFill>
              </a:rPr>
              <a:t>Orphan Block</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111"/>
          <p:cNvSpPr txBox="1">
            <a:spLocks noGrp="1"/>
          </p:cNvSpPr>
          <p:nvPr>
            <p:ph type="title"/>
          </p:nvPr>
        </p:nvSpPr>
        <p:spPr>
          <a:xfrm>
            <a:off x="415600" y="546667"/>
            <a:ext cx="11360800" cy="810400"/>
          </a:xfrm>
          <a:prstGeom prst="rect">
            <a:avLst/>
          </a:prstGeom>
        </p:spPr>
        <p:txBody>
          <a:bodyPr spcFirstLastPara="1" vert="horz" wrap="square" lIns="121900" tIns="121900" rIns="121900" bIns="121900" rtlCol="0" anchor="t" anchorCtr="0">
            <a:normAutofit fontScale="90000"/>
          </a:bodyPr>
          <a:lstStyle/>
          <a:p>
            <a:r>
              <a:rPr lang="en" b="1"/>
              <a:t>Genesis Block</a:t>
            </a:r>
            <a:endParaRPr b="1"/>
          </a:p>
        </p:txBody>
      </p:sp>
      <p:sp>
        <p:nvSpPr>
          <p:cNvPr id="644" name="Google Shape;644;p111"/>
          <p:cNvSpPr txBox="1">
            <a:spLocks noGrp="1"/>
          </p:cNvSpPr>
          <p:nvPr>
            <p:ph type="body" idx="1"/>
          </p:nvPr>
        </p:nvSpPr>
        <p:spPr>
          <a:xfrm>
            <a:off x="415600" y="1639833"/>
            <a:ext cx="11360800" cy="4452000"/>
          </a:xfrm>
          <a:prstGeom prst="rect">
            <a:avLst/>
          </a:prstGeom>
        </p:spPr>
        <p:txBody>
          <a:bodyPr spcFirstLastPara="1" vert="horz" wrap="square" lIns="121900" tIns="121900" rIns="121900" bIns="121900" rtlCol="0" anchor="t" anchorCtr="0">
            <a:noAutofit/>
          </a:bodyPr>
          <a:lstStyle/>
          <a:p>
            <a:pPr marL="0" indent="0" algn="just">
              <a:lnSpc>
                <a:spcPct val="175000"/>
              </a:lnSpc>
              <a:buClr>
                <a:schemeClr val="dk1"/>
              </a:buClr>
              <a:buSzPts val="1100"/>
              <a:buNone/>
            </a:pPr>
            <a:r>
              <a:rPr lang="en" sz="2267">
                <a:solidFill>
                  <a:schemeClr val="dk1"/>
                </a:solidFill>
                <a:latin typeface="Roboto"/>
                <a:ea typeface="Roboto"/>
                <a:cs typeface="Roboto"/>
                <a:sym typeface="Roboto"/>
              </a:rPr>
              <a:t>The genesis block holds a pivotal role as the initial block in a blockchain network. It is manually crafted by the developers, setting the groundwork for the entire system. This first block establishes crucial parameters, such as network settings and token distribution, and does not reference any previous blocks. Subsequent blocks are added to the chain, linking back to the genesis block's cryptographic hash, ensuring the integrity and immutability of the blockchain. In essence, the genesis block serves as the starting point from which the entire blockchain network evolves and grows.</a:t>
            </a:r>
            <a:endParaRPr sz="2267">
              <a:solidFill>
                <a:schemeClr val="dk1"/>
              </a:solidFill>
              <a:latin typeface="Roboto"/>
              <a:ea typeface="Roboto"/>
              <a:cs typeface="Roboto"/>
              <a:sym typeface="Roboto"/>
            </a:endParaRPr>
          </a:p>
          <a:p>
            <a:pPr marL="0" indent="0" algn="just">
              <a:lnSpc>
                <a:spcPct val="175000"/>
              </a:lnSpc>
              <a:buClr>
                <a:schemeClr val="dk1"/>
              </a:buClr>
              <a:buSzPts val="1100"/>
              <a:buNone/>
            </a:pPr>
            <a:endParaRPr sz="2267">
              <a:solidFill>
                <a:schemeClr val="dk1"/>
              </a:solidFill>
              <a:latin typeface="Roboto"/>
              <a:ea typeface="Roboto"/>
              <a:cs typeface="Roboto"/>
              <a:sym typeface="Roboto"/>
            </a:endParaRPr>
          </a:p>
          <a:p>
            <a:pPr marL="0" indent="0" algn="just">
              <a:spcAft>
                <a:spcPts val="1600"/>
              </a:spcAft>
              <a:buNone/>
            </a:pPr>
            <a:endParaRPr sz="3067">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112"/>
          <p:cNvSpPr txBox="1">
            <a:spLocks noGrp="1"/>
          </p:cNvSpPr>
          <p:nvPr>
            <p:ph type="title"/>
          </p:nvPr>
        </p:nvSpPr>
        <p:spPr>
          <a:xfrm>
            <a:off x="415600" y="546667"/>
            <a:ext cx="11360800" cy="810400"/>
          </a:xfrm>
          <a:prstGeom prst="rect">
            <a:avLst/>
          </a:prstGeom>
        </p:spPr>
        <p:txBody>
          <a:bodyPr spcFirstLastPara="1" vert="horz" wrap="square" lIns="121900" tIns="121900" rIns="121900" bIns="121900" rtlCol="0" anchor="t" anchorCtr="0">
            <a:normAutofit fontScale="90000"/>
          </a:bodyPr>
          <a:lstStyle/>
          <a:p>
            <a:r>
              <a:rPr lang="en" b="1"/>
              <a:t>Valid Block</a:t>
            </a:r>
            <a:endParaRPr b="1"/>
          </a:p>
        </p:txBody>
      </p:sp>
      <p:sp>
        <p:nvSpPr>
          <p:cNvPr id="650" name="Google Shape;650;p112"/>
          <p:cNvSpPr txBox="1">
            <a:spLocks noGrp="1"/>
          </p:cNvSpPr>
          <p:nvPr>
            <p:ph type="body" idx="1"/>
          </p:nvPr>
        </p:nvSpPr>
        <p:spPr>
          <a:xfrm>
            <a:off x="415600" y="1639833"/>
            <a:ext cx="11360800" cy="4452000"/>
          </a:xfrm>
          <a:prstGeom prst="rect">
            <a:avLst/>
          </a:prstGeom>
        </p:spPr>
        <p:txBody>
          <a:bodyPr spcFirstLastPara="1" vert="horz" wrap="square" lIns="121900" tIns="121900" rIns="121900" bIns="121900" rtlCol="0" anchor="t" anchorCtr="0">
            <a:normAutofit/>
          </a:bodyPr>
          <a:lstStyle/>
          <a:p>
            <a:pPr marL="507987" indent="0" algn="just">
              <a:lnSpc>
                <a:spcPct val="177777"/>
              </a:lnSpc>
              <a:buClr>
                <a:schemeClr val="dk1"/>
              </a:buClr>
              <a:buSzPts val="1100"/>
              <a:buNone/>
            </a:pPr>
            <a:r>
              <a:rPr lang="en" sz="1933">
                <a:solidFill>
                  <a:schemeClr val="dk1"/>
                </a:solidFill>
                <a:highlight>
                  <a:srgbClr val="FFFFFF"/>
                </a:highlight>
                <a:latin typeface="Roboto"/>
                <a:ea typeface="Roboto"/>
                <a:cs typeface="Roboto"/>
                <a:sym typeface="Roboto"/>
              </a:rPr>
              <a:t>Valid blocks are all such blocks that have been mined and added to the blockchain. To get a valid block, each mined block must get network permission and report as a block that has solved the given cryptographic puzzle. </a:t>
            </a:r>
            <a:endParaRPr sz="1933">
              <a:solidFill>
                <a:schemeClr val="dk1"/>
              </a:solidFill>
              <a:highlight>
                <a:srgbClr val="FFFFFF"/>
              </a:highlight>
              <a:latin typeface="Roboto"/>
              <a:ea typeface="Roboto"/>
              <a:cs typeface="Roboto"/>
              <a:sym typeface="Roboto"/>
            </a:endParaRPr>
          </a:p>
          <a:p>
            <a:pPr marL="507987" indent="0" algn="just">
              <a:lnSpc>
                <a:spcPct val="177777"/>
              </a:lnSpc>
              <a:buClr>
                <a:schemeClr val="dk1"/>
              </a:buClr>
              <a:buSzPts val="1100"/>
              <a:buNone/>
            </a:pPr>
            <a:r>
              <a:rPr lang="en" sz="1933">
                <a:solidFill>
                  <a:schemeClr val="dk1"/>
                </a:solidFill>
                <a:highlight>
                  <a:srgbClr val="FFFFFF"/>
                </a:highlight>
                <a:latin typeface="Roboto"/>
                <a:ea typeface="Roboto"/>
                <a:cs typeface="Roboto"/>
                <a:sym typeface="Roboto"/>
              </a:rPr>
              <a:t> </a:t>
            </a:r>
            <a:endParaRPr sz="1933">
              <a:solidFill>
                <a:schemeClr val="dk1"/>
              </a:solidFill>
              <a:highlight>
                <a:srgbClr val="FFFFFF"/>
              </a:highlight>
              <a:latin typeface="Roboto"/>
              <a:ea typeface="Roboto"/>
              <a:cs typeface="Roboto"/>
              <a:sym typeface="Roboto"/>
            </a:endParaRPr>
          </a:p>
          <a:p>
            <a:pPr marL="507987" indent="0" algn="just">
              <a:lnSpc>
                <a:spcPct val="177777"/>
              </a:lnSpc>
              <a:buNone/>
            </a:pPr>
            <a:r>
              <a:rPr lang="en" sz="1933">
                <a:solidFill>
                  <a:schemeClr val="dk1"/>
                </a:solidFill>
                <a:highlight>
                  <a:srgbClr val="FFFFFF"/>
                </a:highlight>
                <a:latin typeface="Roboto"/>
                <a:ea typeface="Roboto"/>
                <a:cs typeface="Roboto"/>
                <a:sym typeface="Roboto"/>
              </a:rPr>
              <a:t>When the network reaches consensus, the block is added to the blockchain and distributed to all nodes. As a result, every node in the network has a new block and acts as a verification point for it. All the operations and transactions that are happening in any cryptocurrency are allowed by these blocks.</a:t>
            </a:r>
            <a:endParaRPr sz="2533"/>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113"/>
          <p:cNvSpPr txBox="1">
            <a:spLocks noGrp="1"/>
          </p:cNvSpPr>
          <p:nvPr>
            <p:ph type="title"/>
          </p:nvPr>
        </p:nvSpPr>
        <p:spPr>
          <a:xfrm>
            <a:off x="415600" y="546667"/>
            <a:ext cx="11360800" cy="810400"/>
          </a:xfrm>
          <a:prstGeom prst="rect">
            <a:avLst/>
          </a:prstGeom>
        </p:spPr>
        <p:txBody>
          <a:bodyPr spcFirstLastPara="1" vert="horz" wrap="square" lIns="121900" tIns="121900" rIns="121900" bIns="121900" rtlCol="0" anchor="t" anchorCtr="0">
            <a:normAutofit fontScale="90000"/>
          </a:bodyPr>
          <a:lstStyle/>
          <a:p>
            <a:r>
              <a:rPr lang="en" b="1"/>
              <a:t>Orphan Block</a:t>
            </a:r>
            <a:endParaRPr b="1"/>
          </a:p>
        </p:txBody>
      </p:sp>
      <p:sp>
        <p:nvSpPr>
          <p:cNvPr id="656" name="Google Shape;656;p113"/>
          <p:cNvSpPr txBox="1">
            <a:spLocks noGrp="1"/>
          </p:cNvSpPr>
          <p:nvPr>
            <p:ph type="body" idx="1"/>
          </p:nvPr>
        </p:nvSpPr>
        <p:spPr>
          <a:xfrm>
            <a:off x="415600" y="1639833"/>
            <a:ext cx="11360800" cy="4452000"/>
          </a:xfrm>
          <a:prstGeom prst="rect">
            <a:avLst/>
          </a:prstGeom>
        </p:spPr>
        <p:txBody>
          <a:bodyPr spcFirstLastPara="1" vert="horz" wrap="square" lIns="121900" tIns="121900" rIns="121900" bIns="121900" rtlCol="0" anchor="t" anchorCtr="0">
            <a:noAutofit/>
          </a:bodyPr>
          <a:lstStyle/>
          <a:p>
            <a:pPr marL="507987" indent="0" algn="just">
              <a:lnSpc>
                <a:spcPct val="177777"/>
              </a:lnSpc>
              <a:buClr>
                <a:schemeClr val="dk1"/>
              </a:buClr>
              <a:buSzPts val="1100"/>
              <a:buNone/>
            </a:pPr>
            <a:r>
              <a:rPr lang="en" sz="1933">
                <a:solidFill>
                  <a:schemeClr val="dk1"/>
                </a:solidFill>
                <a:latin typeface="Roboto"/>
                <a:ea typeface="Roboto"/>
                <a:cs typeface="Roboto"/>
                <a:sym typeface="Roboto"/>
              </a:rPr>
              <a:t>Orphan blocks are also correctly named as these blocks are not part of the blockchain network. These are generally generated by two miners mixing blocks at almost the same time, but they can also be caused by an attacker with enough computational power with the intention of reversing any transaction. </a:t>
            </a:r>
            <a:endParaRPr sz="1933">
              <a:solidFill>
                <a:schemeClr val="dk1"/>
              </a:solidFill>
              <a:latin typeface="Roboto"/>
              <a:ea typeface="Roboto"/>
              <a:cs typeface="Roboto"/>
              <a:sym typeface="Roboto"/>
            </a:endParaRPr>
          </a:p>
          <a:p>
            <a:pPr marL="507987" indent="0" algn="just">
              <a:lnSpc>
                <a:spcPct val="177777"/>
              </a:lnSpc>
              <a:buNone/>
            </a:pPr>
            <a:r>
              <a:rPr lang="en" sz="1933">
                <a:solidFill>
                  <a:schemeClr val="dk1"/>
                </a:solidFill>
                <a:latin typeface="Roboto"/>
                <a:ea typeface="Roboto"/>
                <a:cs typeface="Roboto"/>
                <a:sym typeface="Roboto"/>
              </a:rPr>
              <a:t>The network consensus procedure is invoked at this point to determine which blocks will be verified (included in the chain) and which will be orphaned. Usually, the longest blockchain that contains the most amount of transactions and information will generally be decided on. Hence, making the security process very simple.</a:t>
            </a:r>
            <a:endParaRPr sz="1933">
              <a:solidFill>
                <a:schemeClr val="dk1"/>
              </a:solidFill>
              <a:latin typeface="Roboto"/>
              <a:ea typeface="Roboto"/>
              <a:cs typeface="Roboto"/>
              <a:sym typeface="Roboto"/>
            </a:endParaRPr>
          </a:p>
          <a:p>
            <a:pPr marL="507987" indent="0" algn="just">
              <a:lnSpc>
                <a:spcPct val="177777"/>
              </a:lnSpc>
              <a:buNone/>
            </a:pPr>
            <a:r>
              <a:rPr lang="en" sz="1933">
                <a:solidFill>
                  <a:schemeClr val="dk1"/>
                </a:solidFill>
                <a:latin typeface="Roboto"/>
                <a:ea typeface="Roboto"/>
                <a:cs typeface="Roboto"/>
                <a:sym typeface="Roboto"/>
              </a:rPr>
              <a:t>Link: </a:t>
            </a:r>
            <a:r>
              <a:rPr lang="en" sz="1933" u="sng">
                <a:solidFill>
                  <a:schemeClr val="hlink"/>
                </a:solidFill>
                <a:latin typeface="Roboto"/>
                <a:ea typeface="Roboto"/>
                <a:cs typeface="Roboto"/>
                <a:sym typeface="Roboto"/>
                <a:hlinkClick r:id="rId3"/>
              </a:rPr>
              <a:t>https://www.analyticssteps.com/blogs/3-types-block-blockchain-network</a:t>
            </a:r>
            <a:endParaRPr sz="1933">
              <a:solidFill>
                <a:schemeClr val="dk1"/>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pic>
        <p:nvPicPr>
          <p:cNvPr id="661" name="Google Shape;661;p114"/>
          <p:cNvPicPr preferRelativeResize="0"/>
          <p:nvPr/>
        </p:nvPicPr>
        <p:blipFill>
          <a:blip r:embed="rId3">
            <a:alphaModFix/>
          </a:blip>
          <a:stretch>
            <a:fillRect/>
          </a:stretch>
        </p:blipFill>
        <p:spPr>
          <a:xfrm>
            <a:off x="1227634" y="85367"/>
            <a:ext cx="10278265" cy="662086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1819</Words>
  <Application>Microsoft Office PowerPoint</Application>
  <PresentationFormat>Widescreen</PresentationFormat>
  <Paragraphs>98</Paragraphs>
  <Slides>36</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Aptos</vt:lpstr>
      <vt:lpstr>Aptos Display</vt:lpstr>
      <vt:lpstr>Arial</vt:lpstr>
      <vt:lpstr>Calibri</vt:lpstr>
      <vt:lpstr>Nunito</vt:lpstr>
      <vt:lpstr>Roboto</vt:lpstr>
      <vt:lpstr>Office Theme</vt:lpstr>
      <vt:lpstr>Properties of Blockchain</vt:lpstr>
      <vt:lpstr>Properties of Blockchain</vt:lpstr>
      <vt:lpstr>1-Distributed Ledger</vt:lpstr>
      <vt:lpstr>2-Fault Tolerance</vt:lpstr>
      <vt:lpstr>3-Attack Resistance </vt:lpstr>
      <vt:lpstr>4-Remove Intermediaries </vt:lpstr>
      <vt:lpstr>5-Consensus Protocol </vt:lpstr>
      <vt:lpstr>6-Faster Settlement</vt:lpstr>
      <vt:lpstr>7-Low Transaction Fee</vt:lpstr>
      <vt:lpstr>8-Transparency </vt:lpstr>
      <vt:lpstr>9-Immutability</vt:lpstr>
      <vt:lpstr>10-Irreversible transactions </vt:lpstr>
      <vt:lpstr>11-Trustless Systems </vt:lpstr>
      <vt:lpstr>12-Availability </vt:lpstr>
      <vt:lpstr>13-Empower Individuals </vt:lpstr>
      <vt:lpstr>14-Chronological order of transactions</vt:lpstr>
      <vt:lpstr>15-Timestamped</vt:lpstr>
      <vt:lpstr>16-Sealed with cryptography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Blocks in Blockchain</vt:lpstr>
      <vt:lpstr>How does Blocks works</vt:lpstr>
      <vt:lpstr>PowerPoint Presentation</vt:lpstr>
      <vt:lpstr>Types of Blocks</vt:lpstr>
      <vt:lpstr>Genesis Block</vt:lpstr>
      <vt:lpstr>Valid Block</vt:lpstr>
      <vt:lpstr>Orphan Block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Sayed Qaiser Ali Shah</dc:creator>
  <cp:lastModifiedBy>Dr Sayed Qaiser Ali Shah</cp:lastModifiedBy>
  <cp:revision>3</cp:revision>
  <dcterms:created xsi:type="dcterms:W3CDTF">2025-08-26T06:13:42Z</dcterms:created>
  <dcterms:modified xsi:type="dcterms:W3CDTF">2026-01-22T05:01:28Z</dcterms:modified>
</cp:coreProperties>
</file>