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embeddedFontLst>
    <p:embeddedFont>
      <p:font typeface="Host Grotesk Light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Host Grotesk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ostGroteskLight-bold.fntdata"/><Relationship Id="rId25" Type="http://schemas.openxmlformats.org/officeDocument/2006/relationships/font" Target="fonts/HostGroteskLight-regular.fntdata"/><Relationship Id="rId28" Type="http://schemas.openxmlformats.org/officeDocument/2006/relationships/font" Target="fonts/HostGroteskLight-boldItalic.fntdata"/><Relationship Id="rId27" Type="http://schemas.openxmlformats.org/officeDocument/2006/relationships/font" Target="fonts/HostGrotesk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7.xml"/><Relationship Id="rId33" Type="http://schemas.openxmlformats.org/officeDocument/2006/relationships/font" Target="fonts/HostGroteskMedium-regular.fntdata"/><Relationship Id="rId10" Type="http://schemas.openxmlformats.org/officeDocument/2006/relationships/slide" Target="slides/slide6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9.xml"/><Relationship Id="rId35" Type="http://schemas.openxmlformats.org/officeDocument/2006/relationships/font" Target="fonts/HostGroteskMedium-italic.fntdata"/><Relationship Id="rId12" Type="http://schemas.openxmlformats.org/officeDocument/2006/relationships/slide" Target="slides/slide8.xml"/><Relationship Id="rId34" Type="http://schemas.openxmlformats.org/officeDocument/2006/relationships/font" Target="fonts/HostGroteskMedium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HostGroteskMedium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de7c72ec7_2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dde7c72ec7_2_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de7c72ec7_2_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de7c72ec7_2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dde7c72ec7_2_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de7c72ec7_2_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de7c72ec7_2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dde7c72ec7_2_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dde7c72ec7_2_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de7c72ec7_2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dde7c72ec7_2_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dde7c72ec7_2_1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de7c72ec7_2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dde7c72ec7_2_1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dde7c72ec7_2_1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de7c72ec7_2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dde7c72ec7_2_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dde7c72ec7_2_1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de7c72ec7_2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dde7c72ec7_2_1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dde7c72ec7_2_1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de7c72ec7_2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dde7c72ec7_2_1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dde7c72ec7_2_1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de7c72ec7_2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dde7c72ec7_2_2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dde7c72ec7_2_2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de7c72ec7_2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dde7c72ec7_2_2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dde7c72ec7_2_2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de7c72ec7_2_2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g3dde7c72ec7_2_2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dde7c72ec7_2_2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de7c72ec7_2_2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dde7c72ec7_2_2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dde7c72ec7_2_2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hyperlink" Target="http://bayut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5.png"/><Relationship Id="rId4" Type="http://schemas.openxmlformats.org/officeDocument/2006/relationships/image" Target="../media/image40.png"/><Relationship Id="rId5" Type="http://schemas.openxmlformats.org/officeDocument/2006/relationships/image" Target="../media/image12.png"/><Relationship Id="rId6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4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19.png"/><Relationship Id="rId5" Type="http://schemas.openxmlformats.org/officeDocument/2006/relationships/image" Target="../media/image41.png"/><Relationship Id="rId6" Type="http://schemas.openxmlformats.org/officeDocument/2006/relationships/image" Target="../media/image56.png"/><Relationship Id="rId7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Relationship Id="rId4" Type="http://schemas.openxmlformats.org/officeDocument/2006/relationships/image" Target="../media/image19.png"/><Relationship Id="rId5" Type="http://schemas.openxmlformats.org/officeDocument/2006/relationships/image" Target="../media/image41.png"/><Relationship Id="rId6" Type="http://schemas.openxmlformats.org/officeDocument/2006/relationships/image" Target="../media/image56.png"/><Relationship Id="rId7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0.png"/><Relationship Id="rId4" Type="http://schemas.openxmlformats.org/officeDocument/2006/relationships/image" Target="../media/image6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3550" y="0"/>
            <a:ext cx="36004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/>
          <p:nvPr/>
        </p:nvSpPr>
        <p:spPr>
          <a:xfrm>
            <a:off x="496119" y="1730127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Software Testing of </a:t>
            </a:r>
            <a:r>
              <a:rPr b="0" i="0" lang="en-US" sz="2750" u="sng" cap="none" strike="noStrike">
                <a:solidFill>
                  <a:schemeClr val="hlink"/>
                </a:solidFill>
                <a:latin typeface="Host Grotesk Medium"/>
                <a:ea typeface="Host Grotesk Medium"/>
                <a:cs typeface="Host Grotesk Medium"/>
                <a:sym typeface="Host Grotesk Medium"/>
                <a:hlinkClick r:id="rId4"/>
              </a:rPr>
              <a:t>Bayut.com</a:t>
            </a:r>
            <a:endParaRPr b="0" i="0" sz="2750" u="none" cap="none" strike="noStrike"/>
          </a:p>
        </p:txBody>
      </p:sp>
      <p:sp>
        <p:nvSpPr>
          <p:cNvPr id="66" name="Google Shape;66;p15"/>
          <p:cNvSpPr/>
          <p:nvPr/>
        </p:nvSpPr>
        <p:spPr>
          <a:xfrm>
            <a:off x="496119" y="2828702"/>
            <a:ext cx="472276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Semester Project: Software Testing Course</a:t>
            </a:r>
            <a:endParaRPr b="0" i="0" sz="1100" u="none" cap="none" strike="noStrike"/>
          </a:p>
        </p:txBody>
      </p:sp>
      <p:sp>
        <p:nvSpPr>
          <p:cNvPr id="67" name="Google Shape;67;p15"/>
          <p:cNvSpPr/>
          <p:nvPr/>
        </p:nvSpPr>
        <p:spPr>
          <a:xfrm>
            <a:off x="496119" y="3200772"/>
            <a:ext cx="472276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Uswa Zainab, Wareesha Khawar, Arshah Lafees, Talal Jamil 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496119" y="972443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What is Bayut?</a:t>
            </a:r>
            <a:endParaRPr b="0" i="0" sz="2750" u="none" cap="none" strike="noStrike"/>
          </a:p>
        </p:txBody>
      </p:sp>
      <p:pic>
        <p:nvPicPr>
          <p:cNvPr descr="preencoded.png" id="74" name="Google Shape;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87500"/>
            <a:ext cx="2628230" cy="132858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/>
          <p:nvPr/>
        </p:nvSpPr>
        <p:spPr>
          <a:xfrm>
            <a:off x="3474988" y="1958355"/>
            <a:ext cx="22526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UAE's #1 Property Platform</a:t>
            </a:r>
            <a:endParaRPr b="0" i="0" sz="1350" u="none" cap="none" strike="noStrike"/>
          </a:p>
        </p:txBody>
      </p:sp>
      <p:sp>
        <p:nvSpPr>
          <p:cNvPr id="76" name="Google Shape;76;p16"/>
          <p:cNvSpPr/>
          <p:nvPr/>
        </p:nvSpPr>
        <p:spPr>
          <a:xfrm>
            <a:off x="3474988" y="2321570"/>
            <a:ext cx="5177582" cy="637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Bayut is the leading property search platform in the UAE, allowing users to search, buy, and rent properties across the country. Available on both Web and Mobile (iOS &amp; Android), it serves millions of users with a rich set of features.</a:t>
            </a:r>
            <a:endParaRPr b="0" i="0" sz="1100" u="none" cap="none" strike="noStrike"/>
          </a:p>
        </p:txBody>
      </p:sp>
      <p:sp>
        <p:nvSpPr>
          <p:cNvPr id="77" name="Google Shape;77;p16"/>
          <p:cNvSpPr/>
          <p:nvPr/>
        </p:nvSpPr>
        <p:spPr>
          <a:xfrm>
            <a:off x="496119" y="3435028"/>
            <a:ext cx="1931566" cy="735955"/>
          </a:xfrm>
          <a:prstGeom prst="roundRect">
            <a:avLst>
              <a:gd fmla="val 8090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642640" y="3581549"/>
            <a:ext cx="16385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🔍</a:t>
            </a: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 Search Filters</a:t>
            </a:r>
            <a:endParaRPr b="0" i="0" sz="1350" u="none" cap="none" strike="noStrike"/>
          </a:p>
        </p:txBody>
      </p:sp>
      <p:sp>
        <p:nvSpPr>
          <p:cNvPr id="79" name="Google Shape;79;p16"/>
          <p:cNvSpPr/>
          <p:nvPr/>
        </p:nvSpPr>
        <p:spPr>
          <a:xfrm>
            <a:off x="2569443" y="3435028"/>
            <a:ext cx="1931640" cy="735955"/>
          </a:xfrm>
          <a:prstGeom prst="roundRect">
            <a:avLst>
              <a:gd fmla="val 8090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2715964" y="3581549"/>
            <a:ext cx="163859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🗺️</a:t>
            </a: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 Map View</a:t>
            </a:r>
            <a:endParaRPr b="0" i="0" sz="1350" u="none" cap="none" strike="noStrike"/>
          </a:p>
        </p:txBody>
      </p:sp>
      <p:sp>
        <p:nvSpPr>
          <p:cNvPr id="81" name="Google Shape;81;p16"/>
          <p:cNvSpPr/>
          <p:nvPr/>
        </p:nvSpPr>
        <p:spPr>
          <a:xfrm>
            <a:off x="4642842" y="3435028"/>
            <a:ext cx="1931640" cy="735955"/>
          </a:xfrm>
          <a:prstGeom prst="roundRect">
            <a:avLst>
              <a:gd fmla="val 8090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4789363" y="3581549"/>
            <a:ext cx="163859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📞</a:t>
            </a: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 Agent Contact</a:t>
            </a:r>
            <a:endParaRPr b="0" i="0" sz="1350" u="none" cap="none" strike="noStrike"/>
          </a:p>
        </p:txBody>
      </p:sp>
      <p:sp>
        <p:nvSpPr>
          <p:cNvPr id="83" name="Google Shape;83;p16"/>
          <p:cNvSpPr/>
          <p:nvPr/>
        </p:nvSpPr>
        <p:spPr>
          <a:xfrm>
            <a:off x="6716241" y="3435028"/>
            <a:ext cx="1931640" cy="735955"/>
          </a:xfrm>
          <a:prstGeom prst="roundRect">
            <a:avLst>
              <a:gd fmla="val 8090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6862763" y="3581549"/>
            <a:ext cx="1638598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🧮</a:t>
            </a: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 Mortgage Calculator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0" name="Google Shape;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003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186" y="1197769"/>
            <a:ext cx="1252537" cy="274796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/>
          <p:nvPr/>
        </p:nvSpPr>
        <p:spPr>
          <a:xfrm>
            <a:off x="2782119" y="529754"/>
            <a:ext cx="3012504" cy="37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350"/>
              <a:buFont typeface="Host Grotesk Medium"/>
              <a:buNone/>
            </a:pPr>
            <a:r>
              <a:rPr b="0" i="0" lang="en-US" sz="23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Why We Chose Bayut</a:t>
            </a:r>
            <a:endParaRPr b="0" i="0" sz="2350" u="none" cap="none" strike="noStrike"/>
          </a:p>
        </p:txBody>
      </p:sp>
      <p:sp>
        <p:nvSpPr>
          <p:cNvPr id="93" name="Google Shape;93;p17"/>
          <p:cNvSpPr/>
          <p:nvPr/>
        </p:nvSpPr>
        <p:spPr>
          <a:xfrm>
            <a:off x="2782119" y="1059879"/>
            <a:ext cx="5865763" cy="853455"/>
          </a:xfrm>
          <a:prstGeom prst="roundRect">
            <a:avLst>
              <a:gd fmla="val 8036" name="adj"/>
            </a:avLst>
          </a:prstGeom>
          <a:solidFill>
            <a:srgbClr val="FAF9F5"/>
          </a:solidFill>
          <a:ln cap="flat" cmpd="sng" w="1427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7831" y="1059879"/>
            <a:ext cx="57150" cy="85345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2959745" y="1194643"/>
            <a:ext cx="1580108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Host Grotesk Medium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Real-World Application</a:t>
            </a:r>
            <a:endParaRPr b="0" i="0" sz="1150" u="none" cap="none" strike="noStrike"/>
          </a:p>
        </p:txBody>
      </p:sp>
      <p:sp>
        <p:nvSpPr>
          <p:cNvPr id="96" name="Google Shape;96;p17"/>
          <p:cNvSpPr/>
          <p:nvPr/>
        </p:nvSpPr>
        <p:spPr>
          <a:xfrm>
            <a:off x="2959745" y="1444303"/>
            <a:ext cx="5553373" cy="3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 live platform with multiple complex features to test — providing authentic testing scenarios beyond classroom examples.</a:t>
            </a:r>
            <a:endParaRPr b="0" i="0" sz="900" u="none" cap="none" strike="noStrike"/>
          </a:p>
        </p:txBody>
      </p:sp>
      <p:sp>
        <p:nvSpPr>
          <p:cNvPr id="97" name="Google Shape;97;p17"/>
          <p:cNvSpPr/>
          <p:nvPr/>
        </p:nvSpPr>
        <p:spPr>
          <a:xfrm>
            <a:off x="2782119" y="2015728"/>
            <a:ext cx="5865763" cy="853455"/>
          </a:xfrm>
          <a:prstGeom prst="roundRect">
            <a:avLst>
              <a:gd fmla="val 8036" name="adj"/>
            </a:avLst>
          </a:prstGeom>
          <a:solidFill>
            <a:srgbClr val="FAF9F5"/>
          </a:solidFill>
          <a:ln cap="flat" cmpd="sng" w="1427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7831" y="2015728"/>
            <a:ext cx="57150" cy="85345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2959745" y="2150492"/>
            <a:ext cx="1506215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Host Grotesk Medium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Feature Variety</a:t>
            </a:r>
            <a:endParaRPr b="0" i="0" sz="1150" u="none" cap="none" strike="noStrike"/>
          </a:p>
        </p:txBody>
      </p:sp>
      <p:sp>
        <p:nvSpPr>
          <p:cNvPr id="100" name="Google Shape;100;p17"/>
          <p:cNvSpPr/>
          <p:nvPr/>
        </p:nvSpPr>
        <p:spPr>
          <a:xfrm>
            <a:off x="2959745" y="2400151"/>
            <a:ext cx="5553373" cy="3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Forms, filters, login, and a mortgage calculator offer a rich variety of elements ideal for applying different testing techniques.</a:t>
            </a:r>
            <a:endParaRPr b="0" i="0" sz="900" u="none" cap="none" strike="noStrike"/>
          </a:p>
        </p:txBody>
      </p:sp>
      <p:sp>
        <p:nvSpPr>
          <p:cNvPr id="101" name="Google Shape;101;p17"/>
          <p:cNvSpPr/>
          <p:nvPr/>
        </p:nvSpPr>
        <p:spPr>
          <a:xfrm>
            <a:off x="2782119" y="2971577"/>
            <a:ext cx="5865763" cy="853455"/>
          </a:xfrm>
          <a:prstGeom prst="roundRect">
            <a:avLst>
              <a:gd fmla="val 8036" name="adj"/>
            </a:avLst>
          </a:prstGeom>
          <a:solidFill>
            <a:srgbClr val="FAF9F5"/>
          </a:solidFill>
          <a:ln cap="flat" cmpd="sng" w="1427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7831" y="2971577"/>
            <a:ext cx="57150" cy="85345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/>
          <p:nvPr/>
        </p:nvSpPr>
        <p:spPr>
          <a:xfrm>
            <a:off x="2959745" y="3106341"/>
            <a:ext cx="1506215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Host Grotesk Medium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High User Impact</a:t>
            </a:r>
            <a:endParaRPr b="0" i="0" sz="1150" u="none" cap="none" strike="noStrike"/>
          </a:p>
        </p:txBody>
      </p:sp>
      <p:sp>
        <p:nvSpPr>
          <p:cNvPr id="104" name="Google Shape;104;p17"/>
          <p:cNvSpPr/>
          <p:nvPr/>
        </p:nvSpPr>
        <p:spPr>
          <a:xfrm>
            <a:off x="2959745" y="3356000"/>
            <a:ext cx="5553373" cy="3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Used by millions of people across the UAE — software quality directly affects real users, making testing critically important.</a:t>
            </a:r>
            <a:endParaRPr b="0" i="0" sz="900" u="none" cap="none" strike="noStrike"/>
          </a:p>
        </p:txBody>
      </p:sp>
      <p:sp>
        <p:nvSpPr>
          <p:cNvPr id="105" name="Google Shape;105;p17"/>
          <p:cNvSpPr/>
          <p:nvPr/>
        </p:nvSpPr>
        <p:spPr>
          <a:xfrm>
            <a:off x="2782119" y="3927425"/>
            <a:ext cx="5865763" cy="686321"/>
          </a:xfrm>
          <a:prstGeom prst="roundRect">
            <a:avLst>
              <a:gd fmla="val 9992" name="adj"/>
            </a:avLst>
          </a:prstGeom>
          <a:solidFill>
            <a:srgbClr val="FAF9F5"/>
          </a:solidFill>
          <a:ln cap="flat" cmpd="sng" w="1427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67831" y="3927425"/>
            <a:ext cx="57150" cy="68632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2959745" y="4062189"/>
            <a:ext cx="1506215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Host Grotesk Medium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Full Coverage</a:t>
            </a:r>
            <a:endParaRPr b="0" i="0" sz="1150" u="none" cap="none" strike="noStrike"/>
          </a:p>
        </p:txBody>
      </p:sp>
      <p:sp>
        <p:nvSpPr>
          <p:cNvPr id="108" name="Google Shape;108;p17"/>
          <p:cNvSpPr/>
          <p:nvPr/>
        </p:nvSpPr>
        <p:spPr>
          <a:xfrm>
            <a:off x="2959745" y="4311848"/>
            <a:ext cx="5553373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Bayut covers all testing levels studied in class — from unit-level logic to full system-level integration.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496119" y="478706"/>
            <a:ext cx="2658070" cy="33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050"/>
              <a:buFont typeface="Host Grotesk Medium"/>
              <a:buNone/>
            </a:pPr>
            <a:r>
              <a:rPr b="0" i="0" lang="en-US" sz="20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Testing Strategy</a:t>
            </a:r>
            <a:endParaRPr b="0" i="0" sz="2050" u="none" cap="none" strike="noStrike"/>
          </a:p>
        </p:txBody>
      </p:sp>
      <p:sp>
        <p:nvSpPr>
          <p:cNvPr id="115" name="Google Shape;115;p18"/>
          <p:cNvSpPr/>
          <p:nvPr/>
        </p:nvSpPr>
        <p:spPr>
          <a:xfrm>
            <a:off x="496119" y="970434"/>
            <a:ext cx="8151763" cy="279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We followed a structured approach covering all testing levels — starting from the unit level and moving up to the system level. We used both </a:t>
            </a:r>
            <a:r>
              <a:rPr b="1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White-box</a:t>
            </a: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Black-box</a:t>
            </a: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techniques, and all testing was performed manually.</a:t>
            </a:r>
            <a:endParaRPr b="0" i="0" sz="800" u="none" cap="none" strike="noStrike"/>
          </a:p>
        </p:txBody>
      </p:sp>
      <p:pic>
        <p:nvPicPr>
          <p:cNvPr descr="preencoded.png"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4481" y="1339155"/>
            <a:ext cx="6015038" cy="29569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4507793" y="1607768"/>
            <a:ext cx="1375599" cy="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Host Grotesk Medium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Integration</a:t>
            </a:r>
            <a:endParaRPr b="0" i="0" sz="1050" u="none" cap="none" strike="noStrike"/>
          </a:p>
        </p:txBody>
      </p:sp>
      <p:sp>
        <p:nvSpPr>
          <p:cNvPr id="118" name="Google Shape;118;p18"/>
          <p:cNvSpPr/>
          <p:nvPr/>
        </p:nvSpPr>
        <p:spPr>
          <a:xfrm>
            <a:off x="4507793" y="1828628"/>
            <a:ext cx="2781766" cy="120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Combine modules</a:t>
            </a:r>
            <a:endParaRPr b="0" i="0" sz="850" u="none" cap="none" strike="noStrike"/>
          </a:p>
        </p:txBody>
      </p:sp>
      <p:pic>
        <p:nvPicPr>
          <p:cNvPr descr="preencoded.png" id="119" name="Google Shape;11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9611" y="1680560"/>
            <a:ext cx="195641" cy="19564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/>
          <p:nvPr/>
        </p:nvSpPr>
        <p:spPr>
          <a:xfrm>
            <a:off x="4507793" y="2298625"/>
            <a:ext cx="1375599" cy="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Host Grotesk Medium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Implementation</a:t>
            </a:r>
            <a:endParaRPr b="0" i="0" sz="1050" u="none" cap="none" strike="noStrike"/>
          </a:p>
        </p:txBody>
      </p:sp>
      <p:sp>
        <p:nvSpPr>
          <p:cNvPr id="121" name="Google Shape;121;p18"/>
          <p:cNvSpPr/>
          <p:nvPr/>
        </p:nvSpPr>
        <p:spPr>
          <a:xfrm>
            <a:off x="4507793" y="2519485"/>
            <a:ext cx="2781766" cy="120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Develop components</a:t>
            </a:r>
            <a:endParaRPr b="0" i="0" sz="850" u="none" cap="none" strike="noStrike"/>
          </a:p>
        </p:txBody>
      </p:sp>
      <p:pic>
        <p:nvPicPr>
          <p:cNvPr descr="preencoded.png" id="122" name="Google Shape;1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9611" y="2279710"/>
            <a:ext cx="195641" cy="19564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>
            <a:off x="4507793" y="2989481"/>
            <a:ext cx="1375599" cy="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Host Grotesk Medium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Design</a:t>
            </a:r>
            <a:endParaRPr b="0" i="0" sz="1050" u="none" cap="none" strike="noStrike"/>
          </a:p>
        </p:txBody>
      </p:sp>
      <p:sp>
        <p:nvSpPr>
          <p:cNvPr id="124" name="Google Shape;124;p18"/>
          <p:cNvSpPr/>
          <p:nvPr/>
        </p:nvSpPr>
        <p:spPr>
          <a:xfrm>
            <a:off x="4507793" y="3210341"/>
            <a:ext cx="2781766" cy="120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Architect modules</a:t>
            </a:r>
            <a:endParaRPr b="0" i="0" sz="850" u="none" cap="none" strike="noStrike"/>
          </a:p>
        </p:txBody>
      </p:sp>
      <p:pic>
        <p:nvPicPr>
          <p:cNvPr descr="preencoded.png" id="125" name="Google Shape;1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9611" y="2872746"/>
            <a:ext cx="195641" cy="19564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/>
          <p:nvPr/>
        </p:nvSpPr>
        <p:spPr>
          <a:xfrm>
            <a:off x="4513907" y="3680337"/>
            <a:ext cx="1375598" cy="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Host Grotesk Medium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Requirements</a:t>
            </a:r>
            <a:endParaRPr b="0" i="0" sz="1050" u="none" cap="none" strike="noStrike"/>
          </a:p>
        </p:txBody>
      </p:sp>
      <p:sp>
        <p:nvSpPr>
          <p:cNvPr id="127" name="Google Shape;127;p18"/>
          <p:cNvSpPr/>
          <p:nvPr/>
        </p:nvSpPr>
        <p:spPr>
          <a:xfrm>
            <a:off x="4513907" y="3901197"/>
            <a:ext cx="2781767" cy="120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Define system needs</a:t>
            </a:r>
            <a:endParaRPr b="0" i="0" sz="850" u="none" cap="none" strike="noStrike"/>
          </a:p>
        </p:txBody>
      </p:sp>
      <p:pic>
        <p:nvPicPr>
          <p:cNvPr descr="preencoded.png" id="128" name="Google Shape;12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9611" y="3563602"/>
            <a:ext cx="195641" cy="19564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/>
          <p:nvPr/>
        </p:nvSpPr>
        <p:spPr>
          <a:xfrm>
            <a:off x="496119" y="4385742"/>
            <a:ext cx="8151763" cy="279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This V-Model approach ensures that every development phase has a corresponding testing phase, providing comprehensive coverage from the smallest units up to the complete system.</a:t>
            </a:r>
            <a:endParaRPr b="0" i="0" sz="8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496119" y="508471"/>
            <a:ext cx="4824115" cy="33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050"/>
              <a:buFont typeface="Host Grotesk Medium"/>
              <a:buNone/>
            </a:pPr>
            <a:r>
              <a:rPr b="0" i="0" lang="en-US" sz="20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White Box Testing: Mortgage Calculator</a:t>
            </a:r>
            <a:endParaRPr b="0" i="0" sz="2050" u="none" cap="none" strike="noStrike"/>
          </a:p>
        </p:txBody>
      </p:sp>
      <p:sp>
        <p:nvSpPr>
          <p:cNvPr id="136" name="Google Shape;136;p19"/>
          <p:cNvSpPr/>
          <p:nvPr/>
        </p:nvSpPr>
        <p:spPr>
          <a:xfrm>
            <a:off x="496119" y="1040011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Approach</a:t>
            </a:r>
            <a:endParaRPr b="0" i="0" sz="1000" u="none" cap="none" strike="noStrike"/>
          </a:p>
        </p:txBody>
      </p:sp>
      <p:sp>
        <p:nvSpPr>
          <p:cNvPr id="137" name="Google Shape;137;p19"/>
          <p:cNvSpPr/>
          <p:nvPr/>
        </p:nvSpPr>
        <p:spPr>
          <a:xfrm>
            <a:off x="496119" y="1285801"/>
            <a:ext cx="3946178" cy="418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We selected the </a:t>
            </a:r>
            <a:r>
              <a:rPr b="1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Mortgage Calculator</a:t>
            </a: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feature for white-box testing. A Control Flow Graph (CFG) was drawn for the calculation logic, and Cyclomatic Complexity was calculated to determine the minimum number of test cases required.</a:t>
            </a:r>
            <a:endParaRPr b="0" i="0" sz="800" u="none" cap="none" strike="noStrike"/>
          </a:p>
        </p:txBody>
      </p:sp>
      <p:sp>
        <p:nvSpPr>
          <p:cNvPr id="138" name="Google Shape;138;p19"/>
          <p:cNvSpPr/>
          <p:nvPr/>
        </p:nvSpPr>
        <p:spPr>
          <a:xfrm>
            <a:off x="4706466" y="1040011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CFG Nodes &amp; Edges</a:t>
            </a:r>
            <a:endParaRPr b="0" i="0" sz="1000" u="none" cap="none" strike="noStrike"/>
          </a:p>
        </p:txBody>
      </p:sp>
      <p:sp>
        <p:nvSpPr>
          <p:cNvPr id="139" name="Google Shape;139;p19"/>
          <p:cNvSpPr/>
          <p:nvPr/>
        </p:nvSpPr>
        <p:spPr>
          <a:xfrm>
            <a:off x="4706466" y="1295772"/>
            <a:ext cx="212601" cy="13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Host Grotesk Light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Host Grotesk Light"/>
                <a:ea typeface="Host Grotesk Light"/>
                <a:cs typeface="Host Grotesk Light"/>
                <a:sym typeface="Host Grotesk Light"/>
              </a:rPr>
              <a:t>01</a:t>
            </a:r>
            <a:endParaRPr b="0" i="0" sz="800" u="none" cap="none" strike="noStrike"/>
          </a:p>
        </p:txBody>
      </p:sp>
      <p:pic>
        <p:nvPicPr>
          <p:cNvPr descr="preencoded.png"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6466" y="1462162"/>
            <a:ext cx="3946178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4706466" y="1543869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Start</a:t>
            </a:r>
            <a:endParaRPr b="0" i="0" sz="1000" u="none" cap="none" strike="noStrike"/>
          </a:p>
        </p:txBody>
      </p:sp>
      <p:sp>
        <p:nvSpPr>
          <p:cNvPr id="142" name="Google Shape;142;p19"/>
          <p:cNvSpPr/>
          <p:nvPr/>
        </p:nvSpPr>
        <p:spPr>
          <a:xfrm>
            <a:off x="4706466" y="1869356"/>
            <a:ext cx="212601" cy="13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Host Grotesk Light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Host Grotesk Light"/>
                <a:ea typeface="Host Grotesk Light"/>
                <a:cs typeface="Host Grotesk Light"/>
                <a:sym typeface="Host Grotesk Light"/>
              </a:rPr>
              <a:t>02</a:t>
            </a:r>
            <a:endParaRPr b="0" i="0" sz="800" u="none" cap="none" strike="noStrike"/>
          </a:p>
        </p:txBody>
      </p:sp>
      <p:pic>
        <p:nvPicPr>
          <p:cNvPr descr="preencoded.png"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6466" y="2025104"/>
            <a:ext cx="3946178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/>
          <p:nvPr/>
        </p:nvSpPr>
        <p:spPr>
          <a:xfrm>
            <a:off x="4706466" y="2117452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Validate Input</a:t>
            </a:r>
            <a:endParaRPr b="0" i="0" sz="1000" u="none" cap="none" strike="noStrike"/>
          </a:p>
        </p:txBody>
      </p:sp>
      <p:sp>
        <p:nvSpPr>
          <p:cNvPr id="145" name="Google Shape;145;p19"/>
          <p:cNvSpPr/>
          <p:nvPr/>
        </p:nvSpPr>
        <p:spPr>
          <a:xfrm>
            <a:off x="4706466" y="2442939"/>
            <a:ext cx="212601" cy="13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Host Grotesk Light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Host Grotesk Light"/>
                <a:ea typeface="Host Grotesk Light"/>
                <a:cs typeface="Host Grotesk Light"/>
                <a:sym typeface="Host Grotesk Light"/>
              </a:rPr>
              <a:t>03</a:t>
            </a:r>
            <a:endParaRPr b="0" i="0" sz="800" u="none" cap="none" strike="noStrike"/>
          </a:p>
        </p:txBody>
      </p:sp>
      <p:pic>
        <p:nvPicPr>
          <p:cNvPr descr="preencoded.png"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6466" y="2588121"/>
            <a:ext cx="3946178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/>
          <p:nvPr/>
        </p:nvSpPr>
        <p:spPr>
          <a:xfrm>
            <a:off x="4706466" y="2691036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Calculate EMI</a:t>
            </a:r>
            <a:endParaRPr b="0" i="0" sz="1000" u="none" cap="none" strike="noStrike"/>
          </a:p>
        </p:txBody>
      </p:sp>
      <p:sp>
        <p:nvSpPr>
          <p:cNvPr id="148" name="Google Shape;148;p19"/>
          <p:cNvSpPr/>
          <p:nvPr/>
        </p:nvSpPr>
        <p:spPr>
          <a:xfrm>
            <a:off x="4706466" y="3016523"/>
            <a:ext cx="212601" cy="13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Host Grotesk Light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Host Grotesk Light"/>
                <a:ea typeface="Host Grotesk Light"/>
                <a:cs typeface="Host Grotesk Light"/>
                <a:sym typeface="Host Grotesk Light"/>
              </a:rPr>
              <a:t>04</a:t>
            </a:r>
            <a:endParaRPr b="0" i="0" sz="800" u="none" cap="none" strike="noStrike"/>
          </a:p>
        </p:txBody>
      </p:sp>
      <p:pic>
        <p:nvPicPr>
          <p:cNvPr descr="preencoded.png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6466" y="3151063"/>
            <a:ext cx="3946178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>
            <a:off x="4706466" y="3264619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Show Result → End</a:t>
            </a:r>
            <a:endParaRPr b="0" i="0" sz="1000" u="none" cap="none" strike="noStrike"/>
          </a:p>
        </p:txBody>
      </p:sp>
      <p:sp>
        <p:nvSpPr>
          <p:cNvPr id="151" name="Google Shape;151;p19"/>
          <p:cNvSpPr/>
          <p:nvPr/>
        </p:nvSpPr>
        <p:spPr>
          <a:xfrm>
            <a:off x="4706466" y="3600078"/>
            <a:ext cx="3946178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Edges: 4 | Nodes: 4 | V(G) = 3</a:t>
            </a:r>
            <a:endParaRPr b="0" i="0" sz="800" u="none" cap="none" strike="noStrike"/>
          </a:p>
        </p:txBody>
      </p:sp>
      <p:sp>
        <p:nvSpPr>
          <p:cNvPr id="152" name="Google Shape;152;p19"/>
          <p:cNvSpPr/>
          <p:nvPr/>
        </p:nvSpPr>
        <p:spPr>
          <a:xfrm>
            <a:off x="496119" y="3858592"/>
            <a:ext cx="4035996" cy="734020"/>
          </a:xfrm>
          <a:prstGeom prst="roundRect">
            <a:avLst>
              <a:gd fmla="val 6084" name="adj"/>
            </a:avLst>
          </a:prstGeom>
          <a:solidFill>
            <a:srgbClr val="FAF9F5"/>
          </a:solidFill>
          <a:ln cap="flat" cmpd="sng" w="1427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616669" y="4021559"/>
            <a:ext cx="1410444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Cyclomatic Complexity</a:t>
            </a:r>
            <a:endParaRPr b="0" i="0" sz="1000" u="none" cap="none" strike="noStrike"/>
          </a:p>
        </p:txBody>
      </p:sp>
      <p:sp>
        <p:nvSpPr>
          <p:cNvPr id="154" name="Google Shape;154;p19"/>
          <p:cNvSpPr/>
          <p:nvPr/>
        </p:nvSpPr>
        <p:spPr>
          <a:xfrm>
            <a:off x="616669" y="4235425"/>
            <a:ext cx="3794894" cy="279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1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V(G) = E − N + 2</a:t>
            </a:r>
            <a:endParaRPr b="0" i="0" sz="800" u="none" cap="none" strike="noStrike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= 4 − 4 + 2 = </a:t>
            </a:r>
            <a:r>
              <a:rPr b="1" i="0" lang="en-US" sz="800" u="none" cap="none" strike="noStrike">
                <a:solidFill>
                  <a:srgbClr val="C3643D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800" u="none" cap="none" strike="noStrike"/>
          </a:p>
        </p:txBody>
      </p:sp>
      <p:sp>
        <p:nvSpPr>
          <p:cNvPr id="155" name="Google Shape;155;p19"/>
          <p:cNvSpPr/>
          <p:nvPr/>
        </p:nvSpPr>
        <p:spPr>
          <a:xfrm>
            <a:off x="4611812" y="3858592"/>
            <a:ext cx="4036070" cy="734020"/>
          </a:xfrm>
          <a:prstGeom prst="roundRect">
            <a:avLst>
              <a:gd fmla="val 6084" name="adj"/>
            </a:avLst>
          </a:prstGeom>
          <a:solidFill>
            <a:srgbClr val="FAF9F5"/>
          </a:solidFill>
          <a:ln cap="flat" cmpd="sng" w="1427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4732362" y="4021559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Test Cases Derived</a:t>
            </a:r>
            <a:endParaRPr b="0" i="0" sz="1000" u="none" cap="none" strike="noStrike"/>
          </a:p>
        </p:txBody>
      </p:sp>
      <p:sp>
        <p:nvSpPr>
          <p:cNvPr id="157" name="Google Shape;157;p19"/>
          <p:cNvSpPr/>
          <p:nvPr/>
        </p:nvSpPr>
        <p:spPr>
          <a:xfrm>
            <a:off x="4732362" y="4235425"/>
            <a:ext cx="3794968" cy="279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1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3 independent paths</a:t>
            </a: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identified → 3 test cases designed to cover all execution paths.</a:t>
            </a:r>
            <a:endParaRPr b="0" i="0" sz="8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496119" y="653207"/>
            <a:ext cx="4646488" cy="31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950"/>
              <a:buFont typeface="Host Grotesk Medium"/>
              <a:buNone/>
            </a:pPr>
            <a:r>
              <a:rPr b="0" i="0" lang="en-US" sz="19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Control Flow Graph: Mortgage Calculator</a:t>
            </a:r>
            <a:endParaRPr b="0" i="0" sz="1950" u="none" cap="none" strike="noStrike"/>
          </a:p>
        </p:txBody>
      </p:sp>
      <p:sp>
        <p:nvSpPr>
          <p:cNvPr id="164" name="Google Shape;164;p20"/>
          <p:cNvSpPr/>
          <p:nvPr/>
        </p:nvSpPr>
        <p:spPr>
          <a:xfrm>
            <a:off x="496119" y="1102221"/>
            <a:ext cx="8151763" cy="12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The CFG below maps all possible execution paths through the mortgage calculator logic. Three independent paths were identified for test case design.</a:t>
            </a:r>
            <a:endParaRPr b="0" i="0" sz="750" u="none" cap="none" strike="noStrike"/>
          </a:p>
        </p:txBody>
      </p:sp>
      <p:pic>
        <p:nvPicPr>
          <p:cNvPr descr="preencoded.png"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1059" y="1833265"/>
            <a:ext cx="2764929" cy="2130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/>
          <p:nvPr/>
        </p:nvSpPr>
        <p:spPr>
          <a:xfrm>
            <a:off x="4697760" y="1376288"/>
            <a:ext cx="1240408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950"/>
              <a:buFont typeface="Host Grotesk Medium"/>
              <a:buNone/>
            </a:pPr>
            <a:r>
              <a:rPr b="0" i="0" lang="en-US" sz="9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Path Descriptions</a:t>
            </a:r>
            <a:endParaRPr b="0" i="0" sz="950" u="none" cap="none" strike="noStrike"/>
          </a:p>
        </p:txBody>
      </p:sp>
      <p:sp>
        <p:nvSpPr>
          <p:cNvPr id="167" name="Google Shape;167;p20"/>
          <p:cNvSpPr/>
          <p:nvPr/>
        </p:nvSpPr>
        <p:spPr>
          <a:xfrm>
            <a:off x="4697760" y="1609427"/>
            <a:ext cx="3954884" cy="845790"/>
          </a:xfrm>
          <a:prstGeom prst="roundRect">
            <a:avLst>
              <a:gd fmla="val 4928" name="adj"/>
            </a:avLst>
          </a:prstGeom>
          <a:solidFill>
            <a:srgbClr val="FAF9F5"/>
          </a:solidFill>
          <a:ln cap="flat" cmpd="sng" w="1427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4712047" y="1623715"/>
            <a:ext cx="3926309" cy="297656"/>
          </a:xfrm>
          <a:prstGeom prst="roundRect">
            <a:avLst>
              <a:gd fmla="val 8243" name="adj"/>
            </a:avLst>
          </a:prstGeom>
          <a:solidFill>
            <a:srgbClr val="D9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6600751" y="1677144"/>
            <a:ext cx="148828" cy="18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Host Grotesk Medium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1</a:t>
            </a:r>
            <a:endParaRPr b="0" i="0" sz="1150" u="none" cap="none" strike="noStrike"/>
          </a:p>
        </p:txBody>
      </p:sp>
      <p:sp>
        <p:nvSpPr>
          <p:cNvPr id="170" name="Google Shape;170;p20"/>
          <p:cNvSpPr/>
          <p:nvPr/>
        </p:nvSpPr>
        <p:spPr>
          <a:xfrm>
            <a:off x="4811241" y="1990799"/>
            <a:ext cx="1240408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50"/>
              <a:buFont typeface="Host Grotesk Medium"/>
              <a:buNone/>
            </a:pPr>
            <a:r>
              <a:rPr b="0" i="0" lang="en-US" sz="9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Path 1 — Valid Input</a:t>
            </a:r>
            <a:endParaRPr b="0" i="0" sz="950" u="none" cap="none" strike="noStrike"/>
          </a:p>
        </p:txBody>
      </p:sp>
      <p:sp>
        <p:nvSpPr>
          <p:cNvPr id="171" name="Google Shape;171;p20"/>
          <p:cNvSpPr/>
          <p:nvPr/>
        </p:nvSpPr>
        <p:spPr>
          <a:xfrm>
            <a:off x="4811241" y="2215232"/>
            <a:ext cx="3727921" cy="12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User enters valid price, rate, and years → EMI is calculated and result is displayed.</a:t>
            </a:r>
            <a:endParaRPr b="0" i="0" sz="750" u="none" cap="none" strike="noStrike"/>
          </a:p>
        </p:txBody>
      </p:sp>
      <p:sp>
        <p:nvSpPr>
          <p:cNvPr id="172" name="Google Shape;172;p20"/>
          <p:cNvSpPr/>
          <p:nvPr/>
        </p:nvSpPr>
        <p:spPr>
          <a:xfrm>
            <a:off x="4697760" y="2524646"/>
            <a:ext cx="3954884" cy="845790"/>
          </a:xfrm>
          <a:prstGeom prst="roundRect">
            <a:avLst>
              <a:gd fmla="val 4928" name="adj"/>
            </a:avLst>
          </a:prstGeom>
          <a:solidFill>
            <a:srgbClr val="FAF9F5"/>
          </a:solidFill>
          <a:ln cap="flat" cmpd="sng" w="1427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4712047" y="2538933"/>
            <a:ext cx="3926309" cy="297656"/>
          </a:xfrm>
          <a:prstGeom prst="roundRect">
            <a:avLst>
              <a:gd fmla="val 8243" name="adj"/>
            </a:avLst>
          </a:prstGeom>
          <a:solidFill>
            <a:srgbClr val="D9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6600751" y="2592363"/>
            <a:ext cx="148828" cy="18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Host Grotesk Medium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2</a:t>
            </a:r>
            <a:endParaRPr b="0" i="0" sz="1150" u="none" cap="none" strike="noStrike"/>
          </a:p>
        </p:txBody>
      </p:sp>
      <p:sp>
        <p:nvSpPr>
          <p:cNvPr id="175" name="Google Shape;175;p20"/>
          <p:cNvSpPr/>
          <p:nvPr/>
        </p:nvSpPr>
        <p:spPr>
          <a:xfrm>
            <a:off x="4811241" y="2906018"/>
            <a:ext cx="1240408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50"/>
              <a:buFont typeface="Host Grotesk Medium"/>
              <a:buNone/>
            </a:pPr>
            <a:r>
              <a:rPr b="0" i="0" lang="en-US" sz="9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Path 2 — Invalid Input</a:t>
            </a:r>
            <a:endParaRPr b="0" i="0" sz="950" u="none" cap="none" strike="noStrike"/>
          </a:p>
        </p:txBody>
      </p:sp>
      <p:sp>
        <p:nvSpPr>
          <p:cNvPr id="176" name="Google Shape;176;p20"/>
          <p:cNvSpPr/>
          <p:nvPr/>
        </p:nvSpPr>
        <p:spPr>
          <a:xfrm>
            <a:off x="4811241" y="3130451"/>
            <a:ext cx="3727921" cy="12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User enters invalid or missing data → Error message is shown and process ends.</a:t>
            </a:r>
            <a:endParaRPr b="0" i="0" sz="750" u="none" cap="none" strike="noStrike"/>
          </a:p>
        </p:txBody>
      </p:sp>
      <p:sp>
        <p:nvSpPr>
          <p:cNvPr id="177" name="Google Shape;177;p20"/>
          <p:cNvSpPr/>
          <p:nvPr/>
        </p:nvSpPr>
        <p:spPr>
          <a:xfrm>
            <a:off x="4697760" y="3439864"/>
            <a:ext cx="3954884" cy="972294"/>
          </a:xfrm>
          <a:prstGeom prst="roundRect">
            <a:avLst>
              <a:gd fmla="val 4287" name="adj"/>
            </a:avLst>
          </a:prstGeom>
          <a:solidFill>
            <a:srgbClr val="FAF9F5"/>
          </a:solidFill>
          <a:ln cap="flat" cmpd="sng" w="1427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4712047" y="3454152"/>
            <a:ext cx="3926309" cy="297656"/>
          </a:xfrm>
          <a:prstGeom prst="roundRect">
            <a:avLst>
              <a:gd fmla="val 8243" name="adj"/>
            </a:avLst>
          </a:prstGeom>
          <a:solidFill>
            <a:srgbClr val="D9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6600751" y="3507581"/>
            <a:ext cx="148828" cy="18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Host Grotesk Medium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3</a:t>
            </a:r>
            <a:endParaRPr b="0" i="0" sz="1150" u="none" cap="none" strike="noStrike"/>
          </a:p>
        </p:txBody>
      </p:sp>
      <p:sp>
        <p:nvSpPr>
          <p:cNvPr id="180" name="Google Shape;180;p20"/>
          <p:cNvSpPr/>
          <p:nvPr/>
        </p:nvSpPr>
        <p:spPr>
          <a:xfrm>
            <a:off x="4811241" y="3821237"/>
            <a:ext cx="1544613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50"/>
              <a:buFont typeface="Host Grotesk Medium"/>
              <a:buNone/>
            </a:pPr>
            <a:r>
              <a:rPr b="0" i="0" lang="en-US" sz="9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Path 3 — Zero Interest Rate</a:t>
            </a:r>
            <a:endParaRPr b="0" i="0" sz="950" u="none" cap="none" strike="noStrike"/>
          </a:p>
        </p:txBody>
      </p:sp>
      <p:sp>
        <p:nvSpPr>
          <p:cNvPr id="181" name="Google Shape;181;p20"/>
          <p:cNvSpPr/>
          <p:nvPr/>
        </p:nvSpPr>
        <p:spPr>
          <a:xfrm>
            <a:off x="4811241" y="4045669"/>
            <a:ext cx="3727921" cy="253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Edge case where interest rate = 0 → Calculator handles division and displays result correctly.</a:t>
            </a:r>
            <a:endParaRPr b="0" i="0" sz="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/>
          <p:nvPr/>
        </p:nvSpPr>
        <p:spPr>
          <a:xfrm>
            <a:off x="496119" y="474985"/>
            <a:ext cx="7451080" cy="42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650"/>
              <a:buFont typeface="Host Grotesk Medium"/>
              <a:buNone/>
            </a:pPr>
            <a:r>
              <a:rPr b="0" i="0" lang="en-US" sz="26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Black Box Testing: Equivalence Class Partitioning</a:t>
            </a:r>
            <a:endParaRPr b="0" i="0" sz="2650" u="none" cap="none" strike="noStrike"/>
          </a:p>
        </p:txBody>
      </p:sp>
      <p:sp>
        <p:nvSpPr>
          <p:cNvPr id="188" name="Google Shape;188;p21"/>
          <p:cNvSpPr/>
          <p:nvPr/>
        </p:nvSpPr>
        <p:spPr>
          <a:xfrm>
            <a:off x="496119" y="1151706"/>
            <a:ext cx="8151763" cy="393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Applied to the </a:t>
            </a:r>
            <a:r>
              <a:rPr b="1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Price Filter</a:t>
            </a: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on Bayut's property search. Input values were grouped into equivalence classes — valid ranges that should behave the same, and invalid ranges that should be rejected.</a:t>
            </a:r>
            <a:endParaRPr b="0" i="0" sz="1050" u="none" cap="none" strike="noStrike"/>
          </a:p>
        </p:txBody>
      </p:sp>
      <p:sp>
        <p:nvSpPr>
          <p:cNvPr id="189" name="Google Shape;189;p21"/>
          <p:cNvSpPr/>
          <p:nvPr/>
        </p:nvSpPr>
        <p:spPr>
          <a:xfrm>
            <a:off x="496119" y="1833488"/>
            <a:ext cx="5183609" cy="1809229"/>
          </a:xfrm>
          <a:prstGeom prst="roundRect">
            <a:avLst>
              <a:gd fmla="val 312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500881" y="1838251"/>
            <a:ext cx="5174084" cy="35994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635571" y="1919734"/>
            <a:ext cx="763191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Roboto"/>
              <a:buNone/>
            </a:pPr>
            <a:r>
              <a:rPr b="1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Class</a:t>
            </a:r>
            <a:endParaRPr b="0" i="0" sz="1050" u="none" cap="none" strike="noStrike"/>
          </a:p>
        </p:txBody>
      </p:sp>
      <p:sp>
        <p:nvSpPr>
          <p:cNvPr id="192" name="Google Shape;192;p21"/>
          <p:cNvSpPr/>
          <p:nvPr/>
        </p:nvSpPr>
        <p:spPr>
          <a:xfrm>
            <a:off x="1672754" y="1919734"/>
            <a:ext cx="2313012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Roboto"/>
              <a:buNone/>
            </a:pPr>
            <a:r>
              <a:rPr b="1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endParaRPr b="0" i="0" sz="1050" u="none" cap="none" strike="noStrike"/>
          </a:p>
        </p:txBody>
      </p:sp>
      <p:sp>
        <p:nvSpPr>
          <p:cNvPr id="193" name="Google Shape;193;p21"/>
          <p:cNvSpPr/>
          <p:nvPr/>
        </p:nvSpPr>
        <p:spPr>
          <a:xfrm>
            <a:off x="4259759" y="1919734"/>
            <a:ext cx="1280592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Roboto"/>
              <a:buNone/>
            </a:pPr>
            <a:r>
              <a:rPr b="1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Valid / Invalid</a:t>
            </a:r>
            <a:endParaRPr b="0" i="0" sz="1050" u="none" cap="none" strike="noStrike"/>
          </a:p>
        </p:txBody>
      </p:sp>
      <p:sp>
        <p:nvSpPr>
          <p:cNvPr id="194" name="Google Shape;194;p21"/>
          <p:cNvSpPr/>
          <p:nvPr/>
        </p:nvSpPr>
        <p:spPr>
          <a:xfrm>
            <a:off x="500881" y="2198191"/>
            <a:ext cx="5174084" cy="359941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635571" y="2279675"/>
            <a:ext cx="763191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EC1</a:t>
            </a:r>
            <a:endParaRPr b="0" i="0" sz="1050" u="none" cap="none" strike="noStrike"/>
          </a:p>
        </p:txBody>
      </p:sp>
      <p:sp>
        <p:nvSpPr>
          <p:cNvPr id="196" name="Google Shape;196;p21"/>
          <p:cNvSpPr/>
          <p:nvPr/>
        </p:nvSpPr>
        <p:spPr>
          <a:xfrm>
            <a:off x="1672754" y="2279675"/>
            <a:ext cx="2313012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50,000 – 10,000,000 AED</a:t>
            </a:r>
            <a:endParaRPr b="0" i="0" sz="1050" u="none" cap="none" strike="noStrike"/>
          </a:p>
        </p:txBody>
      </p:sp>
      <p:sp>
        <p:nvSpPr>
          <p:cNvPr id="197" name="Google Shape;197;p21"/>
          <p:cNvSpPr/>
          <p:nvPr/>
        </p:nvSpPr>
        <p:spPr>
          <a:xfrm>
            <a:off x="4259759" y="2279675"/>
            <a:ext cx="1280592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b="1" i="0" lang="en-US" sz="1050" u="none" cap="none" strike="noStrike">
                <a:solidFill>
                  <a:srgbClr val="C3643D"/>
                </a:solidFill>
                <a:latin typeface="Roboto"/>
                <a:ea typeface="Roboto"/>
                <a:cs typeface="Roboto"/>
                <a:sym typeface="Roboto"/>
              </a:rPr>
              <a:t> Valid</a:t>
            </a:r>
            <a:endParaRPr b="0" i="0" sz="1050" u="none" cap="none" strike="noStrike"/>
          </a:p>
        </p:txBody>
      </p:sp>
      <p:sp>
        <p:nvSpPr>
          <p:cNvPr id="198" name="Google Shape;198;p21"/>
          <p:cNvSpPr/>
          <p:nvPr/>
        </p:nvSpPr>
        <p:spPr>
          <a:xfrm>
            <a:off x="500881" y="2558132"/>
            <a:ext cx="5174084" cy="35994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635571" y="2639616"/>
            <a:ext cx="763191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EC2</a:t>
            </a:r>
            <a:endParaRPr b="0" i="0" sz="1050" u="none" cap="none" strike="noStrike"/>
          </a:p>
        </p:txBody>
      </p:sp>
      <p:sp>
        <p:nvSpPr>
          <p:cNvPr id="200" name="Google Shape;200;p21"/>
          <p:cNvSpPr/>
          <p:nvPr/>
        </p:nvSpPr>
        <p:spPr>
          <a:xfrm>
            <a:off x="1672754" y="2639616"/>
            <a:ext cx="2313012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−500 (negative value)</a:t>
            </a:r>
            <a:endParaRPr b="0" i="0" sz="1050" u="none" cap="none" strike="noStrike"/>
          </a:p>
        </p:txBody>
      </p:sp>
      <p:sp>
        <p:nvSpPr>
          <p:cNvPr id="201" name="Google Shape;201;p21"/>
          <p:cNvSpPr/>
          <p:nvPr/>
        </p:nvSpPr>
        <p:spPr>
          <a:xfrm>
            <a:off x="4259759" y="2639616"/>
            <a:ext cx="1280592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Invalid</a:t>
            </a:r>
            <a:endParaRPr b="0" i="0" sz="1050" u="none" cap="none" strike="noStrike"/>
          </a:p>
        </p:txBody>
      </p:sp>
      <p:sp>
        <p:nvSpPr>
          <p:cNvPr id="202" name="Google Shape;202;p21"/>
          <p:cNvSpPr/>
          <p:nvPr/>
        </p:nvSpPr>
        <p:spPr>
          <a:xfrm>
            <a:off x="500881" y="2918073"/>
            <a:ext cx="5174084" cy="359941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635571" y="2999556"/>
            <a:ext cx="763191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EC3</a:t>
            </a:r>
            <a:endParaRPr b="0" i="0" sz="1050" u="none" cap="none" strike="noStrike"/>
          </a:p>
        </p:txBody>
      </p:sp>
      <p:sp>
        <p:nvSpPr>
          <p:cNvPr id="204" name="Google Shape;204;p21"/>
          <p:cNvSpPr/>
          <p:nvPr/>
        </p:nvSpPr>
        <p:spPr>
          <a:xfrm>
            <a:off x="1672754" y="2999556"/>
            <a:ext cx="2313012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"abc" (text input)</a:t>
            </a:r>
            <a:endParaRPr b="0" i="0" sz="1050" u="none" cap="none" strike="noStrike"/>
          </a:p>
        </p:txBody>
      </p:sp>
      <p:sp>
        <p:nvSpPr>
          <p:cNvPr id="205" name="Google Shape;205;p21"/>
          <p:cNvSpPr/>
          <p:nvPr/>
        </p:nvSpPr>
        <p:spPr>
          <a:xfrm>
            <a:off x="4259759" y="2999556"/>
            <a:ext cx="1280592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Invalid</a:t>
            </a:r>
            <a:endParaRPr b="0" i="0" sz="1050" u="none" cap="none" strike="noStrike"/>
          </a:p>
        </p:txBody>
      </p:sp>
      <p:sp>
        <p:nvSpPr>
          <p:cNvPr id="206" name="Google Shape;206;p21"/>
          <p:cNvSpPr/>
          <p:nvPr/>
        </p:nvSpPr>
        <p:spPr>
          <a:xfrm>
            <a:off x="500881" y="3278014"/>
            <a:ext cx="5174084" cy="35994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635571" y="3359497"/>
            <a:ext cx="763191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EC4</a:t>
            </a:r>
            <a:endParaRPr b="0" i="0" sz="1050" u="none" cap="none" strike="noStrike"/>
          </a:p>
        </p:txBody>
      </p:sp>
      <p:sp>
        <p:nvSpPr>
          <p:cNvPr id="208" name="Google Shape;208;p21"/>
          <p:cNvSpPr/>
          <p:nvPr/>
        </p:nvSpPr>
        <p:spPr>
          <a:xfrm>
            <a:off x="1672754" y="3359497"/>
            <a:ext cx="2313012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0 (zero value)</a:t>
            </a:r>
            <a:endParaRPr b="0" i="0" sz="1050" u="none" cap="none" strike="noStrike"/>
          </a:p>
        </p:txBody>
      </p:sp>
      <p:sp>
        <p:nvSpPr>
          <p:cNvPr id="209" name="Google Shape;209;p21"/>
          <p:cNvSpPr/>
          <p:nvPr/>
        </p:nvSpPr>
        <p:spPr>
          <a:xfrm>
            <a:off x="4259759" y="3359497"/>
            <a:ext cx="1280592" cy="1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r>
              <a:rPr b="0" i="0" lang="en-US" sz="10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Invalid</a:t>
            </a:r>
            <a:endParaRPr b="0" i="0" sz="1050" u="none" cap="none" strike="noStrike"/>
          </a:p>
        </p:txBody>
      </p:sp>
      <p:sp>
        <p:nvSpPr>
          <p:cNvPr id="210" name="Google Shape;210;p21"/>
          <p:cNvSpPr/>
          <p:nvPr/>
        </p:nvSpPr>
        <p:spPr>
          <a:xfrm>
            <a:off x="496119" y="3786634"/>
            <a:ext cx="5183609" cy="737890"/>
          </a:xfrm>
          <a:prstGeom prst="roundRect">
            <a:avLst>
              <a:gd fmla="val 7666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734" y="3979962"/>
            <a:ext cx="168325" cy="13461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/>
          <p:nvPr/>
        </p:nvSpPr>
        <p:spPr>
          <a:xfrm>
            <a:off x="933673" y="3948187"/>
            <a:ext cx="4611439" cy="393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6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One representative test case from each class is sufficient to cover the entire class, reducing the total number of tests while maintaining coverage.</a:t>
            </a:r>
            <a:endParaRPr b="0" i="0" sz="1050" u="none" cap="none" strike="noStrike"/>
          </a:p>
        </p:txBody>
      </p:sp>
      <p:pic>
        <p:nvPicPr>
          <p:cNvPr descr="preencoded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3103" y="2172593"/>
            <a:ext cx="2507456" cy="2012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/>
          <p:nvPr/>
        </p:nvSpPr>
        <p:spPr>
          <a:xfrm>
            <a:off x="496119" y="450652"/>
            <a:ext cx="6991871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Black Box Testing: Boundary Value Analysis</a:t>
            </a:r>
            <a:endParaRPr b="0" i="0" sz="2750" u="none" cap="none" strike="noStrike"/>
          </a:p>
        </p:txBody>
      </p:sp>
      <p:sp>
        <p:nvSpPr>
          <p:cNvPr id="220" name="Google Shape;220;p22"/>
          <p:cNvSpPr/>
          <p:nvPr/>
        </p:nvSpPr>
        <p:spPr>
          <a:xfrm>
            <a:off x="496119" y="1177156"/>
            <a:ext cx="8151763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Applied to the </a:t>
            </a: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Bedroom Filter</a:t>
            </a: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(Studio, 1, 2, 3, 4, 5+). Boundary values were tested at the edges of each partition to catch off-by-one errors and edge-case behavior.</a:t>
            </a:r>
            <a:endParaRPr b="0" i="0" sz="1100" u="none" cap="none" strike="noStrike"/>
          </a:p>
        </p:txBody>
      </p:sp>
      <p:sp>
        <p:nvSpPr>
          <p:cNvPr id="221" name="Google Shape;221;p22"/>
          <p:cNvSpPr/>
          <p:nvPr/>
        </p:nvSpPr>
        <p:spPr>
          <a:xfrm>
            <a:off x="496119" y="1761827"/>
            <a:ext cx="8151763" cy="1970708"/>
          </a:xfrm>
          <a:prstGeom prst="roundRect">
            <a:avLst>
              <a:gd fmla="val 3021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00881" y="1766590"/>
            <a:ext cx="8142238" cy="39223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642863" y="1856408"/>
            <a:ext cx="691158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Test Case</a:t>
            </a:r>
            <a:endParaRPr b="0" i="0" sz="1100" u="none" cap="none" strike="noStrike"/>
          </a:p>
        </p:txBody>
      </p:sp>
      <p:sp>
        <p:nvSpPr>
          <p:cNvPr id="224" name="Google Shape;224;p22"/>
          <p:cNvSpPr/>
          <p:nvPr/>
        </p:nvSpPr>
        <p:spPr>
          <a:xfrm>
            <a:off x="1622301" y="1856408"/>
            <a:ext cx="1502941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endParaRPr b="0" i="0" sz="1100" u="none" cap="none" strike="noStrike"/>
          </a:p>
        </p:txBody>
      </p:sp>
      <p:sp>
        <p:nvSpPr>
          <p:cNvPr id="225" name="Google Shape;225;p22"/>
          <p:cNvSpPr/>
          <p:nvPr/>
        </p:nvSpPr>
        <p:spPr>
          <a:xfrm>
            <a:off x="3413522" y="1856408"/>
            <a:ext cx="2398588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Expected</a:t>
            </a:r>
            <a:endParaRPr b="0" i="0" sz="1100" u="none" cap="none" strike="noStrike"/>
          </a:p>
        </p:txBody>
      </p:sp>
      <p:sp>
        <p:nvSpPr>
          <p:cNvPr id="226" name="Google Shape;226;p22"/>
          <p:cNvSpPr/>
          <p:nvPr/>
        </p:nvSpPr>
        <p:spPr>
          <a:xfrm>
            <a:off x="6100390" y="1856408"/>
            <a:ext cx="240097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Actual / Result</a:t>
            </a:r>
            <a:endParaRPr b="0" i="0" sz="1100" u="none" cap="none" strike="noStrike"/>
          </a:p>
        </p:txBody>
      </p:sp>
      <p:sp>
        <p:nvSpPr>
          <p:cNvPr id="227" name="Google Shape;227;p22"/>
          <p:cNvSpPr/>
          <p:nvPr/>
        </p:nvSpPr>
        <p:spPr>
          <a:xfrm>
            <a:off x="500881" y="2158826"/>
            <a:ext cx="8142238" cy="39223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642863" y="2248644"/>
            <a:ext cx="691158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TC1</a:t>
            </a:r>
            <a:endParaRPr b="0" i="0" sz="1100" u="none" cap="none" strike="noStrike"/>
          </a:p>
        </p:txBody>
      </p:sp>
      <p:sp>
        <p:nvSpPr>
          <p:cNvPr id="229" name="Google Shape;229;p22"/>
          <p:cNvSpPr/>
          <p:nvPr/>
        </p:nvSpPr>
        <p:spPr>
          <a:xfrm>
            <a:off x="1622301" y="2248644"/>
            <a:ext cx="1502941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0 (Studio)</a:t>
            </a:r>
            <a:endParaRPr b="0" i="0" sz="1100" u="none" cap="none" strike="noStrike"/>
          </a:p>
        </p:txBody>
      </p:sp>
      <p:sp>
        <p:nvSpPr>
          <p:cNvPr id="230" name="Google Shape;230;p22"/>
          <p:cNvSpPr/>
          <p:nvPr/>
        </p:nvSpPr>
        <p:spPr>
          <a:xfrm>
            <a:off x="3413522" y="2248644"/>
            <a:ext cx="2398588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Show studio listings</a:t>
            </a:r>
            <a:endParaRPr b="0" i="0" sz="1100" u="none" cap="none" strike="noStrike"/>
          </a:p>
        </p:txBody>
      </p:sp>
      <p:sp>
        <p:nvSpPr>
          <p:cNvPr id="231" name="Google Shape;231;p22"/>
          <p:cNvSpPr/>
          <p:nvPr/>
        </p:nvSpPr>
        <p:spPr>
          <a:xfrm>
            <a:off x="6100390" y="2248644"/>
            <a:ext cx="240097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App showed blank →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r>
              <a:rPr b="1" i="0" lang="en-US" sz="1100" u="none" cap="none" strike="noStrike">
                <a:solidFill>
                  <a:srgbClr val="C3643D"/>
                </a:solidFill>
                <a:latin typeface="Roboto"/>
                <a:ea typeface="Roboto"/>
                <a:cs typeface="Roboto"/>
                <a:sym typeface="Roboto"/>
              </a:rPr>
              <a:t> Fail</a:t>
            </a:r>
            <a:endParaRPr b="0" i="0" sz="1100" u="none" cap="none" strike="noStrike"/>
          </a:p>
        </p:txBody>
      </p:sp>
      <p:sp>
        <p:nvSpPr>
          <p:cNvPr id="232" name="Google Shape;232;p22"/>
          <p:cNvSpPr/>
          <p:nvPr/>
        </p:nvSpPr>
        <p:spPr>
          <a:xfrm>
            <a:off x="500881" y="2551063"/>
            <a:ext cx="8142238" cy="39223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642863" y="2640881"/>
            <a:ext cx="691158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TC2</a:t>
            </a:r>
            <a:endParaRPr b="0" i="0" sz="1100" u="none" cap="none" strike="noStrike"/>
          </a:p>
        </p:txBody>
      </p:sp>
      <p:sp>
        <p:nvSpPr>
          <p:cNvPr id="234" name="Google Shape;234;p22"/>
          <p:cNvSpPr/>
          <p:nvPr/>
        </p:nvSpPr>
        <p:spPr>
          <a:xfrm>
            <a:off x="1622301" y="2640881"/>
            <a:ext cx="1502941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/>
          </a:p>
        </p:txBody>
      </p:sp>
      <p:sp>
        <p:nvSpPr>
          <p:cNvPr id="235" name="Google Shape;235;p22"/>
          <p:cNvSpPr/>
          <p:nvPr/>
        </p:nvSpPr>
        <p:spPr>
          <a:xfrm>
            <a:off x="3413522" y="2640881"/>
            <a:ext cx="2398588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Show 1-bed listings</a:t>
            </a:r>
            <a:endParaRPr b="0" i="0" sz="1100" u="none" cap="none" strike="noStrike"/>
          </a:p>
        </p:txBody>
      </p:sp>
      <p:sp>
        <p:nvSpPr>
          <p:cNvPr id="236" name="Google Shape;236;p22"/>
          <p:cNvSpPr/>
          <p:nvPr/>
        </p:nvSpPr>
        <p:spPr>
          <a:xfrm>
            <a:off x="6100390" y="2640881"/>
            <a:ext cx="240097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Correct →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Pass</a:t>
            </a:r>
            <a:endParaRPr b="0" i="0" sz="1100" u="none" cap="none" strike="noStrike"/>
          </a:p>
        </p:txBody>
      </p:sp>
      <p:sp>
        <p:nvSpPr>
          <p:cNvPr id="237" name="Google Shape;237;p22"/>
          <p:cNvSpPr/>
          <p:nvPr/>
        </p:nvSpPr>
        <p:spPr>
          <a:xfrm>
            <a:off x="500881" y="2943299"/>
            <a:ext cx="8142238" cy="39223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642863" y="3033117"/>
            <a:ext cx="691158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TC3</a:t>
            </a:r>
            <a:endParaRPr b="0" i="0" sz="1100" u="none" cap="none" strike="noStrike"/>
          </a:p>
        </p:txBody>
      </p:sp>
      <p:sp>
        <p:nvSpPr>
          <p:cNvPr id="239" name="Google Shape;239;p22"/>
          <p:cNvSpPr/>
          <p:nvPr/>
        </p:nvSpPr>
        <p:spPr>
          <a:xfrm>
            <a:off x="1622301" y="3033117"/>
            <a:ext cx="1502941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1100" u="none" cap="none" strike="noStrike"/>
          </a:p>
        </p:txBody>
      </p:sp>
      <p:sp>
        <p:nvSpPr>
          <p:cNvPr id="240" name="Google Shape;240;p22"/>
          <p:cNvSpPr/>
          <p:nvPr/>
        </p:nvSpPr>
        <p:spPr>
          <a:xfrm>
            <a:off x="3413522" y="3033117"/>
            <a:ext cx="2398588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Show 5-bed listings</a:t>
            </a:r>
            <a:endParaRPr b="0" i="0" sz="1100" u="none" cap="none" strike="noStrike"/>
          </a:p>
        </p:txBody>
      </p:sp>
      <p:sp>
        <p:nvSpPr>
          <p:cNvPr id="241" name="Google Shape;241;p22"/>
          <p:cNvSpPr/>
          <p:nvPr/>
        </p:nvSpPr>
        <p:spPr>
          <a:xfrm>
            <a:off x="6100390" y="3033117"/>
            <a:ext cx="240097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Correct →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Pass</a:t>
            </a:r>
            <a:endParaRPr b="0" i="0" sz="1100" u="none" cap="none" strike="noStrike"/>
          </a:p>
        </p:txBody>
      </p:sp>
      <p:sp>
        <p:nvSpPr>
          <p:cNvPr id="242" name="Google Shape;242;p22"/>
          <p:cNvSpPr/>
          <p:nvPr/>
        </p:nvSpPr>
        <p:spPr>
          <a:xfrm>
            <a:off x="500881" y="3335536"/>
            <a:ext cx="8142238" cy="39223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642863" y="3425354"/>
            <a:ext cx="691158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TC4</a:t>
            </a:r>
            <a:endParaRPr b="0" i="0" sz="1100" u="none" cap="none" strike="noStrike"/>
          </a:p>
        </p:txBody>
      </p:sp>
      <p:sp>
        <p:nvSpPr>
          <p:cNvPr id="244" name="Google Shape;244;p22"/>
          <p:cNvSpPr/>
          <p:nvPr/>
        </p:nvSpPr>
        <p:spPr>
          <a:xfrm>
            <a:off x="1622301" y="3425354"/>
            <a:ext cx="1502941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6+</a:t>
            </a:r>
            <a:endParaRPr b="0" i="0" sz="1100" u="none" cap="none" strike="noStrike"/>
          </a:p>
        </p:txBody>
      </p:sp>
      <p:sp>
        <p:nvSpPr>
          <p:cNvPr id="245" name="Google Shape;245;p22"/>
          <p:cNvSpPr/>
          <p:nvPr/>
        </p:nvSpPr>
        <p:spPr>
          <a:xfrm>
            <a:off x="3413522" y="3425354"/>
            <a:ext cx="2398588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Show 6+ listings</a:t>
            </a:r>
            <a:endParaRPr b="0" i="0" sz="1100" u="none" cap="none" strike="noStrike"/>
          </a:p>
        </p:txBody>
      </p:sp>
      <p:sp>
        <p:nvSpPr>
          <p:cNvPr id="246" name="Google Shape;246;p22"/>
          <p:cNvSpPr/>
          <p:nvPr/>
        </p:nvSpPr>
        <p:spPr>
          <a:xfrm>
            <a:off x="6100390" y="3425354"/>
            <a:ext cx="240097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Correct →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Pass</a:t>
            </a:r>
            <a:endParaRPr b="0" i="0" sz="1100" u="none" cap="none" strike="noStrike"/>
          </a:p>
        </p:txBody>
      </p:sp>
      <p:sp>
        <p:nvSpPr>
          <p:cNvPr id="247" name="Google Shape;247;p22"/>
          <p:cNvSpPr/>
          <p:nvPr/>
        </p:nvSpPr>
        <p:spPr>
          <a:xfrm>
            <a:off x="496119" y="3892004"/>
            <a:ext cx="8151763" cy="800770"/>
          </a:xfrm>
          <a:prstGeom prst="roundRect">
            <a:avLst>
              <a:gd fmla="val 7436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4097536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/>
          <p:nvPr/>
        </p:nvSpPr>
        <p:spPr>
          <a:xfrm>
            <a:off x="956816" y="4069184"/>
            <a:ext cx="7549307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Key Finding: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TC1 revealed a defect: selecting "Studio" (0 bedrooms) returns a blank result instead of studio listings. This is a boundary condition bug that should be reported to the development team.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/>
          <p:nvPr/>
        </p:nvSpPr>
        <p:spPr>
          <a:xfrm>
            <a:off x="496119" y="1233190"/>
            <a:ext cx="533667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Black Box Testing: Decision Table</a:t>
            </a:r>
            <a:endParaRPr b="0" i="0" sz="2750" u="none" cap="none" strike="noStrike"/>
          </a:p>
        </p:txBody>
      </p:sp>
      <p:sp>
        <p:nvSpPr>
          <p:cNvPr id="256" name="Google Shape;256;p23"/>
          <p:cNvSpPr/>
          <p:nvPr/>
        </p:nvSpPr>
        <p:spPr>
          <a:xfrm>
            <a:off x="496119" y="1959694"/>
            <a:ext cx="815176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Applied to: </a:t>
            </a: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Login Feature</a:t>
            </a:r>
            <a:endParaRPr b="0" i="0" sz="1100" u="none" cap="none" strike="noStrike"/>
          </a:p>
        </p:txBody>
      </p:sp>
      <p:sp>
        <p:nvSpPr>
          <p:cNvPr id="257" name="Google Shape;257;p23"/>
          <p:cNvSpPr/>
          <p:nvPr/>
        </p:nvSpPr>
        <p:spPr>
          <a:xfrm>
            <a:off x="496119" y="2331765"/>
            <a:ext cx="8151763" cy="1578471"/>
          </a:xfrm>
          <a:prstGeom prst="roundRect">
            <a:avLst>
              <a:gd fmla="val 377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00881" y="2336527"/>
            <a:ext cx="8142238" cy="39223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642863" y="2426345"/>
            <a:ext cx="1342504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endParaRPr b="0" i="0" sz="1100" u="none" cap="none" strike="noStrike"/>
          </a:p>
        </p:txBody>
      </p:sp>
      <p:sp>
        <p:nvSpPr>
          <p:cNvPr id="260" name="Google Shape;260;p23"/>
          <p:cNvSpPr/>
          <p:nvPr/>
        </p:nvSpPr>
        <p:spPr>
          <a:xfrm>
            <a:off x="2273647" y="2426345"/>
            <a:ext cx="13401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Case 1</a:t>
            </a:r>
            <a:endParaRPr b="0" i="0" sz="1100" u="none" cap="none" strike="noStrike"/>
          </a:p>
        </p:txBody>
      </p:sp>
      <p:sp>
        <p:nvSpPr>
          <p:cNvPr id="261" name="Google Shape;261;p23"/>
          <p:cNvSpPr/>
          <p:nvPr/>
        </p:nvSpPr>
        <p:spPr>
          <a:xfrm>
            <a:off x="3902050" y="2426345"/>
            <a:ext cx="13401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Case 2</a:t>
            </a:r>
            <a:endParaRPr b="0" i="0" sz="1100" u="none" cap="none" strike="noStrike"/>
          </a:p>
        </p:txBody>
      </p:sp>
      <p:sp>
        <p:nvSpPr>
          <p:cNvPr id="262" name="Google Shape;262;p23"/>
          <p:cNvSpPr/>
          <p:nvPr/>
        </p:nvSpPr>
        <p:spPr>
          <a:xfrm>
            <a:off x="5530453" y="2426345"/>
            <a:ext cx="13401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Case 3</a:t>
            </a:r>
            <a:endParaRPr b="0" i="0" sz="1100" u="none" cap="none" strike="noStrike"/>
          </a:p>
        </p:txBody>
      </p:sp>
      <p:sp>
        <p:nvSpPr>
          <p:cNvPr id="263" name="Google Shape;263;p23"/>
          <p:cNvSpPr/>
          <p:nvPr/>
        </p:nvSpPr>
        <p:spPr>
          <a:xfrm>
            <a:off x="7158856" y="2426345"/>
            <a:ext cx="1342504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Case 4</a:t>
            </a:r>
            <a:endParaRPr b="0" i="0" sz="1100" u="none" cap="none" strike="noStrike"/>
          </a:p>
        </p:txBody>
      </p:sp>
      <p:sp>
        <p:nvSpPr>
          <p:cNvPr id="264" name="Google Shape;264;p23"/>
          <p:cNvSpPr/>
          <p:nvPr/>
        </p:nvSpPr>
        <p:spPr>
          <a:xfrm>
            <a:off x="500881" y="2728764"/>
            <a:ext cx="8142238" cy="39223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642863" y="2818581"/>
            <a:ext cx="1342504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Email valid</a:t>
            </a:r>
            <a:endParaRPr b="0" i="0" sz="1100" u="none" cap="none" strike="noStrike"/>
          </a:p>
        </p:txBody>
      </p:sp>
      <p:sp>
        <p:nvSpPr>
          <p:cNvPr id="266" name="Google Shape;266;p23"/>
          <p:cNvSpPr/>
          <p:nvPr/>
        </p:nvSpPr>
        <p:spPr>
          <a:xfrm>
            <a:off x="2273647" y="2818581"/>
            <a:ext cx="13401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1100" u="none" cap="none" strike="noStrike"/>
          </a:p>
        </p:txBody>
      </p:sp>
      <p:sp>
        <p:nvSpPr>
          <p:cNvPr id="267" name="Google Shape;267;p23"/>
          <p:cNvSpPr/>
          <p:nvPr/>
        </p:nvSpPr>
        <p:spPr>
          <a:xfrm>
            <a:off x="3902050" y="2818581"/>
            <a:ext cx="13401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1100" u="none" cap="none" strike="noStrike"/>
          </a:p>
        </p:txBody>
      </p:sp>
      <p:sp>
        <p:nvSpPr>
          <p:cNvPr id="268" name="Google Shape;268;p23"/>
          <p:cNvSpPr/>
          <p:nvPr/>
        </p:nvSpPr>
        <p:spPr>
          <a:xfrm>
            <a:off x="5530453" y="2818581"/>
            <a:ext cx="13401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b="0" i="0" sz="1100" u="none" cap="none" strike="noStrike"/>
          </a:p>
        </p:txBody>
      </p:sp>
      <p:sp>
        <p:nvSpPr>
          <p:cNvPr id="269" name="Google Shape;269;p23"/>
          <p:cNvSpPr/>
          <p:nvPr/>
        </p:nvSpPr>
        <p:spPr>
          <a:xfrm>
            <a:off x="7158856" y="2818581"/>
            <a:ext cx="1342504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b="0" i="0" sz="1100" u="none" cap="none" strike="noStrike"/>
          </a:p>
        </p:txBody>
      </p:sp>
      <p:sp>
        <p:nvSpPr>
          <p:cNvPr id="270" name="Google Shape;270;p23"/>
          <p:cNvSpPr/>
          <p:nvPr/>
        </p:nvSpPr>
        <p:spPr>
          <a:xfrm>
            <a:off x="500881" y="3121000"/>
            <a:ext cx="8142238" cy="39223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642863" y="3210818"/>
            <a:ext cx="1342504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Password valid</a:t>
            </a:r>
            <a:endParaRPr b="0" i="0" sz="1100" u="none" cap="none" strike="noStrike"/>
          </a:p>
        </p:txBody>
      </p:sp>
      <p:sp>
        <p:nvSpPr>
          <p:cNvPr id="272" name="Google Shape;272;p23"/>
          <p:cNvSpPr/>
          <p:nvPr/>
        </p:nvSpPr>
        <p:spPr>
          <a:xfrm>
            <a:off x="2273647" y="3210818"/>
            <a:ext cx="13401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1100" u="none" cap="none" strike="noStrike"/>
          </a:p>
        </p:txBody>
      </p:sp>
      <p:sp>
        <p:nvSpPr>
          <p:cNvPr id="273" name="Google Shape;273;p23"/>
          <p:cNvSpPr/>
          <p:nvPr/>
        </p:nvSpPr>
        <p:spPr>
          <a:xfrm>
            <a:off x="3902050" y="3210818"/>
            <a:ext cx="13401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b="0" i="0" sz="1100" u="none" cap="none" strike="noStrike"/>
          </a:p>
        </p:txBody>
      </p:sp>
      <p:sp>
        <p:nvSpPr>
          <p:cNvPr id="274" name="Google Shape;274;p23"/>
          <p:cNvSpPr/>
          <p:nvPr/>
        </p:nvSpPr>
        <p:spPr>
          <a:xfrm>
            <a:off x="5530453" y="3210818"/>
            <a:ext cx="13401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1100" u="none" cap="none" strike="noStrike"/>
          </a:p>
        </p:txBody>
      </p:sp>
      <p:sp>
        <p:nvSpPr>
          <p:cNvPr id="275" name="Google Shape;275;p23"/>
          <p:cNvSpPr/>
          <p:nvPr/>
        </p:nvSpPr>
        <p:spPr>
          <a:xfrm>
            <a:off x="7158856" y="3210818"/>
            <a:ext cx="1342504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b="0" i="0" sz="1100" u="none" cap="none" strike="noStrike"/>
          </a:p>
        </p:txBody>
      </p:sp>
      <p:sp>
        <p:nvSpPr>
          <p:cNvPr id="276" name="Google Shape;276;p23"/>
          <p:cNvSpPr/>
          <p:nvPr/>
        </p:nvSpPr>
        <p:spPr>
          <a:xfrm>
            <a:off x="500881" y="3513237"/>
            <a:ext cx="8142238" cy="39223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642863" y="3603054"/>
            <a:ext cx="1342504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Result</a:t>
            </a:r>
            <a:endParaRPr b="0" i="0" sz="1100" u="none" cap="none" strike="noStrike"/>
          </a:p>
        </p:txBody>
      </p:sp>
      <p:sp>
        <p:nvSpPr>
          <p:cNvPr id="278" name="Google Shape;278;p23"/>
          <p:cNvSpPr/>
          <p:nvPr/>
        </p:nvSpPr>
        <p:spPr>
          <a:xfrm>
            <a:off x="2273647" y="3603054"/>
            <a:ext cx="13401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Login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1100" u="none" cap="none" strike="noStrike"/>
          </a:p>
        </p:txBody>
      </p:sp>
      <p:sp>
        <p:nvSpPr>
          <p:cNvPr id="279" name="Google Shape;279;p23"/>
          <p:cNvSpPr/>
          <p:nvPr/>
        </p:nvSpPr>
        <p:spPr>
          <a:xfrm>
            <a:off x="3902050" y="3603054"/>
            <a:ext cx="13401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Wrong pass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b="0" i="0" sz="1100" u="none" cap="none" strike="noStrike"/>
          </a:p>
        </p:txBody>
      </p:sp>
      <p:sp>
        <p:nvSpPr>
          <p:cNvPr id="280" name="Google Shape;280;p23"/>
          <p:cNvSpPr/>
          <p:nvPr/>
        </p:nvSpPr>
        <p:spPr>
          <a:xfrm>
            <a:off x="5530453" y="3603054"/>
            <a:ext cx="13401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User not found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b="0" i="0" sz="1100" u="none" cap="none" strike="noStrike"/>
          </a:p>
        </p:txBody>
      </p:sp>
      <p:sp>
        <p:nvSpPr>
          <p:cNvPr id="281" name="Google Shape;281;p23"/>
          <p:cNvSpPr/>
          <p:nvPr/>
        </p:nvSpPr>
        <p:spPr>
          <a:xfrm>
            <a:off x="7158856" y="3603054"/>
            <a:ext cx="1342504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User not found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/>
          <p:nvPr/>
        </p:nvSpPr>
        <p:spPr>
          <a:xfrm>
            <a:off x="449610" y="372517"/>
            <a:ext cx="4252020" cy="341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100"/>
              <a:buFont typeface="Host Grotesk Medium"/>
              <a:buNone/>
            </a:pPr>
            <a:r>
              <a:rPr b="0" i="0" lang="en-US" sz="210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Black Box Testing: State Transition</a:t>
            </a:r>
            <a:endParaRPr b="0" i="0" sz="2100" u="none" cap="none" strike="noStrike"/>
          </a:p>
        </p:txBody>
      </p:sp>
      <p:sp>
        <p:nvSpPr>
          <p:cNvPr id="288" name="Google Shape;288;p24"/>
          <p:cNvSpPr/>
          <p:nvPr/>
        </p:nvSpPr>
        <p:spPr>
          <a:xfrm>
            <a:off x="449610" y="881955"/>
            <a:ext cx="8244780" cy="145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Applied to: </a:t>
            </a:r>
            <a:r>
              <a:rPr b="1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User Account – Saved Properties</a:t>
            </a:r>
            <a:endParaRPr b="0" i="0" sz="850" u="none" cap="none" strike="noStrike"/>
          </a:p>
        </p:txBody>
      </p:sp>
      <p:pic>
        <p:nvPicPr>
          <p:cNvPr descr="preencoded.png" id="289" name="Google Shape;2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610" y="1121569"/>
            <a:ext cx="2748260" cy="43681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/>
          <p:nvPr/>
        </p:nvSpPr>
        <p:spPr>
          <a:xfrm>
            <a:off x="558775" y="1642467"/>
            <a:ext cx="1365052" cy="170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Host Grotesk Medium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Not Saved</a:t>
            </a:r>
            <a:endParaRPr b="0" i="0" sz="1050" u="none" cap="none" strike="noStrike"/>
          </a:p>
        </p:txBody>
      </p:sp>
      <p:sp>
        <p:nvSpPr>
          <p:cNvPr id="291" name="Google Shape;291;p24"/>
          <p:cNvSpPr/>
          <p:nvPr/>
        </p:nvSpPr>
        <p:spPr>
          <a:xfrm>
            <a:off x="558775" y="1863477"/>
            <a:ext cx="2529929" cy="145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Initial state</a:t>
            </a:r>
            <a:endParaRPr b="0" i="0" sz="850" u="none" cap="none" strike="noStrike"/>
          </a:p>
        </p:txBody>
      </p:sp>
      <p:pic>
        <p:nvPicPr>
          <p:cNvPr descr="preencoded.png" id="292" name="Google Shape;2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7870" y="1121569"/>
            <a:ext cx="2748260" cy="43681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/>
          <p:nvPr/>
        </p:nvSpPr>
        <p:spPr>
          <a:xfrm>
            <a:off x="3307035" y="1642467"/>
            <a:ext cx="1365052" cy="170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Host Grotesk Medium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Saved</a:t>
            </a:r>
            <a:endParaRPr b="0" i="0" sz="1050" u="none" cap="none" strike="noStrike"/>
          </a:p>
        </p:txBody>
      </p:sp>
      <p:sp>
        <p:nvSpPr>
          <p:cNvPr id="294" name="Google Shape;294;p24"/>
          <p:cNvSpPr/>
          <p:nvPr/>
        </p:nvSpPr>
        <p:spPr>
          <a:xfrm>
            <a:off x="3307035" y="1863477"/>
            <a:ext cx="2529929" cy="145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Click heart icon</a:t>
            </a:r>
            <a:endParaRPr b="0" i="0" sz="850" u="none" cap="none" strike="noStrike"/>
          </a:p>
        </p:txBody>
      </p:sp>
      <p:pic>
        <p:nvPicPr>
          <p:cNvPr descr="preencoded.png" id="295" name="Google Shape;29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6130" y="1121569"/>
            <a:ext cx="2748260" cy="43681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4"/>
          <p:cNvSpPr/>
          <p:nvPr/>
        </p:nvSpPr>
        <p:spPr>
          <a:xfrm>
            <a:off x="6055296" y="1642467"/>
            <a:ext cx="1365052" cy="170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50"/>
              <a:buFont typeface="Host Grotesk Medium"/>
              <a:buNone/>
            </a:pPr>
            <a:r>
              <a:rPr b="0" i="0" lang="en-US" sz="10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Removed</a:t>
            </a:r>
            <a:endParaRPr b="0" i="0" sz="1050" u="none" cap="none" strike="noStrike"/>
          </a:p>
        </p:txBody>
      </p:sp>
      <p:sp>
        <p:nvSpPr>
          <p:cNvPr id="297" name="Google Shape;297;p24"/>
          <p:cNvSpPr/>
          <p:nvPr/>
        </p:nvSpPr>
        <p:spPr>
          <a:xfrm>
            <a:off x="6055296" y="1863477"/>
            <a:ext cx="2529929" cy="145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Click heart again</a:t>
            </a:r>
            <a:endParaRPr b="0" i="0" sz="850" u="none" cap="none" strike="noStrike"/>
          </a:p>
        </p:txBody>
      </p:sp>
      <p:sp>
        <p:nvSpPr>
          <p:cNvPr id="298" name="Google Shape;298;p24"/>
          <p:cNvSpPr/>
          <p:nvPr/>
        </p:nvSpPr>
        <p:spPr>
          <a:xfrm>
            <a:off x="449610" y="3144664"/>
            <a:ext cx="1365052" cy="170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050"/>
              <a:buFont typeface="Host Grotesk Medium"/>
              <a:buNone/>
            </a:pPr>
            <a:r>
              <a:rPr b="0" i="0" lang="en-US" sz="10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Transitions Tested</a:t>
            </a:r>
            <a:endParaRPr b="0" i="0" sz="1050" u="none" cap="none" strike="noStrike"/>
          </a:p>
        </p:txBody>
      </p:sp>
      <p:sp>
        <p:nvSpPr>
          <p:cNvPr id="299" name="Google Shape;299;p24"/>
          <p:cNvSpPr/>
          <p:nvPr/>
        </p:nvSpPr>
        <p:spPr>
          <a:xfrm>
            <a:off x="449610" y="3399309"/>
            <a:ext cx="2712467" cy="493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Roboto"/>
              <a:buChar char="•"/>
            </a:pPr>
            <a:r>
              <a:rPr b="0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Click heart icon → Property saved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Roboto"/>
              <a:buChar char="•"/>
            </a:pPr>
            <a:r>
              <a:rPr b="0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Click heart again → Property removed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Roboto"/>
              <a:buChar char="•"/>
            </a:pPr>
            <a:r>
              <a:rPr b="0" i="0" lang="en-US" sz="85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Log out → Saved properties persist (remembered)</a:t>
            </a:r>
            <a:endParaRPr b="0" i="0" sz="850" u="none" cap="none" strike="noStrike"/>
          </a:p>
        </p:txBody>
      </p:sp>
      <p:pic>
        <p:nvPicPr>
          <p:cNvPr descr="preencoded.png" id="300" name="Google Shape;30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3242" y="2306836"/>
            <a:ext cx="4475931" cy="2369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496119" y="1514029"/>
            <a:ext cx="2658070" cy="33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050"/>
              <a:buFont typeface="Host Grotesk Medium"/>
              <a:buNone/>
            </a:pPr>
            <a:r>
              <a:rPr b="0" i="0" lang="en-US" sz="20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Integration Testing</a:t>
            </a:r>
            <a:endParaRPr b="0" i="0" sz="2050" u="none" cap="none" strike="noStrike"/>
          </a:p>
        </p:txBody>
      </p:sp>
      <p:sp>
        <p:nvSpPr>
          <p:cNvPr id="307" name="Google Shape;307;p25"/>
          <p:cNvSpPr/>
          <p:nvPr/>
        </p:nvSpPr>
        <p:spPr>
          <a:xfrm>
            <a:off x="496119" y="1965871"/>
            <a:ext cx="8151763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We tested how features work together, not in isolation</a:t>
            </a:r>
            <a:endParaRPr b="0" i="0" sz="800" u="none" cap="none" strike="noStrike"/>
          </a:p>
        </p:txBody>
      </p:sp>
      <p:sp>
        <p:nvSpPr>
          <p:cNvPr id="308" name="Google Shape;308;p25"/>
          <p:cNvSpPr/>
          <p:nvPr/>
        </p:nvSpPr>
        <p:spPr>
          <a:xfrm>
            <a:off x="496119" y="2195066"/>
            <a:ext cx="2664098" cy="974080"/>
          </a:xfrm>
          <a:prstGeom prst="roundRect">
            <a:avLst>
              <a:gd fmla="val 4585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144" y="2306092"/>
            <a:ext cx="318939" cy="318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0" name="Google Shape;31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879" y="2393752"/>
            <a:ext cx="143470" cy="14347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/>
          <p:nvPr/>
        </p:nvSpPr>
        <p:spPr>
          <a:xfrm>
            <a:off x="607144" y="2704728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Search bar + Filter</a:t>
            </a:r>
            <a:endParaRPr b="0" i="0" sz="1000" u="none" cap="none" strike="noStrike"/>
          </a:p>
        </p:txBody>
      </p:sp>
      <p:sp>
        <p:nvSpPr>
          <p:cNvPr id="312" name="Google Shape;312;p25"/>
          <p:cNvSpPr/>
          <p:nvPr/>
        </p:nvSpPr>
        <p:spPr>
          <a:xfrm>
            <a:off x="607144" y="2918594"/>
            <a:ext cx="2442046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Working together</a:t>
            </a:r>
            <a:endParaRPr b="0" i="0" sz="800" u="none" cap="none" strike="noStrike"/>
          </a:p>
        </p:txBody>
      </p:sp>
      <p:sp>
        <p:nvSpPr>
          <p:cNvPr id="313" name="Google Shape;313;p25"/>
          <p:cNvSpPr/>
          <p:nvPr/>
        </p:nvSpPr>
        <p:spPr>
          <a:xfrm>
            <a:off x="3239914" y="2195066"/>
            <a:ext cx="2664098" cy="974080"/>
          </a:xfrm>
          <a:prstGeom prst="roundRect">
            <a:avLst>
              <a:gd fmla="val 4585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0940" y="2306092"/>
            <a:ext cx="318939" cy="318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8674" y="2393752"/>
            <a:ext cx="143470" cy="14347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5"/>
          <p:cNvSpPr/>
          <p:nvPr/>
        </p:nvSpPr>
        <p:spPr>
          <a:xfrm>
            <a:off x="3350940" y="2704728"/>
            <a:ext cx="1518940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Login → Saved Properties</a:t>
            </a:r>
            <a:endParaRPr b="0" i="0" sz="1000" u="none" cap="none" strike="noStrike"/>
          </a:p>
        </p:txBody>
      </p:sp>
      <p:sp>
        <p:nvSpPr>
          <p:cNvPr id="317" name="Google Shape;317;p25"/>
          <p:cNvSpPr/>
          <p:nvPr/>
        </p:nvSpPr>
        <p:spPr>
          <a:xfrm>
            <a:off x="3350940" y="2918594"/>
            <a:ext cx="2442046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Appearing after login</a:t>
            </a:r>
            <a:endParaRPr b="0" i="0" sz="800" u="none" cap="none" strike="noStrike"/>
          </a:p>
        </p:txBody>
      </p:sp>
      <p:sp>
        <p:nvSpPr>
          <p:cNvPr id="318" name="Google Shape;318;p25"/>
          <p:cNvSpPr/>
          <p:nvPr/>
        </p:nvSpPr>
        <p:spPr>
          <a:xfrm>
            <a:off x="5983709" y="2195066"/>
            <a:ext cx="2664098" cy="974080"/>
          </a:xfrm>
          <a:prstGeom prst="roundRect">
            <a:avLst>
              <a:gd fmla="val 4585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4735" y="2306092"/>
            <a:ext cx="318939" cy="318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0" name="Google Shape;3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2469" y="2393752"/>
            <a:ext cx="143470" cy="14347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/>
          <p:nvPr/>
        </p:nvSpPr>
        <p:spPr>
          <a:xfrm>
            <a:off x="6094735" y="2704728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Mortgage Calculator</a:t>
            </a:r>
            <a:endParaRPr b="0" i="0" sz="1000" u="none" cap="none" strike="noStrike"/>
          </a:p>
        </p:txBody>
      </p:sp>
      <p:sp>
        <p:nvSpPr>
          <p:cNvPr id="322" name="Google Shape;322;p25"/>
          <p:cNvSpPr/>
          <p:nvPr/>
        </p:nvSpPr>
        <p:spPr>
          <a:xfrm>
            <a:off x="6094735" y="2918594"/>
            <a:ext cx="2442046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Connected to listing price (auto-fill)</a:t>
            </a:r>
            <a:endParaRPr b="0" i="0" sz="800" u="none" cap="none" strike="noStrike"/>
          </a:p>
        </p:txBody>
      </p:sp>
      <p:sp>
        <p:nvSpPr>
          <p:cNvPr id="323" name="Google Shape;323;p25"/>
          <p:cNvSpPr/>
          <p:nvPr/>
        </p:nvSpPr>
        <p:spPr>
          <a:xfrm>
            <a:off x="496119" y="3258815"/>
            <a:ext cx="8151763" cy="370656"/>
          </a:xfrm>
          <a:prstGeom prst="roundRect">
            <a:avLst>
              <a:gd fmla="val 12048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2382" y="3403402"/>
            <a:ext cx="132904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5"/>
          <p:cNvSpPr/>
          <p:nvPr/>
        </p:nvSpPr>
        <p:spPr>
          <a:xfrm>
            <a:off x="841549" y="3365078"/>
            <a:ext cx="7700070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Approach: </a:t>
            </a: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Bottom-Up</a:t>
            </a:r>
            <a:endParaRPr b="0" i="0" sz="8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"/>
          <p:cNvSpPr/>
          <p:nvPr/>
        </p:nvSpPr>
        <p:spPr>
          <a:xfrm>
            <a:off x="496119" y="1514029"/>
            <a:ext cx="2658070" cy="33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050"/>
              <a:buFont typeface="Host Grotesk Medium"/>
              <a:buNone/>
            </a:pPr>
            <a:r>
              <a:rPr b="0" i="0" lang="en-US" sz="20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Integration Testing</a:t>
            </a:r>
            <a:endParaRPr b="0" i="0" sz="2050" u="none" cap="none" strike="noStrike"/>
          </a:p>
        </p:txBody>
      </p:sp>
      <p:sp>
        <p:nvSpPr>
          <p:cNvPr id="332" name="Google Shape;332;p26"/>
          <p:cNvSpPr/>
          <p:nvPr/>
        </p:nvSpPr>
        <p:spPr>
          <a:xfrm>
            <a:off x="496119" y="1965871"/>
            <a:ext cx="8151763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We tested how features work together, not in isolation</a:t>
            </a:r>
            <a:endParaRPr b="0" i="0" sz="800" u="none" cap="none" strike="noStrike"/>
          </a:p>
        </p:txBody>
      </p:sp>
      <p:sp>
        <p:nvSpPr>
          <p:cNvPr id="333" name="Google Shape;333;p26"/>
          <p:cNvSpPr/>
          <p:nvPr/>
        </p:nvSpPr>
        <p:spPr>
          <a:xfrm>
            <a:off x="496119" y="2195066"/>
            <a:ext cx="2664098" cy="974080"/>
          </a:xfrm>
          <a:prstGeom prst="roundRect">
            <a:avLst>
              <a:gd fmla="val 4585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144" y="2306092"/>
            <a:ext cx="318939" cy="318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5" name="Google Shape;33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879" y="2393752"/>
            <a:ext cx="143470" cy="14347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6"/>
          <p:cNvSpPr/>
          <p:nvPr/>
        </p:nvSpPr>
        <p:spPr>
          <a:xfrm>
            <a:off x="607144" y="2704728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Search bar + Filter</a:t>
            </a:r>
            <a:endParaRPr b="0" i="0" sz="1000" u="none" cap="none" strike="noStrike"/>
          </a:p>
        </p:txBody>
      </p:sp>
      <p:sp>
        <p:nvSpPr>
          <p:cNvPr id="337" name="Google Shape;337;p26"/>
          <p:cNvSpPr/>
          <p:nvPr/>
        </p:nvSpPr>
        <p:spPr>
          <a:xfrm>
            <a:off x="607144" y="2918594"/>
            <a:ext cx="2442046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Working together</a:t>
            </a:r>
            <a:endParaRPr b="0" i="0" sz="800" u="none" cap="none" strike="noStrike"/>
          </a:p>
        </p:txBody>
      </p:sp>
      <p:sp>
        <p:nvSpPr>
          <p:cNvPr id="338" name="Google Shape;338;p26"/>
          <p:cNvSpPr/>
          <p:nvPr/>
        </p:nvSpPr>
        <p:spPr>
          <a:xfrm>
            <a:off x="3239914" y="2195066"/>
            <a:ext cx="2664098" cy="974080"/>
          </a:xfrm>
          <a:prstGeom prst="roundRect">
            <a:avLst>
              <a:gd fmla="val 4585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9" name="Google Shape;33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0940" y="2306092"/>
            <a:ext cx="318939" cy="318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0" name="Google Shape;34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8674" y="2393752"/>
            <a:ext cx="143470" cy="14347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6"/>
          <p:cNvSpPr/>
          <p:nvPr/>
        </p:nvSpPr>
        <p:spPr>
          <a:xfrm>
            <a:off x="3350940" y="2704728"/>
            <a:ext cx="1518940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Login → Saved Properties</a:t>
            </a:r>
            <a:endParaRPr b="0" i="0" sz="1000" u="none" cap="none" strike="noStrike"/>
          </a:p>
        </p:txBody>
      </p:sp>
      <p:sp>
        <p:nvSpPr>
          <p:cNvPr id="342" name="Google Shape;342;p26"/>
          <p:cNvSpPr/>
          <p:nvPr/>
        </p:nvSpPr>
        <p:spPr>
          <a:xfrm>
            <a:off x="3350940" y="2918594"/>
            <a:ext cx="2442046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Appearing after login</a:t>
            </a:r>
            <a:endParaRPr b="0" i="0" sz="800" u="none" cap="none" strike="noStrike"/>
          </a:p>
        </p:txBody>
      </p:sp>
      <p:sp>
        <p:nvSpPr>
          <p:cNvPr id="343" name="Google Shape;343;p26"/>
          <p:cNvSpPr/>
          <p:nvPr/>
        </p:nvSpPr>
        <p:spPr>
          <a:xfrm>
            <a:off x="5983709" y="2195066"/>
            <a:ext cx="2664098" cy="974080"/>
          </a:xfrm>
          <a:prstGeom prst="roundRect">
            <a:avLst>
              <a:gd fmla="val 4585" name="adj"/>
            </a:avLst>
          </a:prstGeom>
          <a:solidFill>
            <a:srgbClr val="D9EDF2"/>
          </a:solidFill>
          <a:ln cap="flat" cmpd="sng" w="9525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4" name="Google Shape;34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4735" y="2306092"/>
            <a:ext cx="318939" cy="318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5" name="Google Shape;34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2469" y="2393752"/>
            <a:ext cx="143470" cy="14347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/>
        </p:nvSpPr>
        <p:spPr>
          <a:xfrm>
            <a:off x="6094735" y="2704728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000"/>
              <a:buFont typeface="Host Grotesk Medium"/>
              <a:buNone/>
            </a:pPr>
            <a:r>
              <a:rPr b="0" i="0" lang="en-US" sz="100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Mortgage Calculator</a:t>
            </a:r>
            <a:endParaRPr b="0" i="0" sz="1000" u="none" cap="none" strike="noStrike"/>
          </a:p>
        </p:txBody>
      </p:sp>
      <p:sp>
        <p:nvSpPr>
          <p:cNvPr id="347" name="Google Shape;347;p26"/>
          <p:cNvSpPr/>
          <p:nvPr/>
        </p:nvSpPr>
        <p:spPr>
          <a:xfrm>
            <a:off x="6094735" y="2918594"/>
            <a:ext cx="2442046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Connected to listing price (auto-fill)</a:t>
            </a:r>
            <a:endParaRPr b="0" i="0" sz="800" u="none" cap="none" strike="noStrike"/>
          </a:p>
        </p:txBody>
      </p:sp>
      <p:sp>
        <p:nvSpPr>
          <p:cNvPr id="348" name="Google Shape;348;p26"/>
          <p:cNvSpPr/>
          <p:nvPr/>
        </p:nvSpPr>
        <p:spPr>
          <a:xfrm>
            <a:off x="496119" y="3258815"/>
            <a:ext cx="8151763" cy="370656"/>
          </a:xfrm>
          <a:prstGeom prst="roundRect">
            <a:avLst>
              <a:gd fmla="val 12048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9" name="Google Shape;34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2382" y="3403402"/>
            <a:ext cx="132904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/>
        </p:nvSpPr>
        <p:spPr>
          <a:xfrm>
            <a:off x="841549" y="3365078"/>
            <a:ext cx="7700070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Approach: </a:t>
            </a: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Bottom-Up</a:t>
            </a:r>
            <a:endParaRPr b="0" i="0" sz="80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/>
          <p:nvPr/>
        </p:nvSpPr>
        <p:spPr>
          <a:xfrm>
            <a:off x="496119" y="1327993"/>
            <a:ext cx="3012504" cy="37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350"/>
              <a:buFont typeface="Host Grotesk Medium"/>
              <a:buNone/>
            </a:pPr>
            <a:r>
              <a:rPr b="0" i="0" lang="en-US" sz="23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System Testing</a:t>
            </a:r>
            <a:endParaRPr b="0" i="0" sz="2350" u="none" cap="none" strike="noStrike"/>
          </a:p>
        </p:txBody>
      </p:sp>
      <p:sp>
        <p:nvSpPr>
          <p:cNvPr id="364" name="Google Shape;364;p28"/>
          <p:cNvSpPr/>
          <p:nvPr/>
        </p:nvSpPr>
        <p:spPr>
          <a:xfrm>
            <a:off x="496119" y="1858119"/>
            <a:ext cx="8151763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Tested the full app end-to-end like a real user</a:t>
            </a:r>
            <a:endParaRPr b="0" i="0" sz="900" u="none" cap="none" strike="noStrike"/>
          </a:p>
        </p:txBody>
      </p:sp>
      <p:sp>
        <p:nvSpPr>
          <p:cNvPr id="365" name="Google Shape;365;p28"/>
          <p:cNvSpPr/>
          <p:nvPr/>
        </p:nvSpPr>
        <p:spPr>
          <a:xfrm>
            <a:off x="496119" y="2140446"/>
            <a:ext cx="240953" cy="150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Host Grotesk Light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Host Grotesk Light"/>
                <a:ea typeface="Host Grotesk Light"/>
                <a:cs typeface="Host Grotesk Light"/>
                <a:sym typeface="Host Grotesk Light"/>
              </a:rPr>
              <a:t>01</a:t>
            </a:r>
            <a:endParaRPr b="0" i="0" sz="900" u="none" cap="none" strike="noStrike"/>
          </a:p>
        </p:txBody>
      </p:sp>
      <p:pic>
        <p:nvPicPr>
          <p:cNvPr descr="preencoded.png" id="366" name="Google Shape;36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330872"/>
            <a:ext cx="4024685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8"/>
          <p:cNvSpPr/>
          <p:nvPr/>
        </p:nvSpPr>
        <p:spPr>
          <a:xfrm>
            <a:off x="496119" y="2419648"/>
            <a:ext cx="3209404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Host Grotesk Medium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Search for a 2-bed apartment in Dubai Marina</a:t>
            </a:r>
            <a:endParaRPr b="0" i="0" sz="1150" u="none" cap="none" strike="noStrike"/>
          </a:p>
        </p:txBody>
      </p:sp>
      <p:sp>
        <p:nvSpPr>
          <p:cNvPr id="368" name="Google Shape;368;p28"/>
          <p:cNvSpPr/>
          <p:nvPr/>
        </p:nvSpPr>
        <p:spPr>
          <a:xfrm>
            <a:off x="496119" y="2669307"/>
            <a:ext cx="4024685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Correct results shown</a:t>
            </a:r>
            <a:endParaRPr b="0" i="0" sz="900" u="none" cap="none" strike="noStrike"/>
          </a:p>
        </p:txBody>
      </p:sp>
      <p:sp>
        <p:nvSpPr>
          <p:cNvPr id="369" name="Google Shape;369;p28"/>
          <p:cNvSpPr/>
          <p:nvPr/>
        </p:nvSpPr>
        <p:spPr>
          <a:xfrm>
            <a:off x="4623197" y="2140446"/>
            <a:ext cx="240953" cy="150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Host Grotesk Light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Host Grotesk Light"/>
                <a:ea typeface="Host Grotesk Light"/>
                <a:cs typeface="Host Grotesk Light"/>
                <a:sym typeface="Host Grotesk Light"/>
              </a:rPr>
              <a:t>02</a:t>
            </a:r>
            <a:endParaRPr b="0" i="0" sz="900" u="none" cap="none" strike="noStrike"/>
          </a:p>
        </p:txBody>
      </p:sp>
      <p:pic>
        <p:nvPicPr>
          <p:cNvPr descr="preencoded.png" id="370" name="Google Shape;37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3197" y="2330872"/>
            <a:ext cx="4024685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8"/>
          <p:cNvSpPr/>
          <p:nvPr/>
        </p:nvSpPr>
        <p:spPr>
          <a:xfrm>
            <a:off x="4623197" y="2419648"/>
            <a:ext cx="1506215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Host Grotesk Medium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Contact agent form</a:t>
            </a:r>
            <a:endParaRPr b="0" i="0" sz="1150" u="none" cap="none" strike="noStrike"/>
          </a:p>
        </p:txBody>
      </p:sp>
      <p:sp>
        <p:nvSpPr>
          <p:cNvPr id="372" name="Google Shape;372;p28"/>
          <p:cNvSpPr/>
          <p:nvPr/>
        </p:nvSpPr>
        <p:spPr>
          <a:xfrm>
            <a:off x="4623197" y="2669307"/>
            <a:ext cx="4024685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Message sent successfully</a:t>
            </a:r>
            <a:endParaRPr b="0" i="0" sz="900" u="none" cap="none" strike="noStrike"/>
          </a:p>
        </p:txBody>
      </p:sp>
      <p:sp>
        <p:nvSpPr>
          <p:cNvPr id="373" name="Google Shape;373;p28"/>
          <p:cNvSpPr/>
          <p:nvPr/>
        </p:nvSpPr>
        <p:spPr>
          <a:xfrm>
            <a:off x="496119" y="3029173"/>
            <a:ext cx="240953" cy="150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Host Grotesk Light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Host Grotesk Light"/>
                <a:ea typeface="Host Grotesk Light"/>
                <a:cs typeface="Host Grotesk Light"/>
                <a:sym typeface="Host Grotesk Light"/>
              </a:rPr>
              <a:t>03</a:t>
            </a:r>
            <a:endParaRPr b="0" i="0" sz="900" u="none" cap="none" strike="noStrike"/>
          </a:p>
        </p:txBody>
      </p:sp>
      <p:pic>
        <p:nvPicPr>
          <p:cNvPr descr="preencoded.png" id="374" name="Google Shape;3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207544"/>
            <a:ext cx="4024685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8"/>
          <p:cNvSpPr/>
          <p:nvPr/>
        </p:nvSpPr>
        <p:spPr>
          <a:xfrm>
            <a:off x="496119" y="3308375"/>
            <a:ext cx="1506215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Host Grotesk Medium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Register new account</a:t>
            </a:r>
            <a:endParaRPr b="0" i="0" sz="1150" u="none" cap="none" strike="noStrike"/>
          </a:p>
        </p:txBody>
      </p:sp>
      <p:sp>
        <p:nvSpPr>
          <p:cNvPr id="376" name="Google Shape;376;p28"/>
          <p:cNvSpPr/>
          <p:nvPr/>
        </p:nvSpPr>
        <p:spPr>
          <a:xfrm>
            <a:off x="496119" y="3558034"/>
            <a:ext cx="4024685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Verification email received</a:t>
            </a:r>
            <a:endParaRPr b="0" i="0" sz="900" u="none" cap="none" strike="noStrike"/>
          </a:p>
        </p:txBody>
      </p:sp>
      <p:sp>
        <p:nvSpPr>
          <p:cNvPr id="377" name="Google Shape;377;p28"/>
          <p:cNvSpPr/>
          <p:nvPr/>
        </p:nvSpPr>
        <p:spPr>
          <a:xfrm>
            <a:off x="4623197" y="3029173"/>
            <a:ext cx="240953" cy="150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Host Grotesk Light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Host Grotesk Light"/>
                <a:ea typeface="Host Grotesk Light"/>
                <a:cs typeface="Host Grotesk Light"/>
                <a:sym typeface="Host Grotesk Light"/>
              </a:rPr>
              <a:t>04</a:t>
            </a:r>
            <a:endParaRPr b="0" i="0" sz="900" u="none" cap="none" strike="noStrike"/>
          </a:p>
        </p:txBody>
      </p:sp>
      <p:pic>
        <p:nvPicPr>
          <p:cNvPr descr="preencoded.png" id="378" name="Google Shape;3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3197" y="3207544"/>
            <a:ext cx="4024685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8"/>
          <p:cNvSpPr/>
          <p:nvPr/>
        </p:nvSpPr>
        <p:spPr>
          <a:xfrm>
            <a:off x="4623197" y="3308375"/>
            <a:ext cx="1506215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50"/>
              <a:buFont typeface="Host Grotesk Medium"/>
              <a:buNone/>
            </a:pPr>
            <a:r>
              <a:rPr b="0" i="0" lang="en-US" sz="11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Mobile app vs web</a:t>
            </a:r>
            <a:endParaRPr b="0" i="0" sz="1150" u="none" cap="none" strike="noStrike"/>
          </a:p>
        </p:txBody>
      </p:sp>
      <p:sp>
        <p:nvSpPr>
          <p:cNvPr id="380" name="Google Shape;380;p28"/>
          <p:cNvSpPr/>
          <p:nvPr/>
        </p:nvSpPr>
        <p:spPr>
          <a:xfrm>
            <a:off x="4623197" y="3558034"/>
            <a:ext cx="4024685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Same search, same results?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>
            <a:off x="496119" y="1030784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System Testing</a:t>
            </a:r>
            <a:endParaRPr b="0" i="0" sz="2750" u="none" cap="none" strike="noStrike"/>
          </a:p>
        </p:txBody>
      </p:sp>
      <p:sp>
        <p:nvSpPr>
          <p:cNvPr id="387" name="Google Shape;387;p29"/>
          <p:cNvSpPr/>
          <p:nvPr/>
        </p:nvSpPr>
        <p:spPr>
          <a:xfrm>
            <a:off x="496119" y="1686371"/>
            <a:ext cx="815176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Tested the full app end-to-end like a real user</a:t>
            </a:r>
            <a:endParaRPr b="0" i="0" sz="1100" u="none" cap="none" strike="noStrike"/>
          </a:p>
        </p:txBody>
      </p:sp>
      <p:sp>
        <p:nvSpPr>
          <p:cNvPr id="388" name="Google Shape;388;p29"/>
          <p:cNvSpPr/>
          <p:nvPr/>
        </p:nvSpPr>
        <p:spPr>
          <a:xfrm>
            <a:off x="496119" y="2058442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Host Grotesk Light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Host Grotesk Light"/>
                <a:ea typeface="Host Grotesk Light"/>
                <a:cs typeface="Host Grotesk Light"/>
                <a:sym typeface="Host Grotesk Light"/>
              </a:rPr>
              <a:t>01</a:t>
            </a:r>
            <a:endParaRPr b="0" i="0" sz="1100" u="none" cap="none" strike="noStrike"/>
          </a:p>
        </p:txBody>
      </p:sp>
      <p:pic>
        <p:nvPicPr>
          <p:cNvPr descr="preencoded.png" id="389" name="Google Shape;3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280345"/>
            <a:ext cx="4004965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9"/>
          <p:cNvSpPr/>
          <p:nvPr/>
        </p:nvSpPr>
        <p:spPr>
          <a:xfrm>
            <a:off x="496119" y="2389287"/>
            <a:ext cx="377577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Search for a 2-bed apartment in Dubai Marina</a:t>
            </a:r>
            <a:endParaRPr b="0" i="0" sz="1350" u="none" cap="none" strike="noStrike"/>
          </a:p>
        </p:txBody>
      </p:sp>
      <p:sp>
        <p:nvSpPr>
          <p:cNvPr id="391" name="Google Shape;391;p29"/>
          <p:cNvSpPr/>
          <p:nvPr/>
        </p:nvSpPr>
        <p:spPr>
          <a:xfrm>
            <a:off x="496119" y="2695798"/>
            <a:ext cx="4004965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Correct results shown</a:t>
            </a:r>
            <a:endParaRPr b="0" i="0" sz="1100" u="none" cap="none" strike="noStrike"/>
          </a:p>
        </p:txBody>
      </p:sp>
      <p:sp>
        <p:nvSpPr>
          <p:cNvPr id="392" name="Google Shape;392;p29"/>
          <p:cNvSpPr/>
          <p:nvPr/>
        </p:nvSpPr>
        <p:spPr>
          <a:xfrm>
            <a:off x="4642842" y="2058442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Host Grotesk Light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Host Grotesk Light"/>
                <a:ea typeface="Host Grotesk Light"/>
                <a:cs typeface="Host Grotesk Light"/>
                <a:sym typeface="Host Grotesk Light"/>
              </a:rPr>
              <a:t>02</a:t>
            </a:r>
            <a:endParaRPr b="0" i="0" sz="1100" u="none" cap="none" strike="noStrike"/>
          </a:p>
        </p:txBody>
      </p:sp>
      <p:pic>
        <p:nvPicPr>
          <p:cNvPr descr="preencoded.png" id="393" name="Google Shape;3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2842" y="2280345"/>
            <a:ext cx="4005039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9"/>
          <p:cNvSpPr/>
          <p:nvPr/>
        </p:nvSpPr>
        <p:spPr>
          <a:xfrm>
            <a:off x="4642842" y="238928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Contact agent form</a:t>
            </a:r>
            <a:endParaRPr b="0" i="0" sz="1350" u="none" cap="none" strike="noStrike"/>
          </a:p>
        </p:txBody>
      </p:sp>
      <p:sp>
        <p:nvSpPr>
          <p:cNvPr id="395" name="Google Shape;395;p29"/>
          <p:cNvSpPr/>
          <p:nvPr/>
        </p:nvSpPr>
        <p:spPr>
          <a:xfrm>
            <a:off x="4642842" y="2695798"/>
            <a:ext cx="4005039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Message sent successfully</a:t>
            </a:r>
            <a:endParaRPr b="0" i="0" sz="1100" u="none" cap="none" strike="noStrike"/>
          </a:p>
        </p:txBody>
      </p:sp>
      <p:sp>
        <p:nvSpPr>
          <p:cNvPr id="396" name="Google Shape;396;p29"/>
          <p:cNvSpPr/>
          <p:nvPr/>
        </p:nvSpPr>
        <p:spPr>
          <a:xfrm>
            <a:off x="496119" y="3156421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Host Grotesk Light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Host Grotesk Light"/>
                <a:ea typeface="Host Grotesk Light"/>
                <a:cs typeface="Host Grotesk Light"/>
                <a:sym typeface="Host Grotesk Light"/>
              </a:rPr>
              <a:t>03</a:t>
            </a:r>
            <a:endParaRPr b="0" i="0" sz="1100" u="none" cap="none" strike="noStrike"/>
          </a:p>
        </p:txBody>
      </p:sp>
      <p:pic>
        <p:nvPicPr>
          <p:cNvPr descr="preencoded.png" id="397" name="Google Shape;3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364185"/>
            <a:ext cx="4004965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9"/>
          <p:cNvSpPr/>
          <p:nvPr/>
        </p:nvSpPr>
        <p:spPr>
          <a:xfrm>
            <a:off x="496119" y="348726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Register new account</a:t>
            </a:r>
            <a:endParaRPr b="0" i="0" sz="1350" u="none" cap="none" strike="noStrike"/>
          </a:p>
        </p:txBody>
      </p:sp>
      <p:sp>
        <p:nvSpPr>
          <p:cNvPr id="399" name="Google Shape;399;p29"/>
          <p:cNvSpPr/>
          <p:nvPr/>
        </p:nvSpPr>
        <p:spPr>
          <a:xfrm>
            <a:off x="496119" y="3793778"/>
            <a:ext cx="4004965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Verification email received</a:t>
            </a:r>
            <a:endParaRPr b="0" i="0" sz="1100" u="none" cap="none" strike="noStrike"/>
          </a:p>
        </p:txBody>
      </p:sp>
      <p:sp>
        <p:nvSpPr>
          <p:cNvPr id="400" name="Google Shape;400;p29"/>
          <p:cNvSpPr/>
          <p:nvPr/>
        </p:nvSpPr>
        <p:spPr>
          <a:xfrm>
            <a:off x="4642842" y="3156421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Host Grotesk Light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Host Grotesk Light"/>
                <a:ea typeface="Host Grotesk Light"/>
                <a:cs typeface="Host Grotesk Light"/>
                <a:sym typeface="Host Grotesk Light"/>
              </a:rPr>
              <a:t>04</a:t>
            </a:r>
            <a:endParaRPr b="0" i="0" sz="1100" u="none" cap="none" strike="noStrike"/>
          </a:p>
        </p:txBody>
      </p:sp>
      <p:pic>
        <p:nvPicPr>
          <p:cNvPr descr="preencoded.png" id="401" name="Google Shape;40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2842" y="3364185"/>
            <a:ext cx="4005039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9"/>
          <p:cNvSpPr/>
          <p:nvPr/>
        </p:nvSpPr>
        <p:spPr>
          <a:xfrm>
            <a:off x="4642842" y="348726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Mobile app vs web</a:t>
            </a:r>
            <a:endParaRPr b="0" i="0" sz="1350" u="none" cap="none" strike="noStrike"/>
          </a:p>
        </p:txBody>
      </p:sp>
      <p:sp>
        <p:nvSpPr>
          <p:cNvPr id="403" name="Google Shape;403;p29"/>
          <p:cNvSpPr/>
          <p:nvPr/>
        </p:nvSpPr>
        <p:spPr>
          <a:xfrm>
            <a:off x="4642842" y="3793778"/>
            <a:ext cx="4005039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Same search, same results?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0" name="Google Shape;4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1"/>
          <p:cNvSpPr/>
          <p:nvPr/>
        </p:nvSpPr>
        <p:spPr>
          <a:xfrm>
            <a:off x="496119" y="438671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Test Cases Summary</a:t>
            </a:r>
            <a:endParaRPr b="0" i="0" sz="2750" u="none" cap="none" strike="noStrike"/>
          </a:p>
        </p:txBody>
      </p:sp>
      <p:sp>
        <p:nvSpPr>
          <p:cNvPr id="417" name="Google Shape;417;p31"/>
          <p:cNvSpPr/>
          <p:nvPr/>
        </p:nvSpPr>
        <p:spPr>
          <a:xfrm>
            <a:off x="496119" y="1165175"/>
            <a:ext cx="8151763" cy="3539654"/>
          </a:xfrm>
          <a:prstGeom prst="roundRect">
            <a:avLst>
              <a:gd fmla="val 168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1"/>
          <p:cNvSpPr/>
          <p:nvPr/>
        </p:nvSpPr>
        <p:spPr>
          <a:xfrm>
            <a:off x="500881" y="1169938"/>
            <a:ext cx="8141419" cy="39223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1"/>
          <p:cNvSpPr/>
          <p:nvPr/>
        </p:nvSpPr>
        <p:spPr>
          <a:xfrm>
            <a:off x="643533" y="1259756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Testing Level</a:t>
            </a:r>
            <a:endParaRPr b="0" i="0" sz="1100" u="none" cap="none" strike="noStrike"/>
          </a:p>
        </p:txBody>
      </p:sp>
      <p:sp>
        <p:nvSpPr>
          <p:cNvPr id="420" name="Google Shape;420;p31"/>
          <p:cNvSpPr/>
          <p:nvPr/>
        </p:nvSpPr>
        <p:spPr>
          <a:xfrm>
            <a:off x="3359423" y="1259756"/>
            <a:ext cx="2425229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Technique</a:t>
            </a:r>
            <a:endParaRPr b="0" i="0" sz="1100" u="none" cap="none" strike="noStrike"/>
          </a:p>
        </p:txBody>
      </p:sp>
      <p:sp>
        <p:nvSpPr>
          <p:cNvPr id="421" name="Google Shape;421;p31"/>
          <p:cNvSpPr/>
          <p:nvPr/>
        </p:nvSpPr>
        <p:spPr>
          <a:xfrm>
            <a:off x="6072932" y="1259756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No. of Test Cases</a:t>
            </a:r>
            <a:endParaRPr b="0" i="0" sz="1100" u="none" cap="none" strike="noStrike"/>
          </a:p>
        </p:txBody>
      </p:sp>
      <p:sp>
        <p:nvSpPr>
          <p:cNvPr id="422" name="Google Shape;422;p31"/>
          <p:cNvSpPr/>
          <p:nvPr/>
        </p:nvSpPr>
        <p:spPr>
          <a:xfrm>
            <a:off x="500881" y="1562174"/>
            <a:ext cx="8141419" cy="39223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1"/>
          <p:cNvSpPr/>
          <p:nvPr/>
        </p:nvSpPr>
        <p:spPr>
          <a:xfrm>
            <a:off x="643533" y="1651992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Unit (White-box)</a:t>
            </a:r>
            <a:endParaRPr b="0" i="0" sz="1100" u="none" cap="none" strike="noStrike"/>
          </a:p>
        </p:txBody>
      </p:sp>
      <p:sp>
        <p:nvSpPr>
          <p:cNvPr id="424" name="Google Shape;424;p31"/>
          <p:cNvSpPr/>
          <p:nvPr/>
        </p:nvSpPr>
        <p:spPr>
          <a:xfrm>
            <a:off x="3359423" y="1651992"/>
            <a:ext cx="2425229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CFG / Basis Path</a:t>
            </a:r>
            <a:endParaRPr b="0" i="0" sz="1100" u="none" cap="none" strike="noStrike"/>
          </a:p>
        </p:txBody>
      </p:sp>
      <p:sp>
        <p:nvSpPr>
          <p:cNvPr id="425" name="Google Shape;425;p31"/>
          <p:cNvSpPr/>
          <p:nvPr/>
        </p:nvSpPr>
        <p:spPr>
          <a:xfrm>
            <a:off x="6072932" y="1651992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/>
          </a:p>
        </p:txBody>
      </p:sp>
      <p:sp>
        <p:nvSpPr>
          <p:cNvPr id="426" name="Google Shape;426;p31"/>
          <p:cNvSpPr/>
          <p:nvPr/>
        </p:nvSpPr>
        <p:spPr>
          <a:xfrm>
            <a:off x="500881" y="1954411"/>
            <a:ext cx="8141419" cy="39223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1"/>
          <p:cNvSpPr/>
          <p:nvPr/>
        </p:nvSpPr>
        <p:spPr>
          <a:xfrm>
            <a:off x="643533" y="2044229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Black-box</a:t>
            </a:r>
            <a:endParaRPr b="0" i="0" sz="1100" u="none" cap="none" strike="noStrike"/>
          </a:p>
        </p:txBody>
      </p:sp>
      <p:sp>
        <p:nvSpPr>
          <p:cNvPr id="428" name="Google Shape;428;p31"/>
          <p:cNvSpPr/>
          <p:nvPr/>
        </p:nvSpPr>
        <p:spPr>
          <a:xfrm>
            <a:off x="3359423" y="2044229"/>
            <a:ext cx="2425229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ECP</a:t>
            </a:r>
            <a:endParaRPr b="0" i="0" sz="1100" u="none" cap="none" strike="noStrike"/>
          </a:p>
        </p:txBody>
      </p:sp>
      <p:sp>
        <p:nvSpPr>
          <p:cNvPr id="429" name="Google Shape;429;p31"/>
          <p:cNvSpPr/>
          <p:nvPr/>
        </p:nvSpPr>
        <p:spPr>
          <a:xfrm>
            <a:off x="6072932" y="2044229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100" u="none" cap="none" strike="noStrike"/>
          </a:p>
        </p:txBody>
      </p:sp>
      <p:sp>
        <p:nvSpPr>
          <p:cNvPr id="430" name="Google Shape;430;p31"/>
          <p:cNvSpPr/>
          <p:nvPr/>
        </p:nvSpPr>
        <p:spPr>
          <a:xfrm>
            <a:off x="500881" y="2346647"/>
            <a:ext cx="8141419" cy="39223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1"/>
          <p:cNvSpPr/>
          <p:nvPr/>
        </p:nvSpPr>
        <p:spPr>
          <a:xfrm>
            <a:off x="643533" y="2436465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Black-box</a:t>
            </a:r>
            <a:endParaRPr b="0" i="0" sz="1100" u="none" cap="none" strike="noStrike"/>
          </a:p>
        </p:txBody>
      </p:sp>
      <p:sp>
        <p:nvSpPr>
          <p:cNvPr id="432" name="Google Shape;432;p31"/>
          <p:cNvSpPr/>
          <p:nvPr/>
        </p:nvSpPr>
        <p:spPr>
          <a:xfrm>
            <a:off x="3359423" y="2436465"/>
            <a:ext cx="2425229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BVA</a:t>
            </a:r>
            <a:endParaRPr b="0" i="0" sz="1100" u="none" cap="none" strike="noStrike"/>
          </a:p>
        </p:txBody>
      </p:sp>
      <p:sp>
        <p:nvSpPr>
          <p:cNvPr id="433" name="Google Shape;433;p31"/>
          <p:cNvSpPr/>
          <p:nvPr/>
        </p:nvSpPr>
        <p:spPr>
          <a:xfrm>
            <a:off x="6072932" y="2436465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0" i="0" sz="1100" u="none" cap="none" strike="noStrike"/>
          </a:p>
        </p:txBody>
      </p:sp>
      <p:sp>
        <p:nvSpPr>
          <p:cNvPr id="434" name="Google Shape;434;p31"/>
          <p:cNvSpPr/>
          <p:nvPr/>
        </p:nvSpPr>
        <p:spPr>
          <a:xfrm>
            <a:off x="500881" y="2738884"/>
            <a:ext cx="8141419" cy="39223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1"/>
          <p:cNvSpPr/>
          <p:nvPr/>
        </p:nvSpPr>
        <p:spPr>
          <a:xfrm>
            <a:off x="643533" y="2828702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Black-box</a:t>
            </a:r>
            <a:endParaRPr b="0" i="0" sz="1100" u="none" cap="none" strike="noStrike"/>
          </a:p>
        </p:txBody>
      </p:sp>
      <p:sp>
        <p:nvSpPr>
          <p:cNvPr id="436" name="Google Shape;436;p31"/>
          <p:cNvSpPr/>
          <p:nvPr/>
        </p:nvSpPr>
        <p:spPr>
          <a:xfrm>
            <a:off x="3359423" y="2828702"/>
            <a:ext cx="2425229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Decision Table</a:t>
            </a:r>
            <a:endParaRPr b="0" i="0" sz="1100" u="none" cap="none" strike="noStrike"/>
          </a:p>
        </p:txBody>
      </p:sp>
      <p:sp>
        <p:nvSpPr>
          <p:cNvPr id="437" name="Google Shape;437;p31"/>
          <p:cNvSpPr/>
          <p:nvPr/>
        </p:nvSpPr>
        <p:spPr>
          <a:xfrm>
            <a:off x="6072932" y="2828702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100" u="none" cap="none" strike="noStrike"/>
          </a:p>
        </p:txBody>
      </p:sp>
      <p:sp>
        <p:nvSpPr>
          <p:cNvPr id="438" name="Google Shape;438;p31"/>
          <p:cNvSpPr/>
          <p:nvPr/>
        </p:nvSpPr>
        <p:spPr>
          <a:xfrm>
            <a:off x="500881" y="3131121"/>
            <a:ext cx="8141419" cy="39223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1"/>
          <p:cNvSpPr/>
          <p:nvPr/>
        </p:nvSpPr>
        <p:spPr>
          <a:xfrm>
            <a:off x="643533" y="3220938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Black-box</a:t>
            </a:r>
            <a:endParaRPr b="0" i="0" sz="1100" u="none" cap="none" strike="noStrike"/>
          </a:p>
        </p:txBody>
      </p:sp>
      <p:sp>
        <p:nvSpPr>
          <p:cNvPr id="440" name="Google Shape;440;p31"/>
          <p:cNvSpPr/>
          <p:nvPr/>
        </p:nvSpPr>
        <p:spPr>
          <a:xfrm>
            <a:off x="3359423" y="3220938"/>
            <a:ext cx="2425229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State Transition</a:t>
            </a:r>
            <a:endParaRPr b="0" i="0" sz="1100" u="none" cap="none" strike="noStrike"/>
          </a:p>
        </p:txBody>
      </p:sp>
      <p:sp>
        <p:nvSpPr>
          <p:cNvPr id="441" name="Google Shape;441;p31"/>
          <p:cNvSpPr/>
          <p:nvPr/>
        </p:nvSpPr>
        <p:spPr>
          <a:xfrm>
            <a:off x="6072932" y="3220938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100" u="none" cap="none" strike="noStrike"/>
          </a:p>
        </p:txBody>
      </p:sp>
      <p:sp>
        <p:nvSpPr>
          <p:cNvPr id="442" name="Google Shape;442;p31"/>
          <p:cNvSpPr/>
          <p:nvPr/>
        </p:nvSpPr>
        <p:spPr>
          <a:xfrm>
            <a:off x="500881" y="3523357"/>
            <a:ext cx="8141419" cy="39223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1"/>
          <p:cNvSpPr/>
          <p:nvPr/>
        </p:nvSpPr>
        <p:spPr>
          <a:xfrm>
            <a:off x="643533" y="3613175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Integration</a:t>
            </a:r>
            <a:endParaRPr b="0" i="0" sz="1100" u="none" cap="none" strike="noStrike"/>
          </a:p>
        </p:txBody>
      </p:sp>
      <p:sp>
        <p:nvSpPr>
          <p:cNvPr id="444" name="Google Shape;444;p31"/>
          <p:cNvSpPr/>
          <p:nvPr/>
        </p:nvSpPr>
        <p:spPr>
          <a:xfrm>
            <a:off x="3359423" y="3613175"/>
            <a:ext cx="2425229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Bottom-Up</a:t>
            </a:r>
            <a:endParaRPr b="0" i="0" sz="1100" u="none" cap="none" strike="noStrike"/>
          </a:p>
        </p:txBody>
      </p:sp>
      <p:sp>
        <p:nvSpPr>
          <p:cNvPr id="445" name="Google Shape;445;p31"/>
          <p:cNvSpPr/>
          <p:nvPr/>
        </p:nvSpPr>
        <p:spPr>
          <a:xfrm>
            <a:off x="6072932" y="3613175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1100" u="none" cap="none" strike="noStrike"/>
          </a:p>
        </p:txBody>
      </p:sp>
      <p:sp>
        <p:nvSpPr>
          <p:cNvPr id="446" name="Google Shape;446;p31"/>
          <p:cNvSpPr/>
          <p:nvPr/>
        </p:nvSpPr>
        <p:spPr>
          <a:xfrm>
            <a:off x="500881" y="3915594"/>
            <a:ext cx="8141419" cy="39223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43533" y="4005411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System</a:t>
            </a:r>
            <a:endParaRPr b="0" i="0" sz="1100" u="none" cap="none" strike="noStrike"/>
          </a:p>
        </p:txBody>
      </p:sp>
      <p:sp>
        <p:nvSpPr>
          <p:cNvPr id="448" name="Google Shape;448;p31"/>
          <p:cNvSpPr/>
          <p:nvPr/>
        </p:nvSpPr>
        <p:spPr>
          <a:xfrm>
            <a:off x="3359423" y="4005411"/>
            <a:ext cx="2425229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End-to-End</a:t>
            </a:r>
            <a:endParaRPr b="0" i="0" sz="1100" u="none" cap="none" strike="noStrike"/>
          </a:p>
        </p:txBody>
      </p:sp>
      <p:sp>
        <p:nvSpPr>
          <p:cNvPr id="449" name="Google Shape;449;p31"/>
          <p:cNvSpPr/>
          <p:nvPr/>
        </p:nvSpPr>
        <p:spPr>
          <a:xfrm>
            <a:off x="6072932" y="4005411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0" i="0" sz="1100" u="none" cap="none" strike="noStrike"/>
          </a:p>
        </p:txBody>
      </p:sp>
      <p:sp>
        <p:nvSpPr>
          <p:cNvPr id="450" name="Google Shape;450;p31"/>
          <p:cNvSpPr/>
          <p:nvPr/>
        </p:nvSpPr>
        <p:spPr>
          <a:xfrm>
            <a:off x="500881" y="4307830"/>
            <a:ext cx="8141419" cy="39223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1"/>
          <p:cNvSpPr/>
          <p:nvPr/>
        </p:nvSpPr>
        <p:spPr>
          <a:xfrm>
            <a:off x="643533" y="4397648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Total</a:t>
            </a:r>
            <a:endParaRPr b="0" i="0" sz="1100" u="none" cap="none" strike="noStrike"/>
          </a:p>
        </p:txBody>
      </p:sp>
      <p:sp>
        <p:nvSpPr>
          <p:cNvPr id="452" name="Google Shape;452;p31"/>
          <p:cNvSpPr/>
          <p:nvPr/>
        </p:nvSpPr>
        <p:spPr>
          <a:xfrm>
            <a:off x="3359423" y="4397648"/>
            <a:ext cx="2425229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sp>
        <p:nvSpPr>
          <p:cNvPr id="453" name="Google Shape;453;p31"/>
          <p:cNvSpPr/>
          <p:nvPr/>
        </p:nvSpPr>
        <p:spPr>
          <a:xfrm>
            <a:off x="6072932" y="4397648"/>
            <a:ext cx="2427610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32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2"/>
          <p:cNvSpPr/>
          <p:nvPr/>
        </p:nvSpPr>
        <p:spPr>
          <a:xfrm>
            <a:off x="496119" y="797942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Defects Found</a:t>
            </a:r>
            <a:endParaRPr b="0" i="0" sz="2750" u="none" cap="none" strike="noStrike"/>
          </a:p>
        </p:txBody>
      </p:sp>
      <p:sp>
        <p:nvSpPr>
          <p:cNvPr id="460" name="Google Shape;460;p32"/>
          <p:cNvSpPr/>
          <p:nvPr/>
        </p:nvSpPr>
        <p:spPr>
          <a:xfrm>
            <a:off x="496119" y="1524446"/>
            <a:ext cx="8151763" cy="2821112"/>
          </a:xfrm>
          <a:prstGeom prst="roundRect">
            <a:avLst>
              <a:gd fmla="val 2111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2"/>
          <p:cNvSpPr/>
          <p:nvPr/>
        </p:nvSpPr>
        <p:spPr>
          <a:xfrm>
            <a:off x="500881" y="1529209"/>
            <a:ext cx="8142238" cy="39223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2"/>
          <p:cNvSpPr/>
          <p:nvPr/>
        </p:nvSpPr>
        <p:spPr>
          <a:xfrm>
            <a:off x="642789" y="1619027"/>
            <a:ext cx="17496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0" i="0" sz="1100" u="none" cap="none" strike="noStrike"/>
          </a:p>
        </p:txBody>
      </p:sp>
      <p:sp>
        <p:nvSpPr>
          <p:cNvPr id="463" name="Google Shape;463;p32"/>
          <p:cNvSpPr/>
          <p:nvPr/>
        </p:nvSpPr>
        <p:spPr>
          <a:xfrm>
            <a:off x="2680692" y="1619027"/>
            <a:ext cx="1747242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Feature</a:t>
            </a:r>
            <a:endParaRPr b="0" i="0" sz="1100" u="none" cap="none" strike="noStrike"/>
          </a:p>
        </p:txBody>
      </p:sp>
      <p:sp>
        <p:nvSpPr>
          <p:cNvPr id="464" name="Google Shape;464;p32"/>
          <p:cNvSpPr/>
          <p:nvPr/>
        </p:nvSpPr>
        <p:spPr>
          <a:xfrm>
            <a:off x="4716214" y="1619027"/>
            <a:ext cx="1747242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Bug</a:t>
            </a:r>
            <a:endParaRPr b="0" i="0" sz="1100" u="none" cap="none" strike="noStrike"/>
          </a:p>
        </p:txBody>
      </p:sp>
      <p:sp>
        <p:nvSpPr>
          <p:cNvPr id="465" name="Google Shape;465;p32"/>
          <p:cNvSpPr/>
          <p:nvPr/>
        </p:nvSpPr>
        <p:spPr>
          <a:xfrm>
            <a:off x="6751737" y="1619027"/>
            <a:ext cx="17496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Severity</a:t>
            </a:r>
            <a:endParaRPr b="0" i="0" sz="1100" u="none" cap="none" strike="noStrike"/>
          </a:p>
        </p:txBody>
      </p:sp>
      <p:sp>
        <p:nvSpPr>
          <p:cNvPr id="466" name="Google Shape;466;p32"/>
          <p:cNvSpPr/>
          <p:nvPr/>
        </p:nvSpPr>
        <p:spPr>
          <a:xfrm>
            <a:off x="500881" y="1921446"/>
            <a:ext cx="8142238" cy="604838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2"/>
          <p:cNvSpPr/>
          <p:nvPr/>
        </p:nvSpPr>
        <p:spPr>
          <a:xfrm>
            <a:off x="642789" y="2011263"/>
            <a:ext cx="17496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00" u="none" cap="none" strike="noStrike"/>
          </a:p>
        </p:txBody>
      </p:sp>
      <p:sp>
        <p:nvSpPr>
          <p:cNvPr id="468" name="Google Shape;468;p32"/>
          <p:cNvSpPr/>
          <p:nvPr/>
        </p:nvSpPr>
        <p:spPr>
          <a:xfrm>
            <a:off x="2680692" y="2011263"/>
            <a:ext cx="1747242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Bedroom filter</a:t>
            </a:r>
            <a:endParaRPr b="0" i="0" sz="1100" u="none" cap="none" strike="noStrike"/>
          </a:p>
        </p:txBody>
      </p:sp>
      <p:sp>
        <p:nvSpPr>
          <p:cNvPr id="469" name="Google Shape;469;p32"/>
          <p:cNvSpPr/>
          <p:nvPr/>
        </p:nvSpPr>
        <p:spPr>
          <a:xfrm>
            <a:off x="4716214" y="2011263"/>
            <a:ext cx="1747242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Crash when Studio (0) selected</a:t>
            </a:r>
            <a:endParaRPr b="0" i="0" sz="1100" u="none" cap="none" strike="noStrike"/>
          </a:p>
        </p:txBody>
      </p:sp>
      <p:sp>
        <p:nvSpPr>
          <p:cNvPr id="470" name="Google Shape;470;p32"/>
          <p:cNvSpPr/>
          <p:nvPr/>
        </p:nvSpPr>
        <p:spPr>
          <a:xfrm>
            <a:off x="6751737" y="2011263"/>
            <a:ext cx="17496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3643D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C3643D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  <a:endParaRPr b="0" i="0" sz="1100" u="none" cap="none" strike="noStrike"/>
          </a:p>
        </p:txBody>
      </p:sp>
      <p:sp>
        <p:nvSpPr>
          <p:cNvPr id="471" name="Google Shape;471;p32"/>
          <p:cNvSpPr/>
          <p:nvPr/>
        </p:nvSpPr>
        <p:spPr>
          <a:xfrm>
            <a:off x="500881" y="2526283"/>
            <a:ext cx="8142238" cy="604838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2"/>
          <p:cNvSpPr/>
          <p:nvPr/>
        </p:nvSpPr>
        <p:spPr>
          <a:xfrm>
            <a:off x="642789" y="2616101"/>
            <a:ext cx="17496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00" u="none" cap="none" strike="noStrike"/>
          </a:p>
        </p:txBody>
      </p:sp>
      <p:sp>
        <p:nvSpPr>
          <p:cNvPr id="473" name="Google Shape;473;p32"/>
          <p:cNvSpPr/>
          <p:nvPr/>
        </p:nvSpPr>
        <p:spPr>
          <a:xfrm>
            <a:off x="2680692" y="2616101"/>
            <a:ext cx="1747242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Saved properties</a:t>
            </a:r>
            <a:endParaRPr b="0" i="0" sz="1100" u="none" cap="none" strike="noStrike"/>
          </a:p>
        </p:txBody>
      </p:sp>
      <p:sp>
        <p:nvSpPr>
          <p:cNvPr id="474" name="Google Shape;474;p32"/>
          <p:cNvSpPr/>
          <p:nvPr/>
        </p:nvSpPr>
        <p:spPr>
          <a:xfrm>
            <a:off x="4716214" y="2616101"/>
            <a:ext cx="1747242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Heart icon unresponsive on slow network</a:t>
            </a:r>
            <a:endParaRPr b="0" i="0" sz="1100" u="none" cap="none" strike="noStrike"/>
          </a:p>
        </p:txBody>
      </p:sp>
      <p:sp>
        <p:nvSpPr>
          <p:cNvPr id="475" name="Google Shape;475;p32"/>
          <p:cNvSpPr/>
          <p:nvPr/>
        </p:nvSpPr>
        <p:spPr>
          <a:xfrm>
            <a:off x="6751737" y="2616101"/>
            <a:ext cx="17496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B8CE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64B8CE"/>
                </a:solidFill>
                <a:latin typeface="Roboto"/>
                <a:ea typeface="Roboto"/>
                <a:cs typeface="Roboto"/>
                <a:sym typeface="Roboto"/>
              </a:rPr>
              <a:t>Medium</a:t>
            </a:r>
            <a:endParaRPr b="0" i="0" sz="1100" u="none" cap="none" strike="noStrike"/>
          </a:p>
        </p:txBody>
      </p:sp>
      <p:sp>
        <p:nvSpPr>
          <p:cNvPr id="476" name="Google Shape;476;p32"/>
          <p:cNvSpPr/>
          <p:nvPr/>
        </p:nvSpPr>
        <p:spPr>
          <a:xfrm>
            <a:off x="500881" y="3131121"/>
            <a:ext cx="8142238" cy="604838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2"/>
          <p:cNvSpPr/>
          <p:nvPr/>
        </p:nvSpPr>
        <p:spPr>
          <a:xfrm>
            <a:off x="642789" y="3220938"/>
            <a:ext cx="17496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00" u="none" cap="none" strike="noStrike"/>
          </a:p>
        </p:txBody>
      </p:sp>
      <p:sp>
        <p:nvSpPr>
          <p:cNvPr id="478" name="Google Shape;478;p32"/>
          <p:cNvSpPr/>
          <p:nvPr/>
        </p:nvSpPr>
        <p:spPr>
          <a:xfrm>
            <a:off x="2680692" y="3220938"/>
            <a:ext cx="1747242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Login</a:t>
            </a:r>
            <a:endParaRPr b="0" i="0" sz="1100" u="none" cap="none" strike="noStrike"/>
          </a:p>
        </p:txBody>
      </p:sp>
      <p:sp>
        <p:nvSpPr>
          <p:cNvPr id="479" name="Google Shape;479;p32"/>
          <p:cNvSpPr/>
          <p:nvPr/>
        </p:nvSpPr>
        <p:spPr>
          <a:xfrm>
            <a:off x="4716214" y="3220938"/>
            <a:ext cx="1747242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No error shown if email field is empty</a:t>
            </a:r>
            <a:endParaRPr b="0" i="0" sz="1100" u="none" cap="none" strike="noStrike"/>
          </a:p>
        </p:txBody>
      </p:sp>
      <p:sp>
        <p:nvSpPr>
          <p:cNvPr id="480" name="Google Shape;480;p32"/>
          <p:cNvSpPr/>
          <p:nvPr/>
        </p:nvSpPr>
        <p:spPr>
          <a:xfrm>
            <a:off x="6751737" y="3220938"/>
            <a:ext cx="17496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5CCDA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Low</a:t>
            </a:r>
            <a:endParaRPr b="0" i="0" sz="1100" u="none" cap="none" strike="noStrike"/>
          </a:p>
        </p:txBody>
      </p:sp>
      <p:sp>
        <p:nvSpPr>
          <p:cNvPr id="481" name="Google Shape;481;p32"/>
          <p:cNvSpPr/>
          <p:nvPr/>
        </p:nvSpPr>
        <p:spPr>
          <a:xfrm>
            <a:off x="500881" y="3735958"/>
            <a:ext cx="8142238" cy="604838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2"/>
          <p:cNvSpPr/>
          <p:nvPr/>
        </p:nvSpPr>
        <p:spPr>
          <a:xfrm>
            <a:off x="642789" y="3825776"/>
            <a:ext cx="17496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100" u="none" cap="none" strike="noStrike"/>
          </a:p>
        </p:txBody>
      </p:sp>
      <p:sp>
        <p:nvSpPr>
          <p:cNvPr id="483" name="Google Shape;483;p32"/>
          <p:cNvSpPr/>
          <p:nvPr/>
        </p:nvSpPr>
        <p:spPr>
          <a:xfrm>
            <a:off x="2680692" y="3825776"/>
            <a:ext cx="1747242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Mortgage calc</a:t>
            </a:r>
            <a:endParaRPr b="0" i="0" sz="1100" u="none" cap="none" strike="noStrike"/>
          </a:p>
        </p:txBody>
      </p:sp>
      <p:sp>
        <p:nvSpPr>
          <p:cNvPr id="484" name="Google Shape;484;p32"/>
          <p:cNvSpPr/>
          <p:nvPr/>
        </p:nvSpPr>
        <p:spPr>
          <a:xfrm>
            <a:off x="4716214" y="3825776"/>
            <a:ext cx="1747242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Accepts negative interest rate</a:t>
            </a:r>
            <a:endParaRPr b="0" i="0" sz="1100" u="none" cap="none" strike="noStrike"/>
          </a:p>
        </p:txBody>
      </p:sp>
      <p:sp>
        <p:nvSpPr>
          <p:cNvPr id="485" name="Google Shape;485;p32"/>
          <p:cNvSpPr/>
          <p:nvPr/>
        </p:nvSpPr>
        <p:spPr>
          <a:xfrm>
            <a:off x="6751737" y="3825776"/>
            <a:ext cx="174962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B8CE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64B8CE"/>
                </a:solidFill>
                <a:latin typeface="Roboto"/>
                <a:ea typeface="Roboto"/>
                <a:cs typeface="Roboto"/>
                <a:sym typeface="Roboto"/>
              </a:rPr>
              <a:t>Medium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3"/>
          <p:cNvSpPr/>
          <p:nvPr/>
        </p:nvSpPr>
        <p:spPr>
          <a:xfrm>
            <a:off x="496119" y="1284461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Lessons Learned</a:t>
            </a:r>
            <a:endParaRPr b="0" i="0" sz="2750" u="none" cap="none" strike="noStrike"/>
          </a:p>
        </p:txBody>
      </p:sp>
      <p:sp>
        <p:nvSpPr>
          <p:cNvPr id="492" name="Google Shape;492;p33"/>
          <p:cNvSpPr/>
          <p:nvPr/>
        </p:nvSpPr>
        <p:spPr>
          <a:xfrm>
            <a:off x="496119" y="2010966"/>
            <a:ext cx="2622724" cy="746820"/>
          </a:xfrm>
          <a:prstGeom prst="roundRect">
            <a:avLst>
              <a:gd fmla="val 12244" name="adj"/>
            </a:avLst>
          </a:prstGeom>
          <a:solidFill>
            <a:srgbClr val="FAF9F5"/>
          </a:solidFill>
          <a:ln cap="flat" cmpd="sng" w="19050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3" name="Google Shape;49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069" y="2010966"/>
            <a:ext cx="76200" cy="74682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3"/>
          <p:cNvSpPr/>
          <p:nvPr/>
        </p:nvSpPr>
        <p:spPr>
          <a:xfrm>
            <a:off x="714077" y="2171774"/>
            <a:ext cx="2243956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Testing even simple features reveals real bugs</a:t>
            </a:r>
            <a:endParaRPr b="0" i="0" sz="1100" u="none" cap="none" strike="noStrike"/>
          </a:p>
        </p:txBody>
      </p:sp>
      <p:sp>
        <p:nvSpPr>
          <p:cNvPr id="495" name="Google Shape;495;p33"/>
          <p:cNvSpPr/>
          <p:nvPr/>
        </p:nvSpPr>
        <p:spPr>
          <a:xfrm>
            <a:off x="3260601" y="2010966"/>
            <a:ext cx="2622724" cy="746820"/>
          </a:xfrm>
          <a:prstGeom prst="roundRect">
            <a:avLst>
              <a:gd fmla="val 12244" name="adj"/>
            </a:avLst>
          </a:prstGeom>
          <a:solidFill>
            <a:srgbClr val="FAF9F5"/>
          </a:solidFill>
          <a:ln cap="flat" cmpd="sng" w="19050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6" name="Google Shape;49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1551" y="2010966"/>
            <a:ext cx="76200" cy="74682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3"/>
          <p:cNvSpPr/>
          <p:nvPr/>
        </p:nvSpPr>
        <p:spPr>
          <a:xfrm>
            <a:off x="3478560" y="2171774"/>
            <a:ext cx="2243956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Boundary values are where most bugs hide</a:t>
            </a:r>
            <a:endParaRPr b="0" i="0" sz="1100" u="none" cap="none" strike="noStrike"/>
          </a:p>
        </p:txBody>
      </p:sp>
      <p:sp>
        <p:nvSpPr>
          <p:cNvPr id="498" name="Google Shape;498;p33"/>
          <p:cNvSpPr/>
          <p:nvPr/>
        </p:nvSpPr>
        <p:spPr>
          <a:xfrm>
            <a:off x="6025083" y="2010966"/>
            <a:ext cx="2622724" cy="746820"/>
          </a:xfrm>
          <a:prstGeom prst="roundRect">
            <a:avLst>
              <a:gd fmla="val 12244" name="adj"/>
            </a:avLst>
          </a:prstGeom>
          <a:solidFill>
            <a:srgbClr val="FAF9F5"/>
          </a:solidFill>
          <a:ln cap="flat" cmpd="sng" w="19050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9" name="Google Shape;4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6033" y="2010966"/>
            <a:ext cx="76200" cy="74682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3"/>
          <p:cNvSpPr/>
          <p:nvPr/>
        </p:nvSpPr>
        <p:spPr>
          <a:xfrm>
            <a:off x="6243042" y="2171774"/>
            <a:ext cx="2243956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State transition helped us think like real users</a:t>
            </a:r>
            <a:endParaRPr b="0" i="0" sz="1100" u="none" cap="none" strike="noStrike"/>
          </a:p>
        </p:txBody>
      </p:sp>
      <p:sp>
        <p:nvSpPr>
          <p:cNvPr id="501" name="Google Shape;501;p33"/>
          <p:cNvSpPr/>
          <p:nvPr/>
        </p:nvSpPr>
        <p:spPr>
          <a:xfrm>
            <a:off x="496119" y="2899544"/>
            <a:ext cx="2622724" cy="959421"/>
          </a:xfrm>
          <a:prstGeom prst="roundRect">
            <a:avLst>
              <a:gd fmla="val 9531" name="adj"/>
            </a:avLst>
          </a:prstGeom>
          <a:solidFill>
            <a:srgbClr val="FAF9F5"/>
          </a:solidFill>
          <a:ln cap="flat" cmpd="sng" w="19050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2" name="Google Shape;50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069" y="2899544"/>
            <a:ext cx="76200" cy="95942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3"/>
          <p:cNvSpPr/>
          <p:nvPr/>
        </p:nvSpPr>
        <p:spPr>
          <a:xfrm>
            <a:off x="714077" y="3060353"/>
            <a:ext cx="2243956" cy="425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Manual testing takes time but teaches you to observe carefully</a:t>
            </a:r>
            <a:endParaRPr b="0" i="0" sz="1100" u="none" cap="none" strike="noStrike"/>
          </a:p>
        </p:txBody>
      </p:sp>
      <p:sp>
        <p:nvSpPr>
          <p:cNvPr id="504" name="Google Shape;504;p33"/>
          <p:cNvSpPr/>
          <p:nvPr/>
        </p:nvSpPr>
        <p:spPr>
          <a:xfrm>
            <a:off x="3260601" y="2899544"/>
            <a:ext cx="2622724" cy="959421"/>
          </a:xfrm>
          <a:prstGeom prst="roundRect">
            <a:avLst>
              <a:gd fmla="val 9531" name="adj"/>
            </a:avLst>
          </a:prstGeom>
          <a:solidFill>
            <a:srgbClr val="FAF9F5"/>
          </a:solidFill>
          <a:ln cap="flat" cmpd="sng" w="19050">
            <a:solidFill>
              <a:srgbClr val="BFD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5" name="Google Shape;50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1551" y="2899544"/>
            <a:ext cx="76200" cy="959421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3"/>
          <p:cNvSpPr/>
          <p:nvPr/>
        </p:nvSpPr>
        <p:spPr>
          <a:xfrm>
            <a:off x="3478560" y="3060353"/>
            <a:ext cx="2243956" cy="637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We learned that no app is bug-free, even a top platform like Bayut has gaps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2" name="Google Shape;51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4"/>
          <p:cNvSpPr/>
          <p:nvPr/>
        </p:nvSpPr>
        <p:spPr>
          <a:xfrm>
            <a:off x="496119" y="607665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750"/>
              <a:buFont typeface="Host Grotesk Medium"/>
              <a:buNone/>
            </a:pPr>
            <a:r>
              <a:rPr b="0" i="0" lang="en-US" sz="27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Conclusion &amp; Q&amp;A</a:t>
            </a:r>
            <a:endParaRPr b="0" i="0" sz="2750" u="none" cap="none" strike="noStrike"/>
          </a:p>
        </p:txBody>
      </p:sp>
      <p:sp>
        <p:nvSpPr>
          <p:cNvPr id="515" name="Google Shape;515;p34"/>
          <p:cNvSpPr/>
          <p:nvPr/>
        </p:nvSpPr>
        <p:spPr>
          <a:xfrm>
            <a:off x="496119" y="1334095"/>
            <a:ext cx="3987254" cy="467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3650"/>
              <a:buFont typeface="Host Grotesk Medium"/>
              <a:buNone/>
            </a:pPr>
            <a:r>
              <a:rPr b="0" i="0" lang="en-US" sz="36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32</a:t>
            </a:r>
            <a:endParaRPr b="0" i="0" sz="3650" u="none" cap="none" strike="noStrike"/>
          </a:p>
        </p:txBody>
      </p:sp>
      <p:sp>
        <p:nvSpPr>
          <p:cNvPr id="516" name="Google Shape;516;p34"/>
          <p:cNvSpPr/>
          <p:nvPr/>
        </p:nvSpPr>
        <p:spPr>
          <a:xfrm>
            <a:off x="1603697" y="197896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Test Cases</a:t>
            </a:r>
            <a:endParaRPr b="0" i="0" sz="1350" u="none" cap="none" strike="noStrike"/>
          </a:p>
        </p:txBody>
      </p:sp>
      <p:sp>
        <p:nvSpPr>
          <p:cNvPr id="517" name="Google Shape;517;p34"/>
          <p:cNvSpPr/>
          <p:nvPr/>
        </p:nvSpPr>
        <p:spPr>
          <a:xfrm>
            <a:off x="496119" y="2285479"/>
            <a:ext cx="3987254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Designed and executed manually</a:t>
            </a:r>
            <a:endParaRPr b="0" i="0" sz="1100" u="none" cap="none" strike="noStrike"/>
          </a:p>
        </p:txBody>
      </p:sp>
      <p:sp>
        <p:nvSpPr>
          <p:cNvPr id="518" name="Google Shape;518;p34"/>
          <p:cNvSpPr/>
          <p:nvPr/>
        </p:nvSpPr>
        <p:spPr>
          <a:xfrm>
            <a:off x="4660553" y="1334095"/>
            <a:ext cx="3987329" cy="467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3650"/>
              <a:buFont typeface="Host Grotesk Medium"/>
              <a:buNone/>
            </a:pPr>
            <a:r>
              <a:rPr b="0" i="0" lang="en-US" sz="36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4</a:t>
            </a:r>
            <a:endParaRPr b="0" i="0" sz="3650" u="none" cap="none" strike="noStrike"/>
          </a:p>
        </p:txBody>
      </p:sp>
      <p:sp>
        <p:nvSpPr>
          <p:cNvPr id="519" name="Google Shape;519;p34"/>
          <p:cNvSpPr/>
          <p:nvPr/>
        </p:nvSpPr>
        <p:spPr>
          <a:xfrm>
            <a:off x="5768206" y="197896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Host Grotesk Medium"/>
              <a:buNone/>
            </a:pPr>
            <a:r>
              <a:rPr b="0" i="0" lang="en-US" sz="1350" u="none" cap="none" strike="noStrike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Defects Identified</a:t>
            </a:r>
            <a:endParaRPr b="0" i="0" sz="1350" u="none" cap="none" strike="noStrike"/>
          </a:p>
        </p:txBody>
      </p:sp>
      <p:sp>
        <p:nvSpPr>
          <p:cNvPr id="520" name="Google Shape;520;p34"/>
          <p:cNvSpPr/>
          <p:nvPr/>
        </p:nvSpPr>
        <p:spPr>
          <a:xfrm>
            <a:off x="4660553" y="2285479"/>
            <a:ext cx="3987329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With clear severity levels</a:t>
            </a:r>
            <a:endParaRPr b="0" i="0" sz="1100" u="none" cap="none" strike="noStrike"/>
          </a:p>
        </p:txBody>
      </p:sp>
      <p:sp>
        <p:nvSpPr>
          <p:cNvPr id="521" name="Google Shape;521;p34"/>
          <p:cNvSpPr/>
          <p:nvPr/>
        </p:nvSpPr>
        <p:spPr>
          <a:xfrm>
            <a:off x="496119" y="2657549"/>
            <a:ext cx="8151763" cy="21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We successfully applied all testing levels to Bayut UAE. Testing improved our understanding of the app's quality.</a:t>
            </a:r>
            <a:endParaRPr b="0" i="0" sz="1100" u="none" cap="none" strike="noStrike"/>
          </a:p>
        </p:txBody>
      </p:sp>
      <p:sp>
        <p:nvSpPr>
          <p:cNvPr id="522" name="Google Shape;522;p34"/>
          <p:cNvSpPr/>
          <p:nvPr/>
        </p:nvSpPr>
        <p:spPr>
          <a:xfrm>
            <a:off x="496119" y="3082751"/>
            <a:ext cx="7088312" cy="88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25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5550"/>
              <a:buFont typeface="Host Grotesk Medium"/>
              <a:buNone/>
            </a:pPr>
            <a:r>
              <a:rPr b="0" i="0" lang="en-US" sz="555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Thank You</a:t>
            </a:r>
            <a:endParaRPr b="0" i="0" sz="5550" u="none" cap="none" strike="noStrike"/>
          </a:p>
        </p:txBody>
      </p:sp>
      <p:sp>
        <p:nvSpPr>
          <p:cNvPr id="523" name="Google Shape;523;p34"/>
          <p:cNvSpPr/>
          <p:nvPr/>
        </p:nvSpPr>
        <p:spPr>
          <a:xfrm>
            <a:off x="496119" y="4181401"/>
            <a:ext cx="2835325" cy="35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200"/>
              <a:buFont typeface="Host Grotesk Medium"/>
              <a:buNone/>
            </a:pPr>
            <a:r>
              <a:rPr b="0" i="0" lang="en-US" sz="2200" u="none" cap="none" strike="noStrike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Questions?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