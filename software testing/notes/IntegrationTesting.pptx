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72" r:id="rId2"/>
    <p:sldId id="270" r:id="rId3"/>
    <p:sldId id="271" r:id="rId4"/>
    <p:sldId id="273" r:id="rId5"/>
    <p:sldId id="274" r:id="rId6"/>
    <p:sldId id="275" r:id="rId7"/>
    <p:sldId id="276" r:id="rId8"/>
    <p:sldId id="277" r:id="rId9"/>
    <p:sldId id="257" r:id="rId10"/>
    <p:sldId id="258" r:id="rId11"/>
    <p:sldId id="260" r:id="rId12"/>
    <p:sldId id="261" r:id="rId13"/>
    <p:sldId id="262" r:id="rId14"/>
    <p:sldId id="263" r:id="rId15"/>
    <p:sldId id="264" r:id="rId16"/>
    <p:sldId id="265" r:id="rId17"/>
    <p:sldId id="266" r:id="rId18"/>
    <p:sldId id="267" r:id="rId19"/>
    <p:sldId id="268" r:id="rId20"/>
    <p:sldId id="269" r:id="rId21"/>
    <p:sldId id="278" r:id="rId22"/>
    <p:sldId id="279" r:id="rId23"/>
    <p:sldId id="280" r:id="rId24"/>
    <p:sldId id="281" r:id="rId25"/>
    <p:sldId id="282" r:id="rId26"/>
    <p:sldId id="283" r:id="rId27"/>
    <p:sldId id="284" r:id="rId28"/>
    <p:sldId id="285" r:id="rId29"/>
    <p:sldId id="286" r:id="rId30"/>
    <p:sldId id="287" r:id="rId31"/>
    <p:sldId id="290" r:id="rId32"/>
    <p:sldId id="288" r:id="rId33"/>
    <p:sldId id="289" r:id="rId34"/>
    <p:sldId id="291"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822" autoAdjust="0"/>
    <p:restoredTop sz="93786" autoAdjust="0"/>
  </p:normalViewPr>
  <p:slideViewPr>
    <p:cSldViewPr snapToGrid="0">
      <p:cViewPr>
        <p:scale>
          <a:sx n="110" d="100"/>
          <a:sy n="110" d="100"/>
        </p:scale>
        <p:origin x="930" y="84"/>
      </p:cViewPr>
      <p:guideLst/>
    </p:cSldViewPr>
  </p:slideViewPr>
  <p:notesTextViewPr>
    <p:cViewPr>
      <p:scale>
        <a:sx n="1" d="1"/>
        <a:sy n="1" d="1"/>
      </p:scale>
      <p:origin x="0" y="-108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3E5F1F-1D83-474D-A42D-CD906E0C3A3A}" type="datetimeFigureOut">
              <a:rPr lang="en-US" smtClean="0"/>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726568-9AD2-4C38-92B6-D453E16076B3}" type="slidenum">
              <a:rPr lang="en-US" smtClean="0"/>
              <a:t>‹#›</a:t>
            </a:fld>
            <a:endParaRPr lang="en-US"/>
          </a:p>
        </p:txBody>
      </p:sp>
    </p:spTree>
    <p:extLst>
      <p:ext uri="{BB962C8B-B14F-4D97-AF65-F5344CB8AC3E}">
        <p14:creationId xmlns:p14="http://schemas.microsoft.com/office/powerpoint/2010/main" val="1688784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43011"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A8E1768C-E6D6-421E-86BA-0986CA0ABA35}" type="slidenum">
              <a:rPr lang="en-US" sz="1100" b="0">
                <a:solidFill>
                  <a:schemeClr val="tx1"/>
                </a:solidFill>
              </a:rPr>
              <a:pPr/>
              <a:t>1</a:t>
            </a:fld>
            <a:endParaRPr lang="en-US" sz="1100" b="0">
              <a:solidFill>
                <a:schemeClr val="tx1"/>
              </a:solidFill>
            </a:endParaRPr>
          </a:p>
        </p:txBody>
      </p:sp>
      <p:sp>
        <p:nvSpPr>
          <p:cNvPr id="43012" name="Slide Image Placeholder 1"/>
          <p:cNvSpPr>
            <a:spLocks noGrp="1" noRot="1" noChangeAspect="1" noTextEdit="1"/>
          </p:cNvSpPr>
          <p:nvPr>
            <p:ph type="sldImg"/>
          </p:nvPr>
        </p:nvSpPr>
        <p:spPr>
          <a:ln/>
        </p:spPr>
      </p:sp>
      <p:sp>
        <p:nvSpPr>
          <p:cNvPr id="4301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t>
            </a:r>
          </a:p>
          <a:p>
            <a:pPr eaLnBrk="1" hangingPunct="1"/>
            <a:r>
              <a:rPr lang="en-US" dirty="0" smtClean="0"/>
              <a:t>------------------------------------------------------------------</a:t>
            </a:r>
          </a:p>
          <a:p>
            <a:pPr eaLnBrk="1" hangingPunct="1"/>
            <a:r>
              <a:rPr lang="en-US" dirty="0" smtClean="0"/>
              <a:t>-------------------------------------------------------------------</a:t>
            </a:r>
          </a:p>
          <a:p>
            <a:pPr eaLnBrk="1" hangingPunct="1"/>
            <a:r>
              <a:rPr lang="en-US" dirty="0" smtClean="0"/>
              <a:t>--------------------------------------------------------------------</a:t>
            </a:r>
          </a:p>
          <a:p>
            <a:pPr eaLnBrk="1" hangingPunct="1"/>
            <a:endParaRPr lang="en-US" dirty="0" smtClean="0"/>
          </a:p>
        </p:txBody>
      </p:sp>
      <p:sp>
        <p:nvSpPr>
          <p:cNvPr id="43014" name="Slide Number Placeholder 3"/>
          <p:cNvSpPr txBox="1">
            <a:spLocks noGrp="1"/>
          </p:cNvSpPr>
          <p:nvPr/>
        </p:nvSpPr>
        <p:spPr bwMode="auto">
          <a:xfrm>
            <a:off x="3978275" y="8840788"/>
            <a:ext cx="3041650"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430" tIns="0" rIns="19430" bIns="0" anchor="b"/>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algn="r"/>
            <a:fld id="{DEF5880B-7CD2-4896-8BCD-9F7AA28C17A4}" type="slidenum">
              <a:rPr lang="en-US" sz="1100" b="0" i="1">
                <a:solidFill>
                  <a:schemeClr val="tx1"/>
                </a:solidFill>
              </a:rPr>
              <a:pPr algn="r"/>
              <a:t>1</a:t>
            </a:fld>
            <a:endParaRPr lang="en-US" sz="1100" b="0" i="1">
              <a:solidFill>
                <a:schemeClr val="tx1"/>
              </a:solidFill>
            </a:endParaRPr>
          </a:p>
        </p:txBody>
      </p:sp>
    </p:spTree>
    <p:extLst>
      <p:ext uri="{BB962C8B-B14F-4D97-AF65-F5344CB8AC3E}">
        <p14:creationId xmlns:p14="http://schemas.microsoft.com/office/powerpoint/2010/main" val="762597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45059"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C16A6F4E-094A-49CA-A135-1D375BC3838C}" type="slidenum">
              <a:rPr lang="en-US" sz="1100" b="0">
                <a:solidFill>
                  <a:schemeClr val="tx1"/>
                </a:solidFill>
              </a:rPr>
              <a:pPr/>
              <a:t>2</a:t>
            </a:fld>
            <a:endParaRPr lang="en-US" sz="1100" b="0">
              <a:solidFill>
                <a:schemeClr val="tx1"/>
              </a:solidFill>
            </a:endParaRPr>
          </a:p>
        </p:txBody>
      </p:sp>
      <p:sp>
        <p:nvSpPr>
          <p:cNvPr id="45060" name="Rectangle 2"/>
          <p:cNvSpPr>
            <a:spLocks noGrp="1" noRot="1" noChangeAspect="1" noChangeArrowheads="1" noTextEdit="1"/>
          </p:cNvSpPr>
          <p:nvPr>
            <p:ph type="sldImg"/>
          </p:nvPr>
        </p:nvSpPr>
        <p:spPr>
          <a:ln/>
        </p:spPr>
      </p:sp>
      <p:sp>
        <p:nvSpPr>
          <p:cNvPr id="45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2992352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46083"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A15B53B0-78D8-40B9-BB13-5859D37C3554}" type="slidenum">
              <a:rPr lang="en-US" sz="1100" b="0">
                <a:solidFill>
                  <a:schemeClr val="tx1"/>
                </a:solidFill>
              </a:rPr>
              <a:pPr/>
              <a:t>3</a:t>
            </a:fld>
            <a:endParaRPr lang="en-US" sz="1100" b="0">
              <a:solidFill>
                <a:schemeClr val="tx1"/>
              </a:solidFill>
            </a:endParaRPr>
          </a:p>
        </p:txBody>
      </p:sp>
      <p:sp>
        <p:nvSpPr>
          <p:cNvPr id="46084" name="Rectangle 2"/>
          <p:cNvSpPr>
            <a:spLocks noGrp="1" noRot="1" noChangeAspect="1" noChangeArrowheads="1" noTextEdit="1"/>
          </p:cNvSpPr>
          <p:nvPr>
            <p:ph type="sldImg"/>
          </p:nvPr>
        </p:nvSpPr>
        <p:spPr>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680911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Procedure Call Interface (Local Control Transfer)</a:t>
            </a:r>
          </a:p>
          <a:p>
            <a:r>
              <a:rPr lang="en-US" dirty="0" smtClean="0"/>
              <a:t>This is the most common and traditional form of interfacing. It involves one function explicitly invoking another, passing control and data directly across a boundary (often within the same process or application).</a:t>
            </a:r>
          </a:p>
          <a:p>
            <a:endParaRPr lang="en-US" dirty="0"/>
          </a:p>
        </p:txBody>
      </p:sp>
      <p:sp>
        <p:nvSpPr>
          <p:cNvPr id="4" name="Slide Number Placeholder 3"/>
          <p:cNvSpPr>
            <a:spLocks noGrp="1"/>
          </p:cNvSpPr>
          <p:nvPr>
            <p:ph type="sldNum" sz="quarter" idx="10"/>
          </p:nvPr>
        </p:nvSpPr>
        <p:spPr/>
        <p:txBody>
          <a:bodyPr/>
          <a:lstStyle/>
          <a:p>
            <a:fld id="{0A726568-9AD2-4C38-92B6-D453E16076B3}" type="slidenum">
              <a:rPr lang="en-US" smtClean="0"/>
              <a:t>5</a:t>
            </a:fld>
            <a:endParaRPr lang="en-US"/>
          </a:p>
        </p:txBody>
      </p:sp>
    </p:spTree>
    <p:extLst>
      <p:ext uri="{BB962C8B-B14F-4D97-AF65-F5344CB8AC3E}">
        <p14:creationId xmlns:p14="http://schemas.microsoft.com/office/powerpoint/2010/main" val="33000503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Shared Memory Interface (Direct Data Access)</a:t>
            </a:r>
          </a:p>
          <a:p>
            <a:r>
              <a:rPr lang="en-US" dirty="0" smtClean="0"/>
              <a:t>This is a high-performance method where two modules (often separate processes) bypass typical communication protocols to read and write data to the same designated block of computer memory. This is common in operating systems, gaming, and high-speed data processing applications.</a:t>
            </a:r>
          </a:p>
          <a:p>
            <a:endParaRPr lang="en-US" dirty="0"/>
          </a:p>
        </p:txBody>
      </p:sp>
      <p:sp>
        <p:nvSpPr>
          <p:cNvPr id="4" name="Slide Number Placeholder 3"/>
          <p:cNvSpPr>
            <a:spLocks noGrp="1"/>
          </p:cNvSpPr>
          <p:nvPr>
            <p:ph type="sldNum" sz="quarter" idx="10"/>
          </p:nvPr>
        </p:nvSpPr>
        <p:spPr/>
        <p:txBody>
          <a:bodyPr/>
          <a:lstStyle/>
          <a:p>
            <a:fld id="{0A726568-9AD2-4C38-92B6-D453E16076B3}" type="slidenum">
              <a:rPr lang="en-US" smtClean="0"/>
              <a:t>6</a:t>
            </a:fld>
            <a:endParaRPr lang="en-US"/>
          </a:p>
        </p:txBody>
      </p:sp>
    </p:spTree>
    <p:extLst>
      <p:ext uri="{BB962C8B-B14F-4D97-AF65-F5344CB8AC3E}">
        <p14:creationId xmlns:p14="http://schemas.microsoft.com/office/powerpoint/2010/main" val="20791290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3. Message Passing Interface (Asynchronous Communication)</a:t>
            </a:r>
          </a:p>
          <a:p>
            <a:r>
              <a:rPr lang="en-US" dirty="0" smtClean="0"/>
              <a:t>This is the dominant paradigm in distributed systems, web services, and </a:t>
            </a:r>
            <a:r>
              <a:rPr lang="en-US" dirty="0" err="1" smtClean="0"/>
              <a:t>microservices</a:t>
            </a:r>
            <a:r>
              <a:rPr lang="en-US" dirty="0" smtClean="0"/>
              <a:t> architecture. Modules communicate by sending structured messages, often asynchronously, meaning the sender doesn't wait for the recipient to process the request immediately.</a:t>
            </a:r>
            <a:endParaRPr lang="en-US" dirty="0"/>
          </a:p>
        </p:txBody>
      </p:sp>
      <p:sp>
        <p:nvSpPr>
          <p:cNvPr id="4" name="Slide Number Placeholder 3"/>
          <p:cNvSpPr>
            <a:spLocks noGrp="1"/>
          </p:cNvSpPr>
          <p:nvPr>
            <p:ph type="sldNum" sz="quarter" idx="10"/>
          </p:nvPr>
        </p:nvSpPr>
        <p:spPr/>
        <p:txBody>
          <a:bodyPr/>
          <a:lstStyle/>
          <a:p>
            <a:fld id="{0A726568-9AD2-4C38-92B6-D453E16076B3}" type="slidenum">
              <a:rPr lang="en-US" smtClean="0"/>
              <a:t>7</a:t>
            </a:fld>
            <a:endParaRPr lang="en-US"/>
          </a:p>
        </p:txBody>
      </p:sp>
    </p:spTree>
    <p:extLst>
      <p:ext uri="{BB962C8B-B14F-4D97-AF65-F5344CB8AC3E}">
        <p14:creationId xmlns:p14="http://schemas.microsoft.com/office/powerpoint/2010/main" val="7155410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49155"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5519541B-3CCA-43D7-8409-6B117654028C}" type="slidenum">
              <a:rPr lang="en-US" sz="1100" b="0">
                <a:solidFill>
                  <a:schemeClr val="tx1"/>
                </a:solidFill>
              </a:rPr>
              <a:pPr/>
              <a:t>9</a:t>
            </a:fld>
            <a:endParaRPr lang="en-US" sz="1100" b="0">
              <a:solidFill>
                <a:schemeClr val="tx1"/>
              </a:solidFill>
            </a:endParaRPr>
          </a:p>
        </p:txBody>
      </p:sp>
      <p:sp>
        <p:nvSpPr>
          <p:cNvPr id="49156" name="Rectangle 2"/>
          <p:cNvSpPr>
            <a:spLocks noGrp="1" noRot="1" noChangeAspect="1" noChangeArrowheads="1" noTextEdit="1"/>
          </p:cNvSpPr>
          <p:nvPr>
            <p:ph type="sldImg"/>
          </p:nvPr>
        </p:nvSpPr>
        <p:spPr>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9670167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50179"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37B1901D-78B9-4179-BD3C-149467D44834}" type="slidenum">
              <a:rPr lang="en-US" sz="1100" b="0">
                <a:solidFill>
                  <a:schemeClr val="tx1"/>
                </a:solidFill>
              </a:rPr>
              <a:pPr/>
              <a:t>10</a:t>
            </a:fld>
            <a:endParaRPr lang="en-US" sz="1100" b="0">
              <a:solidFill>
                <a:schemeClr val="tx1"/>
              </a:solidFill>
            </a:endParaRPr>
          </a:p>
        </p:txBody>
      </p:sp>
      <p:sp>
        <p:nvSpPr>
          <p:cNvPr id="50180" name="Rectangle 2"/>
          <p:cNvSpPr>
            <a:spLocks noGrp="1" noRot="1" noChangeAspect="1" noChangeArrowheads="1" noTextEdit="1"/>
          </p:cNvSpPr>
          <p:nvPr>
            <p:ph type="sldImg"/>
          </p:nvPr>
        </p:nvSpPr>
        <p:spPr>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 Integration testing need not wait until all the modules of a system are</a:t>
            </a:r>
          </a:p>
          <a:p>
            <a:pPr eaLnBrk="1" hangingPunct="1"/>
            <a:r>
              <a:rPr lang="en-US" dirty="0" smtClean="0"/>
              <a:t>coded and unit tested. Instead, it can begin as soon as the relevant modules are</a:t>
            </a:r>
          </a:p>
          <a:p>
            <a:pPr eaLnBrk="1" hangingPunct="1"/>
            <a:r>
              <a:rPr lang="en-US" dirty="0" smtClean="0"/>
              <a:t>available. </a:t>
            </a:r>
          </a:p>
          <a:p>
            <a:r>
              <a:rPr lang="en-US" dirty="0" smtClean="0"/>
              <a:t>This form typically requires sign-offs and verification that the following tasks are complete:</a:t>
            </a:r>
          </a:p>
          <a:p>
            <a:r>
              <a:rPr lang="en-US" b="1" dirty="0" smtClean="0"/>
              <a:t>Unit Testing Complete:</a:t>
            </a:r>
            <a:r>
              <a:rPr lang="en-US" dirty="0" smtClean="0"/>
              <a:t> All individual functions within the module have been covered by unit tests, and they all pass.</a:t>
            </a:r>
          </a:p>
          <a:p>
            <a:r>
              <a:rPr lang="en-US" b="1" dirty="0" smtClean="0"/>
              <a:t>Code Review Sign-off:</a:t>
            </a:r>
            <a:r>
              <a:rPr lang="en-US" dirty="0" smtClean="0"/>
              <a:t> The code has been formally reviewed by a peer, and all issues have been resolved.</a:t>
            </a:r>
          </a:p>
          <a:p>
            <a:r>
              <a:rPr lang="en-US" b="1" dirty="0" smtClean="0"/>
              <a:t>Documentation Complete:</a:t>
            </a:r>
            <a:r>
              <a:rPr lang="en-US" dirty="0" smtClean="0"/>
              <a:t> The module's interface (API) and any special configuration steps are clearly documented.</a:t>
            </a:r>
          </a:p>
          <a:p>
            <a:r>
              <a:rPr lang="en-US" b="1" dirty="0" smtClean="0"/>
              <a:t>Baseline Status:</a:t>
            </a:r>
            <a:r>
              <a:rPr lang="en-US" dirty="0" smtClean="0"/>
              <a:t> The code is stable and meets the project's definition of "ready."</a:t>
            </a:r>
          </a:p>
          <a:p>
            <a:pPr eaLnBrk="1" hangingPunct="1"/>
            <a:endParaRPr lang="en-US" dirty="0" smtClean="0"/>
          </a:p>
        </p:txBody>
      </p:sp>
    </p:spTree>
    <p:extLst>
      <p:ext uri="{BB962C8B-B14F-4D97-AF65-F5344CB8AC3E}">
        <p14:creationId xmlns:p14="http://schemas.microsoft.com/office/powerpoint/2010/main" val="13378355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52227"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B5B6CBF4-E002-4627-81C3-2AD7B67BA905}" type="slidenum">
              <a:rPr lang="en-US" sz="1100" b="0">
                <a:solidFill>
                  <a:schemeClr val="tx1"/>
                </a:solidFill>
              </a:rPr>
              <a:pPr/>
              <a:t>11</a:t>
            </a:fld>
            <a:endParaRPr lang="en-US" sz="1100" b="0">
              <a:solidFill>
                <a:schemeClr val="tx1"/>
              </a:solidFill>
            </a:endParaRPr>
          </a:p>
        </p:txBody>
      </p:sp>
      <p:sp>
        <p:nvSpPr>
          <p:cNvPr id="52228" name="Rectangle 2"/>
          <p:cNvSpPr>
            <a:spLocks noGrp="1" noRot="1" noChangeAspect="1" noChangeArrowheads="1" noTextEdit="1"/>
          </p:cNvSpPr>
          <p:nvPr>
            <p:ph type="sldImg"/>
          </p:nvPr>
        </p:nvSpPr>
        <p:spPr>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We might compare it to building a </a:t>
            </a:r>
            <a:r>
              <a:rPr lang="en-US" dirty="0" err="1" smtClean="0"/>
              <a:t>bicycle:The</a:t>
            </a:r>
            <a:r>
              <a:rPr lang="en-US" dirty="0" smtClean="0"/>
              <a:t> Modules are the individual parts: the chain, the pedals, and the </a:t>
            </a:r>
            <a:r>
              <a:rPr lang="en-US" dirty="0" err="1" smtClean="0"/>
              <a:t>gears.The</a:t>
            </a:r>
            <a:r>
              <a:rPr lang="en-US" dirty="0" smtClean="0"/>
              <a:t> Subassembly is the "Drivetrain"—the pedals and chain linked together. You verify that the chain moves when you push the pedals before you attach it to the frame and wheels (the final build).</a:t>
            </a:r>
          </a:p>
          <a:p>
            <a:pPr eaLnBrk="1" hangingPunct="1"/>
            <a:endParaRPr lang="en-US" dirty="0" smtClean="0"/>
          </a:p>
          <a:p>
            <a:pPr eaLnBrk="1" hangingPunct="1"/>
            <a:r>
              <a:rPr lang="en-US" dirty="0" smtClean="0"/>
              <a:t>In the context of incremental system integration, exercising version control is the process of managing, tracking, and securing the different versions of both the individual modules and the resulting subassemblies. It ensures that the integration team is always working with authorized code and can "undo" an integration step if it introduces a critical failure.</a:t>
            </a:r>
          </a:p>
          <a:p>
            <a:pPr eaLnBrk="1" hangingPunct="1"/>
            <a:endParaRPr lang="en-US" dirty="0" smtClean="0"/>
          </a:p>
        </p:txBody>
      </p:sp>
    </p:spTree>
    <p:extLst>
      <p:ext uri="{BB962C8B-B14F-4D97-AF65-F5344CB8AC3E}">
        <p14:creationId xmlns:p14="http://schemas.microsoft.com/office/powerpoint/2010/main" val="4052940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53251"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CA5E75C3-83FD-45BE-A2EE-BB567854387D}" type="slidenum">
              <a:rPr lang="en-US" sz="1100" b="0">
                <a:solidFill>
                  <a:schemeClr val="tx1"/>
                </a:solidFill>
              </a:rPr>
              <a:pPr/>
              <a:t>12</a:t>
            </a:fld>
            <a:endParaRPr lang="en-US" sz="1100" b="0">
              <a:solidFill>
                <a:schemeClr val="tx1"/>
              </a:solidFill>
            </a:endParaRPr>
          </a:p>
        </p:txBody>
      </p:sp>
      <p:sp>
        <p:nvSpPr>
          <p:cNvPr id="53252" name="Rectangle 2"/>
          <p:cNvSpPr>
            <a:spLocks noGrp="1" noRot="1" noChangeAspect="1" noChangeArrowheads="1" noTextEdit="1"/>
          </p:cNvSpPr>
          <p:nvPr>
            <p:ph type="sldImg"/>
          </p:nvPr>
        </p:nvSpPr>
        <p:spPr>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41652337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54275"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F7E9100E-C5A7-4BAE-BA3D-08723D2BD6EF}" type="slidenum">
              <a:rPr lang="en-US" sz="1100" b="0">
                <a:solidFill>
                  <a:schemeClr val="tx1"/>
                </a:solidFill>
              </a:rPr>
              <a:pPr/>
              <a:t>13</a:t>
            </a:fld>
            <a:endParaRPr lang="en-US" sz="1100" b="0">
              <a:solidFill>
                <a:schemeClr val="tx1"/>
              </a:solidFill>
            </a:endParaRPr>
          </a:p>
        </p:txBody>
      </p:sp>
      <p:sp>
        <p:nvSpPr>
          <p:cNvPr id="54276" name="Rectangle 2"/>
          <p:cNvSpPr>
            <a:spLocks noGrp="1" noRot="1" noChangeAspect="1" noChangeArrowheads="1" noTextEdit="1"/>
          </p:cNvSpPr>
          <p:nvPr>
            <p:ph type="sldImg"/>
          </p:nvPr>
        </p:nvSpPr>
        <p:spPr>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What test cases need to be selected from the system integration test plan,</a:t>
            </a:r>
          </a:p>
          <a:p>
            <a:pPr eaLnBrk="1" hangingPunct="1"/>
            <a:r>
              <a:rPr lang="en-US" dirty="0" smtClean="0"/>
              <a:t>as discussed in Section 7.6, in order to test the changes? Will these test</a:t>
            </a:r>
          </a:p>
          <a:p>
            <a:pPr eaLnBrk="1" hangingPunct="1"/>
            <a:r>
              <a:rPr lang="en-US" dirty="0" smtClean="0"/>
              <a:t>cases give feature coverage of the new and modified features? If necessary,</a:t>
            </a:r>
          </a:p>
          <a:p>
            <a:pPr eaLnBrk="1" hangingPunct="1"/>
            <a:r>
              <a:rPr lang="en-US" dirty="0" smtClean="0"/>
              <a:t>add new test cases to the system integration test plan.</a:t>
            </a:r>
          </a:p>
          <a:p>
            <a:pPr eaLnBrk="1" hangingPunct="1"/>
            <a:endParaRPr lang="en-US" dirty="0" smtClean="0"/>
          </a:p>
          <a:p>
            <a:pPr eaLnBrk="1" hangingPunct="1"/>
            <a:r>
              <a:rPr lang="en-US" dirty="0" smtClean="0"/>
              <a:t>What existing test cases can be reused without modification in order to</a:t>
            </a:r>
          </a:p>
          <a:p>
            <a:pPr eaLnBrk="1" hangingPunct="1"/>
            <a:r>
              <a:rPr lang="en-US" dirty="0" smtClean="0"/>
              <a:t>test the modified system? What previously failed test cases should now be</a:t>
            </a:r>
          </a:p>
          <a:p>
            <a:pPr eaLnBrk="1" hangingPunct="1"/>
            <a:r>
              <a:rPr lang="en-US" dirty="0" err="1" smtClean="0"/>
              <a:t>reexecuted</a:t>
            </a:r>
            <a:r>
              <a:rPr lang="en-US" dirty="0" smtClean="0"/>
              <a:t> in order to test the fixes in the new build?</a:t>
            </a:r>
          </a:p>
          <a:p>
            <a:pPr eaLnBrk="1" hangingPunct="1"/>
            <a:endParaRPr lang="en-US" dirty="0" smtClean="0"/>
          </a:p>
          <a:p>
            <a:pPr eaLnBrk="1" hangingPunct="1"/>
            <a:r>
              <a:rPr lang="en-US" dirty="0" smtClean="0"/>
              <a:t>How should the scope of a partial regression test be determined? A full</a:t>
            </a:r>
          </a:p>
          <a:p>
            <a:pPr eaLnBrk="1" hangingPunct="1"/>
            <a:r>
              <a:rPr lang="en-US" dirty="0" smtClean="0"/>
              <a:t>regression test may not be run on each build because of frequent turnaround</a:t>
            </a:r>
          </a:p>
          <a:p>
            <a:pPr eaLnBrk="1" hangingPunct="1"/>
            <a:r>
              <a:rPr lang="en-US" dirty="0" smtClean="0"/>
              <a:t>of builds. At the least, any earlier test cases which pertain to areas that</a:t>
            </a:r>
          </a:p>
          <a:p>
            <a:pPr eaLnBrk="1" hangingPunct="1"/>
            <a:r>
              <a:rPr lang="en-US" dirty="0" smtClean="0"/>
              <a:t>have been modified must be </a:t>
            </a:r>
            <a:r>
              <a:rPr lang="en-US" dirty="0" err="1" smtClean="0"/>
              <a:t>reexecuted</a:t>
            </a:r>
            <a:r>
              <a:rPr lang="en-US" dirty="0" smtClean="0"/>
              <a:t>.</a:t>
            </a:r>
          </a:p>
          <a:p>
            <a:pPr eaLnBrk="1" hangingPunct="1"/>
            <a:endParaRPr lang="en-US" dirty="0" smtClean="0"/>
          </a:p>
          <a:p>
            <a:pPr eaLnBrk="1" hangingPunct="1"/>
            <a:r>
              <a:rPr lang="en-US" dirty="0" smtClean="0"/>
              <a:t>What are the estimated time, resource demand, and cost to test this build?</a:t>
            </a:r>
          </a:p>
          <a:p>
            <a:pPr eaLnBrk="1" hangingPunct="1"/>
            <a:r>
              <a:rPr lang="en-US" dirty="0" smtClean="0"/>
              <a:t>Some builds may be skipped based on this estimate and the current </a:t>
            </a:r>
            <a:r>
              <a:rPr lang="en-US" dirty="0" err="1" smtClean="0"/>
              <a:t>activities</a:t>
            </a:r>
            <a:r>
              <a:rPr lang="en-US" dirty="0" smtClean="0"/>
              <a:t>, because the integration test engineers may choose to wait for a later</a:t>
            </a:r>
          </a:p>
          <a:p>
            <a:pPr eaLnBrk="1" hangingPunct="1"/>
            <a:r>
              <a:rPr lang="en-US" dirty="0" smtClean="0"/>
              <a:t>build.</a:t>
            </a:r>
          </a:p>
        </p:txBody>
      </p:sp>
    </p:spTree>
    <p:extLst>
      <p:ext uri="{BB962C8B-B14F-4D97-AF65-F5344CB8AC3E}">
        <p14:creationId xmlns:p14="http://schemas.microsoft.com/office/powerpoint/2010/main" val="9903057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55299"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3B6BC55B-6ED9-431D-9976-8CCD7F800204}" type="slidenum">
              <a:rPr lang="en-US" sz="1100" b="0">
                <a:solidFill>
                  <a:schemeClr val="tx1"/>
                </a:solidFill>
              </a:rPr>
              <a:pPr/>
              <a:t>14</a:t>
            </a:fld>
            <a:endParaRPr lang="en-US" sz="1100" b="0">
              <a:solidFill>
                <a:schemeClr val="tx1"/>
              </a:solidFill>
            </a:endParaRPr>
          </a:p>
        </p:txBody>
      </p:sp>
      <p:sp>
        <p:nvSpPr>
          <p:cNvPr id="55300" name="Rectangle 2"/>
          <p:cNvSpPr>
            <a:spLocks noGrp="1" noRot="1" noChangeAspect="1" noChangeArrowheads="1" noTextEdit="1"/>
          </p:cNvSpPr>
          <p:nvPr>
            <p:ph type="sldImg"/>
          </p:nvPr>
        </p:nvSpPr>
        <p:spPr>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"Integration Loop": How they work together</a:t>
            </a:r>
          </a:p>
          <a:p>
            <a:pPr>
              <a:buFont typeface="+mj-lt"/>
              <a:buAutoNum type="arabicPeriod"/>
            </a:pPr>
            <a:r>
              <a:rPr lang="en-US" b="1" dirty="0" err="1" smtClean="0"/>
              <a:t>Git</a:t>
            </a:r>
            <a:r>
              <a:rPr lang="en-US" dirty="0" smtClean="0"/>
              <a:t> holds the </a:t>
            </a:r>
            <a:r>
              <a:rPr lang="en-US" b="1" dirty="0" smtClean="0"/>
              <a:t>Authorized Modules</a:t>
            </a:r>
            <a:r>
              <a:rPr lang="en-US" dirty="0" smtClean="0"/>
              <a:t> in a central repository.</a:t>
            </a:r>
          </a:p>
          <a:p>
            <a:pPr>
              <a:buFont typeface="+mj-lt"/>
              <a:buAutoNum type="arabicPeriod"/>
            </a:pPr>
            <a:r>
              <a:rPr lang="en-US" dirty="0" smtClean="0"/>
              <a:t>A developer </a:t>
            </a:r>
            <a:r>
              <a:rPr lang="en-US" b="1" dirty="0" smtClean="0"/>
              <a:t>merges</a:t>
            </a:r>
            <a:r>
              <a:rPr lang="en-US" dirty="0" smtClean="0"/>
              <a:t> a module into the integration branch.</a:t>
            </a:r>
          </a:p>
          <a:p>
            <a:pPr>
              <a:buFont typeface="+mj-lt"/>
              <a:buAutoNum type="arabicPeriod"/>
            </a:pPr>
            <a:r>
              <a:rPr lang="en-US" b="1" dirty="0" smtClean="0"/>
              <a:t>CI</a:t>
            </a:r>
            <a:r>
              <a:rPr lang="en-US" dirty="0" smtClean="0"/>
              <a:t> detects this change, pulls the code, </a:t>
            </a:r>
            <a:r>
              <a:rPr lang="en-US" b="1" dirty="0" smtClean="0"/>
              <a:t>compiles</a:t>
            </a:r>
            <a:r>
              <a:rPr lang="en-US" dirty="0" smtClean="0"/>
              <a:t> it, and </a:t>
            </a:r>
            <a:r>
              <a:rPr lang="en-US" b="1" dirty="0" smtClean="0"/>
              <a:t>links</a:t>
            </a:r>
            <a:r>
              <a:rPr lang="en-US" dirty="0" smtClean="0"/>
              <a:t> it into a new </a:t>
            </a:r>
            <a:r>
              <a:rPr lang="en-US" b="1" dirty="0" smtClean="0"/>
              <a:t>subassembly</a:t>
            </a:r>
            <a:r>
              <a:rPr lang="en-US" dirty="0" smtClean="0"/>
              <a:t>.</a:t>
            </a:r>
          </a:p>
          <a:p>
            <a:pPr>
              <a:buFont typeface="+mj-lt"/>
              <a:buAutoNum type="arabicPeriod"/>
            </a:pPr>
            <a:r>
              <a:rPr lang="en-US" b="1" dirty="0" smtClean="0"/>
              <a:t>CI</a:t>
            </a:r>
            <a:r>
              <a:rPr lang="en-US" dirty="0" smtClean="0"/>
              <a:t> runs the </a:t>
            </a:r>
            <a:r>
              <a:rPr lang="en-US" b="1" dirty="0" smtClean="0"/>
              <a:t>Verification</a:t>
            </a:r>
            <a:r>
              <a:rPr lang="en-US" dirty="0" smtClean="0"/>
              <a:t> tests.</a:t>
            </a:r>
          </a:p>
          <a:p>
            <a:pPr>
              <a:buFont typeface="+mj-lt"/>
              <a:buAutoNum type="arabicPeriod"/>
            </a:pPr>
            <a:r>
              <a:rPr lang="en-US" dirty="0" smtClean="0"/>
              <a:t>If successful, </a:t>
            </a:r>
            <a:r>
              <a:rPr lang="en-US" b="1" dirty="0" err="1" smtClean="0"/>
              <a:t>Git</a:t>
            </a:r>
            <a:r>
              <a:rPr lang="en-US" dirty="0" smtClean="0"/>
              <a:t> "tags" the subassembly as a stable </a:t>
            </a:r>
            <a:r>
              <a:rPr lang="en-US" b="1" dirty="0" smtClean="0"/>
              <a:t>Build</a:t>
            </a:r>
            <a:r>
              <a:rPr lang="en-US" dirty="0" smtClean="0"/>
              <a:t>.</a:t>
            </a:r>
          </a:p>
          <a:p>
            <a:pPr>
              <a:buFont typeface="+mj-lt"/>
              <a:buAutoNum type="arabicPeriod"/>
            </a:pPr>
            <a:r>
              <a:rPr lang="en-US" b="1" dirty="0" smtClean="0"/>
              <a:t>CD</a:t>
            </a:r>
            <a:r>
              <a:rPr lang="en-US" dirty="0" smtClean="0"/>
              <a:t> deploys the build for further </a:t>
            </a:r>
            <a:r>
              <a:rPr lang="en-US" b="1" dirty="0" smtClean="0"/>
              <a:t>System Testing</a:t>
            </a:r>
            <a:r>
              <a:rPr lang="en-US" dirty="0" smtClean="0"/>
              <a:t>.</a:t>
            </a:r>
          </a:p>
          <a:p>
            <a:pPr eaLnBrk="1" hangingPunct="1"/>
            <a:endParaRPr lang="en-US" dirty="0" smtClean="0"/>
          </a:p>
        </p:txBody>
      </p:sp>
    </p:spTree>
    <p:extLst>
      <p:ext uri="{BB962C8B-B14F-4D97-AF65-F5344CB8AC3E}">
        <p14:creationId xmlns:p14="http://schemas.microsoft.com/office/powerpoint/2010/main" val="9161907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56323"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63E13563-CF3D-4059-9339-41418F011365}" type="slidenum">
              <a:rPr lang="en-US" sz="1100" b="0">
                <a:solidFill>
                  <a:schemeClr val="tx1"/>
                </a:solidFill>
              </a:rPr>
              <a:pPr/>
              <a:t>15</a:t>
            </a:fld>
            <a:endParaRPr lang="en-US" sz="1100" b="0">
              <a:solidFill>
                <a:schemeClr val="tx1"/>
              </a:solidFill>
            </a:endParaRPr>
          </a:p>
        </p:txBody>
      </p:sp>
      <p:sp>
        <p:nvSpPr>
          <p:cNvPr id="56324" name="Rectangle 2"/>
          <p:cNvSpPr>
            <a:spLocks noGrp="1" noRot="1" noChangeAspect="1" noChangeArrowheads="1" noTextEdit="1"/>
          </p:cNvSpPr>
          <p:nvPr>
            <p:ph type="sldImg"/>
          </p:nvPr>
        </p:nvSpPr>
        <p:spPr>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6681124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57347"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70606A31-FF78-4F27-95EA-414ED01A5776}" type="slidenum">
              <a:rPr lang="en-US" sz="1100" b="0">
                <a:solidFill>
                  <a:schemeClr val="tx1"/>
                </a:solidFill>
              </a:rPr>
              <a:pPr/>
              <a:t>16</a:t>
            </a:fld>
            <a:endParaRPr lang="en-US" sz="1100" b="0">
              <a:solidFill>
                <a:schemeClr val="tx1"/>
              </a:solidFill>
            </a:endParaRPr>
          </a:p>
        </p:txBody>
      </p:sp>
      <p:sp>
        <p:nvSpPr>
          <p:cNvPr id="57348" name="Rectangle 2"/>
          <p:cNvSpPr>
            <a:spLocks noGrp="1" noRot="1" noChangeAspect="1" noChangeArrowheads="1" noTextEdit="1"/>
          </p:cNvSpPr>
          <p:nvPr>
            <p:ph type="sldImg"/>
          </p:nvPr>
        </p:nvSpPr>
        <p:spPr>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5872595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58371"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08917EE4-14B6-48CE-B337-9A167AFEA337}" type="slidenum">
              <a:rPr lang="en-US" sz="1100" b="0">
                <a:solidFill>
                  <a:schemeClr val="tx1"/>
                </a:solidFill>
              </a:rPr>
              <a:pPr/>
              <a:t>17</a:t>
            </a:fld>
            <a:endParaRPr lang="en-US" sz="1100" b="0">
              <a:solidFill>
                <a:schemeClr val="tx1"/>
              </a:solidFill>
            </a:endParaRPr>
          </a:p>
        </p:txBody>
      </p:sp>
      <p:sp>
        <p:nvSpPr>
          <p:cNvPr id="58372" name="Rectangle 2"/>
          <p:cNvSpPr>
            <a:spLocks noGrp="1" noRot="1" noChangeAspect="1" noChangeArrowheads="1" noTextEdit="1"/>
          </p:cNvSpPr>
          <p:nvPr>
            <p:ph type="sldImg"/>
          </p:nvPr>
        </p:nvSpPr>
        <p:spPr>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dirty="0" smtClean="0">
                <a:latin typeface="Times New Roman" panose="02020603050405020304" pitchFamily="18" charset="0"/>
              </a:rPr>
              <a:t>Advantages</a:t>
            </a:r>
            <a:br>
              <a:rPr lang="en-US" b="1" dirty="0" smtClean="0">
                <a:latin typeface="Times New Roman" panose="02020603050405020304" pitchFamily="18" charset="0"/>
              </a:rPr>
            </a:br>
            <a:r>
              <a:rPr lang="en-US" b="1" dirty="0" smtClean="0"/>
              <a:t>Example:</a:t>
            </a:r>
            <a:r>
              <a:rPr lang="en-US" dirty="0" smtClean="0"/>
              <a:t> You integrate the </a:t>
            </a:r>
            <a:r>
              <a:rPr lang="en-US" b="1" dirty="0" smtClean="0"/>
              <a:t>Registration GUI</a:t>
            </a:r>
            <a:r>
              <a:rPr lang="en-US" dirty="0" smtClean="0"/>
              <a:t> with a stub for the </a:t>
            </a:r>
            <a:r>
              <a:rPr lang="en-US" b="1" dirty="0" smtClean="0"/>
              <a:t>Course Catalog</a:t>
            </a:r>
            <a:r>
              <a:rPr lang="en-US" dirty="0" smtClean="0"/>
              <a:t>. Even though the database isn't ready, the SIT engineer can already verify the "look and feel" and ensure the "Register" button correctly triggers the next screen. This builds immediate confidence that the user's primary "Trigger" works</a:t>
            </a:r>
          </a:p>
          <a:p>
            <a:pPr eaLnBrk="1" hangingPunct="1"/>
            <a:endParaRPr lang="en-US" dirty="0" smtClean="0"/>
          </a:p>
          <a:p>
            <a:pPr eaLnBrk="1" hangingPunct="1"/>
            <a:r>
              <a:rPr lang="en-US" b="1" dirty="0" smtClean="0"/>
              <a:t>Example:</a:t>
            </a:r>
            <a:r>
              <a:rPr lang="en-US" dirty="0" smtClean="0"/>
              <a:t> You add the </a:t>
            </a:r>
            <a:r>
              <a:rPr lang="en-US" b="1" dirty="0" smtClean="0"/>
              <a:t>Section Validator</a:t>
            </a:r>
            <a:r>
              <a:rPr lang="en-US" dirty="0" smtClean="0"/>
              <a:t> module to the existing UI. If the system now crashes when a student selects a time slot, you know the error is likely in the </a:t>
            </a:r>
            <a:r>
              <a:rPr lang="en-US" i="1" dirty="0" smtClean="0"/>
              <a:t>interface</a:t>
            </a:r>
            <a:r>
              <a:rPr lang="en-US" dirty="0" smtClean="0"/>
              <a:t> between the UI and the new Validator</a:t>
            </a:r>
          </a:p>
          <a:p>
            <a:pPr eaLnBrk="1" hangingPunct="1"/>
            <a:endParaRPr lang="en-US" dirty="0" smtClean="0"/>
          </a:p>
          <a:p>
            <a:pPr eaLnBrk="1" hangingPunct="1"/>
            <a:r>
              <a:rPr lang="en-US" b="1" dirty="0" smtClean="0"/>
              <a:t>Example:</a:t>
            </a:r>
            <a:r>
              <a:rPr lang="en-US" dirty="0" smtClean="0"/>
              <a:t> You create a test case: </a:t>
            </a:r>
            <a:r>
              <a:rPr lang="en-US" i="1" dirty="0" smtClean="0"/>
              <a:t>"Student selects Math 101 and clicks Register."</a:t>
            </a:r>
            <a:r>
              <a:rPr lang="en-US" dirty="0" smtClean="0"/>
              <a:t> You run this when integrating the UI. Later, when you integrate the </a:t>
            </a:r>
            <a:r>
              <a:rPr lang="en-US" b="1" dirty="0" smtClean="0"/>
              <a:t>Payment Gateway</a:t>
            </a:r>
            <a:r>
              <a:rPr lang="en-US" dirty="0" smtClean="0"/>
              <a:t>, you run that exact same "Math 101" test again to make sure the new payment code didn't break the basic registration flow.</a:t>
            </a:r>
            <a:br>
              <a:rPr lang="en-US" dirty="0" smtClean="0"/>
            </a:br>
            <a:r>
              <a:rPr lang="en-US" dirty="0" smtClean="0"/>
              <a:t/>
            </a:r>
            <a:br>
              <a:rPr lang="en-US" dirty="0" smtClean="0"/>
            </a:br>
            <a:r>
              <a:rPr lang="en-US" b="1" dirty="0" smtClean="0">
                <a:latin typeface="Times New Roman" panose="02020603050405020304" pitchFamily="18" charset="0"/>
              </a:rPr>
              <a:t>Disadvantages</a:t>
            </a:r>
            <a:br>
              <a:rPr lang="en-US" b="1" dirty="0" smtClean="0">
                <a:latin typeface="Times New Roman" panose="02020603050405020304" pitchFamily="18" charset="0"/>
              </a:rPr>
            </a:br>
            <a:r>
              <a:rPr lang="en-US" b="1" dirty="0" smtClean="0">
                <a:latin typeface="Times New Roman" panose="02020603050405020304" pitchFamily="18" charset="0"/>
              </a:rPr>
              <a:t/>
            </a:r>
            <a:br>
              <a:rPr lang="en-US" b="1" dirty="0" smtClean="0">
                <a:latin typeface="Times New Roman" panose="02020603050405020304" pitchFamily="18" charset="0"/>
              </a:rPr>
            </a:br>
            <a:r>
              <a:rPr lang="en-US" b="1" dirty="0" smtClean="0"/>
              <a:t>Example:</a:t>
            </a:r>
            <a:r>
              <a:rPr lang="en-US" dirty="0" smtClean="0"/>
              <a:t> If you integrate the </a:t>
            </a:r>
            <a:r>
              <a:rPr lang="en-US" b="1" dirty="0" smtClean="0"/>
              <a:t>Main Menu</a:t>
            </a:r>
            <a:r>
              <a:rPr lang="en-US" dirty="0" smtClean="0"/>
              <a:t> and </a:t>
            </a:r>
            <a:r>
              <a:rPr lang="en-US" b="1" dirty="0" smtClean="0"/>
              <a:t>Login</a:t>
            </a:r>
            <a:r>
              <a:rPr lang="en-US" dirty="0" smtClean="0"/>
              <a:t> first, but use stubs for </a:t>
            </a:r>
            <a:r>
              <a:rPr lang="en-US" b="1" dirty="0" smtClean="0"/>
              <a:t>Enrollment</a:t>
            </a:r>
            <a:r>
              <a:rPr lang="en-US" dirty="0" smtClean="0"/>
              <a:t>, </a:t>
            </a:r>
            <a:r>
              <a:rPr lang="en-US" b="1" dirty="0" smtClean="0"/>
              <a:t>Prerequisites</a:t>
            </a:r>
            <a:r>
              <a:rPr lang="en-US" dirty="0" smtClean="0"/>
              <a:t>, and </a:t>
            </a:r>
            <a:r>
              <a:rPr lang="en-US" b="1" dirty="0" smtClean="0"/>
              <a:t>Grading</a:t>
            </a:r>
            <a:r>
              <a:rPr lang="en-US" dirty="0" smtClean="0"/>
              <a:t>, the student cannot actually "complete" a registration. The system is just a series of empty menus. You haven't observed the "Success End Condition" (the student being added to the list) because the logic-heavy modules are at the bottom.</a:t>
            </a:r>
            <a:br>
              <a:rPr lang="en-US" dirty="0" smtClean="0"/>
            </a:br>
            <a:r>
              <a:rPr lang="en-US" dirty="0" smtClean="0"/>
              <a:t/>
            </a:r>
            <a:br>
              <a:rPr lang="en-US" dirty="0" smtClean="0"/>
            </a:br>
            <a:r>
              <a:rPr lang="en-US" b="1" dirty="0" smtClean="0"/>
              <a:t>Example:</a:t>
            </a:r>
            <a:r>
              <a:rPr lang="en-US" dirty="0" smtClean="0"/>
              <a:t> Imagine a stub for the </a:t>
            </a:r>
            <a:r>
              <a:rPr lang="en-US" b="1" dirty="0" smtClean="0"/>
              <a:t>Database</a:t>
            </a:r>
            <a:r>
              <a:rPr lang="en-US" dirty="0" smtClean="0"/>
              <a:t> is four levels below the </a:t>
            </a:r>
            <a:r>
              <a:rPr lang="en-US" b="1" dirty="0" smtClean="0"/>
              <a:t>GUI</a:t>
            </a:r>
            <a:r>
              <a:rPr lang="en-US" dirty="0" smtClean="0"/>
              <a:t>. To test how the system handles a "Database Timeout," the tester must figure out a very specific sequence of inputs at the GUI level that will travel through the "Authentication," "Session Manager," and "Course Logic" layers just to reach that deep stub. If those middle layers have their own validation, it becomes an "input-output" puzzle just to trigger a simple error.</a:t>
            </a:r>
            <a:endParaRPr lang="en-US" dirty="0" smtClean="0"/>
          </a:p>
        </p:txBody>
      </p:sp>
    </p:spTree>
    <p:extLst>
      <p:ext uri="{BB962C8B-B14F-4D97-AF65-F5344CB8AC3E}">
        <p14:creationId xmlns:p14="http://schemas.microsoft.com/office/powerpoint/2010/main" val="13747468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59395"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702E4235-68DD-4474-B74E-A3A6FCAC7A64}" type="slidenum">
              <a:rPr lang="en-US" sz="1100" b="0">
                <a:solidFill>
                  <a:schemeClr val="tx1"/>
                </a:solidFill>
              </a:rPr>
              <a:pPr/>
              <a:t>18</a:t>
            </a:fld>
            <a:endParaRPr lang="en-US" sz="1100" b="0">
              <a:solidFill>
                <a:schemeClr val="tx1"/>
              </a:solidFill>
            </a:endParaRPr>
          </a:p>
        </p:txBody>
      </p:sp>
      <p:sp>
        <p:nvSpPr>
          <p:cNvPr id="59396" name="Rectangle 2"/>
          <p:cNvSpPr>
            <a:spLocks noGrp="1" noRot="1" noChangeAspect="1" noChangeArrowheads="1" noTextEdit="1"/>
          </p:cNvSpPr>
          <p:nvPr>
            <p:ph type="sldImg"/>
          </p:nvPr>
        </p:nvSpPr>
        <p:spPr>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1024179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60419"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3C4036ED-5519-40ED-9AEE-56037F8EC899}" type="slidenum">
              <a:rPr lang="en-US" sz="1100" b="0">
                <a:solidFill>
                  <a:schemeClr val="tx1"/>
                </a:solidFill>
              </a:rPr>
              <a:pPr/>
              <a:t>19</a:t>
            </a:fld>
            <a:endParaRPr lang="en-US" sz="1100" b="0">
              <a:solidFill>
                <a:schemeClr val="tx1"/>
              </a:solidFill>
            </a:endParaRPr>
          </a:p>
        </p:txBody>
      </p:sp>
      <p:sp>
        <p:nvSpPr>
          <p:cNvPr id="60420" name="Rectangle 2"/>
          <p:cNvSpPr>
            <a:spLocks noGrp="1" noRot="1" noChangeAspect="1" noChangeArrowheads="1" noTextEdit="1"/>
          </p:cNvSpPr>
          <p:nvPr>
            <p:ph type="sldImg"/>
          </p:nvPr>
        </p:nvSpPr>
        <p:spPr>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Advantages: Examples</a:t>
            </a:r>
          </a:p>
          <a:p>
            <a:pPr eaLnBrk="1" hangingPunct="1"/>
            <a:r>
              <a:rPr lang="en-US" b="1" dirty="0" smtClean="0"/>
              <a:t>Example:</a:t>
            </a:r>
            <a:r>
              <a:rPr lang="en-US" dirty="0" smtClean="0"/>
              <a:t> To test the </a:t>
            </a:r>
            <a:r>
              <a:rPr lang="en-US" b="1" dirty="0" smtClean="0"/>
              <a:t>Database Connector module</a:t>
            </a:r>
            <a:r>
              <a:rPr lang="en-US" dirty="0" smtClean="0"/>
              <a:t>, you don't need the complex "Register for a Course" UI. You simply write a </a:t>
            </a:r>
            <a:r>
              <a:rPr lang="en-US" b="1" dirty="0" smtClean="0"/>
              <a:t>Test Driver</a:t>
            </a:r>
            <a:r>
              <a:rPr lang="en-US" dirty="0" smtClean="0"/>
              <a:t> (a small piece of code) that sends a specific Course ID (e.g., "Math 1060") to the module and verifies that it correctly returns the course details. It is much easier to write this "dummy" caller than to simulate the complex responses a database would provide in a top-down stub.</a:t>
            </a:r>
          </a:p>
          <a:p>
            <a:pPr eaLnBrk="1" hangingPunct="1"/>
            <a:endParaRPr lang="en-US" dirty="0" smtClean="0"/>
          </a:p>
          <a:p>
            <a:pPr eaLnBrk="1" hangingPunct="1"/>
            <a:r>
              <a:rPr lang="en-US" b="1" dirty="0" smtClean="0"/>
              <a:t>Example:</a:t>
            </a:r>
            <a:r>
              <a:rPr lang="en-US" dirty="0" smtClean="0"/>
              <a:t> In the University System, the </a:t>
            </a:r>
            <a:r>
              <a:rPr lang="en-US" b="1" dirty="0" smtClean="0"/>
              <a:t>Audit Logger module</a:t>
            </a:r>
            <a:r>
              <a:rPr lang="en-US" dirty="0" smtClean="0"/>
              <a:t> (which records every transaction) is used by Registration, Grading, and Billing. By testing this low-level module first, you ensure the core "logging" foundation is bug-free. This provides a stable environment for the more complex modules that will be integrated later and rely on this service.</a:t>
            </a:r>
          </a:p>
          <a:p>
            <a:pPr eaLnBrk="1" hangingPunct="1"/>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smtClean="0"/>
              <a:t>Disadvantages: Examples</a:t>
            </a:r>
          </a:p>
          <a:p>
            <a:pPr eaLnBrk="1" hangingPunct="1"/>
            <a:r>
              <a:rPr lang="en-US" b="1" dirty="0" smtClean="0"/>
              <a:t>Example:</a:t>
            </a:r>
            <a:r>
              <a:rPr lang="en-US" dirty="0" smtClean="0"/>
              <a:t> You have integrated the Database, the Section Validator, and the Enrollment logic perfectly. At the very end, you integrate the </a:t>
            </a:r>
            <a:r>
              <a:rPr lang="en-US" b="1" dirty="0" smtClean="0"/>
              <a:t>Top-Level UI</a:t>
            </a:r>
            <a:r>
              <a:rPr lang="en-US" dirty="0" smtClean="0"/>
              <a:t>. Only then do you realize the UI design requires a "Real-time Seat Counter" that your low-level architecture doesn't support. Because this structural flaw is found at the end, you have to rewrite several "finished" modules.</a:t>
            </a:r>
          </a:p>
          <a:p>
            <a:pPr eaLnBrk="1" hangingPunct="1"/>
            <a:endParaRPr lang="en-US" dirty="0" smtClean="0"/>
          </a:p>
          <a:p>
            <a:pPr eaLnBrk="1" hangingPunct="1"/>
            <a:r>
              <a:rPr lang="en-US" b="1" dirty="0" smtClean="0"/>
              <a:t>Example:</a:t>
            </a:r>
            <a:r>
              <a:rPr lang="en-US" dirty="0" smtClean="0"/>
              <a:t> You have integrated 80% of the back-end code for the "Register for a Course" use case. However, without the </a:t>
            </a:r>
            <a:r>
              <a:rPr lang="en-US" b="1" dirty="0" smtClean="0"/>
              <a:t>Top-Level GUI</a:t>
            </a:r>
            <a:r>
              <a:rPr lang="en-US" dirty="0" smtClean="0"/>
              <a:t>, you cannot actually perform a "Registration" from a user's perspective. To a stakeholder or student, the system doesn't "exist" yet because the trigger (the UI button) is the last piece to be added.</a:t>
            </a:r>
            <a:endParaRPr lang="en-US" dirty="0" smtClean="0"/>
          </a:p>
        </p:txBody>
      </p:sp>
    </p:spTree>
    <p:extLst>
      <p:ext uri="{BB962C8B-B14F-4D97-AF65-F5344CB8AC3E}">
        <p14:creationId xmlns:p14="http://schemas.microsoft.com/office/powerpoint/2010/main" val="17141553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61443"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pPr/>
              <a:t>20</a:t>
            </a:fld>
            <a:endParaRPr lang="en-US" sz="1100" b="0">
              <a:solidFill>
                <a:schemeClr val="tx1"/>
              </a:solidFill>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41161147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61443"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pPr/>
              <a:t>21</a:t>
            </a:fld>
            <a:endParaRPr lang="en-US" sz="1100" b="0">
              <a:solidFill>
                <a:schemeClr val="tx1"/>
              </a:solidFill>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41573184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61443"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pPr/>
              <a:t>22</a:t>
            </a:fld>
            <a:endParaRPr lang="en-US" sz="1100" b="0">
              <a:solidFill>
                <a:schemeClr val="tx1"/>
              </a:solidFill>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1. Functional Characteristics (The "What")</a:t>
            </a:r>
          </a:p>
          <a:p>
            <a:r>
              <a:rPr lang="en-US" dirty="0" smtClean="0"/>
              <a:t>This focus involves testing the </a:t>
            </a:r>
            <a:r>
              <a:rPr lang="en-US" b="1" dirty="0" smtClean="0"/>
              <a:t>services</a:t>
            </a:r>
            <a:r>
              <a:rPr lang="en-US" dirty="0" smtClean="0"/>
              <a:t> provided by the integrated modules. The architecture summary identifies which module provides a specific function (e.g., an API endpoint) and which modules consume that function.</a:t>
            </a:r>
          </a:p>
          <a:p>
            <a:r>
              <a:rPr lang="en-US" b="1" dirty="0" smtClean="0"/>
              <a:t>Testing Goal:</a:t>
            </a:r>
            <a:r>
              <a:rPr lang="en-US" dirty="0" smtClean="0"/>
              <a:t> To verify that the service being accessed (e.g., </a:t>
            </a:r>
            <a:r>
              <a:rPr lang="en-US" dirty="0" err="1" smtClean="0"/>
              <a:t>InventoryService.reserve_stock</a:t>
            </a:r>
            <a:r>
              <a:rPr lang="en-US" dirty="0" smtClean="0"/>
              <a:t>()) performs its intended business function correctly, accepting the right inputs and producing the right outputs.</a:t>
            </a:r>
          </a:p>
          <a:p>
            <a:r>
              <a:rPr lang="en-US" b="1" dirty="0" smtClean="0"/>
              <a:t>2. Internal Characteristics (The "How")</a:t>
            </a:r>
          </a:p>
          <a:p>
            <a:r>
              <a:rPr lang="en-US" dirty="0" smtClean="0"/>
              <a:t>This focus is on the technical </a:t>
            </a:r>
            <a:r>
              <a:rPr lang="en-US" b="1" dirty="0" smtClean="0"/>
              <a:t>interface mechanism</a:t>
            </a:r>
            <a:r>
              <a:rPr lang="en-US" dirty="0" smtClean="0"/>
              <a:t> that links the modules (the channels we previously discussed).</a:t>
            </a:r>
          </a:p>
          <a:p>
            <a:r>
              <a:rPr lang="en-US" b="1" dirty="0" smtClean="0"/>
              <a:t>Testing Goal:</a:t>
            </a:r>
            <a:r>
              <a:rPr lang="en-US" dirty="0" smtClean="0"/>
              <a:t> To ensure the technical communication layer is robust. This includes validating the integrity of the </a:t>
            </a:r>
            <a:r>
              <a:rPr lang="en-US" b="1" dirty="0" smtClean="0"/>
              <a:t>Message Payload</a:t>
            </a:r>
            <a:r>
              <a:rPr lang="en-US" dirty="0" smtClean="0"/>
              <a:t> (Message Passing Interface), testing </a:t>
            </a:r>
            <a:r>
              <a:rPr lang="en-US" b="1" dirty="0" smtClean="0"/>
              <a:t>Synchronization</a:t>
            </a:r>
            <a:r>
              <a:rPr lang="en-US" dirty="0" smtClean="0"/>
              <a:t> (Shared Memory Interface), and verifying </a:t>
            </a:r>
            <a:r>
              <a:rPr lang="en-US" b="1" dirty="0" smtClean="0"/>
              <a:t>Data Typing</a:t>
            </a:r>
            <a:r>
              <a:rPr lang="en-US" dirty="0" smtClean="0"/>
              <a:t> (Procedure Call Interface). Errors here are typically integration bugs (e.g., a service sends a JSON object, but the receiving service expects XML).</a:t>
            </a:r>
          </a:p>
          <a:p>
            <a:r>
              <a:rPr lang="en-US" b="1" dirty="0" smtClean="0"/>
              <a:t>3. Performance Characteristics (The "Efficiency")</a:t>
            </a:r>
          </a:p>
          <a:p>
            <a:r>
              <a:rPr lang="en-US" dirty="0" smtClean="0"/>
              <a:t>This focus involves assessing the performance implications of the interfaces themselves.</a:t>
            </a:r>
          </a:p>
          <a:p>
            <a:r>
              <a:rPr lang="en-US" b="1" dirty="0" smtClean="0"/>
              <a:t>Testing Goal:</a:t>
            </a:r>
            <a:r>
              <a:rPr lang="en-US" dirty="0" smtClean="0"/>
              <a:t> To identify potential </a:t>
            </a:r>
            <a:r>
              <a:rPr lang="en-US" b="1" dirty="0" smtClean="0"/>
              <a:t>bottlenecks</a:t>
            </a:r>
            <a:r>
              <a:rPr lang="en-US" dirty="0" smtClean="0"/>
              <a:t> where integrated components slow down the overall system. For example, if a Use Case involves 10 sequential RESTful API calls between subsystems (Message Passing), the test summary must flag that integration point for latency and throughput measurement, ensuring the interfaces don't introduce unacceptable delays.</a:t>
            </a:r>
          </a:p>
          <a:p>
            <a:pPr eaLnBrk="1" hangingPunct="1"/>
            <a:endParaRPr lang="en-US" dirty="0" smtClean="0"/>
          </a:p>
        </p:txBody>
      </p:sp>
    </p:spTree>
    <p:extLst>
      <p:ext uri="{BB962C8B-B14F-4D97-AF65-F5344CB8AC3E}">
        <p14:creationId xmlns:p14="http://schemas.microsoft.com/office/powerpoint/2010/main" val="37042016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61443"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pPr/>
              <a:t>23</a:t>
            </a:fld>
            <a:endParaRPr lang="en-US" sz="1100" b="0">
              <a:solidFill>
                <a:schemeClr val="tx1"/>
              </a:solidFill>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extLst>
      <p:ext uri="{BB962C8B-B14F-4D97-AF65-F5344CB8AC3E}">
        <p14:creationId xmlns:p14="http://schemas.microsoft.com/office/powerpoint/2010/main" val="27636575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61443"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pPr/>
              <a:t>24</a:t>
            </a:fld>
            <a:endParaRPr lang="en-US" sz="1100" b="0">
              <a:solidFill>
                <a:schemeClr val="tx1"/>
              </a:solidFill>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extLst>
      <p:ext uri="{BB962C8B-B14F-4D97-AF65-F5344CB8AC3E}">
        <p14:creationId xmlns:p14="http://schemas.microsoft.com/office/powerpoint/2010/main" val="28421919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61443"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pPr/>
              <a:t>25</a:t>
            </a:fld>
            <a:endParaRPr lang="en-US" sz="1100" b="0">
              <a:solidFill>
                <a:schemeClr val="tx1"/>
              </a:solidFill>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extLst>
      <p:ext uri="{BB962C8B-B14F-4D97-AF65-F5344CB8AC3E}">
        <p14:creationId xmlns:p14="http://schemas.microsoft.com/office/powerpoint/2010/main" val="10861179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61443"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pPr/>
              <a:t>26</a:t>
            </a:fld>
            <a:endParaRPr lang="en-US" sz="1100" b="0">
              <a:solidFill>
                <a:schemeClr val="tx1"/>
              </a:solidFill>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extLst>
      <p:ext uri="{BB962C8B-B14F-4D97-AF65-F5344CB8AC3E}">
        <p14:creationId xmlns:p14="http://schemas.microsoft.com/office/powerpoint/2010/main" val="17900408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61443"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pPr/>
              <a:t>27</a:t>
            </a:fld>
            <a:endParaRPr lang="en-US" sz="1100" b="0">
              <a:solidFill>
                <a:schemeClr val="tx1"/>
              </a:solidFill>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extLst>
      <p:ext uri="{BB962C8B-B14F-4D97-AF65-F5344CB8AC3E}">
        <p14:creationId xmlns:p14="http://schemas.microsoft.com/office/powerpoint/2010/main" val="22684691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61443"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pPr/>
              <a:t>28</a:t>
            </a:fld>
            <a:endParaRPr lang="en-US" sz="1100" b="0">
              <a:solidFill>
                <a:schemeClr val="tx1"/>
              </a:solidFill>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extLst>
      <p:ext uri="{BB962C8B-B14F-4D97-AF65-F5344CB8AC3E}">
        <p14:creationId xmlns:p14="http://schemas.microsoft.com/office/powerpoint/2010/main" val="39286177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61443"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pPr/>
              <a:t>29</a:t>
            </a:fld>
            <a:endParaRPr lang="en-US" sz="1100" b="0">
              <a:solidFill>
                <a:schemeClr val="tx1"/>
              </a:solidFill>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extLst>
      <p:ext uri="{BB962C8B-B14F-4D97-AF65-F5344CB8AC3E}">
        <p14:creationId xmlns:p14="http://schemas.microsoft.com/office/powerpoint/2010/main" val="10780814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61443"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pPr/>
              <a:t>30</a:t>
            </a:fld>
            <a:endParaRPr lang="en-US" sz="1100" b="0">
              <a:solidFill>
                <a:schemeClr val="tx1"/>
              </a:solidFill>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 wrapper is a piece of code that one builds to isolate the underlying compo </a:t>
            </a:r>
            <a:r>
              <a:rPr lang="en-US" dirty="0" err="1" smtClean="0"/>
              <a:t>nents</a:t>
            </a:r>
            <a:r>
              <a:rPr lang="en-US" dirty="0" smtClean="0"/>
              <a:t> from other components of the system. Here isolate means putting restrictions around the underlying component to constrain its capabilities. A glue component provides the functionality to combine different components. Component tailoring refers to the ability to enhance the functionality of a component. Tailoring is done by adding some elements to a component to enrich it with a functionality not provided by the vendor. Tailoring does not involve modifying the source code of the component. An example of tailoring is “scripting,” where an application can be enhanced by executing a script upon the occurrence of some event.</a:t>
            </a:r>
          </a:p>
        </p:txBody>
      </p:sp>
    </p:spTree>
    <p:extLst>
      <p:ext uri="{BB962C8B-B14F-4D97-AF65-F5344CB8AC3E}">
        <p14:creationId xmlns:p14="http://schemas.microsoft.com/office/powerpoint/2010/main" val="6700447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61443"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pPr/>
              <a:t>31</a:t>
            </a:fld>
            <a:endParaRPr lang="en-US" sz="1100" b="0">
              <a:solidFill>
                <a:schemeClr val="tx1"/>
              </a:solidFill>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 wrapper is a piece of code that one builds to isolate the underlying compo </a:t>
            </a:r>
            <a:r>
              <a:rPr lang="en-US" dirty="0" err="1" smtClean="0"/>
              <a:t>nents</a:t>
            </a:r>
            <a:r>
              <a:rPr lang="en-US" dirty="0" smtClean="0"/>
              <a:t> from other components of the system. Here isolate means putting restrictions around the underlying component to constrain its capabilities. A glue component provides the functionality to combine different components. Component tailoring refers to the ability to enhance the functionality of a component. Tailoring is done by adding some elements to a component to enrich it with a functionality not provided by the vendor. Tailoring does not involve modifying the source code of the component. An example of tailoring is “scripting,” where an application can be enhanced by executing a script upon the occurrence of some event.</a:t>
            </a:r>
          </a:p>
        </p:txBody>
      </p:sp>
    </p:spTree>
    <p:extLst>
      <p:ext uri="{BB962C8B-B14F-4D97-AF65-F5344CB8AC3E}">
        <p14:creationId xmlns:p14="http://schemas.microsoft.com/office/powerpoint/2010/main" val="467940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61443"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pPr/>
              <a:t>32</a:t>
            </a:fld>
            <a:endParaRPr lang="en-US" sz="1100" b="0">
              <a:solidFill>
                <a:schemeClr val="tx1"/>
              </a:solidFill>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extLst>
      <p:ext uri="{BB962C8B-B14F-4D97-AF65-F5344CB8AC3E}">
        <p14:creationId xmlns:p14="http://schemas.microsoft.com/office/powerpoint/2010/main" val="13203443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61443"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pPr/>
              <a:t>33</a:t>
            </a:fld>
            <a:endParaRPr lang="en-US" sz="1100" b="0">
              <a:solidFill>
                <a:schemeClr val="tx1"/>
              </a:solidFill>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extLst>
      <p:ext uri="{BB962C8B-B14F-4D97-AF65-F5344CB8AC3E}">
        <p14:creationId xmlns:p14="http://schemas.microsoft.com/office/powerpoint/2010/main" val="38297041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sz="1100" b="0" smtClean="0">
                <a:solidFill>
                  <a:schemeClr val="tx1"/>
                </a:solidFill>
              </a:rPr>
              <a:t>Handouts</a:t>
            </a:r>
          </a:p>
        </p:txBody>
      </p:sp>
      <p:sp>
        <p:nvSpPr>
          <p:cNvPr id="61443"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23DB765-496B-4469-9054-5A7860888986}" type="slidenum">
              <a:rPr lang="en-US" sz="1100" b="0">
                <a:solidFill>
                  <a:schemeClr val="tx1"/>
                </a:solidFill>
              </a:rPr>
              <a:pPr/>
              <a:t>34</a:t>
            </a:fld>
            <a:endParaRPr lang="en-US" sz="1100" b="0">
              <a:solidFill>
                <a:schemeClr val="tx1"/>
              </a:solidFill>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extLst>
      <p:ext uri="{BB962C8B-B14F-4D97-AF65-F5344CB8AC3E}">
        <p14:creationId xmlns:p14="http://schemas.microsoft.com/office/powerpoint/2010/main" val="2189290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2635E77-B8A1-4882-9E33-3505DBC8DFAD}"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0B8EB-BCED-491D-8583-2F193039CE7A}" type="slidenum">
              <a:rPr lang="en-US" smtClean="0"/>
              <a:t>‹#›</a:t>
            </a:fld>
            <a:endParaRPr lang="en-US"/>
          </a:p>
        </p:txBody>
      </p:sp>
    </p:spTree>
    <p:extLst>
      <p:ext uri="{BB962C8B-B14F-4D97-AF65-F5344CB8AC3E}">
        <p14:creationId xmlns:p14="http://schemas.microsoft.com/office/powerpoint/2010/main" val="2805261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2635E77-B8A1-4882-9E33-3505DBC8DFAD}"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0B8EB-BCED-491D-8583-2F193039CE7A}" type="slidenum">
              <a:rPr lang="en-US" smtClean="0"/>
              <a:t>‹#›</a:t>
            </a:fld>
            <a:endParaRPr lang="en-US"/>
          </a:p>
        </p:txBody>
      </p:sp>
    </p:spTree>
    <p:extLst>
      <p:ext uri="{BB962C8B-B14F-4D97-AF65-F5344CB8AC3E}">
        <p14:creationId xmlns:p14="http://schemas.microsoft.com/office/powerpoint/2010/main" val="2012103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2635E77-B8A1-4882-9E33-3505DBC8DFAD}"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0B8EB-BCED-491D-8583-2F193039CE7A}" type="slidenum">
              <a:rPr lang="en-US" smtClean="0"/>
              <a:t>‹#›</a:t>
            </a:fld>
            <a:endParaRPr lang="en-US"/>
          </a:p>
        </p:txBody>
      </p:sp>
    </p:spTree>
    <p:extLst>
      <p:ext uri="{BB962C8B-B14F-4D97-AF65-F5344CB8AC3E}">
        <p14:creationId xmlns:p14="http://schemas.microsoft.com/office/powerpoint/2010/main" val="1354123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2635E77-B8A1-4882-9E33-3505DBC8DFAD}"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A0B8EB-BCED-491D-8583-2F193039CE7A}" type="slidenum">
              <a:rPr lang="en-US" smtClean="0"/>
              <a:t>‹#›</a:t>
            </a:fld>
            <a:endParaRPr lang="en-US"/>
          </a:p>
        </p:txBody>
      </p:sp>
    </p:spTree>
    <p:extLst>
      <p:ext uri="{BB962C8B-B14F-4D97-AF65-F5344CB8AC3E}">
        <p14:creationId xmlns:p14="http://schemas.microsoft.com/office/powerpoint/2010/main" val="77590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2635E77-B8A1-4882-9E33-3505DBC8DFAD}" type="datetimeFigureOut">
              <a:rPr lang="en-US" smtClean="0"/>
              <a:t>3/10/2026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A0B8EB-BCED-491D-8583-2F193039CE7A}" type="slidenum">
              <a:rPr lang="en-US" smtClean="0"/>
              <a:t>‹#›</a:t>
            </a:fld>
            <a:endParaRPr lang="en-US"/>
          </a:p>
        </p:txBody>
      </p:sp>
    </p:spTree>
    <p:extLst>
      <p:ext uri="{BB962C8B-B14F-4D97-AF65-F5344CB8AC3E}">
        <p14:creationId xmlns:p14="http://schemas.microsoft.com/office/powerpoint/2010/main" val="2894758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2635E77-B8A1-4882-9E33-3505DBC8DFAD}" type="datetimeFigureOut">
              <a:rPr lang="en-US" smtClean="0"/>
              <a:t>3/10/2026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5A0B8EB-BCED-491D-8583-2F193039CE7A}" type="slidenum">
              <a:rPr lang="en-US" smtClean="0"/>
              <a:t>‹#›</a:t>
            </a:fld>
            <a:endParaRPr lang="en-US"/>
          </a:p>
        </p:txBody>
      </p:sp>
    </p:spTree>
    <p:extLst>
      <p:ext uri="{BB962C8B-B14F-4D97-AF65-F5344CB8AC3E}">
        <p14:creationId xmlns:p14="http://schemas.microsoft.com/office/powerpoint/2010/main" val="3565894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635E77-B8A1-4882-9E33-3505DBC8DFAD}" type="datetimeFigureOut">
              <a:rPr lang="en-US" smtClean="0"/>
              <a:t>3/10/2026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A0B8EB-BCED-491D-8583-2F193039CE7A}" type="slidenum">
              <a:rPr lang="en-US" smtClean="0"/>
              <a:t>‹#›</a:t>
            </a:fld>
            <a:endParaRPr lang="en-US"/>
          </a:p>
        </p:txBody>
      </p:sp>
    </p:spTree>
    <p:extLst>
      <p:ext uri="{BB962C8B-B14F-4D97-AF65-F5344CB8AC3E}">
        <p14:creationId xmlns:p14="http://schemas.microsoft.com/office/powerpoint/2010/main" val="2537561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2635E77-B8A1-4882-9E33-3505DBC8DFAD}"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A0B8EB-BCED-491D-8583-2F193039CE7A}" type="slidenum">
              <a:rPr lang="en-US" smtClean="0"/>
              <a:t>‹#›</a:t>
            </a:fld>
            <a:endParaRPr lang="en-US"/>
          </a:p>
        </p:txBody>
      </p:sp>
    </p:spTree>
    <p:extLst>
      <p:ext uri="{BB962C8B-B14F-4D97-AF65-F5344CB8AC3E}">
        <p14:creationId xmlns:p14="http://schemas.microsoft.com/office/powerpoint/2010/main" val="2008750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2635E77-B8A1-4882-9E33-3505DBC8DFAD}"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A0B8EB-BCED-491D-8583-2F193039CE7A}" type="slidenum">
              <a:rPr lang="en-US" smtClean="0"/>
              <a:t>‹#›</a:t>
            </a:fld>
            <a:endParaRPr lang="en-US"/>
          </a:p>
        </p:txBody>
      </p:sp>
    </p:spTree>
    <p:extLst>
      <p:ext uri="{BB962C8B-B14F-4D97-AF65-F5344CB8AC3E}">
        <p14:creationId xmlns:p14="http://schemas.microsoft.com/office/powerpoint/2010/main" val="18481098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2635E77-B8A1-4882-9E33-3505DBC8DFAD}"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0B8EB-BCED-491D-8583-2F193039CE7A}" type="slidenum">
              <a:rPr lang="en-US" smtClean="0"/>
              <a:t>‹#›</a:t>
            </a:fld>
            <a:endParaRPr lang="en-US"/>
          </a:p>
        </p:txBody>
      </p:sp>
    </p:spTree>
    <p:extLst>
      <p:ext uri="{BB962C8B-B14F-4D97-AF65-F5344CB8AC3E}">
        <p14:creationId xmlns:p14="http://schemas.microsoft.com/office/powerpoint/2010/main" val="2799627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2635E77-B8A1-4882-9E33-3505DBC8DFAD}"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0B8EB-BCED-491D-8583-2F193039CE7A}" type="slidenum">
              <a:rPr lang="en-US" smtClean="0"/>
              <a:t>‹#›</a:t>
            </a:fld>
            <a:endParaRPr lang="en-US"/>
          </a:p>
        </p:txBody>
      </p:sp>
    </p:spTree>
    <p:extLst>
      <p:ext uri="{BB962C8B-B14F-4D97-AF65-F5344CB8AC3E}">
        <p14:creationId xmlns:p14="http://schemas.microsoft.com/office/powerpoint/2010/main" val="1704980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635E77-B8A1-4882-9E33-3505DBC8DFAD}" type="datetimeFigureOut">
              <a:rPr lang="en-US" smtClean="0"/>
              <a:t>3/10/2026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A0B8EB-BCED-491D-8583-2F193039CE7A}" type="slidenum">
              <a:rPr lang="en-US" smtClean="0"/>
              <a:t>‹#›</a:t>
            </a:fld>
            <a:endParaRPr lang="en-US"/>
          </a:p>
        </p:txBody>
      </p:sp>
    </p:spTree>
    <p:extLst>
      <p:ext uri="{BB962C8B-B14F-4D97-AF65-F5344CB8AC3E}">
        <p14:creationId xmlns:p14="http://schemas.microsoft.com/office/powerpoint/2010/main" val="39431953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0.xml"/><Relationship Id="rId1" Type="http://schemas.openxmlformats.org/officeDocument/2006/relationships/vmlDrawing" Target="../drawings/vmlDrawing1.vml"/><Relationship Id="rId5" Type="http://schemas.openxmlformats.org/officeDocument/2006/relationships/image" Target="../media/image1.w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0.xml"/><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0.xml"/><Relationship Id="rId5" Type="http://schemas.openxmlformats.org/officeDocument/2006/relationships/image" Target="../media/image7.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0.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5E8A4328-08E6-4D1C-8992-0745C71C8162}" type="slidenum">
              <a:rPr lang="en-US" sz="1000">
                <a:solidFill>
                  <a:srgbClr val="000000"/>
                </a:solidFill>
              </a:rPr>
              <a:pPr/>
              <a:t>1</a:t>
            </a:fld>
            <a:endParaRPr lang="en-US" sz="1000">
              <a:solidFill>
                <a:srgbClr val="000000"/>
              </a:solidFill>
            </a:endParaRPr>
          </a:p>
        </p:txBody>
      </p:sp>
      <p:sp>
        <p:nvSpPr>
          <p:cNvPr id="1028" name="Rectangle 2"/>
          <p:cNvSpPr>
            <a:spLocks noGrp="1" noChangeArrowheads="1"/>
          </p:cNvSpPr>
          <p:nvPr>
            <p:ph type="ctrTitle" idx="4294967295"/>
          </p:nvPr>
        </p:nvSpPr>
        <p:spPr>
          <a:xfrm>
            <a:off x="2209800" y="2328862"/>
            <a:ext cx="8505825" cy="1984375"/>
          </a:xfrm>
        </p:spPr>
        <p:txBody>
          <a:bodyPr>
            <a:normAutofit fontScale="90000"/>
          </a:bodyPr>
          <a:lstStyle/>
          <a:p>
            <a:r>
              <a:rPr lang="en-US" b="0" dirty="0" smtClean="0">
                <a:latin typeface="Arial Black" panose="020B0A04020102020204" pitchFamily="34" charset="0"/>
              </a:rPr>
              <a:t>Software Testing and Quality Assurance</a:t>
            </a:r>
            <a:r>
              <a:rPr lang="en-US" dirty="0" smtClean="0">
                <a:latin typeface="Times New Roman" panose="02020603050405020304" pitchFamily="18" charset="0"/>
              </a:rPr>
              <a:t> </a:t>
            </a:r>
            <a:br>
              <a:rPr lang="en-US" dirty="0" smtClean="0">
                <a:latin typeface="Times New Roman" panose="02020603050405020304" pitchFamily="18" charset="0"/>
              </a:rPr>
            </a:br>
            <a:r>
              <a:rPr lang="en-US" sz="2400" dirty="0">
                <a:latin typeface="Comic Sans MS" panose="030F0702030302020204" pitchFamily="66" charset="0"/>
              </a:rPr>
              <a:t>Theory and Practice</a:t>
            </a:r>
            <a:r>
              <a:rPr lang="en-US" sz="2400" dirty="0">
                <a:latin typeface="Times New Roman" panose="02020603050405020304" pitchFamily="18" charset="0"/>
              </a:rPr>
              <a:t/>
            </a:r>
            <a:br>
              <a:rPr lang="en-US" sz="2400" dirty="0">
                <a:latin typeface="Times New Roman" panose="02020603050405020304" pitchFamily="18" charset="0"/>
              </a:rPr>
            </a:br>
            <a:r>
              <a:rPr lang="en-US" dirty="0" smtClean="0">
                <a:latin typeface="Times New Roman" panose="02020603050405020304" pitchFamily="18" charset="0"/>
              </a:rPr>
              <a:t>Chapter 7</a:t>
            </a:r>
            <a:br>
              <a:rPr lang="en-US" dirty="0" smtClean="0">
                <a:latin typeface="Times New Roman" panose="02020603050405020304" pitchFamily="18" charset="0"/>
              </a:rPr>
            </a:br>
            <a:r>
              <a:rPr lang="en-US" dirty="0" smtClean="0">
                <a:solidFill>
                  <a:srgbClr val="663300"/>
                </a:solidFill>
                <a:latin typeface="Times New Roman" panose="02020603050405020304" pitchFamily="18" charset="0"/>
              </a:rPr>
              <a:t>System Integration Testing</a:t>
            </a:r>
          </a:p>
        </p:txBody>
      </p:sp>
      <p:graphicFrame>
        <p:nvGraphicFramePr>
          <p:cNvPr id="1026" name="Object 5"/>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072" name="Equation" r:id="rId4" imgW="114120" imgH="215640" progId="Equation.3">
                  <p:embed/>
                </p:oleObj>
              </mc:Choice>
              <mc:Fallback>
                <p:oleObj name="Equation" r:id="rId4" imgW="114120" imgH="215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754752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629286DC-3AA7-48BF-BEF0-F260C1F54A35}" type="slidenum">
              <a:rPr lang="en-US" sz="1000">
                <a:solidFill>
                  <a:srgbClr val="000000"/>
                </a:solidFill>
              </a:rPr>
              <a:pPr/>
              <a:t>2</a:t>
            </a:fld>
            <a:endParaRPr lang="en-US" sz="1000">
              <a:solidFill>
                <a:srgbClr val="000000"/>
              </a:solidFill>
            </a:endParaRPr>
          </a:p>
        </p:txBody>
      </p:sp>
      <p:sp>
        <p:nvSpPr>
          <p:cNvPr id="7171" name="Rectangle 2"/>
          <p:cNvSpPr>
            <a:spLocks noGrp="1" noChangeArrowheads="1"/>
          </p:cNvSpPr>
          <p:nvPr>
            <p:ph type="title" idx="4294967295"/>
          </p:nvPr>
        </p:nvSpPr>
        <p:spPr/>
        <p:txBody>
          <a:bodyPr/>
          <a:lstStyle/>
          <a:p>
            <a:r>
              <a:rPr lang="en-US" dirty="0" smtClean="0">
                <a:latin typeface="Times New Roman" panose="02020603050405020304" pitchFamily="18" charset="0"/>
              </a:rPr>
              <a:t>The Concept of Integration Testing</a:t>
            </a:r>
          </a:p>
        </p:txBody>
      </p:sp>
      <p:sp>
        <p:nvSpPr>
          <p:cNvPr id="7172" name="Rectangle 3"/>
          <p:cNvSpPr>
            <a:spLocks noGrp="1" noChangeArrowheads="1"/>
          </p:cNvSpPr>
          <p:nvPr>
            <p:ph type="body" idx="4294967295"/>
          </p:nvPr>
        </p:nvSpPr>
        <p:spPr>
          <a:xfrm>
            <a:off x="1423944" y="1342980"/>
            <a:ext cx="8885237" cy="5772150"/>
          </a:xfrm>
        </p:spPr>
        <p:txBody>
          <a:bodyPr>
            <a:normAutofit fontScale="92500" lnSpcReduction="20000"/>
          </a:bodyPr>
          <a:lstStyle/>
          <a:p>
            <a:r>
              <a:rPr lang="en-US" dirty="0" smtClean="0">
                <a:latin typeface="Times New Roman" panose="02020603050405020304" pitchFamily="18" charset="0"/>
              </a:rPr>
              <a:t>A software module is a self-contained element of a system</a:t>
            </a:r>
          </a:p>
          <a:p>
            <a:r>
              <a:rPr lang="en-US" dirty="0" smtClean="0">
                <a:latin typeface="Times New Roman" panose="02020603050405020304" pitchFamily="18" charset="0"/>
              </a:rPr>
              <a:t>Modules are individually tested commonly known as </a:t>
            </a:r>
            <a:r>
              <a:rPr lang="en-US" i="1" dirty="0" smtClean="0">
                <a:latin typeface="Times New Roman" panose="02020603050405020304" pitchFamily="18" charset="0"/>
              </a:rPr>
              <a:t>unit testing</a:t>
            </a:r>
            <a:endParaRPr lang="en-US" dirty="0" smtClean="0">
              <a:latin typeface="Times New Roman" panose="02020603050405020304" pitchFamily="18" charset="0"/>
            </a:endParaRPr>
          </a:p>
          <a:p>
            <a:r>
              <a:rPr lang="en-US" dirty="0" smtClean="0">
                <a:latin typeface="Times New Roman" panose="02020603050405020304" pitchFamily="18" charset="0"/>
              </a:rPr>
              <a:t>Next major task is to put the modules, i.e., pieces together to construct the complete system</a:t>
            </a:r>
          </a:p>
          <a:p>
            <a:r>
              <a:rPr lang="en-US" dirty="0" smtClean="0">
                <a:latin typeface="Times New Roman" panose="02020603050405020304" pitchFamily="18" charset="0"/>
              </a:rPr>
              <a:t>Construction of a working system from the pieces is not a straightforward task because of numerous </a:t>
            </a:r>
            <a:r>
              <a:rPr lang="en-US" i="1" dirty="0" smtClean="0">
                <a:latin typeface="Times New Roman" panose="02020603050405020304" pitchFamily="18" charset="0"/>
              </a:rPr>
              <a:t>interface errors</a:t>
            </a:r>
            <a:endParaRPr lang="en-US" dirty="0" smtClean="0">
              <a:latin typeface="Times New Roman" panose="02020603050405020304" pitchFamily="18" charset="0"/>
            </a:endParaRPr>
          </a:p>
          <a:p>
            <a:r>
              <a:rPr lang="en-US" dirty="0" smtClean="0">
                <a:latin typeface="Times New Roman" panose="02020603050405020304" pitchFamily="18" charset="0"/>
              </a:rPr>
              <a:t>The objective of </a:t>
            </a:r>
            <a:r>
              <a:rPr lang="en-US" i="1" dirty="0" smtClean="0">
                <a:latin typeface="Times New Roman" panose="02020603050405020304" pitchFamily="18" charset="0"/>
              </a:rPr>
              <a:t>system</a:t>
            </a:r>
            <a:r>
              <a:rPr lang="en-US" dirty="0" smtClean="0">
                <a:latin typeface="Times New Roman" panose="02020603050405020304" pitchFamily="18" charset="0"/>
              </a:rPr>
              <a:t> </a:t>
            </a:r>
            <a:r>
              <a:rPr lang="en-US" i="1" dirty="0" smtClean="0">
                <a:latin typeface="Times New Roman" panose="02020603050405020304" pitchFamily="18" charset="0"/>
              </a:rPr>
              <a:t>integration testing</a:t>
            </a:r>
            <a:r>
              <a:rPr lang="en-US" dirty="0" smtClean="0">
                <a:latin typeface="Times New Roman" panose="02020603050405020304" pitchFamily="18" charset="0"/>
              </a:rPr>
              <a:t> (SIT) is to build a “working” version of the system</a:t>
            </a:r>
          </a:p>
          <a:p>
            <a:pPr lvl="1"/>
            <a:r>
              <a:rPr lang="en-US" dirty="0" smtClean="0">
                <a:latin typeface="Times New Roman" panose="02020603050405020304" pitchFamily="18" charset="0"/>
              </a:rPr>
              <a:t>Putting </a:t>
            </a:r>
            <a:r>
              <a:rPr lang="en-US" dirty="0" smtClean="0">
                <a:latin typeface="Times New Roman" panose="02020603050405020304" pitchFamily="18" charset="0"/>
              </a:rPr>
              <a:t>modules together in an incremental manner</a:t>
            </a:r>
          </a:p>
          <a:p>
            <a:pPr lvl="1"/>
            <a:r>
              <a:rPr lang="en-US" dirty="0" smtClean="0">
                <a:latin typeface="Times New Roman" panose="02020603050405020304" pitchFamily="18" charset="0"/>
              </a:rPr>
              <a:t>Ensuring that the additional modules work as expected without disturbing the functionalities of the modules already put together</a:t>
            </a:r>
          </a:p>
          <a:p>
            <a:r>
              <a:rPr lang="en-US" i="1" dirty="0" smtClean="0">
                <a:latin typeface="Times New Roman" panose="02020603050405020304" pitchFamily="18" charset="0"/>
              </a:rPr>
              <a:t> Integration testing </a:t>
            </a:r>
            <a:r>
              <a:rPr lang="en-US" dirty="0" smtClean="0">
                <a:latin typeface="Times New Roman" panose="02020603050405020304" pitchFamily="18" charset="0"/>
              </a:rPr>
              <a:t>is said to be complete when</a:t>
            </a:r>
          </a:p>
          <a:p>
            <a:pPr lvl="1"/>
            <a:r>
              <a:rPr lang="en-US" dirty="0" smtClean="0">
                <a:latin typeface="Times New Roman" panose="02020603050405020304" pitchFamily="18" charset="0"/>
              </a:rPr>
              <a:t>The system is fully integrated together</a:t>
            </a:r>
          </a:p>
          <a:p>
            <a:pPr lvl="1"/>
            <a:r>
              <a:rPr lang="en-US" dirty="0" smtClean="0">
                <a:latin typeface="Times New Roman" panose="02020603050405020304" pitchFamily="18" charset="0"/>
              </a:rPr>
              <a:t>All the test cases have been executed</a:t>
            </a:r>
          </a:p>
          <a:p>
            <a:pPr lvl="1"/>
            <a:r>
              <a:rPr lang="en-US" dirty="0" smtClean="0">
                <a:latin typeface="Times New Roman" panose="02020603050405020304" pitchFamily="18" charset="0"/>
              </a:rPr>
              <a:t>All the severe and moderated defects found have been fixed</a:t>
            </a:r>
          </a:p>
        </p:txBody>
      </p:sp>
    </p:spTree>
    <p:extLst>
      <p:ext uri="{BB962C8B-B14F-4D97-AF65-F5344CB8AC3E}">
        <p14:creationId xmlns:p14="http://schemas.microsoft.com/office/powerpoint/2010/main" val="28200082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3B89F4B5-1726-483D-9F1E-8FC40E90510C}" type="slidenum">
              <a:rPr lang="en-US" sz="1000">
                <a:solidFill>
                  <a:srgbClr val="000000"/>
                </a:solidFill>
              </a:rPr>
              <a:pPr/>
              <a:t>3</a:t>
            </a:fld>
            <a:endParaRPr lang="en-US" sz="1000">
              <a:solidFill>
                <a:srgbClr val="000000"/>
              </a:solidFill>
            </a:endParaRPr>
          </a:p>
        </p:txBody>
      </p:sp>
      <p:sp>
        <p:nvSpPr>
          <p:cNvPr id="8195" name="Rectangle 2"/>
          <p:cNvSpPr>
            <a:spLocks noGrp="1" noChangeArrowheads="1"/>
          </p:cNvSpPr>
          <p:nvPr>
            <p:ph type="title" idx="4294967295"/>
          </p:nvPr>
        </p:nvSpPr>
        <p:spPr/>
        <p:txBody>
          <a:bodyPr/>
          <a:lstStyle/>
          <a:p>
            <a:r>
              <a:rPr lang="en-US" smtClean="0">
                <a:latin typeface="Times New Roman" panose="02020603050405020304" pitchFamily="18" charset="0"/>
              </a:rPr>
              <a:t>The Concept of Integration Testing</a:t>
            </a:r>
          </a:p>
        </p:txBody>
      </p:sp>
      <p:sp>
        <p:nvSpPr>
          <p:cNvPr id="8196" name="Rectangle 3"/>
          <p:cNvSpPr>
            <a:spLocks noGrp="1" noChangeArrowheads="1"/>
          </p:cNvSpPr>
          <p:nvPr>
            <p:ph type="body" idx="4294967295"/>
          </p:nvPr>
        </p:nvSpPr>
        <p:spPr>
          <a:xfrm>
            <a:off x="1302555" y="1484312"/>
            <a:ext cx="8693150" cy="5373688"/>
          </a:xfrm>
        </p:spPr>
        <p:txBody>
          <a:bodyPr>
            <a:normAutofit fontScale="92500" lnSpcReduction="20000"/>
          </a:bodyPr>
          <a:lstStyle/>
          <a:p>
            <a:pPr>
              <a:buFontTx/>
              <a:buNone/>
            </a:pPr>
            <a:r>
              <a:rPr lang="en-US" dirty="0" smtClean="0">
                <a:latin typeface="Times New Roman" panose="02020603050405020304" pitchFamily="18" charset="0"/>
              </a:rPr>
              <a:t>The major advantages of conducting SIT are as follows:</a:t>
            </a:r>
          </a:p>
          <a:p>
            <a:pPr>
              <a:buFontTx/>
              <a:buNone/>
            </a:pPr>
            <a:endParaRPr lang="en-US" dirty="0" smtClean="0">
              <a:latin typeface="Times New Roman" panose="02020603050405020304" pitchFamily="18" charset="0"/>
            </a:endParaRPr>
          </a:p>
          <a:p>
            <a:r>
              <a:rPr lang="en-US" dirty="0" smtClean="0">
                <a:latin typeface="Times New Roman" panose="02020603050405020304" pitchFamily="18" charset="0"/>
              </a:rPr>
              <a:t>Defects are detected early</a:t>
            </a:r>
          </a:p>
          <a:p>
            <a:r>
              <a:rPr lang="en-US" dirty="0" smtClean="0">
                <a:latin typeface="Times New Roman" panose="02020603050405020304" pitchFamily="18" charset="0"/>
              </a:rPr>
              <a:t>It is easier to fix defects detected earlier</a:t>
            </a:r>
          </a:p>
          <a:p>
            <a:r>
              <a:rPr lang="en-US" dirty="0" smtClean="0">
                <a:latin typeface="Times New Roman" panose="02020603050405020304" pitchFamily="18" charset="0"/>
              </a:rPr>
              <a:t>We get earlier feedback on the health and acceptability of the individual modules and on the overall system</a:t>
            </a:r>
          </a:p>
          <a:p>
            <a:r>
              <a:rPr lang="en-US" dirty="0" smtClean="0">
                <a:latin typeface="Times New Roman" panose="02020603050405020304" pitchFamily="18" charset="0"/>
              </a:rPr>
              <a:t>Scheduling of defect fixes is flexible, and it can overlap with development.</a:t>
            </a:r>
          </a:p>
          <a:p>
            <a:pPr>
              <a:buFontTx/>
              <a:buNone/>
            </a:pPr>
            <a:r>
              <a:rPr lang="en-US" dirty="0" smtClean="0">
                <a:latin typeface="Times New Roman" panose="02020603050405020304" pitchFamily="18" charset="0"/>
              </a:rPr>
              <a:t>System </a:t>
            </a:r>
            <a:r>
              <a:rPr lang="en-US" dirty="0">
                <a:latin typeface="Times New Roman" panose="02020603050405020304" pitchFamily="18" charset="0"/>
              </a:rPr>
              <a:t>integration testing </a:t>
            </a:r>
            <a:r>
              <a:rPr lang="en-US" dirty="0" smtClean="0">
                <a:latin typeface="Times New Roman" panose="02020603050405020304" pitchFamily="18" charset="0"/>
              </a:rPr>
              <a:t>is a </a:t>
            </a:r>
            <a:r>
              <a:rPr lang="en-US" dirty="0">
                <a:latin typeface="Times New Roman" panose="02020603050405020304" pitchFamily="18" charset="0"/>
              </a:rPr>
              <a:t>systematic technique for assembling a software system while conducting </a:t>
            </a:r>
            <a:r>
              <a:rPr lang="en-US" dirty="0" smtClean="0">
                <a:latin typeface="Times New Roman" panose="02020603050405020304" pitchFamily="18" charset="0"/>
              </a:rPr>
              <a:t>tests to </a:t>
            </a:r>
            <a:r>
              <a:rPr lang="en-US" dirty="0">
                <a:latin typeface="Times New Roman" panose="02020603050405020304" pitchFamily="18" charset="0"/>
              </a:rPr>
              <a:t>uncover errors associated with interfacing</a:t>
            </a:r>
            <a:r>
              <a:rPr lang="en-US" dirty="0" smtClean="0">
                <a:latin typeface="Times New Roman" panose="02020603050405020304" pitchFamily="18" charset="0"/>
              </a:rPr>
              <a:t>.</a:t>
            </a:r>
          </a:p>
          <a:p>
            <a:pPr>
              <a:buFontTx/>
              <a:buNone/>
            </a:pPr>
            <a:r>
              <a:rPr lang="en-US" dirty="0">
                <a:latin typeface="Times New Roman" panose="02020603050405020304" pitchFamily="18" charset="0"/>
              </a:rPr>
              <a:t>Large, complex software </a:t>
            </a:r>
            <a:r>
              <a:rPr lang="en-US" dirty="0" err="1">
                <a:latin typeface="Times New Roman" panose="02020603050405020304" pitchFamily="18" charset="0"/>
              </a:rPr>
              <a:t>products</a:t>
            </a:r>
            <a:r>
              <a:rPr lang="en-US" dirty="0">
                <a:latin typeface="Times New Roman" panose="02020603050405020304" pitchFamily="18" charset="0"/>
              </a:rPr>
              <a:t> can go through several iterations of build-and-test cycles before they are </a:t>
            </a:r>
            <a:r>
              <a:rPr lang="en-US" dirty="0" smtClean="0">
                <a:latin typeface="Times New Roman" panose="02020603050405020304" pitchFamily="18" charset="0"/>
              </a:rPr>
              <a:t>fully integrated</a:t>
            </a:r>
            <a:r>
              <a:rPr lang="en-US" dirty="0">
                <a:latin typeface="Times New Roman" panose="02020603050405020304" pitchFamily="18" charset="0"/>
              </a:rPr>
              <a:t>.</a:t>
            </a:r>
            <a:endParaRPr lang="en-US" dirty="0" smtClean="0">
              <a:latin typeface="Times New Roman" panose="02020603050405020304" pitchFamily="18" charset="0"/>
            </a:endParaRPr>
          </a:p>
        </p:txBody>
      </p:sp>
    </p:spTree>
    <p:extLst>
      <p:ext uri="{BB962C8B-B14F-4D97-AF65-F5344CB8AC3E}">
        <p14:creationId xmlns:p14="http://schemas.microsoft.com/office/powerpoint/2010/main" val="30318354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 DIFFERENT TYPES OF INTERFACES</a:t>
            </a:r>
            <a:br>
              <a:rPr lang="en-US" dirty="0"/>
            </a:br>
            <a:r>
              <a:rPr lang="en-US" dirty="0"/>
              <a:t>AND INTERFACE ERRORS</a:t>
            </a:r>
          </a:p>
        </p:txBody>
      </p:sp>
      <p:sp>
        <p:nvSpPr>
          <p:cNvPr id="5" name="TextBox 4"/>
          <p:cNvSpPr txBox="1"/>
          <p:nvPr/>
        </p:nvSpPr>
        <p:spPr>
          <a:xfrm>
            <a:off x="622479" y="1325563"/>
            <a:ext cx="10947042" cy="5632311"/>
          </a:xfrm>
          <a:prstGeom prst="rect">
            <a:avLst/>
          </a:prstGeom>
          <a:noFill/>
        </p:spPr>
        <p:txBody>
          <a:bodyPr wrap="square" rtlCol="0">
            <a:spAutoFit/>
          </a:bodyPr>
          <a:lstStyle/>
          <a:p>
            <a:r>
              <a:rPr lang="en-US" sz="2400" dirty="0" smtClean="0"/>
              <a:t>An interface </a:t>
            </a:r>
            <a:r>
              <a:rPr lang="en-US" sz="2400" dirty="0"/>
              <a:t>between two modules allows one module to access the service </a:t>
            </a:r>
            <a:r>
              <a:rPr lang="en-US" sz="2400" dirty="0" smtClean="0"/>
              <a:t>provided by </a:t>
            </a:r>
            <a:r>
              <a:rPr lang="en-US" sz="2400" dirty="0"/>
              <a:t>the other. </a:t>
            </a:r>
            <a:endParaRPr lang="en-US" sz="2400" dirty="0" smtClean="0"/>
          </a:p>
          <a:p>
            <a:r>
              <a:rPr lang="en-US" sz="2400" dirty="0" smtClean="0"/>
              <a:t>Three </a:t>
            </a:r>
            <a:r>
              <a:rPr lang="en-US" sz="2400" dirty="0"/>
              <a:t>common paradigms for interfacing modules are as follows</a:t>
            </a:r>
            <a:r>
              <a:rPr lang="en-US" sz="2400" dirty="0" smtClean="0"/>
              <a:t>:</a:t>
            </a:r>
          </a:p>
          <a:p>
            <a:r>
              <a:rPr lang="en-US" sz="2400" b="1" dirty="0"/>
              <a:t>Procedure Call Interface:  </a:t>
            </a:r>
            <a:r>
              <a:rPr lang="en-US" sz="2400" dirty="0" smtClean="0"/>
              <a:t>A </a:t>
            </a:r>
            <a:r>
              <a:rPr lang="en-US" sz="2400" dirty="0"/>
              <a:t>procedure in one module calls a </a:t>
            </a:r>
            <a:r>
              <a:rPr lang="en-US" sz="2400" dirty="0" smtClean="0"/>
              <a:t>procedure in </a:t>
            </a:r>
            <a:r>
              <a:rPr lang="en-US" sz="2400" dirty="0"/>
              <a:t>another module. The caller passes on control to the called module. </a:t>
            </a:r>
            <a:r>
              <a:rPr lang="en-US" sz="2400" dirty="0" smtClean="0"/>
              <a:t>The caller </a:t>
            </a:r>
            <a:r>
              <a:rPr lang="en-US" sz="2400" dirty="0"/>
              <a:t>can pass data to the called procedure, and the called procedure </a:t>
            </a:r>
            <a:r>
              <a:rPr lang="en-US" sz="2400" dirty="0" smtClean="0"/>
              <a:t>can pass </a:t>
            </a:r>
            <a:r>
              <a:rPr lang="en-US" sz="2400" dirty="0"/>
              <a:t>data to the caller while returning control back to the caller</a:t>
            </a:r>
            <a:r>
              <a:rPr lang="en-US" sz="2400" dirty="0" smtClean="0"/>
              <a:t>.</a:t>
            </a:r>
          </a:p>
          <a:p>
            <a:r>
              <a:rPr lang="en-US" sz="2400" b="1" dirty="0" smtClean="0"/>
              <a:t>Shared </a:t>
            </a:r>
            <a:r>
              <a:rPr lang="en-US" sz="2400" b="1" dirty="0"/>
              <a:t>Memory Interface:  </a:t>
            </a:r>
            <a:r>
              <a:rPr lang="en-US" sz="2400" dirty="0" smtClean="0"/>
              <a:t>A </a:t>
            </a:r>
            <a:r>
              <a:rPr lang="en-US" sz="2400" dirty="0"/>
              <a:t>block of memory is shared between two</a:t>
            </a:r>
          </a:p>
          <a:p>
            <a:r>
              <a:rPr lang="en-US" sz="2400" dirty="0"/>
              <a:t>modules. The memory block may be allocated by one of the two modules or a third module. Data are written into the memory block by one </a:t>
            </a:r>
            <a:r>
              <a:rPr lang="en-US" sz="2400" dirty="0" smtClean="0"/>
              <a:t>module and </a:t>
            </a:r>
            <a:r>
              <a:rPr lang="en-US" sz="2400" dirty="0"/>
              <a:t>are read from the block by the other</a:t>
            </a:r>
            <a:r>
              <a:rPr lang="en-US" sz="2400" dirty="0" smtClean="0"/>
              <a:t>.</a:t>
            </a:r>
          </a:p>
          <a:p>
            <a:r>
              <a:rPr lang="en-US" sz="2400" b="1" dirty="0" smtClean="0"/>
              <a:t>Message </a:t>
            </a:r>
            <a:r>
              <a:rPr lang="en-US" sz="2400" b="1" dirty="0"/>
              <a:t>Passing Interface: </a:t>
            </a:r>
            <a:r>
              <a:rPr lang="en-US" sz="2400" dirty="0"/>
              <a:t>One module prepares a message by </a:t>
            </a:r>
            <a:r>
              <a:rPr lang="en-US" sz="2400" dirty="0" smtClean="0"/>
              <a:t>initializing </a:t>
            </a:r>
            <a:r>
              <a:rPr lang="en-US" sz="2400" dirty="0"/>
              <a:t>the fields of a data structure and sending the message to another </a:t>
            </a:r>
            <a:r>
              <a:rPr lang="en-US" sz="2400" dirty="0" smtClean="0"/>
              <a:t>module. This </a:t>
            </a:r>
            <a:r>
              <a:rPr lang="en-US" sz="2400" dirty="0"/>
              <a:t>form of module interaction is common in client–server-based systems</a:t>
            </a:r>
          </a:p>
          <a:p>
            <a:r>
              <a:rPr lang="en-US" sz="2400" dirty="0"/>
              <a:t>and web-based systems</a:t>
            </a:r>
            <a:r>
              <a:rPr lang="en-US" sz="2400" dirty="0" smtClean="0"/>
              <a:t>.</a:t>
            </a:r>
            <a:endParaRPr lang="en-US" sz="2400" dirty="0"/>
          </a:p>
        </p:txBody>
      </p:sp>
    </p:spTree>
    <p:extLst>
      <p:ext uri="{BB962C8B-B14F-4D97-AF65-F5344CB8AC3E}">
        <p14:creationId xmlns:p14="http://schemas.microsoft.com/office/powerpoint/2010/main" val="29971884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DIFFERENT TYPES OF INTERFACES</a:t>
            </a:r>
            <a:br>
              <a:rPr lang="en-US" dirty="0"/>
            </a:br>
            <a:r>
              <a:rPr lang="en-US" dirty="0"/>
              <a:t>AND INTERFACE ERRORS</a:t>
            </a:r>
          </a:p>
        </p:txBody>
      </p:sp>
      <p:graphicFrame>
        <p:nvGraphicFramePr>
          <p:cNvPr id="3" name="Table 2"/>
          <p:cNvGraphicFramePr>
            <a:graphicFrameLocks noGrp="1"/>
          </p:cNvGraphicFramePr>
          <p:nvPr>
            <p:extLst>
              <p:ext uri="{D42A27DB-BD31-4B8C-83A1-F6EECF244321}">
                <p14:modId xmlns:p14="http://schemas.microsoft.com/office/powerpoint/2010/main" val="390729934"/>
              </p:ext>
            </p:extLst>
          </p:nvPr>
        </p:nvGraphicFramePr>
        <p:xfrm>
          <a:off x="746975" y="2052369"/>
          <a:ext cx="6982380" cy="4365958"/>
        </p:xfrm>
        <a:graphic>
          <a:graphicData uri="http://schemas.openxmlformats.org/drawingml/2006/table">
            <a:tbl>
              <a:tblPr/>
              <a:tblGrid>
                <a:gridCol w="3491190"/>
                <a:gridCol w="3491190"/>
              </a:tblGrid>
              <a:tr h="283343">
                <a:tc>
                  <a:txBody>
                    <a:bodyPr/>
                    <a:lstStyle/>
                    <a:p>
                      <a:pPr rtl="0"/>
                      <a:r>
                        <a:rPr lang="en-US" sz="1200" b="1" dirty="0">
                          <a:solidFill>
                            <a:srgbClr val="1B1C1D"/>
                          </a:solidFill>
                          <a:effectLst/>
                          <a:latin typeface="Google Sans Text"/>
                        </a:rPr>
                        <a:t>Element</a:t>
                      </a:r>
                      <a:endParaRPr lang="en-US" sz="1200" dirty="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a:solidFill>
                            <a:srgbClr val="1B1C1D"/>
                          </a:solidFill>
                          <a:effectLst/>
                          <a:latin typeface="Google Sans Text"/>
                        </a:rPr>
                        <a:t>Description</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283343">
                <a:tc>
                  <a:txBody>
                    <a:bodyPr/>
                    <a:lstStyle/>
                    <a:p>
                      <a:pPr rtl="0"/>
                      <a:r>
                        <a:rPr lang="en-US" sz="1200" b="1">
                          <a:solidFill>
                            <a:srgbClr val="1B1C1D"/>
                          </a:solidFill>
                          <a:effectLst/>
                          <a:latin typeface="Google Sans Text"/>
                        </a:rPr>
                        <a:t>Module 1 (Caller)</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dirty="0" err="1">
                          <a:solidFill>
                            <a:srgbClr val="1B1C1D"/>
                          </a:solidFill>
                          <a:effectLst/>
                          <a:latin typeface="Google Sans Text"/>
                        </a:rPr>
                        <a:t>CheckoutController</a:t>
                      </a:r>
                      <a:r>
                        <a:rPr lang="en-US" sz="1200" dirty="0">
                          <a:solidFill>
                            <a:srgbClr val="1B1C1D"/>
                          </a:solidFill>
                          <a:effectLst/>
                          <a:latin typeface="Google Sans Text"/>
                        </a:rPr>
                        <a:t> (Handles user interaction)</a:t>
                      </a: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283343">
                <a:tc>
                  <a:txBody>
                    <a:bodyPr/>
                    <a:lstStyle/>
                    <a:p>
                      <a:pPr rtl="0"/>
                      <a:r>
                        <a:rPr lang="en-US" sz="1200" b="1">
                          <a:solidFill>
                            <a:srgbClr val="1B1C1D"/>
                          </a:solidFill>
                          <a:effectLst/>
                          <a:latin typeface="Google Sans Text"/>
                        </a:rPr>
                        <a:t>Module 2 (Called)</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a:solidFill>
                            <a:srgbClr val="1B1C1D"/>
                          </a:solidFill>
                          <a:effectLst/>
                          <a:latin typeface="Google Sans Text"/>
                        </a:rPr>
                        <a:t>InventoryService</a:t>
                      </a:r>
                      <a:r>
                        <a:rPr lang="en-US" sz="1200">
                          <a:solidFill>
                            <a:srgbClr val="1B1C1D"/>
                          </a:solidFill>
                          <a:effectLst/>
                          <a:latin typeface="Google Sans Text"/>
                        </a:rPr>
                        <a:t> (Manages stock levels)</a:t>
                      </a: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65492">
                <a:tc>
                  <a:txBody>
                    <a:bodyPr/>
                    <a:lstStyle/>
                    <a:p>
                      <a:pPr rtl="0"/>
                      <a:r>
                        <a:rPr lang="en-US" sz="1200" b="1" dirty="0">
                          <a:solidFill>
                            <a:srgbClr val="1B1C1D"/>
                          </a:solidFill>
                          <a:effectLst/>
                          <a:latin typeface="Google Sans Text"/>
                        </a:rPr>
                        <a:t>Interface Channel</a:t>
                      </a:r>
                      <a:endParaRPr lang="en-US" sz="1200" dirty="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B1C1D"/>
                          </a:solidFill>
                          <a:effectLst/>
                          <a:latin typeface="Google Sans Text"/>
                        </a:rPr>
                        <a:t>Direct function/method invocation (e.g., in Python, Java, or C++)</a:t>
                      </a: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65492">
                <a:tc>
                  <a:txBody>
                    <a:bodyPr/>
                    <a:lstStyle/>
                    <a:p>
                      <a:pPr rtl="0"/>
                      <a:r>
                        <a:rPr lang="en-US" sz="1200" b="1">
                          <a:solidFill>
                            <a:srgbClr val="1B1C1D"/>
                          </a:solidFill>
                          <a:effectLst/>
                          <a:latin typeface="Google Sans Text"/>
                        </a:rPr>
                        <a:t>Interaction</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dirty="0">
                          <a:solidFill>
                            <a:srgbClr val="1B1C1D"/>
                          </a:solidFill>
                          <a:effectLst/>
                          <a:latin typeface="Google Sans Text"/>
                        </a:rPr>
                        <a:t>The </a:t>
                      </a:r>
                      <a:r>
                        <a:rPr lang="en-US" sz="1200" dirty="0" err="1">
                          <a:solidFill>
                            <a:srgbClr val="1B1C1D"/>
                          </a:solidFill>
                          <a:effectLst/>
                          <a:latin typeface="Google Sans Text"/>
                        </a:rPr>
                        <a:t>CheckoutController</a:t>
                      </a:r>
                      <a:r>
                        <a:rPr lang="en-US" sz="1200" dirty="0">
                          <a:solidFill>
                            <a:srgbClr val="1B1C1D"/>
                          </a:solidFill>
                          <a:effectLst/>
                          <a:latin typeface="Google Sans Text"/>
                        </a:rPr>
                        <a:t> calls a method in the </a:t>
                      </a:r>
                      <a:r>
                        <a:rPr lang="en-US" sz="1200" dirty="0" err="1">
                          <a:solidFill>
                            <a:srgbClr val="1B1C1D"/>
                          </a:solidFill>
                          <a:effectLst/>
                          <a:latin typeface="Google Sans Text"/>
                        </a:rPr>
                        <a:t>InventoryService</a:t>
                      </a:r>
                      <a:r>
                        <a:rPr lang="en-US" sz="1200" dirty="0">
                          <a:solidFill>
                            <a:srgbClr val="1B1C1D"/>
                          </a:solidFill>
                          <a:effectLst/>
                          <a:latin typeface="Google Sans Text"/>
                        </a:rPr>
                        <a:t> module.</a:t>
                      </a: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1558386">
                <a:tc>
                  <a:txBody>
                    <a:bodyPr/>
                    <a:lstStyle/>
                    <a:p>
                      <a:pPr rtl="0"/>
                      <a:r>
                        <a:rPr lang="en-US" sz="1200" b="1">
                          <a:solidFill>
                            <a:srgbClr val="1B1C1D"/>
                          </a:solidFill>
                          <a:effectLst/>
                          <a:latin typeface="Google Sans Text"/>
                        </a:rPr>
                        <a:t>Control/Data Flow</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dirty="0">
                          <a:solidFill>
                            <a:srgbClr val="1B1C1D"/>
                          </a:solidFill>
                          <a:effectLst/>
                          <a:latin typeface="Google Sans Text"/>
                        </a:rPr>
                        <a:t>1. </a:t>
                      </a:r>
                      <a:r>
                        <a:rPr lang="en-US" sz="1200" b="1" dirty="0">
                          <a:solidFill>
                            <a:srgbClr val="1B1C1D"/>
                          </a:solidFill>
                          <a:effectLst/>
                          <a:latin typeface="Google Sans Text"/>
                        </a:rPr>
                        <a:t>Caller passes control:</a:t>
                      </a:r>
                      <a:r>
                        <a:rPr lang="en-US" sz="1200" dirty="0">
                          <a:solidFill>
                            <a:srgbClr val="1B1C1D"/>
                          </a:solidFill>
                          <a:effectLst/>
                          <a:latin typeface="Google Sans Text"/>
                        </a:rPr>
                        <a:t> </a:t>
                      </a:r>
                      <a:r>
                        <a:rPr lang="en-US" sz="1200" dirty="0" err="1">
                          <a:solidFill>
                            <a:srgbClr val="1B1C1D"/>
                          </a:solidFill>
                          <a:effectLst/>
                          <a:latin typeface="Google Sans Text"/>
                        </a:rPr>
                        <a:t>CheckoutController</a:t>
                      </a:r>
                      <a:r>
                        <a:rPr lang="en-US" sz="1200" dirty="0">
                          <a:solidFill>
                            <a:srgbClr val="1B1C1D"/>
                          </a:solidFill>
                          <a:effectLst/>
                          <a:latin typeface="Google Sans Text"/>
                        </a:rPr>
                        <a:t> calls </a:t>
                      </a:r>
                      <a:r>
                        <a:rPr lang="en-US" sz="1200" dirty="0" err="1">
                          <a:solidFill>
                            <a:srgbClr val="1B1C1D"/>
                          </a:solidFill>
                          <a:effectLst/>
                          <a:latin typeface="Google Sans Text"/>
                        </a:rPr>
                        <a:t>InventoryService.reserve_stock</a:t>
                      </a:r>
                      <a:r>
                        <a:rPr lang="en-US" sz="1200" dirty="0">
                          <a:solidFill>
                            <a:srgbClr val="1B1C1D"/>
                          </a:solidFill>
                          <a:effectLst/>
                          <a:latin typeface="Google Sans Text"/>
                        </a:rPr>
                        <a:t>(</a:t>
                      </a:r>
                      <a:r>
                        <a:rPr lang="en-US" sz="1200" dirty="0" err="1">
                          <a:solidFill>
                            <a:srgbClr val="1B1C1D"/>
                          </a:solidFill>
                          <a:effectLst/>
                          <a:latin typeface="Google Sans Text"/>
                        </a:rPr>
                        <a:t>sku</a:t>
                      </a:r>
                      <a:r>
                        <a:rPr lang="en-US" sz="1200" dirty="0">
                          <a:solidFill>
                            <a:srgbClr val="1B1C1D"/>
                          </a:solidFill>
                          <a:effectLst/>
                          <a:latin typeface="Google Sans Text"/>
                        </a:rPr>
                        <a:t>, quantity). 2. </a:t>
                      </a:r>
                      <a:r>
                        <a:rPr lang="en-US" sz="1200" b="1" dirty="0">
                          <a:solidFill>
                            <a:srgbClr val="1B1C1D"/>
                          </a:solidFill>
                          <a:effectLst/>
                          <a:latin typeface="Google Sans Text"/>
                        </a:rPr>
                        <a:t>Called performs service:</a:t>
                      </a:r>
                      <a:r>
                        <a:rPr lang="en-US" sz="1200" dirty="0">
                          <a:solidFill>
                            <a:srgbClr val="1B1C1D"/>
                          </a:solidFill>
                          <a:effectLst/>
                          <a:latin typeface="Google Sans Text"/>
                        </a:rPr>
                        <a:t> </a:t>
                      </a:r>
                      <a:r>
                        <a:rPr lang="en-US" sz="1200" dirty="0" err="1">
                          <a:solidFill>
                            <a:srgbClr val="1B1C1D"/>
                          </a:solidFill>
                          <a:effectLst/>
                          <a:latin typeface="Google Sans Text"/>
                        </a:rPr>
                        <a:t>InventoryService</a:t>
                      </a:r>
                      <a:r>
                        <a:rPr lang="en-US" sz="1200" dirty="0">
                          <a:solidFill>
                            <a:srgbClr val="1B1C1D"/>
                          </a:solidFill>
                          <a:effectLst/>
                          <a:latin typeface="Google Sans Text"/>
                        </a:rPr>
                        <a:t> checks and updates the database. 3. </a:t>
                      </a:r>
                      <a:r>
                        <a:rPr lang="en-US" sz="1200" b="1" dirty="0">
                          <a:solidFill>
                            <a:srgbClr val="1B1C1D"/>
                          </a:solidFill>
                          <a:effectLst/>
                          <a:latin typeface="Google Sans Text"/>
                        </a:rPr>
                        <a:t>Called returns data &amp; control:</a:t>
                      </a:r>
                      <a:r>
                        <a:rPr lang="en-US" sz="1200" dirty="0">
                          <a:solidFill>
                            <a:srgbClr val="1B1C1D"/>
                          </a:solidFill>
                          <a:effectLst/>
                          <a:latin typeface="Google Sans Text"/>
                        </a:rPr>
                        <a:t> </a:t>
                      </a:r>
                      <a:r>
                        <a:rPr lang="en-US" sz="1200" dirty="0" err="1">
                          <a:solidFill>
                            <a:srgbClr val="1B1C1D"/>
                          </a:solidFill>
                          <a:effectLst/>
                          <a:latin typeface="Google Sans Text"/>
                        </a:rPr>
                        <a:t>InventoryService</a:t>
                      </a:r>
                      <a:r>
                        <a:rPr lang="en-US" sz="1200" dirty="0">
                          <a:solidFill>
                            <a:srgbClr val="1B1C1D"/>
                          </a:solidFill>
                          <a:effectLst/>
                          <a:latin typeface="Google Sans Text"/>
                        </a:rPr>
                        <a:t> returns True (success) or False (out of stock) and gives control back to the </a:t>
                      </a:r>
                      <a:r>
                        <a:rPr lang="en-US" sz="1200" dirty="0" err="1">
                          <a:solidFill>
                            <a:srgbClr val="1B1C1D"/>
                          </a:solidFill>
                          <a:effectLst/>
                          <a:latin typeface="Google Sans Text"/>
                        </a:rPr>
                        <a:t>CheckoutController</a:t>
                      </a:r>
                      <a:r>
                        <a:rPr lang="en-US" sz="1200" dirty="0">
                          <a:solidFill>
                            <a:srgbClr val="1B1C1D"/>
                          </a:solidFill>
                          <a:effectLst/>
                          <a:latin typeface="Google Sans Text"/>
                        </a:rPr>
                        <a:t>.</a:t>
                      </a: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1011939">
                <a:tc>
                  <a:txBody>
                    <a:bodyPr/>
                    <a:lstStyle/>
                    <a:p>
                      <a:pPr rtl="0"/>
                      <a:r>
                        <a:rPr lang="en-US" sz="1200" b="1">
                          <a:solidFill>
                            <a:srgbClr val="1B1C1D"/>
                          </a:solidFill>
                          <a:effectLst/>
                          <a:latin typeface="Google Sans Text"/>
                        </a:rPr>
                        <a:t>Testing Focus</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dirty="0">
                          <a:solidFill>
                            <a:srgbClr val="1B1C1D"/>
                          </a:solidFill>
                          <a:effectLst/>
                          <a:latin typeface="Google Sans Text"/>
                        </a:rPr>
                        <a:t>Testing must ensure the </a:t>
                      </a:r>
                      <a:r>
                        <a:rPr lang="en-US" sz="1200" b="1" dirty="0">
                          <a:solidFill>
                            <a:srgbClr val="1B1C1D"/>
                          </a:solidFill>
                          <a:effectLst/>
                          <a:latin typeface="Google Sans Text"/>
                        </a:rPr>
                        <a:t>correct data types</a:t>
                      </a:r>
                      <a:r>
                        <a:rPr lang="en-US" sz="1200" dirty="0">
                          <a:solidFill>
                            <a:srgbClr val="1B1C1D"/>
                          </a:solidFill>
                          <a:effectLst/>
                          <a:latin typeface="Google Sans Text"/>
                        </a:rPr>
                        <a:t> are passed and that the </a:t>
                      </a:r>
                      <a:r>
                        <a:rPr lang="en-US" sz="1200" b="1" dirty="0">
                          <a:solidFill>
                            <a:srgbClr val="1B1C1D"/>
                          </a:solidFill>
                          <a:effectLst/>
                          <a:latin typeface="Google Sans Text"/>
                        </a:rPr>
                        <a:t>return value</a:t>
                      </a:r>
                      <a:r>
                        <a:rPr lang="en-US" sz="1200" dirty="0">
                          <a:solidFill>
                            <a:srgbClr val="1B1C1D"/>
                          </a:solidFill>
                          <a:effectLst/>
                          <a:latin typeface="Google Sans Text"/>
                        </a:rPr>
                        <a:t> is accurately interpreted (e.g., if the service returns False, the controller displays the correct "Out of Stock" message).</a:t>
                      </a: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4510310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DIFFERENT TYPES OF INTERFACES</a:t>
            </a:r>
            <a:br>
              <a:rPr lang="en-US" dirty="0"/>
            </a:br>
            <a:r>
              <a:rPr lang="en-US" dirty="0"/>
              <a:t>AND INTERFACE ERRORS</a:t>
            </a:r>
          </a:p>
        </p:txBody>
      </p:sp>
      <p:graphicFrame>
        <p:nvGraphicFramePr>
          <p:cNvPr id="4" name="Table 3"/>
          <p:cNvGraphicFramePr>
            <a:graphicFrameLocks noGrp="1"/>
          </p:cNvGraphicFramePr>
          <p:nvPr>
            <p:extLst>
              <p:ext uri="{D42A27DB-BD31-4B8C-83A1-F6EECF244321}">
                <p14:modId xmlns:p14="http://schemas.microsoft.com/office/powerpoint/2010/main" val="1278486993"/>
              </p:ext>
            </p:extLst>
          </p:nvPr>
        </p:nvGraphicFramePr>
        <p:xfrm>
          <a:off x="1090335" y="1875465"/>
          <a:ext cx="6982380" cy="4365958"/>
        </p:xfrm>
        <a:graphic>
          <a:graphicData uri="http://schemas.openxmlformats.org/drawingml/2006/table">
            <a:tbl>
              <a:tblPr/>
              <a:tblGrid>
                <a:gridCol w="3491190"/>
                <a:gridCol w="3491190"/>
              </a:tblGrid>
              <a:tr h="283343">
                <a:tc>
                  <a:txBody>
                    <a:bodyPr/>
                    <a:lstStyle/>
                    <a:p>
                      <a:pPr rtl="0"/>
                      <a:r>
                        <a:rPr lang="en-US" sz="1200" b="1" dirty="0">
                          <a:solidFill>
                            <a:srgbClr val="1B1C1D"/>
                          </a:solidFill>
                          <a:effectLst/>
                          <a:latin typeface="Google Sans Text"/>
                        </a:rPr>
                        <a:t>Element</a:t>
                      </a:r>
                      <a:endParaRPr lang="en-US" sz="1200" dirty="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a:solidFill>
                            <a:srgbClr val="1B1C1D"/>
                          </a:solidFill>
                          <a:effectLst/>
                          <a:latin typeface="Google Sans Text"/>
                        </a:rPr>
                        <a:t>Description</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65492">
                <a:tc>
                  <a:txBody>
                    <a:bodyPr/>
                    <a:lstStyle/>
                    <a:p>
                      <a:pPr rtl="0"/>
                      <a:r>
                        <a:rPr lang="en-US" sz="1200" b="1">
                          <a:solidFill>
                            <a:srgbClr val="1B1C1D"/>
                          </a:solidFill>
                          <a:effectLst/>
                          <a:latin typeface="Google Sans Text"/>
                        </a:rPr>
                        <a:t>Module 1 (Writer)</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dirty="0" err="1">
                          <a:solidFill>
                            <a:srgbClr val="1B1C1D"/>
                          </a:solidFill>
                          <a:effectLst/>
                          <a:latin typeface="Google Sans Text"/>
                        </a:rPr>
                        <a:t>MarketDataFeedProcessor</a:t>
                      </a:r>
                      <a:r>
                        <a:rPr lang="en-US" sz="1200" dirty="0">
                          <a:solidFill>
                            <a:srgbClr val="1B1C1D"/>
                          </a:solidFill>
                          <a:effectLst/>
                          <a:latin typeface="Google Sans Text"/>
                        </a:rPr>
                        <a:t> (Pulls real-time prices from an exchange)</a:t>
                      </a: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65492">
                <a:tc>
                  <a:txBody>
                    <a:bodyPr/>
                    <a:lstStyle/>
                    <a:p>
                      <a:pPr rtl="0"/>
                      <a:r>
                        <a:rPr lang="en-US" sz="1200" b="1">
                          <a:solidFill>
                            <a:srgbClr val="1B1C1D"/>
                          </a:solidFill>
                          <a:effectLst/>
                          <a:latin typeface="Google Sans Text"/>
                        </a:rPr>
                        <a:t>Module 2 (Reader)</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dirty="0" err="1">
                          <a:solidFill>
                            <a:srgbClr val="1B1C1D"/>
                          </a:solidFill>
                          <a:effectLst/>
                          <a:latin typeface="Google Sans Text"/>
                        </a:rPr>
                        <a:t>TradingStrategyEngine</a:t>
                      </a:r>
                      <a:r>
                        <a:rPr lang="en-US" sz="1200" dirty="0">
                          <a:solidFill>
                            <a:srgbClr val="1B1C1D"/>
                          </a:solidFill>
                          <a:effectLst/>
                          <a:latin typeface="Google Sans Text"/>
                        </a:rPr>
                        <a:t> (Calculates buy/sell signals)</a:t>
                      </a: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65492">
                <a:tc>
                  <a:txBody>
                    <a:bodyPr/>
                    <a:lstStyle/>
                    <a:p>
                      <a:pPr rtl="0"/>
                      <a:r>
                        <a:rPr lang="en-US" sz="1200" b="1">
                          <a:solidFill>
                            <a:srgbClr val="1B1C1D"/>
                          </a:solidFill>
                          <a:effectLst/>
                          <a:latin typeface="Google Sans Text"/>
                        </a:rPr>
                        <a:t>Interface Channel</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dirty="0">
                          <a:solidFill>
                            <a:srgbClr val="1B1C1D"/>
                          </a:solidFill>
                          <a:effectLst/>
                          <a:latin typeface="Google Sans Text"/>
                        </a:rPr>
                        <a:t>A dedicated, mutually accessible </a:t>
                      </a:r>
                      <a:r>
                        <a:rPr lang="en-US" sz="1200" b="1" dirty="0">
                          <a:solidFill>
                            <a:srgbClr val="1B1C1D"/>
                          </a:solidFill>
                          <a:effectLst/>
                          <a:latin typeface="Google Sans Text"/>
                        </a:rPr>
                        <a:t>Shared Memory Buffer</a:t>
                      </a:r>
                      <a:r>
                        <a:rPr lang="en-US" sz="1200" dirty="0">
                          <a:solidFill>
                            <a:srgbClr val="1B1C1D"/>
                          </a:solidFill>
                          <a:effectLst/>
                          <a:latin typeface="Google Sans Text"/>
                        </a:rPr>
                        <a:t> (a specific address in RAM).</a:t>
                      </a: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65492">
                <a:tc>
                  <a:txBody>
                    <a:bodyPr/>
                    <a:lstStyle/>
                    <a:p>
                      <a:pPr rtl="0"/>
                      <a:r>
                        <a:rPr lang="en-US" sz="1200" b="1">
                          <a:solidFill>
                            <a:srgbClr val="1B1C1D"/>
                          </a:solidFill>
                          <a:effectLst/>
                          <a:latin typeface="Google Sans Text"/>
                        </a:rPr>
                        <a:t>Interaction</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dirty="0">
                          <a:solidFill>
                            <a:srgbClr val="1B1C1D"/>
                          </a:solidFill>
                          <a:effectLst/>
                          <a:latin typeface="Google Sans Text"/>
                        </a:rPr>
                        <a:t>The two modules do not call each other; they access the shared memory concurrently.</a:t>
                      </a: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1011939">
                <a:tc>
                  <a:txBody>
                    <a:bodyPr/>
                    <a:lstStyle/>
                    <a:p>
                      <a:pPr rtl="0"/>
                      <a:r>
                        <a:rPr lang="en-US" sz="1200" b="1">
                          <a:solidFill>
                            <a:srgbClr val="1B1C1D"/>
                          </a:solidFill>
                          <a:effectLst/>
                          <a:latin typeface="Google Sans Text"/>
                        </a:rPr>
                        <a:t>Control/Data Flow</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dirty="0">
                          <a:solidFill>
                            <a:srgbClr val="1B1C1D"/>
                          </a:solidFill>
                          <a:effectLst/>
                          <a:latin typeface="Google Sans Text"/>
                        </a:rPr>
                        <a:t>1. </a:t>
                      </a:r>
                      <a:r>
                        <a:rPr lang="en-US" sz="1200" b="1" dirty="0">
                          <a:solidFill>
                            <a:srgbClr val="1B1C1D"/>
                          </a:solidFill>
                          <a:effectLst/>
                          <a:latin typeface="Google Sans Text"/>
                        </a:rPr>
                        <a:t>Writer:</a:t>
                      </a:r>
                      <a:r>
                        <a:rPr lang="en-US" sz="1200" dirty="0">
                          <a:solidFill>
                            <a:srgbClr val="1B1C1D"/>
                          </a:solidFill>
                          <a:effectLst/>
                          <a:latin typeface="Google Sans Text"/>
                        </a:rPr>
                        <a:t> The Processor writes the latest stock price for $XYZ$ into a specific, pre-agreed slot in the shared buffer. 2. </a:t>
                      </a:r>
                      <a:r>
                        <a:rPr lang="en-US" sz="1200" b="1" dirty="0">
                          <a:solidFill>
                            <a:srgbClr val="1B1C1D"/>
                          </a:solidFill>
                          <a:effectLst/>
                          <a:latin typeface="Google Sans Text"/>
                        </a:rPr>
                        <a:t>Reader:</a:t>
                      </a:r>
                      <a:r>
                        <a:rPr lang="en-US" sz="1200" dirty="0">
                          <a:solidFill>
                            <a:srgbClr val="1B1C1D"/>
                          </a:solidFill>
                          <a:effectLst/>
                          <a:latin typeface="Google Sans Text"/>
                        </a:rPr>
                        <a:t> The Engine constantly reads the data from that same slot to trigger a trade decision.</a:t>
                      </a: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1194088">
                <a:tc>
                  <a:txBody>
                    <a:bodyPr/>
                    <a:lstStyle/>
                    <a:p>
                      <a:pPr rtl="0"/>
                      <a:r>
                        <a:rPr lang="en-US" sz="1200" b="1">
                          <a:solidFill>
                            <a:srgbClr val="1B1C1D"/>
                          </a:solidFill>
                          <a:effectLst/>
                          <a:latin typeface="Google Sans Text"/>
                        </a:rPr>
                        <a:t>Testing Focus</a:t>
                      </a:r>
                      <a:endParaRPr lang="en-US" sz="1200">
                        <a:solidFill>
                          <a:srgbClr val="1B1C1D"/>
                        </a:solidFill>
                        <a:effectLst/>
                        <a:latin typeface="Google Sans Text"/>
                      </a:endParaRP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dirty="0">
                          <a:solidFill>
                            <a:srgbClr val="1B1C1D"/>
                          </a:solidFill>
                          <a:effectLst/>
                          <a:latin typeface="Google Sans Text"/>
                        </a:rPr>
                        <a:t>Testing must focus on </a:t>
                      </a:r>
                      <a:r>
                        <a:rPr lang="en-US" sz="1200" b="1" dirty="0">
                          <a:solidFill>
                            <a:srgbClr val="1B1C1D"/>
                          </a:solidFill>
                          <a:effectLst/>
                          <a:latin typeface="Google Sans Text"/>
                        </a:rPr>
                        <a:t>synchronization and concurrency errors</a:t>
                      </a:r>
                      <a:r>
                        <a:rPr lang="en-US" sz="1200" dirty="0">
                          <a:solidFill>
                            <a:srgbClr val="1B1C1D"/>
                          </a:solidFill>
                          <a:effectLst/>
                          <a:latin typeface="Google Sans Text"/>
                        </a:rPr>
                        <a:t> (e.g., deadlocks, race conditions, or one module overwriting data before the other module has finished reading it). The data structure within the shared block must be perfectly aligned between modules.</a:t>
                      </a:r>
                    </a:p>
                  </a:txBody>
                  <a:tcPr marL="75895" marR="75895" marT="50597" marB="5059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0489969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DIFFERENT TYPES OF INTERFACES</a:t>
            </a:r>
            <a:br>
              <a:rPr lang="en-US" dirty="0"/>
            </a:br>
            <a:r>
              <a:rPr lang="en-US" dirty="0"/>
              <a:t>AND INTERFACE ERRORS</a:t>
            </a:r>
          </a:p>
        </p:txBody>
      </p:sp>
      <p:graphicFrame>
        <p:nvGraphicFramePr>
          <p:cNvPr id="3" name="Table 2"/>
          <p:cNvGraphicFramePr>
            <a:graphicFrameLocks noGrp="1"/>
          </p:cNvGraphicFramePr>
          <p:nvPr>
            <p:extLst>
              <p:ext uri="{D42A27DB-BD31-4B8C-83A1-F6EECF244321}">
                <p14:modId xmlns:p14="http://schemas.microsoft.com/office/powerpoint/2010/main" val="248348429"/>
              </p:ext>
            </p:extLst>
          </p:nvPr>
        </p:nvGraphicFramePr>
        <p:xfrm>
          <a:off x="838200" y="1709738"/>
          <a:ext cx="6203354" cy="4652688"/>
        </p:xfrm>
        <a:graphic>
          <a:graphicData uri="http://schemas.openxmlformats.org/drawingml/2006/table">
            <a:tbl>
              <a:tblPr/>
              <a:tblGrid>
                <a:gridCol w="3101677"/>
                <a:gridCol w="3101677"/>
              </a:tblGrid>
              <a:tr h="251730">
                <a:tc>
                  <a:txBody>
                    <a:bodyPr/>
                    <a:lstStyle/>
                    <a:p>
                      <a:pPr rtl="0"/>
                      <a:r>
                        <a:rPr lang="en-US" sz="1100" b="1" dirty="0">
                          <a:solidFill>
                            <a:srgbClr val="1B1C1D"/>
                          </a:solidFill>
                          <a:effectLst/>
                          <a:latin typeface="Google Sans Text"/>
                        </a:rPr>
                        <a:t>Element</a:t>
                      </a:r>
                      <a:endParaRPr lang="en-US" sz="1100" dirty="0">
                        <a:solidFill>
                          <a:srgbClr val="1B1C1D"/>
                        </a:solidFill>
                        <a:effectLst/>
                        <a:latin typeface="Google Sans Text"/>
                      </a:endParaRP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100" b="1">
                          <a:solidFill>
                            <a:srgbClr val="1B1C1D"/>
                          </a:solidFill>
                          <a:effectLst/>
                          <a:latin typeface="Google Sans Text"/>
                        </a:rPr>
                        <a:t>Description</a:t>
                      </a:r>
                      <a:endParaRPr lang="en-US" sz="1100">
                        <a:solidFill>
                          <a:srgbClr val="1B1C1D"/>
                        </a:solidFill>
                        <a:effectLst/>
                        <a:latin typeface="Google Sans Text"/>
                      </a:endParaRP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13557">
                <a:tc>
                  <a:txBody>
                    <a:bodyPr/>
                    <a:lstStyle/>
                    <a:p>
                      <a:pPr rtl="0"/>
                      <a:r>
                        <a:rPr lang="en-US" sz="1100" b="1">
                          <a:solidFill>
                            <a:srgbClr val="1B1C1D"/>
                          </a:solidFill>
                          <a:effectLst/>
                          <a:latin typeface="Google Sans Text"/>
                        </a:rPr>
                        <a:t>Module 1 (Sender)</a:t>
                      </a:r>
                      <a:endParaRPr lang="en-US" sz="1100">
                        <a:solidFill>
                          <a:srgbClr val="1B1C1D"/>
                        </a:solidFill>
                        <a:effectLst/>
                        <a:latin typeface="Google Sans Text"/>
                      </a:endParaRP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100" b="1" dirty="0" err="1">
                          <a:solidFill>
                            <a:srgbClr val="1B1C1D"/>
                          </a:solidFill>
                          <a:effectLst/>
                          <a:latin typeface="Google Sans Text"/>
                        </a:rPr>
                        <a:t>TicketCreationService</a:t>
                      </a:r>
                      <a:r>
                        <a:rPr lang="en-US" sz="1100" dirty="0">
                          <a:solidFill>
                            <a:srgbClr val="1B1C1D"/>
                          </a:solidFill>
                          <a:effectLst/>
                          <a:latin typeface="Google Sans Text"/>
                        </a:rPr>
                        <a:t> (Responds to the user and creates a ticket record)</a:t>
                      </a: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13557">
                <a:tc>
                  <a:txBody>
                    <a:bodyPr/>
                    <a:lstStyle/>
                    <a:p>
                      <a:pPr rtl="0"/>
                      <a:r>
                        <a:rPr lang="en-US" sz="1100" b="1">
                          <a:solidFill>
                            <a:srgbClr val="1B1C1D"/>
                          </a:solidFill>
                          <a:effectLst/>
                          <a:latin typeface="Google Sans Text"/>
                        </a:rPr>
                        <a:t>Module 2 (Receiver)</a:t>
                      </a:r>
                      <a:endParaRPr lang="en-US" sz="1100">
                        <a:solidFill>
                          <a:srgbClr val="1B1C1D"/>
                        </a:solidFill>
                        <a:effectLst/>
                        <a:latin typeface="Google Sans Text"/>
                      </a:endParaRP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100" b="1" dirty="0" err="1">
                          <a:solidFill>
                            <a:srgbClr val="1B1C1D"/>
                          </a:solidFill>
                          <a:effectLst/>
                          <a:latin typeface="Google Sans Text"/>
                        </a:rPr>
                        <a:t>NotificationService</a:t>
                      </a:r>
                      <a:r>
                        <a:rPr lang="en-US" sz="1100" dirty="0">
                          <a:solidFill>
                            <a:srgbClr val="1B1C1D"/>
                          </a:solidFill>
                          <a:effectLst/>
                          <a:latin typeface="Google Sans Text"/>
                        </a:rPr>
                        <a:t> (Sends emails and updates Slack channels)</a:t>
                      </a: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13557">
                <a:tc>
                  <a:txBody>
                    <a:bodyPr/>
                    <a:lstStyle/>
                    <a:p>
                      <a:pPr rtl="0"/>
                      <a:r>
                        <a:rPr lang="en-US" sz="1100" b="1">
                          <a:solidFill>
                            <a:srgbClr val="1B1C1D"/>
                          </a:solidFill>
                          <a:effectLst/>
                          <a:latin typeface="Google Sans Text"/>
                        </a:rPr>
                        <a:t>Interface Channel</a:t>
                      </a:r>
                      <a:endParaRPr lang="en-US" sz="1100">
                        <a:solidFill>
                          <a:srgbClr val="1B1C1D"/>
                        </a:solidFill>
                        <a:effectLst/>
                        <a:latin typeface="Google Sans Text"/>
                      </a:endParaRP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100" dirty="0">
                          <a:solidFill>
                            <a:srgbClr val="1B1C1D"/>
                          </a:solidFill>
                          <a:effectLst/>
                          <a:latin typeface="Google Sans Text"/>
                        </a:rPr>
                        <a:t>A </a:t>
                      </a:r>
                      <a:r>
                        <a:rPr lang="en-US" sz="1100" b="1" dirty="0">
                          <a:solidFill>
                            <a:srgbClr val="1B1C1D"/>
                          </a:solidFill>
                          <a:effectLst/>
                          <a:latin typeface="Google Sans Text"/>
                        </a:rPr>
                        <a:t>Message Queue</a:t>
                      </a:r>
                      <a:r>
                        <a:rPr lang="en-US" sz="1100" dirty="0">
                          <a:solidFill>
                            <a:srgbClr val="1B1C1D"/>
                          </a:solidFill>
                          <a:effectLst/>
                          <a:latin typeface="Google Sans Text"/>
                        </a:rPr>
                        <a:t> (MQ) or </a:t>
                      </a:r>
                      <a:r>
                        <a:rPr lang="en-US" sz="1100" b="1" dirty="0">
                          <a:solidFill>
                            <a:srgbClr val="1B1C1D"/>
                          </a:solidFill>
                          <a:effectLst/>
                          <a:latin typeface="Google Sans Text"/>
                        </a:rPr>
                        <a:t>REST API Endpoint</a:t>
                      </a:r>
                      <a:r>
                        <a:rPr lang="en-US" sz="1100" dirty="0">
                          <a:solidFill>
                            <a:srgbClr val="1B1C1D"/>
                          </a:solidFill>
                          <a:effectLst/>
                          <a:latin typeface="Google Sans Text"/>
                        </a:rPr>
                        <a:t> (e.g., </a:t>
                      </a:r>
                      <a:r>
                        <a:rPr lang="en-US" sz="1100" dirty="0" err="1">
                          <a:solidFill>
                            <a:srgbClr val="1B1C1D"/>
                          </a:solidFill>
                          <a:effectLst/>
                          <a:latin typeface="Google Sans Text"/>
                        </a:rPr>
                        <a:t>RabbitMQ</a:t>
                      </a:r>
                      <a:r>
                        <a:rPr lang="en-US" sz="1100" dirty="0">
                          <a:solidFill>
                            <a:srgbClr val="1B1C1D"/>
                          </a:solidFill>
                          <a:effectLst/>
                          <a:latin typeface="Google Sans Text"/>
                        </a:rPr>
                        <a:t>, SQS, or HTTPS).</a:t>
                      </a: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575383">
                <a:tc>
                  <a:txBody>
                    <a:bodyPr/>
                    <a:lstStyle/>
                    <a:p>
                      <a:pPr rtl="0"/>
                      <a:r>
                        <a:rPr lang="en-US" sz="1100" b="1">
                          <a:solidFill>
                            <a:srgbClr val="1B1C1D"/>
                          </a:solidFill>
                          <a:effectLst/>
                          <a:latin typeface="Google Sans Text"/>
                        </a:rPr>
                        <a:t>Interaction</a:t>
                      </a:r>
                      <a:endParaRPr lang="en-US" sz="1100">
                        <a:solidFill>
                          <a:srgbClr val="1B1C1D"/>
                        </a:solidFill>
                        <a:effectLst/>
                        <a:latin typeface="Google Sans Text"/>
                      </a:endParaRP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100" dirty="0">
                          <a:solidFill>
                            <a:srgbClr val="1B1C1D"/>
                          </a:solidFill>
                          <a:effectLst/>
                          <a:latin typeface="Google Sans Text"/>
                        </a:rPr>
                        <a:t>The sender sends a message/request and immediately continues its work. The receiver picks up the message when ready.</a:t>
                      </a: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1222690">
                <a:tc>
                  <a:txBody>
                    <a:bodyPr/>
                    <a:lstStyle/>
                    <a:p>
                      <a:pPr rtl="0"/>
                      <a:r>
                        <a:rPr lang="en-US" sz="1100" b="1">
                          <a:solidFill>
                            <a:srgbClr val="1B1C1D"/>
                          </a:solidFill>
                          <a:effectLst/>
                          <a:latin typeface="Google Sans Text"/>
                        </a:rPr>
                        <a:t>Control/Data Flow</a:t>
                      </a:r>
                      <a:endParaRPr lang="en-US" sz="1100">
                        <a:solidFill>
                          <a:srgbClr val="1B1C1D"/>
                        </a:solidFill>
                        <a:effectLst/>
                        <a:latin typeface="Google Sans Text"/>
                      </a:endParaRP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100" dirty="0">
                          <a:solidFill>
                            <a:srgbClr val="1B1C1D"/>
                          </a:solidFill>
                          <a:effectLst/>
                          <a:latin typeface="Google Sans Text"/>
                        </a:rPr>
                        <a:t>1. </a:t>
                      </a:r>
                      <a:r>
                        <a:rPr lang="en-US" sz="1100" b="1" dirty="0">
                          <a:solidFill>
                            <a:srgbClr val="1B1C1D"/>
                          </a:solidFill>
                          <a:effectLst/>
                          <a:latin typeface="Google Sans Text"/>
                        </a:rPr>
                        <a:t>Sender:</a:t>
                      </a:r>
                      <a:r>
                        <a:rPr lang="en-US" sz="1100" dirty="0">
                          <a:solidFill>
                            <a:srgbClr val="1B1C1D"/>
                          </a:solidFill>
                          <a:effectLst/>
                          <a:latin typeface="Google Sans Text"/>
                        </a:rPr>
                        <a:t> </a:t>
                      </a:r>
                      <a:r>
                        <a:rPr lang="en-US" sz="1100" dirty="0" err="1">
                          <a:solidFill>
                            <a:srgbClr val="1B1C1D"/>
                          </a:solidFill>
                          <a:effectLst/>
                          <a:latin typeface="Google Sans Text"/>
                        </a:rPr>
                        <a:t>TicketCreationService</a:t>
                      </a:r>
                      <a:r>
                        <a:rPr lang="en-US" sz="1100" dirty="0">
                          <a:solidFill>
                            <a:srgbClr val="1B1C1D"/>
                          </a:solidFill>
                          <a:effectLst/>
                          <a:latin typeface="Google Sans Text"/>
                        </a:rPr>
                        <a:t> initializes a JSON data structure ({ "</a:t>
                      </a:r>
                      <a:r>
                        <a:rPr lang="en-US" sz="1100" dirty="0" err="1">
                          <a:solidFill>
                            <a:srgbClr val="1B1C1D"/>
                          </a:solidFill>
                          <a:effectLst/>
                          <a:latin typeface="Google Sans Text"/>
                        </a:rPr>
                        <a:t>ticket_id</a:t>
                      </a:r>
                      <a:r>
                        <a:rPr lang="en-US" sz="1100" dirty="0">
                          <a:solidFill>
                            <a:srgbClr val="1B1C1D"/>
                          </a:solidFill>
                          <a:effectLst/>
                          <a:latin typeface="Google Sans Text"/>
                        </a:rPr>
                        <a:t>": 456, "status": "new" }). 2. </a:t>
                      </a:r>
                      <a:r>
                        <a:rPr lang="en-US" sz="1100" b="1" dirty="0">
                          <a:solidFill>
                            <a:srgbClr val="1B1C1D"/>
                          </a:solidFill>
                          <a:effectLst/>
                          <a:latin typeface="Google Sans Text"/>
                        </a:rPr>
                        <a:t>Sender:</a:t>
                      </a:r>
                      <a:r>
                        <a:rPr lang="en-US" sz="1100" dirty="0">
                          <a:solidFill>
                            <a:srgbClr val="1B1C1D"/>
                          </a:solidFill>
                          <a:effectLst/>
                          <a:latin typeface="Google Sans Text"/>
                        </a:rPr>
                        <a:t> It sends this JSON message to the </a:t>
                      </a:r>
                      <a:r>
                        <a:rPr lang="en-US" sz="1100" dirty="0" err="1">
                          <a:solidFill>
                            <a:srgbClr val="1B1C1D"/>
                          </a:solidFill>
                          <a:effectLst/>
                          <a:latin typeface="Google Sans Text"/>
                        </a:rPr>
                        <a:t>NotificationService's</a:t>
                      </a:r>
                      <a:r>
                        <a:rPr lang="en-US" sz="1100" dirty="0">
                          <a:solidFill>
                            <a:srgbClr val="1B1C1D"/>
                          </a:solidFill>
                          <a:effectLst/>
                          <a:latin typeface="Google Sans Text"/>
                        </a:rPr>
                        <a:t> designated endpoint (e.g., POST /</a:t>
                      </a:r>
                      <a:r>
                        <a:rPr lang="en-US" sz="1100" dirty="0" err="1">
                          <a:solidFill>
                            <a:srgbClr val="1B1C1D"/>
                          </a:solidFill>
                          <a:effectLst/>
                          <a:latin typeface="Google Sans Text"/>
                        </a:rPr>
                        <a:t>api</a:t>
                      </a:r>
                      <a:r>
                        <a:rPr lang="en-US" sz="1100" dirty="0">
                          <a:solidFill>
                            <a:srgbClr val="1B1C1D"/>
                          </a:solidFill>
                          <a:effectLst/>
                          <a:latin typeface="Google Sans Text"/>
                        </a:rPr>
                        <a:t>/notify). 3. </a:t>
                      </a:r>
                      <a:r>
                        <a:rPr lang="en-US" sz="1100" b="1" dirty="0">
                          <a:solidFill>
                            <a:srgbClr val="1B1C1D"/>
                          </a:solidFill>
                          <a:effectLst/>
                          <a:latin typeface="Google Sans Text"/>
                        </a:rPr>
                        <a:t>Receiver:</a:t>
                      </a:r>
                      <a:r>
                        <a:rPr lang="en-US" sz="1100" dirty="0">
                          <a:solidFill>
                            <a:srgbClr val="1B1C1D"/>
                          </a:solidFill>
                          <a:effectLst/>
                          <a:latin typeface="Google Sans Text"/>
                        </a:rPr>
                        <a:t> The </a:t>
                      </a:r>
                      <a:r>
                        <a:rPr lang="en-US" sz="1100" dirty="0" err="1">
                          <a:solidFill>
                            <a:srgbClr val="1B1C1D"/>
                          </a:solidFill>
                          <a:effectLst/>
                          <a:latin typeface="Google Sans Text"/>
                        </a:rPr>
                        <a:t>NotificationService</a:t>
                      </a:r>
                      <a:r>
                        <a:rPr lang="en-US" sz="1100" dirty="0">
                          <a:solidFill>
                            <a:srgbClr val="1B1C1D"/>
                          </a:solidFill>
                          <a:effectLst/>
                          <a:latin typeface="Google Sans Text"/>
                        </a:rPr>
                        <a:t> receives the message and executes its tasks (sends email, updates Slack).</a:t>
                      </a: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1060863">
                <a:tc>
                  <a:txBody>
                    <a:bodyPr/>
                    <a:lstStyle/>
                    <a:p>
                      <a:pPr rtl="0"/>
                      <a:r>
                        <a:rPr lang="en-US" sz="1100" b="1">
                          <a:solidFill>
                            <a:srgbClr val="1B1C1D"/>
                          </a:solidFill>
                          <a:effectLst/>
                          <a:latin typeface="Google Sans Text"/>
                        </a:rPr>
                        <a:t>Testing Focus</a:t>
                      </a:r>
                      <a:endParaRPr lang="en-US" sz="1100">
                        <a:solidFill>
                          <a:srgbClr val="1B1C1D"/>
                        </a:solidFill>
                        <a:effectLst/>
                        <a:latin typeface="Google Sans Text"/>
                      </a:endParaRP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100" dirty="0">
                          <a:solidFill>
                            <a:srgbClr val="1B1C1D"/>
                          </a:solidFill>
                          <a:effectLst/>
                          <a:latin typeface="Google Sans Text"/>
                        </a:rPr>
                        <a:t>Testing must ensure the </a:t>
                      </a:r>
                      <a:r>
                        <a:rPr lang="en-US" sz="1100" b="1" dirty="0">
                          <a:solidFill>
                            <a:srgbClr val="1B1C1D"/>
                          </a:solidFill>
                          <a:effectLst/>
                          <a:latin typeface="Google Sans Text"/>
                        </a:rPr>
                        <a:t>message payload (data structure)</a:t>
                      </a:r>
                      <a:r>
                        <a:rPr lang="en-US" sz="1100" dirty="0">
                          <a:solidFill>
                            <a:srgbClr val="1B1C1D"/>
                          </a:solidFill>
                          <a:effectLst/>
                          <a:latin typeface="Google Sans Text"/>
                        </a:rPr>
                        <a:t> is correctly formatted and that the receiver handles the communication protocol errors (e.g., network timeout, invalid JSON structure). This also includes testing queue capacity and message loss.</a:t>
                      </a:r>
                    </a:p>
                  </a:txBody>
                  <a:tcPr marL="67428" marR="67428" marT="44952" marB="4495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0282880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DIFFERENT TYPES OF INTERFACES</a:t>
            </a:r>
            <a:br>
              <a:rPr lang="en-US" dirty="0"/>
            </a:br>
            <a:r>
              <a:rPr lang="en-US" dirty="0"/>
              <a:t>AND INTERFACE ERRORS</a:t>
            </a:r>
          </a:p>
        </p:txBody>
      </p:sp>
      <p:sp>
        <p:nvSpPr>
          <p:cNvPr id="5" name="TextBox 4"/>
          <p:cNvSpPr txBox="1"/>
          <p:nvPr/>
        </p:nvSpPr>
        <p:spPr>
          <a:xfrm>
            <a:off x="746975" y="2047741"/>
            <a:ext cx="11087974" cy="4524315"/>
          </a:xfrm>
          <a:prstGeom prst="rect">
            <a:avLst/>
          </a:prstGeom>
          <a:noFill/>
        </p:spPr>
        <p:txBody>
          <a:bodyPr wrap="square" rtlCol="0">
            <a:spAutoFit/>
          </a:bodyPr>
          <a:lstStyle/>
          <a:p>
            <a:r>
              <a:rPr lang="en-US" sz="2400" dirty="0" smtClean="0"/>
              <a:t>It is </a:t>
            </a:r>
            <a:r>
              <a:rPr lang="en-US" sz="2400" dirty="0"/>
              <a:t>difficult to observe interface errors by performing system-level testing, </a:t>
            </a:r>
            <a:r>
              <a:rPr lang="en-US" sz="2400" dirty="0" smtClean="0"/>
              <a:t>because these </a:t>
            </a:r>
            <a:r>
              <a:rPr lang="en-US" sz="2400" dirty="0"/>
              <a:t>errors tend to be buried in system </a:t>
            </a:r>
            <a:r>
              <a:rPr lang="en-US" sz="2400" dirty="0" smtClean="0"/>
              <a:t>internals</a:t>
            </a:r>
            <a:r>
              <a:rPr lang="en-US" sz="2400" dirty="0"/>
              <a:t>?</a:t>
            </a:r>
            <a:endParaRPr lang="en-US" sz="2400" dirty="0" smtClean="0"/>
          </a:p>
          <a:p>
            <a:endParaRPr lang="en-US" sz="2400" dirty="0"/>
          </a:p>
          <a:p>
            <a:r>
              <a:rPr lang="en-US" sz="2400" dirty="0"/>
              <a:t>System integration testing is performed by the </a:t>
            </a:r>
            <a:r>
              <a:rPr lang="en-US" sz="2400" b="1" dirty="0">
                <a:solidFill>
                  <a:srgbClr val="FF0000"/>
                </a:solidFill>
              </a:rPr>
              <a:t>system integration group</a:t>
            </a:r>
            <a:r>
              <a:rPr lang="en-US" sz="2400" dirty="0"/>
              <a:t>, </a:t>
            </a:r>
            <a:r>
              <a:rPr lang="en-US" sz="2400" dirty="0" smtClean="0"/>
              <a:t>also known </a:t>
            </a:r>
            <a:r>
              <a:rPr lang="en-US" sz="2400" dirty="0"/>
              <a:t>as a build engineering group. The integration test engineers need to </a:t>
            </a:r>
            <a:r>
              <a:rPr lang="en-US" sz="2400" dirty="0" smtClean="0"/>
              <a:t>know the </a:t>
            </a:r>
            <a:r>
              <a:rPr lang="en-US" sz="2400" dirty="0"/>
              <a:t>details of the software modules. </a:t>
            </a:r>
            <a:endParaRPr lang="en-US" sz="2400" dirty="0" smtClean="0"/>
          </a:p>
          <a:p>
            <a:r>
              <a:rPr lang="en-US" sz="2400" dirty="0" smtClean="0"/>
              <a:t>This </a:t>
            </a:r>
            <a:r>
              <a:rPr lang="en-US" sz="2400" dirty="0"/>
              <a:t>means that the team of engineers </a:t>
            </a:r>
            <a:r>
              <a:rPr lang="en-US" sz="2400" dirty="0" smtClean="0"/>
              <a:t>who built </a:t>
            </a:r>
            <a:r>
              <a:rPr lang="en-US" sz="2400" dirty="0"/>
              <a:t>the modules needs to be involved in system integration. </a:t>
            </a:r>
            <a:endParaRPr lang="en-US" sz="2400" dirty="0" smtClean="0"/>
          </a:p>
          <a:p>
            <a:r>
              <a:rPr lang="en-US" sz="2400" dirty="0" smtClean="0"/>
              <a:t>The </a:t>
            </a:r>
            <a:r>
              <a:rPr lang="en-US" sz="2400" dirty="0"/>
              <a:t>integration </a:t>
            </a:r>
            <a:r>
              <a:rPr lang="en-US" sz="2400" dirty="0" smtClean="0"/>
              <a:t>testers should </a:t>
            </a:r>
            <a:r>
              <a:rPr lang="en-US" sz="2400" dirty="0"/>
              <a:t>be familiar with the interface mechanisms. </a:t>
            </a:r>
            <a:endParaRPr lang="en-US" sz="2400" dirty="0" smtClean="0"/>
          </a:p>
          <a:p>
            <a:r>
              <a:rPr lang="en-US" sz="2400" dirty="0" smtClean="0"/>
              <a:t>The </a:t>
            </a:r>
            <a:r>
              <a:rPr lang="en-US" sz="2400" b="1" dirty="0">
                <a:solidFill>
                  <a:srgbClr val="FF0000"/>
                </a:solidFill>
              </a:rPr>
              <a:t>system architects </a:t>
            </a:r>
            <a:r>
              <a:rPr lang="en-US" sz="2400" dirty="0"/>
              <a:t>should </a:t>
            </a:r>
            <a:r>
              <a:rPr lang="en-US" sz="2400" dirty="0" smtClean="0"/>
              <a:t>be involved </a:t>
            </a:r>
            <a:r>
              <a:rPr lang="en-US" sz="2400" dirty="0"/>
              <a:t>in the integration testing of complex software systems because of the fact</a:t>
            </a:r>
          </a:p>
          <a:p>
            <a:r>
              <a:rPr lang="en-US" sz="2400" dirty="0"/>
              <a:t>that they have the bigger picture of the system.</a:t>
            </a:r>
          </a:p>
        </p:txBody>
      </p:sp>
    </p:spTree>
    <p:extLst>
      <p:ext uri="{BB962C8B-B14F-4D97-AF65-F5344CB8AC3E}">
        <p14:creationId xmlns:p14="http://schemas.microsoft.com/office/powerpoint/2010/main" val="14757861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E2545348-AB1D-4895-B740-FC0A84B1B144}" type="slidenum">
              <a:rPr lang="en-US" sz="1000">
                <a:solidFill>
                  <a:srgbClr val="000000"/>
                </a:solidFill>
              </a:rPr>
              <a:pPr/>
              <a:t>9</a:t>
            </a:fld>
            <a:endParaRPr lang="en-US" sz="1000">
              <a:solidFill>
                <a:srgbClr val="000000"/>
              </a:solidFill>
            </a:endParaRPr>
          </a:p>
        </p:txBody>
      </p:sp>
      <p:sp>
        <p:nvSpPr>
          <p:cNvPr id="28675" name="Rectangle 2"/>
          <p:cNvSpPr>
            <a:spLocks noGrp="1" noChangeArrowheads="1"/>
          </p:cNvSpPr>
          <p:nvPr>
            <p:ph type="title" idx="4294967295"/>
          </p:nvPr>
        </p:nvSpPr>
        <p:spPr/>
        <p:txBody>
          <a:bodyPr/>
          <a:lstStyle/>
          <a:p>
            <a:r>
              <a:rPr lang="en-US" dirty="0" smtClean="0">
                <a:latin typeface="Times New Roman" panose="02020603050405020304" pitchFamily="18" charset="0"/>
              </a:rPr>
              <a:t>Granularity of System Integration Testing</a:t>
            </a:r>
          </a:p>
        </p:txBody>
      </p:sp>
      <p:sp>
        <p:nvSpPr>
          <p:cNvPr id="28676" name="Rectangle 3"/>
          <p:cNvSpPr>
            <a:spLocks noGrp="1" noChangeArrowheads="1"/>
          </p:cNvSpPr>
          <p:nvPr>
            <p:ph type="body" idx="4294967295"/>
          </p:nvPr>
        </p:nvSpPr>
        <p:spPr/>
        <p:txBody>
          <a:bodyPr>
            <a:normAutofit fontScale="85000" lnSpcReduction="20000"/>
          </a:bodyPr>
          <a:lstStyle/>
          <a:p>
            <a:pPr>
              <a:buNone/>
            </a:pPr>
            <a:r>
              <a:rPr lang="en-US" dirty="0">
                <a:latin typeface="Times New Roman" panose="02020603050405020304" pitchFamily="18" charset="0"/>
              </a:rPr>
              <a:t>Integration testing includes both white- and black-box testing approaches.</a:t>
            </a:r>
          </a:p>
          <a:p>
            <a:pPr>
              <a:buFontTx/>
              <a:buNone/>
            </a:pPr>
            <a:endParaRPr lang="en-US" dirty="0" smtClean="0">
              <a:latin typeface="Times New Roman" panose="02020603050405020304" pitchFamily="18" charset="0"/>
            </a:endParaRPr>
          </a:p>
          <a:p>
            <a:pPr>
              <a:buFontTx/>
              <a:buNone/>
            </a:pPr>
            <a:r>
              <a:rPr lang="en-US" dirty="0" smtClean="0">
                <a:latin typeface="Times New Roman" panose="02020603050405020304" pitchFamily="18" charset="0"/>
              </a:rPr>
              <a:t>System Integration testing is performed at different levels of granularity</a:t>
            </a:r>
          </a:p>
          <a:p>
            <a:pPr>
              <a:buFontTx/>
              <a:buNone/>
            </a:pPr>
            <a:r>
              <a:rPr lang="en-US" dirty="0" smtClean="0">
                <a:latin typeface="Times New Roman" panose="02020603050405020304" pitchFamily="18" charset="0"/>
              </a:rPr>
              <a:t>Intra-system testing</a:t>
            </a:r>
          </a:p>
          <a:p>
            <a:pPr lvl="1"/>
            <a:r>
              <a:rPr lang="en-US" dirty="0" smtClean="0">
                <a:latin typeface="Times New Roman" panose="02020603050405020304" pitchFamily="18" charset="0"/>
              </a:rPr>
              <a:t>This form of testing constitutes low-level integration testing with the objective of combining the modules together to build a cohesive system</a:t>
            </a:r>
          </a:p>
          <a:p>
            <a:r>
              <a:rPr lang="en-US" dirty="0" smtClean="0">
                <a:latin typeface="Times New Roman" panose="02020603050405020304" pitchFamily="18" charset="0"/>
              </a:rPr>
              <a:t>Inter-system testing</a:t>
            </a:r>
          </a:p>
          <a:p>
            <a:pPr lvl="1"/>
            <a:r>
              <a:rPr lang="en-US" dirty="0" smtClean="0">
                <a:latin typeface="Times New Roman" panose="02020603050405020304" pitchFamily="18" charset="0"/>
              </a:rPr>
              <a:t>It is a high-level testing phase which requires interfacing independently tested systems</a:t>
            </a:r>
          </a:p>
          <a:p>
            <a:r>
              <a:rPr lang="en-US" dirty="0" smtClean="0">
                <a:latin typeface="Times New Roman" panose="02020603050405020304" pitchFamily="18" charset="0"/>
              </a:rPr>
              <a:t>Pairwise testing</a:t>
            </a:r>
          </a:p>
          <a:p>
            <a:pPr lvl="1"/>
            <a:r>
              <a:rPr lang="en-US" dirty="0" smtClean="0">
                <a:latin typeface="Times New Roman" panose="02020603050405020304" pitchFamily="18" charset="0"/>
              </a:rPr>
              <a:t>In pairwise integration, only two interconnected systems in an overall system are tested at a time</a:t>
            </a:r>
          </a:p>
          <a:p>
            <a:pPr lvl="1"/>
            <a:r>
              <a:rPr lang="en-US" dirty="0" smtClean="0">
                <a:latin typeface="Times New Roman" panose="02020603050405020304" pitchFamily="18" charset="0"/>
              </a:rPr>
              <a:t>The purpose of pairwise testing is to ensure that two systems under consideration can function together, assuming that the other systems within the overall environment behave as expected</a:t>
            </a:r>
          </a:p>
          <a:p>
            <a:pPr lvl="1">
              <a:buFontTx/>
              <a:buNone/>
            </a:pPr>
            <a:endParaRPr lang="en-US" dirty="0" smtClean="0">
              <a:latin typeface="Times New Roman" panose="02020603050405020304" pitchFamily="18" charset="0"/>
            </a:endParaRPr>
          </a:p>
        </p:txBody>
      </p:sp>
    </p:spTree>
    <p:extLst>
      <p:ext uri="{BB962C8B-B14F-4D97-AF65-F5344CB8AC3E}">
        <p14:creationId xmlns:p14="http://schemas.microsoft.com/office/powerpoint/2010/main" val="19097499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259117B5-578D-4F4B-8220-90A3F35563EB}" type="slidenum">
              <a:rPr lang="en-US" sz="1000">
                <a:solidFill>
                  <a:srgbClr val="000000"/>
                </a:solidFill>
              </a:rPr>
              <a:pPr/>
              <a:t>10</a:t>
            </a:fld>
            <a:endParaRPr lang="en-US" sz="1000">
              <a:solidFill>
                <a:srgbClr val="000000"/>
              </a:solidFill>
            </a:endParaRPr>
          </a:p>
        </p:txBody>
      </p:sp>
      <p:sp>
        <p:nvSpPr>
          <p:cNvPr id="29699" name="Rectangle 2"/>
          <p:cNvSpPr>
            <a:spLocks noGrp="1" noChangeArrowheads="1"/>
          </p:cNvSpPr>
          <p:nvPr>
            <p:ph type="title" idx="4294967295"/>
          </p:nvPr>
        </p:nvSpPr>
        <p:spPr/>
        <p:txBody>
          <a:bodyPr/>
          <a:lstStyle/>
          <a:p>
            <a:r>
              <a:rPr lang="en-US" dirty="0" smtClean="0">
                <a:latin typeface="Times New Roman" panose="02020603050405020304" pitchFamily="18" charset="0"/>
              </a:rPr>
              <a:t>System Integration Techniques</a:t>
            </a:r>
          </a:p>
        </p:txBody>
      </p:sp>
      <p:sp>
        <p:nvSpPr>
          <p:cNvPr id="29700" name="Rectangle 3"/>
          <p:cNvSpPr>
            <a:spLocks noGrp="1" noChangeArrowheads="1"/>
          </p:cNvSpPr>
          <p:nvPr>
            <p:ph type="body" idx="4294967295"/>
          </p:nvPr>
        </p:nvSpPr>
        <p:spPr/>
        <p:txBody>
          <a:bodyPr>
            <a:normAutofit fontScale="92500" lnSpcReduction="20000"/>
          </a:bodyPr>
          <a:lstStyle/>
          <a:p>
            <a:pPr>
              <a:buFontTx/>
              <a:buNone/>
            </a:pPr>
            <a:r>
              <a:rPr lang="en-US" dirty="0" smtClean="0">
                <a:latin typeface="Times New Roman" panose="02020603050405020304" pitchFamily="18" charset="0"/>
              </a:rPr>
              <a:t>Common approaches to perform system integration testing</a:t>
            </a:r>
          </a:p>
          <a:p>
            <a:r>
              <a:rPr lang="en-US" dirty="0" smtClean="0">
                <a:latin typeface="Times New Roman" panose="02020603050405020304" pitchFamily="18" charset="0"/>
              </a:rPr>
              <a:t>Incremental</a:t>
            </a:r>
          </a:p>
          <a:p>
            <a:r>
              <a:rPr lang="en-US" dirty="0" smtClean="0">
                <a:latin typeface="Times New Roman" panose="02020603050405020304" pitchFamily="18" charset="0"/>
              </a:rPr>
              <a:t>Top-down</a:t>
            </a:r>
          </a:p>
          <a:p>
            <a:r>
              <a:rPr lang="en-US" dirty="0" smtClean="0">
                <a:latin typeface="Times New Roman" panose="02020603050405020304" pitchFamily="18" charset="0"/>
              </a:rPr>
              <a:t>Bottom-up</a:t>
            </a:r>
          </a:p>
          <a:p>
            <a:r>
              <a:rPr lang="en-US" dirty="0" smtClean="0">
                <a:latin typeface="Times New Roman" panose="02020603050405020304" pitchFamily="18" charset="0"/>
              </a:rPr>
              <a:t>Sandwich</a:t>
            </a:r>
          </a:p>
          <a:p>
            <a:r>
              <a:rPr lang="en-US" dirty="0" smtClean="0">
                <a:latin typeface="Times New Roman" panose="02020603050405020304" pitchFamily="18" charset="0"/>
              </a:rPr>
              <a:t>Big-bang</a:t>
            </a:r>
          </a:p>
          <a:p>
            <a:pPr>
              <a:buFontTx/>
              <a:buNone/>
            </a:pPr>
            <a:endParaRPr lang="en-US" dirty="0" smtClean="0">
              <a:latin typeface="Times New Roman" panose="02020603050405020304" pitchFamily="18" charset="0"/>
            </a:endParaRPr>
          </a:p>
          <a:p>
            <a:pPr>
              <a:buFontTx/>
              <a:buNone/>
            </a:pPr>
            <a:r>
              <a:rPr lang="en-US" b="1" dirty="0" smtClean="0">
                <a:latin typeface="Times New Roman" panose="02020603050405020304" pitchFamily="18" charset="0"/>
              </a:rPr>
              <a:t>Pre-requisite </a:t>
            </a:r>
          </a:p>
          <a:p>
            <a:pPr>
              <a:buFontTx/>
              <a:buNone/>
            </a:pPr>
            <a:r>
              <a:rPr lang="en-US" dirty="0" smtClean="0">
                <a:latin typeface="Times New Roman" panose="02020603050405020304" pitchFamily="18" charset="0"/>
              </a:rPr>
              <a:t>A module must be available to be integrated</a:t>
            </a:r>
          </a:p>
          <a:p>
            <a:pPr lvl="1">
              <a:buFontTx/>
              <a:buNone/>
            </a:pPr>
            <a:r>
              <a:rPr lang="en-US" dirty="0" smtClean="0">
                <a:latin typeface="Times New Roman" panose="02020603050405020304" pitchFamily="18" charset="0"/>
              </a:rPr>
              <a:t>A module is said to </a:t>
            </a:r>
            <a:r>
              <a:rPr lang="en-US" i="1" dirty="0" smtClean="0">
                <a:latin typeface="Times New Roman" panose="02020603050405020304" pitchFamily="18" charset="0"/>
              </a:rPr>
              <a:t>available</a:t>
            </a:r>
            <a:r>
              <a:rPr lang="en-US" dirty="0" smtClean="0">
                <a:latin typeface="Times New Roman" panose="02020603050405020304" pitchFamily="18" charset="0"/>
              </a:rPr>
              <a:t> for combining with other modules when the module’s </a:t>
            </a:r>
            <a:r>
              <a:rPr lang="en-US" i="1" dirty="0" smtClean="0">
                <a:latin typeface="Times New Roman" panose="02020603050405020304" pitchFamily="18" charset="0"/>
              </a:rPr>
              <a:t>check-in request form</a:t>
            </a:r>
            <a:r>
              <a:rPr lang="en-US" dirty="0" smtClean="0">
                <a:latin typeface="Times New Roman" panose="02020603050405020304" pitchFamily="18" charset="0"/>
              </a:rPr>
              <a:t> is ready</a:t>
            </a:r>
          </a:p>
        </p:txBody>
      </p:sp>
    </p:spTree>
    <p:extLst>
      <p:ext uri="{BB962C8B-B14F-4D97-AF65-F5344CB8AC3E}">
        <p14:creationId xmlns:p14="http://schemas.microsoft.com/office/powerpoint/2010/main" val="42445286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6C0B7B88-73EC-4F25-B21A-966F7843CBA7}" type="slidenum">
              <a:rPr lang="en-US" sz="1000">
                <a:solidFill>
                  <a:srgbClr val="000000"/>
                </a:solidFill>
              </a:rPr>
              <a:pPr/>
              <a:t>11</a:t>
            </a:fld>
            <a:endParaRPr lang="en-US" sz="1000">
              <a:solidFill>
                <a:srgbClr val="000000"/>
              </a:solidFill>
            </a:endParaRPr>
          </a:p>
        </p:txBody>
      </p:sp>
      <p:sp>
        <p:nvSpPr>
          <p:cNvPr id="31747" name="Rectangle 2"/>
          <p:cNvSpPr>
            <a:spLocks noGrp="1" noChangeArrowheads="1"/>
          </p:cNvSpPr>
          <p:nvPr>
            <p:ph type="title" idx="4294967295"/>
          </p:nvPr>
        </p:nvSpPr>
        <p:spPr/>
        <p:txBody>
          <a:bodyPr/>
          <a:lstStyle/>
          <a:p>
            <a:r>
              <a:rPr lang="en-US" dirty="0" smtClean="0">
                <a:latin typeface="Times New Roman" panose="02020603050405020304" pitchFamily="18" charset="0"/>
              </a:rPr>
              <a:t>Incremental</a:t>
            </a:r>
          </a:p>
        </p:txBody>
      </p:sp>
      <p:sp>
        <p:nvSpPr>
          <p:cNvPr id="31748" name="Rectangle 3"/>
          <p:cNvSpPr>
            <a:spLocks noGrp="1" noChangeArrowheads="1"/>
          </p:cNvSpPr>
          <p:nvPr>
            <p:ph type="body" idx="4294967295"/>
          </p:nvPr>
        </p:nvSpPr>
        <p:spPr/>
        <p:txBody>
          <a:bodyPr>
            <a:normAutofit fontScale="92500" lnSpcReduction="20000"/>
          </a:bodyPr>
          <a:lstStyle/>
          <a:p>
            <a:r>
              <a:rPr lang="en-US" dirty="0" smtClean="0">
                <a:latin typeface="Times New Roman" panose="02020603050405020304" pitchFamily="18" charset="0"/>
              </a:rPr>
              <a:t>A </a:t>
            </a:r>
            <a:r>
              <a:rPr lang="en-US" b="1" dirty="0" smtClean="0">
                <a:latin typeface="Times New Roman" panose="02020603050405020304" pitchFamily="18" charset="0"/>
              </a:rPr>
              <a:t>software image </a:t>
            </a:r>
            <a:r>
              <a:rPr lang="en-US" dirty="0" smtClean="0">
                <a:latin typeface="Times New Roman" panose="02020603050405020304" pitchFamily="18" charset="0"/>
              </a:rPr>
              <a:t>is a compiled software binary</a:t>
            </a:r>
          </a:p>
          <a:p>
            <a:r>
              <a:rPr lang="en-US" dirty="0" smtClean="0">
                <a:latin typeface="Times New Roman" panose="02020603050405020304" pitchFamily="18" charset="0"/>
              </a:rPr>
              <a:t>A </a:t>
            </a:r>
            <a:r>
              <a:rPr lang="en-US" b="1" dirty="0" smtClean="0">
                <a:latin typeface="Times New Roman" panose="02020603050405020304" pitchFamily="18" charset="0"/>
              </a:rPr>
              <a:t>build is an interim </a:t>
            </a:r>
            <a:r>
              <a:rPr lang="en-US" dirty="0" smtClean="0">
                <a:latin typeface="Times New Roman" panose="02020603050405020304" pitchFamily="18" charset="0"/>
              </a:rPr>
              <a:t>software image for internal testing within an organization</a:t>
            </a:r>
          </a:p>
          <a:p>
            <a:r>
              <a:rPr lang="en-US" b="1" dirty="0" smtClean="0">
                <a:latin typeface="Times New Roman" panose="02020603050405020304" pitchFamily="18" charset="0"/>
              </a:rPr>
              <a:t>Constructing a build </a:t>
            </a:r>
            <a:r>
              <a:rPr lang="en-US" dirty="0" smtClean="0">
                <a:latin typeface="Times New Roman" panose="02020603050405020304" pitchFamily="18" charset="0"/>
              </a:rPr>
              <a:t>is a process by which individual modules are integrated to form am interim software image.</a:t>
            </a:r>
          </a:p>
          <a:p>
            <a:r>
              <a:rPr lang="en-US" dirty="0" smtClean="0">
                <a:latin typeface="Times New Roman" panose="02020603050405020304" pitchFamily="18" charset="0"/>
              </a:rPr>
              <a:t>The final build is a candidate for system testing</a:t>
            </a:r>
          </a:p>
          <a:p>
            <a:r>
              <a:rPr lang="en-US" dirty="0" smtClean="0">
                <a:latin typeface="Times New Roman" panose="02020603050405020304" pitchFamily="18" charset="0"/>
              </a:rPr>
              <a:t>Constructing a software image involves the following activities</a:t>
            </a:r>
          </a:p>
          <a:p>
            <a:pPr lvl="1"/>
            <a:r>
              <a:rPr lang="en-US" dirty="0" smtClean="0">
                <a:latin typeface="Times New Roman" panose="02020603050405020304" pitchFamily="18" charset="0"/>
              </a:rPr>
              <a:t>Gathering the latest unit tested, authorized versions of modules</a:t>
            </a:r>
          </a:p>
          <a:p>
            <a:pPr lvl="1"/>
            <a:r>
              <a:rPr lang="en-US" dirty="0" smtClean="0">
                <a:latin typeface="Times New Roman" panose="02020603050405020304" pitchFamily="18" charset="0"/>
              </a:rPr>
              <a:t>Compiling the source code of those modules</a:t>
            </a:r>
          </a:p>
          <a:p>
            <a:pPr lvl="1"/>
            <a:r>
              <a:rPr lang="en-US" dirty="0" smtClean="0">
                <a:latin typeface="Times New Roman" panose="02020603050405020304" pitchFamily="18" charset="0"/>
              </a:rPr>
              <a:t>Checking in the compiled code to the repository</a:t>
            </a:r>
          </a:p>
          <a:p>
            <a:pPr lvl="1"/>
            <a:r>
              <a:rPr lang="en-US" b="1" dirty="0" smtClean="0">
                <a:latin typeface="Times New Roman" panose="02020603050405020304" pitchFamily="18" charset="0"/>
              </a:rPr>
              <a:t>Linking the compiled modules into subassemblies</a:t>
            </a:r>
          </a:p>
          <a:p>
            <a:pPr lvl="1"/>
            <a:r>
              <a:rPr lang="en-US" b="1" dirty="0" smtClean="0">
                <a:latin typeface="Times New Roman" panose="02020603050405020304" pitchFamily="18" charset="0"/>
              </a:rPr>
              <a:t>Verifying that the subassemblies are correct</a:t>
            </a:r>
          </a:p>
          <a:p>
            <a:pPr lvl="1"/>
            <a:r>
              <a:rPr lang="en-US" b="1" dirty="0" smtClean="0">
                <a:latin typeface="Times New Roman" panose="02020603050405020304" pitchFamily="18" charset="0"/>
              </a:rPr>
              <a:t>Exercising version control</a:t>
            </a:r>
          </a:p>
        </p:txBody>
      </p:sp>
    </p:spTree>
    <p:extLst>
      <p:ext uri="{BB962C8B-B14F-4D97-AF65-F5344CB8AC3E}">
        <p14:creationId xmlns:p14="http://schemas.microsoft.com/office/powerpoint/2010/main" val="38435081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0C91BB93-A863-4FB0-80D8-5EADDF960737}" type="slidenum">
              <a:rPr lang="en-US" sz="1000">
                <a:solidFill>
                  <a:srgbClr val="000000"/>
                </a:solidFill>
              </a:rPr>
              <a:pPr/>
              <a:t>12</a:t>
            </a:fld>
            <a:endParaRPr lang="en-US" sz="1000">
              <a:solidFill>
                <a:srgbClr val="000000"/>
              </a:solidFill>
            </a:endParaRPr>
          </a:p>
        </p:txBody>
      </p:sp>
      <p:sp>
        <p:nvSpPr>
          <p:cNvPr id="32771" name="Rectangle 2"/>
          <p:cNvSpPr>
            <a:spLocks noGrp="1" noChangeArrowheads="1"/>
          </p:cNvSpPr>
          <p:nvPr>
            <p:ph type="title" idx="4294967295"/>
          </p:nvPr>
        </p:nvSpPr>
        <p:spPr/>
        <p:txBody>
          <a:bodyPr/>
          <a:lstStyle/>
          <a:p>
            <a:r>
              <a:rPr lang="en-US" dirty="0" smtClean="0">
                <a:latin typeface="Times New Roman" panose="02020603050405020304" pitchFamily="18" charset="0"/>
              </a:rPr>
              <a:t>Incremental</a:t>
            </a:r>
          </a:p>
        </p:txBody>
      </p:sp>
      <p:sp>
        <p:nvSpPr>
          <p:cNvPr id="32772" name="Rectangle 3"/>
          <p:cNvSpPr>
            <a:spLocks noGrp="1" noChangeArrowheads="1"/>
          </p:cNvSpPr>
          <p:nvPr>
            <p:ph type="body" idx="4294967295"/>
          </p:nvPr>
        </p:nvSpPr>
        <p:spPr/>
        <p:txBody>
          <a:bodyPr>
            <a:normAutofit fontScale="85000" lnSpcReduction="20000"/>
          </a:bodyPr>
          <a:lstStyle/>
          <a:p>
            <a:r>
              <a:rPr lang="en-US" dirty="0" smtClean="0">
                <a:latin typeface="Times New Roman" panose="02020603050405020304" pitchFamily="18" charset="0"/>
              </a:rPr>
              <a:t>Integration testing is conducted in an incremental manner as a series of test cycles</a:t>
            </a:r>
          </a:p>
          <a:p>
            <a:r>
              <a:rPr lang="en-US" dirty="0" smtClean="0">
                <a:latin typeface="Times New Roman" panose="02020603050405020304" pitchFamily="18" charset="0"/>
              </a:rPr>
              <a:t>In each test cycle, a few more modules are integrated with an existing and tested build to generated larger builds</a:t>
            </a:r>
          </a:p>
          <a:p>
            <a:r>
              <a:rPr lang="en-US" dirty="0" smtClean="0">
                <a:latin typeface="Times New Roman" panose="02020603050405020304" pitchFamily="18" charset="0"/>
              </a:rPr>
              <a:t>The complete system is built, cycle by cycle until the whole system is operational for system-level testing.</a:t>
            </a:r>
          </a:p>
          <a:p>
            <a:r>
              <a:rPr lang="en-US" dirty="0" smtClean="0">
                <a:latin typeface="Times New Roman" panose="02020603050405020304" pitchFamily="18" charset="0"/>
              </a:rPr>
              <a:t> The number of SIT cycles and the total integration time are determined by the following parameters:</a:t>
            </a:r>
          </a:p>
          <a:p>
            <a:pPr lvl="1"/>
            <a:r>
              <a:rPr lang="en-US" dirty="0" smtClean="0">
                <a:latin typeface="Times New Roman" panose="02020603050405020304" pitchFamily="18" charset="0"/>
              </a:rPr>
              <a:t>Number of modules in the system</a:t>
            </a:r>
          </a:p>
          <a:p>
            <a:pPr lvl="1"/>
            <a:r>
              <a:rPr lang="en-US" dirty="0" smtClean="0">
                <a:latin typeface="Times New Roman" panose="02020603050405020304" pitchFamily="18" charset="0"/>
              </a:rPr>
              <a:t>Relative complexity of the module </a:t>
            </a:r>
          </a:p>
          <a:p>
            <a:pPr lvl="1"/>
            <a:r>
              <a:rPr lang="en-US" dirty="0" smtClean="0">
                <a:latin typeface="Times New Roman" panose="02020603050405020304" pitchFamily="18" charset="0"/>
              </a:rPr>
              <a:t>Relative complexity of the interfaces between the modules</a:t>
            </a:r>
          </a:p>
          <a:p>
            <a:pPr lvl="1"/>
            <a:r>
              <a:rPr lang="en-US" dirty="0" smtClean="0">
                <a:latin typeface="Times New Roman" panose="02020603050405020304" pitchFamily="18" charset="0"/>
              </a:rPr>
              <a:t>Number of modules needed to be clustered together in each test cycle</a:t>
            </a:r>
          </a:p>
          <a:p>
            <a:pPr lvl="1"/>
            <a:r>
              <a:rPr lang="en-US" dirty="0" smtClean="0">
                <a:latin typeface="Times New Roman" panose="02020603050405020304" pitchFamily="18" charset="0"/>
              </a:rPr>
              <a:t>Whether the modules to be integrated have been adequately tested before</a:t>
            </a:r>
          </a:p>
          <a:p>
            <a:pPr lvl="1"/>
            <a:r>
              <a:rPr lang="en-US" dirty="0" smtClean="0">
                <a:latin typeface="Times New Roman" panose="02020603050405020304" pitchFamily="18" charset="0"/>
              </a:rPr>
              <a:t>Turnaround time for each test-debug-fix cycle</a:t>
            </a:r>
          </a:p>
        </p:txBody>
      </p:sp>
    </p:spTree>
    <p:extLst>
      <p:ext uri="{BB962C8B-B14F-4D97-AF65-F5344CB8AC3E}">
        <p14:creationId xmlns:p14="http://schemas.microsoft.com/office/powerpoint/2010/main" val="18820206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F0EF29A7-633B-433A-98E5-5D3983C88D6E}" type="slidenum">
              <a:rPr lang="en-US" sz="1000">
                <a:solidFill>
                  <a:srgbClr val="000000"/>
                </a:solidFill>
              </a:rPr>
              <a:pPr/>
              <a:t>13</a:t>
            </a:fld>
            <a:endParaRPr lang="en-US" sz="1000">
              <a:solidFill>
                <a:srgbClr val="000000"/>
              </a:solidFill>
            </a:endParaRPr>
          </a:p>
        </p:txBody>
      </p:sp>
      <p:sp>
        <p:nvSpPr>
          <p:cNvPr id="33795" name="Rectangle 2"/>
          <p:cNvSpPr>
            <a:spLocks noGrp="1" noChangeArrowheads="1"/>
          </p:cNvSpPr>
          <p:nvPr>
            <p:ph type="title" idx="4294967295"/>
          </p:nvPr>
        </p:nvSpPr>
        <p:spPr/>
        <p:txBody>
          <a:bodyPr/>
          <a:lstStyle/>
          <a:p>
            <a:r>
              <a:rPr lang="en-US" smtClean="0">
                <a:latin typeface="Times New Roman" panose="02020603050405020304" pitchFamily="18" charset="0"/>
              </a:rPr>
              <a:t>Incremental</a:t>
            </a:r>
          </a:p>
        </p:txBody>
      </p:sp>
      <p:sp>
        <p:nvSpPr>
          <p:cNvPr id="33796" name="Rectangle 3"/>
          <p:cNvSpPr>
            <a:spLocks noGrp="1" noChangeArrowheads="1"/>
          </p:cNvSpPr>
          <p:nvPr>
            <p:ph type="body" idx="4294967295"/>
          </p:nvPr>
        </p:nvSpPr>
        <p:spPr/>
        <p:txBody>
          <a:bodyPr>
            <a:normAutofit fontScale="85000" lnSpcReduction="20000"/>
          </a:bodyPr>
          <a:lstStyle/>
          <a:p>
            <a:r>
              <a:rPr lang="en-US" dirty="0" smtClean="0">
                <a:latin typeface="Times New Roman" panose="02020603050405020304" pitchFamily="18" charset="0"/>
              </a:rPr>
              <a:t>A release </a:t>
            </a:r>
            <a:r>
              <a:rPr lang="en-US" dirty="0" smtClean="0">
                <a:latin typeface="Times New Roman" panose="02020603050405020304" pitchFamily="18" charset="0"/>
              </a:rPr>
              <a:t>note (</a:t>
            </a:r>
            <a:r>
              <a:rPr lang="en-US" dirty="0"/>
              <a:t>Status Report</a:t>
            </a:r>
            <a:r>
              <a:rPr lang="en-US" dirty="0" smtClean="0">
                <a:latin typeface="Times New Roman" panose="02020603050405020304" pitchFamily="18" charset="0"/>
              </a:rPr>
              <a:t>) </a:t>
            </a:r>
            <a:r>
              <a:rPr lang="en-US" dirty="0" smtClean="0">
                <a:latin typeface="Times New Roman" panose="02020603050405020304" pitchFamily="18" charset="0"/>
              </a:rPr>
              <a:t>containing the following information accompanies a build.</a:t>
            </a:r>
          </a:p>
          <a:p>
            <a:pPr lvl="1"/>
            <a:r>
              <a:rPr lang="en-US" dirty="0" smtClean="0">
                <a:latin typeface="Times New Roman" panose="02020603050405020304" pitchFamily="18" charset="0"/>
              </a:rPr>
              <a:t>What has changed since the last build?</a:t>
            </a:r>
          </a:p>
          <a:p>
            <a:pPr lvl="1"/>
            <a:r>
              <a:rPr lang="en-US" dirty="0" smtClean="0">
                <a:latin typeface="Times New Roman" panose="02020603050405020304" pitchFamily="18" charset="0"/>
              </a:rPr>
              <a:t>What outstanding defects have been fixed?</a:t>
            </a:r>
          </a:p>
          <a:p>
            <a:pPr lvl="1"/>
            <a:r>
              <a:rPr lang="en-US" dirty="0" smtClean="0">
                <a:latin typeface="Times New Roman" panose="02020603050405020304" pitchFamily="18" charset="0"/>
              </a:rPr>
              <a:t>What are the outstanding defects in the build?</a:t>
            </a:r>
          </a:p>
          <a:p>
            <a:pPr lvl="1"/>
            <a:r>
              <a:rPr lang="en-US" dirty="0" smtClean="0">
                <a:latin typeface="Times New Roman" panose="02020603050405020304" pitchFamily="18" charset="0"/>
              </a:rPr>
              <a:t>What new modules, or features, have been added?</a:t>
            </a:r>
          </a:p>
          <a:p>
            <a:pPr lvl="1"/>
            <a:r>
              <a:rPr lang="en-US" dirty="0" smtClean="0">
                <a:latin typeface="Times New Roman" panose="02020603050405020304" pitchFamily="18" charset="0"/>
              </a:rPr>
              <a:t>What existing modules, or features, have been enhanced, modified, or deleted?</a:t>
            </a:r>
          </a:p>
          <a:p>
            <a:pPr lvl="1"/>
            <a:r>
              <a:rPr lang="en-US" dirty="0" smtClean="0">
                <a:latin typeface="Times New Roman" panose="02020603050405020304" pitchFamily="18" charset="0"/>
              </a:rPr>
              <a:t>Are there any areas where unknown changes may have occurred?</a:t>
            </a:r>
          </a:p>
          <a:p>
            <a:r>
              <a:rPr lang="en-US" dirty="0" smtClean="0">
                <a:latin typeface="Times New Roman" panose="02020603050405020304" pitchFamily="18" charset="0"/>
              </a:rPr>
              <a:t> A test strategy is created for each new build and the following issues are addressed while planning a test strategy</a:t>
            </a:r>
          </a:p>
          <a:p>
            <a:pPr lvl="1"/>
            <a:r>
              <a:rPr lang="en-US" dirty="0" smtClean="0">
                <a:latin typeface="Times New Roman" panose="02020603050405020304" pitchFamily="18" charset="0"/>
              </a:rPr>
              <a:t>What test cases need to be selected from the SIT test plan?</a:t>
            </a:r>
          </a:p>
          <a:p>
            <a:pPr lvl="1"/>
            <a:r>
              <a:rPr lang="en-US" dirty="0" smtClean="0">
                <a:latin typeface="Times New Roman" panose="02020603050405020304" pitchFamily="18" charset="0"/>
              </a:rPr>
              <a:t>What previously failed test cases should now be re-executed in order to test the fixes in the new build? </a:t>
            </a:r>
          </a:p>
          <a:p>
            <a:pPr lvl="1"/>
            <a:r>
              <a:rPr lang="en-US" dirty="0" smtClean="0">
                <a:latin typeface="Times New Roman" panose="02020603050405020304" pitchFamily="18" charset="0"/>
              </a:rPr>
              <a:t>How to determine the scope of a partial regression tests?</a:t>
            </a:r>
          </a:p>
          <a:p>
            <a:pPr lvl="1"/>
            <a:r>
              <a:rPr lang="en-US" dirty="0" smtClean="0">
                <a:latin typeface="Times New Roman" panose="02020603050405020304" pitchFamily="18" charset="0"/>
              </a:rPr>
              <a:t>What are the estimated time, resource </a:t>
            </a:r>
            <a:r>
              <a:rPr lang="en-US" dirty="0" err="1" smtClean="0">
                <a:latin typeface="Times New Roman" panose="02020603050405020304" pitchFamily="18" charset="0"/>
              </a:rPr>
              <a:t>deman</a:t>
            </a:r>
            <a:r>
              <a:rPr lang="en-US" dirty="0" smtClean="0">
                <a:latin typeface="Times New Roman" panose="02020603050405020304" pitchFamily="18" charset="0"/>
              </a:rPr>
              <a:t>, and cost to test this build?</a:t>
            </a:r>
          </a:p>
          <a:p>
            <a:endParaRPr lang="en-US" dirty="0" smtClean="0">
              <a:latin typeface="Times New Roman" panose="02020603050405020304" pitchFamily="18" charset="0"/>
            </a:endParaRPr>
          </a:p>
        </p:txBody>
      </p:sp>
    </p:spTree>
    <p:extLst>
      <p:ext uri="{BB962C8B-B14F-4D97-AF65-F5344CB8AC3E}">
        <p14:creationId xmlns:p14="http://schemas.microsoft.com/office/powerpoint/2010/main" val="28795356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DEAD6E5A-E0E7-4F1D-A5D3-EE87B913AB41}" type="slidenum">
              <a:rPr lang="en-US" sz="1000">
                <a:solidFill>
                  <a:srgbClr val="000000"/>
                </a:solidFill>
              </a:rPr>
              <a:pPr/>
              <a:t>14</a:t>
            </a:fld>
            <a:endParaRPr lang="en-US" sz="1000">
              <a:solidFill>
                <a:srgbClr val="000000"/>
              </a:solidFill>
            </a:endParaRPr>
          </a:p>
        </p:txBody>
      </p:sp>
      <p:sp>
        <p:nvSpPr>
          <p:cNvPr id="34819" name="Rectangle 2"/>
          <p:cNvSpPr>
            <a:spLocks noGrp="1" noChangeArrowheads="1"/>
          </p:cNvSpPr>
          <p:nvPr>
            <p:ph type="title" idx="4294967295"/>
          </p:nvPr>
        </p:nvSpPr>
        <p:spPr/>
        <p:txBody>
          <a:bodyPr/>
          <a:lstStyle/>
          <a:p>
            <a:r>
              <a:rPr lang="en-US" smtClean="0">
                <a:latin typeface="Times New Roman" panose="02020603050405020304" pitchFamily="18" charset="0"/>
              </a:rPr>
              <a:t>Incremental</a:t>
            </a:r>
          </a:p>
        </p:txBody>
      </p:sp>
      <p:sp>
        <p:nvSpPr>
          <p:cNvPr id="34820" name="Rectangle 3"/>
          <p:cNvSpPr>
            <a:spLocks noGrp="1" noChangeArrowheads="1"/>
          </p:cNvSpPr>
          <p:nvPr>
            <p:ph type="body" idx="4294967295"/>
          </p:nvPr>
        </p:nvSpPr>
        <p:spPr/>
        <p:txBody>
          <a:bodyPr>
            <a:normAutofit lnSpcReduction="10000"/>
          </a:bodyPr>
          <a:lstStyle/>
          <a:p>
            <a:pPr>
              <a:buFontTx/>
              <a:buNone/>
            </a:pPr>
            <a:r>
              <a:rPr lang="en-US" dirty="0" smtClean="0">
                <a:latin typeface="Times New Roman" panose="02020603050405020304" pitchFamily="18" charset="0"/>
              </a:rPr>
              <a:t>Creating a daily build is very popular among many organization</a:t>
            </a:r>
          </a:p>
          <a:p>
            <a:pPr>
              <a:buFontTx/>
              <a:buNone/>
            </a:pPr>
            <a:endParaRPr lang="en-US" dirty="0" smtClean="0">
              <a:latin typeface="Times New Roman" panose="02020603050405020304" pitchFamily="18" charset="0"/>
            </a:endParaRPr>
          </a:p>
          <a:p>
            <a:r>
              <a:rPr lang="en-US" dirty="0" smtClean="0">
                <a:latin typeface="Times New Roman" panose="02020603050405020304" pitchFamily="18" charset="0"/>
              </a:rPr>
              <a:t>It facilitates to a faster delivery of the system</a:t>
            </a:r>
          </a:p>
          <a:p>
            <a:r>
              <a:rPr lang="en-US" dirty="0" smtClean="0">
                <a:latin typeface="Times New Roman" panose="02020603050405020304" pitchFamily="18" charset="0"/>
              </a:rPr>
              <a:t>It puts emphasis on small incremental testing</a:t>
            </a:r>
          </a:p>
          <a:p>
            <a:r>
              <a:rPr lang="en-US" dirty="0" smtClean="0">
                <a:latin typeface="Times New Roman" panose="02020603050405020304" pitchFamily="18" charset="0"/>
              </a:rPr>
              <a:t>It steadily increases number of test cases</a:t>
            </a:r>
          </a:p>
          <a:p>
            <a:r>
              <a:rPr lang="en-US" dirty="0" smtClean="0">
                <a:latin typeface="Times New Roman" panose="02020603050405020304" pitchFamily="18" charset="0"/>
              </a:rPr>
              <a:t>The system is tested using automated, re-usable test cases</a:t>
            </a:r>
          </a:p>
          <a:p>
            <a:r>
              <a:rPr lang="en-US" dirty="0" smtClean="0">
                <a:latin typeface="Times New Roman" panose="02020603050405020304" pitchFamily="18" charset="0"/>
              </a:rPr>
              <a:t>An effort is made to fix the defects that were found within 24 hours</a:t>
            </a:r>
          </a:p>
          <a:p>
            <a:r>
              <a:rPr lang="en-US" dirty="0" smtClean="0">
                <a:latin typeface="Times New Roman" panose="02020603050405020304" pitchFamily="18" charset="0"/>
              </a:rPr>
              <a:t> Prior version of the build are retained for references and rollback</a:t>
            </a:r>
          </a:p>
          <a:p>
            <a:r>
              <a:rPr lang="en-US" dirty="0" smtClean="0">
                <a:latin typeface="Times New Roman" panose="02020603050405020304" pitchFamily="18" charset="0"/>
              </a:rPr>
              <a:t>A typical practice is to retain the past 7-10 builds</a:t>
            </a:r>
          </a:p>
        </p:txBody>
      </p:sp>
    </p:spTree>
    <p:extLst>
      <p:ext uri="{BB962C8B-B14F-4D97-AF65-F5344CB8AC3E}">
        <p14:creationId xmlns:p14="http://schemas.microsoft.com/office/powerpoint/2010/main" val="11496120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80B07B5B-52C4-4845-A146-D7C9E13D9B1C}" type="slidenum">
              <a:rPr lang="en-US" sz="1000">
                <a:solidFill>
                  <a:srgbClr val="000000"/>
                </a:solidFill>
              </a:rPr>
              <a:pPr/>
              <a:t>15</a:t>
            </a:fld>
            <a:endParaRPr lang="en-US" sz="1000">
              <a:solidFill>
                <a:srgbClr val="000000"/>
              </a:solidFill>
            </a:endParaRPr>
          </a:p>
        </p:txBody>
      </p:sp>
      <p:sp>
        <p:nvSpPr>
          <p:cNvPr id="35843" name="Rectangle 2"/>
          <p:cNvSpPr>
            <a:spLocks noGrp="1" noChangeArrowheads="1"/>
          </p:cNvSpPr>
          <p:nvPr>
            <p:ph type="title" idx="4294967295"/>
          </p:nvPr>
        </p:nvSpPr>
        <p:spPr/>
        <p:txBody>
          <a:bodyPr/>
          <a:lstStyle/>
          <a:p>
            <a:r>
              <a:rPr lang="en-US" dirty="0" smtClean="0">
                <a:latin typeface="Times New Roman" panose="02020603050405020304" pitchFamily="18" charset="0"/>
              </a:rPr>
              <a:t>Top-down</a:t>
            </a:r>
          </a:p>
        </p:txBody>
      </p:sp>
      <p:pic>
        <p:nvPicPr>
          <p:cNvPr id="35844" name="Picture 6" descr="topdown"/>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1292225" y="1543643"/>
            <a:ext cx="3878263" cy="2162175"/>
          </a:xfrm>
        </p:spPr>
      </p:pic>
      <p:sp>
        <p:nvSpPr>
          <p:cNvPr id="35845" name="Rectangle 8"/>
          <p:cNvSpPr>
            <a:spLocks noGrp="1" noChangeArrowheads="1"/>
          </p:cNvSpPr>
          <p:nvPr>
            <p:ph type="body" sz="half" idx="4294967295"/>
          </p:nvPr>
        </p:nvSpPr>
        <p:spPr>
          <a:xfrm>
            <a:off x="5459414" y="660401"/>
            <a:ext cx="5208587" cy="5870575"/>
          </a:xfrm>
        </p:spPr>
        <p:txBody>
          <a:bodyPr/>
          <a:lstStyle/>
          <a:p>
            <a:r>
              <a:rPr lang="en-US" sz="2000" dirty="0">
                <a:latin typeface="Times New Roman" panose="02020603050405020304" pitchFamily="18" charset="0"/>
              </a:rPr>
              <a:t>Module A has been decomposed into modules B, C, and D</a:t>
            </a:r>
          </a:p>
          <a:p>
            <a:r>
              <a:rPr lang="en-US" sz="2000" dirty="0">
                <a:latin typeface="Times New Roman" panose="02020603050405020304" pitchFamily="18" charset="0"/>
              </a:rPr>
              <a:t> Modules B, D, E, F, and G are terminal modules</a:t>
            </a:r>
          </a:p>
          <a:p>
            <a:r>
              <a:rPr lang="en-US" sz="2000" dirty="0">
                <a:latin typeface="Times New Roman" panose="02020603050405020304" pitchFamily="18" charset="0"/>
              </a:rPr>
              <a:t> First integrate modules A and B using stubs C` and D` (represented by grey boxes)</a:t>
            </a:r>
          </a:p>
          <a:p>
            <a:r>
              <a:rPr lang="en-US" sz="2000" dirty="0">
                <a:latin typeface="Times New Roman" panose="02020603050405020304" pitchFamily="18" charset="0"/>
              </a:rPr>
              <a:t>Next stub D` has been replaced with its actual instance D</a:t>
            </a:r>
          </a:p>
          <a:p>
            <a:r>
              <a:rPr lang="en-US" sz="2000" dirty="0">
                <a:latin typeface="Times New Roman" panose="02020603050405020304" pitchFamily="18" charset="0"/>
              </a:rPr>
              <a:t> Two kinds of tests are performed:</a:t>
            </a:r>
          </a:p>
          <a:p>
            <a:pPr lvl="1"/>
            <a:r>
              <a:rPr lang="en-US" sz="1800" dirty="0">
                <a:latin typeface="Times New Roman" panose="02020603050405020304" pitchFamily="18" charset="0"/>
              </a:rPr>
              <a:t>Test the interface between A and D</a:t>
            </a:r>
          </a:p>
          <a:p>
            <a:pPr lvl="1"/>
            <a:r>
              <a:rPr lang="en-US" sz="1800" dirty="0">
                <a:latin typeface="Times New Roman" panose="02020603050405020304" pitchFamily="18" charset="0"/>
              </a:rPr>
              <a:t>Regression tests to look for interface defects between A and B in the presence of module D</a:t>
            </a:r>
          </a:p>
        </p:txBody>
      </p:sp>
      <p:pic>
        <p:nvPicPr>
          <p:cNvPr id="35846" name="Picture 9" descr="topdownab"/>
          <p:cNvPicPr>
            <a:picLocks noGrp="1" noChangeAspect="1" noChangeArrowheads="1"/>
          </p:cNvPicPr>
          <p:nvPr>
            <p:ph sz="quarter" idx="4294967295"/>
          </p:nvPr>
        </p:nvPicPr>
        <p:blipFill>
          <a:blip r:embed="rId4">
            <a:extLst>
              <a:ext uri="{28A0092B-C50C-407E-A947-70E740481C1C}">
                <a14:useLocalDpi xmlns:a14="http://schemas.microsoft.com/office/drawing/2010/main" val="0"/>
              </a:ext>
            </a:extLst>
          </a:blip>
          <a:srcRect/>
          <a:stretch>
            <a:fillRect/>
          </a:stretch>
        </p:blipFill>
        <p:spPr>
          <a:xfrm>
            <a:off x="1292225" y="4700587"/>
            <a:ext cx="4037013" cy="1304925"/>
          </a:xfrm>
        </p:spPr>
      </p:pic>
      <p:pic>
        <p:nvPicPr>
          <p:cNvPr id="35847" name="Picture 10" descr="topdownab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6175" y="4632326"/>
            <a:ext cx="4019550"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8" name="Text Box 11"/>
          <p:cNvSpPr txBox="1">
            <a:spLocks noChangeArrowheads="1"/>
          </p:cNvSpPr>
          <p:nvPr/>
        </p:nvSpPr>
        <p:spPr bwMode="auto">
          <a:xfrm>
            <a:off x="1449389" y="3930651"/>
            <a:ext cx="40909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spcBef>
                <a:spcPct val="50000"/>
              </a:spcBef>
            </a:pPr>
            <a:r>
              <a:rPr lang="en-US" b="0" dirty="0">
                <a:solidFill>
                  <a:srgbClr val="000000"/>
                </a:solidFill>
              </a:rPr>
              <a:t>Figure 7.1: A module hierarchy with three levels and seven modules</a:t>
            </a:r>
            <a:endParaRPr lang="en-US" sz="1200" b="0" dirty="0">
              <a:solidFill>
                <a:srgbClr val="000000"/>
              </a:solidFill>
            </a:endParaRPr>
          </a:p>
        </p:txBody>
      </p:sp>
      <p:sp>
        <p:nvSpPr>
          <p:cNvPr id="35849" name="Text Box 12"/>
          <p:cNvSpPr txBox="1">
            <a:spLocks noChangeArrowheads="1"/>
          </p:cNvSpPr>
          <p:nvPr/>
        </p:nvSpPr>
        <p:spPr bwMode="auto">
          <a:xfrm>
            <a:off x="1368427" y="6005512"/>
            <a:ext cx="40909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spcBef>
                <a:spcPct val="50000"/>
              </a:spcBef>
            </a:pPr>
            <a:r>
              <a:rPr lang="en-US" b="0" dirty="0">
                <a:solidFill>
                  <a:srgbClr val="000000"/>
                </a:solidFill>
              </a:rPr>
              <a:t>Figure 7.2: Top-down integration of modules A and B</a:t>
            </a:r>
            <a:endParaRPr lang="en-US" sz="1200" b="0" dirty="0">
              <a:solidFill>
                <a:srgbClr val="000000"/>
              </a:solidFill>
            </a:endParaRPr>
          </a:p>
        </p:txBody>
      </p:sp>
      <p:sp>
        <p:nvSpPr>
          <p:cNvPr id="35850" name="Text Box 13"/>
          <p:cNvSpPr txBox="1">
            <a:spLocks noChangeArrowheads="1"/>
          </p:cNvSpPr>
          <p:nvPr/>
        </p:nvSpPr>
        <p:spPr bwMode="auto">
          <a:xfrm>
            <a:off x="6284914" y="5870576"/>
            <a:ext cx="40909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spcBef>
                <a:spcPct val="50000"/>
              </a:spcBef>
            </a:pPr>
            <a:r>
              <a:rPr lang="en-US" b="0" dirty="0">
                <a:solidFill>
                  <a:srgbClr val="000000"/>
                </a:solidFill>
              </a:rPr>
              <a:t>Figure 7.3: Top-down integration of modules A, B and D</a:t>
            </a:r>
            <a:endParaRPr lang="en-US" sz="1200" b="0" dirty="0">
              <a:solidFill>
                <a:srgbClr val="000000"/>
              </a:solidFill>
            </a:endParaRPr>
          </a:p>
        </p:txBody>
      </p:sp>
    </p:spTree>
    <p:extLst>
      <p:ext uri="{BB962C8B-B14F-4D97-AF65-F5344CB8AC3E}">
        <p14:creationId xmlns:p14="http://schemas.microsoft.com/office/powerpoint/2010/main" val="5944313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A4C446CD-42DF-4B77-A7EE-294364BA9F50}" type="slidenum">
              <a:rPr lang="en-US" sz="1000">
                <a:solidFill>
                  <a:srgbClr val="000000"/>
                </a:solidFill>
              </a:rPr>
              <a:pPr/>
              <a:t>16</a:t>
            </a:fld>
            <a:endParaRPr lang="en-US" sz="1000">
              <a:solidFill>
                <a:srgbClr val="000000"/>
              </a:solidFill>
            </a:endParaRPr>
          </a:p>
        </p:txBody>
      </p:sp>
      <p:sp>
        <p:nvSpPr>
          <p:cNvPr id="36867" name="Rectangle 18"/>
          <p:cNvSpPr>
            <a:spLocks noGrp="1" noChangeArrowheads="1"/>
          </p:cNvSpPr>
          <p:nvPr>
            <p:ph type="title" idx="4294967295"/>
          </p:nvPr>
        </p:nvSpPr>
        <p:spPr>
          <a:xfrm>
            <a:off x="160717" y="215107"/>
            <a:ext cx="2536065" cy="1325563"/>
          </a:xfrm>
        </p:spPr>
        <p:txBody>
          <a:bodyPr/>
          <a:lstStyle/>
          <a:p>
            <a:r>
              <a:rPr lang="en-US" dirty="0" smtClean="0">
                <a:latin typeface="Times New Roman" panose="02020603050405020304" pitchFamily="18" charset="0"/>
              </a:rPr>
              <a:t>Top-down</a:t>
            </a:r>
          </a:p>
        </p:txBody>
      </p:sp>
      <p:sp>
        <p:nvSpPr>
          <p:cNvPr id="36868" name="Rectangle 26"/>
          <p:cNvSpPr>
            <a:spLocks noGrp="1" noChangeArrowheads="1"/>
          </p:cNvSpPr>
          <p:nvPr>
            <p:ph type="body" sz="half" idx="4294967295"/>
          </p:nvPr>
        </p:nvSpPr>
        <p:spPr>
          <a:xfrm>
            <a:off x="1865312" y="1275008"/>
            <a:ext cx="4243387" cy="5255968"/>
          </a:xfrm>
        </p:spPr>
        <p:txBody>
          <a:bodyPr/>
          <a:lstStyle/>
          <a:p>
            <a:r>
              <a:rPr lang="en-US" sz="2000" dirty="0">
                <a:latin typeface="Times New Roman" panose="02020603050405020304" pitchFamily="18" charset="0"/>
              </a:rPr>
              <a:t>Stub C` has been replaced with the actual module C, and new stubs E`, F`, and G`</a:t>
            </a:r>
          </a:p>
          <a:p>
            <a:r>
              <a:rPr lang="en-US" sz="2000" dirty="0">
                <a:latin typeface="Times New Roman" panose="02020603050405020304" pitchFamily="18" charset="0"/>
              </a:rPr>
              <a:t>Perform tests as follows: </a:t>
            </a:r>
          </a:p>
          <a:p>
            <a:pPr lvl="1"/>
            <a:r>
              <a:rPr lang="en-US" sz="1800" dirty="0">
                <a:latin typeface="Times New Roman" panose="02020603050405020304" pitchFamily="18" charset="0"/>
              </a:rPr>
              <a:t>first, test the interface between A and C; </a:t>
            </a:r>
          </a:p>
          <a:p>
            <a:pPr lvl="1"/>
            <a:r>
              <a:rPr lang="en-US" sz="1800" dirty="0">
                <a:latin typeface="Times New Roman" panose="02020603050405020304" pitchFamily="18" charset="0"/>
              </a:rPr>
              <a:t>second, test the combined modules A, B, and D in the presence of C</a:t>
            </a:r>
          </a:p>
          <a:p>
            <a:r>
              <a:rPr lang="en-US" sz="2000" dirty="0">
                <a:latin typeface="Times New Roman" panose="02020603050405020304" pitchFamily="18" charset="0"/>
              </a:rPr>
              <a:t>The rest of the process depicted in the right hand side figures.</a:t>
            </a:r>
          </a:p>
          <a:p>
            <a:endParaRPr lang="en-US" sz="2000" dirty="0">
              <a:latin typeface="Times New Roman" panose="02020603050405020304" pitchFamily="18" charset="0"/>
            </a:endParaRPr>
          </a:p>
        </p:txBody>
      </p:sp>
      <p:pic>
        <p:nvPicPr>
          <p:cNvPr id="36869" name="Picture 23" descr="topdownabcde"/>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6454775" y="501651"/>
            <a:ext cx="4019550" cy="2162175"/>
          </a:xfrm>
        </p:spPr>
      </p:pic>
      <p:pic>
        <p:nvPicPr>
          <p:cNvPr id="36870" name="Picture 16" descr="topdownabcd"/>
          <p:cNvPicPr>
            <a:picLocks noGrp="1" noChangeAspect="1" noChangeArrowheads="1"/>
          </p:cNvPicPr>
          <p:nvPr>
            <p:ph sz="quarter" idx="4294967295"/>
          </p:nvPr>
        </p:nvPicPr>
        <p:blipFill>
          <a:blip r:embed="rId4">
            <a:extLst>
              <a:ext uri="{28A0092B-C50C-407E-A947-70E740481C1C}">
                <a14:useLocalDpi xmlns:a14="http://schemas.microsoft.com/office/drawing/2010/main" val="0"/>
              </a:ext>
            </a:extLst>
          </a:blip>
          <a:srcRect/>
          <a:stretch>
            <a:fillRect/>
          </a:stretch>
        </p:blipFill>
        <p:spPr>
          <a:xfrm>
            <a:off x="1865313" y="3746501"/>
            <a:ext cx="4019550" cy="2162175"/>
          </a:xfrm>
        </p:spPr>
      </p:pic>
      <p:pic>
        <p:nvPicPr>
          <p:cNvPr id="36871" name="Picture 24" descr="topdownabcdef"/>
          <p:cNvPicPr>
            <a:picLocks noGrp="1" noChangeAspect="1" noChangeArrowheads="1"/>
          </p:cNvPicPr>
          <p:nvPr>
            <p:ph sz="quarter" idx="4294967295"/>
          </p:nvPr>
        </p:nvPicPr>
        <p:blipFill>
          <a:blip r:embed="rId5">
            <a:extLst>
              <a:ext uri="{28A0092B-C50C-407E-A947-70E740481C1C}">
                <a14:useLocalDpi xmlns:a14="http://schemas.microsoft.com/office/drawing/2010/main" val="0"/>
              </a:ext>
            </a:extLst>
          </a:blip>
          <a:srcRect/>
          <a:stretch>
            <a:fillRect/>
          </a:stretch>
        </p:blipFill>
        <p:spPr>
          <a:xfrm>
            <a:off x="6381750" y="3489326"/>
            <a:ext cx="4019550" cy="2162175"/>
          </a:xfrm>
        </p:spPr>
      </p:pic>
      <p:sp>
        <p:nvSpPr>
          <p:cNvPr id="36872" name="Text Box 28"/>
          <p:cNvSpPr txBox="1">
            <a:spLocks noChangeArrowheads="1"/>
          </p:cNvSpPr>
          <p:nvPr/>
        </p:nvSpPr>
        <p:spPr bwMode="auto">
          <a:xfrm>
            <a:off x="2036764" y="5892801"/>
            <a:ext cx="40909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spcBef>
                <a:spcPct val="50000"/>
              </a:spcBef>
            </a:pPr>
            <a:r>
              <a:rPr lang="en-US" b="0">
                <a:solidFill>
                  <a:srgbClr val="000000"/>
                </a:solidFill>
              </a:rPr>
              <a:t>Figure 7.4: Top-down integration of modules A, B, D and C</a:t>
            </a:r>
            <a:endParaRPr lang="en-US" sz="1200" b="0">
              <a:solidFill>
                <a:srgbClr val="000000"/>
              </a:solidFill>
            </a:endParaRPr>
          </a:p>
        </p:txBody>
      </p:sp>
      <p:sp>
        <p:nvSpPr>
          <p:cNvPr id="36873" name="Text Box 29"/>
          <p:cNvSpPr txBox="1">
            <a:spLocks noChangeArrowheads="1"/>
          </p:cNvSpPr>
          <p:nvPr/>
        </p:nvSpPr>
        <p:spPr bwMode="auto">
          <a:xfrm>
            <a:off x="6554789" y="2663826"/>
            <a:ext cx="40909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spcBef>
                <a:spcPct val="50000"/>
              </a:spcBef>
            </a:pPr>
            <a:r>
              <a:rPr lang="en-US" b="0" dirty="0">
                <a:solidFill>
                  <a:srgbClr val="000000"/>
                </a:solidFill>
              </a:rPr>
              <a:t>Figure 7.5: Top-down integration of modules A, B, C, D and E</a:t>
            </a:r>
            <a:endParaRPr lang="en-US" sz="1200" b="0" dirty="0">
              <a:solidFill>
                <a:srgbClr val="000000"/>
              </a:solidFill>
            </a:endParaRPr>
          </a:p>
        </p:txBody>
      </p:sp>
      <p:sp>
        <p:nvSpPr>
          <p:cNvPr id="36874" name="Text Box 30"/>
          <p:cNvSpPr txBox="1">
            <a:spLocks noChangeArrowheads="1"/>
          </p:cNvSpPr>
          <p:nvPr/>
        </p:nvSpPr>
        <p:spPr bwMode="auto">
          <a:xfrm>
            <a:off x="6691314" y="5657851"/>
            <a:ext cx="40909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spcBef>
                <a:spcPct val="50000"/>
              </a:spcBef>
            </a:pPr>
            <a:r>
              <a:rPr lang="en-US" b="0" dirty="0">
                <a:solidFill>
                  <a:srgbClr val="000000"/>
                </a:solidFill>
              </a:rPr>
              <a:t>Figure 7.6: Top-down integration of modules A, B, C, D, E and F</a:t>
            </a:r>
            <a:endParaRPr lang="en-US" sz="1200" b="0" dirty="0">
              <a:solidFill>
                <a:srgbClr val="000000"/>
              </a:solidFill>
            </a:endParaRPr>
          </a:p>
        </p:txBody>
      </p:sp>
    </p:spTree>
    <p:extLst>
      <p:ext uri="{BB962C8B-B14F-4D97-AF65-F5344CB8AC3E}">
        <p14:creationId xmlns:p14="http://schemas.microsoft.com/office/powerpoint/2010/main" val="13698081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D7E5F6DD-4B7E-49C6-82DD-EBA0EA473CFA}" type="slidenum">
              <a:rPr lang="en-US" sz="1000">
                <a:solidFill>
                  <a:srgbClr val="000000"/>
                </a:solidFill>
              </a:rPr>
              <a:pPr/>
              <a:t>17</a:t>
            </a:fld>
            <a:endParaRPr lang="en-US" sz="1000">
              <a:solidFill>
                <a:srgbClr val="000000"/>
              </a:solidFill>
            </a:endParaRPr>
          </a:p>
        </p:txBody>
      </p:sp>
      <p:sp>
        <p:nvSpPr>
          <p:cNvPr id="37891" name="Rectangle 2"/>
          <p:cNvSpPr>
            <a:spLocks noGrp="1" noChangeArrowheads="1"/>
          </p:cNvSpPr>
          <p:nvPr>
            <p:ph type="title" idx="4294967295"/>
          </p:nvPr>
        </p:nvSpPr>
        <p:spPr/>
        <p:txBody>
          <a:bodyPr/>
          <a:lstStyle/>
          <a:p>
            <a:r>
              <a:rPr lang="en-US" smtClean="0">
                <a:latin typeface="Times New Roman" panose="02020603050405020304" pitchFamily="18" charset="0"/>
              </a:rPr>
              <a:t>Top-down</a:t>
            </a:r>
          </a:p>
        </p:txBody>
      </p:sp>
      <p:sp>
        <p:nvSpPr>
          <p:cNvPr id="37892" name="Rectangle 3"/>
          <p:cNvSpPr>
            <a:spLocks noGrp="1" noChangeArrowheads="1"/>
          </p:cNvSpPr>
          <p:nvPr>
            <p:ph type="body" idx="4294967295"/>
          </p:nvPr>
        </p:nvSpPr>
        <p:spPr/>
        <p:txBody>
          <a:bodyPr>
            <a:normAutofit fontScale="85000" lnSpcReduction="20000"/>
          </a:bodyPr>
          <a:lstStyle/>
          <a:p>
            <a:pPr>
              <a:buFontTx/>
              <a:buNone/>
            </a:pPr>
            <a:r>
              <a:rPr lang="en-US" b="1" dirty="0" smtClean="0">
                <a:latin typeface="Times New Roman" panose="02020603050405020304" pitchFamily="18" charset="0"/>
              </a:rPr>
              <a:t>Advantages</a:t>
            </a:r>
          </a:p>
          <a:p>
            <a:r>
              <a:rPr lang="en-US" dirty="0" smtClean="0">
                <a:latin typeface="Times New Roman" panose="02020603050405020304" pitchFamily="18" charset="0"/>
              </a:rPr>
              <a:t>The SIT engineers continually observe system-level functions as the integration process continue</a:t>
            </a:r>
          </a:p>
          <a:p>
            <a:r>
              <a:rPr lang="en-US" dirty="0" smtClean="0">
                <a:latin typeface="Times New Roman" panose="02020603050405020304" pitchFamily="18" charset="0"/>
              </a:rPr>
              <a:t>Isolation of interface errors becomes easier because of the incremental nature of the top-down integration</a:t>
            </a:r>
          </a:p>
          <a:p>
            <a:r>
              <a:rPr lang="en-US" dirty="0" smtClean="0">
                <a:latin typeface="Times New Roman" panose="02020603050405020304" pitchFamily="18" charset="0"/>
              </a:rPr>
              <a:t>Test cases designed to test the integration of a module M are reused during the regression tests performed after integrating other modules</a:t>
            </a:r>
          </a:p>
          <a:p>
            <a:endParaRPr lang="en-US" dirty="0" smtClean="0">
              <a:latin typeface="Times New Roman" panose="02020603050405020304" pitchFamily="18" charset="0"/>
            </a:endParaRPr>
          </a:p>
          <a:p>
            <a:pPr>
              <a:buFontTx/>
              <a:buNone/>
            </a:pPr>
            <a:r>
              <a:rPr lang="en-US" b="1" dirty="0" smtClean="0">
                <a:latin typeface="Times New Roman" panose="02020603050405020304" pitchFamily="18" charset="0"/>
              </a:rPr>
              <a:t>Disadvantages</a:t>
            </a:r>
          </a:p>
          <a:p>
            <a:r>
              <a:rPr lang="en-US" dirty="0" smtClean="0">
                <a:latin typeface="Times New Roman" panose="02020603050405020304" pitchFamily="18" charset="0"/>
              </a:rPr>
              <a:t>It may not be possible to observe meaningful system functions because of an absence of lower level modules and the presence of stubs.</a:t>
            </a:r>
          </a:p>
          <a:p>
            <a:r>
              <a:rPr lang="en-US" dirty="0" smtClean="0">
                <a:latin typeface="Times New Roman" panose="02020603050405020304" pitchFamily="18" charset="0"/>
              </a:rPr>
              <a:t> Test case selection and stub design become increasingly difficult when stubs lie far away from the top-level module.</a:t>
            </a:r>
          </a:p>
        </p:txBody>
      </p:sp>
    </p:spTree>
    <p:extLst>
      <p:ext uri="{BB962C8B-B14F-4D97-AF65-F5344CB8AC3E}">
        <p14:creationId xmlns:p14="http://schemas.microsoft.com/office/powerpoint/2010/main" val="11557056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734EBA2E-4185-496B-AF05-7F7C176E0965}" type="slidenum">
              <a:rPr lang="en-US" sz="1000">
                <a:solidFill>
                  <a:srgbClr val="000000"/>
                </a:solidFill>
              </a:rPr>
              <a:pPr/>
              <a:t>18</a:t>
            </a:fld>
            <a:endParaRPr lang="en-US" sz="1000">
              <a:solidFill>
                <a:srgbClr val="000000"/>
              </a:solidFill>
            </a:endParaRPr>
          </a:p>
        </p:txBody>
      </p:sp>
      <p:sp>
        <p:nvSpPr>
          <p:cNvPr id="38915" name="Rectangle 2"/>
          <p:cNvSpPr>
            <a:spLocks noGrp="1" noChangeArrowheads="1"/>
          </p:cNvSpPr>
          <p:nvPr>
            <p:ph type="title" idx="4294967295"/>
          </p:nvPr>
        </p:nvSpPr>
        <p:spPr>
          <a:xfrm>
            <a:off x="437882" y="365124"/>
            <a:ext cx="1263919" cy="3408385"/>
          </a:xfrm>
        </p:spPr>
        <p:txBody>
          <a:bodyPr>
            <a:normAutofit/>
          </a:bodyPr>
          <a:lstStyle/>
          <a:p>
            <a:r>
              <a:rPr lang="en-US" dirty="0" smtClean="0">
                <a:latin typeface="Times New Roman" panose="02020603050405020304" pitchFamily="18" charset="0"/>
              </a:rPr>
              <a:t>Bottom-up</a:t>
            </a:r>
          </a:p>
        </p:txBody>
      </p:sp>
      <p:sp>
        <p:nvSpPr>
          <p:cNvPr id="38916" name="Rectangle 4"/>
          <p:cNvSpPr>
            <a:spLocks noGrp="1" noChangeArrowheads="1"/>
          </p:cNvSpPr>
          <p:nvPr>
            <p:ph type="body" sz="half" idx="4294967295"/>
          </p:nvPr>
        </p:nvSpPr>
        <p:spPr>
          <a:xfrm>
            <a:off x="1701801" y="660401"/>
            <a:ext cx="4632325" cy="5870575"/>
          </a:xfrm>
        </p:spPr>
        <p:txBody>
          <a:bodyPr/>
          <a:lstStyle/>
          <a:p>
            <a:r>
              <a:rPr lang="en-US" sz="2000" dirty="0">
                <a:latin typeface="Times New Roman" panose="02020603050405020304" pitchFamily="18" charset="0"/>
              </a:rPr>
              <a:t>We design a test driver to integrate lowest-level modules E, F, and G</a:t>
            </a:r>
          </a:p>
          <a:p>
            <a:r>
              <a:rPr lang="en-US" sz="2000" dirty="0">
                <a:latin typeface="Times New Roman" panose="02020603050405020304" pitchFamily="18" charset="0"/>
              </a:rPr>
              <a:t>Return values generated by one module is likely to be used in another module</a:t>
            </a:r>
          </a:p>
          <a:p>
            <a:r>
              <a:rPr lang="en-US" sz="2000" dirty="0">
                <a:latin typeface="Times New Roman" panose="02020603050405020304" pitchFamily="18" charset="0"/>
              </a:rPr>
              <a:t>The test driver mimics module C to integrate E, F, and G in a limited way.</a:t>
            </a:r>
          </a:p>
          <a:p>
            <a:r>
              <a:rPr lang="en-US" sz="2000" dirty="0">
                <a:latin typeface="Times New Roman" panose="02020603050405020304" pitchFamily="18" charset="0"/>
              </a:rPr>
              <a:t>The test driver is replaced with actual module , i.e., C.</a:t>
            </a:r>
          </a:p>
          <a:p>
            <a:r>
              <a:rPr lang="en-US" sz="2000" dirty="0">
                <a:latin typeface="Times New Roman" panose="02020603050405020304" pitchFamily="18" charset="0"/>
              </a:rPr>
              <a:t>A new test driver is used</a:t>
            </a:r>
          </a:p>
          <a:p>
            <a:r>
              <a:rPr lang="en-US" sz="2000" dirty="0">
                <a:latin typeface="Times New Roman" panose="02020603050405020304" pitchFamily="18" charset="0"/>
              </a:rPr>
              <a:t> At this moment, more modules such as B and D are integrated</a:t>
            </a:r>
          </a:p>
          <a:p>
            <a:r>
              <a:rPr lang="en-US" sz="2000" dirty="0">
                <a:latin typeface="Times New Roman" panose="02020603050405020304" pitchFamily="18" charset="0"/>
              </a:rPr>
              <a:t> The new test driver mimics the behavior of module A</a:t>
            </a:r>
          </a:p>
          <a:p>
            <a:r>
              <a:rPr lang="en-US" sz="2000" dirty="0">
                <a:latin typeface="Times New Roman" panose="02020603050405020304" pitchFamily="18" charset="0"/>
              </a:rPr>
              <a:t> Finally, the test driver is replaced with module A and further test are performed</a:t>
            </a:r>
          </a:p>
          <a:p>
            <a:endParaRPr lang="en-US" sz="2000" dirty="0">
              <a:latin typeface="Times New Roman" panose="02020603050405020304" pitchFamily="18" charset="0"/>
            </a:endParaRPr>
          </a:p>
        </p:txBody>
      </p:sp>
      <p:pic>
        <p:nvPicPr>
          <p:cNvPr id="38917" name="Picture 7" descr="bottomupefg"/>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6667500" y="579438"/>
            <a:ext cx="3917950" cy="1955800"/>
          </a:xfrm>
        </p:spPr>
      </p:pic>
      <p:pic>
        <p:nvPicPr>
          <p:cNvPr id="38918" name="Picture 8" descr="bottomupbcdefg"/>
          <p:cNvPicPr>
            <a:picLocks noGrp="1" noChangeAspect="1" noChangeArrowheads="1"/>
          </p:cNvPicPr>
          <p:nvPr>
            <p:ph sz="quarter" idx="4294967295"/>
          </p:nvPr>
        </p:nvPicPr>
        <p:blipFill>
          <a:blip r:embed="rId4">
            <a:extLst>
              <a:ext uri="{28A0092B-C50C-407E-A947-70E740481C1C}">
                <a14:useLocalDpi xmlns:a14="http://schemas.microsoft.com/office/drawing/2010/main" val="0"/>
              </a:ext>
            </a:extLst>
          </a:blip>
          <a:srcRect/>
          <a:stretch>
            <a:fillRect/>
          </a:stretch>
        </p:blipFill>
        <p:spPr>
          <a:xfrm>
            <a:off x="6305550" y="3155951"/>
            <a:ext cx="4344988" cy="2644775"/>
          </a:xfrm>
        </p:spPr>
      </p:pic>
      <p:sp>
        <p:nvSpPr>
          <p:cNvPr id="38919" name="Text Box 9"/>
          <p:cNvSpPr txBox="1">
            <a:spLocks noChangeArrowheads="1"/>
          </p:cNvSpPr>
          <p:nvPr/>
        </p:nvSpPr>
        <p:spPr bwMode="auto">
          <a:xfrm>
            <a:off x="6567489" y="2470151"/>
            <a:ext cx="40909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spcBef>
                <a:spcPct val="50000"/>
              </a:spcBef>
            </a:pPr>
            <a:r>
              <a:rPr lang="en-US" b="0">
                <a:solidFill>
                  <a:srgbClr val="000000"/>
                </a:solidFill>
              </a:rPr>
              <a:t>Figure 7.8: Bottom-up integration of module E, F, and G</a:t>
            </a:r>
            <a:endParaRPr lang="en-US" sz="1200" b="0">
              <a:solidFill>
                <a:srgbClr val="000000"/>
              </a:solidFill>
            </a:endParaRPr>
          </a:p>
        </p:txBody>
      </p:sp>
      <p:sp>
        <p:nvSpPr>
          <p:cNvPr id="38920" name="Rectangle 10"/>
          <p:cNvSpPr>
            <a:spLocks noChangeArrowheads="1"/>
          </p:cNvSpPr>
          <p:nvPr/>
        </p:nvSpPr>
        <p:spPr bwMode="auto">
          <a:xfrm>
            <a:off x="6565900" y="5786439"/>
            <a:ext cx="41021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spcBef>
                <a:spcPct val="50000"/>
              </a:spcBef>
            </a:pPr>
            <a:r>
              <a:rPr lang="en-US" b="0">
                <a:solidFill>
                  <a:srgbClr val="000000"/>
                </a:solidFill>
              </a:rPr>
              <a:t>Figure 7.9: Bottom-up integration of module B, C, and D with F, F, and G</a:t>
            </a:r>
          </a:p>
        </p:txBody>
      </p:sp>
    </p:spTree>
    <p:extLst>
      <p:ext uri="{BB962C8B-B14F-4D97-AF65-F5344CB8AC3E}">
        <p14:creationId xmlns:p14="http://schemas.microsoft.com/office/powerpoint/2010/main" val="35215744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63025883-4676-4FF2-8D12-C1856A52142B}" type="slidenum">
              <a:rPr lang="en-US" sz="1000">
                <a:solidFill>
                  <a:srgbClr val="000000"/>
                </a:solidFill>
              </a:rPr>
              <a:pPr/>
              <a:t>19</a:t>
            </a:fld>
            <a:endParaRPr lang="en-US" sz="1000">
              <a:solidFill>
                <a:srgbClr val="000000"/>
              </a:solidFill>
            </a:endParaRPr>
          </a:p>
        </p:txBody>
      </p:sp>
      <p:sp>
        <p:nvSpPr>
          <p:cNvPr id="39940" name="Rectangle 3"/>
          <p:cNvSpPr>
            <a:spLocks noGrp="1" noChangeArrowheads="1"/>
          </p:cNvSpPr>
          <p:nvPr>
            <p:ph type="body" idx="4294967295"/>
          </p:nvPr>
        </p:nvSpPr>
        <p:spPr>
          <a:xfrm>
            <a:off x="1701800" y="660400"/>
            <a:ext cx="8966200" cy="5581650"/>
          </a:xfrm>
        </p:spPr>
        <p:txBody>
          <a:bodyPr>
            <a:normAutofit fontScale="92500" lnSpcReduction="20000"/>
          </a:bodyPr>
          <a:lstStyle/>
          <a:p>
            <a:pPr>
              <a:buFontTx/>
              <a:buNone/>
            </a:pPr>
            <a:r>
              <a:rPr lang="en-US" b="1" dirty="0" smtClean="0">
                <a:latin typeface="Times New Roman" panose="02020603050405020304" pitchFamily="18" charset="0"/>
              </a:rPr>
              <a:t>Advantages</a:t>
            </a:r>
          </a:p>
          <a:p>
            <a:r>
              <a:rPr lang="en-US" dirty="0" smtClean="0">
                <a:latin typeface="Times New Roman" panose="02020603050405020304" pitchFamily="18" charset="0"/>
              </a:rPr>
              <a:t>One designs the behavior of a test driver by simplifying the behavior of the actual module</a:t>
            </a:r>
          </a:p>
          <a:p>
            <a:r>
              <a:rPr lang="en-US" dirty="0" smtClean="0">
                <a:latin typeface="Times New Roman" panose="02020603050405020304" pitchFamily="18" charset="0"/>
              </a:rPr>
              <a:t>If the low-level modules and their combined functions are often invoked by other modules, then it is more useful to test them first so that meaningful effective integration of other modules can be done</a:t>
            </a:r>
          </a:p>
          <a:p>
            <a:endParaRPr lang="en-US" b="1" dirty="0" smtClean="0">
              <a:latin typeface="Times New Roman" panose="02020603050405020304" pitchFamily="18" charset="0"/>
            </a:endParaRPr>
          </a:p>
          <a:p>
            <a:pPr>
              <a:buFontTx/>
              <a:buNone/>
            </a:pPr>
            <a:r>
              <a:rPr lang="en-US" b="1" dirty="0" smtClean="0">
                <a:latin typeface="Times New Roman" panose="02020603050405020304" pitchFamily="18" charset="0"/>
              </a:rPr>
              <a:t>Disadvantages</a:t>
            </a:r>
          </a:p>
          <a:p>
            <a:r>
              <a:rPr lang="en-US" dirty="0" smtClean="0">
                <a:latin typeface="Times New Roman" panose="02020603050405020304" pitchFamily="18" charset="0"/>
              </a:rPr>
              <a:t>Discovery of major faults are detected towards the end of the integration process, because major design decision are embodied in the top-level modules</a:t>
            </a:r>
          </a:p>
          <a:p>
            <a:r>
              <a:rPr lang="en-US" dirty="0" smtClean="0">
                <a:latin typeface="Times New Roman" panose="02020603050405020304" pitchFamily="18" charset="0"/>
              </a:rPr>
              <a:t>Test engineers can not observe system-level functions from a partly integrated system. In fact, they can not observe system-level functions until the top-level test driver is in place</a:t>
            </a:r>
          </a:p>
        </p:txBody>
      </p:sp>
    </p:spTree>
    <p:extLst>
      <p:ext uri="{BB962C8B-B14F-4D97-AF65-F5344CB8AC3E}">
        <p14:creationId xmlns:p14="http://schemas.microsoft.com/office/powerpoint/2010/main" val="13658558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pPr/>
              <a:t>20</a:t>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smtClean="0">
                <a:latin typeface="Times New Roman" panose="02020603050405020304" pitchFamily="18" charset="0"/>
              </a:rPr>
              <a:t>Big-bang and Sandwich</a:t>
            </a:r>
          </a:p>
        </p:txBody>
      </p:sp>
      <p:sp>
        <p:nvSpPr>
          <p:cNvPr id="40964" name="Rectangle 3"/>
          <p:cNvSpPr>
            <a:spLocks noGrp="1" noChangeArrowheads="1"/>
          </p:cNvSpPr>
          <p:nvPr>
            <p:ph type="body" idx="4294967295"/>
          </p:nvPr>
        </p:nvSpPr>
        <p:spPr/>
        <p:txBody>
          <a:bodyPr>
            <a:normAutofit fontScale="85000" lnSpcReduction="20000"/>
          </a:bodyPr>
          <a:lstStyle/>
          <a:p>
            <a:pPr>
              <a:buFontTx/>
              <a:buNone/>
            </a:pPr>
            <a:r>
              <a:rPr lang="en-US" b="1" dirty="0" smtClean="0">
                <a:latin typeface="Times New Roman" panose="02020603050405020304" pitchFamily="18" charset="0"/>
              </a:rPr>
              <a:t>Big-bang Approach</a:t>
            </a:r>
          </a:p>
          <a:p>
            <a:r>
              <a:rPr lang="en-US" dirty="0" smtClean="0">
                <a:latin typeface="Times New Roman" panose="02020603050405020304" pitchFamily="18" charset="0"/>
              </a:rPr>
              <a:t>First all the modules are individually tested</a:t>
            </a:r>
          </a:p>
          <a:p>
            <a:r>
              <a:rPr lang="en-US" dirty="0" smtClean="0">
                <a:latin typeface="Times New Roman" panose="02020603050405020304" pitchFamily="18" charset="0"/>
              </a:rPr>
              <a:t>Next all those modules are put together to construct the entire system which is tested as a whole</a:t>
            </a:r>
            <a:endParaRPr lang="en-US" b="1" dirty="0" smtClean="0">
              <a:latin typeface="Times New Roman" panose="02020603050405020304" pitchFamily="18" charset="0"/>
            </a:endParaRPr>
          </a:p>
          <a:p>
            <a:pPr>
              <a:buFontTx/>
              <a:buNone/>
            </a:pPr>
            <a:r>
              <a:rPr lang="en-US" b="1" dirty="0" smtClean="0">
                <a:latin typeface="Times New Roman" panose="02020603050405020304" pitchFamily="18" charset="0"/>
              </a:rPr>
              <a:t>Sandwich Approach</a:t>
            </a:r>
          </a:p>
          <a:p>
            <a:r>
              <a:rPr lang="en-US" dirty="0" smtClean="0">
                <a:latin typeface="Times New Roman" panose="02020603050405020304" pitchFamily="18" charset="0"/>
              </a:rPr>
              <a:t>In this approach a system is integrated using a mix of top-down, bottom-up, and big-bang approaches</a:t>
            </a:r>
          </a:p>
          <a:p>
            <a:r>
              <a:rPr lang="en-US" dirty="0" smtClean="0">
                <a:latin typeface="Times New Roman" panose="02020603050405020304" pitchFamily="18" charset="0"/>
              </a:rPr>
              <a:t>A hierarchical system is viewed as consisting of three layers</a:t>
            </a:r>
          </a:p>
          <a:p>
            <a:r>
              <a:rPr lang="en-US" dirty="0" smtClean="0">
                <a:latin typeface="Times New Roman" panose="02020603050405020304" pitchFamily="18" charset="0"/>
              </a:rPr>
              <a:t>The bottom-up approach is applied to integrate the modules in the bottom-layer</a:t>
            </a:r>
          </a:p>
          <a:p>
            <a:r>
              <a:rPr lang="en-US" dirty="0" smtClean="0">
                <a:latin typeface="Times New Roman" panose="02020603050405020304" pitchFamily="18" charset="0"/>
              </a:rPr>
              <a:t>The top layer modules are integrated by using top-down approach</a:t>
            </a:r>
          </a:p>
          <a:p>
            <a:r>
              <a:rPr lang="en-US" dirty="0" smtClean="0">
                <a:latin typeface="Times New Roman" panose="02020603050405020304" pitchFamily="18" charset="0"/>
              </a:rPr>
              <a:t>The middle layer is integrated by using the big-bang approach after the top and the bottom layers have been integrated</a:t>
            </a:r>
          </a:p>
        </p:txBody>
      </p:sp>
    </p:spTree>
    <p:extLst>
      <p:ext uri="{BB962C8B-B14F-4D97-AF65-F5344CB8AC3E}">
        <p14:creationId xmlns:p14="http://schemas.microsoft.com/office/powerpoint/2010/main" val="37191967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pPr/>
              <a:t>21</a:t>
            </a:fld>
            <a:endParaRPr lang="en-US" sz="1000">
              <a:solidFill>
                <a:srgbClr val="000000"/>
              </a:solidFill>
            </a:endParaRPr>
          </a:p>
        </p:txBody>
      </p:sp>
      <p:sp>
        <p:nvSpPr>
          <p:cNvPr id="40963" name="Rectangle 2"/>
          <p:cNvSpPr>
            <a:spLocks noGrp="1" noChangeArrowheads="1"/>
          </p:cNvSpPr>
          <p:nvPr>
            <p:ph type="title" idx="4294967295"/>
          </p:nvPr>
        </p:nvSpPr>
        <p:spPr>
          <a:xfrm>
            <a:off x="838200" y="0"/>
            <a:ext cx="10515600" cy="1325563"/>
          </a:xfrm>
        </p:spPr>
        <p:txBody>
          <a:bodyPr/>
          <a:lstStyle/>
          <a:p>
            <a:r>
              <a:rPr lang="en-US" dirty="0" smtClean="0">
                <a:latin typeface="Times New Roman" panose="02020603050405020304" pitchFamily="18" charset="0"/>
              </a:rPr>
              <a:t>Test Plans for System Integration</a:t>
            </a:r>
          </a:p>
        </p:txBody>
      </p:sp>
      <p:pic>
        <p:nvPicPr>
          <p:cNvPr id="2" name="Picture 1"/>
          <p:cNvPicPr>
            <a:picLocks noChangeAspect="1"/>
          </p:cNvPicPr>
          <p:nvPr/>
        </p:nvPicPr>
        <p:blipFill>
          <a:blip r:embed="rId3"/>
          <a:stretch>
            <a:fillRect/>
          </a:stretch>
        </p:blipFill>
        <p:spPr>
          <a:xfrm>
            <a:off x="943436" y="171450"/>
            <a:ext cx="7591425" cy="6686550"/>
          </a:xfrm>
          <a:prstGeom prst="rect">
            <a:avLst/>
          </a:prstGeom>
        </p:spPr>
      </p:pic>
    </p:spTree>
    <p:extLst>
      <p:ext uri="{BB962C8B-B14F-4D97-AF65-F5344CB8AC3E}">
        <p14:creationId xmlns:p14="http://schemas.microsoft.com/office/powerpoint/2010/main" val="2073589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xfrm>
            <a:off x="838200" y="5660891"/>
            <a:ext cx="27432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pPr/>
              <a:t>22</a:t>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smtClean="0">
                <a:latin typeface="Times New Roman" panose="02020603050405020304" pitchFamily="18" charset="0"/>
              </a:rPr>
              <a:t>Framework for SIT</a:t>
            </a:r>
          </a:p>
        </p:txBody>
      </p:sp>
      <p:sp>
        <p:nvSpPr>
          <p:cNvPr id="40964" name="Rectangle 3"/>
          <p:cNvSpPr>
            <a:spLocks noGrp="1" noChangeArrowheads="1"/>
          </p:cNvSpPr>
          <p:nvPr>
            <p:ph type="body" idx="4294967295"/>
          </p:nvPr>
        </p:nvSpPr>
        <p:spPr/>
        <p:txBody>
          <a:bodyPr>
            <a:noAutofit/>
          </a:bodyPr>
          <a:lstStyle/>
          <a:p>
            <a:pPr marL="514350" indent="-514350">
              <a:buFontTx/>
              <a:buAutoNum type="arabicPeriod"/>
            </a:pPr>
            <a:r>
              <a:rPr lang="en-US" b="1" dirty="0" smtClean="0">
                <a:latin typeface="Times New Roman" panose="02020603050405020304" pitchFamily="18" charset="0"/>
              </a:rPr>
              <a:t>Scope of testing: </a:t>
            </a:r>
            <a:r>
              <a:rPr lang="en-US" dirty="0"/>
              <a:t>In the scope of testing section, one summarizes the system architecture</a:t>
            </a:r>
            <a:r>
              <a:rPr lang="en-US" dirty="0" smtClean="0"/>
              <a:t>.</a:t>
            </a:r>
          </a:p>
          <a:p>
            <a:pPr marL="457200" lvl="1" indent="0">
              <a:buNone/>
            </a:pPr>
            <a:r>
              <a:rPr lang="en-US" dirty="0" smtClean="0">
                <a:latin typeface="Times New Roman" panose="02020603050405020304" pitchFamily="18" charset="0"/>
              </a:rPr>
              <a:t>	Functional</a:t>
            </a:r>
            <a:r>
              <a:rPr lang="en-US" dirty="0">
                <a:latin typeface="Times New Roman" panose="02020603050405020304" pitchFamily="18" charset="0"/>
              </a:rPr>
              <a:t>, internal, and performance characteristics</a:t>
            </a:r>
            <a:r>
              <a:rPr lang="en-US" dirty="0" smtClean="0"/>
              <a:t> </a:t>
            </a:r>
          </a:p>
          <a:p>
            <a:pPr marL="514350" indent="-514350">
              <a:buFontTx/>
              <a:buAutoNum type="arabicPeriod"/>
            </a:pPr>
            <a:r>
              <a:rPr lang="en-US" dirty="0" smtClean="0"/>
              <a:t>Structure of integration levels</a:t>
            </a:r>
          </a:p>
          <a:p>
            <a:pPr marL="971550" lvl="1" indent="-514350">
              <a:buFontTx/>
              <a:buAutoNum type="arabicPeriod"/>
            </a:pPr>
            <a:r>
              <a:rPr lang="en-US" dirty="0" smtClean="0"/>
              <a:t>Integration test phases</a:t>
            </a:r>
          </a:p>
          <a:p>
            <a:pPr marL="1428750" lvl="2" indent="-514350">
              <a:buFontTx/>
              <a:buAutoNum type="arabicPeriod"/>
            </a:pPr>
            <a:r>
              <a:rPr lang="en-US" dirty="0"/>
              <a:t>division of integration testing into different phases, such as </a:t>
            </a:r>
            <a:r>
              <a:rPr lang="en-US" dirty="0" smtClean="0"/>
              <a:t>functional (interface check), </a:t>
            </a:r>
            <a:r>
              <a:rPr lang="en-US" dirty="0"/>
              <a:t>end-to-end, and endurance </a:t>
            </a:r>
            <a:r>
              <a:rPr lang="en-US" dirty="0" smtClean="0"/>
              <a:t>phases (reliability).</a:t>
            </a:r>
          </a:p>
          <a:p>
            <a:pPr marL="971550" lvl="1" indent="-514350">
              <a:buFontTx/>
              <a:buAutoNum type="arabicPeriod"/>
            </a:pPr>
            <a:r>
              <a:rPr lang="en-US" dirty="0" smtClean="0"/>
              <a:t>Modules or subsystems to be integrated in each phase</a:t>
            </a:r>
          </a:p>
          <a:p>
            <a:pPr marL="971550" lvl="1" indent="-514350">
              <a:buFontTx/>
              <a:buAutoNum type="arabicPeriod"/>
            </a:pPr>
            <a:r>
              <a:rPr lang="en-US" dirty="0" smtClean="0"/>
              <a:t>Building process and schedule in each phase</a:t>
            </a:r>
          </a:p>
          <a:p>
            <a:pPr marL="1428750" lvl="2" indent="-514350">
              <a:buFontTx/>
              <a:buAutoNum type="arabicPeriod"/>
            </a:pPr>
            <a:r>
              <a:rPr lang="en-US" dirty="0" smtClean="0"/>
              <a:t>Daily, weekly, monthly build </a:t>
            </a:r>
            <a:r>
              <a:rPr lang="en-US" dirty="0" err="1" smtClean="0"/>
              <a:t>etc</a:t>
            </a:r>
            <a:endParaRPr lang="en-US" dirty="0" smtClean="0"/>
          </a:p>
          <a:p>
            <a:pPr marL="971550" lvl="1" indent="-514350">
              <a:buFontTx/>
              <a:buAutoNum type="arabicPeriod"/>
            </a:pPr>
            <a:r>
              <a:rPr lang="en-US" dirty="0" smtClean="0"/>
              <a:t>Environment to be setup and resources required in each phase</a:t>
            </a:r>
          </a:p>
          <a:p>
            <a:pPr marL="457200" lvl="1" indent="0">
              <a:buNone/>
            </a:pPr>
            <a:r>
              <a:rPr lang="en-US" dirty="0" smtClean="0">
                <a:latin typeface="Times New Roman" panose="02020603050405020304" pitchFamily="18" charset="0"/>
              </a:rPr>
              <a:t>	</a:t>
            </a:r>
          </a:p>
        </p:txBody>
      </p:sp>
    </p:spTree>
    <p:extLst>
      <p:ext uri="{BB962C8B-B14F-4D97-AF65-F5344CB8AC3E}">
        <p14:creationId xmlns:p14="http://schemas.microsoft.com/office/powerpoint/2010/main" val="10127953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pPr/>
              <a:t>23</a:t>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smtClean="0">
                <a:latin typeface="Times New Roman" panose="02020603050405020304" pitchFamily="18" charset="0"/>
              </a:rPr>
              <a:t>Framework for SIT</a:t>
            </a:r>
          </a:p>
        </p:txBody>
      </p:sp>
      <p:sp>
        <p:nvSpPr>
          <p:cNvPr id="40964" name="Rectangle 3"/>
          <p:cNvSpPr>
            <a:spLocks noGrp="1" noChangeArrowheads="1"/>
          </p:cNvSpPr>
          <p:nvPr>
            <p:ph type="body" idx="4294967295"/>
          </p:nvPr>
        </p:nvSpPr>
        <p:spPr/>
        <p:txBody>
          <a:bodyPr>
            <a:normAutofit fontScale="85000" lnSpcReduction="20000"/>
          </a:bodyPr>
          <a:lstStyle/>
          <a:p>
            <a:pPr marL="0" indent="0">
              <a:buNone/>
            </a:pPr>
            <a:r>
              <a:rPr lang="en-US" b="1" dirty="0" smtClean="0">
                <a:latin typeface="Times New Roman" panose="02020603050405020304" pitchFamily="18" charset="0"/>
              </a:rPr>
              <a:t>3. Criteria for each integration test phase n</a:t>
            </a:r>
          </a:p>
          <a:p>
            <a:pPr marL="0" indent="0">
              <a:buNone/>
            </a:pPr>
            <a:r>
              <a:rPr lang="en-US" b="1" dirty="0">
                <a:latin typeface="Times New Roman" panose="02020603050405020304" pitchFamily="18" charset="0"/>
              </a:rPr>
              <a:t>	1. Entry </a:t>
            </a:r>
            <a:r>
              <a:rPr lang="en-US" b="1" dirty="0" smtClean="0">
                <a:latin typeface="Times New Roman" panose="02020603050405020304" pitchFamily="18" charset="0"/>
              </a:rPr>
              <a:t>Criteria</a:t>
            </a: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Start date + Table 7.4</a:t>
            </a: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2. Exit Criteria</a:t>
            </a: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End </a:t>
            </a:r>
            <a:r>
              <a:rPr lang="en-US" b="1" dirty="0">
                <a:latin typeface="Times New Roman" panose="02020603050405020304" pitchFamily="18" charset="0"/>
              </a:rPr>
              <a:t>date + Table </a:t>
            </a:r>
            <a:r>
              <a:rPr lang="en-US" b="1" dirty="0" smtClean="0">
                <a:latin typeface="Times New Roman" panose="02020603050405020304" pitchFamily="18" charset="0"/>
              </a:rPr>
              <a:t>7.4</a:t>
            </a:r>
            <a:endParaRPr lang="en-US" b="1" dirty="0">
              <a:latin typeface="Times New Roman" panose="02020603050405020304" pitchFamily="18" charset="0"/>
            </a:endParaRP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3. Integration technique to be used</a:t>
            </a:r>
          </a:p>
          <a:p>
            <a:pPr marL="0" indent="0">
              <a:buNone/>
            </a:pPr>
            <a:r>
              <a:rPr lang="en-US" b="1" dirty="0">
                <a:latin typeface="Times New Roman" panose="02020603050405020304" pitchFamily="18" charset="0"/>
              </a:rPr>
              <a:t>	</a:t>
            </a:r>
            <a:r>
              <a:rPr lang="en-US" dirty="0"/>
              <a:t>top down or bottom up</a:t>
            </a:r>
            <a:endParaRPr lang="en-US" b="1" dirty="0">
              <a:latin typeface="Times New Roman" panose="02020603050405020304" pitchFamily="18" charset="0"/>
            </a:endParaRP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4. Test configuration setup</a:t>
            </a:r>
          </a:p>
          <a:p>
            <a:pPr marL="0" indent="0">
              <a:buNone/>
            </a:pPr>
            <a:r>
              <a:rPr lang="en-US" b="1" dirty="0">
                <a:latin typeface="Times New Roman" panose="02020603050405020304" pitchFamily="18" charset="0"/>
              </a:rPr>
              <a:t>	</a:t>
            </a:r>
          </a:p>
          <a:p>
            <a:pPr marL="0" indent="0">
              <a:buNone/>
            </a:pPr>
            <a:endParaRPr lang="en-US" b="1" dirty="0" smtClean="0">
              <a:latin typeface="Times New Roman" panose="02020603050405020304" pitchFamily="18" charset="0"/>
            </a:endParaRP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            </a:t>
            </a:r>
            <a:r>
              <a:rPr lang="en-US" dirty="0" smtClean="0">
                <a:latin typeface="Times New Roman" panose="02020603050405020304" pitchFamily="18" charset="0"/>
              </a:rPr>
              <a:t>	</a:t>
            </a:r>
          </a:p>
        </p:txBody>
      </p:sp>
    </p:spTree>
    <p:extLst>
      <p:ext uri="{BB962C8B-B14F-4D97-AF65-F5344CB8AC3E}">
        <p14:creationId xmlns:p14="http://schemas.microsoft.com/office/powerpoint/2010/main" val="4735082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pPr/>
              <a:t>24</a:t>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smtClean="0">
                <a:latin typeface="Times New Roman" panose="02020603050405020304" pitchFamily="18" charset="0"/>
              </a:rPr>
              <a:t>Framework for SIT</a:t>
            </a:r>
          </a:p>
        </p:txBody>
      </p:sp>
      <p:sp>
        <p:nvSpPr>
          <p:cNvPr id="40964" name="Rectangle 3"/>
          <p:cNvSpPr>
            <a:spLocks noGrp="1" noChangeArrowheads="1"/>
          </p:cNvSpPr>
          <p:nvPr>
            <p:ph type="body" idx="4294967295"/>
          </p:nvPr>
        </p:nvSpPr>
        <p:spPr/>
        <p:txBody>
          <a:bodyPr>
            <a:normAutofit fontScale="85000" lnSpcReduction="20000"/>
          </a:bodyPr>
          <a:lstStyle/>
          <a:p>
            <a:pPr marL="0" indent="0">
              <a:buNone/>
            </a:pPr>
            <a:r>
              <a:rPr lang="en-US" b="1" dirty="0">
                <a:latin typeface="Times New Roman" panose="02020603050405020304" pitchFamily="18" charset="0"/>
              </a:rPr>
              <a:t>4</a:t>
            </a:r>
            <a:r>
              <a:rPr lang="en-US" b="1" dirty="0" smtClean="0">
                <a:latin typeface="Times New Roman" panose="02020603050405020304" pitchFamily="18" charset="0"/>
              </a:rPr>
              <a:t>. Test specification for each integration test phase</a:t>
            </a:r>
          </a:p>
          <a:p>
            <a:pPr marL="0" indent="0">
              <a:buNone/>
            </a:pPr>
            <a:r>
              <a:rPr lang="en-US" b="1" dirty="0">
                <a:latin typeface="Times New Roman" panose="02020603050405020304" pitchFamily="18" charset="0"/>
              </a:rPr>
              <a:t>	1. </a:t>
            </a:r>
            <a:r>
              <a:rPr lang="en-US" b="1" dirty="0" smtClean="0">
                <a:latin typeface="Times New Roman" panose="02020603050405020304" pitchFamily="18" charset="0"/>
              </a:rPr>
              <a:t>Test Case ID Number</a:t>
            </a: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2. Input Data</a:t>
            </a:r>
            <a:endParaRPr lang="en-US" b="1" dirty="0">
              <a:latin typeface="Times New Roman" panose="02020603050405020304" pitchFamily="18" charset="0"/>
            </a:endParaRP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3. Initial Condition</a:t>
            </a:r>
            <a:endParaRPr lang="en-US" b="1" dirty="0">
              <a:latin typeface="Times New Roman" panose="02020603050405020304" pitchFamily="18" charset="0"/>
            </a:endParaRP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4. Expected results</a:t>
            </a:r>
            <a:endParaRPr lang="en-US" b="1" dirty="0">
              <a:latin typeface="Times New Roman" panose="02020603050405020304" pitchFamily="18" charset="0"/>
            </a:endParaRP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5. Test procedure</a:t>
            </a:r>
            <a:endParaRPr lang="en-US" b="1" dirty="0">
              <a:latin typeface="Times New Roman" panose="02020603050405020304" pitchFamily="18" charset="0"/>
            </a:endParaRP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How to execute this test?</a:t>
            </a:r>
          </a:p>
          <a:p>
            <a:pPr marL="0" indent="0">
              <a:buNone/>
            </a:pPr>
            <a:r>
              <a:rPr lang="en-US" b="1" dirty="0">
                <a:latin typeface="Times New Roman" panose="02020603050405020304" pitchFamily="18" charset="0"/>
              </a:rPr>
              <a:t>	</a:t>
            </a:r>
            <a:r>
              <a:rPr lang="en-US" b="1" dirty="0" smtClean="0">
                <a:latin typeface="Times New Roman" panose="02020603050405020304" pitchFamily="18" charset="0"/>
              </a:rPr>
              <a:t>	How to capture and interpret the results?</a:t>
            </a:r>
            <a:endParaRPr lang="en-US" b="1" dirty="0">
              <a:latin typeface="Times New Roman" panose="02020603050405020304" pitchFamily="18" charset="0"/>
            </a:endParaRPr>
          </a:p>
          <a:p>
            <a:pPr marL="0" indent="0">
              <a:buNone/>
            </a:pPr>
            <a:r>
              <a:rPr lang="en-US" b="1" dirty="0" smtClean="0">
                <a:latin typeface="Times New Roman" panose="02020603050405020304" pitchFamily="18" charset="0"/>
              </a:rPr>
              <a:t>5. Actual test results for each integration test phase</a:t>
            </a:r>
          </a:p>
          <a:p>
            <a:pPr marL="0" indent="0">
              <a:buNone/>
            </a:pPr>
            <a:r>
              <a:rPr lang="en-US" b="1" dirty="0" smtClean="0">
                <a:latin typeface="Times New Roman" panose="02020603050405020304" pitchFamily="18" charset="0"/>
              </a:rPr>
              <a:t>6. References</a:t>
            </a:r>
          </a:p>
          <a:p>
            <a:pPr marL="0" indent="0">
              <a:buNone/>
            </a:pPr>
            <a:r>
              <a:rPr lang="en-US" b="1" dirty="0" smtClean="0">
                <a:latin typeface="Times New Roman" panose="02020603050405020304" pitchFamily="18" charset="0"/>
              </a:rPr>
              <a:t>7. </a:t>
            </a:r>
            <a:r>
              <a:rPr lang="en-US" b="1" dirty="0" smtClean="0">
                <a:latin typeface="Times New Roman" panose="02020603050405020304" pitchFamily="18" charset="0"/>
              </a:rPr>
              <a:t>Appendix</a:t>
            </a:r>
            <a:endParaRPr lang="en-US" b="1" dirty="0" smtClean="0">
              <a:latin typeface="Times New Roman" panose="02020603050405020304" pitchFamily="18" charset="0"/>
            </a:endParaRPr>
          </a:p>
        </p:txBody>
      </p:sp>
    </p:spTree>
    <p:extLst>
      <p:ext uri="{BB962C8B-B14F-4D97-AF65-F5344CB8AC3E}">
        <p14:creationId xmlns:p14="http://schemas.microsoft.com/office/powerpoint/2010/main" val="4975578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pPr/>
              <a:t>25</a:t>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smtClean="0">
                <a:latin typeface="Times New Roman" panose="02020603050405020304" pitchFamily="18" charset="0"/>
              </a:rPr>
              <a:t>Framework for SIT</a:t>
            </a:r>
          </a:p>
        </p:txBody>
      </p:sp>
      <p:sp>
        <p:nvSpPr>
          <p:cNvPr id="40964" name="Rectangle 3"/>
          <p:cNvSpPr>
            <a:spLocks noGrp="1" noChangeArrowheads="1"/>
          </p:cNvSpPr>
          <p:nvPr>
            <p:ph type="body" idx="4294967295"/>
          </p:nvPr>
        </p:nvSpPr>
        <p:spPr/>
        <p:txBody>
          <a:bodyPr>
            <a:normAutofit/>
          </a:bodyPr>
          <a:lstStyle/>
          <a:p>
            <a:pPr marL="0" indent="0">
              <a:buNone/>
            </a:pPr>
            <a:r>
              <a:rPr lang="en-US" dirty="0"/>
              <a:t>System integration testing is performed in phases of increasing complexity for better efficiency and effectiveness. </a:t>
            </a:r>
            <a:endParaRPr lang="en-US" dirty="0" smtClean="0"/>
          </a:p>
          <a:p>
            <a:pPr marL="0" indent="0">
              <a:buNone/>
            </a:pPr>
            <a:r>
              <a:rPr lang="en-US" dirty="0" smtClean="0"/>
              <a:t>In </a:t>
            </a:r>
            <a:r>
              <a:rPr lang="en-US" dirty="0"/>
              <a:t>the first phase interface integrity and functional validity within a system are tested. </a:t>
            </a:r>
            <a:endParaRPr lang="en-US" dirty="0" smtClean="0"/>
          </a:p>
          <a:p>
            <a:pPr marL="0" indent="0">
              <a:buNone/>
            </a:pPr>
            <a:r>
              <a:rPr lang="en-US" dirty="0" smtClean="0"/>
              <a:t>In </a:t>
            </a:r>
            <a:r>
              <a:rPr lang="en-US" dirty="0"/>
              <a:t>the second phase end-to-end and pairwise tests are conducted. </a:t>
            </a:r>
            <a:endParaRPr lang="en-US" dirty="0" smtClean="0"/>
          </a:p>
          <a:p>
            <a:pPr marL="0" indent="0">
              <a:buNone/>
            </a:pPr>
            <a:r>
              <a:rPr lang="en-US" dirty="0" smtClean="0"/>
              <a:t>Finally</a:t>
            </a:r>
            <a:r>
              <a:rPr lang="en-US" dirty="0"/>
              <a:t>, in the third phase, stress and endurance tests are performed. </a:t>
            </a:r>
            <a:endParaRPr lang="en-US" dirty="0" smtClean="0"/>
          </a:p>
          <a:p>
            <a:pPr marL="0" indent="0">
              <a:buNone/>
            </a:pPr>
            <a:r>
              <a:rPr lang="en-US" dirty="0" smtClean="0"/>
              <a:t>The </a:t>
            </a:r>
            <a:r>
              <a:rPr lang="en-US" dirty="0"/>
              <a:t>categories of system integration tests and the corresponding test cases discussed below are applicable for the different test phases.</a:t>
            </a:r>
            <a:endParaRPr lang="en-US" dirty="0" smtClean="0">
              <a:latin typeface="Times New Roman" panose="02020603050405020304" pitchFamily="18" charset="0"/>
            </a:endParaRPr>
          </a:p>
        </p:txBody>
      </p:sp>
    </p:spTree>
    <p:extLst>
      <p:ext uri="{BB962C8B-B14F-4D97-AF65-F5344CB8AC3E}">
        <p14:creationId xmlns:p14="http://schemas.microsoft.com/office/powerpoint/2010/main" val="42589617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pPr/>
              <a:t>26</a:t>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a:t>The categories of system integration tests</a:t>
            </a:r>
            <a:endParaRPr lang="en-US" dirty="0" smtClean="0">
              <a:latin typeface="Times New Roman" panose="02020603050405020304" pitchFamily="18" charset="0"/>
            </a:endParaRPr>
          </a:p>
        </p:txBody>
      </p:sp>
      <p:sp>
        <p:nvSpPr>
          <p:cNvPr id="40964" name="Rectangle 3"/>
          <p:cNvSpPr>
            <a:spLocks noGrp="1" noChangeArrowheads="1"/>
          </p:cNvSpPr>
          <p:nvPr>
            <p:ph type="body" idx="4294967295"/>
          </p:nvPr>
        </p:nvSpPr>
        <p:spPr/>
        <p:txBody>
          <a:bodyPr>
            <a:normAutofit fontScale="92500" lnSpcReduction="10000"/>
          </a:bodyPr>
          <a:lstStyle/>
          <a:p>
            <a:pPr marL="0" indent="0">
              <a:buNone/>
            </a:pPr>
            <a:r>
              <a:rPr lang="en-US" b="1" dirty="0"/>
              <a:t>Interface Integrity: </a:t>
            </a:r>
            <a:r>
              <a:rPr lang="en-US" dirty="0"/>
              <a:t>Internal and external interfaces are tested as each module is integrated into the structure. </a:t>
            </a:r>
            <a:endParaRPr lang="en-US" dirty="0" smtClean="0"/>
          </a:p>
          <a:p>
            <a:pPr marL="0" indent="0">
              <a:buNone/>
            </a:pPr>
            <a:r>
              <a:rPr lang="en-US" dirty="0"/>
              <a:t>When two modules are integrated, the </a:t>
            </a:r>
            <a:r>
              <a:rPr lang="en-US" dirty="0" smtClean="0"/>
              <a:t>communication </a:t>
            </a:r>
            <a:r>
              <a:rPr lang="en-US" dirty="0"/>
              <a:t>between them is called internal, whereas when they communicate with the outside environment, it is called external</a:t>
            </a:r>
            <a:r>
              <a:rPr lang="en-US" dirty="0" smtClean="0"/>
              <a:t>.</a:t>
            </a:r>
          </a:p>
          <a:p>
            <a:pPr marL="0" indent="0">
              <a:buNone/>
            </a:pPr>
            <a:r>
              <a:rPr lang="en-US" dirty="0"/>
              <a:t>The number of parameters sent in a message agree with the number of parameters expected to be received. • The parameter order in the messages match the order expected. • The field sizes and the data types match. • The boundaries of each data field in a message match the expected bound </a:t>
            </a:r>
            <a:r>
              <a:rPr lang="en-US" dirty="0" err="1"/>
              <a:t>aries</a:t>
            </a:r>
            <a:r>
              <a:rPr lang="en-US" dirty="0"/>
              <a:t>. • When a message is generated from stored data prior to being sent, the message truly reflects the stored data. • When a received message is stored, data copying is consistent with the received message.</a:t>
            </a:r>
            <a:endParaRPr lang="en-US" dirty="0" smtClean="0">
              <a:latin typeface="Times New Roman" panose="02020603050405020304" pitchFamily="18" charset="0"/>
            </a:endParaRPr>
          </a:p>
        </p:txBody>
      </p:sp>
    </p:spTree>
    <p:extLst>
      <p:ext uri="{BB962C8B-B14F-4D97-AF65-F5344CB8AC3E}">
        <p14:creationId xmlns:p14="http://schemas.microsoft.com/office/powerpoint/2010/main" val="18876637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pPr/>
              <a:t>27</a:t>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a:t>The categories of system integration tests</a:t>
            </a:r>
            <a:endParaRPr lang="en-US" dirty="0" smtClean="0">
              <a:latin typeface="Times New Roman" panose="02020603050405020304" pitchFamily="18" charset="0"/>
            </a:endParaRPr>
          </a:p>
        </p:txBody>
      </p:sp>
      <p:sp>
        <p:nvSpPr>
          <p:cNvPr id="40964" name="Rectangle 3"/>
          <p:cNvSpPr>
            <a:spLocks noGrp="1" noChangeArrowheads="1"/>
          </p:cNvSpPr>
          <p:nvPr>
            <p:ph type="body" idx="4294967295"/>
          </p:nvPr>
        </p:nvSpPr>
        <p:spPr/>
        <p:txBody>
          <a:bodyPr>
            <a:normAutofit/>
          </a:bodyPr>
          <a:lstStyle/>
          <a:p>
            <a:pPr marL="0" indent="0">
              <a:buNone/>
            </a:pPr>
            <a:r>
              <a:rPr lang="en-US" b="1" dirty="0"/>
              <a:t>Functional Validity</a:t>
            </a:r>
            <a:r>
              <a:rPr lang="en-US" b="1" dirty="0" smtClean="0"/>
              <a:t>: </a:t>
            </a:r>
            <a:r>
              <a:rPr lang="en-US" dirty="0"/>
              <a:t>Tests are designed to uncover functional errors in each module after it is integrated with the system. Errors associated with local or global data structures are uncovered with such tests. Selected unit tests that were designed for each module are </a:t>
            </a:r>
            <a:r>
              <a:rPr lang="en-US" dirty="0" err="1"/>
              <a:t>reexecuted</a:t>
            </a:r>
            <a:r>
              <a:rPr lang="en-US" dirty="0"/>
              <a:t> during system integration by replacing the stubs with their actual modules</a:t>
            </a:r>
            <a:r>
              <a:rPr lang="en-US" dirty="0" smtClean="0"/>
              <a:t>.</a:t>
            </a:r>
          </a:p>
          <a:p>
            <a:pPr marL="0" indent="0">
              <a:buNone/>
            </a:pPr>
            <a:r>
              <a:rPr lang="en-US" b="1" dirty="0"/>
              <a:t>End-to-End </a:t>
            </a:r>
            <a:r>
              <a:rPr lang="en-US" b="1" dirty="0" smtClean="0"/>
              <a:t>Validity: </a:t>
            </a:r>
            <a:r>
              <a:rPr lang="en-US" dirty="0"/>
              <a:t>Tests are performed to ensure that a completely </a:t>
            </a:r>
            <a:r>
              <a:rPr lang="en-US" dirty="0" smtClean="0"/>
              <a:t>integrated </a:t>
            </a:r>
            <a:r>
              <a:rPr lang="en-US" dirty="0"/>
              <a:t>system works together from end to end. Interim checkpoints on an end-to-end </a:t>
            </a:r>
            <a:r>
              <a:rPr lang="en-US" dirty="0" smtClean="0"/>
              <a:t>flow </a:t>
            </a:r>
            <a:r>
              <a:rPr lang="en-US" dirty="0"/>
              <a:t>provide a better understanding of internal mechanisms. This helps in locating the sources of failures.</a:t>
            </a:r>
            <a:r>
              <a:rPr lang="en-US" b="1" dirty="0" smtClean="0"/>
              <a:t> </a:t>
            </a:r>
            <a:endParaRPr lang="en-US" b="1" dirty="0" smtClean="0">
              <a:latin typeface="Times New Roman" panose="02020603050405020304" pitchFamily="18" charset="0"/>
            </a:endParaRPr>
          </a:p>
        </p:txBody>
      </p:sp>
    </p:spTree>
    <p:extLst>
      <p:ext uri="{BB962C8B-B14F-4D97-AF65-F5344CB8AC3E}">
        <p14:creationId xmlns:p14="http://schemas.microsoft.com/office/powerpoint/2010/main" val="15173064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pPr/>
              <a:t>28</a:t>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a:t>The categories of system integration tests</a:t>
            </a:r>
            <a:endParaRPr lang="en-US" dirty="0" smtClean="0">
              <a:latin typeface="Times New Roman" panose="02020603050405020304" pitchFamily="18" charset="0"/>
            </a:endParaRPr>
          </a:p>
        </p:txBody>
      </p:sp>
      <p:sp>
        <p:nvSpPr>
          <p:cNvPr id="40964" name="Rectangle 3"/>
          <p:cNvSpPr>
            <a:spLocks noGrp="1" noChangeArrowheads="1"/>
          </p:cNvSpPr>
          <p:nvPr>
            <p:ph type="body" idx="4294967295"/>
          </p:nvPr>
        </p:nvSpPr>
        <p:spPr/>
        <p:txBody>
          <a:bodyPr>
            <a:normAutofit lnSpcReduction="10000"/>
          </a:bodyPr>
          <a:lstStyle/>
          <a:p>
            <a:pPr marL="0" indent="0">
              <a:buNone/>
            </a:pPr>
            <a:r>
              <a:rPr lang="en-US" b="1" dirty="0"/>
              <a:t>Pairwise Validity</a:t>
            </a:r>
            <a:r>
              <a:rPr lang="en-US" b="1" dirty="0" smtClean="0"/>
              <a:t>: </a:t>
            </a:r>
            <a:r>
              <a:rPr lang="en-US" dirty="0"/>
              <a:t>Tests are performed to ensure that any two systems work properly when connected together by a network. The difference between pairwise tests and end-to-end tests lies in the emphasis and type of test cases. For example, a toll-free call to an 800 number is an end-to-end test of a telephone system, whereas a connectivity test between a handset and local private branch exchange (PBX) is </a:t>
            </a:r>
            <a:r>
              <a:rPr lang="en-US" dirty="0" err="1" smtClean="0"/>
              <a:t>apairwise</a:t>
            </a:r>
            <a:r>
              <a:rPr lang="en-US" dirty="0" smtClean="0"/>
              <a:t> test.</a:t>
            </a:r>
          </a:p>
          <a:p>
            <a:pPr marL="0" indent="0">
              <a:buNone/>
            </a:pPr>
            <a:r>
              <a:rPr lang="en-US" b="1" dirty="0" smtClean="0"/>
              <a:t>Interface Stress: </a:t>
            </a:r>
            <a:r>
              <a:rPr lang="en-US" dirty="0"/>
              <a:t>Stress is applied at the module level during the integration of the modules to ensure that the interfaces can sustain the load. On the other hand, full-scale system stress testing is performed at the time of system-level testing.</a:t>
            </a:r>
            <a:endParaRPr lang="en-US" b="1" dirty="0" smtClean="0">
              <a:latin typeface="Times New Roman" panose="02020603050405020304" pitchFamily="18" charset="0"/>
            </a:endParaRPr>
          </a:p>
        </p:txBody>
      </p:sp>
    </p:spTree>
    <p:extLst>
      <p:ext uri="{BB962C8B-B14F-4D97-AF65-F5344CB8AC3E}">
        <p14:creationId xmlns:p14="http://schemas.microsoft.com/office/powerpoint/2010/main" val="27894230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pPr/>
              <a:t>29</a:t>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a:t>The categories of system integration tests</a:t>
            </a:r>
            <a:endParaRPr lang="en-US" dirty="0" smtClean="0">
              <a:latin typeface="Times New Roman" panose="02020603050405020304" pitchFamily="18" charset="0"/>
            </a:endParaRPr>
          </a:p>
        </p:txBody>
      </p:sp>
      <p:sp>
        <p:nvSpPr>
          <p:cNvPr id="40964" name="Rectangle 3"/>
          <p:cNvSpPr>
            <a:spLocks noGrp="1" noChangeArrowheads="1"/>
          </p:cNvSpPr>
          <p:nvPr>
            <p:ph type="body" idx="4294967295"/>
          </p:nvPr>
        </p:nvSpPr>
        <p:spPr/>
        <p:txBody>
          <a:bodyPr>
            <a:normAutofit fontScale="92500"/>
          </a:bodyPr>
          <a:lstStyle/>
          <a:p>
            <a:pPr marL="0" indent="0">
              <a:buNone/>
            </a:pPr>
            <a:r>
              <a:rPr lang="en-US" b="1" dirty="0" smtClean="0"/>
              <a:t>Interface Stress: </a:t>
            </a:r>
            <a:r>
              <a:rPr lang="en-US" dirty="0"/>
              <a:t>Stress is applied at the module level during the integration of the modules to ensure that the interfaces can sustain the load. On the other hand, full-scale system stress testing is performed at the time of system-level testing</a:t>
            </a:r>
            <a:r>
              <a:rPr lang="en-US" dirty="0" smtClean="0"/>
              <a:t>.</a:t>
            </a:r>
          </a:p>
          <a:p>
            <a:pPr marL="0" indent="0">
              <a:buNone/>
            </a:pPr>
            <a:r>
              <a:rPr lang="en-US" b="1" dirty="0">
                <a:latin typeface="Times New Roman" panose="02020603050405020304" pitchFamily="18" charset="0"/>
              </a:rPr>
              <a:t>	</a:t>
            </a:r>
            <a:r>
              <a:rPr lang="en-US" sz="2400" b="1" dirty="0" smtClean="0">
                <a:latin typeface="Times New Roman" panose="02020603050405020304" pitchFamily="18" charset="0"/>
              </a:rPr>
              <a:t>Configuration, Logging, CPU Cycles, Memory/</a:t>
            </a:r>
            <a:r>
              <a:rPr lang="en-US" sz="2400" b="1" dirty="0" err="1" smtClean="0">
                <a:latin typeface="Times New Roman" panose="02020603050405020304" pitchFamily="18" charset="0"/>
              </a:rPr>
              <a:t>Diskate</a:t>
            </a:r>
            <a:r>
              <a:rPr lang="en-US" sz="2400" b="1" dirty="0" smtClean="0">
                <a:latin typeface="Times New Roman" panose="02020603050405020304" pitchFamily="18" charset="0"/>
              </a:rPr>
              <a:t> Usage etc.</a:t>
            </a:r>
          </a:p>
          <a:p>
            <a:pPr marL="0" indent="0">
              <a:buNone/>
            </a:pPr>
            <a:r>
              <a:rPr lang="en-US" b="1" dirty="0"/>
              <a:t>System </a:t>
            </a:r>
            <a:r>
              <a:rPr lang="en-US" b="1" dirty="0" smtClean="0"/>
              <a:t>Endurance: </a:t>
            </a:r>
            <a:r>
              <a:rPr lang="en-US" dirty="0"/>
              <a:t>A completely integrated system is expected to stay up continuously for weeks without any crashes. In the case of communication protocol systems, formal rules govern that two systems communicate with each other via an interface, that is, a communication channel. The idea here is to verify that the format and the message communication across the interface of the modules works for an extended period.</a:t>
            </a:r>
            <a:endParaRPr lang="en-US" b="1" dirty="0" smtClean="0">
              <a:latin typeface="Times New Roman" panose="02020603050405020304" pitchFamily="18" charset="0"/>
            </a:endParaRPr>
          </a:p>
        </p:txBody>
      </p:sp>
    </p:spTree>
    <p:extLst>
      <p:ext uri="{BB962C8B-B14F-4D97-AF65-F5344CB8AC3E}">
        <p14:creationId xmlns:p14="http://schemas.microsoft.com/office/powerpoint/2010/main" val="23377981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pPr/>
              <a:t>30</a:t>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smtClean="0"/>
              <a:t>Off-The-Shelf Component Integration</a:t>
            </a:r>
            <a:endParaRPr lang="en-US" dirty="0" smtClean="0">
              <a:latin typeface="Times New Roman" panose="02020603050405020304" pitchFamily="18" charset="0"/>
            </a:endParaRPr>
          </a:p>
        </p:txBody>
      </p:sp>
      <p:sp>
        <p:nvSpPr>
          <p:cNvPr id="40964" name="Rectangle 3"/>
          <p:cNvSpPr>
            <a:spLocks noGrp="1" noChangeArrowheads="1"/>
          </p:cNvSpPr>
          <p:nvPr>
            <p:ph type="body" idx="4294967295"/>
          </p:nvPr>
        </p:nvSpPr>
        <p:spPr/>
        <p:txBody>
          <a:bodyPr>
            <a:normAutofit fontScale="85000" lnSpcReduction="20000"/>
          </a:bodyPr>
          <a:lstStyle/>
          <a:p>
            <a:pPr marL="0" indent="0">
              <a:buNone/>
            </a:pPr>
            <a:r>
              <a:rPr lang="en-US" dirty="0"/>
              <a:t>Instead of developing a software component from scratch, organizations </a:t>
            </a:r>
            <a:r>
              <a:rPr lang="en-US" dirty="0" smtClean="0"/>
              <a:t>occasionally </a:t>
            </a:r>
            <a:r>
              <a:rPr lang="en-US" dirty="0"/>
              <a:t>purchase off-the-shelf (OTS) components form third-party vendors and integrate them with their </a:t>
            </a:r>
            <a:r>
              <a:rPr lang="en-US" dirty="0" smtClean="0"/>
              <a:t>own components </a:t>
            </a:r>
          </a:p>
          <a:p>
            <a:pPr marL="0" indent="0">
              <a:buNone/>
            </a:pPr>
            <a:r>
              <a:rPr lang="en-US" dirty="0" err="1"/>
              <a:t>Vigder</a:t>
            </a:r>
            <a:r>
              <a:rPr lang="en-US" dirty="0"/>
              <a:t> and Dean [9] have presented elements of an architecture for </a:t>
            </a:r>
            <a:r>
              <a:rPr lang="en-US" dirty="0" smtClean="0"/>
              <a:t>integration </a:t>
            </a:r>
            <a:r>
              <a:rPr lang="en-US" dirty="0"/>
              <a:t>and have defined rules that facilitate integration of components. </a:t>
            </a:r>
            <a:endParaRPr lang="en-US" dirty="0" smtClean="0"/>
          </a:p>
          <a:p>
            <a:pPr marL="0" indent="0">
              <a:buNone/>
            </a:pPr>
            <a:r>
              <a:rPr lang="en-US" dirty="0" smtClean="0"/>
              <a:t>They </a:t>
            </a:r>
            <a:r>
              <a:rPr lang="en-US" dirty="0"/>
              <a:t>have identified a useful set of supporting components for integrating the actual, </a:t>
            </a:r>
            <a:r>
              <a:rPr lang="en-US" dirty="0" smtClean="0"/>
              <a:t>serving </a:t>
            </a:r>
            <a:r>
              <a:rPr lang="en-US" dirty="0"/>
              <a:t>components. The supporting components are wrappers, glue, and tailoring</a:t>
            </a:r>
            <a:r>
              <a:rPr lang="en-US" dirty="0" smtClean="0"/>
              <a:t>.</a:t>
            </a:r>
          </a:p>
          <a:p>
            <a:pPr marL="0" indent="0">
              <a:buNone/>
            </a:pPr>
            <a:r>
              <a:rPr lang="en-US" dirty="0" err="1"/>
              <a:t>Rine</a:t>
            </a:r>
            <a:r>
              <a:rPr lang="en-US" dirty="0"/>
              <a:t> et al. [10] have proposed the concept of adapters to integrate components. </a:t>
            </a:r>
            <a:endParaRPr lang="en-US" dirty="0" smtClean="0"/>
          </a:p>
          <a:p>
            <a:pPr marL="0" indent="0">
              <a:buNone/>
            </a:pPr>
            <a:r>
              <a:rPr lang="en-US" dirty="0" smtClean="0"/>
              <a:t>An </a:t>
            </a:r>
            <a:r>
              <a:rPr lang="en-US" dirty="0"/>
              <a:t>adapter is associated with each component; the adapter runs an interaction protocol to </a:t>
            </a:r>
            <a:r>
              <a:rPr lang="en-US" dirty="0" smtClean="0"/>
              <a:t>manage </a:t>
            </a:r>
            <a:r>
              <a:rPr lang="en-US" dirty="0"/>
              <a:t>communications among the components. </a:t>
            </a:r>
            <a:endParaRPr lang="en-US" dirty="0" smtClean="0"/>
          </a:p>
          <a:p>
            <a:pPr marL="0" indent="0">
              <a:buNone/>
            </a:pPr>
            <a:r>
              <a:rPr lang="en-US" dirty="0" smtClean="0"/>
              <a:t>Components </a:t>
            </a:r>
            <a:r>
              <a:rPr lang="en-US" dirty="0"/>
              <a:t>request services from others through their associated adapters. </a:t>
            </a:r>
            <a:endParaRPr lang="en-US" dirty="0" smtClean="0"/>
          </a:p>
          <a:p>
            <a:pPr marL="0" indent="0">
              <a:buNone/>
            </a:pPr>
            <a:r>
              <a:rPr lang="en-US" dirty="0" smtClean="0"/>
              <a:t>An </a:t>
            </a:r>
            <a:r>
              <a:rPr lang="en-US" dirty="0"/>
              <a:t>adapter is responsible for resolving any syntactic interface mismatch.</a:t>
            </a:r>
            <a:endParaRPr lang="en-US" b="1" dirty="0" smtClean="0">
              <a:latin typeface="Times New Roman" panose="02020603050405020304" pitchFamily="18" charset="0"/>
            </a:endParaRPr>
          </a:p>
        </p:txBody>
      </p:sp>
    </p:spTree>
    <p:extLst>
      <p:ext uri="{BB962C8B-B14F-4D97-AF65-F5344CB8AC3E}">
        <p14:creationId xmlns:p14="http://schemas.microsoft.com/office/powerpoint/2010/main" val="7930572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pPr/>
              <a:t>31</a:t>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smtClean="0"/>
              <a:t>Off-The-Shelf Component Integration</a:t>
            </a:r>
            <a:endParaRPr lang="en-US" dirty="0" smtClean="0">
              <a:latin typeface="Times New Roman" panose="02020603050405020304" pitchFamily="18" charset="0"/>
            </a:endParaRPr>
          </a:p>
        </p:txBody>
      </p:sp>
      <p:sp>
        <p:nvSpPr>
          <p:cNvPr id="40964" name="Rectangle 3"/>
          <p:cNvSpPr>
            <a:spLocks noGrp="1" noChangeArrowheads="1"/>
          </p:cNvSpPr>
          <p:nvPr>
            <p:ph type="body" idx="4294967295"/>
          </p:nvPr>
        </p:nvSpPr>
        <p:spPr/>
        <p:txBody>
          <a:bodyPr>
            <a:normAutofit/>
          </a:bodyPr>
          <a:lstStyle/>
          <a:p>
            <a:pPr marL="0" indent="0">
              <a:buNone/>
            </a:pPr>
            <a:r>
              <a:rPr lang="en-US" dirty="0"/>
              <a:t>A wrapper is a piece of code that one builds to isolate the underlying </a:t>
            </a:r>
            <a:r>
              <a:rPr lang="en-US" dirty="0" smtClean="0"/>
              <a:t>components </a:t>
            </a:r>
            <a:r>
              <a:rPr lang="en-US" dirty="0"/>
              <a:t>from other components of the system</a:t>
            </a:r>
            <a:r>
              <a:rPr lang="en-US" dirty="0" smtClean="0"/>
              <a:t>.</a:t>
            </a:r>
          </a:p>
          <a:p>
            <a:pPr marL="0" indent="0">
              <a:buNone/>
            </a:pPr>
            <a:r>
              <a:rPr lang="en-US" dirty="0"/>
              <a:t>Here isolate means putting restrictions around the underlying component to constrain its capabilities</a:t>
            </a:r>
            <a:r>
              <a:rPr lang="en-US" dirty="0" smtClean="0"/>
              <a:t>.</a:t>
            </a:r>
          </a:p>
          <a:p>
            <a:pPr marL="0" indent="0">
              <a:buNone/>
            </a:pPr>
            <a:r>
              <a:rPr lang="en-US" dirty="0"/>
              <a:t>A glue component provides the functionality to combine different components. </a:t>
            </a:r>
            <a:endParaRPr lang="en-US" b="1" dirty="0" smtClean="0">
              <a:latin typeface="Times New Roman" panose="02020603050405020304" pitchFamily="18" charset="0"/>
            </a:endParaRPr>
          </a:p>
        </p:txBody>
      </p:sp>
    </p:spTree>
    <p:extLst>
      <p:ext uri="{BB962C8B-B14F-4D97-AF65-F5344CB8AC3E}">
        <p14:creationId xmlns:p14="http://schemas.microsoft.com/office/powerpoint/2010/main" val="31287505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pPr/>
              <a:t>32</a:t>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a:t>Off-the-Shelf Component Testing</a:t>
            </a:r>
            <a:endParaRPr lang="en-US" dirty="0" smtClean="0">
              <a:latin typeface="Times New Roman" panose="02020603050405020304" pitchFamily="18" charset="0"/>
            </a:endParaRPr>
          </a:p>
        </p:txBody>
      </p:sp>
      <p:sp>
        <p:nvSpPr>
          <p:cNvPr id="40964" name="Rectangle 3"/>
          <p:cNvSpPr>
            <a:spLocks noGrp="1" noChangeArrowheads="1"/>
          </p:cNvSpPr>
          <p:nvPr>
            <p:ph type="body" idx="4294967295"/>
          </p:nvPr>
        </p:nvSpPr>
        <p:spPr/>
        <p:txBody>
          <a:bodyPr>
            <a:normAutofit/>
          </a:bodyPr>
          <a:lstStyle/>
          <a:p>
            <a:pPr marL="0" indent="0">
              <a:buNone/>
            </a:pPr>
            <a:r>
              <a:rPr lang="en-US" dirty="0"/>
              <a:t>Buyer organizations perform two types of testing on an OTS component before purchasing: (</a:t>
            </a:r>
            <a:r>
              <a:rPr lang="en-US" dirty="0" err="1"/>
              <a:t>i</a:t>
            </a:r>
            <a:r>
              <a:rPr lang="en-US" dirty="0"/>
              <a:t>) acceptance testing of the OTS </a:t>
            </a:r>
            <a:r>
              <a:rPr lang="en-US" dirty="0" smtClean="0"/>
              <a:t>component (ii</a:t>
            </a:r>
            <a:r>
              <a:rPr lang="en-US" dirty="0"/>
              <a:t>) integration of the component with other components developed in-house or purchased from a third party. </a:t>
            </a:r>
            <a:endParaRPr lang="en-US" dirty="0" smtClean="0"/>
          </a:p>
          <a:p>
            <a:pPr marL="0" indent="0">
              <a:buNone/>
            </a:pPr>
            <a:r>
              <a:rPr lang="en-US" dirty="0"/>
              <a:t>During integration testing, additional software components, such as a glue or a wrapper, can be developed to bind an OTS component with other components for proper functioning</a:t>
            </a:r>
            <a:r>
              <a:rPr lang="en-US" dirty="0" smtClean="0"/>
              <a:t>.</a:t>
            </a:r>
          </a:p>
          <a:p>
            <a:pPr marL="0" indent="0">
              <a:buNone/>
            </a:pPr>
            <a:endParaRPr lang="en-US" b="1" dirty="0" smtClean="0">
              <a:latin typeface="Times New Roman" panose="02020603050405020304" pitchFamily="18" charset="0"/>
            </a:endParaRPr>
          </a:p>
        </p:txBody>
      </p:sp>
    </p:spTree>
    <p:extLst>
      <p:ext uri="{BB962C8B-B14F-4D97-AF65-F5344CB8AC3E}">
        <p14:creationId xmlns:p14="http://schemas.microsoft.com/office/powerpoint/2010/main" val="21739235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pPr/>
              <a:t>33</a:t>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a:t>Off-the-Shelf Component Testing</a:t>
            </a:r>
            <a:endParaRPr lang="en-US" dirty="0" smtClean="0">
              <a:latin typeface="Times New Roman" panose="02020603050405020304" pitchFamily="18" charset="0"/>
            </a:endParaRPr>
          </a:p>
        </p:txBody>
      </p:sp>
      <p:sp>
        <p:nvSpPr>
          <p:cNvPr id="40964" name="Rectangle 3"/>
          <p:cNvSpPr>
            <a:spLocks noGrp="1" noChangeArrowheads="1"/>
          </p:cNvSpPr>
          <p:nvPr>
            <p:ph type="body" idx="4294967295"/>
          </p:nvPr>
        </p:nvSpPr>
        <p:spPr/>
        <p:txBody>
          <a:bodyPr>
            <a:normAutofit fontScale="92500" lnSpcReduction="10000"/>
          </a:bodyPr>
          <a:lstStyle/>
          <a:p>
            <a:pPr marL="0" indent="0">
              <a:buNone/>
            </a:pPr>
            <a:r>
              <a:rPr lang="en-US" dirty="0" err="1"/>
              <a:t>Voas</a:t>
            </a:r>
            <a:r>
              <a:rPr lang="en-US" dirty="0"/>
              <a:t> [12] proposed three types of testing techniques to determine the suit ability of an OTS component</a:t>
            </a:r>
            <a:r>
              <a:rPr lang="en-US" dirty="0" smtClean="0"/>
              <a:t>:</a:t>
            </a:r>
          </a:p>
          <a:p>
            <a:pPr marL="0" indent="0">
              <a:buNone/>
            </a:pPr>
            <a:r>
              <a:rPr lang="en-US" b="1" dirty="0"/>
              <a:t>Black-Box Component Testing: </a:t>
            </a:r>
            <a:r>
              <a:rPr lang="en-US" dirty="0"/>
              <a:t>This is used to determine the quality of the component. </a:t>
            </a:r>
            <a:endParaRPr lang="en-US" dirty="0" smtClean="0"/>
          </a:p>
          <a:p>
            <a:pPr marL="0" indent="0">
              <a:buNone/>
            </a:pPr>
            <a:r>
              <a:rPr lang="en-US" b="1" dirty="0" smtClean="0"/>
              <a:t>System-Level </a:t>
            </a:r>
            <a:r>
              <a:rPr lang="en-US" b="1" dirty="0"/>
              <a:t>Fault Injection Testing: </a:t>
            </a:r>
            <a:r>
              <a:rPr lang="en-US" dirty="0"/>
              <a:t>This is used to determine how well a system will tolerate a failing component. System-level fault injection does not demonstrate the reliability of the system; instead, it can </a:t>
            </a:r>
            <a:r>
              <a:rPr lang="en-US" dirty="0" smtClean="0"/>
              <a:t>predict </a:t>
            </a:r>
            <a:r>
              <a:rPr lang="en-US" dirty="0"/>
              <a:t>the behavior of the system if the OTS component fails</a:t>
            </a:r>
            <a:r>
              <a:rPr lang="en-US" dirty="0" smtClean="0"/>
              <a:t>.</a:t>
            </a:r>
          </a:p>
          <a:p>
            <a:pPr marL="0" indent="0">
              <a:buNone/>
            </a:pPr>
            <a:r>
              <a:rPr lang="en-US" b="1" dirty="0"/>
              <a:t>Operational System Testing: </a:t>
            </a:r>
            <a:r>
              <a:rPr lang="en-US" dirty="0"/>
              <a:t>This kind of test is used to determine the tolerance of a software system when the OTS component is functioning correctly. Operational system testing is conducted to ensure that an OTS component is a good match for the system.</a:t>
            </a:r>
            <a:endParaRPr lang="en-US" b="1" dirty="0" smtClean="0">
              <a:latin typeface="Times New Roman" panose="02020603050405020304" pitchFamily="18" charset="0"/>
            </a:endParaRPr>
          </a:p>
        </p:txBody>
      </p:sp>
    </p:spTree>
    <p:extLst>
      <p:ext uri="{BB962C8B-B14F-4D97-AF65-F5344CB8AC3E}">
        <p14:creationId xmlns:p14="http://schemas.microsoft.com/office/powerpoint/2010/main" val="22854839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fld id="{12747CA0-6C73-4D31-8D89-163BB684E9CB}" type="slidenum">
              <a:rPr lang="en-US" sz="1000">
                <a:solidFill>
                  <a:srgbClr val="000000"/>
                </a:solidFill>
              </a:rPr>
              <a:pPr/>
              <a:t>34</a:t>
            </a:fld>
            <a:endParaRPr lang="en-US" sz="1000">
              <a:solidFill>
                <a:srgbClr val="000000"/>
              </a:solidFill>
            </a:endParaRPr>
          </a:p>
        </p:txBody>
      </p:sp>
      <p:sp>
        <p:nvSpPr>
          <p:cNvPr id="40963" name="Rectangle 2"/>
          <p:cNvSpPr>
            <a:spLocks noGrp="1" noChangeArrowheads="1"/>
          </p:cNvSpPr>
          <p:nvPr>
            <p:ph type="title" idx="4294967295"/>
          </p:nvPr>
        </p:nvSpPr>
        <p:spPr/>
        <p:txBody>
          <a:bodyPr/>
          <a:lstStyle/>
          <a:p>
            <a:r>
              <a:rPr lang="en-US" dirty="0"/>
              <a:t>Off-the-Shelf Component Testing</a:t>
            </a:r>
            <a:endParaRPr lang="en-US" dirty="0" smtClean="0">
              <a:latin typeface="Times New Roman" panose="02020603050405020304" pitchFamily="18" charset="0"/>
            </a:endParaRPr>
          </a:p>
        </p:txBody>
      </p:sp>
      <p:sp>
        <p:nvSpPr>
          <p:cNvPr id="40964" name="Rectangle 3"/>
          <p:cNvSpPr>
            <a:spLocks noGrp="1" noChangeArrowheads="1"/>
          </p:cNvSpPr>
          <p:nvPr>
            <p:ph type="body" idx="4294967295"/>
          </p:nvPr>
        </p:nvSpPr>
        <p:spPr>
          <a:xfrm>
            <a:off x="422787" y="1690688"/>
            <a:ext cx="10931013" cy="4801317"/>
          </a:xfrm>
        </p:spPr>
        <p:txBody>
          <a:bodyPr>
            <a:normAutofit fontScale="92500"/>
          </a:bodyPr>
          <a:lstStyle/>
          <a:p>
            <a:pPr marL="0" indent="0">
              <a:buNone/>
            </a:pPr>
            <a:r>
              <a:rPr lang="en-US" dirty="0"/>
              <a:t>Several related artefacts should be archived and/or modified for each COTS component, because a potential buyer may demand these artifacts to be of high </a:t>
            </a:r>
            <a:r>
              <a:rPr lang="en-US" dirty="0" smtClean="0"/>
              <a:t>quality</a:t>
            </a:r>
          </a:p>
          <a:p>
            <a:pPr marL="0" indent="0">
              <a:buNone/>
            </a:pPr>
            <a:r>
              <a:rPr lang="en-US" dirty="0"/>
              <a:t>• Individual requirements, including the pointers between the software </a:t>
            </a:r>
            <a:r>
              <a:rPr lang="en-US" dirty="0" err="1"/>
              <a:t>func</a:t>
            </a:r>
            <a:r>
              <a:rPr lang="en-US" dirty="0"/>
              <a:t> </a:t>
            </a:r>
            <a:r>
              <a:rPr lang="en-US" dirty="0" err="1"/>
              <a:t>tional</a:t>
            </a:r>
            <a:r>
              <a:rPr lang="en-US" dirty="0"/>
              <a:t> specification and the corresponding implementations: </a:t>
            </a:r>
            <a:endParaRPr lang="en-US" dirty="0" smtClean="0"/>
          </a:p>
          <a:p>
            <a:pPr marL="0" indent="0">
              <a:buNone/>
            </a:pPr>
            <a:r>
              <a:rPr lang="en-US" dirty="0"/>
              <a:t>The test suite, including the requirement traceability matrix: </a:t>
            </a:r>
            <a:endParaRPr lang="en-US" dirty="0" smtClean="0"/>
          </a:p>
          <a:p>
            <a:pPr marL="0" indent="0">
              <a:buNone/>
            </a:pPr>
            <a:r>
              <a:rPr lang="en-US" dirty="0"/>
              <a:t>The individual pass–fail result of each test case in the test suite</a:t>
            </a:r>
            <a:r>
              <a:rPr lang="en-US" dirty="0" smtClean="0"/>
              <a:t>:</a:t>
            </a:r>
          </a:p>
          <a:p>
            <a:pPr marL="0" indent="0">
              <a:buNone/>
            </a:pPr>
            <a:r>
              <a:rPr lang="en-US" dirty="0" smtClean="0"/>
              <a:t>The </a:t>
            </a:r>
            <a:r>
              <a:rPr lang="en-US" dirty="0"/>
              <a:t>details of individual test cases, including input and expected </a:t>
            </a:r>
            <a:endParaRPr lang="en-US" dirty="0" smtClean="0"/>
          </a:p>
          <a:p>
            <a:pPr marL="0" indent="0">
              <a:buNone/>
            </a:pPr>
            <a:r>
              <a:rPr lang="en-US" dirty="0" smtClean="0"/>
              <a:t>The </a:t>
            </a:r>
            <a:r>
              <a:rPr lang="en-US" dirty="0"/>
              <a:t>system test report corresponding to the final release of the COTS component, which includes performance characteristics, scalability </a:t>
            </a:r>
            <a:r>
              <a:rPr lang="en-US" dirty="0" smtClean="0"/>
              <a:t>limitation</a:t>
            </a:r>
            <a:r>
              <a:rPr lang="en-US" dirty="0"/>
              <a:t>, stability observations, and interoperability of the COTS component:</a:t>
            </a:r>
            <a:endParaRPr lang="en-US" b="1" dirty="0" smtClean="0">
              <a:latin typeface="Times New Roman" panose="02020603050405020304" pitchFamily="18" charset="0"/>
            </a:endParaRPr>
          </a:p>
        </p:txBody>
      </p:sp>
    </p:spTree>
    <p:extLst>
      <p:ext uri="{BB962C8B-B14F-4D97-AF65-F5344CB8AC3E}">
        <p14:creationId xmlns:p14="http://schemas.microsoft.com/office/powerpoint/2010/main" val="39152453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12786</TotalTime>
  <Words>4957</Words>
  <Application>Microsoft Office PowerPoint</Application>
  <PresentationFormat>Widescreen</PresentationFormat>
  <Paragraphs>452</Paragraphs>
  <Slides>34</Slides>
  <Notes>32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3" baseType="lpstr">
      <vt:lpstr>Arial</vt:lpstr>
      <vt:lpstr>Arial Black</vt:lpstr>
      <vt:lpstr>Calibri</vt:lpstr>
      <vt:lpstr>Calibri Light</vt:lpstr>
      <vt:lpstr>Comic Sans MS</vt:lpstr>
      <vt:lpstr>Google Sans Text</vt:lpstr>
      <vt:lpstr>Times New Roman</vt:lpstr>
      <vt:lpstr>Office Theme</vt:lpstr>
      <vt:lpstr>Equation</vt:lpstr>
      <vt:lpstr>Software Testing and Quality Assurance  Theory and Practice Chapter 7 System Integration Testing</vt:lpstr>
      <vt:lpstr>The Concept of Integration Testing</vt:lpstr>
      <vt:lpstr>The Concept of Integration Testing</vt:lpstr>
      <vt:lpstr> DIFFERENT TYPES OF INTERFACES AND INTERFACE ERRORS</vt:lpstr>
      <vt:lpstr> DIFFERENT TYPES OF INTERFACES AND INTERFACE ERRORS</vt:lpstr>
      <vt:lpstr> DIFFERENT TYPES OF INTERFACES AND INTERFACE ERRORS</vt:lpstr>
      <vt:lpstr> DIFFERENT TYPES OF INTERFACES AND INTERFACE ERRORS</vt:lpstr>
      <vt:lpstr> DIFFERENT TYPES OF INTERFACES AND INTERFACE ERRORS</vt:lpstr>
      <vt:lpstr>Granularity of System Integration Testing</vt:lpstr>
      <vt:lpstr>System Integration Techniques</vt:lpstr>
      <vt:lpstr>Incremental</vt:lpstr>
      <vt:lpstr>Incremental</vt:lpstr>
      <vt:lpstr>Incremental</vt:lpstr>
      <vt:lpstr>Incremental</vt:lpstr>
      <vt:lpstr>Top-down</vt:lpstr>
      <vt:lpstr>Top-down</vt:lpstr>
      <vt:lpstr>Top-down</vt:lpstr>
      <vt:lpstr>Bottom-up</vt:lpstr>
      <vt:lpstr>PowerPoint Presentation</vt:lpstr>
      <vt:lpstr>Big-bang and Sandwich</vt:lpstr>
      <vt:lpstr>Test Plans for System Integration</vt:lpstr>
      <vt:lpstr>Framework for SIT</vt:lpstr>
      <vt:lpstr>Framework for SIT</vt:lpstr>
      <vt:lpstr>Framework for SIT</vt:lpstr>
      <vt:lpstr>Framework for SIT</vt:lpstr>
      <vt:lpstr>The categories of system integration tests</vt:lpstr>
      <vt:lpstr>The categories of system integration tests</vt:lpstr>
      <vt:lpstr>The categories of system integration tests</vt:lpstr>
      <vt:lpstr>The categories of system integration tests</vt:lpstr>
      <vt:lpstr>Off-The-Shelf Component Integration</vt:lpstr>
      <vt:lpstr>Off-The-Shelf Component Integration</vt:lpstr>
      <vt:lpstr>Off-the-Shelf Component Testing</vt:lpstr>
      <vt:lpstr>Off-the-Shelf Component Testing</vt:lpstr>
      <vt:lpstr>Off-the-Shelf Component Testing</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lehmia.kiran</dc:creator>
  <cp:lastModifiedBy>Waqas</cp:lastModifiedBy>
  <cp:revision>63</cp:revision>
  <dcterms:created xsi:type="dcterms:W3CDTF">2023-11-16T03:01:55Z</dcterms:created>
  <dcterms:modified xsi:type="dcterms:W3CDTF">2026-03-18T15:46:04Z</dcterms:modified>
</cp:coreProperties>
</file>