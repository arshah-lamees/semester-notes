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11"/>
  </p:notesMasterIdLst>
  <p:sldIdLst>
    <p:sldId id="256" r:id="rId4"/>
    <p:sldId id="277" r:id="rId5"/>
    <p:sldId id="307" r:id="rId6"/>
    <p:sldId id="308" r:id="rId7"/>
    <p:sldId id="309" r:id="rId8"/>
    <p:sldId id="276" r:id="rId9"/>
    <p:sldId id="298" r:id="rId10"/>
    <p:sldId id="299" r:id="rId12"/>
    <p:sldId id="300" r:id="rId13"/>
    <p:sldId id="301" r:id="rId14"/>
    <p:sldId id="302" r:id="rId15"/>
    <p:sldId id="303" r:id="rId16"/>
    <p:sldId id="310" r:id="rId17"/>
    <p:sldId id="278" r:id="rId18"/>
    <p:sldId id="304" r:id="rId19"/>
    <p:sldId id="305" r:id="rId20"/>
    <p:sldId id="30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7" autoAdjust="0"/>
    <p:restoredTop sz="76923" autoAdjust="0"/>
  </p:normalViewPr>
  <p:slideViewPr>
    <p:cSldViewPr showGuides="1">
      <p:cViewPr varScale="1">
        <p:scale>
          <a:sx n="57" d="100"/>
          <a:sy n="57" d="100"/>
        </p:scale>
        <p:origin x="177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notesMaster" Target="notesMasters/notes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4BCF0D1-8CF6-41A8-952F-E134CB5011C3}"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15DC8AC-FA9F-43D8-AB85-82147F1DE765}"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Suitability:</a:t>
            </a:r>
            <a:r>
              <a:rPr lang="en-US" sz="1200" kern="1200" dirty="0" smtClean="0">
                <a:solidFill>
                  <a:schemeClr val="tx1"/>
                </a:solidFill>
                <a:effectLst/>
                <a:latin typeface="+mn-lt"/>
                <a:ea typeface="+mn-ea"/>
                <a:cs typeface="+mn-cs"/>
              </a:rPr>
              <a:t> An e-commerce app must have a "Shopping Cart" and "Checkout" feature. If it only lets you view items but not buy them, it lacks suitability.</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Accuracy:</a:t>
            </a:r>
            <a:r>
              <a:rPr lang="en-US" sz="1200" kern="1200" dirty="0" smtClean="0">
                <a:solidFill>
                  <a:schemeClr val="tx1"/>
                </a:solidFill>
                <a:effectLst/>
                <a:latin typeface="+mn-lt"/>
                <a:ea typeface="+mn-ea"/>
                <a:cs typeface="+mn-cs"/>
              </a:rPr>
              <a:t> A banking system must calculate the monthly interest on a savings account to the exact decimal point (e.g., $100.45$, not $100.4$ or $101.0$).</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Interoperability:</a:t>
            </a:r>
            <a:r>
              <a:rPr lang="en-US" sz="1200" kern="1200" dirty="0" smtClean="0">
                <a:solidFill>
                  <a:schemeClr val="tx1"/>
                </a:solidFill>
                <a:effectLst/>
                <a:latin typeface="+mn-lt"/>
                <a:ea typeface="+mn-ea"/>
                <a:cs typeface="+mn-cs"/>
              </a:rPr>
              <a:t> A medical records system must be able to send data to a lab's testing software via a standard format like HL7.</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Security:</a:t>
            </a:r>
            <a:r>
              <a:rPr lang="en-US" sz="1200" kern="1200" dirty="0" smtClean="0">
                <a:solidFill>
                  <a:schemeClr val="tx1"/>
                </a:solidFill>
                <a:effectLst/>
                <a:latin typeface="+mn-lt"/>
                <a:ea typeface="+mn-ea"/>
                <a:cs typeface="+mn-cs"/>
              </a:rPr>
              <a:t> A login page that masks passwords with asterisks and requires Two-Factor Authentication (2FA) for sensitive changes.</a:t>
            </a:r>
            <a:endParaRPr lang="en-US" sz="1200" kern="1200" dirty="0" smtClean="0">
              <a:solidFill>
                <a:schemeClr val="tx1"/>
              </a:solidFill>
              <a:effectLst/>
              <a:latin typeface="+mn-lt"/>
              <a:ea typeface="+mn-ea"/>
              <a:cs typeface="+mn-cs"/>
            </a:endParaRPr>
          </a:p>
          <a:p>
            <a:r>
              <a:rPr lang="en-US" sz="1200" b="1" kern="1200" dirty="0" smtClean="0">
                <a:solidFill>
                  <a:schemeClr val="tx1"/>
                </a:solidFill>
                <a:effectLst/>
                <a:latin typeface="+mn-lt"/>
                <a:ea typeface="+mn-ea"/>
                <a:cs typeface="+mn-cs"/>
              </a:rPr>
              <a:t>Functionality Compliance:</a:t>
            </a:r>
            <a:r>
              <a:rPr lang="en-US" sz="1200" kern="1200" dirty="0" smtClean="0">
                <a:solidFill>
                  <a:schemeClr val="tx1"/>
                </a:solidFill>
                <a:effectLst/>
                <a:latin typeface="+mn-lt"/>
                <a:ea typeface="+mn-ea"/>
                <a:cs typeface="+mn-cs"/>
              </a:rPr>
              <a:t> Ensuring a payroll system adheres to local tax laws (e.g., GDPR for data privacy or IRS rules for deductions).</a:t>
            </a: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815DC8AC-FA9F-43D8-AB85-82147F1DE765}"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Maturity:</a:t>
            </a:r>
            <a:r>
              <a:rPr lang="en-US" dirty="0" smtClean="0"/>
              <a:t> A software that has been in production for two years with a decreasing number of reported crashes per month.</a:t>
            </a:r>
            <a:endParaRPr lang="en-US" dirty="0" smtClean="0"/>
          </a:p>
          <a:p>
            <a:r>
              <a:rPr lang="en-US" b="1" dirty="0" smtClean="0"/>
              <a:t>Fault Tolerance:</a:t>
            </a:r>
            <a:r>
              <a:rPr lang="en-US" dirty="0" smtClean="0"/>
              <a:t> A cloud application that continues to run even if one of the three database servers goes offline.</a:t>
            </a:r>
            <a:endParaRPr lang="en-US" dirty="0" smtClean="0"/>
          </a:p>
          <a:p>
            <a:r>
              <a:rPr lang="en-US" b="1" dirty="0" smtClean="0"/>
              <a:t>Recoverability:</a:t>
            </a:r>
            <a:r>
              <a:rPr lang="en-US" dirty="0" smtClean="0"/>
              <a:t> After a sudden power outage, a word processor opens a "recovered" version of the document the user was typing.</a:t>
            </a:r>
            <a:endParaRPr lang="en-US" dirty="0" smtClean="0"/>
          </a:p>
          <a:p>
            <a:r>
              <a:rPr lang="en-US" b="1" dirty="0" smtClean="0"/>
              <a:t>Reliability Compliance:</a:t>
            </a:r>
            <a:r>
              <a:rPr lang="en-US" dirty="0" smtClean="0"/>
              <a:t> Adhering to "Five Nines" (99.999%) uptime standards required by an Internal Service Level Agreement (SLA).</a:t>
            </a:r>
            <a:endParaRPr lang="en-US" dirty="0" smtClean="0"/>
          </a:p>
          <a:p>
            <a:endParaRPr lang="en-US" dirty="0"/>
          </a:p>
        </p:txBody>
      </p:sp>
      <p:sp>
        <p:nvSpPr>
          <p:cNvPr id="4" name="Slide Number Placeholder 3"/>
          <p:cNvSpPr>
            <a:spLocks noGrp="1"/>
          </p:cNvSpPr>
          <p:nvPr>
            <p:ph type="sldNum" sz="quarter" idx="10"/>
          </p:nvPr>
        </p:nvSpPr>
        <p:spPr/>
        <p:txBody>
          <a:bodyPr/>
          <a:lstStyle/>
          <a:p>
            <a:fld id="{815DC8AC-FA9F-43D8-AB85-82147F1DE765}"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Understandability:</a:t>
            </a:r>
            <a:r>
              <a:rPr lang="en-US" dirty="0" smtClean="0"/>
              <a:t> A user looks at an icon of a "floppy disk" and immediately understands that clicking it will save their work.</a:t>
            </a:r>
            <a:endParaRPr lang="en-US" dirty="0" smtClean="0"/>
          </a:p>
          <a:p>
            <a:r>
              <a:rPr lang="en-US" b="1" dirty="0" smtClean="0"/>
              <a:t>Learnability:</a:t>
            </a:r>
            <a:r>
              <a:rPr lang="en-US" dirty="0" smtClean="0"/>
              <a:t> A new user can complete their first booking on a travel site within 5 minutes without reading a manual.</a:t>
            </a:r>
            <a:endParaRPr lang="en-US" dirty="0" smtClean="0"/>
          </a:p>
          <a:p>
            <a:r>
              <a:rPr lang="en-US" b="1" dirty="0" smtClean="0"/>
              <a:t>Operability:</a:t>
            </a:r>
            <a:r>
              <a:rPr lang="en-US" dirty="0" smtClean="0"/>
              <a:t> A professional video editor providing "Hotkeys" (e.g., </a:t>
            </a:r>
            <a:r>
              <a:rPr lang="en-US" dirty="0" err="1" smtClean="0"/>
              <a:t>Ctrl+C</a:t>
            </a:r>
            <a:r>
              <a:rPr lang="en-US" dirty="0" smtClean="0"/>
              <a:t>, </a:t>
            </a:r>
            <a:r>
              <a:rPr lang="en-US" dirty="0" err="1" smtClean="0"/>
              <a:t>Ctrl+V</a:t>
            </a:r>
            <a:r>
              <a:rPr lang="en-US" dirty="0" smtClean="0"/>
              <a:t>) so power users can work faster.</a:t>
            </a:r>
            <a:endParaRPr lang="en-US" dirty="0" smtClean="0"/>
          </a:p>
          <a:p>
            <a:r>
              <a:rPr lang="en-US" b="1" dirty="0" smtClean="0"/>
              <a:t>Attractiveness:</a:t>
            </a:r>
            <a:r>
              <a:rPr lang="en-US" dirty="0" smtClean="0"/>
              <a:t> A mobile app using a consistent color palette, readable fonts, and balanced whitespace to prevent eye strain.</a:t>
            </a:r>
            <a:endParaRPr lang="en-US" dirty="0" smtClean="0"/>
          </a:p>
          <a:p>
            <a:r>
              <a:rPr lang="en-US" b="1" dirty="0" smtClean="0"/>
              <a:t>Usability Compliance:</a:t>
            </a:r>
            <a:r>
              <a:rPr lang="en-US" dirty="0" smtClean="0"/>
              <a:t> Meeting </a:t>
            </a:r>
            <a:r>
              <a:rPr lang="en-US" b="1" dirty="0" smtClean="0"/>
              <a:t>WCAG 2.1</a:t>
            </a:r>
            <a:r>
              <a:rPr lang="en-US" dirty="0" smtClean="0"/>
              <a:t> accessibility standards so that visually impaired users can use the software with screen readers.</a:t>
            </a:r>
            <a:endParaRPr lang="en-US" dirty="0" smtClean="0"/>
          </a:p>
          <a:p>
            <a:endParaRPr lang="en-US" dirty="0"/>
          </a:p>
        </p:txBody>
      </p:sp>
      <p:sp>
        <p:nvSpPr>
          <p:cNvPr id="4" name="Slide Number Placeholder 3"/>
          <p:cNvSpPr>
            <a:spLocks noGrp="1"/>
          </p:cNvSpPr>
          <p:nvPr>
            <p:ph type="sldNum" sz="quarter" idx="10"/>
          </p:nvPr>
        </p:nvSpPr>
        <p:spPr/>
        <p:txBody>
          <a:bodyPr/>
          <a:lstStyle/>
          <a:p>
            <a:fld id="{815DC8AC-FA9F-43D8-AB85-82147F1DE765}"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Time Behavior:</a:t>
            </a:r>
            <a:r>
              <a:rPr lang="en-US" dirty="0" smtClean="0"/>
              <a:t> A search engine returns results in less than 0.5 seconds after the user hits "Enter."</a:t>
            </a:r>
            <a:endParaRPr lang="en-US" dirty="0" smtClean="0"/>
          </a:p>
          <a:p>
            <a:r>
              <a:rPr lang="en-US" b="1" dirty="0" smtClean="0"/>
              <a:t>Resource Utilization:</a:t>
            </a:r>
            <a:r>
              <a:rPr lang="en-US" dirty="0" smtClean="0"/>
              <a:t> A mobile game that provides high-quality graphics without draining more than 10% of the phone's battery per hour.</a:t>
            </a:r>
            <a:endParaRPr lang="en-US" dirty="0" smtClean="0"/>
          </a:p>
          <a:p>
            <a:r>
              <a:rPr lang="en-US" b="1" dirty="0" smtClean="0"/>
              <a:t>Efficiency Compliance:</a:t>
            </a:r>
            <a:r>
              <a:rPr lang="en-US" dirty="0" smtClean="0"/>
              <a:t> Ensuring the software does not exceed the maximum memory limit (RAM) specified in the system requirements.</a:t>
            </a:r>
            <a:endParaRPr lang="en-US" dirty="0" smtClean="0"/>
          </a:p>
          <a:p>
            <a:endParaRPr lang="en-US" dirty="0"/>
          </a:p>
        </p:txBody>
      </p:sp>
      <p:sp>
        <p:nvSpPr>
          <p:cNvPr id="4" name="Slide Number Placeholder 3"/>
          <p:cNvSpPr>
            <a:spLocks noGrp="1"/>
          </p:cNvSpPr>
          <p:nvPr>
            <p:ph type="sldNum" sz="quarter" idx="10"/>
          </p:nvPr>
        </p:nvSpPr>
        <p:spPr/>
        <p:txBody>
          <a:bodyPr/>
          <a:lstStyle/>
          <a:p>
            <a:fld id="{815DC8AC-FA9F-43D8-AB85-82147F1DE765}"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Analyzability:</a:t>
            </a:r>
            <a:r>
              <a:rPr lang="en-US" dirty="0" smtClean="0"/>
              <a:t> A system that produces detailed error logs, allowing a developer to find the exact line of code where a crash occurred.</a:t>
            </a:r>
            <a:endParaRPr lang="en-US" dirty="0" smtClean="0"/>
          </a:p>
          <a:p>
            <a:r>
              <a:rPr lang="en-US" b="1" dirty="0" smtClean="0"/>
              <a:t>Changeability:</a:t>
            </a:r>
            <a:r>
              <a:rPr lang="en-US" dirty="0" smtClean="0"/>
              <a:t> A website designed with a </a:t>
            </a:r>
            <a:r>
              <a:rPr lang="en-US" b="1" dirty="0" smtClean="0"/>
              <a:t>CMS</a:t>
            </a:r>
            <a:r>
              <a:rPr lang="en-US" dirty="0" smtClean="0"/>
              <a:t> (like WordPress) where a user can change the logo in one place, and it updates across the entire site instantly.</a:t>
            </a:r>
            <a:endParaRPr lang="en-US" dirty="0" smtClean="0"/>
          </a:p>
          <a:p>
            <a:r>
              <a:rPr lang="en-US" b="1" dirty="0" smtClean="0"/>
              <a:t>Stability:</a:t>
            </a:r>
            <a:r>
              <a:rPr lang="en-US" dirty="0" smtClean="0"/>
              <a:t> A developer makes a change to the "Add to Cart" button, and it doesn't accidentally break the "Login" functionality (often verified by regression testing).</a:t>
            </a:r>
            <a:endParaRPr lang="en-US" dirty="0" smtClean="0"/>
          </a:p>
          <a:p>
            <a:r>
              <a:rPr lang="en-US" b="1" dirty="0" smtClean="0"/>
              <a:t>Testability:</a:t>
            </a:r>
            <a:r>
              <a:rPr lang="en-US" dirty="0" smtClean="0"/>
              <a:t> A software architecture where modules are decoupled, allowing a tester to run unit tests on the "Payment Module" without needing the "Shipping Module" to be finished.</a:t>
            </a:r>
            <a:endParaRPr lang="en-US" dirty="0" smtClean="0"/>
          </a:p>
          <a:p>
            <a:r>
              <a:rPr lang="en-US" b="1" dirty="0" smtClean="0"/>
              <a:t>Maintainability Compliance:</a:t>
            </a:r>
            <a:r>
              <a:rPr lang="en-US" dirty="0" smtClean="0"/>
              <a:t> Following a specific coding standard (like PEP 8 for Python) to ensure all developers can read each other's code.</a:t>
            </a:r>
            <a:endParaRPr lang="en-US" dirty="0" smtClean="0"/>
          </a:p>
          <a:p>
            <a:endParaRPr lang="en-US" dirty="0"/>
          </a:p>
        </p:txBody>
      </p:sp>
      <p:sp>
        <p:nvSpPr>
          <p:cNvPr id="4" name="Slide Number Placeholder 3"/>
          <p:cNvSpPr>
            <a:spLocks noGrp="1"/>
          </p:cNvSpPr>
          <p:nvPr>
            <p:ph type="sldNum" sz="quarter" idx="10"/>
          </p:nvPr>
        </p:nvSpPr>
        <p:spPr/>
        <p:txBody>
          <a:bodyPr/>
          <a:lstStyle/>
          <a:p>
            <a:fld id="{815DC8AC-FA9F-43D8-AB85-82147F1DE765}"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Adaptability:</a:t>
            </a:r>
            <a:r>
              <a:rPr lang="en-US" dirty="0" smtClean="0"/>
              <a:t> A web browser that works equally well on a 27-inch monitor and a 5-inch smartphone screen (Responsive Design).</a:t>
            </a:r>
            <a:endParaRPr lang="en-US" dirty="0" smtClean="0"/>
          </a:p>
          <a:p>
            <a:r>
              <a:rPr lang="en-US" b="1" dirty="0" err="1" smtClean="0"/>
              <a:t>Installability</a:t>
            </a:r>
            <a:r>
              <a:rPr lang="en-US" b="1" dirty="0" smtClean="0"/>
              <a:t>:</a:t>
            </a:r>
            <a:r>
              <a:rPr lang="en-US" dirty="0" smtClean="0"/>
              <a:t> A software package that provides a "Setup Wizard" which handles all file placements and registry entries automatically.</a:t>
            </a:r>
            <a:endParaRPr lang="en-US" dirty="0" smtClean="0"/>
          </a:p>
          <a:p>
            <a:r>
              <a:rPr lang="en-US" b="1" dirty="0" smtClean="0"/>
              <a:t>Co-existence:</a:t>
            </a:r>
            <a:r>
              <a:rPr lang="en-US" dirty="0" smtClean="0"/>
              <a:t> A new antivirus program that can run on a computer without crashing the existing firewall software.</a:t>
            </a:r>
            <a:endParaRPr lang="en-US" dirty="0" smtClean="0"/>
          </a:p>
          <a:p>
            <a:r>
              <a:rPr lang="en-US" b="1" dirty="0" err="1" smtClean="0"/>
              <a:t>Replaceability</a:t>
            </a:r>
            <a:r>
              <a:rPr lang="en-US" b="1" dirty="0" smtClean="0"/>
              <a:t>:</a:t>
            </a:r>
            <a:r>
              <a:rPr lang="en-US" dirty="0" smtClean="0"/>
              <a:t> A company switches their database from Oracle to PostgreSQL, and the application layer only requires a minor configuration change to keep working.</a:t>
            </a:r>
            <a:endParaRPr lang="en-US" dirty="0" smtClean="0"/>
          </a:p>
          <a:p>
            <a:r>
              <a:rPr lang="en-US" b="1" dirty="0" smtClean="0"/>
              <a:t>Portability Compliance:</a:t>
            </a:r>
            <a:r>
              <a:rPr lang="en-US" dirty="0" smtClean="0"/>
              <a:t> A mobile app that adheres to both Apple App Store and Google Play Store submission guidelines.</a:t>
            </a:r>
            <a:endParaRPr lang="en-US" dirty="0" smtClean="0"/>
          </a:p>
          <a:p>
            <a:endParaRPr lang="en-US" dirty="0"/>
          </a:p>
        </p:txBody>
      </p:sp>
      <p:sp>
        <p:nvSpPr>
          <p:cNvPr id="4" name="Slide Number Placeholder 3"/>
          <p:cNvSpPr>
            <a:spLocks noGrp="1"/>
          </p:cNvSpPr>
          <p:nvPr>
            <p:ph type="sldNum" sz="quarter" idx="10"/>
          </p:nvPr>
        </p:nvSpPr>
        <p:spPr/>
        <p:txBody>
          <a:bodyPr/>
          <a:lstStyle/>
          <a:p>
            <a:fld id="{815DC8AC-FA9F-43D8-AB85-82147F1DE765}" type="slidenum">
              <a:rPr lang="en-US" smtClean="0"/>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1. Security (Functionality) vs. Usability</a:t>
            </a:r>
            <a:endParaRPr lang="en-US" b="1" dirty="0" smtClean="0"/>
          </a:p>
          <a:p>
            <a:r>
              <a:rPr lang="en-US" b="1" dirty="0" smtClean="0"/>
              <a:t>The Conflict:</a:t>
            </a:r>
            <a:r>
              <a:rPr lang="en-US" dirty="0" smtClean="0"/>
              <a:t> High security requires complex passwords, biometric scans, and 2-factor authentication.</a:t>
            </a:r>
            <a:endParaRPr lang="en-US" dirty="0" smtClean="0"/>
          </a:p>
          <a:p>
            <a:r>
              <a:rPr lang="en-US" b="1" dirty="0" smtClean="0"/>
              <a:t>The Result:</a:t>
            </a:r>
            <a:r>
              <a:rPr lang="en-US" dirty="0" smtClean="0"/>
              <a:t> While the system is more secure, the user experience becomes "heavier" and less convenient, decreasing Usability.</a:t>
            </a:r>
            <a:endParaRPr lang="en-US" dirty="0" smtClean="0"/>
          </a:p>
          <a:p>
            <a:r>
              <a:rPr lang="en-US" b="1" dirty="0" smtClean="0"/>
              <a:t>2. Efficiency vs. Maintainability</a:t>
            </a:r>
            <a:endParaRPr lang="en-US" b="1" dirty="0" smtClean="0"/>
          </a:p>
          <a:p>
            <a:r>
              <a:rPr lang="en-US" b="1" dirty="0" smtClean="0"/>
              <a:t>The Conflict:</a:t>
            </a:r>
            <a:r>
              <a:rPr lang="en-US" dirty="0" smtClean="0"/>
              <a:t> To make a program run lightning-fast (Efficiency), developers often use "low-level" optimizations, complex algorithms, or "clever" code tricks.</a:t>
            </a:r>
            <a:endParaRPr lang="en-US" dirty="0" smtClean="0"/>
          </a:p>
          <a:p>
            <a:r>
              <a:rPr lang="en-US" b="1" dirty="0" smtClean="0"/>
              <a:t>The Result:</a:t>
            </a:r>
            <a:r>
              <a:rPr lang="en-US" dirty="0" smtClean="0"/>
              <a:t> This code is usually very hard for a new developer to read or fix, which severely hurts Maintainability.</a:t>
            </a:r>
            <a:endParaRPr lang="en-US" dirty="0" smtClean="0"/>
          </a:p>
          <a:p>
            <a:r>
              <a:rPr lang="en-US" b="1" dirty="0" smtClean="0"/>
              <a:t>3. Reliability vs. Efficiency</a:t>
            </a:r>
            <a:endParaRPr lang="en-US" b="1" dirty="0" smtClean="0"/>
          </a:p>
          <a:p>
            <a:r>
              <a:rPr lang="en-US" b="1" dirty="0" smtClean="0"/>
              <a:t>The Conflict:</a:t>
            </a:r>
            <a:r>
              <a:rPr lang="en-US" dirty="0" smtClean="0"/>
              <a:t> High Reliability requires redundancy (e.g., keeping three copies of a database) and error-checking routines that run in the background.</a:t>
            </a:r>
            <a:endParaRPr lang="en-US" dirty="0" smtClean="0"/>
          </a:p>
          <a:p>
            <a:r>
              <a:rPr lang="en-US" b="1" dirty="0" smtClean="0"/>
              <a:t>The Result:</a:t>
            </a:r>
            <a:r>
              <a:rPr lang="en-US" dirty="0" smtClean="0"/>
              <a:t> These background checks and redundant systems consume extra CPU and Memory, reducing the overall Efficiency of the software.</a:t>
            </a:r>
            <a:endParaRPr lang="en-US" dirty="0" smtClean="0"/>
          </a:p>
          <a:p>
            <a:r>
              <a:rPr lang="en-US" b="1" dirty="0" smtClean="0"/>
              <a:t>4. Portability vs. Efficiency</a:t>
            </a:r>
            <a:endParaRPr lang="en-US" b="1" dirty="0" smtClean="0"/>
          </a:p>
          <a:p>
            <a:r>
              <a:rPr lang="en-US" b="1" dirty="0" smtClean="0"/>
              <a:t>The Conflict:</a:t>
            </a:r>
            <a:r>
              <a:rPr lang="en-US" dirty="0" smtClean="0"/>
              <a:t> To make software run on any OS (Portability), you often use a virtual machine layer (like Java) or "generic" code that doesn't use specific hardware features.</a:t>
            </a:r>
            <a:endParaRPr lang="en-US" dirty="0" smtClean="0"/>
          </a:p>
          <a:p>
            <a:r>
              <a:rPr lang="en-US" b="1" dirty="0" smtClean="0"/>
              <a:t>The Result:</a:t>
            </a:r>
            <a:r>
              <a:rPr lang="en-US" dirty="0" smtClean="0"/>
              <a:t> Because the code isn't "tuned" for the specific hardware (like a specific GPU or CPU instruction set), it runs slower than native, non-portable code.</a:t>
            </a:r>
            <a:endParaRPr lang="en-US" dirty="0" smtClean="0"/>
          </a:p>
          <a:p>
            <a:endParaRPr lang="en-US" dirty="0"/>
          </a:p>
        </p:txBody>
      </p:sp>
      <p:sp>
        <p:nvSpPr>
          <p:cNvPr id="4" name="Slide Number Placeholder 3"/>
          <p:cNvSpPr>
            <a:spLocks noGrp="1"/>
          </p:cNvSpPr>
          <p:nvPr>
            <p:ph type="sldNum" sz="quarter" idx="10"/>
          </p:nvPr>
        </p:nvSpPr>
        <p:spPr/>
        <p:txBody>
          <a:bodyPr/>
          <a:lstStyle/>
          <a:p>
            <a:fld id="{815DC8AC-FA9F-43D8-AB85-82147F1DE765}" type="slidenum">
              <a:rPr lang="en-US" smtClean="0"/>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Software has both external and internal quality characteristics. External characteristics</a:t>
            </a:r>
            <a:endParaRPr lang="en-US" dirty="0" smtClean="0"/>
          </a:p>
          <a:p>
            <a:r>
              <a:rPr lang="en-US" dirty="0" smtClean="0"/>
              <a:t>are characteristics that a user of the software product is aware of, including the following:</a:t>
            </a:r>
            <a:endParaRPr lang="en-US" dirty="0"/>
          </a:p>
        </p:txBody>
      </p:sp>
      <p:sp>
        <p:nvSpPr>
          <p:cNvPr id="4" name="Slide Number Placeholder 3"/>
          <p:cNvSpPr>
            <a:spLocks noGrp="1"/>
          </p:cNvSpPr>
          <p:nvPr>
            <p:ph type="sldNum" sz="quarter" idx="10"/>
          </p:nvPr>
        </p:nvSpPr>
        <p:spPr/>
        <p:txBody>
          <a:bodyPr/>
          <a:lstStyle/>
          <a:p>
            <a:fld id="{75A1A041-4196-4BEE-9B3F-93D32941551A}" type="slidenum">
              <a:rPr lang="en-US" smtClean="0"/>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dirty="0" smtClean="0"/>
              <a:t>Focus</a:t>
            </a:r>
            <a:r>
              <a:rPr lang="en-US" baseline="0" dirty="0" smtClean="0"/>
              <a:t> on adaptability helps robustness</a:t>
            </a:r>
            <a:endParaRPr lang="en-US" baseline="0" dirty="0" smtClean="0"/>
          </a:p>
          <a:p>
            <a:r>
              <a:rPr lang="en-US" baseline="0" dirty="0" smtClean="0"/>
              <a:t>Focus on correctness hurts robustness</a:t>
            </a:r>
            <a:endParaRPr lang="en-US" baseline="0" dirty="0" smtClean="0"/>
          </a:p>
          <a:p>
            <a:endParaRPr lang="en-US" baseline="0" dirty="0" smtClean="0"/>
          </a:p>
          <a:p>
            <a:r>
              <a:rPr lang="en-US" b="1" smtClean="0"/>
              <a:t>Increases Efficiency</a:t>
            </a:r>
            <a:r>
              <a:rPr lang="en-US" smtClean="0"/>
              <a:t>: A correct system avoids wasted resources. Errors and bugs often lead to an application running inefficiently, consuming unnecessary CPU, memory, or disk space as it attempts to handle invalid states or processes. Correct code follows the most direct and optimized path to a solution, thereby increasing efficiency.</a:t>
            </a:r>
            <a:endParaRPr lang="en-US" smtClean="0"/>
          </a:p>
          <a:p>
            <a:r>
              <a:rPr lang="en-US" b="1" smtClean="0"/>
              <a:t>Example</a:t>
            </a:r>
            <a:r>
              <a:rPr lang="en-US" smtClean="0"/>
              <a:t>: An e-commerce website with a bug in its search function might run unnecessary database queries, slowing down the entire site. A correct implementation of the search function will execute only the required queries, making it faster and more efficient.</a:t>
            </a:r>
            <a:endParaRPr lang="en-US" smtClean="0"/>
          </a:p>
          <a:p>
            <a:endParaRPr lang="en-US" smtClean="0"/>
          </a:p>
          <a:p>
            <a:r>
              <a:rPr lang="en-US" b="1" smtClean="0"/>
              <a:t>Increases Reliability</a:t>
            </a:r>
            <a:r>
              <a:rPr lang="en-US" smtClean="0"/>
              <a:t>: A correct system is inherently more reliable because it's less prone to failure. Failures are often caused by logical errors, unhandled exceptions, or bugs that lead to system crashes. When the code is correct, it behaves predictably under a wide range of conditions, reducing the chance of unexpected failures.</a:t>
            </a:r>
            <a:endParaRPr lang="en-US" smtClean="0"/>
          </a:p>
          <a:p>
            <a:r>
              <a:rPr lang="en-US" b="1" smtClean="0"/>
              <a:t>Example</a:t>
            </a:r>
            <a:r>
              <a:rPr lang="en-US" smtClean="0"/>
              <a:t>: A medical device's software must be correct to be reliable. If a bug causes the system to malfunction during a patient's treatment, it's a reliability failure. Correctness ensures it operates as intended, consistently.</a:t>
            </a:r>
            <a:endParaRPr lang="en-US" smtClean="0"/>
          </a:p>
          <a:p>
            <a:endParaRPr lang="en-US" smtClean="0"/>
          </a:p>
          <a:p>
            <a:r>
              <a:rPr lang="en-US" b="1" smtClean="0"/>
              <a:t>Increases Accuracy</a:t>
            </a:r>
            <a:r>
              <a:rPr lang="en-US" smtClean="0"/>
              <a:t>: Correctness is the foundation of accuracy. If a system's logic is flawed (incorrect), its output will be inaccurate. Accuracy is the precision of a software's output, and a correct system, by definition, produces the right result.</a:t>
            </a:r>
            <a:endParaRPr lang="en-US" smtClean="0"/>
          </a:p>
          <a:p>
            <a:r>
              <a:rPr lang="en-US" b="1" smtClean="0"/>
              <a:t>Example</a:t>
            </a:r>
            <a:r>
              <a:rPr lang="en-US" smtClean="0"/>
              <a:t>: A financial application that calculates interest rates must be correct. If a bug leads to an incorrect calculation, the result will be inaccurate, potentially causing significant financial losses.</a:t>
            </a:r>
            <a:endParaRPr lang="en-US" smtClean="0"/>
          </a:p>
          <a:p>
            <a:endParaRPr lang="en-US" smtClean="0"/>
          </a:p>
          <a:p>
            <a:r>
              <a:rPr lang="en-US" b="1" smtClean="0"/>
              <a:t>How Correctness Reduces Robustness</a:t>
            </a:r>
            <a:endParaRPr lang="en-US" b="1" smtClean="0"/>
          </a:p>
          <a:p>
            <a:r>
              <a:rPr lang="en-US" smtClean="0"/>
              <a:t>While correctness is crucial, an overly rigid focus on it can sometimes lead to a decrease in </a:t>
            </a:r>
            <a:r>
              <a:rPr lang="en-US" b="1" smtClean="0"/>
              <a:t>robustness</a:t>
            </a:r>
            <a:r>
              <a:rPr lang="en-US" smtClean="0"/>
              <a:t>. Robustness is the ability of a system to handle errors gracefully and continue to function, even when faced with invalid inputs or unexpected conditions. Correctness, on the other hand, often assumes inputs are valid and conditions are ideal.</a:t>
            </a:r>
            <a:endParaRPr lang="en-US" smtClean="0"/>
          </a:p>
          <a:p>
            <a:r>
              <a:rPr lang="en-US" smtClean="0"/>
              <a:t>A software component that is "correct" may fail or crash if it receives an input that doesn't match its strict specifications. This is because its code is designed only to handle a specific, correct set of conditions and lacks the additional logic to handle errors or exceptions gracefully. A robust system, by contrast, includes extra code to anticipate and manage these "incorrect" scenarios, preventing a total failure.</a:t>
            </a:r>
            <a:endParaRPr lang="en-US" smtClean="0"/>
          </a:p>
          <a:p>
            <a:r>
              <a:rPr lang="en-US" b="1" smtClean="0"/>
              <a:t>Example</a:t>
            </a:r>
            <a:r>
              <a:rPr lang="en-US" smtClean="0"/>
              <a:t>: A function designed to process a user's age might be "correct" in that it only accepts and processes a positive integer. If a user enters a negative number or a letter, the strictly "correct" function might crash or return an unhandled error. A </a:t>
            </a:r>
            <a:r>
              <a:rPr lang="en-US" b="1" smtClean="0"/>
              <a:t>robust</a:t>
            </a:r>
            <a:r>
              <a:rPr lang="en-US" smtClean="0"/>
              <a:t> version of this function, however, would include error-handling logic (e.g., a try-catch block) to detect the invalid input and prompt the user to enter a valid age without crashing the application. In this case, the extra code for robustness adds a "controlled imperfection" to the system's simple, "correct" logic.</a:t>
            </a:r>
            <a:endParaRPr lang="en-US" smtClean="0"/>
          </a:p>
          <a:p>
            <a:endParaRPr lang="en-US" smtClean="0"/>
          </a:p>
          <a:p>
            <a:endParaRPr lang="en-US" baseline="0" smtClean="0"/>
          </a:p>
          <a:p>
            <a:endParaRPr lang="en-US" baseline="0" smtClean="0"/>
          </a:p>
          <a:p>
            <a:endParaRPr lang="en-US" dirty="0"/>
          </a:p>
        </p:txBody>
      </p:sp>
      <p:sp>
        <p:nvSpPr>
          <p:cNvPr id="4" name="Slide Number Placeholder 3"/>
          <p:cNvSpPr>
            <a:spLocks noGrp="1"/>
          </p:cNvSpPr>
          <p:nvPr>
            <p:ph type="sldNum" sz="quarter" idx="10"/>
          </p:nvPr>
        </p:nvSpPr>
        <p:spPr/>
        <p:txBody>
          <a:bodyPr/>
          <a:lstStyle/>
          <a:p>
            <a:fld id="{75A1A041-4196-4BEE-9B3F-93D32941551A}" type="slidenum">
              <a:rPr lang="en-US" smtClean="0"/>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1" dirty="0" smtClean="0"/>
              <a:t>Increases Adaptability</a:t>
            </a:r>
            <a:r>
              <a:rPr lang="en-US" dirty="0" smtClean="0"/>
              <a:t>: A usable system is often more adaptable because its clear design and user-friendly interface make it easier for users to interact with new or changed features. When a new version of the software is released or the user's environment changes (e.g., a new operating system), the user can quickly figure out how to navigate the new interface and use the new functionalities. The principles of good design—such as clear labeling, consistent navigation, and intuitive controls—transfer well across different contexts and platforms.</a:t>
            </a:r>
            <a:endParaRPr lang="en-US" dirty="0" smtClean="0"/>
          </a:p>
          <a:p>
            <a:r>
              <a:rPr lang="en-US" b="1" dirty="0" smtClean="0"/>
              <a:t>Example</a:t>
            </a:r>
            <a:r>
              <a:rPr lang="en-US" dirty="0" smtClean="0"/>
              <a:t>: An intuitive and well-designed mobile banking app that is easy to use on one platform (like iOS) is likely to be easily adaptable for users on another platform (like Android). The consistent user interface and workflow allow users to adapt to the new environment with little to no learning curve.</a:t>
            </a:r>
            <a:endParaRPr lang="en-US" dirty="0" smtClean="0"/>
          </a:p>
          <a:p>
            <a:endParaRPr lang="en-US" dirty="0" smtClean="0"/>
          </a:p>
          <a:p>
            <a:endParaRPr lang="en-US" dirty="0" smtClean="0"/>
          </a:p>
          <a:p>
            <a:r>
              <a:rPr lang="en-US" b="1" dirty="0" smtClean="0"/>
              <a:t>Increases Accuracy</a:t>
            </a:r>
            <a:r>
              <a:rPr lang="en-US" dirty="0" smtClean="0"/>
              <a:t>: Usability directly contributes to accuracy by reducing the likelihood of user errors. A well-designed user interface guides the user, making it difficult to input incorrect data or perform an unintended action. By providing clear instructions, validation feedback, and confirmation prompts, usable systems prevent mistakes before they happen.</a:t>
            </a:r>
            <a:endParaRPr lang="en-US" dirty="0" smtClean="0"/>
          </a:p>
          <a:p>
            <a:r>
              <a:rPr lang="en-US" b="1" dirty="0" smtClean="0"/>
              <a:t>Example</a:t>
            </a:r>
            <a:r>
              <a:rPr lang="en-US" dirty="0" smtClean="0"/>
              <a:t>: A form on a website that requires a user to enter their date of birth. A usable form would use a calendar widget instead of a free text field, which prevents the user from entering an invalid format (e.g., "January 1, 1990" instead of "01/01/1990"). This ensures the data entered is accurate and in the correct format.</a:t>
            </a:r>
            <a:endParaRPr lang="en-US" dirty="0" smtClean="0"/>
          </a:p>
          <a:p>
            <a:endParaRPr lang="en-US" dirty="0"/>
          </a:p>
        </p:txBody>
      </p:sp>
      <p:sp>
        <p:nvSpPr>
          <p:cNvPr id="4" name="Slide Number Placeholder 3"/>
          <p:cNvSpPr>
            <a:spLocks noGrp="1"/>
          </p:cNvSpPr>
          <p:nvPr>
            <p:ph type="sldNum" sz="quarter" idx="10"/>
          </p:nvPr>
        </p:nvSpPr>
        <p:spPr/>
        <p:txBody>
          <a:bodyPr/>
          <a:lstStyle/>
          <a:p>
            <a:fld id="{75A1A041-4196-4BEE-9B3F-93D32941551A}" type="slidenum">
              <a:rPr lang="en-US" smtClean="0"/>
            </a:fld>
            <a:endParaRPr lang="en-US"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r>
              <a:rPr lang="en-US" b="1" dirty="0" smtClean="0"/>
              <a:t>Decreases Correctness</a:t>
            </a:r>
            <a:r>
              <a:rPr lang="en-US" dirty="0" smtClean="0"/>
              <a:t>: Chasing maximum efficiency can lead to shortcuts in the code that introduce bugs. Developers might skip thorough validation checks or ignore edge cases to reduce processing time or memory usage, leading to incorrect behavior.</a:t>
            </a:r>
            <a:endParaRPr lang="en-US" dirty="0" smtClean="0"/>
          </a:p>
          <a:p>
            <a:r>
              <a:rPr lang="en-US" b="1" dirty="0" smtClean="0"/>
              <a:t>Example</a:t>
            </a:r>
            <a:r>
              <a:rPr lang="en-US" dirty="0" smtClean="0"/>
              <a:t>: </a:t>
            </a:r>
            <a:r>
              <a:rPr lang="en-US" b="1" dirty="0" smtClean="0"/>
              <a:t>A high-speed sorting algorithm might be optimized for a specific type of data and fail (become incorrect) if it receives a different data type. </a:t>
            </a:r>
            <a:r>
              <a:rPr lang="en-US" dirty="0" smtClean="0"/>
              <a:t>The developer, prioritizing a 10% speed gain, might not have added the necessary checks, leading to a system that works most of the time but fails on a specific set of inputs.</a:t>
            </a:r>
            <a:endParaRPr lang="en-US" dirty="0" smtClean="0"/>
          </a:p>
          <a:p>
            <a:endParaRPr lang="en-US" dirty="0" smtClean="0"/>
          </a:p>
          <a:p>
            <a:r>
              <a:rPr lang="en-US" b="1" dirty="0" smtClean="0"/>
              <a:t>Decreases Reliability</a:t>
            </a:r>
            <a:r>
              <a:rPr lang="en-US" dirty="0" smtClean="0"/>
              <a:t>: An overemphasis on efficiency can make a system less reliable. When developers eliminate all "unnecessary" code, they might remove features like redundant checks, backup processes, or graceful degradation routines. This makes the system fragile and prone to failure when faced with an unexpected condition.</a:t>
            </a:r>
            <a:endParaRPr lang="en-US" dirty="0" smtClean="0"/>
          </a:p>
          <a:p>
            <a:r>
              <a:rPr lang="en-US" b="1" dirty="0" smtClean="0"/>
              <a:t>Example</a:t>
            </a:r>
            <a:r>
              <a:rPr lang="en-US" dirty="0" smtClean="0"/>
              <a:t>: </a:t>
            </a:r>
            <a:r>
              <a:rPr lang="en-US" b="1" dirty="0" smtClean="0"/>
              <a:t>A video streaming service might be optimized for efficiency by using a single, low-latency server for all user requests</a:t>
            </a:r>
            <a:r>
              <a:rPr lang="en-US" dirty="0" smtClean="0"/>
              <a:t>. While this is fast, if that server fails, the entire system goes down, making it unreliable. A more reliable system would use redundant servers, a less efficient but more robust solution.</a:t>
            </a:r>
            <a:endParaRPr lang="en-US" dirty="0" smtClean="0"/>
          </a:p>
          <a:p>
            <a:endParaRPr lang="en-US" dirty="0" smtClean="0"/>
          </a:p>
          <a:p>
            <a:r>
              <a:rPr lang="en-US" b="1" dirty="0" smtClean="0"/>
              <a:t>Decreases Integrity</a:t>
            </a:r>
            <a:r>
              <a:rPr lang="en-US" dirty="0" smtClean="0"/>
              <a:t>: Efficiency can sometimes be at odds with data integrity. </a:t>
            </a:r>
            <a:r>
              <a:rPr lang="en-US" b="1" dirty="0" smtClean="0"/>
              <a:t>Security and integrity checks, such as data encryption and validation, require processing time </a:t>
            </a:r>
            <a:r>
              <a:rPr lang="en-US" dirty="0" smtClean="0"/>
              <a:t>and resources. To make a system "faster," a developer might reduce the strength of these checks or remove them entirely, making the system vulnerable.</a:t>
            </a:r>
            <a:endParaRPr lang="en-US" dirty="0" smtClean="0"/>
          </a:p>
          <a:p>
            <a:r>
              <a:rPr lang="en-US" b="1" dirty="0" smtClean="0"/>
              <a:t>Example</a:t>
            </a:r>
            <a:r>
              <a:rPr lang="en-US" dirty="0" smtClean="0"/>
              <a:t>: </a:t>
            </a:r>
            <a:r>
              <a:rPr lang="en-US" b="1" dirty="0" smtClean="0"/>
              <a:t>A database application might disable some integrity constraints to speed up data entry. This could allow for inconsistent or corrupted data to be entered</a:t>
            </a:r>
            <a:r>
              <a:rPr lang="en-US" dirty="0" smtClean="0"/>
              <a:t>, compromising the overall integrity of the database.</a:t>
            </a:r>
            <a:endParaRPr lang="en-US" dirty="0" smtClean="0"/>
          </a:p>
          <a:p>
            <a:endParaRPr lang="en-US" dirty="0" smtClean="0"/>
          </a:p>
          <a:p>
            <a:endParaRPr lang="en-US" dirty="0" smtClean="0"/>
          </a:p>
          <a:p>
            <a:r>
              <a:rPr lang="en-US" b="1" dirty="0" smtClean="0"/>
              <a:t>Decreases Adaptability</a:t>
            </a:r>
            <a:r>
              <a:rPr lang="en-US" dirty="0" smtClean="0"/>
              <a:t>: </a:t>
            </a:r>
            <a:r>
              <a:rPr lang="en-US" b="1" dirty="0" smtClean="0"/>
              <a:t>Highly optimized code is often tightly coupled to a specific environment or set of assumptions to achieve peak performance. </a:t>
            </a:r>
            <a:r>
              <a:rPr lang="en-US" dirty="0" smtClean="0"/>
              <a:t>This makes it difficult to modify or adapt to new requirements, hardware, or operating systems. Changes to an efficient system can require a complete rewrite rather than simple modifications.</a:t>
            </a:r>
            <a:endParaRPr lang="en-US" dirty="0" smtClean="0"/>
          </a:p>
          <a:p>
            <a:r>
              <a:rPr lang="en-US" b="1" dirty="0" smtClean="0"/>
              <a:t>Example</a:t>
            </a:r>
            <a:r>
              <a:rPr lang="en-US" dirty="0" smtClean="0"/>
              <a:t>: An application with highly optimized, platform-specific code written in Assembly Language for a particular processor might be extremely fast. However, if the company decides to port it to a different processor architecture, the code would be almost impossible to adapt and would need to be rewritten from scratch.</a:t>
            </a:r>
            <a:endParaRPr lang="en-US" dirty="0" smtClean="0"/>
          </a:p>
          <a:p>
            <a:endParaRPr lang="en-US" dirty="0" smtClean="0"/>
          </a:p>
          <a:p>
            <a:r>
              <a:rPr lang="en-US" b="1" dirty="0" smtClean="0"/>
              <a:t>Decreases Accuracy</a:t>
            </a:r>
            <a:r>
              <a:rPr lang="en-US" dirty="0" smtClean="0"/>
              <a:t>: As with correctness, extreme efficiency can lead to a decrease in accuracy. This is especially true in numerical computations where developers might use less precise data types or algorithms to save processing time and memory, resulting in less accurate outputs.</a:t>
            </a:r>
            <a:endParaRPr lang="en-US" dirty="0" smtClean="0"/>
          </a:p>
          <a:p>
            <a:r>
              <a:rPr lang="en-US" b="1" dirty="0" smtClean="0"/>
              <a:t>Example</a:t>
            </a:r>
            <a:r>
              <a:rPr lang="en-US" dirty="0" smtClean="0"/>
              <a:t>: A financial application might use single-precision floating-point numbers </a:t>
            </a:r>
            <a:r>
              <a:rPr lang="en-US" b="1" dirty="0" smtClean="0"/>
              <a:t>instead of more precise double-precision </a:t>
            </a:r>
            <a:r>
              <a:rPr lang="en-US" dirty="0" smtClean="0"/>
              <a:t>numbers to save memory and speed up calculations. While this might be efficient, the rounding errors could lead to inaccurate financial reports.</a:t>
            </a:r>
            <a:endParaRPr lang="en-US" dirty="0" smtClean="0"/>
          </a:p>
          <a:p>
            <a:endParaRPr lang="en-US" dirty="0"/>
          </a:p>
        </p:txBody>
      </p:sp>
      <p:sp>
        <p:nvSpPr>
          <p:cNvPr id="4" name="Slide Number Placeholder 3"/>
          <p:cNvSpPr>
            <a:spLocks noGrp="1"/>
          </p:cNvSpPr>
          <p:nvPr>
            <p:ph type="sldNum" sz="quarter" idx="10"/>
          </p:nvPr>
        </p:nvSpPr>
        <p:spPr/>
        <p:txBody>
          <a:bodyPr/>
          <a:lstStyle/>
          <a:p>
            <a:fld id="{75A1A041-4196-4BEE-9B3F-93D32941551A}" type="slidenum">
              <a:rPr lang="en-US" smtClean="0"/>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2"/>
      </p:bgRef>
    </p:bg>
    <p:spTree>
      <p:nvGrpSpPr>
        <p:cNvPr id="1" name=""/>
        <p:cNvGrpSpPr/>
        <p:nvPr/>
      </p:nvGrpSpPr>
      <p:grpSpPr>
        <a:xfrm>
          <a:off x="0" y="0"/>
          <a:ext cx="0" cy="0"/>
          <a:chOff x="0" y="0"/>
          <a:chExt cx="0" cy="0"/>
        </a:xfrm>
      </p:grpSpPr>
      <p:sp>
        <p:nvSpPr>
          <p:cNvPr id="7" name="Rectangle 6"/>
          <p:cNvSpPr/>
          <p:nvPr/>
        </p:nvSpPr>
        <p:spPr bwMode="white">
          <a:xfrm>
            <a:off x="0" y="5971032"/>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9144" y="6053328"/>
            <a:ext cx="2249424"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2359152" y="6044184"/>
            <a:ext cx="6784848"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kumimoji="0" lang="en-US" smtClean="0"/>
              <a:t>Click to edit Master title style</a:t>
            </a:r>
            <a:endParaRPr kumimoji="0" lang="en-US"/>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2600">
                <a:solidFill>
                  <a:srgbClr val="FFFFFF"/>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76200" y="6068699"/>
            <a:ext cx="2057400" cy="685800"/>
          </a:xfrm>
        </p:spPr>
        <p:txBody>
          <a:bodyPr>
            <a:noAutofit/>
          </a:bodyPr>
          <a:lstStyle>
            <a:lvl1pPr algn="ctr">
              <a:defRPr sz="2000">
                <a:solidFill>
                  <a:srgbClr val="FFFFFF"/>
                </a:solidFill>
              </a:defRPr>
            </a:lvl1pPr>
          </a:lstStyle>
          <a:p>
            <a:fld id="{C16AF7C5-E7A4-4886-968D-C96ADCA10EE6}" type="datetimeFigureOut">
              <a:rPr lang="en-US" smtClean="0"/>
            </a:fld>
            <a:endParaRPr lang="en-US"/>
          </a:p>
        </p:txBody>
      </p:sp>
      <p:sp>
        <p:nvSpPr>
          <p:cNvPr id="17" name="Footer Placeholder 16"/>
          <p:cNvSpPr>
            <a:spLocks noGrp="1"/>
          </p:cNvSpPr>
          <p:nvPr>
            <p:ph type="ftr" sz="quarter" idx="11"/>
          </p:nvPr>
        </p:nvSpPr>
        <p:spPr>
          <a:xfrm>
            <a:off x="2085393" y="236538"/>
            <a:ext cx="5867400" cy="365125"/>
          </a:xfrm>
        </p:spPr>
        <p:txBody>
          <a:bodyPr/>
          <a:lstStyle>
            <a:lvl1pPr algn="r">
              <a:defRPr>
                <a:solidFill>
                  <a:schemeClr val="tx2"/>
                </a:solidFill>
              </a:defRPr>
            </a:lvl1pPr>
          </a:lstStyle>
          <a:p>
            <a:endParaRPr lang="en-US"/>
          </a:p>
        </p:txBody>
      </p:sp>
      <p:sp>
        <p:nvSpPr>
          <p:cNvPr id="29" name="Slide Number Placeholder 28"/>
          <p:cNvSpPr>
            <a:spLocks noGrp="1"/>
          </p:cNvSpPr>
          <p:nvPr>
            <p:ph type="sldNum" sz="quarter" idx="12"/>
          </p:nvPr>
        </p:nvSpPr>
        <p:spPr>
          <a:xfrm>
            <a:off x="8001000" y="228600"/>
            <a:ext cx="838200" cy="381000"/>
          </a:xfrm>
        </p:spPr>
        <p:txBody>
          <a:bodyPr/>
          <a:lstStyle>
            <a:lvl1pPr>
              <a:defRPr>
                <a:solidFill>
                  <a:schemeClr val="tx2"/>
                </a:solidFill>
              </a:defRPr>
            </a:lvl1pPr>
          </a:lstStyle>
          <a:p>
            <a:fld id="{1A0B322C-6A84-4B2E-AA7C-23E8DE48639A}" type="slidenum">
              <a:rPr lang="en-US" smtClean="0"/>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16AF7C5-E7A4-4886-968D-C96ADCA10E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1A0B322C-6A84-4B2E-AA7C-23E8DE48639A}" type="slidenum">
              <a:rPr lang="en-US" smtClean="0"/>
            </a:fld>
            <a:endParaRPr lang="en-US"/>
          </a:p>
        </p:txBody>
      </p:sp>
      <p:sp>
        <p:nvSpPr>
          <p:cNvPr id="8" name="Content Placeholder 7"/>
          <p:cNvSpPr>
            <a:spLocks noGrp="1"/>
          </p:cNvSpPr>
          <p:nvPr>
            <p:ph sz="quarter" idx="1"/>
          </p:nvPr>
        </p:nvSpPr>
        <p:spPr>
          <a:xfrm>
            <a:off x="612648" y="1600200"/>
            <a:ext cx="8153400" cy="44958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71600" y="2743200"/>
            <a:ext cx="7123113" cy="1673225"/>
          </a:xfrm>
        </p:spPr>
        <p:txBody>
          <a:bodyPr anchor="t"/>
          <a:lstStyle>
            <a:lvl1pPr marL="0" indent="0">
              <a:buNone/>
              <a:defRPr sz="280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7" name="Rectangle 6"/>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371600" y="1600200"/>
            <a:ext cx="7620000" cy="990600"/>
          </a:xfrm>
        </p:spPr>
        <p:txBody>
          <a:bodyPr/>
          <a:lstStyle>
            <a:lvl1pPr algn="l">
              <a:buNone/>
              <a:defRPr sz="4400" b="0" cap="none">
                <a:solidFill>
                  <a:srgbClr val="FFFFFF"/>
                </a:solidFill>
              </a:defRPr>
            </a:lvl1pPr>
          </a:lstStyle>
          <a:p>
            <a:r>
              <a:rPr kumimoji="0" lang="en-US" smtClean="0"/>
              <a:t>Click to edit Master title style</a:t>
            </a:r>
            <a:endParaRPr kumimoji="0" lang="en-US"/>
          </a:p>
        </p:txBody>
      </p:sp>
      <p:sp>
        <p:nvSpPr>
          <p:cNvPr id="12" name="Date Placeholder 11"/>
          <p:cNvSpPr>
            <a:spLocks noGrp="1"/>
          </p:cNvSpPr>
          <p:nvPr>
            <p:ph type="dt" sz="half" idx="10"/>
          </p:nvPr>
        </p:nvSpPr>
        <p:spPr/>
        <p:txBody>
          <a:bodyPr/>
          <a:lstStyle/>
          <a:p>
            <a:fld id="{C16AF7C5-E7A4-4886-968D-C96ADCA10EE6}" type="datetimeFigureOut">
              <a:rPr lang="en-US" smtClean="0"/>
            </a:fld>
            <a:endParaRPr lang="en-US"/>
          </a:p>
        </p:txBody>
      </p:sp>
      <p:sp>
        <p:nvSpPr>
          <p:cNvPr id="13" name="Slide Number Placeholder 12"/>
          <p:cNvSpPr>
            <a:spLocks noGrp="1"/>
          </p:cNvSpPr>
          <p:nvPr>
            <p:ph type="sldNum" sz="quarter" idx="11"/>
          </p:nvPr>
        </p:nvSpPr>
        <p:spPr>
          <a:xfrm>
            <a:off x="0" y="1752600"/>
            <a:ext cx="1295400" cy="701676"/>
          </a:xfrm>
        </p:spPr>
        <p:txBody>
          <a:bodyPr>
            <a:noAutofit/>
          </a:bodyPr>
          <a:lstStyle>
            <a:lvl1pPr>
              <a:defRPr sz="2400">
                <a:solidFill>
                  <a:srgbClr val="FFFFFF"/>
                </a:solidFill>
              </a:defRPr>
            </a:lvl1pPr>
          </a:lstStyle>
          <a:p>
            <a:fld id="{1A0B322C-6A84-4B2E-AA7C-23E8DE48639A}" type="slidenum">
              <a:rPr lang="en-US" smtClean="0"/>
            </a:fld>
            <a:endParaRPr lang="en-US"/>
          </a:p>
        </p:txBody>
      </p:sp>
      <p:sp>
        <p:nvSpPr>
          <p:cNvPr id="14" name="Footer Placeholder 13"/>
          <p:cNvSpPr>
            <a:spLocks noGrp="1"/>
          </p:cNvSpPr>
          <p:nvPr>
            <p:ph type="ftr" sz="quarter" idx="12"/>
          </p:nvPr>
        </p:nvSpPr>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9" name="Content Placeholder 8"/>
          <p:cNvSpPr>
            <a:spLocks noGrp="1"/>
          </p:cNvSpPr>
          <p:nvPr>
            <p:ph sz="quarter" idx="1"/>
          </p:nvPr>
        </p:nvSpPr>
        <p:spPr>
          <a:xfrm>
            <a:off x="609600" y="1589567"/>
            <a:ext cx="3886200" cy="4572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844901" y="1589567"/>
            <a:ext cx="3886200" cy="4572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8" name="Date Placeholder 7"/>
          <p:cNvSpPr>
            <a:spLocks noGrp="1"/>
          </p:cNvSpPr>
          <p:nvPr>
            <p:ph type="dt" sz="half" idx="15"/>
          </p:nvPr>
        </p:nvSpPr>
        <p:spPr/>
        <p:txBody>
          <a:bodyPr rtlCol="0"/>
          <a:lstStyle/>
          <a:p>
            <a:fld id="{C16AF7C5-E7A4-4886-968D-C96ADCA10EE6}" type="datetimeFigureOut">
              <a:rPr lang="en-US" smtClean="0"/>
            </a:fld>
            <a:endParaRPr lang="en-US"/>
          </a:p>
        </p:txBody>
      </p:sp>
      <p:sp>
        <p:nvSpPr>
          <p:cNvPr id="10" name="Slide Number Placeholder 9"/>
          <p:cNvSpPr>
            <a:spLocks noGrp="1"/>
          </p:cNvSpPr>
          <p:nvPr>
            <p:ph type="sldNum" sz="quarter" idx="16"/>
          </p:nvPr>
        </p:nvSpPr>
        <p:spPr/>
        <p:txBody>
          <a:bodyPr rtlCol="0"/>
          <a:lstStyle/>
          <a:p>
            <a:fld id="{1A0B322C-6A84-4B2E-AA7C-23E8DE48639A}" type="slidenum">
              <a:rPr lang="en-US" smtClean="0"/>
            </a:fld>
            <a:endParaRPr lang="en-US"/>
          </a:p>
        </p:txBody>
      </p:sp>
      <p:sp>
        <p:nvSpPr>
          <p:cNvPr id="12" name="Footer Placeholder 11"/>
          <p:cNvSpPr>
            <a:spLocks noGrp="1"/>
          </p:cNvSpPr>
          <p:nvPr>
            <p:ph type="ftr" sz="quarter" idx="17"/>
          </p:nvPr>
        </p:nvSpPr>
        <p:spPr/>
        <p:txBody>
          <a:bodyPr rtlCol="0"/>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nchor="ctr"/>
          <a:lstStyle>
            <a:lvl1pPr>
              <a:defRPr/>
            </a:lvl1pPr>
          </a:lstStyle>
          <a:p>
            <a:r>
              <a:rPr kumimoji="0" lang="en-US" smtClean="0"/>
              <a:t>Click to edit Master title style</a:t>
            </a:r>
            <a:endParaRPr kumimoji="0" lang="en-US"/>
          </a:p>
        </p:txBody>
      </p:sp>
      <p:sp>
        <p:nvSpPr>
          <p:cNvPr id="11" name="Content Placeholder 10"/>
          <p:cNvSpPr>
            <a:spLocks noGrp="1"/>
          </p:cNvSpPr>
          <p:nvPr>
            <p:ph sz="quarter" idx="2"/>
          </p:nvPr>
        </p:nvSpPr>
        <p:spPr>
          <a:xfrm>
            <a:off x="609600" y="2438400"/>
            <a:ext cx="3886200" cy="35814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800600" y="2438400"/>
            <a:ext cx="3886200" cy="35814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0" name="Date Placeholder 9"/>
          <p:cNvSpPr>
            <a:spLocks noGrp="1"/>
          </p:cNvSpPr>
          <p:nvPr>
            <p:ph type="dt" sz="half" idx="15"/>
          </p:nvPr>
        </p:nvSpPr>
        <p:spPr/>
        <p:txBody>
          <a:bodyPr rtlCol="0"/>
          <a:lstStyle/>
          <a:p>
            <a:fld id="{C16AF7C5-E7A4-4886-968D-C96ADCA10EE6}" type="datetimeFigureOut">
              <a:rPr lang="en-US" smtClean="0"/>
            </a:fld>
            <a:endParaRPr lang="en-US"/>
          </a:p>
        </p:txBody>
      </p:sp>
      <p:sp>
        <p:nvSpPr>
          <p:cNvPr id="12" name="Slide Number Placeholder 11"/>
          <p:cNvSpPr>
            <a:spLocks noGrp="1"/>
          </p:cNvSpPr>
          <p:nvPr>
            <p:ph type="sldNum" sz="quarter" idx="16"/>
          </p:nvPr>
        </p:nvSpPr>
        <p:spPr/>
        <p:txBody>
          <a:bodyPr rtlCol="0"/>
          <a:lstStyle/>
          <a:p>
            <a:fld id="{1A0B322C-6A84-4B2E-AA7C-23E8DE48639A}" type="slidenum">
              <a:rPr lang="en-US" smtClean="0"/>
            </a:fld>
            <a:endParaRPr lang="en-US"/>
          </a:p>
        </p:txBody>
      </p:sp>
      <p:sp>
        <p:nvSpPr>
          <p:cNvPr id="14" name="Footer Placeholder 13"/>
          <p:cNvSpPr>
            <a:spLocks noGrp="1"/>
          </p:cNvSpPr>
          <p:nvPr>
            <p:ph type="ftr" sz="quarter" idx="17"/>
          </p:nvPr>
        </p:nvSpPr>
        <p:spPr/>
        <p:txBody>
          <a:bodyPr rtlCol="0"/>
          <a:lstStyle/>
          <a:p>
            <a:endParaRPr lang="en-US"/>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endParaRPr kumimoji="0" lang="en-US" smtClean="0"/>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2000" b="1">
                <a:solidFill>
                  <a:srgbClr val="FFFFFF"/>
                </a:solidFill>
              </a:defRPr>
            </a:lvl1pPr>
          </a:lstStyle>
          <a:p>
            <a:pPr lvl="0" eaLnBrk="1" latinLnBrk="0" hangingPunct="1"/>
            <a:r>
              <a:rPr kumimoji="0" lang="en-US" smtClean="0"/>
              <a:t>Click to edit Master text styles</a:t>
            </a:r>
            <a:endParaRPr kumimoji="0" lang="en-US" smtClean="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16AF7C5-E7A4-4886-968D-C96ADCA10EE6}"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lvl1pPr>
              <a:defRPr>
                <a:solidFill>
                  <a:srgbClr val="FFFFFF"/>
                </a:solidFill>
              </a:defRPr>
            </a:lvl1pPr>
          </a:lstStyle>
          <a:p>
            <a:fld id="{1A0B322C-6A84-4B2E-AA7C-23E8DE48639A}"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6AF7C5-E7A4-4886-968D-C96ADCA10EE6}"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0" y="6248400"/>
            <a:ext cx="533400" cy="381000"/>
          </a:xfrm>
        </p:spPr>
        <p:txBody>
          <a:bodyPr/>
          <a:lstStyle>
            <a:lvl1pPr>
              <a:defRPr>
                <a:solidFill>
                  <a:schemeClr val="tx2"/>
                </a:solidFill>
              </a:defRPr>
            </a:lvl1pPr>
          </a:lstStyle>
          <a:p>
            <a:fld id="{1A0B322C-6A84-4B2E-AA7C-23E8DE48639A}"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8077200" cy="869950"/>
          </a:xfrm>
        </p:spPr>
        <p:txBody>
          <a:bodyPr anchor="ctr"/>
          <a:lstStyle>
            <a:lvl1pPr algn="l">
              <a:buNone/>
              <a:defRPr sz="4400" b="0"/>
            </a:lvl1p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16AF7C5-E7A4-4886-968D-C96ADCA10EE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solidFill>
              </a:defRPr>
            </a:lvl1pPr>
          </a:lstStyle>
          <a:p>
            <a:fld id="{1A0B322C-6A84-4B2E-AA7C-23E8DE48639A}" type="slidenum">
              <a:rPr lang="en-US" smtClean="0"/>
            </a:fld>
            <a:endParaRPr lang="en-US"/>
          </a:p>
        </p:txBody>
      </p:sp>
      <p:sp>
        <p:nvSpPr>
          <p:cNvPr id="3" name="Text Placeholder 2"/>
          <p:cNvSpPr>
            <a:spLocks noGrp="1"/>
          </p:cNvSpPr>
          <p:nvPr>
            <p:ph type="body" idx="2"/>
          </p:nvPr>
        </p:nvSpPr>
        <p:spPr>
          <a:xfrm>
            <a:off x="609600" y="1752600"/>
            <a:ext cx="1600200" cy="4343400"/>
          </a:xfrm>
          <a:ln w="50800" cap="sq" cmpd="dbl" algn="ctr">
            <a:solidFill>
              <a:schemeClr val="accent2"/>
            </a:solidFill>
            <a:prstDash val="solid"/>
            <a:miter lim="800000"/>
          </a:ln>
          <a:effectLst/>
        </p:spPr>
        <p:style>
          <a:lnRef idx="3">
            <a:schemeClr val="lt1"/>
          </a:lnRef>
          <a:fillRef idx="1">
            <a:schemeClr val="accent2"/>
          </a:fillRef>
          <a:effectRef idx="1">
            <a:schemeClr val="accent2"/>
          </a:effectRef>
          <a:fontRef idx="minor">
            <a:schemeClr val="lt1"/>
          </a:fontRef>
        </p:style>
        <p:txBody>
          <a:bodyPr lIns="137160" tIns="182880" rIns="137160" bIns="91440"/>
          <a:lstStyle>
            <a:lvl1pPr marL="0" indent="0">
              <a:spcAft>
                <a:spcPts val="1000"/>
              </a:spcAft>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9" name="Content Placeholder 8"/>
          <p:cNvSpPr>
            <a:spLocks noGrp="1"/>
          </p:cNvSpPr>
          <p:nvPr>
            <p:ph sz="quarter" idx="1"/>
          </p:nvPr>
        </p:nvSpPr>
        <p:spPr>
          <a:xfrm>
            <a:off x="2362200" y="1752600"/>
            <a:ext cx="6400800" cy="44196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bg>
      <p:bgRef idx="1003">
        <a:schemeClr val="bg2"/>
      </p:bgRef>
    </p:bg>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1600200" y="5486400"/>
            <a:ext cx="7315200" cy="685800"/>
          </a:xfrm>
        </p:spPr>
        <p:txBody>
          <a:bodyPr/>
          <a:lstStyle>
            <a:lvl1pPr marL="0" indent="0">
              <a:buFontTx/>
              <a:buNone/>
              <a:defRPr sz="17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endParaRPr kumimoji="0" lang="en-US" smtClean="0"/>
          </a:p>
        </p:txBody>
      </p:sp>
      <p:sp>
        <p:nvSpPr>
          <p:cNvPr id="8" name="Rectangle 7"/>
          <p:cNvSpPr/>
          <p:nvPr/>
        </p:nvSpPr>
        <p:spPr bwMode="white">
          <a:xfrm>
            <a:off x="-9144" y="4572000"/>
            <a:ext cx="9144000" cy="88696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9144" y="4663440"/>
            <a:ext cx="1463040" cy="713232"/>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1545336" y="4654296"/>
            <a:ext cx="7598664" cy="713232"/>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1600200" y="4648200"/>
            <a:ext cx="7315200" cy="685800"/>
          </a:xfrm>
        </p:spPr>
        <p:txBody>
          <a:bodyPr anchor="ctr"/>
          <a:lstStyle>
            <a:lvl1pPr algn="l">
              <a:buNone/>
              <a:defRPr sz="2800" b="0">
                <a:solidFill>
                  <a:srgbClr val="FFFFFF"/>
                </a:solidFill>
              </a:defRPr>
            </a:lvl1pPr>
          </a:lstStyle>
          <a:p>
            <a:r>
              <a:rPr kumimoji="0" lang="en-US" smtClean="0"/>
              <a:t>Click to edit Master title style</a:t>
            </a:r>
            <a:endParaRPr kumimoji="0" lang="en-US"/>
          </a:p>
        </p:txBody>
      </p:sp>
      <p:sp>
        <p:nvSpPr>
          <p:cNvPr id="11" name="Rectangle 10"/>
          <p:cNvSpPr/>
          <p:nvPr/>
        </p:nvSpPr>
        <p:spPr bwMode="white">
          <a:xfrm>
            <a:off x="1447800" y="0"/>
            <a:ext cx="100584" cy="6867144"/>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ate Placeholder 11"/>
          <p:cNvSpPr>
            <a:spLocks noGrp="1"/>
          </p:cNvSpPr>
          <p:nvPr>
            <p:ph type="dt" sz="half" idx="10"/>
          </p:nvPr>
        </p:nvSpPr>
        <p:spPr>
          <a:xfrm>
            <a:off x="6248400" y="6248400"/>
            <a:ext cx="2667000" cy="365125"/>
          </a:xfrm>
        </p:spPr>
        <p:txBody>
          <a:bodyPr rtlCol="0"/>
          <a:lstStyle/>
          <a:p>
            <a:fld id="{C16AF7C5-E7A4-4886-968D-C96ADCA10EE6}" type="datetimeFigureOut">
              <a:rPr lang="en-US" smtClean="0"/>
            </a:fld>
            <a:endParaRPr lang="en-US"/>
          </a:p>
        </p:txBody>
      </p:sp>
      <p:sp>
        <p:nvSpPr>
          <p:cNvPr id="13" name="Slide Number Placeholder 12"/>
          <p:cNvSpPr>
            <a:spLocks noGrp="1"/>
          </p:cNvSpPr>
          <p:nvPr>
            <p:ph type="sldNum" sz="quarter" idx="11"/>
          </p:nvPr>
        </p:nvSpPr>
        <p:spPr>
          <a:xfrm>
            <a:off x="0" y="4667249"/>
            <a:ext cx="1447800" cy="663578"/>
          </a:xfrm>
        </p:spPr>
        <p:txBody>
          <a:bodyPr rtlCol="0"/>
          <a:lstStyle>
            <a:lvl1pPr>
              <a:defRPr sz="2800"/>
            </a:lvl1pPr>
          </a:lstStyle>
          <a:p>
            <a:fld id="{1A0B322C-6A84-4B2E-AA7C-23E8DE48639A}" type="slidenum">
              <a:rPr lang="en-US" smtClean="0"/>
            </a:fld>
            <a:endParaRPr lang="en-US"/>
          </a:p>
        </p:txBody>
      </p:sp>
      <p:sp>
        <p:nvSpPr>
          <p:cNvPr id="14" name="Footer Placeholder 13"/>
          <p:cNvSpPr>
            <a:spLocks noGrp="1"/>
          </p:cNvSpPr>
          <p:nvPr>
            <p:ph type="ftr" sz="quarter" idx="12"/>
          </p:nvPr>
        </p:nvSpPr>
        <p:spPr>
          <a:xfrm>
            <a:off x="1600200" y="6248206"/>
            <a:ext cx="4572000" cy="365125"/>
          </a:xfrm>
        </p:spPr>
        <p:txBody>
          <a:bodyPr rtlCol="0"/>
          <a:lstStyle/>
          <a:p>
            <a:endParaRPr lang="en-US"/>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lstStyle>
            <a:lvl1pPr marL="0" indent="0">
              <a:buNone/>
              <a:defRPr sz="3200"/>
            </a:lvl1pPr>
          </a:lstStyle>
          <a:p>
            <a:r>
              <a:rPr kumimoji="0" lang="en-US" smtClean="0"/>
              <a:t>Click icon to add picture</a:t>
            </a:r>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16AF7C5-E7A4-4886-968D-C96ADCA10E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0B322C-6A84-4B2E-AA7C-23E8DE48639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bg>
      <p:bgRef idx="1001">
        <a:schemeClr val="bg1"/>
      </p:bgRef>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3200" y="609600"/>
            <a:ext cx="2057400" cy="55165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609600"/>
            <a:ext cx="5562600" cy="5516564"/>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a:xfrm>
            <a:off x="6553200" y="6248402"/>
            <a:ext cx="2209800" cy="365125"/>
          </a:xfrm>
        </p:spPr>
        <p:txBody>
          <a:bodyPr/>
          <a:lstStyle/>
          <a:p>
            <a:fld id="{C16AF7C5-E7A4-4886-968D-C96ADCA10EE6}" type="datetimeFigureOut">
              <a:rPr lang="en-US" smtClean="0"/>
            </a:fld>
            <a:endParaRPr lang="en-US"/>
          </a:p>
        </p:txBody>
      </p:sp>
      <p:sp>
        <p:nvSpPr>
          <p:cNvPr id="5" name="Footer Placeholder 4"/>
          <p:cNvSpPr>
            <a:spLocks noGrp="1"/>
          </p:cNvSpPr>
          <p:nvPr>
            <p:ph type="ftr" sz="quarter" idx="11"/>
          </p:nvPr>
        </p:nvSpPr>
        <p:spPr>
          <a:xfrm>
            <a:off x="457201" y="6248207"/>
            <a:ext cx="5573483" cy="365125"/>
          </a:xfrm>
        </p:spPr>
        <p:txBody>
          <a:bodyPr/>
          <a:lstStyle/>
          <a:p>
            <a:endParaRPr lang="en-US"/>
          </a:p>
        </p:txBody>
      </p:sp>
      <p:sp>
        <p:nvSpPr>
          <p:cNvPr id="7" name="Rectangle 6"/>
          <p:cNvSpPr/>
          <p:nvPr/>
        </p:nvSpPr>
        <p:spPr bwMode="white">
          <a:xfrm>
            <a:off x="6096318" y="0"/>
            <a:ext cx="320040"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8" name="Rectangle 7"/>
          <p:cNvSpPr/>
          <p:nvPr/>
        </p:nvSpPr>
        <p:spPr>
          <a:xfrm>
            <a:off x="6142038"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9" name="Rectangle 8"/>
          <p:cNvSpPr/>
          <p:nvPr/>
        </p:nvSpPr>
        <p:spPr>
          <a:xfrm>
            <a:off x="6142038"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6" name="Slide Number Placeholder 5"/>
          <p:cNvSpPr>
            <a:spLocks noGrp="1"/>
          </p:cNvSpPr>
          <p:nvPr>
            <p:ph type="sldNum" sz="quarter" idx="12"/>
          </p:nvPr>
        </p:nvSpPr>
        <p:spPr>
          <a:xfrm rot="5400000">
            <a:off x="5989638" y="144462"/>
            <a:ext cx="533400" cy="244476"/>
          </a:xfrm>
        </p:spPr>
        <p:txBody>
          <a:bodyPr/>
          <a:lstStyle/>
          <a:p>
            <a:fld id="{1A0B322C-6A84-4B2E-AA7C-23E8DE48639A}"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3">
        <a:schemeClr val="bg1"/>
      </p:bgRef>
    </p:bg>
    <p:spTree>
      <p:nvGrpSpPr>
        <p:cNvPr id="1" name=""/>
        <p:cNvGrpSpPr/>
        <p:nvPr/>
      </p:nvGrpSpPr>
      <p:grpSpPr>
        <a:xfrm>
          <a:off x="0" y="0"/>
          <a:ext cx="0" cy="0"/>
          <a:chOff x="0" y="0"/>
          <a:chExt cx="0" cy="0"/>
        </a:xfrm>
      </p:grpSpPr>
      <p:sp>
        <p:nvSpPr>
          <p:cNvPr id="12" name="Rectangle 11"/>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3" name="Rounded Rectangle 12"/>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9" name="Subtitle 8"/>
          <p:cNvSpPr>
            <a:spLocks noGrp="1"/>
          </p:cNvSpPr>
          <p:nvPr>
            <p:ph type="subTitle" idx="1"/>
          </p:nvPr>
        </p:nvSpPr>
        <p:spPr>
          <a:xfrm>
            <a:off x="1295400" y="3200400"/>
            <a:ext cx="6400800" cy="1600200"/>
          </a:xfrm>
        </p:spPr>
        <p:txBody>
          <a:bodyPr/>
          <a:lstStyle>
            <a:lvl1pPr marL="0" indent="0" algn="ctr">
              <a:buNone/>
              <a:defRPr sz="260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C16AF7C5-E7A4-4886-968D-C96ADCA10EE6}" type="datetimeFigureOut">
              <a:rPr lang="en-US" smtClean="0"/>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lIns="0" tIns="0" rIns="0" bIns="0">
            <a:noAutofit/>
          </a:bodyPr>
          <a:lstStyle>
            <a:lvl1pPr>
              <a:defRPr sz="1400">
                <a:solidFill>
                  <a:srgbClr val="FFFFFF"/>
                </a:solidFill>
              </a:defRPr>
            </a:lvl1pPr>
          </a:lstStyle>
          <a:p>
            <a:fld id="{1A0B322C-6A84-4B2E-AA7C-23E8DE48639A}" type="slidenum">
              <a:rPr lang="en-US" smtClean="0"/>
            </a:fld>
            <a:endParaRPr lang="en-US"/>
          </a:p>
        </p:txBody>
      </p:sp>
      <p:sp>
        <p:nvSpPr>
          <p:cNvPr id="7" name="Rectangle 6"/>
          <p:cNvSpPr/>
          <p:nvPr/>
        </p:nvSpPr>
        <p:spPr>
          <a:xfrm>
            <a:off x="62931" y="1449303"/>
            <a:ext cx="9021537" cy="1527349"/>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62931" y="1396720"/>
            <a:ext cx="9021537" cy="120580"/>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a:xfrm>
            <a:off x="62931" y="2976649"/>
            <a:ext cx="9021537" cy="110532"/>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Title 7"/>
          <p:cNvSpPr>
            <a:spLocks noGrp="1"/>
          </p:cNvSpPr>
          <p:nvPr>
            <p:ph type="ctrTitle"/>
          </p:nvPr>
        </p:nvSpPr>
        <p:spPr>
          <a:xfrm>
            <a:off x="457200" y="1505930"/>
            <a:ext cx="8229600" cy="1470025"/>
          </a:xfrm>
        </p:spPr>
        <p:txBody>
          <a:bodyPr anchor="ctr"/>
          <a:lstStyle>
            <a:lvl1pPr algn="ctr">
              <a:defRPr lang="en-US" dirty="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C16AF7C5-E7A4-4886-968D-C96ADCA10E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0B322C-6A84-4B2E-AA7C-23E8DE48639A}" type="slidenum">
              <a:rPr lang="en-US" smtClean="0"/>
            </a:fld>
            <a:endParaRPr lang="en-US"/>
          </a:p>
        </p:txBody>
      </p:sp>
      <p:sp>
        <p:nvSpPr>
          <p:cNvPr id="8" name="Content Placeholder 7"/>
          <p:cNvSpPr>
            <a:spLocks noGrp="1"/>
          </p:cNvSpPr>
          <p:nvPr>
            <p:ph sz="quarter" idx="1"/>
          </p:nvPr>
        </p:nvSpPr>
        <p:spPr>
          <a:xfrm>
            <a:off x="914400" y="1447800"/>
            <a:ext cx="7772400" cy="45720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3">
        <a:schemeClr val="bg1"/>
      </p:bgRef>
    </p:bg>
    <p:spTree>
      <p:nvGrpSpPr>
        <p:cNvPr id="1" name=""/>
        <p:cNvGrpSpPr/>
        <p:nvPr/>
      </p:nvGrpSpPr>
      <p:grpSpPr>
        <a:xfrm>
          <a:off x="0" y="0"/>
          <a:ext cx="0" cy="0"/>
          <a:chOff x="0" y="0"/>
          <a:chExt cx="0" cy="0"/>
        </a:xfrm>
      </p:grpSpPr>
      <p:sp>
        <p:nvSpPr>
          <p:cNvPr id="11" name="Rectangle 10"/>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10" name="Rounded Rectangle 9"/>
          <p:cNvSpPr/>
          <p:nvPr/>
        </p:nvSpPr>
        <p:spPr>
          <a:xfrm>
            <a:off x="65313" y="69755"/>
            <a:ext cx="9013372" cy="6692201"/>
          </a:xfrm>
          <a:prstGeom prst="roundRect">
            <a:avLst>
              <a:gd name="adj" fmla="val 4929"/>
            </a:avLst>
          </a:prstGeom>
          <a:ln w="6350" cap="sq" cmpd="sng" algn="ctr">
            <a:solidFill>
              <a:schemeClr val="tx1">
                <a:alpha val="100000"/>
              </a:schemeClr>
            </a:solidFill>
            <a:prstDash val="solid"/>
          </a:ln>
          <a:effectLst/>
        </p:spPr>
        <p:style>
          <a:lnRef idx="3">
            <a:schemeClr val="lt1"/>
          </a:lnRef>
          <a:fillRef idx="1003">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722313" y="952500"/>
            <a:ext cx="7772400" cy="1362075"/>
          </a:xfrm>
        </p:spPr>
        <p:txBody>
          <a:bodyPr anchor="b" anchorCtr="0"/>
          <a:lstStyle>
            <a:lvl1pPr algn="l">
              <a:buNone/>
              <a:defRPr sz="4000" b="0" cap="none"/>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722313" y="2547938"/>
            <a:ext cx="7772400" cy="1338262"/>
          </a:xfrm>
        </p:spPr>
        <p:txBody>
          <a:bodyPr anchor="t" anchorCtr="0"/>
          <a:lstStyle>
            <a:lvl1pPr marL="0" indent="0">
              <a:buNone/>
              <a:defRPr sz="24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C16AF7C5-E7A4-4886-968D-C96ADCA10EE6}" type="datetimeFigureOut">
              <a:rPr lang="en-US" smtClean="0"/>
            </a:fld>
            <a:endParaRPr lang="en-US"/>
          </a:p>
        </p:txBody>
      </p:sp>
      <p:sp>
        <p:nvSpPr>
          <p:cNvPr id="5" name="Footer Placeholder 4"/>
          <p:cNvSpPr>
            <a:spLocks noGrp="1"/>
          </p:cNvSpPr>
          <p:nvPr>
            <p:ph type="ftr" sz="quarter" idx="11"/>
          </p:nvPr>
        </p:nvSpPr>
        <p:spPr>
          <a:xfrm>
            <a:off x="800100" y="6172200"/>
            <a:ext cx="4000500" cy="457200"/>
          </a:xfrm>
        </p:spPr>
        <p:txBody>
          <a:bodyPr/>
          <a:lstStyle/>
          <a:p>
            <a:endParaRPr lang="en-US"/>
          </a:p>
        </p:txBody>
      </p:sp>
      <p:sp>
        <p:nvSpPr>
          <p:cNvPr id="7" name="Rectangle 6"/>
          <p:cNvSpPr/>
          <p:nvPr/>
        </p:nvSpPr>
        <p:spPr>
          <a:xfrm flipV="1">
            <a:off x="69412" y="2376830"/>
            <a:ext cx="9013515"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69146" y="2341475"/>
            <a:ext cx="9013781"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68306" y="2468880"/>
            <a:ext cx="9014621" cy="45720"/>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146304" y="6208776"/>
            <a:ext cx="457200" cy="457200"/>
          </a:xfrm>
        </p:spPr>
        <p:txBody>
          <a:bodyPr/>
          <a:lstStyle/>
          <a:p>
            <a:fld id="{1A0B322C-6A84-4B2E-AA7C-23E8DE48639A}" type="slidenum">
              <a:rPr lang="en-US" smtClean="0"/>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C16AF7C5-E7A4-4886-968D-C96ADCA10EE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0B322C-6A84-4B2E-AA7C-23E8DE48639A}" type="slidenum">
              <a:rPr lang="en-US" smtClean="0"/>
            </a:fld>
            <a:endParaRPr lang="en-US"/>
          </a:p>
        </p:txBody>
      </p:sp>
      <p:sp>
        <p:nvSpPr>
          <p:cNvPr id="9" name="Content Placeholder 8"/>
          <p:cNvSpPr>
            <a:spLocks noGrp="1"/>
          </p:cNvSpPr>
          <p:nvPr>
            <p:ph sz="quarter" idx="1"/>
          </p:nvPr>
        </p:nvSpPr>
        <p:spPr>
          <a:xfrm>
            <a:off x="914400" y="1447800"/>
            <a:ext cx="3749040" cy="45720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933950" y="1447800"/>
            <a:ext cx="3749040" cy="45720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4400" y="273050"/>
            <a:ext cx="7772400" cy="1143000"/>
          </a:xfrm>
        </p:spPr>
        <p:txBody>
          <a:bodyPr anchor="b" anchorCtr="0"/>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9144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953000" y="1447800"/>
            <a:ext cx="3733800" cy="762000"/>
          </a:xfrm>
          <a:noFill/>
          <a:ln w="12700" cap="sq" cmpd="sng" algn="ctr">
            <a:noFill/>
            <a:prstDash val="solid"/>
          </a:ln>
        </p:spPr>
        <p:txBody>
          <a:bodyPr lIns="91440" anchor="b" anchorCtr="0">
            <a:noAutofit/>
          </a:bodyPr>
          <a:lstStyle>
            <a:lvl1pPr marL="0" indent="0">
              <a:buNone/>
              <a:defRPr sz="2400" b="1">
                <a:solidFill>
                  <a:schemeClr val="accent1"/>
                </a:solidFill>
                <a:latin typeface="+mj-lt"/>
                <a:ea typeface="+mj-ea"/>
                <a:cs typeface="+mj-cs"/>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7" name="Date Placeholder 6"/>
          <p:cNvSpPr>
            <a:spLocks noGrp="1"/>
          </p:cNvSpPr>
          <p:nvPr>
            <p:ph type="dt" sz="half" idx="10"/>
          </p:nvPr>
        </p:nvSpPr>
        <p:spPr/>
        <p:txBody>
          <a:bodyPr/>
          <a:lstStyle/>
          <a:p>
            <a:fld id="{C16AF7C5-E7A4-4886-968D-C96ADCA10EE6}"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A0B322C-6A84-4B2E-AA7C-23E8DE48639A}" type="slidenum">
              <a:rPr lang="en-US" smtClean="0"/>
            </a:fld>
            <a:endParaRPr lang="en-US"/>
          </a:p>
        </p:txBody>
      </p:sp>
      <p:sp>
        <p:nvSpPr>
          <p:cNvPr id="11" name="Content Placeholder 10"/>
          <p:cNvSpPr>
            <a:spLocks noGrp="1"/>
          </p:cNvSpPr>
          <p:nvPr>
            <p:ph sz="half" idx="2"/>
          </p:nvPr>
        </p:nvSpPr>
        <p:spPr>
          <a:xfrm>
            <a:off x="914400" y="2247900"/>
            <a:ext cx="3733800" cy="38862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3" name="Content Placeholder 12"/>
          <p:cNvSpPr>
            <a:spLocks noGrp="1"/>
          </p:cNvSpPr>
          <p:nvPr>
            <p:ph sz="half" idx="4"/>
          </p:nvPr>
        </p:nvSpPr>
        <p:spPr>
          <a:xfrm>
            <a:off x="4953000" y="2247900"/>
            <a:ext cx="3733800" cy="38862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C16AF7C5-E7A4-4886-968D-C96ADCA10EE6}"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A0B322C-6A84-4B2E-AA7C-23E8DE48639A}"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6AF7C5-E7A4-4886-968D-C96ADCA10EE6}"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A0B322C-6A84-4B2E-AA7C-23E8DE48639A}"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0"/>
            <a:ext cx="9144000" cy="6858000"/>
          </a:xfrm>
          <a:prstGeom prst="rect">
            <a:avLst/>
          </a:prstGeom>
          <a:solidFill>
            <a:srgbClr val="FFFFFF"/>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useBgFill="1">
        <p:nvSpPr>
          <p:cNvPr id="9" name="Rounded Rectangle 8"/>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914400" y="273050"/>
            <a:ext cx="7772400" cy="1143000"/>
          </a:xfrm>
        </p:spPr>
        <p:txBody>
          <a:bodyPr anchor="b" anchorCtr="0"/>
          <a:lstStyle>
            <a:lvl1pPr algn="l">
              <a:buNone/>
              <a:defRPr sz="4000" b="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914400" y="1600200"/>
            <a:ext cx="1905000" cy="4495800"/>
          </a:xfrm>
        </p:spPr>
        <p:txBody>
          <a:bodyPr/>
          <a:lstStyle>
            <a:lvl1pPr marL="0" indent="0">
              <a:buNone/>
              <a:defRPr sz="18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C16AF7C5-E7A4-4886-968D-C96ADCA10EE6}"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A0B322C-6A84-4B2E-AA7C-23E8DE48639A}" type="slidenum">
              <a:rPr lang="en-US" smtClean="0"/>
            </a:fld>
            <a:endParaRPr lang="en-US"/>
          </a:p>
        </p:txBody>
      </p:sp>
      <p:sp>
        <p:nvSpPr>
          <p:cNvPr id="11" name="Content Placeholder 10"/>
          <p:cNvSpPr>
            <a:spLocks noGrp="1"/>
          </p:cNvSpPr>
          <p:nvPr>
            <p:ph sz="quarter" idx="1"/>
          </p:nvPr>
        </p:nvSpPr>
        <p:spPr>
          <a:xfrm>
            <a:off x="2971800" y="1600200"/>
            <a:ext cx="5715000" cy="4495800"/>
          </a:xfrm>
        </p:spPr>
        <p:txBody>
          <a:bodyPr vert="horz"/>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4400" y="4900550"/>
            <a:ext cx="7315200" cy="522288"/>
          </a:xfrm>
        </p:spPr>
        <p:txBody>
          <a:bodyPr anchor="ctr">
            <a:noAutofit/>
          </a:bodyPr>
          <a:lstStyle>
            <a:lvl1pPr algn="l">
              <a:buNone/>
              <a:defRPr sz="2800" b="0"/>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914400" y="5445825"/>
            <a:ext cx="7315200" cy="685800"/>
          </a:xfrm>
        </p:spPr>
        <p:txBody>
          <a:bodyPr/>
          <a:lstStyle>
            <a:lvl1pPr marL="0" indent="0">
              <a:buFontTx/>
              <a:buNone/>
              <a:defRPr sz="16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C16AF7C5-E7A4-4886-968D-C96ADCA10EE6}" type="datetimeFigureOut">
              <a:rPr lang="en-US" smtClean="0"/>
            </a:fld>
            <a:endParaRPr lang="en-US"/>
          </a:p>
        </p:txBody>
      </p:sp>
      <p:sp>
        <p:nvSpPr>
          <p:cNvPr id="6" name="Footer Placeholder 5"/>
          <p:cNvSpPr>
            <a:spLocks noGrp="1"/>
          </p:cNvSpPr>
          <p:nvPr>
            <p:ph type="ftr" sz="quarter" idx="11"/>
          </p:nvPr>
        </p:nvSpPr>
        <p:spPr>
          <a:xfrm>
            <a:off x="914400" y="6172200"/>
            <a:ext cx="3886200" cy="457200"/>
          </a:xfrm>
        </p:spPr>
        <p:txBody>
          <a:bodyPr/>
          <a:lstStyle/>
          <a:p>
            <a:endParaRPr lang="en-US"/>
          </a:p>
        </p:txBody>
      </p:sp>
      <p:sp>
        <p:nvSpPr>
          <p:cNvPr id="7" name="Slide Number Placeholder 6"/>
          <p:cNvSpPr>
            <a:spLocks noGrp="1"/>
          </p:cNvSpPr>
          <p:nvPr>
            <p:ph type="sldNum" sz="quarter" idx="12"/>
          </p:nvPr>
        </p:nvSpPr>
        <p:spPr>
          <a:xfrm>
            <a:off x="146304" y="6208776"/>
            <a:ext cx="457200" cy="457200"/>
          </a:xfrm>
        </p:spPr>
        <p:txBody>
          <a:bodyPr/>
          <a:lstStyle/>
          <a:p>
            <a:fld id="{1A0B322C-6A84-4B2E-AA7C-23E8DE48639A}" type="slidenum">
              <a:rPr lang="en-US" smtClean="0"/>
            </a:fld>
            <a:endParaRPr lang="en-US"/>
          </a:p>
        </p:txBody>
      </p:sp>
      <p:sp>
        <p:nvSpPr>
          <p:cNvPr id="11" name="Rectangle 10"/>
          <p:cNvSpPr/>
          <p:nvPr/>
        </p:nvSpPr>
        <p:spPr>
          <a:xfrm flipV="1">
            <a:off x="68307" y="4683555"/>
            <a:ext cx="9006840" cy="91440"/>
          </a:xfrm>
          <a:prstGeom prst="rect">
            <a:avLst/>
          </a:prstGeom>
          <a:solidFill>
            <a:schemeClr val="accent1">
              <a:alpha val="10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a:xfrm>
            <a:off x="68508" y="4650474"/>
            <a:ext cx="9006639" cy="45719"/>
          </a:xfrm>
          <a:prstGeom prst="rect">
            <a:avLst/>
          </a:prstGeom>
          <a:solidFill>
            <a:schemeClr val="accent1">
              <a:tint val="60000"/>
            </a:schemeClr>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p:nvPr/>
        </p:nvSpPr>
        <p:spPr>
          <a:xfrm>
            <a:off x="68510" y="4773224"/>
            <a:ext cx="9006637" cy="48807"/>
          </a:xfrm>
          <a:prstGeom prst="rect">
            <a:avLst/>
          </a:prstGeom>
          <a:solidFill>
            <a:schemeClr val="accent5"/>
          </a:solidFill>
          <a:ln w="19050" cap="sq"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 name="Picture Placeholder 2"/>
          <p:cNvSpPr>
            <a:spLocks noGrp="1"/>
          </p:cNvSpPr>
          <p:nvPr>
            <p:ph type="pic" idx="1"/>
          </p:nvPr>
        </p:nvSpPr>
        <p:spPr>
          <a:xfrm>
            <a:off x="68308" y="66675"/>
            <a:ext cx="9001873" cy="4581525"/>
          </a:xfrm>
          <a:prstGeom prst="round2SameRect">
            <a:avLst>
              <a:gd name="adj1" fmla="val 7101"/>
              <a:gd name="adj2" fmla="val 0"/>
            </a:avLst>
          </a:prstGeom>
          <a:solidFill>
            <a:schemeClr val="bg2"/>
          </a:solidFill>
          <a:ln w="6350">
            <a:solidFill>
              <a:schemeClr val="tx1"/>
            </a:solidFill>
          </a:ln>
        </p:spPr>
        <p:txBody>
          <a:bodyPr/>
          <a:lstStyle>
            <a:lvl1pPr marL="0" indent="0">
              <a:buNone/>
              <a:defRPr sz="3200"/>
            </a:lvl1pPr>
          </a:lstStyle>
          <a:p>
            <a:r>
              <a:rPr kumimoji="0" lang="en-US" smtClean="0"/>
              <a:t>Click icon to add picture</a:t>
            </a:r>
            <a:endParaRPr kumimoji="0"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16AF7C5-E7A4-4886-968D-C96ADCA10E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0B322C-6A84-4B2E-AA7C-23E8DE48639A}"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1"/>
            <a:ext cx="201168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914400" y="274640"/>
            <a:ext cx="5562600" cy="5851525"/>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C16AF7C5-E7A4-4886-968D-C96ADCA10EE6}"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A0B322C-6A84-4B2E-AA7C-23E8DE48639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609600" y="228600"/>
            <a:ext cx="8153400" cy="990600"/>
          </a:xfrm>
          <a:prstGeom prst="rect">
            <a:avLst/>
          </a:prstGeom>
        </p:spPr>
        <p:txBody>
          <a:bodyPr vert="horz" anchor="ctr">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612648" y="1600200"/>
            <a:ext cx="8153400" cy="4526280"/>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096000" y="6248400"/>
            <a:ext cx="2667000" cy="365125"/>
          </a:xfrm>
          <a:prstGeom prst="rect">
            <a:avLst/>
          </a:prstGeom>
        </p:spPr>
        <p:txBody>
          <a:bodyPr vert="horz" anchor="ctr" anchorCtr="0"/>
          <a:lstStyle>
            <a:lvl1pPr algn="l" eaLnBrk="1" latinLnBrk="0" hangingPunct="1">
              <a:defRPr kumimoji="0" sz="1400">
                <a:solidFill>
                  <a:schemeClr val="tx2"/>
                </a:solidFill>
              </a:defRPr>
            </a:lvl1pPr>
          </a:lstStyle>
          <a:p>
            <a:fld id="{C16AF7C5-E7A4-4886-968D-C96ADCA10EE6}" type="datetimeFigureOut">
              <a:rPr lang="en-US" smtClean="0"/>
            </a:fld>
            <a:endParaRPr lang="en-US"/>
          </a:p>
        </p:txBody>
      </p:sp>
      <p:sp>
        <p:nvSpPr>
          <p:cNvPr id="3" name="Footer Placeholder 2"/>
          <p:cNvSpPr>
            <a:spLocks noGrp="1"/>
          </p:cNvSpPr>
          <p:nvPr>
            <p:ph type="ftr" sz="quarter" idx="3"/>
          </p:nvPr>
        </p:nvSpPr>
        <p:spPr>
          <a:xfrm>
            <a:off x="609600" y="6248206"/>
            <a:ext cx="5421083" cy="365125"/>
          </a:xfrm>
          <a:prstGeom prst="rect">
            <a:avLst/>
          </a:prstGeom>
        </p:spPr>
        <p:txBody>
          <a:bodyPr vert="horz" anchor="ctr"/>
          <a:lstStyle>
            <a:lvl1pPr algn="r" eaLnBrk="1" latinLnBrk="0" hangingPunct="1">
              <a:defRPr kumimoji="0" sz="1400">
                <a:solidFill>
                  <a:schemeClr val="tx2"/>
                </a:solidFill>
              </a:defRPr>
            </a:lvl1pPr>
          </a:lstStyle>
          <a:p>
            <a:endParaRPr lang="en-US"/>
          </a:p>
        </p:txBody>
      </p:sp>
      <p:sp>
        <p:nvSpPr>
          <p:cNvPr id="7" name="Rectangle 6"/>
          <p:cNvSpPr/>
          <p:nvPr/>
        </p:nvSpPr>
        <p:spPr bwMode="white">
          <a:xfrm>
            <a:off x="0" y="1234440"/>
            <a:ext cx="9144000" cy="32004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0" y="1280160"/>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ectangle 8"/>
          <p:cNvSpPr/>
          <p:nvPr/>
        </p:nvSpPr>
        <p:spPr>
          <a:xfrm>
            <a:off x="590550" y="1280160"/>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0" y="1272222"/>
            <a:ext cx="533400" cy="244476"/>
          </a:xfrm>
          <a:prstGeom prst="rect">
            <a:avLst/>
          </a:prstGeom>
        </p:spPr>
        <p:txBody>
          <a:bodyPr vert="horz" anchor="ctr" anchorCtr="0">
            <a:normAutofit/>
          </a:bodyPr>
          <a:lstStyle>
            <a:lvl1pPr algn="ctr" eaLnBrk="1" latinLnBrk="0" hangingPunct="1">
              <a:defRPr kumimoji="0" sz="1400" b="1">
                <a:solidFill>
                  <a:srgbClr val="FFFFFF"/>
                </a:solidFill>
              </a:defRPr>
            </a:lvl1pPr>
          </a:lstStyle>
          <a:p>
            <a:fld id="{1A0B322C-6A84-4B2E-AA7C-23E8DE48639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4400" kern="1200">
          <a:solidFill>
            <a:schemeClr val="tx2"/>
          </a:solidFill>
          <a:latin typeface="+mj-lt"/>
          <a:ea typeface="+mj-ea"/>
          <a:cs typeface="+mj-cs"/>
        </a:defRPr>
      </a:lvl1pPr>
    </p:titleStyle>
    <p:bodyStyle>
      <a:lvl1pPr marL="320040" indent="-320040" algn="l" rtl="0" eaLnBrk="1" latinLnBrk="0" hangingPunct="1">
        <a:spcBef>
          <a:spcPts val="700"/>
        </a:spcBef>
        <a:buClr>
          <a:schemeClr val="accent2"/>
        </a:buClr>
        <a:buSzPct val="60000"/>
        <a:buFont typeface="Wingdings" panose="05000000000000000000"/>
        <a:buChar char=""/>
        <a:defRPr kumimoji="0" sz="2900" kern="1200">
          <a:solidFill>
            <a:schemeClr val="tx1"/>
          </a:solidFill>
          <a:latin typeface="+mn-lt"/>
          <a:ea typeface="+mn-ea"/>
          <a:cs typeface="+mn-cs"/>
        </a:defRPr>
      </a:lvl1pPr>
      <a:lvl2pPr marL="640080" indent="-274320" algn="l" rtl="0" eaLnBrk="1" latinLnBrk="0" hangingPunct="1">
        <a:spcBef>
          <a:spcPts val="550"/>
        </a:spcBef>
        <a:buClr>
          <a:schemeClr val="accent1"/>
        </a:buClr>
        <a:buSzPct val="70000"/>
        <a:buFont typeface="Wingdings 2"/>
        <a:buChar char=""/>
        <a:defRPr kumimoji="0" sz="2600" kern="1200">
          <a:solidFill>
            <a:schemeClr val="tx1"/>
          </a:solidFill>
          <a:latin typeface="+mn-lt"/>
          <a:ea typeface="+mn-ea"/>
          <a:cs typeface="+mn-cs"/>
        </a:defRPr>
      </a:lvl2pPr>
      <a:lvl3pPr marL="914400" indent="-228600" algn="l" rtl="0" eaLnBrk="1" latinLnBrk="0" hangingPunct="1">
        <a:spcBef>
          <a:spcPts val="500"/>
        </a:spcBef>
        <a:buClr>
          <a:schemeClr val="accent2"/>
        </a:buClr>
        <a:buSzPct val="75000"/>
        <a:buFont typeface="Wingdings" panose="05000000000000000000"/>
        <a:buChar char=""/>
        <a:defRPr kumimoji="0" sz="2300" kern="1200">
          <a:solidFill>
            <a:schemeClr val="tx1"/>
          </a:solidFill>
          <a:latin typeface="+mn-lt"/>
          <a:ea typeface="+mn-ea"/>
          <a:cs typeface="+mn-cs"/>
        </a:defRPr>
      </a:lvl3pPr>
      <a:lvl4pPr marL="1371600" indent="-228600" algn="l" rtl="0" eaLnBrk="1" latinLnBrk="0" hangingPunct="1">
        <a:spcBef>
          <a:spcPts val="400"/>
        </a:spcBef>
        <a:buClr>
          <a:schemeClr val="accent3"/>
        </a:buClr>
        <a:buSzPct val="75000"/>
        <a:buFont typeface="Wingdings" panose="05000000000000000000"/>
        <a:buChar char=""/>
        <a:defRPr kumimoji="0" sz="2000" kern="1200">
          <a:solidFill>
            <a:schemeClr val="tx1"/>
          </a:solidFill>
          <a:latin typeface="+mn-lt"/>
          <a:ea typeface="+mn-ea"/>
          <a:cs typeface="+mn-cs"/>
        </a:defRPr>
      </a:lvl4pPr>
      <a:lvl5pPr marL="1828800" indent="-228600" algn="l" rtl="0" eaLnBrk="1" latinLnBrk="0" hangingPunct="1">
        <a:spcBef>
          <a:spcPts val="400"/>
        </a:spcBef>
        <a:buClr>
          <a:schemeClr val="accent4"/>
        </a:buClr>
        <a:buSzPct val="65000"/>
        <a:buFont typeface="Wingdings" panose="05000000000000000000"/>
        <a:buChar char=""/>
        <a:defRPr kumimoji="0" sz="2000" kern="1200">
          <a:solidFill>
            <a:schemeClr val="tx1"/>
          </a:solidFill>
          <a:latin typeface="+mn-lt"/>
          <a:ea typeface="+mn-ea"/>
          <a:cs typeface="+mn-cs"/>
        </a:defRPr>
      </a:lvl5pPr>
      <a:lvl6pPr marL="2103120" indent="-228600" algn="l" rtl="0" eaLnBrk="1" latinLnBrk="0" hangingPunct="1">
        <a:spcBef>
          <a:spcPct val="20000"/>
        </a:spcBef>
        <a:buClr>
          <a:schemeClr val="accent1"/>
        </a:buClr>
        <a:buFont typeface="Wingdings" panose="05000000000000000000"/>
        <a:buChar char="§"/>
        <a:defRPr kumimoji="0" sz="1800" kern="1200" baseline="0">
          <a:solidFill>
            <a:schemeClr val="tx1"/>
          </a:solidFill>
          <a:latin typeface="+mn-lt"/>
          <a:ea typeface="+mn-ea"/>
          <a:cs typeface="+mn-cs"/>
        </a:defRPr>
      </a:lvl6pPr>
      <a:lvl7pPr marL="2377440" indent="-228600" algn="l" rtl="0" eaLnBrk="1" latinLnBrk="0" hangingPunct="1">
        <a:spcBef>
          <a:spcPct val="20000"/>
        </a:spcBef>
        <a:buClr>
          <a:schemeClr val="accent2"/>
        </a:buClr>
        <a:buFont typeface="Wingdings" panose="05000000000000000000"/>
        <a:buChar char="§"/>
        <a:defRPr kumimoji="0" sz="1800" kern="1200" baseline="0">
          <a:solidFill>
            <a:schemeClr val="tx1"/>
          </a:solidFill>
          <a:latin typeface="+mn-lt"/>
          <a:ea typeface="+mn-ea"/>
          <a:cs typeface="+mn-cs"/>
        </a:defRPr>
      </a:lvl7pPr>
      <a:lvl8pPr marL="2651760" indent="-228600" algn="l" rtl="0" eaLnBrk="1" latinLnBrk="0" hangingPunct="1">
        <a:spcBef>
          <a:spcPct val="20000"/>
        </a:spcBef>
        <a:buClr>
          <a:schemeClr val="accent3"/>
        </a:buClr>
        <a:buFont typeface="Wingdings" panose="05000000000000000000"/>
        <a:buChar char="§"/>
        <a:defRPr kumimoji="0" sz="1800" kern="1200" baseline="0">
          <a:solidFill>
            <a:schemeClr val="tx1"/>
          </a:solidFill>
          <a:latin typeface="+mn-lt"/>
          <a:ea typeface="+mn-ea"/>
          <a:cs typeface="+mn-cs"/>
        </a:defRPr>
      </a:lvl8pPr>
      <a:lvl9pPr marL="2926080" indent="-228600" algn="l" rtl="0" eaLnBrk="1" latinLnBrk="0" hangingPunct="1">
        <a:spcBef>
          <a:spcPct val="20000"/>
        </a:spcBef>
        <a:buClr>
          <a:schemeClr val="accent4"/>
        </a:buClr>
        <a:buFont typeface="Wingdings" panose="05000000000000000000"/>
        <a:buChar char="§"/>
        <a:defRPr kumimoji="0" sz="18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p:nvSpPr>
        <p:spPr>
          <a:xfrm>
            <a:off x="0" y="0"/>
            <a:ext cx="9144000" cy="6858000"/>
          </a:xfrm>
          <a:prstGeom prst="rect">
            <a:avLst/>
          </a:prstGeom>
          <a:solidFill>
            <a:srgbClr val="FFFFFF"/>
          </a:solidFill>
          <a:ln w="12700" cap="flat"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useBgFill="1">
        <p:nvSpPr>
          <p:cNvPr id="8" name="Rounded Rectangle 7"/>
          <p:cNvSpPr/>
          <p:nvPr/>
        </p:nvSpPr>
        <p:spPr>
          <a:xfrm>
            <a:off x="64008" y="69755"/>
            <a:ext cx="9013372" cy="6693408"/>
          </a:xfrm>
          <a:prstGeom prst="roundRect">
            <a:avLst>
              <a:gd name="adj" fmla="val 4929"/>
            </a:avLst>
          </a:prstGeom>
          <a:ln w="6350" cap="sq" cmpd="sng" algn="ctr">
            <a:solidFill>
              <a:schemeClr val="tx1">
                <a:alpha val="100000"/>
              </a:schemeClr>
            </a:solidFill>
            <a:prstDash val="solid"/>
          </a:ln>
          <a:effectLst/>
        </p:spPr>
        <p:style>
          <a:lnRef idx="3">
            <a:schemeClr val="lt1"/>
          </a:lnRef>
          <a:fillRef idx="1001">
            <a:schemeClr val="lt1"/>
          </a:fillRef>
          <a:effectRef idx="1">
            <a:schemeClr val="accent1"/>
          </a:effectRef>
          <a:fontRef idx="minor">
            <a:schemeClr val="lt1"/>
          </a:fontRef>
        </p:style>
        <p:txBody>
          <a:bodyPr anchor="ctr"/>
          <a:lstStyle/>
          <a:p>
            <a:pPr algn="ctr" eaLnBrk="1" latinLnBrk="0" hangingPunct="1"/>
            <a:endParaRPr kumimoji="0" lang="en-US"/>
          </a:p>
        </p:txBody>
      </p:sp>
      <p:sp>
        <p:nvSpPr>
          <p:cNvPr id="22" name="Title Placeholder 21"/>
          <p:cNvSpPr>
            <a:spLocks noGrp="1"/>
          </p:cNvSpPr>
          <p:nvPr>
            <p:ph type="title"/>
          </p:nvPr>
        </p:nvSpPr>
        <p:spPr>
          <a:xfrm>
            <a:off x="914400" y="274638"/>
            <a:ext cx="7772400" cy="1143000"/>
          </a:xfrm>
          <a:prstGeom prst="rect">
            <a:avLst/>
          </a:prstGeom>
        </p:spPr>
        <p:txBody>
          <a:bodyPr bIns="91440"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914400" y="1447800"/>
            <a:ext cx="7772400" cy="4572000"/>
          </a:xfrm>
          <a:prstGeom prst="rect">
            <a:avLst/>
          </a:prstGeom>
        </p:spPr>
        <p:txBody>
          <a:bodyPr>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172200" y="6191250"/>
            <a:ext cx="2476500" cy="476250"/>
          </a:xfrm>
          <a:prstGeom prst="rect">
            <a:avLst/>
          </a:prstGeom>
        </p:spPr>
        <p:txBody>
          <a:bodyPr anchor="ctr" anchorCtr="0"/>
          <a:lstStyle>
            <a:lvl1pPr algn="r" eaLnBrk="1" latinLnBrk="0" hangingPunct="1">
              <a:defRPr kumimoji="0" sz="1400">
                <a:solidFill>
                  <a:schemeClr val="tx2"/>
                </a:solidFill>
              </a:defRPr>
            </a:lvl1pPr>
          </a:lstStyle>
          <a:p>
            <a:fld id="{C16AF7C5-E7A4-4886-968D-C96ADCA10EE6}" type="datetimeFigureOut">
              <a:rPr lang="en-US" smtClean="0"/>
            </a:fld>
            <a:endParaRPr lang="en-US"/>
          </a:p>
        </p:txBody>
      </p:sp>
      <p:sp>
        <p:nvSpPr>
          <p:cNvPr id="3" name="Footer Placeholder 2"/>
          <p:cNvSpPr>
            <a:spLocks noGrp="1"/>
          </p:cNvSpPr>
          <p:nvPr>
            <p:ph type="ftr" sz="quarter" idx="3"/>
          </p:nvPr>
        </p:nvSpPr>
        <p:spPr>
          <a:xfrm>
            <a:off x="914400" y="6172200"/>
            <a:ext cx="3962400" cy="457200"/>
          </a:xfrm>
          <a:prstGeom prst="rect">
            <a:avLst/>
          </a:prstGeom>
        </p:spPr>
        <p:txBody>
          <a:bodyPr anchor="ctr" anchorCtr="0"/>
          <a:lstStyle>
            <a:lvl1pP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146304" y="6210300"/>
            <a:ext cx="457200" cy="457200"/>
          </a:xfrm>
          <a:prstGeom prst="ellipse">
            <a:avLst/>
          </a:prstGeom>
          <a:solidFill>
            <a:schemeClr val="accent1"/>
          </a:solidFill>
        </p:spPr>
        <p:txBody>
          <a:bodyPr wrap="none" lIns="0" tIns="0" rIns="0" bIns="0" anchor="ctr" anchorCtr="1">
            <a:noAutofit/>
          </a:bodyPr>
          <a:lstStyle>
            <a:lvl1pPr algn="ctr" eaLnBrk="1" latinLnBrk="0" hangingPunct="1">
              <a:defRPr kumimoji="0" sz="1400">
                <a:solidFill>
                  <a:srgbClr val="FFFFFF"/>
                </a:solidFill>
                <a:latin typeface="+mj-lt"/>
                <a:ea typeface="+mj-ea"/>
                <a:cs typeface="+mj-cs"/>
              </a:defRPr>
            </a:lvl1pPr>
          </a:lstStyle>
          <a:p>
            <a:fld id="{1A0B322C-6A84-4B2E-AA7C-23E8DE48639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4000" kern="1200">
          <a:solidFill>
            <a:schemeClr val="tx2"/>
          </a:solidFill>
          <a:latin typeface="+mj-lt"/>
          <a:ea typeface="+mj-ea"/>
          <a:cs typeface="+mj-cs"/>
        </a:defRPr>
      </a:lvl1pPr>
    </p:titleStyle>
    <p:bodyStyle>
      <a:lvl1pPr marL="274320" indent="-274320" algn="l" rtl="0" eaLnBrk="1" latinLnBrk="0" hangingPunct="1">
        <a:spcBef>
          <a:spcPts val="580"/>
        </a:spcBef>
        <a:buClr>
          <a:schemeClr val="accent1"/>
        </a:buClr>
        <a:buSzPct val="85000"/>
        <a:buFont typeface="Wingdings 2"/>
        <a:buChar char=""/>
        <a:defRPr kumimoji="0" sz="2600" kern="1200">
          <a:solidFill>
            <a:schemeClr val="tx1"/>
          </a:solidFill>
          <a:latin typeface="+mn-lt"/>
          <a:ea typeface="+mn-ea"/>
          <a:cs typeface="+mn-cs"/>
        </a:defRPr>
      </a:lvl1pPr>
      <a:lvl2pPr marL="548640" indent="-228600" algn="l" rtl="0" eaLnBrk="1" latinLnBrk="0" hangingPunct="1">
        <a:spcBef>
          <a:spcPts val="370"/>
        </a:spcBef>
        <a:buClr>
          <a:schemeClr val="accent2"/>
        </a:buClr>
        <a:buSzPct val="85000"/>
        <a:buFont typeface="Wingdings 2"/>
        <a:buChar char=""/>
        <a:defRPr kumimoji="0" sz="2400" kern="1200">
          <a:solidFill>
            <a:schemeClr val="tx1"/>
          </a:solidFill>
          <a:latin typeface="+mn-lt"/>
          <a:ea typeface="+mn-ea"/>
          <a:cs typeface="+mn-cs"/>
        </a:defRPr>
      </a:lvl2pPr>
      <a:lvl3pPr marL="822960" indent="-228600" algn="l" rtl="0" eaLnBrk="1" latinLnBrk="0" hangingPunct="1">
        <a:spcBef>
          <a:spcPts val="370"/>
        </a:spcBef>
        <a:buClr>
          <a:schemeClr val="accent1">
            <a:tint val="60000"/>
          </a:schemeClr>
        </a:buClr>
        <a:buSzPct val="8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ts val="370"/>
        </a:spcBef>
        <a:buClr>
          <a:schemeClr val="accent3"/>
        </a:buClr>
        <a:buSzPct val="80000"/>
        <a:buFont typeface="Wingdings 2"/>
        <a:buChar char=""/>
        <a:defRPr kumimoji="0" sz="2000" kern="1200">
          <a:solidFill>
            <a:schemeClr val="tx1"/>
          </a:solidFill>
          <a:latin typeface="+mn-lt"/>
          <a:ea typeface="+mn-ea"/>
          <a:cs typeface="+mn-cs"/>
        </a:defRPr>
      </a:lvl4pPr>
      <a:lvl5pPr marL="1371600" indent="-228600" algn="l" rtl="0" eaLnBrk="1" latinLnBrk="0" hangingPunct="1">
        <a:spcBef>
          <a:spcPts val="370"/>
        </a:spcBef>
        <a:buClr>
          <a:schemeClr val="accent3"/>
        </a:buClr>
        <a:buFontTx/>
        <a:buChar char="o"/>
        <a:defRPr kumimoji="0" sz="2000" kern="1200">
          <a:solidFill>
            <a:schemeClr val="tx1"/>
          </a:solidFill>
          <a:latin typeface="+mn-lt"/>
          <a:ea typeface="+mn-ea"/>
          <a:cs typeface="+mn-cs"/>
        </a:defRPr>
      </a:lvl5pPr>
      <a:lvl6pPr marL="1645920" indent="-228600" algn="l" rtl="0" eaLnBrk="1" latinLnBrk="0" hangingPunct="1">
        <a:spcBef>
          <a:spcPts val="370"/>
        </a:spcBef>
        <a:buClr>
          <a:schemeClr val="accent3"/>
        </a:buClr>
        <a:buChar char="•"/>
        <a:defRPr kumimoji="0" sz="1800" kern="1200" baseline="0">
          <a:solidFill>
            <a:schemeClr val="tx1"/>
          </a:solidFill>
          <a:latin typeface="+mn-lt"/>
          <a:ea typeface="+mn-ea"/>
          <a:cs typeface="+mn-cs"/>
        </a:defRPr>
      </a:lvl6pPr>
      <a:lvl7pPr marL="1920240" indent="-228600" algn="l" rtl="0" eaLnBrk="1" latinLnBrk="0" hangingPunct="1">
        <a:spcBef>
          <a:spcPts val="370"/>
        </a:spcBef>
        <a:buClr>
          <a:schemeClr val="accent2"/>
        </a:buClr>
        <a:buChar char="•"/>
        <a:defRPr kumimoji="0" sz="1800" kern="1200">
          <a:solidFill>
            <a:schemeClr val="tx1"/>
          </a:solidFill>
          <a:latin typeface="+mn-lt"/>
          <a:ea typeface="+mn-ea"/>
          <a:cs typeface="+mn-cs"/>
        </a:defRPr>
      </a:lvl7pPr>
      <a:lvl8pPr marL="2194560" indent="-228600" algn="l" rtl="0" eaLnBrk="1" latinLnBrk="0" hangingPunct="1">
        <a:spcBef>
          <a:spcPts val="370"/>
        </a:spcBef>
        <a:buClr>
          <a:schemeClr val="accent1">
            <a:tint val="60000"/>
          </a:schemeClr>
        </a:buClr>
        <a:buChar char="•"/>
        <a:defRPr kumimoji="0" sz="1800" kern="1200">
          <a:solidFill>
            <a:schemeClr val="tx1"/>
          </a:solidFill>
          <a:latin typeface="+mn-lt"/>
          <a:ea typeface="+mn-ea"/>
          <a:cs typeface="+mn-cs"/>
        </a:defRPr>
      </a:lvl8pPr>
      <a:lvl9pPr marL="2468880" indent="-228600" algn="l" rtl="0" eaLnBrk="1" latinLnBrk="0" hangingPunct="1">
        <a:spcBef>
          <a:spcPts val="370"/>
        </a:spcBef>
        <a:buClr>
          <a:schemeClr val="accent2">
            <a:tint val="60000"/>
          </a:schemeClr>
        </a:buClr>
        <a:buChar char="•"/>
        <a:defRPr kumimoji="0" sz="18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3.xml"/><Relationship Id="rId1"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normAutofit/>
          </a:bodyPr>
          <a:lstStyle/>
          <a:p>
            <a:endParaRPr lang="en-US" dirty="0"/>
          </a:p>
        </p:txBody>
      </p:sp>
      <p:sp>
        <p:nvSpPr>
          <p:cNvPr id="2" name="Title 1"/>
          <p:cNvSpPr>
            <a:spLocks noGrp="1"/>
          </p:cNvSpPr>
          <p:nvPr>
            <p:ph type="ctrTitle"/>
          </p:nvPr>
        </p:nvSpPr>
        <p:spPr/>
        <p:txBody>
          <a:bodyPr/>
          <a:lstStyle/>
          <a:p>
            <a:r>
              <a:rPr lang="en-US" dirty="0" smtClean="0"/>
              <a:t>Software Testing</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quality</a:t>
            </a:r>
            <a:endParaRPr lang="en-US" dirty="0"/>
          </a:p>
        </p:txBody>
      </p:sp>
      <p:sp>
        <p:nvSpPr>
          <p:cNvPr id="3" name="Content Placeholder 2"/>
          <p:cNvSpPr>
            <a:spLocks noGrp="1"/>
          </p:cNvSpPr>
          <p:nvPr>
            <p:ph sz="quarter" idx="1"/>
          </p:nvPr>
        </p:nvSpPr>
        <p:spPr/>
        <p:txBody>
          <a:bodyPr/>
          <a:lstStyle/>
          <a:p>
            <a:r>
              <a:rPr lang="en-US" dirty="0" smtClean="0"/>
              <a:t>Software quality is:</a:t>
            </a:r>
            <a:endParaRPr lang="en-US" dirty="0" smtClean="0"/>
          </a:p>
          <a:p>
            <a:r>
              <a:rPr lang="en-US" dirty="0" smtClean="0"/>
              <a:t>1. The degree to which a system, component, or process meets specified requirements.</a:t>
            </a:r>
            <a:endParaRPr lang="en-US" dirty="0" smtClean="0"/>
          </a:p>
          <a:p>
            <a:r>
              <a:rPr lang="en-US" dirty="0" smtClean="0"/>
              <a:t>2. The degree to which a system, component, or process meets customer or user needs or expectations.</a:t>
            </a:r>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An effective quality process must focus on </a:t>
            </a:r>
            <a:endParaRPr lang="en-US" dirty="0"/>
          </a:p>
        </p:txBody>
      </p:sp>
      <p:sp>
        <p:nvSpPr>
          <p:cNvPr id="3" name="Content Placeholder 2"/>
          <p:cNvSpPr>
            <a:spLocks noGrp="1"/>
          </p:cNvSpPr>
          <p:nvPr>
            <p:ph sz="quarter" idx="1"/>
          </p:nvPr>
        </p:nvSpPr>
        <p:spPr/>
        <p:txBody>
          <a:bodyPr>
            <a:noAutofit/>
          </a:bodyPr>
          <a:lstStyle/>
          <a:p>
            <a:r>
              <a:rPr lang="en-US" sz="1600" dirty="0"/>
              <a:t> </a:t>
            </a:r>
            <a:r>
              <a:rPr lang="en-US" sz="1600" dirty="0" smtClean="0"/>
              <a:t>Paying much attention to customer’s requirements</a:t>
            </a:r>
            <a:endParaRPr lang="en-US" sz="1600" dirty="0" smtClean="0"/>
          </a:p>
          <a:p>
            <a:pPr lvl="1"/>
            <a:r>
              <a:rPr lang="en-US" sz="1600" dirty="0" smtClean="0"/>
              <a:t>Even a bug-free program is a failure if it doesn't solve the customer's problem.</a:t>
            </a:r>
            <a:endParaRPr lang="en-US" sz="1600" dirty="0" smtClean="0"/>
          </a:p>
          <a:p>
            <a:r>
              <a:rPr lang="en-US" sz="1600" dirty="0" smtClean="0"/>
              <a:t>Making efforts to continuously improve quality</a:t>
            </a:r>
            <a:endParaRPr lang="en-US" sz="1600" dirty="0" smtClean="0"/>
          </a:p>
          <a:p>
            <a:pPr lvl="1"/>
            <a:r>
              <a:rPr lang="en-US" sz="1600" dirty="0" smtClean="0"/>
              <a:t>It involves analyzing test results from the previous sprint to improve the testing strategy for the next one.</a:t>
            </a:r>
            <a:endParaRPr lang="en-US" sz="1600" dirty="0" smtClean="0"/>
          </a:p>
          <a:p>
            <a:r>
              <a:rPr lang="en-US" sz="1600" dirty="0" smtClean="0"/>
              <a:t>Integrating measurement processes with product design and development</a:t>
            </a:r>
            <a:endParaRPr lang="en-US" sz="1600" dirty="0" smtClean="0"/>
          </a:p>
          <a:p>
            <a:pPr lvl="1"/>
            <a:r>
              <a:rPr lang="en-US" sz="1600" dirty="0" smtClean="0"/>
              <a:t>You cannot manage what you cannot measure. An effective process uses data to drive decisions rather than "gut feelings.“</a:t>
            </a:r>
            <a:endParaRPr lang="en-US" sz="1600" dirty="0" smtClean="0"/>
          </a:p>
          <a:p>
            <a:pPr lvl="1"/>
            <a:r>
              <a:rPr lang="en-US" sz="1600" dirty="0" smtClean="0"/>
              <a:t>Quality must be measured during design and development, not just after</a:t>
            </a:r>
            <a:endParaRPr lang="en-US" sz="1600" dirty="0" smtClean="0"/>
          </a:p>
          <a:p>
            <a:r>
              <a:rPr lang="en-US" sz="1600" dirty="0" smtClean="0"/>
              <a:t>Pushing the quality concept down to the lowest level of the organization</a:t>
            </a:r>
            <a:endParaRPr lang="en-US" sz="1600" dirty="0" smtClean="0"/>
          </a:p>
          <a:p>
            <a:pPr lvl="1"/>
            <a:r>
              <a:rPr lang="en-US" sz="1600" dirty="0" smtClean="0"/>
              <a:t>Quality is not the sole responsibility of the "QA Department." It is a cultural mindset that must be shared by every developer, designer, and product manager.</a:t>
            </a:r>
            <a:endParaRPr lang="en-US" sz="1600" dirty="0" smtClean="0"/>
          </a:p>
          <a:p>
            <a:pPr lvl="1"/>
            <a:r>
              <a:rPr lang="en-US" sz="1600" dirty="0" smtClean="0"/>
              <a:t>This encourages </a:t>
            </a:r>
            <a:r>
              <a:rPr lang="en-US" sz="1600" b="1" dirty="0" smtClean="0"/>
              <a:t>Total Quality Management (TQM)</a:t>
            </a:r>
            <a:r>
              <a:rPr lang="en-US" sz="1600" dirty="0" smtClean="0"/>
              <a:t>.</a:t>
            </a:r>
            <a:endParaRPr lang="en-US" sz="16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An effective quality process must focus on </a:t>
            </a:r>
            <a:endParaRPr lang="en-US" dirty="0"/>
          </a:p>
        </p:txBody>
      </p:sp>
      <p:sp>
        <p:nvSpPr>
          <p:cNvPr id="3" name="Content Placeholder 2"/>
          <p:cNvSpPr>
            <a:spLocks noGrp="1"/>
          </p:cNvSpPr>
          <p:nvPr>
            <p:ph sz="quarter" idx="1"/>
          </p:nvPr>
        </p:nvSpPr>
        <p:spPr/>
        <p:txBody>
          <a:bodyPr>
            <a:normAutofit/>
          </a:bodyPr>
          <a:lstStyle/>
          <a:p>
            <a:r>
              <a:rPr lang="en-US" dirty="0"/>
              <a:t> </a:t>
            </a:r>
            <a:r>
              <a:rPr lang="en-US" dirty="0" smtClean="0"/>
              <a:t>Developing </a:t>
            </a:r>
            <a:r>
              <a:rPr lang="en-US" dirty="0"/>
              <a:t>a system-level perspective with an emphasis on </a:t>
            </a:r>
            <a:r>
              <a:rPr lang="en-US" dirty="0" smtClean="0"/>
              <a:t>methodology and process</a:t>
            </a:r>
            <a:endParaRPr lang="en-US" dirty="0" smtClean="0"/>
          </a:p>
          <a:p>
            <a:pPr lvl="1"/>
            <a:r>
              <a:rPr lang="en-US" dirty="0"/>
              <a:t>A "system-level perspective" means looking at the software as a whole rather than as isolated functions. This requires a standardized methodology (like Agile, DevOps, or V-Model).</a:t>
            </a:r>
            <a:endParaRPr lang="en-US" dirty="0"/>
          </a:p>
          <a:p>
            <a:r>
              <a:rPr lang="en-US" dirty="0" smtClean="0"/>
              <a:t>Eliminating </a:t>
            </a:r>
            <a:r>
              <a:rPr lang="en-US" dirty="0"/>
              <a:t>waste through continuous </a:t>
            </a:r>
            <a:r>
              <a:rPr lang="en-US" dirty="0" smtClean="0"/>
              <a:t>improvement</a:t>
            </a:r>
            <a:endParaRPr lang="en-US" dirty="0" smtClean="0"/>
          </a:p>
          <a:p>
            <a:pPr lvl="1"/>
            <a:r>
              <a:rPr lang="en-US" dirty="0"/>
              <a:t>Derived from </a:t>
            </a:r>
            <a:r>
              <a:rPr lang="en-US" b="1" dirty="0"/>
              <a:t>Lean Manufacturing</a:t>
            </a:r>
            <a:r>
              <a:rPr lang="en-US" dirty="0"/>
              <a:t>, eliminating waste (Muda) in software means removing any activity that does not add value to the final product.</a:t>
            </a:r>
            <a:endParaRPr lang="en-US" dirty="0"/>
          </a:p>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Software Quality</a:t>
            </a:r>
            <a:endParaRPr lang="en-US" dirty="0"/>
          </a:p>
        </p:txBody>
      </p:sp>
      <p:sp>
        <p:nvSpPr>
          <p:cNvPr id="3" name="Content Placeholder 2"/>
          <p:cNvSpPr>
            <a:spLocks noGrp="1"/>
          </p:cNvSpPr>
          <p:nvPr>
            <p:ph sz="quarter" idx="1"/>
          </p:nvPr>
        </p:nvSpPr>
        <p:spPr/>
        <p:txBody>
          <a:bodyPr>
            <a:normAutofit fontScale="92500" lnSpcReduction="10000"/>
          </a:bodyPr>
          <a:lstStyle/>
          <a:p>
            <a:r>
              <a:rPr lang="en-US" dirty="0" smtClean="0"/>
              <a:t>ISO 9126</a:t>
            </a:r>
            <a:endParaRPr lang="en-US" dirty="0" smtClean="0"/>
          </a:p>
          <a:p>
            <a:pPr lvl="1"/>
            <a:r>
              <a:rPr lang="en-US" dirty="0" smtClean="0"/>
              <a:t>The </a:t>
            </a:r>
            <a:r>
              <a:rPr lang="en-US" dirty="0"/>
              <a:t>ISO 9126 quality model was developed by an expert group </a:t>
            </a:r>
            <a:r>
              <a:rPr lang="en-US" dirty="0" smtClean="0"/>
              <a:t>under the </a:t>
            </a:r>
            <a:r>
              <a:rPr lang="en-US" dirty="0"/>
              <a:t>aegis of the International Organization for Standardization (ISO). </a:t>
            </a:r>
            <a:endParaRPr lang="en-US" dirty="0" smtClean="0"/>
          </a:p>
          <a:p>
            <a:pPr lvl="1"/>
            <a:r>
              <a:rPr lang="en-US" dirty="0" smtClean="0"/>
              <a:t>The document </a:t>
            </a:r>
            <a:r>
              <a:rPr lang="en-US" dirty="0"/>
              <a:t>ISO 9126 defines six broad, independent categories of quality characteristics</a:t>
            </a:r>
            <a:endParaRPr lang="en-US" dirty="0"/>
          </a:p>
          <a:p>
            <a:pPr lvl="1"/>
            <a:r>
              <a:rPr lang="en-US" dirty="0"/>
              <a:t>functionality, reliability, usability, efficiency, maintainability, and </a:t>
            </a:r>
            <a:r>
              <a:rPr lang="en-US" dirty="0" smtClean="0"/>
              <a:t>portability</a:t>
            </a:r>
            <a:endParaRPr lang="en-US" dirty="0" smtClean="0"/>
          </a:p>
          <a:p>
            <a:r>
              <a:rPr lang="en-US" dirty="0" smtClean="0"/>
              <a:t>CMM</a:t>
            </a:r>
            <a:endParaRPr lang="en-US" dirty="0" smtClean="0"/>
          </a:p>
          <a:p>
            <a:pPr lvl="1"/>
            <a:r>
              <a:rPr lang="en-US" dirty="0"/>
              <a:t>In the CMM framework, a development process is evaluated on </a:t>
            </a:r>
            <a:r>
              <a:rPr lang="en-US" dirty="0" smtClean="0"/>
              <a:t>a scale </a:t>
            </a:r>
            <a:r>
              <a:rPr lang="en-US" dirty="0"/>
              <a:t>of 1–5, commonly known as level 1 through level 5. For example, </a:t>
            </a:r>
            <a:r>
              <a:rPr lang="en-US" dirty="0" smtClean="0"/>
              <a:t>level1 </a:t>
            </a:r>
            <a:r>
              <a:rPr lang="en-US" dirty="0"/>
              <a:t>is called the initial level, whereas level 5—optimized—is the highest level </a:t>
            </a:r>
            <a:r>
              <a:rPr lang="en-US" dirty="0" smtClean="0"/>
              <a:t>of process </a:t>
            </a:r>
            <a:r>
              <a:rPr lang="en-US" dirty="0"/>
              <a:t>maturity.</a:t>
            </a:r>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descr="3-Figure1-1.png"/>
          <p:cNvPicPr>
            <a:picLocks noGrp="1" noChangeAspect="1"/>
          </p:cNvPicPr>
          <p:nvPr>
            <p:ph sz="quarter" idx="1"/>
          </p:nvPr>
        </p:nvPicPr>
        <p:blipFill>
          <a:blip r:embed="rId1"/>
          <a:stretch>
            <a:fillRect/>
          </a:stretch>
        </p:blipFill>
        <p:spPr>
          <a:xfrm>
            <a:off x="914400" y="1752600"/>
            <a:ext cx="7772400" cy="3657600"/>
          </a:xfr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Functionality </a:t>
            </a:r>
            <a:endParaRPr lang="en-US" dirty="0"/>
          </a:p>
        </p:txBody>
      </p:sp>
      <p:sp>
        <p:nvSpPr>
          <p:cNvPr id="3" name="Content Placeholder 2"/>
          <p:cNvSpPr>
            <a:spLocks noGrp="1"/>
          </p:cNvSpPr>
          <p:nvPr>
            <p:ph sz="quarter" idx="1"/>
          </p:nvPr>
        </p:nvSpPr>
        <p:spPr/>
        <p:txBody>
          <a:bodyPr>
            <a:noAutofit/>
          </a:bodyPr>
          <a:lstStyle/>
          <a:p>
            <a:r>
              <a:rPr lang="en-US" sz="2400" dirty="0"/>
              <a:t>This attribute refers to the software's ability to provide the functions that meet stated and implied needs. In simple terms, it's about whether the software does what it's supposed to do. A software product's functionality is determined by factors like its </a:t>
            </a:r>
            <a:r>
              <a:rPr lang="en-US" sz="2400" b="1" dirty="0">
                <a:solidFill>
                  <a:srgbClr val="FF0000"/>
                </a:solidFill>
              </a:rPr>
              <a:t>suitability, accuracy, interoperability, security, and compliance </a:t>
            </a:r>
            <a:r>
              <a:rPr lang="en-US" sz="2400" dirty="0"/>
              <a:t>with regulations</a:t>
            </a:r>
            <a:r>
              <a:rPr lang="en-US" sz="2400" dirty="0" smtClean="0"/>
              <a:t>.</a:t>
            </a:r>
            <a:endParaRPr lang="en-US" sz="2400" dirty="0" smtClean="0"/>
          </a:p>
          <a:p>
            <a:r>
              <a:rPr lang="en-US" sz="2400" dirty="0"/>
              <a:t>Example: An e-commerce website should have the functionality to allow users to add items to a shopping cart, process payments securely, and track orders. Without these core functions, the website fails its primary purpose.</a:t>
            </a:r>
            <a:endParaRPr lang="en-US" sz="24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Reliability</a:t>
            </a:r>
            <a:r>
              <a:rPr lang="en-US" dirty="0"/>
              <a:t> </a:t>
            </a:r>
            <a:endParaRPr lang="en-US" dirty="0"/>
          </a:p>
        </p:txBody>
      </p:sp>
      <p:sp>
        <p:nvSpPr>
          <p:cNvPr id="3" name="Content Placeholder 2"/>
          <p:cNvSpPr>
            <a:spLocks noGrp="1"/>
          </p:cNvSpPr>
          <p:nvPr>
            <p:ph sz="quarter" idx="1"/>
          </p:nvPr>
        </p:nvSpPr>
        <p:spPr/>
        <p:txBody>
          <a:bodyPr>
            <a:noAutofit/>
          </a:bodyPr>
          <a:lstStyle/>
          <a:p>
            <a:r>
              <a:rPr lang="en-US" sz="2000" dirty="0"/>
              <a:t>This characteristic measures the software's ability to maintain its performance level under specific conditions for a defined period. A reliable system is one that you can count on to be available and to perform correctly without frequent failures. Sub-characteristics include </a:t>
            </a:r>
            <a:r>
              <a:rPr lang="en-US" sz="2000" b="1" dirty="0">
                <a:solidFill>
                  <a:srgbClr val="FF0000"/>
                </a:solidFill>
              </a:rPr>
              <a:t>maturity</a:t>
            </a:r>
            <a:r>
              <a:rPr lang="en-US" sz="2000" dirty="0">
                <a:solidFill>
                  <a:srgbClr val="FF0000"/>
                </a:solidFill>
              </a:rPr>
              <a:t> </a:t>
            </a:r>
            <a:r>
              <a:rPr lang="en-US" sz="2000" dirty="0"/>
              <a:t>(the frequency of failures), </a:t>
            </a:r>
            <a:r>
              <a:rPr lang="en-US" sz="2000" b="1" dirty="0">
                <a:solidFill>
                  <a:srgbClr val="FF0000"/>
                </a:solidFill>
              </a:rPr>
              <a:t>fault tolerance</a:t>
            </a:r>
            <a:r>
              <a:rPr lang="en-US" sz="2000" dirty="0">
                <a:solidFill>
                  <a:srgbClr val="FF0000"/>
                </a:solidFill>
              </a:rPr>
              <a:t> </a:t>
            </a:r>
            <a:r>
              <a:rPr lang="en-US" sz="2000" dirty="0"/>
              <a:t>(the ability to operate even when a component fails), and </a:t>
            </a:r>
            <a:r>
              <a:rPr lang="en-US" sz="2000" b="1" dirty="0">
                <a:solidFill>
                  <a:srgbClr val="FF0000"/>
                </a:solidFill>
              </a:rPr>
              <a:t>recoverability</a:t>
            </a:r>
            <a:r>
              <a:rPr lang="en-US" sz="2000" dirty="0">
                <a:solidFill>
                  <a:srgbClr val="FF0000"/>
                </a:solidFill>
              </a:rPr>
              <a:t> </a:t>
            </a:r>
            <a:r>
              <a:rPr lang="en-US" sz="2000" dirty="0"/>
              <a:t>(the ability to recover data and return to a specified state after a failure</a:t>
            </a:r>
            <a:r>
              <a:rPr lang="en-US" sz="2000" dirty="0" smtClean="0"/>
              <a:t>).</a:t>
            </a:r>
            <a:endParaRPr lang="en-US" sz="2000" dirty="0" smtClean="0"/>
          </a:p>
          <a:p>
            <a:r>
              <a:rPr lang="en-US" sz="2000" dirty="0" smtClean="0"/>
              <a:t>Example</a:t>
            </a:r>
            <a:r>
              <a:rPr lang="en-US" sz="2000" dirty="0"/>
              <a:t>: An online banking system must be highly reliable. If the network goes down for a few seconds, it should be able to recover and continue the transaction without losing data or failing.</a:t>
            </a:r>
            <a:endParaRPr lang="en-US" sz="20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Usability</a:t>
            </a:r>
            <a:r>
              <a:rPr lang="en-US" dirty="0"/>
              <a:t> </a:t>
            </a:r>
            <a:endParaRPr lang="en-US" dirty="0"/>
          </a:p>
        </p:txBody>
      </p:sp>
      <p:sp>
        <p:nvSpPr>
          <p:cNvPr id="3" name="Content Placeholder 2"/>
          <p:cNvSpPr>
            <a:spLocks noGrp="1"/>
          </p:cNvSpPr>
          <p:nvPr>
            <p:ph sz="quarter" idx="1"/>
          </p:nvPr>
        </p:nvSpPr>
        <p:spPr/>
        <p:txBody>
          <a:bodyPr/>
          <a:lstStyle/>
          <a:p>
            <a:r>
              <a:rPr lang="en-US" dirty="0" smtClean="0"/>
              <a:t>Usability </a:t>
            </a:r>
            <a:r>
              <a:rPr lang="en-US" dirty="0"/>
              <a:t>is about how easy it is for users to understand, learn, and operate the software. A usable product is intuitive and requires minimal effort from the user. Its sub-characteristics include </a:t>
            </a:r>
            <a:r>
              <a:rPr lang="en-US" b="1" dirty="0">
                <a:solidFill>
                  <a:srgbClr val="FF0000"/>
                </a:solidFill>
              </a:rPr>
              <a:t>understandability</a:t>
            </a:r>
            <a:r>
              <a:rPr lang="en-US" dirty="0">
                <a:solidFill>
                  <a:srgbClr val="FF0000"/>
                </a:solidFill>
              </a:rPr>
              <a:t>, </a:t>
            </a:r>
            <a:r>
              <a:rPr lang="en-US" b="1" dirty="0">
                <a:solidFill>
                  <a:srgbClr val="FF0000"/>
                </a:solidFill>
              </a:rPr>
              <a:t>learnability</a:t>
            </a:r>
            <a:r>
              <a:rPr lang="en-US" dirty="0">
                <a:solidFill>
                  <a:srgbClr val="FF0000"/>
                </a:solidFill>
              </a:rPr>
              <a:t>, </a:t>
            </a:r>
            <a:r>
              <a:rPr lang="en-US" b="1" dirty="0">
                <a:solidFill>
                  <a:srgbClr val="FF0000"/>
                </a:solidFill>
              </a:rPr>
              <a:t>operability</a:t>
            </a:r>
            <a:r>
              <a:rPr lang="en-US" dirty="0">
                <a:solidFill>
                  <a:srgbClr val="FF0000"/>
                </a:solidFill>
              </a:rPr>
              <a:t>, and </a:t>
            </a:r>
            <a:r>
              <a:rPr lang="en-US" b="1" dirty="0">
                <a:solidFill>
                  <a:srgbClr val="FF0000"/>
                </a:solidFill>
              </a:rPr>
              <a:t>attractiveness</a:t>
            </a:r>
            <a:r>
              <a:rPr lang="en-US" dirty="0" smtClean="0">
                <a:solidFill>
                  <a:srgbClr val="FF0000"/>
                </a:solidFill>
              </a:rPr>
              <a:t>.</a:t>
            </a:r>
            <a:endParaRPr lang="en-US" dirty="0" smtClean="0">
              <a:solidFill>
                <a:srgbClr val="FF0000"/>
              </a:solidFill>
            </a:endParaRPr>
          </a:p>
          <a:p>
            <a:r>
              <a:rPr lang="en-US" b="1" dirty="0"/>
              <a:t>Example</a:t>
            </a:r>
            <a:r>
              <a:rPr lang="en-US" dirty="0"/>
              <a:t>: A mobile app with a clean and intuitive interface, clear icons, and straightforward navigation is highly usable. A user should be able to figure out how to complete a task, such as ordering food, without needing a manual.</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Efficiency</a:t>
            </a:r>
            <a:r>
              <a:rPr lang="en-US" dirty="0"/>
              <a:t> </a:t>
            </a:r>
            <a:endParaRPr lang="en-US" dirty="0"/>
          </a:p>
        </p:txBody>
      </p:sp>
      <p:sp>
        <p:nvSpPr>
          <p:cNvPr id="3" name="Content Placeholder 2"/>
          <p:cNvSpPr>
            <a:spLocks noGrp="1"/>
          </p:cNvSpPr>
          <p:nvPr>
            <p:ph sz="quarter" idx="1"/>
          </p:nvPr>
        </p:nvSpPr>
        <p:spPr/>
        <p:txBody>
          <a:bodyPr/>
          <a:lstStyle/>
          <a:p>
            <a:r>
              <a:rPr lang="en-US" dirty="0"/>
              <a:t>This refers to the relationship between the software's performance level and the resources it uses. An efficient system performs its functions using an appropriate amount of resources, like processing time, memory, or disk space. This is measured by </a:t>
            </a:r>
            <a:r>
              <a:rPr lang="en-US" b="1" dirty="0">
                <a:solidFill>
                  <a:srgbClr val="FF0000"/>
                </a:solidFill>
              </a:rPr>
              <a:t>time behavior</a:t>
            </a:r>
            <a:r>
              <a:rPr lang="en-US" dirty="0">
                <a:solidFill>
                  <a:srgbClr val="FF0000"/>
                </a:solidFill>
              </a:rPr>
              <a:t> (response time and throughput) and </a:t>
            </a:r>
            <a:r>
              <a:rPr lang="en-US" b="1" dirty="0">
                <a:solidFill>
                  <a:srgbClr val="FF0000"/>
                </a:solidFill>
              </a:rPr>
              <a:t>resource utilization</a:t>
            </a:r>
            <a:r>
              <a:rPr lang="en-US" dirty="0" smtClean="0">
                <a:solidFill>
                  <a:srgbClr val="FF0000"/>
                </a:solidFill>
              </a:rPr>
              <a:t>.</a:t>
            </a:r>
            <a:endParaRPr lang="en-US" dirty="0" smtClean="0">
              <a:solidFill>
                <a:srgbClr val="FF0000"/>
              </a:solidFill>
            </a:endParaRPr>
          </a:p>
          <a:p>
            <a:r>
              <a:rPr lang="en-US" b="1" dirty="0"/>
              <a:t>Example</a:t>
            </a:r>
            <a:r>
              <a:rPr lang="en-US" dirty="0"/>
              <a:t>: A video editing software that renders a video quickly without consuming excessive CPU and memory is considered efficient.</a:t>
            </a:r>
            <a:endParaRPr lang="en-US" dirty="0">
              <a:solidFill>
                <a:srgbClr val="FF0000"/>
              </a:solidFil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Maintainability</a:t>
            </a:r>
            <a:r>
              <a:rPr lang="en-US" dirty="0"/>
              <a:t> </a:t>
            </a:r>
            <a:endParaRPr lang="en-US" dirty="0"/>
          </a:p>
        </p:txBody>
      </p:sp>
      <p:sp>
        <p:nvSpPr>
          <p:cNvPr id="3" name="Content Placeholder 2"/>
          <p:cNvSpPr>
            <a:spLocks noGrp="1"/>
          </p:cNvSpPr>
          <p:nvPr>
            <p:ph sz="quarter" idx="1"/>
          </p:nvPr>
        </p:nvSpPr>
        <p:spPr/>
        <p:txBody>
          <a:bodyPr/>
          <a:lstStyle/>
          <a:p>
            <a:r>
              <a:rPr lang="en-US" sz="2000" dirty="0"/>
              <a:t>Maintainability is the ease with which a software product can be modified, either to correct defects, add new features, or adapt to a changing environment. This is a critical factor for long-term software health. Key sub-characteristics include </a:t>
            </a:r>
            <a:r>
              <a:rPr lang="en-US" sz="2000" b="1" dirty="0">
                <a:solidFill>
                  <a:srgbClr val="FF0000"/>
                </a:solidFill>
              </a:rPr>
              <a:t>analyzability</a:t>
            </a:r>
            <a:r>
              <a:rPr lang="en-US" sz="2000" dirty="0">
                <a:solidFill>
                  <a:srgbClr val="FF0000"/>
                </a:solidFill>
              </a:rPr>
              <a:t> </a:t>
            </a:r>
            <a:r>
              <a:rPr lang="en-US" sz="2000" dirty="0"/>
              <a:t>(the effort to diagnose a problem), </a:t>
            </a:r>
            <a:r>
              <a:rPr lang="en-US" sz="2000" b="1" dirty="0">
                <a:solidFill>
                  <a:srgbClr val="FF0000"/>
                </a:solidFill>
              </a:rPr>
              <a:t>changeability</a:t>
            </a:r>
            <a:r>
              <a:rPr lang="en-US" sz="2000" dirty="0">
                <a:solidFill>
                  <a:srgbClr val="FF0000"/>
                </a:solidFill>
              </a:rPr>
              <a:t> </a:t>
            </a:r>
            <a:r>
              <a:rPr lang="en-US" sz="2000" dirty="0"/>
              <a:t>(the effort to implement a change), </a:t>
            </a:r>
            <a:r>
              <a:rPr lang="en-US" sz="2000" b="1" dirty="0">
                <a:solidFill>
                  <a:srgbClr val="FF0000"/>
                </a:solidFill>
              </a:rPr>
              <a:t>stability</a:t>
            </a:r>
            <a:r>
              <a:rPr lang="en-US" sz="2000" dirty="0">
                <a:solidFill>
                  <a:srgbClr val="FF0000"/>
                </a:solidFill>
              </a:rPr>
              <a:t> </a:t>
            </a:r>
            <a:r>
              <a:rPr lang="en-US" sz="2000" dirty="0"/>
              <a:t>(the risk of unexpected effects from modifications), and </a:t>
            </a:r>
            <a:r>
              <a:rPr lang="en-US" sz="2000" b="1" dirty="0">
                <a:solidFill>
                  <a:srgbClr val="FF0000"/>
                </a:solidFill>
              </a:rPr>
              <a:t>testability</a:t>
            </a:r>
            <a:r>
              <a:rPr lang="en-US" sz="2000" dirty="0">
                <a:solidFill>
                  <a:srgbClr val="FF0000"/>
                </a:solidFill>
              </a:rPr>
              <a:t> </a:t>
            </a:r>
            <a:r>
              <a:rPr lang="en-US" sz="2000" dirty="0"/>
              <a:t>(the effort to test a modified product</a:t>
            </a:r>
            <a:r>
              <a:rPr lang="en-US" sz="2000" dirty="0" smtClean="0"/>
              <a:t>)</a:t>
            </a:r>
            <a:endParaRPr lang="en-US" sz="2000" dirty="0" smtClean="0"/>
          </a:p>
          <a:p>
            <a:r>
              <a:rPr lang="en-US" sz="2000" b="1" dirty="0"/>
              <a:t>Example</a:t>
            </a:r>
            <a:r>
              <a:rPr lang="en-US" sz="2000" dirty="0"/>
              <a:t>: A well-structured software with modular code and clear documentation is easy to maintain. A developer can quickly identify where a bug is located and fix it without causing new issues.</a:t>
            </a:r>
            <a:endParaRPr lang="en-US" sz="2000"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Portability</a:t>
            </a:r>
            <a:r>
              <a:rPr lang="en-US" dirty="0"/>
              <a:t> </a:t>
            </a:r>
            <a:endParaRPr lang="en-US" dirty="0"/>
          </a:p>
        </p:txBody>
      </p:sp>
      <p:sp>
        <p:nvSpPr>
          <p:cNvPr id="3" name="Content Placeholder 2"/>
          <p:cNvSpPr>
            <a:spLocks noGrp="1"/>
          </p:cNvSpPr>
          <p:nvPr>
            <p:ph sz="quarter" idx="1"/>
          </p:nvPr>
        </p:nvSpPr>
        <p:spPr/>
        <p:txBody>
          <a:bodyPr>
            <a:noAutofit/>
          </a:bodyPr>
          <a:lstStyle/>
          <a:p>
            <a:r>
              <a:rPr lang="en-US" sz="2400" dirty="0"/>
              <a:t>This characteristic measures the software's ability to be transferred from one environment to another. This could be moving it to a different operating system, a new hardware platform, or even just a new browser. It includes sub-characteristics like </a:t>
            </a:r>
            <a:r>
              <a:rPr lang="en-US" sz="2400" b="1" dirty="0">
                <a:solidFill>
                  <a:srgbClr val="FF0000"/>
                </a:solidFill>
              </a:rPr>
              <a:t>adaptability</a:t>
            </a:r>
            <a:r>
              <a:rPr lang="en-US" sz="2400" dirty="0"/>
              <a:t>, </a:t>
            </a:r>
            <a:r>
              <a:rPr lang="en-US" sz="2400" b="1" dirty="0" err="1">
                <a:solidFill>
                  <a:srgbClr val="FF0000"/>
                </a:solidFill>
              </a:rPr>
              <a:t>installability</a:t>
            </a:r>
            <a:r>
              <a:rPr lang="en-US" sz="2400" dirty="0"/>
              <a:t>, </a:t>
            </a:r>
            <a:r>
              <a:rPr lang="en-US" sz="2400" b="1" dirty="0" smtClean="0">
                <a:solidFill>
                  <a:srgbClr val="FF0000"/>
                </a:solidFill>
              </a:rPr>
              <a:t>co-existence</a:t>
            </a:r>
            <a:r>
              <a:rPr lang="en-US" sz="2400" dirty="0"/>
              <a:t>, and </a:t>
            </a:r>
            <a:r>
              <a:rPr lang="en-US" sz="2400" b="1" dirty="0" err="1">
                <a:solidFill>
                  <a:srgbClr val="FF0000"/>
                </a:solidFill>
              </a:rPr>
              <a:t>replaceability</a:t>
            </a:r>
            <a:r>
              <a:rPr lang="en-US" sz="2400" dirty="0" smtClean="0"/>
              <a:t>.</a:t>
            </a:r>
            <a:endParaRPr lang="en-US" sz="2400" dirty="0" smtClean="0"/>
          </a:p>
          <a:p>
            <a:r>
              <a:rPr lang="en-US" sz="2400" dirty="0"/>
              <a:t>A web application that works seamlessly on different browsers (Chrome, Firefox, Safari) and operating systems (Windows, </a:t>
            </a:r>
            <a:r>
              <a:rPr lang="en-US" sz="2400" dirty="0" err="1"/>
              <a:t>macOS</a:t>
            </a:r>
            <a:r>
              <a:rPr lang="en-US" sz="2400" dirty="0"/>
              <a:t>, Linux) is highly portable. It can be easily installed and run in a new environment with minimal changes.</a:t>
            </a:r>
            <a:endParaRPr lang="en-US" sz="2400"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sz="quarter" idx="1"/>
          </p:nvPr>
        </p:nvSpPr>
        <p:spPr/>
        <p:txBody>
          <a:bodyPr/>
          <a:lstStyle/>
          <a:p>
            <a:endParaRPr lang="en-US" dirty="0"/>
          </a:p>
        </p:txBody>
      </p:sp>
      <p:pic>
        <p:nvPicPr>
          <p:cNvPr id="5" name="Picture 4"/>
          <p:cNvPicPr>
            <a:picLocks noChangeAspect="1"/>
          </p:cNvPicPr>
          <p:nvPr/>
        </p:nvPicPr>
        <p:blipFill>
          <a:blip r:embed="rId1"/>
          <a:stretch>
            <a:fillRect/>
          </a:stretch>
        </p:blipFill>
        <p:spPr>
          <a:xfrm>
            <a:off x="850198" y="1828800"/>
            <a:ext cx="7900804" cy="3357282"/>
          </a:xfrm>
          <a:prstGeom prst="rect">
            <a:avLst/>
          </a:prstGeom>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Characteristics of Quality</a:t>
            </a:r>
            <a:endParaRPr lang="en-US" dirty="0"/>
          </a:p>
        </p:txBody>
      </p:sp>
      <p:sp>
        <p:nvSpPr>
          <p:cNvPr id="3" name="Content Placeholder 2"/>
          <p:cNvSpPr>
            <a:spLocks noGrp="1"/>
          </p:cNvSpPr>
          <p:nvPr>
            <p:ph sz="quarter" idx="1"/>
          </p:nvPr>
        </p:nvSpPr>
        <p:spPr/>
        <p:txBody>
          <a:bodyPr/>
          <a:lstStyle/>
          <a:p>
            <a:r>
              <a:rPr lang="en-US" dirty="0" smtClean="0"/>
              <a:t>External</a:t>
            </a:r>
            <a:endParaRPr lang="en-US" dirty="0" smtClean="0"/>
          </a:p>
          <a:p>
            <a:pPr lvl="1"/>
            <a:r>
              <a:rPr lang="en-US" dirty="0" smtClean="0"/>
              <a:t>Correctness (?), Usability, Efficiency, Reliability, Integrity, Adaptability, Accuracy, Robustness </a:t>
            </a:r>
            <a:endParaRPr lang="en-US" dirty="0" smtClean="0"/>
          </a:p>
          <a:p>
            <a:pPr marL="457200" lvl="1" indent="0">
              <a:buNone/>
            </a:pPr>
            <a:endParaRPr lang="en-US" dirty="0"/>
          </a:p>
          <a:p>
            <a:r>
              <a:rPr lang="en-US" dirty="0" smtClean="0"/>
              <a:t>Internal</a:t>
            </a:r>
            <a:endParaRPr lang="en-US" dirty="0" smtClean="0"/>
          </a:p>
          <a:p>
            <a:pPr lvl="1"/>
            <a:r>
              <a:rPr lang="en-US" dirty="0" smtClean="0"/>
              <a:t>Maintainability, Readability, Testability, Reusability,  Portability, Flexibility, Understandability</a:t>
            </a:r>
            <a:endParaRPr lang="en-US"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43000" y="762000"/>
            <a:ext cx="7439025"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ight Arrow 1"/>
          <p:cNvSpPr/>
          <p:nvPr/>
        </p:nvSpPr>
        <p:spPr>
          <a:xfrm>
            <a:off x="533400" y="2590800"/>
            <a:ext cx="762000" cy="2286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43000" y="762000"/>
            <a:ext cx="7439025"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ight Arrow 1"/>
          <p:cNvSpPr/>
          <p:nvPr/>
        </p:nvSpPr>
        <p:spPr>
          <a:xfrm>
            <a:off x="533400" y="3048000"/>
            <a:ext cx="762000" cy="2286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43000" y="762000"/>
            <a:ext cx="7439025"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Right Arrow 1"/>
          <p:cNvSpPr/>
          <p:nvPr/>
        </p:nvSpPr>
        <p:spPr>
          <a:xfrm>
            <a:off x="533400" y="3505200"/>
            <a:ext cx="762000" cy="228600"/>
          </a:xfrm>
          <a:prstGeom prst="rightArrow">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3.jpeg"/></Relationships>
</file>

<file path=ppt/theme/theme1.xml><?xml version="1.0" encoding="utf-8"?>
<a:theme xmlns:a="http://schemas.openxmlformats.org/drawingml/2006/main" name="Median">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quity">
  <a:themeElements>
    <a:clrScheme name="Equity">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Equity">
      <a:majorFont>
        <a:latin typeface="Franklin Gothic Book"/>
        <a:ea typeface=""/>
        <a:cs typeface=""/>
        <a:font script="Grek" typeface="Calibri"/>
        <a:font script="Cyrl" typeface="Calibri"/>
        <a:font script="Jpan" typeface="HGｺﾞｼｯｸM"/>
        <a:font script="Hang" typeface="바탕"/>
        <a:font script="Hans" typeface="幼圆"/>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Perpetua"/>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Equity">
      <a:fillStyleLst>
        <a:solidFill>
          <a:schemeClr val="phClr"/>
        </a:solidFill>
        <a:blipFill>
          <a:blip xmlns:r="http://schemas.openxmlformats.org/officeDocument/2006/relationships" r:embed="rId1">
            <a:duotone>
              <a:schemeClr val="phClr">
                <a:tint val="30000"/>
                <a:satMod val="300000"/>
              </a:schemeClr>
              <a:schemeClr val="phClr">
                <a:tint val="40000"/>
                <a:satMod val="200000"/>
              </a:schemeClr>
            </a:duotone>
          </a:blip>
          <a:tile tx="0" ty="0" sx="70000" sy="70000" flip="none" algn="ctr"/>
        </a:blipFill>
        <a:blipFill>
          <a:blip xmlns:r="http://schemas.openxmlformats.org/officeDocument/2006/relationships" r:embed="rId1">
            <a:duotone>
              <a:schemeClr val="phClr">
                <a:shade val="22000"/>
                <a:satMod val="160000"/>
              </a:schemeClr>
              <a:schemeClr val="phClr">
                <a:shade val="45000"/>
                <a:satMod val="100000"/>
              </a:schemeClr>
            </a:duotone>
          </a:blip>
          <a:tile tx="0" ty="0" sx="65000" sy="65000" flip="none" algn="ctr"/>
        </a:blipFill>
      </a:fillStyleLst>
      <a:lnStyleLst>
        <a:ln w="9525" cap="flat" cmpd="sng" algn="ctr">
          <a:solidFill>
            <a:schemeClr val="phClr">
              <a:shade val="60000"/>
              <a:satMod val="110000"/>
            </a:schemeClr>
          </a:solidFill>
          <a:prstDash val="solid"/>
        </a:ln>
        <a:ln w="12700" cap="flat" cmpd="sng" algn="ctr">
          <a:solidFill>
            <a:schemeClr val="phClr"/>
          </a:solidFill>
          <a:prstDash val="solid"/>
        </a:ln>
        <a:ln w="38100" cap="flat" cmpd="sng" algn="ctr">
          <a:solidFill>
            <a:schemeClr val="phClr"/>
          </a:solidFill>
          <a:prstDash val="solid"/>
        </a:ln>
      </a:lnStyleLst>
      <a:effectStyleLst>
        <a:effectStyle>
          <a:effectLst>
            <a:outerShdw blurRad="38100" dist="25400" dir="5400000" algn="t" rotWithShape="0">
              <a:srgbClr val="000000">
                <a:alpha val="50000"/>
              </a:srgbClr>
            </a:outerShdw>
          </a:effectLst>
        </a:effectStyle>
        <a:effectStyle>
          <a:effectLst>
            <a:outerShdw blurRad="38100" dist="25400" dir="5400000" algn="t" rotWithShape="0">
              <a:srgbClr val="000000">
                <a:alpha val="50000"/>
              </a:srgbClr>
            </a:outerShdw>
          </a:effectLst>
        </a:effectStyle>
        <a:effectStyle>
          <a:effectLst>
            <a:outerShdw blurRad="50800" dist="50800" dir="5400000" algn="t" rotWithShape="0">
              <a:srgbClr val="000000">
                <a:alpha val="60000"/>
              </a:srgbClr>
            </a:outerShdw>
          </a:effectLst>
          <a:scene3d>
            <a:camera prst="isometricBottomUp" fov="0">
              <a:rot lat="0" lon="0" rev="0"/>
            </a:camera>
            <a:lightRig rig="soft" dir="b">
              <a:rot lat="0" lon="0" rev="9000000"/>
            </a:lightRig>
          </a:scene3d>
          <a:sp3d contourW="35000" prstMaterial="matte">
            <a:bevelT w="45000" h="38100" prst="convex"/>
            <a:contourClr>
              <a:schemeClr val="phClr">
                <a:tint val="10000"/>
                <a:satMod val="130000"/>
              </a:schemeClr>
            </a:contourClr>
          </a:sp3d>
        </a:effectStyle>
      </a:effectStyleLst>
      <a:bgFillStyleLst>
        <a:solidFill>
          <a:schemeClr val="phClr"/>
        </a:solidFill>
        <a:gradFill rotWithShape="1">
          <a:gsLst>
            <a:gs pos="0">
              <a:schemeClr val="phClr">
                <a:shade val="40000"/>
                <a:satMod val="165000"/>
              </a:schemeClr>
            </a:gs>
            <a:gs pos="50000">
              <a:schemeClr val="phClr">
                <a:shade val="80000"/>
                <a:satMod val="155000"/>
              </a:schemeClr>
            </a:gs>
            <a:gs pos="100000">
              <a:schemeClr val="phClr">
                <a:tint val="95000"/>
                <a:satMod val="200000"/>
              </a:schemeClr>
            </a:gs>
          </a:gsLst>
          <a:lin ang="16200000" scaled="1"/>
        </a:gradFill>
        <a:blipFill>
          <a:blip xmlns:r="http://schemas.openxmlformats.org/officeDocument/2006/relationships" r:embed="rId1">
            <a:duotone>
              <a:schemeClr val="phClr">
                <a:tint val="95000"/>
                <a:satMod val="200000"/>
              </a:schemeClr>
              <a:schemeClr val="phClr">
                <a:shade val="80000"/>
                <a:satMod val="100000"/>
              </a:schemeClr>
            </a:duotone>
          </a:blip>
          <a:tile tx="0" ty="0" sx="55000" sy="5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5861</Words>
  <Application>WPS Presentation</Application>
  <PresentationFormat>On-screen Show (4:3)</PresentationFormat>
  <Paragraphs>76</Paragraphs>
  <Slides>17</Slides>
  <Notes>11</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17</vt:i4>
      </vt:variant>
    </vt:vector>
  </HeadingPairs>
  <TitlesOfParts>
    <vt:vector size="32" baseType="lpstr">
      <vt:lpstr>Arial</vt:lpstr>
      <vt:lpstr>SimSun</vt:lpstr>
      <vt:lpstr>Wingdings</vt:lpstr>
      <vt:lpstr>Wingdings</vt:lpstr>
      <vt:lpstr>Wingdings 2</vt:lpstr>
      <vt:lpstr>Wingdings</vt:lpstr>
      <vt:lpstr>Perpetua</vt:lpstr>
      <vt:lpstr>Franklin Gothic Book</vt:lpstr>
      <vt:lpstr>Microsoft YaHei</vt:lpstr>
      <vt:lpstr>Arial Unicode MS</vt:lpstr>
      <vt:lpstr>Tw Cen MT</vt:lpstr>
      <vt:lpstr>Segoe Print</vt:lpstr>
      <vt:lpstr>Calibri</vt:lpstr>
      <vt:lpstr>Median</vt:lpstr>
      <vt:lpstr>Equity</vt:lpstr>
      <vt:lpstr>Software Testing</vt:lpstr>
      <vt:lpstr>Software quality</vt:lpstr>
      <vt:lpstr>An effective quality process must focus on </vt:lpstr>
      <vt:lpstr>An effective quality process must focus on </vt:lpstr>
      <vt:lpstr>Software Quality</vt:lpstr>
      <vt:lpstr>PowerPoint 演示文稿</vt:lpstr>
      <vt:lpstr>Functionality </vt:lpstr>
      <vt:lpstr>Reliability </vt:lpstr>
      <vt:lpstr>Usability </vt:lpstr>
      <vt:lpstr>Efficiency </vt:lpstr>
      <vt:lpstr>Maintainability </vt:lpstr>
      <vt:lpstr>Portability </vt:lpstr>
      <vt:lpstr>PowerPoint 演示文稿</vt:lpstr>
      <vt:lpstr>Characteristics of Quality</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NU-LHR</dc:creator>
  <cp:lastModifiedBy>Arshah Lamees</cp:lastModifiedBy>
  <cp:revision>63</cp:revision>
  <dcterms:created xsi:type="dcterms:W3CDTF">2016-08-18T05:05:00Z</dcterms:created>
  <dcterms:modified xsi:type="dcterms:W3CDTF">2026-02-22T08:07:38Z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E86A027DA5E744D6A9C23FA7665A0C3E_12</vt:lpwstr>
  </property>
  <property fmtid="{D5CDD505-2E9C-101B-9397-08002B2CF9AE}" pid="3" name="KSOProductBuildVer">
    <vt:lpwstr>1033-12.2.0.23196</vt:lpwstr>
  </property>
</Properties>
</file>