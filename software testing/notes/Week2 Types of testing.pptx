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66" r:id="rId6"/>
    <p:sldId id="265" r:id="rId7"/>
    <p:sldId id="258" r:id="rId8"/>
    <p:sldId id="259" r:id="rId9"/>
    <p:sldId id="260" r:id="rId10"/>
    <p:sldId id="261" r:id="rId11"/>
    <p:sldId id="262" r:id="rId12"/>
    <p:sldId id="267" r:id="rId13"/>
    <p:sldId id="263" r:id="rId14"/>
    <p:sldId id="264" r:id="rId15"/>
    <p:sldId id="268" r:id="rId16"/>
    <p:sldId id="269" r:id="rId17"/>
    <p:sldId id="270" r:id="rId18"/>
    <p:sldId id="271" r:id="rId19"/>
    <p:sldId id="272"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663" autoAdjust="0"/>
  </p:normalViewPr>
  <p:slideViewPr>
    <p:cSldViewPr snapToGrid="0">
      <p:cViewPr varScale="1">
        <p:scale>
          <a:sx n="81" d="100"/>
          <a:sy n="81" d="100"/>
        </p:scale>
        <p:origin x="4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9B44A1-D48A-4F80-9F87-F76263BF887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253EEC-8767-4981-BCAD-30843828719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E60FA2AE-558B-418D-8070-76CACAAD0D4C}" type="slidenum">
              <a:rPr lang="en-US"/>
            </a:fld>
            <a:endParaRPr lang="en-US"/>
          </a:p>
        </p:txBody>
      </p:sp>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E60FA2AE-558B-418D-8070-76CACAAD0D4C}" type="slidenum">
              <a:rPr lang="en-US"/>
            </a:fld>
            <a:endParaRPr lang="en-US"/>
          </a:p>
        </p:txBody>
      </p:sp>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E60FA2AE-558B-418D-8070-76CACAAD0D4C}" type="slidenum">
              <a:rPr lang="en-US"/>
            </a:fld>
            <a:endParaRPr lang="en-US"/>
          </a:p>
        </p:txBody>
      </p:sp>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r>
              <a:rPr lang="en-US" b="1" dirty="0" smtClean="0"/>
              <a:t>The Analogy:</a:t>
            </a:r>
            <a:r>
              <a:rPr lang="en-US" dirty="0" smtClean="0"/>
              <a:t> Static testing is like a doctor looking at an X-ray (checking structure); Dynamic testing is like a stress test on a treadmill (checking function). You need both to confirm the patient is healthy.</a:t>
            </a:r>
            <a:endParaRPr lang="en-US" dirty="0" smtClean="0"/>
          </a:p>
          <a:p>
            <a:endParaRPr lang="en-US" dirty="0" smtClean="0"/>
          </a:p>
          <a:p>
            <a:r>
              <a:rPr lang="en-US" b="1" dirty="0" smtClean="0"/>
              <a:t>Runtime Realities:</a:t>
            </a:r>
            <a:r>
              <a:rPr lang="en-US" dirty="0" smtClean="0"/>
              <a:t> Static testing cannot detect errors that only appear during execution, such as </a:t>
            </a:r>
            <a:r>
              <a:rPr lang="en-US" b="1" dirty="0" smtClean="0"/>
              <a:t>memory leaks</a:t>
            </a:r>
            <a:r>
              <a:rPr lang="en-US" dirty="0" smtClean="0"/>
              <a:t>, </a:t>
            </a:r>
            <a:r>
              <a:rPr lang="en-US" b="1" dirty="0" smtClean="0"/>
              <a:t>pointer errors</a:t>
            </a:r>
            <a:r>
              <a:rPr lang="en-US" dirty="0" smtClean="0"/>
              <a:t>, or </a:t>
            </a:r>
            <a:r>
              <a:rPr lang="en-US" b="1" dirty="0" smtClean="0"/>
              <a:t>concurrency issues (race conditions)</a:t>
            </a:r>
            <a:r>
              <a:rPr lang="en-US" dirty="0" smtClean="0"/>
              <a:t>.</a:t>
            </a: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FEA880B3-040B-40E1-B619-A423A0BE7535}" type="slidenum">
              <a:rPr lang="en-US"/>
            </a:fld>
            <a:endParaRPr lang="en-US"/>
          </a:p>
        </p:txBody>
      </p:sp>
      <p:sp>
        <p:nvSpPr>
          <p:cNvPr id="242690" name="Rectangle 2"/>
          <p:cNvSpPr>
            <a:spLocks noGrp="1" noRot="1" noChangeAspect="1" noChangeArrowheads="1" noTextEdit="1"/>
          </p:cNvSpPr>
          <p:nvPr>
            <p:ph type="sldImg"/>
          </p:nvPr>
        </p:nvSpPr>
        <p:spPr/>
      </p:sp>
      <p:sp>
        <p:nvSpPr>
          <p:cNvPr id="242691"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2DC73007-5049-41D7-92B7-EC90B0FDF8D8}" type="slidenum">
              <a:rPr lang="en-US"/>
            </a:fld>
            <a:endParaRPr lang="en-US"/>
          </a:p>
        </p:txBody>
      </p:sp>
      <p:sp>
        <p:nvSpPr>
          <p:cNvPr id="238594" name="Rectangle 2"/>
          <p:cNvSpPr>
            <a:spLocks noGrp="1" noRot="1" noChangeAspect="1" noChangeArrowheads="1" noTextEdit="1"/>
          </p:cNvSpPr>
          <p:nvPr>
            <p:ph type="sldImg"/>
          </p:nvPr>
        </p:nvSpPr>
        <p:spPr/>
      </p:sp>
      <p:sp>
        <p:nvSpPr>
          <p:cNvPr id="238595" name="Rectangle 3"/>
          <p:cNvSpPr>
            <a:spLocks noGrp="1" noChangeArrowheads="1"/>
          </p:cNvSpPr>
          <p:nvPr>
            <p:ph type="body" idx="1"/>
          </p:nvPr>
        </p:nvSpPr>
        <p:spPr/>
        <p:txBody>
          <a:bodyPr/>
          <a:lstStyle/>
          <a:p>
            <a:r>
              <a:rPr lang="en-US" dirty="0" smtClean="0"/>
              <a:t>Potential CR: A reviewer may make a formal request to make a change. These are called change requests rather than defect reports. At this stage, since the programmer has not yet made the code pub </a:t>
            </a:r>
            <a:r>
              <a:rPr lang="en-US" dirty="0" err="1" smtClean="0"/>
              <a:t>lic</a:t>
            </a:r>
            <a:r>
              <a:rPr lang="en-US" dirty="0" smtClean="0"/>
              <a:t>, it is more appropriate to make suggestions to the author to make changes, rather than report a defect. Though CRs focus on defects in the code, these reports are not included in defect statistics related to the product.</a:t>
            </a:r>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BBC54DDE-09F6-4D31-A31C-51E4C46B3362}" type="slidenum">
              <a:rPr lang="en-US"/>
            </a:fld>
            <a:endParaRPr lang="en-US"/>
          </a:p>
        </p:txBody>
      </p:sp>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p:txBody>
          <a:bodyPr/>
          <a:lstStyle/>
          <a:p>
            <a:r>
              <a:rPr lang="en-US" dirty="0" smtClean="0"/>
              <a:t>• The author makes a presentation of the procedural logic used in the code, the paths denoting major computations, and the dependency of the unit under review on other units. </a:t>
            </a:r>
            <a:endParaRPr lang="en-US" dirty="0" smtClean="0"/>
          </a:p>
          <a:p>
            <a:r>
              <a:rPr lang="en-US" dirty="0" smtClean="0"/>
              <a:t>• The presenter reads the code line by line. The reviewers may raise questions if the code is seen to have defects. However, problems are not resolved in the meeting. The reviewers may make general suggestions on how to fix the defects, but it is up to the author of the code to take corrective measures after the meeting ends.</a:t>
            </a:r>
            <a:endParaRPr lang="en-US" dirty="0" smtClean="0"/>
          </a:p>
          <a:p>
            <a:endParaRPr lang="en-US" dirty="0" smtClean="0"/>
          </a:p>
          <a:p>
            <a:r>
              <a:rPr lang="en-US" dirty="0" smtClean="0"/>
              <a:t>. Set a deadline for addressing a CR.</a:t>
            </a:r>
            <a:endParaRPr lang="en-US" dirty="0" smtClean="0"/>
          </a:p>
          <a:p>
            <a:endParaRPr lang="en-US" dirty="0" smtClean="0"/>
          </a:p>
          <a:p>
            <a:r>
              <a:rPr lang="en-US" b="1" dirty="0" smtClean="0"/>
              <a:t>Validation </a:t>
            </a:r>
            <a:r>
              <a:rPr lang="en-US" dirty="0" smtClean="0"/>
              <a:t>The CRs are independently validated by the moderator or another person designated for this purpose. The validation process involves checking the modified code as documented in the CRs and ensuring that the suggested improvements have been implemented correctly. The revised and final version of the outcome of the review meeting is distributed to all the group members.</a:t>
            </a:r>
            <a:endParaRPr lang="en-US" dirty="0" smtClean="0"/>
          </a:p>
          <a:p>
            <a:endParaRPr lang="en-US" dirty="0" smtClean="0"/>
          </a:p>
          <a:p>
            <a:r>
              <a:rPr lang="en-US" dirty="0" smtClean="0"/>
              <a:t>Exit Summarizing the review process, it is said to be complete if all of the following actions have been taken: </a:t>
            </a:r>
            <a:endParaRPr lang="en-US" dirty="0" smtClean="0"/>
          </a:p>
          <a:p>
            <a:r>
              <a:rPr lang="en-US" dirty="0" smtClean="0"/>
              <a:t>• Every line of code in the unit has been inspected. </a:t>
            </a:r>
            <a:endParaRPr lang="en-US" dirty="0" smtClean="0"/>
          </a:p>
          <a:p>
            <a:r>
              <a:rPr lang="en-US" dirty="0" smtClean="0"/>
              <a:t>• If too many defects are found in a module, the module is once again reviewed after corrections are applied by the author. As a rule of thumb, if more than 5% of the total lines of code are thought to be contentious, then a second review is scheduled. </a:t>
            </a:r>
            <a:endParaRPr lang="en-US" dirty="0" smtClean="0"/>
          </a:p>
          <a:p>
            <a:r>
              <a:rPr lang="en-US" dirty="0" smtClean="0"/>
              <a:t>• The author and the reviewers reach a consensus that when corrections have been applied the code will be potentially free of defects. </a:t>
            </a:r>
            <a:endParaRPr lang="en-US" dirty="0" smtClean="0"/>
          </a:p>
          <a:p>
            <a:r>
              <a:rPr lang="en-US" dirty="0" smtClean="0"/>
              <a:t>• All the CRs are documented and validated by the moderator or someone else. The author’s follow-up actions are documented. </a:t>
            </a:r>
            <a:endParaRPr lang="en-US" dirty="0" smtClean="0"/>
          </a:p>
          <a:p>
            <a:r>
              <a:rPr lang="en-US" dirty="0" smtClean="0"/>
              <a:t>• A summary report of the meeting including the CRs is distributed to all the members of the review group.</a:t>
            </a:r>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D8F0BB34-7DDF-41CD-8D39-F3D2570A1410}" type="slidenum">
              <a:rPr lang="en-US"/>
            </a:fld>
            <a:endParaRPr lang="en-US"/>
          </a:p>
        </p:txBody>
      </p:sp>
      <p:sp>
        <p:nvSpPr>
          <p:cNvPr id="252930" name="Rectangle 2"/>
          <p:cNvSpPr>
            <a:spLocks noGrp="1" noRot="1" noChangeAspect="1" noChangeArrowheads="1" noTextEdit="1"/>
          </p:cNvSpPr>
          <p:nvPr>
            <p:ph type="sldImg"/>
          </p:nvPr>
        </p:nvSpPr>
        <p:spPr/>
      </p:sp>
      <p:sp>
        <p:nvSpPr>
          <p:cNvPr id="252931" name="Rectangle 3"/>
          <p:cNvSpPr>
            <a:spLocks noGrp="1" noChangeArrowheads="1"/>
          </p:cNvSpPr>
          <p:nvPr>
            <p:ph type="body" idx="1"/>
          </p:nvPr>
        </p:nvSpPr>
        <p:spPr/>
        <p:txBody>
          <a:bodyPr/>
          <a:lstStyle/>
          <a:p>
            <a:r>
              <a:rPr lang="en-US" b="1" dirty="0" smtClean="0"/>
              <a:t>Code Review Metrics </a:t>
            </a:r>
            <a:r>
              <a:rPr lang="en-US" dirty="0" smtClean="0"/>
              <a:t>It is important to collect measurement data pertinent to a review process, so that the review process can be evaluated, made visible to the upper management as a testing strategy, and improved to be more effective.</a:t>
            </a:r>
            <a:endParaRPr lang="en-US" dirty="0" smtClean="0"/>
          </a:p>
          <a:p>
            <a:endParaRPr lang="en-US" dirty="0" smtClean="0"/>
          </a:p>
          <a:p>
            <a:r>
              <a:rPr lang="en-US" dirty="0" smtClean="0"/>
              <a:t>Moreover, collecting metrics during code review facilitates estimation of review time and resources for future projects.</a:t>
            </a:r>
            <a:endParaRPr lang="en-US" dirty="0" smtClean="0"/>
          </a:p>
          <a:p>
            <a:endParaRPr lang="en-US" dirty="0" smtClean="0"/>
          </a:p>
          <a:p>
            <a:r>
              <a:rPr lang="en-US" dirty="0" smtClean="0"/>
              <a:t>Thus, code review is a viable testing strategy that can be effectively used to improve the quality of products at an early stage.</a:t>
            </a: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FD027FF8-0D7C-4A19-9E7F-35DC8D29A58B}" type="slidenum">
              <a:rPr lang="en-US"/>
            </a:fld>
            <a:endParaRPr lang="en-US"/>
          </a:p>
        </p:txBody>
      </p:sp>
      <p:sp>
        <p:nvSpPr>
          <p:cNvPr id="260098" name="Rectangle 2"/>
          <p:cNvSpPr>
            <a:spLocks noGrp="1" noRot="1" noChangeAspect="1" noChangeArrowheads="1" noTextEdit="1"/>
          </p:cNvSpPr>
          <p:nvPr>
            <p:ph type="sldImg"/>
          </p:nvPr>
        </p:nvSpPr>
        <p:spPr/>
      </p:sp>
      <p:sp>
        <p:nvSpPr>
          <p:cNvPr id="260099"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8A51AF5B-F81A-4913-8E93-5A6A7D90D1B9}" type="slidenum">
              <a:rPr lang="en-US"/>
            </a:fld>
            <a:endParaRPr lang="en-US"/>
          </a:p>
        </p:txBody>
      </p:sp>
      <p:sp>
        <p:nvSpPr>
          <p:cNvPr id="264194" name="Rectangle 2"/>
          <p:cNvSpPr>
            <a:spLocks noGrp="1" noRot="1" noChangeAspect="1" noChangeArrowheads="1" noTextEdit="1"/>
          </p:cNvSpPr>
          <p:nvPr>
            <p:ph type="sldImg"/>
          </p:nvPr>
        </p:nvSpPr>
        <p:spPr/>
      </p:sp>
      <p:sp>
        <p:nvSpPr>
          <p:cNvPr id="264195" name="Rectangle 3"/>
          <p:cNvSpPr>
            <a:spLocks noGrp="1" noChangeArrowheads="1"/>
          </p:cNvSpPr>
          <p:nvPr>
            <p:ph type="body" idx="1"/>
          </p:nvPr>
        </p:nvSpPr>
        <p:spPr/>
        <p:txBody>
          <a:bodyPr/>
          <a:lstStyle/>
          <a:p>
            <a:r>
              <a:rPr lang="en-US" dirty="0" smtClean="0"/>
              <a:t>The test driver should have the capability to automatically determine the  success or failure of the unit under test for each input test data. </a:t>
            </a:r>
            <a:endParaRPr lang="en-US" dirty="0" smtClean="0"/>
          </a:p>
          <a:p>
            <a:endParaRPr lang="en-US" dirty="0" smtClean="0"/>
          </a:p>
          <a:p>
            <a:r>
              <a:rPr lang="en-US" dirty="0" smtClean="0"/>
              <a:t>If appropriate, the driver should also check for memory leaks and problems in allocation and</a:t>
            </a:r>
            <a:r>
              <a:rPr lang="en-US" baseline="0" dirty="0" smtClean="0"/>
              <a:t> </a:t>
            </a:r>
            <a:r>
              <a:rPr lang="en-US" dirty="0" smtClean="0"/>
              <a:t>deallocation of memory. If the module opens and closes files, the test driver should check that these files are left in the expected open or closed state after each test.</a:t>
            </a:r>
            <a:endParaRPr lang="en-US" dirty="0" smtClean="0"/>
          </a:p>
          <a:p>
            <a:r>
              <a:rPr lang="en-US" dirty="0" smtClean="0"/>
              <a:t> </a:t>
            </a:r>
            <a:endParaRPr lang="en-US" dirty="0" smtClean="0"/>
          </a:p>
          <a:p>
            <a:r>
              <a:rPr lang="en-US" dirty="0" smtClean="0"/>
              <a:t>The test driver can be designed to check the data values of the internal variable that normally would not be available for checking at integration, system, or acceptance testing levels.</a:t>
            </a:r>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r>
              <a:rPr lang="en-US" dirty="0" smtClean="0"/>
              <a:t>A domain error occurs when a specific input data causes the program to execute a wrong, that is, undesired, path in the program.</a:t>
            </a:r>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t>Handouts</a:t>
            </a:r>
            <a:endParaRPr lang="en-US"/>
          </a:p>
        </p:txBody>
      </p:sp>
      <p:sp>
        <p:nvSpPr>
          <p:cNvPr id="5" name="Rectangle 5"/>
          <p:cNvSpPr>
            <a:spLocks noGrp="1" noChangeArrowheads="1"/>
          </p:cNvSpPr>
          <p:nvPr>
            <p:ph type="sldNum" sz="quarter" idx="5"/>
          </p:nvPr>
        </p:nvSpPr>
        <p:spPr/>
        <p:txBody>
          <a:bodyPr/>
          <a:lstStyle/>
          <a:p>
            <a:fld id="{AB4D9772-D6C8-41D9-9A46-B5BDB899EE1E}" type="slidenum">
              <a:rPr lang="en-US"/>
            </a:fld>
            <a:endParaRPr lang="en-US"/>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2E1F187F-793E-4D8A-9D79-A6124A53932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E1F187F-793E-4D8A-9D79-A6124A53932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1F187F-793E-4D8A-9D79-A6124A53932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F5D3D1-D159-4E14-9738-EBB758377134}"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5D3D1-D159-4E14-9738-EBB758377134}"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E1F187F-793E-4D8A-9D79-A6124A5393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F5D3D1-D159-4E14-9738-EBB75837713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E1F187F-793E-4D8A-9D79-A6124A5393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F5D3D1-D159-4E14-9738-EBB75837713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E1F187F-793E-4D8A-9D79-A6124A53932A}"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0F5D3D1-D159-4E14-9738-EBB75837713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1817426" y="1420505"/>
            <a:ext cx="7239000" cy="1143000"/>
          </a:xfrm>
        </p:spPr>
        <p:txBody>
          <a:bodyPr>
            <a:normAutofit fontScale="90000"/>
          </a:bodyPr>
          <a:lstStyle/>
          <a:p>
            <a:r>
              <a:rPr lang="en-US" sz="8900" dirty="0">
                <a:latin typeface="Times New Roman" panose="02020603050405020304" pitchFamily="18" charset="0"/>
              </a:rPr>
              <a:t>UNIT TESTING</a:t>
            </a:r>
            <a:br>
              <a:rPr lang="en-US" dirty="0" smtClean="0">
                <a:latin typeface="Times New Roman" panose="02020603050405020304" pitchFamily="18" charset="0"/>
              </a:rPr>
            </a:br>
            <a:endParaRPr lang="en-US" dirty="0" smtClean="0">
              <a:latin typeface="Times New Roman" panose="02020603050405020304" pitchFamily="18" charset="0"/>
            </a:endParaRPr>
          </a:p>
        </p:txBody>
      </p:sp>
      <p:sp>
        <p:nvSpPr>
          <p:cNvPr id="4" name="Rectangle 19"/>
          <p:cNvSpPr>
            <a:spLocks noGrp="1" noChangeArrowheads="1"/>
          </p:cNvSpPr>
          <p:nvPr>
            <p:ph type="sldNum" sz="quarter" idx="12"/>
          </p:nvPr>
        </p:nvSpPr>
        <p:spPr/>
        <p:txBody>
          <a:bodyPr/>
          <a:lstStyle/>
          <a:p>
            <a:fld id="{A1DC7657-A9FD-436C-8AFA-031C7C94FF0F}" type="slidenum">
              <a:rPr lang="en-US"/>
            </a:fld>
            <a:endParaRPr lang="en-US"/>
          </a:p>
        </p:txBody>
      </p:sp>
      <p:sp>
        <p:nvSpPr>
          <p:cNvPr id="3" name="TextBox 2"/>
          <p:cNvSpPr txBox="1"/>
          <p:nvPr/>
        </p:nvSpPr>
        <p:spPr>
          <a:xfrm>
            <a:off x="3261815" y="3084394"/>
            <a:ext cx="7315200" cy="2308324"/>
          </a:xfrm>
          <a:prstGeom prst="rect">
            <a:avLst/>
          </a:prstGeom>
          <a:noFill/>
        </p:spPr>
        <p:txBody>
          <a:bodyPr wrap="square" rtlCol="0">
            <a:spAutoFit/>
          </a:bodyPr>
          <a:lstStyle/>
          <a:p>
            <a:r>
              <a:rPr lang="en-US" sz="4800" dirty="0" smtClean="0">
                <a:latin typeface="Blackadder ITC" panose="04020505051007020D02" pitchFamily="82" charset="0"/>
              </a:rPr>
              <a:t>CS4036</a:t>
            </a:r>
            <a:endParaRPr lang="en-US" sz="4800" dirty="0" smtClean="0">
              <a:latin typeface="Blackadder ITC" panose="04020505051007020D02" pitchFamily="82" charset="0"/>
            </a:endParaRPr>
          </a:p>
          <a:p>
            <a:r>
              <a:rPr lang="en-US" sz="4800" smtClean="0">
                <a:latin typeface="Blackadder ITC" panose="04020505051007020D02" pitchFamily="82" charset="0"/>
              </a:rPr>
              <a:t>Lecture #4</a:t>
            </a:r>
            <a:endParaRPr lang="en-US" sz="4800" dirty="0" smtClean="0">
              <a:latin typeface="Blackadder ITC" panose="04020505051007020D02" pitchFamily="82" charset="0"/>
            </a:endParaRPr>
          </a:p>
          <a:p>
            <a:r>
              <a:rPr lang="en-US" sz="4800" dirty="0" smtClean="0">
                <a:latin typeface="Blackadder ITC" panose="04020505051007020D02" pitchFamily="82" charset="0"/>
              </a:rPr>
              <a:t>Software Testing </a:t>
            </a:r>
            <a:endParaRPr lang="en-US" sz="4800" dirty="0">
              <a:latin typeface="Blackadder ITC" panose="04020505051007020D02" pitchFamily="82"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1905000" y="0"/>
            <a:ext cx="7239000" cy="457200"/>
          </a:xfrm>
        </p:spPr>
        <p:txBody>
          <a:bodyPr>
            <a:normAutofit fontScale="90000"/>
          </a:bodyPr>
          <a:lstStyle/>
          <a:p>
            <a:r>
              <a:rPr lang="en-US" dirty="0" smtClean="0">
                <a:latin typeface="Times New Roman" panose="02020603050405020304" pitchFamily="18" charset="0"/>
              </a:rPr>
              <a:t>Concept of Unit Testing</a:t>
            </a:r>
            <a:endParaRPr lang="en-US" dirty="0" smtClean="0">
              <a:latin typeface="Times New Roman" panose="02020603050405020304" pitchFamily="18" charset="0"/>
            </a:endParaRPr>
          </a:p>
        </p:txBody>
      </p:sp>
      <p:sp>
        <p:nvSpPr>
          <p:cNvPr id="239619" name="Rectangle 3"/>
          <p:cNvSpPr>
            <a:spLocks noGrp="1" noChangeArrowheads="1"/>
          </p:cNvSpPr>
          <p:nvPr>
            <p:ph type="body" orient="vert" idx="1"/>
          </p:nvPr>
        </p:nvSpPr>
        <p:spPr>
          <a:xfrm rot="-5400000">
            <a:off x="4117638" y="-1304595"/>
            <a:ext cx="5861789" cy="9773592"/>
          </a:xfrm>
          <a:prstGeom prst="rect">
            <a:avLst/>
          </a:prstGeom>
        </p:spPr>
        <p:txBody>
          <a:bodyPr>
            <a:normAutofit/>
          </a:bodyPr>
          <a:lstStyle/>
          <a:p>
            <a:r>
              <a:rPr lang="en-US" sz="2400" dirty="0" smtClean="0">
                <a:latin typeface="Times New Roman" panose="02020603050405020304" pitchFamily="18" charset="0"/>
              </a:rPr>
              <a:t>Unit-Module</a:t>
            </a:r>
            <a:endParaRPr lang="en-US" sz="2400" dirty="0" smtClean="0">
              <a:latin typeface="Times New Roman" panose="02020603050405020304" pitchFamily="18" charset="0"/>
            </a:endParaRPr>
          </a:p>
          <a:p>
            <a:r>
              <a:rPr lang="en-US" sz="2400" dirty="0"/>
              <a:t>all possible—or as much as possible—distinct executions are to be considered during unit </a:t>
            </a:r>
            <a:r>
              <a:rPr lang="en-US" sz="2400" dirty="0" smtClean="0"/>
              <a:t>testing</a:t>
            </a:r>
            <a:endParaRPr lang="en-US" sz="2400" dirty="0" smtClean="0"/>
          </a:p>
          <a:p>
            <a:r>
              <a:rPr lang="en-US" sz="2400" dirty="0"/>
              <a:t>A programmer will need to verify whether or not a code works correctly by performing unit-level testing. Intuitively, a </a:t>
            </a:r>
            <a:r>
              <a:rPr lang="en-US" sz="2400" dirty="0" smtClean="0"/>
              <a:t>programmer </a:t>
            </a:r>
            <a:r>
              <a:rPr lang="en-US" sz="2400" dirty="0"/>
              <a:t>needs to test a unit as follows: </a:t>
            </a:r>
            <a:endParaRPr lang="en-US" sz="2400" dirty="0" smtClean="0"/>
          </a:p>
          <a:p>
            <a:pPr lvl="1"/>
            <a:r>
              <a:rPr lang="en-US" sz="2000" dirty="0" smtClean="0"/>
              <a:t>• </a:t>
            </a:r>
            <a:r>
              <a:rPr lang="en-US" sz="2000" dirty="0"/>
              <a:t>Execute every line of code. This is desirable because the programmer needs to know what happens when a line of code is executed. In the absence of such basic observations, surprises at a later stage can be expensive. </a:t>
            </a:r>
            <a:endParaRPr lang="en-US" sz="2000" dirty="0" smtClean="0"/>
          </a:p>
          <a:p>
            <a:pPr lvl="1"/>
            <a:r>
              <a:rPr lang="en-US" sz="2000" dirty="0" smtClean="0"/>
              <a:t>• </a:t>
            </a:r>
            <a:r>
              <a:rPr lang="en-US" sz="2000" dirty="0"/>
              <a:t>Execute every predicate in the unit to evaluate them to true and false separately. </a:t>
            </a:r>
            <a:endParaRPr lang="en-US" sz="2000" dirty="0" smtClean="0"/>
          </a:p>
          <a:p>
            <a:pPr lvl="1"/>
            <a:r>
              <a:rPr lang="en-US" sz="2000" dirty="0" smtClean="0"/>
              <a:t>• </a:t>
            </a:r>
            <a:r>
              <a:rPr lang="en-US" sz="2000" dirty="0"/>
              <a:t>Observe that the unit performs its intended function and ensure that it contains no known errors.</a:t>
            </a:r>
            <a:endParaRPr lang="en-US" sz="2000" dirty="0" smtClean="0">
              <a:latin typeface="Times New Roman" panose="02020603050405020304" pitchFamily="18" charset="0"/>
            </a:endParaRPr>
          </a:p>
          <a:p>
            <a:endParaRPr lang="en-US" sz="2400" dirty="0" smtClean="0">
              <a:latin typeface="Times New Roman" panose="02020603050405020304" pitchFamily="18" charset="0"/>
            </a:endParaRPr>
          </a:p>
          <a:p>
            <a:pPr lvl="1"/>
            <a:endParaRPr lang="en-US" sz="2000" dirty="0" smtClean="0">
              <a:latin typeface="Times New Roman" panose="02020603050405020304" pitchFamily="18" charset="0"/>
            </a:endParaRPr>
          </a:p>
        </p:txBody>
      </p:sp>
      <p:sp>
        <p:nvSpPr>
          <p:cNvPr id="4" name="Rectangle 19"/>
          <p:cNvSpPr>
            <a:spLocks noGrp="1" noChangeArrowheads="1"/>
          </p:cNvSpPr>
          <p:nvPr>
            <p:ph type="sldNum" sz="quarter" idx="12"/>
          </p:nvPr>
        </p:nvSpPr>
        <p:spPr/>
        <p:txBody>
          <a:bodyPr/>
          <a:lstStyle/>
          <a:p>
            <a:fld id="{785F2599-6E08-4249-A2A4-C728DB96A143}" type="slidenum">
              <a:rPr lang="en-US"/>
            </a:fld>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1905000" y="0"/>
            <a:ext cx="7239000" cy="457200"/>
          </a:xfrm>
        </p:spPr>
        <p:txBody>
          <a:bodyPr>
            <a:normAutofit fontScale="90000"/>
          </a:bodyPr>
          <a:lstStyle/>
          <a:p>
            <a:r>
              <a:rPr lang="en-US" dirty="0" smtClean="0">
                <a:latin typeface="Times New Roman" panose="02020603050405020304" pitchFamily="18" charset="0"/>
              </a:rPr>
              <a:t>Concept of Unit Testing</a:t>
            </a:r>
            <a:endParaRPr lang="en-US" dirty="0" smtClean="0">
              <a:latin typeface="Times New Roman" panose="02020603050405020304" pitchFamily="18" charset="0"/>
            </a:endParaRPr>
          </a:p>
        </p:txBody>
      </p:sp>
      <p:sp>
        <p:nvSpPr>
          <p:cNvPr id="239619" name="Rectangle 3"/>
          <p:cNvSpPr>
            <a:spLocks noGrp="1" noChangeArrowheads="1"/>
          </p:cNvSpPr>
          <p:nvPr>
            <p:ph type="body" orient="vert" idx="1"/>
          </p:nvPr>
        </p:nvSpPr>
        <p:spPr>
          <a:xfrm rot="-5400000">
            <a:off x="3700546" y="-887502"/>
            <a:ext cx="5813662" cy="8891277"/>
          </a:xfrm>
          <a:prstGeom prst="rect">
            <a:avLst/>
          </a:prstGeom>
        </p:spPr>
        <p:txBody>
          <a:bodyPr>
            <a:normAutofit/>
          </a:bodyPr>
          <a:lstStyle/>
          <a:p>
            <a:r>
              <a:rPr lang="en-US" sz="3200" dirty="0"/>
              <a:t>Not everything pertinent to a unit can be tested in isolation because of the limitations of testing in isolation. </a:t>
            </a:r>
            <a:endParaRPr lang="en-US" sz="3200" dirty="0" smtClean="0"/>
          </a:p>
          <a:p>
            <a:r>
              <a:rPr lang="en-US" sz="3200" dirty="0"/>
              <a:t>The source code of a unit is not used for interfacing by other group members until the programmer completes unit testing and checks in the unit to the version control system</a:t>
            </a:r>
            <a:r>
              <a:rPr lang="en-US" sz="3200" dirty="0" smtClean="0"/>
              <a:t>.</a:t>
            </a:r>
            <a:endParaRPr lang="en-US" sz="3200" dirty="0" smtClean="0"/>
          </a:p>
          <a:p>
            <a:endParaRPr lang="en-US" sz="3200" dirty="0" smtClean="0">
              <a:latin typeface="Times New Roman" panose="02020603050405020304" pitchFamily="18" charset="0"/>
            </a:endParaRPr>
          </a:p>
          <a:p>
            <a:pPr lvl="1"/>
            <a:endParaRPr lang="en-US" sz="2800" dirty="0" smtClean="0">
              <a:latin typeface="Times New Roman" panose="02020603050405020304" pitchFamily="18" charset="0"/>
            </a:endParaRPr>
          </a:p>
        </p:txBody>
      </p:sp>
      <p:sp>
        <p:nvSpPr>
          <p:cNvPr id="4" name="Rectangle 19"/>
          <p:cNvSpPr>
            <a:spLocks noGrp="1" noChangeArrowheads="1"/>
          </p:cNvSpPr>
          <p:nvPr>
            <p:ph type="sldNum" sz="quarter" idx="12"/>
          </p:nvPr>
        </p:nvSpPr>
        <p:spPr/>
        <p:txBody>
          <a:bodyPr/>
          <a:lstStyle/>
          <a:p>
            <a:fld id="{785F2599-6E08-4249-A2A4-C728DB96A143}" type="slidenum">
              <a:rPr lang="en-US"/>
            </a:fld>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1905000" y="0"/>
            <a:ext cx="7239000" cy="457200"/>
          </a:xfrm>
        </p:spPr>
        <p:txBody>
          <a:bodyPr>
            <a:normAutofit fontScale="90000"/>
          </a:bodyPr>
          <a:lstStyle/>
          <a:p>
            <a:r>
              <a:rPr lang="en-US" dirty="0" smtClean="0">
                <a:latin typeface="Times New Roman" panose="02020603050405020304" pitchFamily="18" charset="0"/>
              </a:rPr>
              <a:t>Concept of Unit Testing</a:t>
            </a:r>
            <a:endParaRPr lang="en-US" dirty="0" smtClean="0">
              <a:latin typeface="Times New Roman" panose="02020603050405020304" pitchFamily="18" charset="0"/>
            </a:endParaRPr>
          </a:p>
        </p:txBody>
      </p:sp>
      <p:sp>
        <p:nvSpPr>
          <p:cNvPr id="239619" name="Rectangle 3"/>
          <p:cNvSpPr>
            <a:spLocks noGrp="1" noChangeArrowheads="1"/>
          </p:cNvSpPr>
          <p:nvPr>
            <p:ph type="body" orient="vert" idx="1"/>
          </p:nvPr>
        </p:nvSpPr>
        <p:spPr>
          <a:xfrm rot="-5400000">
            <a:off x="829824" y="1983218"/>
            <a:ext cx="8534400" cy="5870575"/>
          </a:xfrm>
          <a:prstGeom prst="rect">
            <a:avLst/>
          </a:prstGeom>
        </p:spPr>
        <p:txBody>
          <a:bodyPr>
            <a:normAutofit/>
          </a:bodyPr>
          <a:lstStyle/>
          <a:p>
            <a:r>
              <a:rPr lang="en-US" dirty="0" smtClean="0">
                <a:latin typeface="Times New Roman" panose="02020603050405020304" pitchFamily="18" charset="0"/>
              </a:rPr>
              <a:t>Static Unit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Code is examined over all possible behaviors that might arise during run time</a:t>
            </a:r>
            <a:endParaRPr lang="en-US" dirty="0" smtClean="0">
              <a:latin typeface="Times New Roman" panose="02020603050405020304" pitchFamily="18" charset="0"/>
            </a:endParaRPr>
          </a:p>
          <a:p>
            <a:pPr lvl="1"/>
            <a:r>
              <a:rPr lang="en-US" dirty="0" smtClean="0">
                <a:latin typeface="Times New Roman" panose="02020603050405020304" pitchFamily="18" charset="0"/>
              </a:rPr>
              <a:t>Code of each unit is validated against requirements of the unit by reviewing the code</a:t>
            </a:r>
            <a:endParaRPr lang="en-US" dirty="0" smtClean="0">
              <a:latin typeface="Times New Roman" panose="02020603050405020304" pitchFamily="18" charset="0"/>
            </a:endParaRPr>
          </a:p>
          <a:p>
            <a:r>
              <a:rPr lang="en-US" dirty="0" smtClean="0">
                <a:latin typeface="Times New Roman" panose="02020603050405020304" pitchFamily="18" charset="0"/>
              </a:rPr>
              <a:t>Dynamic Unit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A program unit is actually executed and its outcomes are observed</a:t>
            </a:r>
            <a:endParaRPr lang="en-US" dirty="0" smtClean="0">
              <a:latin typeface="Times New Roman" panose="02020603050405020304" pitchFamily="18" charset="0"/>
            </a:endParaRPr>
          </a:p>
          <a:p>
            <a:pPr lvl="1"/>
            <a:r>
              <a:rPr lang="en-US" dirty="0" smtClean="0">
                <a:latin typeface="Times New Roman" panose="02020603050405020304" pitchFamily="18" charset="0"/>
              </a:rPr>
              <a:t>One observe some representative program behavior, and reach conclusion about the quality of the system</a:t>
            </a:r>
            <a:endParaRPr lang="en-US" dirty="0" smtClean="0">
              <a:latin typeface="Times New Roman" panose="02020603050405020304" pitchFamily="18" charset="0"/>
            </a:endParaRPr>
          </a:p>
          <a:p>
            <a:r>
              <a:rPr lang="en-US" dirty="0" smtClean="0">
                <a:latin typeface="Times New Roman" panose="02020603050405020304" pitchFamily="18" charset="0"/>
              </a:rPr>
              <a:t>Static unit testing is not an alternative to dynamic unit testing</a:t>
            </a:r>
            <a:endParaRPr lang="en-US" dirty="0" smtClean="0">
              <a:latin typeface="Times New Roman" panose="02020603050405020304" pitchFamily="18" charset="0"/>
            </a:endParaRPr>
          </a:p>
          <a:p>
            <a:r>
              <a:rPr lang="en-US" dirty="0" smtClean="0">
                <a:latin typeface="Times New Roman" panose="02020603050405020304" pitchFamily="18" charset="0"/>
              </a:rPr>
              <a:t>Static and Dynamic analysis are complementary in nature</a:t>
            </a:r>
            <a:endParaRPr lang="en-US" dirty="0" smtClean="0">
              <a:latin typeface="Times New Roman" panose="02020603050405020304" pitchFamily="18" charset="0"/>
            </a:endParaRPr>
          </a:p>
          <a:p>
            <a:r>
              <a:rPr lang="en-US" dirty="0" smtClean="0">
                <a:latin typeface="Times New Roman" panose="02020603050405020304" pitchFamily="18" charset="0"/>
              </a:rPr>
              <a:t>In practice, partial dynamic unit testing is performed concurrently with static unit testing</a:t>
            </a:r>
            <a:endParaRPr lang="en-US" dirty="0" smtClean="0">
              <a:latin typeface="Times New Roman" panose="02020603050405020304" pitchFamily="18" charset="0"/>
            </a:endParaRPr>
          </a:p>
          <a:p>
            <a:r>
              <a:rPr lang="en-US" dirty="0" smtClean="0">
                <a:latin typeface="Times New Roman" panose="02020603050405020304" pitchFamily="18" charset="0"/>
              </a:rPr>
              <a:t>It is recommended that static unit testing be performed prior to the dynamic unit testing</a:t>
            </a:r>
            <a:endParaRPr lang="en-US" dirty="0" smtClean="0">
              <a:latin typeface="Times New Roman" panose="02020603050405020304" pitchFamily="18" charset="0"/>
            </a:endParaRPr>
          </a:p>
          <a:p>
            <a:endParaRPr lang="en-US" dirty="0" smtClean="0">
              <a:latin typeface="Times New Roman" panose="02020603050405020304" pitchFamily="18" charset="0"/>
            </a:endParaRPr>
          </a:p>
          <a:p>
            <a:pPr lvl="1"/>
            <a:endParaRPr lang="en-US" dirty="0" smtClean="0">
              <a:latin typeface="Times New Roman" panose="02020603050405020304" pitchFamily="18" charset="0"/>
            </a:endParaRPr>
          </a:p>
        </p:txBody>
      </p:sp>
      <p:sp>
        <p:nvSpPr>
          <p:cNvPr id="4" name="Rectangle 19"/>
          <p:cNvSpPr>
            <a:spLocks noGrp="1" noChangeArrowheads="1"/>
          </p:cNvSpPr>
          <p:nvPr>
            <p:ph type="sldNum" sz="quarter" idx="12"/>
          </p:nvPr>
        </p:nvSpPr>
        <p:spPr/>
        <p:txBody>
          <a:bodyPr/>
          <a:lstStyle/>
          <a:p>
            <a:fld id="{785F2599-6E08-4249-A2A4-C728DB96A143}" type="slidenum">
              <a:rPr lang="en-US"/>
            </a:fld>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1981200" y="0"/>
            <a:ext cx="7239000" cy="685800"/>
          </a:xfrm>
        </p:spPr>
        <p:txBody>
          <a:bodyPr>
            <a:normAutofit/>
          </a:bodyPr>
          <a:lstStyle/>
          <a:p>
            <a:r>
              <a:rPr lang="en-US" dirty="0" smtClean="0">
                <a:latin typeface="Times New Roman" panose="02020603050405020304" pitchFamily="18" charset="0"/>
              </a:rPr>
              <a:t>Static Unit Testing</a:t>
            </a:r>
            <a:endParaRPr lang="en-US" dirty="0" smtClean="0">
              <a:latin typeface="Times New Roman" panose="02020603050405020304" pitchFamily="18" charset="0"/>
            </a:endParaRPr>
          </a:p>
        </p:txBody>
      </p:sp>
      <p:sp>
        <p:nvSpPr>
          <p:cNvPr id="241667" name="Rectangle 3"/>
          <p:cNvSpPr>
            <a:spLocks noGrp="1" noChangeArrowheads="1"/>
          </p:cNvSpPr>
          <p:nvPr>
            <p:ph type="body" orient="vert" idx="1"/>
          </p:nvPr>
        </p:nvSpPr>
        <p:spPr>
          <a:xfrm rot="-5400000">
            <a:off x="539750" y="2229232"/>
            <a:ext cx="10553700" cy="7670800"/>
          </a:xfrm>
          <a:prstGeom prst="rect">
            <a:avLst/>
          </a:prstGeom>
        </p:spPr>
        <p:txBody>
          <a:bodyPr>
            <a:normAutofit/>
          </a:bodyPr>
          <a:lstStyle/>
          <a:p>
            <a:r>
              <a:rPr lang="en-US" dirty="0" smtClean="0">
                <a:latin typeface="Times New Roman" panose="02020603050405020304" pitchFamily="18" charset="0"/>
              </a:rPr>
              <a:t>In static unit testing code is reviewed by applying techniques:</a:t>
            </a:r>
            <a:endParaRPr lang="en-US" dirty="0" smtClean="0">
              <a:latin typeface="Times New Roman" panose="02020603050405020304" pitchFamily="18" charset="0"/>
            </a:endParaRPr>
          </a:p>
          <a:p>
            <a:pPr lvl="1"/>
            <a:r>
              <a:rPr lang="en-US" b="1" dirty="0" smtClean="0">
                <a:latin typeface="Times New Roman" panose="02020603050405020304" pitchFamily="18" charset="0"/>
              </a:rPr>
              <a:t>Inspection:</a:t>
            </a:r>
            <a:r>
              <a:rPr lang="en-US" dirty="0" smtClean="0">
                <a:latin typeface="Times New Roman" panose="02020603050405020304" pitchFamily="18" charset="0"/>
              </a:rPr>
              <a:t> It is a step by step peer group review of a work product, with each step checked against pre-determined criteria</a:t>
            </a:r>
            <a:endParaRPr lang="en-US" dirty="0" smtClean="0">
              <a:latin typeface="Times New Roman" panose="02020603050405020304" pitchFamily="18" charset="0"/>
            </a:endParaRPr>
          </a:p>
          <a:p>
            <a:pPr lvl="1"/>
            <a:r>
              <a:rPr lang="en-US" b="1" dirty="0" smtClean="0">
                <a:latin typeface="Times New Roman" panose="02020603050405020304" pitchFamily="18" charset="0"/>
              </a:rPr>
              <a:t>Walkthrough:</a:t>
            </a:r>
            <a:r>
              <a:rPr lang="en-US" dirty="0" smtClean="0">
                <a:latin typeface="Times New Roman" panose="02020603050405020304" pitchFamily="18" charset="0"/>
              </a:rPr>
              <a:t> It is review where the author leads the team through a manual or simulated executed of the product using pre-defined scenarios</a:t>
            </a:r>
            <a:endParaRPr lang="en-US" dirty="0" smtClean="0">
              <a:latin typeface="Times New Roman" panose="02020603050405020304" pitchFamily="18" charset="0"/>
            </a:endParaRPr>
          </a:p>
          <a:p>
            <a:r>
              <a:rPr lang="en-US" dirty="0" smtClean="0">
                <a:latin typeface="Times New Roman" panose="02020603050405020304" pitchFamily="18" charset="0"/>
              </a:rPr>
              <a:t>The idea here is to examine source code in detail in a systematic manner</a:t>
            </a:r>
            <a:endParaRPr lang="en-US" dirty="0" smtClean="0">
              <a:latin typeface="Times New Roman" panose="02020603050405020304" pitchFamily="18" charset="0"/>
            </a:endParaRPr>
          </a:p>
          <a:p>
            <a:r>
              <a:rPr lang="en-US" dirty="0" smtClean="0">
                <a:latin typeface="Times New Roman" panose="02020603050405020304" pitchFamily="18" charset="0"/>
              </a:rPr>
              <a:t>The objective of code review is to </a:t>
            </a:r>
            <a:r>
              <a:rPr lang="en-US" i="1" dirty="0" smtClean="0">
                <a:latin typeface="Times New Roman" panose="02020603050405020304" pitchFamily="18" charset="0"/>
              </a:rPr>
              <a:t>review</a:t>
            </a:r>
            <a:r>
              <a:rPr lang="en-US" dirty="0" smtClean="0">
                <a:latin typeface="Times New Roman" panose="02020603050405020304" pitchFamily="18" charset="0"/>
              </a:rPr>
              <a:t> the code, and </a:t>
            </a:r>
            <a:r>
              <a:rPr lang="en-US" i="1" dirty="0" smtClean="0">
                <a:latin typeface="Times New Roman" panose="02020603050405020304" pitchFamily="18" charset="0"/>
              </a:rPr>
              <a:t>not</a:t>
            </a:r>
            <a:r>
              <a:rPr lang="en-US" dirty="0" smtClean="0">
                <a:latin typeface="Times New Roman" panose="02020603050405020304" pitchFamily="18" charset="0"/>
              </a:rPr>
              <a:t> to evaluate the author of the code</a:t>
            </a:r>
            <a:endParaRPr lang="en-US" dirty="0" smtClean="0">
              <a:latin typeface="Times New Roman" panose="02020603050405020304" pitchFamily="18" charset="0"/>
            </a:endParaRPr>
          </a:p>
          <a:p>
            <a:r>
              <a:rPr lang="en-US" dirty="0" smtClean="0">
                <a:latin typeface="Times New Roman" panose="02020603050405020304" pitchFamily="18" charset="0"/>
              </a:rPr>
              <a:t>Code review must be planned and managed in a professional manner</a:t>
            </a:r>
            <a:endParaRPr lang="en-US" dirty="0" smtClean="0">
              <a:latin typeface="Times New Roman" panose="02020603050405020304" pitchFamily="18" charset="0"/>
            </a:endParaRPr>
          </a:p>
          <a:p>
            <a:r>
              <a:rPr lang="en-US" dirty="0" smtClean="0">
                <a:latin typeface="Times New Roman" panose="02020603050405020304" pitchFamily="18" charset="0"/>
              </a:rPr>
              <a:t>The key to the success of code is to divide and conquer</a:t>
            </a:r>
            <a:endParaRPr lang="en-US" dirty="0" smtClean="0">
              <a:latin typeface="Times New Roman" panose="02020603050405020304" pitchFamily="18" charset="0"/>
            </a:endParaRPr>
          </a:p>
          <a:p>
            <a:pPr lvl="1"/>
            <a:r>
              <a:rPr lang="en-US" dirty="0" smtClean="0">
                <a:latin typeface="Times New Roman" panose="02020603050405020304" pitchFamily="18" charset="0"/>
              </a:rPr>
              <a:t>An examiner inspect small parts of the unit in isolation</a:t>
            </a:r>
            <a:endParaRPr lang="en-US" dirty="0" smtClean="0">
              <a:latin typeface="Times New Roman" panose="02020603050405020304" pitchFamily="18" charset="0"/>
            </a:endParaRPr>
          </a:p>
          <a:p>
            <a:pPr lvl="2"/>
            <a:r>
              <a:rPr lang="en-US" dirty="0" smtClean="0">
                <a:latin typeface="Times New Roman" panose="02020603050405020304" pitchFamily="18" charset="0"/>
              </a:rPr>
              <a:t> nothing is overlooked</a:t>
            </a:r>
            <a:endParaRPr lang="en-US" dirty="0" smtClean="0">
              <a:latin typeface="Times New Roman" panose="02020603050405020304" pitchFamily="18" charset="0"/>
            </a:endParaRPr>
          </a:p>
          <a:p>
            <a:pPr lvl="2"/>
            <a:r>
              <a:rPr lang="en-US" dirty="0" smtClean="0">
                <a:latin typeface="Times New Roman" panose="02020603050405020304" pitchFamily="18" charset="0"/>
              </a:rPr>
              <a:t> the correctness of all examined parts of the module implies the correctness of the whole module</a:t>
            </a:r>
            <a:endParaRPr lang="en-US" dirty="0" smtClean="0">
              <a:latin typeface="Times New Roman" panose="02020603050405020304" pitchFamily="18" charset="0"/>
            </a:endParaRPr>
          </a:p>
        </p:txBody>
      </p:sp>
      <p:sp>
        <p:nvSpPr>
          <p:cNvPr id="4" name="Rectangle 19"/>
          <p:cNvSpPr>
            <a:spLocks noGrp="1" noChangeArrowheads="1"/>
          </p:cNvSpPr>
          <p:nvPr>
            <p:ph type="sldNum" sz="quarter" idx="12"/>
          </p:nvPr>
        </p:nvSpPr>
        <p:spPr/>
        <p:txBody>
          <a:bodyPr/>
          <a:lstStyle/>
          <a:p>
            <a:fld id="{83CCE2E3-E542-430F-87FC-28EA2A445961}" type="slidenum">
              <a:rPr lang="en-US"/>
            </a:fld>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xfrm>
            <a:off x="1524000" y="0"/>
            <a:ext cx="7239000" cy="1143000"/>
          </a:xfrm>
        </p:spPr>
        <p:txBody>
          <a:bodyPr>
            <a:normAutofit/>
          </a:bodyPr>
          <a:lstStyle/>
          <a:p>
            <a:r>
              <a:rPr lang="en-US" dirty="0" smtClean="0">
                <a:latin typeface="Times New Roman" panose="02020603050405020304" pitchFamily="18" charset="0"/>
              </a:rPr>
              <a:t>Static Unit Testing (Code Review)</a:t>
            </a:r>
            <a:endParaRPr lang="en-US" dirty="0" smtClean="0">
              <a:latin typeface="Times New Roman" panose="02020603050405020304" pitchFamily="18" charset="0"/>
            </a:endParaRPr>
          </a:p>
        </p:txBody>
      </p:sp>
      <p:sp>
        <p:nvSpPr>
          <p:cNvPr id="237575" name="Rectangle 7"/>
          <p:cNvSpPr>
            <a:spLocks noGrp="1" noChangeArrowheads="1"/>
          </p:cNvSpPr>
          <p:nvPr>
            <p:ph type="body" orient="vert" idx="1"/>
          </p:nvPr>
        </p:nvSpPr>
        <p:spPr>
          <a:xfrm rot="-5400000">
            <a:off x="1557735" y="1171178"/>
            <a:ext cx="5655467" cy="5113338"/>
          </a:xfrm>
          <a:prstGeom prst="rect">
            <a:avLst/>
          </a:prstGeom>
        </p:spPr>
        <p:txBody>
          <a:bodyPr>
            <a:normAutofit fontScale="77500" lnSpcReduction="20000"/>
          </a:bodyPr>
          <a:lstStyle/>
          <a:p>
            <a:r>
              <a:rPr lang="en-US" sz="1800" dirty="0">
                <a:latin typeface="Times New Roman" panose="02020603050405020304" pitchFamily="18" charset="0"/>
              </a:rPr>
              <a:t>Step 1: </a:t>
            </a:r>
            <a:r>
              <a:rPr lang="en-US" sz="1800" b="1" dirty="0">
                <a:latin typeface="Times New Roman" panose="02020603050405020304" pitchFamily="18" charset="0"/>
              </a:rPr>
              <a:t>Readiness </a:t>
            </a:r>
            <a:endParaRPr lang="en-US" sz="1800" b="1" dirty="0">
              <a:latin typeface="Times New Roman" panose="02020603050405020304" pitchFamily="18" charset="0"/>
            </a:endParaRPr>
          </a:p>
          <a:p>
            <a:pPr lvl="1"/>
            <a:r>
              <a:rPr lang="en-US" sz="1600" b="1" dirty="0">
                <a:latin typeface="Times New Roman" panose="02020603050405020304" pitchFamily="18" charset="0"/>
              </a:rPr>
              <a:t> Criteria</a:t>
            </a:r>
            <a:endParaRPr lang="en-US" sz="1600" b="1" dirty="0">
              <a:latin typeface="Times New Roman" panose="02020603050405020304" pitchFamily="18" charset="0"/>
            </a:endParaRPr>
          </a:p>
          <a:p>
            <a:pPr lvl="2"/>
            <a:r>
              <a:rPr lang="en-US" sz="1600" b="1" dirty="0">
                <a:latin typeface="Times New Roman" panose="02020603050405020304" pitchFamily="18" charset="0"/>
              </a:rPr>
              <a:t>Completeness</a:t>
            </a:r>
            <a:endParaRPr lang="en-US" sz="1600" b="1" dirty="0">
              <a:latin typeface="Times New Roman" panose="02020603050405020304" pitchFamily="18" charset="0"/>
            </a:endParaRPr>
          </a:p>
          <a:p>
            <a:pPr lvl="2"/>
            <a:r>
              <a:rPr lang="en-US" sz="1600" b="1" dirty="0">
                <a:latin typeface="Times New Roman" panose="02020603050405020304" pitchFamily="18" charset="0"/>
              </a:rPr>
              <a:t>Minimal functionality</a:t>
            </a:r>
            <a:endParaRPr lang="en-US" sz="1600" b="1" dirty="0">
              <a:latin typeface="Times New Roman" panose="02020603050405020304" pitchFamily="18" charset="0"/>
            </a:endParaRPr>
          </a:p>
          <a:p>
            <a:pPr lvl="2"/>
            <a:r>
              <a:rPr lang="en-US" sz="1600" b="1" dirty="0">
                <a:latin typeface="Times New Roman" panose="02020603050405020304" pitchFamily="18" charset="0"/>
              </a:rPr>
              <a:t>Readability</a:t>
            </a:r>
            <a:endParaRPr lang="en-US" sz="1600" b="1" dirty="0">
              <a:latin typeface="Times New Roman" panose="02020603050405020304" pitchFamily="18" charset="0"/>
            </a:endParaRPr>
          </a:p>
          <a:p>
            <a:pPr lvl="2"/>
            <a:r>
              <a:rPr lang="en-US" sz="1600" b="1" dirty="0">
                <a:latin typeface="Times New Roman" panose="02020603050405020304" pitchFamily="18" charset="0"/>
              </a:rPr>
              <a:t>Complexity</a:t>
            </a:r>
            <a:endParaRPr lang="en-US" sz="1600" b="1" dirty="0">
              <a:latin typeface="Times New Roman" panose="02020603050405020304" pitchFamily="18" charset="0"/>
            </a:endParaRPr>
          </a:p>
          <a:p>
            <a:pPr lvl="2"/>
            <a:r>
              <a:rPr lang="en-US" sz="1600" b="1" dirty="0">
                <a:latin typeface="Times New Roman" panose="02020603050405020304" pitchFamily="18" charset="0"/>
              </a:rPr>
              <a:t> Requirements and design                       		documents</a:t>
            </a:r>
            <a:endParaRPr lang="en-US" sz="1600" b="1" dirty="0">
              <a:latin typeface="Times New Roman" panose="02020603050405020304" pitchFamily="18" charset="0"/>
            </a:endParaRPr>
          </a:p>
          <a:p>
            <a:pPr lvl="1"/>
            <a:r>
              <a:rPr lang="en-US" sz="1600" b="1" dirty="0">
                <a:latin typeface="Times New Roman" panose="02020603050405020304" pitchFamily="18" charset="0"/>
              </a:rPr>
              <a:t> Roles</a:t>
            </a:r>
            <a:endParaRPr lang="en-US" sz="1600" b="1" dirty="0">
              <a:latin typeface="Times New Roman" panose="02020603050405020304" pitchFamily="18" charset="0"/>
            </a:endParaRPr>
          </a:p>
          <a:p>
            <a:pPr lvl="2"/>
            <a:r>
              <a:rPr lang="en-US" sz="1600" b="1" dirty="0">
                <a:latin typeface="Times New Roman" panose="02020603050405020304" pitchFamily="18" charset="0"/>
              </a:rPr>
              <a:t>Moderator</a:t>
            </a:r>
            <a:endParaRPr lang="en-US" sz="1600" b="1" dirty="0">
              <a:latin typeface="Times New Roman" panose="02020603050405020304" pitchFamily="18" charset="0"/>
            </a:endParaRPr>
          </a:p>
          <a:p>
            <a:pPr lvl="2"/>
            <a:r>
              <a:rPr lang="en-US" sz="1600" b="1" dirty="0">
                <a:latin typeface="Times New Roman" panose="02020603050405020304" pitchFamily="18" charset="0"/>
              </a:rPr>
              <a:t>Author</a:t>
            </a:r>
            <a:endParaRPr lang="en-US" sz="1600" b="1" dirty="0">
              <a:latin typeface="Times New Roman" panose="02020603050405020304" pitchFamily="18" charset="0"/>
            </a:endParaRPr>
          </a:p>
          <a:p>
            <a:pPr lvl="2"/>
            <a:r>
              <a:rPr lang="en-US" sz="1600" b="1" dirty="0">
                <a:latin typeface="Times New Roman" panose="02020603050405020304" pitchFamily="18" charset="0"/>
              </a:rPr>
              <a:t>Presenter</a:t>
            </a:r>
            <a:endParaRPr lang="en-US" sz="1600" b="1" dirty="0">
              <a:latin typeface="Times New Roman" panose="02020603050405020304" pitchFamily="18" charset="0"/>
            </a:endParaRPr>
          </a:p>
          <a:p>
            <a:pPr lvl="2"/>
            <a:r>
              <a:rPr lang="en-US" sz="1600" b="1" dirty="0">
                <a:latin typeface="Times New Roman" panose="02020603050405020304" pitchFamily="18" charset="0"/>
              </a:rPr>
              <a:t>Record keeper</a:t>
            </a:r>
            <a:endParaRPr lang="en-US" sz="1600" b="1" dirty="0">
              <a:latin typeface="Times New Roman" panose="02020603050405020304" pitchFamily="18" charset="0"/>
            </a:endParaRPr>
          </a:p>
          <a:p>
            <a:pPr lvl="2"/>
            <a:r>
              <a:rPr lang="en-US" sz="1600" b="1" dirty="0">
                <a:latin typeface="Times New Roman" panose="02020603050405020304" pitchFamily="18" charset="0"/>
              </a:rPr>
              <a:t>Reviewers</a:t>
            </a:r>
            <a:endParaRPr lang="en-US" sz="1600" b="1" dirty="0">
              <a:latin typeface="Times New Roman" panose="02020603050405020304" pitchFamily="18" charset="0"/>
            </a:endParaRPr>
          </a:p>
          <a:p>
            <a:pPr lvl="2"/>
            <a:r>
              <a:rPr lang="en-US" sz="1600" b="1" dirty="0" smtClean="0">
                <a:latin typeface="Times New Roman" panose="02020603050405020304" pitchFamily="18" charset="0"/>
              </a:rPr>
              <a:t>Observer</a:t>
            </a:r>
            <a:endParaRPr lang="en-US" sz="1600" b="1" dirty="0" smtClean="0">
              <a:latin typeface="Times New Roman" panose="02020603050405020304" pitchFamily="18" charset="0"/>
            </a:endParaRPr>
          </a:p>
          <a:p>
            <a:pPr lvl="3"/>
            <a:r>
              <a:rPr lang="en-US" b="1" dirty="0" smtClean="0">
                <a:latin typeface="Times New Roman" panose="02020603050405020304" pitchFamily="18" charset="0"/>
              </a:rPr>
              <a:t>Reviewing is not reporting</a:t>
            </a:r>
            <a:endParaRPr lang="en-US" b="1" dirty="0">
              <a:latin typeface="Times New Roman" panose="02020603050405020304" pitchFamily="18" charset="0"/>
            </a:endParaRPr>
          </a:p>
          <a:p>
            <a:r>
              <a:rPr lang="en-US" sz="1800" b="1" dirty="0">
                <a:latin typeface="Times New Roman" panose="02020603050405020304" pitchFamily="18" charset="0"/>
              </a:rPr>
              <a:t> </a:t>
            </a:r>
            <a:r>
              <a:rPr lang="en-US" sz="1800" dirty="0">
                <a:latin typeface="Times New Roman" panose="02020603050405020304" pitchFamily="18" charset="0"/>
              </a:rPr>
              <a:t>Step 2: </a:t>
            </a:r>
            <a:r>
              <a:rPr lang="en-US" sz="1800" b="1" dirty="0">
                <a:latin typeface="Times New Roman" panose="02020603050405020304" pitchFamily="18" charset="0"/>
              </a:rPr>
              <a:t>Preparation</a:t>
            </a:r>
            <a:endParaRPr lang="en-US" sz="1800" b="1" dirty="0">
              <a:latin typeface="Times New Roman" panose="02020603050405020304" pitchFamily="18" charset="0"/>
            </a:endParaRPr>
          </a:p>
          <a:p>
            <a:pPr lvl="1"/>
            <a:r>
              <a:rPr lang="en-US" sz="1600" b="1" dirty="0">
                <a:latin typeface="Times New Roman" panose="02020603050405020304" pitchFamily="18" charset="0"/>
              </a:rPr>
              <a:t> List of questions</a:t>
            </a:r>
            <a:endParaRPr lang="en-US" sz="1600" b="1" dirty="0">
              <a:latin typeface="Times New Roman" panose="02020603050405020304" pitchFamily="18" charset="0"/>
            </a:endParaRPr>
          </a:p>
          <a:p>
            <a:pPr lvl="1"/>
            <a:r>
              <a:rPr lang="en-US" sz="1600" b="1" dirty="0">
                <a:latin typeface="Times New Roman" panose="02020603050405020304" pitchFamily="18" charset="0"/>
              </a:rPr>
              <a:t> Potential Change Request (CR</a:t>
            </a:r>
            <a:r>
              <a:rPr lang="en-US" sz="1600" b="1" dirty="0" smtClean="0">
                <a:latin typeface="Times New Roman" panose="02020603050405020304" pitchFamily="18" charset="0"/>
              </a:rPr>
              <a:t>) – Not defects</a:t>
            </a:r>
            <a:endParaRPr lang="en-US" sz="1600" b="1" dirty="0">
              <a:latin typeface="Times New Roman" panose="02020603050405020304" pitchFamily="18" charset="0"/>
            </a:endParaRPr>
          </a:p>
          <a:p>
            <a:pPr lvl="1"/>
            <a:r>
              <a:rPr lang="en-US" sz="1600" b="1" dirty="0">
                <a:latin typeface="Times New Roman" panose="02020603050405020304" pitchFamily="18" charset="0"/>
              </a:rPr>
              <a:t>Suggested improvement opportunities</a:t>
            </a:r>
            <a:endParaRPr lang="en-US" sz="1600" b="1" dirty="0">
              <a:latin typeface="Times New Roman" panose="02020603050405020304" pitchFamily="18" charset="0"/>
            </a:endParaRPr>
          </a:p>
        </p:txBody>
      </p:sp>
      <p:sp>
        <p:nvSpPr>
          <p:cNvPr id="6" name="Rectangle 19"/>
          <p:cNvSpPr>
            <a:spLocks noGrp="1" noChangeArrowheads="1"/>
          </p:cNvSpPr>
          <p:nvPr>
            <p:ph type="sldNum" sz="quarter" idx="12"/>
          </p:nvPr>
        </p:nvSpPr>
        <p:spPr/>
        <p:txBody>
          <a:bodyPr/>
          <a:lstStyle/>
          <a:p>
            <a:fld id="{BBD5CD18-5A97-43EB-86EC-F24E0A2D3845}" type="slidenum">
              <a:rPr lang="en-US"/>
            </a:fld>
            <a:endParaRPr lang="en-US"/>
          </a:p>
        </p:txBody>
      </p:sp>
      <p:pic>
        <p:nvPicPr>
          <p:cNvPr id="237577" name="Picture 9" descr="codereview"/>
          <p:cNvPicPr>
            <a:picLocks noGrp="1" noChangeAspect="1" noChangeArrowheads="1"/>
          </p:cNvPicPr>
          <p:nvPr>
            <p:ph sz="half" idx="4294967295"/>
          </p:nvPr>
        </p:nvPicPr>
        <p:blipFill>
          <a:blip r:embed="rId1"/>
          <a:srcRect/>
          <a:stretch>
            <a:fillRect/>
          </a:stretch>
        </p:blipFill>
        <p:spPr>
          <a:xfrm>
            <a:off x="7634288" y="900113"/>
            <a:ext cx="4557712" cy="5094287"/>
          </a:xfrm>
        </p:spPr>
      </p:pic>
      <p:sp>
        <p:nvSpPr>
          <p:cNvPr id="237578" name="Text Box 10"/>
          <p:cNvSpPr txBox="1">
            <a:spLocks noChangeArrowheads="1"/>
          </p:cNvSpPr>
          <p:nvPr/>
        </p:nvSpPr>
        <p:spPr bwMode="auto">
          <a:xfrm>
            <a:off x="6407627" y="6157118"/>
            <a:ext cx="4951412" cy="398463"/>
          </a:xfrm>
          <a:prstGeom prst="rect">
            <a:avLst/>
          </a:prstGeom>
          <a:noFill/>
          <a:ln w="12700">
            <a:noFill/>
            <a:miter lim="800000"/>
            <a:headEnd type="none" w="sm" len="sm"/>
            <a:tailEnd type="none" w="sm" len="sm"/>
          </a:ln>
          <a:effectLst/>
        </p:spPr>
        <p:txBody>
          <a:bodyPr lIns="92075" tIns="46038" rIns="92075" bIns="46038"/>
          <a:lstStyle/>
          <a:p>
            <a:r>
              <a:rPr lang="en-US" dirty="0">
                <a:solidFill>
                  <a:srgbClr val="000000"/>
                </a:solidFill>
              </a:rPr>
              <a:t>Figure 3.1: Steps in the code review process</a:t>
            </a:r>
            <a:endParaRPr lang="en-US" dirty="0">
              <a:solidFill>
                <a:srgbClr val="000000"/>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1524000" y="381000"/>
            <a:ext cx="8001000" cy="609600"/>
          </a:xfrm>
        </p:spPr>
        <p:txBody>
          <a:bodyPr>
            <a:normAutofit fontScale="90000"/>
          </a:bodyPr>
          <a:lstStyle/>
          <a:p>
            <a:r>
              <a:rPr lang="en-US" dirty="0" smtClean="0">
                <a:latin typeface="Times New Roman" panose="02020603050405020304" pitchFamily="18" charset="0"/>
              </a:rPr>
              <a:t>Static Unit Testing (Code Review)</a:t>
            </a:r>
            <a:endParaRPr lang="en-US" dirty="0" smtClean="0">
              <a:latin typeface="Times New Roman" panose="02020603050405020304" pitchFamily="18" charset="0"/>
            </a:endParaRPr>
          </a:p>
        </p:txBody>
      </p:sp>
      <p:sp>
        <p:nvSpPr>
          <p:cNvPr id="245763" name="Rectangle 3"/>
          <p:cNvSpPr>
            <a:spLocks noGrp="1" noChangeArrowheads="1"/>
          </p:cNvSpPr>
          <p:nvPr>
            <p:ph type="body" orient="vert" idx="1"/>
          </p:nvPr>
        </p:nvSpPr>
        <p:spPr>
          <a:xfrm rot="-5400000">
            <a:off x="2128838" y="1016000"/>
            <a:ext cx="4406900" cy="5159375"/>
          </a:xfrm>
          <a:prstGeom prst="rect">
            <a:avLst/>
          </a:prstGeom>
        </p:spPr>
        <p:txBody>
          <a:bodyPr>
            <a:normAutofit fontScale="77500" lnSpcReduction="20000"/>
          </a:bodyPr>
          <a:lstStyle/>
          <a:p>
            <a:r>
              <a:rPr lang="en-US" sz="2000" dirty="0">
                <a:latin typeface="Times New Roman" panose="02020603050405020304" pitchFamily="18" charset="0"/>
              </a:rPr>
              <a:t>Step 3: </a:t>
            </a:r>
            <a:r>
              <a:rPr lang="en-US" sz="2000" b="1" dirty="0">
                <a:latin typeface="Times New Roman" panose="02020603050405020304" pitchFamily="18" charset="0"/>
              </a:rPr>
              <a:t>Examination</a:t>
            </a:r>
            <a:endParaRPr lang="en-US" sz="2000" b="1" dirty="0">
              <a:latin typeface="Times New Roman" panose="02020603050405020304" pitchFamily="18" charset="0"/>
            </a:endParaRPr>
          </a:p>
          <a:p>
            <a:pPr lvl="1"/>
            <a:r>
              <a:rPr lang="en-US" sz="1800" b="1" dirty="0">
                <a:latin typeface="Times New Roman" panose="02020603050405020304" pitchFamily="18" charset="0"/>
              </a:rPr>
              <a:t> </a:t>
            </a:r>
            <a:r>
              <a:rPr lang="en-US" sz="1800" dirty="0">
                <a:latin typeface="Times New Roman" panose="02020603050405020304" pitchFamily="18" charset="0"/>
              </a:rPr>
              <a:t>The author makes a presentation</a:t>
            </a:r>
            <a:endParaRPr lang="en-US" sz="1800" dirty="0">
              <a:latin typeface="Times New Roman" panose="02020603050405020304" pitchFamily="18" charset="0"/>
            </a:endParaRPr>
          </a:p>
          <a:p>
            <a:pPr lvl="1"/>
            <a:r>
              <a:rPr lang="en-US" sz="1800" dirty="0">
                <a:latin typeface="Times New Roman" panose="02020603050405020304" pitchFamily="18" charset="0"/>
              </a:rPr>
              <a:t> The presenter reads the code</a:t>
            </a:r>
            <a:endParaRPr lang="en-US" sz="1800" dirty="0">
              <a:latin typeface="Times New Roman" panose="02020603050405020304" pitchFamily="18" charset="0"/>
            </a:endParaRPr>
          </a:p>
          <a:p>
            <a:pPr lvl="1"/>
            <a:r>
              <a:rPr lang="en-US" sz="1800" dirty="0">
                <a:latin typeface="Times New Roman" panose="02020603050405020304" pitchFamily="18" charset="0"/>
              </a:rPr>
              <a:t> The record keeper documents the CR</a:t>
            </a:r>
            <a:endParaRPr lang="en-US" sz="1800" dirty="0">
              <a:latin typeface="Times New Roman" panose="02020603050405020304" pitchFamily="18" charset="0"/>
            </a:endParaRPr>
          </a:p>
          <a:p>
            <a:pPr lvl="1"/>
            <a:r>
              <a:rPr lang="en-US" sz="1800" dirty="0">
                <a:latin typeface="Times New Roman" panose="02020603050405020304" pitchFamily="18" charset="0"/>
              </a:rPr>
              <a:t> Moderator ensures the review is on track</a:t>
            </a:r>
            <a:endParaRPr lang="en-US" sz="1800" b="1" dirty="0">
              <a:latin typeface="Times New Roman" panose="02020603050405020304" pitchFamily="18" charset="0"/>
            </a:endParaRPr>
          </a:p>
          <a:p>
            <a:r>
              <a:rPr lang="en-US" sz="2000" dirty="0">
                <a:latin typeface="Times New Roman" panose="02020603050405020304" pitchFamily="18" charset="0"/>
              </a:rPr>
              <a:t> Step 4: </a:t>
            </a:r>
            <a:r>
              <a:rPr lang="en-US" sz="2000" b="1" dirty="0">
                <a:latin typeface="Times New Roman" panose="02020603050405020304" pitchFamily="18" charset="0"/>
              </a:rPr>
              <a:t>Re-work</a:t>
            </a:r>
            <a:endParaRPr lang="en-US" sz="2000" b="1" dirty="0">
              <a:latin typeface="Times New Roman" panose="02020603050405020304" pitchFamily="18" charset="0"/>
            </a:endParaRPr>
          </a:p>
          <a:p>
            <a:pPr lvl="1"/>
            <a:r>
              <a:rPr lang="en-US" sz="1800" dirty="0">
                <a:latin typeface="Times New Roman" panose="02020603050405020304" pitchFamily="18" charset="0"/>
              </a:rPr>
              <a:t> Make the list of all the CRs</a:t>
            </a:r>
            <a:endParaRPr lang="en-US" sz="1800" dirty="0">
              <a:latin typeface="Times New Roman" panose="02020603050405020304" pitchFamily="18" charset="0"/>
            </a:endParaRPr>
          </a:p>
          <a:p>
            <a:pPr lvl="1"/>
            <a:r>
              <a:rPr lang="en-US" sz="1800" dirty="0">
                <a:latin typeface="Times New Roman" panose="02020603050405020304" pitchFamily="18" charset="0"/>
              </a:rPr>
              <a:t> Make a list of improvements</a:t>
            </a:r>
            <a:endParaRPr lang="en-US" sz="1800" dirty="0">
              <a:latin typeface="Times New Roman" panose="02020603050405020304" pitchFamily="18" charset="0"/>
            </a:endParaRPr>
          </a:p>
          <a:p>
            <a:pPr lvl="1"/>
            <a:r>
              <a:rPr lang="en-US" sz="1800" dirty="0">
                <a:latin typeface="Times New Roman" panose="02020603050405020304" pitchFamily="18" charset="0"/>
              </a:rPr>
              <a:t>Record the minutes meeting</a:t>
            </a:r>
            <a:endParaRPr lang="en-US" sz="1800" dirty="0">
              <a:latin typeface="Times New Roman" panose="02020603050405020304" pitchFamily="18" charset="0"/>
            </a:endParaRPr>
          </a:p>
          <a:p>
            <a:pPr lvl="1"/>
            <a:r>
              <a:rPr lang="en-US" sz="1800" dirty="0">
                <a:latin typeface="Times New Roman" panose="02020603050405020304" pitchFamily="18" charset="0"/>
              </a:rPr>
              <a:t>Author works on the CRs to fix the issue</a:t>
            </a:r>
            <a:endParaRPr lang="en-US" sz="1800" dirty="0">
              <a:latin typeface="Times New Roman" panose="02020603050405020304" pitchFamily="18" charset="0"/>
            </a:endParaRPr>
          </a:p>
          <a:p>
            <a:r>
              <a:rPr lang="en-US" sz="2000" dirty="0">
                <a:latin typeface="Times New Roman" panose="02020603050405020304" pitchFamily="18" charset="0"/>
              </a:rPr>
              <a:t>Step 5: </a:t>
            </a:r>
            <a:r>
              <a:rPr lang="en-US" sz="2000" b="1" dirty="0">
                <a:latin typeface="Times New Roman" panose="02020603050405020304" pitchFamily="18" charset="0"/>
              </a:rPr>
              <a:t>Validation</a:t>
            </a:r>
            <a:endParaRPr lang="en-US" sz="2000" b="1" dirty="0">
              <a:latin typeface="Times New Roman" panose="02020603050405020304" pitchFamily="18" charset="0"/>
            </a:endParaRPr>
          </a:p>
          <a:p>
            <a:pPr lvl="1"/>
            <a:r>
              <a:rPr lang="en-US" sz="1800" dirty="0">
                <a:latin typeface="Times New Roman" panose="02020603050405020304" pitchFamily="18" charset="0"/>
              </a:rPr>
              <a:t>CRs are independently validated</a:t>
            </a:r>
            <a:endParaRPr lang="en-US" sz="1800" dirty="0">
              <a:latin typeface="Times New Roman" panose="02020603050405020304" pitchFamily="18" charset="0"/>
            </a:endParaRPr>
          </a:p>
          <a:p>
            <a:r>
              <a:rPr lang="en-US" sz="2000" dirty="0">
                <a:latin typeface="Times New Roman" panose="02020603050405020304" pitchFamily="18" charset="0"/>
              </a:rPr>
              <a:t>Step 6: </a:t>
            </a:r>
            <a:r>
              <a:rPr lang="en-US" sz="2000" b="1" dirty="0">
                <a:latin typeface="Times New Roman" panose="02020603050405020304" pitchFamily="18" charset="0"/>
              </a:rPr>
              <a:t>Exit</a:t>
            </a:r>
            <a:endParaRPr lang="en-US" sz="2000" b="1" dirty="0">
              <a:latin typeface="Times New Roman" panose="02020603050405020304" pitchFamily="18" charset="0"/>
            </a:endParaRPr>
          </a:p>
          <a:p>
            <a:pPr lvl="1"/>
            <a:r>
              <a:rPr lang="en-US" sz="1800" b="1" dirty="0">
                <a:latin typeface="Times New Roman" panose="02020603050405020304" pitchFamily="18" charset="0"/>
              </a:rPr>
              <a:t> </a:t>
            </a:r>
            <a:r>
              <a:rPr lang="en-US" sz="1800" dirty="0">
                <a:latin typeface="Times New Roman" panose="02020603050405020304" pitchFamily="18" charset="0"/>
              </a:rPr>
              <a:t>A summary report of the meeting minutes is distributes</a:t>
            </a:r>
            <a:endParaRPr lang="en-US" sz="1800" dirty="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0D6BDA08-92C7-46F9-8475-BC62ABAE9906}" type="slidenum">
              <a:rPr lang="en-US"/>
            </a:fld>
            <a:endParaRPr lang="en-US"/>
          </a:p>
        </p:txBody>
      </p:sp>
      <p:sp>
        <p:nvSpPr>
          <p:cNvPr id="245766" name="Rectangle 6"/>
          <p:cNvSpPr>
            <a:spLocks noGrp="1" noChangeArrowheads="1"/>
          </p:cNvSpPr>
          <p:nvPr>
            <p:ph type="body" sz="half" idx="4294967295"/>
          </p:nvPr>
        </p:nvSpPr>
        <p:spPr>
          <a:xfrm>
            <a:off x="7785100" y="1143000"/>
            <a:ext cx="4406900" cy="5870575"/>
          </a:xfrm>
        </p:spPr>
        <p:txBody>
          <a:bodyPr/>
          <a:lstStyle/>
          <a:p>
            <a:pPr>
              <a:buFontTx/>
              <a:buNone/>
            </a:pPr>
            <a:r>
              <a:rPr lang="en-US" sz="2000" dirty="0">
                <a:latin typeface="Times New Roman" panose="02020603050405020304" pitchFamily="18" charset="0"/>
              </a:rPr>
              <a:t>A </a:t>
            </a:r>
            <a:r>
              <a:rPr lang="en-US" sz="2000" b="1" dirty="0">
                <a:latin typeface="Times New Roman" panose="02020603050405020304" pitchFamily="18" charset="0"/>
              </a:rPr>
              <a:t>Change Request (CR)</a:t>
            </a:r>
            <a:r>
              <a:rPr lang="en-US" sz="2000" dirty="0">
                <a:latin typeface="Times New Roman" panose="02020603050405020304" pitchFamily="18" charset="0"/>
              </a:rPr>
              <a:t> includes the following details:</a:t>
            </a:r>
            <a:endParaRPr lang="en-US" sz="2000" dirty="0">
              <a:latin typeface="Times New Roman" panose="02020603050405020304" pitchFamily="18" charset="0"/>
            </a:endParaRPr>
          </a:p>
          <a:p>
            <a:pPr lvl="1"/>
            <a:r>
              <a:rPr lang="en-US" sz="1800" dirty="0">
                <a:latin typeface="Times New Roman" panose="02020603050405020304" pitchFamily="18" charset="0"/>
              </a:rPr>
              <a:t> Give a brief description of the issue </a:t>
            </a:r>
            <a:endParaRPr lang="en-US" sz="1800" dirty="0">
              <a:latin typeface="Times New Roman" panose="02020603050405020304" pitchFamily="18" charset="0"/>
            </a:endParaRPr>
          </a:p>
          <a:p>
            <a:pPr lvl="1"/>
            <a:r>
              <a:rPr lang="en-US" sz="1800" dirty="0">
                <a:latin typeface="Times New Roman" panose="02020603050405020304" pitchFamily="18" charset="0"/>
              </a:rPr>
              <a:t> Assign a priority level (major or minor) to a </a:t>
            </a:r>
            <a:r>
              <a:rPr lang="en-US" sz="1800" b="1" dirty="0">
                <a:latin typeface="Times New Roman" panose="02020603050405020304" pitchFamily="18" charset="0"/>
              </a:rPr>
              <a:t>CR</a:t>
            </a:r>
            <a:endParaRPr lang="en-US" sz="1800" b="1" dirty="0">
              <a:latin typeface="Times New Roman" panose="02020603050405020304" pitchFamily="18" charset="0"/>
            </a:endParaRPr>
          </a:p>
          <a:p>
            <a:pPr lvl="1"/>
            <a:r>
              <a:rPr lang="en-US" sz="1800" dirty="0">
                <a:latin typeface="Times New Roman" panose="02020603050405020304" pitchFamily="18" charset="0"/>
              </a:rPr>
              <a:t>Assign a person to follow it up</a:t>
            </a:r>
            <a:endParaRPr lang="en-US" sz="1800" dirty="0">
              <a:latin typeface="Times New Roman" panose="02020603050405020304" pitchFamily="18" charset="0"/>
            </a:endParaRPr>
          </a:p>
          <a:p>
            <a:pPr lvl="1"/>
            <a:r>
              <a:rPr lang="en-US" sz="1800" dirty="0">
                <a:latin typeface="Times New Roman" panose="02020603050405020304" pitchFamily="18" charset="0"/>
              </a:rPr>
              <a:t>Set a deadline for addressing a </a:t>
            </a:r>
            <a:r>
              <a:rPr lang="en-US" sz="1800" b="1" dirty="0">
                <a:latin typeface="Times New Roman" panose="02020603050405020304" pitchFamily="18" charset="0"/>
              </a:rPr>
              <a:t>CR</a:t>
            </a:r>
            <a:endParaRPr lang="en-US" sz="1800" b="1" dirty="0">
              <a:latin typeface="Times New Roman" panose="02020603050405020304" pitchFamily="18" charset="0"/>
            </a:endParaRPr>
          </a:p>
          <a:p>
            <a:pPr lvl="1">
              <a:buFontTx/>
              <a:buNone/>
            </a:pPr>
            <a:r>
              <a:rPr lang="en-US" sz="1800" dirty="0">
                <a:latin typeface="Times New Roman" panose="02020603050405020304" pitchFamily="18" charset="0"/>
              </a:rPr>
              <a:t>   </a:t>
            </a:r>
            <a:endParaRPr lang="en-US" sz="1800" dirty="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1905000" y="152400"/>
            <a:ext cx="7239000" cy="1143000"/>
          </a:xfrm>
        </p:spPr>
        <p:txBody>
          <a:bodyPr>
            <a:normAutofit/>
          </a:bodyPr>
          <a:lstStyle/>
          <a:p>
            <a:r>
              <a:rPr lang="en-US" dirty="0" smtClean="0">
                <a:latin typeface="Times New Roman" panose="02020603050405020304" pitchFamily="18" charset="0"/>
              </a:rPr>
              <a:t>Static Unit Testing (Code Review)</a:t>
            </a:r>
            <a:endParaRPr lang="en-US" dirty="0" smtClean="0">
              <a:latin typeface="Times New Roman" panose="02020603050405020304" pitchFamily="18" charset="0"/>
            </a:endParaRPr>
          </a:p>
        </p:txBody>
      </p:sp>
      <p:sp>
        <p:nvSpPr>
          <p:cNvPr id="248835" name="Rectangle 3"/>
          <p:cNvSpPr>
            <a:spLocks noGrp="1" noChangeArrowheads="1"/>
          </p:cNvSpPr>
          <p:nvPr>
            <p:ph type="body" orient="vert" idx="1"/>
          </p:nvPr>
        </p:nvSpPr>
        <p:spPr>
          <a:xfrm rot="-5400000">
            <a:off x="-845833" y="4637388"/>
            <a:ext cx="8966200" cy="4651375"/>
          </a:xfrm>
          <a:prstGeom prst="rect">
            <a:avLst/>
          </a:prstGeom>
        </p:spPr>
        <p:txBody>
          <a:bodyPr/>
          <a:lstStyle/>
          <a:p>
            <a:r>
              <a:rPr lang="en-US" dirty="0" smtClean="0">
                <a:latin typeface="Times New Roman" panose="02020603050405020304" pitchFamily="18" charset="0"/>
              </a:rPr>
              <a:t>The number of lines of code (LOC) reviewed per hour</a:t>
            </a:r>
            <a:endParaRPr lang="en-US" dirty="0" smtClean="0">
              <a:latin typeface="Times New Roman" panose="02020603050405020304" pitchFamily="18" charset="0"/>
            </a:endParaRPr>
          </a:p>
          <a:p>
            <a:r>
              <a:rPr lang="en-US" dirty="0" smtClean="0">
                <a:latin typeface="Times New Roman" panose="02020603050405020304" pitchFamily="18" charset="0"/>
              </a:rPr>
              <a:t>The number of CRs generated per thousand lines of code (KLOC)</a:t>
            </a:r>
            <a:endParaRPr lang="en-US" dirty="0" smtClean="0">
              <a:latin typeface="Times New Roman" panose="02020603050405020304" pitchFamily="18" charset="0"/>
            </a:endParaRPr>
          </a:p>
          <a:p>
            <a:r>
              <a:rPr lang="en-US" dirty="0" smtClean="0">
                <a:latin typeface="Times New Roman" panose="02020603050405020304" pitchFamily="18" charset="0"/>
              </a:rPr>
              <a:t>The number of CRs generated per hour</a:t>
            </a:r>
            <a:endParaRPr lang="en-US" dirty="0" smtClean="0">
              <a:latin typeface="Times New Roman" panose="02020603050405020304" pitchFamily="18" charset="0"/>
            </a:endParaRPr>
          </a:p>
          <a:p>
            <a:r>
              <a:rPr lang="en-US" dirty="0" smtClean="0">
                <a:latin typeface="Times New Roman" panose="02020603050405020304" pitchFamily="18" charset="0"/>
              </a:rPr>
              <a:t>The total number of hours spend on code review process</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7E892C6B-B405-4D0C-ADEF-29DC9EC4842C}" type="slidenum">
              <a:rPr lang="en-US"/>
            </a:fld>
            <a:endParaRPr lang="en-US"/>
          </a:p>
        </p:txBody>
      </p:sp>
      <p:sp>
        <p:nvSpPr>
          <p:cNvPr id="248836" name="Text Box 4"/>
          <p:cNvSpPr txBox="1">
            <a:spLocks noChangeArrowheads="1"/>
          </p:cNvSpPr>
          <p:nvPr/>
        </p:nvSpPr>
        <p:spPr bwMode="auto">
          <a:xfrm>
            <a:off x="1276277" y="931729"/>
            <a:ext cx="8413750" cy="1015663"/>
          </a:xfrm>
          <a:prstGeom prst="rect">
            <a:avLst/>
          </a:prstGeom>
          <a:noFill/>
          <a:ln w="12700">
            <a:noFill/>
            <a:miter lim="800000"/>
            <a:headEnd type="none" w="sm" len="sm"/>
            <a:tailEnd type="none" w="sm" len="sm"/>
          </a:ln>
          <a:effectLst/>
        </p:spPr>
        <p:txBody>
          <a:bodyPr>
            <a:spAutoFit/>
          </a:bodyPr>
          <a:lstStyle/>
          <a:p>
            <a:pPr>
              <a:spcBef>
                <a:spcPct val="50000"/>
              </a:spcBef>
            </a:pPr>
            <a:endParaRPr lang="en-US" sz="2400" dirty="0">
              <a:solidFill>
                <a:srgbClr val="000000"/>
              </a:solidFill>
            </a:endParaRPr>
          </a:p>
          <a:p>
            <a:pPr>
              <a:spcBef>
                <a:spcPct val="50000"/>
              </a:spcBef>
            </a:pPr>
            <a:r>
              <a:rPr lang="en-US" sz="2400" dirty="0">
                <a:solidFill>
                  <a:srgbClr val="000000"/>
                </a:solidFill>
              </a:rPr>
              <a:t>The following metrics can be collected from a code review:</a:t>
            </a:r>
            <a:endParaRPr lang="en-US" sz="2400" dirty="0">
              <a:solidFill>
                <a:srgbClr val="000000"/>
              </a:solidFill>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1752600" y="0"/>
            <a:ext cx="7239000" cy="1143000"/>
          </a:xfrm>
        </p:spPr>
        <p:txBody>
          <a:bodyPr>
            <a:normAutofit/>
          </a:bodyPr>
          <a:lstStyle/>
          <a:p>
            <a:r>
              <a:rPr lang="en-US" dirty="0" smtClean="0">
                <a:latin typeface="Times New Roman" panose="02020603050405020304" pitchFamily="18" charset="0"/>
              </a:rPr>
              <a:t>Static Unit Testing (Code Review)</a:t>
            </a:r>
            <a:endParaRPr lang="en-US" dirty="0" smtClean="0">
              <a:latin typeface="Times New Roman" panose="02020603050405020304" pitchFamily="18" charset="0"/>
            </a:endParaRPr>
          </a:p>
        </p:txBody>
      </p:sp>
      <p:sp>
        <p:nvSpPr>
          <p:cNvPr id="259075" name="Rectangle 3"/>
          <p:cNvSpPr>
            <a:spLocks noGrp="1" noChangeArrowheads="1"/>
          </p:cNvSpPr>
          <p:nvPr>
            <p:ph type="body" orient="vert" idx="1"/>
          </p:nvPr>
        </p:nvSpPr>
        <p:spPr>
          <a:xfrm rot="-5400000">
            <a:off x="1609777" y="1242102"/>
            <a:ext cx="8966200" cy="8763000"/>
          </a:xfrm>
          <a:prstGeom prst="rect">
            <a:avLst/>
          </a:prstGeom>
        </p:spPr>
        <p:txBody>
          <a:bodyPr/>
          <a:lstStyle/>
          <a:p>
            <a:r>
              <a:rPr lang="en-US" dirty="0">
                <a:latin typeface="Times New Roman" panose="02020603050405020304" pitchFamily="18" charset="0"/>
              </a:rPr>
              <a:t>The code review methodology can be applicable to review other documents</a:t>
            </a:r>
            <a:endParaRPr lang="en-US" dirty="0">
              <a:latin typeface="Times New Roman" panose="02020603050405020304" pitchFamily="18" charset="0"/>
            </a:endParaRPr>
          </a:p>
          <a:p>
            <a:r>
              <a:rPr lang="en-US" dirty="0">
                <a:latin typeface="Times New Roman" panose="02020603050405020304" pitchFamily="18" charset="0"/>
              </a:rPr>
              <a:t>Five different types of system documents are generated by engineering department</a:t>
            </a:r>
            <a:endParaRPr lang="en-US" dirty="0">
              <a:latin typeface="Times New Roman" panose="02020603050405020304" pitchFamily="18" charset="0"/>
            </a:endParaRPr>
          </a:p>
          <a:p>
            <a:pPr lvl="1"/>
            <a:r>
              <a:rPr lang="en-US" dirty="0">
                <a:latin typeface="Times New Roman" panose="02020603050405020304" pitchFamily="18" charset="0"/>
              </a:rPr>
              <a:t>Requirement</a:t>
            </a:r>
            <a:endParaRPr lang="en-US" dirty="0">
              <a:latin typeface="Times New Roman" panose="02020603050405020304" pitchFamily="18" charset="0"/>
            </a:endParaRPr>
          </a:p>
          <a:p>
            <a:pPr lvl="1"/>
            <a:r>
              <a:rPr lang="en-US" dirty="0">
                <a:latin typeface="Times New Roman" panose="02020603050405020304" pitchFamily="18" charset="0"/>
              </a:rPr>
              <a:t>Functional Specification</a:t>
            </a:r>
            <a:endParaRPr lang="en-US" dirty="0">
              <a:latin typeface="Times New Roman" panose="02020603050405020304" pitchFamily="18" charset="0"/>
            </a:endParaRPr>
          </a:p>
          <a:p>
            <a:pPr lvl="1"/>
            <a:r>
              <a:rPr lang="en-US" dirty="0">
                <a:latin typeface="Times New Roman" panose="02020603050405020304" pitchFamily="18" charset="0"/>
              </a:rPr>
              <a:t>High-level Design</a:t>
            </a:r>
            <a:endParaRPr lang="en-US" dirty="0">
              <a:latin typeface="Times New Roman" panose="02020603050405020304" pitchFamily="18" charset="0"/>
            </a:endParaRPr>
          </a:p>
          <a:p>
            <a:pPr lvl="1"/>
            <a:r>
              <a:rPr lang="en-US" dirty="0">
                <a:latin typeface="Times New Roman" panose="02020603050405020304" pitchFamily="18" charset="0"/>
              </a:rPr>
              <a:t>Low-level Design</a:t>
            </a:r>
            <a:endParaRPr lang="en-US" dirty="0">
              <a:latin typeface="Times New Roman" panose="02020603050405020304" pitchFamily="18" charset="0"/>
            </a:endParaRPr>
          </a:p>
          <a:p>
            <a:pPr lvl="1"/>
            <a:r>
              <a:rPr lang="en-US" dirty="0">
                <a:latin typeface="Times New Roman" panose="02020603050405020304" pitchFamily="18" charset="0"/>
              </a:rPr>
              <a:t>code</a:t>
            </a:r>
            <a:endParaRPr lang="en-US" dirty="0">
              <a:latin typeface="Times New Roman" panose="02020603050405020304" pitchFamily="18" charset="0"/>
            </a:endParaRPr>
          </a:p>
          <a:p>
            <a:r>
              <a:rPr lang="en-US" dirty="0">
                <a:latin typeface="Times New Roman" panose="02020603050405020304" pitchFamily="18" charset="0"/>
              </a:rPr>
              <a:t>In addition installation, user, and trouble shooting guides are developed by technical documentation group </a:t>
            </a:r>
            <a:endParaRPr lang="en-US" dirty="0">
              <a:latin typeface="Times New Roman" panose="02020603050405020304" pitchFamily="18" charset="0"/>
            </a:endParaRPr>
          </a:p>
        </p:txBody>
      </p:sp>
      <p:sp>
        <p:nvSpPr>
          <p:cNvPr id="6" name="Rectangle 19"/>
          <p:cNvSpPr>
            <a:spLocks noGrp="1" noChangeArrowheads="1"/>
          </p:cNvSpPr>
          <p:nvPr>
            <p:ph type="sldNum" sz="quarter" idx="12"/>
          </p:nvPr>
        </p:nvSpPr>
        <p:spPr/>
        <p:txBody>
          <a:bodyPr/>
          <a:lstStyle/>
          <a:p>
            <a:fld id="{A769F73A-1463-42AE-A1A9-89F99D3317E6}" type="slidenum">
              <a:rPr lang="en-US"/>
            </a:fld>
            <a:endParaRPr lang="en-US"/>
          </a:p>
        </p:txBody>
      </p:sp>
      <p:pic>
        <p:nvPicPr>
          <p:cNvPr id="259078" name="Picture 6" descr="systemdoc"/>
          <p:cNvPicPr>
            <a:picLocks noGrp="1" noChangeAspect="1" noChangeArrowheads="1"/>
          </p:cNvPicPr>
          <p:nvPr>
            <p:ph sz="half" idx="4294967295"/>
          </p:nvPr>
        </p:nvPicPr>
        <p:blipFill>
          <a:blip r:embed="rId1"/>
          <a:srcRect/>
          <a:stretch>
            <a:fillRect/>
          </a:stretch>
        </p:blipFill>
        <p:spPr>
          <a:xfrm>
            <a:off x="2053884" y="4569069"/>
            <a:ext cx="7848600" cy="1958975"/>
          </a:xfr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DEFECTPREVENTION</a:t>
            </a:r>
            <a:endParaRPr lang="en-US" dirty="0"/>
          </a:p>
        </p:txBody>
      </p:sp>
      <p:sp>
        <p:nvSpPr>
          <p:cNvPr id="3" name="Vertical Text Placeholder 2"/>
          <p:cNvSpPr>
            <a:spLocks noGrp="1"/>
          </p:cNvSpPr>
          <p:nvPr>
            <p:ph type="body" orient="vert" idx="1"/>
          </p:nvPr>
        </p:nvSpPr>
        <p:spPr>
          <a:xfrm rot="16200000">
            <a:off x="4049837" y="-1378828"/>
            <a:ext cx="4632159" cy="10542085"/>
          </a:xfrm>
        </p:spPr>
        <p:txBody>
          <a:bodyPr/>
          <a:lstStyle/>
          <a:p>
            <a:r>
              <a:rPr lang="en-US" dirty="0"/>
              <a:t>It is in the best interest of the programmers in particular and the company in general to reduce the number of CRs generated during code review</a:t>
            </a:r>
            <a:r>
              <a:rPr lang="en-US" dirty="0" smtClean="0"/>
              <a:t>.</a:t>
            </a:r>
            <a:endParaRPr lang="en-US" dirty="0" smtClean="0"/>
          </a:p>
          <a:p>
            <a:r>
              <a:rPr lang="en-US" dirty="0" smtClean="0"/>
              <a:t> </a:t>
            </a:r>
            <a:r>
              <a:rPr lang="en-US" dirty="0"/>
              <a:t>This is because CRs are indications of potential problems in the code, and those problems must be resolved before different program units are integrated. </a:t>
            </a:r>
            <a:endParaRPr lang="en-US" dirty="0" smtClean="0"/>
          </a:p>
          <a:p>
            <a:r>
              <a:rPr lang="en-US" dirty="0" smtClean="0"/>
              <a:t>Addressing </a:t>
            </a:r>
            <a:r>
              <a:rPr lang="en-US" dirty="0"/>
              <a:t>CRs means spending more resources and potentially delaying the project. </a:t>
            </a:r>
            <a:endParaRPr lang="en-US" dirty="0" smtClean="0"/>
          </a:p>
          <a:p>
            <a:r>
              <a:rPr lang="en-US" dirty="0" smtClean="0"/>
              <a:t>Therefore</a:t>
            </a:r>
            <a:r>
              <a:rPr lang="en-US" dirty="0"/>
              <a:t>, it is essential to adopt the concept of defect prevention during code development.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8" name="Rectangle 4"/>
          <p:cNvSpPr>
            <a:spLocks noGrp="1" noChangeArrowheads="1"/>
          </p:cNvSpPr>
          <p:nvPr>
            <p:ph type="title"/>
          </p:nvPr>
        </p:nvSpPr>
        <p:spPr>
          <a:xfrm>
            <a:off x="1524000" y="0"/>
            <a:ext cx="7239000" cy="1143000"/>
          </a:xfrm>
        </p:spPr>
        <p:txBody>
          <a:bodyPr/>
          <a:lstStyle/>
          <a:p>
            <a:r>
              <a:rPr lang="en-US" dirty="0" smtClean="0">
                <a:latin typeface="Times New Roman" panose="02020603050405020304" pitchFamily="18" charset="0"/>
              </a:rPr>
              <a:t>Dynamic Unit Testing</a:t>
            </a:r>
            <a:endParaRPr lang="en-US" dirty="0" smtClean="0">
              <a:latin typeface="Times New Roman" panose="02020603050405020304" pitchFamily="18" charset="0"/>
            </a:endParaRPr>
          </a:p>
        </p:txBody>
      </p:sp>
      <p:sp>
        <p:nvSpPr>
          <p:cNvPr id="262149" name="Rectangle 5"/>
          <p:cNvSpPr>
            <a:spLocks noGrp="1" noChangeArrowheads="1"/>
          </p:cNvSpPr>
          <p:nvPr>
            <p:ph type="body" orient="vert" idx="1"/>
          </p:nvPr>
        </p:nvSpPr>
        <p:spPr>
          <a:xfrm rot="-5400000">
            <a:off x="-781770" y="3239676"/>
            <a:ext cx="8966200" cy="4062413"/>
          </a:xfrm>
          <a:prstGeom prst="rect">
            <a:avLst/>
          </a:prstGeom>
        </p:spPr>
        <p:txBody>
          <a:bodyPr>
            <a:normAutofit/>
          </a:bodyPr>
          <a:lstStyle/>
          <a:p>
            <a:r>
              <a:rPr lang="en-US" sz="2000" dirty="0">
                <a:latin typeface="Times New Roman" panose="02020603050405020304" pitchFamily="18" charset="0"/>
              </a:rPr>
              <a:t>The environment of a unit is emulated and tested in isolation</a:t>
            </a:r>
            <a:endParaRPr lang="en-US" sz="2000" dirty="0">
              <a:latin typeface="Times New Roman" panose="02020603050405020304" pitchFamily="18" charset="0"/>
            </a:endParaRPr>
          </a:p>
          <a:p>
            <a:r>
              <a:rPr lang="en-US" sz="2000" dirty="0">
                <a:latin typeface="Times New Roman" panose="02020603050405020304" pitchFamily="18" charset="0"/>
              </a:rPr>
              <a:t> The caller unit is known as </a:t>
            </a:r>
            <a:r>
              <a:rPr lang="en-US" sz="2000" i="1" dirty="0">
                <a:latin typeface="Times New Roman" panose="02020603050405020304" pitchFamily="18" charset="0"/>
              </a:rPr>
              <a:t>test driver</a:t>
            </a:r>
            <a:endParaRPr lang="en-US" sz="2000" i="1" dirty="0">
              <a:latin typeface="Times New Roman" panose="02020603050405020304" pitchFamily="18" charset="0"/>
            </a:endParaRPr>
          </a:p>
          <a:p>
            <a:pPr lvl="1"/>
            <a:r>
              <a:rPr lang="en-US" sz="1800" dirty="0">
                <a:latin typeface="Times New Roman" panose="02020603050405020304" pitchFamily="18" charset="0"/>
              </a:rPr>
              <a:t> A </a:t>
            </a:r>
            <a:r>
              <a:rPr lang="en-US" sz="1800" i="1" dirty="0">
                <a:latin typeface="Times New Roman" panose="02020603050405020304" pitchFamily="18" charset="0"/>
              </a:rPr>
              <a:t>test driver</a:t>
            </a:r>
            <a:r>
              <a:rPr lang="en-US" sz="1800" dirty="0">
                <a:latin typeface="Times New Roman" panose="02020603050405020304" pitchFamily="18" charset="0"/>
              </a:rPr>
              <a:t> is a program that invokes the unit under test (UUT)</a:t>
            </a:r>
            <a:endParaRPr lang="en-US" sz="1800" dirty="0">
              <a:latin typeface="Times New Roman" panose="02020603050405020304" pitchFamily="18" charset="0"/>
            </a:endParaRPr>
          </a:p>
          <a:p>
            <a:pPr lvl="1"/>
            <a:r>
              <a:rPr lang="en-US" sz="1800" dirty="0">
                <a:latin typeface="Times New Roman" panose="02020603050405020304" pitchFamily="18" charset="0"/>
              </a:rPr>
              <a:t>It provides input data to unit under test and report the test result</a:t>
            </a:r>
            <a:endParaRPr lang="en-US" sz="1800" dirty="0">
              <a:latin typeface="Times New Roman" panose="02020603050405020304" pitchFamily="18" charset="0"/>
            </a:endParaRPr>
          </a:p>
          <a:p>
            <a:r>
              <a:rPr lang="en-US" sz="2000" dirty="0">
                <a:latin typeface="Times New Roman" panose="02020603050405020304" pitchFamily="18" charset="0"/>
              </a:rPr>
              <a:t>The emulation of the units called by the UUT are called </a:t>
            </a:r>
            <a:r>
              <a:rPr lang="en-US" sz="2000" i="1" dirty="0">
                <a:latin typeface="Times New Roman" panose="02020603050405020304" pitchFamily="18" charset="0"/>
              </a:rPr>
              <a:t>stubs</a:t>
            </a:r>
            <a:endParaRPr lang="en-US" sz="2000" i="1" dirty="0">
              <a:latin typeface="Times New Roman" panose="02020603050405020304" pitchFamily="18" charset="0"/>
            </a:endParaRPr>
          </a:p>
          <a:p>
            <a:pPr lvl="1"/>
            <a:r>
              <a:rPr lang="en-US" sz="1800" i="1" dirty="0">
                <a:latin typeface="Times New Roman" panose="02020603050405020304" pitchFamily="18" charset="0"/>
              </a:rPr>
              <a:t> </a:t>
            </a:r>
            <a:r>
              <a:rPr lang="en-US" sz="1800" dirty="0">
                <a:latin typeface="Times New Roman" panose="02020603050405020304" pitchFamily="18" charset="0"/>
              </a:rPr>
              <a:t>It is a dummy program</a:t>
            </a:r>
            <a:endParaRPr lang="en-US" sz="1800" dirty="0">
              <a:latin typeface="Times New Roman" panose="02020603050405020304" pitchFamily="18" charset="0"/>
            </a:endParaRPr>
          </a:p>
          <a:p>
            <a:r>
              <a:rPr lang="en-US" sz="2000" i="1" dirty="0">
                <a:latin typeface="Times New Roman" panose="02020603050405020304" pitchFamily="18" charset="0"/>
              </a:rPr>
              <a:t> </a:t>
            </a:r>
            <a:r>
              <a:rPr lang="en-US" sz="2000" dirty="0">
                <a:latin typeface="Times New Roman" panose="02020603050405020304" pitchFamily="18" charset="0"/>
              </a:rPr>
              <a:t>The </a:t>
            </a:r>
            <a:r>
              <a:rPr lang="en-US" sz="2000" i="1" dirty="0">
                <a:latin typeface="Times New Roman" panose="02020603050405020304" pitchFamily="18" charset="0"/>
              </a:rPr>
              <a:t>test driver</a:t>
            </a:r>
            <a:r>
              <a:rPr lang="en-US" sz="2000" dirty="0">
                <a:latin typeface="Times New Roman" panose="02020603050405020304" pitchFamily="18" charset="0"/>
              </a:rPr>
              <a:t> and the </a:t>
            </a:r>
            <a:r>
              <a:rPr lang="en-US" sz="2000" i="1" dirty="0">
                <a:latin typeface="Times New Roman" panose="02020603050405020304" pitchFamily="18" charset="0"/>
              </a:rPr>
              <a:t>stubs</a:t>
            </a:r>
            <a:r>
              <a:rPr lang="en-US" sz="2000" dirty="0">
                <a:latin typeface="Times New Roman" panose="02020603050405020304" pitchFamily="18" charset="0"/>
              </a:rPr>
              <a:t> are together called </a:t>
            </a:r>
            <a:r>
              <a:rPr lang="en-US" sz="2000" i="1" dirty="0">
                <a:latin typeface="Times New Roman" panose="02020603050405020304" pitchFamily="18" charset="0"/>
              </a:rPr>
              <a:t>scaffolding</a:t>
            </a:r>
            <a:endParaRPr lang="en-US" sz="2000" dirty="0">
              <a:latin typeface="Times New Roman" panose="02020603050405020304" pitchFamily="18" charset="0"/>
            </a:endParaRPr>
          </a:p>
          <a:p>
            <a:r>
              <a:rPr lang="en-US" sz="2000" dirty="0">
                <a:latin typeface="Times New Roman" panose="02020603050405020304" pitchFamily="18" charset="0"/>
              </a:rPr>
              <a:t> The low-level design document provides guidance for selection of input test data</a:t>
            </a:r>
            <a:endParaRPr lang="en-US" sz="2000" i="1" dirty="0">
              <a:latin typeface="Times New Roman" panose="02020603050405020304" pitchFamily="18" charset="0"/>
            </a:endParaRPr>
          </a:p>
        </p:txBody>
      </p:sp>
      <p:sp>
        <p:nvSpPr>
          <p:cNvPr id="6" name="Rectangle 19"/>
          <p:cNvSpPr>
            <a:spLocks noGrp="1" noChangeArrowheads="1"/>
          </p:cNvSpPr>
          <p:nvPr>
            <p:ph type="sldNum" sz="quarter" idx="12"/>
          </p:nvPr>
        </p:nvSpPr>
        <p:spPr/>
        <p:txBody>
          <a:bodyPr/>
          <a:lstStyle/>
          <a:p>
            <a:fld id="{D29AC51E-B85E-483D-A16F-53BDAE719398}" type="slidenum">
              <a:rPr lang="en-US"/>
            </a:fld>
            <a:endParaRPr lang="en-US"/>
          </a:p>
        </p:txBody>
      </p:sp>
      <p:pic>
        <p:nvPicPr>
          <p:cNvPr id="262151" name="Picture 7" descr="dynamicunittest"/>
          <p:cNvPicPr>
            <a:picLocks noGrp="1" noChangeAspect="1" noChangeArrowheads="1"/>
          </p:cNvPicPr>
          <p:nvPr>
            <p:ph sz="half" idx="4294967295"/>
          </p:nvPr>
        </p:nvPicPr>
        <p:blipFill>
          <a:blip r:embed="rId1"/>
          <a:srcRect/>
          <a:stretch>
            <a:fillRect/>
          </a:stretch>
        </p:blipFill>
        <p:spPr>
          <a:xfrm>
            <a:off x="7566025" y="2979738"/>
            <a:ext cx="4625975" cy="3006725"/>
          </a:xfrm>
        </p:spPr>
      </p:pic>
      <p:sp>
        <p:nvSpPr>
          <p:cNvPr id="262152" name="Text Box 8"/>
          <p:cNvSpPr txBox="1">
            <a:spLocks noChangeArrowheads="1"/>
          </p:cNvSpPr>
          <p:nvPr/>
        </p:nvSpPr>
        <p:spPr bwMode="auto">
          <a:xfrm>
            <a:off x="6981190" y="6210395"/>
            <a:ext cx="4660900" cy="398463"/>
          </a:xfrm>
          <a:prstGeom prst="rect">
            <a:avLst/>
          </a:prstGeom>
          <a:noFill/>
          <a:ln w="12700">
            <a:noFill/>
            <a:miter lim="800000"/>
            <a:headEnd type="none" w="sm" len="sm"/>
            <a:tailEnd type="none" w="sm" len="sm"/>
          </a:ln>
          <a:effectLst/>
        </p:spPr>
        <p:txBody>
          <a:bodyPr lIns="92075" tIns="46038" rIns="92075" bIns="46038"/>
          <a:lstStyle/>
          <a:p>
            <a:r>
              <a:rPr lang="en-US" dirty="0">
                <a:solidFill>
                  <a:srgbClr val="000000"/>
                </a:solidFill>
              </a:rPr>
              <a:t>Figure 3.2: Dynamic unit test environment</a:t>
            </a:r>
            <a:endParaRPr lang="en-US" dirty="0">
              <a:solidFill>
                <a:srgbClr val="000000"/>
              </a:solidFill>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Dynamic Unit Testing</a:t>
            </a:r>
            <a:endParaRPr lang="en-US" dirty="0" smtClean="0">
              <a:latin typeface="Times New Roman" panose="02020603050405020304" pitchFamily="18" charset="0"/>
            </a:endParaRPr>
          </a:p>
        </p:txBody>
      </p:sp>
      <p:sp>
        <p:nvSpPr>
          <p:cNvPr id="265219" name="Rectangle 3"/>
          <p:cNvSpPr>
            <a:spLocks noGrp="1" noChangeArrowheads="1"/>
          </p:cNvSpPr>
          <p:nvPr>
            <p:ph type="body" orient="vert" idx="1"/>
          </p:nvPr>
        </p:nvSpPr>
        <p:spPr>
          <a:xfrm rot="-5400000">
            <a:off x="2927526" y="1784247"/>
            <a:ext cx="8356600" cy="7143104"/>
          </a:xfrm>
          <a:prstGeom prst="rect">
            <a:avLst/>
          </a:prstGeom>
        </p:spPr>
        <p:txBody>
          <a:bodyPr>
            <a:normAutofit/>
          </a:bodyPr>
          <a:lstStyle/>
          <a:p>
            <a:r>
              <a:rPr lang="en-US" dirty="0" smtClean="0">
                <a:latin typeface="Times New Roman" panose="02020603050405020304" pitchFamily="18" charset="0"/>
              </a:rPr>
              <a:t>Control flow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Draw a control flow graph (CFG) from a program unit</a:t>
            </a:r>
            <a:endParaRPr lang="en-US" dirty="0" smtClean="0">
              <a:latin typeface="Times New Roman" panose="02020603050405020304" pitchFamily="18" charset="0"/>
            </a:endParaRPr>
          </a:p>
          <a:p>
            <a:pPr lvl="1"/>
            <a:r>
              <a:rPr lang="en-US" dirty="0" smtClean="0">
                <a:latin typeface="Times New Roman" panose="02020603050405020304" pitchFamily="18" charset="0"/>
              </a:rPr>
              <a:t>Select a few control flow testing criteria</a:t>
            </a:r>
            <a:endParaRPr lang="en-US" dirty="0" smtClean="0">
              <a:latin typeface="Times New Roman" panose="02020603050405020304" pitchFamily="18" charset="0"/>
            </a:endParaRPr>
          </a:p>
          <a:p>
            <a:pPr lvl="1"/>
            <a:r>
              <a:rPr lang="en-US" dirty="0" smtClean="0">
                <a:latin typeface="Times New Roman" panose="02020603050405020304" pitchFamily="18" charset="0"/>
              </a:rPr>
              <a:t>Identify a path in the CFG to satisfy the selection criteria</a:t>
            </a:r>
            <a:endParaRPr lang="en-US" dirty="0" smtClean="0">
              <a:latin typeface="Times New Roman" panose="02020603050405020304" pitchFamily="18" charset="0"/>
            </a:endParaRPr>
          </a:p>
          <a:p>
            <a:pPr lvl="1"/>
            <a:r>
              <a:rPr lang="en-US" dirty="0" smtClean="0">
                <a:latin typeface="Times New Roman" panose="02020603050405020304" pitchFamily="18" charset="0"/>
              </a:rPr>
              <a:t>Derive the path predicate expression from the selection paths</a:t>
            </a:r>
            <a:endParaRPr lang="en-US" dirty="0" smtClean="0">
              <a:latin typeface="Times New Roman" panose="02020603050405020304" pitchFamily="18" charset="0"/>
            </a:endParaRPr>
          </a:p>
          <a:p>
            <a:pPr lvl="1"/>
            <a:r>
              <a:rPr lang="en-US" dirty="0" smtClean="0">
                <a:latin typeface="Times New Roman" panose="02020603050405020304" pitchFamily="18" charset="0"/>
              </a:rPr>
              <a:t> By solving the path predicate expression for a path, one can generate the data</a:t>
            </a:r>
            <a:endParaRPr lang="en-US" dirty="0" smtClean="0">
              <a:latin typeface="Times New Roman" panose="02020603050405020304" pitchFamily="18" charset="0"/>
            </a:endParaRPr>
          </a:p>
          <a:p>
            <a:r>
              <a:rPr lang="en-US" dirty="0" smtClean="0">
                <a:latin typeface="Times New Roman" panose="02020603050405020304" pitchFamily="18" charset="0"/>
              </a:rPr>
              <a:t>Data flow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Draw a data flow graph (DFG) from a program unit and then follow the  procedure described in control flow testing.</a:t>
            </a:r>
            <a:endParaRPr lang="en-US" dirty="0" smtClean="0">
              <a:latin typeface="Times New Roman" panose="02020603050405020304" pitchFamily="18" charset="0"/>
            </a:endParaRPr>
          </a:p>
          <a:p>
            <a:r>
              <a:rPr lang="en-US" dirty="0" smtClean="0">
                <a:latin typeface="Times New Roman" panose="02020603050405020304" pitchFamily="18" charset="0"/>
              </a:rPr>
              <a:t>Domain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Domain errors are defined and then test data are selected to catch those faults</a:t>
            </a:r>
            <a:endParaRPr lang="en-US" dirty="0" smtClean="0">
              <a:latin typeface="Times New Roman" panose="02020603050405020304" pitchFamily="18" charset="0"/>
            </a:endParaRPr>
          </a:p>
          <a:p>
            <a:r>
              <a:rPr lang="en-US" dirty="0" smtClean="0">
                <a:latin typeface="Times New Roman" panose="02020603050405020304" pitchFamily="18" charset="0"/>
              </a:rPr>
              <a:t>Functional program testing</a:t>
            </a:r>
            <a:endParaRPr lang="en-US" dirty="0" smtClean="0">
              <a:latin typeface="Times New Roman" panose="02020603050405020304" pitchFamily="18" charset="0"/>
            </a:endParaRPr>
          </a:p>
          <a:p>
            <a:pPr lvl="1"/>
            <a:r>
              <a:rPr lang="en-US" dirty="0" smtClean="0">
                <a:latin typeface="Times New Roman" panose="02020603050405020304" pitchFamily="18" charset="0"/>
              </a:rPr>
              <a:t>Input/output domains are defined to compute the input values that will cause the unit to produce expected output values</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4000" y="762001"/>
            <a:ext cx="8413750" cy="830997"/>
          </a:xfrm>
          <a:prstGeom prst="rect">
            <a:avLst/>
          </a:prstGeom>
          <a:noFill/>
          <a:ln w="12700">
            <a:noFill/>
            <a:miter lim="800000"/>
            <a:headEnd type="none" w="sm" len="sm"/>
            <a:tailEnd type="none" w="sm" len="sm"/>
          </a:ln>
          <a:effectLst/>
        </p:spPr>
        <p:txBody>
          <a:bodyPr>
            <a:spAutoFit/>
          </a:bodyPr>
          <a:lstStyle/>
          <a:p>
            <a:pPr>
              <a:spcBef>
                <a:spcPct val="50000"/>
              </a:spcBef>
            </a:pPr>
            <a:r>
              <a:rPr lang="en-US" sz="2400" dirty="0">
                <a:solidFill>
                  <a:srgbClr val="000000"/>
                </a:solidFill>
              </a:rPr>
              <a:t>Selection of test data is broadly based on the following techniques:</a:t>
            </a:r>
            <a:endParaRPr lang="en-US" sz="2400" dirty="0">
              <a:solidFill>
                <a:srgbClr val="000000"/>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4000" y="762001"/>
            <a:ext cx="8413750" cy="4893647"/>
          </a:xfrm>
          <a:prstGeom prst="rect">
            <a:avLst/>
          </a:prstGeom>
          <a:noFill/>
          <a:ln w="12700">
            <a:noFill/>
            <a:miter lim="800000"/>
            <a:headEnd type="none" w="sm" len="sm"/>
            <a:tailEnd type="none" w="sm" len="sm"/>
          </a:ln>
          <a:effectLst/>
        </p:spPr>
        <p:txBody>
          <a:bodyPr>
            <a:spAutoFit/>
          </a:bodyPr>
          <a:lstStyle/>
          <a:p>
            <a:pPr>
              <a:spcBef>
                <a:spcPct val="50000"/>
              </a:spcBef>
            </a:pPr>
            <a:endParaRPr lang="en-US" sz="2400" dirty="0">
              <a:solidFill>
                <a:srgbClr val="000000"/>
              </a:solidFill>
            </a:endParaRPr>
          </a:p>
          <a:p>
            <a:pPr>
              <a:spcBef>
                <a:spcPct val="50000"/>
              </a:spcBef>
            </a:pPr>
            <a:r>
              <a:rPr lang="en-US" sz="2400" dirty="0" smtClean="0">
                <a:solidFill>
                  <a:srgbClr val="000000"/>
                </a:solidFill>
              </a:rPr>
              <a:t>Mutation Testing: </a:t>
            </a:r>
            <a:r>
              <a:rPr lang="en-US" sz="2400" dirty="0"/>
              <a:t>A mutation of a program is a modification of the program created by </a:t>
            </a:r>
            <a:r>
              <a:rPr lang="en-US" sz="2400" dirty="0" smtClean="0"/>
              <a:t>introducing </a:t>
            </a:r>
            <a:r>
              <a:rPr lang="en-US" sz="2400" dirty="0"/>
              <a:t>a single, small, legal syntactic change in the code. A modified program so obtained is called a mutant.</a:t>
            </a:r>
            <a:endParaRPr lang="en-US" sz="2400" dirty="0" smtClean="0">
              <a:solidFill>
                <a:srgbClr val="000000"/>
              </a:solidFill>
            </a:endParaRPr>
          </a:p>
          <a:p>
            <a:pPr>
              <a:spcBef>
                <a:spcPct val="50000"/>
              </a:spcBef>
            </a:pPr>
            <a:endParaRPr lang="en-US" sz="2400" dirty="0">
              <a:solidFill>
                <a:srgbClr val="000000"/>
              </a:solidFill>
            </a:endParaRPr>
          </a:p>
          <a:p>
            <a:pPr>
              <a:spcBef>
                <a:spcPct val="50000"/>
              </a:spcBef>
            </a:pPr>
            <a:r>
              <a:rPr lang="en-US" sz="2400" dirty="0" smtClean="0">
                <a:solidFill>
                  <a:srgbClr val="000000"/>
                </a:solidFill>
              </a:rPr>
              <a:t>Debugging:</a:t>
            </a:r>
            <a:endParaRPr lang="en-US" sz="2400" dirty="0" smtClean="0">
              <a:solidFill>
                <a:srgbClr val="000000"/>
              </a:solidFill>
            </a:endParaRPr>
          </a:p>
          <a:p>
            <a:pPr>
              <a:spcBef>
                <a:spcPct val="50000"/>
              </a:spcBef>
            </a:pPr>
            <a:r>
              <a:rPr lang="en-US" sz="2400" dirty="0" smtClean="0">
                <a:solidFill>
                  <a:srgbClr val="000000"/>
                </a:solidFill>
              </a:rPr>
              <a:t>Brut Force</a:t>
            </a:r>
            <a:endParaRPr lang="en-US" sz="2400" dirty="0" smtClean="0">
              <a:solidFill>
                <a:srgbClr val="000000"/>
              </a:solidFill>
            </a:endParaRPr>
          </a:p>
          <a:p>
            <a:pPr>
              <a:spcBef>
                <a:spcPct val="50000"/>
              </a:spcBef>
            </a:pPr>
            <a:r>
              <a:rPr lang="en-US" sz="2400" dirty="0" smtClean="0">
                <a:solidFill>
                  <a:srgbClr val="000000"/>
                </a:solidFill>
              </a:rPr>
              <a:t>Cause elimination</a:t>
            </a:r>
            <a:endParaRPr lang="en-US" sz="2400" dirty="0" smtClean="0">
              <a:solidFill>
                <a:srgbClr val="000000"/>
              </a:solidFill>
            </a:endParaRPr>
          </a:p>
          <a:p>
            <a:pPr>
              <a:spcBef>
                <a:spcPct val="50000"/>
              </a:spcBef>
            </a:pPr>
            <a:r>
              <a:rPr lang="en-US" sz="2400" dirty="0" smtClean="0">
                <a:solidFill>
                  <a:srgbClr val="000000"/>
                </a:solidFill>
              </a:rPr>
              <a:t>Backtracking</a:t>
            </a:r>
            <a:endParaRPr lang="en-US" sz="2400" dirty="0">
              <a:solidFill>
                <a:srgbClr val="000000"/>
              </a:solidFill>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4000" y="762001"/>
            <a:ext cx="8413750" cy="6740307"/>
          </a:xfrm>
          <a:prstGeom prst="rect">
            <a:avLst/>
          </a:prstGeom>
          <a:noFill/>
          <a:ln w="12700">
            <a:noFill/>
            <a:miter lim="800000"/>
            <a:headEnd type="none" w="sm" len="sm"/>
            <a:tailEnd type="none" w="sm" len="sm"/>
          </a:ln>
          <a:effectLst/>
        </p:spPr>
        <p:txBody>
          <a:bodyPr>
            <a:spAutoFit/>
          </a:bodyPr>
          <a:lstStyle/>
          <a:p>
            <a:r>
              <a:rPr lang="en-US" sz="2400" dirty="0" smtClean="0"/>
              <a:t>Mutation </a:t>
            </a:r>
            <a:r>
              <a:rPr lang="en-US" sz="2400" dirty="0"/>
              <a:t>testing is often called </a:t>
            </a:r>
            <a:r>
              <a:rPr lang="en-US" sz="2400" b="1" dirty="0"/>
              <a:t>"Testing the Testers."</a:t>
            </a:r>
            <a:r>
              <a:rPr lang="en-US" sz="2400" dirty="0"/>
              <a:t> While most testing techniques look for bugs in your code, mutation testing looks for "bugs" (weaknesses) in your </a:t>
            </a:r>
            <a:r>
              <a:rPr lang="en-US" sz="2400" b="1" dirty="0"/>
              <a:t>test cases</a:t>
            </a:r>
            <a:r>
              <a:rPr lang="en-US" sz="2400" dirty="0" smtClean="0"/>
              <a:t>.</a:t>
            </a:r>
            <a:endParaRPr lang="en-US" sz="2400" dirty="0" smtClean="0"/>
          </a:p>
          <a:p>
            <a:endParaRPr lang="en-US" sz="2400" dirty="0"/>
          </a:p>
          <a:p>
            <a:r>
              <a:rPr lang="en-US" sz="2400" dirty="0"/>
              <a:t>Mutation testing is not a testing strategy like control flow or data flow testing. It should be used to supplement traditional unit testing techniques</a:t>
            </a:r>
            <a:r>
              <a:rPr lang="en-US" sz="2400" dirty="0" smtClean="0"/>
              <a:t>.</a:t>
            </a:r>
            <a:endParaRPr lang="en-US" sz="2400" dirty="0" smtClean="0"/>
          </a:p>
          <a:p>
            <a:endParaRPr lang="en-US" sz="2400" dirty="0"/>
          </a:p>
          <a:p>
            <a:r>
              <a:rPr lang="en-US" sz="2400" dirty="0"/>
              <a:t>A mutation of a program is a modification of the program created by </a:t>
            </a:r>
            <a:r>
              <a:rPr lang="en-US" sz="2400" dirty="0" smtClean="0"/>
              <a:t>introducing </a:t>
            </a:r>
            <a:r>
              <a:rPr lang="en-US" sz="2400" dirty="0"/>
              <a:t>a single, small, legal syntactic change in the code. </a:t>
            </a:r>
            <a:endParaRPr lang="en-US" sz="2400" dirty="0" smtClean="0"/>
          </a:p>
          <a:p>
            <a:endParaRPr lang="en-US" sz="2400" dirty="0"/>
          </a:p>
          <a:p>
            <a:r>
              <a:rPr lang="en-US" sz="2400" dirty="0" smtClean="0"/>
              <a:t>A </a:t>
            </a:r>
            <a:r>
              <a:rPr lang="en-US" sz="2400" dirty="0"/>
              <a:t>modified program so obtained is called a mutant</a:t>
            </a:r>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 Workflow</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4000" y="762001"/>
            <a:ext cx="8413750" cy="6370975"/>
          </a:xfrm>
          <a:prstGeom prst="rect">
            <a:avLst/>
          </a:prstGeom>
          <a:noFill/>
          <a:ln w="12700">
            <a:noFill/>
            <a:miter lim="800000"/>
            <a:headEnd type="none" w="sm" len="sm"/>
            <a:tailEnd type="none" w="sm" len="sm"/>
          </a:ln>
          <a:effectLst/>
        </p:spPr>
        <p:txBody>
          <a:bodyPr>
            <a:spAutoFit/>
          </a:bodyPr>
          <a:lstStyle/>
          <a:p>
            <a:r>
              <a:rPr lang="en-US" sz="2400" b="1" dirty="0"/>
              <a:t>Phase 1: The Healthy Baseline</a:t>
            </a:r>
            <a:endParaRPr lang="en-US" sz="2400" dirty="0"/>
          </a:p>
          <a:p>
            <a:r>
              <a:rPr lang="en-US" sz="2400" dirty="0"/>
              <a:t>You start with your original, correct code and a set of test cases that all pass.</a:t>
            </a:r>
            <a:endParaRPr lang="en-US" sz="2400" dirty="0"/>
          </a:p>
          <a:p>
            <a:pPr lvl="0"/>
            <a:r>
              <a:rPr lang="en-US" sz="2400" b="1" dirty="0"/>
              <a:t>Code:</a:t>
            </a:r>
            <a:r>
              <a:rPr lang="en-US" sz="2400" dirty="0"/>
              <a:t> if (x &gt; 0) return true;</a:t>
            </a:r>
            <a:endParaRPr lang="en-US" sz="2400" dirty="0"/>
          </a:p>
          <a:p>
            <a:pPr lvl="0"/>
            <a:r>
              <a:rPr lang="en-US" sz="2400" b="1" dirty="0"/>
              <a:t>Test:</a:t>
            </a:r>
            <a:r>
              <a:rPr lang="en-US" sz="2400" dirty="0"/>
              <a:t> assert(</a:t>
            </a:r>
            <a:r>
              <a:rPr lang="en-US" sz="2400" dirty="0" err="1"/>
              <a:t>isPositive</a:t>
            </a:r>
            <a:r>
              <a:rPr lang="en-US" sz="2400" dirty="0"/>
              <a:t>(5) == true); (Status: </a:t>
            </a:r>
            <a:r>
              <a:rPr lang="en-US" sz="2400" b="1" dirty="0"/>
              <a:t>PASS</a:t>
            </a:r>
            <a:r>
              <a:rPr lang="en-US" sz="2400" dirty="0"/>
              <a:t>)</a:t>
            </a:r>
            <a:endParaRPr lang="en-US" sz="2400" dirty="0"/>
          </a:p>
          <a:p>
            <a:r>
              <a:rPr lang="en-US" sz="2400" b="1" dirty="0"/>
              <a:t>Phase 2: Creating the "Zombies" (Mutants)</a:t>
            </a:r>
            <a:endParaRPr lang="en-US" sz="2400" dirty="0"/>
          </a:p>
          <a:p>
            <a:r>
              <a:rPr lang="en-US" sz="2400" dirty="0"/>
              <a:t>A mutation tool automatically creates multiple versions of your code, each with exactly </a:t>
            </a:r>
            <a:r>
              <a:rPr lang="en-US" sz="2400" b="1" dirty="0"/>
              <a:t>one</a:t>
            </a:r>
            <a:r>
              <a:rPr lang="en-US" sz="2400" dirty="0"/>
              <a:t> small change (a "mutation"). Each version is called a </a:t>
            </a:r>
            <a:r>
              <a:rPr lang="en-US" sz="2400" b="1" dirty="0"/>
              <a:t>Mutant</a:t>
            </a:r>
            <a:r>
              <a:rPr lang="en-US" sz="2400" dirty="0"/>
              <a:t>.</a:t>
            </a:r>
            <a:endParaRPr lang="en-US" sz="2400" dirty="0"/>
          </a:p>
          <a:p>
            <a:pPr lvl="0"/>
            <a:r>
              <a:rPr lang="en-US" sz="2400" b="1" dirty="0"/>
              <a:t>Mutant 1:</a:t>
            </a:r>
            <a:r>
              <a:rPr lang="en-US" sz="2400" dirty="0"/>
              <a:t> if (x &gt;= 0) return true; (Relational operator change)</a:t>
            </a:r>
            <a:endParaRPr lang="en-US" sz="2400" dirty="0"/>
          </a:p>
          <a:p>
            <a:pPr lvl="0"/>
            <a:r>
              <a:rPr lang="en-US" sz="2400" b="1" dirty="0"/>
              <a:t>Mutant 2:</a:t>
            </a:r>
            <a:r>
              <a:rPr lang="en-US" sz="2400" dirty="0"/>
              <a:t> if (x &lt; 0) return true; (Logic reversal)</a:t>
            </a:r>
            <a:endParaRPr lang="en-US" sz="2400" dirty="0"/>
          </a:p>
          <a:p>
            <a:pPr lvl="0"/>
            <a:r>
              <a:rPr lang="en-US" sz="2400" b="1" dirty="0"/>
              <a:t>Mutant 3:</a:t>
            </a:r>
            <a:r>
              <a:rPr lang="en-US" sz="2400" dirty="0"/>
              <a:t> if (x &gt; 1) return true; (Value change)</a:t>
            </a:r>
            <a:endParaRPr lang="en-US" sz="2400" dirty="0"/>
          </a:p>
          <a:p>
            <a:endParaRPr lang="en-US" sz="2400" dirty="0"/>
          </a:p>
          <a:p>
            <a:endParaRPr lang="en-US" sz="2400" dirty="0" smtClean="0"/>
          </a:p>
          <a:p>
            <a:endParaRPr lang="en-US" sz="2400" dirty="0"/>
          </a:p>
          <a:p>
            <a:endParaRPr lang="en-US" sz="24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 Workflow</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4000" y="762001"/>
            <a:ext cx="8413750" cy="5262979"/>
          </a:xfrm>
          <a:prstGeom prst="rect">
            <a:avLst/>
          </a:prstGeom>
          <a:noFill/>
          <a:ln w="12700">
            <a:noFill/>
            <a:miter lim="800000"/>
            <a:headEnd type="none" w="sm" len="sm"/>
            <a:tailEnd type="none" w="sm" len="sm"/>
          </a:ln>
          <a:effectLst/>
        </p:spPr>
        <p:txBody>
          <a:bodyPr>
            <a:spAutoFit/>
          </a:bodyPr>
          <a:lstStyle/>
          <a:p>
            <a:r>
              <a:rPr lang="en-US" sz="2400" b="1" dirty="0"/>
              <a:t>Phase 3: The Battle</a:t>
            </a:r>
            <a:endParaRPr lang="en-US" sz="2400" dirty="0"/>
          </a:p>
          <a:p>
            <a:r>
              <a:rPr lang="en-US" sz="2400" dirty="0"/>
              <a:t>You run your original test cases against every single mutant.</a:t>
            </a:r>
            <a:endParaRPr lang="en-US" sz="2400" dirty="0"/>
          </a:p>
          <a:p>
            <a:r>
              <a:rPr lang="en-US" sz="2400" b="1" dirty="0"/>
              <a:t>Phase 4: The Outcomes</a:t>
            </a:r>
            <a:endParaRPr lang="en-US" sz="2400" dirty="0"/>
          </a:p>
          <a:p>
            <a:pPr lvl="0"/>
            <a:r>
              <a:rPr lang="en-US" sz="2400" b="1" dirty="0"/>
              <a:t>Killed (Caught):</a:t>
            </a:r>
            <a:r>
              <a:rPr lang="en-US" sz="2400" dirty="0"/>
              <a:t> If a test fails when running against a mutant, the mutant is "killed." This is </a:t>
            </a:r>
            <a:r>
              <a:rPr lang="en-US" sz="2400" b="1" dirty="0"/>
              <a:t>good</a:t>
            </a:r>
            <a:r>
              <a:rPr lang="en-US" sz="2400" dirty="0"/>
              <a:t>! It means your test was strong enough to notice the change.</a:t>
            </a:r>
            <a:endParaRPr lang="en-US" sz="2400" dirty="0"/>
          </a:p>
          <a:p>
            <a:pPr lvl="0"/>
            <a:r>
              <a:rPr lang="en-US" sz="2400" b="1" dirty="0"/>
              <a:t>Survived (Lived):</a:t>
            </a:r>
            <a:r>
              <a:rPr lang="en-US" sz="2400" dirty="0"/>
              <a:t> If all your tests still pass despite the code change, the mutant "survived." This is </a:t>
            </a:r>
            <a:r>
              <a:rPr lang="en-US" sz="2400" b="1" dirty="0"/>
              <a:t>bad</a:t>
            </a:r>
            <a:r>
              <a:rPr lang="en-US" sz="2400" dirty="0"/>
              <a:t>. it means your tests are weak and missed a potential bug.</a:t>
            </a:r>
            <a:endParaRPr lang="en-US" sz="2400" dirty="0"/>
          </a:p>
          <a:p>
            <a:endParaRPr lang="en-US" sz="2400" dirty="0"/>
          </a:p>
          <a:p>
            <a:endParaRPr lang="en-US" sz="2400" dirty="0" smtClean="0"/>
          </a:p>
          <a:p>
            <a:endParaRPr lang="en-US" sz="2400" dirty="0"/>
          </a:p>
          <a:p>
            <a:endParaRPr lang="en-US" sz="24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 </a:t>
            </a:r>
            <a:r>
              <a:rPr lang="en-US" b="1" dirty="0"/>
              <a:t>Programming Example</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09252" y="1322439"/>
            <a:ext cx="9625780" cy="7478970"/>
          </a:xfrm>
          <a:prstGeom prst="rect">
            <a:avLst/>
          </a:prstGeom>
          <a:noFill/>
          <a:ln w="12700">
            <a:noFill/>
            <a:miter lim="800000"/>
            <a:headEnd type="none" w="sm" len="sm"/>
            <a:tailEnd type="none" w="sm" len="sm"/>
          </a:ln>
          <a:effectLst/>
        </p:spPr>
        <p:txBody>
          <a:bodyPr wrap="square">
            <a:spAutoFit/>
          </a:bodyPr>
          <a:lstStyle/>
          <a:p>
            <a:r>
              <a:rPr lang="en-US" sz="2400" b="1" dirty="0"/>
              <a:t>Your Current Test Suite:</a:t>
            </a:r>
            <a:endParaRPr lang="en-US" sz="2400" dirty="0"/>
          </a:p>
          <a:p>
            <a:pPr lvl="0"/>
            <a:r>
              <a:rPr lang="en-US" sz="2400" dirty="0"/>
              <a:t>Test A: </a:t>
            </a:r>
            <a:r>
              <a:rPr lang="en-US" sz="2400" dirty="0" err="1"/>
              <a:t>can_vote</a:t>
            </a:r>
            <a:r>
              <a:rPr lang="en-US" sz="2400" dirty="0"/>
              <a:t>(20) → Expected: "Yes"</a:t>
            </a:r>
            <a:endParaRPr lang="en-US" sz="2400" dirty="0"/>
          </a:p>
          <a:p>
            <a:pPr lvl="0"/>
            <a:r>
              <a:rPr lang="en-US" sz="2400" dirty="0"/>
              <a:t>Test B: </a:t>
            </a:r>
            <a:r>
              <a:rPr lang="en-US" sz="2400" dirty="0" err="1"/>
              <a:t>can_vote</a:t>
            </a:r>
            <a:r>
              <a:rPr lang="en-US" sz="2400" dirty="0"/>
              <a:t>(10) → Expected: "No"</a:t>
            </a:r>
            <a:endParaRPr lang="en-US" sz="2400" dirty="0"/>
          </a:p>
          <a:p>
            <a:r>
              <a:rPr lang="en-US" sz="2400" b="1" dirty="0"/>
              <a:t>The Mutation Attack:</a:t>
            </a:r>
            <a:endParaRPr lang="en-US" sz="2400" dirty="0"/>
          </a:p>
          <a:p>
            <a:r>
              <a:rPr lang="en-US" sz="2400" dirty="0"/>
              <a:t>The tool creates a mutant by changing the boundary operator:</a:t>
            </a:r>
            <a:endParaRPr lang="en-US" sz="2400" dirty="0"/>
          </a:p>
          <a:p>
            <a:r>
              <a:rPr lang="en-US" sz="2400" b="1" dirty="0"/>
              <a:t>Mutant 1:</a:t>
            </a:r>
            <a:r>
              <a:rPr lang="en-US" sz="2400" dirty="0"/>
              <a:t> if age &gt; 18: (Changed &gt;= to &gt;)</a:t>
            </a:r>
            <a:endParaRPr lang="en-US" sz="2400" dirty="0"/>
          </a:p>
          <a:p>
            <a:r>
              <a:rPr lang="en-US" sz="2400" b="1" dirty="0"/>
              <a:t>Running the Tests against Mutant 1:</a:t>
            </a:r>
            <a:endParaRPr lang="en-US" sz="2400" dirty="0"/>
          </a:p>
          <a:p>
            <a:pPr lvl="0"/>
            <a:r>
              <a:rPr lang="en-US" sz="2400" dirty="0"/>
              <a:t>Test A (20): Result is "Yes". (Expected "Yes"). </a:t>
            </a:r>
            <a:r>
              <a:rPr lang="en-US" sz="2400" b="1" dirty="0"/>
              <a:t>Passed.</a:t>
            </a:r>
            <a:endParaRPr lang="en-US" sz="2400" dirty="0"/>
          </a:p>
          <a:p>
            <a:pPr lvl="0"/>
            <a:r>
              <a:rPr lang="en-US" sz="2400" dirty="0"/>
              <a:t>Test B (10): Result is "No". (Expected "No"). </a:t>
            </a:r>
            <a:r>
              <a:rPr lang="en-US" sz="2400" b="1" dirty="0"/>
              <a:t>Passed.</a:t>
            </a:r>
            <a:endParaRPr lang="en-US" sz="2400" dirty="0"/>
          </a:p>
          <a:p>
            <a:r>
              <a:rPr lang="en-US" sz="2400" b="1" dirty="0"/>
              <a:t>The Result:</a:t>
            </a:r>
            <a:r>
              <a:rPr lang="en-US" sz="2400" dirty="0"/>
              <a:t> The Mutant </a:t>
            </a:r>
            <a:r>
              <a:rPr lang="en-US" sz="2400" b="1" dirty="0"/>
              <a:t>Survived</a:t>
            </a:r>
            <a:r>
              <a:rPr lang="en-US" sz="2400" dirty="0"/>
              <a:t>. Your tests didn't notice that an 18-year-old would now be told "No" instead of "Yes."</a:t>
            </a:r>
            <a:endParaRPr lang="en-US" sz="2400" dirty="0"/>
          </a:p>
          <a:p>
            <a:r>
              <a:rPr lang="en-US" sz="2400" b="1" dirty="0"/>
              <a:t>The Solution:</a:t>
            </a:r>
            <a:r>
              <a:rPr lang="en-US" sz="2400" dirty="0"/>
              <a:t> You must add a new test case: </a:t>
            </a:r>
            <a:r>
              <a:rPr lang="en-US" sz="2400" dirty="0" err="1"/>
              <a:t>can_vote</a:t>
            </a:r>
            <a:r>
              <a:rPr lang="en-US" sz="2400" dirty="0"/>
              <a:t>(18). This test would fail on the mutant, thus "killing" it and making your suite stronger.</a:t>
            </a:r>
            <a:endParaRPr lang="en-US" sz="2400" dirty="0"/>
          </a:p>
          <a:p>
            <a:pPr lvl="0"/>
            <a:endParaRPr lang="en-US" sz="2400" dirty="0" smtClean="0"/>
          </a:p>
          <a:p>
            <a:pPr lvl="0"/>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pic>
        <p:nvPicPr>
          <p:cNvPr id="2" name="Picture 1"/>
          <p:cNvPicPr>
            <a:picLocks noChangeAspect="1"/>
          </p:cNvPicPr>
          <p:nvPr/>
        </p:nvPicPr>
        <p:blipFill>
          <a:blip r:embed="rId1"/>
          <a:stretch>
            <a:fillRect/>
          </a:stretch>
        </p:blipFill>
        <p:spPr>
          <a:xfrm>
            <a:off x="8890324" y="0"/>
            <a:ext cx="3301676" cy="1735933"/>
          </a:xfrm>
          <a:prstGeom prst="rect">
            <a:avLst/>
          </a:prstGeo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82994" y="624840"/>
            <a:ext cx="9625780" cy="8586966"/>
          </a:xfrm>
          <a:prstGeom prst="rect">
            <a:avLst/>
          </a:prstGeom>
          <a:noFill/>
          <a:ln w="12700">
            <a:noFill/>
            <a:miter lim="800000"/>
            <a:headEnd type="none" w="sm" len="sm"/>
            <a:tailEnd type="none" w="sm" len="sm"/>
          </a:ln>
          <a:effectLst/>
        </p:spPr>
        <p:txBody>
          <a:bodyPr wrap="square">
            <a:spAutoFit/>
          </a:bodyPr>
          <a:lstStyle/>
          <a:p>
            <a:r>
              <a:rPr lang="en-US" sz="2400" b="1" dirty="0"/>
              <a:t>The Mutation Score</a:t>
            </a:r>
            <a:endParaRPr lang="en-US" sz="2400" dirty="0"/>
          </a:p>
          <a:p>
            <a:r>
              <a:rPr lang="en-US" sz="2400" dirty="0"/>
              <a:t>At the end, you calculate a score to see how effective your testing is:</a:t>
            </a:r>
            <a:endParaRPr lang="en-US" sz="2400" dirty="0"/>
          </a:p>
          <a:p>
            <a:pPr lvl="0"/>
            <a:r>
              <a:rPr lang="en-US" sz="2400" b="1" dirty="0" smtClean="0"/>
              <a:t>	 </a:t>
            </a:r>
            <a:endParaRPr lang="en-US" sz="2400" b="1" dirty="0" smtClean="0"/>
          </a:p>
          <a:p>
            <a:pPr lvl="0"/>
            <a:endParaRPr lang="en-US" sz="2400" b="1" dirty="0" smtClean="0"/>
          </a:p>
          <a:p>
            <a:pPr lvl="0"/>
            <a:endParaRPr lang="en-US" sz="2400" b="1" dirty="0"/>
          </a:p>
          <a:p>
            <a:pPr lvl="0"/>
            <a:r>
              <a:rPr lang="en-US" sz="2400" b="1" dirty="0" smtClean="0"/>
              <a:t>Goal</a:t>
            </a:r>
            <a:r>
              <a:rPr lang="en-US" sz="2400" b="1" dirty="0"/>
              <a:t>:</a:t>
            </a:r>
            <a:r>
              <a:rPr lang="en-US" sz="2400" dirty="0"/>
              <a:t> A score as close to </a:t>
            </a:r>
            <a:r>
              <a:rPr lang="en-US" sz="2400" b="1" dirty="0"/>
              <a:t>100%</a:t>
            </a:r>
            <a:r>
              <a:rPr lang="en-US" sz="2400" dirty="0"/>
              <a:t> as possible</a:t>
            </a:r>
            <a:r>
              <a:rPr lang="en-US" sz="2400" dirty="0" smtClean="0"/>
              <a:t>.</a:t>
            </a:r>
            <a:endParaRPr lang="en-US" sz="2400" dirty="0" smtClean="0"/>
          </a:p>
          <a:p>
            <a:pPr lvl="0"/>
            <a:endParaRPr lang="en-US" sz="2400" dirty="0"/>
          </a:p>
          <a:p>
            <a:r>
              <a:rPr lang="en-US" sz="2400" b="1" dirty="0"/>
              <a:t>The "Equivalent Mutant" Problem</a:t>
            </a:r>
            <a:endParaRPr lang="en-US" sz="2400" dirty="0"/>
          </a:p>
          <a:p>
            <a:r>
              <a:rPr lang="en-US" sz="2400" dirty="0"/>
              <a:t>Sometimes a tool creates a mutant that is logically identical to the original code, even if it looks different.</a:t>
            </a:r>
            <a:endParaRPr lang="en-US" sz="2400" dirty="0"/>
          </a:p>
          <a:p>
            <a:pPr lvl="0"/>
            <a:r>
              <a:rPr lang="en-US" sz="2400" b="1" dirty="0"/>
              <a:t>Original:</a:t>
            </a:r>
            <a:r>
              <a:rPr lang="en-US" sz="2400" dirty="0"/>
              <a:t> for (</a:t>
            </a:r>
            <a:r>
              <a:rPr lang="en-US" sz="2400" dirty="0" err="1"/>
              <a:t>i</a:t>
            </a:r>
            <a:r>
              <a:rPr lang="en-US" sz="2400" dirty="0"/>
              <a:t>=0; </a:t>
            </a:r>
            <a:r>
              <a:rPr lang="en-US" sz="2400" dirty="0" err="1"/>
              <a:t>i</a:t>
            </a:r>
            <a:r>
              <a:rPr lang="en-US" sz="2400" dirty="0"/>
              <a:t> &lt; 10; </a:t>
            </a:r>
            <a:r>
              <a:rPr lang="en-US" sz="2400" dirty="0" err="1"/>
              <a:t>i</a:t>
            </a:r>
            <a:r>
              <a:rPr lang="en-US" sz="2400" dirty="0"/>
              <a:t>++)</a:t>
            </a:r>
            <a:endParaRPr lang="en-US" sz="2400" dirty="0"/>
          </a:p>
          <a:p>
            <a:pPr lvl="0"/>
            <a:r>
              <a:rPr lang="en-US" sz="2400" b="1" dirty="0"/>
              <a:t>Mutant:</a:t>
            </a:r>
            <a:r>
              <a:rPr lang="en-US" sz="2400" dirty="0"/>
              <a:t> for (</a:t>
            </a:r>
            <a:r>
              <a:rPr lang="en-US" sz="2400" dirty="0" err="1"/>
              <a:t>i</a:t>
            </a:r>
            <a:r>
              <a:rPr lang="en-US" sz="2400" dirty="0"/>
              <a:t>=0; </a:t>
            </a:r>
            <a:r>
              <a:rPr lang="en-US" sz="2400" dirty="0" err="1"/>
              <a:t>i</a:t>
            </a:r>
            <a:r>
              <a:rPr lang="en-US" sz="2400" dirty="0"/>
              <a:t> != 10; </a:t>
            </a:r>
            <a:r>
              <a:rPr lang="en-US" sz="2400" dirty="0" err="1"/>
              <a:t>i</a:t>
            </a:r>
            <a:r>
              <a:rPr lang="en-US" sz="2400" dirty="0"/>
              <a:t>++)</a:t>
            </a:r>
            <a:endParaRPr lang="en-US" sz="2400" dirty="0"/>
          </a:p>
          <a:p>
            <a:r>
              <a:rPr lang="en-US" sz="2400" dirty="0"/>
              <a:t>Since they behave exactly the same, no test can ever kill this mutant. These are called </a:t>
            </a:r>
            <a:r>
              <a:rPr lang="en-US" sz="2400" b="1" dirty="0"/>
              <a:t>Equivalent Mutants</a:t>
            </a:r>
            <a:r>
              <a:rPr lang="en-US" sz="2400" dirty="0"/>
              <a:t> and are usually filtered out manually by the tester.</a:t>
            </a:r>
            <a:endParaRPr lang="en-US" sz="2400" dirty="0"/>
          </a:p>
          <a:p>
            <a:pPr lvl="0"/>
            <a:endParaRPr lang="en-US" sz="2400" dirty="0"/>
          </a:p>
          <a:p>
            <a:pPr lvl="0"/>
            <a:endParaRPr lang="en-US" sz="2400" dirty="0" smtClean="0"/>
          </a:p>
          <a:p>
            <a:pPr lvl="0"/>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pic>
        <p:nvPicPr>
          <p:cNvPr id="6" name="Picture 5"/>
          <p:cNvPicPr>
            <a:picLocks noChangeAspect="1"/>
          </p:cNvPicPr>
          <p:nvPr/>
        </p:nvPicPr>
        <p:blipFill>
          <a:blip r:embed="rId1"/>
          <a:stretch>
            <a:fillRect/>
          </a:stretch>
        </p:blipFill>
        <p:spPr>
          <a:xfrm>
            <a:off x="5935764" y="2340077"/>
            <a:ext cx="6213067" cy="1361768"/>
          </a:xfrm>
          <a:prstGeom prst="rect">
            <a:avLst/>
          </a:prstGeom>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7239000" cy="624840"/>
          </a:xfrm>
        </p:spPr>
        <p:txBody>
          <a:bodyPr>
            <a:normAutofit fontScale="90000"/>
          </a:bodyPr>
          <a:lstStyle/>
          <a:p>
            <a:r>
              <a:rPr lang="en-US" dirty="0" smtClean="0">
                <a:latin typeface="Times New Roman" panose="02020603050405020304" pitchFamily="18" charset="0"/>
              </a:rPr>
              <a:t>Mutation Testing: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82994" y="624840"/>
            <a:ext cx="9625780" cy="5632311"/>
          </a:xfrm>
          <a:prstGeom prst="rect">
            <a:avLst/>
          </a:prstGeom>
          <a:noFill/>
          <a:ln w="12700">
            <a:noFill/>
            <a:miter lim="800000"/>
            <a:headEnd type="none" w="sm" len="sm"/>
            <a:tailEnd type="none" w="sm" len="sm"/>
          </a:ln>
          <a:effectLst/>
        </p:spPr>
        <p:txBody>
          <a:bodyPr wrap="square">
            <a:spAutoFit/>
          </a:bodyPr>
          <a:lstStyle/>
          <a:p>
            <a:pPr lvl="0"/>
            <a:r>
              <a:rPr lang="en-US" sz="2400" b="1" dirty="0"/>
              <a:t>Why do it?</a:t>
            </a:r>
            <a:r>
              <a:rPr lang="en-US" sz="2400" dirty="0"/>
              <a:t> To find "blind spots" in your test suite</a:t>
            </a:r>
            <a:r>
              <a:rPr lang="en-US" sz="2400" dirty="0" smtClean="0"/>
              <a:t>.</a:t>
            </a:r>
            <a:endParaRPr lang="en-US" sz="2400" dirty="0" smtClean="0"/>
          </a:p>
          <a:p>
            <a:pPr lvl="0"/>
            <a:endParaRPr lang="en-US" sz="2400" dirty="0"/>
          </a:p>
          <a:p>
            <a:pPr lvl="0"/>
            <a:r>
              <a:rPr lang="en-US" sz="2400" b="1" dirty="0"/>
              <a:t>The Catch:</a:t>
            </a:r>
            <a:r>
              <a:rPr lang="en-US" sz="2400" dirty="0"/>
              <a:t> It is computationally very expensive (running thousands of tests against thousands of versions of code</a:t>
            </a:r>
            <a:r>
              <a:rPr lang="en-US" sz="2400" dirty="0" smtClean="0"/>
              <a:t>).</a:t>
            </a:r>
            <a:endParaRPr lang="en-US" sz="2400" dirty="0" smtClean="0"/>
          </a:p>
          <a:p>
            <a:pPr lvl="0"/>
            <a:endParaRPr lang="en-US" sz="2400" dirty="0"/>
          </a:p>
          <a:p>
            <a:pPr lvl="0"/>
            <a:r>
              <a:rPr lang="en-US" sz="2400" b="1" dirty="0"/>
              <a:t>Connection to RIPR:</a:t>
            </a:r>
            <a:r>
              <a:rPr lang="en-US" sz="2400" dirty="0"/>
              <a:t> Mutation testing forces </a:t>
            </a:r>
            <a:r>
              <a:rPr lang="en-US" sz="2400" b="1" dirty="0"/>
              <a:t>Infection</a:t>
            </a:r>
            <a:r>
              <a:rPr lang="en-US" sz="2400" dirty="0"/>
              <a:t> (changing the code) and </a:t>
            </a:r>
            <a:r>
              <a:rPr lang="en-US" sz="2400" b="1" dirty="0"/>
              <a:t>Propagation</a:t>
            </a:r>
            <a:r>
              <a:rPr lang="en-US" sz="2400" dirty="0"/>
              <a:t>, then checks if your test provides </a:t>
            </a:r>
            <a:r>
              <a:rPr lang="en-US" sz="2400" b="1" dirty="0" err="1"/>
              <a:t>Revealability</a:t>
            </a:r>
            <a:r>
              <a:rPr lang="en-US" sz="2400" dirty="0"/>
              <a:t>.</a:t>
            </a:r>
            <a:endParaRPr lang="en-US" sz="2400" dirty="0"/>
          </a:p>
          <a:p>
            <a:pPr lvl="0"/>
            <a:endParaRPr lang="en-US" sz="2400" dirty="0"/>
          </a:p>
          <a:p>
            <a:pPr lvl="0"/>
            <a:endParaRPr lang="en-US" sz="2400" dirty="0" smtClean="0"/>
          </a:p>
          <a:p>
            <a:pPr lvl="0"/>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b="1" dirty="0" smtClean="0"/>
              <a:t>UNITTESTING IN EXTREME PROGRAMMING</a:t>
            </a:r>
            <a:endParaRPr lang="en-US" b="1"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7848302"/>
          </a:xfrm>
          <a:prstGeom prst="rect">
            <a:avLst/>
          </a:prstGeom>
          <a:noFill/>
          <a:ln w="12700">
            <a:noFill/>
            <a:miter lim="800000"/>
            <a:headEnd type="none" w="sm" len="sm"/>
            <a:tailEnd type="none" w="sm" len="sm"/>
          </a:ln>
          <a:effectLst/>
        </p:spPr>
        <p:txBody>
          <a:bodyPr wrap="square">
            <a:spAutoFit/>
          </a:bodyPr>
          <a:lstStyle/>
          <a:p>
            <a:pPr lvl="0"/>
            <a:r>
              <a:rPr lang="en-US" sz="2400" dirty="0" smtClean="0"/>
              <a:t>A </a:t>
            </a:r>
            <a:r>
              <a:rPr lang="en-US" sz="2400" b="1" dirty="0" smtClean="0"/>
              <a:t>TDD</a:t>
            </a:r>
            <a:r>
              <a:rPr lang="en-US" sz="2400" dirty="0" smtClean="0"/>
              <a:t> approach </a:t>
            </a:r>
            <a:r>
              <a:rPr lang="en-US" sz="2400" dirty="0"/>
              <a:t>to code development is used in the XP </a:t>
            </a:r>
            <a:r>
              <a:rPr lang="en-US" sz="2400" dirty="0" smtClean="0"/>
              <a:t>methodology.</a:t>
            </a:r>
            <a:endParaRPr lang="en-US" sz="2400" dirty="0" smtClean="0"/>
          </a:p>
          <a:p>
            <a:pPr lvl="0"/>
            <a:r>
              <a:rPr lang="en-US" sz="2400" dirty="0" smtClean="0"/>
              <a:t>The </a:t>
            </a:r>
            <a:r>
              <a:rPr lang="en-US" sz="2400" dirty="0"/>
              <a:t>key aspect of the </a:t>
            </a:r>
            <a:r>
              <a:rPr lang="en-US" sz="2400" b="1" dirty="0"/>
              <a:t>TDD</a:t>
            </a:r>
            <a:r>
              <a:rPr lang="en-US" sz="2400" dirty="0"/>
              <a:t> approach is that a programmer writes low-level tests before writing production code. </a:t>
            </a:r>
            <a:endParaRPr lang="en-US" sz="2400" dirty="0" smtClean="0"/>
          </a:p>
          <a:p>
            <a:pPr lvl="0"/>
            <a:endParaRPr lang="en-US" sz="2400" dirty="0" smtClean="0"/>
          </a:p>
          <a:p>
            <a:pPr lvl="0"/>
            <a:r>
              <a:rPr lang="en-US" sz="2400" dirty="0" smtClean="0"/>
              <a:t>This </a:t>
            </a:r>
            <a:r>
              <a:rPr lang="en-US" sz="2400" dirty="0"/>
              <a:t>is referred to as test </a:t>
            </a:r>
            <a:r>
              <a:rPr lang="en-US" sz="2400" dirty="0" smtClean="0"/>
              <a:t>first in </a:t>
            </a:r>
            <a:r>
              <a:rPr lang="en-US" sz="2400" dirty="0"/>
              <a:t>software </a:t>
            </a:r>
            <a:r>
              <a:rPr lang="en-US" sz="2400" dirty="0" smtClean="0"/>
              <a:t>development</a:t>
            </a:r>
            <a:r>
              <a:rPr lang="en-US" sz="2400" dirty="0"/>
              <a:t>. </a:t>
            </a:r>
            <a:endParaRPr lang="en-US" sz="2400" dirty="0" smtClean="0"/>
          </a:p>
          <a:p>
            <a:pPr lvl="0"/>
            <a:endParaRPr lang="en-US" sz="2400" dirty="0" smtClean="0"/>
          </a:p>
          <a:p>
            <a:pPr lvl="0"/>
            <a:r>
              <a:rPr lang="en-US" sz="2400" dirty="0" smtClean="0"/>
              <a:t>In </a:t>
            </a:r>
            <a:r>
              <a:rPr lang="en-US" sz="2400" dirty="0"/>
              <a:t>XP, a few unit tests are coded first, then a simple, partial system is implemented to pass the tests. </a:t>
            </a:r>
            <a:endParaRPr lang="en-US" sz="2400" dirty="0" smtClean="0"/>
          </a:p>
          <a:p>
            <a:pPr lvl="0"/>
            <a:endParaRPr lang="en-US" sz="2400" dirty="0" smtClean="0"/>
          </a:p>
          <a:p>
            <a:pPr lvl="0"/>
            <a:r>
              <a:rPr lang="en-US" sz="2400" dirty="0" smtClean="0"/>
              <a:t>Then</a:t>
            </a:r>
            <a:r>
              <a:rPr lang="en-US" sz="2400" dirty="0"/>
              <a:t>, one more new unit test is created, and additional code is </a:t>
            </a:r>
            <a:r>
              <a:rPr lang="en-US" sz="2400" dirty="0" smtClean="0"/>
              <a:t>written </a:t>
            </a:r>
            <a:r>
              <a:rPr lang="en-US" sz="2400" dirty="0"/>
              <a:t>to pass the new test, but not more, until a new unit test is created. </a:t>
            </a:r>
            <a:endParaRPr lang="en-US" sz="2400" dirty="0" smtClean="0"/>
          </a:p>
          <a:p>
            <a:pPr lvl="0"/>
            <a:endParaRPr lang="en-US" sz="2400" dirty="0" smtClean="0"/>
          </a:p>
          <a:p>
            <a:pPr lvl="0"/>
            <a:r>
              <a:rPr lang="en-US" sz="2400" dirty="0" smtClean="0"/>
              <a:t>The </a:t>
            </a:r>
            <a:r>
              <a:rPr lang="en-US" sz="2400" dirty="0"/>
              <a:t>process is continued until nothing is left to test.</a:t>
            </a:r>
            <a:endParaRPr lang="en-US" sz="2400" dirty="0"/>
          </a:p>
          <a:p>
            <a:pPr lvl="0"/>
            <a:endParaRPr lang="en-US" sz="2400" dirty="0" smtClean="0"/>
          </a:p>
          <a:p>
            <a:pPr lvl="0"/>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a:t>UNITTESTINGINEXTREMEPROGRAMMING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2308324"/>
          </a:xfrm>
          <a:prstGeom prst="rect">
            <a:avLst/>
          </a:prstGeom>
          <a:noFill/>
          <a:ln w="12700">
            <a:noFill/>
            <a:miter lim="800000"/>
            <a:headEnd type="none" w="sm" len="sm"/>
            <a:tailEnd type="none" w="sm" len="sm"/>
          </a:ln>
          <a:effectLst/>
        </p:spPr>
        <p:txBody>
          <a:bodyPr wrap="square">
            <a:spAutoFit/>
          </a:bodyPr>
          <a:lstStyle/>
          <a:p>
            <a:pPr lvl="0"/>
            <a:endParaRPr lang="en-US" sz="2400" dirty="0" smtClean="0"/>
          </a:p>
          <a:p>
            <a:pPr lvl="0"/>
            <a:r>
              <a:rPr lang="en-US" sz="2400" dirty="0" smtClean="0"/>
              <a:t>.</a:t>
            </a:r>
            <a:endParaRPr lang="en-US" sz="2400" dirty="0" smtClean="0"/>
          </a:p>
          <a:p>
            <a:endParaRPr lang="en-US" sz="2400" dirty="0"/>
          </a:p>
          <a:p>
            <a:endParaRPr lang="en-US" sz="2400" dirty="0" smtClean="0"/>
          </a:p>
          <a:p>
            <a:endParaRPr lang="en-US" sz="2400" dirty="0"/>
          </a:p>
          <a:p>
            <a:endParaRPr lang="en-US" sz="2400" dirty="0"/>
          </a:p>
        </p:txBody>
      </p:sp>
      <p:pic>
        <p:nvPicPr>
          <p:cNvPr id="2" name="Picture 1"/>
          <p:cNvPicPr>
            <a:picLocks noChangeAspect="1"/>
          </p:cNvPicPr>
          <p:nvPr/>
        </p:nvPicPr>
        <p:blipFill>
          <a:blip r:embed="rId1"/>
          <a:stretch>
            <a:fillRect/>
          </a:stretch>
        </p:blipFill>
        <p:spPr>
          <a:xfrm>
            <a:off x="2197202" y="624840"/>
            <a:ext cx="7109029" cy="5957218"/>
          </a:xfrm>
          <a:prstGeom prst="rect">
            <a:avLst/>
          </a:prstGeom>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a:t>UNITTESTINGINEXTREMEPROGRAMMING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6370975"/>
          </a:xfrm>
          <a:prstGeom prst="rect">
            <a:avLst/>
          </a:prstGeom>
          <a:noFill/>
          <a:ln w="12700">
            <a:noFill/>
            <a:miter lim="800000"/>
            <a:headEnd type="none" w="sm" len="sm"/>
            <a:tailEnd type="none" w="sm" len="sm"/>
          </a:ln>
          <a:effectLst/>
        </p:spPr>
        <p:txBody>
          <a:bodyPr wrap="square">
            <a:spAutoFit/>
          </a:bodyPr>
          <a:lstStyle/>
          <a:p>
            <a:pPr lvl="0"/>
            <a:r>
              <a:rPr lang="en-US" sz="2400" dirty="0"/>
              <a:t>A TDD developer must follow the three laws </a:t>
            </a:r>
            <a:r>
              <a:rPr lang="en-US" sz="2400" dirty="0" smtClean="0"/>
              <a:t>proposed</a:t>
            </a:r>
            <a:endParaRPr lang="en-US" sz="2400" dirty="0" smtClean="0"/>
          </a:p>
          <a:p>
            <a:pPr lvl="0"/>
            <a:r>
              <a:rPr lang="en-US" sz="2400" dirty="0"/>
              <a:t>• One may not write production code unless the first failing unit test is written. </a:t>
            </a:r>
            <a:endParaRPr lang="en-US" sz="2400" dirty="0" smtClean="0"/>
          </a:p>
          <a:p>
            <a:pPr lvl="0"/>
            <a:r>
              <a:rPr lang="en-US" sz="2400" dirty="0" smtClean="0"/>
              <a:t>• </a:t>
            </a:r>
            <a:r>
              <a:rPr lang="en-US" sz="2400" dirty="0"/>
              <a:t>One may not write more of a unit test than is sufficient to fail. • One may not write more production code than is sufficient to make the failing unit test pass</a:t>
            </a:r>
            <a:r>
              <a:rPr lang="en-US" sz="2400" dirty="0" smtClean="0"/>
              <a:t>.</a:t>
            </a:r>
            <a:endParaRPr lang="en-US" sz="2400" dirty="0" smtClean="0"/>
          </a:p>
          <a:p>
            <a:pPr lvl="0"/>
            <a:endParaRPr lang="en-US" sz="2400" dirty="0"/>
          </a:p>
          <a:p>
            <a:pPr lvl="0"/>
            <a:r>
              <a:rPr lang="en-US" sz="2400" dirty="0"/>
              <a:t>Creating unit tests helps a developer focus on what needs to be done. </a:t>
            </a:r>
            <a:endParaRPr lang="en-US" sz="2400" dirty="0" smtClean="0"/>
          </a:p>
          <a:p>
            <a:pPr lvl="0"/>
            <a:r>
              <a:rPr lang="en-US" sz="2400" dirty="0" smtClean="0"/>
              <a:t>Requirements</a:t>
            </a:r>
            <a:r>
              <a:rPr lang="en-US" sz="2400" dirty="0"/>
              <a:t>, that is, user stories, are nailed down firmly by unit tests. </a:t>
            </a:r>
            <a:endParaRPr lang="en-US" sz="2400" dirty="0" smtClean="0"/>
          </a:p>
          <a:p>
            <a:pPr lvl="0"/>
            <a:r>
              <a:rPr lang="en-US" sz="2400" dirty="0" smtClean="0"/>
              <a:t>Unit </a:t>
            </a:r>
            <a:r>
              <a:rPr lang="en-US" sz="2400" dirty="0"/>
              <a:t>tests are released into the code repository along with the code they test.</a:t>
            </a:r>
            <a:endParaRPr lang="en-US" sz="2400" dirty="0" smtClean="0"/>
          </a:p>
          <a:p>
            <a:pPr lvl="0"/>
            <a:endParaRPr lang="en-US" sz="2400" dirty="0"/>
          </a:p>
          <a:p>
            <a:pPr lvl="0"/>
            <a:endParaRPr lang="en-US" sz="2400" dirty="0" smtClean="0"/>
          </a:p>
          <a:p>
            <a:pPr lvl="0"/>
            <a:endParaRPr lang="en-US" sz="2400" dirty="0"/>
          </a:p>
          <a:p>
            <a:pPr lvl="0"/>
            <a:endParaRPr lang="en-US" sz="2400"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a:t>UNITTESTINGINEXTREMEPROGRAMMING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7109639"/>
          </a:xfrm>
          <a:prstGeom prst="rect">
            <a:avLst/>
          </a:prstGeom>
          <a:noFill/>
          <a:ln w="12700">
            <a:noFill/>
            <a:miter lim="800000"/>
            <a:headEnd type="none" w="sm" len="sm"/>
            <a:tailEnd type="none" w="sm" len="sm"/>
          </a:ln>
          <a:effectLst/>
        </p:spPr>
        <p:txBody>
          <a:bodyPr wrap="square">
            <a:spAutoFit/>
          </a:bodyPr>
          <a:lstStyle/>
          <a:p>
            <a:pPr lvl="0"/>
            <a:r>
              <a:rPr lang="en-US" sz="2400" dirty="0"/>
              <a:t>Unit tests provide a safety net of regression tests and validation tests so that XP programmers can refactor and integrate effectively</a:t>
            </a:r>
            <a:r>
              <a:rPr lang="en-US" sz="2400" dirty="0" smtClean="0"/>
              <a:t>.</a:t>
            </a:r>
            <a:endParaRPr lang="en-US" sz="2400" dirty="0" smtClean="0"/>
          </a:p>
          <a:p>
            <a:pPr lvl="0"/>
            <a:endParaRPr lang="en-US" sz="2400" dirty="0"/>
          </a:p>
          <a:p>
            <a:r>
              <a:rPr lang="en-US" sz="2400" dirty="0"/>
              <a:t>In </a:t>
            </a:r>
            <a:r>
              <a:rPr lang="en-US" sz="2400" b="1" dirty="0"/>
              <a:t>Extreme Programming (XP)</a:t>
            </a:r>
            <a:r>
              <a:rPr lang="en-US" sz="2400" dirty="0"/>
              <a:t>, code is constantly changing. We refactor (clean up) code daily and integrate our work into the main build every few hours. Without a "safety net," this would be a recipe for disaster.</a:t>
            </a:r>
            <a:endParaRPr lang="en-US" sz="2400" dirty="0"/>
          </a:p>
          <a:p>
            <a:r>
              <a:rPr lang="en-US" sz="2400" dirty="0"/>
              <a:t>This statement means that your suite of unit tests acts like a </a:t>
            </a:r>
            <a:r>
              <a:rPr lang="en-US" sz="2400" b="1" dirty="0"/>
              <a:t>24/7 automated security guard</a:t>
            </a:r>
            <a:r>
              <a:rPr lang="en-US" sz="2400" dirty="0"/>
              <a:t>. If you change a line of code and something—anything—goes wrong, a test will fail immediately</a:t>
            </a:r>
            <a:r>
              <a:rPr lang="en-US" sz="2400" dirty="0" smtClean="0"/>
              <a:t>.</a:t>
            </a:r>
            <a:endParaRPr lang="en-US" sz="2400" dirty="0" smtClean="0"/>
          </a:p>
          <a:p>
            <a:endParaRPr lang="en-US" sz="2400" dirty="0"/>
          </a:p>
          <a:p>
            <a:r>
              <a:rPr lang="en-US" sz="2400" dirty="0" smtClean="0"/>
              <a:t> </a:t>
            </a:r>
            <a:r>
              <a:rPr lang="en-US" sz="2400" dirty="0"/>
              <a:t>This gives you the </a:t>
            </a:r>
            <a:r>
              <a:rPr lang="en-US" sz="2400" b="1" dirty="0"/>
              <a:t>courage</a:t>
            </a:r>
            <a:r>
              <a:rPr lang="en-US" sz="2400" dirty="0"/>
              <a:t> to improve the code without the fear of accidentally "breaking the world."</a:t>
            </a:r>
            <a:endParaRPr lang="en-US" sz="2400" dirty="0"/>
          </a:p>
          <a:p>
            <a:pPr lvl="0"/>
            <a:endParaRPr lang="en-US" sz="2400" dirty="0" smtClean="0"/>
          </a:p>
          <a:p>
            <a:pPr lvl="0"/>
            <a:endParaRPr lang="en-US" sz="2400" dirty="0"/>
          </a:p>
          <a:p>
            <a:pPr lvl="0"/>
            <a:endParaRPr lang="en-US" sz="2400" dirty="0" smtClean="0"/>
          </a:p>
          <a:p>
            <a:pPr lvl="0"/>
            <a:endParaRPr lang="en-US" sz="2400" dirty="0"/>
          </a:p>
          <a:p>
            <a:pPr lvl="0"/>
            <a:endParaRPr lang="en-US" sz="2400"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smtClean="0"/>
              <a:t>UNITTESTING IN EXTREME 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1938992"/>
          </a:xfrm>
          <a:prstGeom prst="rect">
            <a:avLst/>
          </a:prstGeom>
          <a:noFill/>
          <a:ln w="12700">
            <a:noFill/>
            <a:miter lim="800000"/>
            <a:headEnd type="none" w="sm" len="sm"/>
            <a:tailEnd type="none" w="sm" len="sm"/>
          </a:ln>
          <a:effectLst/>
        </p:spPr>
        <p:txBody>
          <a:bodyPr wrap="square">
            <a:spAutoFit/>
          </a:bodyPr>
          <a:lstStyle/>
          <a:p>
            <a:pPr lvl="0"/>
            <a:endParaRPr lang="en-US" sz="2400" dirty="0" smtClean="0"/>
          </a:p>
          <a:p>
            <a:pPr lvl="0"/>
            <a:endParaRPr lang="en-US" sz="2400" dirty="0"/>
          </a:p>
          <a:p>
            <a:pPr lvl="0"/>
            <a:endParaRPr lang="en-US" sz="2400" dirty="0" smtClean="0"/>
          </a:p>
          <a:p>
            <a:pPr lvl="0"/>
            <a:endParaRPr lang="en-US" sz="2400" dirty="0"/>
          </a:p>
          <a:p>
            <a:pPr lvl="0"/>
            <a:endParaRPr lang="en-US" sz="2400" dirty="0"/>
          </a:p>
        </p:txBody>
      </p:sp>
      <p:graphicFrame>
        <p:nvGraphicFramePr>
          <p:cNvPr id="2" name="Table 1"/>
          <p:cNvGraphicFramePr>
            <a:graphicFrameLocks noGrp="1"/>
          </p:cNvGraphicFramePr>
          <p:nvPr/>
        </p:nvGraphicFramePr>
        <p:xfrm>
          <a:off x="1401680" y="1411426"/>
          <a:ext cx="8915400" cy="3230880"/>
        </p:xfrm>
        <a:graphic>
          <a:graphicData uri="http://schemas.openxmlformats.org/drawingml/2006/table">
            <a:tbl>
              <a:tblPr/>
              <a:tblGrid>
                <a:gridCol w="4457700"/>
                <a:gridCol w="4457700"/>
              </a:tblGrid>
              <a:tr h="0">
                <a:tc>
                  <a:txBody>
                    <a:bodyPr/>
                    <a:lstStyle/>
                    <a:p>
                      <a:pPr rtl="0"/>
                      <a:r>
                        <a:rPr lang="en-US" b="1">
                          <a:solidFill>
                            <a:srgbClr val="1F1F1F"/>
                          </a:solidFill>
                          <a:effectLst/>
                          <a:latin typeface="Google Sans Text"/>
                        </a:rPr>
                        <a:t>Element</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F1F1F"/>
                          </a:solidFill>
                          <a:effectLst/>
                          <a:latin typeface="Google Sans Text"/>
                        </a:rPr>
                        <a:t>Role in XP</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0">
                <a:tc>
                  <a:txBody>
                    <a:bodyPr/>
                    <a:lstStyle/>
                    <a:p>
                      <a:pPr rtl="0"/>
                      <a:r>
                        <a:rPr lang="en-US" b="1">
                          <a:solidFill>
                            <a:srgbClr val="1F1F1F"/>
                          </a:solidFill>
                          <a:effectLst/>
                          <a:latin typeface="Google Sans Text"/>
                        </a:rPr>
                        <a:t>Validation</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F1F1F"/>
                          </a:solidFill>
                          <a:effectLst/>
                          <a:latin typeface="Google Sans Text"/>
                        </a:rPr>
                        <a:t>Proves the code does what the user asked for </a:t>
                      </a:r>
                      <a:r>
                        <a:rPr lang="en-US" i="1">
                          <a:solidFill>
                            <a:srgbClr val="1F1F1F"/>
                          </a:solidFill>
                          <a:effectLst/>
                          <a:latin typeface="Google Sans Text"/>
                        </a:rPr>
                        <a:t>right now</a:t>
                      </a:r>
                      <a:r>
                        <a:rPr lang="en-US">
                          <a:solidFill>
                            <a:srgbClr val="1F1F1F"/>
                          </a:solidFill>
                          <a:effectLst/>
                          <a:latin typeface="Google Sans Text"/>
                        </a:rPr>
                        <a:t>.</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0">
                <a:tc>
                  <a:txBody>
                    <a:bodyPr/>
                    <a:lstStyle/>
                    <a:p>
                      <a:pPr rtl="0"/>
                      <a:r>
                        <a:rPr lang="en-US" b="1">
                          <a:solidFill>
                            <a:srgbClr val="1F1F1F"/>
                          </a:solidFill>
                          <a:effectLst/>
                          <a:latin typeface="Google Sans Text"/>
                        </a:rPr>
                        <a:t>Regression</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F1F1F"/>
                          </a:solidFill>
                          <a:effectLst/>
                          <a:latin typeface="Google Sans Text"/>
                        </a:rPr>
                        <a:t>Proves that today's "cleanup" didn't break yesterday's "feature."</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0">
                <a:tc>
                  <a:txBody>
                    <a:bodyPr/>
                    <a:lstStyle/>
                    <a:p>
                      <a:pPr rtl="0"/>
                      <a:r>
                        <a:rPr lang="en-US" b="1">
                          <a:solidFill>
                            <a:srgbClr val="1F1F1F"/>
                          </a:solidFill>
                          <a:effectLst/>
                          <a:latin typeface="Google Sans Text"/>
                        </a:rPr>
                        <a:t>Refactoring</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F1F1F"/>
                          </a:solidFill>
                          <a:effectLst/>
                          <a:latin typeface="Google Sans Text"/>
                        </a:rPr>
                        <a:t>Possible only when you have tests to catch your "accidental" mistakes.</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0">
                <a:tc>
                  <a:txBody>
                    <a:bodyPr/>
                    <a:lstStyle/>
                    <a:p>
                      <a:pPr rtl="0"/>
                      <a:r>
                        <a:rPr lang="en-US" b="1">
                          <a:solidFill>
                            <a:srgbClr val="1F1F1F"/>
                          </a:solidFill>
                          <a:effectLst/>
                          <a:latin typeface="Google Sans Text"/>
                        </a:rPr>
                        <a:t>Integration</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dirty="0">
                          <a:solidFill>
                            <a:srgbClr val="1F1F1F"/>
                          </a:solidFill>
                          <a:effectLst/>
                          <a:latin typeface="Google Sans Text"/>
                        </a:rPr>
                        <a:t>Possible only when you can prove your code doesn't break your neighbor's code.</a:t>
                      </a:r>
                      <a:endParaRPr lang="en-US"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smtClean="0"/>
              <a:t>EXTREME 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856357"/>
            <a:ext cx="9625780" cy="3046988"/>
          </a:xfrm>
          <a:prstGeom prst="rect">
            <a:avLst/>
          </a:prstGeom>
          <a:noFill/>
          <a:ln w="12700">
            <a:noFill/>
            <a:miter lim="800000"/>
            <a:headEnd type="none" w="sm" len="sm"/>
            <a:tailEnd type="none" w="sm" len="sm"/>
          </a:ln>
          <a:effectLst/>
        </p:spPr>
        <p:txBody>
          <a:bodyPr wrap="square">
            <a:spAutoFit/>
          </a:bodyPr>
          <a:lstStyle/>
          <a:p>
            <a:pPr lvl="0"/>
            <a:r>
              <a:rPr lang="en-US" sz="2400" b="1" dirty="0" smtClean="0"/>
              <a:t>Extreme </a:t>
            </a:r>
            <a:r>
              <a:rPr lang="en-US" sz="2400" b="1" dirty="0"/>
              <a:t>Programming (XP)</a:t>
            </a:r>
            <a:r>
              <a:rPr lang="en-US" sz="2400" dirty="0"/>
              <a:t> is one of the foundational frameworks of the Agile movement. </a:t>
            </a:r>
            <a:endParaRPr lang="en-US" sz="2400" dirty="0" smtClean="0"/>
          </a:p>
          <a:p>
            <a:pPr lvl="0"/>
            <a:r>
              <a:rPr lang="en-US" sz="2400" dirty="0" smtClean="0"/>
              <a:t>When </a:t>
            </a:r>
            <a:r>
              <a:rPr lang="en-US" sz="2400" dirty="0"/>
              <a:t>the Agile Manifesto was written in 2001, Kent Beck (the creator of XP) was one of the 17 original signatories. </a:t>
            </a:r>
            <a:endParaRPr lang="en-US" sz="2400" dirty="0" smtClean="0"/>
          </a:p>
          <a:p>
            <a:pPr lvl="0"/>
            <a:r>
              <a:rPr lang="en-US" sz="2400" b="1" dirty="0" smtClean="0"/>
              <a:t>Scrum</a:t>
            </a:r>
            <a:r>
              <a:rPr lang="en-US" sz="2400" dirty="0" smtClean="0"/>
              <a:t> </a:t>
            </a:r>
            <a:r>
              <a:rPr lang="en-US" sz="2400" dirty="0"/>
              <a:t>provides the "managerial" framework for Agile, </a:t>
            </a:r>
            <a:r>
              <a:rPr lang="en-US" sz="2400" b="1" dirty="0"/>
              <a:t>XP</a:t>
            </a:r>
            <a:r>
              <a:rPr lang="en-US" sz="2400" dirty="0"/>
              <a:t> provides the "engineering" heart of it</a:t>
            </a:r>
            <a:r>
              <a:rPr lang="en-US" sz="2400" dirty="0" smtClean="0"/>
              <a:t>.</a:t>
            </a:r>
            <a:endParaRPr lang="en-US" sz="2400" dirty="0" smtClean="0"/>
          </a:p>
          <a:p>
            <a:pPr lvl="0"/>
            <a:endParaRPr lang="en-US" sz="2400" dirty="0"/>
          </a:p>
          <a:p>
            <a:pPr lvl="0"/>
            <a:endParaRPr lang="en-US" sz="2400" dirty="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smtClean="0"/>
              <a:t>EXTREME 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593225"/>
            <a:ext cx="10307510" cy="7109639"/>
          </a:xfrm>
          <a:prstGeom prst="rect">
            <a:avLst/>
          </a:prstGeom>
          <a:noFill/>
          <a:ln w="12700">
            <a:noFill/>
            <a:miter lim="800000"/>
            <a:headEnd type="none" w="sm" len="sm"/>
            <a:tailEnd type="none" w="sm" len="sm"/>
          </a:ln>
          <a:effectLst/>
        </p:spPr>
        <p:txBody>
          <a:bodyPr wrap="square">
            <a:spAutoFit/>
          </a:bodyPr>
          <a:lstStyle/>
          <a:p>
            <a:pPr lvl="0"/>
            <a:r>
              <a:rPr lang="en-US" sz="2400" dirty="0"/>
              <a:t>H</a:t>
            </a:r>
            <a:r>
              <a:rPr lang="en-US" sz="2400" dirty="0" smtClean="0"/>
              <a:t>ow </a:t>
            </a:r>
            <a:r>
              <a:rPr lang="en-US" sz="2400" dirty="0"/>
              <a:t>XP directly implements the four values of the Agile Manifesto</a:t>
            </a:r>
            <a:r>
              <a:rPr lang="en-US" sz="2400" dirty="0" smtClean="0"/>
              <a:t>:</a:t>
            </a:r>
            <a:endParaRPr lang="en-US" sz="2400" dirty="0" smtClean="0"/>
          </a:p>
          <a:p>
            <a:pPr lvl="0"/>
            <a:r>
              <a:rPr lang="en-US" sz="2400" dirty="0"/>
              <a:t>1. </a:t>
            </a:r>
            <a:r>
              <a:rPr lang="en-US" sz="2400" b="1" dirty="0"/>
              <a:t>Individuals and Interactions over Processes and Tools</a:t>
            </a:r>
            <a:endParaRPr lang="en-US" sz="2400" b="1" dirty="0"/>
          </a:p>
          <a:p>
            <a:pPr lvl="0"/>
            <a:r>
              <a:rPr lang="en-US" sz="2400" dirty="0" smtClean="0"/>
              <a:t>	•XP </a:t>
            </a:r>
            <a:r>
              <a:rPr lang="en-US" sz="2400" dirty="0"/>
              <a:t>Practice: Pair Programming and </a:t>
            </a:r>
            <a:r>
              <a:rPr lang="en-US" sz="2400" dirty="0" smtClean="0"/>
              <a:t>Collective 			Ownership</a:t>
            </a:r>
            <a:r>
              <a:rPr lang="en-US" sz="2400" dirty="0"/>
              <a:t>.</a:t>
            </a:r>
            <a:endParaRPr lang="en-US" sz="2400" dirty="0"/>
          </a:p>
          <a:p>
            <a:pPr lvl="0"/>
            <a:r>
              <a:rPr lang="en-US" sz="2400" dirty="0" smtClean="0"/>
              <a:t>	•The </a:t>
            </a:r>
            <a:r>
              <a:rPr lang="en-US" sz="2400" dirty="0"/>
              <a:t>Logic: Instead of relying on a rigid ticketing system or complex documentation tools, XP mandates that two people sit together and talk through the code. It prioritizes the human interaction of "working together" to solve problems over the "process" of solo coding.</a:t>
            </a:r>
            <a:endParaRPr lang="en-US" sz="2400" b="1" dirty="0"/>
          </a:p>
          <a:p>
            <a:pPr lvl="0"/>
            <a:r>
              <a:rPr lang="en-US" sz="2400" b="1" dirty="0"/>
              <a:t>2. Working Software over Comprehensive Documentation</a:t>
            </a:r>
            <a:endParaRPr lang="en-US" sz="2400" b="1" dirty="0"/>
          </a:p>
          <a:p>
            <a:pPr lvl="0"/>
            <a:r>
              <a:rPr lang="en-US" sz="2400" dirty="0" smtClean="0"/>
              <a:t>	•XP </a:t>
            </a:r>
            <a:r>
              <a:rPr lang="en-US" sz="2400" dirty="0"/>
              <a:t>Practice: Test-Driven Development (TDD) and Small Releases.</a:t>
            </a:r>
            <a:endParaRPr lang="en-US" sz="2400" dirty="0"/>
          </a:p>
          <a:p>
            <a:pPr lvl="0"/>
            <a:r>
              <a:rPr lang="en-US" sz="2400" dirty="0" smtClean="0"/>
              <a:t>	•The </a:t>
            </a:r>
            <a:r>
              <a:rPr lang="en-US" sz="2400" dirty="0"/>
              <a:t>Logic: In XP, the "documentation" is often the test suite itself. Because the team releases small updates every week or two, the focus is always on having a functional, "working" system rather than a 200-page manual describing a system that hasn't been built yet.</a:t>
            </a:r>
            <a:endParaRPr lang="en-US" sz="2400" dirty="0"/>
          </a:p>
          <a:p>
            <a:pPr lvl="0"/>
            <a:endParaRPr lang="en-US" sz="2400" dirty="0"/>
          </a:p>
          <a:p>
            <a:pPr lvl="0"/>
            <a:endParaRPr lang="en-US" sz="2400"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smtClean="0"/>
              <a:t>EXTREME 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593225"/>
            <a:ext cx="10307510" cy="6001643"/>
          </a:xfrm>
          <a:prstGeom prst="rect">
            <a:avLst/>
          </a:prstGeom>
          <a:noFill/>
          <a:ln w="12700">
            <a:noFill/>
            <a:miter lim="800000"/>
            <a:headEnd type="none" w="sm" len="sm"/>
            <a:tailEnd type="none" w="sm" len="sm"/>
          </a:ln>
          <a:effectLst/>
        </p:spPr>
        <p:txBody>
          <a:bodyPr wrap="square">
            <a:spAutoFit/>
          </a:bodyPr>
          <a:lstStyle/>
          <a:p>
            <a:pPr lvl="0"/>
            <a:r>
              <a:rPr lang="en-US" sz="2400" dirty="0"/>
              <a:t>H</a:t>
            </a:r>
            <a:r>
              <a:rPr lang="en-US" sz="2400" dirty="0" smtClean="0"/>
              <a:t>ow </a:t>
            </a:r>
            <a:r>
              <a:rPr lang="en-US" sz="2400" dirty="0"/>
              <a:t>XP directly implements the four values of the Agile Manifesto</a:t>
            </a:r>
            <a:r>
              <a:rPr lang="en-US" sz="2400" dirty="0" smtClean="0"/>
              <a:t>:</a:t>
            </a:r>
            <a:endParaRPr lang="en-US" sz="2400" dirty="0" smtClean="0"/>
          </a:p>
          <a:p>
            <a:pPr lvl="0"/>
            <a:r>
              <a:rPr lang="en-US" sz="2400" b="1" dirty="0"/>
              <a:t>3. Customer Collaboration over Contract Negotiation</a:t>
            </a:r>
            <a:endParaRPr lang="en-US" sz="2400" b="1" dirty="0"/>
          </a:p>
          <a:p>
            <a:pPr lvl="0"/>
            <a:r>
              <a:rPr lang="en-US" sz="2400" dirty="0" smtClean="0"/>
              <a:t>	•XP </a:t>
            </a:r>
            <a:r>
              <a:rPr lang="en-US" sz="2400" dirty="0"/>
              <a:t>Practice: On-site Customer.</a:t>
            </a:r>
            <a:endParaRPr lang="en-US" sz="2400" dirty="0"/>
          </a:p>
          <a:p>
            <a:pPr lvl="0"/>
            <a:r>
              <a:rPr lang="en-US" sz="2400" dirty="0" smtClean="0"/>
              <a:t>	•The </a:t>
            </a:r>
            <a:r>
              <a:rPr lang="en-US" sz="2400" dirty="0"/>
              <a:t>Logic: XP requires a customer representative to be physically present (or digitally available at all times) with the team. They don't just sign a contract and leave; they collaborate daily, defining user stories and validating features as they are finished.</a:t>
            </a:r>
            <a:endParaRPr lang="en-US" sz="2400" dirty="0"/>
          </a:p>
          <a:p>
            <a:pPr lvl="0"/>
            <a:r>
              <a:rPr lang="en-US" sz="2400" b="1" dirty="0"/>
              <a:t>4. Responding to Change over Following a Plan</a:t>
            </a:r>
            <a:endParaRPr lang="en-US" sz="2400" b="1" dirty="0"/>
          </a:p>
          <a:p>
            <a:pPr lvl="0"/>
            <a:r>
              <a:rPr lang="en-US" sz="2400" dirty="0" smtClean="0"/>
              <a:t>	•XP </a:t>
            </a:r>
            <a:r>
              <a:rPr lang="en-US" sz="2400" dirty="0"/>
              <a:t>Practice: Refactoring and Simplicity.</a:t>
            </a:r>
            <a:endParaRPr lang="en-US" sz="2400" dirty="0"/>
          </a:p>
          <a:p>
            <a:pPr lvl="0"/>
            <a:r>
              <a:rPr lang="en-US" sz="2400" dirty="0" smtClean="0"/>
              <a:t>	•The </a:t>
            </a:r>
            <a:r>
              <a:rPr lang="en-US" sz="2400" dirty="0"/>
              <a:t>Logic: XP assumes the plan will change. By keeping the code simple and constantly "refactoring" (cleaning it up), the software remains flexible. The team doesn't fear change; they embrace it because their technical practices (like TDD) make it safe to change the code at any time.</a:t>
            </a:r>
            <a:endParaRPr lang="en-US" sz="2400" dirty="0"/>
          </a:p>
          <a:p>
            <a:pPr lvl="0"/>
            <a:endParaRPr lang="en-US" sz="2400" dirty="0"/>
          </a:p>
          <a:p>
            <a:pPr lvl="0"/>
            <a:endParaRPr lang="en-US" sz="2400"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752600" y="0"/>
            <a:ext cx="9161206" cy="624840"/>
          </a:xfrm>
        </p:spPr>
        <p:txBody>
          <a:bodyPr>
            <a:normAutofit fontScale="90000"/>
          </a:bodyPr>
          <a:lstStyle/>
          <a:p>
            <a:r>
              <a:rPr lang="en-US" dirty="0" smtClean="0"/>
              <a:t>EXTREME Programming</a:t>
            </a:r>
            <a:endParaRPr lang="en-US" dirty="0" smtClean="0">
              <a:latin typeface="Times New Roman" panose="02020603050405020304" pitchFamily="18" charset="0"/>
            </a:endParaRPr>
          </a:p>
        </p:txBody>
      </p:sp>
      <p:sp>
        <p:nvSpPr>
          <p:cNvPr id="5" name="Rectangle 19"/>
          <p:cNvSpPr>
            <a:spLocks noGrp="1" noChangeArrowheads="1"/>
          </p:cNvSpPr>
          <p:nvPr>
            <p:ph type="sldNum" sz="quarter" idx="12"/>
          </p:nvPr>
        </p:nvSpPr>
        <p:spPr/>
        <p:txBody>
          <a:bodyPr/>
          <a:lstStyle/>
          <a:p>
            <a:fld id="{A262AD1B-065B-4D63-806D-2452918139DF}" type="slidenum">
              <a:rPr lang="en-US"/>
            </a:fld>
            <a:endParaRPr lang="en-US"/>
          </a:p>
        </p:txBody>
      </p:sp>
      <p:sp>
        <p:nvSpPr>
          <p:cNvPr id="265221" name="Text Box 5"/>
          <p:cNvSpPr txBox="1">
            <a:spLocks noChangeArrowheads="1"/>
          </p:cNvSpPr>
          <p:nvPr/>
        </p:nvSpPr>
        <p:spPr bwMode="auto">
          <a:xfrm>
            <a:off x="1520313" y="593225"/>
            <a:ext cx="10307510" cy="4524315"/>
          </a:xfrm>
          <a:prstGeom prst="rect">
            <a:avLst/>
          </a:prstGeom>
          <a:noFill/>
          <a:ln w="12700">
            <a:noFill/>
            <a:miter lim="800000"/>
            <a:headEnd type="none" w="sm" len="sm"/>
            <a:tailEnd type="none" w="sm" len="sm"/>
          </a:ln>
          <a:effectLst/>
        </p:spPr>
        <p:txBody>
          <a:bodyPr wrap="square">
            <a:spAutoFit/>
          </a:bodyPr>
          <a:lstStyle/>
          <a:p>
            <a:pPr lvl="0"/>
            <a:r>
              <a:rPr lang="en-US" sz="2400" b="1" dirty="0"/>
              <a:t>"Is XP the same as </a:t>
            </a:r>
            <a:r>
              <a:rPr lang="en-US" sz="2400" b="1" dirty="0" smtClean="0"/>
              <a:t>Scrum?"  The distinction:</a:t>
            </a:r>
            <a:endParaRPr lang="en-US" sz="2400" b="1" dirty="0" smtClean="0"/>
          </a:p>
          <a:p>
            <a:pPr lvl="0"/>
            <a:endParaRPr lang="en-US" sz="2400" dirty="0"/>
          </a:p>
          <a:p>
            <a:pPr lvl="0"/>
            <a:r>
              <a:rPr lang="en-US" sz="2400" dirty="0" smtClean="0"/>
              <a:t>•Scrum </a:t>
            </a:r>
            <a:r>
              <a:rPr lang="en-US" sz="2400" dirty="0"/>
              <a:t>is about Product Management: It defines roles (Scrum Master, Product Owner), ceremonies (Sprints, Daily Standups), and artifacts (Backlog).</a:t>
            </a:r>
            <a:endParaRPr lang="en-US" sz="2400" dirty="0"/>
          </a:p>
          <a:p>
            <a:pPr lvl="0"/>
            <a:endParaRPr lang="en-US" sz="2400" dirty="0" smtClean="0"/>
          </a:p>
          <a:p>
            <a:pPr lvl="0"/>
            <a:r>
              <a:rPr lang="en-US" sz="2400" dirty="0" smtClean="0"/>
              <a:t>•XP </a:t>
            </a:r>
            <a:r>
              <a:rPr lang="en-US" sz="2400" dirty="0"/>
              <a:t>is about Software Engineering: It defines how you actually write the code (TDD, Pair Programming, CI, </a:t>
            </a:r>
            <a:r>
              <a:rPr lang="en-US" sz="2400"/>
              <a:t>Refactoring</a:t>
            </a:r>
            <a:r>
              <a:rPr lang="en-US" sz="2400" smtClean="0"/>
              <a:t>).</a:t>
            </a:r>
            <a:endParaRPr lang="en-US" sz="2400" smtClean="0"/>
          </a:p>
          <a:p>
            <a:pPr lvl="0"/>
            <a:endParaRPr lang="en-US" sz="2400" dirty="0"/>
          </a:p>
          <a:p>
            <a:pPr lvl="0"/>
            <a:r>
              <a:rPr lang="en-US" sz="2400" dirty="0"/>
              <a:t>Most successful Agile teams actually do "Scrum-XP"—they use Scrum to manage the project and XP practices to ensure the code doesn't turn into a "big ball of mud."</a:t>
            </a:r>
            <a:endParaRPr lang="en-US" sz="2400"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14047</Words>
  <Application>WPS Presentation</Application>
  <PresentationFormat>Widescreen</PresentationFormat>
  <Paragraphs>441</Paragraphs>
  <Slides>28</Slides>
  <Notes>26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28</vt:i4>
      </vt:variant>
    </vt:vector>
  </HeadingPairs>
  <TitlesOfParts>
    <vt:vector size="44" baseType="lpstr">
      <vt:lpstr>Arial</vt:lpstr>
      <vt:lpstr>SimSun</vt:lpstr>
      <vt:lpstr>Wingdings</vt:lpstr>
      <vt:lpstr>Wingdings 3</vt:lpstr>
      <vt:lpstr>Symbol</vt:lpstr>
      <vt:lpstr>Arial</vt:lpstr>
      <vt:lpstr>Times New Roman</vt:lpstr>
      <vt:lpstr>Blackadder ITC</vt:lpstr>
      <vt:lpstr>Gabriola</vt:lpstr>
      <vt:lpstr>Century Gothic</vt:lpstr>
      <vt:lpstr>Microsoft YaHei</vt:lpstr>
      <vt:lpstr>Arial Unicode MS</vt:lpstr>
      <vt:lpstr>Calibri</vt:lpstr>
      <vt:lpstr>Google Sans Text</vt:lpstr>
      <vt:lpstr>Segoe Print</vt:lpstr>
      <vt:lpstr>Wisp</vt:lpstr>
      <vt:lpstr>UNIT TESTING </vt:lpstr>
      <vt:lpstr>Concept of Unit Testing</vt:lpstr>
      <vt:lpstr>Concept of Unit Testing</vt:lpstr>
      <vt:lpstr>Concept of Unit Testing</vt:lpstr>
      <vt:lpstr>Static Unit Testing</vt:lpstr>
      <vt:lpstr>Static Unit Testing (Code Review)</vt:lpstr>
      <vt:lpstr>Static Unit Testing (Code Review)</vt:lpstr>
      <vt:lpstr>Static Unit Testing (Code Review)</vt:lpstr>
      <vt:lpstr>Static Unit Testing (Code Review)</vt:lpstr>
      <vt:lpstr>DEFECTPREVENTION</vt:lpstr>
      <vt:lpstr>Dynamic Unit Testing</vt:lpstr>
      <vt:lpstr>Dynamic Unit Testing</vt:lpstr>
      <vt:lpstr>PowerPoint 演示文稿</vt:lpstr>
      <vt:lpstr>Mutation Testing</vt:lpstr>
      <vt:lpstr>Mutation Testing: Workflow</vt:lpstr>
      <vt:lpstr>Mutation Testing: Workflow</vt:lpstr>
      <vt:lpstr>Mutation Testing: Programming Example</vt:lpstr>
      <vt:lpstr>Mutation Testing:</vt:lpstr>
      <vt:lpstr>Mutation Testing:</vt:lpstr>
      <vt:lpstr>UNITTESTING IN EXTREME PROGRAMMING</vt:lpstr>
      <vt:lpstr>UNITTESTINGINEXTREMEPROGRAMMING</vt:lpstr>
      <vt:lpstr>UNITTESTINGINEXTREMEPROGRAMMING</vt:lpstr>
      <vt:lpstr>UNITTESTINGINEXTREMEPROGRAMMING</vt:lpstr>
      <vt:lpstr>UNITTESTING IN EXTREME PROGRAMMING</vt:lpstr>
      <vt:lpstr>EXTREME Programming</vt:lpstr>
      <vt:lpstr>EXTREME Programming</vt:lpstr>
      <vt:lpstr>EXTREME Programming</vt:lpstr>
      <vt:lpstr>EXTREME Programming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TESTING</dc:title>
  <dc:creator>lehmia.kiran</dc:creator>
  <cp:lastModifiedBy>Hafiza Syeda Arshah Lamees Naqvi BSCS 2022 FAST NU LHR</cp:lastModifiedBy>
  <cp:revision>45</cp:revision>
  <dcterms:created xsi:type="dcterms:W3CDTF">2024-01-23T07:06:00Z</dcterms:created>
  <dcterms:modified xsi:type="dcterms:W3CDTF">2026-06-04T05:57:06Z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5BEBC954F2D5418AA94A627B5CC8123D_12</vt:lpwstr>
  </property>
  <property fmtid="{D5CDD505-2E9C-101B-9397-08002B2CF9AE}" pid="3" name="KSOProductBuildVer">
    <vt:lpwstr>1033-12.1.0.26372</vt:lpwstr>
  </property>
</Properties>
</file>