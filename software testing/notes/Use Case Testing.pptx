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4" autoAdjust="0"/>
  </p:normalViewPr>
  <p:slideViewPr>
    <p:cSldViewPr snapToGrid="0">
      <p:cViewPr varScale="1">
        <p:scale>
          <a:sx n="106" d="100"/>
          <a:sy n="106" d="100"/>
        </p:scale>
        <p:origin x="1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688B1-F4E3-406F-9E85-67A7A83E39CD}"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550E75-4B81-43D8-A956-FB15CD7A7988}" type="slidenum">
              <a:rPr lang="en-US" smtClean="0"/>
              <a:t>‹#›</a:t>
            </a:fld>
            <a:endParaRPr lang="en-US"/>
          </a:p>
        </p:txBody>
      </p:sp>
    </p:spTree>
    <p:extLst>
      <p:ext uri="{BB962C8B-B14F-4D97-AF65-F5344CB8AC3E}">
        <p14:creationId xmlns:p14="http://schemas.microsoft.com/office/powerpoint/2010/main" val="3873448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Imagine a bank is redesigning its customer interface. The stakeholders include business analysts, customers, and developers who are debating whether to use an Angular front-end or a React front-end, and whether to use a monolithic or </a:t>
            </a:r>
            <a:r>
              <a:rPr lang="en-US" dirty="0" err="1" smtClean="0"/>
              <a:t>microservices</a:t>
            </a:r>
            <a:r>
              <a:rPr lang="en-US" dirty="0" smtClean="0"/>
              <a:t> architecture on the backend</a:t>
            </a:r>
          </a:p>
          <a:p>
            <a:endParaRPr lang="en-US" dirty="0" smtClean="0"/>
          </a:p>
          <a:p>
            <a:r>
              <a:rPr lang="en-US" dirty="0" smtClean="0"/>
              <a:t>Imagine a software team is building a document management system. The business analyst (BA) knows the system needs a "File Upload" feature, but they don't know the user's practical workflow or their specific anxieties about the process.</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Imagine a financial institution is developing a new online loan system.</a:t>
            </a:r>
            <a:r>
              <a:rPr lang="en-US" baseline="0" dirty="0" smtClean="0"/>
              <a:t> </a:t>
            </a:r>
            <a:r>
              <a:rPr lang="en-US" dirty="0" smtClean="0"/>
              <a:t>An external dependency relationship with a third-party credit score provider.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dirty="0" smtClean="0"/>
              <a:t>Imagine an e-commerce platform is being built. The Use Case is </a:t>
            </a:r>
            <a:r>
              <a:rPr lang="en-US" b="1" dirty="0" smtClean="0"/>
              <a:t>"Checkout and Pay."</a:t>
            </a: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6</a:t>
            </a:fld>
            <a:endParaRPr lang="en-US"/>
          </a:p>
        </p:txBody>
      </p:sp>
    </p:spTree>
    <p:extLst>
      <p:ext uri="{BB962C8B-B14F-4D97-AF65-F5344CB8AC3E}">
        <p14:creationId xmlns:p14="http://schemas.microsoft.com/office/powerpoint/2010/main" val="1125314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3590904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36509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B4F870-F7B5-4BD8-BBC4-0775DDC1F341}"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63927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B4F870-F7B5-4BD8-BBC4-0775DDC1F341}"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2698794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EB4F870-F7B5-4BD8-BBC4-0775DDC1F341}"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071409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B4F870-F7B5-4BD8-BBC4-0775DDC1F341}"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1351449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4F870-F7B5-4BD8-BBC4-0775DDC1F341}"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3629232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B4F870-F7B5-4BD8-BBC4-0775DDC1F341}"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164287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B4F870-F7B5-4BD8-BBC4-0775DDC1F341}"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10344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273474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909801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B4F870-F7B5-4BD8-BBC4-0775DDC1F341}" type="datetimeFigureOut">
              <a:rPr lang="en-US" smtClean="0"/>
              <a:t>3/9/2026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DDFF3C-C903-4521-BDF6-F31006FE2CEA}" type="slidenum">
              <a:rPr lang="en-US" smtClean="0"/>
              <a:t>‹#›</a:t>
            </a:fld>
            <a:endParaRPr lang="en-US"/>
          </a:p>
        </p:txBody>
      </p:sp>
    </p:spTree>
    <p:extLst>
      <p:ext uri="{BB962C8B-B14F-4D97-AF65-F5344CB8AC3E}">
        <p14:creationId xmlns:p14="http://schemas.microsoft.com/office/powerpoint/2010/main" val="312898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BlackBox</a:t>
            </a:r>
            <a:r>
              <a:rPr lang="en-US" dirty="0" smtClean="0"/>
              <a:t> </a:t>
            </a:r>
            <a:r>
              <a:rPr lang="en-US" dirty="0" err="1" smtClean="0"/>
              <a:t>Testig</a:t>
            </a:r>
            <a:endParaRPr lang="en-US" dirty="0"/>
          </a:p>
        </p:txBody>
      </p:sp>
      <p:sp>
        <p:nvSpPr>
          <p:cNvPr id="3" name="Subtitle 2"/>
          <p:cNvSpPr>
            <a:spLocks noGrp="1"/>
          </p:cNvSpPr>
          <p:nvPr>
            <p:ph type="subTitle" idx="1"/>
          </p:nvPr>
        </p:nvSpPr>
        <p:spPr/>
        <p:txBody>
          <a:bodyPr/>
          <a:lstStyle/>
          <a:p>
            <a:r>
              <a:rPr lang="en-US" dirty="0" err="1" smtClean="0"/>
              <a:t>Usecase</a:t>
            </a:r>
            <a:r>
              <a:rPr lang="en-US" dirty="0" smtClean="0"/>
              <a:t> testing</a:t>
            </a:r>
            <a:endParaRPr lang="en-US" dirty="0"/>
          </a:p>
        </p:txBody>
      </p:sp>
    </p:spTree>
    <p:extLst>
      <p:ext uri="{BB962C8B-B14F-4D97-AF65-F5344CB8AC3E}">
        <p14:creationId xmlns:p14="http://schemas.microsoft.com/office/powerpoint/2010/main" val="30640206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fontScale="92500"/>
          </a:bodyPr>
          <a:lstStyle/>
          <a:p>
            <a:r>
              <a:rPr lang="en-US" dirty="0" smtClean="0"/>
              <a:t>Previously, Input </a:t>
            </a:r>
            <a:r>
              <a:rPr lang="en-US" dirty="0"/>
              <a:t>variables with their ranges and boundaries, business rules as represented in decision tables, and system behaviors as represented in state-transition diagrams</a:t>
            </a:r>
            <a:r>
              <a:rPr lang="en-US" dirty="0" smtClean="0"/>
              <a:t>.</a:t>
            </a:r>
          </a:p>
          <a:p>
            <a:r>
              <a:rPr lang="en-US" dirty="0"/>
              <a:t>Now it is time to consider test cases that exercise a system's functionalities from start to finish by testing each of its individual transactions</a:t>
            </a:r>
            <a:r>
              <a:rPr lang="en-US" dirty="0" smtClean="0"/>
              <a:t>.</a:t>
            </a:r>
          </a:p>
          <a:p>
            <a:r>
              <a:rPr lang="en-US" dirty="0"/>
              <a:t>Defining the transactions that a system processes is a vital part of the requirements definition process</a:t>
            </a:r>
            <a:r>
              <a:rPr lang="en-US" dirty="0" smtClean="0"/>
              <a:t>.</a:t>
            </a:r>
          </a:p>
          <a:p>
            <a:r>
              <a:rPr lang="en-US" dirty="0"/>
              <a:t> Various approaches to documenting these transactions have been used in the past. Examples include flowcharts, HIPO diagrams, and text</a:t>
            </a:r>
            <a:r>
              <a:rPr lang="en-US" dirty="0" smtClean="0"/>
              <a:t>.</a:t>
            </a:r>
          </a:p>
          <a:p>
            <a:r>
              <a:rPr lang="en-US" dirty="0"/>
              <a:t>Today, the most popular approach is the use case diagram.</a:t>
            </a:r>
          </a:p>
        </p:txBody>
      </p:sp>
    </p:spTree>
    <p:extLst>
      <p:ext uri="{BB962C8B-B14F-4D97-AF65-F5344CB8AC3E}">
        <p14:creationId xmlns:p14="http://schemas.microsoft.com/office/powerpoint/2010/main" val="1456206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Like decision tables and state-transition diagrams, use cases are usually created by developers for developers. </a:t>
            </a:r>
            <a:endParaRPr lang="en-US" dirty="0" smtClean="0"/>
          </a:p>
          <a:p>
            <a:r>
              <a:rPr lang="en-US" dirty="0" smtClean="0"/>
              <a:t>But</a:t>
            </a:r>
            <a:r>
              <a:rPr lang="en-US" dirty="0"/>
              <a:t>, like these other techniques, use cases hold a wealth of information useful to testers</a:t>
            </a:r>
            <a:r>
              <a:rPr lang="en-US" dirty="0" smtClean="0"/>
              <a:t>.</a:t>
            </a:r>
          </a:p>
          <a:p>
            <a:r>
              <a:rPr lang="en-US" dirty="0"/>
              <a:t>Use cases were created by Ivar Jacobsen and popularized in his book </a:t>
            </a:r>
            <a:r>
              <a:rPr lang="en-US" i="1" dirty="0"/>
              <a:t>Object-Oriented Software Engineering: A Use Case Driven Approach</a:t>
            </a:r>
            <a:r>
              <a:rPr lang="en-US" dirty="0"/>
              <a:t>. Jacobsen defines a "use case" as a scenario that describes the use of a system by an actor to accomplish a specific goal.</a:t>
            </a:r>
          </a:p>
        </p:txBody>
      </p:sp>
    </p:spTree>
    <p:extLst>
      <p:ext uri="{BB962C8B-B14F-4D97-AF65-F5344CB8AC3E}">
        <p14:creationId xmlns:p14="http://schemas.microsoft.com/office/powerpoint/2010/main" val="2085916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Usecase</a:t>
            </a:r>
            <a:endParaRPr lang="en-US" dirty="0"/>
          </a:p>
        </p:txBody>
      </p:sp>
      <p:sp>
        <p:nvSpPr>
          <p:cNvPr id="3" name="Content Placeholder 2"/>
          <p:cNvSpPr>
            <a:spLocks noGrp="1"/>
          </p:cNvSpPr>
          <p:nvPr>
            <p:ph idx="1"/>
          </p:nvPr>
        </p:nvSpPr>
        <p:spPr/>
        <p:txBody>
          <a:bodyPr>
            <a:normAutofit fontScale="92500"/>
          </a:bodyPr>
          <a:lstStyle/>
          <a:p>
            <a:r>
              <a:rPr lang="en-US" dirty="0"/>
              <a:t>By "actor" we mean a user, playing a role with respect to the system, seeking to use the system to accomplish something worthwhile within a particular context. </a:t>
            </a:r>
            <a:endParaRPr lang="en-US" dirty="0" smtClean="0"/>
          </a:p>
          <a:p>
            <a:r>
              <a:rPr lang="en-US" dirty="0" smtClean="0"/>
              <a:t>Actors </a:t>
            </a:r>
            <a:r>
              <a:rPr lang="en-US" dirty="0"/>
              <a:t>are generally people although other systems may also be actors</a:t>
            </a:r>
            <a:r>
              <a:rPr lang="en-US" dirty="0" smtClean="0"/>
              <a:t>.</a:t>
            </a:r>
          </a:p>
          <a:p>
            <a:r>
              <a:rPr lang="en-US" dirty="0"/>
              <a:t>A "scenario" is a sequence of steps that describe the interactions between the actor and the system</a:t>
            </a:r>
            <a:r>
              <a:rPr lang="en-US" dirty="0" smtClean="0"/>
              <a:t>.</a:t>
            </a:r>
          </a:p>
          <a:p>
            <a:r>
              <a:rPr lang="en-US" dirty="0"/>
              <a:t>Note that the use case is defined from the perspective of the user, not the system</a:t>
            </a:r>
            <a:r>
              <a:rPr lang="en-US" dirty="0" smtClean="0"/>
              <a:t>.</a:t>
            </a:r>
          </a:p>
          <a:p>
            <a:r>
              <a:rPr lang="en-US" dirty="0"/>
              <a:t>The set of use cases makes up the functional requirements of a system.</a:t>
            </a:r>
          </a:p>
        </p:txBody>
      </p:sp>
    </p:spTree>
    <p:extLst>
      <p:ext uri="{BB962C8B-B14F-4D97-AF65-F5344CB8AC3E}">
        <p14:creationId xmlns:p14="http://schemas.microsoft.com/office/powerpoint/2010/main" val="1103174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Usecase</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Unified Modeling Language notion for use cases is:</a:t>
            </a:r>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r>
              <a:rPr lang="en-US" dirty="0"/>
              <a:t>The stick figures represent the actors, the ellipses represent the use cases, and the arrows show which actors initiate which use cases.</a:t>
            </a:r>
          </a:p>
          <a:p>
            <a:endParaRPr lang="en-US" dirty="0" smtClean="0"/>
          </a:p>
          <a:p>
            <a:pPr marL="0" indent="0">
              <a:buNone/>
            </a:pPr>
            <a:endParaRPr lang="en-US" dirty="0"/>
          </a:p>
        </p:txBody>
      </p:sp>
      <p:pic>
        <p:nvPicPr>
          <p:cNvPr id="4" name="Picture 3"/>
          <p:cNvPicPr>
            <a:picLocks noChangeAspect="1"/>
          </p:cNvPicPr>
          <p:nvPr/>
        </p:nvPicPr>
        <p:blipFill>
          <a:blip r:embed="rId2"/>
          <a:stretch>
            <a:fillRect/>
          </a:stretch>
        </p:blipFill>
        <p:spPr>
          <a:xfrm>
            <a:off x="3826782" y="2279540"/>
            <a:ext cx="4248150" cy="3124200"/>
          </a:xfrm>
          <a:prstGeom prst="rect">
            <a:avLst/>
          </a:prstGeom>
        </p:spPr>
      </p:pic>
    </p:spTree>
    <p:extLst>
      <p:ext uri="{BB962C8B-B14F-4D97-AF65-F5344CB8AC3E}">
        <p14:creationId xmlns:p14="http://schemas.microsoft.com/office/powerpoint/2010/main" val="3067351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Usecase</a:t>
            </a:r>
            <a:endParaRPr lang="en-US" dirty="0"/>
          </a:p>
        </p:txBody>
      </p:sp>
      <p:sp>
        <p:nvSpPr>
          <p:cNvPr id="3" name="Content Placeholder 2"/>
          <p:cNvSpPr>
            <a:spLocks noGrp="1"/>
          </p:cNvSpPr>
          <p:nvPr>
            <p:ph idx="1"/>
          </p:nvPr>
        </p:nvSpPr>
        <p:spPr/>
        <p:txBody>
          <a:bodyPr>
            <a:normAutofit lnSpcReduction="10000"/>
          </a:bodyPr>
          <a:lstStyle/>
          <a:p>
            <a:r>
              <a:rPr lang="en-US" dirty="0"/>
              <a:t>The value of use cases is that they:</a:t>
            </a:r>
          </a:p>
          <a:p>
            <a:r>
              <a:rPr lang="en-US" dirty="0"/>
              <a:t>Capture the system's functional requirements from the user's perspective; not from a technical perspective, and irrespective of the development paradigm to be used.</a:t>
            </a:r>
          </a:p>
          <a:p>
            <a:r>
              <a:rPr lang="en-US" dirty="0"/>
              <a:t>Can be used to actively involve users in the requirements gathering and definition process.</a:t>
            </a:r>
          </a:p>
          <a:p>
            <a:r>
              <a:rPr lang="en-US" dirty="0"/>
              <a:t>Provide the basis for identifying a system's key internal components, structures, databases, and relationships.</a:t>
            </a:r>
          </a:p>
          <a:p>
            <a:r>
              <a:rPr lang="en-US" dirty="0"/>
              <a:t>Serve as the foundation for developing test cases at the system and acceptance level.</a:t>
            </a:r>
          </a:p>
          <a:p>
            <a:endParaRPr lang="en-US" dirty="0"/>
          </a:p>
        </p:txBody>
      </p:sp>
    </p:spTree>
    <p:extLst>
      <p:ext uri="{BB962C8B-B14F-4D97-AF65-F5344CB8AC3E}">
        <p14:creationId xmlns:p14="http://schemas.microsoft.com/office/powerpoint/2010/main" val="2549345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Usecase</a:t>
            </a:r>
            <a:r>
              <a:rPr lang="en-US" dirty="0" smtClean="0"/>
              <a:t> Template</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661841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Usecase</a:t>
            </a:r>
            <a:r>
              <a:rPr lang="en-US" dirty="0" smtClean="0"/>
              <a:t> Example</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87628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case</a:t>
            </a:r>
            <a:endParaRPr lang="en-US" dirty="0"/>
          </a:p>
        </p:txBody>
      </p:sp>
      <p:sp>
        <p:nvSpPr>
          <p:cNvPr id="3" name="Content Placeholder 2"/>
          <p:cNvSpPr>
            <a:spLocks noGrp="1"/>
          </p:cNvSpPr>
          <p:nvPr>
            <p:ph idx="1"/>
          </p:nvPr>
        </p:nvSpPr>
        <p:spPr/>
        <p:txBody>
          <a:bodyPr>
            <a:normAutofit/>
          </a:bodyPr>
          <a:lstStyle/>
          <a:p>
            <a:r>
              <a:rPr lang="en-US" dirty="0"/>
              <a:t>To test the implementation, the basic rule is to create at least one test case for the main success scenario and at least one test case for each extension</a:t>
            </a:r>
            <a:r>
              <a:rPr lang="en-US" dirty="0" smtClean="0"/>
              <a:t>.</a:t>
            </a:r>
          </a:p>
          <a:p>
            <a:r>
              <a:rPr lang="en-US" dirty="0"/>
              <a:t>Because use cases do not specify input data, the tester must select it. Typically we use the equivalence class and boundary value techniques described </a:t>
            </a:r>
            <a:r>
              <a:rPr lang="en-US" dirty="0" smtClean="0"/>
              <a:t>earlier</a:t>
            </a:r>
          </a:p>
          <a:p>
            <a:r>
              <a:rPr lang="en-US" dirty="0"/>
              <a:t>To create test cases, start with normal data for the most often used transactions. Then move to boundary values and invalid data. </a:t>
            </a:r>
            <a:endParaRPr lang="en-US" dirty="0" smtClean="0"/>
          </a:p>
          <a:p>
            <a:r>
              <a:rPr lang="en-US" dirty="0" smtClean="0"/>
              <a:t>Next</a:t>
            </a:r>
            <a:r>
              <a:rPr lang="en-US" dirty="0"/>
              <a:t>, choose transactions that, while not used often, are vital to the success of the system (i.e., </a:t>
            </a:r>
            <a:r>
              <a:rPr lang="en-US" b="1" dirty="0"/>
              <a:t>Shut Down The Nuclear Reactor).</a:t>
            </a:r>
            <a:r>
              <a:rPr lang="en-US" dirty="0"/>
              <a:t> </a:t>
            </a:r>
            <a:endParaRPr lang="en-US" dirty="0" smtClean="0"/>
          </a:p>
        </p:txBody>
      </p:sp>
    </p:spTree>
    <p:extLst>
      <p:ext uri="{BB962C8B-B14F-4D97-AF65-F5344CB8AC3E}">
        <p14:creationId xmlns:p14="http://schemas.microsoft.com/office/powerpoint/2010/main" val="398730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case</a:t>
            </a:r>
            <a:endParaRPr lang="en-US" dirty="0"/>
          </a:p>
        </p:txBody>
      </p:sp>
      <p:sp>
        <p:nvSpPr>
          <p:cNvPr id="3" name="Content Placeholder 2"/>
          <p:cNvSpPr>
            <a:spLocks noGrp="1"/>
          </p:cNvSpPr>
          <p:nvPr>
            <p:ph idx="1"/>
          </p:nvPr>
        </p:nvSpPr>
        <p:spPr/>
        <p:txBody>
          <a:bodyPr>
            <a:normAutofit/>
          </a:bodyPr>
          <a:lstStyle/>
          <a:p>
            <a:r>
              <a:rPr lang="en-US" dirty="0"/>
              <a:t>Try transactions in strange orders. Violate the preconditions (if that can happen in actual use</a:t>
            </a:r>
            <a:r>
              <a:rPr lang="en-US" dirty="0" smtClean="0"/>
              <a:t>).</a:t>
            </a:r>
          </a:p>
          <a:p>
            <a:r>
              <a:rPr lang="en-US" dirty="0"/>
              <a:t>If a transaction has loops, don't just loop through once or twice—be diabolical</a:t>
            </a:r>
            <a:r>
              <a:rPr lang="en-US" dirty="0" smtClean="0"/>
              <a:t>.</a:t>
            </a:r>
          </a:p>
          <a:p>
            <a:pPr lvl="1"/>
            <a:r>
              <a:rPr lang="en-US" dirty="0"/>
              <a:t>Look for the longest, most convoluted path through the transaction and try it</a:t>
            </a:r>
            <a:r>
              <a:rPr lang="en-US" dirty="0" smtClean="0"/>
              <a:t>.</a:t>
            </a:r>
          </a:p>
          <a:p>
            <a:r>
              <a:rPr lang="en-US" dirty="0"/>
              <a:t>If transactions should be executed in some logical order, try a different order. Instead of entering data top-down, try bottom-up</a:t>
            </a:r>
            <a:r>
              <a:rPr lang="en-US" dirty="0" smtClean="0"/>
              <a:t>.</a:t>
            </a:r>
          </a:p>
          <a:p>
            <a:r>
              <a:rPr lang="en-US" dirty="0"/>
              <a:t>Create "goofy" test cases. If you don't try strange things, you know the users will.</a:t>
            </a:r>
          </a:p>
        </p:txBody>
      </p:sp>
    </p:spTree>
    <p:extLst>
      <p:ext uri="{BB962C8B-B14F-4D97-AF65-F5344CB8AC3E}">
        <p14:creationId xmlns:p14="http://schemas.microsoft.com/office/powerpoint/2010/main" val="1274526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case</a:t>
            </a:r>
            <a:endParaRPr lang="en-US" dirty="0"/>
          </a:p>
        </p:txBody>
      </p:sp>
      <p:sp>
        <p:nvSpPr>
          <p:cNvPr id="3" name="Content Placeholder 2"/>
          <p:cNvSpPr>
            <a:spLocks noGrp="1"/>
          </p:cNvSpPr>
          <p:nvPr>
            <p:ph idx="1"/>
          </p:nvPr>
        </p:nvSpPr>
        <p:spPr/>
        <p:txBody>
          <a:bodyPr>
            <a:normAutofit fontScale="92500"/>
          </a:bodyPr>
          <a:lstStyle/>
          <a:p>
            <a:r>
              <a:rPr lang="en-US" dirty="0"/>
              <a:t>Most paths through a transaction are easy to create. </a:t>
            </a:r>
            <a:endParaRPr lang="en-US" dirty="0" smtClean="0"/>
          </a:p>
          <a:p>
            <a:r>
              <a:rPr lang="en-US" dirty="0" smtClean="0"/>
              <a:t>They </a:t>
            </a:r>
            <a:r>
              <a:rPr lang="en-US" dirty="0"/>
              <a:t>correspond to valid and invalid data being entered. </a:t>
            </a:r>
            <a:endParaRPr lang="en-US" dirty="0" smtClean="0"/>
          </a:p>
          <a:p>
            <a:r>
              <a:rPr lang="en-US" dirty="0" smtClean="0"/>
              <a:t>More </a:t>
            </a:r>
            <a:r>
              <a:rPr lang="en-US" dirty="0"/>
              <a:t>difficult are those paths due to some kind of exceptional condition</a:t>
            </a:r>
            <a:r>
              <a:rPr lang="en-US" dirty="0" smtClean="0"/>
              <a:t>—	low </a:t>
            </a:r>
            <a:r>
              <a:rPr lang="en-US" dirty="0"/>
              <a:t>memory, disk full, connection lost, driver not loaded, etc. </a:t>
            </a:r>
            <a:endParaRPr lang="en-US" dirty="0" smtClean="0"/>
          </a:p>
          <a:p>
            <a:pPr lvl="1"/>
            <a:r>
              <a:rPr lang="en-US" dirty="0" smtClean="0"/>
              <a:t>It </a:t>
            </a:r>
            <a:r>
              <a:rPr lang="en-US" dirty="0"/>
              <a:t>can be very time consuming for the tester to create or simulate these </a:t>
            </a:r>
            <a:r>
              <a:rPr lang="en-US" dirty="0" smtClean="0"/>
              <a:t>conditions</a:t>
            </a:r>
          </a:p>
          <a:p>
            <a:pPr lvl="1"/>
            <a:r>
              <a:rPr lang="en-US" dirty="0" smtClean="0"/>
              <a:t>Fortunately</a:t>
            </a:r>
            <a:r>
              <a:rPr lang="en-US" dirty="0"/>
              <a:t>, a tool is available to help the tester simulate these problems</a:t>
            </a:r>
            <a:r>
              <a:rPr lang="en-US" dirty="0" smtClean="0"/>
              <a:t>—</a:t>
            </a:r>
          </a:p>
          <a:p>
            <a:pPr lvl="2"/>
            <a:r>
              <a:rPr lang="en-US" dirty="0" smtClean="0"/>
              <a:t>Holodeck</a:t>
            </a:r>
            <a:r>
              <a:rPr lang="en-US" dirty="0"/>
              <a:t>, created by James Whittaker and his associates at Florida Institute of Technology. Holodeck monitors the interactions between an application and its operating system. It logs each system call and enables the tester to simulate a failure of any call at will. In this way, the disk can be "made full," network connections can "become disconnected," data transmission can "be garbled," and a host of other problems can be simulated</a:t>
            </a:r>
            <a:r>
              <a:rPr lang="en-US" dirty="0" smtClean="0"/>
              <a:t>.</a:t>
            </a:r>
          </a:p>
          <a:p>
            <a:endParaRPr lang="en-US" dirty="0"/>
          </a:p>
        </p:txBody>
      </p:sp>
    </p:spTree>
    <p:extLst>
      <p:ext uri="{BB962C8B-B14F-4D97-AF65-F5344CB8AC3E}">
        <p14:creationId xmlns:p14="http://schemas.microsoft.com/office/powerpoint/2010/main" val="1662607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and Limitations</a:t>
            </a:r>
            <a:endParaRPr lang="en-US" dirty="0"/>
          </a:p>
        </p:txBody>
      </p:sp>
      <p:sp>
        <p:nvSpPr>
          <p:cNvPr id="3" name="Content Placeholder 2"/>
          <p:cNvSpPr>
            <a:spLocks noGrp="1"/>
          </p:cNvSpPr>
          <p:nvPr>
            <p:ph idx="1"/>
          </p:nvPr>
        </p:nvSpPr>
        <p:spPr/>
        <p:txBody>
          <a:bodyPr>
            <a:normAutofit/>
          </a:bodyPr>
          <a:lstStyle/>
          <a:p>
            <a:r>
              <a:rPr lang="en-US" dirty="0"/>
              <a:t>Transaction testing is generally the cornerstone of system and acceptance testing</a:t>
            </a:r>
            <a:r>
              <a:rPr lang="en-US" dirty="0" smtClean="0"/>
              <a:t>.</a:t>
            </a:r>
          </a:p>
          <a:p>
            <a:r>
              <a:rPr lang="en-US" dirty="0"/>
              <a:t>It should be used whenever system transactions are well </a:t>
            </a:r>
            <a:r>
              <a:rPr lang="en-US" dirty="0" smtClean="0"/>
              <a:t>defined</a:t>
            </a:r>
          </a:p>
          <a:p>
            <a:r>
              <a:rPr lang="en-US" dirty="0"/>
              <a:t>While creating at least one test case for the main success scenario and at least one for each extension provides some level of test </a:t>
            </a:r>
            <a:r>
              <a:rPr lang="en-US" dirty="0" smtClean="0"/>
              <a:t>coverage</a:t>
            </a:r>
          </a:p>
          <a:p>
            <a:pPr lvl="1"/>
            <a:r>
              <a:rPr lang="en-US" dirty="0"/>
              <a:t>it is clear that, no matter how much we try, most input combinations will remain untested</a:t>
            </a:r>
            <a:r>
              <a:rPr lang="en-US" dirty="0" smtClean="0"/>
              <a:t>.</a:t>
            </a:r>
          </a:p>
          <a:p>
            <a:r>
              <a:rPr lang="en-US" dirty="0"/>
              <a:t>Do not be overconfident about the quality of the system at this point.</a:t>
            </a:r>
          </a:p>
        </p:txBody>
      </p:sp>
    </p:spTree>
    <p:extLst>
      <p:ext uri="{BB962C8B-B14F-4D97-AF65-F5344CB8AC3E}">
        <p14:creationId xmlns:p14="http://schemas.microsoft.com/office/powerpoint/2010/main" val="559204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2506</TotalTime>
  <Words>792</Words>
  <Application>Microsoft Office PowerPoint</Application>
  <PresentationFormat>Widescreen</PresentationFormat>
  <Paragraphs>68</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BlackBox Testig</vt:lpstr>
      <vt:lpstr>Introduction</vt:lpstr>
      <vt:lpstr>Introduction</vt:lpstr>
      <vt:lpstr>Usecase</vt:lpstr>
      <vt:lpstr>Usecase</vt:lpstr>
      <vt:lpstr>Usecase</vt:lpstr>
      <vt:lpstr>Usecase Template</vt:lpstr>
      <vt:lpstr>Usecase Example</vt:lpstr>
      <vt:lpstr>Test case</vt:lpstr>
      <vt:lpstr>Test case</vt:lpstr>
      <vt:lpstr>Test case</vt:lpstr>
      <vt:lpstr>Application and Limitations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Waqas</dc:creator>
  <cp:lastModifiedBy>Waqas</cp:lastModifiedBy>
  <cp:revision>50</cp:revision>
  <dcterms:created xsi:type="dcterms:W3CDTF">2025-09-24T09:40:44Z</dcterms:created>
  <dcterms:modified xsi:type="dcterms:W3CDTF">2026-03-08T23:35:18Z</dcterms:modified>
</cp:coreProperties>
</file>