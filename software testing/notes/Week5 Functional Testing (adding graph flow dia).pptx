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257" r:id="rId3"/>
    <p:sldId id="258" r:id="rId4"/>
    <p:sldId id="260" r:id="rId5"/>
    <p:sldId id="261"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96" r:id="rId28"/>
    <p:sldId id="297" r:id="rId29"/>
    <p:sldId id="298" r:id="rId30"/>
    <p:sldId id="299"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300" r:id="rId44"/>
    <p:sldId id="301" r:id="rId45"/>
    <p:sldId id="303" r:id="rId46"/>
    <p:sldId id="304" r:id="rId47"/>
    <p:sldId id="305" r:id="rId48"/>
    <p:sldId id="306" r:id="rId49"/>
    <p:sldId id="307" r:id="rId50"/>
    <p:sldId id="302" r:id="rId51"/>
    <p:sldId id="308" r:id="rId52"/>
    <p:sldId id="309" r:id="rId53"/>
    <p:sldId id="310" r:id="rId54"/>
    <p:sldId id="311" r:id="rId55"/>
    <p:sldId id="312" r:id="rId56"/>
    <p:sldId id="313" r:id="rId57"/>
    <p:sldId id="314" r:id="rId58"/>
    <p:sldId id="315" r:id="rId59"/>
    <p:sldId id="316" r:id="rId60"/>
    <p:sldId id="317" r:id="rId61"/>
    <p:sldId id="318"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41" autoAdjust="0"/>
  </p:normalViewPr>
  <p:slideViewPr>
    <p:cSldViewPr snapToGrid="0">
      <p:cViewPr varScale="1">
        <p:scale>
          <a:sx n="69" d="100"/>
          <a:sy n="69"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688B1-F4E3-406F-9E85-67A7A83E39CD}"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550E75-4B81-43D8-A956-FB15CD7A7988}" type="slidenum">
              <a:rPr lang="en-US" smtClean="0"/>
              <a:t>‹#›</a:t>
            </a:fld>
            <a:endParaRPr lang="en-US"/>
          </a:p>
        </p:txBody>
      </p:sp>
    </p:spTree>
    <p:extLst>
      <p:ext uri="{BB962C8B-B14F-4D97-AF65-F5344CB8AC3E}">
        <p14:creationId xmlns:p14="http://schemas.microsoft.com/office/powerpoint/2010/main" val="3873448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above two examples, valid input domain has only one equivalence class. </a:t>
            </a:r>
          </a:p>
          <a:p>
            <a:r>
              <a:rPr lang="en-US" dirty="0" smtClean="0"/>
              <a:t>We may design more numbers of equivalence classes based on the type of problem and nature of inputs and outputs. </a:t>
            </a:r>
          </a:p>
          <a:p>
            <a:r>
              <a:rPr lang="en-US" dirty="0" smtClean="0"/>
              <a:t>Here, the most important task is the creation of equivalence classes which require domain knowledge and experience of testing. </a:t>
            </a:r>
          </a:p>
          <a:p>
            <a:r>
              <a:rPr lang="en-US" dirty="0" smtClean="0"/>
              <a:t>This technique reduces the number of test cases that should be designed and executed.</a:t>
            </a:r>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27</a:t>
            </a:fld>
            <a:endParaRPr lang="en-US"/>
          </a:p>
        </p:txBody>
      </p:sp>
    </p:spTree>
    <p:extLst>
      <p:ext uri="{BB962C8B-B14F-4D97-AF65-F5344CB8AC3E}">
        <p14:creationId xmlns:p14="http://schemas.microsoft.com/office/powerpoint/2010/main" val="2479846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we do not do so and represent all true and false entries of every condition, the number of columns in the decision table will unnecessarily increase.</a:t>
            </a:r>
          </a:p>
          <a:p>
            <a:endParaRPr lang="en-US" dirty="0" smtClean="0"/>
          </a:p>
          <a:p>
            <a:r>
              <a:rPr lang="en-US" dirty="0" smtClean="0"/>
              <a:t>Hence, the actual number of columns in any decision table is the sum of the rule counts of every column shown in the decision table.</a:t>
            </a:r>
          </a:p>
          <a:p>
            <a:endParaRPr lang="en-US" dirty="0" smtClean="0"/>
          </a:p>
          <a:p>
            <a:r>
              <a:rPr lang="en-US" dirty="0" smtClean="0"/>
              <a:t>The triangle classification decision table has 11 columns as shown in Table 2.32. However the actual columns are a sum of rule counts and are equal to 64.</a:t>
            </a:r>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34</a:t>
            </a:fld>
            <a:endParaRPr lang="en-US"/>
          </a:p>
        </p:txBody>
      </p:sp>
    </p:spTree>
    <p:extLst>
      <p:ext uri="{BB962C8B-B14F-4D97-AF65-F5344CB8AC3E}">
        <p14:creationId xmlns:p14="http://schemas.microsoft.com/office/powerpoint/2010/main" val="702650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Decision tables are very popular for the generation of test cases. Sometimes, we may have to make a few attempts to reach the final solution. Some impossible conditions are also generated due to combinations of various inputs and an ‘impossible’ action is incorporated in the ‘action stub’ to show such a condition. We may have to redesign the input classes to reduce the impossible actions. Redundancy and inconsistency may create problems but may be reduced by proper designing of input classes depending upon the functionality of a program.</a:t>
            </a:r>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35</a:t>
            </a:fld>
            <a:endParaRPr lang="en-US"/>
          </a:p>
        </p:txBody>
      </p:sp>
    </p:spTree>
    <p:extLst>
      <p:ext uri="{BB962C8B-B14F-4D97-AF65-F5344CB8AC3E}">
        <p14:creationId xmlns:p14="http://schemas.microsoft.com/office/powerpoint/2010/main" val="2518415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42</a:t>
            </a:fld>
            <a:endParaRPr lang="en-US"/>
          </a:p>
        </p:txBody>
      </p:sp>
    </p:spTree>
    <p:extLst>
      <p:ext uri="{BB962C8B-B14F-4D97-AF65-F5344CB8AC3E}">
        <p14:creationId xmlns:p14="http://schemas.microsoft.com/office/powerpoint/2010/main" val="2049252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43</a:t>
            </a:fld>
            <a:endParaRPr lang="en-US"/>
          </a:p>
        </p:txBody>
      </p:sp>
    </p:spTree>
    <p:extLst>
      <p:ext uri="{BB962C8B-B14F-4D97-AF65-F5344CB8AC3E}">
        <p14:creationId xmlns:p14="http://schemas.microsoft.com/office/powerpoint/2010/main" val="3961760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Gemini said</a:t>
            </a:r>
          </a:p>
          <a:p>
            <a:pPr rtl="0"/>
            <a:r>
              <a:rPr lang="en-US" sz="1200" b="0" kern="1200" dirty="0" smtClean="0">
                <a:solidFill>
                  <a:schemeClr val="tx1"/>
                </a:solidFill>
                <a:effectLst/>
                <a:latin typeface="+mn-lt"/>
                <a:ea typeface="+mn-ea"/>
                <a:cs typeface="+mn-cs"/>
              </a:rPr>
              <a:t>Let’s use an </a:t>
            </a:r>
            <a:r>
              <a:rPr lang="en-US" sz="1200" b="1" kern="1200" dirty="0" smtClean="0">
                <a:solidFill>
                  <a:schemeClr val="tx1"/>
                </a:solidFill>
                <a:effectLst/>
                <a:latin typeface="+mn-lt"/>
                <a:ea typeface="+mn-ea"/>
                <a:cs typeface="+mn-cs"/>
              </a:rPr>
              <a:t>Auto Insurance Premium</a:t>
            </a:r>
            <a:r>
              <a:rPr lang="en-US" sz="1200" b="0" kern="1200" dirty="0" smtClean="0">
                <a:solidFill>
                  <a:schemeClr val="tx1"/>
                </a:solidFill>
                <a:effectLst/>
                <a:latin typeface="+mn-lt"/>
                <a:ea typeface="+mn-ea"/>
                <a:cs typeface="+mn-cs"/>
              </a:rPr>
              <a:t> logic. It’s a classic example because it involves risk factors that often overlap, making it a prime candidate for "collapsing."</a:t>
            </a:r>
          </a:p>
          <a:p>
            <a:pPr rtl="0"/>
            <a:r>
              <a:rPr lang="en-US" sz="1200" b="1" kern="1200" dirty="0" smtClean="0">
                <a:solidFill>
                  <a:schemeClr val="tx1"/>
                </a:solidFill>
                <a:effectLst/>
                <a:latin typeface="+mn-lt"/>
                <a:ea typeface="+mn-ea"/>
                <a:cs typeface="+mn-cs"/>
              </a:rPr>
              <a:t>The Requirements</a:t>
            </a:r>
          </a:p>
          <a:p>
            <a:pPr rtl="0"/>
            <a:r>
              <a:rPr lang="en-US" sz="1200" b="1" kern="1200" dirty="0" smtClean="0">
                <a:solidFill>
                  <a:schemeClr val="tx1"/>
                </a:solidFill>
                <a:effectLst/>
                <a:latin typeface="+mn-lt"/>
                <a:ea typeface="+mn-ea"/>
                <a:cs typeface="+mn-cs"/>
              </a:rPr>
              <a:t>Age &lt; 25:</a:t>
            </a:r>
            <a:r>
              <a:rPr lang="en-US" sz="1200" b="0" kern="1200" dirty="0" smtClean="0">
                <a:solidFill>
                  <a:schemeClr val="tx1"/>
                </a:solidFill>
                <a:effectLst/>
                <a:latin typeface="+mn-lt"/>
                <a:ea typeface="+mn-ea"/>
                <a:cs typeface="+mn-cs"/>
              </a:rPr>
              <a:t> Young drivers are higher risk.</a:t>
            </a:r>
          </a:p>
          <a:p>
            <a:pPr rtl="0"/>
            <a:r>
              <a:rPr lang="en-US" sz="1200" b="1" kern="1200" dirty="0" smtClean="0">
                <a:solidFill>
                  <a:schemeClr val="tx1"/>
                </a:solidFill>
                <a:effectLst/>
                <a:latin typeface="+mn-lt"/>
                <a:ea typeface="+mn-ea"/>
                <a:cs typeface="+mn-cs"/>
              </a:rPr>
              <a:t>Accident History:</a:t>
            </a:r>
            <a:r>
              <a:rPr lang="en-US" sz="1200" b="0" kern="1200" dirty="0" smtClean="0">
                <a:solidFill>
                  <a:schemeClr val="tx1"/>
                </a:solidFill>
                <a:effectLst/>
                <a:latin typeface="+mn-lt"/>
                <a:ea typeface="+mn-ea"/>
                <a:cs typeface="+mn-cs"/>
              </a:rPr>
              <a:t> Any accident in the last 3 years.</a:t>
            </a:r>
          </a:p>
          <a:p>
            <a:pPr rtl="0"/>
            <a:r>
              <a:rPr lang="en-US" sz="1200" b="1" kern="1200" dirty="0" smtClean="0">
                <a:solidFill>
                  <a:schemeClr val="tx1"/>
                </a:solidFill>
                <a:effectLst/>
                <a:latin typeface="+mn-lt"/>
                <a:ea typeface="+mn-ea"/>
                <a:cs typeface="+mn-cs"/>
              </a:rPr>
              <a:t>High-Performance Car:</a:t>
            </a:r>
            <a:r>
              <a:rPr lang="en-US" sz="1200" b="0" kern="1200" dirty="0" smtClean="0">
                <a:solidFill>
                  <a:schemeClr val="tx1"/>
                </a:solidFill>
                <a:effectLst/>
                <a:latin typeface="+mn-lt"/>
                <a:ea typeface="+mn-ea"/>
                <a:cs typeface="+mn-cs"/>
              </a:rPr>
              <a:t> Sports cars increase the premium.</a:t>
            </a:r>
          </a:p>
          <a:p>
            <a:pPr rtl="0"/>
            <a:r>
              <a:rPr lang="en-US" sz="1200" b="1" kern="1200" dirty="0" smtClean="0">
                <a:solidFill>
                  <a:schemeClr val="tx1"/>
                </a:solidFill>
                <a:effectLst/>
                <a:latin typeface="+mn-lt"/>
                <a:ea typeface="+mn-ea"/>
                <a:cs typeface="+mn-cs"/>
              </a:rPr>
              <a:t>Business Rules:</a:t>
            </a:r>
            <a:endParaRPr lang="en-US" sz="1200" b="0" kern="1200" dirty="0" smtClean="0">
              <a:solidFill>
                <a:schemeClr val="tx1"/>
              </a:solidFill>
              <a:effectLst/>
              <a:latin typeface="+mn-lt"/>
              <a:ea typeface="+mn-ea"/>
              <a:cs typeface="+mn-cs"/>
            </a:endParaRPr>
          </a:p>
          <a:p>
            <a:pPr rtl="0"/>
            <a:r>
              <a:rPr lang="en-US" sz="1200" b="0" kern="1200" dirty="0" smtClean="0">
                <a:solidFill>
                  <a:schemeClr val="tx1"/>
                </a:solidFill>
                <a:effectLst/>
                <a:latin typeface="+mn-lt"/>
                <a:ea typeface="+mn-ea"/>
                <a:cs typeface="+mn-cs"/>
              </a:rPr>
              <a:t>If the driver is young </a:t>
            </a:r>
            <a:r>
              <a:rPr lang="en-US" sz="1200" b="1" kern="1200" dirty="0" smtClean="0">
                <a:solidFill>
                  <a:schemeClr val="tx1"/>
                </a:solidFill>
                <a:effectLst/>
                <a:latin typeface="+mn-lt"/>
                <a:ea typeface="+mn-ea"/>
                <a:cs typeface="+mn-cs"/>
              </a:rPr>
              <a:t>AND</a:t>
            </a:r>
            <a:r>
              <a:rPr lang="en-US" sz="1200" b="0" kern="1200" dirty="0" smtClean="0">
                <a:solidFill>
                  <a:schemeClr val="tx1"/>
                </a:solidFill>
                <a:effectLst/>
                <a:latin typeface="+mn-lt"/>
                <a:ea typeface="+mn-ea"/>
                <a:cs typeface="+mn-cs"/>
              </a:rPr>
              <a:t> has an accident history, </a:t>
            </a:r>
            <a:r>
              <a:rPr lang="en-US" sz="1200" b="1" kern="1200" dirty="0" smtClean="0">
                <a:solidFill>
                  <a:schemeClr val="tx1"/>
                </a:solidFill>
                <a:effectLst/>
                <a:latin typeface="+mn-lt"/>
                <a:ea typeface="+mn-ea"/>
                <a:cs typeface="+mn-cs"/>
              </a:rPr>
              <a:t>Reject</a:t>
            </a:r>
            <a:r>
              <a:rPr lang="en-US" sz="1200" b="0" kern="1200" dirty="0" smtClean="0">
                <a:solidFill>
                  <a:schemeClr val="tx1"/>
                </a:solidFill>
                <a:effectLst/>
                <a:latin typeface="+mn-lt"/>
                <a:ea typeface="+mn-ea"/>
                <a:cs typeface="+mn-cs"/>
              </a:rPr>
              <a:t> the policy (regardless of car type).</a:t>
            </a:r>
          </a:p>
          <a:p>
            <a:pPr rtl="0"/>
            <a:r>
              <a:rPr lang="en-US" sz="1200" b="0" kern="1200" dirty="0" smtClean="0">
                <a:solidFill>
                  <a:schemeClr val="tx1"/>
                </a:solidFill>
                <a:effectLst/>
                <a:latin typeface="+mn-lt"/>
                <a:ea typeface="+mn-ea"/>
                <a:cs typeface="+mn-cs"/>
              </a:rPr>
              <a:t>If the driver is 25+ with no accidents and a standard car, </a:t>
            </a:r>
            <a:r>
              <a:rPr lang="en-US" sz="1200" b="1" kern="1200" dirty="0" smtClean="0">
                <a:solidFill>
                  <a:schemeClr val="tx1"/>
                </a:solidFill>
                <a:effectLst/>
                <a:latin typeface="+mn-lt"/>
                <a:ea typeface="+mn-ea"/>
                <a:cs typeface="+mn-cs"/>
              </a:rPr>
              <a:t>Standard Rate</a:t>
            </a:r>
            <a:r>
              <a:rPr lang="en-US" sz="1200" b="0" kern="1200" dirty="0" smtClean="0">
                <a:solidFill>
                  <a:schemeClr val="tx1"/>
                </a:solidFill>
                <a:effectLst/>
                <a:latin typeface="+mn-lt"/>
                <a:ea typeface="+mn-ea"/>
                <a:cs typeface="+mn-cs"/>
              </a:rPr>
              <a:t>.</a:t>
            </a:r>
          </a:p>
          <a:p>
            <a:pPr rtl="0"/>
            <a:r>
              <a:rPr lang="en-US" sz="1200" b="0" kern="1200" dirty="0" smtClean="0">
                <a:solidFill>
                  <a:schemeClr val="tx1"/>
                </a:solidFill>
                <a:effectLst/>
                <a:latin typeface="+mn-lt"/>
                <a:ea typeface="+mn-ea"/>
                <a:cs typeface="+mn-cs"/>
              </a:rPr>
              <a:t>Any other combination of "High Risk" factors (Young, Accident, or Sports Car) results in a </a:t>
            </a:r>
            <a:r>
              <a:rPr lang="en-US" sz="1200" b="1" kern="1200" dirty="0" smtClean="0">
                <a:solidFill>
                  <a:schemeClr val="tx1"/>
                </a:solidFill>
                <a:effectLst/>
                <a:latin typeface="+mn-lt"/>
                <a:ea typeface="+mn-ea"/>
                <a:cs typeface="+mn-cs"/>
              </a:rPr>
              <a:t>Surcharge</a:t>
            </a:r>
            <a:r>
              <a:rPr lang="en-US" sz="1200" b="0" kern="1200" dirty="0" smtClean="0">
                <a:solidFill>
                  <a:schemeClr val="tx1"/>
                </a:solidFill>
                <a:effectLst/>
                <a:latin typeface="+mn-lt"/>
                <a:ea typeface="+mn-ea"/>
                <a:cs typeface="+mn-cs"/>
              </a:rPr>
              <a:t>.</a:t>
            </a:r>
          </a:p>
          <a:p>
            <a:pPr rtl="0"/>
            <a:r>
              <a:rPr lang="en-US" sz="1200" b="1" kern="1200" dirty="0" smtClean="0">
                <a:solidFill>
                  <a:schemeClr val="tx1"/>
                </a:solidFill>
                <a:effectLst/>
                <a:latin typeface="+mn-lt"/>
                <a:ea typeface="+mn-ea"/>
                <a:cs typeface="+mn-cs"/>
              </a:rPr>
              <a:t>Step 1: The Initial (</a:t>
            </a:r>
            <a:r>
              <a:rPr lang="en-US" sz="1200" b="1" kern="1200" dirty="0" err="1" smtClean="0">
                <a:solidFill>
                  <a:schemeClr val="tx1"/>
                </a:solidFill>
                <a:effectLst/>
                <a:latin typeface="+mn-lt"/>
                <a:ea typeface="+mn-ea"/>
                <a:cs typeface="+mn-cs"/>
              </a:rPr>
              <a:t>Unoptimized</a:t>
            </a:r>
            <a:r>
              <a:rPr lang="en-US" sz="1200" b="1" kern="1200" dirty="0" smtClean="0">
                <a:solidFill>
                  <a:schemeClr val="tx1"/>
                </a:solidFill>
                <a:effectLst/>
                <a:latin typeface="+mn-lt"/>
                <a:ea typeface="+mn-ea"/>
                <a:cs typeface="+mn-cs"/>
              </a:rPr>
              <a:t>) Table</a:t>
            </a:r>
          </a:p>
          <a:p>
            <a:pPr rtl="0"/>
            <a:r>
              <a:rPr lang="en-US" sz="1200" b="0" kern="1200" dirty="0" smtClean="0">
                <a:solidFill>
                  <a:schemeClr val="tx1"/>
                </a:solidFill>
                <a:effectLst/>
                <a:latin typeface="+mn-lt"/>
                <a:ea typeface="+mn-ea"/>
                <a:cs typeface="+mn-cs"/>
              </a:rPr>
              <a:t>With 3 binary conditions, we have 23=8 possible rules.</a:t>
            </a:r>
          </a:p>
          <a:p>
            <a:pPr rtl="0"/>
            <a:r>
              <a:rPr lang="en-US" sz="1200" b="0" kern="1200" dirty="0" smtClean="0">
                <a:solidFill>
                  <a:schemeClr val="tx1"/>
                </a:solidFill>
                <a:effectLst/>
                <a:latin typeface="+mn-lt"/>
                <a:ea typeface="+mn-ea"/>
                <a:cs typeface="+mn-cs"/>
              </a:rPr>
              <a:t>ConditionsR1R2R3R4R5R6R7R8</a:t>
            </a:r>
            <a:r>
              <a:rPr lang="en-US" sz="1200" b="1" kern="1200" dirty="0" smtClean="0">
                <a:solidFill>
                  <a:schemeClr val="tx1"/>
                </a:solidFill>
                <a:effectLst/>
                <a:latin typeface="+mn-lt"/>
                <a:ea typeface="+mn-ea"/>
                <a:cs typeface="+mn-cs"/>
              </a:rPr>
              <a:t>C1: Age &lt; 25?</a:t>
            </a:r>
            <a:r>
              <a:rPr lang="en-US" sz="1200" b="0" kern="1200" dirty="0" smtClean="0">
                <a:solidFill>
                  <a:schemeClr val="tx1"/>
                </a:solidFill>
                <a:effectLst/>
                <a:latin typeface="+mn-lt"/>
                <a:ea typeface="+mn-ea"/>
                <a:cs typeface="+mn-cs"/>
              </a:rPr>
              <a:t>YYYYNNNN</a:t>
            </a:r>
            <a:r>
              <a:rPr lang="en-US" sz="1200" b="1" kern="1200" dirty="0" smtClean="0">
                <a:solidFill>
                  <a:schemeClr val="tx1"/>
                </a:solidFill>
                <a:effectLst/>
                <a:latin typeface="+mn-lt"/>
                <a:ea typeface="+mn-ea"/>
                <a:cs typeface="+mn-cs"/>
              </a:rPr>
              <a:t>C2: Accident History?</a:t>
            </a:r>
            <a:r>
              <a:rPr lang="en-US" sz="1200" b="0" kern="1200" dirty="0" smtClean="0">
                <a:solidFill>
                  <a:schemeClr val="tx1"/>
                </a:solidFill>
                <a:effectLst/>
                <a:latin typeface="+mn-lt"/>
                <a:ea typeface="+mn-ea"/>
                <a:cs typeface="+mn-cs"/>
              </a:rPr>
              <a:t>YYNNYYNN</a:t>
            </a:r>
            <a:r>
              <a:rPr lang="en-US" sz="1200" b="1" kern="1200" dirty="0" smtClean="0">
                <a:solidFill>
                  <a:schemeClr val="tx1"/>
                </a:solidFill>
                <a:effectLst/>
                <a:latin typeface="+mn-lt"/>
                <a:ea typeface="+mn-ea"/>
                <a:cs typeface="+mn-cs"/>
              </a:rPr>
              <a:t>C3: Sports Car?</a:t>
            </a:r>
            <a:r>
              <a:rPr lang="en-US" sz="1200" b="0" kern="1200" dirty="0" smtClean="0">
                <a:solidFill>
                  <a:schemeClr val="tx1"/>
                </a:solidFill>
                <a:effectLst/>
                <a:latin typeface="+mn-lt"/>
                <a:ea typeface="+mn-ea"/>
                <a:cs typeface="+mn-cs"/>
              </a:rPr>
              <a:t>YNYNYNYN</a:t>
            </a:r>
            <a:r>
              <a:rPr lang="en-US" sz="1200" b="1" kern="1200" dirty="0" smtClean="0">
                <a:solidFill>
                  <a:schemeClr val="tx1"/>
                </a:solidFill>
                <a:effectLst/>
                <a:latin typeface="+mn-lt"/>
                <a:ea typeface="+mn-ea"/>
                <a:cs typeface="+mn-cs"/>
              </a:rPr>
              <a:t>ActionsA1: Standard Rate</a:t>
            </a:r>
            <a:r>
              <a:rPr lang="en-US" sz="1200" b="0" kern="1200" dirty="0" smtClean="0">
                <a:solidFill>
                  <a:schemeClr val="tx1"/>
                </a:solidFill>
                <a:effectLst/>
                <a:latin typeface="+mn-lt"/>
                <a:ea typeface="+mn-ea"/>
                <a:cs typeface="+mn-cs"/>
              </a:rPr>
              <a:t>X</a:t>
            </a:r>
            <a:r>
              <a:rPr lang="en-US" sz="1200" b="1" kern="1200" dirty="0" smtClean="0">
                <a:solidFill>
                  <a:schemeClr val="tx1"/>
                </a:solidFill>
                <a:effectLst/>
                <a:latin typeface="+mn-lt"/>
                <a:ea typeface="+mn-ea"/>
                <a:cs typeface="+mn-cs"/>
              </a:rPr>
              <a:t>A2: Surcharge</a:t>
            </a:r>
            <a:r>
              <a:rPr lang="en-US" sz="1200" b="0" kern="1200" dirty="0" smtClean="0">
                <a:solidFill>
                  <a:schemeClr val="tx1"/>
                </a:solidFill>
                <a:effectLst/>
                <a:latin typeface="+mn-lt"/>
                <a:ea typeface="+mn-ea"/>
                <a:cs typeface="+mn-cs"/>
              </a:rPr>
              <a:t>XXXXX</a:t>
            </a:r>
            <a:r>
              <a:rPr lang="en-US" sz="1200" b="1" kern="1200" dirty="0" smtClean="0">
                <a:solidFill>
                  <a:schemeClr val="tx1"/>
                </a:solidFill>
                <a:effectLst/>
                <a:latin typeface="+mn-lt"/>
                <a:ea typeface="+mn-ea"/>
                <a:cs typeface="+mn-cs"/>
              </a:rPr>
              <a:t>A3: </a:t>
            </a:r>
            <a:r>
              <a:rPr lang="en-US" sz="1200" b="1" kern="1200" dirty="0" err="1" smtClean="0">
                <a:solidFill>
                  <a:schemeClr val="tx1"/>
                </a:solidFill>
                <a:effectLst/>
                <a:latin typeface="+mn-lt"/>
                <a:ea typeface="+mn-ea"/>
                <a:cs typeface="+mn-cs"/>
              </a:rPr>
              <a:t>Reject</a:t>
            </a:r>
            <a:r>
              <a:rPr lang="en-US" sz="1200" b="0" kern="1200" dirty="0" err="1" smtClean="0">
                <a:solidFill>
                  <a:schemeClr val="tx1"/>
                </a:solidFill>
                <a:effectLst/>
                <a:latin typeface="+mn-lt"/>
                <a:ea typeface="+mn-ea"/>
                <a:cs typeface="+mn-cs"/>
              </a:rPr>
              <a:t>XX</a:t>
            </a:r>
            <a:endParaRPr lang="en-US" sz="1200" b="0" kern="1200" dirty="0" smtClean="0">
              <a:solidFill>
                <a:schemeClr val="tx1"/>
              </a:solidFill>
              <a:effectLst/>
              <a:latin typeface="+mn-lt"/>
              <a:ea typeface="+mn-ea"/>
              <a:cs typeface="+mn-cs"/>
            </a:endParaRPr>
          </a:p>
          <a:p>
            <a:pPr rtl="0"/>
            <a:r>
              <a:rPr lang="en-US" sz="1200" b="1" kern="1200" dirty="0" smtClean="0">
                <a:solidFill>
                  <a:schemeClr val="tx1"/>
                </a:solidFill>
                <a:effectLst/>
                <a:latin typeface="+mn-lt"/>
                <a:ea typeface="+mn-ea"/>
                <a:cs typeface="+mn-cs"/>
              </a:rPr>
              <a:t>Step 2: Identify the "Collapsing" Opportunities</a:t>
            </a:r>
          </a:p>
          <a:p>
            <a:pPr rtl="0"/>
            <a:r>
              <a:rPr lang="en-US" sz="1200" b="0" kern="1200" dirty="0" smtClean="0">
                <a:solidFill>
                  <a:schemeClr val="tx1"/>
                </a:solidFill>
                <a:effectLst/>
                <a:latin typeface="+mn-lt"/>
                <a:ea typeface="+mn-ea"/>
                <a:cs typeface="+mn-cs"/>
              </a:rPr>
              <a:t>To optimize, we look for rules that have the same outcome where one condition doesn't actually change that outcome.</a:t>
            </a:r>
          </a:p>
          <a:p>
            <a:pPr rtl="0"/>
            <a:r>
              <a:rPr lang="en-US" sz="1200" b="1" kern="1200" dirty="0" smtClean="0">
                <a:solidFill>
                  <a:schemeClr val="tx1"/>
                </a:solidFill>
                <a:effectLst/>
                <a:latin typeface="+mn-lt"/>
                <a:ea typeface="+mn-ea"/>
                <a:cs typeface="+mn-cs"/>
              </a:rPr>
              <a:t>Look at R1 and R2:</a:t>
            </a:r>
            <a:r>
              <a:rPr lang="en-US" sz="1200" b="0" kern="1200" dirty="0" smtClean="0">
                <a:solidFill>
                  <a:schemeClr val="tx1"/>
                </a:solidFill>
                <a:effectLst/>
                <a:latin typeface="+mn-lt"/>
                <a:ea typeface="+mn-ea"/>
                <a:cs typeface="+mn-cs"/>
              </a:rPr>
              <a:t> Both result in "Reject." The only difference is the Sports Car (C3). This means if you are young and have accidents, we don't care what car you drive.</a:t>
            </a:r>
          </a:p>
          <a:p>
            <a:pPr rtl="0"/>
            <a:r>
              <a:rPr lang="en-US" sz="1200" b="1" kern="1200" dirty="0" smtClean="0">
                <a:solidFill>
                  <a:schemeClr val="tx1"/>
                </a:solidFill>
                <a:effectLst/>
                <a:latin typeface="+mn-lt"/>
                <a:ea typeface="+mn-ea"/>
                <a:cs typeface="+mn-cs"/>
              </a:rPr>
              <a:t>Look at R5 and R6:</a:t>
            </a:r>
            <a:r>
              <a:rPr lang="en-US" sz="1200" b="0" kern="1200" dirty="0" smtClean="0">
                <a:solidFill>
                  <a:schemeClr val="tx1"/>
                </a:solidFill>
                <a:effectLst/>
                <a:latin typeface="+mn-lt"/>
                <a:ea typeface="+mn-ea"/>
                <a:cs typeface="+mn-cs"/>
              </a:rPr>
              <a:t> Both result in "Surcharge." The only difference is the Sports Car (C3). If you have accidents and are over 25, you get a surcharge regardless of the car.</a:t>
            </a:r>
          </a:p>
          <a:p>
            <a:pPr rtl="0"/>
            <a:r>
              <a:rPr lang="en-US" sz="1200" b="1" kern="1200" dirty="0" smtClean="0">
                <a:solidFill>
                  <a:schemeClr val="tx1"/>
                </a:solidFill>
                <a:effectLst/>
                <a:latin typeface="+mn-lt"/>
                <a:ea typeface="+mn-ea"/>
                <a:cs typeface="+mn-cs"/>
              </a:rPr>
              <a:t>Look at R3 and R4:</a:t>
            </a:r>
            <a:r>
              <a:rPr lang="en-US" sz="1200" b="0" kern="1200" dirty="0" smtClean="0">
                <a:solidFill>
                  <a:schemeClr val="tx1"/>
                </a:solidFill>
                <a:effectLst/>
                <a:latin typeface="+mn-lt"/>
                <a:ea typeface="+mn-ea"/>
                <a:cs typeface="+mn-cs"/>
              </a:rPr>
              <a:t> Both result in "Surcharge." However, we have to be careful here—if we collapse these, we might lose the distinction of the car type. Wait, actually, if you are young and have </a:t>
            </a:r>
            <a:r>
              <a:rPr lang="en-US" sz="1200" b="0" i="1" kern="1200" dirty="0" smtClean="0">
                <a:solidFill>
                  <a:schemeClr val="tx1"/>
                </a:solidFill>
                <a:effectLst/>
                <a:latin typeface="+mn-lt"/>
                <a:ea typeface="+mn-ea"/>
                <a:cs typeface="+mn-cs"/>
              </a:rPr>
              <a:t>no</a:t>
            </a:r>
            <a:r>
              <a:rPr lang="en-US" sz="1200" b="0" kern="1200" dirty="0" smtClean="0">
                <a:solidFill>
                  <a:schemeClr val="tx1"/>
                </a:solidFill>
                <a:effectLst/>
                <a:latin typeface="+mn-lt"/>
                <a:ea typeface="+mn-ea"/>
                <a:cs typeface="+mn-cs"/>
              </a:rPr>
              <a:t> accidents, you get a surcharge regardless of the car (one for being young, or one for the car).</a:t>
            </a:r>
          </a:p>
          <a:p>
            <a:pPr rtl="0"/>
            <a:r>
              <a:rPr lang="en-US" sz="1200" b="1" kern="1200" dirty="0" smtClean="0">
                <a:solidFill>
                  <a:schemeClr val="tx1"/>
                </a:solidFill>
                <a:effectLst/>
                <a:latin typeface="+mn-lt"/>
                <a:ea typeface="+mn-ea"/>
                <a:cs typeface="+mn-cs"/>
              </a:rPr>
              <a:t>Step 3: The Optimized Table</a:t>
            </a:r>
          </a:p>
          <a:p>
            <a:pPr rtl="0"/>
            <a:r>
              <a:rPr lang="en-US" sz="1200" b="0" kern="1200" dirty="0" smtClean="0">
                <a:solidFill>
                  <a:schemeClr val="tx1"/>
                </a:solidFill>
                <a:effectLst/>
                <a:latin typeface="+mn-lt"/>
                <a:ea typeface="+mn-ea"/>
                <a:cs typeface="+mn-cs"/>
              </a:rPr>
              <a:t>By using the </a:t>
            </a:r>
            <a:r>
              <a:rPr lang="en-US" sz="1200" b="1" kern="1200" dirty="0" smtClean="0">
                <a:solidFill>
                  <a:schemeClr val="tx1"/>
                </a:solidFill>
                <a:effectLst/>
                <a:latin typeface="+mn-lt"/>
                <a:ea typeface="+mn-ea"/>
                <a:cs typeface="+mn-cs"/>
              </a:rPr>
              <a:t>"Don't Care" (—)</a:t>
            </a:r>
            <a:r>
              <a:rPr lang="en-US" sz="1200" b="0" kern="1200" dirty="0" smtClean="0">
                <a:solidFill>
                  <a:schemeClr val="tx1"/>
                </a:solidFill>
                <a:effectLst/>
                <a:latin typeface="+mn-lt"/>
                <a:ea typeface="+mn-ea"/>
                <a:cs typeface="+mn-cs"/>
              </a:rPr>
              <a:t> symbol, we can reduce 8 rules down to 5.</a:t>
            </a:r>
          </a:p>
          <a:p>
            <a:pPr rtl="0"/>
            <a:r>
              <a:rPr lang="en-US" sz="1200" b="0" kern="1200" dirty="0" err="1" smtClean="0">
                <a:solidFill>
                  <a:schemeClr val="tx1"/>
                </a:solidFill>
                <a:effectLst/>
                <a:latin typeface="+mn-lt"/>
                <a:ea typeface="+mn-ea"/>
                <a:cs typeface="+mn-cs"/>
              </a:rPr>
              <a:t>ConditionsRule</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ARule</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BRule</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CRule</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DRule</a:t>
            </a:r>
            <a:r>
              <a:rPr lang="en-US" sz="1200" b="0" kern="1200" dirty="0" smtClean="0">
                <a:solidFill>
                  <a:schemeClr val="tx1"/>
                </a:solidFill>
                <a:effectLst/>
                <a:latin typeface="+mn-lt"/>
                <a:ea typeface="+mn-ea"/>
                <a:cs typeface="+mn-cs"/>
              </a:rPr>
              <a:t> E</a:t>
            </a:r>
            <a:r>
              <a:rPr lang="en-US" sz="1200" b="1" kern="1200" dirty="0" smtClean="0">
                <a:solidFill>
                  <a:schemeClr val="tx1"/>
                </a:solidFill>
                <a:effectLst/>
                <a:latin typeface="+mn-lt"/>
                <a:ea typeface="+mn-ea"/>
                <a:cs typeface="+mn-cs"/>
              </a:rPr>
              <a:t>C1: Age &lt; 25?</a:t>
            </a:r>
            <a:r>
              <a:rPr lang="en-US" sz="1200" b="0" kern="1200" dirty="0" smtClean="0">
                <a:solidFill>
                  <a:schemeClr val="tx1"/>
                </a:solidFill>
                <a:effectLst/>
                <a:latin typeface="+mn-lt"/>
                <a:ea typeface="+mn-ea"/>
                <a:cs typeface="+mn-cs"/>
              </a:rPr>
              <a:t>YYNNN</a:t>
            </a:r>
            <a:r>
              <a:rPr lang="en-US" sz="1200" b="1" kern="1200" dirty="0" smtClean="0">
                <a:solidFill>
                  <a:schemeClr val="tx1"/>
                </a:solidFill>
                <a:effectLst/>
                <a:latin typeface="+mn-lt"/>
                <a:ea typeface="+mn-ea"/>
                <a:cs typeface="+mn-cs"/>
              </a:rPr>
              <a:t>C2: Accident History?</a:t>
            </a:r>
            <a:r>
              <a:rPr lang="en-US" sz="1200" b="0" kern="1200" dirty="0" smtClean="0">
                <a:solidFill>
                  <a:schemeClr val="tx1"/>
                </a:solidFill>
                <a:effectLst/>
                <a:latin typeface="+mn-lt"/>
                <a:ea typeface="+mn-ea"/>
                <a:cs typeface="+mn-cs"/>
              </a:rPr>
              <a:t>YNYNN</a:t>
            </a:r>
            <a:r>
              <a:rPr lang="en-US" sz="1200" b="1" kern="1200" dirty="0" smtClean="0">
                <a:solidFill>
                  <a:schemeClr val="tx1"/>
                </a:solidFill>
                <a:effectLst/>
                <a:latin typeface="+mn-lt"/>
                <a:ea typeface="+mn-ea"/>
                <a:cs typeface="+mn-cs"/>
              </a:rPr>
              <a:t>C3: Sports Car?</a:t>
            </a:r>
            <a:r>
              <a:rPr lang="en-US" sz="1200" b="0" kern="1200" dirty="0" smtClean="0">
                <a:solidFill>
                  <a:schemeClr val="tx1"/>
                </a:solidFill>
                <a:effectLst/>
                <a:latin typeface="+mn-lt"/>
                <a:ea typeface="+mn-ea"/>
                <a:cs typeface="+mn-cs"/>
              </a:rPr>
              <a:t>———YN</a:t>
            </a:r>
            <a:r>
              <a:rPr lang="en-US" sz="1200" b="1" kern="1200" dirty="0" smtClean="0">
                <a:solidFill>
                  <a:schemeClr val="tx1"/>
                </a:solidFill>
                <a:effectLst/>
                <a:latin typeface="+mn-lt"/>
                <a:ea typeface="+mn-ea"/>
                <a:cs typeface="+mn-cs"/>
              </a:rPr>
              <a:t>ActionsA1: Standard Rate</a:t>
            </a:r>
            <a:r>
              <a:rPr lang="en-US" sz="1200" b="0" kern="1200" dirty="0" smtClean="0">
                <a:solidFill>
                  <a:schemeClr val="tx1"/>
                </a:solidFill>
                <a:effectLst/>
                <a:latin typeface="+mn-lt"/>
                <a:ea typeface="+mn-ea"/>
                <a:cs typeface="+mn-cs"/>
              </a:rPr>
              <a:t>X</a:t>
            </a:r>
            <a:r>
              <a:rPr lang="en-US" sz="1200" b="1" kern="1200" dirty="0" smtClean="0">
                <a:solidFill>
                  <a:schemeClr val="tx1"/>
                </a:solidFill>
                <a:effectLst/>
                <a:latin typeface="+mn-lt"/>
                <a:ea typeface="+mn-ea"/>
                <a:cs typeface="+mn-cs"/>
              </a:rPr>
              <a:t>A2: Surcharge</a:t>
            </a:r>
            <a:r>
              <a:rPr lang="en-US" sz="1200" b="0" kern="1200" dirty="0" smtClean="0">
                <a:solidFill>
                  <a:schemeClr val="tx1"/>
                </a:solidFill>
                <a:effectLst/>
                <a:latin typeface="+mn-lt"/>
                <a:ea typeface="+mn-ea"/>
                <a:cs typeface="+mn-cs"/>
              </a:rPr>
              <a:t>XXX</a:t>
            </a:r>
            <a:r>
              <a:rPr lang="en-US" sz="1200" b="1" kern="1200" dirty="0" smtClean="0">
                <a:solidFill>
                  <a:schemeClr val="tx1"/>
                </a:solidFill>
                <a:effectLst/>
                <a:latin typeface="+mn-lt"/>
                <a:ea typeface="+mn-ea"/>
                <a:cs typeface="+mn-cs"/>
              </a:rPr>
              <a:t>A3: </a:t>
            </a:r>
            <a:r>
              <a:rPr lang="en-US" sz="1200" b="1" kern="1200" dirty="0" err="1" smtClean="0">
                <a:solidFill>
                  <a:schemeClr val="tx1"/>
                </a:solidFill>
                <a:effectLst/>
                <a:latin typeface="+mn-lt"/>
                <a:ea typeface="+mn-ea"/>
                <a:cs typeface="+mn-cs"/>
              </a:rPr>
              <a:t>Reject</a:t>
            </a:r>
            <a:r>
              <a:rPr lang="en-US" sz="1200" b="0" kern="1200" dirty="0" err="1" smtClean="0">
                <a:solidFill>
                  <a:schemeClr val="tx1"/>
                </a:solidFill>
                <a:effectLst/>
                <a:latin typeface="+mn-lt"/>
                <a:ea typeface="+mn-ea"/>
                <a:cs typeface="+mn-cs"/>
              </a:rPr>
              <a:t>X</a:t>
            </a:r>
            <a:endParaRPr lang="en-US" sz="1200" b="0" kern="1200" dirty="0" smtClean="0">
              <a:solidFill>
                <a:schemeClr val="tx1"/>
              </a:solidFill>
              <a:effectLst/>
              <a:latin typeface="+mn-lt"/>
              <a:ea typeface="+mn-ea"/>
              <a:cs typeface="+mn-cs"/>
            </a:endParaRPr>
          </a:p>
          <a:p>
            <a:pPr rtl="0"/>
            <a:r>
              <a:rPr lang="en-US" sz="1200" b="1" kern="1200" dirty="0" smtClean="0">
                <a:solidFill>
                  <a:schemeClr val="tx1"/>
                </a:solidFill>
                <a:effectLst/>
                <a:latin typeface="+mn-lt"/>
                <a:ea typeface="+mn-ea"/>
                <a:cs typeface="+mn-cs"/>
              </a:rPr>
              <a:t>What happened?</a:t>
            </a:r>
            <a:endParaRPr lang="en-US" sz="1200" b="0" kern="1200" dirty="0" smtClean="0">
              <a:solidFill>
                <a:schemeClr val="tx1"/>
              </a:solidFill>
              <a:effectLst/>
              <a:latin typeface="+mn-lt"/>
              <a:ea typeface="+mn-ea"/>
              <a:cs typeface="+mn-cs"/>
            </a:endParaRPr>
          </a:p>
          <a:p>
            <a:pPr rtl="0"/>
            <a:r>
              <a:rPr lang="en-US" sz="1200" b="1" kern="1200" dirty="0" smtClean="0">
                <a:solidFill>
                  <a:schemeClr val="tx1"/>
                </a:solidFill>
                <a:effectLst/>
                <a:latin typeface="+mn-lt"/>
                <a:ea typeface="+mn-ea"/>
                <a:cs typeface="+mn-cs"/>
              </a:rPr>
              <a:t>Rule A:</a:t>
            </a:r>
            <a:r>
              <a:rPr lang="en-US" sz="1200" b="0" kern="1200" dirty="0" smtClean="0">
                <a:solidFill>
                  <a:schemeClr val="tx1"/>
                </a:solidFill>
                <a:effectLst/>
                <a:latin typeface="+mn-lt"/>
                <a:ea typeface="+mn-ea"/>
                <a:cs typeface="+mn-cs"/>
              </a:rPr>
              <a:t> Merged R1 &amp; R2. If C1=Y and C2=Y, C3 is irrelevant.</a:t>
            </a:r>
          </a:p>
          <a:p>
            <a:pPr rtl="0"/>
            <a:r>
              <a:rPr lang="en-US" sz="1200" b="1" kern="1200" dirty="0" smtClean="0">
                <a:solidFill>
                  <a:schemeClr val="tx1"/>
                </a:solidFill>
                <a:effectLst/>
                <a:latin typeface="+mn-lt"/>
                <a:ea typeface="+mn-ea"/>
                <a:cs typeface="+mn-cs"/>
              </a:rPr>
              <a:t>Rule B:</a:t>
            </a:r>
            <a:r>
              <a:rPr lang="en-US" sz="1200" b="0" kern="1200" dirty="0" smtClean="0">
                <a:solidFill>
                  <a:schemeClr val="tx1"/>
                </a:solidFill>
                <a:effectLst/>
                <a:latin typeface="+mn-lt"/>
                <a:ea typeface="+mn-ea"/>
                <a:cs typeface="+mn-cs"/>
              </a:rPr>
              <a:t> Merged R3 &amp; R4. If you're young but have no accidents, you get a surcharge (high risk) no matter the car.</a:t>
            </a:r>
          </a:p>
          <a:p>
            <a:pPr rtl="0"/>
            <a:r>
              <a:rPr lang="en-US" sz="1200" b="1" kern="1200" dirty="0" smtClean="0">
                <a:solidFill>
                  <a:schemeClr val="tx1"/>
                </a:solidFill>
                <a:effectLst/>
                <a:latin typeface="+mn-lt"/>
                <a:ea typeface="+mn-ea"/>
                <a:cs typeface="+mn-cs"/>
              </a:rPr>
              <a:t>Rule C:</a:t>
            </a:r>
            <a:r>
              <a:rPr lang="en-US" sz="1200" b="0" kern="1200" dirty="0" smtClean="0">
                <a:solidFill>
                  <a:schemeClr val="tx1"/>
                </a:solidFill>
                <a:effectLst/>
                <a:latin typeface="+mn-lt"/>
                <a:ea typeface="+mn-ea"/>
                <a:cs typeface="+mn-cs"/>
              </a:rPr>
              <a:t> Merged R5 &amp; R6. If you're 25+ but have accidents, surcharge applies regardless of the car.</a:t>
            </a:r>
          </a:p>
          <a:p>
            <a:pPr rtl="0"/>
            <a:r>
              <a:rPr lang="en-US" sz="1200" b="1" kern="1200" dirty="0" smtClean="0">
                <a:solidFill>
                  <a:schemeClr val="tx1"/>
                </a:solidFill>
                <a:effectLst/>
                <a:latin typeface="+mn-lt"/>
                <a:ea typeface="+mn-ea"/>
                <a:cs typeface="+mn-cs"/>
              </a:rPr>
              <a:t>Rule D:</a:t>
            </a:r>
            <a:r>
              <a:rPr lang="en-US" sz="1200" b="0" kern="1200" dirty="0" smtClean="0">
                <a:solidFill>
                  <a:schemeClr val="tx1"/>
                </a:solidFill>
                <a:effectLst/>
                <a:latin typeface="+mn-lt"/>
                <a:ea typeface="+mn-ea"/>
                <a:cs typeface="+mn-cs"/>
              </a:rPr>
              <a:t> (R7) High-performance car for a "safe" older driver.</a:t>
            </a:r>
          </a:p>
          <a:p>
            <a:pPr rtl="0"/>
            <a:r>
              <a:rPr lang="en-US" sz="1200" b="1" kern="1200" dirty="0" smtClean="0">
                <a:solidFill>
                  <a:schemeClr val="tx1"/>
                </a:solidFill>
                <a:effectLst/>
                <a:latin typeface="+mn-lt"/>
                <a:ea typeface="+mn-ea"/>
                <a:cs typeface="+mn-cs"/>
              </a:rPr>
              <a:t>Rule E:</a:t>
            </a:r>
            <a:r>
              <a:rPr lang="en-US" sz="1200" b="0" kern="1200" dirty="0" smtClean="0">
                <a:solidFill>
                  <a:schemeClr val="tx1"/>
                </a:solidFill>
                <a:effectLst/>
                <a:latin typeface="+mn-lt"/>
                <a:ea typeface="+mn-ea"/>
                <a:cs typeface="+mn-cs"/>
              </a:rPr>
              <a:t> (R8) The only path to a standard rate.</a:t>
            </a:r>
          </a:p>
          <a:p>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49</a:t>
            </a:fld>
            <a:endParaRPr lang="en-US"/>
          </a:p>
        </p:txBody>
      </p:sp>
    </p:spTree>
    <p:extLst>
      <p:ext uri="{BB962C8B-B14F-4D97-AF65-F5344CB8AC3E}">
        <p14:creationId xmlns:p14="http://schemas.microsoft.com/office/powerpoint/2010/main" val="1339504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may be a number of causes (inputs) in any program. </a:t>
            </a:r>
          </a:p>
          <a:p>
            <a:r>
              <a:rPr lang="en-US" dirty="0" smtClean="0"/>
              <a:t>We may like to explore the relationships amongst the causes and this process may lead to some impossible combinations of causes. </a:t>
            </a:r>
          </a:p>
          <a:p>
            <a:r>
              <a:rPr lang="en-US" dirty="0" smtClean="0"/>
              <a:t>Such impossible combinations or situations are represented by constraint symbols which are given </a:t>
            </a:r>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53</a:t>
            </a:fld>
            <a:endParaRPr lang="en-US"/>
          </a:p>
        </p:txBody>
      </p:sp>
    </p:spTree>
    <p:extLst>
      <p:ext uri="{BB962C8B-B14F-4D97-AF65-F5344CB8AC3E}">
        <p14:creationId xmlns:p14="http://schemas.microsoft.com/office/powerpoint/2010/main" val="2180873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60</a:t>
            </a:fld>
            <a:endParaRPr lang="en-US"/>
          </a:p>
        </p:txBody>
      </p:sp>
    </p:spTree>
    <p:extLst>
      <p:ext uri="{BB962C8B-B14F-4D97-AF65-F5344CB8AC3E}">
        <p14:creationId xmlns:p14="http://schemas.microsoft.com/office/powerpoint/2010/main" val="2888600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Decision Table Testing:</a:t>
            </a:r>
            <a:r>
              <a:rPr lang="en-US" dirty="0" smtClean="0"/>
              <a:t> While you can "optimize" a table by removing impossible columns (as we discussed in our previous session), the table itself doesn't have a built-in notation to </a:t>
            </a:r>
            <a:r>
              <a:rPr lang="en-US" i="1" dirty="0" smtClean="0"/>
              <a:t>visualize</a:t>
            </a:r>
            <a:r>
              <a:rPr lang="en-US" dirty="0" smtClean="0"/>
              <a:t> these constraints. The table just shows the final valid combinations.</a:t>
            </a:r>
            <a:endParaRPr lang="en-US" dirty="0"/>
          </a:p>
        </p:txBody>
      </p:sp>
      <p:sp>
        <p:nvSpPr>
          <p:cNvPr id="4" name="Slide Number Placeholder 3"/>
          <p:cNvSpPr>
            <a:spLocks noGrp="1"/>
          </p:cNvSpPr>
          <p:nvPr>
            <p:ph type="sldNum" sz="quarter" idx="10"/>
          </p:nvPr>
        </p:nvSpPr>
        <p:spPr/>
        <p:txBody>
          <a:bodyPr/>
          <a:lstStyle/>
          <a:p>
            <a:fld id="{94550E75-4B81-43D8-A956-FB15CD7A7988}" type="slidenum">
              <a:rPr lang="en-US" smtClean="0"/>
              <a:t>61</a:t>
            </a:fld>
            <a:endParaRPr lang="en-US"/>
          </a:p>
        </p:txBody>
      </p:sp>
    </p:spTree>
    <p:extLst>
      <p:ext uri="{BB962C8B-B14F-4D97-AF65-F5344CB8AC3E}">
        <p14:creationId xmlns:p14="http://schemas.microsoft.com/office/powerpoint/2010/main" val="7062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3590904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36509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B4F870-F7B5-4BD8-BBC4-0775DDC1F341}"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63927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B4F870-F7B5-4BD8-BBC4-0775DDC1F341}"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2698794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EB4F870-F7B5-4BD8-BBC4-0775DDC1F341}"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071409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B4F870-F7B5-4BD8-BBC4-0775DDC1F341}"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1351449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4F870-F7B5-4BD8-BBC4-0775DDC1F341}"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3629232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B4F870-F7B5-4BD8-BBC4-0775DDC1F341}"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164287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B4F870-F7B5-4BD8-BBC4-0775DDC1F341}"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10344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4273474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B4F870-F7B5-4BD8-BBC4-0775DDC1F341}"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DDFF3C-C903-4521-BDF6-F31006FE2CEA}" type="slidenum">
              <a:rPr lang="en-US" smtClean="0"/>
              <a:t>‹#›</a:t>
            </a:fld>
            <a:endParaRPr lang="en-US"/>
          </a:p>
        </p:txBody>
      </p:sp>
    </p:spTree>
    <p:extLst>
      <p:ext uri="{BB962C8B-B14F-4D97-AF65-F5344CB8AC3E}">
        <p14:creationId xmlns:p14="http://schemas.microsoft.com/office/powerpoint/2010/main" val="909801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B4F870-F7B5-4BD8-BBC4-0775DDC1F341}" type="datetimeFigureOut">
              <a:rPr lang="en-US" smtClean="0"/>
              <a:t>2/18/2026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DDFF3C-C903-4521-BDF6-F31006FE2CEA}" type="slidenum">
              <a:rPr lang="en-US" smtClean="0"/>
              <a:t>‹#›</a:t>
            </a:fld>
            <a:endParaRPr lang="en-US"/>
          </a:p>
        </p:txBody>
      </p:sp>
    </p:spTree>
    <p:extLst>
      <p:ext uri="{BB962C8B-B14F-4D97-AF65-F5344CB8AC3E}">
        <p14:creationId xmlns:p14="http://schemas.microsoft.com/office/powerpoint/2010/main" val="312898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BlackBox</a:t>
            </a:r>
            <a:r>
              <a:rPr lang="en-US" dirty="0" smtClean="0"/>
              <a:t> </a:t>
            </a:r>
            <a:r>
              <a:rPr lang="en-US" dirty="0" err="1" smtClean="0"/>
              <a:t>Testig</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640206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Introduction to Functional Testing</a:t>
            </a:r>
            <a:endParaRPr lang="en-US" dirty="0"/>
          </a:p>
        </p:txBody>
      </p:sp>
      <p:sp>
        <p:nvSpPr>
          <p:cNvPr id="3" name="Content Placeholder 2"/>
          <p:cNvSpPr>
            <a:spLocks noGrp="1"/>
          </p:cNvSpPr>
          <p:nvPr>
            <p:ph idx="1"/>
          </p:nvPr>
        </p:nvSpPr>
        <p:spPr/>
        <p:txBody>
          <a:bodyPr>
            <a:normAutofit lnSpcReduction="10000"/>
          </a:bodyPr>
          <a:lstStyle/>
          <a:p>
            <a:r>
              <a:rPr lang="en-US" dirty="0" smtClean="0"/>
              <a:t>Functional testing is a </a:t>
            </a:r>
            <a:r>
              <a:rPr lang="en-US" b="1" dirty="0" smtClean="0"/>
              <a:t>black-box testing</a:t>
            </a:r>
            <a:r>
              <a:rPr lang="en-US" dirty="0" smtClean="0"/>
              <a:t> technique. This means the tester has no knowledge of the internal code or design of the system. The focus is solely on what the system is supposed to do, based on the requirements and specifications.</a:t>
            </a:r>
          </a:p>
          <a:p>
            <a:r>
              <a:rPr lang="en-US" b="1" dirty="0" smtClean="0"/>
              <a:t>Key Characteristics:</a:t>
            </a:r>
            <a:endParaRPr lang="en-US" dirty="0" smtClean="0"/>
          </a:p>
          <a:p>
            <a:r>
              <a:rPr lang="en-US" b="1" dirty="0" smtClean="0"/>
              <a:t>Focus on functionality:</a:t>
            </a:r>
            <a:r>
              <a:rPr lang="en-US" dirty="0" smtClean="0"/>
              <a:t> Does the system meet the specified business and user requirements?</a:t>
            </a:r>
          </a:p>
          <a:p>
            <a:r>
              <a:rPr lang="en-US" b="1" dirty="0" smtClean="0"/>
              <a:t>External perspective:</a:t>
            </a:r>
            <a:r>
              <a:rPr lang="en-US" dirty="0" smtClean="0"/>
              <a:t> It's performed from the user's point of view.</a:t>
            </a:r>
          </a:p>
          <a:p>
            <a:r>
              <a:rPr lang="en-US" b="1" dirty="0" smtClean="0"/>
              <a:t>Driven by requirements:</a:t>
            </a:r>
            <a:r>
              <a:rPr lang="en-US" dirty="0" smtClean="0"/>
              <a:t> Test cases are derived directly from the functional requirements document.</a:t>
            </a:r>
          </a:p>
          <a:p>
            <a:endParaRPr lang="en-US" dirty="0"/>
          </a:p>
        </p:txBody>
      </p:sp>
    </p:spTree>
    <p:extLst>
      <p:ext uri="{BB962C8B-B14F-4D97-AF65-F5344CB8AC3E}">
        <p14:creationId xmlns:p14="http://schemas.microsoft.com/office/powerpoint/2010/main" val="25716520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Introduction to Functional Testing</a:t>
            </a:r>
            <a:endParaRPr lang="en-US" dirty="0"/>
          </a:p>
        </p:txBody>
      </p:sp>
      <p:sp>
        <p:nvSpPr>
          <p:cNvPr id="3" name="Content Placeholder 2"/>
          <p:cNvSpPr>
            <a:spLocks noGrp="1"/>
          </p:cNvSpPr>
          <p:nvPr>
            <p:ph idx="1"/>
          </p:nvPr>
        </p:nvSpPr>
        <p:spPr>
          <a:xfrm>
            <a:off x="838200" y="1457130"/>
            <a:ext cx="10515600" cy="4351338"/>
          </a:xfrm>
        </p:spPr>
        <p:txBody>
          <a:bodyPr/>
          <a:lstStyle/>
          <a:p>
            <a:r>
              <a:rPr lang="en-US" dirty="0" smtClean="0"/>
              <a:t>Functional testing techniques attempt to design those test cases which have a higher probability of making a software fail.</a:t>
            </a:r>
          </a:p>
          <a:p>
            <a:r>
              <a:rPr lang="en-US" dirty="0" smtClean="0"/>
              <a:t>These techniques also attempt to test every possible functionality of the software.</a:t>
            </a:r>
          </a:p>
          <a:p>
            <a:r>
              <a:rPr lang="en-US" dirty="0" smtClean="0"/>
              <a:t>Many activities are performed in real life with only black box knowledge like driving a car, using a cell phone, operating a computer</a:t>
            </a:r>
          </a:p>
          <a:p>
            <a:r>
              <a:rPr lang="en-US" dirty="0" smtClean="0"/>
              <a:t>These techniques can be used at all levels of software testing like unit, integration, system and acceptance testing.</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3015089" y="5086780"/>
            <a:ext cx="5534025" cy="1543050"/>
          </a:xfrm>
          <a:prstGeom prst="rect">
            <a:avLst/>
          </a:prstGeom>
        </p:spPr>
      </p:pic>
    </p:spTree>
    <p:extLst>
      <p:ext uri="{BB962C8B-B14F-4D97-AF65-F5344CB8AC3E}">
        <p14:creationId xmlns:p14="http://schemas.microsoft.com/office/powerpoint/2010/main" val="31367358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sp>
        <p:nvSpPr>
          <p:cNvPr id="3" name="Content Placeholder 2"/>
          <p:cNvSpPr>
            <a:spLocks noGrp="1"/>
          </p:cNvSpPr>
          <p:nvPr>
            <p:ph idx="1"/>
          </p:nvPr>
        </p:nvSpPr>
        <p:spPr/>
        <p:txBody>
          <a:bodyPr/>
          <a:lstStyle/>
          <a:p>
            <a:r>
              <a:rPr lang="en-US" dirty="0"/>
              <a:t>Here, we concentrate on input values and design test cases with input values that are on or close to boundary </a:t>
            </a:r>
            <a:r>
              <a:rPr lang="en-US" dirty="0" smtClean="0"/>
              <a:t>values</a:t>
            </a:r>
          </a:p>
          <a:p>
            <a:r>
              <a:rPr lang="en-US" dirty="0"/>
              <a:t>Experience has shown that such test cases have a higher probability of detecting a fault in the software. </a:t>
            </a:r>
          </a:p>
        </p:txBody>
      </p:sp>
      <p:pic>
        <p:nvPicPr>
          <p:cNvPr id="4" name="Picture 3"/>
          <p:cNvPicPr>
            <a:picLocks noChangeAspect="1"/>
          </p:cNvPicPr>
          <p:nvPr/>
        </p:nvPicPr>
        <p:blipFill>
          <a:blip r:embed="rId2"/>
          <a:stretch>
            <a:fillRect/>
          </a:stretch>
        </p:blipFill>
        <p:spPr>
          <a:xfrm>
            <a:off x="1671637" y="3661366"/>
            <a:ext cx="3286125" cy="1609725"/>
          </a:xfrm>
          <a:prstGeom prst="rect">
            <a:avLst/>
          </a:prstGeom>
        </p:spPr>
      </p:pic>
      <p:pic>
        <p:nvPicPr>
          <p:cNvPr id="5" name="Picture 4"/>
          <p:cNvPicPr>
            <a:picLocks noChangeAspect="1"/>
          </p:cNvPicPr>
          <p:nvPr/>
        </p:nvPicPr>
        <p:blipFill>
          <a:blip r:embed="rId3"/>
          <a:stretch>
            <a:fillRect/>
          </a:stretch>
        </p:blipFill>
        <p:spPr>
          <a:xfrm>
            <a:off x="3314699" y="5352552"/>
            <a:ext cx="5562600" cy="742950"/>
          </a:xfrm>
          <a:prstGeom prst="rect">
            <a:avLst/>
          </a:prstGeom>
        </p:spPr>
      </p:pic>
    </p:spTree>
    <p:extLst>
      <p:ext uri="{BB962C8B-B14F-4D97-AF65-F5344CB8AC3E}">
        <p14:creationId xmlns:p14="http://schemas.microsoft.com/office/powerpoint/2010/main" val="9185293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sp>
        <p:nvSpPr>
          <p:cNvPr id="3" name="Content Placeholder 2"/>
          <p:cNvSpPr>
            <a:spLocks noGrp="1"/>
          </p:cNvSpPr>
          <p:nvPr>
            <p:ph idx="1"/>
          </p:nvPr>
        </p:nvSpPr>
        <p:spPr/>
        <p:txBody>
          <a:bodyPr/>
          <a:lstStyle/>
          <a:p>
            <a:r>
              <a:rPr lang="en-US" dirty="0"/>
              <a:t>The number of inputs selected by this technique is 4n + 1 where ‘n’ is the number of inputs.</a:t>
            </a:r>
          </a:p>
        </p:txBody>
      </p:sp>
      <p:pic>
        <p:nvPicPr>
          <p:cNvPr id="4" name="Picture 3"/>
          <p:cNvPicPr>
            <a:picLocks noChangeAspect="1"/>
          </p:cNvPicPr>
          <p:nvPr/>
        </p:nvPicPr>
        <p:blipFill>
          <a:blip r:embed="rId2"/>
          <a:stretch>
            <a:fillRect/>
          </a:stretch>
        </p:blipFill>
        <p:spPr>
          <a:xfrm>
            <a:off x="1151032" y="3037267"/>
            <a:ext cx="10194043" cy="2462781"/>
          </a:xfrm>
          <a:prstGeom prst="rect">
            <a:avLst/>
          </a:prstGeom>
        </p:spPr>
      </p:pic>
    </p:spTree>
    <p:extLst>
      <p:ext uri="{BB962C8B-B14F-4D97-AF65-F5344CB8AC3E}">
        <p14:creationId xmlns:p14="http://schemas.microsoft.com/office/powerpoint/2010/main" val="23351858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pic>
        <p:nvPicPr>
          <p:cNvPr id="4" name="Content Placeholder 3"/>
          <p:cNvPicPr>
            <a:picLocks noGrp="1" noChangeAspect="1"/>
          </p:cNvPicPr>
          <p:nvPr>
            <p:ph idx="1"/>
          </p:nvPr>
        </p:nvPicPr>
        <p:blipFill>
          <a:blip r:embed="rId2"/>
          <a:stretch>
            <a:fillRect/>
          </a:stretch>
        </p:blipFill>
        <p:spPr>
          <a:xfrm>
            <a:off x="741244" y="1690688"/>
            <a:ext cx="9563100" cy="3990975"/>
          </a:xfrm>
          <a:prstGeom prst="rect">
            <a:avLst/>
          </a:prstGeom>
        </p:spPr>
      </p:pic>
    </p:spTree>
    <p:extLst>
      <p:ext uri="{BB962C8B-B14F-4D97-AF65-F5344CB8AC3E}">
        <p14:creationId xmlns:p14="http://schemas.microsoft.com/office/powerpoint/2010/main" val="14145030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sp>
        <p:nvSpPr>
          <p:cNvPr id="3" name="Content Placeholder 2"/>
          <p:cNvSpPr>
            <a:spLocks noGrp="1"/>
          </p:cNvSpPr>
          <p:nvPr>
            <p:ph idx="1"/>
          </p:nvPr>
        </p:nvSpPr>
        <p:spPr/>
        <p:txBody>
          <a:bodyPr/>
          <a:lstStyle/>
          <a:p>
            <a:r>
              <a:rPr lang="en-US" dirty="0"/>
              <a:t>We also consider ‘single fault’ assumption theory of reliability which says that failures are rarely the result of the simultaneous occurrence of two (or more) faults. </a:t>
            </a:r>
            <a:endParaRPr lang="en-US" dirty="0" smtClean="0"/>
          </a:p>
          <a:p>
            <a:r>
              <a:rPr lang="en-US" dirty="0" smtClean="0"/>
              <a:t>Normally</a:t>
            </a:r>
            <a:r>
              <a:rPr lang="en-US" dirty="0"/>
              <a:t>, one fault is responsible for one failure. With this theory in mind, we select one input value on </a:t>
            </a:r>
            <a:endParaRPr lang="en-US" dirty="0" smtClean="0"/>
          </a:p>
          <a:p>
            <a:pPr lvl="1"/>
            <a:r>
              <a:rPr lang="en-US" dirty="0" smtClean="0"/>
              <a:t>boundary </a:t>
            </a:r>
            <a:r>
              <a:rPr lang="en-US" dirty="0"/>
              <a:t>(</a:t>
            </a:r>
            <a:r>
              <a:rPr lang="en-US" dirty="0" smtClean="0"/>
              <a:t>minimum)</a:t>
            </a:r>
          </a:p>
          <a:p>
            <a:pPr lvl="1"/>
            <a:r>
              <a:rPr lang="en-US" dirty="0" smtClean="0"/>
              <a:t>just </a:t>
            </a:r>
            <a:r>
              <a:rPr lang="en-US" dirty="0"/>
              <a:t>above boundary (minimum </a:t>
            </a:r>
            <a:r>
              <a:rPr lang="en-US" dirty="0" smtClean="0"/>
              <a:t>+)</a:t>
            </a:r>
          </a:p>
          <a:p>
            <a:pPr lvl="1"/>
            <a:r>
              <a:rPr lang="en-US" dirty="0" smtClean="0"/>
              <a:t>just </a:t>
            </a:r>
            <a:r>
              <a:rPr lang="en-US" dirty="0"/>
              <a:t>below boundary (maximum </a:t>
            </a:r>
            <a:r>
              <a:rPr lang="en-US" dirty="0" smtClean="0"/>
              <a:t>–)</a:t>
            </a:r>
          </a:p>
          <a:p>
            <a:pPr lvl="1"/>
            <a:r>
              <a:rPr lang="en-US" dirty="0" smtClean="0"/>
              <a:t>on boundary (maximum)</a:t>
            </a:r>
          </a:p>
          <a:p>
            <a:pPr lvl="1"/>
            <a:r>
              <a:rPr lang="en-US" dirty="0"/>
              <a:t>nominal (average)</a:t>
            </a:r>
          </a:p>
        </p:txBody>
      </p:sp>
    </p:spTree>
    <p:extLst>
      <p:ext uri="{BB962C8B-B14F-4D97-AF65-F5344CB8AC3E}">
        <p14:creationId xmlns:p14="http://schemas.microsoft.com/office/powerpoint/2010/main" val="36587161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pic>
        <p:nvPicPr>
          <p:cNvPr id="5" name="Picture 4"/>
          <p:cNvPicPr>
            <a:picLocks noChangeAspect="1"/>
          </p:cNvPicPr>
          <p:nvPr/>
        </p:nvPicPr>
        <p:blipFill>
          <a:blip r:embed="rId2"/>
          <a:stretch>
            <a:fillRect/>
          </a:stretch>
        </p:blipFill>
        <p:spPr>
          <a:xfrm>
            <a:off x="1190411" y="1467774"/>
            <a:ext cx="7230258" cy="5320379"/>
          </a:xfrm>
          <a:prstGeom prst="rect">
            <a:avLst/>
          </a:prstGeom>
        </p:spPr>
      </p:pic>
    </p:spTree>
    <p:extLst>
      <p:ext uri="{BB962C8B-B14F-4D97-AF65-F5344CB8AC3E}">
        <p14:creationId xmlns:p14="http://schemas.microsoft.com/office/powerpoint/2010/main" val="23701866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pic>
        <p:nvPicPr>
          <p:cNvPr id="3" name="Picture 2"/>
          <p:cNvPicPr>
            <a:picLocks noChangeAspect="1"/>
          </p:cNvPicPr>
          <p:nvPr/>
        </p:nvPicPr>
        <p:blipFill>
          <a:blip r:embed="rId2"/>
          <a:stretch>
            <a:fillRect/>
          </a:stretch>
        </p:blipFill>
        <p:spPr>
          <a:xfrm>
            <a:off x="838200" y="1690688"/>
            <a:ext cx="9344025" cy="4676775"/>
          </a:xfrm>
          <a:prstGeom prst="rect">
            <a:avLst/>
          </a:prstGeom>
        </p:spPr>
      </p:pic>
    </p:spTree>
    <p:extLst>
      <p:ext uri="{BB962C8B-B14F-4D97-AF65-F5344CB8AC3E}">
        <p14:creationId xmlns:p14="http://schemas.microsoft.com/office/powerpoint/2010/main" val="19212000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358"/>
            <a:ext cx="10515600" cy="1325563"/>
          </a:xfrm>
        </p:spPr>
        <p:txBody>
          <a:bodyPr/>
          <a:lstStyle/>
          <a:p>
            <a:r>
              <a:rPr lang="en-US" dirty="0"/>
              <a:t>2.1 BOUNDARY VALUE ANALYSIS</a:t>
            </a:r>
          </a:p>
        </p:txBody>
      </p:sp>
      <p:sp>
        <p:nvSpPr>
          <p:cNvPr id="3" name="Content Placeholder 2"/>
          <p:cNvSpPr>
            <a:spLocks noGrp="1"/>
          </p:cNvSpPr>
          <p:nvPr>
            <p:ph idx="1"/>
          </p:nvPr>
        </p:nvSpPr>
        <p:spPr>
          <a:xfrm>
            <a:off x="838200" y="1156884"/>
            <a:ext cx="10515600" cy="4351338"/>
          </a:xfrm>
        </p:spPr>
        <p:txBody>
          <a:bodyPr/>
          <a:lstStyle/>
          <a:p>
            <a:r>
              <a:rPr lang="en-US" dirty="0"/>
              <a:t>Consider a program for the determination of the largest amongst three numbers. Its input is a triple of positive integers (say </a:t>
            </a:r>
            <a:r>
              <a:rPr lang="en-US" dirty="0" err="1"/>
              <a:t>x,y</a:t>
            </a:r>
            <a:r>
              <a:rPr lang="en-US" dirty="0"/>
              <a:t> and z) and values are from interval [1, 300].</a:t>
            </a:r>
          </a:p>
        </p:txBody>
      </p:sp>
      <p:pic>
        <p:nvPicPr>
          <p:cNvPr id="4" name="Picture 3"/>
          <p:cNvPicPr>
            <a:picLocks noChangeAspect="1"/>
          </p:cNvPicPr>
          <p:nvPr/>
        </p:nvPicPr>
        <p:blipFill>
          <a:blip r:embed="rId2"/>
          <a:stretch>
            <a:fillRect/>
          </a:stretch>
        </p:blipFill>
        <p:spPr>
          <a:xfrm>
            <a:off x="1649318" y="2381250"/>
            <a:ext cx="7610475" cy="4476750"/>
          </a:xfrm>
          <a:prstGeom prst="rect">
            <a:avLst/>
          </a:prstGeom>
        </p:spPr>
      </p:pic>
    </p:spTree>
    <p:extLst>
      <p:ext uri="{BB962C8B-B14F-4D97-AF65-F5344CB8AC3E}">
        <p14:creationId xmlns:p14="http://schemas.microsoft.com/office/powerpoint/2010/main" val="17227365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pic>
        <p:nvPicPr>
          <p:cNvPr id="4" name="Content Placeholder 3"/>
          <p:cNvPicPr>
            <a:picLocks noGrp="1" noChangeAspect="1"/>
          </p:cNvPicPr>
          <p:nvPr>
            <p:ph idx="1"/>
          </p:nvPr>
        </p:nvPicPr>
        <p:blipFill>
          <a:blip r:embed="rId2"/>
          <a:stretch>
            <a:fillRect/>
          </a:stretch>
        </p:blipFill>
        <p:spPr>
          <a:xfrm>
            <a:off x="1177801" y="1552670"/>
            <a:ext cx="9344623" cy="5112734"/>
          </a:xfrm>
          <a:prstGeom prst="rect">
            <a:avLst/>
          </a:prstGeom>
        </p:spPr>
      </p:pic>
    </p:spTree>
    <p:extLst>
      <p:ext uri="{BB962C8B-B14F-4D97-AF65-F5344CB8AC3E}">
        <p14:creationId xmlns:p14="http://schemas.microsoft.com/office/powerpoint/2010/main" val="11953951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BOUNDARY VALUE ANALYSIS</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284594"/>
            <a:ext cx="9465860" cy="2647232"/>
          </a:xfrm>
          <a:prstGeom prst="rect">
            <a:avLst/>
          </a:prstGeom>
        </p:spPr>
      </p:pic>
      <p:pic>
        <p:nvPicPr>
          <p:cNvPr id="5" name="Picture 4"/>
          <p:cNvPicPr>
            <a:picLocks noChangeAspect="1"/>
          </p:cNvPicPr>
          <p:nvPr/>
        </p:nvPicPr>
        <p:blipFill>
          <a:blip r:embed="rId3"/>
          <a:stretch>
            <a:fillRect/>
          </a:stretch>
        </p:blipFill>
        <p:spPr>
          <a:xfrm>
            <a:off x="838200" y="3919406"/>
            <a:ext cx="9465860" cy="2760458"/>
          </a:xfrm>
          <a:prstGeom prst="rect">
            <a:avLst/>
          </a:prstGeom>
        </p:spPr>
      </p:pic>
    </p:spTree>
    <p:extLst>
      <p:ext uri="{BB962C8B-B14F-4D97-AF65-F5344CB8AC3E}">
        <p14:creationId xmlns:p14="http://schemas.microsoft.com/office/powerpoint/2010/main" val="24693985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smtClean="0"/>
              <a:t>2.1.1 ROBUSTNESS TESTING</a:t>
            </a:r>
            <a:endParaRPr lang="en-US" dirty="0"/>
          </a:p>
        </p:txBody>
      </p:sp>
      <p:sp>
        <p:nvSpPr>
          <p:cNvPr id="3" name="Content Placeholder 2"/>
          <p:cNvSpPr>
            <a:spLocks noGrp="1"/>
          </p:cNvSpPr>
          <p:nvPr>
            <p:ph idx="1"/>
          </p:nvPr>
        </p:nvSpPr>
        <p:spPr>
          <a:xfrm>
            <a:off x="742665" y="1140061"/>
            <a:ext cx="10515600" cy="4351338"/>
          </a:xfrm>
        </p:spPr>
        <p:txBody>
          <a:bodyPr/>
          <a:lstStyle/>
          <a:p>
            <a:r>
              <a:rPr lang="en-US" dirty="0"/>
              <a:t>This is the extension of boundary value analysis. </a:t>
            </a:r>
            <a:endParaRPr lang="en-US" dirty="0" smtClean="0"/>
          </a:p>
          <a:p>
            <a:r>
              <a:rPr lang="en-US" dirty="0"/>
              <a:t>Here, we also select invalid values and see the responses of the program</a:t>
            </a:r>
            <a:r>
              <a:rPr lang="en-US" dirty="0" smtClean="0"/>
              <a:t>.</a:t>
            </a:r>
          </a:p>
          <a:p>
            <a:r>
              <a:rPr lang="en-US" dirty="0"/>
              <a:t>Hence, two additional states are added i.e. just below minimum value (minimum value–) and just above maximum value (maximum value +). </a:t>
            </a:r>
            <a:endParaRPr lang="en-US" dirty="0" smtClean="0"/>
          </a:p>
          <a:p>
            <a:r>
              <a:rPr lang="en-US" dirty="0"/>
              <a:t>Thus, the total test cases in robustness testing are 6n + 1, where ‘n’ is the number of input values</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5495497" y="4301462"/>
            <a:ext cx="3812275" cy="2441194"/>
          </a:xfrm>
          <a:prstGeom prst="rect">
            <a:avLst/>
          </a:prstGeom>
        </p:spPr>
      </p:pic>
    </p:spTree>
    <p:extLst>
      <p:ext uri="{BB962C8B-B14F-4D97-AF65-F5344CB8AC3E}">
        <p14:creationId xmlns:p14="http://schemas.microsoft.com/office/powerpoint/2010/main" val="22844853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smtClean="0"/>
              <a:t>2.1.1 ROBUSTNESS TESTING</a:t>
            </a:r>
            <a:endParaRPr lang="en-US" dirty="0"/>
          </a:p>
        </p:txBody>
      </p:sp>
      <p:pic>
        <p:nvPicPr>
          <p:cNvPr id="6" name="Picture 5"/>
          <p:cNvPicPr>
            <a:picLocks noChangeAspect="1"/>
          </p:cNvPicPr>
          <p:nvPr/>
        </p:nvPicPr>
        <p:blipFill>
          <a:blip r:embed="rId2"/>
          <a:stretch>
            <a:fillRect/>
          </a:stretch>
        </p:blipFill>
        <p:spPr>
          <a:xfrm>
            <a:off x="407017" y="1207827"/>
            <a:ext cx="3482595" cy="2598413"/>
          </a:xfrm>
          <a:prstGeom prst="rect">
            <a:avLst/>
          </a:prstGeom>
        </p:spPr>
      </p:pic>
      <p:pic>
        <p:nvPicPr>
          <p:cNvPr id="7" name="Picture 6"/>
          <p:cNvPicPr>
            <a:picLocks noChangeAspect="1"/>
          </p:cNvPicPr>
          <p:nvPr/>
        </p:nvPicPr>
        <p:blipFill>
          <a:blip r:embed="rId3"/>
          <a:stretch>
            <a:fillRect/>
          </a:stretch>
        </p:blipFill>
        <p:spPr>
          <a:xfrm>
            <a:off x="3889612" y="975815"/>
            <a:ext cx="8226649" cy="4578824"/>
          </a:xfrm>
          <a:prstGeom prst="rect">
            <a:avLst/>
          </a:prstGeom>
        </p:spPr>
      </p:pic>
    </p:spTree>
    <p:extLst>
      <p:ext uri="{BB962C8B-B14F-4D97-AF65-F5344CB8AC3E}">
        <p14:creationId xmlns:p14="http://schemas.microsoft.com/office/powerpoint/2010/main" val="33203956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a:t>2.1.2 Worst-Case Testing</a:t>
            </a:r>
          </a:p>
        </p:txBody>
      </p:sp>
      <p:sp>
        <p:nvSpPr>
          <p:cNvPr id="3" name="Content Placeholder 2"/>
          <p:cNvSpPr>
            <a:spLocks noGrp="1"/>
          </p:cNvSpPr>
          <p:nvPr>
            <p:ph idx="1"/>
          </p:nvPr>
        </p:nvSpPr>
        <p:spPr>
          <a:xfrm>
            <a:off x="742665" y="905230"/>
            <a:ext cx="10515600" cy="4351338"/>
          </a:xfrm>
        </p:spPr>
        <p:txBody>
          <a:bodyPr/>
          <a:lstStyle/>
          <a:p>
            <a:r>
              <a:rPr lang="en-US" dirty="0"/>
              <a:t>This is a special form of boundary value analysis where we don’t consider the ‘single fault’ assumption theory of reliability. </a:t>
            </a:r>
            <a:endParaRPr lang="en-US" dirty="0" smtClean="0"/>
          </a:p>
          <a:p>
            <a:r>
              <a:rPr lang="en-US" dirty="0" smtClean="0"/>
              <a:t>Now</a:t>
            </a:r>
            <a:r>
              <a:rPr lang="en-US" dirty="0"/>
              <a:t>, failures are also due to occurrence of more than one fault simultaneously</a:t>
            </a:r>
            <a:r>
              <a:rPr lang="en-US" dirty="0" smtClean="0"/>
              <a:t>.</a:t>
            </a:r>
          </a:p>
          <a:p>
            <a:r>
              <a:rPr lang="en-US" dirty="0"/>
              <a:t>The restriction of one input value at any of the above mentioned values and other input values must be at nominal is not valid in worst-case testing. </a:t>
            </a:r>
            <a:endParaRPr lang="en-US" dirty="0" smtClean="0"/>
          </a:p>
          <a:p>
            <a:r>
              <a:rPr lang="en-US" dirty="0" smtClean="0"/>
              <a:t>This </a:t>
            </a:r>
            <a:r>
              <a:rPr lang="en-US" dirty="0"/>
              <a:t>will increase the number of test cases from 4n + 1 test cases to </a:t>
            </a:r>
            <a:r>
              <a:rPr lang="en-US" dirty="0" smtClean="0"/>
              <a:t>5^n </a:t>
            </a:r>
            <a:r>
              <a:rPr lang="en-US" dirty="0"/>
              <a:t>test cases, where ‘n’ is the number of input values. </a:t>
            </a:r>
          </a:p>
        </p:txBody>
      </p:sp>
      <p:pic>
        <p:nvPicPr>
          <p:cNvPr id="5" name="Picture 4"/>
          <p:cNvPicPr>
            <a:picLocks noChangeAspect="1"/>
          </p:cNvPicPr>
          <p:nvPr/>
        </p:nvPicPr>
        <p:blipFill>
          <a:blip r:embed="rId2"/>
          <a:stretch>
            <a:fillRect/>
          </a:stretch>
        </p:blipFill>
        <p:spPr>
          <a:xfrm>
            <a:off x="8048625" y="4786549"/>
            <a:ext cx="3305175" cy="704850"/>
          </a:xfrm>
          <a:prstGeom prst="rect">
            <a:avLst/>
          </a:prstGeom>
        </p:spPr>
      </p:pic>
      <p:pic>
        <p:nvPicPr>
          <p:cNvPr id="6" name="Picture 5"/>
          <p:cNvPicPr>
            <a:picLocks noChangeAspect="1"/>
          </p:cNvPicPr>
          <p:nvPr/>
        </p:nvPicPr>
        <p:blipFill>
          <a:blip r:embed="rId3"/>
          <a:stretch>
            <a:fillRect/>
          </a:stretch>
        </p:blipFill>
        <p:spPr>
          <a:xfrm>
            <a:off x="8086725" y="5504371"/>
            <a:ext cx="3267075" cy="876300"/>
          </a:xfrm>
          <a:prstGeom prst="rect">
            <a:avLst/>
          </a:prstGeom>
        </p:spPr>
      </p:pic>
    </p:spTree>
    <p:extLst>
      <p:ext uri="{BB962C8B-B14F-4D97-AF65-F5344CB8AC3E}">
        <p14:creationId xmlns:p14="http://schemas.microsoft.com/office/powerpoint/2010/main" val="25437801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a:t>2.1.2 Worst-Case Testing</a:t>
            </a:r>
          </a:p>
        </p:txBody>
      </p:sp>
      <p:sp>
        <p:nvSpPr>
          <p:cNvPr id="3" name="Content Placeholder 2"/>
          <p:cNvSpPr>
            <a:spLocks noGrp="1"/>
          </p:cNvSpPr>
          <p:nvPr>
            <p:ph idx="1"/>
          </p:nvPr>
        </p:nvSpPr>
        <p:spPr>
          <a:xfrm>
            <a:off x="742665" y="905230"/>
            <a:ext cx="10515600" cy="4351338"/>
          </a:xfrm>
        </p:spPr>
        <p:txBody>
          <a:bodyPr/>
          <a:lstStyle/>
          <a:p>
            <a:r>
              <a:rPr lang="en-US" dirty="0"/>
              <a:t>The program ‘Addition’ will have </a:t>
            </a:r>
            <a:r>
              <a:rPr lang="en-US" dirty="0" smtClean="0"/>
              <a:t>5^2 </a:t>
            </a:r>
            <a:r>
              <a:rPr lang="en-US" dirty="0"/>
              <a:t>= 25 test cases and these test cases are given in Table 2.8</a:t>
            </a:r>
          </a:p>
        </p:txBody>
      </p:sp>
      <p:pic>
        <p:nvPicPr>
          <p:cNvPr id="4" name="Picture 3"/>
          <p:cNvPicPr>
            <a:picLocks noChangeAspect="1"/>
          </p:cNvPicPr>
          <p:nvPr/>
        </p:nvPicPr>
        <p:blipFill>
          <a:blip r:embed="rId2"/>
          <a:stretch>
            <a:fillRect/>
          </a:stretch>
        </p:blipFill>
        <p:spPr>
          <a:xfrm>
            <a:off x="1957318" y="1935991"/>
            <a:ext cx="5630838" cy="3812853"/>
          </a:xfrm>
          <a:prstGeom prst="rect">
            <a:avLst/>
          </a:prstGeom>
        </p:spPr>
      </p:pic>
    </p:spTree>
    <p:extLst>
      <p:ext uri="{BB962C8B-B14F-4D97-AF65-F5344CB8AC3E}">
        <p14:creationId xmlns:p14="http://schemas.microsoft.com/office/powerpoint/2010/main" val="12760963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86"/>
            <a:ext cx="10515600" cy="1325563"/>
          </a:xfrm>
        </p:spPr>
        <p:txBody>
          <a:bodyPr/>
          <a:lstStyle/>
          <a:p>
            <a:r>
              <a:rPr lang="en-US" dirty="0"/>
              <a:t>2.1.2 Worst-Case Testing</a:t>
            </a:r>
          </a:p>
        </p:txBody>
      </p:sp>
      <p:sp>
        <p:nvSpPr>
          <p:cNvPr id="3" name="Content Placeholder 2"/>
          <p:cNvSpPr>
            <a:spLocks noGrp="1"/>
          </p:cNvSpPr>
          <p:nvPr>
            <p:ph idx="1"/>
          </p:nvPr>
        </p:nvSpPr>
        <p:spPr>
          <a:xfrm>
            <a:off x="742665" y="905230"/>
            <a:ext cx="10515600" cy="4351338"/>
          </a:xfrm>
        </p:spPr>
        <p:txBody>
          <a:bodyPr/>
          <a:lstStyle/>
          <a:p>
            <a:r>
              <a:rPr lang="en-US" dirty="0"/>
              <a:t>The program ‘Addition’ will </a:t>
            </a:r>
            <a:r>
              <a:rPr lang="en-US"/>
              <a:t>have </a:t>
            </a:r>
            <a:r>
              <a:rPr lang="en-US" smtClean="0"/>
              <a:t>5^2 </a:t>
            </a:r>
            <a:r>
              <a:rPr lang="en-US" dirty="0"/>
              <a:t>= 25 test cases and these test cases are given in Table 2.8</a:t>
            </a:r>
          </a:p>
        </p:txBody>
      </p:sp>
      <p:pic>
        <p:nvPicPr>
          <p:cNvPr id="6" name="Picture 5"/>
          <p:cNvPicPr>
            <a:picLocks noChangeAspect="1"/>
          </p:cNvPicPr>
          <p:nvPr/>
        </p:nvPicPr>
        <p:blipFill>
          <a:blip r:embed="rId2"/>
          <a:stretch>
            <a:fillRect/>
          </a:stretch>
        </p:blipFill>
        <p:spPr>
          <a:xfrm>
            <a:off x="245802" y="1765893"/>
            <a:ext cx="7128214" cy="4989750"/>
          </a:xfrm>
          <a:prstGeom prst="rect">
            <a:avLst/>
          </a:prstGeom>
        </p:spPr>
      </p:pic>
      <p:pic>
        <p:nvPicPr>
          <p:cNvPr id="7" name="Picture 6"/>
          <p:cNvPicPr>
            <a:picLocks noChangeAspect="1"/>
          </p:cNvPicPr>
          <p:nvPr/>
        </p:nvPicPr>
        <p:blipFill>
          <a:blip r:embed="rId3"/>
          <a:stretch>
            <a:fillRect/>
          </a:stretch>
        </p:blipFill>
        <p:spPr>
          <a:xfrm>
            <a:off x="7490274" y="1765893"/>
            <a:ext cx="7207963" cy="3765906"/>
          </a:xfrm>
          <a:prstGeom prst="rect">
            <a:avLst/>
          </a:prstGeom>
        </p:spPr>
      </p:pic>
    </p:spTree>
    <p:extLst>
      <p:ext uri="{BB962C8B-B14F-4D97-AF65-F5344CB8AC3E}">
        <p14:creationId xmlns:p14="http://schemas.microsoft.com/office/powerpoint/2010/main" val="13706150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2.1.3 Robust Worst-Case Testing</a:t>
            </a:r>
          </a:p>
        </p:txBody>
      </p:sp>
      <p:sp>
        <p:nvSpPr>
          <p:cNvPr id="3" name="Content Placeholder 2"/>
          <p:cNvSpPr>
            <a:spLocks noGrp="1"/>
          </p:cNvSpPr>
          <p:nvPr>
            <p:ph idx="1"/>
          </p:nvPr>
        </p:nvSpPr>
        <p:spPr/>
        <p:txBody>
          <a:bodyPr/>
          <a:lstStyle/>
          <a:p>
            <a:r>
              <a:rPr lang="en-US" dirty="0"/>
              <a:t>In robustness testing, we add two more states i.e. just below minimum value (minimum value–) and just above maximum value (maximum value+). We also give invalid inputs and observe the </a:t>
            </a:r>
            <a:r>
              <a:rPr lang="en-US" dirty="0" err="1"/>
              <a:t>behaviour</a:t>
            </a:r>
            <a:r>
              <a:rPr lang="en-US" dirty="0"/>
              <a:t> of the program</a:t>
            </a:r>
            <a:r>
              <a:rPr lang="en-US" dirty="0" smtClean="0"/>
              <a:t>.</a:t>
            </a:r>
          </a:p>
          <a:p>
            <a:r>
              <a:rPr lang="en-US" dirty="0"/>
              <a:t>There are seven states (minimum -, minimum, minimum +, nominal, maximum –, maximum, maximum +) </a:t>
            </a:r>
            <a:endParaRPr lang="en-US" dirty="0" smtClean="0"/>
          </a:p>
          <a:p>
            <a:r>
              <a:rPr lang="en-US" dirty="0"/>
              <a:t>total of </a:t>
            </a:r>
            <a:r>
              <a:rPr lang="en-US" dirty="0" smtClean="0"/>
              <a:t>7^n </a:t>
            </a:r>
            <a:r>
              <a:rPr lang="en-US" dirty="0"/>
              <a:t>test cases will be generated</a:t>
            </a:r>
          </a:p>
        </p:txBody>
      </p:sp>
    </p:spTree>
    <p:extLst>
      <p:ext uri="{BB962C8B-B14F-4D97-AF65-F5344CB8AC3E}">
        <p14:creationId xmlns:p14="http://schemas.microsoft.com/office/powerpoint/2010/main" val="9664835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2.1.3 Robust Worst-Case Testing</a:t>
            </a:r>
          </a:p>
        </p:txBody>
      </p:sp>
      <p:sp>
        <p:nvSpPr>
          <p:cNvPr id="3" name="Content Placeholder 2"/>
          <p:cNvSpPr>
            <a:spLocks noGrp="1"/>
          </p:cNvSpPr>
          <p:nvPr>
            <p:ph idx="1"/>
          </p:nvPr>
        </p:nvSpPr>
        <p:spPr>
          <a:xfrm>
            <a:off x="838200" y="1539022"/>
            <a:ext cx="10515600" cy="4351338"/>
          </a:xfrm>
        </p:spPr>
        <p:txBody>
          <a:bodyPr/>
          <a:lstStyle/>
          <a:p>
            <a:r>
              <a:rPr lang="en-US" dirty="0"/>
              <a:t>The inputs for the program ‘Addition’ are graphically shown in Figure 2.8. The program ‘Addition’ will have </a:t>
            </a:r>
            <a:r>
              <a:rPr lang="en-US" dirty="0" smtClean="0"/>
              <a:t>7^2 </a:t>
            </a:r>
            <a:r>
              <a:rPr lang="en-US" dirty="0"/>
              <a:t>= 49 test cases and these test cases are shown in Table 2.9</a:t>
            </a:r>
          </a:p>
        </p:txBody>
      </p:sp>
      <p:pic>
        <p:nvPicPr>
          <p:cNvPr id="4" name="Picture 3"/>
          <p:cNvPicPr>
            <a:picLocks noChangeAspect="1"/>
          </p:cNvPicPr>
          <p:nvPr/>
        </p:nvPicPr>
        <p:blipFill>
          <a:blip r:embed="rId2"/>
          <a:stretch>
            <a:fillRect/>
          </a:stretch>
        </p:blipFill>
        <p:spPr>
          <a:xfrm>
            <a:off x="3134791" y="2864585"/>
            <a:ext cx="5267325" cy="3743325"/>
          </a:xfrm>
          <a:prstGeom prst="rect">
            <a:avLst/>
          </a:prstGeom>
        </p:spPr>
      </p:pic>
    </p:spTree>
    <p:extLst>
      <p:ext uri="{BB962C8B-B14F-4D97-AF65-F5344CB8AC3E}">
        <p14:creationId xmlns:p14="http://schemas.microsoft.com/office/powerpoint/2010/main" val="17278871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2.1.3 Robust Worst-Case Testing</a:t>
            </a:r>
          </a:p>
        </p:txBody>
      </p:sp>
      <p:sp>
        <p:nvSpPr>
          <p:cNvPr id="3" name="Content Placeholder 2"/>
          <p:cNvSpPr>
            <a:spLocks noGrp="1"/>
          </p:cNvSpPr>
          <p:nvPr>
            <p:ph idx="1"/>
          </p:nvPr>
        </p:nvSpPr>
        <p:spPr>
          <a:xfrm>
            <a:off x="838200" y="1539022"/>
            <a:ext cx="10515600" cy="4351338"/>
          </a:xfrm>
        </p:spPr>
        <p:txBody>
          <a:bodyPr/>
          <a:lstStyle/>
          <a:p>
            <a:endParaRPr lang="en-US" dirty="0"/>
          </a:p>
        </p:txBody>
      </p:sp>
      <p:pic>
        <p:nvPicPr>
          <p:cNvPr id="5" name="Picture 4"/>
          <p:cNvPicPr>
            <a:picLocks noChangeAspect="1"/>
          </p:cNvPicPr>
          <p:nvPr/>
        </p:nvPicPr>
        <p:blipFill>
          <a:blip r:embed="rId2"/>
          <a:stretch>
            <a:fillRect/>
          </a:stretch>
        </p:blipFill>
        <p:spPr>
          <a:xfrm>
            <a:off x="657510" y="1539022"/>
            <a:ext cx="5848525" cy="4916369"/>
          </a:xfrm>
          <a:prstGeom prst="rect">
            <a:avLst/>
          </a:prstGeom>
        </p:spPr>
      </p:pic>
      <p:pic>
        <p:nvPicPr>
          <p:cNvPr id="6" name="Picture 5"/>
          <p:cNvPicPr>
            <a:picLocks noChangeAspect="1"/>
          </p:cNvPicPr>
          <p:nvPr/>
        </p:nvPicPr>
        <p:blipFill>
          <a:blip r:embed="rId3"/>
          <a:stretch>
            <a:fillRect/>
          </a:stretch>
        </p:blipFill>
        <p:spPr>
          <a:xfrm>
            <a:off x="6794239" y="1461448"/>
            <a:ext cx="5971469" cy="5396552"/>
          </a:xfrm>
          <a:prstGeom prst="rect">
            <a:avLst/>
          </a:prstGeom>
        </p:spPr>
      </p:pic>
    </p:spTree>
    <p:extLst>
      <p:ext uri="{BB962C8B-B14F-4D97-AF65-F5344CB8AC3E}">
        <p14:creationId xmlns:p14="http://schemas.microsoft.com/office/powerpoint/2010/main" val="10066279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2.1.4 Applicability</a:t>
            </a:r>
          </a:p>
        </p:txBody>
      </p:sp>
      <p:sp>
        <p:nvSpPr>
          <p:cNvPr id="3" name="Content Placeholder 2"/>
          <p:cNvSpPr>
            <a:spLocks noGrp="1"/>
          </p:cNvSpPr>
          <p:nvPr>
            <p:ph idx="1"/>
          </p:nvPr>
        </p:nvSpPr>
        <p:spPr>
          <a:xfrm>
            <a:off x="838200" y="1690688"/>
            <a:ext cx="10515600" cy="4351338"/>
          </a:xfrm>
        </p:spPr>
        <p:txBody>
          <a:bodyPr>
            <a:noAutofit/>
          </a:bodyPr>
          <a:lstStyle/>
          <a:p>
            <a:r>
              <a:rPr lang="en-US" sz="2400" dirty="0"/>
              <a:t>Boundary value analysis is a simple technique and may prove to be effective when used correctly. </a:t>
            </a:r>
            <a:endParaRPr lang="en-US" sz="2400" dirty="0" smtClean="0"/>
          </a:p>
          <a:p>
            <a:r>
              <a:rPr lang="en-US" sz="2400" dirty="0" smtClean="0"/>
              <a:t>Here</a:t>
            </a:r>
            <a:r>
              <a:rPr lang="en-US" sz="2400" dirty="0"/>
              <a:t>, input values should be independent which restricts its applicability in many programs. </a:t>
            </a:r>
            <a:endParaRPr lang="en-US" sz="2400" dirty="0" smtClean="0"/>
          </a:p>
          <a:p>
            <a:r>
              <a:rPr lang="en-US" sz="2400" dirty="0" smtClean="0"/>
              <a:t>This </a:t>
            </a:r>
            <a:r>
              <a:rPr lang="en-US" sz="2400" dirty="0"/>
              <a:t>technique does not make sense for Boolean variables where input values are TRUE and FALSE only, and no choice is available for nominal values, just above boundary values, just below boundary values, etc. </a:t>
            </a:r>
            <a:endParaRPr lang="en-US" sz="2400" dirty="0" smtClean="0"/>
          </a:p>
          <a:p>
            <a:r>
              <a:rPr lang="en-US" sz="2400" dirty="0" smtClean="0"/>
              <a:t>This </a:t>
            </a:r>
            <a:r>
              <a:rPr lang="en-US" sz="2400" dirty="0"/>
              <a:t>technique can significantly reduce the number of test cases and is suited to programs in which input values are within ranges or within sets</a:t>
            </a:r>
            <a:r>
              <a:rPr lang="en-US" sz="2400" dirty="0" smtClean="0"/>
              <a:t>.</a:t>
            </a:r>
          </a:p>
          <a:p>
            <a:r>
              <a:rPr lang="en-US" sz="2400" dirty="0" smtClean="0"/>
              <a:t> </a:t>
            </a:r>
            <a:r>
              <a:rPr lang="en-US" sz="2400" dirty="0"/>
              <a:t>This is equally applicable at the unit, integration, system and acceptance test levels. All we want is input values where boundaries can be identified from the requirements.</a:t>
            </a:r>
          </a:p>
        </p:txBody>
      </p:sp>
    </p:spTree>
    <p:extLst>
      <p:ext uri="{BB962C8B-B14F-4D97-AF65-F5344CB8AC3E}">
        <p14:creationId xmlns:p14="http://schemas.microsoft.com/office/powerpoint/2010/main" val="16493659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Equivalence Partitioning</a:t>
            </a:r>
          </a:p>
        </p:txBody>
      </p:sp>
      <p:pic>
        <p:nvPicPr>
          <p:cNvPr id="5" name="Picture 4"/>
          <p:cNvPicPr>
            <a:picLocks noChangeAspect="1"/>
          </p:cNvPicPr>
          <p:nvPr/>
        </p:nvPicPr>
        <p:blipFill>
          <a:blip r:embed="rId2"/>
          <a:stretch>
            <a:fillRect/>
          </a:stretch>
        </p:blipFill>
        <p:spPr>
          <a:xfrm>
            <a:off x="1183659" y="1690688"/>
            <a:ext cx="6991350" cy="2935048"/>
          </a:xfrm>
          <a:prstGeom prst="rect">
            <a:avLst/>
          </a:prstGeom>
        </p:spPr>
      </p:pic>
      <p:pic>
        <p:nvPicPr>
          <p:cNvPr id="7" name="Picture 6"/>
          <p:cNvPicPr>
            <a:picLocks noChangeAspect="1"/>
          </p:cNvPicPr>
          <p:nvPr/>
        </p:nvPicPr>
        <p:blipFill>
          <a:blip r:embed="rId3"/>
          <a:stretch>
            <a:fillRect/>
          </a:stretch>
        </p:blipFill>
        <p:spPr>
          <a:xfrm>
            <a:off x="1183658" y="4625736"/>
            <a:ext cx="5339971" cy="2173501"/>
          </a:xfrm>
          <a:prstGeom prst="rect">
            <a:avLst/>
          </a:prstGeom>
        </p:spPr>
      </p:pic>
    </p:spTree>
    <p:extLst>
      <p:ext uri="{BB962C8B-B14F-4D97-AF65-F5344CB8AC3E}">
        <p14:creationId xmlns:p14="http://schemas.microsoft.com/office/powerpoint/2010/main" val="26146228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sp>
        <p:nvSpPr>
          <p:cNvPr id="3" name="Content Placeholder 2"/>
          <p:cNvSpPr>
            <a:spLocks noGrp="1"/>
          </p:cNvSpPr>
          <p:nvPr>
            <p:ph idx="1"/>
          </p:nvPr>
        </p:nvSpPr>
        <p:spPr/>
        <p:txBody>
          <a:bodyPr/>
          <a:lstStyle/>
          <a:p>
            <a:r>
              <a:rPr lang="en-US" dirty="0"/>
              <a:t>The entire input domain can be divided into at least two equivalence classes: one containing all valid inputs and the other containing all invalid inputs</a:t>
            </a:r>
            <a:r>
              <a:rPr lang="en-US" dirty="0" smtClean="0"/>
              <a:t>.</a:t>
            </a:r>
          </a:p>
          <a:p>
            <a:r>
              <a:rPr lang="en-US" dirty="0"/>
              <a:t>Each equivalence class can further be sub-divided into equivalence classes on which the program is required to behave differently. </a:t>
            </a:r>
            <a:endParaRPr lang="en-US" dirty="0" smtClean="0"/>
          </a:p>
          <a:p>
            <a:r>
              <a:rPr lang="en-US" dirty="0"/>
              <a:t>The input domain equivalence classes for the program ‘Square’ which takes ‘x’ as an input (range 1-100) and prints the square of ‘x’ (seen in Figure 2.2) are given as:</a:t>
            </a:r>
          </a:p>
        </p:txBody>
      </p:sp>
      <p:pic>
        <p:nvPicPr>
          <p:cNvPr id="4" name="Picture 3"/>
          <p:cNvPicPr>
            <a:picLocks noChangeAspect="1"/>
          </p:cNvPicPr>
          <p:nvPr/>
        </p:nvPicPr>
        <p:blipFill>
          <a:blip r:embed="rId2"/>
          <a:stretch>
            <a:fillRect/>
          </a:stretch>
        </p:blipFill>
        <p:spPr>
          <a:xfrm>
            <a:off x="1921135" y="5368925"/>
            <a:ext cx="8584424" cy="1182000"/>
          </a:xfrm>
          <a:prstGeom prst="rect">
            <a:avLst/>
          </a:prstGeom>
        </p:spPr>
      </p:pic>
    </p:spTree>
    <p:extLst>
      <p:ext uri="{BB962C8B-B14F-4D97-AF65-F5344CB8AC3E}">
        <p14:creationId xmlns:p14="http://schemas.microsoft.com/office/powerpoint/2010/main" val="38628084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pic>
        <p:nvPicPr>
          <p:cNvPr id="5" name="Content Placeholder 4"/>
          <p:cNvPicPr>
            <a:picLocks noGrp="1" noChangeAspect="1"/>
          </p:cNvPicPr>
          <p:nvPr>
            <p:ph idx="1"/>
          </p:nvPr>
        </p:nvPicPr>
        <p:blipFill>
          <a:blip r:embed="rId2"/>
          <a:stretch>
            <a:fillRect/>
          </a:stretch>
        </p:blipFill>
        <p:spPr>
          <a:xfrm>
            <a:off x="838200" y="1527281"/>
            <a:ext cx="10281162" cy="3781698"/>
          </a:xfrm>
          <a:prstGeom prst="rect">
            <a:avLst/>
          </a:prstGeom>
        </p:spPr>
      </p:pic>
    </p:spTree>
    <p:extLst>
      <p:ext uri="{BB962C8B-B14F-4D97-AF65-F5344CB8AC3E}">
        <p14:creationId xmlns:p14="http://schemas.microsoft.com/office/powerpoint/2010/main" val="3561364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pic>
        <p:nvPicPr>
          <p:cNvPr id="4" name="Picture 3"/>
          <p:cNvPicPr>
            <a:picLocks noChangeAspect="1"/>
          </p:cNvPicPr>
          <p:nvPr/>
        </p:nvPicPr>
        <p:blipFill>
          <a:blip r:embed="rId2"/>
          <a:stretch>
            <a:fillRect/>
          </a:stretch>
        </p:blipFill>
        <p:spPr>
          <a:xfrm>
            <a:off x="632417" y="1497486"/>
            <a:ext cx="9344025" cy="4791075"/>
          </a:xfrm>
          <a:prstGeom prst="rect">
            <a:avLst/>
          </a:prstGeom>
        </p:spPr>
      </p:pic>
    </p:spTree>
    <p:extLst>
      <p:ext uri="{BB962C8B-B14F-4D97-AF65-F5344CB8AC3E}">
        <p14:creationId xmlns:p14="http://schemas.microsoft.com/office/powerpoint/2010/main" val="28674272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355468"/>
            <a:ext cx="10771425" cy="4821495"/>
          </a:xfrm>
          <a:prstGeom prst="rect">
            <a:avLst/>
          </a:prstGeom>
        </p:spPr>
      </p:pic>
    </p:spTree>
    <p:extLst>
      <p:ext uri="{BB962C8B-B14F-4D97-AF65-F5344CB8AC3E}">
        <p14:creationId xmlns:p14="http://schemas.microsoft.com/office/powerpoint/2010/main" val="15913110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2.2.1 Creation of Equivalence Classes </a:t>
            </a:r>
          </a:p>
        </p:txBody>
      </p:sp>
      <p:sp>
        <p:nvSpPr>
          <p:cNvPr id="3" name="Content Placeholder 2"/>
          <p:cNvSpPr>
            <a:spLocks noGrp="1"/>
          </p:cNvSpPr>
          <p:nvPr>
            <p:ph idx="1"/>
          </p:nvPr>
        </p:nvSpPr>
        <p:spPr/>
        <p:txBody>
          <a:bodyPr/>
          <a:lstStyle/>
          <a:p>
            <a:r>
              <a:rPr lang="en-US" dirty="0" smtClean="0"/>
              <a:t>From output domain</a:t>
            </a:r>
            <a:endParaRPr lang="en-US" dirty="0"/>
          </a:p>
        </p:txBody>
      </p:sp>
      <p:pic>
        <p:nvPicPr>
          <p:cNvPr id="4" name="Picture 3"/>
          <p:cNvPicPr>
            <a:picLocks noChangeAspect="1"/>
          </p:cNvPicPr>
          <p:nvPr/>
        </p:nvPicPr>
        <p:blipFill>
          <a:blip r:embed="rId3"/>
          <a:stretch>
            <a:fillRect/>
          </a:stretch>
        </p:blipFill>
        <p:spPr>
          <a:xfrm>
            <a:off x="6095998" y="1690688"/>
            <a:ext cx="5121379" cy="961820"/>
          </a:xfrm>
          <a:prstGeom prst="rect">
            <a:avLst/>
          </a:prstGeom>
        </p:spPr>
      </p:pic>
      <p:pic>
        <p:nvPicPr>
          <p:cNvPr id="5" name="Picture 4"/>
          <p:cNvPicPr>
            <a:picLocks noChangeAspect="1"/>
          </p:cNvPicPr>
          <p:nvPr/>
        </p:nvPicPr>
        <p:blipFill>
          <a:blip r:embed="rId4"/>
          <a:stretch>
            <a:fillRect/>
          </a:stretch>
        </p:blipFill>
        <p:spPr>
          <a:xfrm>
            <a:off x="1034538" y="2648487"/>
            <a:ext cx="8972550" cy="1581150"/>
          </a:xfrm>
          <a:prstGeom prst="rect">
            <a:avLst/>
          </a:prstGeom>
        </p:spPr>
      </p:pic>
      <p:pic>
        <p:nvPicPr>
          <p:cNvPr id="6" name="Picture 5"/>
          <p:cNvPicPr>
            <a:picLocks noChangeAspect="1"/>
          </p:cNvPicPr>
          <p:nvPr/>
        </p:nvPicPr>
        <p:blipFill>
          <a:blip r:embed="rId5"/>
          <a:stretch>
            <a:fillRect/>
          </a:stretch>
        </p:blipFill>
        <p:spPr>
          <a:xfrm>
            <a:off x="6265912" y="4257622"/>
            <a:ext cx="4781550" cy="819150"/>
          </a:xfrm>
          <a:prstGeom prst="rect">
            <a:avLst/>
          </a:prstGeom>
        </p:spPr>
      </p:pic>
      <p:pic>
        <p:nvPicPr>
          <p:cNvPr id="7" name="Picture 6"/>
          <p:cNvPicPr>
            <a:picLocks noChangeAspect="1"/>
          </p:cNvPicPr>
          <p:nvPr/>
        </p:nvPicPr>
        <p:blipFill>
          <a:blip r:embed="rId6"/>
          <a:stretch>
            <a:fillRect/>
          </a:stretch>
        </p:blipFill>
        <p:spPr>
          <a:xfrm>
            <a:off x="666289" y="5091211"/>
            <a:ext cx="9001125" cy="1590675"/>
          </a:xfrm>
          <a:prstGeom prst="rect">
            <a:avLst/>
          </a:prstGeom>
        </p:spPr>
      </p:pic>
    </p:spTree>
    <p:extLst>
      <p:ext uri="{BB962C8B-B14F-4D97-AF65-F5344CB8AC3E}">
        <p14:creationId xmlns:p14="http://schemas.microsoft.com/office/powerpoint/2010/main" val="24521559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2.2.2 Applicability</a:t>
            </a:r>
          </a:p>
        </p:txBody>
      </p:sp>
      <p:sp>
        <p:nvSpPr>
          <p:cNvPr id="3" name="Content Placeholder 2"/>
          <p:cNvSpPr>
            <a:spLocks noGrp="1"/>
          </p:cNvSpPr>
          <p:nvPr>
            <p:ph idx="1"/>
          </p:nvPr>
        </p:nvSpPr>
        <p:spPr/>
        <p:txBody>
          <a:bodyPr/>
          <a:lstStyle/>
          <a:p>
            <a:r>
              <a:rPr lang="en-US" dirty="0"/>
              <a:t>It is applicable at unit, integration, system and acceptance test levels.</a:t>
            </a:r>
          </a:p>
        </p:txBody>
      </p:sp>
      <p:pic>
        <p:nvPicPr>
          <p:cNvPr id="4" name="Picture 3"/>
          <p:cNvPicPr>
            <a:picLocks noChangeAspect="1"/>
          </p:cNvPicPr>
          <p:nvPr/>
        </p:nvPicPr>
        <p:blipFill>
          <a:blip r:embed="rId2"/>
          <a:stretch>
            <a:fillRect/>
          </a:stretch>
        </p:blipFill>
        <p:spPr>
          <a:xfrm>
            <a:off x="838200" y="2490406"/>
            <a:ext cx="9010650" cy="4181475"/>
          </a:xfrm>
          <a:prstGeom prst="rect">
            <a:avLst/>
          </a:prstGeom>
        </p:spPr>
      </p:pic>
    </p:spTree>
    <p:extLst>
      <p:ext uri="{BB962C8B-B14F-4D97-AF65-F5344CB8AC3E}">
        <p14:creationId xmlns:p14="http://schemas.microsoft.com/office/powerpoint/2010/main" val="11025131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2.2.2 Applicability</a:t>
            </a:r>
          </a:p>
        </p:txBody>
      </p:sp>
      <p:sp>
        <p:nvSpPr>
          <p:cNvPr id="5" name="Content Placeholder 4"/>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419671" y="365125"/>
            <a:ext cx="8353425" cy="5991225"/>
          </a:xfrm>
          <a:prstGeom prst="rect">
            <a:avLst/>
          </a:prstGeom>
        </p:spPr>
      </p:pic>
    </p:spTree>
    <p:extLst>
      <p:ext uri="{BB962C8B-B14F-4D97-AF65-F5344CB8AC3E}">
        <p14:creationId xmlns:p14="http://schemas.microsoft.com/office/powerpoint/2010/main" val="34031743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2.2.2 Applicability</a:t>
            </a:r>
          </a:p>
        </p:txBody>
      </p:sp>
      <p:sp>
        <p:nvSpPr>
          <p:cNvPr id="5" name="Content Placeholder 4"/>
          <p:cNvSpPr>
            <a:spLocks noGrp="1"/>
          </p:cNvSpPr>
          <p:nvPr>
            <p:ph idx="1"/>
          </p:nvPr>
        </p:nvSpPr>
        <p:spPr/>
        <p:txBody>
          <a:bodyPr/>
          <a:lstStyle/>
          <a:p>
            <a:endParaRPr lang="en-US"/>
          </a:p>
        </p:txBody>
      </p:sp>
      <p:pic>
        <p:nvPicPr>
          <p:cNvPr id="3" name="Picture 2"/>
          <p:cNvPicPr>
            <a:picLocks noChangeAspect="1"/>
          </p:cNvPicPr>
          <p:nvPr/>
        </p:nvPicPr>
        <p:blipFill>
          <a:blip r:embed="rId2"/>
          <a:stretch>
            <a:fillRect/>
          </a:stretch>
        </p:blipFill>
        <p:spPr>
          <a:xfrm>
            <a:off x="533971" y="1690688"/>
            <a:ext cx="8124825" cy="3990975"/>
          </a:xfrm>
          <a:prstGeom prst="rect">
            <a:avLst/>
          </a:prstGeom>
        </p:spPr>
      </p:pic>
    </p:spTree>
    <p:extLst>
      <p:ext uri="{BB962C8B-B14F-4D97-AF65-F5344CB8AC3E}">
        <p14:creationId xmlns:p14="http://schemas.microsoft.com/office/powerpoint/2010/main" val="20051189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DECISION TABLE BASED TESTING</a:t>
            </a: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725961" y="1524213"/>
            <a:ext cx="10600040" cy="4426211"/>
          </a:xfrm>
          <a:prstGeom prst="rect">
            <a:avLst/>
          </a:prstGeom>
        </p:spPr>
      </p:pic>
    </p:spTree>
    <p:extLst>
      <p:ext uri="{BB962C8B-B14F-4D97-AF65-F5344CB8AC3E}">
        <p14:creationId xmlns:p14="http://schemas.microsoft.com/office/powerpoint/2010/main" val="12985480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DECISION TABLE BASED TESTING</a:t>
            </a:r>
          </a:p>
        </p:txBody>
      </p:sp>
      <p:pic>
        <p:nvPicPr>
          <p:cNvPr id="4" name="Content Placeholder 3"/>
          <p:cNvPicPr>
            <a:picLocks noGrp="1" noChangeAspect="1"/>
          </p:cNvPicPr>
          <p:nvPr>
            <p:ph idx="1"/>
          </p:nvPr>
        </p:nvPicPr>
        <p:blipFill>
          <a:blip r:embed="rId2"/>
          <a:stretch>
            <a:fillRect/>
          </a:stretch>
        </p:blipFill>
        <p:spPr>
          <a:xfrm>
            <a:off x="838200" y="1690688"/>
            <a:ext cx="10712282" cy="4136906"/>
          </a:xfrm>
          <a:prstGeom prst="rect">
            <a:avLst/>
          </a:prstGeom>
        </p:spPr>
      </p:pic>
    </p:spTree>
    <p:extLst>
      <p:ext uri="{BB962C8B-B14F-4D97-AF65-F5344CB8AC3E}">
        <p14:creationId xmlns:p14="http://schemas.microsoft.com/office/powerpoint/2010/main" val="13740139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2.3.2Limited Entry and Extended Entry Decision Tables</a:t>
            </a:r>
          </a:p>
        </p:txBody>
      </p:sp>
      <p:sp>
        <p:nvSpPr>
          <p:cNvPr id="3" name="Content Placeholder 2"/>
          <p:cNvSpPr>
            <a:spLocks noGrp="1"/>
          </p:cNvSpPr>
          <p:nvPr>
            <p:ph idx="1"/>
          </p:nvPr>
        </p:nvSpPr>
        <p:spPr/>
        <p:txBody>
          <a:bodyPr/>
          <a:lstStyle/>
          <a:p>
            <a:r>
              <a:rPr lang="en-US" dirty="0"/>
              <a:t>The decision tables which use only binary conditions are known as limited entry decision tables. </a:t>
            </a:r>
            <a:endParaRPr lang="en-US" dirty="0" smtClean="0"/>
          </a:p>
          <a:p>
            <a:r>
              <a:rPr lang="en-US" dirty="0" smtClean="0"/>
              <a:t>The </a:t>
            </a:r>
            <a:r>
              <a:rPr lang="en-US" dirty="0"/>
              <a:t>decision tables which use multiple conditions where a condition may have many possibilities instead of only ‘true’ and ‘false’ are known as extended entry decision tables </a:t>
            </a:r>
          </a:p>
        </p:txBody>
      </p:sp>
      <p:pic>
        <p:nvPicPr>
          <p:cNvPr id="4" name="Picture 3"/>
          <p:cNvPicPr>
            <a:picLocks noChangeAspect="1"/>
          </p:cNvPicPr>
          <p:nvPr/>
        </p:nvPicPr>
        <p:blipFill>
          <a:blip r:embed="rId2"/>
          <a:stretch>
            <a:fillRect/>
          </a:stretch>
        </p:blipFill>
        <p:spPr>
          <a:xfrm>
            <a:off x="1168803" y="4001294"/>
            <a:ext cx="9363075" cy="2590800"/>
          </a:xfrm>
          <a:prstGeom prst="rect">
            <a:avLst/>
          </a:prstGeom>
        </p:spPr>
      </p:pic>
    </p:spTree>
    <p:extLst>
      <p:ext uri="{BB962C8B-B14F-4D97-AF65-F5344CB8AC3E}">
        <p14:creationId xmlns:p14="http://schemas.microsoft.com/office/powerpoint/2010/main" val="5017576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2.3.3 ‘</a:t>
            </a:r>
            <a:r>
              <a:rPr lang="en-US" dirty="0" err="1"/>
              <a:t>DoNot</a:t>
            </a:r>
            <a:r>
              <a:rPr lang="en-US" dirty="0"/>
              <a:t> Care’ Conditions and Rule Count</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770657" y="1690688"/>
            <a:ext cx="10583143" cy="4392802"/>
          </a:xfrm>
          <a:prstGeom prst="rect">
            <a:avLst/>
          </a:prstGeom>
        </p:spPr>
      </p:pic>
    </p:spTree>
    <p:extLst>
      <p:ext uri="{BB962C8B-B14F-4D97-AF65-F5344CB8AC3E}">
        <p14:creationId xmlns:p14="http://schemas.microsoft.com/office/powerpoint/2010/main" val="27889102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2.3.3 ‘</a:t>
            </a:r>
            <a:r>
              <a:rPr lang="en-US" dirty="0" err="1"/>
              <a:t>DoNot</a:t>
            </a:r>
            <a:r>
              <a:rPr lang="en-US" dirty="0"/>
              <a:t> Care’ Conditions and Rule </a:t>
            </a:r>
            <a:r>
              <a:rPr lang="en-US" dirty="0" smtClean="0"/>
              <a:t>Count</a:t>
            </a:r>
            <a:br>
              <a:rPr lang="en-US" dirty="0" smtClean="0"/>
            </a:br>
            <a:r>
              <a:rPr lang="en-US" dirty="0" smtClean="0"/>
              <a:t>Impossible Conditions</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770657" y="1690688"/>
            <a:ext cx="10583143" cy="4392802"/>
          </a:xfrm>
          <a:prstGeom prst="rect">
            <a:avLst/>
          </a:prstGeom>
        </p:spPr>
      </p:pic>
    </p:spTree>
    <p:extLst>
      <p:ext uri="{BB962C8B-B14F-4D97-AF65-F5344CB8AC3E}">
        <p14:creationId xmlns:p14="http://schemas.microsoft.com/office/powerpoint/2010/main" val="283882966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 </a:t>
            </a:r>
          </a:p>
        </p:txBody>
      </p:sp>
      <p:sp>
        <p:nvSpPr>
          <p:cNvPr id="3" name="Content Placeholder 2"/>
          <p:cNvSpPr>
            <a:spLocks noGrp="1"/>
          </p:cNvSpPr>
          <p:nvPr>
            <p:ph idx="1"/>
          </p:nvPr>
        </p:nvSpPr>
        <p:spPr/>
        <p:txBody>
          <a:bodyPr>
            <a:normAutofit lnSpcReduction="10000"/>
          </a:bodyPr>
          <a:lstStyle/>
          <a:p>
            <a:r>
              <a:rPr lang="en-US" dirty="0"/>
              <a:t>Decision tables are popular in circumstances where an output is dependent on many conditions and a large number of decisions are required to be taken. </a:t>
            </a:r>
            <a:endParaRPr lang="en-US" dirty="0" smtClean="0"/>
          </a:p>
          <a:p>
            <a:r>
              <a:rPr lang="en-US" dirty="0"/>
              <a:t>They may also incorporate complex business rules and use them to design test cases</a:t>
            </a:r>
            <a:r>
              <a:rPr lang="en-US" dirty="0" smtClean="0"/>
              <a:t>.</a:t>
            </a:r>
          </a:p>
          <a:p>
            <a:r>
              <a:rPr lang="en-US" dirty="0"/>
              <a:t>Every column of the decision table generates a test case</a:t>
            </a:r>
            <a:r>
              <a:rPr lang="en-US" dirty="0" smtClean="0"/>
              <a:t>.</a:t>
            </a:r>
          </a:p>
          <a:p>
            <a:r>
              <a:rPr lang="en-US" dirty="0"/>
              <a:t>As the </a:t>
            </a:r>
            <a:r>
              <a:rPr lang="en-US" dirty="0" smtClean="0"/>
              <a:t>size </a:t>
            </a:r>
            <a:r>
              <a:rPr lang="en-US" dirty="0"/>
              <a:t>of the program increases, handling of decision tables becomes difficult and cumbersome</a:t>
            </a:r>
            <a:r>
              <a:rPr lang="en-US" dirty="0" smtClean="0"/>
              <a:t>.</a:t>
            </a:r>
          </a:p>
          <a:p>
            <a:r>
              <a:rPr lang="en-US" dirty="0"/>
              <a:t>In practice, they can be applied easily at unit level only. System testing and integration testing may not find its effective applications.</a:t>
            </a:r>
          </a:p>
        </p:txBody>
      </p:sp>
    </p:spTree>
    <p:extLst>
      <p:ext uri="{BB962C8B-B14F-4D97-AF65-F5344CB8AC3E}">
        <p14:creationId xmlns:p14="http://schemas.microsoft.com/office/powerpoint/2010/main" val="25683723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pic>
        <p:nvPicPr>
          <p:cNvPr id="4" name="Content Placeholder 3"/>
          <p:cNvPicPr>
            <a:picLocks noGrp="1" noChangeAspect="1"/>
          </p:cNvPicPr>
          <p:nvPr>
            <p:ph idx="1"/>
          </p:nvPr>
        </p:nvPicPr>
        <p:blipFill>
          <a:blip r:embed="rId2"/>
          <a:stretch>
            <a:fillRect/>
          </a:stretch>
        </p:blipFill>
        <p:spPr>
          <a:xfrm>
            <a:off x="838200" y="1539875"/>
            <a:ext cx="10306050" cy="5348176"/>
          </a:xfrm>
          <a:prstGeom prst="rect">
            <a:avLst/>
          </a:prstGeom>
        </p:spPr>
      </p:pic>
    </p:spTree>
    <p:extLst>
      <p:ext uri="{BB962C8B-B14F-4D97-AF65-F5344CB8AC3E}">
        <p14:creationId xmlns:p14="http://schemas.microsoft.com/office/powerpoint/2010/main" val="2160387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838200" y="1347788"/>
            <a:ext cx="10385612" cy="5378453"/>
          </a:xfrm>
          <a:prstGeom prst="rect">
            <a:avLst/>
          </a:prstGeom>
        </p:spPr>
      </p:pic>
    </p:spTree>
    <p:extLst>
      <p:ext uri="{BB962C8B-B14F-4D97-AF65-F5344CB8AC3E}">
        <p14:creationId xmlns:p14="http://schemas.microsoft.com/office/powerpoint/2010/main" val="27166243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rot="5400000">
            <a:off x="1352902" y="-2608898"/>
            <a:ext cx="8002536" cy="11708974"/>
          </a:xfrm>
          <a:prstGeom prst="rect">
            <a:avLst/>
          </a:prstGeom>
        </p:spPr>
      </p:pic>
    </p:spTree>
    <p:extLst>
      <p:ext uri="{BB962C8B-B14F-4D97-AF65-F5344CB8AC3E}">
        <p14:creationId xmlns:p14="http://schemas.microsoft.com/office/powerpoint/2010/main" val="299082751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3781425" y="1304084"/>
            <a:ext cx="4629150" cy="5038725"/>
          </a:xfrm>
          <a:prstGeom prst="rect">
            <a:avLst/>
          </a:prstGeom>
        </p:spPr>
      </p:pic>
    </p:spTree>
    <p:extLst>
      <p:ext uri="{BB962C8B-B14F-4D97-AF65-F5344CB8AC3E}">
        <p14:creationId xmlns:p14="http://schemas.microsoft.com/office/powerpoint/2010/main" val="131771689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238750" y="2962275"/>
            <a:ext cx="1714500" cy="933450"/>
          </a:xfrm>
          <a:prstGeom prst="rect">
            <a:avLst/>
          </a:prstGeom>
        </p:spPr>
      </p:pic>
      <p:pic>
        <p:nvPicPr>
          <p:cNvPr id="6" name="Picture 5"/>
          <p:cNvPicPr>
            <a:picLocks noChangeAspect="1"/>
          </p:cNvPicPr>
          <p:nvPr/>
        </p:nvPicPr>
        <p:blipFill>
          <a:blip r:embed="rId3"/>
          <a:stretch>
            <a:fillRect/>
          </a:stretch>
        </p:blipFill>
        <p:spPr>
          <a:xfrm>
            <a:off x="838200" y="1690688"/>
            <a:ext cx="4289799" cy="2205037"/>
          </a:xfrm>
          <a:prstGeom prst="rect">
            <a:avLst/>
          </a:prstGeom>
        </p:spPr>
      </p:pic>
      <p:pic>
        <p:nvPicPr>
          <p:cNvPr id="7" name="Picture 6"/>
          <p:cNvPicPr>
            <a:picLocks noChangeAspect="1"/>
          </p:cNvPicPr>
          <p:nvPr/>
        </p:nvPicPr>
        <p:blipFill>
          <a:blip r:embed="rId4"/>
          <a:stretch>
            <a:fillRect/>
          </a:stretch>
        </p:blipFill>
        <p:spPr>
          <a:xfrm>
            <a:off x="5802125" y="1415532"/>
            <a:ext cx="3682534" cy="4960385"/>
          </a:xfrm>
          <a:prstGeom prst="rect">
            <a:avLst/>
          </a:prstGeom>
        </p:spPr>
      </p:pic>
    </p:spTree>
    <p:extLst>
      <p:ext uri="{BB962C8B-B14F-4D97-AF65-F5344CB8AC3E}">
        <p14:creationId xmlns:p14="http://schemas.microsoft.com/office/powerpoint/2010/main" val="17785658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5238750" y="2962275"/>
            <a:ext cx="1714500" cy="933450"/>
          </a:xfrm>
          <a:prstGeom prst="rect">
            <a:avLst/>
          </a:prstGeom>
        </p:spPr>
      </p:pic>
      <p:pic>
        <p:nvPicPr>
          <p:cNvPr id="5" name="Picture 4"/>
          <p:cNvPicPr>
            <a:picLocks noChangeAspect="1"/>
          </p:cNvPicPr>
          <p:nvPr/>
        </p:nvPicPr>
        <p:blipFill>
          <a:blip r:embed="rId4"/>
          <a:stretch>
            <a:fillRect/>
          </a:stretch>
        </p:blipFill>
        <p:spPr>
          <a:xfrm>
            <a:off x="838200" y="1309127"/>
            <a:ext cx="9201150" cy="5781675"/>
          </a:xfrm>
          <a:prstGeom prst="rect">
            <a:avLst/>
          </a:prstGeom>
        </p:spPr>
      </p:pic>
    </p:spTree>
    <p:extLst>
      <p:ext uri="{BB962C8B-B14F-4D97-AF65-F5344CB8AC3E}">
        <p14:creationId xmlns:p14="http://schemas.microsoft.com/office/powerpoint/2010/main" val="10327844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2.3.5 Applicability</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5238750" y="2962275"/>
            <a:ext cx="1714500" cy="933450"/>
          </a:xfrm>
          <a:prstGeom prst="rect">
            <a:avLst/>
          </a:prstGeom>
        </p:spPr>
      </p:pic>
      <p:pic>
        <p:nvPicPr>
          <p:cNvPr id="6" name="Picture 5"/>
          <p:cNvPicPr>
            <a:picLocks noChangeAspect="1"/>
          </p:cNvPicPr>
          <p:nvPr/>
        </p:nvPicPr>
        <p:blipFill>
          <a:blip r:embed="rId4"/>
          <a:stretch>
            <a:fillRect/>
          </a:stretch>
        </p:blipFill>
        <p:spPr>
          <a:xfrm>
            <a:off x="838200" y="1195387"/>
            <a:ext cx="9234714" cy="5600089"/>
          </a:xfrm>
          <a:prstGeom prst="rect">
            <a:avLst/>
          </a:prstGeom>
        </p:spPr>
      </p:pic>
    </p:spTree>
    <p:extLst>
      <p:ext uri="{BB962C8B-B14F-4D97-AF65-F5344CB8AC3E}">
        <p14:creationId xmlns:p14="http://schemas.microsoft.com/office/powerpoint/2010/main" val="121237596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a:t>1. Rule Consolidation (The "Don't Care" Method</a:t>
            </a:r>
            <a:r>
              <a:rPr lang="en-US" dirty="0" smtClean="0"/>
              <a:t>)</a:t>
            </a:r>
          </a:p>
          <a:p>
            <a:pPr lvl="1"/>
            <a:r>
              <a:rPr lang="en-US" dirty="0" smtClean="0"/>
              <a:t>The </a:t>
            </a:r>
            <a:r>
              <a:rPr lang="en-US" dirty="0"/>
              <a:t>most common optimization is merging rules that result in the same action regardless of a specific condition’s value. </a:t>
            </a:r>
            <a:endParaRPr lang="en-US" dirty="0" smtClean="0"/>
          </a:p>
          <a:p>
            <a:pPr lvl="1"/>
            <a:r>
              <a:rPr lang="en-US" dirty="0" smtClean="0"/>
              <a:t>We </a:t>
            </a:r>
            <a:r>
              <a:rPr lang="en-US" dirty="0"/>
              <a:t>represent these with a dash -</a:t>
            </a:r>
            <a:r>
              <a:rPr lang="en-US" dirty="0" smtClean="0"/>
              <a:t> </a:t>
            </a:r>
            <a:r>
              <a:rPr lang="en-US" dirty="0"/>
              <a:t>or an "X," signifying a "Don't Care" entry</a:t>
            </a:r>
            <a:r>
              <a:rPr lang="en-US" dirty="0" smtClean="0"/>
              <a:t>.</a:t>
            </a:r>
          </a:p>
          <a:p>
            <a:pPr lvl="1"/>
            <a:r>
              <a:rPr lang="en-US" dirty="0" smtClean="0"/>
              <a:t>How </a:t>
            </a:r>
            <a:r>
              <a:rPr lang="en-US" dirty="0"/>
              <a:t>it works: If Rule 1 and Rule 2 result in "Action A," and the only difference between them is that Condition 3 is "True" in one and "False" in the other, Condition 3 is irrelevant for that specific outcome</a:t>
            </a:r>
            <a:r>
              <a:rPr lang="en-US" dirty="0" smtClean="0"/>
              <a:t>.</a:t>
            </a:r>
          </a:p>
          <a:p>
            <a:pPr lvl="1"/>
            <a:r>
              <a:rPr lang="en-US" dirty="0" smtClean="0"/>
              <a:t>Result</a:t>
            </a:r>
            <a:r>
              <a:rPr lang="en-US" dirty="0"/>
              <a:t>: You can merge two columns into one, effectively halving the complexity of that specific logic branch</a:t>
            </a:r>
            <a:r>
              <a:rPr lang="en-US" dirty="0" smtClean="0"/>
              <a:t>.</a:t>
            </a:r>
          </a:p>
          <a:p>
            <a:r>
              <a:rPr lang="en-US" dirty="0"/>
              <a:t>2. Identify Mutually Exclusive </a:t>
            </a:r>
            <a:r>
              <a:rPr lang="en-US" dirty="0" err="1"/>
              <a:t>ConditionsIn</a:t>
            </a:r>
            <a:r>
              <a:rPr lang="en-US" dirty="0"/>
              <a:t> many systems, certain conditions cannot physically or logically occur at the same time. </a:t>
            </a:r>
            <a:endParaRPr lang="en-US" dirty="0" smtClean="0"/>
          </a:p>
          <a:p>
            <a:pPr lvl="1"/>
            <a:r>
              <a:rPr lang="en-US" dirty="0" smtClean="0"/>
              <a:t>Identifying </a:t>
            </a:r>
            <a:r>
              <a:rPr lang="en-US" dirty="0"/>
              <a:t>these allows you to prune "impossible" columns immediately</a:t>
            </a:r>
            <a:r>
              <a:rPr lang="en-US" dirty="0" smtClean="0"/>
              <a:t>.</a:t>
            </a:r>
          </a:p>
          <a:p>
            <a:pPr lvl="1"/>
            <a:r>
              <a:rPr lang="en-US" dirty="0" smtClean="0"/>
              <a:t>Example</a:t>
            </a:r>
            <a:r>
              <a:rPr lang="en-US" dirty="0"/>
              <a:t>: If you have conditions for Is_Under_18 and </a:t>
            </a:r>
            <a:r>
              <a:rPr lang="en-US" dirty="0" err="1"/>
              <a:t>Is_Senior_Citizen</a:t>
            </a:r>
            <a:r>
              <a:rPr lang="en-US" dirty="0"/>
              <a:t>, they cannot both be "</a:t>
            </a:r>
            <a:r>
              <a:rPr lang="en-US" dirty="0" err="1"/>
              <a:t>True."Optimization</a:t>
            </a:r>
            <a:r>
              <a:rPr lang="en-US"/>
              <a:t>: </a:t>
            </a:r>
            <a:endParaRPr lang="en-US" smtClean="0"/>
          </a:p>
          <a:p>
            <a:pPr lvl="1"/>
            <a:r>
              <a:rPr lang="en-US" smtClean="0"/>
              <a:t>Remove </a:t>
            </a:r>
            <a:r>
              <a:rPr lang="en-US" dirty="0"/>
              <a:t>all columns where both are "True." This drastically reduces the total count before you even start writing test cases.</a:t>
            </a:r>
          </a:p>
        </p:txBody>
      </p:sp>
    </p:spTree>
    <p:extLst>
      <p:ext uri="{BB962C8B-B14F-4D97-AF65-F5344CB8AC3E}">
        <p14:creationId xmlns:p14="http://schemas.microsoft.com/office/powerpoint/2010/main" val="120885874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Let’s </a:t>
            </a:r>
            <a:r>
              <a:rPr lang="en-US" dirty="0"/>
              <a:t>use an </a:t>
            </a:r>
            <a:r>
              <a:rPr lang="en-US" b="1" dirty="0"/>
              <a:t>Auto Insurance Premium</a:t>
            </a:r>
            <a:r>
              <a:rPr lang="en-US" dirty="0"/>
              <a:t> logic. It’s a classic example because it involves risk factors that often overlap, making it a prime candidate for "collapsing."</a:t>
            </a:r>
          </a:p>
          <a:p>
            <a:r>
              <a:rPr lang="en-US" b="1" dirty="0"/>
              <a:t>The Requirements</a:t>
            </a:r>
          </a:p>
          <a:p>
            <a:r>
              <a:rPr lang="en-US" b="1" dirty="0"/>
              <a:t>Age &lt; 25:</a:t>
            </a:r>
            <a:r>
              <a:rPr lang="en-US" dirty="0"/>
              <a:t> Young drivers are higher risk.</a:t>
            </a:r>
          </a:p>
          <a:p>
            <a:r>
              <a:rPr lang="en-US" b="1" dirty="0"/>
              <a:t>Accident History:</a:t>
            </a:r>
            <a:r>
              <a:rPr lang="en-US" dirty="0"/>
              <a:t> Any accident in the last 3 years.</a:t>
            </a:r>
          </a:p>
          <a:p>
            <a:r>
              <a:rPr lang="en-US" b="1" dirty="0"/>
              <a:t>High-Performance Car:</a:t>
            </a:r>
            <a:r>
              <a:rPr lang="en-US" dirty="0"/>
              <a:t> Sports cars increase the premium.</a:t>
            </a:r>
          </a:p>
          <a:p>
            <a:r>
              <a:rPr lang="en-US" b="1" dirty="0"/>
              <a:t>Business Rules:</a:t>
            </a:r>
            <a:endParaRPr lang="en-US" dirty="0"/>
          </a:p>
          <a:p>
            <a:r>
              <a:rPr lang="en-US" dirty="0"/>
              <a:t>If the driver is young </a:t>
            </a:r>
            <a:r>
              <a:rPr lang="en-US" b="1" dirty="0"/>
              <a:t>AND</a:t>
            </a:r>
            <a:r>
              <a:rPr lang="en-US" dirty="0"/>
              <a:t> has an accident history, </a:t>
            </a:r>
            <a:r>
              <a:rPr lang="en-US" b="1" dirty="0"/>
              <a:t>Reject</a:t>
            </a:r>
            <a:r>
              <a:rPr lang="en-US" dirty="0"/>
              <a:t> the policy (regardless of car type).</a:t>
            </a:r>
          </a:p>
          <a:p>
            <a:r>
              <a:rPr lang="en-US" dirty="0"/>
              <a:t>If the driver is 25+ with no accidents and a standard car, </a:t>
            </a:r>
            <a:r>
              <a:rPr lang="en-US" b="1" dirty="0"/>
              <a:t>Standard Rate</a:t>
            </a:r>
            <a:r>
              <a:rPr lang="en-US" dirty="0"/>
              <a:t>.</a:t>
            </a:r>
          </a:p>
          <a:p>
            <a:r>
              <a:rPr lang="en-US" dirty="0"/>
              <a:t>Any other combination of "High Risk" factors (Young, Accident, or Sports Car) results in a </a:t>
            </a:r>
            <a:r>
              <a:rPr lang="en-US" b="1" dirty="0"/>
              <a:t>Surcharge</a:t>
            </a:r>
            <a:r>
              <a:rPr lang="en-US" dirty="0"/>
              <a:t>.</a:t>
            </a:r>
          </a:p>
        </p:txBody>
      </p:sp>
    </p:spTree>
    <p:extLst>
      <p:ext uri="{BB962C8B-B14F-4D97-AF65-F5344CB8AC3E}">
        <p14:creationId xmlns:p14="http://schemas.microsoft.com/office/powerpoint/2010/main" val="308663060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Let’s </a:t>
            </a:r>
            <a:r>
              <a:rPr lang="en-US" dirty="0"/>
              <a:t>use an </a:t>
            </a:r>
            <a:r>
              <a:rPr lang="en-US" b="1" dirty="0"/>
              <a:t>Auto Insurance Premium</a:t>
            </a:r>
            <a:r>
              <a:rPr lang="en-US" dirty="0"/>
              <a:t> logic. It’s a classic example because it involves risk factors that often overlap, making it a prime candidate for "collapsing."</a:t>
            </a:r>
          </a:p>
          <a:p>
            <a:r>
              <a:rPr lang="en-US" b="1" dirty="0"/>
              <a:t>The Requirements</a:t>
            </a:r>
          </a:p>
          <a:p>
            <a:r>
              <a:rPr lang="en-US" b="1" dirty="0"/>
              <a:t>Age &lt; 25:</a:t>
            </a:r>
            <a:r>
              <a:rPr lang="en-US" dirty="0"/>
              <a:t> Young drivers are higher risk.</a:t>
            </a:r>
          </a:p>
          <a:p>
            <a:r>
              <a:rPr lang="en-US" b="1" dirty="0"/>
              <a:t>Accident History:</a:t>
            </a:r>
            <a:r>
              <a:rPr lang="en-US" dirty="0"/>
              <a:t> Any accident in the last 3 years.</a:t>
            </a:r>
          </a:p>
          <a:p>
            <a:r>
              <a:rPr lang="en-US" b="1" dirty="0"/>
              <a:t>High-Performance Car:</a:t>
            </a:r>
            <a:r>
              <a:rPr lang="en-US" dirty="0"/>
              <a:t> Sports cars increase the premium.</a:t>
            </a:r>
          </a:p>
          <a:p>
            <a:r>
              <a:rPr lang="en-US" b="1" dirty="0"/>
              <a:t>Business Rules:</a:t>
            </a:r>
            <a:endParaRPr lang="en-US" dirty="0"/>
          </a:p>
          <a:p>
            <a:r>
              <a:rPr lang="en-US" dirty="0"/>
              <a:t>If the driver is young </a:t>
            </a:r>
            <a:r>
              <a:rPr lang="en-US" b="1" dirty="0"/>
              <a:t>AND</a:t>
            </a:r>
            <a:r>
              <a:rPr lang="en-US" dirty="0"/>
              <a:t> has an accident history, </a:t>
            </a:r>
            <a:r>
              <a:rPr lang="en-US" b="1" dirty="0"/>
              <a:t>Reject</a:t>
            </a:r>
            <a:r>
              <a:rPr lang="en-US" dirty="0"/>
              <a:t> the policy (regardless of car type).</a:t>
            </a:r>
          </a:p>
          <a:p>
            <a:r>
              <a:rPr lang="en-US" dirty="0"/>
              <a:t>If the driver is 25+ with no accidents and a standard car, </a:t>
            </a:r>
            <a:r>
              <a:rPr lang="en-US" b="1" dirty="0"/>
              <a:t>Standard Rate</a:t>
            </a:r>
            <a:r>
              <a:rPr lang="en-US" dirty="0"/>
              <a:t>.</a:t>
            </a:r>
          </a:p>
          <a:p>
            <a:r>
              <a:rPr lang="en-US" dirty="0"/>
              <a:t>Any other combination of "High Risk" factors (Young, Accident, or Sports Car) results in a </a:t>
            </a:r>
            <a:r>
              <a:rPr lang="en-US" b="1" dirty="0"/>
              <a:t>Surcharge</a:t>
            </a:r>
            <a:r>
              <a:rPr lang="en-US" dirty="0"/>
              <a:t>.</a:t>
            </a:r>
          </a:p>
        </p:txBody>
      </p:sp>
    </p:spTree>
    <p:extLst>
      <p:ext uri="{BB962C8B-B14F-4D97-AF65-F5344CB8AC3E}">
        <p14:creationId xmlns:p14="http://schemas.microsoft.com/office/powerpoint/2010/main" val="148734643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18644036"/>
              </p:ext>
            </p:extLst>
          </p:nvPr>
        </p:nvGraphicFramePr>
        <p:xfrm>
          <a:off x="1049871" y="1685478"/>
          <a:ext cx="8457975" cy="4356210"/>
        </p:xfrm>
        <a:graphic>
          <a:graphicData uri="http://schemas.openxmlformats.org/drawingml/2006/table">
            <a:tbl>
              <a:tblPr/>
              <a:tblGrid>
                <a:gridCol w="1523996"/>
                <a:gridCol w="643466"/>
                <a:gridCol w="651863"/>
                <a:gridCol w="939775"/>
                <a:gridCol w="939775"/>
                <a:gridCol w="939775"/>
                <a:gridCol w="939775"/>
                <a:gridCol w="939775"/>
                <a:gridCol w="939775"/>
              </a:tblGrid>
              <a:tr h="454913">
                <a:tc>
                  <a:txBody>
                    <a:bodyPr/>
                    <a:lstStyle/>
                    <a:p>
                      <a:pPr rtl="0"/>
                      <a:r>
                        <a:rPr lang="en-US" sz="1200" b="1" dirty="0">
                          <a:solidFill>
                            <a:srgbClr val="1F1F1F"/>
                          </a:solidFill>
                          <a:effectLst/>
                          <a:latin typeface="Google Sans Text"/>
                        </a:rPr>
                        <a:t>Conditions</a:t>
                      </a:r>
                      <a:endParaRPr lang="en-US" sz="1200" dirty="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R1</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R2</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R3</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R4</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R5</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R6</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R7</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b="1">
                          <a:solidFill>
                            <a:srgbClr val="1F1F1F"/>
                          </a:solidFill>
                          <a:effectLst/>
                          <a:latin typeface="Google Sans Text"/>
                        </a:rPr>
                        <a:t>R8</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54913">
                <a:tc>
                  <a:txBody>
                    <a:bodyPr/>
                    <a:lstStyle/>
                    <a:p>
                      <a:pPr rtl="0"/>
                      <a:r>
                        <a:rPr lang="en-US" sz="1200" b="1">
                          <a:solidFill>
                            <a:srgbClr val="1F1F1F"/>
                          </a:solidFill>
                          <a:effectLst/>
                          <a:latin typeface="Google Sans Text"/>
                        </a:rPr>
                        <a:t>C1: Age &lt; 25?</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810931">
                <a:tc>
                  <a:txBody>
                    <a:bodyPr/>
                    <a:lstStyle/>
                    <a:p>
                      <a:pPr rtl="0"/>
                      <a:r>
                        <a:rPr lang="en-US" sz="1200" b="1">
                          <a:solidFill>
                            <a:srgbClr val="1F1F1F"/>
                          </a:solidFill>
                          <a:effectLst/>
                          <a:latin typeface="Google Sans Text"/>
                        </a:rPr>
                        <a:t>C2: Accident History?</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32922">
                <a:tc>
                  <a:txBody>
                    <a:bodyPr/>
                    <a:lstStyle/>
                    <a:p>
                      <a:pPr rtl="0"/>
                      <a:r>
                        <a:rPr lang="en-US" sz="1200" b="1">
                          <a:solidFill>
                            <a:srgbClr val="1F1F1F"/>
                          </a:solidFill>
                          <a:effectLst/>
                          <a:latin typeface="Google Sans Text"/>
                        </a:rPr>
                        <a:t>C3: Sports Car?</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Y</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N</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276903">
                <a:tc>
                  <a:txBody>
                    <a:bodyPr/>
                    <a:lstStyle/>
                    <a:p>
                      <a:pPr rtl="0"/>
                      <a:r>
                        <a:rPr lang="en-US" sz="1200" b="1">
                          <a:solidFill>
                            <a:srgbClr val="1F1F1F"/>
                          </a:solidFill>
                          <a:effectLst/>
                          <a:latin typeface="Google Sans Text"/>
                        </a:rPr>
                        <a:t>Actions</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32922">
                <a:tc>
                  <a:txBody>
                    <a:bodyPr/>
                    <a:lstStyle/>
                    <a:p>
                      <a:pPr rtl="0"/>
                      <a:r>
                        <a:rPr lang="en-US" sz="1200" b="1">
                          <a:solidFill>
                            <a:srgbClr val="1F1F1F"/>
                          </a:solidFill>
                          <a:effectLst/>
                          <a:latin typeface="Google Sans Text"/>
                        </a:rPr>
                        <a:t>A1: Standard Rate</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32922">
                <a:tc>
                  <a:txBody>
                    <a:bodyPr/>
                    <a:lstStyle/>
                    <a:p>
                      <a:pPr rtl="0"/>
                      <a:r>
                        <a:rPr lang="en-US" sz="1200" b="1">
                          <a:solidFill>
                            <a:srgbClr val="1F1F1F"/>
                          </a:solidFill>
                          <a:effectLst/>
                          <a:latin typeface="Google Sans Text"/>
                        </a:rPr>
                        <a:t>A2: Surcharge</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54913">
                <a:tc>
                  <a:txBody>
                    <a:bodyPr/>
                    <a:lstStyle/>
                    <a:p>
                      <a:pPr rtl="0"/>
                      <a:r>
                        <a:rPr lang="en-US" sz="1200" b="1">
                          <a:solidFill>
                            <a:srgbClr val="1F1F1F"/>
                          </a:solidFill>
                          <a:effectLst/>
                          <a:latin typeface="Google Sans Text"/>
                        </a:rPr>
                        <a:t>A3: Reject</a:t>
                      </a:r>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dirty="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200">
                          <a:solidFill>
                            <a:srgbClr val="1F1F1F"/>
                          </a:solidFill>
                          <a:effectLst/>
                          <a:latin typeface="Google Sans Text"/>
                        </a:rPr>
                        <a:t>X</a:t>
                      </a: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200" dirty="0">
                        <a:solidFill>
                          <a:srgbClr val="1F1F1F"/>
                        </a:solidFill>
                        <a:effectLst/>
                        <a:latin typeface="Google Sans Text"/>
                      </a:endParaRPr>
                    </a:p>
                  </a:txBody>
                  <a:tcPr marL="74171" marR="74171" marT="49447" marB="4944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9703527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sp>
        <p:nvSpPr>
          <p:cNvPr id="3" name="Content Placeholder 2"/>
          <p:cNvSpPr>
            <a:spLocks noGrp="1"/>
          </p:cNvSpPr>
          <p:nvPr>
            <p:ph idx="1"/>
          </p:nvPr>
        </p:nvSpPr>
        <p:spPr/>
        <p:txBody>
          <a:bodyPr>
            <a:normAutofit fontScale="92500" lnSpcReduction="10000"/>
          </a:bodyPr>
          <a:lstStyle/>
          <a:p>
            <a:r>
              <a:rPr lang="en-US" dirty="0"/>
              <a:t>To optimize, we look for rules that have the same outcome where one condition doesn't actually change that outcome.</a:t>
            </a:r>
          </a:p>
          <a:p>
            <a:r>
              <a:rPr lang="en-US" b="1" dirty="0"/>
              <a:t>Look at R1 and R2:</a:t>
            </a:r>
            <a:r>
              <a:rPr lang="en-US" dirty="0"/>
              <a:t> Both result in "Reject." The only difference is the Sports Car (C3). This means if you are young and have accidents, we don't care what car you drive.</a:t>
            </a:r>
          </a:p>
          <a:p>
            <a:r>
              <a:rPr lang="en-US" b="1" dirty="0"/>
              <a:t>Look at R5 and R6:</a:t>
            </a:r>
            <a:r>
              <a:rPr lang="en-US" dirty="0"/>
              <a:t> Both result in "Surcharge." The only difference is the Sports Car (C3). If you have accidents and are over 25, you get a surcharge regardless of the car.</a:t>
            </a:r>
          </a:p>
          <a:p>
            <a:r>
              <a:rPr lang="en-US" b="1" dirty="0"/>
              <a:t>Look at R3 and R4:</a:t>
            </a:r>
            <a:r>
              <a:rPr lang="en-US" dirty="0"/>
              <a:t> Both result in "Surcharge." However, we have to be careful here—if we collapse these, we might lose the distinction of the car type. Wait, actually, if you are young and have </a:t>
            </a:r>
            <a:r>
              <a:rPr lang="en-US" i="1" dirty="0"/>
              <a:t>no</a:t>
            </a:r>
            <a:r>
              <a:rPr lang="en-US" dirty="0"/>
              <a:t> accidents, you get a surcharge regardless of the car (one for being young, or one for the car).</a:t>
            </a:r>
          </a:p>
          <a:p>
            <a:endParaRPr lang="en-US" dirty="0"/>
          </a:p>
        </p:txBody>
      </p:sp>
    </p:spTree>
    <p:extLst>
      <p:ext uri="{BB962C8B-B14F-4D97-AF65-F5344CB8AC3E}">
        <p14:creationId xmlns:p14="http://schemas.microsoft.com/office/powerpoint/2010/main" val="2552649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table optimization example</a:t>
            </a:r>
            <a:endParaRPr lang="en-US" dirty="0"/>
          </a:p>
        </p:txBody>
      </p:sp>
      <p:graphicFrame>
        <p:nvGraphicFramePr>
          <p:cNvPr id="5" name="Table 4"/>
          <p:cNvGraphicFramePr>
            <a:graphicFrameLocks noGrp="1"/>
          </p:cNvGraphicFramePr>
          <p:nvPr/>
        </p:nvGraphicFramePr>
        <p:xfrm>
          <a:off x="1024338" y="1825626"/>
          <a:ext cx="10143324" cy="4351336"/>
        </p:xfrm>
        <a:graphic>
          <a:graphicData uri="http://schemas.openxmlformats.org/drawingml/2006/table">
            <a:tbl>
              <a:tblPr/>
              <a:tblGrid>
                <a:gridCol w="1690554"/>
                <a:gridCol w="1690554"/>
                <a:gridCol w="1690554"/>
                <a:gridCol w="1690554"/>
                <a:gridCol w="1690554"/>
                <a:gridCol w="1690554"/>
              </a:tblGrid>
              <a:tr h="411613">
                <a:tc>
                  <a:txBody>
                    <a:bodyPr/>
                    <a:lstStyle/>
                    <a:p>
                      <a:pPr rtl="0"/>
                      <a:r>
                        <a:rPr lang="en-US" sz="1700" b="1">
                          <a:solidFill>
                            <a:srgbClr val="1F1F1F"/>
                          </a:solidFill>
                          <a:effectLst/>
                          <a:latin typeface="Google Sans Text"/>
                        </a:rPr>
                        <a:t>Conditions</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A</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B</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C</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D</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Rule E</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1613">
                <a:tc>
                  <a:txBody>
                    <a:bodyPr/>
                    <a:lstStyle/>
                    <a:p>
                      <a:pPr rtl="0"/>
                      <a:r>
                        <a:rPr lang="en-US" sz="1700" b="1">
                          <a:solidFill>
                            <a:srgbClr val="1F1F1F"/>
                          </a:solidFill>
                          <a:effectLst/>
                          <a:latin typeface="Google Sans Text"/>
                        </a:rPr>
                        <a:t>C1: Age &lt; 25?</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76221">
                <a:tc>
                  <a:txBody>
                    <a:bodyPr/>
                    <a:lstStyle/>
                    <a:p>
                      <a:pPr rtl="0"/>
                      <a:r>
                        <a:rPr lang="en-US" sz="1700" b="1">
                          <a:solidFill>
                            <a:srgbClr val="1F1F1F"/>
                          </a:solidFill>
                          <a:effectLst/>
                          <a:latin typeface="Google Sans Text"/>
                        </a:rPr>
                        <a:t>C2: Accident History?</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76221">
                <a:tc>
                  <a:txBody>
                    <a:bodyPr/>
                    <a:lstStyle/>
                    <a:p>
                      <a:pPr rtl="0"/>
                      <a:r>
                        <a:rPr lang="en-US" sz="1700" b="1">
                          <a:solidFill>
                            <a:srgbClr val="1F1F1F"/>
                          </a:solidFill>
                          <a:effectLst/>
                          <a:latin typeface="Google Sans Text"/>
                        </a:rPr>
                        <a:t>C3: Sports Car?</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Y</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N</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1613">
                <a:tc>
                  <a:txBody>
                    <a:bodyPr/>
                    <a:lstStyle/>
                    <a:p>
                      <a:pPr rtl="0"/>
                      <a:r>
                        <a:rPr lang="en-US" sz="1700" b="1">
                          <a:solidFill>
                            <a:srgbClr val="1F1F1F"/>
                          </a:solidFill>
                          <a:effectLst/>
                          <a:latin typeface="Google Sans Text"/>
                        </a:rPr>
                        <a:t>Actions</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76221">
                <a:tc>
                  <a:txBody>
                    <a:bodyPr/>
                    <a:lstStyle/>
                    <a:p>
                      <a:pPr rtl="0"/>
                      <a:r>
                        <a:rPr lang="en-US" sz="1700" b="1">
                          <a:solidFill>
                            <a:srgbClr val="1F1F1F"/>
                          </a:solidFill>
                          <a:effectLst/>
                          <a:latin typeface="Google Sans Text"/>
                        </a:rPr>
                        <a:t>A1: Standard Rate</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676221">
                <a:tc>
                  <a:txBody>
                    <a:bodyPr/>
                    <a:lstStyle/>
                    <a:p>
                      <a:pPr rtl="0"/>
                      <a:r>
                        <a:rPr lang="en-US" sz="1700" b="1">
                          <a:solidFill>
                            <a:srgbClr val="1F1F1F"/>
                          </a:solidFill>
                          <a:effectLst/>
                          <a:latin typeface="Google Sans Text"/>
                        </a:rPr>
                        <a:t>A2: Surcharge</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r h="411613">
                <a:tc>
                  <a:txBody>
                    <a:bodyPr/>
                    <a:lstStyle/>
                    <a:p>
                      <a:pPr rtl="0"/>
                      <a:r>
                        <a:rPr lang="en-US" sz="1700" b="1">
                          <a:solidFill>
                            <a:srgbClr val="1F1F1F"/>
                          </a:solidFill>
                          <a:effectLst/>
                          <a:latin typeface="Google Sans Text"/>
                        </a:rPr>
                        <a:t>A3: Reject</a:t>
                      </a:r>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X</a:t>
                      </a: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endParaRPr lang="en-US" sz="1700" dirty="0">
                        <a:solidFill>
                          <a:srgbClr val="1F1F1F"/>
                        </a:solidFill>
                        <a:effectLst/>
                        <a:latin typeface="Google Sans Text"/>
                      </a:endParaRPr>
                    </a:p>
                  </a:txBody>
                  <a:tcPr marL="110253" marR="110253" marT="73502" marB="7350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039572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CAUSE-EFFECT GRAPHING TECHNIQUE</a:t>
            </a:r>
            <a:endParaRPr lang="en-US" dirty="0"/>
          </a:p>
        </p:txBody>
      </p:sp>
      <p:sp>
        <p:nvSpPr>
          <p:cNvPr id="3" name="Content Placeholder 2"/>
          <p:cNvSpPr>
            <a:spLocks noGrp="1"/>
          </p:cNvSpPr>
          <p:nvPr>
            <p:ph idx="1"/>
          </p:nvPr>
        </p:nvSpPr>
        <p:spPr/>
        <p:txBody>
          <a:bodyPr/>
          <a:lstStyle/>
          <a:p>
            <a:r>
              <a:rPr lang="en-US" dirty="0"/>
              <a:t>This technique is a popular technique for small programs and considers the combinations of various inputs which were not available in earlier discussed techniques like boundary value analysis and equivalence class testing</a:t>
            </a:r>
            <a:r>
              <a:rPr lang="en-US" dirty="0" smtClean="0"/>
              <a:t>.</a:t>
            </a:r>
          </a:p>
          <a:p>
            <a:r>
              <a:rPr lang="en-US" dirty="0"/>
              <a:t>Such techniques do not allow combinations of inputs and consider all inputs as independent inputs</a:t>
            </a:r>
            <a:r>
              <a:rPr lang="en-US" dirty="0" smtClean="0"/>
              <a:t>.</a:t>
            </a:r>
          </a:p>
          <a:p>
            <a:r>
              <a:rPr lang="en-US" dirty="0"/>
              <a:t>Two new terms are used here and these are causes and effects, which are nothing but inputs and outputs respectively. </a:t>
            </a:r>
            <a:endParaRPr lang="en-US" dirty="0"/>
          </a:p>
        </p:txBody>
      </p:sp>
    </p:spTree>
    <p:extLst>
      <p:ext uri="{BB962C8B-B14F-4D97-AF65-F5344CB8AC3E}">
        <p14:creationId xmlns:p14="http://schemas.microsoft.com/office/powerpoint/2010/main" val="245459863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CAUSE-EFFECT GRAPHING TECHNIQUE</a:t>
            </a:r>
            <a:endParaRPr lang="en-US" dirty="0"/>
          </a:p>
        </p:txBody>
      </p:sp>
      <p:pic>
        <p:nvPicPr>
          <p:cNvPr id="5" name="Picture 4"/>
          <p:cNvPicPr>
            <a:picLocks noChangeAspect="1"/>
          </p:cNvPicPr>
          <p:nvPr/>
        </p:nvPicPr>
        <p:blipFill>
          <a:blip r:embed="rId2"/>
          <a:stretch>
            <a:fillRect/>
          </a:stretch>
        </p:blipFill>
        <p:spPr>
          <a:xfrm>
            <a:off x="1888672" y="1027906"/>
            <a:ext cx="7729826" cy="5587320"/>
          </a:xfrm>
          <a:prstGeom prst="rect">
            <a:avLst/>
          </a:prstGeom>
        </p:spPr>
      </p:pic>
    </p:spTree>
    <p:extLst>
      <p:ext uri="{BB962C8B-B14F-4D97-AF65-F5344CB8AC3E}">
        <p14:creationId xmlns:p14="http://schemas.microsoft.com/office/powerpoint/2010/main" val="284711795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CAUSE-EFFECT GRAPHING TECHNIQUE</a:t>
            </a:r>
            <a:endParaRPr lang="en-US" dirty="0"/>
          </a:p>
        </p:txBody>
      </p:sp>
      <p:sp>
        <p:nvSpPr>
          <p:cNvPr id="3" name="Content Placeholder 2"/>
          <p:cNvSpPr>
            <a:spLocks noGrp="1"/>
          </p:cNvSpPr>
          <p:nvPr>
            <p:ph idx="1"/>
          </p:nvPr>
        </p:nvSpPr>
        <p:spPr/>
        <p:txBody>
          <a:bodyPr/>
          <a:lstStyle/>
          <a:p>
            <a:r>
              <a:rPr lang="en-US" dirty="0"/>
              <a:t>Identification of Causes and </a:t>
            </a:r>
            <a:r>
              <a:rPr lang="en-US" dirty="0" smtClean="0"/>
              <a:t>Effects</a:t>
            </a:r>
          </a:p>
          <a:p>
            <a:pPr lvl="1"/>
            <a:r>
              <a:rPr lang="en-US" dirty="0"/>
              <a:t>The SRS document is used for the identification of causes and effects</a:t>
            </a:r>
            <a:r>
              <a:rPr lang="en-US" dirty="0" smtClean="0"/>
              <a:t>.</a:t>
            </a:r>
          </a:p>
          <a:p>
            <a:r>
              <a:rPr lang="en-US" dirty="0"/>
              <a:t>Design of Cause-Effect </a:t>
            </a:r>
            <a:r>
              <a:rPr lang="en-US" dirty="0" smtClean="0"/>
              <a:t>Graph</a:t>
            </a:r>
          </a:p>
          <a:p>
            <a:pPr lvl="1"/>
            <a:r>
              <a:rPr lang="en-US" dirty="0"/>
              <a:t>The relationship amongst causes and effects are established using cause-effect graph. The basic notations of the graph </a:t>
            </a:r>
            <a:endParaRPr lang="en-US" dirty="0" smtClean="0"/>
          </a:p>
          <a:p>
            <a:endParaRPr lang="en-US" dirty="0"/>
          </a:p>
        </p:txBody>
      </p:sp>
      <p:pic>
        <p:nvPicPr>
          <p:cNvPr id="4" name="Picture 3"/>
          <p:cNvPicPr>
            <a:picLocks noChangeAspect="1"/>
          </p:cNvPicPr>
          <p:nvPr/>
        </p:nvPicPr>
        <p:blipFill>
          <a:blip r:embed="rId2"/>
          <a:stretch>
            <a:fillRect/>
          </a:stretch>
        </p:blipFill>
        <p:spPr>
          <a:xfrm>
            <a:off x="1052512" y="4245883"/>
            <a:ext cx="10086975" cy="2343150"/>
          </a:xfrm>
          <a:prstGeom prst="rect">
            <a:avLst/>
          </a:prstGeom>
        </p:spPr>
      </p:pic>
    </p:spTree>
    <p:extLst>
      <p:ext uri="{BB962C8B-B14F-4D97-AF65-F5344CB8AC3E}">
        <p14:creationId xmlns:p14="http://schemas.microsoft.com/office/powerpoint/2010/main" val="195759260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CAUSE-EFFECT GRAPHING TECHNIQUE</a:t>
            </a:r>
            <a:endParaRPr lang="en-US" dirty="0"/>
          </a:p>
        </p:txBody>
      </p:sp>
      <p:sp>
        <p:nvSpPr>
          <p:cNvPr id="3" name="Content Placeholder 2"/>
          <p:cNvSpPr>
            <a:spLocks noGrp="1"/>
          </p:cNvSpPr>
          <p:nvPr>
            <p:ph idx="1"/>
          </p:nvPr>
        </p:nvSpPr>
        <p:spPr/>
        <p:txBody>
          <a:bodyPr>
            <a:normAutofit lnSpcReduction="10000"/>
          </a:bodyPr>
          <a:lstStyle/>
          <a:p>
            <a:r>
              <a:rPr lang="en-US" dirty="0"/>
              <a:t>Use of Constraints in Cause-Effect </a:t>
            </a:r>
            <a:r>
              <a:rPr lang="en-US" dirty="0" smtClean="0"/>
              <a:t>Graph</a:t>
            </a:r>
          </a:p>
          <a:p>
            <a:pPr lvl="1"/>
            <a:r>
              <a:rPr lang="en-US" dirty="0"/>
              <a:t>Exclusive The Exclusive (E) constraint states that at most one of c1 or c2 can be 1 (c1 or c2 cannot be 1 simultaneously). However, both c1 and c2 can be 0 simultaneously</a:t>
            </a:r>
            <a:r>
              <a:rPr lang="en-US" dirty="0" smtClean="0"/>
              <a:t>.</a:t>
            </a:r>
          </a:p>
          <a:p>
            <a:pPr lvl="1"/>
            <a:r>
              <a:rPr lang="en-US" dirty="0"/>
              <a:t>Inclusive The Inclusive (I) constraints states that at least one of c1 or c2 must always be 1. Hence, both cannot be 0 simultaneously. However, both can be 1</a:t>
            </a:r>
            <a:r>
              <a:rPr lang="en-US" dirty="0" smtClean="0"/>
              <a:t>.</a:t>
            </a:r>
          </a:p>
          <a:p>
            <a:pPr lvl="1"/>
            <a:r>
              <a:rPr lang="en-US" dirty="0"/>
              <a:t>One and Only One The one and only one (O) constraint states that one and only one of c1 and c2 must be </a:t>
            </a:r>
            <a:r>
              <a:rPr lang="en-US" dirty="0" smtClean="0"/>
              <a:t>1</a:t>
            </a:r>
          </a:p>
          <a:p>
            <a:pPr lvl="1"/>
            <a:r>
              <a:rPr lang="en-US" dirty="0"/>
              <a:t>Requires The requires (R) constraint states that for c1 to be 1, c2 must be 1; it is impossible for c1 to be 1 if c2 is 0</a:t>
            </a:r>
            <a:r>
              <a:rPr lang="en-US" dirty="0" smtClean="0"/>
              <a:t>.</a:t>
            </a:r>
          </a:p>
          <a:p>
            <a:pPr lvl="1"/>
            <a:r>
              <a:rPr lang="en-US" dirty="0"/>
              <a:t>Mask This constraint is applicable at the effect side of the cause-effect graph. This states that if effect e1 is 1, effect e2 is forced to be 0.</a:t>
            </a:r>
            <a:r>
              <a:rPr lang="en-US" dirty="0" smtClean="0"/>
              <a:t>	</a:t>
            </a:r>
            <a:endParaRPr lang="en-US" dirty="0"/>
          </a:p>
          <a:p>
            <a:pPr lvl="1"/>
            <a:endParaRPr lang="en-US" dirty="0"/>
          </a:p>
        </p:txBody>
      </p:sp>
    </p:spTree>
    <p:extLst>
      <p:ext uri="{BB962C8B-B14F-4D97-AF65-F5344CB8AC3E}">
        <p14:creationId xmlns:p14="http://schemas.microsoft.com/office/powerpoint/2010/main" val="391654235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CAUSE-EFFECT GRAPHING TECHNIQUE</a:t>
            </a:r>
            <a:endParaRPr lang="en-US" dirty="0"/>
          </a:p>
        </p:txBody>
      </p:sp>
      <p:sp>
        <p:nvSpPr>
          <p:cNvPr id="4" name="Content Placeholder 3"/>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2175555" y="1147762"/>
            <a:ext cx="6952151" cy="4875667"/>
          </a:xfrm>
          <a:prstGeom prst="rect">
            <a:avLst/>
          </a:prstGeom>
        </p:spPr>
      </p:pic>
    </p:spTree>
    <p:extLst>
      <p:ext uri="{BB962C8B-B14F-4D97-AF65-F5344CB8AC3E}">
        <p14:creationId xmlns:p14="http://schemas.microsoft.com/office/powerpoint/2010/main" val="382222638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CAUSE-EFFECT GRAPHING TECHNIQUE</a:t>
            </a:r>
            <a:endParaRPr lang="en-US" dirty="0"/>
          </a:p>
        </p:txBody>
      </p:sp>
      <p:sp>
        <p:nvSpPr>
          <p:cNvPr id="4" name="Content Placeholder 3"/>
          <p:cNvSpPr>
            <a:spLocks noGrp="1"/>
          </p:cNvSpPr>
          <p:nvPr>
            <p:ph idx="1"/>
          </p:nvPr>
        </p:nvSpPr>
        <p:spPr/>
        <p:txBody>
          <a:bodyPr/>
          <a:lstStyle/>
          <a:p>
            <a:r>
              <a:rPr lang="en-US" dirty="0"/>
              <a:t>Consider the example of keeping the record of marital status and number of children of a citizen</a:t>
            </a:r>
            <a:r>
              <a:rPr lang="en-US" dirty="0" smtClean="0"/>
              <a:t>.</a:t>
            </a:r>
          </a:p>
          <a:p>
            <a:pPr lvl="1"/>
            <a:r>
              <a:rPr lang="en-US" dirty="0"/>
              <a:t>The value of marital status must be ‘U’ or ‘M</a:t>
            </a:r>
            <a:r>
              <a:rPr lang="en-US" dirty="0" smtClean="0"/>
              <a:t>’.</a:t>
            </a:r>
          </a:p>
          <a:p>
            <a:pPr lvl="1"/>
            <a:r>
              <a:rPr lang="en-US" dirty="0"/>
              <a:t>The value of the number of children must be digit or null in case a citizen is unmarried</a:t>
            </a:r>
            <a:r>
              <a:rPr lang="en-US" dirty="0" smtClean="0"/>
              <a:t>.</a:t>
            </a:r>
          </a:p>
          <a:p>
            <a:pPr lvl="1"/>
            <a:r>
              <a:rPr lang="en-US" dirty="0"/>
              <a:t>If the information entered by the user is correct then an update is made. </a:t>
            </a:r>
            <a:endParaRPr lang="en-US" dirty="0" smtClean="0"/>
          </a:p>
          <a:p>
            <a:pPr lvl="1"/>
            <a:r>
              <a:rPr lang="en-US" dirty="0" smtClean="0"/>
              <a:t>If </a:t>
            </a:r>
            <a:r>
              <a:rPr lang="en-US" dirty="0"/>
              <a:t>the value of marital status of the citizen is incorrect, then the error message 1 is issued. </a:t>
            </a:r>
            <a:endParaRPr lang="en-US" dirty="0" smtClean="0"/>
          </a:p>
          <a:p>
            <a:pPr lvl="1"/>
            <a:r>
              <a:rPr lang="en-US" dirty="0" smtClean="0"/>
              <a:t>Similarly</a:t>
            </a:r>
            <a:r>
              <a:rPr lang="en-US" dirty="0"/>
              <a:t>, if the value of number of children is incorrect, then the error message 2 is issued.</a:t>
            </a:r>
          </a:p>
        </p:txBody>
      </p:sp>
    </p:spTree>
    <p:extLst>
      <p:ext uri="{BB962C8B-B14F-4D97-AF65-F5344CB8AC3E}">
        <p14:creationId xmlns:p14="http://schemas.microsoft.com/office/powerpoint/2010/main" val="206887409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CAUSE-EFFECT GRAPHING TECHNIQUE</a:t>
            </a:r>
            <a:endParaRPr lang="en-US" dirty="0"/>
          </a:p>
        </p:txBody>
      </p:sp>
      <p:sp>
        <p:nvSpPr>
          <p:cNvPr id="4" name="Content Placeholder 3"/>
          <p:cNvSpPr>
            <a:spLocks noGrp="1"/>
          </p:cNvSpPr>
          <p:nvPr>
            <p:ph idx="1"/>
          </p:nvPr>
        </p:nvSpPr>
        <p:spPr/>
        <p:txBody>
          <a:bodyPr/>
          <a:lstStyle/>
          <a:p>
            <a:r>
              <a:rPr lang="en-US" dirty="0"/>
              <a:t>Consider the example of keeping the record of marital status and number of children of a citizen</a:t>
            </a:r>
            <a:r>
              <a:rPr lang="en-US" dirty="0" smtClean="0"/>
              <a:t>.</a:t>
            </a:r>
          </a:p>
        </p:txBody>
      </p:sp>
      <p:pic>
        <p:nvPicPr>
          <p:cNvPr id="3" name="Picture 2"/>
          <p:cNvPicPr>
            <a:picLocks noChangeAspect="1"/>
          </p:cNvPicPr>
          <p:nvPr/>
        </p:nvPicPr>
        <p:blipFill>
          <a:blip r:embed="rId2"/>
          <a:stretch>
            <a:fillRect/>
          </a:stretch>
        </p:blipFill>
        <p:spPr>
          <a:xfrm>
            <a:off x="7321428" y="2372519"/>
            <a:ext cx="4371975" cy="3257550"/>
          </a:xfrm>
          <a:prstGeom prst="rect">
            <a:avLst/>
          </a:prstGeom>
        </p:spPr>
      </p:pic>
      <p:pic>
        <p:nvPicPr>
          <p:cNvPr id="5" name="Picture 4"/>
          <p:cNvPicPr>
            <a:picLocks noChangeAspect="1"/>
          </p:cNvPicPr>
          <p:nvPr/>
        </p:nvPicPr>
        <p:blipFill>
          <a:blip r:embed="rId3"/>
          <a:stretch>
            <a:fillRect/>
          </a:stretch>
        </p:blipFill>
        <p:spPr>
          <a:xfrm>
            <a:off x="1447800" y="2795588"/>
            <a:ext cx="5534025" cy="3381375"/>
          </a:xfrm>
          <a:prstGeom prst="rect">
            <a:avLst/>
          </a:prstGeom>
        </p:spPr>
      </p:pic>
    </p:spTree>
    <p:extLst>
      <p:ext uri="{BB962C8B-B14F-4D97-AF65-F5344CB8AC3E}">
        <p14:creationId xmlns:p14="http://schemas.microsoft.com/office/powerpoint/2010/main" val="292633722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CAUSE-EFFECT GRAPHING TECHNIQUE</a:t>
            </a:r>
            <a:endParaRPr lang="en-US" dirty="0"/>
          </a:p>
        </p:txBody>
      </p:sp>
      <p:sp>
        <p:nvSpPr>
          <p:cNvPr id="4" name="Content Placeholder 3"/>
          <p:cNvSpPr>
            <a:spLocks noGrp="1"/>
          </p:cNvSpPr>
          <p:nvPr>
            <p:ph idx="1"/>
          </p:nvPr>
        </p:nvSpPr>
        <p:spPr>
          <a:xfrm>
            <a:off x="838200" y="1325563"/>
            <a:ext cx="10515600" cy="4351338"/>
          </a:xfrm>
        </p:spPr>
        <p:txBody>
          <a:bodyPr/>
          <a:lstStyle/>
          <a:p>
            <a:r>
              <a:rPr lang="en-US" dirty="0"/>
              <a:t>A tourist of age greater than 21 years and having a clean driving record is supplied a rental car. A premium amount is also charged if the tourist is on business, otherwise it is not charged. </a:t>
            </a:r>
            <a:endParaRPr lang="en-US" dirty="0" smtClean="0"/>
          </a:p>
          <a:p>
            <a:r>
              <a:rPr lang="en-US" dirty="0" smtClean="0"/>
              <a:t>If </a:t>
            </a:r>
            <a:r>
              <a:rPr lang="en-US" dirty="0"/>
              <a:t>the tourist is less than 21 year old, or does not have a clean driving record, the system will display the following message: “Car cannot be supplied”</a:t>
            </a:r>
            <a:endParaRPr lang="en-US" dirty="0" smtClean="0"/>
          </a:p>
        </p:txBody>
      </p:sp>
    </p:spTree>
    <p:extLst>
      <p:ext uri="{BB962C8B-B14F-4D97-AF65-F5344CB8AC3E}">
        <p14:creationId xmlns:p14="http://schemas.microsoft.com/office/powerpoint/2010/main" val="316065580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CAUSE-EFFECT GRAPHING TECHNIQUE</a:t>
            </a:r>
            <a:endParaRPr lang="en-US" dirty="0"/>
          </a:p>
        </p:txBody>
      </p:sp>
      <p:sp>
        <p:nvSpPr>
          <p:cNvPr id="3" name="Content Placeholder 2"/>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6096000" y="1325563"/>
            <a:ext cx="6115050" cy="3305175"/>
          </a:xfrm>
          <a:prstGeom prst="rect">
            <a:avLst/>
          </a:prstGeom>
        </p:spPr>
      </p:pic>
      <p:pic>
        <p:nvPicPr>
          <p:cNvPr id="6" name="Picture 5"/>
          <p:cNvPicPr>
            <a:picLocks noChangeAspect="1"/>
          </p:cNvPicPr>
          <p:nvPr/>
        </p:nvPicPr>
        <p:blipFill>
          <a:blip r:embed="rId3"/>
          <a:stretch>
            <a:fillRect/>
          </a:stretch>
        </p:blipFill>
        <p:spPr>
          <a:xfrm>
            <a:off x="650264" y="1372394"/>
            <a:ext cx="5616461" cy="3094098"/>
          </a:xfrm>
          <a:prstGeom prst="rect">
            <a:avLst/>
          </a:prstGeom>
        </p:spPr>
      </p:pic>
    </p:spTree>
    <p:extLst>
      <p:ext uri="{BB962C8B-B14F-4D97-AF65-F5344CB8AC3E}">
        <p14:creationId xmlns:p14="http://schemas.microsoft.com/office/powerpoint/2010/main" val="238447521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359"/>
            <a:ext cx="10515600" cy="925422"/>
          </a:xfrm>
        </p:spPr>
        <p:txBody>
          <a:bodyPr/>
          <a:lstStyle/>
          <a:p>
            <a:r>
              <a:rPr lang="en-US" dirty="0"/>
              <a:t>CAUSE-EFFECT GRAPHING TECHNIQUE</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838200" y="592443"/>
            <a:ext cx="10153650" cy="6019800"/>
          </a:xfrm>
          <a:prstGeom prst="rect">
            <a:avLst/>
          </a:prstGeom>
        </p:spPr>
      </p:pic>
    </p:spTree>
    <p:extLst>
      <p:ext uri="{BB962C8B-B14F-4D97-AF65-F5344CB8AC3E}">
        <p14:creationId xmlns:p14="http://schemas.microsoft.com/office/powerpoint/2010/main" val="189923908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359"/>
            <a:ext cx="10515600" cy="925422"/>
          </a:xfrm>
        </p:spPr>
        <p:txBody>
          <a:bodyPr/>
          <a:lstStyle/>
          <a:p>
            <a:r>
              <a:rPr lang="en-US" dirty="0"/>
              <a:t>CAUSE-EFFECT GRAPHING TECHNIQUE</a:t>
            </a:r>
            <a:endParaRPr lang="en-US" dirty="0"/>
          </a:p>
        </p:txBody>
      </p:sp>
      <p:pic>
        <p:nvPicPr>
          <p:cNvPr id="5" name="Picture 4"/>
          <p:cNvPicPr>
            <a:picLocks noChangeAspect="1"/>
          </p:cNvPicPr>
          <p:nvPr/>
        </p:nvPicPr>
        <p:blipFill>
          <a:blip r:embed="rId3"/>
          <a:stretch>
            <a:fillRect/>
          </a:stretch>
        </p:blipFill>
        <p:spPr>
          <a:xfrm>
            <a:off x="1796896" y="-8792"/>
            <a:ext cx="8598208" cy="6858000"/>
          </a:xfrm>
          <a:prstGeom prst="rect">
            <a:avLst/>
          </a:prstGeom>
        </p:spPr>
      </p:pic>
    </p:spTree>
    <p:extLst>
      <p:ext uri="{BB962C8B-B14F-4D97-AF65-F5344CB8AC3E}">
        <p14:creationId xmlns:p14="http://schemas.microsoft.com/office/powerpoint/2010/main" val="53024131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CAUSE-EFFECT GRAPHING </a:t>
            </a:r>
            <a:r>
              <a:rPr lang="en-US" dirty="0" smtClean="0"/>
              <a:t>TECHNIQUE VS DECISION BASED TESTING</a:t>
            </a:r>
            <a:endParaRPr lang="en-US" dirty="0"/>
          </a:p>
        </p:txBody>
      </p:sp>
      <p:sp>
        <p:nvSpPr>
          <p:cNvPr id="4" name="Content Placeholder 3"/>
          <p:cNvSpPr>
            <a:spLocks noGrp="1"/>
          </p:cNvSpPr>
          <p:nvPr>
            <p:ph idx="1"/>
          </p:nvPr>
        </p:nvSpPr>
        <p:spPr>
          <a:xfrm>
            <a:off x="838200" y="1325562"/>
            <a:ext cx="10515600" cy="5180745"/>
          </a:xfrm>
        </p:spPr>
        <p:txBody>
          <a:bodyPr>
            <a:normAutofit lnSpcReduction="10000"/>
          </a:bodyPr>
          <a:lstStyle/>
          <a:p>
            <a:r>
              <a:rPr lang="en-US" dirty="0"/>
              <a:t>Representation: Tabular vs. </a:t>
            </a:r>
            <a:r>
              <a:rPr lang="en-US" dirty="0" smtClean="0"/>
              <a:t>Graphical</a:t>
            </a:r>
          </a:p>
          <a:p>
            <a:r>
              <a:rPr lang="en-US" dirty="0"/>
              <a:t>The Process Flow (The "Pre-requisite" Relationship</a:t>
            </a:r>
            <a:r>
              <a:rPr lang="en-US" dirty="0" smtClean="0"/>
              <a:t>)</a:t>
            </a:r>
          </a:p>
          <a:p>
            <a:pPr lvl="1"/>
            <a:r>
              <a:rPr lang="en-US" b="1" dirty="0"/>
              <a:t>Cause-Effect Graphing</a:t>
            </a:r>
            <a:r>
              <a:rPr lang="en-US" dirty="0"/>
              <a:t> is often a </a:t>
            </a:r>
            <a:r>
              <a:rPr lang="en-US" b="1" dirty="0"/>
              <a:t>pre-step</a:t>
            </a:r>
            <a:r>
              <a:rPr lang="en-US" dirty="0"/>
              <a:t>. You create the graph to visualize and analyze the logical dependencies between inputs</a:t>
            </a:r>
            <a:r>
              <a:rPr lang="en-US" dirty="0" smtClean="0"/>
              <a:t>.</a:t>
            </a:r>
          </a:p>
          <a:p>
            <a:pPr lvl="1"/>
            <a:r>
              <a:rPr lang="en-US" dirty="0"/>
              <a:t>The </a:t>
            </a:r>
            <a:r>
              <a:rPr lang="en-US" b="1" dirty="0"/>
              <a:t>Decision Table</a:t>
            </a:r>
            <a:r>
              <a:rPr lang="en-US" dirty="0"/>
              <a:t> is the </a:t>
            </a:r>
            <a:r>
              <a:rPr lang="en-US" b="1" dirty="0"/>
              <a:t>result</a:t>
            </a:r>
            <a:r>
              <a:rPr lang="en-US" dirty="0"/>
              <a:t> of the graph. Once the graph is drawn, you convert it into a decision table to derive the actual test cases</a:t>
            </a:r>
            <a:r>
              <a:rPr lang="en-US" dirty="0" smtClean="0"/>
              <a:t>.</a:t>
            </a:r>
          </a:p>
          <a:p>
            <a:r>
              <a:rPr lang="pt-BR" dirty="0"/>
              <a:t>Handling Constraints (E, I, O, R</a:t>
            </a:r>
            <a:r>
              <a:rPr lang="pt-BR" dirty="0" smtClean="0"/>
              <a:t>)</a:t>
            </a:r>
          </a:p>
          <a:p>
            <a:pPr lvl="1"/>
            <a:r>
              <a:rPr lang="en-US" b="1" dirty="0"/>
              <a:t>Cause-Effect Graphing:</a:t>
            </a:r>
            <a:r>
              <a:rPr lang="en-US" dirty="0"/>
              <a:t> It has explicit notation for constraints between causes and effects</a:t>
            </a:r>
            <a:r>
              <a:rPr lang="en-US" dirty="0" smtClean="0"/>
              <a:t>.</a:t>
            </a:r>
          </a:p>
          <a:p>
            <a:r>
              <a:rPr lang="en-US" dirty="0"/>
              <a:t>Logic </a:t>
            </a:r>
            <a:r>
              <a:rPr lang="en-US" dirty="0" smtClean="0"/>
              <a:t>Discovery</a:t>
            </a:r>
          </a:p>
          <a:p>
            <a:pPr lvl="1"/>
            <a:r>
              <a:rPr lang="en-US" b="1" dirty="0"/>
              <a:t>Decision Tables:</a:t>
            </a:r>
            <a:r>
              <a:rPr lang="en-US" dirty="0"/>
              <a:t> These are best when the requirements are already clear and the combinations are </a:t>
            </a:r>
            <a:r>
              <a:rPr lang="en-US" dirty="0" smtClean="0"/>
              <a:t>straightforward</a:t>
            </a:r>
          </a:p>
          <a:p>
            <a:pPr lvl="1"/>
            <a:r>
              <a:rPr lang="en-US" b="1" dirty="0"/>
              <a:t>Cause-Effect Graphing:</a:t>
            </a:r>
            <a:r>
              <a:rPr lang="en-US" dirty="0"/>
              <a:t> This is a </a:t>
            </a:r>
            <a:r>
              <a:rPr lang="en-US" b="1" dirty="0"/>
              <a:t>discovery tool</a:t>
            </a:r>
            <a:r>
              <a:rPr lang="en-US" dirty="0"/>
              <a:t>. It helps the tester find contradictions or ambiguities in the requirements.</a:t>
            </a:r>
            <a:endParaRPr lang="en-US" dirty="0" smtClean="0"/>
          </a:p>
        </p:txBody>
      </p:sp>
    </p:spTree>
    <p:extLst>
      <p:ext uri="{BB962C8B-B14F-4D97-AF65-F5344CB8AC3E}">
        <p14:creationId xmlns:p14="http://schemas.microsoft.com/office/powerpoint/2010/main" val="34738060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23635</TotalTime>
  <Words>3473</Words>
  <Application>Microsoft Office PowerPoint</Application>
  <PresentationFormat>Widescreen</PresentationFormat>
  <Paragraphs>305</Paragraphs>
  <Slides>61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Arial</vt:lpstr>
      <vt:lpstr>Calibri</vt:lpstr>
      <vt:lpstr>Calibri Light</vt:lpstr>
      <vt:lpstr>Google Sans Text</vt:lpstr>
      <vt:lpstr>Office Theme</vt:lpstr>
      <vt:lpstr>BlackBox Testig</vt:lpstr>
      <vt:lpstr>1. Introduction to Functional Testing</vt:lpstr>
      <vt:lpstr>1. Introduction to Functional Testing</vt:lpstr>
      <vt:lpstr>2.1 BOUNDARY VALUE ANALYSIS</vt:lpstr>
      <vt:lpstr>2.1 BOUNDARY VALUE ANALYSIS</vt:lpstr>
      <vt:lpstr>2.1 BOUNDARY VALUE ANALYSIS</vt:lpstr>
      <vt:lpstr>2.1 BOUNDARY VALUE ANALYSIS</vt:lpstr>
      <vt:lpstr>2.1 BOUNDARY VALUE ANALYSIS</vt:lpstr>
      <vt:lpstr>2.1 BOUNDARY VALUE ANALYSIS</vt:lpstr>
      <vt:lpstr>2.1 BOUNDARY VALUE ANALYSIS</vt:lpstr>
      <vt:lpstr>2.1 BOUNDARY VALUE ANALYSIS</vt:lpstr>
      <vt:lpstr>2.1 BOUNDARY VALUE ANALYSIS</vt:lpstr>
      <vt:lpstr>2.1.1 ROBUSTNESS TESTING</vt:lpstr>
      <vt:lpstr>2.1.1 ROBUSTNESS TESTING</vt:lpstr>
      <vt:lpstr>2.1.2 Worst-Case Testing</vt:lpstr>
      <vt:lpstr>2.1.2 Worst-Case Testing</vt:lpstr>
      <vt:lpstr>2.1.2 Worst-Case Testing</vt:lpstr>
      <vt:lpstr>2.1.3 Robust Worst-Case Testing</vt:lpstr>
      <vt:lpstr>2.1.3 Robust Worst-Case Testing</vt:lpstr>
      <vt:lpstr>2.1.3 Robust Worst-Case Testing</vt:lpstr>
      <vt:lpstr>2.1.4 Applicability</vt:lpstr>
      <vt:lpstr>2. Equivalence Partitioning</vt:lpstr>
      <vt:lpstr>2.2.1 Creation of Equivalence Classes </vt:lpstr>
      <vt:lpstr>2.2.1 Creation of Equivalence Classes </vt:lpstr>
      <vt:lpstr>2.2.1 Creation of Equivalence Classes </vt:lpstr>
      <vt:lpstr>2.2.1 Creation of Equivalence Classes </vt:lpstr>
      <vt:lpstr>2.2.1 Creation of Equivalence Classes </vt:lpstr>
      <vt:lpstr>2.2.2 Applicability</vt:lpstr>
      <vt:lpstr>2.2.2 Applicability</vt:lpstr>
      <vt:lpstr>2.2.2 Applicability</vt:lpstr>
      <vt:lpstr>2.3 DECISION TABLE BASED TESTING</vt:lpstr>
      <vt:lpstr>2.3 DECISION TABLE BASED TESTING</vt:lpstr>
      <vt:lpstr>2.3.2Limited Entry and Extended Entry Decision Tables</vt:lpstr>
      <vt:lpstr>2.3.3 ‘DoNot Care’ Conditions and Rule Count</vt:lpstr>
      <vt:lpstr>2.3.3 ‘DoNot Care’ Conditions and Rule Count Impossible Conditions</vt:lpstr>
      <vt:lpstr>2.3.5 Applicability </vt:lpstr>
      <vt:lpstr>2.3.5 Applicability</vt:lpstr>
      <vt:lpstr>2.3.5 Applicability</vt:lpstr>
      <vt:lpstr>2.3.5 Applicability</vt:lpstr>
      <vt:lpstr>2.3.5 Applicability</vt:lpstr>
      <vt:lpstr>2.3.5 Applicability</vt:lpstr>
      <vt:lpstr>2.3.5 Applicability</vt:lpstr>
      <vt:lpstr>2.3.5 Applicability</vt:lpstr>
      <vt:lpstr>Decision table optimization</vt:lpstr>
      <vt:lpstr>Decision table optimization example</vt:lpstr>
      <vt:lpstr>Decision table optimization example</vt:lpstr>
      <vt:lpstr>Decision table optimization example</vt:lpstr>
      <vt:lpstr>Decision table optimization example</vt:lpstr>
      <vt:lpstr>Decision table optimization example</vt:lpstr>
      <vt:lpstr>CAUSE-EFFECT GRAPHING TECHNIQUE</vt:lpstr>
      <vt:lpstr>CAUSE-EFFECT GRAPHING TECHNIQUE</vt:lpstr>
      <vt:lpstr>CAUSE-EFFECT GRAPHING TECHNIQUE</vt:lpstr>
      <vt:lpstr>CAUSE-EFFECT GRAPHING TECHNIQUE</vt:lpstr>
      <vt:lpstr>CAUSE-EFFECT GRAPHING TECHNIQUE</vt:lpstr>
      <vt:lpstr>CAUSE-EFFECT GRAPHING TECHNIQUE</vt:lpstr>
      <vt:lpstr>CAUSE-EFFECT GRAPHING TECHNIQUE</vt:lpstr>
      <vt:lpstr>CAUSE-EFFECT GRAPHING TECHNIQUE</vt:lpstr>
      <vt:lpstr>CAUSE-EFFECT GRAPHING TECHNIQUE</vt:lpstr>
      <vt:lpstr>CAUSE-EFFECT GRAPHING TECHNIQUE</vt:lpstr>
      <vt:lpstr>CAUSE-EFFECT GRAPHING TECHNIQUE</vt:lpstr>
      <vt:lpstr>CAUSE-EFFECT GRAPHING TECHNIQUE VS DECISION BASED TESTING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Waqas</dc:creator>
  <cp:lastModifiedBy>Waqas</cp:lastModifiedBy>
  <cp:revision>55</cp:revision>
  <dcterms:created xsi:type="dcterms:W3CDTF">2025-09-24T09:40:44Z</dcterms:created>
  <dcterms:modified xsi:type="dcterms:W3CDTF">2026-02-26T19:54:01Z</dcterms:modified>
</cp:coreProperties>
</file>