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4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93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01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46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5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2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29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3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7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36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0C986-01AA-4D9E-BEC9-7553C4122EE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B27AB-028D-4056-836B-1A6FA4597E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0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Flow Testing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91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Define/Reference 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smtClean="0"/>
              <a:t>A variable is defined but never used / referenced. </a:t>
            </a:r>
          </a:p>
          <a:p>
            <a:pPr lvl="1"/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 err="1" smtClean="0"/>
              <a:t>calculate_total</a:t>
            </a:r>
            <a:r>
              <a:rPr lang="en-US" dirty="0" smtClean="0"/>
              <a:t>(price, tax):</a:t>
            </a:r>
          </a:p>
          <a:p>
            <a:pPr lvl="1"/>
            <a:r>
              <a:rPr lang="en-US" dirty="0" smtClean="0"/>
              <a:t>  total = price + tax  # 'total' is defined</a:t>
            </a:r>
          </a:p>
          <a:p>
            <a:pPr lvl="1"/>
            <a:r>
              <a:rPr lang="en-US" dirty="0" smtClean="0"/>
              <a:t>  return tax           # 'total' is never used or referenced</a:t>
            </a:r>
          </a:p>
          <a:p>
            <a:r>
              <a:rPr lang="en-US" dirty="0" smtClean="0"/>
              <a:t>A variable is used but never defined. </a:t>
            </a:r>
          </a:p>
          <a:p>
            <a:pPr lvl="1"/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 err="1" smtClean="0"/>
              <a:t>display_message</a:t>
            </a:r>
            <a:r>
              <a:rPr lang="en-US" dirty="0" smtClean="0"/>
              <a:t>():</a:t>
            </a:r>
          </a:p>
          <a:p>
            <a:pPr lvl="1"/>
            <a:r>
              <a:rPr lang="en-US" dirty="0" smtClean="0"/>
              <a:t>  print(message)  # 'message' is used here</a:t>
            </a:r>
          </a:p>
          <a:p>
            <a:pPr lvl="1"/>
            <a:r>
              <a:rPr lang="en-US" dirty="0" smtClean="0"/>
              <a:t>  message = "Hello, world!"</a:t>
            </a:r>
          </a:p>
          <a:p>
            <a:r>
              <a:rPr lang="en-US" dirty="0" smtClean="0"/>
              <a:t>A variable is defined twice before it is used. </a:t>
            </a:r>
          </a:p>
          <a:p>
            <a:pPr lvl="1"/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 err="1" smtClean="0"/>
              <a:t>set_status</a:t>
            </a:r>
            <a:r>
              <a:rPr lang="en-US" dirty="0" smtClean="0"/>
              <a:t>(</a:t>
            </a:r>
            <a:r>
              <a:rPr lang="en-US" dirty="0" err="1" smtClean="0"/>
              <a:t>status_code</a:t>
            </a:r>
            <a:r>
              <a:rPr lang="en-US" dirty="0" smtClean="0"/>
              <a:t>):</a:t>
            </a:r>
          </a:p>
          <a:p>
            <a:pPr lvl="1"/>
            <a:r>
              <a:rPr lang="en-US" dirty="0" smtClean="0"/>
              <a:t>  </a:t>
            </a:r>
            <a:r>
              <a:rPr lang="en-US" dirty="0" err="1" smtClean="0"/>
              <a:t>current_status</a:t>
            </a:r>
            <a:r>
              <a:rPr lang="en-US" dirty="0" smtClean="0"/>
              <a:t> = "pending"   # First definition</a:t>
            </a:r>
          </a:p>
          <a:p>
            <a:pPr lvl="1"/>
            <a:r>
              <a:rPr lang="en-US" dirty="0" smtClean="0"/>
              <a:t>  </a:t>
            </a:r>
            <a:r>
              <a:rPr lang="en-US" dirty="0" err="1" smtClean="0"/>
              <a:t>current_status</a:t>
            </a:r>
            <a:r>
              <a:rPr lang="en-US" dirty="0" smtClean="0"/>
              <a:t> = "active"    # Second definition, overwriting the first</a:t>
            </a:r>
          </a:p>
          <a:p>
            <a:pPr lvl="1"/>
            <a:r>
              <a:rPr lang="en-US" dirty="0" smtClean="0"/>
              <a:t>  print(</a:t>
            </a:r>
            <a:r>
              <a:rPr lang="en-US" dirty="0" err="1" smtClean="0"/>
              <a:t>current_status</a:t>
            </a:r>
            <a:r>
              <a:rPr lang="en-US" dirty="0" smtClean="0"/>
              <a:t>)        # '</a:t>
            </a:r>
            <a:r>
              <a:rPr lang="en-US" dirty="0" err="1" smtClean="0"/>
              <a:t>current_status</a:t>
            </a:r>
            <a:r>
              <a:rPr lang="en-US" dirty="0" smtClean="0"/>
              <a:t>' is used here</a:t>
            </a:r>
          </a:p>
          <a:p>
            <a:r>
              <a:rPr lang="en-US" dirty="0" smtClean="0"/>
              <a:t>A variable is used before even first-definition.</a:t>
            </a:r>
          </a:p>
          <a:p>
            <a:pPr lvl="1"/>
            <a:r>
              <a:rPr lang="en-US" dirty="0" err="1" smtClean="0"/>
              <a:t>def</a:t>
            </a:r>
            <a:r>
              <a:rPr lang="en-US" dirty="0" smtClean="0"/>
              <a:t> </a:t>
            </a:r>
            <a:r>
              <a:rPr lang="en-US" dirty="0" err="1" smtClean="0"/>
              <a:t>process_data</a:t>
            </a:r>
            <a:r>
              <a:rPr lang="en-US" dirty="0" smtClean="0"/>
              <a:t>(data):</a:t>
            </a:r>
          </a:p>
          <a:p>
            <a:pPr lvl="1"/>
            <a:r>
              <a:rPr lang="en-US" dirty="0" smtClean="0"/>
              <a:t>  # The programmer mistakenly uses '</a:t>
            </a:r>
            <a:r>
              <a:rPr lang="en-US" dirty="0" err="1" smtClean="0"/>
              <a:t>data_processed</a:t>
            </a:r>
            <a:r>
              <a:rPr lang="en-US" dirty="0" smtClean="0"/>
              <a:t>' here,</a:t>
            </a:r>
          </a:p>
          <a:p>
            <a:pPr lvl="1"/>
            <a:r>
              <a:rPr lang="en-US" dirty="0" smtClean="0"/>
              <a:t>  # before it has been defined.</a:t>
            </a:r>
          </a:p>
          <a:p>
            <a:pPr lvl="1"/>
            <a:r>
              <a:rPr lang="en-US" dirty="0" smtClean="0"/>
              <a:t>  </a:t>
            </a:r>
            <a:r>
              <a:rPr lang="en-US" dirty="0" err="1" smtClean="0"/>
              <a:t>processed_result</a:t>
            </a:r>
            <a:r>
              <a:rPr lang="en-US" dirty="0" smtClean="0"/>
              <a:t> = </a:t>
            </a:r>
            <a:r>
              <a:rPr lang="en-US" dirty="0" err="1" smtClean="0"/>
              <a:t>data_processed</a:t>
            </a:r>
            <a:r>
              <a:rPr lang="en-US" dirty="0" smtClean="0"/>
              <a:t> * 2</a:t>
            </a:r>
          </a:p>
          <a:p>
            <a:pPr lvl="1"/>
            <a:r>
              <a:rPr lang="en-US" dirty="0" smtClean="0"/>
              <a:t>  </a:t>
            </a:r>
          </a:p>
          <a:p>
            <a:pPr lvl="1"/>
            <a:r>
              <a:rPr lang="en-US" dirty="0" smtClean="0"/>
              <a:t>  # The definition happens later.</a:t>
            </a:r>
          </a:p>
          <a:p>
            <a:pPr lvl="1"/>
            <a:r>
              <a:rPr lang="en-US" dirty="0" smtClean="0"/>
              <a:t>  </a:t>
            </a:r>
            <a:r>
              <a:rPr lang="en-US" dirty="0" err="1" smtClean="0"/>
              <a:t>data_processed</a:t>
            </a:r>
            <a:r>
              <a:rPr lang="en-US" dirty="0" smtClean="0"/>
              <a:t> = data + 10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17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Definition (d): A point in the code where a variable is assigned a value (e.g., x = 5;).</a:t>
            </a:r>
          </a:p>
          <a:p>
            <a:r>
              <a:rPr lang="en-US" dirty="0" smtClean="0"/>
              <a:t>Use (u): A point where a variable's value is read or referenced. There are two types:</a:t>
            </a:r>
          </a:p>
          <a:p>
            <a:pPr lvl="1"/>
            <a:r>
              <a:rPr lang="en-US" dirty="0" smtClean="0"/>
              <a:t>C-use (Computation Use):Used in a calculation or expression. Example: </a:t>
            </a:r>
            <a:r>
              <a:rPr lang="en-US" sz="2000" dirty="0" smtClean="0"/>
              <a:t>y = x +1.</a:t>
            </a:r>
            <a:endParaRPr lang="en-US" dirty="0" smtClean="0"/>
          </a:p>
          <a:p>
            <a:pPr lvl="1"/>
            <a:r>
              <a:rPr lang="en-US" dirty="0" smtClean="0"/>
              <a:t>P-use (Predicate Use): Used in a logical condition that influences control flow. Example: if (x &gt; 5).</a:t>
            </a:r>
          </a:p>
          <a:p>
            <a:r>
              <a:rPr lang="en-US" dirty="0" smtClean="0"/>
              <a:t>Undefined (a): The state of a variable after it is declared but before it is assigned a value.</a:t>
            </a:r>
          </a:p>
          <a:p>
            <a:pPr lvl="1"/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myNumber</a:t>
            </a:r>
            <a:r>
              <a:rPr lang="en-US" dirty="0" smtClean="0"/>
              <a:t>;  // '</a:t>
            </a:r>
            <a:r>
              <a:rPr lang="en-US" dirty="0" err="1" smtClean="0"/>
              <a:t>myNumber</a:t>
            </a:r>
            <a:r>
              <a:rPr lang="en-US" dirty="0" smtClean="0"/>
              <a:t>' is in the undefined state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45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Defining node</a:t>
            </a:r>
          </a:p>
          <a:p>
            <a:pPr lvl="1"/>
            <a:r>
              <a:rPr lang="en-US" dirty="0" smtClean="0"/>
              <a:t>A node of a program graph is a defining node for a variable , if and only if, the value of the variable is defined in the statement corresponding to that node. It is represented as DEF ( , n) where is the variable and n is the node corresponding to the statement in which is defined.</a:t>
            </a:r>
          </a:p>
          <a:p>
            <a:r>
              <a:rPr lang="en-US" dirty="0" smtClean="0"/>
              <a:t>Usage node</a:t>
            </a:r>
          </a:p>
          <a:p>
            <a:pPr lvl="1"/>
            <a:r>
              <a:rPr lang="en-US" dirty="0" smtClean="0"/>
              <a:t>A node of a program graph is a usage node for a variable , if and only if, the value of the variable is used in the statement corresponding to that node. It is represented as USE ( , n), where ‘ ’ is the variable and ‘n’ in the node corresponding to the statement in which ‘ ’ is used.</a:t>
            </a:r>
          </a:p>
          <a:p>
            <a:pPr lvl="2"/>
            <a:r>
              <a:rPr lang="en-US" dirty="0" smtClean="0"/>
              <a:t>C-Use</a:t>
            </a:r>
          </a:p>
          <a:p>
            <a:pPr lvl="2"/>
            <a:r>
              <a:rPr lang="en-US" dirty="0" smtClean="0"/>
              <a:t>P-Use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04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 use Path</a:t>
            </a:r>
          </a:p>
          <a:p>
            <a:pPr lvl="1"/>
            <a:r>
              <a:rPr lang="en-US" dirty="0" smtClean="0"/>
              <a:t>A definition use path (denoted as du-path) for a variable ‘v ’ is a path between two nodes ‘m’ and ‘n’ where ‘m’ is the initial node in the path but the defining node for variable ‘v ’ (denoted as DEF ( v, m)) and ‘n’ is the final node in the path but usage node for variable ‘ v’ (denoted as USE ( v, n)).</a:t>
            </a:r>
          </a:p>
          <a:p>
            <a:r>
              <a:rPr lang="en-US" dirty="0" smtClean="0"/>
              <a:t>Definition clear path</a:t>
            </a:r>
          </a:p>
          <a:p>
            <a:pPr lvl="1"/>
            <a:r>
              <a:rPr lang="en-US" dirty="0" smtClean="0"/>
              <a:t>A definition clear path (denoted as dc-path) for a variable ‘ v’ is a definition use path with initial and final nodes DEF ( v, m) and USE (v , n) such that no other node in the path is a defining node of variable ‘v ’.</a:t>
            </a:r>
          </a:p>
          <a:p>
            <a:r>
              <a:rPr lang="en-US" dirty="0" smtClean="0"/>
              <a:t>The du-paths that are not definition clear paths are potential troublesome paths.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42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Identification of du and dc Paths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1361"/>
            <a:ext cx="100488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282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Strategies Using du-Paths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Test all du-paths</a:t>
            </a:r>
          </a:p>
          <a:p>
            <a:pPr lvl="1"/>
            <a:r>
              <a:rPr lang="en-US" dirty="0" smtClean="0"/>
              <a:t>All du-paths generated for all variables are tested. This is the strongest data flow testing strategy covering all possible du-paths.</a:t>
            </a:r>
          </a:p>
          <a:p>
            <a:r>
              <a:rPr lang="en-US" dirty="0" smtClean="0"/>
              <a:t>Test all uses</a:t>
            </a:r>
          </a:p>
          <a:p>
            <a:pPr lvl="1"/>
            <a:r>
              <a:rPr lang="en-US" dirty="0" smtClean="0"/>
              <a:t>Find at least one path from every definition of every variable to every use of that variable which can be reached by that definition. For every use of a variable, there is a path from the definition of that variable to the use of that variable.</a:t>
            </a:r>
          </a:p>
          <a:p>
            <a:r>
              <a:rPr lang="en-US" dirty="0" smtClean="0"/>
              <a:t>Test all definitions</a:t>
            </a:r>
          </a:p>
          <a:p>
            <a:pPr lvl="1"/>
            <a:r>
              <a:rPr lang="en-US" dirty="0" smtClean="0"/>
              <a:t>Find paths from every definition of every variable to at least one use of that variable; we may choose any strategy for testing.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65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Generation of Test Cases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77895"/>
            <a:ext cx="4002256" cy="435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305" y="1477895"/>
            <a:ext cx="481965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6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Generation of Test Cases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28" y="1429890"/>
            <a:ext cx="631507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01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" y="223837"/>
            <a:ext cx="10182225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7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62" y="919162"/>
            <a:ext cx="997267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9187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2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this example all du-paths and all uses yield the same number of paths. </a:t>
            </a:r>
          </a:p>
          <a:p>
            <a:r>
              <a:rPr lang="en-US" dirty="0" smtClean="0"/>
              <a:t>This may not always be true. If we consider the following graph and find du paths with all three strategies, we will get a different number of all-du paths and all-uses paths.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21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314325"/>
            <a:ext cx="4038600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9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787" y="1733550"/>
            <a:ext cx="94964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5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71" y="434125"/>
            <a:ext cx="9363075" cy="2667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71" y="3221597"/>
            <a:ext cx="94773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5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750</Words>
  <Application>Microsoft Office PowerPoint</Application>
  <PresentationFormat>Widescreen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Data Flow Testing</vt:lpstr>
      <vt:lpstr>Define/Reference Anomalies</vt:lpstr>
      <vt:lpstr>Terms </vt:lpstr>
      <vt:lpstr>Definitions</vt:lpstr>
      <vt:lpstr>Definitions</vt:lpstr>
      <vt:lpstr>Identification of du and dc Paths</vt:lpstr>
      <vt:lpstr>Testing Strategies Using du-Paths</vt:lpstr>
      <vt:lpstr>Generation of Test Cases</vt:lpstr>
      <vt:lpstr>Generation of Test Cases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Waqas</dc:creator>
  <cp:lastModifiedBy>Waqas</cp:lastModifiedBy>
  <cp:revision>7</cp:revision>
  <dcterms:created xsi:type="dcterms:W3CDTF">2025-09-11T08:43:34Z</dcterms:created>
  <dcterms:modified xsi:type="dcterms:W3CDTF">2026-02-09T20:27:25Z</dcterms:modified>
</cp:coreProperties>
</file>