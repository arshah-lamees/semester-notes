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57" r:id="rId5"/>
    <p:sldId id="258" r:id="rId6"/>
    <p:sldId id="273" r:id="rId7"/>
    <p:sldId id="260" r:id="rId8"/>
    <p:sldId id="261" r:id="rId9"/>
    <p:sldId id="269" r:id="rId10"/>
    <p:sldId id="271" r:id="rId11"/>
    <p:sldId id="262" r:id="rId12"/>
    <p:sldId id="263" r:id="rId13"/>
    <p:sldId id="272" r:id="rId14"/>
    <p:sldId id="264" r:id="rId15"/>
    <p:sldId id="266" r:id="rId16"/>
    <p:sldId id="267" r:id="rId17"/>
    <p:sldId id="268" r:id="rId18"/>
    <p:sldId id="270"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228800AE-E086-4866-AA97-D98DE7A11C2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292EF8-641F-46ED-8F12-FD5277AE86D7}" type="slidenum">
              <a:rPr lang="en-US" smtClean="0"/>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228800AE-E086-4866-AA97-D98DE7A11C2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292EF8-641F-46ED-8F12-FD5277AE86D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228800AE-E086-4866-AA97-D98DE7A11C2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292EF8-641F-46ED-8F12-FD5277AE86D7}" type="slidenum">
              <a:rPr lang="en-US" smtClean="0"/>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228800AE-E086-4866-AA97-D98DE7A11C2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292EF8-641F-46ED-8F12-FD5277AE86D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768096" y="2967788"/>
            <a:ext cx="3566160" cy="334157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endParaRPr lang="en-US" smtClean="0"/>
          </a:p>
        </p:txBody>
      </p:sp>
      <p:sp>
        <p:nvSpPr>
          <p:cNvPr id="6" name="Content Placeholder 5"/>
          <p:cNvSpPr>
            <a:spLocks noGrp="1"/>
          </p:cNvSpPr>
          <p:nvPr>
            <p:ph sz="quarter" idx="4"/>
          </p:nvPr>
        </p:nvSpPr>
        <p:spPr>
          <a:xfrm>
            <a:off x="4491990" y="2967788"/>
            <a:ext cx="3566160" cy="334157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228800AE-E086-4866-AA97-D98DE7A11C2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292EF8-641F-46ED-8F12-FD5277AE86D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28800AE-E086-4866-AA97-D98DE7A11C2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292EF8-641F-46ED-8F12-FD5277AE86D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8800AE-E086-4866-AA97-D98DE7A11C2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292EF8-641F-46ED-8F12-FD5277AE86D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smtClean="0"/>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28800AE-E086-4866-AA97-D98DE7A11C2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292EF8-641F-46ED-8F12-FD5277AE86D7}"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28800AE-E086-4866-AA97-D98DE7A11C2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292EF8-641F-46ED-8F12-FD5277AE86D7}" type="slidenum">
              <a:rPr lang="en-US" smtClean="0"/>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228800AE-E086-4866-AA97-D98DE7A11C2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292EF8-641F-46ED-8F12-FD5277AE86D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228800AE-E086-4866-AA97-D98DE7A11C2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292EF8-641F-46ED-8F12-FD5277AE86D7}" type="slidenum">
              <a:rPr lang="en-US" smtClean="0"/>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228800AE-E086-4866-AA97-D98DE7A11C28}" type="datetimeFigureOut">
              <a:rPr lang="en-US" smtClean="0"/>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1292EF8-641F-46ED-8F12-FD5277AE86D7}" type="slidenum">
              <a:rPr lang="en-US" smtClean="0"/>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43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31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State Transition Testing Technique</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State Oriented And Stateless Systems</a:t>
            </a:r>
            <a:endParaRPr lang="en-US" dirty="0"/>
          </a:p>
        </p:txBody>
      </p:sp>
      <p:sp>
        <p:nvSpPr>
          <p:cNvPr id="3" name="Content Placeholder 2"/>
          <p:cNvSpPr>
            <a:spLocks noGrp="1"/>
          </p:cNvSpPr>
          <p:nvPr>
            <p:ph idx="1"/>
          </p:nvPr>
        </p:nvSpPr>
        <p:spPr/>
        <p:txBody>
          <a:bodyPr>
            <a:normAutofit/>
          </a:bodyPr>
          <a:lstStyle/>
          <a:p>
            <a:pPr algn="just"/>
            <a:r>
              <a:rPr lang="en-US" dirty="0"/>
              <a:t>Software systems can be broadly classified into two groups, namely, </a:t>
            </a:r>
            <a:r>
              <a:rPr lang="en-US" i="1" dirty="0"/>
              <a:t>stateless </a:t>
            </a:r>
            <a:r>
              <a:rPr lang="en-US" i="1" dirty="0" smtClean="0"/>
              <a:t>and state-oriented </a:t>
            </a:r>
            <a:r>
              <a:rPr lang="en-US" i="1" dirty="0"/>
              <a:t>systems. The actions of a stateless system do not depend on </a:t>
            </a:r>
            <a:r>
              <a:rPr lang="en-US" i="1" dirty="0" smtClean="0"/>
              <a:t>the </a:t>
            </a:r>
            <a:r>
              <a:rPr lang="en-US" dirty="0" smtClean="0"/>
              <a:t>previous </a:t>
            </a:r>
            <a:r>
              <a:rPr lang="en-US" dirty="0"/>
              <a:t>inputs to the system. </a:t>
            </a:r>
            <a:endParaRPr lang="en-US" dirty="0" smtClean="0"/>
          </a:p>
          <a:p>
            <a:pPr algn="just"/>
            <a:r>
              <a:rPr lang="en-US" dirty="0" smtClean="0"/>
              <a:t>A </a:t>
            </a:r>
            <a:r>
              <a:rPr lang="en-US" dirty="0"/>
              <a:t>compiler is an example of a stateless </a:t>
            </a:r>
            <a:r>
              <a:rPr lang="en-US" dirty="0" smtClean="0"/>
              <a:t>system because </a:t>
            </a:r>
            <a:r>
              <a:rPr lang="en-US" dirty="0"/>
              <a:t>the result of compiling a program does not depend on the programs </a:t>
            </a:r>
            <a:r>
              <a:rPr lang="en-US" dirty="0" smtClean="0"/>
              <a:t>that had </a:t>
            </a:r>
            <a:r>
              <a:rPr lang="en-US" dirty="0"/>
              <a:t>been previously compiled. The response of the system to the present </a:t>
            </a:r>
            <a:r>
              <a:rPr lang="en-US" dirty="0" smtClean="0"/>
              <a:t>input depends </a:t>
            </a:r>
            <a:r>
              <a:rPr lang="en-US" dirty="0"/>
              <a:t>on the past inputs to the system in a state-oriented system. </a:t>
            </a:r>
            <a:endParaRPr lang="en-US" dirty="0" smtClean="0"/>
          </a:p>
          <a:p>
            <a:pPr algn="just"/>
            <a:r>
              <a:rPr lang="en-US" dirty="0" smtClean="0"/>
              <a:t>A state-oriented system </a:t>
            </a:r>
            <a:r>
              <a:rPr lang="en-US" dirty="0"/>
              <a:t>memorizes the sequence of inputs it has received so far in the form of </a:t>
            </a:r>
            <a:r>
              <a:rPr lang="en-US" dirty="0" smtClean="0"/>
              <a:t>a </a:t>
            </a:r>
            <a:r>
              <a:rPr lang="en-US" i="1" dirty="0" smtClean="0"/>
              <a:t>state</a:t>
            </a:r>
            <a:r>
              <a:rPr lang="en-US" i="1" dirty="0"/>
              <a:t>. A telephone switching system is an example of a state-oriented system.</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a:t>
            </a:r>
            <a:r>
              <a:rPr lang="en-US" smtClean="0"/>
              <a:t>in STATE </a:t>
            </a:r>
            <a:r>
              <a:rPr lang="en-US" dirty="0" smtClean="0"/>
              <a:t>Diagram</a:t>
            </a:r>
            <a:endParaRPr lang="en-US" dirty="0"/>
          </a:p>
        </p:txBody>
      </p:sp>
      <p:sp>
        <p:nvSpPr>
          <p:cNvPr id="3" name="Content Placeholder 2"/>
          <p:cNvSpPr>
            <a:spLocks noGrp="1"/>
          </p:cNvSpPr>
          <p:nvPr>
            <p:ph idx="1"/>
          </p:nvPr>
        </p:nvSpPr>
        <p:spPr/>
        <p:txBody>
          <a:bodyPr/>
          <a:lstStyle/>
          <a:p>
            <a:r>
              <a:rPr lang="en-US" dirty="0"/>
              <a:t>1.  understand State Transition diagrams and State tables</a:t>
            </a:r>
            <a:br>
              <a:rPr lang="en-US" dirty="0" smtClean="0"/>
            </a:br>
            <a:r>
              <a:rPr lang="en-US" dirty="0"/>
              <a:t>2.  derive test cases from the State Transition diagrams and State Tables</a:t>
            </a:r>
            <a:br>
              <a:rPr lang="en-US" dirty="0" smtClean="0"/>
            </a:br>
            <a:r>
              <a:rPr lang="en-US" dirty="0"/>
              <a:t>3.  Sequences – shortest, longest sequences</a:t>
            </a:r>
            <a:br>
              <a:rPr lang="en-US" dirty="0" smtClean="0"/>
            </a:br>
            <a:r>
              <a:rPr lang="en-US" dirty="0"/>
              <a:t>4.  Null or Invalid transitions</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State-transition diagrams are very useful for describing the </a:t>
            </a:r>
            <a:r>
              <a:rPr lang="en-US" dirty="0" smtClean="0"/>
              <a:t>behavior </a:t>
            </a:r>
            <a:r>
              <a:rPr lang="en-US" dirty="0"/>
              <a:t>of a system and are part of the Software Design Document.</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04800"/>
            <a:ext cx="9083675" cy="6172200"/>
          </a:xfrm>
        </p:spPr>
        <p:txBody>
          <a:bodyPr>
            <a:noAutofit/>
          </a:bodyPr>
          <a:lstStyle/>
          <a:p>
            <a:r>
              <a:rPr lang="en-US" dirty="0" smtClean="0"/>
              <a:t>State </a:t>
            </a:r>
            <a:r>
              <a:rPr lang="en-US" dirty="0"/>
              <a:t>(represented by a circle)—A state is a condition in which a system is waiting for one or more events. States "remember" inputs the system has received in the past and define how the system should respond to subsequent events when they occur. </a:t>
            </a:r>
            <a:endParaRPr lang="en-US" dirty="0" smtClean="0"/>
          </a:p>
          <a:p>
            <a:r>
              <a:rPr lang="en-US" dirty="0" smtClean="0"/>
              <a:t>Transition </a:t>
            </a:r>
            <a:r>
              <a:rPr lang="en-US" dirty="0"/>
              <a:t>(represented by an arrow)—A transition represents a change from one state to another caused by an event.</a:t>
            </a:r>
            <a:endParaRPr lang="en-US" dirty="0"/>
          </a:p>
          <a:p>
            <a:r>
              <a:rPr lang="en-US" dirty="0"/>
              <a:t>Event (represented by a label on a transition)—An event is something that causes the system to change state. Generally, it is an event in the outside world that enters the system through its interface. Sometimes it is generated within the system such as </a:t>
            </a:r>
            <a:r>
              <a:rPr lang="en-US" b="1" dirty="0"/>
              <a:t>Timer expires</a:t>
            </a:r>
            <a:r>
              <a:rPr lang="en-US" dirty="0"/>
              <a:t> or </a:t>
            </a:r>
            <a:r>
              <a:rPr lang="en-US" b="1" dirty="0"/>
              <a:t>Quantity on Hand goes below Reorder Point.</a:t>
            </a:r>
            <a:r>
              <a:rPr lang="en-US" dirty="0"/>
              <a:t> </a:t>
            </a:r>
            <a:endParaRPr lang="en-US" dirty="0"/>
          </a:p>
          <a:p>
            <a:r>
              <a:rPr lang="en-US" dirty="0"/>
              <a:t>Action (represented by a command following a "</a:t>
            </a:r>
            <a:r>
              <a:rPr lang="en-US" b="1" dirty="0"/>
              <a:t>/</a:t>
            </a:r>
            <a:r>
              <a:rPr lang="en-US" dirty="0"/>
              <a:t>")—An action is an operation initiated because of a state change. It could be </a:t>
            </a:r>
            <a:r>
              <a:rPr lang="en-US" b="1" dirty="0"/>
              <a:t>print a Ticket, display a Screen, turn on a Motor,</a:t>
            </a:r>
            <a:r>
              <a:rPr lang="en-US" dirty="0"/>
              <a:t> etc. Often these actions cause something to be created that are outputs of the system. Note that actions occur on transitions between states. The states themselves are passive.</a:t>
            </a:r>
            <a:endParaRPr lang="en-US" dirty="0"/>
          </a:p>
          <a:p>
            <a:r>
              <a:rPr lang="en-US" dirty="0"/>
              <a:t>The entry point on the diagram is shown by a black dot while the exit point is shown by a bulls-eye symbol</a:t>
            </a:r>
            <a:r>
              <a:rPr lang="en-US" dirty="0" smtClean="0"/>
              <a:t>.</a:t>
            </a:r>
            <a:endParaRPr lang="en-US"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4" name="Content Placeholder 3" descr="2.jpg"/>
          <p:cNvPicPr>
            <a:picLocks noGrp="1" noChangeAspect="1"/>
          </p:cNvPicPr>
          <p:nvPr>
            <p:ph idx="1"/>
          </p:nvPr>
        </p:nvPicPr>
        <p:blipFill>
          <a:blip r:embed="rId1"/>
          <a:stretch>
            <a:fillRect/>
          </a:stretch>
        </p:blipFill>
        <p:spPr>
          <a:xfrm>
            <a:off x="1143000" y="1600200"/>
            <a:ext cx="6400800" cy="4730262"/>
          </a:xfr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
            <a:ext cx="7289800" cy="795655"/>
          </a:xfrm>
        </p:spPr>
        <p:txBody>
          <a:bodyPr/>
          <a:lstStyle/>
          <a:p>
            <a:r>
              <a:rPr lang="en-US" sz="3600" dirty="0"/>
              <a:t>State-transition table.</a:t>
            </a:r>
            <a:endParaRPr lang="en-US" sz="3600" dirty="0"/>
          </a:p>
        </p:txBody>
      </p:sp>
      <p:pic>
        <p:nvPicPr>
          <p:cNvPr id="5" name="Picture 4"/>
          <p:cNvPicPr>
            <a:picLocks noChangeAspect="1"/>
          </p:cNvPicPr>
          <p:nvPr/>
        </p:nvPicPr>
        <p:blipFill>
          <a:blip r:embed="rId1"/>
          <a:stretch>
            <a:fillRect/>
          </a:stretch>
        </p:blipFill>
        <p:spPr>
          <a:xfrm>
            <a:off x="609600" y="1066800"/>
            <a:ext cx="3943350" cy="5305425"/>
          </a:xfrm>
          <a:prstGeom prst="rect">
            <a:avLst/>
          </a:prstGeom>
        </p:spPr>
      </p:pic>
      <p:pic>
        <p:nvPicPr>
          <p:cNvPr id="6" name="Picture 5"/>
          <p:cNvPicPr>
            <a:picLocks noChangeAspect="1"/>
          </p:cNvPicPr>
          <p:nvPr/>
        </p:nvPicPr>
        <p:blipFill>
          <a:blip r:embed="rId2"/>
          <a:stretch>
            <a:fillRect/>
          </a:stretch>
        </p:blipFill>
        <p:spPr>
          <a:xfrm>
            <a:off x="4629150" y="1066799"/>
            <a:ext cx="4107095" cy="530542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State-transition table.</a:t>
            </a:r>
            <a:endParaRPr lang="en-US" dirty="0"/>
          </a:p>
        </p:txBody>
      </p:sp>
      <p:sp>
        <p:nvSpPr>
          <p:cNvPr id="3" name="Content Placeholder 2"/>
          <p:cNvSpPr>
            <a:spLocks noGrp="1"/>
          </p:cNvSpPr>
          <p:nvPr>
            <p:ph idx="1"/>
          </p:nvPr>
        </p:nvSpPr>
        <p:spPr/>
        <p:txBody>
          <a:bodyPr>
            <a:normAutofit/>
          </a:bodyPr>
          <a:lstStyle/>
          <a:p>
            <a:r>
              <a:rPr lang="en-US" dirty="0"/>
              <a:t>Using a state-transition table can help detect defects in implementation that enable invalid paths from one state to another</a:t>
            </a:r>
            <a:r>
              <a:rPr lang="en-US" dirty="0" smtClean="0"/>
              <a:t>.</a:t>
            </a:r>
            <a:endParaRPr lang="en-US" dirty="0" smtClean="0"/>
          </a:p>
          <a:p>
            <a:r>
              <a:rPr lang="en-US" dirty="0"/>
              <a:t>The disadvantage of such tables is that they become very large very quickly as the number of states and events increases</a:t>
            </a:r>
            <a:r>
              <a:rPr lang="en-US" dirty="0" smtClean="0"/>
              <a:t>.</a:t>
            </a:r>
            <a:endParaRPr lang="en-US" dirty="0" smtClean="0"/>
          </a:p>
          <a:p>
            <a:r>
              <a:rPr lang="en-US" dirty="0"/>
              <a:t>In addition, the tables are generally sparse; that is, most of the cells are empty.</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Creating Test Cases</a:t>
            </a:r>
            <a:endParaRPr lang="en-US" dirty="0"/>
          </a:p>
        </p:txBody>
      </p:sp>
      <p:sp>
        <p:nvSpPr>
          <p:cNvPr id="3" name="Content Placeholder 2"/>
          <p:cNvSpPr>
            <a:spLocks noGrp="1"/>
          </p:cNvSpPr>
          <p:nvPr>
            <p:ph idx="1"/>
          </p:nvPr>
        </p:nvSpPr>
        <p:spPr/>
        <p:txBody>
          <a:bodyPr>
            <a:normAutofit/>
          </a:bodyPr>
          <a:lstStyle/>
          <a:p>
            <a:r>
              <a:rPr lang="en-US" dirty="0" smtClean="0"/>
              <a:t>Information in the state-transition diagrams can easily be used to create test cases. Four different levels of coverage can be defined:</a:t>
            </a:r>
            <a:endParaRPr lang="en-US" dirty="0" smtClean="0"/>
          </a:p>
          <a:p>
            <a:r>
              <a:rPr lang="en-US" dirty="0" smtClean="0"/>
              <a:t>1. Create a set of test cases such that </a:t>
            </a:r>
            <a:r>
              <a:rPr lang="en-US" b="1" dirty="0" smtClean="0"/>
              <a:t>all states are "visited" at </a:t>
            </a:r>
            <a:r>
              <a:rPr lang="en-US" dirty="0" smtClean="0"/>
              <a:t>least once under test.</a:t>
            </a:r>
            <a:endParaRPr lang="en-US" dirty="0" smtClean="0"/>
          </a:p>
          <a:p>
            <a:r>
              <a:rPr lang="en-US" dirty="0" smtClean="0"/>
              <a:t>Generally this is a weak level of test coverage.</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1.All States visited</a:t>
            </a:r>
            <a:endParaRPr lang="en-US" dirty="0"/>
          </a:p>
        </p:txBody>
      </p:sp>
      <p:pic>
        <p:nvPicPr>
          <p:cNvPr id="4" name="Content Placeholder 3" descr="3.jpg"/>
          <p:cNvPicPr>
            <a:picLocks noGrp="1" noChangeAspect="1"/>
          </p:cNvPicPr>
          <p:nvPr>
            <p:ph idx="1"/>
          </p:nvPr>
        </p:nvPicPr>
        <p:blipFill>
          <a:blip r:embed="rId1"/>
          <a:stretch>
            <a:fillRect/>
          </a:stretch>
        </p:blipFill>
        <p:spPr>
          <a:xfrm>
            <a:off x="2746375" y="2873375"/>
            <a:ext cx="3333750" cy="2847975"/>
          </a:xfr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All Events</a:t>
            </a:r>
            <a:endParaRPr lang="en-US" dirty="0"/>
          </a:p>
        </p:txBody>
      </p:sp>
      <p:sp>
        <p:nvSpPr>
          <p:cNvPr id="3" name="Content Placeholder 2"/>
          <p:cNvSpPr>
            <a:spLocks noGrp="1"/>
          </p:cNvSpPr>
          <p:nvPr>
            <p:ph idx="1"/>
          </p:nvPr>
        </p:nvSpPr>
        <p:spPr/>
        <p:txBody>
          <a:bodyPr/>
          <a:lstStyle/>
          <a:p>
            <a:r>
              <a:rPr lang="en-US" dirty="0" smtClean="0"/>
              <a:t>2. Create a set of test cases such that </a:t>
            </a:r>
            <a:r>
              <a:rPr lang="en-US" b="1" dirty="0" smtClean="0"/>
              <a:t>all events are triggered </a:t>
            </a:r>
            <a:r>
              <a:rPr lang="en-US" dirty="0" smtClean="0"/>
              <a:t>at least once under test. Note that the test cases that cover each event can be the same as those that cover each state. </a:t>
            </a:r>
            <a:endParaRPr lang="en-US" dirty="0" smtClean="0"/>
          </a:p>
          <a:p>
            <a:r>
              <a:rPr lang="en-US" dirty="0" smtClean="0"/>
              <a:t>Again, this is a weak level of coverage.</a:t>
            </a:r>
            <a:endParaRPr lang="en-US" dirty="0" smtClean="0"/>
          </a:p>
          <a:p>
            <a:pPr>
              <a:buNone/>
            </a:pPr>
            <a:endParaRPr lang="en-US" dirty="0"/>
          </a:p>
        </p:txBody>
      </p:sp>
      <p:pic>
        <p:nvPicPr>
          <p:cNvPr id="4" name="Content Placeholder 4" descr="4.jpg"/>
          <p:cNvPicPr>
            <a:picLocks noChangeAspect="1"/>
          </p:cNvPicPr>
          <p:nvPr/>
        </p:nvPicPr>
        <p:blipFill>
          <a:blip r:embed="rId1"/>
          <a:stretch>
            <a:fillRect/>
          </a:stretch>
        </p:blipFill>
        <p:spPr>
          <a:xfrm>
            <a:off x="4876800" y="3200400"/>
            <a:ext cx="3333750" cy="284797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Content Placeholder 4" descr="4.jpg"/>
          <p:cNvPicPr>
            <a:picLocks noChangeAspect="1"/>
          </p:cNvPicPr>
          <p:nvPr/>
        </p:nvPicPr>
        <p:blipFill>
          <a:blip r:embed="rId1"/>
          <a:stretch>
            <a:fillRect/>
          </a:stretch>
        </p:blipFill>
        <p:spPr>
          <a:xfrm>
            <a:off x="787430" y="563607"/>
            <a:ext cx="6725798" cy="5745753"/>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All Paths</a:t>
            </a:r>
            <a:endParaRPr lang="en-US" dirty="0"/>
          </a:p>
        </p:txBody>
      </p:sp>
      <p:sp>
        <p:nvSpPr>
          <p:cNvPr id="3" name="Content Placeholder 2"/>
          <p:cNvSpPr>
            <a:spLocks noGrp="1"/>
          </p:cNvSpPr>
          <p:nvPr>
            <p:ph idx="1"/>
          </p:nvPr>
        </p:nvSpPr>
        <p:spPr/>
        <p:txBody>
          <a:bodyPr>
            <a:normAutofit fontScale="92500" lnSpcReduction="10000"/>
          </a:bodyPr>
          <a:lstStyle/>
          <a:p>
            <a:r>
              <a:rPr lang="en-US" dirty="0"/>
              <a:t>Create a set of test cases such that </a:t>
            </a:r>
            <a:r>
              <a:rPr lang="en-US" b="1" dirty="0"/>
              <a:t>all paths</a:t>
            </a:r>
            <a:r>
              <a:rPr lang="en-US" dirty="0"/>
              <a:t> are executed at least once under test</a:t>
            </a:r>
            <a:r>
              <a:rPr lang="en-US" dirty="0" smtClean="0"/>
              <a:t>.</a:t>
            </a:r>
            <a:endParaRPr lang="en-US" dirty="0" smtClean="0"/>
          </a:p>
          <a:p>
            <a:r>
              <a:rPr lang="en-US" dirty="0"/>
              <a:t>While this level is the most preferred because of its level of coverage, it may not be </a:t>
            </a:r>
            <a:r>
              <a:rPr lang="en-US" dirty="0" smtClean="0"/>
              <a:t>feasible</a:t>
            </a:r>
            <a:endParaRPr lang="en-US" dirty="0" smtClean="0"/>
          </a:p>
          <a:p>
            <a:r>
              <a:rPr lang="en-US" dirty="0"/>
              <a:t>If the state-transition diagram has loops, then the number of possible paths may be infinite</a:t>
            </a:r>
            <a:r>
              <a:rPr lang="en-US" dirty="0" smtClean="0"/>
              <a:t>.</a:t>
            </a:r>
            <a:endParaRPr lang="en-US" dirty="0" smtClean="0"/>
          </a:p>
          <a:p>
            <a:r>
              <a:rPr lang="en-US" dirty="0"/>
              <a:t>A→B</a:t>
            </a:r>
            <a:endParaRPr lang="en-US" dirty="0"/>
          </a:p>
          <a:p>
            <a:r>
              <a:rPr lang="en-US" dirty="0"/>
              <a:t>A→B→A</a:t>
            </a:r>
            <a:endParaRPr lang="en-US" dirty="0"/>
          </a:p>
          <a:p>
            <a:r>
              <a:rPr lang="en-US" dirty="0"/>
              <a:t>A→B→A→B→A→B</a:t>
            </a:r>
            <a:endParaRPr lang="en-US" dirty="0"/>
          </a:p>
          <a:p>
            <a:r>
              <a:rPr lang="en-US" dirty="0"/>
              <a:t>A→B→A→B→A→B→A</a:t>
            </a:r>
            <a:endParaRPr lang="en-US" dirty="0"/>
          </a:p>
          <a:p>
            <a:r>
              <a:rPr lang="en-US" dirty="0"/>
              <a:t>A→B→A→B→A→B→A→B→A→B</a:t>
            </a:r>
            <a:endParaRPr lang="en-US" dirty="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All Transitions</a:t>
            </a:r>
            <a:endParaRPr lang="en-US" dirty="0"/>
          </a:p>
        </p:txBody>
      </p:sp>
      <p:sp>
        <p:nvSpPr>
          <p:cNvPr id="3" name="Content Placeholder 2"/>
          <p:cNvSpPr>
            <a:spLocks noGrp="1"/>
          </p:cNvSpPr>
          <p:nvPr>
            <p:ph idx="1"/>
          </p:nvPr>
        </p:nvSpPr>
        <p:spPr/>
        <p:txBody>
          <a:bodyPr>
            <a:normAutofit/>
          </a:bodyPr>
          <a:lstStyle/>
          <a:p>
            <a:pPr>
              <a:buNone/>
            </a:pPr>
            <a:r>
              <a:rPr lang="en-US" smtClean="0"/>
              <a:t> </a:t>
            </a:r>
            <a:r>
              <a:rPr lang="en-US" dirty="0" smtClean="0"/>
              <a:t>Create a set of test cases such that </a:t>
            </a:r>
            <a:r>
              <a:rPr lang="en-US" b="1" dirty="0" smtClean="0"/>
              <a:t>all transitions are </a:t>
            </a:r>
            <a:r>
              <a:rPr lang="en-US" dirty="0" smtClean="0"/>
              <a:t>exercised at least once under test. This level of testing provides a good level of coverage without generating large numbers of tests. This level is generally the one recommended.</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5.jpg"/>
          <p:cNvPicPr>
            <a:picLocks noGrp="1" noChangeAspect="1"/>
          </p:cNvPicPr>
          <p:nvPr>
            <p:ph idx="1"/>
          </p:nvPr>
        </p:nvPicPr>
        <p:blipFill>
          <a:blip r:embed="rId1"/>
          <a:stretch>
            <a:fillRect/>
          </a:stretch>
        </p:blipFill>
        <p:spPr>
          <a:xfrm>
            <a:off x="1295400" y="1295400"/>
            <a:ext cx="7239000" cy="5029200"/>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7" y="457200"/>
            <a:ext cx="7290054" cy="1143000"/>
          </a:xfrm>
        </p:spPr>
        <p:txBody>
          <a:bodyPr>
            <a:normAutofit fontScale="90000"/>
          </a:bodyPr>
          <a:lstStyle/>
          <a:p>
            <a:r>
              <a:rPr lang="en-US" dirty="0"/>
              <a:t>Applicability and Limitations</a:t>
            </a:r>
            <a:br>
              <a:rPr lang="en-US" dirty="0"/>
            </a:br>
            <a:br>
              <a:rPr lang="en-US" dirty="0"/>
            </a:br>
            <a:endParaRPr lang="en-US" dirty="0"/>
          </a:p>
        </p:txBody>
      </p:sp>
      <p:sp>
        <p:nvSpPr>
          <p:cNvPr id="3" name="Content Placeholder 2"/>
          <p:cNvSpPr>
            <a:spLocks noGrp="1"/>
          </p:cNvSpPr>
          <p:nvPr>
            <p:ph idx="1"/>
          </p:nvPr>
        </p:nvSpPr>
        <p:spPr>
          <a:xfrm>
            <a:off x="609600" y="1143000"/>
            <a:ext cx="8229600" cy="5257800"/>
          </a:xfrm>
        </p:spPr>
        <p:txBody>
          <a:bodyPr/>
          <a:lstStyle/>
          <a:p>
            <a:r>
              <a:rPr lang="en-US" dirty="0"/>
              <a:t>State-Transition diagrams are excellent tools to capture certain system requirements, namely those that describe states and their associated </a:t>
            </a:r>
            <a:r>
              <a:rPr lang="en-US" dirty="0" smtClean="0"/>
              <a:t>transitions</a:t>
            </a:r>
            <a:endParaRPr lang="en-US" dirty="0" smtClean="0"/>
          </a:p>
          <a:p>
            <a:endParaRPr lang="en-US" dirty="0"/>
          </a:p>
          <a:p>
            <a:r>
              <a:rPr lang="en-US" dirty="0"/>
              <a:t>These diagrams then can be used to direct our testing efforts by identifying the states, events, and transitions that should be tested</a:t>
            </a:r>
            <a:r>
              <a:rPr lang="en-US" dirty="0" smtClean="0"/>
              <a:t>.</a:t>
            </a:r>
            <a:endParaRPr lang="en-US" dirty="0" smtClean="0"/>
          </a:p>
          <a:p>
            <a:endParaRPr lang="en-US" dirty="0"/>
          </a:p>
          <a:p>
            <a:r>
              <a:rPr lang="en-US" dirty="0"/>
              <a:t>State-Transition diagrams are not applicable when the system has no state or does not need to respond to real-time events from outside of the </a:t>
            </a:r>
            <a:r>
              <a:rPr lang="en-US" dirty="0" smtClean="0"/>
              <a:t>system</a:t>
            </a:r>
            <a:endParaRPr lang="en-US" dirty="0" smtClean="0"/>
          </a:p>
          <a:p>
            <a:pPr lvl="1"/>
            <a:r>
              <a:rPr lang="en-US" dirty="0"/>
              <a:t>An example is a payroll program that reads an employee's time record, computes pay, subtracts deductions, saves the record, prints a paycheck, and repeats the process.</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a:t>
            </a:r>
            <a:endParaRPr lang="en-US" dirty="0"/>
          </a:p>
        </p:txBody>
      </p:sp>
      <p:sp>
        <p:nvSpPr>
          <p:cNvPr id="3" name="Content Placeholder 2"/>
          <p:cNvSpPr>
            <a:spLocks noGrp="1"/>
          </p:cNvSpPr>
          <p:nvPr>
            <p:ph idx="1"/>
          </p:nvPr>
        </p:nvSpPr>
        <p:spPr/>
        <p:txBody>
          <a:bodyPr/>
          <a:lstStyle/>
          <a:p>
            <a:r>
              <a:rPr lang="en-US" dirty="0"/>
              <a:t>https://flylib.com/books/en/2.156.1/state_transition_testing.html</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4429</Words>
  <Application>WPS Presentation</Application>
  <PresentationFormat>On-screen Show (4:3)</PresentationFormat>
  <Paragraphs>73</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SimSun</vt:lpstr>
      <vt:lpstr>Wingdings</vt:lpstr>
      <vt:lpstr>Tw Cen MT</vt:lpstr>
      <vt:lpstr>Segoe Print</vt:lpstr>
      <vt:lpstr>Wingdings 3</vt:lpstr>
      <vt:lpstr>Symbol</vt:lpstr>
      <vt:lpstr>Tw Cen MT Condensed</vt:lpstr>
      <vt:lpstr>Microsoft YaHei</vt:lpstr>
      <vt:lpstr>Arial Unicode MS</vt:lpstr>
      <vt:lpstr>Calibri</vt:lpstr>
      <vt:lpstr>Integral</vt:lpstr>
      <vt:lpstr>State Transition Testing Technique</vt:lpstr>
      <vt:lpstr>State Oriented And Stateless Systems</vt:lpstr>
      <vt:lpstr>Steps in STATE Diagram</vt:lpstr>
      <vt:lpstr>PowerPoint 演示文稿</vt:lpstr>
      <vt:lpstr>PowerPoint 演示文稿</vt:lpstr>
      <vt:lpstr>Example</vt:lpstr>
      <vt:lpstr>State-transition table.</vt:lpstr>
      <vt:lpstr>State-transition table.</vt:lpstr>
      <vt:lpstr>Creating Test Cases</vt:lpstr>
      <vt:lpstr>1.All States visited</vt:lpstr>
      <vt:lpstr>2. All Events</vt:lpstr>
      <vt:lpstr>PowerPoint 演示文稿</vt:lpstr>
      <vt:lpstr>3. All Paths</vt:lpstr>
      <vt:lpstr>4. All Transitions</vt:lpstr>
      <vt:lpstr>PowerPoint 演示文稿</vt:lpstr>
      <vt:lpstr>Applicability and Limitations  </vt:lpstr>
      <vt:lpstr>Source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State Transition Testing Technique</dc:title>
  <dc:creator>ishrat.fatima</dc:creator>
  <cp:lastModifiedBy>Hafiza Syeda Arshah Lamees Naqvi BSCS 2022 FAST NU LHR</cp:lastModifiedBy>
  <cp:revision>45</cp:revision>
  <dcterms:created xsi:type="dcterms:W3CDTF">2020-03-18T09:22:00Z</dcterms:created>
  <dcterms:modified xsi:type="dcterms:W3CDTF">2026-06-01T12:00:24Z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54CE153B2A514EDCB797A488DD9C8FF0_12</vt:lpwstr>
  </property>
  <property fmtid="{D5CDD505-2E9C-101B-9397-08002B2CF9AE}" pid="3" name="KSOProductBuildVer">
    <vt:lpwstr>1033-12.1.0.26372</vt:lpwstr>
  </property>
</Properties>
</file>