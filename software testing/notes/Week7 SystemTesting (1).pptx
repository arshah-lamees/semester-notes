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8"/>
  </p:notesMasterIdLst>
  <p:sldIdLst>
    <p:sldId id="256" r:id="rId2"/>
    <p:sldId id="259" r:id="rId3"/>
    <p:sldId id="257" r:id="rId4"/>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1830" autoAdjust="0"/>
  </p:normalViewPr>
  <p:slideViewPr>
    <p:cSldViewPr snapToGrid="0">
      <p:cViewPr varScale="1">
        <p:scale>
          <a:sx n="107" d="100"/>
          <a:sy n="107" d="100"/>
        </p:scale>
        <p:origin x="1734" y="10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17020630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699282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013238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smtClean="0"/>
              <a:t>Tests are broadly categorized by their focus: </a:t>
            </a:r>
            <a:r>
              <a:rPr lang="en-US" b="1" dirty="0" smtClean="0"/>
              <a:t>Functionality</a:t>
            </a:r>
            <a:r>
              <a:rPr lang="en-US" dirty="0" smtClean="0"/>
              <a:t> (what it does) and </a:t>
            </a:r>
            <a:r>
              <a:rPr lang="en-US" b="1" dirty="0" smtClean="0"/>
              <a:t>Quality Attributes</a:t>
            </a:r>
            <a:r>
              <a:rPr lang="en-US" dirty="0" smtClean="0"/>
              <a:t> (how well it performs).</a:t>
            </a:r>
          </a:p>
          <a:p>
            <a:pPr marL="0" lvl="0" indent="0" algn="l" rtl="0">
              <a:lnSpc>
                <a:spcPct val="100000"/>
              </a:lnSpc>
              <a:spcBef>
                <a:spcPts val="0"/>
              </a:spcBef>
              <a:spcAft>
                <a:spcPts val="0"/>
              </a:spcAft>
              <a:buSzPts val="1100"/>
              <a:buNone/>
            </a:pPr>
            <a:endParaRPr dirty="0"/>
          </a:p>
        </p:txBody>
      </p:sp>
      <p:sp>
        <p:nvSpPr>
          <p:cNvPr id="88" name="Google Shape;88;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210419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dirty="0" smtClean="0"/>
              <a:t>Upgrade/downgrade tests are designed to verify that the system software can be upgraded or downgraded (rollback) in a graceful manner from the previous version to the current version or vice versa. </a:t>
            </a:r>
          </a:p>
          <a:p>
            <a:endParaRPr lang="en-US" dirty="0" smtClean="0"/>
          </a:p>
          <a:p>
            <a:r>
              <a:rPr lang="en-US" dirty="0" smtClean="0"/>
              <a:t>The LED (light emitting diode) tests are designed to verify that the system LED status indicators function as desired. </a:t>
            </a:r>
          </a:p>
          <a:p>
            <a:endParaRPr lang="en-US" dirty="0" smtClean="0"/>
          </a:p>
          <a:p>
            <a:r>
              <a:rPr lang="en-US" dirty="0" smtClean="0"/>
              <a:t>Diagnostic tests are designed to verify that the hardware components (or modules) of the system are functioning as desired.</a:t>
            </a:r>
            <a:endParaRPr lang="en-US" dirty="0"/>
          </a:p>
        </p:txBody>
      </p:sp>
    </p:spTree>
    <p:extLst>
      <p:ext uri="{BB962C8B-B14F-4D97-AF65-F5344CB8AC3E}">
        <p14:creationId xmlns:p14="http://schemas.microsoft.com/office/powerpoint/2010/main" val="33474830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pPr marL="158750" indent="0">
              <a:buNone/>
            </a:pPr>
            <a:r>
              <a:rPr lang="en-US" dirty="0" smtClean="0"/>
              <a:t>Communication Systems Tests Communication systems tests are designed to verify the implementation of the communication systems as specified in the customer requirements specification.</a:t>
            </a:r>
          </a:p>
          <a:p>
            <a:pPr marL="158750" indent="0">
              <a:buNone/>
            </a:pPr>
            <a:r>
              <a:rPr lang="en-US" dirty="0" smtClean="0"/>
              <a:t>Module Tests: Module tests are designed to verify that all the modules function individually as desired within the systems. Mutual interactions among the modules glue these components together into a whole system. The idea here is to ensure that individual modules function correctly within the whole system. One needs to verify that the system, along with the software that controls these modules, operate as specified in the requirement specification. </a:t>
            </a:r>
          </a:p>
          <a:p>
            <a:pPr marL="158750" indent="0">
              <a:buNone/>
            </a:pPr>
            <a:endParaRPr lang="en-US" dirty="0" smtClean="0"/>
          </a:p>
          <a:p>
            <a:pPr marL="158750" indent="0">
              <a:buNone/>
            </a:pPr>
            <a:r>
              <a:rPr lang="en-US" dirty="0" smtClean="0"/>
              <a:t>Logging</a:t>
            </a:r>
            <a:r>
              <a:rPr lang="en-US" baseline="0" dirty="0" smtClean="0"/>
              <a:t> and Tracing Tests: </a:t>
            </a:r>
            <a:r>
              <a:rPr lang="en-US" dirty="0" smtClean="0"/>
              <a:t>Logging and tracing tests are designed to verify the configurations and operations of logging and tracing. This also includes verification of “flight data recorder: non-volatile flash memory” logs when the system crashes. Tests may be designed to calculate the impact on system performance when all the logs are enabled.</a:t>
            </a:r>
          </a:p>
          <a:p>
            <a:pPr marL="158750" indent="0">
              <a:buNone/>
            </a:pPr>
            <a:endParaRPr lang="en-US" dirty="0" smtClean="0"/>
          </a:p>
          <a:p>
            <a:pPr marL="158750" indent="0">
              <a:buNone/>
            </a:pPr>
            <a:r>
              <a:rPr lang="en-US" dirty="0" smtClean="0"/>
              <a:t>Element</a:t>
            </a:r>
            <a:r>
              <a:rPr lang="en-US" baseline="0" dirty="0" smtClean="0"/>
              <a:t> Management System Test: </a:t>
            </a:r>
            <a:r>
              <a:rPr lang="en-US" dirty="0" smtClean="0"/>
              <a:t>The </a:t>
            </a:r>
            <a:r>
              <a:rPr lang="en-US" dirty="0" err="1" smtClean="0"/>
              <a:t>EMStests</a:t>
            </a:r>
            <a:r>
              <a:rPr lang="en-US" dirty="0" smtClean="0"/>
              <a:t> verify the main functions which are to manage, monitor, and upgrade the communication system network elements (NEs). Table 8.1 summarizes the functionalities of an EMS. An EMS communicates with its NEs by using, for example, the Simple Network Management Protocol (SNMP) [2] and a variety of proprietary protocols and mechanisms.</a:t>
            </a:r>
          </a:p>
          <a:p>
            <a:pPr marL="158750" indent="0">
              <a:buNone/>
            </a:pPr>
            <a:endParaRPr lang="en-US" dirty="0" smtClean="0"/>
          </a:p>
          <a:p>
            <a:pPr marL="158750" indent="0">
              <a:buNone/>
            </a:pPr>
            <a:r>
              <a:rPr lang="en-US" dirty="0" smtClean="0"/>
              <a:t>Management Information Base Test: ?</a:t>
            </a:r>
          </a:p>
          <a:p>
            <a:pPr marL="158750" indent="0">
              <a:buNone/>
            </a:pPr>
            <a:endParaRPr lang="en-US" dirty="0" smtClean="0"/>
          </a:p>
          <a:p>
            <a:pPr marL="158750" indent="0">
              <a:buNone/>
            </a:pPr>
            <a:r>
              <a:rPr lang="en-US" dirty="0" smtClean="0"/>
              <a:t>Graphical User Interface</a:t>
            </a:r>
            <a:r>
              <a:rPr lang="en-US" baseline="0" dirty="0" smtClean="0"/>
              <a:t> Tests: </a:t>
            </a:r>
            <a:r>
              <a:rPr lang="en-US" dirty="0" smtClean="0"/>
              <a:t>The GUI tests are designed to verify the interface to the users of an </a:t>
            </a:r>
            <a:r>
              <a:rPr lang="en-US" dirty="0" err="1" smtClean="0"/>
              <a:t>applica</a:t>
            </a:r>
            <a:r>
              <a:rPr lang="en-US" dirty="0" smtClean="0"/>
              <a:t> </a:t>
            </a:r>
            <a:r>
              <a:rPr lang="en-US" dirty="0" err="1" smtClean="0"/>
              <a:t>tion</a:t>
            </a:r>
            <a:r>
              <a:rPr lang="en-US" dirty="0" smtClean="0"/>
              <a:t>. These tests verify different components (objects) such as icons, menu bars, dialogue boxes, scroll bars, list boxes, and radio buttons. Ease of use (usability) of the GUI design and output reports from the viewpoint of actual system users should be checked. Usefulness of the online help, error messages, tutorials, and user manuals are verified. </a:t>
            </a:r>
          </a:p>
          <a:p>
            <a:pPr marL="158750" indent="0">
              <a:buNone/>
            </a:pPr>
            <a:r>
              <a:rPr lang="en-US" dirty="0" smtClean="0"/>
              <a:t>The usability characteristics which can be tested include the following: </a:t>
            </a:r>
          </a:p>
          <a:p>
            <a:pPr marL="158750" indent="0">
              <a:buNone/>
            </a:pPr>
            <a:r>
              <a:rPr lang="en-US" dirty="0" smtClean="0"/>
              <a:t>• Accessibility: Can users enter, navigate, and exit with relative ease? </a:t>
            </a:r>
          </a:p>
          <a:p>
            <a:pPr marL="158750" indent="0">
              <a:buNone/>
            </a:pPr>
            <a:r>
              <a:rPr lang="en-US" dirty="0" smtClean="0"/>
              <a:t>• Responsiveness: </a:t>
            </a:r>
            <a:r>
              <a:rPr lang="en-US" dirty="0" err="1" smtClean="0"/>
              <a:t>Canusersdowhat</a:t>
            </a:r>
            <a:r>
              <a:rPr lang="en-US" dirty="0" smtClean="0"/>
              <a:t> </a:t>
            </a:r>
            <a:r>
              <a:rPr lang="en-US" dirty="0" err="1" smtClean="0"/>
              <a:t>theywant</a:t>
            </a:r>
            <a:r>
              <a:rPr lang="en-US" dirty="0" smtClean="0"/>
              <a:t> </a:t>
            </a:r>
            <a:r>
              <a:rPr lang="en-US" dirty="0" err="1" smtClean="0"/>
              <a:t>andwhentheywant</a:t>
            </a:r>
            <a:r>
              <a:rPr lang="en-US" dirty="0" smtClean="0"/>
              <a:t> </a:t>
            </a:r>
            <a:r>
              <a:rPr lang="en-US" dirty="0" err="1" smtClean="0"/>
              <a:t>ina</a:t>
            </a:r>
            <a:r>
              <a:rPr lang="en-US" dirty="0" smtClean="0"/>
              <a:t> way that is clear? It includes ergonomic factors such as color, shape, sound, and font size. </a:t>
            </a:r>
          </a:p>
          <a:p>
            <a:pPr marL="158750" indent="0">
              <a:buNone/>
            </a:pPr>
            <a:r>
              <a:rPr lang="en-US" dirty="0" smtClean="0"/>
              <a:t>• Efficiency: Can users do what they want with a minimum number of steps and time? • Comprehensibility: Do users understand the product structure with a min </a:t>
            </a:r>
            <a:r>
              <a:rPr lang="en-US" dirty="0" err="1" smtClean="0"/>
              <a:t>imum</a:t>
            </a:r>
            <a:r>
              <a:rPr lang="en-US" dirty="0" smtClean="0"/>
              <a:t> amount of effort?</a:t>
            </a:r>
          </a:p>
          <a:p>
            <a:pPr marL="158750" indent="0">
              <a:buNone/>
            </a:pPr>
            <a:endParaRPr lang="en-US" dirty="0" smtClean="0"/>
          </a:p>
          <a:p>
            <a:pPr marL="158750" indent="0">
              <a:buNone/>
            </a:pPr>
            <a:r>
              <a:rPr lang="en-US" dirty="0" smtClean="0"/>
              <a:t>Security Tests: Security tests are designed to verify that the system meets the security requirements: confidentiality, integrity, </a:t>
            </a:r>
            <a:r>
              <a:rPr lang="en-US" dirty="0" err="1" smtClean="0"/>
              <a:t>andavailability</a:t>
            </a:r>
            <a:r>
              <a:rPr lang="en-US" dirty="0" smtClean="0"/>
              <a:t>. </a:t>
            </a:r>
          </a:p>
          <a:p>
            <a:pPr marL="158750" indent="0">
              <a:buNone/>
            </a:pPr>
            <a:r>
              <a:rPr lang="en-US" dirty="0" smtClean="0"/>
              <a:t>*Confidentiality is the requirement that data and the processes be protected from unauthorized disclosure. </a:t>
            </a:r>
          </a:p>
          <a:p>
            <a:pPr marL="158750" indent="0">
              <a:buNone/>
            </a:pPr>
            <a:r>
              <a:rPr lang="en-US" dirty="0" smtClean="0"/>
              <a:t>*Integrity is the requirement that data and process be protected from unauthorized modification. </a:t>
            </a:r>
          </a:p>
          <a:p>
            <a:pPr marL="158750" indent="0">
              <a:buNone/>
            </a:pPr>
            <a:r>
              <a:rPr lang="en-US" dirty="0" smtClean="0"/>
              <a:t>*Availability is the requirement that data and processes be protected from the denial of service to authorized users. </a:t>
            </a:r>
          </a:p>
          <a:p>
            <a:pPr marL="158750" indent="0">
              <a:buNone/>
            </a:pPr>
            <a:r>
              <a:rPr lang="en-US" dirty="0" smtClean="0"/>
              <a:t>he objective of security testing is to demonstrate </a:t>
            </a:r>
          </a:p>
          <a:p>
            <a:pPr marL="158750" indent="0">
              <a:buNone/>
            </a:pPr>
            <a:endParaRPr lang="en-US" dirty="0" smtClean="0"/>
          </a:p>
          <a:p>
            <a:pPr marL="158750" indent="0">
              <a:buNone/>
            </a:pPr>
            <a:r>
              <a:rPr lang="en-US" dirty="0" smtClean="0"/>
              <a:t>Feature Tests: Feature tests are designed to verify any additional functionalities which are defined in the requirement specifications but not covered in the above categories. Examples of those tests are data conversion and cross-functionality tests. Data conversion testing is testing of programs or procedures that are used to convert data from an existing system to a replacement system.</a:t>
            </a:r>
          </a:p>
          <a:p>
            <a:pPr marL="158750" indent="0">
              <a:buNone/>
            </a:pPr>
            <a:endParaRPr lang="en-US" dirty="0" smtClean="0"/>
          </a:p>
          <a:p>
            <a:pPr marL="158750" indent="0">
              <a:buNone/>
            </a:pPr>
            <a:endParaRPr lang="en-US" dirty="0" smtClean="0"/>
          </a:p>
          <a:p>
            <a:pPr marL="158750" indent="0">
              <a:buNone/>
            </a:pPr>
            <a:endParaRPr lang="en-US" dirty="0"/>
          </a:p>
        </p:txBody>
      </p:sp>
    </p:spTree>
    <p:extLst>
      <p:ext uri="{BB962C8B-B14F-4D97-AF65-F5344CB8AC3E}">
        <p14:creationId xmlns:p14="http://schemas.microsoft.com/office/powerpoint/2010/main" val="3453125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dirty="0" smtClean="0"/>
              <a:t>Boundary Value: Boundary value tests are designed to cover boundary conditions, special values, and system defaults. The tests include providing invalid input data to the system and observing how the system reacts to the invalid input. The system should respond with an error message or initiate an error processing routine. It should be verified that the system handles boundary values (below or above the valid values) for a subset of configurable attributes.</a:t>
            </a:r>
          </a:p>
          <a:p>
            <a:r>
              <a:rPr lang="en-US" dirty="0" smtClean="0"/>
              <a:t>Power Cycling Tests: Power cycling tests are executed to ensure that, when there is a power glitch in a deployment environment, the system can recover from the glitch to be back in normal operation after power is restored. As an example, verify that the boot test is successful every time it is executed during power cycling.</a:t>
            </a:r>
          </a:p>
          <a:p>
            <a:r>
              <a:rPr lang="en-US" dirty="0" smtClean="0"/>
              <a:t>On-Line Insertion and Removal Tests: On-line insertion and removal (OIR) tests are designed to ensure that on-line </a:t>
            </a:r>
            <a:r>
              <a:rPr lang="en-US" dirty="0" err="1" smtClean="0"/>
              <a:t>inser</a:t>
            </a:r>
            <a:r>
              <a:rPr lang="en-US" dirty="0" smtClean="0"/>
              <a:t> </a:t>
            </a:r>
            <a:r>
              <a:rPr lang="en-US" dirty="0" err="1" smtClean="0"/>
              <a:t>tion</a:t>
            </a:r>
            <a:r>
              <a:rPr lang="en-US" dirty="0" smtClean="0"/>
              <a:t> and removal of modules, incurred during both idle and heavy load operations, are gracefully handled and recovered.</a:t>
            </a:r>
          </a:p>
          <a:p>
            <a:r>
              <a:rPr lang="en-US" dirty="0" smtClean="0"/>
              <a:t>High-Availability Tests: High-availability tests are designed to verify the redundancy of individual modules, including the software that controls these modules. The goal is to verify that the system gracefully and quickly recovers from hardware and software failures without adversely impacting the operation of the system.</a:t>
            </a:r>
          </a:p>
          <a:p>
            <a:r>
              <a:rPr lang="en-US" dirty="0" smtClean="0"/>
              <a:t>Degraded Node Tests: Degraded node (also known as failure containment) tests verify the operation of a system after a portion of the system becomes nonoperational. It is a useful test for all mission-critical applications. </a:t>
            </a:r>
            <a:endParaRPr lang="en-US" dirty="0"/>
          </a:p>
        </p:txBody>
      </p:sp>
    </p:spTree>
    <p:extLst>
      <p:ext uri="{BB962C8B-B14F-4D97-AF65-F5344CB8AC3E}">
        <p14:creationId xmlns:p14="http://schemas.microsoft.com/office/powerpoint/2010/main" val="28914561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dirty="0" smtClean="0"/>
              <a:t>There are three major causes of these limitations:</a:t>
            </a:r>
          </a:p>
          <a:p>
            <a:pPr lvl="0"/>
            <a:r>
              <a:rPr lang="en-US" dirty="0" err="1" smtClean="0"/>
              <a:t>i</a:t>
            </a:r>
            <a:r>
              <a:rPr lang="en-US" dirty="0" smtClean="0"/>
              <a:t>. Data storage limitations—limits on counter field size and allocated buffer space</a:t>
            </a:r>
          </a:p>
          <a:p>
            <a:pPr lvl="0"/>
            <a:r>
              <a:rPr lang="en-US" dirty="0" smtClean="0"/>
              <a:t>ii. Network bandwidth limitations—Ethernet speed 10Mbps and T1 card line rate 1.544Mbps</a:t>
            </a:r>
          </a:p>
          <a:p>
            <a:pPr lvl="0"/>
            <a:r>
              <a:rPr lang="en-US" dirty="0" smtClean="0"/>
              <a:t>iii. Speed limit—CPU speed in megahertz</a:t>
            </a:r>
            <a:endParaRPr lang="en-US" dirty="0"/>
          </a:p>
        </p:txBody>
      </p:sp>
    </p:spTree>
    <p:extLst>
      <p:ext uri="{BB962C8B-B14F-4D97-AF65-F5344CB8AC3E}">
        <p14:creationId xmlns:p14="http://schemas.microsoft.com/office/powerpoint/2010/main" val="23145381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MTBF=MTTF + MTTR</a:t>
            </a:r>
            <a:endParaRPr lang="en-US" dirty="0"/>
          </a:p>
        </p:txBody>
      </p:sp>
    </p:spTree>
    <p:extLst>
      <p:ext uri="{BB962C8B-B14F-4D97-AF65-F5344CB8AC3E}">
        <p14:creationId xmlns:p14="http://schemas.microsoft.com/office/powerpoint/2010/main" val="15570259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4" name="Google Shape;14;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0" name="Google Shape;20;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dirty="0" smtClean="0"/>
              <a:t>System Testing</a:t>
            </a:r>
            <a:endParaRPr dirty="0"/>
          </a:p>
        </p:txBody>
      </p:sp>
      <p:sp>
        <p:nvSpPr>
          <p:cNvPr id="85" name="Google Shape;85;p1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Clr>
                <a:srgbClr val="888888"/>
              </a:buClr>
              <a:buSzPts val="3200"/>
              <a:buNone/>
            </a:pPr>
            <a:endParaRPr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Testing</a:t>
            </a:r>
            <a:endParaRPr lang="en-US" dirty="0"/>
          </a:p>
        </p:txBody>
      </p:sp>
      <p:sp>
        <p:nvSpPr>
          <p:cNvPr id="3" name="Text Placeholder 2"/>
          <p:cNvSpPr>
            <a:spLocks noGrp="1"/>
          </p:cNvSpPr>
          <p:nvPr>
            <p:ph type="body" idx="1"/>
          </p:nvPr>
        </p:nvSpPr>
        <p:spPr/>
        <p:txBody>
          <a:bodyPr>
            <a:normAutofit fontScale="92500"/>
          </a:bodyPr>
          <a:lstStyle/>
          <a:p>
            <a:r>
              <a:rPr lang="en-US" dirty="0"/>
              <a:t>Definition: The testing of a complete, integrated software product to evaluate the system's compliance with its specified requirements</a:t>
            </a:r>
            <a:r>
              <a:rPr lang="en-US" dirty="0" smtClean="0"/>
              <a:t>.</a:t>
            </a:r>
          </a:p>
          <a:p>
            <a:r>
              <a:rPr lang="en-US" dirty="0" smtClean="0"/>
              <a:t>Goal</a:t>
            </a:r>
            <a:r>
              <a:rPr lang="en-US" dirty="0"/>
              <a:t>: To confirm that the fully assembled system works as designed, meets user needs, and satisfies non-functional </a:t>
            </a:r>
            <a:r>
              <a:rPr lang="en-US" dirty="0" smtClean="0"/>
              <a:t>criteria.</a:t>
            </a:r>
          </a:p>
          <a:p>
            <a:r>
              <a:rPr lang="en-US" dirty="0" smtClean="0"/>
              <a:t>Scope</a:t>
            </a:r>
            <a:r>
              <a:rPr lang="en-US" dirty="0"/>
              <a:t>: Addresses defects arising from component interaction, data flow, external interfaces, and resource utilization.</a:t>
            </a:r>
          </a:p>
        </p:txBody>
      </p:sp>
    </p:spTree>
    <p:extLst>
      <p:ext uri="{BB962C8B-B14F-4D97-AF65-F5344CB8AC3E}">
        <p14:creationId xmlns:p14="http://schemas.microsoft.com/office/powerpoint/2010/main" val="88255853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dirty="0" smtClean="0"/>
              <a:t>System Test Taxonomy</a:t>
            </a:r>
            <a:endParaRPr dirty="0"/>
          </a:p>
        </p:txBody>
      </p:sp>
      <p:sp>
        <p:nvSpPr>
          <p:cNvPr id="91" name="Google Shape;91;p1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139700" algn="l" rtl="0">
              <a:lnSpc>
                <a:spcPct val="100000"/>
              </a:lnSpc>
              <a:spcBef>
                <a:spcPts val="640"/>
              </a:spcBef>
              <a:spcAft>
                <a:spcPts val="0"/>
              </a:spcAft>
              <a:buClr>
                <a:schemeClr val="dk1"/>
              </a:buClr>
              <a:buSzPts val="3200"/>
              <a:buNone/>
            </a:pPr>
            <a:endParaRPr dirty="0"/>
          </a:p>
        </p:txBody>
      </p:sp>
      <p:pic>
        <p:nvPicPr>
          <p:cNvPr id="2" name="Picture 1"/>
          <p:cNvPicPr>
            <a:picLocks noChangeAspect="1"/>
          </p:cNvPicPr>
          <p:nvPr/>
        </p:nvPicPr>
        <p:blipFill>
          <a:blip r:embed="rId3"/>
          <a:stretch>
            <a:fillRect/>
          </a:stretch>
        </p:blipFill>
        <p:spPr>
          <a:xfrm>
            <a:off x="457200" y="1143793"/>
            <a:ext cx="5191125" cy="5438775"/>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Tests</a:t>
            </a:r>
          </a:p>
        </p:txBody>
      </p:sp>
      <p:sp>
        <p:nvSpPr>
          <p:cNvPr id="3" name="Text Placeholder 2"/>
          <p:cNvSpPr>
            <a:spLocks noGrp="1"/>
          </p:cNvSpPr>
          <p:nvPr>
            <p:ph type="body" idx="1"/>
          </p:nvPr>
        </p:nvSpPr>
        <p:spPr/>
        <p:txBody>
          <a:bodyPr>
            <a:normAutofit fontScale="92500" lnSpcReduction="20000"/>
          </a:bodyPr>
          <a:lstStyle/>
          <a:p>
            <a:r>
              <a:rPr lang="en-US" b="1" dirty="0"/>
              <a:t>Purpose:</a:t>
            </a:r>
            <a:r>
              <a:rPr lang="en-US" dirty="0"/>
              <a:t> To verify that the system can be </a:t>
            </a:r>
            <a:r>
              <a:rPr lang="en-US" b="1" dirty="0"/>
              <a:t>installed, configured, and brought to a basic operational state</a:t>
            </a:r>
            <a:r>
              <a:rPr lang="en-US" dirty="0"/>
              <a:t>. Serves as a gateway for full system testing</a:t>
            </a:r>
            <a:r>
              <a:rPr lang="en-US" dirty="0" smtClean="0"/>
              <a:t>.</a:t>
            </a:r>
          </a:p>
          <a:p>
            <a:r>
              <a:rPr lang="en-US" dirty="0"/>
              <a:t>Boot/Power-On Tests</a:t>
            </a:r>
            <a:r>
              <a:rPr lang="en-US" dirty="0" smtClean="0"/>
              <a:t>:</a:t>
            </a:r>
          </a:p>
          <a:p>
            <a:r>
              <a:rPr lang="en-US" b="1" dirty="0" smtClean="0"/>
              <a:t>Upgrade/Downgrade </a:t>
            </a:r>
            <a:r>
              <a:rPr lang="en-US" b="1" dirty="0"/>
              <a:t>Tests</a:t>
            </a:r>
            <a:r>
              <a:rPr lang="en-US" b="1" dirty="0" smtClean="0"/>
              <a:t>:</a:t>
            </a:r>
          </a:p>
          <a:p>
            <a:r>
              <a:rPr lang="en-US" b="1" dirty="0" smtClean="0"/>
              <a:t>Light Emitting Diode Tests:</a:t>
            </a:r>
          </a:p>
          <a:p>
            <a:r>
              <a:rPr lang="en-US" b="1" dirty="0" smtClean="0"/>
              <a:t>Diagnostic Tests</a:t>
            </a:r>
          </a:p>
          <a:p>
            <a:pPr lvl="1"/>
            <a:r>
              <a:rPr lang="en-US" b="1" dirty="0" smtClean="0"/>
              <a:t>Power-On </a:t>
            </a:r>
            <a:r>
              <a:rPr lang="en-US" b="1" dirty="0" err="1" smtClean="0"/>
              <a:t>Selft</a:t>
            </a:r>
            <a:r>
              <a:rPr lang="en-US" b="1" dirty="0" smtClean="0"/>
              <a:t>-Test (POST)</a:t>
            </a:r>
          </a:p>
          <a:p>
            <a:pPr lvl="1"/>
            <a:r>
              <a:rPr lang="en-US" b="1" dirty="0" smtClean="0"/>
              <a:t>Bit Error Test (BERT)</a:t>
            </a:r>
          </a:p>
          <a:p>
            <a:r>
              <a:rPr lang="en-US" b="1" dirty="0" smtClean="0"/>
              <a:t>Command </a:t>
            </a:r>
            <a:r>
              <a:rPr lang="en-US" b="1" dirty="0" smtClean="0"/>
              <a:t>Line Interface Test</a:t>
            </a:r>
            <a:endParaRPr lang="en-US" dirty="0"/>
          </a:p>
          <a:p>
            <a:pPr lvl="1"/>
            <a:endParaRPr lang="en-US" dirty="0"/>
          </a:p>
        </p:txBody>
      </p:sp>
    </p:spTree>
    <p:extLst>
      <p:ext uri="{BB962C8B-B14F-4D97-AF65-F5344CB8AC3E}">
        <p14:creationId xmlns:p14="http://schemas.microsoft.com/office/powerpoint/2010/main" val="419655197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Functionality Tests</a:t>
            </a:r>
            <a:endParaRPr lang="en-US" dirty="0"/>
          </a:p>
        </p:txBody>
      </p:sp>
      <p:pic>
        <p:nvPicPr>
          <p:cNvPr id="6" name="Picture 5"/>
          <p:cNvPicPr>
            <a:picLocks noChangeAspect="1"/>
          </p:cNvPicPr>
          <p:nvPr/>
        </p:nvPicPr>
        <p:blipFill>
          <a:blip r:embed="rId3"/>
          <a:stretch>
            <a:fillRect/>
          </a:stretch>
        </p:blipFill>
        <p:spPr>
          <a:xfrm>
            <a:off x="1223109" y="1417638"/>
            <a:ext cx="6124575" cy="5029200"/>
          </a:xfrm>
          <a:prstGeom prst="rect">
            <a:avLst/>
          </a:prstGeom>
        </p:spPr>
      </p:pic>
    </p:spTree>
    <p:extLst>
      <p:ext uri="{BB962C8B-B14F-4D97-AF65-F5344CB8AC3E}">
        <p14:creationId xmlns:p14="http://schemas.microsoft.com/office/powerpoint/2010/main" val="61881712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ROBUSTNESSTESTS</a:t>
            </a:r>
          </a:p>
        </p:txBody>
      </p:sp>
      <p:sp>
        <p:nvSpPr>
          <p:cNvPr id="3" name="Text Placeholder 2"/>
          <p:cNvSpPr>
            <a:spLocks noGrp="1"/>
          </p:cNvSpPr>
          <p:nvPr>
            <p:ph type="body" idx="1"/>
          </p:nvPr>
        </p:nvSpPr>
        <p:spPr/>
        <p:txBody>
          <a:bodyPr>
            <a:normAutofit fontScale="85000" lnSpcReduction="10000"/>
          </a:bodyPr>
          <a:lstStyle/>
          <a:p>
            <a:r>
              <a:rPr lang="en-US" dirty="0"/>
              <a:t>Robustness means how sensitive a system is to erroneous input and changes in its operational environment. </a:t>
            </a:r>
            <a:endParaRPr lang="en-US" dirty="0" smtClean="0"/>
          </a:p>
          <a:p>
            <a:r>
              <a:rPr lang="en-US" dirty="0" smtClean="0"/>
              <a:t>Tests </a:t>
            </a:r>
            <a:r>
              <a:rPr lang="en-US" dirty="0"/>
              <a:t>in this category are designed to verify how gracefully the system behaves in error situations and in a changed operational environment. </a:t>
            </a:r>
            <a:endParaRPr lang="en-US" dirty="0" smtClean="0"/>
          </a:p>
          <a:p>
            <a:r>
              <a:rPr lang="en-US" dirty="0" smtClean="0"/>
              <a:t>The </a:t>
            </a:r>
            <a:r>
              <a:rPr lang="en-US" dirty="0"/>
              <a:t>purpose is to deliberately break the system, not as an end in itself, but as a means to find error. </a:t>
            </a:r>
            <a:endParaRPr lang="en-US" dirty="0" smtClean="0"/>
          </a:p>
          <a:p>
            <a:r>
              <a:rPr lang="en-US" dirty="0" smtClean="0"/>
              <a:t>It </a:t>
            </a:r>
            <a:r>
              <a:rPr lang="en-US" dirty="0"/>
              <a:t>is difficult to test for every combination of different operational states of the system or undesirable behavior of the environment.</a:t>
            </a:r>
          </a:p>
        </p:txBody>
      </p:sp>
    </p:spTree>
    <p:extLst>
      <p:ext uri="{BB962C8B-B14F-4D97-AF65-F5344CB8AC3E}">
        <p14:creationId xmlns:p14="http://schemas.microsoft.com/office/powerpoint/2010/main" val="24733917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ROBUSTNESSTESTS</a:t>
            </a:r>
          </a:p>
        </p:txBody>
      </p:sp>
      <p:pic>
        <p:nvPicPr>
          <p:cNvPr id="4" name="Picture 3"/>
          <p:cNvPicPr>
            <a:picLocks noChangeAspect="1"/>
          </p:cNvPicPr>
          <p:nvPr/>
        </p:nvPicPr>
        <p:blipFill>
          <a:blip r:embed="rId3"/>
          <a:stretch>
            <a:fillRect/>
          </a:stretch>
        </p:blipFill>
        <p:spPr>
          <a:xfrm>
            <a:off x="783772" y="1417637"/>
            <a:ext cx="7439227" cy="4395333"/>
          </a:xfrm>
          <a:prstGeom prst="rect">
            <a:avLst/>
          </a:prstGeom>
        </p:spPr>
      </p:pic>
    </p:spTree>
    <p:extLst>
      <p:ext uri="{BB962C8B-B14F-4D97-AF65-F5344CB8AC3E}">
        <p14:creationId xmlns:p14="http://schemas.microsoft.com/office/powerpoint/2010/main" val="65325280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Interoperability Tests</a:t>
            </a:r>
            <a:endParaRPr lang="en-US" dirty="0"/>
          </a:p>
        </p:txBody>
      </p:sp>
      <p:sp>
        <p:nvSpPr>
          <p:cNvPr id="3" name="Text Placeholder 2"/>
          <p:cNvSpPr>
            <a:spLocks noGrp="1"/>
          </p:cNvSpPr>
          <p:nvPr>
            <p:ph type="body" idx="1"/>
          </p:nvPr>
        </p:nvSpPr>
        <p:spPr/>
        <p:txBody>
          <a:bodyPr>
            <a:normAutofit fontScale="55000" lnSpcReduction="20000"/>
          </a:bodyPr>
          <a:lstStyle/>
          <a:p>
            <a:r>
              <a:rPr lang="en-US" dirty="0"/>
              <a:t>In this category, tests are designed to verify the ability of the system to interoperate with third-party products. </a:t>
            </a:r>
            <a:endParaRPr lang="en-US" dirty="0" smtClean="0"/>
          </a:p>
          <a:p>
            <a:r>
              <a:rPr lang="en-US" dirty="0" smtClean="0"/>
              <a:t>An </a:t>
            </a:r>
            <a:r>
              <a:rPr lang="en-US" dirty="0"/>
              <a:t>interoperability test typically combines different net work elements in one test environment to ensure that they work together. </a:t>
            </a:r>
            <a:endParaRPr lang="en-US" dirty="0" smtClean="0"/>
          </a:p>
          <a:p>
            <a:r>
              <a:rPr lang="en-US" dirty="0" smtClean="0"/>
              <a:t>In </a:t>
            </a:r>
            <a:r>
              <a:rPr lang="en-US" dirty="0"/>
              <a:t>other words, tests are designed to ensure that the software can be connected with other systems and operated. </a:t>
            </a:r>
            <a:endParaRPr lang="en-US" dirty="0" smtClean="0"/>
          </a:p>
          <a:p>
            <a:r>
              <a:rPr lang="en-US" dirty="0" smtClean="0"/>
              <a:t>In </a:t>
            </a:r>
            <a:r>
              <a:rPr lang="en-US" dirty="0"/>
              <a:t>many cases, during interoperability tests, users may require the hardware devices to be interchangeable, removable, or reconfigurable. Often, a system will have a set of commands or menus that allow users to make the </a:t>
            </a:r>
            <a:r>
              <a:rPr lang="en-US" dirty="0" smtClean="0"/>
              <a:t>configuration </a:t>
            </a:r>
            <a:r>
              <a:rPr lang="en-US" dirty="0"/>
              <a:t>changes. </a:t>
            </a:r>
            <a:endParaRPr lang="en-US" dirty="0" smtClean="0"/>
          </a:p>
          <a:p>
            <a:r>
              <a:rPr lang="en-US" dirty="0" smtClean="0"/>
              <a:t>The </a:t>
            </a:r>
            <a:r>
              <a:rPr lang="en-US" dirty="0"/>
              <a:t>reconfiguration activities during interoperability tests are known as configuration </a:t>
            </a:r>
            <a:r>
              <a:rPr lang="en-US" dirty="0" smtClean="0"/>
              <a:t>testing. </a:t>
            </a:r>
          </a:p>
          <a:p>
            <a:r>
              <a:rPr lang="en-US" dirty="0" smtClean="0"/>
              <a:t>Another </a:t>
            </a:r>
            <a:r>
              <a:rPr lang="en-US" dirty="0"/>
              <a:t>kind of interoperability test is called a(backward) compatibility </a:t>
            </a:r>
            <a:r>
              <a:rPr lang="en-US" dirty="0" smtClean="0"/>
              <a:t>test.</a:t>
            </a:r>
          </a:p>
          <a:p>
            <a:r>
              <a:rPr lang="en-US" dirty="0" smtClean="0"/>
              <a:t>Compatibility </a:t>
            </a:r>
            <a:r>
              <a:rPr lang="en-US" dirty="0"/>
              <a:t>tests verify that the system works the same way across different platforms, operating systems, and database </a:t>
            </a:r>
            <a:r>
              <a:rPr lang="en-US" dirty="0" smtClean="0"/>
              <a:t>management </a:t>
            </a:r>
            <a:r>
              <a:rPr lang="en-US" dirty="0"/>
              <a:t>systems. </a:t>
            </a:r>
            <a:endParaRPr lang="en-US" dirty="0" smtClean="0"/>
          </a:p>
          <a:p>
            <a:r>
              <a:rPr lang="en-US" dirty="0" smtClean="0"/>
              <a:t>Backward </a:t>
            </a:r>
            <a:r>
              <a:rPr lang="en-US" dirty="0"/>
              <a:t>compatibility tests verify that the current software build f lawlessly works with older version of platforms. </a:t>
            </a:r>
          </a:p>
        </p:txBody>
      </p:sp>
    </p:spTree>
    <p:extLst>
      <p:ext uri="{BB962C8B-B14F-4D97-AF65-F5344CB8AC3E}">
        <p14:creationId xmlns:p14="http://schemas.microsoft.com/office/powerpoint/2010/main" val="307277418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Performance Tests</a:t>
            </a:r>
            <a:endParaRPr lang="en-US" dirty="0"/>
          </a:p>
        </p:txBody>
      </p:sp>
      <p:sp>
        <p:nvSpPr>
          <p:cNvPr id="3" name="Text Placeholder 2"/>
          <p:cNvSpPr>
            <a:spLocks noGrp="1"/>
          </p:cNvSpPr>
          <p:nvPr>
            <p:ph type="body" idx="1"/>
          </p:nvPr>
        </p:nvSpPr>
        <p:spPr/>
        <p:txBody>
          <a:bodyPr>
            <a:normAutofit fontScale="92500" lnSpcReduction="20000"/>
          </a:bodyPr>
          <a:lstStyle/>
          <a:p>
            <a:r>
              <a:rPr lang="en-US" dirty="0"/>
              <a:t>Performance tests are designed to determine the performance of the actual system compared to the expected one. </a:t>
            </a:r>
            <a:endParaRPr lang="en-US" dirty="0" smtClean="0"/>
          </a:p>
          <a:p>
            <a:r>
              <a:rPr lang="en-US" dirty="0" smtClean="0"/>
              <a:t>The </a:t>
            </a:r>
            <a:r>
              <a:rPr lang="en-US" dirty="0"/>
              <a:t>performance metrics needed to be measured vary from application to application. </a:t>
            </a:r>
            <a:endParaRPr lang="en-US" dirty="0" smtClean="0"/>
          </a:p>
          <a:p>
            <a:r>
              <a:rPr lang="en-US" dirty="0"/>
              <a:t>A trans action in an on-line system requires a response of less than 1 second 90% of the time. </a:t>
            </a:r>
            <a:endParaRPr lang="en-US" dirty="0" smtClean="0"/>
          </a:p>
          <a:p>
            <a:pPr lvl="1"/>
            <a:r>
              <a:rPr lang="en-US" dirty="0"/>
              <a:t>then one needs to capture (</a:t>
            </a:r>
            <a:r>
              <a:rPr lang="en-US" dirty="0" err="1"/>
              <a:t>i</a:t>
            </a:r>
            <a:r>
              <a:rPr lang="en-US" dirty="0"/>
              <a:t>) end-to-end response time (as seen by external user), (ii) CPU time, (iii) network connection time, (iv) database access time, (v) network connection time, and (vi) waiting time.</a:t>
            </a:r>
            <a:endParaRPr lang="en-US" dirty="0"/>
          </a:p>
        </p:txBody>
      </p:sp>
    </p:spTree>
    <p:extLst>
      <p:ext uri="{BB962C8B-B14F-4D97-AF65-F5344CB8AC3E}">
        <p14:creationId xmlns:p14="http://schemas.microsoft.com/office/powerpoint/2010/main" val="428467241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Scalability Tests</a:t>
            </a:r>
            <a:endParaRPr lang="en-US" dirty="0"/>
          </a:p>
        </p:txBody>
      </p:sp>
      <p:sp>
        <p:nvSpPr>
          <p:cNvPr id="3" name="Text Placeholder 2"/>
          <p:cNvSpPr>
            <a:spLocks noGrp="1"/>
          </p:cNvSpPr>
          <p:nvPr>
            <p:ph type="body" idx="1"/>
          </p:nvPr>
        </p:nvSpPr>
        <p:spPr/>
        <p:txBody>
          <a:bodyPr>
            <a:normAutofit fontScale="92500" lnSpcReduction="20000"/>
          </a:bodyPr>
          <a:lstStyle/>
          <a:p>
            <a:r>
              <a:rPr lang="en-US" dirty="0"/>
              <a:t>All man-made artifacts have engineering </a:t>
            </a:r>
            <a:r>
              <a:rPr lang="en-US" dirty="0" smtClean="0"/>
              <a:t>limits.</a:t>
            </a:r>
          </a:p>
          <a:p>
            <a:r>
              <a:rPr lang="en-US" dirty="0" smtClean="0"/>
              <a:t>In </a:t>
            </a:r>
            <a:r>
              <a:rPr lang="en-US" dirty="0"/>
              <a:t>this group, tests are designed to verify that the system can scale up to its engineering </a:t>
            </a:r>
            <a:r>
              <a:rPr lang="en-US" dirty="0" smtClean="0"/>
              <a:t>limits.</a:t>
            </a:r>
          </a:p>
          <a:p>
            <a:r>
              <a:rPr lang="en-US" dirty="0" smtClean="0"/>
              <a:t>A </a:t>
            </a:r>
            <a:r>
              <a:rPr lang="en-US" dirty="0"/>
              <a:t>system which works acceptably at one level of demand may not scale up to another </a:t>
            </a:r>
            <a:r>
              <a:rPr lang="en-US" dirty="0" smtClean="0"/>
              <a:t>level.</a:t>
            </a:r>
          </a:p>
          <a:p>
            <a:r>
              <a:rPr lang="en-US" dirty="0" smtClean="0"/>
              <a:t>Scaling </a:t>
            </a:r>
            <a:r>
              <a:rPr lang="en-US" dirty="0"/>
              <a:t>tests are conducted to ensure that the system response time remains the same or increases by a small amount as the number of users are increased. </a:t>
            </a:r>
            <a:endParaRPr lang="en-US" dirty="0" smtClean="0"/>
          </a:p>
          <a:p>
            <a:r>
              <a:rPr lang="en-US" dirty="0" smtClean="0"/>
              <a:t>Systems </a:t>
            </a:r>
            <a:r>
              <a:rPr lang="en-US" dirty="0"/>
              <a:t>may scale until they reach one or more engineering limits. </a:t>
            </a:r>
          </a:p>
          <a:p>
            <a:endParaRPr lang="en-US" dirty="0"/>
          </a:p>
        </p:txBody>
      </p:sp>
    </p:spTree>
    <p:extLst>
      <p:ext uri="{BB962C8B-B14F-4D97-AF65-F5344CB8AC3E}">
        <p14:creationId xmlns:p14="http://schemas.microsoft.com/office/powerpoint/2010/main" val="401354030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Stress Tests</a:t>
            </a:r>
            <a:endParaRPr lang="en-US" dirty="0"/>
          </a:p>
        </p:txBody>
      </p:sp>
      <p:sp>
        <p:nvSpPr>
          <p:cNvPr id="3" name="Text Placeholder 2"/>
          <p:cNvSpPr>
            <a:spLocks noGrp="1"/>
          </p:cNvSpPr>
          <p:nvPr>
            <p:ph type="body" idx="1"/>
          </p:nvPr>
        </p:nvSpPr>
        <p:spPr/>
        <p:txBody>
          <a:bodyPr>
            <a:normAutofit fontScale="85000" lnSpcReduction="20000"/>
          </a:bodyPr>
          <a:lstStyle/>
          <a:p>
            <a:r>
              <a:rPr lang="en-US" dirty="0"/>
              <a:t>The goal of stress testing is to evaluate and determine the behavior of a software component while the offered load is in excess of its designed capacity. </a:t>
            </a:r>
            <a:endParaRPr lang="en-US" dirty="0" smtClean="0"/>
          </a:p>
          <a:p>
            <a:r>
              <a:rPr lang="en-US" dirty="0" smtClean="0"/>
              <a:t>The </a:t>
            </a:r>
            <a:r>
              <a:rPr lang="en-US" dirty="0"/>
              <a:t>system is deliberately stressed by pushing it to and beyond its specified limits. </a:t>
            </a:r>
            <a:endParaRPr lang="en-US" dirty="0" smtClean="0"/>
          </a:p>
          <a:p>
            <a:r>
              <a:rPr lang="en-US" dirty="0" smtClean="0"/>
              <a:t>Stress </a:t>
            </a:r>
            <a:r>
              <a:rPr lang="en-US" dirty="0"/>
              <a:t>tests include deliberate contention for scarce resources and testing for incompatibilities. </a:t>
            </a:r>
            <a:endParaRPr lang="en-US" dirty="0" smtClean="0"/>
          </a:p>
          <a:p>
            <a:r>
              <a:rPr lang="en-US" dirty="0" smtClean="0"/>
              <a:t>It </a:t>
            </a:r>
            <a:r>
              <a:rPr lang="en-US" dirty="0"/>
              <a:t>ensures that the system can perform acceptably under worst-case conditions under an expected peak load. </a:t>
            </a:r>
            <a:endParaRPr lang="en-US" dirty="0" smtClean="0"/>
          </a:p>
          <a:p>
            <a:r>
              <a:rPr lang="en-US" dirty="0" smtClean="0"/>
              <a:t>If </a:t>
            </a:r>
            <a:r>
              <a:rPr lang="en-US" dirty="0"/>
              <a:t>the limit is exceeded and the system does fail, then the recovery mechanism should be invoked. </a:t>
            </a:r>
          </a:p>
        </p:txBody>
      </p:sp>
    </p:spTree>
    <p:extLst>
      <p:ext uri="{BB962C8B-B14F-4D97-AF65-F5344CB8AC3E}">
        <p14:creationId xmlns:p14="http://schemas.microsoft.com/office/powerpoint/2010/main" val="141120992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Load and Stability Tests</a:t>
            </a:r>
            <a:endParaRPr lang="en-US" dirty="0"/>
          </a:p>
        </p:txBody>
      </p:sp>
      <p:sp>
        <p:nvSpPr>
          <p:cNvPr id="3" name="Text Placeholder 2"/>
          <p:cNvSpPr>
            <a:spLocks noGrp="1"/>
          </p:cNvSpPr>
          <p:nvPr>
            <p:ph type="body" idx="1"/>
          </p:nvPr>
        </p:nvSpPr>
        <p:spPr/>
        <p:txBody>
          <a:bodyPr>
            <a:normAutofit fontScale="85000" lnSpcReduction="20000"/>
          </a:bodyPr>
          <a:lstStyle/>
          <a:p>
            <a:r>
              <a:rPr lang="en-US" dirty="0"/>
              <a:t>Load and stability tests are designed to ensure that the system remains stable for a long period of time under full load. </a:t>
            </a:r>
            <a:endParaRPr lang="en-US" dirty="0" smtClean="0"/>
          </a:p>
          <a:p>
            <a:r>
              <a:rPr lang="en-US" dirty="0" smtClean="0"/>
              <a:t>A </a:t>
            </a:r>
            <a:r>
              <a:rPr lang="en-US" dirty="0"/>
              <a:t>system might function flawlessly when tested by a few careful testers who exercise it in the intended manner. </a:t>
            </a:r>
            <a:endParaRPr lang="en-US" dirty="0" smtClean="0"/>
          </a:p>
          <a:p>
            <a:r>
              <a:rPr lang="en-US" dirty="0" smtClean="0"/>
              <a:t>However</a:t>
            </a:r>
            <a:r>
              <a:rPr lang="en-US" dirty="0"/>
              <a:t>, when a large number of users are introduced with incompatible systems and applications that run for months without restarting, a number of problems are likely to occur: </a:t>
            </a:r>
            <a:endParaRPr lang="en-US" dirty="0" smtClean="0"/>
          </a:p>
          <a:p>
            <a:pPr lvl="1"/>
            <a:r>
              <a:rPr lang="en-US" dirty="0" smtClean="0"/>
              <a:t>(</a:t>
            </a:r>
            <a:r>
              <a:rPr lang="en-US" dirty="0" err="1"/>
              <a:t>i</a:t>
            </a:r>
            <a:r>
              <a:rPr lang="en-US" dirty="0"/>
              <a:t>) the system slows down, (ii) the system encounters functionality problems, (iii) the system silently fails over, and (iv) the system crashes altogether.</a:t>
            </a:r>
          </a:p>
        </p:txBody>
      </p:sp>
    </p:spTree>
    <p:extLst>
      <p:ext uri="{BB962C8B-B14F-4D97-AF65-F5344CB8AC3E}">
        <p14:creationId xmlns:p14="http://schemas.microsoft.com/office/powerpoint/2010/main" val="410508994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RELIABILITY TESTS</a:t>
            </a:r>
          </a:p>
        </p:txBody>
      </p:sp>
      <p:sp>
        <p:nvSpPr>
          <p:cNvPr id="3" name="Text Placeholder 2"/>
          <p:cNvSpPr>
            <a:spLocks noGrp="1"/>
          </p:cNvSpPr>
          <p:nvPr>
            <p:ph type="body" idx="1"/>
          </p:nvPr>
        </p:nvSpPr>
        <p:spPr/>
        <p:txBody>
          <a:bodyPr>
            <a:normAutofit fontScale="92500" lnSpcReduction="10000"/>
          </a:bodyPr>
          <a:lstStyle/>
          <a:p>
            <a:r>
              <a:rPr lang="en-US" dirty="0"/>
              <a:t>Reliability tests are designed to measure the ability of the system to remain </a:t>
            </a:r>
            <a:r>
              <a:rPr lang="en-US" dirty="0" smtClean="0"/>
              <a:t>operational </a:t>
            </a:r>
            <a:r>
              <a:rPr lang="en-US" dirty="0"/>
              <a:t>for long periods of time. </a:t>
            </a:r>
            <a:endParaRPr lang="en-US" dirty="0" smtClean="0"/>
          </a:p>
          <a:p>
            <a:r>
              <a:rPr lang="en-US" dirty="0" smtClean="0"/>
              <a:t>The </a:t>
            </a:r>
            <a:r>
              <a:rPr lang="en-US" dirty="0"/>
              <a:t>reliability of a system is typically expressed in terms of mean time to failure (MTTF). </a:t>
            </a:r>
            <a:endParaRPr lang="en-US" dirty="0" smtClean="0"/>
          </a:p>
          <a:p>
            <a:r>
              <a:rPr lang="en-US" dirty="0" smtClean="0"/>
              <a:t>As </a:t>
            </a:r>
            <a:r>
              <a:rPr lang="en-US" dirty="0"/>
              <a:t>we test the software and move through the system testing phase, we observe failures and try to remove the defects and continue </a:t>
            </a:r>
            <a:r>
              <a:rPr lang="en-US" dirty="0" smtClean="0"/>
              <a:t>testing.</a:t>
            </a:r>
          </a:p>
          <a:p>
            <a:r>
              <a:rPr lang="en-US" dirty="0" smtClean="0"/>
              <a:t>As </a:t>
            </a:r>
            <a:r>
              <a:rPr lang="en-US" dirty="0"/>
              <a:t>this progresses, we record the time durations between </a:t>
            </a:r>
            <a:r>
              <a:rPr lang="en-US" dirty="0" err="1"/>
              <a:t>succes</a:t>
            </a:r>
            <a:r>
              <a:rPr lang="en-US" dirty="0"/>
              <a:t> </a:t>
            </a:r>
            <a:r>
              <a:rPr lang="en-US" dirty="0" err="1"/>
              <a:t>sive</a:t>
            </a:r>
            <a:r>
              <a:rPr lang="en-US" dirty="0"/>
              <a:t> failures. </a:t>
            </a:r>
          </a:p>
        </p:txBody>
      </p:sp>
    </p:spTree>
    <p:extLst>
      <p:ext uri="{BB962C8B-B14F-4D97-AF65-F5344CB8AC3E}">
        <p14:creationId xmlns:p14="http://schemas.microsoft.com/office/powerpoint/2010/main" val="375498933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Regression Tests</a:t>
            </a:r>
            <a:endParaRPr lang="en-US" dirty="0"/>
          </a:p>
        </p:txBody>
      </p:sp>
      <p:sp>
        <p:nvSpPr>
          <p:cNvPr id="3" name="Text Placeholder 2"/>
          <p:cNvSpPr>
            <a:spLocks noGrp="1"/>
          </p:cNvSpPr>
          <p:nvPr>
            <p:ph type="body" idx="1"/>
          </p:nvPr>
        </p:nvSpPr>
        <p:spPr/>
        <p:txBody>
          <a:bodyPr>
            <a:normAutofit fontScale="92500" lnSpcReduction="20000"/>
          </a:bodyPr>
          <a:lstStyle/>
          <a:p>
            <a:r>
              <a:rPr lang="en-US" dirty="0"/>
              <a:t>In this category, new tests are not designed. Instead, test cases are selected from the existing pool and executed to ensure that nothing is broken in the new version of the software. </a:t>
            </a:r>
            <a:endParaRPr lang="en-US" dirty="0" smtClean="0"/>
          </a:p>
          <a:p>
            <a:r>
              <a:rPr lang="en-US" dirty="0" smtClean="0"/>
              <a:t>The </a:t>
            </a:r>
            <a:r>
              <a:rPr lang="en-US" dirty="0"/>
              <a:t>main idea in regression testing is to verify that no defect has been introduced into the unchanged portion of a system due to changes made elsewhere in the system. </a:t>
            </a:r>
            <a:endParaRPr lang="en-US" dirty="0" smtClean="0"/>
          </a:p>
          <a:p>
            <a:r>
              <a:rPr lang="en-US" dirty="0" smtClean="0"/>
              <a:t>During </a:t>
            </a:r>
            <a:r>
              <a:rPr lang="en-US" dirty="0"/>
              <a:t>system testing, many defects are revealed and the code is modified to fix those defects. </a:t>
            </a:r>
          </a:p>
        </p:txBody>
      </p:sp>
    </p:spTree>
    <p:extLst>
      <p:ext uri="{BB962C8B-B14F-4D97-AF65-F5344CB8AC3E}">
        <p14:creationId xmlns:p14="http://schemas.microsoft.com/office/powerpoint/2010/main" val="100052720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Documentation Tests</a:t>
            </a:r>
            <a:endParaRPr lang="en-US" dirty="0"/>
          </a:p>
        </p:txBody>
      </p:sp>
      <p:sp>
        <p:nvSpPr>
          <p:cNvPr id="3" name="Text Placeholder 2"/>
          <p:cNvSpPr>
            <a:spLocks noGrp="1"/>
          </p:cNvSpPr>
          <p:nvPr>
            <p:ph type="body" idx="1"/>
          </p:nvPr>
        </p:nvSpPr>
        <p:spPr/>
        <p:txBody>
          <a:bodyPr>
            <a:normAutofit fontScale="70000" lnSpcReduction="20000"/>
          </a:bodyPr>
          <a:lstStyle/>
          <a:p>
            <a:r>
              <a:rPr lang="en-US" dirty="0"/>
              <a:t>Documentation testing means verifying the technical accuracy and readability of the user manuals, including the tutorials and the on-line </a:t>
            </a:r>
            <a:r>
              <a:rPr lang="en-US" dirty="0" smtClean="0"/>
              <a:t>help. </a:t>
            </a:r>
          </a:p>
          <a:p>
            <a:r>
              <a:rPr lang="en-US" dirty="0" smtClean="0"/>
              <a:t>Documentation </a:t>
            </a:r>
            <a:r>
              <a:rPr lang="en-US" dirty="0"/>
              <a:t>testing is performed at three levels as explained in the following: </a:t>
            </a:r>
            <a:endParaRPr lang="en-US" dirty="0" smtClean="0"/>
          </a:p>
          <a:p>
            <a:r>
              <a:rPr lang="en-US" dirty="0" smtClean="0"/>
              <a:t>Read </a:t>
            </a:r>
            <a:r>
              <a:rPr lang="en-US" dirty="0"/>
              <a:t>Test: In this test a documentation is reviewed for clarity, organization, f low, and accuracy without executing the documented instructions on the system. </a:t>
            </a:r>
            <a:endParaRPr lang="en-US" dirty="0" smtClean="0"/>
          </a:p>
          <a:p>
            <a:r>
              <a:rPr lang="en-US" dirty="0" smtClean="0"/>
              <a:t>Hands-On </a:t>
            </a:r>
            <a:r>
              <a:rPr lang="en-US" dirty="0"/>
              <a:t>Test: The on-line help is exercised and the error messages verified to evaluate their accuracy and usefulness. </a:t>
            </a:r>
            <a:endParaRPr lang="en-US" dirty="0" smtClean="0"/>
          </a:p>
          <a:p>
            <a:r>
              <a:rPr lang="en-US" dirty="0" smtClean="0"/>
              <a:t>Functional </a:t>
            </a:r>
            <a:r>
              <a:rPr lang="en-US" dirty="0"/>
              <a:t>Test: The instructions embodied in the documentation are </a:t>
            </a:r>
            <a:r>
              <a:rPr lang="en-US" dirty="0" smtClean="0"/>
              <a:t>followed </a:t>
            </a:r>
            <a:r>
              <a:rPr lang="en-US" dirty="0"/>
              <a:t>to verify that the system works as it has been documented</a:t>
            </a:r>
            <a:r>
              <a:rPr lang="en-US" dirty="0" smtClean="0"/>
              <a:t>.</a:t>
            </a:r>
            <a:endParaRPr lang="en-US" dirty="0"/>
          </a:p>
        </p:txBody>
      </p:sp>
    </p:spTree>
    <p:extLst>
      <p:ext uri="{BB962C8B-B14F-4D97-AF65-F5344CB8AC3E}">
        <p14:creationId xmlns:p14="http://schemas.microsoft.com/office/powerpoint/2010/main" val="123602420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Regulatory Tests</a:t>
            </a:r>
            <a:endParaRPr lang="en-US" dirty="0"/>
          </a:p>
        </p:txBody>
      </p:sp>
      <p:sp>
        <p:nvSpPr>
          <p:cNvPr id="3" name="Text Placeholder 2"/>
          <p:cNvSpPr>
            <a:spLocks noGrp="1"/>
          </p:cNvSpPr>
          <p:nvPr>
            <p:ph type="body" idx="1"/>
          </p:nvPr>
        </p:nvSpPr>
        <p:spPr/>
        <p:txBody>
          <a:bodyPr/>
          <a:lstStyle/>
          <a:p>
            <a:r>
              <a:rPr lang="en-US" dirty="0"/>
              <a:t>In this category, the final system is shipped to the regulatory bodies in those </a:t>
            </a:r>
            <a:r>
              <a:rPr lang="en-US" dirty="0" smtClean="0"/>
              <a:t>countries </a:t>
            </a:r>
            <a:r>
              <a:rPr lang="en-US" dirty="0"/>
              <a:t>where the product is expected to be marketed. </a:t>
            </a:r>
            <a:endParaRPr lang="en-US" dirty="0" smtClean="0"/>
          </a:p>
          <a:p>
            <a:r>
              <a:rPr lang="en-US" dirty="0" smtClean="0"/>
              <a:t>The </a:t>
            </a:r>
            <a:r>
              <a:rPr lang="en-US" dirty="0"/>
              <a:t>idea is to obtain compliance marks on the product from those bodies. </a:t>
            </a:r>
            <a:endParaRPr lang="en-US" dirty="0" smtClean="0"/>
          </a:p>
          <a:p>
            <a:r>
              <a:rPr lang="en-US" dirty="0" smtClean="0"/>
              <a:t>HIPPA – Oxley-ACT </a:t>
            </a:r>
            <a:r>
              <a:rPr lang="en-US" dirty="0" err="1" smtClean="0"/>
              <a:t>etc</a:t>
            </a:r>
            <a:r>
              <a:rPr lang="en-US" dirty="0" smtClean="0"/>
              <a:t> Compliance</a:t>
            </a:r>
            <a:endParaRPr lang="en-US" dirty="0"/>
          </a:p>
        </p:txBody>
      </p:sp>
    </p:spTree>
    <p:extLst>
      <p:ext uri="{BB962C8B-B14F-4D97-AF65-F5344CB8AC3E}">
        <p14:creationId xmlns:p14="http://schemas.microsoft.com/office/powerpoint/2010/main" val="351522615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6052</TotalTime>
  <Words>2090</Words>
  <Application>Microsoft Office PowerPoint</Application>
  <PresentationFormat>On-screen Show (4:3)</PresentationFormat>
  <Paragraphs>111</Paragraphs>
  <Slides>16</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System Testing</vt:lpstr>
      <vt:lpstr>System Testing</vt:lpstr>
      <vt:lpstr>System Test Taxonomy</vt:lpstr>
      <vt:lpstr>Basic Tests</vt:lpstr>
      <vt:lpstr>Functionality Tests</vt:lpstr>
      <vt:lpstr>ROBUSTNESSTESTS</vt:lpstr>
      <vt:lpstr>ROBUSTNESSTESTS</vt:lpstr>
      <vt:lpstr>Interoperability Tests</vt:lpstr>
      <vt:lpstr>Performance Tests</vt:lpstr>
      <vt:lpstr>Scalability Tests</vt:lpstr>
      <vt:lpstr>Stress Tests</vt:lpstr>
      <vt:lpstr>Load and Stability Tests</vt:lpstr>
      <vt:lpstr>RELIABILITY TESTS</vt:lpstr>
      <vt:lpstr>Regression Tests</vt:lpstr>
      <vt:lpstr>Documentation Tests</vt:lpstr>
      <vt:lpstr>Regulatory Tests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HRM Issues</dc:title>
  <dc:creator>Waqas</dc:creator>
  <cp:lastModifiedBy>Waqas</cp:lastModifiedBy>
  <cp:revision>30</cp:revision>
  <dcterms:modified xsi:type="dcterms:W3CDTF">2026-03-27T16:23:57Z</dcterms:modified>
</cp:coreProperties>
</file>