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894" autoAdjust="0"/>
  </p:normalViewPr>
  <p:slideViewPr>
    <p:cSldViewPr snapToGrid="0">
      <p:cViewPr varScale="1">
        <p:scale>
          <a:sx n="65" d="100"/>
          <a:sy n="65" d="100"/>
        </p:scale>
        <p:origin x="9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9BD60-42B7-4106-84E0-F4434513845F}" type="datetimeFigureOut">
              <a:rPr lang="en-US" smtClean="0"/>
              <a:t>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64E55A-AE57-4E40-B8E5-5CB71466CFB1}" type="slidenum">
              <a:rPr lang="en-US" smtClean="0"/>
              <a:t>‹#›</a:t>
            </a:fld>
            <a:endParaRPr lang="en-US"/>
          </a:p>
        </p:txBody>
      </p:sp>
    </p:spTree>
    <p:extLst>
      <p:ext uri="{BB962C8B-B14F-4D97-AF65-F5344CB8AC3E}">
        <p14:creationId xmlns:p14="http://schemas.microsoft.com/office/powerpoint/2010/main" val="1157204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Independent paths in basis path testing are a set of unique execution paths through a program's code. Each path in this set introduces at least one new branch or block of code that hasn't been covered by the other paths. The number of independent paths is determined by the program's </a:t>
            </a:r>
            <a:r>
              <a:rPr lang="en-US" dirty="0" err="1" smtClean="0"/>
              <a:t>cyclomatic</a:t>
            </a:r>
            <a:r>
              <a:rPr lang="en-US" dirty="0" smtClean="0"/>
              <a:t> complexity.</a:t>
            </a:r>
          </a:p>
          <a:p>
            <a:r>
              <a:rPr lang="en-US" dirty="0" smtClean="0"/>
              <a:t>Think of it like a road map:</a:t>
            </a:r>
          </a:p>
          <a:p>
            <a:r>
              <a:rPr lang="en-US" dirty="0" smtClean="0"/>
              <a:t>A </a:t>
            </a:r>
            <a:r>
              <a:rPr lang="en-US" b="1" dirty="0" smtClean="0"/>
              <a:t>simple path</a:t>
            </a:r>
            <a:r>
              <a:rPr lang="en-US" dirty="0" smtClean="0"/>
              <a:t> might be "start at home, go to the store, and return home."</a:t>
            </a:r>
          </a:p>
          <a:p>
            <a:r>
              <a:rPr lang="en-US" dirty="0" smtClean="0"/>
              <a:t>An </a:t>
            </a:r>
            <a:r>
              <a:rPr lang="en-US" b="1" dirty="0" smtClean="0"/>
              <a:t>independent path</a:t>
            </a:r>
            <a:r>
              <a:rPr lang="en-US" dirty="0" smtClean="0"/>
              <a:t> would be "start at home, go to the gas station, and return home." It's a different route that covers at least one new segment of road (the gas station).</a:t>
            </a:r>
          </a:p>
          <a:p>
            <a:r>
              <a:rPr lang="en-US" dirty="0" smtClean="0"/>
              <a:t>In software, an independent path is one that cannot be constructed by combining or rearranging other paths in the set. The goal of basis path testing is to find the smallest number of these paths needed to ensure every statement and branch in the code is executed at least once.</a:t>
            </a:r>
          </a:p>
          <a:p>
            <a:endParaRPr lang="en-US" dirty="0"/>
          </a:p>
        </p:txBody>
      </p:sp>
      <p:sp>
        <p:nvSpPr>
          <p:cNvPr id="4" name="Slide Number Placeholder 3"/>
          <p:cNvSpPr>
            <a:spLocks noGrp="1"/>
          </p:cNvSpPr>
          <p:nvPr>
            <p:ph type="sldNum" sz="quarter" idx="10"/>
          </p:nvPr>
        </p:nvSpPr>
        <p:spPr/>
        <p:txBody>
          <a:bodyPr/>
          <a:lstStyle/>
          <a:p>
            <a:fld id="{C864E55A-AE57-4E40-B8E5-5CB71466CFB1}" type="slidenum">
              <a:rPr lang="en-US" smtClean="0"/>
              <a:t>2</a:t>
            </a:fld>
            <a:endParaRPr lang="en-US"/>
          </a:p>
        </p:txBody>
      </p:sp>
    </p:spTree>
    <p:extLst>
      <p:ext uri="{BB962C8B-B14F-4D97-AF65-F5344CB8AC3E}">
        <p14:creationId xmlns:p14="http://schemas.microsoft.com/office/powerpoint/2010/main" val="11965364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2A8F960-B98B-46F6-A888-087AB6AC87BB}"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6D993F-6FAB-4118-8D39-589EDB367CAB}" type="slidenum">
              <a:rPr lang="en-US" smtClean="0"/>
              <a:t>‹#›</a:t>
            </a:fld>
            <a:endParaRPr lang="en-US"/>
          </a:p>
        </p:txBody>
      </p:sp>
    </p:spTree>
    <p:extLst>
      <p:ext uri="{BB962C8B-B14F-4D97-AF65-F5344CB8AC3E}">
        <p14:creationId xmlns:p14="http://schemas.microsoft.com/office/powerpoint/2010/main" val="3470907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A8F960-B98B-46F6-A888-087AB6AC87BB}"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6D993F-6FAB-4118-8D39-589EDB367CAB}" type="slidenum">
              <a:rPr lang="en-US" smtClean="0"/>
              <a:t>‹#›</a:t>
            </a:fld>
            <a:endParaRPr lang="en-US"/>
          </a:p>
        </p:txBody>
      </p:sp>
    </p:spTree>
    <p:extLst>
      <p:ext uri="{BB962C8B-B14F-4D97-AF65-F5344CB8AC3E}">
        <p14:creationId xmlns:p14="http://schemas.microsoft.com/office/powerpoint/2010/main" val="215243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2A8F960-B98B-46F6-A888-087AB6AC87BB}"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6D993F-6FAB-4118-8D39-589EDB367CAB}" type="slidenum">
              <a:rPr lang="en-US" smtClean="0"/>
              <a:t>‹#›</a:t>
            </a:fld>
            <a:endParaRPr lang="en-US"/>
          </a:p>
        </p:txBody>
      </p:sp>
    </p:spTree>
    <p:extLst>
      <p:ext uri="{BB962C8B-B14F-4D97-AF65-F5344CB8AC3E}">
        <p14:creationId xmlns:p14="http://schemas.microsoft.com/office/powerpoint/2010/main" val="4124523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2A8F960-B98B-46F6-A888-087AB6AC87BB}"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6D993F-6FAB-4118-8D39-589EDB367CAB}" type="slidenum">
              <a:rPr lang="en-US" smtClean="0"/>
              <a:t>‹#›</a:t>
            </a:fld>
            <a:endParaRPr lang="en-US"/>
          </a:p>
        </p:txBody>
      </p:sp>
    </p:spTree>
    <p:extLst>
      <p:ext uri="{BB962C8B-B14F-4D97-AF65-F5344CB8AC3E}">
        <p14:creationId xmlns:p14="http://schemas.microsoft.com/office/powerpoint/2010/main" val="4229744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2A8F960-B98B-46F6-A888-087AB6AC87BB}" type="datetimeFigureOut">
              <a:rPr lang="en-US" smtClean="0"/>
              <a:t>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6D993F-6FAB-4118-8D39-589EDB367CAB}" type="slidenum">
              <a:rPr lang="en-US" smtClean="0"/>
              <a:t>‹#›</a:t>
            </a:fld>
            <a:endParaRPr lang="en-US"/>
          </a:p>
        </p:txBody>
      </p:sp>
    </p:spTree>
    <p:extLst>
      <p:ext uri="{BB962C8B-B14F-4D97-AF65-F5344CB8AC3E}">
        <p14:creationId xmlns:p14="http://schemas.microsoft.com/office/powerpoint/2010/main" val="934016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2A8F960-B98B-46F6-A888-087AB6AC87BB}" type="datetimeFigureOut">
              <a:rPr lang="en-US" smtClean="0"/>
              <a:t>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6D993F-6FAB-4118-8D39-589EDB367CAB}" type="slidenum">
              <a:rPr lang="en-US" smtClean="0"/>
              <a:t>‹#›</a:t>
            </a:fld>
            <a:endParaRPr lang="en-US"/>
          </a:p>
        </p:txBody>
      </p:sp>
    </p:spTree>
    <p:extLst>
      <p:ext uri="{BB962C8B-B14F-4D97-AF65-F5344CB8AC3E}">
        <p14:creationId xmlns:p14="http://schemas.microsoft.com/office/powerpoint/2010/main" val="4101265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A8F960-B98B-46F6-A888-087AB6AC87BB}" type="datetimeFigureOut">
              <a:rPr lang="en-US" smtClean="0"/>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E6D993F-6FAB-4118-8D39-589EDB367CAB}" type="slidenum">
              <a:rPr lang="en-US" smtClean="0"/>
              <a:t>‹#›</a:t>
            </a:fld>
            <a:endParaRPr lang="en-US"/>
          </a:p>
        </p:txBody>
      </p:sp>
    </p:spTree>
    <p:extLst>
      <p:ext uri="{BB962C8B-B14F-4D97-AF65-F5344CB8AC3E}">
        <p14:creationId xmlns:p14="http://schemas.microsoft.com/office/powerpoint/2010/main" val="4121539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2A8F960-B98B-46F6-A888-087AB6AC87BB}"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6D993F-6FAB-4118-8D39-589EDB367CAB}" type="slidenum">
              <a:rPr lang="en-US" smtClean="0"/>
              <a:t>‹#›</a:t>
            </a:fld>
            <a:endParaRPr lang="en-US"/>
          </a:p>
        </p:txBody>
      </p:sp>
    </p:spTree>
    <p:extLst>
      <p:ext uri="{BB962C8B-B14F-4D97-AF65-F5344CB8AC3E}">
        <p14:creationId xmlns:p14="http://schemas.microsoft.com/office/powerpoint/2010/main" val="2466032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2A8F960-B98B-46F6-A888-087AB6AC87BB}"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6D993F-6FAB-4118-8D39-589EDB367CAB}" type="slidenum">
              <a:rPr lang="en-US" smtClean="0"/>
              <a:t>‹#›</a:t>
            </a:fld>
            <a:endParaRPr lang="en-US"/>
          </a:p>
        </p:txBody>
      </p:sp>
    </p:spTree>
    <p:extLst>
      <p:ext uri="{BB962C8B-B14F-4D97-AF65-F5344CB8AC3E}">
        <p14:creationId xmlns:p14="http://schemas.microsoft.com/office/powerpoint/2010/main" val="3978320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A8F960-B98B-46F6-A888-087AB6AC87BB}"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6D993F-6FAB-4118-8D39-589EDB367CAB}" type="slidenum">
              <a:rPr lang="en-US" smtClean="0"/>
              <a:t>‹#›</a:t>
            </a:fld>
            <a:endParaRPr lang="en-US"/>
          </a:p>
        </p:txBody>
      </p:sp>
    </p:spTree>
    <p:extLst>
      <p:ext uri="{BB962C8B-B14F-4D97-AF65-F5344CB8AC3E}">
        <p14:creationId xmlns:p14="http://schemas.microsoft.com/office/powerpoint/2010/main" val="596833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A8F960-B98B-46F6-A888-087AB6AC87BB}"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6D993F-6FAB-4118-8D39-589EDB367CAB}" type="slidenum">
              <a:rPr lang="en-US" smtClean="0"/>
              <a:t>‹#›</a:t>
            </a:fld>
            <a:endParaRPr lang="en-US"/>
          </a:p>
        </p:txBody>
      </p:sp>
    </p:spTree>
    <p:extLst>
      <p:ext uri="{BB962C8B-B14F-4D97-AF65-F5344CB8AC3E}">
        <p14:creationId xmlns:p14="http://schemas.microsoft.com/office/powerpoint/2010/main" val="2101259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A8F960-B98B-46F6-A888-087AB6AC87BB}" type="datetimeFigureOut">
              <a:rPr lang="en-US" smtClean="0"/>
              <a:t>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6D993F-6FAB-4118-8D39-589EDB367CAB}" type="slidenum">
              <a:rPr lang="en-US" smtClean="0"/>
              <a:t>‹#›</a:t>
            </a:fld>
            <a:endParaRPr lang="en-US"/>
          </a:p>
        </p:txBody>
      </p:sp>
    </p:spTree>
    <p:extLst>
      <p:ext uri="{BB962C8B-B14F-4D97-AF65-F5344CB8AC3E}">
        <p14:creationId xmlns:p14="http://schemas.microsoft.com/office/powerpoint/2010/main" val="2571315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Control Flow Testing</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785532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Basis Path Testing</a:t>
            </a:r>
            <a:endParaRPr lang="en-US" dirty="0"/>
          </a:p>
        </p:txBody>
      </p:sp>
      <p:sp>
        <p:nvSpPr>
          <p:cNvPr id="3" name="Content Placeholder 2"/>
          <p:cNvSpPr>
            <a:spLocks noGrp="1"/>
          </p:cNvSpPr>
          <p:nvPr>
            <p:ph idx="1"/>
          </p:nvPr>
        </p:nvSpPr>
        <p:spPr/>
        <p:txBody>
          <a:bodyPr/>
          <a:lstStyle/>
          <a:p>
            <a:r>
              <a:rPr lang="en-US" b="1" dirty="0" smtClean="0"/>
              <a:t>Basis path testing</a:t>
            </a:r>
            <a:r>
              <a:rPr lang="en-US" dirty="0" smtClean="0"/>
              <a:t> is a specific </a:t>
            </a:r>
            <a:r>
              <a:rPr lang="en-US" b="1" dirty="0" smtClean="0"/>
              <a:t>white box testing technique</a:t>
            </a:r>
            <a:r>
              <a:rPr lang="en-US" dirty="0" smtClean="0"/>
              <a:t> that uses the program's control flow graph to identify a set of independent paths through the code. </a:t>
            </a:r>
          </a:p>
          <a:p>
            <a:r>
              <a:rPr lang="en-US" dirty="0" smtClean="0"/>
              <a:t>The goal is to create a set of test cases that guarantees the execution of every statement and branch at least once. </a:t>
            </a:r>
          </a:p>
          <a:p>
            <a:r>
              <a:rPr lang="en-US" dirty="0" smtClean="0"/>
              <a:t>This technique is based on a concept called the </a:t>
            </a:r>
            <a:r>
              <a:rPr lang="en-US" b="1" dirty="0" err="1" smtClean="0"/>
              <a:t>cyclomatic</a:t>
            </a:r>
            <a:r>
              <a:rPr lang="en-US" b="1" dirty="0" smtClean="0"/>
              <a:t> number</a:t>
            </a:r>
            <a:endParaRPr lang="en-US" dirty="0"/>
          </a:p>
        </p:txBody>
      </p:sp>
    </p:spTree>
    <p:extLst>
      <p:ext uri="{BB962C8B-B14F-4D97-AF65-F5344CB8AC3E}">
        <p14:creationId xmlns:p14="http://schemas.microsoft.com/office/powerpoint/2010/main" val="18972120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Basis Path Testing</a:t>
            </a:r>
            <a:endParaRPr lang="en-US" dirty="0"/>
          </a:p>
        </p:txBody>
      </p:sp>
      <p:sp>
        <p:nvSpPr>
          <p:cNvPr id="3" name="Content Placeholder 2"/>
          <p:cNvSpPr>
            <a:spLocks noGrp="1"/>
          </p:cNvSpPr>
          <p:nvPr>
            <p:ph idx="1"/>
          </p:nvPr>
        </p:nvSpPr>
        <p:spPr/>
        <p:txBody>
          <a:bodyPr/>
          <a:lstStyle/>
          <a:p>
            <a:r>
              <a:rPr lang="en-US" dirty="0" err="1" smtClean="0"/>
              <a:t>Cyclomatic</a:t>
            </a:r>
            <a:r>
              <a:rPr lang="en-US" dirty="0" smtClean="0"/>
              <a:t> Number</a:t>
            </a:r>
          </a:p>
          <a:p>
            <a:pPr lvl="1"/>
            <a:r>
              <a:rPr lang="en-US" dirty="0" smtClean="0"/>
              <a:t>The </a:t>
            </a:r>
            <a:r>
              <a:rPr lang="en-US" b="1" dirty="0" err="1" smtClean="0"/>
              <a:t>cyclomatic</a:t>
            </a:r>
            <a:r>
              <a:rPr lang="en-US" b="1" dirty="0" smtClean="0"/>
              <a:t> number</a:t>
            </a:r>
            <a:r>
              <a:rPr lang="en-US" dirty="0" smtClean="0"/>
              <a:t> is a quantitative measure of the logical complexity of a program unit.</a:t>
            </a:r>
          </a:p>
          <a:p>
            <a:pPr lvl="1"/>
            <a:r>
              <a:rPr lang="en-US" dirty="0" smtClean="0"/>
              <a:t> It's calculated from the CFG and is used to determine the minimum number of independent paths that must be tested to achieve </a:t>
            </a:r>
            <a:r>
              <a:rPr lang="en-US" b="1" dirty="0" smtClean="0"/>
              <a:t>basis path coverage</a:t>
            </a:r>
            <a:r>
              <a:rPr lang="en-US" dirty="0" smtClean="0"/>
              <a:t>. </a:t>
            </a:r>
          </a:p>
          <a:p>
            <a:pPr lvl="1"/>
            <a:r>
              <a:rPr lang="en-US" dirty="0" smtClean="0"/>
              <a:t>A higher </a:t>
            </a:r>
            <a:r>
              <a:rPr lang="en-US" dirty="0" err="1" smtClean="0"/>
              <a:t>cyclomatic</a:t>
            </a:r>
            <a:r>
              <a:rPr lang="en-US" dirty="0" smtClean="0"/>
              <a:t> number indicates a more complex program, which requires more testing</a:t>
            </a:r>
          </a:p>
          <a:p>
            <a:pPr lvl="1"/>
            <a:endParaRPr lang="en-US" dirty="0"/>
          </a:p>
          <a:p>
            <a:pPr lvl="1"/>
            <a:r>
              <a:rPr lang="en-US" dirty="0" smtClean="0">
                <a:effectLst/>
              </a:rPr>
              <a:t>M</a:t>
            </a:r>
            <a:r>
              <a:rPr lang="en-US" dirty="0" smtClean="0"/>
              <a:t>=</a:t>
            </a:r>
            <a:r>
              <a:rPr lang="en-US" dirty="0" smtClean="0">
                <a:effectLst/>
              </a:rPr>
              <a:t>E</a:t>
            </a:r>
            <a:r>
              <a:rPr lang="en-US" dirty="0" smtClean="0"/>
              <a:t>−</a:t>
            </a:r>
            <a:r>
              <a:rPr lang="en-US" dirty="0" smtClean="0">
                <a:effectLst/>
              </a:rPr>
              <a:t>N</a:t>
            </a:r>
            <a:r>
              <a:rPr lang="en-US" dirty="0" smtClean="0"/>
              <a:t>+2</a:t>
            </a:r>
            <a:r>
              <a:rPr lang="en-US" dirty="0" smtClean="0">
                <a:effectLst/>
              </a:rPr>
              <a:t>P</a:t>
            </a:r>
            <a:endParaRPr lang="en-US" dirty="0"/>
          </a:p>
        </p:txBody>
      </p:sp>
    </p:spTree>
    <p:extLst>
      <p:ext uri="{BB962C8B-B14F-4D97-AF65-F5344CB8AC3E}">
        <p14:creationId xmlns:p14="http://schemas.microsoft.com/office/powerpoint/2010/main" val="5862483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Basis Path Testing</a:t>
            </a:r>
            <a:endParaRPr lang="en-US" dirty="0"/>
          </a:p>
        </p:txBody>
      </p:sp>
      <p:sp>
        <p:nvSpPr>
          <p:cNvPr id="3" name="Content Placeholder 2"/>
          <p:cNvSpPr>
            <a:spLocks noGrp="1"/>
          </p:cNvSpPr>
          <p:nvPr>
            <p:ph idx="1"/>
          </p:nvPr>
        </p:nvSpPr>
        <p:spPr/>
        <p:txBody>
          <a:bodyPr/>
          <a:lstStyle/>
          <a:p>
            <a:r>
              <a:rPr lang="en-US" b="1" dirty="0" smtClean="0"/>
              <a:t>Selection of Minimum Number of Test Cases</a:t>
            </a:r>
          </a:p>
          <a:p>
            <a:pPr lvl="1"/>
            <a:r>
              <a:rPr lang="en-US" dirty="0" smtClean="0"/>
              <a:t>This refers to the core objective of basis path testing. </a:t>
            </a:r>
          </a:p>
          <a:p>
            <a:pPr lvl="1"/>
            <a:r>
              <a:rPr lang="en-US" dirty="0" smtClean="0"/>
              <a:t>The </a:t>
            </a:r>
            <a:r>
              <a:rPr lang="en-US" dirty="0" err="1" smtClean="0"/>
              <a:t>cyclomatic</a:t>
            </a:r>
            <a:r>
              <a:rPr lang="en-US" dirty="0" smtClean="0"/>
              <a:t> number provides the </a:t>
            </a:r>
            <a:r>
              <a:rPr lang="en-US" b="1" dirty="0" smtClean="0"/>
              <a:t>minimum number of test cases</a:t>
            </a:r>
            <a:r>
              <a:rPr lang="en-US" dirty="0" smtClean="0"/>
              <a:t> required to guarantee that every independent path is executed. </a:t>
            </a:r>
          </a:p>
          <a:p>
            <a:pPr lvl="1"/>
            <a:r>
              <a:rPr lang="en-US" dirty="0" smtClean="0"/>
              <a:t>This makes testing more efficient and thorough by focusing the effort on the most critical paths.</a:t>
            </a:r>
            <a:endParaRPr lang="en-US" b="1" dirty="0" smtClean="0"/>
          </a:p>
        </p:txBody>
      </p:sp>
    </p:spTree>
    <p:extLst>
      <p:ext uri="{BB962C8B-B14F-4D97-AF65-F5344CB8AC3E}">
        <p14:creationId xmlns:p14="http://schemas.microsoft.com/office/powerpoint/2010/main" val="20033173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Basis Path Testing</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Steps to Generate Basis Paths</a:t>
            </a:r>
          </a:p>
          <a:p>
            <a:pPr lvl="1"/>
            <a:r>
              <a:rPr lang="en-US" b="1" dirty="0" smtClean="0"/>
              <a:t>Draw the Control Flow Graph (CFG):</a:t>
            </a:r>
            <a:r>
              <a:rPr lang="en-US" dirty="0" smtClean="0"/>
              <a:t> First, you create a visual representation of the program's logic</a:t>
            </a:r>
          </a:p>
          <a:p>
            <a:pPr lvl="1"/>
            <a:r>
              <a:rPr lang="en-US" b="1" dirty="0" smtClean="0"/>
              <a:t>Calculate the </a:t>
            </a:r>
            <a:r>
              <a:rPr lang="en-US" b="1" dirty="0" err="1" smtClean="0"/>
              <a:t>Cyclomatic</a:t>
            </a:r>
            <a:r>
              <a:rPr lang="en-US" b="1" dirty="0" smtClean="0"/>
              <a:t> Complexity:</a:t>
            </a:r>
            <a:r>
              <a:rPr lang="en-US" dirty="0" smtClean="0"/>
              <a:t> Next, you determine the minimum number of independent paths needed for a complete test suite.</a:t>
            </a:r>
          </a:p>
          <a:p>
            <a:pPr lvl="1"/>
            <a:r>
              <a:rPr lang="en-US" b="1" dirty="0" smtClean="0"/>
              <a:t>Identify a Basis Set of Paths:</a:t>
            </a:r>
            <a:r>
              <a:rPr lang="en-US" dirty="0" smtClean="0"/>
              <a:t> Now, you use the </a:t>
            </a:r>
            <a:r>
              <a:rPr lang="en-US" dirty="0" err="1" smtClean="0"/>
              <a:t>cyclomatic</a:t>
            </a:r>
            <a:r>
              <a:rPr lang="en-US" dirty="0" smtClean="0"/>
              <a:t> number to find a set of linearly independent paths. The number of paths in this set must equal the </a:t>
            </a:r>
            <a:r>
              <a:rPr lang="en-US" dirty="0" err="1" smtClean="0"/>
              <a:t>cyclomatic</a:t>
            </a:r>
            <a:r>
              <a:rPr lang="en-US" dirty="0" smtClean="0"/>
              <a:t> number.</a:t>
            </a:r>
          </a:p>
          <a:p>
            <a:pPr lvl="2"/>
            <a:r>
              <a:rPr lang="en-US" dirty="0" smtClean="0"/>
              <a:t>Start by choosing a simple path through the graph that includes a few decision points.</a:t>
            </a:r>
          </a:p>
          <a:p>
            <a:pPr lvl="2"/>
            <a:r>
              <a:rPr lang="en-US" dirty="0" smtClean="0"/>
              <a:t>Then, incrementally add new paths to the set. Each new path must introduce at least one new edge that was not included in the previously chosen paths.</a:t>
            </a:r>
          </a:p>
          <a:p>
            <a:pPr lvl="2"/>
            <a:r>
              <a:rPr lang="en-US" dirty="0" smtClean="0"/>
              <a:t>Continue this process until you have a set of paths equal to the </a:t>
            </a:r>
            <a:r>
              <a:rPr lang="en-US" dirty="0" err="1" smtClean="0"/>
              <a:t>cyclomatic</a:t>
            </a:r>
            <a:r>
              <a:rPr lang="en-US" dirty="0" smtClean="0"/>
              <a:t> number, ensuring that every edge in the CFG is covered at least once.</a:t>
            </a:r>
          </a:p>
          <a:p>
            <a:pPr lvl="1"/>
            <a:r>
              <a:rPr lang="en-US" b="1" dirty="0" smtClean="0"/>
              <a:t>Derive Test Cases:</a:t>
            </a:r>
            <a:r>
              <a:rPr lang="en-US" dirty="0" smtClean="0"/>
              <a:t> Finally, for each path in your basis set, you create a test case.</a:t>
            </a:r>
          </a:p>
          <a:p>
            <a:pPr lvl="1"/>
            <a:endParaRPr lang="en-US" b="1" dirty="0" smtClean="0"/>
          </a:p>
        </p:txBody>
      </p:sp>
    </p:spTree>
    <p:extLst>
      <p:ext uri="{BB962C8B-B14F-4D97-AF65-F5344CB8AC3E}">
        <p14:creationId xmlns:p14="http://schemas.microsoft.com/office/powerpoint/2010/main" val="38222073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2050</TotalTime>
  <Words>545</Words>
  <Application>Microsoft Office PowerPoint</Application>
  <PresentationFormat>Widescreen</PresentationFormat>
  <Paragraphs>32</Paragraphs>
  <Slides>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Control Flow Testing</vt:lpstr>
      <vt:lpstr>Basis Path Testing</vt:lpstr>
      <vt:lpstr>Basis Path Testing</vt:lpstr>
      <vt:lpstr>Basis Path Testing</vt:lpstr>
      <vt:lpstr>Basis Path Testing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Flow Testing</dc:title>
  <dc:creator>Waqas</dc:creator>
  <cp:lastModifiedBy>Waqas</cp:lastModifiedBy>
  <cp:revision>2</cp:revision>
  <dcterms:created xsi:type="dcterms:W3CDTF">2025-09-08T09:03:09Z</dcterms:created>
  <dcterms:modified xsi:type="dcterms:W3CDTF">2026-02-03T13:56:17Z</dcterms:modified>
</cp:coreProperties>
</file>