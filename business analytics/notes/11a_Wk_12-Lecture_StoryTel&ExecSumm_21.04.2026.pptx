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48" r:id="rId1"/>
  </p:sldMasterIdLst>
  <p:notesMasterIdLst>
    <p:notesMasterId r:id="rId16"/>
  </p:notesMasterIdLst>
  <p:sldIdLst>
    <p:sldId id="256" r:id="rId2"/>
    <p:sldId id="322" r:id="rId3"/>
    <p:sldId id="436" r:id="rId4"/>
    <p:sldId id="439" r:id="rId5"/>
    <p:sldId id="440" r:id="rId6"/>
    <p:sldId id="438" r:id="rId7"/>
    <p:sldId id="437" r:id="rId8"/>
    <p:sldId id="403" r:id="rId9"/>
    <p:sldId id="442" r:id="rId10"/>
    <p:sldId id="443" r:id="rId11"/>
    <p:sldId id="444" r:id="rId12"/>
    <p:sldId id="441" r:id="rId13"/>
    <p:sldId id="338" r:id="rId14"/>
    <p:sldId id="395" r:id="rId15"/>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ufeeza Iqbal" initials="MI" lastIdx="1" clrIdx="0">
    <p:extLst>
      <p:ext uri="{19B8F6BF-5375-455C-9EA6-DF929625EA0E}">
        <p15:presenceInfo xmlns:p15="http://schemas.microsoft.com/office/powerpoint/2012/main" userId="Mufeeza Iqba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675C4"/>
    <a:srgbClr val="F4F8FE"/>
    <a:srgbClr val="D4E5F7"/>
    <a:srgbClr val="F7E485"/>
    <a:srgbClr val="FFDA3F"/>
    <a:srgbClr val="F7ECA7"/>
    <a:srgbClr val="FFE6B3"/>
    <a:srgbClr val="DEC904"/>
    <a:srgbClr val="E2B700"/>
    <a:srgbClr val="F6E9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917" autoAdjust="0"/>
  </p:normalViewPr>
  <p:slideViewPr>
    <p:cSldViewPr snapToGrid="0">
      <p:cViewPr varScale="1">
        <p:scale>
          <a:sx n="80" d="100"/>
          <a:sy n="80" d="100"/>
        </p:scale>
        <p:origin x="727"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A3216-91D5-43D0-B205-F0CBF00F2A3B}" type="datetimeFigureOut">
              <a:rPr lang="en-PK" smtClean="0"/>
              <a:t>21/04/2026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88AE2D-6C56-4B4B-AC93-0FCEBED5A4D6}" type="slidenum">
              <a:rPr lang="en-PK" smtClean="0"/>
              <a:t>‹#›</a:t>
            </a:fld>
            <a:endParaRPr lang="en-PK"/>
          </a:p>
        </p:txBody>
      </p:sp>
    </p:spTree>
    <p:extLst>
      <p:ext uri="{BB962C8B-B14F-4D97-AF65-F5344CB8AC3E}">
        <p14:creationId xmlns:p14="http://schemas.microsoft.com/office/powerpoint/2010/main" val="1092021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392AE-3475-5519-9CD2-B3813CA2A3E0}"/>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PK" dirty="0"/>
          </a:p>
        </p:txBody>
      </p:sp>
      <p:sp>
        <p:nvSpPr>
          <p:cNvPr id="3" name="Subtitle 2">
            <a:extLst>
              <a:ext uri="{FF2B5EF4-FFF2-40B4-BE49-F238E27FC236}">
                <a16:creationId xmlns:a16="http://schemas.microsoft.com/office/drawing/2014/main" id="{C69BC997-4B8A-9709-FA3F-2812ED29EB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PK" dirty="0"/>
          </a:p>
        </p:txBody>
      </p:sp>
      <p:sp>
        <p:nvSpPr>
          <p:cNvPr id="4" name="Date Placeholder 3">
            <a:extLst>
              <a:ext uri="{FF2B5EF4-FFF2-40B4-BE49-F238E27FC236}">
                <a16:creationId xmlns:a16="http://schemas.microsoft.com/office/drawing/2014/main" id="{0CEDD1C2-A443-3425-F1A3-450EEF2D63F4}"/>
              </a:ext>
            </a:extLst>
          </p:cNvPr>
          <p:cNvSpPr>
            <a:spLocks noGrp="1"/>
          </p:cNvSpPr>
          <p:nvPr>
            <p:ph type="dt" sz="half" idx="10"/>
          </p:nvPr>
        </p:nvSpPr>
        <p:spPr/>
        <p:txBody>
          <a:bodyPr/>
          <a:lstStyle/>
          <a:p>
            <a:fld id="{F2E0BE24-4914-473D-86E2-D4EE0B0E90C7}" type="datetime8">
              <a:rPr lang="en-PK" smtClean="0"/>
              <a:t>21/04/2026 1:22 pm</a:t>
            </a:fld>
            <a:endParaRPr lang="en-PK"/>
          </a:p>
        </p:txBody>
      </p:sp>
      <p:sp>
        <p:nvSpPr>
          <p:cNvPr id="5" name="Footer Placeholder 4">
            <a:extLst>
              <a:ext uri="{FF2B5EF4-FFF2-40B4-BE49-F238E27FC236}">
                <a16:creationId xmlns:a16="http://schemas.microsoft.com/office/drawing/2014/main" id="{80BE2A3E-9208-EDCE-DEBB-4D933736745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7EF72C-8D9E-F888-7543-7E09C4BFD1ED}"/>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970094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99ADE-7B08-A01C-72DF-FE9993CEE412}"/>
              </a:ext>
            </a:extLst>
          </p:cNvPr>
          <p:cNvSpPr>
            <a:spLocks noGrp="1"/>
          </p:cNvSpPr>
          <p:nvPr>
            <p:ph type="title"/>
          </p:nvPr>
        </p:nvSpPr>
        <p:spPr/>
        <p:txBody>
          <a:bodyPr>
            <a:normAutofit/>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D7607FC3-A55A-4A8D-FCDC-D328082DEE3B}"/>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dirty="0"/>
          </a:p>
        </p:txBody>
      </p:sp>
      <p:sp>
        <p:nvSpPr>
          <p:cNvPr id="4" name="Date Placeholder 3">
            <a:extLst>
              <a:ext uri="{FF2B5EF4-FFF2-40B4-BE49-F238E27FC236}">
                <a16:creationId xmlns:a16="http://schemas.microsoft.com/office/drawing/2014/main" id="{81EEBE8E-9BB1-B225-5B4C-55AEA4E7FB3F}"/>
              </a:ext>
            </a:extLst>
          </p:cNvPr>
          <p:cNvSpPr>
            <a:spLocks noGrp="1"/>
          </p:cNvSpPr>
          <p:nvPr>
            <p:ph type="dt" sz="half" idx="10"/>
          </p:nvPr>
        </p:nvSpPr>
        <p:spPr/>
        <p:txBody>
          <a:bodyPr/>
          <a:lstStyle/>
          <a:p>
            <a:fld id="{9E39EF77-D47F-4BB1-86E4-5F455460BD9C}" type="datetime8">
              <a:rPr lang="en-PK" smtClean="0"/>
              <a:t>21/04/2026 1:22 pm</a:t>
            </a:fld>
            <a:endParaRPr lang="en-PK"/>
          </a:p>
        </p:txBody>
      </p:sp>
      <p:sp>
        <p:nvSpPr>
          <p:cNvPr id="5" name="Footer Placeholder 4">
            <a:extLst>
              <a:ext uri="{FF2B5EF4-FFF2-40B4-BE49-F238E27FC236}">
                <a16:creationId xmlns:a16="http://schemas.microsoft.com/office/drawing/2014/main" id="{1C5AE679-F999-E1F9-0F77-DEA6D713194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877F485-BD67-E327-64C3-D7E71B9E5CDC}"/>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910424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EA042-DF09-56BB-8638-29DBAD3887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6E1508DB-FFA7-6D03-67FA-3EF149A1B8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14BE1E-EE08-ACCC-1271-2F5E25CAF127}"/>
              </a:ext>
            </a:extLst>
          </p:cNvPr>
          <p:cNvSpPr>
            <a:spLocks noGrp="1"/>
          </p:cNvSpPr>
          <p:nvPr>
            <p:ph type="dt" sz="half" idx="10"/>
          </p:nvPr>
        </p:nvSpPr>
        <p:spPr/>
        <p:txBody>
          <a:bodyPr/>
          <a:lstStyle/>
          <a:p>
            <a:fld id="{8081A5AA-2A6E-43F2-9F30-AF7EED5FA600}" type="datetime8">
              <a:rPr lang="en-PK" smtClean="0"/>
              <a:t>21/04/2026 1:22 pm</a:t>
            </a:fld>
            <a:endParaRPr lang="en-PK"/>
          </a:p>
        </p:txBody>
      </p:sp>
      <p:sp>
        <p:nvSpPr>
          <p:cNvPr id="5" name="Footer Placeholder 4">
            <a:extLst>
              <a:ext uri="{FF2B5EF4-FFF2-40B4-BE49-F238E27FC236}">
                <a16:creationId xmlns:a16="http://schemas.microsoft.com/office/drawing/2014/main" id="{C3D9D85B-5C96-E835-D822-93C86F7831C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7F1899E9-E472-DD15-F881-200436473BF1}"/>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010372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27FCC-3AE3-0214-F9D4-FCB15D614000}"/>
              </a:ext>
            </a:extLst>
          </p:cNvPr>
          <p:cNvSpPr>
            <a:spLocks noGrp="1"/>
          </p:cNvSpPr>
          <p:nvPr>
            <p:ph type="title"/>
          </p:nvPr>
        </p:nvSpPr>
        <p:spPr/>
        <p:txBody>
          <a:bodyPr/>
          <a:lstStyle>
            <a:lvl1pPr>
              <a:defRPr sz="2800" b="1" i="0" baseline="0">
                <a:solidFill>
                  <a:srgbClr val="0070C0"/>
                </a:solidFill>
              </a:defRPr>
            </a:lvl1p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8207161E-F706-1674-13DB-BACD4723176A}"/>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dirty="0"/>
          </a:p>
        </p:txBody>
      </p:sp>
      <p:sp>
        <p:nvSpPr>
          <p:cNvPr id="4" name="Content Placeholder 3">
            <a:extLst>
              <a:ext uri="{FF2B5EF4-FFF2-40B4-BE49-F238E27FC236}">
                <a16:creationId xmlns:a16="http://schemas.microsoft.com/office/drawing/2014/main" id="{57CA0A05-46B6-960E-7368-B2CE54CC3B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DF639986-E720-F1B7-36F9-B2708004C907}"/>
              </a:ext>
            </a:extLst>
          </p:cNvPr>
          <p:cNvSpPr>
            <a:spLocks noGrp="1"/>
          </p:cNvSpPr>
          <p:nvPr>
            <p:ph type="dt" sz="half" idx="10"/>
          </p:nvPr>
        </p:nvSpPr>
        <p:spPr/>
        <p:txBody>
          <a:bodyPr/>
          <a:lstStyle/>
          <a:p>
            <a:fld id="{9E4E2CB0-8F81-407D-9308-759F0E533D95}" type="datetime8">
              <a:rPr lang="en-PK" smtClean="0"/>
              <a:t>21/04/2026 1:22 pm</a:t>
            </a:fld>
            <a:endParaRPr lang="en-PK"/>
          </a:p>
        </p:txBody>
      </p:sp>
      <p:sp>
        <p:nvSpPr>
          <p:cNvPr id="6" name="Footer Placeholder 5">
            <a:extLst>
              <a:ext uri="{FF2B5EF4-FFF2-40B4-BE49-F238E27FC236}">
                <a16:creationId xmlns:a16="http://schemas.microsoft.com/office/drawing/2014/main" id="{108C3A9C-BA81-3B68-288D-EB7FD47FFBA7}"/>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CEAEAC4-C699-2232-BD98-7252DC5E195A}"/>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606244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4A8C3-75DD-1313-ABA5-5D3FFA02C9DA}"/>
              </a:ext>
            </a:extLst>
          </p:cNvPr>
          <p:cNvSpPr>
            <a:spLocks noGrp="1"/>
          </p:cNvSpPr>
          <p:nvPr>
            <p:ph type="title"/>
          </p:nvPr>
        </p:nvSpPr>
        <p:spPr>
          <a:xfrm>
            <a:off x="839788" y="365125"/>
            <a:ext cx="10515600" cy="1325563"/>
          </a:xfrm>
        </p:spPr>
        <p:txBody>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Text Placeholder 2">
            <a:extLst>
              <a:ext uri="{FF2B5EF4-FFF2-40B4-BE49-F238E27FC236}">
                <a16:creationId xmlns:a16="http://schemas.microsoft.com/office/drawing/2014/main" id="{8C77D5B1-50C2-CF91-9D88-610914E272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B35284C-0315-C6F1-CA04-F3E219D15F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BC47C534-C2F2-A37B-C431-9DF8A42B31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AA4DAB-49CA-2EFC-9842-564884678C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E64688EE-799F-3F23-A121-4F674361A703}"/>
              </a:ext>
            </a:extLst>
          </p:cNvPr>
          <p:cNvSpPr>
            <a:spLocks noGrp="1"/>
          </p:cNvSpPr>
          <p:nvPr>
            <p:ph type="dt" sz="half" idx="10"/>
          </p:nvPr>
        </p:nvSpPr>
        <p:spPr/>
        <p:txBody>
          <a:bodyPr/>
          <a:lstStyle/>
          <a:p>
            <a:fld id="{6F0FBD63-32C8-45D6-BE9D-408F278BE9C8}" type="datetime8">
              <a:rPr lang="en-PK" smtClean="0"/>
              <a:t>21/04/2026 1:22 pm</a:t>
            </a:fld>
            <a:endParaRPr lang="en-PK"/>
          </a:p>
        </p:txBody>
      </p:sp>
      <p:sp>
        <p:nvSpPr>
          <p:cNvPr id="8" name="Footer Placeholder 7">
            <a:extLst>
              <a:ext uri="{FF2B5EF4-FFF2-40B4-BE49-F238E27FC236}">
                <a16:creationId xmlns:a16="http://schemas.microsoft.com/office/drawing/2014/main" id="{93E4848C-55D2-9A77-36F1-FAD52DCB085E}"/>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2D5D59BD-56E3-4753-6C9F-3B1F4CE0BE67}"/>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930308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AC4B4-FA75-C85D-E743-3DB6E5DB7351}"/>
              </a:ext>
            </a:extLst>
          </p:cNvPr>
          <p:cNvSpPr>
            <a:spLocks noGrp="1"/>
          </p:cNvSpPr>
          <p:nvPr>
            <p:ph type="title"/>
          </p:nvPr>
        </p:nvSpPr>
        <p:spPr/>
        <p:txBody>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Date Placeholder 2">
            <a:extLst>
              <a:ext uri="{FF2B5EF4-FFF2-40B4-BE49-F238E27FC236}">
                <a16:creationId xmlns:a16="http://schemas.microsoft.com/office/drawing/2014/main" id="{2FDF645E-1294-7708-0DA4-EDA61782FD91}"/>
              </a:ext>
            </a:extLst>
          </p:cNvPr>
          <p:cNvSpPr>
            <a:spLocks noGrp="1"/>
          </p:cNvSpPr>
          <p:nvPr>
            <p:ph type="dt" sz="half" idx="10"/>
          </p:nvPr>
        </p:nvSpPr>
        <p:spPr/>
        <p:txBody>
          <a:bodyPr/>
          <a:lstStyle/>
          <a:p>
            <a:fld id="{165A7C61-2664-45A8-9CA0-D9D546B35364}" type="datetime8">
              <a:rPr lang="en-PK" smtClean="0"/>
              <a:t>21/04/2026 1:22 pm</a:t>
            </a:fld>
            <a:endParaRPr lang="en-PK"/>
          </a:p>
        </p:txBody>
      </p:sp>
      <p:sp>
        <p:nvSpPr>
          <p:cNvPr id="4" name="Footer Placeholder 3">
            <a:extLst>
              <a:ext uri="{FF2B5EF4-FFF2-40B4-BE49-F238E27FC236}">
                <a16:creationId xmlns:a16="http://schemas.microsoft.com/office/drawing/2014/main" id="{4E69AFA9-8467-3A28-7BFF-CA12EF3CA431}"/>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08D24441-1E31-6A33-D8E8-781D599AD101}"/>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292362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B7448-39E8-68A0-B712-84409BF4EB3A}"/>
              </a:ext>
            </a:extLst>
          </p:cNvPr>
          <p:cNvSpPr>
            <a:spLocks noGrp="1"/>
          </p:cNvSpPr>
          <p:nvPr>
            <p:ph type="title"/>
          </p:nvPr>
        </p:nvSpPr>
        <p:spPr/>
        <p:txBody>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Date Placeholder 2">
            <a:extLst>
              <a:ext uri="{FF2B5EF4-FFF2-40B4-BE49-F238E27FC236}">
                <a16:creationId xmlns:a16="http://schemas.microsoft.com/office/drawing/2014/main" id="{E7243484-DEAD-0EB1-DC5F-24E6FD4BABC5}"/>
              </a:ext>
            </a:extLst>
          </p:cNvPr>
          <p:cNvSpPr>
            <a:spLocks noGrp="1"/>
          </p:cNvSpPr>
          <p:nvPr>
            <p:ph type="dt" sz="half" idx="10"/>
          </p:nvPr>
        </p:nvSpPr>
        <p:spPr/>
        <p:txBody>
          <a:bodyPr/>
          <a:lstStyle/>
          <a:p>
            <a:fld id="{D7C78C6A-94B1-48CD-B95C-7BBCF06B539F}" type="datetime8">
              <a:rPr lang="en-PK" smtClean="0"/>
              <a:t>21/04/2026 1:22 pm</a:t>
            </a:fld>
            <a:endParaRPr lang="en-PK"/>
          </a:p>
        </p:txBody>
      </p:sp>
      <p:sp>
        <p:nvSpPr>
          <p:cNvPr id="4" name="Footer Placeholder 3">
            <a:extLst>
              <a:ext uri="{FF2B5EF4-FFF2-40B4-BE49-F238E27FC236}">
                <a16:creationId xmlns:a16="http://schemas.microsoft.com/office/drawing/2014/main" id="{7BF8FE36-0300-3AD8-5E95-41E333E18162}"/>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73CC0281-9CE6-90B4-45F9-D9D954D12024}"/>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092040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053CB-8CBB-A3DD-2AD9-1CA3785107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FEF21173-6A64-ACDD-90B1-F466FBD621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BC611703-8264-01ED-8E5E-06DFA98EE8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925018-0F9D-E6A7-30D4-FA1B94922608}"/>
              </a:ext>
            </a:extLst>
          </p:cNvPr>
          <p:cNvSpPr>
            <a:spLocks noGrp="1"/>
          </p:cNvSpPr>
          <p:nvPr>
            <p:ph type="dt" sz="half" idx="10"/>
          </p:nvPr>
        </p:nvSpPr>
        <p:spPr/>
        <p:txBody>
          <a:bodyPr/>
          <a:lstStyle/>
          <a:p>
            <a:fld id="{8885620F-E5D6-45BD-ABE4-D3E73AEC1059}" type="datetime8">
              <a:rPr lang="en-PK" smtClean="0"/>
              <a:t>21/04/2026 1:22 pm</a:t>
            </a:fld>
            <a:endParaRPr lang="en-PK"/>
          </a:p>
        </p:txBody>
      </p:sp>
      <p:sp>
        <p:nvSpPr>
          <p:cNvPr id="6" name="Footer Placeholder 5">
            <a:extLst>
              <a:ext uri="{FF2B5EF4-FFF2-40B4-BE49-F238E27FC236}">
                <a16:creationId xmlns:a16="http://schemas.microsoft.com/office/drawing/2014/main" id="{EC9345B6-DE39-4DE7-B63A-020AA0C2594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077E181-66A9-8AF7-8FC6-FD18E1778D17}"/>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821884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9E283-232A-203F-BE7E-C1FAB18986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35344E88-2CB0-6548-1689-37B5CD1D82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FAC45364-9FD1-5237-6F05-3CD9FF28E6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A0F029-9EDC-16AD-E233-F72153868CD3}"/>
              </a:ext>
            </a:extLst>
          </p:cNvPr>
          <p:cNvSpPr>
            <a:spLocks noGrp="1"/>
          </p:cNvSpPr>
          <p:nvPr>
            <p:ph type="dt" sz="half" idx="10"/>
          </p:nvPr>
        </p:nvSpPr>
        <p:spPr/>
        <p:txBody>
          <a:bodyPr/>
          <a:lstStyle/>
          <a:p>
            <a:fld id="{C0B36677-69CF-4F57-B961-69869666485F}" type="datetime8">
              <a:rPr lang="en-PK" smtClean="0"/>
              <a:t>21/04/2026 1:22 pm</a:t>
            </a:fld>
            <a:endParaRPr lang="en-PK"/>
          </a:p>
        </p:txBody>
      </p:sp>
      <p:sp>
        <p:nvSpPr>
          <p:cNvPr id="6" name="Footer Placeholder 5">
            <a:extLst>
              <a:ext uri="{FF2B5EF4-FFF2-40B4-BE49-F238E27FC236}">
                <a16:creationId xmlns:a16="http://schemas.microsoft.com/office/drawing/2014/main" id="{566EAD10-9813-FA15-7AA3-F311C1514D6A}"/>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6593DEC-A834-573B-8137-57A252A1E13A}"/>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553929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B6A8F-48A0-C1A4-C992-787E5B87AC6B}"/>
              </a:ext>
            </a:extLst>
          </p:cNvPr>
          <p:cNvSpPr>
            <a:spLocks noGrp="1"/>
          </p:cNvSpPr>
          <p:nvPr>
            <p:ph type="title"/>
          </p:nvPr>
        </p:nvSpPr>
        <p:spPr/>
        <p:txBody>
          <a:bodyPr>
            <a:normAutofit/>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Vertical Text Placeholder 2">
            <a:extLst>
              <a:ext uri="{FF2B5EF4-FFF2-40B4-BE49-F238E27FC236}">
                <a16:creationId xmlns:a16="http://schemas.microsoft.com/office/drawing/2014/main" id="{9785B7C4-4FCF-3883-BC91-FDBC338D9E93}"/>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dirty="0"/>
          </a:p>
        </p:txBody>
      </p:sp>
      <p:sp>
        <p:nvSpPr>
          <p:cNvPr id="4" name="Date Placeholder 3">
            <a:extLst>
              <a:ext uri="{FF2B5EF4-FFF2-40B4-BE49-F238E27FC236}">
                <a16:creationId xmlns:a16="http://schemas.microsoft.com/office/drawing/2014/main" id="{D6E4F67A-FCF1-D4E4-E162-793DEACCA4D9}"/>
              </a:ext>
            </a:extLst>
          </p:cNvPr>
          <p:cNvSpPr>
            <a:spLocks noGrp="1"/>
          </p:cNvSpPr>
          <p:nvPr>
            <p:ph type="dt" sz="half" idx="10"/>
          </p:nvPr>
        </p:nvSpPr>
        <p:spPr/>
        <p:txBody>
          <a:bodyPr/>
          <a:lstStyle/>
          <a:p>
            <a:fld id="{76AFB392-8D81-42DB-9470-C0982980A208}" type="datetime8">
              <a:rPr lang="en-PK" smtClean="0"/>
              <a:t>21/04/2026 1:22 pm</a:t>
            </a:fld>
            <a:endParaRPr lang="en-PK"/>
          </a:p>
        </p:txBody>
      </p:sp>
      <p:sp>
        <p:nvSpPr>
          <p:cNvPr id="5" name="Footer Placeholder 4">
            <a:extLst>
              <a:ext uri="{FF2B5EF4-FFF2-40B4-BE49-F238E27FC236}">
                <a16:creationId xmlns:a16="http://schemas.microsoft.com/office/drawing/2014/main" id="{1FD6A201-A7CA-71B8-8718-9897B03FE15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2B9A3F33-5AA9-E112-2ABF-79F547887F53}"/>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626848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D59074-43DC-F3A1-F847-B382DA9986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4F3AC57-AF5B-EC7C-207D-DD87813931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95FF8A-8F6C-7460-66BD-36FE94B2C2E8}"/>
              </a:ext>
            </a:extLst>
          </p:cNvPr>
          <p:cNvSpPr>
            <a:spLocks noGrp="1"/>
          </p:cNvSpPr>
          <p:nvPr>
            <p:ph type="dt" sz="half" idx="10"/>
          </p:nvPr>
        </p:nvSpPr>
        <p:spPr/>
        <p:txBody>
          <a:bodyPr/>
          <a:lstStyle/>
          <a:p>
            <a:fld id="{A3C8CE2D-4511-4580-808C-44E58A6F6871}" type="datetime8">
              <a:rPr lang="en-PK" smtClean="0"/>
              <a:t>21/04/2026 1:22 pm</a:t>
            </a:fld>
            <a:endParaRPr lang="en-PK"/>
          </a:p>
        </p:txBody>
      </p:sp>
      <p:sp>
        <p:nvSpPr>
          <p:cNvPr id="5" name="Footer Placeholder 4">
            <a:extLst>
              <a:ext uri="{FF2B5EF4-FFF2-40B4-BE49-F238E27FC236}">
                <a16:creationId xmlns:a16="http://schemas.microsoft.com/office/drawing/2014/main" id="{8DBE7764-4D16-A8A5-2DA2-548355B8B79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EDDCA92-473C-706D-5019-016D87F1B607}"/>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4229802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5FF33B-CB98-4E49-F470-FDEB20A1B0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PK" dirty="0"/>
          </a:p>
        </p:txBody>
      </p:sp>
      <p:sp>
        <p:nvSpPr>
          <p:cNvPr id="3" name="Text Placeholder 2">
            <a:extLst>
              <a:ext uri="{FF2B5EF4-FFF2-40B4-BE49-F238E27FC236}">
                <a16:creationId xmlns:a16="http://schemas.microsoft.com/office/drawing/2014/main" id="{5895A451-6F13-E99E-AA74-118FE07054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A7D6080-894B-699D-C377-9FCB24BB49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8247E1-80FA-4B68-AED4-FB0D556219B2}" type="datetime8">
              <a:rPr lang="en-PK" smtClean="0"/>
              <a:t>21/04/2026 1:22 pm</a:t>
            </a:fld>
            <a:endParaRPr lang="en-PK"/>
          </a:p>
        </p:txBody>
      </p:sp>
      <p:sp>
        <p:nvSpPr>
          <p:cNvPr id="5" name="Footer Placeholder 4">
            <a:extLst>
              <a:ext uri="{FF2B5EF4-FFF2-40B4-BE49-F238E27FC236}">
                <a16:creationId xmlns:a16="http://schemas.microsoft.com/office/drawing/2014/main" id="{4E1F34FF-7C89-DFB6-0D18-88EA7A4B3B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41908851-096B-57D1-721E-52D426BA69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5646D-91FE-4030-A7F0-07F651F9A7F3}" type="slidenum">
              <a:rPr lang="en-PK" smtClean="0"/>
              <a:t>‹#›</a:t>
            </a:fld>
            <a:endParaRPr lang="en-PK"/>
          </a:p>
        </p:txBody>
      </p:sp>
    </p:spTree>
    <p:extLst>
      <p:ext uri="{BB962C8B-B14F-4D97-AF65-F5344CB8AC3E}">
        <p14:creationId xmlns:p14="http://schemas.microsoft.com/office/powerpoint/2010/main" val="506824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0"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online.hbs.edu/blog/post/data-storytelling"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online.hbs.edu/blog/post/data-storytelling"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M99vejNVngI" TargetMode="External"/><Relationship Id="rId1" Type="http://schemas.openxmlformats.org/officeDocument/2006/relationships/slideLayout" Target="../slideLayouts/slideLayout2.xml"/><Relationship Id="rId4" Type="http://schemas.openxmlformats.org/officeDocument/2006/relationships/hyperlink" Target="https://www.microsoft.com/en-my/power-platform/products/power-bi/topics/data-storytelling"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hb-qwRAltOw" TargetMode="External"/><Relationship Id="rId1" Type="http://schemas.openxmlformats.org/officeDocument/2006/relationships/slideLayout" Target="../slideLayouts/slideLayout8.xml"/><Relationship Id="rId5" Type="http://schemas.openxmlformats.org/officeDocument/2006/relationships/image" Target="../media/image2.png"/><Relationship Id="rId4" Type="http://schemas.openxmlformats.org/officeDocument/2006/relationships/hyperlink" Target="https://www.growthbi.com.au/post/top-data-storytelling-examples-to-inspire-your-business-strategy4"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microsoft.com/en-my/power-platform/products/power-bi/topics/data-storytelling"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youtube.com/watch?v=FwjaHCVNBWA&amp;t=412s" TargetMode="External"/><Relationship Id="rId1" Type="http://schemas.openxmlformats.org/officeDocument/2006/relationships/slideLayout" Target="../slideLayouts/slideLayout8.xml"/><Relationship Id="rId5" Type="http://schemas.openxmlformats.org/officeDocument/2006/relationships/hyperlink" Target="https://www.microsoft.com/en-my/power-platform/products/power-bi/topics/data-storytelling" TargetMode="Externa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hyperlink" Target="https://www.coursera.org/articles/executive-summary"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coursera.org/articles/executive-summary"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growth-grid.ai/blog/executive-summary-examples/"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template.net/business/word-templates/best-executive-summary-samples/" TargetMode="External"/><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hyperlink" Target="https://www.slideteam.net/blog/top-10-executive-summary-report-templates-with-samples-and-examples4" TargetMode="External"/><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trumpexcel.com/excel-sample-data/?_thumbnail_id=46825#Create-Your-Own-Sample-Dataset-in-Exce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www.slideteam.net/blog/top-10-executive-summary-report-templates-with-samples-and-examples" TargetMode="External"/><Relationship Id="rId3" Type="http://schemas.openxmlformats.org/officeDocument/2006/relationships/hyperlink" Target="https://www.signavio.com/wiki/process-design/bpmn/" TargetMode="External"/><Relationship Id="rId7" Type="http://schemas.openxmlformats.org/officeDocument/2006/relationships/hyperlink" Target="https://www.microsoft.com/en-my/power-platform/products/power-bi/topics/data-storytelling" TargetMode="External"/><Relationship Id="rId2" Type="http://schemas.openxmlformats.org/officeDocument/2006/relationships/hyperlink" Target="https://www.coursera.org/articles/executive-summary" TargetMode="External"/><Relationship Id="rId1" Type="http://schemas.openxmlformats.org/officeDocument/2006/relationships/slideLayout" Target="../slideLayouts/slideLayout2.xml"/><Relationship Id="rId6" Type="http://schemas.openxmlformats.org/officeDocument/2006/relationships/hyperlink" Target="https://online.hbs.edu/blog/post/data-storytelling" TargetMode="External"/><Relationship Id="rId5" Type="http://schemas.openxmlformats.org/officeDocument/2006/relationships/hyperlink" Target="https://growth-grid.ai/blog/executive-summary-examples/" TargetMode="External"/><Relationship Id="rId10" Type="http://schemas.openxmlformats.org/officeDocument/2006/relationships/image" Target="../media/image1.png"/><Relationship Id="rId4" Type="http://schemas.openxmlformats.org/officeDocument/2006/relationships/hyperlink" Target="https://www.growthbi.com.au/post/top-data-storytelling-examples-to-inspire-your-business-strategy" TargetMode="External"/><Relationship Id="rId9" Type="http://schemas.openxmlformats.org/officeDocument/2006/relationships/hyperlink" Target="https://www.template.net/business/word-templates/best-executive-summary-samples/"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iiba.org/career-resources/a-business-analysis-professionals-foundation-for-success/babo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D80B44-5D51-DEB9-139E-D6588E08DCEE}"/>
              </a:ext>
            </a:extLst>
          </p:cNvPr>
          <p:cNvSpPr/>
          <p:nvPr/>
        </p:nvSpPr>
        <p:spPr>
          <a:xfrm>
            <a:off x="-1" y="6553199"/>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7" name="Rectangle 6">
            <a:extLst>
              <a:ext uri="{FF2B5EF4-FFF2-40B4-BE49-F238E27FC236}">
                <a16:creationId xmlns:a16="http://schemas.microsoft.com/office/drawing/2014/main" id="{F0A358E0-F332-E7D0-E6FF-67C0C524EC5E}"/>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3" name="Slide Number Placeholder 2">
            <a:extLst>
              <a:ext uri="{FF2B5EF4-FFF2-40B4-BE49-F238E27FC236}">
                <a16:creationId xmlns:a16="http://schemas.microsoft.com/office/drawing/2014/main" id="{3CC7347E-773E-501C-BBCD-F143B41F9D1E}"/>
              </a:ext>
            </a:extLst>
          </p:cNvPr>
          <p:cNvSpPr>
            <a:spLocks noGrp="1"/>
          </p:cNvSpPr>
          <p:nvPr>
            <p:ph type="sldNum" sz="quarter" idx="12"/>
          </p:nvPr>
        </p:nvSpPr>
        <p:spPr/>
        <p:txBody>
          <a:bodyPr/>
          <a:lstStyle/>
          <a:p>
            <a:fld id="{8C95646D-91FE-4030-A7F0-07F651F9A7F3}" type="slidenum">
              <a:rPr lang="en-PK" smtClean="0"/>
              <a:t>1</a:t>
            </a:fld>
            <a:endParaRPr lang="en-PK"/>
          </a:p>
        </p:txBody>
      </p:sp>
      <p:sp>
        <p:nvSpPr>
          <p:cNvPr id="5" name="Title 4">
            <a:extLst>
              <a:ext uri="{FF2B5EF4-FFF2-40B4-BE49-F238E27FC236}">
                <a16:creationId xmlns:a16="http://schemas.microsoft.com/office/drawing/2014/main" id="{376D3B6A-B4FC-14B2-8C07-F3041090EE78}"/>
              </a:ext>
            </a:extLst>
          </p:cNvPr>
          <p:cNvSpPr>
            <a:spLocks noGrp="1"/>
          </p:cNvSpPr>
          <p:nvPr>
            <p:ph type="ctrTitle"/>
          </p:nvPr>
        </p:nvSpPr>
        <p:spPr>
          <a:xfrm>
            <a:off x="1524000" y="1567543"/>
            <a:ext cx="9144000" cy="2997200"/>
          </a:xfrm>
        </p:spPr>
        <p:txBody>
          <a:bodyPr>
            <a:normAutofit/>
          </a:bodyPr>
          <a:lstStyle/>
          <a:p>
            <a:r>
              <a:rPr lang="en-US" dirty="0"/>
              <a:t>BUSINESS ANALYSIS</a:t>
            </a:r>
            <a:br>
              <a:rPr lang="en-US" sz="1600" dirty="0"/>
            </a:br>
            <a:br>
              <a:rPr lang="en-US" sz="1600" dirty="0"/>
            </a:br>
            <a:r>
              <a:rPr lang="en-US" sz="4400" dirty="0">
                <a:solidFill>
                  <a:srgbClr val="0070C0"/>
                </a:solidFill>
              </a:rPr>
              <a:t>Reporting and Storytelling</a:t>
            </a:r>
            <a:endParaRPr lang="en-PK" dirty="0">
              <a:solidFill>
                <a:srgbClr val="0070C0"/>
              </a:solidFill>
            </a:endParaRPr>
          </a:p>
        </p:txBody>
      </p:sp>
      <p:pic>
        <p:nvPicPr>
          <p:cNvPr id="1028" name="Picture 4" descr="Download HD 55 Pm 52458 Fast University ...">
            <a:extLst>
              <a:ext uri="{FF2B5EF4-FFF2-40B4-BE49-F238E27FC236}">
                <a16:creationId xmlns:a16="http://schemas.microsoft.com/office/drawing/2014/main" id="{7C0E69E7-0624-E377-FC31-A9DAAD9B9B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9150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28662" y="676224"/>
            <a:ext cx="10515600" cy="847650"/>
          </a:xfrm>
        </p:spPr>
        <p:txBody>
          <a:bodyPr>
            <a:normAutofit/>
          </a:bodyPr>
          <a:lstStyle/>
          <a:p>
            <a:r>
              <a:rPr lang="en-US" dirty="0">
                <a:solidFill>
                  <a:schemeClr val="bg2">
                    <a:lumMod val="50000"/>
                  </a:schemeClr>
                </a:solidFill>
                <a:latin typeface="+mn-lt"/>
              </a:rPr>
              <a:t>DATA STORYTELLING</a:t>
            </a:r>
            <a:endParaRPr lang="en-PK" sz="2800" b="1" dirty="0">
              <a:solidFill>
                <a:schemeClr val="bg2">
                  <a:lumMod val="50000"/>
                </a:schemeClr>
              </a:solidFill>
              <a:latin typeface="+mn-lt"/>
            </a:endParaRP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728662" y="1523874"/>
            <a:ext cx="11058525" cy="4448301"/>
          </a:xfrm>
        </p:spPr>
        <p:txBody>
          <a:bodyPr>
            <a:normAutofit fontScale="77500" lnSpcReduction="20000"/>
          </a:bodyPr>
          <a:lstStyle/>
          <a:p>
            <a:pPr marL="358775" lvl="1" indent="-358775">
              <a:lnSpc>
                <a:spcPct val="170000"/>
              </a:lnSpc>
              <a:spcBef>
                <a:spcPts val="0"/>
              </a:spcBef>
            </a:pPr>
            <a:r>
              <a:rPr lang="en-US" sz="2100" b="1" dirty="0">
                <a:solidFill>
                  <a:srgbClr val="0070C0"/>
                </a:solidFill>
              </a:rPr>
              <a:t>What is data storytelling?</a:t>
            </a:r>
          </a:p>
          <a:p>
            <a:pPr marL="358775" lvl="1" indent="0">
              <a:lnSpc>
                <a:spcPct val="170000"/>
              </a:lnSpc>
              <a:spcBef>
                <a:spcPts val="0"/>
              </a:spcBef>
              <a:buNone/>
            </a:pPr>
            <a:r>
              <a:rPr lang="en-US" sz="1800" dirty="0"/>
              <a:t>“Data storytelling is the ability to effectively communicate insights from a dataset using narratives and visualizations. It can be used to put data insights into context for and inspire action from your audience.”</a:t>
            </a:r>
          </a:p>
          <a:p>
            <a:pPr marL="358775" lvl="1" indent="-358775">
              <a:lnSpc>
                <a:spcPct val="170000"/>
              </a:lnSpc>
              <a:spcBef>
                <a:spcPts val="0"/>
              </a:spcBef>
            </a:pPr>
            <a:r>
              <a:rPr lang="en-US" sz="2100" b="1" dirty="0">
                <a:solidFill>
                  <a:srgbClr val="0070C0"/>
                </a:solidFill>
              </a:rPr>
              <a:t>Why use the data storytelling method?</a:t>
            </a:r>
          </a:p>
          <a:p>
            <a:pPr marL="358775" lvl="1" indent="0">
              <a:lnSpc>
                <a:spcPct val="170000"/>
              </a:lnSpc>
              <a:spcBef>
                <a:spcPts val="0"/>
              </a:spcBef>
              <a:buNone/>
            </a:pPr>
            <a:r>
              <a:rPr lang="en-US" sz="1800" dirty="0"/>
              <a:t>Brain’s preference for stories over data</a:t>
            </a:r>
          </a:p>
          <a:p>
            <a:pPr marL="358775" lvl="1" indent="0">
              <a:lnSpc>
                <a:spcPct val="170000"/>
              </a:lnSpc>
              <a:spcBef>
                <a:spcPts val="0"/>
              </a:spcBef>
              <a:buNone/>
            </a:pPr>
            <a:r>
              <a:rPr lang="en-US" sz="1800" dirty="0"/>
              <a:t>Stimulates brain on multiple levels: language comprehension, emotional response, empathy </a:t>
            </a:r>
          </a:p>
          <a:p>
            <a:pPr marL="358775" lvl="1" indent="-358775">
              <a:lnSpc>
                <a:spcPct val="170000"/>
              </a:lnSpc>
              <a:spcBef>
                <a:spcPts val="0"/>
              </a:spcBef>
            </a:pPr>
            <a:r>
              <a:rPr lang="en-US" sz="2100" b="1" dirty="0">
                <a:solidFill>
                  <a:srgbClr val="0070C0"/>
                </a:solidFill>
              </a:rPr>
              <a:t>Three components of data storytelling</a:t>
            </a:r>
          </a:p>
          <a:p>
            <a:pPr marL="644525" lvl="1" indent="-285750">
              <a:lnSpc>
                <a:spcPct val="170000"/>
              </a:lnSpc>
              <a:spcBef>
                <a:spcPts val="0"/>
              </a:spcBef>
              <a:buFont typeface="Courier New" panose="02070309020205020404" pitchFamily="49" charset="0"/>
              <a:buChar char="o"/>
            </a:pPr>
            <a:r>
              <a:rPr lang="en-US" sz="1800" dirty="0"/>
              <a:t>“Data: Thorough analysis of accurate, complete data serves as the foundation of your data story. </a:t>
            </a:r>
            <a:r>
              <a:rPr lang="en-US" sz="1800" dirty="0">
                <a:solidFill>
                  <a:srgbClr val="0070C0"/>
                </a:solidFill>
              </a:rPr>
              <a:t>Analyzing data using descriptive, diagnostic, predictive, and prescriptive analysis </a:t>
            </a:r>
            <a:r>
              <a:rPr lang="en-US" sz="1800" dirty="0"/>
              <a:t>can enable you to understand its full picture.</a:t>
            </a:r>
          </a:p>
          <a:p>
            <a:pPr marL="644525" lvl="1" indent="-285750">
              <a:lnSpc>
                <a:spcPct val="170000"/>
              </a:lnSpc>
              <a:spcBef>
                <a:spcPts val="0"/>
              </a:spcBef>
              <a:buFont typeface="Courier New" panose="02070309020205020404" pitchFamily="49" charset="0"/>
              <a:buChar char="o"/>
            </a:pPr>
            <a:r>
              <a:rPr lang="en-US" sz="1800" dirty="0"/>
              <a:t>Narrative: A verbal or written narrative, also called a storyline, is used to </a:t>
            </a:r>
            <a:r>
              <a:rPr lang="en-US" sz="1800" dirty="0">
                <a:solidFill>
                  <a:srgbClr val="0070C0"/>
                </a:solidFill>
              </a:rPr>
              <a:t>communicate insights gleaned from data</a:t>
            </a:r>
            <a:r>
              <a:rPr lang="en-US" sz="1800" dirty="0"/>
              <a:t>, the context surrounding it, and actions you recommend and aim to inspire in your audience.</a:t>
            </a:r>
          </a:p>
          <a:p>
            <a:pPr marL="644525" lvl="1" indent="-285750">
              <a:lnSpc>
                <a:spcPct val="170000"/>
              </a:lnSpc>
              <a:spcBef>
                <a:spcPts val="0"/>
              </a:spcBef>
              <a:buFont typeface="Courier New" panose="02070309020205020404" pitchFamily="49" charset="0"/>
              <a:buChar char="o"/>
            </a:pPr>
            <a:r>
              <a:rPr lang="en-US" sz="1800" dirty="0"/>
              <a:t>Visualizations: Visual representations of your data and narrative can be useful for communicating its story clearly and memorably. These can be </a:t>
            </a:r>
            <a:r>
              <a:rPr lang="en-US" sz="1800" dirty="0">
                <a:solidFill>
                  <a:srgbClr val="0070C0"/>
                </a:solidFill>
              </a:rPr>
              <a:t>charts, graphs, diagrams, pictures, or videos</a:t>
            </a:r>
            <a:r>
              <a:rPr lang="en-US" sz="1800" dirty="0"/>
              <a:t>.”</a:t>
            </a:r>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2</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AC802D9-1CE0-0A82-8D90-255CFF96C400}"/>
              </a:ext>
            </a:extLst>
          </p:cNvPr>
          <p:cNvSpPr txBox="1"/>
          <p:nvPr/>
        </p:nvSpPr>
        <p:spPr>
          <a:xfrm>
            <a:off x="539837" y="6266212"/>
            <a:ext cx="10704425" cy="430887"/>
          </a:xfrm>
          <a:prstGeom prst="rect">
            <a:avLst/>
          </a:prstGeom>
          <a:noFill/>
        </p:spPr>
        <p:txBody>
          <a:bodyPr wrap="square" rtlCol="0">
            <a:spAutoFit/>
          </a:bodyPr>
          <a:lstStyle/>
          <a:p>
            <a:r>
              <a:rPr lang="en-US" sz="1100" dirty="0"/>
              <a:t>Source: Harvard Business School; </a:t>
            </a:r>
            <a:r>
              <a:rPr lang="en-US" sz="1100" dirty="0">
                <a:hlinkClick r:id="rId3"/>
              </a:rPr>
              <a:t>https://online.hbs.edu/blog/post/data-storytelling</a:t>
            </a:r>
            <a:endParaRPr lang="en-US" sz="1100" dirty="0"/>
          </a:p>
          <a:p>
            <a:endParaRPr lang="en-PK" sz="1100" dirty="0"/>
          </a:p>
        </p:txBody>
      </p:sp>
    </p:spTree>
    <p:extLst>
      <p:ext uri="{BB962C8B-B14F-4D97-AF65-F5344CB8AC3E}">
        <p14:creationId xmlns:p14="http://schemas.microsoft.com/office/powerpoint/2010/main" val="1427379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28662" y="676224"/>
            <a:ext cx="10515600" cy="847650"/>
          </a:xfrm>
        </p:spPr>
        <p:txBody>
          <a:bodyPr>
            <a:normAutofit/>
          </a:bodyPr>
          <a:lstStyle/>
          <a:p>
            <a:r>
              <a:rPr lang="en-US" dirty="0">
                <a:solidFill>
                  <a:schemeClr val="bg2">
                    <a:lumMod val="50000"/>
                  </a:schemeClr>
                </a:solidFill>
                <a:latin typeface="+mn-lt"/>
              </a:rPr>
              <a:t>CRAFTING A GOOD STORY</a:t>
            </a:r>
            <a:endParaRPr lang="en-PK" sz="2800" b="1" dirty="0">
              <a:solidFill>
                <a:schemeClr val="bg2">
                  <a:lumMod val="50000"/>
                </a:schemeClr>
              </a:solidFill>
              <a:latin typeface="+mn-lt"/>
            </a:endParaRP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728662" y="1404811"/>
            <a:ext cx="11058525" cy="4624514"/>
          </a:xfrm>
        </p:spPr>
        <p:txBody>
          <a:bodyPr>
            <a:normAutofit fontScale="85000" lnSpcReduction="20000"/>
          </a:bodyPr>
          <a:lstStyle/>
          <a:p>
            <a:pPr marL="0" lvl="1" indent="0">
              <a:lnSpc>
                <a:spcPct val="170000"/>
              </a:lnSpc>
              <a:spcBef>
                <a:spcPts val="0"/>
              </a:spcBef>
              <a:buNone/>
            </a:pPr>
            <a:r>
              <a:rPr lang="en-US" sz="2100" b="1" dirty="0">
                <a:solidFill>
                  <a:srgbClr val="0070C0"/>
                </a:solidFill>
              </a:rPr>
              <a:t>Example: </a:t>
            </a:r>
          </a:p>
          <a:p>
            <a:pPr marL="358775" lvl="1" indent="0">
              <a:lnSpc>
                <a:spcPct val="170000"/>
              </a:lnSpc>
              <a:spcBef>
                <a:spcPts val="0"/>
              </a:spcBef>
              <a:buNone/>
            </a:pPr>
            <a:r>
              <a:rPr lang="en-US" sz="1800" dirty="0"/>
              <a:t>As a business analyst you notice that a company’s recent decline in sales has been driven by customers of all genders between the ages of 14 and 23. The drop was caused by a viral social media post highlighting the company’s negative impact on the environment</a:t>
            </a:r>
          </a:p>
          <a:p>
            <a:pPr marL="644525" lvl="1" indent="-285750">
              <a:lnSpc>
                <a:spcPct val="170000"/>
              </a:lnSpc>
              <a:spcBef>
                <a:spcPts val="0"/>
              </a:spcBef>
              <a:buFont typeface="Courier New" panose="02070309020205020404" pitchFamily="49" charset="0"/>
              <a:buChar char="o"/>
            </a:pPr>
            <a:endParaRPr lang="en-US" sz="1800" b="1" dirty="0">
              <a:solidFill>
                <a:srgbClr val="0070C0"/>
              </a:solidFill>
            </a:endParaRPr>
          </a:p>
          <a:p>
            <a:pPr marL="357188" lvl="1" indent="-357188">
              <a:lnSpc>
                <a:spcPct val="170000"/>
              </a:lnSpc>
              <a:spcBef>
                <a:spcPts val="0"/>
              </a:spcBef>
              <a:buFont typeface="Courier New" panose="02070309020205020404" pitchFamily="49" charset="0"/>
              <a:buChar char="o"/>
            </a:pPr>
            <a:r>
              <a:rPr lang="en-US" sz="1800" b="1" dirty="0">
                <a:solidFill>
                  <a:srgbClr val="0070C0"/>
                </a:solidFill>
              </a:rPr>
              <a:t>Characters:</a:t>
            </a:r>
            <a:r>
              <a:rPr lang="en-US" sz="1800" dirty="0"/>
              <a:t> Identify players and stakeholders which in this case include customers between the ages of 14 and 23, environmentally conscious consumers, and your internal team</a:t>
            </a:r>
          </a:p>
          <a:p>
            <a:pPr marL="357188" lvl="1" indent="-357188">
              <a:lnSpc>
                <a:spcPct val="170000"/>
              </a:lnSpc>
              <a:spcBef>
                <a:spcPts val="0"/>
              </a:spcBef>
              <a:buFont typeface="Courier New" panose="02070309020205020404" pitchFamily="49" charset="0"/>
              <a:buChar char="o"/>
            </a:pPr>
            <a:r>
              <a:rPr lang="en-US" sz="1800" b="1" dirty="0">
                <a:solidFill>
                  <a:srgbClr val="0070C0"/>
                </a:solidFill>
              </a:rPr>
              <a:t>Setting:</a:t>
            </a:r>
            <a:r>
              <a:rPr lang="en-US" sz="1800" dirty="0"/>
              <a:t> Set the scene and explain the drop in sales driven by customers of all genders ages 14 to 23. Use a data visualization to show the decline across audience types and highlight the largest drop in young users.</a:t>
            </a:r>
          </a:p>
          <a:p>
            <a:pPr marL="357188" lvl="1" indent="-357188">
              <a:lnSpc>
                <a:spcPct val="170000"/>
              </a:lnSpc>
              <a:spcBef>
                <a:spcPts val="0"/>
              </a:spcBef>
              <a:buFont typeface="Courier New" panose="02070309020205020404" pitchFamily="49" charset="0"/>
              <a:buChar char="o"/>
            </a:pPr>
            <a:r>
              <a:rPr lang="en-US" sz="1800" b="1" dirty="0">
                <a:solidFill>
                  <a:srgbClr val="0070C0"/>
                </a:solidFill>
              </a:rPr>
              <a:t>Conflict: </a:t>
            </a:r>
            <a:r>
              <a:rPr lang="en-US" sz="1800" dirty="0"/>
              <a:t>Describe the root issue i.e., how a viral social media post highlighted your company’s negative impact on the environment causing young customers to stop using your product. You may incorporate other related research on the trend and use visualization tools where required</a:t>
            </a:r>
          </a:p>
          <a:p>
            <a:pPr marL="357188" lvl="1" indent="-357188">
              <a:lnSpc>
                <a:spcPct val="170000"/>
              </a:lnSpc>
              <a:spcBef>
                <a:spcPts val="0"/>
              </a:spcBef>
              <a:buFont typeface="Courier New" panose="02070309020205020404" pitchFamily="49" charset="0"/>
              <a:buChar char="o"/>
            </a:pPr>
            <a:r>
              <a:rPr lang="en-US" sz="1800" b="1" dirty="0">
                <a:solidFill>
                  <a:srgbClr val="0070C0"/>
                </a:solidFill>
              </a:rPr>
              <a:t>Resolution: </a:t>
            </a:r>
            <a:r>
              <a:rPr lang="en-US" sz="1800" dirty="0"/>
              <a:t>Propose your solution. Based on this data, you may present long-term goal of sustainable manufacturing practices and tailor marketing and public relations efforts towards this goal </a:t>
            </a:r>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3</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AC802D9-1CE0-0A82-8D90-255CFF96C400}"/>
              </a:ext>
            </a:extLst>
          </p:cNvPr>
          <p:cNvSpPr txBox="1"/>
          <p:nvPr/>
        </p:nvSpPr>
        <p:spPr>
          <a:xfrm>
            <a:off x="539837" y="6266212"/>
            <a:ext cx="10704425" cy="430887"/>
          </a:xfrm>
          <a:prstGeom prst="rect">
            <a:avLst/>
          </a:prstGeom>
          <a:noFill/>
        </p:spPr>
        <p:txBody>
          <a:bodyPr wrap="square" rtlCol="0">
            <a:spAutoFit/>
          </a:bodyPr>
          <a:lstStyle/>
          <a:p>
            <a:r>
              <a:rPr lang="en-US" sz="1100" dirty="0"/>
              <a:t>Source: Harvard Business School; </a:t>
            </a:r>
            <a:r>
              <a:rPr lang="en-US" sz="1100" dirty="0">
                <a:hlinkClick r:id="rId3"/>
              </a:rPr>
              <a:t>https://online.hbs.edu/blog/post/data-storytelling</a:t>
            </a:r>
            <a:endParaRPr lang="en-US" sz="1100" dirty="0"/>
          </a:p>
          <a:p>
            <a:endParaRPr lang="en-PK" sz="1100" dirty="0"/>
          </a:p>
        </p:txBody>
      </p:sp>
    </p:spTree>
    <p:extLst>
      <p:ext uri="{BB962C8B-B14F-4D97-AF65-F5344CB8AC3E}">
        <p14:creationId xmlns:p14="http://schemas.microsoft.com/office/powerpoint/2010/main" val="1281356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838199" y="940986"/>
            <a:ext cx="10515600" cy="847650"/>
          </a:xfrm>
        </p:spPr>
        <p:txBody>
          <a:bodyPr>
            <a:normAutofit/>
          </a:bodyPr>
          <a:lstStyle/>
          <a:p>
            <a:r>
              <a:rPr lang="en-US" dirty="0">
                <a:solidFill>
                  <a:schemeClr val="bg2">
                    <a:lumMod val="50000"/>
                  </a:schemeClr>
                </a:solidFill>
                <a:latin typeface="+mn-lt"/>
              </a:rPr>
              <a:t>USING DATA VISUALIZATION AND STORYTELLING TOGETHER</a:t>
            </a: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595313" y="1844762"/>
            <a:ext cx="11191874" cy="4184562"/>
          </a:xfrm>
        </p:spPr>
        <p:txBody>
          <a:bodyPr>
            <a:normAutofit lnSpcReduction="10000"/>
          </a:bodyPr>
          <a:lstStyle/>
          <a:p>
            <a:pPr marL="358775" lvl="1" indent="0">
              <a:lnSpc>
                <a:spcPct val="170000"/>
              </a:lnSpc>
              <a:spcBef>
                <a:spcPts val="0"/>
              </a:spcBef>
              <a:buNone/>
            </a:pPr>
            <a:r>
              <a:rPr lang="en-US" sz="1800" b="1" dirty="0">
                <a:solidFill>
                  <a:srgbClr val="0070C0"/>
                </a:solidFill>
              </a:rPr>
              <a:t>Data visualization helps</a:t>
            </a:r>
          </a:p>
          <a:p>
            <a:pPr marL="895350" lvl="1" indent="-536575">
              <a:lnSpc>
                <a:spcPct val="170000"/>
              </a:lnSpc>
              <a:spcBef>
                <a:spcPts val="0"/>
              </a:spcBef>
              <a:buFont typeface="Courier New" panose="02070309020205020404" pitchFamily="49" charset="0"/>
              <a:buChar char="o"/>
            </a:pPr>
            <a:r>
              <a:rPr lang="en-US" sz="1800" dirty="0"/>
              <a:t>Communicate complex information</a:t>
            </a:r>
          </a:p>
          <a:p>
            <a:pPr marL="895350" lvl="1" indent="-536575">
              <a:lnSpc>
                <a:spcPct val="170000"/>
              </a:lnSpc>
              <a:spcBef>
                <a:spcPts val="0"/>
              </a:spcBef>
              <a:buFont typeface="Courier New" panose="02070309020205020404" pitchFamily="49" charset="0"/>
              <a:buChar char="o"/>
            </a:pPr>
            <a:r>
              <a:rPr lang="en-US" sz="1800" dirty="0"/>
              <a:t>Transform large amounts of data into something simpler and digestible </a:t>
            </a:r>
          </a:p>
          <a:p>
            <a:pPr marL="895350" lvl="1" indent="-536575">
              <a:lnSpc>
                <a:spcPct val="170000"/>
              </a:lnSpc>
              <a:spcBef>
                <a:spcPts val="0"/>
              </a:spcBef>
              <a:buFont typeface="Courier New" panose="02070309020205020404" pitchFamily="49" charset="0"/>
              <a:buChar char="o"/>
            </a:pPr>
            <a:r>
              <a:rPr lang="en-US" sz="1800" dirty="0"/>
              <a:t>Reveal patterns, trends, and findings from an unbiased viewpoint</a:t>
            </a:r>
          </a:p>
          <a:p>
            <a:pPr marL="895350" lvl="1" indent="-536575">
              <a:lnSpc>
                <a:spcPct val="170000"/>
              </a:lnSpc>
              <a:spcBef>
                <a:spcPts val="0"/>
              </a:spcBef>
              <a:buFont typeface="Courier New" panose="02070309020205020404" pitchFamily="49" charset="0"/>
              <a:buChar char="o"/>
            </a:pPr>
            <a:r>
              <a:rPr lang="en-US" sz="1800" dirty="0"/>
              <a:t>Provide context, interpret results, and articulate insights</a:t>
            </a:r>
          </a:p>
          <a:p>
            <a:pPr marL="895350" lvl="1" indent="-536575">
              <a:lnSpc>
                <a:spcPct val="170000"/>
              </a:lnSpc>
              <a:spcBef>
                <a:spcPts val="0"/>
              </a:spcBef>
              <a:buFont typeface="Courier New" panose="02070309020205020404" pitchFamily="49" charset="0"/>
              <a:buChar char="o"/>
            </a:pPr>
            <a:r>
              <a:rPr lang="en-US" sz="1800" dirty="0"/>
              <a:t>Streamline data so your audience can process information</a:t>
            </a:r>
          </a:p>
          <a:p>
            <a:pPr marL="895350" lvl="1" indent="-536575">
              <a:lnSpc>
                <a:spcPct val="170000"/>
              </a:lnSpc>
              <a:spcBef>
                <a:spcPts val="0"/>
              </a:spcBef>
              <a:buFont typeface="Courier New" panose="02070309020205020404" pitchFamily="49" charset="0"/>
              <a:buChar char="o"/>
            </a:pPr>
            <a:r>
              <a:rPr lang="en-US" sz="1800" dirty="0"/>
              <a:t>Improve audience engagement</a:t>
            </a:r>
          </a:p>
          <a:p>
            <a:pPr marL="358775" lvl="1" indent="0">
              <a:lnSpc>
                <a:spcPct val="170000"/>
              </a:lnSpc>
              <a:spcBef>
                <a:spcPts val="0"/>
              </a:spcBef>
              <a:buNone/>
            </a:pPr>
            <a:endParaRPr lang="en-US" sz="1800" dirty="0"/>
          </a:p>
          <a:p>
            <a:pPr marL="358775" lvl="1" indent="0">
              <a:lnSpc>
                <a:spcPct val="170000"/>
              </a:lnSpc>
              <a:spcBef>
                <a:spcPts val="0"/>
              </a:spcBef>
              <a:buNone/>
            </a:pPr>
            <a:r>
              <a:rPr lang="en-US" sz="1600" b="1" dirty="0">
                <a:solidFill>
                  <a:srgbClr val="C00000"/>
                </a:solidFill>
              </a:rPr>
              <a:t>Video: </a:t>
            </a:r>
            <a:r>
              <a:rPr lang="en-US" sz="1600" dirty="0">
                <a:hlinkClick r:id="rId2"/>
              </a:rPr>
              <a:t>Largest Economies Ranked: Data from 1580 to 2025</a:t>
            </a:r>
            <a:endParaRPr lang="en-US" sz="1600" dirty="0"/>
          </a:p>
          <a:p>
            <a:pPr marL="358775" lvl="1" indent="0">
              <a:lnSpc>
                <a:spcPct val="170000"/>
              </a:lnSpc>
              <a:spcBef>
                <a:spcPts val="0"/>
              </a:spcBef>
              <a:buNone/>
            </a:pPr>
            <a:endParaRPr lang="en-US" sz="1800" dirty="0"/>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4</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AC802D9-1CE0-0A82-8D90-255CFF96C400}"/>
              </a:ext>
            </a:extLst>
          </p:cNvPr>
          <p:cNvSpPr txBox="1"/>
          <p:nvPr/>
        </p:nvSpPr>
        <p:spPr>
          <a:xfrm>
            <a:off x="539837" y="6266212"/>
            <a:ext cx="10704425" cy="430887"/>
          </a:xfrm>
          <a:prstGeom prst="rect">
            <a:avLst/>
          </a:prstGeom>
          <a:noFill/>
        </p:spPr>
        <p:txBody>
          <a:bodyPr wrap="square" rtlCol="0">
            <a:spAutoFit/>
          </a:bodyPr>
          <a:lstStyle/>
          <a:p>
            <a:r>
              <a:rPr lang="en-US" sz="1100" dirty="0"/>
              <a:t>Source: Microsoft; </a:t>
            </a:r>
            <a:r>
              <a:rPr lang="en-US" sz="1100" dirty="0">
                <a:hlinkClick r:id="rId4"/>
              </a:rPr>
              <a:t>https://www.microsoft.com/en-my/power-platform/products/power-bi/topics/data-storytelling</a:t>
            </a:r>
            <a:endParaRPr lang="en-US" sz="1100" dirty="0"/>
          </a:p>
          <a:p>
            <a:endParaRPr lang="en-PK" sz="1100" dirty="0"/>
          </a:p>
        </p:txBody>
      </p:sp>
    </p:spTree>
    <p:extLst>
      <p:ext uri="{BB962C8B-B14F-4D97-AF65-F5344CB8AC3E}">
        <p14:creationId xmlns:p14="http://schemas.microsoft.com/office/powerpoint/2010/main" val="3211705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335753" y="300765"/>
            <a:ext cx="3932237" cy="1208948"/>
          </a:xfrm>
        </p:spPr>
        <p:txBody>
          <a:bodyPr>
            <a:normAutofit/>
          </a:bodyPr>
          <a:lstStyle/>
          <a:p>
            <a:r>
              <a:rPr lang="en-US" sz="2800" b="1" dirty="0">
                <a:solidFill>
                  <a:schemeClr val="bg2">
                    <a:lumMod val="50000"/>
                  </a:schemeClr>
                </a:solidFill>
                <a:latin typeface="+mn-lt"/>
              </a:rPr>
              <a:t>REAL WORLD CASES</a:t>
            </a:r>
            <a:endParaRPr lang="en-PK" sz="2800" b="1" dirty="0">
              <a:solidFill>
                <a:schemeClr val="bg2">
                  <a:lumMod val="50000"/>
                </a:schemeClr>
              </a:solidFill>
              <a:latin typeface="+mn-lt"/>
            </a:endParaRPr>
          </a:p>
        </p:txBody>
      </p:sp>
      <p:sp>
        <p:nvSpPr>
          <p:cNvPr id="9" name="Text Placeholder 8">
            <a:extLst>
              <a:ext uri="{FF2B5EF4-FFF2-40B4-BE49-F238E27FC236}">
                <a16:creationId xmlns:a16="http://schemas.microsoft.com/office/drawing/2014/main" id="{DF4CBB47-3E15-4FC0-68A1-AC13A6EC0FE2}"/>
              </a:ext>
            </a:extLst>
          </p:cNvPr>
          <p:cNvSpPr>
            <a:spLocks noGrp="1"/>
          </p:cNvSpPr>
          <p:nvPr>
            <p:ph type="body" sz="half" idx="2"/>
          </p:nvPr>
        </p:nvSpPr>
        <p:spPr>
          <a:xfrm>
            <a:off x="596902" y="1714501"/>
            <a:ext cx="3127374" cy="4186238"/>
          </a:xfrm>
        </p:spPr>
        <p:txBody>
          <a:bodyPr>
            <a:noAutofit/>
          </a:bodyPr>
          <a:lstStyle/>
          <a:p>
            <a:pPr marL="0" lvl="1">
              <a:lnSpc>
                <a:spcPct val="170000"/>
              </a:lnSpc>
              <a:spcBef>
                <a:spcPts val="0"/>
              </a:spcBef>
              <a:buNone/>
            </a:pPr>
            <a:r>
              <a:rPr lang="en-US" b="1" dirty="0">
                <a:solidFill>
                  <a:srgbClr val="0070C0"/>
                </a:solidFill>
              </a:rPr>
              <a:t>Spotify Wrapped Annual Campaign</a:t>
            </a:r>
          </a:p>
          <a:p>
            <a:pPr marL="285750" lvl="1" indent="-285750">
              <a:lnSpc>
                <a:spcPct val="170000"/>
              </a:lnSpc>
              <a:spcBef>
                <a:spcPts val="0"/>
              </a:spcBef>
              <a:buFont typeface="Courier New" panose="02070309020205020404" pitchFamily="49" charset="0"/>
              <a:buChar char="o"/>
            </a:pPr>
            <a:r>
              <a:rPr lang="en-US" dirty="0"/>
              <a:t>Transforms each user's listening data from the past year into and engaging visual narrative.</a:t>
            </a:r>
          </a:p>
          <a:p>
            <a:pPr marL="285750" lvl="1" indent="-285750">
              <a:lnSpc>
                <a:spcPct val="170000"/>
              </a:lnSpc>
              <a:spcBef>
                <a:spcPts val="0"/>
              </a:spcBef>
              <a:buFont typeface="Courier New" panose="02070309020205020404" pitchFamily="49" charset="0"/>
              <a:buChar char="o"/>
            </a:pPr>
            <a:r>
              <a:rPr lang="en-US" dirty="0"/>
              <a:t>Users receive a story that reflects their identity, habits, and tastes. </a:t>
            </a:r>
          </a:p>
          <a:p>
            <a:pPr marL="285750" lvl="1" indent="-285750">
              <a:lnSpc>
                <a:spcPct val="170000"/>
              </a:lnSpc>
              <a:spcBef>
                <a:spcPts val="0"/>
              </a:spcBef>
              <a:buFont typeface="Courier New" panose="02070309020205020404" pitchFamily="49" charset="0"/>
              <a:buChar char="o"/>
            </a:pPr>
            <a:r>
              <a:rPr lang="en-US" dirty="0"/>
              <a:t>Features like "Music Personality" archetypes and comparisons to broader global trends make the data relatable and surprising. </a:t>
            </a:r>
          </a:p>
          <a:p>
            <a:pPr marL="0" lvl="1">
              <a:lnSpc>
                <a:spcPct val="100000"/>
              </a:lnSpc>
              <a:spcBef>
                <a:spcPts val="0"/>
              </a:spcBef>
            </a:pPr>
            <a:endParaRPr lang="en-US" b="1" dirty="0">
              <a:solidFill>
                <a:srgbClr val="C00000"/>
              </a:solidFill>
            </a:endParaRPr>
          </a:p>
          <a:p>
            <a:pPr marL="0" lvl="1">
              <a:lnSpc>
                <a:spcPct val="170000"/>
              </a:lnSpc>
              <a:spcBef>
                <a:spcPts val="0"/>
              </a:spcBef>
            </a:pPr>
            <a:r>
              <a:rPr lang="en-US" b="1" dirty="0">
                <a:solidFill>
                  <a:srgbClr val="C00000"/>
                </a:solidFill>
              </a:rPr>
              <a:t>Video</a:t>
            </a:r>
            <a:r>
              <a:rPr lang="en-US" dirty="0">
                <a:solidFill>
                  <a:srgbClr val="C00000"/>
                </a:solidFill>
              </a:rPr>
              <a:t>: </a:t>
            </a:r>
            <a:r>
              <a:rPr lang="en-US" dirty="0">
                <a:solidFill>
                  <a:srgbClr val="C00000"/>
                </a:solidFill>
                <a:hlinkClick r:id="rId2"/>
              </a:rPr>
              <a:t>Introduction to Tableau</a:t>
            </a:r>
            <a:endParaRPr lang="en-PK" dirty="0">
              <a:solidFill>
                <a:srgbClr val="C00000"/>
              </a:solidFill>
            </a:endParaRPr>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5</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5FF4B52-6A47-C0EE-63E8-DAD18E2C3054}"/>
              </a:ext>
            </a:extLst>
          </p:cNvPr>
          <p:cNvSpPr txBox="1"/>
          <p:nvPr/>
        </p:nvSpPr>
        <p:spPr>
          <a:xfrm>
            <a:off x="539837" y="6266212"/>
            <a:ext cx="10704425" cy="430887"/>
          </a:xfrm>
          <a:prstGeom prst="rect">
            <a:avLst/>
          </a:prstGeom>
          <a:noFill/>
        </p:spPr>
        <p:txBody>
          <a:bodyPr wrap="square" rtlCol="0">
            <a:spAutoFit/>
          </a:bodyPr>
          <a:lstStyle/>
          <a:p>
            <a:r>
              <a:rPr lang="en-US" sz="1100" dirty="0"/>
              <a:t>Source: </a:t>
            </a:r>
            <a:r>
              <a:rPr lang="en-US" sz="1100" dirty="0" err="1"/>
              <a:t>GrowthBI</a:t>
            </a:r>
            <a:r>
              <a:rPr lang="en-US" sz="1100" dirty="0"/>
              <a:t>; </a:t>
            </a:r>
            <a:r>
              <a:rPr lang="en-US" sz="1100" dirty="0">
                <a:hlinkClick r:id="rId4"/>
              </a:rPr>
              <a:t>https://www.growthbi.com.au/post/top-data-storytelling-examples-to-inspire-your-business-strategy</a:t>
            </a:r>
            <a:endParaRPr lang="en-US" sz="1100" dirty="0"/>
          </a:p>
          <a:p>
            <a:endParaRPr lang="en-PK" sz="1100" dirty="0"/>
          </a:p>
        </p:txBody>
      </p:sp>
      <p:pic>
        <p:nvPicPr>
          <p:cNvPr id="10" name="Picture 9">
            <a:extLst>
              <a:ext uri="{FF2B5EF4-FFF2-40B4-BE49-F238E27FC236}">
                <a16:creationId xmlns:a16="http://schemas.microsoft.com/office/drawing/2014/main" id="{2F056B8D-18E2-522F-36E0-CC32E350AD0B}"/>
              </a:ext>
            </a:extLst>
          </p:cNvPr>
          <p:cNvPicPr>
            <a:picLocks noChangeAspect="1"/>
          </p:cNvPicPr>
          <p:nvPr/>
        </p:nvPicPr>
        <p:blipFill>
          <a:blip r:embed="rId5"/>
          <a:stretch>
            <a:fillRect/>
          </a:stretch>
        </p:blipFill>
        <p:spPr>
          <a:xfrm>
            <a:off x="3969149" y="1588469"/>
            <a:ext cx="7384650" cy="4362450"/>
          </a:xfrm>
          <a:prstGeom prst="rect">
            <a:avLst/>
          </a:prstGeom>
        </p:spPr>
      </p:pic>
    </p:spTree>
    <p:extLst>
      <p:ext uri="{BB962C8B-B14F-4D97-AF65-F5344CB8AC3E}">
        <p14:creationId xmlns:p14="http://schemas.microsoft.com/office/powerpoint/2010/main" val="138746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838199" y="940986"/>
            <a:ext cx="10515600" cy="847650"/>
          </a:xfrm>
        </p:spPr>
        <p:txBody>
          <a:bodyPr>
            <a:normAutofit/>
          </a:bodyPr>
          <a:lstStyle/>
          <a:p>
            <a:r>
              <a:rPr lang="en-US" dirty="0">
                <a:solidFill>
                  <a:schemeClr val="bg2">
                    <a:lumMod val="50000"/>
                  </a:schemeClr>
                </a:solidFill>
                <a:latin typeface="+mn-lt"/>
              </a:rPr>
              <a:t>USING DATA DASHBOARDS AND STORYTELLING TOGETHER</a:t>
            </a: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595313" y="1844762"/>
            <a:ext cx="11191874" cy="4184562"/>
          </a:xfrm>
        </p:spPr>
        <p:txBody>
          <a:bodyPr>
            <a:normAutofit/>
          </a:bodyPr>
          <a:lstStyle/>
          <a:p>
            <a:pPr marL="358775" lvl="1" indent="0">
              <a:lnSpc>
                <a:spcPct val="170000"/>
              </a:lnSpc>
              <a:spcBef>
                <a:spcPts val="0"/>
              </a:spcBef>
              <a:spcAft>
                <a:spcPts val="1200"/>
              </a:spcAft>
              <a:buNone/>
            </a:pPr>
            <a:r>
              <a:rPr lang="en-US" sz="1800" b="1" dirty="0">
                <a:solidFill>
                  <a:srgbClr val="0070C0"/>
                </a:solidFill>
              </a:rPr>
              <a:t>Data dashboards </a:t>
            </a:r>
            <a:r>
              <a:rPr lang="en-US" sz="1800" dirty="0"/>
              <a:t>are used for information management and business intelligence (BI) and organize and display information in an easy-to-understand format in a single location.</a:t>
            </a:r>
          </a:p>
          <a:p>
            <a:pPr marL="358775" lvl="1" indent="0">
              <a:lnSpc>
                <a:spcPct val="170000"/>
              </a:lnSpc>
              <a:spcBef>
                <a:spcPts val="0"/>
              </a:spcBef>
              <a:buNone/>
            </a:pPr>
            <a:r>
              <a:rPr lang="en-US" sz="1800" b="1" dirty="0">
                <a:solidFill>
                  <a:srgbClr val="0070C0"/>
                </a:solidFill>
              </a:rPr>
              <a:t>Benefits of data dashboards</a:t>
            </a:r>
            <a:r>
              <a:rPr lang="en-US" sz="1800" dirty="0"/>
              <a:t>:</a:t>
            </a:r>
          </a:p>
          <a:p>
            <a:pPr marL="895350" lvl="1" indent="-536575">
              <a:lnSpc>
                <a:spcPct val="170000"/>
              </a:lnSpc>
              <a:spcBef>
                <a:spcPts val="0"/>
              </a:spcBef>
              <a:buFont typeface="Courier New" panose="02070309020205020404" pitchFamily="49" charset="0"/>
              <a:buChar char="o"/>
            </a:pPr>
            <a:r>
              <a:rPr lang="en-US" sz="1800" dirty="0"/>
              <a:t>Provide a clear view of trends and patterns to reinforce the story’s main points.</a:t>
            </a:r>
          </a:p>
          <a:p>
            <a:pPr marL="895350" lvl="1" indent="-536575">
              <a:lnSpc>
                <a:spcPct val="170000"/>
              </a:lnSpc>
              <a:spcBef>
                <a:spcPts val="0"/>
              </a:spcBef>
              <a:buFont typeface="Courier New" panose="02070309020205020404" pitchFamily="49" charset="0"/>
              <a:buChar char="o"/>
            </a:pPr>
            <a:r>
              <a:rPr lang="en-US" sz="1800" dirty="0"/>
              <a:t>Highlight key performance indicators and metrics that directly support the narrative.</a:t>
            </a:r>
          </a:p>
          <a:p>
            <a:pPr marL="895350" lvl="1" indent="-536575">
              <a:lnSpc>
                <a:spcPct val="170000"/>
              </a:lnSpc>
              <a:spcBef>
                <a:spcPts val="0"/>
              </a:spcBef>
              <a:buFont typeface="Courier New" panose="02070309020205020404" pitchFamily="49" charset="0"/>
              <a:buChar char="o"/>
            </a:pPr>
            <a:r>
              <a:rPr lang="en-US" sz="1800" dirty="0"/>
              <a:t>Allow audience to interact with data and explore insights that add depth to the story.</a:t>
            </a:r>
          </a:p>
          <a:p>
            <a:pPr marL="895350" lvl="1" indent="-536575">
              <a:lnSpc>
                <a:spcPct val="170000"/>
              </a:lnSpc>
              <a:spcBef>
                <a:spcPts val="0"/>
              </a:spcBef>
              <a:buFont typeface="Courier New" panose="02070309020205020404" pitchFamily="49" charset="0"/>
              <a:buChar char="o"/>
            </a:pPr>
            <a:r>
              <a:rPr lang="en-US" sz="1800" dirty="0"/>
              <a:t>Offer context and comparison, so the "why" behind the numbers is easier to understand.</a:t>
            </a:r>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6</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AC802D9-1CE0-0A82-8D90-255CFF96C400}"/>
              </a:ext>
            </a:extLst>
          </p:cNvPr>
          <p:cNvSpPr txBox="1"/>
          <p:nvPr/>
        </p:nvSpPr>
        <p:spPr>
          <a:xfrm>
            <a:off x="539837" y="6266212"/>
            <a:ext cx="10704425" cy="430887"/>
          </a:xfrm>
          <a:prstGeom prst="rect">
            <a:avLst/>
          </a:prstGeom>
          <a:noFill/>
        </p:spPr>
        <p:txBody>
          <a:bodyPr wrap="square" rtlCol="0">
            <a:spAutoFit/>
          </a:bodyPr>
          <a:lstStyle/>
          <a:p>
            <a:r>
              <a:rPr lang="en-US" sz="1100" dirty="0"/>
              <a:t>Source: Microsoft; </a:t>
            </a:r>
            <a:r>
              <a:rPr lang="en-US" sz="1100" dirty="0">
                <a:hlinkClick r:id="rId3"/>
              </a:rPr>
              <a:t>https://www.microsoft.com/en-my/power-platform/products/power-bi/topics/data-storytelling</a:t>
            </a:r>
            <a:endParaRPr lang="en-US" sz="1100" dirty="0"/>
          </a:p>
          <a:p>
            <a:endParaRPr lang="en-PK" sz="1100" dirty="0"/>
          </a:p>
        </p:txBody>
      </p:sp>
    </p:spTree>
    <p:extLst>
      <p:ext uri="{BB962C8B-B14F-4D97-AF65-F5344CB8AC3E}">
        <p14:creationId xmlns:p14="http://schemas.microsoft.com/office/powerpoint/2010/main" val="2182483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350041" y="419020"/>
            <a:ext cx="3932237" cy="1600200"/>
          </a:xfrm>
        </p:spPr>
        <p:txBody>
          <a:bodyPr>
            <a:normAutofit/>
          </a:bodyPr>
          <a:lstStyle/>
          <a:p>
            <a:r>
              <a:rPr lang="en-US" sz="2800" b="1" dirty="0">
                <a:solidFill>
                  <a:schemeClr val="bg2">
                    <a:lumMod val="50000"/>
                  </a:schemeClr>
                </a:solidFill>
                <a:latin typeface="+mn-lt"/>
              </a:rPr>
              <a:t>REAL WORLD CASES</a:t>
            </a:r>
            <a:endParaRPr lang="en-PK" sz="2800" b="1" dirty="0">
              <a:solidFill>
                <a:schemeClr val="bg2">
                  <a:lumMod val="50000"/>
                </a:schemeClr>
              </a:solidFill>
              <a:latin typeface="+mn-lt"/>
            </a:endParaRPr>
          </a:p>
        </p:txBody>
      </p:sp>
      <p:sp>
        <p:nvSpPr>
          <p:cNvPr id="9" name="Text Placeholder 8">
            <a:extLst>
              <a:ext uri="{FF2B5EF4-FFF2-40B4-BE49-F238E27FC236}">
                <a16:creationId xmlns:a16="http://schemas.microsoft.com/office/drawing/2014/main" id="{DF4CBB47-3E15-4FC0-68A1-AC13A6EC0FE2}"/>
              </a:ext>
            </a:extLst>
          </p:cNvPr>
          <p:cNvSpPr>
            <a:spLocks noGrp="1"/>
          </p:cNvSpPr>
          <p:nvPr>
            <p:ph type="body" sz="half" idx="2"/>
          </p:nvPr>
        </p:nvSpPr>
        <p:spPr>
          <a:xfrm>
            <a:off x="463552" y="2400300"/>
            <a:ext cx="3127374" cy="3235325"/>
          </a:xfrm>
        </p:spPr>
        <p:txBody>
          <a:bodyPr>
            <a:normAutofit lnSpcReduction="10000"/>
          </a:bodyPr>
          <a:lstStyle/>
          <a:p>
            <a:pPr marL="0" lvl="1">
              <a:lnSpc>
                <a:spcPct val="170000"/>
              </a:lnSpc>
              <a:spcBef>
                <a:spcPts val="0"/>
              </a:spcBef>
              <a:buNone/>
            </a:pPr>
            <a:r>
              <a:rPr lang="en-US" sz="1600" b="1" dirty="0">
                <a:solidFill>
                  <a:srgbClr val="0070C0"/>
                </a:solidFill>
              </a:rPr>
              <a:t>Call center analysis of customer satisfaction</a:t>
            </a:r>
          </a:p>
          <a:p>
            <a:pPr marL="285750" lvl="1" indent="-285750">
              <a:lnSpc>
                <a:spcPct val="170000"/>
              </a:lnSpc>
              <a:spcBef>
                <a:spcPts val="0"/>
              </a:spcBef>
              <a:buFont typeface="Courier New" panose="02070309020205020404" pitchFamily="49" charset="0"/>
              <a:buChar char="o"/>
            </a:pPr>
            <a:r>
              <a:rPr lang="en-US" sz="1600" dirty="0"/>
              <a:t>Percentage of satisfied and unsatisfied customers </a:t>
            </a:r>
          </a:p>
          <a:p>
            <a:pPr marL="285750" lvl="1" indent="-285750">
              <a:lnSpc>
                <a:spcPct val="170000"/>
              </a:lnSpc>
              <a:spcBef>
                <a:spcPts val="0"/>
              </a:spcBef>
              <a:buFont typeface="Courier New" panose="02070309020205020404" pitchFamily="49" charset="0"/>
              <a:buChar char="o"/>
            </a:pPr>
            <a:r>
              <a:rPr lang="en-US" sz="1600" dirty="0"/>
              <a:t>Total number of satisfied and unsatisfied customers</a:t>
            </a:r>
          </a:p>
          <a:p>
            <a:pPr marL="0" lvl="1">
              <a:lnSpc>
                <a:spcPct val="170000"/>
              </a:lnSpc>
              <a:spcBef>
                <a:spcPts val="0"/>
              </a:spcBef>
            </a:pPr>
            <a:endParaRPr lang="en-US" sz="1600" b="1" dirty="0">
              <a:solidFill>
                <a:srgbClr val="C00000"/>
              </a:solidFill>
            </a:endParaRPr>
          </a:p>
          <a:p>
            <a:pPr marL="0" lvl="1">
              <a:lnSpc>
                <a:spcPct val="170000"/>
              </a:lnSpc>
              <a:spcBef>
                <a:spcPts val="0"/>
              </a:spcBef>
            </a:pPr>
            <a:r>
              <a:rPr lang="en-US" sz="1600" b="1" dirty="0">
                <a:solidFill>
                  <a:srgbClr val="C00000"/>
                </a:solidFill>
              </a:rPr>
              <a:t>Video</a:t>
            </a:r>
            <a:r>
              <a:rPr lang="en-US" sz="1600" dirty="0">
                <a:solidFill>
                  <a:srgbClr val="C00000"/>
                </a:solidFill>
              </a:rPr>
              <a:t>: </a:t>
            </a:r>
            <a:r>
              <a:rPr lang="en-US" sz="1600" dirty="0">
                <a:solidFill>
                  <a:srgbClr val="C00000"/>
                </a:solidFill>
                <a:hlinkClick r:id="rId2"/>
              </a:rPr>
              <a:t>Introduction to Power BI</a:t>
            </a:r>
            <a:endParaRPr lang="en-PK" sz="1600" dirty="0">
              <a:solidFill>
                <a:srgbClr val="C00000"/>
              </a:solidFill>
            </a:endParaRPr>
          </a:p>
          <a:p>
            <a:pPr marL="0" lvl="1">
              <a:lnSpc>
                <a:spcPct val="170000"/>
              </a:lnSpc>
              <a:spcBef>
                <a:spcPts val="0"/>
              </a:spcBef>
            </a:pPr>
            <a:endParaRPr lang="en-US" sz="1600" dirty="0"/>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7</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6F06322-D79A-1FC8-BB28-4565B396B4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1384783"/>
            <a:ext cx="8184359" cy="478749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5FF4B52-6A47-C0EE-63E8-DAD18E2C3054}"/>
              </a:ext>
            </a:extLst>
          </p:cNvPr>
          <p:cNvSpPr txBox="1"/>
          <p:nvPr/>
        </p:nvSpPr>
        <p:spPr>
          <a:xfrm>
            <a:off x="539837" y="6266212"/>
            <a:ext cx="10704425" cy="430887"/>
          </a:xfrm>
          <a:prstGeom prst="rect">
            <a:avLst/>
          </a:prstGeom>
          <a:noFill/>
        </p:spPr>
        <p:txBody>
          <a:bodyPr wrap="square" rtlCol="0">
            <a:spAutoFit/>
          </a:bodyPr>
          <a:lstStyle/>
          <a:p>
            <a:r>
              <a:rPr lang="en-US" sz="1100" dirty="0"/>
              <a:t>Source: Microsoft; </a:t>
            </a:r>
            <a:r>
              <a:rPr lang="en-US" sz="1100" dirty="0">
                <a:hlinkClick r:id="rId5"/>
              </a:rPr>
              <a:t>https://www.microsoft.com/en-my/power-platform/products/power-bi/topics/data-storytelling</a:t>
            </a:r>
            <a:endParaRPr lang="en-US" sz="1100" dirty="0"/>
          </a:p>
          <a:p>
            <a:endParaRPr lang="en-PK" sz="1100" dirty="0"/>
          </a:p>
        </p:txBody>
      </p:sp>
    </p:spTree>
    <p:extLst>
      <p:ext uri="{BB962C8B-B14F-4D97-AF65-F5344CB8AC3E}">
        <p14:creationId xmlns:p14="http://schemas.microsoft.com/office/powerpoint/2010/main" val="2596738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642938" y="878485"/>
            <a:ext cx="10616240" cy="640966"/>
          </a:xfrm>
        </p:spPr>
        <p:txBody>
          <a:bodyPr>
            <a:normAutofit/>
          </a:bodyPr>
          <a:lstStyle/>
          <a:p>
            <a:r>
              <a:rPr lang="en-US" dirty="0">
                <a:solidFill>
                  <a:schemeClr val="bg2">
                    <a:lumMod val="50000"/>
                  </a:schemeClr>
                </a:solidFill>
                <a:latin typeface="+mn-lt"/>
              </a:rPr>
              <a:t>EXECUTIVE SUMMARIES</a:t>
            </a:r>
            <a:endParaRPr lang="en-PK" sz="2800" b="0" dirty="0">
              <a:solidFill>
                <a:schemeClr val="tx1"/>
              </a:solidFill>
              <a:latin typeface="+mn-lt"/>
            </a:endParaRP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539837" y="1971675"/>
            <a:ext cx="10955634" cy="4092480"/>
          </a:xfrm>
        </p:spPr>
        <p:txBody>
          <a:bodyPr>
            <a:normAutofit/>
          </a:bodyPr>
          <a:lstStyle/>
          <a:p>
            <a:pPr marL="180975" indent="0">
              <a:lnSpc>
                <a:spcPct val="170000"/>
              </a:lnSpc>
              <a:spcBef>
                <a:spcPts val="0"/>
              </a:spcBef>
              <a:buNone/>
            </a:pPr>
            <a:r>
              <a:rPr lang="en-US" sz="1800" b="1" dirty="0">
                <a:solidFill>
                  <a:srgbClr val="0070C0"/>
                </a:solidFill>
              </a:rPr>
              <a:t>An executive summary </a:t>
            </a:r>
          </a:p>
          <a:p>
            <a:pPr marL="538163" indent="-357188">
              <a:lnSpc>
                <a:spcPct val="170000"/>
              </a:lnSpc>
              <a:spcBef>
                <a:spcPts val="0"/>
              </a:spcBef>
              <a:buFont typeface="Courier New" panose="02070309020205020404" pitchFamily="49" charset="0"/>
              <a:buChar char="o"/>
            </a:pPr>
            <a:r>
              <a:rPr lang="en-US" sz="1800" dirty="0"/>
              <a:t>Is a concise overview of a larger document which is located at the beginning designed to capture a decision-maker's attention</a:t>
            </a:r>
          </a:p>
          <a:p>
            <a:pPr marL="538163" indent="-357188">
              <a:lnSpc>
                <a:spcPct val="170000"/>
              </a:lnSpc>
              <a:spcBef>
                <a:spcPts val="0"/>
              </a:spcBef>
              <a:buFont typeface="Courier New" panose="02070309020205020404" pitchFamily="49" charset="0"/>
              <a:buChar char="o"/>
            </a:pPr>
            <a:r>
              <a:rPr lang="en-US" sz="1800" dirty="0"/>
              <a:t>Provides a succinct snapshot of an entire proposal or document, e.g., a presentation, a case study, research</a:t>
            </a:r>
          </a:p>
          <a:p>
            <a:pPr marL="538163" indent="-357188">
              <a:lnSpc>
                <a:spcPct val="170000"/>
              </a:lnSpc>
              <a:spcBef>
                <a:spcPts val="0"/>
              </a:spcBef>
              <a:buFont typeface="Courier New" panose="02070309020205020404" pitchFamily="49" charset="0"/>
              <a:buChar char="o"/>
            </a:pPr>
            <a:r>
              <a:rPr lang="en-US" sz="1800" dirty="0"/>
              <a:t>If part of business report, concisely presents key points of the report to e.g., investors, funders, or other interested parties</a:t>
            </a:r>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8</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83984CA-8E43-162E-6836-9984885F887D}"/>
              </a:ext>
            </a:extLst>
          </p:cNvPr>
          <p:cNvSpPr txBox="1"/>
          <p:nvPr/>
        </p:nvSpPr>
        <p:spPr>
          <a:xfrm>
            <a:off x="539837" y="6064155"/>
            <a:ext cx="10704425" cy="430887"/>
          </a:xfrm>
          <a:prstGeom prst="rect">
            <a:avLst/>
          </a:prstGeom>
          <a:noFill/>
        </p:spPr>
        <p:txBody>
          <a:bodyPr wrap="square" rtlCol="0">
            <a:spAutoFit/>
          </a:bodyPr>
          <a:lstStyle/>
          <a:p>
            <a:r>
              <a:rPr lang="en-US" sz="1100" dirty="0"/>
              <a:t>Source: Coursera; </a:t>
            </a:r>
            <a:r>
              <a:rPr lang="en-US" sz="1100" dirty="0">
                <a:hlinkClick r:id="rId3"/>
              </a:rPr>
              <a:t>https://www.coursera.org/articles/executive-summary</a:t>
            </a:r>
            <a:endParaRPr lang="en-US" sz="1100" dirty="0"/>
          </a:p>
          <a:p>
            <a:endParaRPr lang="en-US" sz="1100" dirty="0"/>
          </a:p>
        </p:txBody>
      </p:sp>
    </p:spTree>
    <p:extLst>
      <p:ext uri="{BB962C8B-B14F-4D97-AF65-F5344CB8AC3E}">
        <p14:creationId xmlns:p14="http://schemas.microsoft.com/office/powerpoint/2010/main" val="133360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619126" y="675569"/>
            <a:ext cx="10616240" cy="640966"/>
          </a:xfrm>
        </p:spPr>
        <p:txBody>
          <a:bodyPr>
            <a:normAutofit/>
          </a:bodyPr>
          <a:lstStyle/>
          <a:p>
            <a:r>
              <a:rPr lang="en-US" dirty="0">
                <a:solidFill>
                  <a:schemeClr val="bg2">
                    <a:lumMod val="50000"/>
                  </a:schemeClr>
                </a:solidFill>
                <a:latin typeface="+mn-lt"/>
              </a:rPr>
              <a:t>EXECUTIVE SUMMARIES OF BUSINESS REPORTS</a:t>
            </a:r>
            <a:endParaRPr lang="en-PK" sz="2800" b="0" dirty="0">
              <a:solidFill>
                <a:schemeClr val="tx1"/>
              </a:solidFill>
              <a:latin typeface="+mn-lt"/>
            </a:endParaRP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539837" y="1533525"/>
            <a:ext cx="10955634" cy="4685199"/>
          </a:xfrm>
        </p:spPr>
        <p:txBody>
          <a:bodyPr>
            <a:noAutofit/>
          </a:bodyPr>
          <a:lstStyle/>
          <a:p>
            <a:pPr marL="180975" indent="0">
              <a:lnSpc>
                <a:spcPct val="170000"/>
              </a:lnSpc>
              <a:spcBef>
                <a:spcPts val="0"/>
              </a:spcBef>
              <a:buNone/>
            </a:pPr>
            <a:r>
              <a:rPr lang="en-US" sz="1600" b="1" dirty="0">
                <a:solidFill>
                  <a:srgbClr val="0070C0"/>
                </a:solidFill>
              </a:rPr>
              <a:t>What executive summary of a business report may include:</a:t>
            </a:r>
          </a:p>
          <a:p>
            <a:pPr marL="538163" indent="-357188">
              <a:lnSpc>
                <a:spcPct val="170000"/>
              </a:lnSpc>
              <a:spcBef>
                <a:spcPts val="0"/>
              </a:spcBef>
              <a:buFont typeface="Courier New" panose="02070309020205020404" pitchFamily="49" charset="0"/>
              <a:buChar char="o"/>
            </a:pPr>
            <a:r>
              <a:rPr lang="en-US" sz="1500" dirty="0"/>
              <a:t>Business description: Overview of the business idea, its nature, and its industry or market.</a:t>
            </a:r>
          </a:p>
          <a:p>
            <a:pPr marL="538163" indent="-357188">
              <a:lnSpc>
                <a:spcPct val="170000"/>
              </a:lnSpc>
              <a:spcBef>
                <a:spcPts val="0"/>
              </a:spcBef>
              <a:buFont typeface="Courier New" panose="02070309020205020404" pitchFamily="49" charset="0"/>
              <a:buChar char="o"/>
            </a:pPr>
            <a:r>
              <a:rPr lang="en-US" sz="1500" dirty="0"/>
              <a:t>Problem statement: Business challenge or need and its immediate and long-term significance and impact. </a:t>
            </a:r>
          </a:p>
          <a:p>
            <a:pPr marL="538163" indent="-357188">
              <a:lnSpc>
                <a:spcPct val="170000"/>
              </a:lnSpc>
              <a:spcBef>
                <a:spcPts val="0"/>
              </a:spcBef>
              <a:buFont typeface="Courier New" panose="02070309020205020404" pitchFamily="49" charset="0"/>
              <a:buChar char="o"/>
            </a:pPr>
            <a:r>
              <a:rPr lang="en-US" sz="1500" dirty="0"/>
              <a:t>Solution: Solution or product that addresses the identified problem or need.</a:t>
            </a:r>
          </a:p>
          <a:p>
            <a:pPr marL="538163" indent="-357188">
              <a:lnSpc>
                <a:spcPct val="170000"/>
              </a:lnSpc>
              <a:spcBef>
                <a:spcPts val="0"/>
              </a:spcBef>
              <a:buFont typeface="Courier New" panose="02070309020205020404" pitchFamily="49" charset="0"/>
              <a:buChar char="o"/>
            </a:pPr>
            <a:r>
              <a:rPr lang="en-US" sz="1500" dirty="0"/>
              <a:t>Target market: Description of target audience, including its size, characteristics, and demographics and the opportunity it represents</a:t>
            </a:r>
          </a:p>
          <a:p>
            <a:pPr marL="538163" indent="-357188">
              <a:lnSpc>
                <a:spcPct val="170000"/>
              </a:lnSpc>
              <a:spcBef>
                <a:spcPts val="0"/>
              </a:spcBef>
              <a:buFont typeface="Courier New" panose="02070309020205020404" pitchFamily="49" charset="0"/>
              <a:buChar char="o"/>
            </a:pPr>
            <a:r>
              <a:rPr lang="en-US" sz="1500" dirty="0"/>
              <a:t>Competitive advantage: The unique selling points or competitive advantages of your business, distinguishing it from competitors</a:t>
            </a:r>
          </a:p>
          <a:p>
            <a:pPr marL="538163" indent="-357188">
              <a:lnSpc>
                <a:spcPct val="170000"/>
              </a:lnSpc>
              <a:spcBef>
                <a:spcPts val="0"/>
              </a:spcBef>
              <a:buFont typeface="Courier New" panose="02070309020205020404" pitchFamily="49" charset="0"/>
              <a:buChar char="o"/>
            </a:pPr>
            <a:r>
              <a:rPr lang="en-US" sz="1500" dirty="0"/>
              <a:t>Business model: A high-level overview of a business’ strategies, pricing strategy, distribution channels, and any notable</a:t>
            </a:r>
          </a:p>
          <a:p>
            <a:pPr marL="538163" indent="-357188">
              <a:lnSpc>
                <a:spcPct val="170000"/>
              </a:lnSpc>
              <a:spcBef>
                <a:spcPts val="0"/>
              </a:spcBef>
              <a:buFont typeface="Courier New" panose="02070309020205020404" pitchFamily="49" charset="0"/>
              <a:buChar char="o"/>
            </a:pPr>
            <a:r>
              <a:rPr lang="en-US" sz="1500" dirty="0"/>
              <a:t>Financial summary: Financial projections, including estimated revenue, expenses, profits (doing so offers investors and stakeholders a sense of the business viability from a financial standpoint)</a:t>
            </a:r>
          </a:p>
          <a:p>
            <a:pPr marL="538163" indent="-357188">
              <a:lnSpc>
                <a:spcPct val="170000"/>
              </a:lnSpc>
              <a:spcBef>
                <a:spcPts val="0"/>
              </a:spcBef>
              <a:buFont typeface="Courier New" panose="02070309020205020404" pitchFamily="49" charset="0"/>
              <a:buChar char="o"/>
            </a:pPr>
            <a:r>
              <a:rPr lang="en-US" sz="1500" dirty="0"/>
              <a:t>Expertise: Highlight key team members, emphasizing their relevant experience, skills, and expertise </a:t>
            </a:r>
          </a:p>
          <a:p>
            <a:pPr marL="538163" indent="-357188">
              <a:lnSpc>
                <a:spcPct val="170000"/>
              </a:lnSpc>
              <a:spcBef>
                <a:spcPts val="0"/>
              </a:spcBef>
              <a:buFont typeface="Courier New" panose="02070309020205020404" pitchFamily="49" charset="0"/>
              <a:buChar char="o"/>
            </a:pPr>
            <a:r>
              <a:rPr lang="en-US" sz="1500" dirty="0"/>
              <a:t>Funding requirements: Amount required, how it will be used and expected return on investment</a:t>
            </a:r>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9</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83984CA-8E43-162E-6836-9984885F887D}"/>
              </a:ext>
            </a:extLst>
          </p:cNvPr>
          <p:cNvSpPr txBox="1"/>
          <p:nvPr/>
        </p:nvSpPr>
        <p:spPr>
          <a:xfrm>
            <a:off x="530941" y="6079907"/>
            <a:ext cx="10704425" cy="600164"/>
          </a:xfrm>
          <a:prstGeom prst="rect">
            <a:avLst/>
          </a:prstGeom>
          <a:noFill/>
        </p:spPr>
        <p:txBody>
          <a:bodyPr wrap="square" rtlCol="0">
            <a:spAutoFit/>
          </a:bodyPr>
          <a:lstStyle/>
          <a:p>
            <a:r>
              <a:rPr lang="en-US" sz="1100" dirty="0"/>
              <a:t>Source: Coursera; </a:t>
            </a:r>
            <a:r>
              <a:rPr lang="en-US" sz="1100" dirty="0">
                <a:hlinkClick r:id="rId3"/>
              </a:rPr>
              <a:t>https://www.coursera.org/articles/executive-summary</a:t>
            </a:r>
            <a:endParaRPr lang="en-US" sz="1100" dirty="0"/>
          </a:p>
          <a:p>
            <a:r>
              <a:rPr lang="en-US" sz="1100" dirty="0"/>
              <a:t>Growth grid; </a:t>
            </a:r>
            <a:r>
              <a:rPr lang="en-US" sz="1100" dirty="0">
                <a:hlinkClick r:id="rId4"/>
              </a:rPr>
              <a:t>https://growth-grid.ai/blog/executive-summary-examples/</a:t>
            </a:r>
            <a:endParaRPr lang="en-US" sz="1100" dirty="0"/>
          </a:p>
          <a:p>
            <a:endParaRPr lang="en-US" sz="1100" dirty="0"/>
          </a:p>
        </p:txBody>
      </p:sp>
    </p:spTree>
    <p:extLst>
      <p:ext uri="{BB962C8B-B14F-4D97-AF65-F5344CB8AC3E}">
        <p14:creationId xmlns:p14="http://schemas.microsoft.com/office/powerpoint/2010/main" val="1029371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895188" y="754608"/>
            <a:ext cx="4350707" cy="1600200"/>
          </a:xfrm>
        </p:spPr>
        <p:txBody>
          <a:bodyPr>
            <a:normAutofit/>
          </a:bodyPr>
          <a:lstStyle/>
          <a:p>
            <a:r>
              <a:rPr lang="en-US" b="1" dirty="0">
                <a:solidFill>
                  <a:schemeClr val="bg2">
                    <a:lumMod val="50000"/>
                  </a:schemeClr>
                </a:solidFill>
                <a:latin typeface="+mn-lt"/>
              </a:rPr>
              <a:t>EXECUTIVE SUMMARIES TEMPLATES</a:t>
            </a:r>
            <a:endParaRPr lang="en-PK" sz="2800" b="1" dirty="0">
              <a:solidFill>
                <a:schemeClr val="tx1"/>
              </a:solidFill>
              <a:latin typeface="+mn-lt"/>
            </a:endParaRPr>
          </a:p>
        </p:txBody>
      </p:sp>
      <p:sp>
        <p:nvSpPr>
          <p:cNvPr id="11" name="Text Placeholder 10">
            <a:extLst>
              <a:ext uri="{FF2B5EF4-FFF2-40B4-BE49-F238E27FC236}">
                <a16:creationId xmlns:a16="http://schemas.microsoft.com/office/drawing/2014/main" id="{980C0341-E559-7CA8-1873-A3A4FC920AD7}"/>
              </a:ext>
            </a:extLst>
          </p:cNvPr>
          <p:cNvSpPr>
            <a:spLocks noGrp="1"/>
          </p:cNvSpPr>
          <p:nvPr>
            <p:ph type="body" sz="half" idx="2"/>
          </p:nvPr>
        </p:nvSpPr>
        <p:spPr>
          <a:xfrm>
            <a:off x="901702" y="2657475"/>
            <a:ext cx="4013200" cy="2775038"/>
          </a:xfrm>
        </p:spPr>
        <p:txBody>
          <a:bodyPr>
            <a:normAutofit/>
          </a:bodyPr>
          <a:lstStyle/>
          <a:p>
            <a:pPr>
              <a:lnSpc>
                <a:spcPct val="150000"/>
              </a:lnSpc>
            </a:pPr>
            <a:r>
              <a:rPr lang="en-US" sz="1800" b="1" dirty="0">
                <a:solidFill>
                  <a:srgbClr val="0070C0"/>
                </a:solidFill>
              </a:rPr>
              <a:t>Executive summary of a business  plan for sale of a new product</a:t>
            </a:r>
          </a:p>
          <a:p>
            <a:pPr>
              <a:lnSpc>
                <a:spcPct val="150000"/>
              </a:lnSpc>
            </a:pPr>
            <a:r>
              <a:rPr lang="en-US" sz="1800" dirty="0"/>
              <a:t>Includes product overview, market analysis, promotion strategy, sales strategy</a:t>
            </a:r>
            <a:endParaRPr lang="en-PK" sz="1800" dirty="0"/>
          </a:p>
          <a:p>
            <a:endParaRPr lang="en-PK" sz="1800" b="1" dirty="0">
              <a:solidFill>
                <a:srgbClr val="0070C0"/>
              </a:solidFill>
            </a:endParaRPr>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10</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83984CA-8E43-162E-6836-9984885F887D}"/>
              </a:ext>
            </a:extLst>
          </p:cNvPr>
          <p:cNvSpPr txBox="1"/>
          <p:nvPr/>
        </p:nvSpPr>
        <p:spPr>
          <a:xfrm>
            <a:off x="407116" y="6306463"/>
            <a:ext cx="10704425" cy="430887"/>
          </a:xfrm>
          <a:prstGeom prst="rect">
            <a:avLst/>
          </a:prstGeom>
          <a:noFill/>
        </p:spPr>
        <p:txBody>
          <a:bodyPr wrap="square" rtlCol="0">
            <a:spAutoFit/>
          </a:bodyPr>
          <a:lstStyle/>
          <a:p>
            <a:r>
              <a:rPr lang="en-US" sz="1100" dirty="0"/>
              <a:t>Source: TEMPLATE.NET; </a:t>
            </a:r>
            <a:r>
              <a:rPr lang="en-US" sz="1100" dirty="0">
                <a:hlinkClick r:id="rId3"/>
              </a:rPr>
              <a:t>https://www.template.net/business/word-templates/best-executive-summary-samples/</a:t>
            </a:r>
            <a:endParaRPr lang="en-US" sz="1100" dirty="0"/>
          </a:p>
          <a:p>
            <a:endParaRPr lang="en-US" sz="1100" dirty="0"/>
          </a:p>
        </p:txBody>
      </p:sp>
      <p:pic>
        <p:nvPicPr>
          <p:cNvPr id="3078" name="Picture 6">
            <a:extLst>
              <a:ext uri="{FF2B5EF4-FFF2-40B4-BE49-F238E27FC236}">
                <a16:creationId xmlns:a16="http://schemas.microsoft.com/office/drawing/2014/main" id="{4BCEBF48-B269-CA63-00AD-924624B6A46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931" b="2525"/>
          <a:stretch/>
        </p:blipFill>
        <p:spPr bwMode="auto">
          <a:xfrm>
            <a:off x="5322020" y="390654"/>
            <a:ext cx="5526954" cy="6346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310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823432" y="785901"/>
            <a:ext cx="4350707" cy="1600200"/>
          </a:xfrm>
        </p:spPr>
        <p:txBody>
          <a:bodyPr>
            <a:normAutofit/>
          </a:bodyPr>
          <a:lstStyle/>
          <a:p>
            <a:r>
              <a:rPr lang="en-US" b="1" dirty="0">
                <a:solidFill>
                  <a:schemeClr val="bg2">
                    <a:lumMod val="50000"/>
                  </a:schemeClr>
                </a:solidFill>
                <a:latin typeface="+mn-lt"/>
              </a:rPr>
              <a:t>EXECUTIVE SUMMARIES EXAMPLES</a:t>
            </a:r>
            <a:endParaRPr lang="en-PK" sz="2800" b="1" dirty="0">
              <a:solidFill>
                <a:schemeClr val="tx1"/>
              </a:solidFill>
              <a:latin typeface="+mn-lt"/>
            </a:endParaRPr>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11</a:t>
            </a:fld>
            <a:endParaRPr lang="en-PK"/>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12" name="Text Placeholder 10">
            <a:extLst>
              <a:ext uri="{FF2B5EF4-FFF2-40B4-BE49-F238E27FC236}">
                <a16:creationId xmlns:a16="http://schemas.microsoft.com/office/drawing/2014/main" id="{BCA0469B-B500-D4B3-98F4-00C22BAB99AA}"/>
              </a:ext>
            </a:extLst>
          </p:cNvPr>
          <p:cNvSpPr>
            <a:spLocks noGrp="1"/>
          </p:cNvSpPr>
          <p:nvPr>
            <p:ph type="body" sz="half" idx="2"/>
          </p:nvPr>
        </p:nvSpPr>
        <p:spPr>
          <a:xfrm>
            <a:off x="823432" y="2642362"/>
            <a:ext cx="4013200" cy="2949575"/>
          </a:xfrm>
        </p:spPr>
        <p:txBody>
          <a:bodyPr>
            <a:normAutofit fontScale="85000" lnSpcReduction="10000"/>
          </a:bodyPr>
          <a:lstStyle/>
          <a:p>
            <a:pPr>
              <a:lnSpc>
                <a:spcPct val="160000"/>
              </a:lnSpc>
            </a:pPr>
            <a:r>
              <a:rPr lang="en-US" sz="2000" b="1" dirty="0">
                <a:solidFill>
                  <a:srgbClr val="0070C0"/>
                </a:solidFill>
              </a:rPr>
              <a:t>Executive summary of a report providing information of a business</a:t>
            </a:r>
          </a:p>
          <a:p>
            <a:pPr>
              <a:lnSpc>
                <a:spcPct val="150000"/>
              </a:lnSpc>
            </a:pPr>
            <a:r>
              <a:rPr lang="en-US" sz="1800" dirty="0"/>
              <a:t>Includes business overview, mission and vision key offerings, financial highlights, market share analysis, key historical events, and competitive landscape showcasing revenue generation, number of users, and employees</a:t>
            </a:r>
            <a:endParaRPr lang="en-PK" sz="1800" dirty="0"/>
          </a:p>
        </p:txBody>
      </p:sp>
      <p:pic>
        <p:nvPicPr>
          <p:cNvPr id="4100" name="Picture 4" descr="Business Executive Summary Report">
            <a:extLst>
              <a:ext uri="{FF2B5EF4-FFF2-40B4-BE49-F238E27FC236}">
                <a16:creationId xmlns:a16="http://schemas.microsoft.com/office/drawing/2014/main" id="{D4F0574C-30DC-AD80-C342-3DA8895357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9531" y="281286"/>
            <a:ext cx="5699037" cy="601723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38B901F-387C-ECB1-C349-46ADCAF2C12A}"/>
              </a:ext>
            </a:extLst>
          </p:cNvPr>
          <p:cNvSpPr txBox="1"/>
          <p:nvPr/>
        </p:nvSpPr>
        <p:spPr>
          <a:xfrm>
            <a:off x="407116" y="6306463"/>
            <a:ext cx="10704425" cy="430887"/>
          </a:xfrm>
          <a:prstGeom prst="rect">
            <a:avLst/>
          </a:prstGeom>
          <a:noFill/>
        </p:spPr>
        <p:txBody>
          <a:bodyPr wrap="square" rtlCol="0">
            <a:spAutoFit/>
          </a:bodyPr>
          <a:lstStyle/>
          <a:p>
            <a:r>
              <a:rPr lang="en-US" sz="1100" dirty="0"/>
              <a:t>Source: Slide Team; </a:t>
            </a:r>
            <a:r>
              <a:rPr lang="en-US" sz="1100" dirty="0">
                <a:hlinkClick r:id="rId3"/>
              </a:rPr>
              <a:t>https://www.slideteam.net/blog/top-10-executive-summary-report-templates-with-samples-and-examples</a:t>
            </a:r>
            <a:endParaRPr lang="en-US" sz="1100" dirty="0"/>
          </a:p>
          <a:p>
            <a:endParaRPr lang="en-US" sz="1100" dirty="0"/>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68012" y="276720"/>
            <a:ext cx="1171575" cy="449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8199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43578" y="878485"/>
            <a:ext cx="10515600" cy="640966"/>
          </a:xfrm>
        </p:spPr>
        <p:txBody>
          <a:bodyPr>
            <a:normAutofit/>
          </a:bodyPr>
          <a:lstStyle/>
          <a:p>
            <a:r>
              <a:rPr lang="en-US" dirty="0">
                <a:solidFill>
                  <a:schemeClr val="bg2">
                    <a:lumMod val="50000"/>
                  </a:schemeClr>
                </a:solidFill>
                <a:latin typeface="+mn-lt"/>
              </a:rPr>
              <a:t>ACTIVITY: DESIGNING A DASHBOARD</a:t>
            </a:r>
            <a:endParaRPr lang="en-PK" sz="2800" b="0" dirty="0">
              <a:solidFill>
                <a:schemeClr val="tx1"/>
              </a:solidFill>
              <a:latin typeface="+mn-lt"/>
            </a:endParaRP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539837" y="2176463"/>
            <a:ext cx="10955634" cy="3748087"/>
          </a:xfrm>
        </p:spPr>
        <p:txBody>
          <a:bodyPr>
            <a:normAutofit fontScale="92500" lnSpcReduction="20000"/>
          </a:bodyPr>
          <a:lstStyle/>
          <a:p>
            <a:pPr marL="466725" indent="-285750">
              <a:lnSpc>
                <a:spcPct val="170000"/>
              </a:lnSpc>
              <a:spcBef>
                <a:spcPts val="0"/>
              </a:spcBef>
            </a:pPr>
            <a:r>
              <a:rPr lang="en-US" sz="1800" dirty="0"/>
              <a:t>Generate business data using the hyperlink </a:t>
            </a:r>
            <a:r>
              <a:rPr lang="en-US" sz="1800" dirty="0">
                <a:hlinkClick r:id="rId2"/>
              </a:rPr>
              <a:t>TrumpExcel</a:t>
            </a:r>
            <a:endParaRPr lang="en-US" sz="1800" dirty="0"/>
          </a:p>
          <a:p>
            <a:pPr marL="466725" indent="-285750">
              <a:lnSpc>
                <a:spcPct val="170000"/>
              </a:lnSpc>
              <a:spcBef>
                <a:spcPts val="0"/>
              </a:spcBef>
            </a:pPr>
            <a:r>
              <a:rPr lang="en-US" sz="1800" dirty="0"/>
              <a:t>Format an Excel sheet for a dashboard presentation</a:t>
            </a:r>
          </a:p>
          <a:p>
            <a:pPr marL="466725" indent="-285750">
              <a:lnSpc>
                <a:spcPct val="170000"/>
              </a:lnSpc>
              <a:spcBef>
                <a:spcPts val="0"/>
              </a:spcBef>
            </a:pPr>
            <a:r>
              <a:rPr lang="en-US" sz="1800" dirty="0"/>
              <a:t>Generate a pivot table using the data downloaded</a:t>
            </a:r>
          </a:p>
          <a:p>
            <a:pPr marL="466725" indent="-285750">
              <a:lnSpc>
                <a:spcPct val="170000"/>
              </a:lnSpc>
              <a:spcBef>
                <a:spcPts val="0"/>
              </a:spcBef>
            </a:pPr>
            <a:r>
              <a:rPr lang="en-US" sz="1800" dirty="0"/>
              <a:t>Identify a potential audience for that data (management, investors, customers etc.)</a:t>
            </a:r>
          </a:p>
          <a:p>
            <a:pPr marL="466725" indent="-285750">
              <a:lnSpc>
                <a:spcPct val="170000"/>
              </a:lnSpc>
              <a:spcBef>
                <a:spcPts val="0"/>
              </a:spcBef>
            </a:pPr>
            <a:r>
              <a:rPr lang="en-US" sz="1800" dirty="0"/>
              <a:t>Pick out the statistics, data that you would want an audience to visualize</a:t>
            </a:r>
          </a:p>
          <a:p>
            <a:pPr marL="466725" indent="-285750">
              <a:lnSpc>
                <a:spcPct val="170000"/>
              </a:lnSpc>
              <a:spcBef>
                <a:spcPts val="0"/>
              </a:spcBef>
            </a:pPr>
            <a:r>
              <a:rPr lang="en-US" sz="1800" dirty="0"/>
              <a:t>Create a dashboard for the potential audience</a:t>
            </a:r>
          </a:p>
          <a:p>
            <a:pPr marL="466725" indent="-285750">
              <a:lnSpc>
                <a:spcPct val="170000"/>
              </a:lnSpc>
              <a:spcBef>
                <a:spcPts val="0"/>
              </a:spcBef>
            </a:pPr>
            <a:r>
              <a:rPr lang="en-US" sz="1800" dirty="0"/>
              <a:t>Make the dashboard dynamic with a slicer</a:t>
            </a:r>
          </a:p>
          <a:p>
            <a:pPr marL="180975" indent="0">
              <a:lnSpc>
                <a:spcPct val="170000"/>
              </a:lnSpc>
              <a:spcBef>
                <a:spcPts val="0"/>
              </a:spcBef>
              <a:buNone/>
            </a:pPr>
            <a:endParaRPr lang="en-US" sz="1800" dirty="0"/>
          </a:p>
          <a:p>
            <a:pPr marL="180975" indent="0">
              <a:lnSpc>
                <a:spcPct val="170000"/>
              </a:lnSpc>
              <a:spcBef>
                <a:spcPts val="0"/>
              </a:spcBef>
              <a:buNone/>
            </a:pPr>
            <a:r>
              <a:rPr lang="en-US" sz="1800" b="1" dirty="0">
                <a:solidFill>
                  <a:srgbClr val="C00000"/>
                </a:solidFill>
              </a:rPr>
              <a:t>Note:</a:t>
            </a:r>
            <a:r>
              <a:rPr lang="en-US" sz="1800" dirty="0"/>
              <a:t> </a:t>
            </a:r>
            <a:r>
              <a:rPr lang="en-US" sz="1800" dirty="0">
                <a:solidFill>
                  <a:srgbClr val="C00000"/>
                </a:solidFill>
              </a:rPr>
              <a:t>Standardization of data is important; use e.g., the “Filter” command in Excel to standardize fields</a:t>
            </a:r>
          </a:p>
          <a:p>
            <a:pPr marL="180975" indent="357188">
              <a:lnSpc>
                <a:spcPct val="170000"/>
              </a:lnSpc>
              <a:spcBef>
                <a:spcPts val="0"/>
              </a:spcBef>
              <a:buNone/>
            </a:pPr>
            <a:endParaRPr lang="en-US" sz="1800" dirty="0"/>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12</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83984CA-8E43-162E-6836-9984885F887D}"/>
              </a:ext>
            </a:extLst>
          </p:cNvPr>
          <p:cNvSpPr txBox="1"/>
          <p:nvPr/>
        </p:nvSpPr>
        <p:spPr>
          <a:xfrm>
            <a:off x="539837" y="6150675"/>
            <a:ext cx="10704425" cy="430887"/>
          </a:xfrm>
          <a:prstGeom prst="rect">
            <a:avLst/>
          </a:prstGeom>
          <a:noFill/>
        </p:spPr>
        <p:txBody>
          <a:bodyPr wrap="square" rtlCol="0">
            <a:spAutoFit/>
          </a:bodyPr>
          <a:lstStyle/>
          <a:p>
            <a:r>
              <a:rPr lang="en-US" sz="1100" dirty="0"/>
              <a:t>Source for data: TrumpExcel; available at </a:t>
            </a:r>
            <a:r>
              <a:rPr lang="en-US" sz="1100" dirty="0">
                <a:hlinkClick r:id="rId2">
                  <a:extLst>
                    <a:ext uri="{A12FA001-AC4F-418D-AE19-62706E023703}">
                      <ahyp:hlinkClr xmlns:ahyp="http://schemas.microsoft.com/office/drawing/2018/hyperlinkcolor" val="tx"/>
                    </a:ext>
                  </a:extLst>
                </a:hlinkClick>
              </a:rPr>
              <a:t>https://trumpexcel.com/excel-sample-data/?_thumbnail_id=46825#Create-Your-Own-Sample-Dataset-in-Excel</a:t>
            </a:r>
            <a:endParaRPr lang="en-US" sz="1100" dirty="0"/>
          </a:p>
          <a:p>
            <a:endParaRPr lang="en-PK" sz="1100" dirty="0"/>
          </a:p>
        </p:txBody>
      </p:sp>
    </p:spTree>
    <p:extLst>
      <p:ext uri="{BB962C8B-B14F-4D97-AF65-F5344CB8AC3E}">
        <p14:creationId xmlns:p14="http://schemas.microsoft.com/office/powerpoint/2010/main" val="363201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67860" y="1283136"/>
            <a:ext cx="10515600" cy="847650"/>
          </a:xfrm>
        </p:spPr>
        <p:txBody>
          <a:bodyPr>
            <a:normAutofit/>
          </a:bodyPr>
          <a:lstStyle/>
          <a:p>
            <a:r>
              <a:rPr lang="en-US" dirty="0">
                <a:solidFill>
                  <a:schemeClr val="bg2">
                    <a:lumMod val="50000"/>
                  </a:schemeClr>
                </a:solidFill>
                <a:latin typeface="+mn-lt"/>
              </a:rPr>
              <a:t>ESSENTIAL READINGS</a:t>
            </a:r>
            <a:endParaRPr lang="en-PK" sz="2800" b="1" dirty="0">
              <a:solidFill>
                <a:schemeClr val="bg2">
                  <a:lumMod val="50000"/>
                </a:schemeClr>
              </a:solidFill>
              <a:latin typeface="+mn-lt"/>
            </a:endParaRP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767860" y="2370160"/>
            <a:ext cx="11101389" cy="3887765"/>
          </a:xfrm>
        </p:spPr>
        <p:txBody>
          <a:bodyPr>
            <a:noAutofit/>
          </a:bodyPr>
          <a:lstStyle/>
          <a:p>
            <a:pPr marL="0" indent="0">
              <a:lnSpc>
                <a:spcPct val="100000"/>
              </a:lnSpc>
              <a:spcBef>
                <a:spcPts val="600"/>
              </a:spcBef>
              <a:spcAft>
                <a:spcPts val="600"/>
              </a:spcAft>
              <a:buNone/>
            </a:pPr>
            <a:r>
              <a:rPr lang="en-US" sz="1400" b="1" dirty="0">
                <a:solidFill>
                  <a:srgbClr val="0070C0"/>
                </a:solidFill>
              </a:rPr>
              <a:t>Coursera:</a:t>
            </a:r>
            <a:r>
              <a:rPr lang="en-US" sz="1400" dirty="0"/>
              <a:t> “The art of writing a powerful executive summary</a:t>
            </a:r>
            <a:r>
              <a:rPr lang="en-US" sz="1400" i="0" dirty="0">
                <a:effectLst/>
              </a:rPr>
              <a:t>”, available at </a:t>
            </a:r>
            <a:r>
              <a:rPr lang="en-US" sz="1400" dirty="0">
                <a:hlinkClick r:id="rId2"/>
              </a:rPr>
              <a:t>https://www.coursera.org/articles/executive-summary</a:t>
            </a:r>
            <a:r>
              <a:rPr lang="en-US" sz="1400" dirty="0">
                <a:hlinkClick r:id="rId3"/>
              </a:rPr>
              <a:t> </a:t>
            </a:r>
            <a:endParaRPr lang="en-US" sz="1400" dirty="0"/>
          </a:p>
          <a:p>
            <a:pPr marL="0" indent="0">
              <a:lnSpc>
                <a:spcPct val="100000"/>
              </a:lnSpc>
              <a:spcBef>
                <a:spcPts val="600"/>
              </a:spcBef>
              <a:spcAft>
                <a:spcPts val="600"/>
              </a:spcAft>
              <a:buNone/>
            </a:pPr>
            <a:r>
              <a:rPr lang="en-US" sz="1400" b="1" dirty="0" err="1">
                <a:solidFill>
                  <a:srgbClr val="0070C0"/>
                </a:solidFill>
              </a:rPr>
              <a:t>GrowthBI</a:t>
            </a:r>
            <a:r>
              <a:rPr lang="en-US" sz="1400" b="1" dirty="0">
                <a:solidFill>
                  <a:srgbClr val="0070C0"/>
                </a:solidFill>
              </a:rPr>
              <a:t>:</a:t>
            </a:r>
            <a:r>
              <a:rPr lang="en-US" sz="1400" dirty="0"/>
              <a:t> “Top data story-telling examples</a:t>
            </a:r>
            <a:r>
              <a:rPr lang="en-US" sz="1400" i="0" dirty="0">
                <a:effectLst/>
              </a:rPr>
              <a:t>”, available at </a:t>
            </a:r>
            <a:r>
              <a:rPr lang="en-US" sz="1400" i="0" dirty="0">
                <a:effectLst/>
                <a:hlinkClick r:id="rId4"/>
              </a:rPr>
              <a:t>https://www.growthbi.com.au/post/top-data-storytelling-examples-to-inspire-your-business-strategy</a:t>
            </a:r>
            <a:endParaRPr lang="en-US" sz="1400" i="0" dirty="0">
              <a:effectLst/>
            </a:endParaRPr>
          </a:p>
          <a:p>
            <a:pPr marL="0" indent="0">
              <a:lnSpc>
                <a:spcPct val="100000"/>
              </a:lnSpc>
              <a:spcBef>
                <a:spcPts val="600"/>
              </a:spcBef>
              <a:spcAft>
                <a:spcPts val="600"/>
              </a:spcAft>
              <a:buNone/>
            </a:pPr>
            <a:r>
              <a:rPr lang="en-US" sz="1400" b="1" dirty="0">
                <a:solidFill>
                  <a:srgbClr val="0070C0"/>
                </a:solidFill>
              </a:rPr>
              <a:t>growth grid:</a:t>
            </a:r>
            <a:r>
              <a:rPr lang="en-US" sz="1400" dirty="0"/>
              <a:t> “8 Executive summary examples</a:t>
            </a:r>
            <a:r>
              <a:rPr lang="en-US" sz="1400" i="0" dirty="0">
                <a:effectLst/>
              </a:rPr>
              <a:t>”, available at </a:t>
            </a:r>
            <a:r>
              <a:rPr lang="en-US" sz="1400" i="0" dirty="0">
                <a:effectLst/>
                <a:hlinkClick r:id="rId5"/>
              </a:rPr>
              <a:t>https://growth-grid.ai/blog/executive-summary-examples/</a:t>
            </a:r>
            <a:endParaRPr lang="en-US" sz="1400" i="0" dirty="0">
              <a:effectLst/>
            </a:endParaRPr>
          </a:p>
          <a:p>
            <a:pPr marL="0" indent="0">
              <a:lnSpc>
                <a:spcPct val="100000"/>
              </a:lnSpc>
              <a:spcBef>
                <a:spcPts val="600"/>
              </a:spcBef>
              <a:spcAft>
                <a:spcPts val="600"/>
              </a:spcAft>
              <a:buNone/>
            </a:pPr>
            <a:r>
              <a:rPr lang="en-US" sz="1400" b="1" dirty="0">
                <a:solidFill>
                  <a:srgbClr val="0070C0"/>
                </a:solidFill>
              </a:rPr>
              <a:t>Harvard Business School:</a:t>
            </a:r>
            <a:r>
              <a:rPr lang="en-US" sz="1400" dirty="0"/>
              <a:t> “</a:t>
            </a:r>
            <a:r>
              <a:rPr lang="en-US" sz="1400" i="0" dirty="0">
                <a:effectLst/>
              </a:rPr>
              <a:t>Data story-telling”, available at </a:t>
            </a:r>
            <a:r>
              <a:rPr lang="en-US" sz="1400" dirty="0">
                <a:hlinkClick r:id="rId6"/>
              </a:rPr>
              <a:t>https://online.hbs.edu/blog/post/data-storytelling</a:t>
            </a:r>
            <a:endParaRPr lang="en-US" sz="1400" dirty="0"/>
          </a:p>
          <a:p>
            <a:pPr marL="0" indent="0">
              <a:lnSpc>
                <a:spcPct val="100000"/>
              </a:lnSpc>
              <a:spcBef>
                <a:spcPts val="600"/>
              </a:spcBef>
              <a:spcAft>
                <a:spcPts val="600"/>
              </a:spcAft>
              <a:buNone/>
            </a:pPr>
            <a:r>
              <a:rPr lang="en-US" sz="1400" b="1" dirty="0">
                <a:solidFill>
                  <a:srgbClr val="0070C0"/>
                </a:solidFill>
              </a:rPr>
              <a:t>Microsoft:</a:t>
            </a:r>
            <a:r>
              <a:rPr lang="en-US" sz="1400" dirty="0"/>
              <a:t> “</a:t>
            </a:r>
            <a:r>
              <a:rPr lang="en-US" sz="1400" i="0" dirty="0">
                <a:effectLst/>
              </a:rPr>
              <a:t>What is data storytelling”, available at </a:t>
            </a:r>
            <a:r>
              <a:rPr lang="en-US" sz="1400" dirty="0">
                <a:hlinkClick r:id="rId7"/>
              </a:rPr>
              <a:t>https://www.microsoft.com/en-my/power-platform/products/power-bi/topics/data-storytelling</a:t>
            </a:r>
            <a:endParaRPr lang="en-US" sz="1400" dirty="0"/>
          </a:p>
          <a:p>
            <a:pPr marL="0" indent="0">
              <a:lnSpc>
                <a:spcPct val="100000"/>
              </a:lnSpc>
              <a:spcBef>
                <a:spcPts val="600"/>
              </a:spcBef>
              <a:spcAft>
                <a:spcPts val="600"/>
              </a:spcAft>
              <a:buNone/>
            </a:pPr>
            <a:r>
              <a:rPr lang="en-US" sz="1400" b="1" dirty="0">
                <a:solidFill>
                  <a:srgbClr val="0070C0"/>
                </a:solidFill>
              </a:rPr>
              <a:t>Slide Team:</a:t>
            </a:r>
            <a:r>
              <a:rPr lang="en-US" sz="1400" dirty="0"/>
              <a:t> “Top 10 Executive summary report templates</a:t>
            </a:r>
            <a:r>
              <a:rPr lang="en-US" sz="1400" i="0" dirty="0">
                <a:effectLst/>
              </a:rPr>
              <a:t>”, available at </a:t>
            </a:r>
            <a:r>
              <a:rPr lang="en-US" sz="1400" dirty="0">
                <a:hlinkClick r:id="rId8"/>
              </a:rPr>
              <a:t>https://www.slideteam.net/blog/top-10-executive-summary-report-templates-with-samples-and-examples</a:t>
            </a:r>
            <a:endParaRPr lang="en-US" sz="1400" dirty="0"/>
          </a:p>
          <a:p>
            <a:pPr marL="0" indent="0">
              <a:lnSpc>
                <a:spcPct val="100000"/>
              </a:lnSpc>
              <a:spcBef>
                <a:spcPts val="600"/>
              </a:spcBef>
              <a:spcAft>
                <a:spcPts val="600"/>
              </a:spcAft>
              <a:buNone/>
            </a:pPr>
            <a:r>
              <a:rPr lang="en-US" sz="1400" b="1" dirty="0">
                <a:solidFill>
                  <a:srgbClr val="0070C0"/>
                </a:solidFill>
              </a:rPr>
              <a:t>TEMPLATE.NET:</a:t>
            </a:r>
            <a:r>
              <a:rPr lang="en-US" sz="1400" dirty="0"/>
              <a:t> “22+ Best executive summary templates</a:t>
            </a:r>
            <a:r>
              <a:rPr lang="en-US" sz="1400" i="0" dirty="0">
                <a:effectLst/>
              </a:rPr>
              <a:t>”, available at </a:t>
            </a:r>
            <a:r>
              <a:rPr lang="en-US" sz="1400" dirty="0">
                <a:hlinkClick r:id="rId9"/>
              </a:rPr>
              <a:t>https://www.template.net/business/word-templates/best-executive-summary-samples/</a:t>
            </a:r>
            <a:endParaRPr lang="en-US" sz="1400" dirty="0"/>
          </a:p>
          <a:p>
            <a:pPr marL="0" indent="0">
              <a:lnSpc>
                <a:spcPct val="100000"/>
              </a:lnSpc>
              <a:spcBef>
                <a:spcPts val="600"/>
              </a:spcBef>
              <a:spcAft>
                <a:spcPts val="600"/>
              </a:spcAft>
              <a:buNone/>
            </a:pPr>
            <a:r>
              <a:rPr lang="en-US" sz="1400" b="1" dirty="0">
                <a:solidFill>
                  <a:srgbClr val="0070C0"/>
                </a:solidFill>
              </a:rPr>
              <a:t>Trump Excel:</a:t>
            </a:r>
            <a:r>
              <a:rPr lang="en-US" sz="1400" dirty="0"/>
              <a:t> “Excel sample data download</a:t>
            </a:r>
            <a:r>
              <a:rPr lang="en-US" sz="1400" i="0" dirty="0">
                <a:effectLst/>
              </a:rPr>
              <a:t>”, available at </a:t>
            </a:r>
            <a:r>
              <a:rPr lang="en-US" sz="1400" dirty="0">
                <a:hlinkClick r:id="rId9"/>
              </a:rPr>
              <a:t>https://trumpexcel.com/excel-sample-data/?_thumbnail_id=46825#Create-Your-Own-Sample-Dataset-in-Excel</a:t>
            </a:r>
            <a:endParaRPr lang="en-US" sz="1400" dirty="0"/>
          </a:p>
          <a:p>
            <a:pPr marL="0" indent="0">
              <a:lnSpc>
                <a:spcPct val="100000"/>
              </a:lnSpc>
              <a:spcBef>
                <a:spcPts val="600"/>
              </a:spcBef>
              <a:spcAft>
                <a:spcPts val="600"/>
              </a:spcAft>
              <a:buNone/>
            </a:pPr>
            <a:endParaRPr lang="en-US" sz="1400" dirty="0"/>
          </a:p>
          <a:p>
            <a:pPr marL="0" indent="0">
              <a:lnSpc>
                <a:spcPct val="100000"/>
              </a:lnSpc>
              <a:spcBef>
                <a:spcPts val="600"/>
              </a:spcBef>
              <a:spcAft>
                <a:spcPts val="600"/>
              </a:spcAft>
              <a:buNone/>
            </a:pPr>
            <a:endParaRPr lang="en-US" sz="1400" dirty="0"/>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13</a:t>
            </a:fld>
            <a:endParaRPr lang="en-PK" dirty="0"/>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336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85812" y="971550"/>
            <a:ext cx="10515600" cy="847650"/>
          </a:xfrm>
        </p:spPr>
        <p:txBody>
          <a:bodyPr>
            <a:normAutofit/>
          </a:bodyPr>
          <a:lstStyle/>
          <a:p>
            <a:r>
              <a:rPr lang="en-US" dirty="0">
                <a:solidFill>
                  <a:srgbClr val="C00000"/>
                </a:solidFill>
                <a:latin typeface="+mn-lt"/>
              </a:rPr>
              <a:t>REFERENCE BOOKS OPTIONS</a:t>
            </a: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838197" y="2009701"/>
            <a:ext cx="10515601" cy="4241734"/>
          </a:xfrm>
        </p:spPr>
        <p:txBody>
          <a:bodyPr>
            <a:noAutofit/>
          </a:bodyPr>
          <a:lstStyle/>
          <a:p>
            <a:pPr marL="0" indent="0">
              <a:lnSpc>
                <a:spcPct val="110000"/>
              </a:lnSpc>
              <a:spcBef>
                <a:spcPts val="0"/>
              </a:spcBef>
              <a:buNone/>
            </a:pPr>
            <a:endParaRPr lang="en-US" sz="1600" dirty="0"/>
          </a:p>
          <a:p>
            <a:pPr>
              <a:lnSpc>
                <a:spcPct val="110000"/>
              </a:lnSpc>
              <a:spcBef>
                <a:spcPts val="0"/>
              </a:spcBef>
              <a:buFontTx/>
              <a:buChar char="-"/>
            </a:pPr>
            <a:r>
              <a:rPr lang="en-US" sz="1600" b="1" dirty="0"/>
              <a:t>BUSINESS ANALYSIS BODY OF KNOWLEDGE (BABOK); </a:t>
            </a:r>
            <a:r>
              <a:rPr lang="en-US" sz="1600" dirty="0"/>
              <a:t>IIBA Bookstore: </a:t>
            </a:r>
            <a:r>
              <a:rPr lang="en-US" sz="1600" i="0" dirty="0">
                <a:effectLst/>
                <a:hlinkClick r:id="rId2">
                  <a:extLst>
                    <a:ext uri="{A12FA001-AC4F-418D-AE19-62706E023703}">
                      <ahyp:hlinkClr xmlns:ahyp="http://schemas.microsoft.com/office/drawing/2018/hyperlinkcolor" val="tx"/>
                    </a:ext>
                  </a:extLst>
                </a:hlinkClick>
              </a:rPr>
              <a:t>https://www.iiba.org/career-resources/a-business-analysis-professionals-foundation-for-success/babok/</a:t>
            </a:r>
            <a:endParaRPr lang="en-US" sz="1600" i="0" dirty="0">
              <a:effectLst/>
            </a:endParaRPr>
          </a:p>
          <a:p>
            <a:pPr marL="0" indent="0">
              <a:lnSpc>
                <a:spcPct val="110000"/>
              </a:lnSpc>
              <a:spcBef>
                <a:spcPts val="0"/>
              </a:spcBef>
              <a:buNone/>
            </a:pPr>
            <a:endParaRPr lang="en-US" sz="1600" i="0" dirty="0">
              <a:effectLst/>
            </a:endParaRPr>
          </a:p>
          <a:p>
            <a:pPr>
              <a:lnSpc>
                <a:spcPct val="110000"/>
              </a:lnSpc>
              <a:spcBef>
                <a:spcPts val="0"/>
              </a:spcBef>
              <a:buFontTx/>
              <a:buChar char="-"/>
            </a:pPr>
            <a:r>
              <a:rPr lang="en-US" sz="1600" b="1" dirty="0"/>
              <a:t>BUSINESS ANALYSIS (Fourth Edition) </a:t>
            </a:r>
            <a:r>
              <a:rPr lang="en-US" sz="1600" dirty="0"/>
              <a:t>by </a:t>
            </a:r>
            <a:r>
              <a:rPr lang="en-US" sz="1600" i="0" dirty="0">
                <a:effectLst/>
              </a:rPr>
              <a:t>Debra </a:t>
            </a:r>
            <a:r>
              <a:rPr lang="en-US" sz="1600" b="0" i="0" dirty="0">
                <a:effectLst/>
              </a:rPr>
              <a:t>Paul (Author), </a:t>
            </a:r>
            <a:r>
              <a:rPr lang="en-US" sz="1600" b="0" i="0" u="none" strike="noStrike" dirty="0">
                <a:effectLst/>
              </a:rPr>
              <a:t>James </a:t>
            </a:r>
            <a:r>
              <a:rPr lang="en-US" sz="1600" b="0" i="0" u="none" strike="noStrike" dirty="0" err="1">
                <a:effectLst/>
              </a:rPr>
              <a:t>Cadle</a:t>
            </a:r>
            <a:r>
              <a:rPr lang="en-US" sz="1600" b="0" i="0" u="none" strike="noStrike" dirty="0">
                <a:effectLst/>
              </a:rPr>
              <a:t> (Author)</a:t>
            </a:r>
            <a:r>
              <a:rPr lang="en-US" sz="1600" b="0" i="0" dirty="0">
                <a:effectLst/>
              </a:rPr>
              <a:t>, </a:t>
            </a:r>
            <a:r>
              <a:rPr lang="en-US" sz="1600" b="0" i="0" u="none" strike="noStrike" dirty="0">
                <a:effectLst/>
              </a:rPr>
              <a:t>Malcolm Eva (Author)</a:t>
            </a:r>
            <a:r>
              <a:rPr lang="en-US" sz="1600" b="0" i="0" dirty="0">
                <a:effectLst/>
              </a:rPr>
              <a:t>, </a:t>
            </a:r>
            <a:r>
              <a:rPr lang="en-US" sz="1600" b="0" i="0" u="none" strike="noStrike" dirty="0">
                <a:effectLst/>
              </a:rPr>
              <a:t>Craig Rollason (Author)</a:t>
            </a:r>
            <a:r>
              <a:rPr lang="en-US" sz="1600" b="0" i="0" dirty="0">
                <a:effectLst/>
              </a:rPr>
              <a:t>, </a:t>
            </a:r>
            <a:r>
              <a:rPr lang="en-US" sz="1600" b="0" i="0" u="none" strike="noStrike" dirty="0">
                <a:effectLst/>
              </a:rPr>
              <a:t>Jonathan </a:t>
            </a:r>
            <a:r>
              <a:rPr lang="en-US" sz="1600" b="0" i="0" u="none" strike="noStrike" dirty="0" err="1">
                <a:effectLst/>
              </a:rPr>
              <a:t>Hunsley</a:t>
            </a:r>
            <a:r>
              <a:rPr lang="en-US" sz="1600" b="0" i="0" u="none" strike="noStrike" dirty="0">
                <a:effectLst/>
              </a:rPr>
              <a:t> (Author)</a:t>
            </a:r>
          </a:p>
          <a:p>
            <a:pPr>
              <a:lnSpc>
                <a:spcPct val="110000"/>
              </a:lnSpc>
              <a:spcBef>
                <a:spcPts val="0"/>
              </a:spcBef>
              <a:buFontTx/>
              <a:buChar char="-"/>
            </a:pPr>
            <a:endParaRPr lang="en-US" sz="1600" dirty="0"/>
          </a:p>
          <a:p>
            <a:pPr>
              <a:lnSpc>
                <a:spcPct val="110000"/>
              </a:lnSpc>
              <a:spcBef>
                <a:spcPts val="0"/>
              </a:spcBef>
              <a:buFontTx/>
              <a:buChar char="-"/>
            </a:pPr>
            <a:r>
              <a:rPr lang="en-US" sz="1600" b="1" i="0" dirty="0">
                <a:effectLst/>
              </a:rPr>
              <a:t>BUSINESS ANALYSIS TECHNIQUES: 123 ESSENTIAL TOOLS FOR SUCCESS (3RD Edition) </a:t>
            </a:r>
            <a:r>
              <a:rPr lang="en-US" sz="1600" b="0" i="0" dirty="0">
                <a:effectLst/>
              </a:rPr>
              <a:t>by </a:t>
            </a:r>
            <a:r>
              <a:rPr lang="en-US" sz="1600" b="0" i="0" u="none" strike="noStrike" dirty="0">
                <a:effectLst/>
              </a:rPr>
              <a:t>James </a:t>
            </a:r>
            <a:r>
              <a:rPr lang="en-US" sz="1600" b="0" i="0" u="none" strike="noStrike" dirty="0" err="1">
                <a:effectLst/>
              </a:rPr>
              <a:t>Cadle</a:t>
            </a:r>
            <a:r>
              <a:rPr lang="en-US" sz="1600" b="0" i="0" dirty="0">
                <a:effectLst/>
              </a:rPr>
              <a:t> (Author), </a:t>
            </a:r>
            <a:r>
              <a:rPr lang="en-US" sz="1600" b="0" i="0" u="none" strike="noStrike" dirty="0">
                <a:effectLst/>
              </a:rPr>
              <a:t>Debra Paul</a:t>
            </a:r>
            <a:r>
              <a:rPr lang="en-US" sz="1600" b="0" i="0" dirty="0">
                <a:effectLst/>
              </a:rPr>
              <a:t> (Author), </a:t>
            </a:r>
            <a:r>
              <a:rPr lang="en-US" sz="1600" b="0" i="0" u="none" strike="noStrike" dirty="0">
                <a:effectLst/>
              </a:rPr>
              <a:t>Jonathan </a:t>
            </a:r>
            <a:r>
              <a:rPr lang="en-US" sz="1600" b="0" i="0" u="none" strike="noStrike" dirty="0" err="1">
                <a:effectLst/>
              </a:rPr>
              <a:t>Hunsley</a:t>
            </a:r>
            <a:r>
              <a:rPr lang="en-US" sz="1600" b="0" i="0" dirty="0">
                <a:effectLst/>
              </a:rPr>
              <a:t> (Author), </a:t>
            </a:r>
            <a:r>
              <a:rPr lang="en-US" sz="1600" b="0" i="0" u="none" strike="noStrike" dirty="0">
                <a:effectLst/>
              </a:rPr>
              <a:t>Adrian Reed</a:t>
            </a:r>
            <a:r>
              <a:rPr lang="en-US" sz="1600" b="0" i="0" dirty="0">
                <a:effectLst/>
              </a:rPr>
              <a:t> (Author)</a:t>
            </a:r>
          </a:p>
          <a:p>
            <a:pPr>
              <a:lnSpc>
                <a:spcPct val="110000"/>
              </a:lnSpc>
              <a:spcBef>
                <a:spcPts val="0"/>
              </a:spcBef>
              <a:buFontTx/>
              <a:buChar char="-"/>
            </a:pPr>
            <a:endParaRPr lang="en-US" sz="1600" b="1" i="0" dirty="0">
              <a:effectLst/>
            </a:endParaRPr>
          </a:p>
          <a:p>
            <a:pPr marL="0" indent="0">
              <a:lnSpc>
                <a:spcPct val="110000"/>
              </a:lnSpc>
              <a:spcBef>
                <a:spcPts val="0"/>
              </a:spcBef>
              <a:buNone/>
            </a:pPr>
            <a:endParaRPr lang="en-US" sz="1600" b="1" i="0" dirty="0">
              <a:solidFill>
                <a:srgbClr val="000000"/>
              </a:solidFill>
              <a:effectLst/>
              <a:latin typeface="Roboto Condensed"/>
            </a:endParaRPr>
          </a:p>
          <a:p>
            <a:pPr marL="0" indent="0">
              <a:lnSpc>
                <a:spcPct val="110000"/>
              </a:lnSpc>
              <a:spcBef>
                <a:spcPts val="0"/>
              </a:spcBef>
              <a:buNone/>
            </a:pPr>
            <a:endParaRPr lang="en-US" sz="1600" i="0" dirty="0">
              <a:effectLst/>
            </a:endParaRPr>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14</a:t>
            </a:fld>
            <a:endParaRPr lang="en-PK" dirty="0"/>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9845735"/>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TM03457475[[fn=Frame]]</Template>
  <TotalTime>60239</TotalTime>
  <Words>1609</Words>
  <Application>Microsoft Office PowerPoint</Application>
  <PresentationFormat>Widescreen</PresentationFormat>
  <Paragraphs>124</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Courier New</vt:lpstr>
      <vt:lpstr>Roboto Condensed</vt:lpstr>
      <vt:lpstr>Office Theme</vt:lpstr>
      <vt:lpstr>BUSINESS ANALYSIS  Reporting and Storytelling</vt:lpstr>
      <vt:lpstr>DATA STORYTELLING</vt:lpstr>
      <vt:lpstr>CRAFTING A GOOD STORY</vt:lpstr>
      <vt:lpstr>USING DATA VISUALIZATION AND STORYTELLING TOGETHER</vt:lpstr>
      <vt:lpstr>REAL WORLD CASES</vt:lpstr>
      <vt:lpstr>USING DATA DASHBOARDS AND STORYTELLING TOGETHER</vt:lpstr>
      <vt:lpstr>REAL WORLD CASES</vt:lpstr>
      <vt:lpstr>EXECUTIVE SUMMARIES</vt:lpstr>
      <vt:lpstr>EXECUTIVE SUMMARIES OF BUSINESS REPORTS</vt:lpstr>
      <vt:lpstr>EXECUTIVE SUMMARIES TEMPLATES</vt:lpstr>
      <vt:lpstr>EXECUTIVE SUMMARIES EXAMPLES</vt:lpstr>
      <vt:lpstr>ACTIVITY: DESIGNING A DASHBOARD</vt:lpstr>
      <vt:lpstr>ESSENTIAL READINGS</vt:lpstr>
      <vt:lpstr>REFERENCE BOOKS OPTIONS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DEVELOPING HORIZONTAL LINKAGES WITH OTHER GOVERNMENT DEPARTMENTS</dc:title>
  <dc:creator>Mufeeza Iqbal</dc:creator>
  <cp:lastModifiedBy>Mufeeza Iqbal</cp:lastModifiedBy>
  <cp:revision>295</cp:revision>
  <cp:lastPrinted>2026-03-09T15:36:44Z</cp:lastPrinted>
  <dcterms:created xsi:type="dcterms:W3CDTF">2024-06-09T07:08:43Z</dcterms:created>
  <dcterms:modified xsi:type="dcterms:W3CDTF">2026-04-21T08:39:26Z</dcterms:modified>
</cp:coreProperties>
</file>