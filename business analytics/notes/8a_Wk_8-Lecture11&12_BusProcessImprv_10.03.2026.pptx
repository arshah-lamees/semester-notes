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16"/>
  </p:notesMasterIdLst>
  <p:sldIdLst>
    <p:sldId id="256" r:id="rId2"/>
    <p:sldId id="322" r:id="rId3"/>
    <p:sldId id="403" r:id="rId4"/>
    <p:sldId id="407" r:id="rId5"/>
    <p:sldId id="402" r:id="rId6"/>
    <p:sldId id="412" r:id="rId7"/>
    <p:sldId id="413" r:id="rId8"/>
    <p:sldId id="414" r:id="rId9"/>
    <p:sldId id="408" r:id="rId10"/>
    <p:sldId id="410" r:id="rId11"/>
    <p:sldId id="411" r:id="rId12"/>
    <p:sldId id="415" r:id="rId13"/>
    <p:sldId id="338" r:id="rId14"/>
    <p:sldId id="395" r:id="rId1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feeza Iqbal" initials="MI" lastIdx="1" clrIdx="0">
    <p:extLst>
      <p:ext uri="{19B8F6BF-5375-455C-9EA6-DF929625EA0E}">
        <p15:presenceInfo xmlns:p15="http://schemas.microsoft.com/office/powerpoint/2012/main" userId="Mufeeza Iqb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675C4"/>
    <a:srgbClr val="D4E5F7"/>
    <a:srgbClr val="F7E485"/>
    <a:srgbClr val="FFDA3F"/>
    <a:srgbClr val="F7ECA7"/>
    <a:srgbClr val="FFE6B3"/>
    <a:srgbClr val="DEC904"/>
    <a:srgbClr val="E2B700"/>
    <a:srgbClr val="F6E99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85" autoAdjust="0"/>
    <p:restoredTop sz="94917" autoAdjust="0"/>
  </p:normalViewPr>
  <p:slideViewPr>
    <p:cSldViewPr snapToGrid="0">
      <p:cViewPr varScale="1">
        <p:scale>
          <a:sx n="79" d="100"/>
          <a:sy n="79" d="100"/>
        </p:scale>
        <p:origin x="926" y="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A3216-91D5-43D0-B205-F0CBF00F2A3B}" type="datetimeFigureOut">
              <a:rPr lang="en-PK" smtClean="0"/>
              <a:t>24/03/2026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88AE2D-6C56-4B4B-AC93-0FCEBED5A4D6}" type="slidenum">
              <a:rPr lang="en-PK" smtClean="0"/>
              <a:t>‹#›</a:t>
            </a:fld>
            <a:endParaRPr lang="en-PK"/>
          </a:p>
        </p:txBody>
      </p:sp>
    </p:spTree>
    <p:extLst>
      <p:ext uri="{BB962C8B-B14F-4D97-AF65-F5344CB8AC3E}">
        <p14:creationId xmlns:p14="http://schemas.microsoft.com/office/powerpoint/2010/main" val="109202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92AE-3475-5519-9CD2-B3813CA2A3E0}"/>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C69BC997-4B8A-9709-FA3F-2812ED29E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PK" dirty="0"/>
          </a:p>
        </p:txBody>
      </p:sp>
      <p:sp>
        <p:nvSpPr>
          <p:cNvPr id="4" name="Date Placeholder 3">
            <a:extLst>
              <a:ext uri="{FF2B5EF4-FFF2-40B4-BE49-F238E27FC236}">
                <a16:creationId xmlns:a16="http://schemas.microsoft.com/office/drawing/2014/main" id="{0CEDD1C2-A443-3425-F1A3-450EEF2D63F4}"/>
              </a:ext>
            </a:extLst>
          </p:cNvPr>
          <p:cNvSpPr>
            <a:spLocks noGrp="1"/>
          </p:cNvSpPr>
          <p:nvPr>
            <p:ph type="dt" sz="half" idx="10"/>
          </p:nvPr>
        </p:nvSpPr>
        <p:spPr/>
        <p:txBody>
          <a:bodyPr/>
          <a:lstStyle/>
          <a:p>
            <a:fld id="{F2E0BE24-4914-473D-86E2-D4EE0B0E90C7}" type="datetime8">
              <a:rPr lang="en-PK" smtClean="0"/>
              <a:t>24/03/2026 3:20 pm</a:t>
            </a:fld>
            <a:endParaRPr lang="en-PK"/>
          </a:p>
        </p:txBody>
      </p:sp>
      <p:sp>
        <p:nvSpPr>
          <p:cNvPr id="5" name="Footer Placeholder 4">
            <a:extLst>
              <a:ext uri="{FF2B5EF4-FFF2-40B4-BE49-F238E27FC236}">
                <a16:creationId xmlns:a16="http://schemas.microsoft.com/office/drawing/2014/main" id="{80BE2A3E-9208-EDCE-DEBB-4D933736745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7EF72C-8D9E-F888-7543-7E09C4BFD1ED}"/>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970094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9ADE-7B08-A01C-72DF-FE9993CEE412}"/>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D7607FC3-A55A-4A8D-FCDC-D328082DEE3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81EEBE8E-9BB1-B225-5B4C-55AEA4E7FB3F}"/>
              </a:ext>
            </a:extLst>
          </p:cNvPr>
          <p:cNvSpPr>
            <a:spLocks noGrp="1"/>
          </p:cNvSpPr>
          <p:nvPr>
            <p:ph type="dt" sz="half" idx="10"/>
          </p:nvPr>
        </p:nvSpPr>
        <p:spPr/>
        <p:txBody>
          <a:bodyPr/>
          <a:lstStyle/>
          <a:p>
            <a:fld id="{9E39EF77-D47F-4BB1-86E4-5F455460BD9C}" type="datetime8">
              <a:rPr lang="en-PK" smtClean="0"/>
              <a:t>24/03/2026 3:20 pm</a:t>
            </a:fld>
            <a:endParaRPr lang="en-PK"/>
          </a:p>
        </p:txBody>
      </p:sp>
      <p:sp>
        <p:nvSpPr>
          <p:cNvPr id="5" name="Footer Placeholder 4">
            <a:extLst>
              <a:ext uri="{FF2B5EF4-FFF2-40B4-BE49-F238E27FC236}">
                <a16:creationId xmlns:a16="http://schemas.microsoft.com/office/drawing/2014/main" id="{1C5AE679-F999-E1F9-0F77-DEA6D713194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877F485-BD67-E327-64C3-D7E71B9E5CDC}"/>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910424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A042-DF09-56BB-8638-29DBAD3887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E1508DB-FFA7-6D03-67FA-3EF149A1B8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14BE1E-EE08-ACCC-1271-2F5E25CAF127}"/>
              </a:ext>
            </a:extLst>
          </p:cNvPr>
          <p:cNvSpPr>
            <a:spLocks noGrp="1"/>
          </p:cNvSpPr>
          <p:nvPr>
            <p:ph type="dt" sz="half" idx="10"/>
          </p:nvPr>
        </p:nvSpPr>
        <p:spPr/>
        <p:txBody>
          <a:bodyPr/>
          <a:lstStyle/>
          <a:p>
            <a:fld id="{8081A5AA-2A6E-43F2-9F30-AF7EED5FA600}" type="datetime8">
              <a:rPr lang="en-PK" smtClean="0"/>
              <a:t>24/03/2026 3:20 pm</a:t>
            </a:fld>
            <a:endParaRPr lang="en-PK"/>
          </a:p>
        </p:txBody>
      </p:sp>
      <p:sp>
        <p:nvSpPr>
          <p:cNvPr id="5" name="Footer Placeholder 4">
            <a:extLst>
              <a:ext uri="{FF2B5EF4-FFF2-40B4-BE49-F238E27FC236}">
                <a16:creationId xmlns:a16="http://schemas.microsoft.com/office/drawing/2014/main" id="{C3D9D85B-5C96-E835-D822-93C86F7831C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F1899E9-E472-DD15-F881-200436473BF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010372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7FCC-3AE3-0214-F9D4-FCB15D614000}"/>
              </a:ext>
            </a:extLst>
          </p:cNvPr>
          <p:cNvSpPr>
            <a:spLocks noGrp="1"/>
          </p:cNvSpPr>
          <p:nvPr>
            <p:ph type="title"/>
          </p:nvPr>
        </p:nvSpPr>
        <p:spPr/>
        <p:txBody>
          <a:bodyPr/>
          <a:lstStyle>
            <a:lvl1pPr>
              <a:defRPr sz="2800" b="1" i="0" baseline="0">
                <a:solidFill>
                  <a:srgbClr val="0070C0"/>
                </a:solidFill>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8207161E-F706-1674-13DB-BACD4723176A}"/>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Content Placeholder 3">
            <a:extLst>
              <a:ext uri="{FF2B5EF4-FFF2-40B4-BE49-F238E27FC236}">
                <a16:creationId xmlns:a16="http://schemas.microsoft.com/office/drawing/2014/main" id="{57CA0A05-46B6-960E-7368-B2CE54CC3B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DF639986-E720-F1B7-36F9-B2708004C907}"/>
              </a:ext>
            </a:extLst>
          </p:cNvPr>
          <p:cNvSpPr>
            <a:spLocks noGrp="1"/>
          </p:cNvSpPr>
          <p:nvPr>
            <p:ph type="dt" sz="half" idx="10"/>
          </p:nvPr>
        </p:nvSpPr>
        <p:spPr/>
        <p:txBody>
          <a:bodyPr/>
          <a:lstStyle/>
          <a:p>
            <a:fld id="{9E4E2CB0-8F81-407D-9308-759F0E533D95}" type="datetime8">
              <a:rPr lang="en-PK" smtClean="0"/>
              <a:t>24/03/2026 3:20 pm</a:t>
            </a:fld>
            <a:endParaRPr lang="en-PK"/>
          </a:p>
        </p:txBody>
      </p:sp>
      <p:sp>
        <p:nvSpPr>
          <p:cNvPr id="6" name="Footer Placeholder 5">
            <a:extLst>
              <a:ext uri="{FF2B5EF4-FFF2-40B4-BE49-F238E27FC236}">
                <a16:creationId xmlns:a16="http://schemas.microsoft.com/office/drawing/2014/main" id="{108C3A9C-BA81-3B68-288D-EB7FD47FFBA7}"/>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EAEAC4-C699-2232-BD98-7252DC5E195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606244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4A8C3-75DD-1313-ABA5-5D3FFA02C9DA}"/>
              </a:ext>
            </a:extLst>
          </p:cNvPr>
          <p:cNvSpPr>
            <a:spLocks noGrp="1"/>
          </p:cNvSpPr>
          <p:nvPr>
            <p:ph type="title"/>
          </p:nvPr>
        </p:nvSpPr>
        <p:spPr>
          <a:xfrm>
            <a:off x="839788" y="365125"/>
            <a:ext cx="10515600" cy="1325563"/>
          </a:xfrm>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C77D5B1-50C2-CF91-9D88-610914E272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B35284C-0315-C6F1-CA04-F3E219D15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C47C534-C2F2-A37B-C431-9DF8A42B31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AA4DAB-49CA-2EFC-9842-564884678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64688EE-799F-3F23-A121-4F674361A703}"/>
              </a:ext>
            </a:extLst>
          </p:cNvPr>
          <p:cNvSpPr>
            <a:spLocks noGrp="1"/>
          </p:cNvSpPr>
          <p:nvPr>
            <p:ph type="dt" sz="half" idx="10"/>
          </p:nvPr>
        </p:nvSpPr>
        <p:spPr/>
        <p:txBody>
          <a:bodyPr/>
          <a:lstStyle/>
          <a:p>
            <a:fld id="{6F0FBD63-32C8-45D6-BE9D-408F278BE9C8}" type="datetime8">
              <a:rPr lang="en-PK" smtClean="0"/>
              <a:t>24/03/2026 3:20 pm</a:t>
            </a:fld>
            <a:endParaRPr lang="en-PK"/>
          </a:p>
        </p:txBody>
      </p:sp>
      <p:sp>
        <p:nvSpPr>
          <p:cNvPr id="8" name="Footer Placeholder 7">
            <a:extLst>
              <a:ext uri="{FF2B5EF4-FFF2-40B4-BE49-F238E27FC236}">
                <a16:creationId xmlns:a16="http://schemas.microsoft.com/office/drawing/2014/main" id="{93E4848C-55D2-9A77-36F1-FAD52DCB085E}"/>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D5D59BD-56E3-4753-6C9F-3B1F4CE0BE6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930308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AC4B4-FA75-C85D-E743-3DB6E5DB7351}"/>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2FDF645E-1294-7708-0DA4-EDA61782FD91}"/>
              </a:ext>
            </a:extLst>
          </p:cNvPr>
          <p:cNvSpPr>
            <a:spLocks noGrp="1"/>
          </p:cNvSpPr>
          <p:nvPr>
            <p:ph type="dt" sz="half" idx="10"/>
          </p:nvPr>
        </p:nvSpPr>
        <p:spPr/>
        <p:txBody>
          <a:bodyPr/>
          <a:lstStyle/>
          <a:p>
            <a:fld id="{165A7C61-2664-45A8-9CA0-D9D546B35364}" type="datetime8">
              <a:rPr lang="en-PK" smtClean="0"/>
              <a:t>24/03/2026 3:20 pm</a:t>
            </a:fld>
            <a:endParaRPr lang="en-PK"/>
          </a:p>
        </p:txBody>
      </p:sp>
      <p:sp>
        <p:nvSpPr>
          <p:cNvPr id="4" name="Footer Placeholder 3">
            <a:extLst>
              <a:ext uri="{FF2B5EF4-FFF2-40B4-BE49-F238E27FC236}">
                <a16:creationId xmlns:a16="http://schemas.microsoft.com/office/drawing/2014/main" id="{4E69AFA9-8467-3A28-7BFF-CA12EF3CA431}"/>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08D24441-1E31-6A33-D8E8-781D599AD10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292362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B7448-39E8-68A0-B712-84409BF4EB3A}"/>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E7243484-DEAD-0EB1-DC5F-24E6FD4BABC5}"/>
              </a:ext>
            </a:extLst>
          </p:cNvPr>
          <p:cNvSpPr>
            <a:spLocks noGrp="1"/>
          </p:cNvSpPr>
          <p:nvPr>
            <p:ph type="dt" sz="half" idx="10"/>
          </p:nvPr>
        </p:nvSpPr>
        <p:spPr/>
        <p:txBody>
          <a:bodyPr/>
          <a:lstStyle/>
          <a:p>
            <a:fld id="{D7C78C6A-94B1-48CD-B95C-7BBCF06B539F}" type="datetime8">
              <a:rPr lang="en-PK" smtClean="0"/>
              <a:t>24/03/2026 3:20 pm</a:t>
            </a:fld>
            <a:endParaRPr lang="en-PK"/>
          </a:p>
        </p:txBody>
      </p:sp>
      <p:sp>
        <p:nvSpPr>
          <p:cNvPr id="4" name="Footer Placeholder 3">
            <a:extLst>
              <a:ext uri="{FF2B5EF4-FFF2-40B4-BE49-F238E27FC236}">
                <a16:creationId xmlns:a16="http://schemas.microsoft.com/office/drawing/2014/main" id="{7BF8FE36-0300-3AD8-5E95-41E333E1816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73CC0281-9CE6-90B4-45F9-D9D954D12024}"/>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09204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53CB-8CBB-A3DD-2AD9-1CA378510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FEF21173-6A64-ACDD-90B1-F466FBD621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C611703-8264-01ED-8E5E-06DFA98EE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25018-0F9D-E6A7-30D4-FA1B94922608}"/>
              </a:ext>
            </a:extLst>
          </p:cNvPr>
          <p:cNvSpPr>
            <a:spLocks noGrp="1"/>
          </p:cNvSpPr>
          <p:nvPr>
            <p:ph type="dt" sz="half" idx="10"/>
          </p:nvPr>
        </p:nvSpPr>
        <p:spPr/>
        <p:txBody>
          <a:bodyPr/>
          <a:lstStyle/>
          <a:p>
            <a:fld id="{8885620F-E5D6-45BD-ABE4-D3E73AEC1059}" type="datetime8">
              <a:rPr lang="en-PK" smtClean="0"/>
              <a:t>24/03/2026 3:20 pm</a:t>
            </a:fld>
            <a:endParaRPr lang="en-PK"/>
          </a:p>
        </p:txBody>
      </p:sp>
      <p:sp>
        <p:nvSpPr>
          <p:cNvPr id="6" name="Footer Placeholder 5">
            <a:extLst>
              <a:ext uri="{FF2B5EF4-FFF2-40B4-BE49-F238E27FC236}">
                <a16:creationId xmlns:a16="http://schemas.microsoft.com/office/drawing/2014/main" id="{EC9345B6-DE39-4DE7-B63A-020AA0C2594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077E181-66A9-8AF7-8FC6-FD18E1778D1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82188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E283-232A-203F-BE7E-C1FAB18986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35344E88-2CB0-6548-1689-37B5CD1D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FAC45364-9FD1-5237-6F05-3CD9FF28E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A0F029-9EDC-16AD-E233-F72153868CD3}"/>
              </a:ext>
            </a:extLst>
          </p:cNvPr>
          <p:cNvSpPr>
            <a:spLocks noGrp="1"/>
          </p:cNvSpPr>
          <p:nvPr>
            <p:ph type="dt" sz="half" idx="10"/>
          </p:nvPr>
        </p:nvSpPr>
        <p:spPr/>
        <p:txBody>
          <a:bodyPr/>
          <a:lstStyle/>
          <a:p>
            <a:fld id="{C0B36677-69CF-4F57-B961-69869666485F}" type="datetime8">
              <a:rPr lang="en-PK" smtClean="0"/>
              <a:t>24/03/2026 3:20 pm</a:t>
            </a:fld>
            <a:endParaRPr lang="en-PK"/>
          </a:p>
        </p:txBody>
      </p:sp>
      <p:sp>
        <p:nvSpPr>
          <p:cNvPr id="6" name="Footer Placeholder 5">
            <a:extLst>
              <a:ext uri="{FF2B5EF4-FFF2-40B4-BE49-F238E27FC236}">
                <a16:creationId xmlns:a16="http://schemas.microsoft.com/office/drawing/2014/main" id="{566EAD10-9813-FA15-7AA3-F311C1514D6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6593DEC-A834-573B-8137-57A252A1E13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55392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6A8F-48A0-C1A4-C992-787E5B87AC6B}"/>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Vertical Text Placeholder 2">
            <a:extLst>
              <a:ext uri="{FF2B5EF4-FFF2-40B4-BE49-F238E27FC236}">
                <a16:creationId xmlns:a16="http://schemas.microsoft.com/office/drawing/2014/main" id="{9785B7C4-4FCF-3883-BC91-FDBC338D9E93}"/>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D6E4F67A-FCF1-D4E4-E162-793DEACCA4D9}"/>
              </a:ext>
            </a:extLst>
          </p:cNvPr>
          <p:cNvSpPr>
            <a:spLocks noGrp="1"/>
          </p:cNvSpPr>
          <p:nvPr>
            <p:ph type="dt" sz="half" idx="10"/>
          </p:nvPr>
        </p:nvSpPr>
        <p:spPr/>
        <p:txBody>
          <a:bodyPr/>
          <a:lstStyle/>
          <a:p>
            <a:fld id="{76AFB392-8D81-42DB-9470-C0982980A208}" type="datetime8">
              <a:rPr lang="en-PK" smtClean="0"/>
              <a:t>24/03/2026 3:20 pm</a:t>
            </a:fld>
            <a:endParaRPr lang="en-PK"/>
          </a:p>
        </p:txBody>
      </p:sp>
      <p:sp>
        <p:nvSpPr>
          <p:cNvPr id="5" name="Footer Placeholder 4">
            <a:extLst>
              <a:ext uri="{FF2B5EF4-FFF2-40B4-BE49-F238E27FC236}">
                <a16:creationId xmlns:a16="http://schemas.microsoft.com/office/drawing/2014/main" id="{1FD6A201-A7CA-71B8-8718-9897B03FE15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B9A3F33-5AA9-E112-2ABF-79F547887F53}"/>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626848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D59074-43DC-F3A1-F847-B382DA9986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4F3AC57-AF5B-EC7C-207D-DD87813931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95FF8A-8F6C-7460-66BD-36FE94B2C2E8}"/>
              </a:ext>
            </a:extLst>
          </p:cNvPr>
          <p:cNvSpPr>
            <a:spLocks noGrp="1"/>
          </p:cNvSpPr>
          <p:nvPr>
            <p:ph type="dt" sz="half" idx="10"/>
          </p:nvPr>
        </p:nvSpPr>
        <p:spPr/>
        <p:txBody>
          <a:bodyPr/>
          <a:lstStyle/>
          <a:p>
            <a:fld id="{A3C8CE2D-4511-4580-808C-44E58A6F6871}" type="datetime8">
              <a:rPr lang="en-PK" smtClean="0"/>
              <a:t>24/03/2026 3:20 pm</a:t>
            </a:fld>
            <a:endParaRPr lang="en-PK"/>
          </a:p>
        </p:txBody>
      </p:sp>
      <p:sp>
        <p:nvSpPr>
          <p:cNvPr id="5" name="Footer Placeholder 4">
            <a:extLst>
              <a:ext uri="{FF2B5EF4-FFF2-40B4-BE49-F238E27FC236}">
                <a16:creationId xmlns:a16="http://schemas.microsoft.com/office/drawing/2014/main" id="{8DBE7764-4D16-A8A5-2DA2-548355B8B7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EDDCA92-473C-706D-5019-016D87F1B60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4229802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5FF33B-CB98-4E49-F470-FDEB20A1B0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5895A451-6F13-E99E-AA74-118FE0705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A7D6080-894B-699D-C377-9FCB24BB49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8247E1-80FA-4B68-AED4-FB0D556219B2}" type="datetime8">
              <a:rPr lang="en-PK" smtClean="0"/>
              <a:t>24/03/2026 3:20 pm</a:t>
            </a:fld>
            <a:endParaRPr lang="en-PK"/>
          </a:p>
        </p:txBody>
      </p:sp>
      <p:sp>
        <p:nvSpPr>
          <p:cNvPr id="5" name="Footer Placeholder 4">
            <a:extLst>
              <a:ext uri="{FF2B5EF4-FFF2-40B4-BE49-F238E27FC236}">
                <a16:creationId xmlns:a16="http://schemas.microsoft.com/office/drawing/2014/main" id="{4E1F34FF-7C89-DFB6-0D18-88EA7A4B3B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41908851-096B-57D1-721E-52D426BA6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5646D-91FE-4030-A7F0-07F651F9A7F3}" type="slidenum">
              <a:rPr lang="en-PK" smtClean="0"/>
              <a:t>‹#›</a:t>
            </a:fld>
            <a:endParaRPr lang="en-PK"/>
          </a:p>
        </p:txBody>
      </p:sp>
    </p:spTree>
    <p:extLst>
      <p:ext uri="{BB962C8B-B14F-4D97-AF65-F5344CB8AC3E}">
        <p14:creationId xmlns:p14="http://schemas.microsoft.com/office/powerpoint/2010/main" val="506824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0"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bm.com/think/topics/root-cause-analysi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ibm.com/think/topics/root-cause-analysi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ibm.com/think/topics/root-cause-analysi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ibm.com/think/topics/root-cause-analysis" TargetMode="External"/><Relationship Id="rId2" Type="http://schemas.openxmlformats.org/officeDocument/2006/relationships/image" Target="../media/image1.png"/><Relationship Id="rId1" Type="http://schemas.openxmlformats.org/officeDocument/2006/relationships/slideLayout" Target="../slideLayouts/slideLayout8.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hyperlink" Target="https://kaizen.com/insights/ishikawa-diagram-root-cause-analysi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processmaker.com/blog/bottleneck-analysis-explained/"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processmaker.com/blog/bottleneck-analysis-explained/"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processmaker.com/blog/bottleneck-analysis-explained/"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s://www.forbes.com/advisor/business/gap-analysis-template/" TargetMode="External"/><Relationship Id="rId2" Type="http://schemas.openxmlformats.org/officeDocument/2006/relationships/image" Target="../media/image1.png"/><Relationship Id="rId1" Type="http://schemas.openxmlformats.org/officeDocument/2006/relationships/slideLayout" Target="../slideLayouts/slideLayout8.xml"/><Relationship Id="rId5" Type="http://schemas.microsoft.com/office/2007/relationships/hdphoto" Target="../media/hdphoto3.wdp"/><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s://www.forbes.com/advisor/business/gap-analysis-template/"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forbes.com/advisor/business/gap-analysis-template/" TargetMode="External"/><Relationship Id="rId2" Type="http://schemas.openxmlformats.org/officeDocument/2006/relationships/image" Target="../media/image1.png"/><Relationship Id="rId1" Type="http://schemas.openxmlformats.org/officeDocument/2006/relationships/slideLayout" Target="../slideLayouts/slideLayout9.xml"/><Relationship Id="rId5" Type="http://schemas.microsoft.com/office/2007/relationships/hdphoto" Target="../media/hdphoto4.wdp"/><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bm.com/think/topics/root-cause-analysis" TargetMode="External"/><Relationship Id="rId2" Type="http://schemas.openxmlformats.org/officeDocument/2006/relationships/hyperlink" Target="https://www.forbes.com/advisor/business/gap-analysis-template/"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processmaker.com/blog/bottleneck-analysis-explained/" TargetMode="External"/><Relationship Id="rId4" Type="http://schemas.openxmlformats.org/officeDocument/2006/relationships/hyperlink" Target="https://kaizen.com/insights/ishikawa-diagram-root-cause-analysi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iiba.org/career-resources/a-business-analysis-professionals-foundation-for-success/babo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D80B44-5D51-DEB9-139E-D6588E08DCEE}"/>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F0A358E0-F332-E7D0-E6FF-67C0C524EC5E}"/>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3CC7347E-773E-501C-BBCD-F143B41F9D1E}"/>
              </a:ext>
            </a:extLst>
          </p:cNvPr>
          <p:cNvSpPr>
            <a:spLocks noGrp="1"/>
          </p:cNvSpPr>
          <p:nvPr>
            <p:ph type="sldNum" sz="quarter" idx="12"/>
          </p:nvPr>
        </p:nvSpPr>
        <p:spPr/>
        <p:txBody>
          <a:bodyPr/>
          <a:lstStyle/>
          <a:p>
            <a:fld id="{8C95646D-91FE-4030-A7F0-07F651F9A7F3}" type="slidenum">
              <a:rPr lang="en-PK" smtClean="0"/>
              <a:t>1</a:t>
            </a:fld>
            <a:endParaRPr lang="en-PK"/>
          </a:p>
        </p:txBody>
      </p:sp>
      <p:sp>
        <p:nvSpPr>
          <p:cNvPr id="5" name="Title 4">
            <a:extLst>
              <a:ext uri="{FF2B5EF4-FFF2-40B4-BE49-F238E27FC236}">
                <a16:creationId xmlns:a16="http://schemas.microsoft.com/office/drawing/2014/main" id="{376D3B6A-B4FC-14B2-8C07-F3041090EE78}"/>
              </a:ext>
            </a:extLst>
          </p:cNvPr>
          <p:cNvSpPr>
            <a:spLocks noGrp="1"/>
          </p:cNvSpPr>
          <p:nvPr>
            <p:ph type="ctrTitle"/>
          </p:nvPr>
        </p:nvSpPr>
        <p:spPr>
          <a:xfrm>
            <a:off x="1524000" y="1567543"/>
            <a:ext cx="9144000" cy="2997200"/>
          </a:xfrm>
        </p:spPr>
        <p:txBody>
          <a:bodyPr>
            <a:normAutofit/>
          </a:bodyPr>
          <a:lstStyle/>
          <a:p>
            <a:r>
              <a:rPr lang="en-US" dirty="0"/>
              <a:t>BUSINESS ANALYSIS</a:t>
            </a:r>
            <a:br>
              <a:rPr lang="en-US" sz="1600" dirty="0"/>
            </a:br>
            <a:br>
              <a:rPr lang="en-US" sz="1600" dirty="0"/>
            </a:br>
            <a:r>
              <a:rPr lang="en-US" sz="4400" dirty="0">
                <a:solidFill>
                  <a:srgbClr val="0070C0"/>
                </a:solidFill>
              </a:rPr>
              <a:t>Business Process Improvement</a:t>
            </a:r>
            <a:endParaRPr lang="en-PK" dirty="0">
              <a:solidFill>
                <a:srgbClr val="0070C0"/>
              </a:solidFill>
            </a:endParaRPr>
          </a:p>
        </p:txBody>
      </p:sp>
      <p:pic>
        <p:nvPicPr>
          <p:cNvPr id="1028" name="Picture 4" descr="Download HD 55 Pm 52458 Fast University ...">
            <a:extLst>
              <a:ext uri="{FF2B5EF4-FFF2-40B4-BE49-F238E27FC236}">
                <a16:creationId xmlns:a16="http://schemas.microsoft.com/office/drawing/2014/main" id="{7C0E69E7-0624-E377-FC31-A9DAAD9B9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915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28662" y="676224"/>
            <a:ext cx="10515600" cy="847650"/>
          </a:xfrm>
        </p:spPr>
        <p:txBody>
          <a:bodyPr>
            <a:normAutofit/>
          </a:bodyPr>
          <a:lstStyle/>
          <a:p>
            <a:r>
              <a:rPr lang="en-US" dirty="0">
                <a:solidFill>
                  <a:schemeClr val="bg2">
                    <a:lumMod val="50000"/>
                  </a:schemeClr>
                </a:solidFill>
                <a:latin typeface="+mn-lt"/>
              </a:rPr>
              <a:t>ROOT CAUSE ANALYSIS</a:t>
            </a: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28662" y="1457010"/>
            <a:ext cx="11058525" cy="4753077"/>
          </a:xfrm>
        </p:spPr>
        <p:txBody>
          <a:bodyPr>
            <a:normAutofit fontScale="85000" lnSpcReduction="20000"/>
          </a:bodyPr>
          <a:lstStyle/>
          <a:p>
            <a:pPr marL="358775" lvl="1" indent="-358775">
              <a:lnSpc>
                <a:spcPct val="170000"/>
              </a:lnSpc>
              <a:spcBef>
                <a:spcPts val="0"/>
              </a:spcBef>
            </a:pPr>
            <a:r>
              <a:rPr lang="en-US" sz="2100" b="1" dirty="0">
                <a:solidFill>
                  <a:srgbClr val="0070C0"/>
                </a:solidFill>
              </a:rPr>
              <a:t>What is root cause analysis</a:t>
            </a:r>
          </a:p>
          <a:p>
            <a:pPr marL="358775" lvl="1" indent="0">
              <a:lnSpc>
                <a:spcPct val="170000"/>
              </a:lnSpc>
              <a:spcBef>
                <a:spcPts val="0"/>
              </a:spcBef>
              <a:buNone/>
            </a:pPr>
            <a:r>
              <a:rPr lang="en-US" sz="1800" dirty="0"/>
              <a:t>“Root cause analysis (RCA) is the quality management process by which an organization searches for the root of a problem, issue or incident after it occurs.”</a:t>
            </a:r>
          </a:p>
          <a:p>
            <a:pPr marL="358775" lvl="1" indent="-358775">
              <a:lnSpc>
                <a:spcPct val="170000"/>
              </a:lnSpc>
              <a:spcBef>
                <a:spcPts val="0"/>
              </a:spcBef>
            </a:pPr>
            <a:r>
              <a:rPr lang="en-US" sz="2100" b="1" dirty="0">
                <a:solidFill>
                  <a:srgbClr val="0070C0"/>
                </a:solidFill>
              </a:rPr>
              <a:t>Triggers for root cause analysis</a:t>
            </a:r>
          </a:p>
          <a:p>
            <a:pPr marL="358775" lvl="1" indent="0">
              <a:lnSpc>
                <a:spcPct val="170000"/>
              </a:lnSpc>
              <a:spcBef>
                <a:spcPts val="0"/>
              </a:spcBef>
              <a:buNone/>
            </a:pPr>
            <a:r>
              <a:rPr lang="en-US" sz="1800" dirty="0">
                <a:solidFill>
                  <a:srgbClr val="0070C0"/>
                </a:solidFill>
              </a:rPr>
              <a:t>“Physical causes</a:t>
            </a:r>
          </a:p>
          <a:p>
            <a:pPr marL="358775" lvl="1" indent="0">
              <a:lnSpc>
                <a:spcPct val="170000"/>
              </a:lnSpc>
              <a:spcBef>
                <a:spcPts val="0"/>
              </a:spcBef>
              <a:buNone/>
            </a:pPr>
            <a:r>
              <a:rPr lang="en-US" sz="1800" dirty="0"/>
              <a:t>When real-world materials or equipment fails in some way (for example, a desktop computer stops working or a component from a third-party vendor delivers substandard performance).</a:t>
            </a:r>
          </a:p>
          <a:p>
            <a:pPr marL="358775" lvl="1" indent="0">
              <a:lnSpc>
                <a:spcPct val="170000"/>
              </a:lnSpc>
              <a:spcBef>
                <a:spcPts val="0"/>
              </a:spcBef>
              <a:buNone/>
            </a:pPr>
            <a:r>
              <a:rPr lang="en-US" sz="1800" dirty="0">
                <a:solidFill>
                  <a:srgbClr val="0070C0"/>
                </a:solidFill>
              </a:rPr>
              <a:t>Human causes (or human error)</a:t>
            </a:r>
          </a:p>
          <a:p>
            <a:pPr marL="358775" lvl="1" indent="0">
              <a:lnSpc>
                <a:spcPct val="170000"/>
              </a:lnSpc>
              <a:spcBef>
                <a:spcPts val="0"/>
              </a:spcBef>
              <a:buNone/>
            </a:pPr>
            <a:r>
              <a:rPr lang="en-US" sz="1800" dirty="0"/>
              <a:t>When people make mistakes or fail to complete required tasks (for example, an employee fails to perform regular maintenance on a piece of equipment, causing it to break down).</a:t>
            </a:r>
          </a:p>
          <a:p>
            <a:pPr marL="358775" lvl="1" indent="0">
              <a:lnSpc>
                <a:spcPct val="170000"/>
              </a:lnSpc>
              <a:spcBef>
                <a:spcPts val="0"/>
              </a:spcBef>
              <a:buNone/>
            </a:pPr>
            <a:r>
              <a:rPr lang="en-US" sz="1800" dirty="0">
                <a:solidFill>
                  <a:srgbClr val="0070C0"/>
                </a:solidFill>
              </a:rPr>
              <a:t>Organizational causes</a:t>
            </a:r>
          </a:p>
          <a:p>
            <a:pPr marL="358775" lvl="1" indent="0">
              <a:lnSpc>
                <a:spcPct val="170000"/>
              </a:lnSpc>
              <a:spcBef>
                <a:spcPts val="0"/>
              </a:spcBef>
              <a:buNone/>
            </a:pPr>
            <a:r>
              <a:rPr lang="en-US" sz="1800" dirty="0"/>
              <a:t>A breakdown in a system, process or policy people use to make decisions (for example, a company fails to train team members on cybersecurity protocols, leaving the company vulnerable to cyberattacks).”</a:t>
            </a:r>
            <a:endParaRPr lang="en-US" sz="16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2</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430887"/>
          </a:xfrm>
          <a:prstGeom prst="rect">
            <a:avLst/>
          </a:prstGeom>
          <a:noFill/>
        </p:spPr>
        <p:txBody>
          <a:bodyPr wrap="square" rtlCol="0">
            <a:spAutoFit/>
          </a:bodyPr>
          <a:lstStyle/>
          <a:p>
            <a:r>
              <a:rPr lang="en-US" sz="1100" dirty="0"/>
              <a:t>Source: IBM; </a:t>
            </a:r>
            <a:r>
              <a:rPr lang="en-US" sz="1100" dirty="0">
                <a:hlinkClick r:id="rId3"/>
              </a:rPr>
              <a:t>https://www.ibm.com/think/topics/root-cause-analysis</a:t>
            </a:r>
            <a:endParaRPr lang="en-US" sz="1100" dirty="0"/>
          </a:p>
          <a:p>
            <a:endParaRPr lang="en-PK" sz="1100" dirty="0"/>
          </a:p>
        </p:txBody>
      </p:sp>
    </p:spTree>
    <p:extLst>
      <p:ext uri="{BB962C8B-B14F-4D97-AF65-F5344CB8AC3E}">
        <p14:creationId xmlns:p14="http://schemas.microsoft.com/office/powerpoint/2010/main" val="1427379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43578" y="1195010"/>
            <a:ext cx="10515600" cy="965370"/>
          </a:xfrm>
        </p:spPr>
        <p:txBody>
          <a:bodyPr>
            <a:normAutofit fontScale="90000"/>
          </a:bodyPr>
          <a:lstStyle/>
          <a:p>
            <a:br>
              <a:rPr lang="en-US" dirty="0">
                <a:solidFill>
                  <a:schemeClr val="bg2">
                    <a:lumMod val="50000"/>
                  </a:schemeClr>
                </a:solidFill>
                <a:latin typeface="+mn-lt"/>
              </a:rPr>
            </a:br>
            <a:r>
              <a:rPr lang="en-US" dirty="0">
                <a:solidFill>
                  <a:schemeClr val="bg2">
                    <a:lumMod val="50000"/>
                  </a:schemeClr>
                </a:solidFill>
                <a:latin typeface="+mn-lt"/>
              </a:rPr>
              <a:t>HOW TO CONDUCT A ROOT CAUSE ANALYSIS</a:t>
            </a:r>
            <a:br>
              <a:rPr lang="en-US" dirty="0">
                <a:solidFill>
                  <a:schemeClr val="bg2">
                    <a:lumMod val="50000"/>
                  </a:schemeClr>
                </a:solidFill>
                <a:latin typeface="+mn-lt"/>
              </a:rPr>
            </a:b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653143" y="2365829"/>
            <a:ext cx="10957727" cy="3663182"/>
          </a:xfrm>
        </p:spPr>
        <p:txBody>
          <a:bodyPr>
            <a:normAutofit/>
          </a:bodyPr>
          <a:lstStyle/>
          <a:p>
            <a:pPr marL="809625" indent="-452438">
              <a:lnSpc>
                <a:spcPct val="170000"/>
              </a:lnSpc>
              <a:spcBef>
                <a:spcPts val="0"/>
              </a:spcBef>
            </a:pPr>
            <a:r>
              <a:rPr lang="en-US" sz="1800" dirty="0"/>
              <a:t>Identify the problem</a:t>
            </a:r>
          </a:p>
          <a:p>
            <a:pPr marL="809625" indent="-452438">
              <a:lnSpc>
                <a:spcPct val="170000"/>
              </a:lnSpc>
              <a:spcBef>
                <a:spcPts val="0"/>
              </a:spcBef>
            </a:pPr>
            <a:r>
              <a:rPr lang="en-US" sz="1800" dirty="0"/>
              <a:t>Assemble the RCA team</a:t>
            </a:r>
          </a:p>
          <a:p>
            <a:pPr marL="809625" indent="-452438">
              <a:lnSpc>
                <a:spcPct val="170000"/>
              </a:lnSpc>
              <a:spcBef>
                <a:spcPts val="0"/>
              </a:spcBef>
            </a:pPr>
            <a:r>
              <a:rPr lang="en-US" sz="1800" dirty="0"/>
              <a:t>Identify possible root causes</a:t>
            </a:r>
          </a:p>
          <a:p>
            <a:pPr marL="809625" indent="-452438">
              <a:lnSpc>
                <a:spcPct val="170000"/>
              </a:lnSpc>
              <a:spcBef>
                <a:spcPts val="0"/>
              </a:spcBef>
            </a:pPr>
            <a:r>
              <a:rPr lang="en-US" sz="1800" dirty="0"/>
              <a:t>Determine the root causes</a:t>
            </a:r>
          </a:p>
          <a:p>
            <a:pPr marL="809625" indent="-452438">
              <a:lnSpc>
                <a:spcPct val="170000"/>
              </a:lnSpc>
              <a:spcBef>
                <a:spcPts val="0"/>
              </a:spcBef>
            </a:pPr>
            <a:r>
              <a:rPr lang="en-US" sz="1800" dirty="0"/>
              <a:t>Find and implement the solution</a:t>
            </a:r>
          </a:p>
          <a:p>
            <a:pPr marL="0" indent="0">
              <a:lnSpc>
                <a:spcPct val="170000"/>
              </a:lnSpc>
              <a:spcBef>
                <a:spcPts val="0"/>
              </a:spcBef>
              <a:buNone/>
            </a:pPr>
            <a:endParaRPr lang="en-US" sz="16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3</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54753" y="6116889"/>
            <a:ext cx="10704425" cy="430887"/>
          </a:xfrm>
          <a:prstGeom prst="rect">
            <a:avLst/>
          </a:prstGeom>
          <a:noFill/>
        </p:spPr>
        <p:txBody>
          <a:bodyPr wrap="square" rtlCol="0">
            <a:spAutoFit/>
          </a:bodyPr>
          <a:lstStyle/>
          <a:p>
            <a:r>
              <a:rPr lang="en-US" sz="1100" dirty="0"/>
              <a:t>Source: IBM; </a:t>
            </a:r>
            <a:r>
              <a:rPr lang="en-US" sz="1100" dirty="0">
                <a:hlinkClick r:id="rId3"/>
              </a:rPr>
              <a:t>https://www.ibm.com/think/topics/root-cause-analysis</a:t>
            </a:r>
            <a:endParaRPr lang="en-US" sz="1100" dirty="0"/>
          </a:p>
          <a:p>
            <a:endParaRPr lang="en-PK" sz="1100" dirty="0"/>
          </a:p>
        </p:txBody>
      </p:sp>
    </p:spTree>
    <p:extLst>
      <p:ext uri="{BB962C8B-B14F-4D97-AF65-F5344CB8AC3E}">
        <p14:creationId xmlns:p14="http://schemas.microsoft.com/office/powerpoint/2010/main" val="133360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43578" y="469608"/>
            <a:ext cx="10515600" cy="847650"/>
          </a:xfrm>
        </p:spPr>
        <p:txBody>
          <a:bodyPr>
            <a:normAutofit fontScale="90000"/>
          </a:bodyPr>
          <a:lstStyle/>
          <a:p>
            <a:br>
              <a:rPr lang="en-US" dirty="0">
                <a:solidFill>
                  <a:schemeClr val="bg2">
                    <a:lumMod val="50000"/>
                  </a:schemeClr>
                </a:solidFill>
                <a:latin typeface="+mn-lt"/>
              </a:rPr>
            </a:br>
            <a:r>
              <a:rPr lang="en-US" dirty="0">
                <a:solidFill>
                  <a:schemeClr val="bg2">
                    <a:lumMod val="50000"/>
                  </a:schemeClr>
                </a:solidFill>
                <a:latin typeface="+mn-lt"/>
              </a:rPr>
              <a:t>ROOT CAUSE ANALYSIS METHODOLOGIES</a:t>
            </a: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497394" y="1214362"/>
            <a:ext cx="11138597" cy="5053999"/>
          </a:xfrm>
        </p:spPr>
        <p:txBody>
          <a:bodyPr>
            <a:noAutofit/>
          </a:bodyPr>
          <a:lstStyle/>
          <a:p>
            <a:pPr marL="358775" lvl="1" indent="-358775">
              <a:lnSpc>
                <a:spcPct val="150000"/>
              </a:lnSpc>
              <a:spcBef>
                <a:spcPts val="0"/>
              </a:spcBef>
            </a:pPr>
            <a:r>
              <a:rPr lang="en-US" sz="1600" b="1" dirty="0">
                <a:solidFill>
                  <a:srgbClr val="0070C0"/>
                </a:solidFill>
              </a:rPr>
              <a:t>5 Whys</a:t>
            </a:r>
          </a:p>
          <a:p>
            <a:pPr marL="0" lvl="1" indent="0">
              <a:lnSpc>
                <a:spcPct val="150000"/>
              </a:lnSpc>
              <a:spcBef>
                <a:spcPts val="0"/>
              </a:spcBef>
              <a:buNone/>
            </a:pPr>
            <a:r>
              <a:rPr lang="en-US" sz="1600" dirty="0"/>
              <a:t>	The 5 Whys approach is rooted in the idea that asking five “Why?” questions can get you to the root cause of anything. </a:t>
            </a:r>
          </a:p>
          <a:p>
            <a:pPr marL="358775" lvl="1" indent="-358775">
              <a:lnSpc>
                <a:spcPct val="150000"/>
              </a:lnSpc>
              <a:spcBef>
                <a:spcPts val="0"/>
              </a:spcBef>
            </a:pPr>
            <a:r>
              <a:rPr lang="en-US" sz="1600" b="1" dirty="0">
                <a:solidFill>
                  <a:srgbClr val="0070C0"/>
                </a:solidFill>
              </a:rPr>
              <a:t>Failure mode and effects analysis (FMEA)</a:t>
            </a:r>
          </a:p>
          <a:p>
            <a:pPr marL="900113" lvl="1" indent="-900113">
              <a:lnSpc>
                <a:spcPct val="150000"/>
              </a:lnSpc>
              <a:spcBef>
                <a:spcPts val="0"/>
              </a:spcBef>
              <a:buNone/>
            </a:pPr>
            <a:r>
              <a:rPr lang="en-US" sz="1600" dirty="0"/>
              <a:t>	FMEA identifies every possibility for system/process failure and examines the potential impact of each hypothetical failure. </a:t>
            </a:r>
          </a:p>
          <a:p>
            <a:pPr marL="358775" lvl="1" indent="-358775">
              <a:lnSpc>
                <a:spcPct val="150000"/>
              </a:lnSpc>
              <a:spcBef>
                <a:spcPts val="0"/>
              </a:spcBef>
            </a:pPr>
            <a:r>
              <a:rPr lang="en-US" sz="1600" b="1" dirty="0">
                <a:solidFill>
                  <a:srgbClr val="0070C0"/>
                </a:solidFill>
              </a:rPr>
              <a:t>Change analysis</a:t>
            </a:r>
          </a:p>
          <a:p>
            <a:pPr marL="900113" lvl="1" indent="-900113">
              <a:lnSpc>
                <a:spcPct val="150000"/>
              </a:lnSpc>
              <a:spcBef>
                <a:spcPts val="0"/>
              </a:spcBef>
              <a:buNone/>
            </a:pPr>
            <a:r>
              <a:rPr lang="en-US" sz="1600" dirty="0"/>
              <a:t>	When conducting this type of RCA, the department looks at how the circumstances surrounding the issue or incident have changed over time. Examining changes in personal, information, infrastructure, or data, among other factors, can help the organization understand which factors caused the change in performance.</a:t>
            </a:r>
          </a:p>
          <a:p>
            <a:pPr marL="358775" lvl="1" indent="-358775">
              <a:lnSpc>
                <a:spcPct val="150000"/>
              </a:lnSpc>
              <a:spcBef>
                <a:spcPts val="0"/>
              </a:spcBef>
            </a:pPr>
            <a:r>
              <a:rPr lang="en-US" sz="1600" b="1" dirty="0">
                <a:solidFill>
                  <a:srgbClr val="0070C0"/>
                </a:solidFill>
              </a:rPr>
              <a:t>Event analysis</a:t>
            </a:r>
          </a:p>
          <a:p>
            <a:pPr marL="900113" lvl="1" indent="-900113">
              <a:lnSpc>
                <a:spcPct val="150000"/>
              </a:lnSpc>
              <a:spcBef>
                <a:spcPts val="0"/>
              </a:spcBef>
              <a:buNone/>
            </a:pPr>
            <a:r>
              <a:rPr lang="en-US" sz="1600" dirty="0"/>
              <a:t>	An event analysis is commonly used to identify the cause of major, single-event problem, like an oil spill or building collapse. Event analyses rely on quick (but thorough) evidence-gathering processes to recreate the sequence of events that that led to the incident. Once the timeline is established, the organization can more easily identify the causal and contributing factors. </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4</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54753" y="6356350"/>
            <a:ext cx="10704425" cy="430887"/>
          </a:xfrm>
          <a:prstGeom prst="rect">
            <a:avLst/>
          </a:prstGeom>
          <a:noFill/>
        </p:spPr>
        <p:txBody>
          <a:bodyPr wrap="square" rtlCol="0">
            <a:spAutoFit/>
          </a:bodyPr>
          <a:lstStyle/>
          <a:p>
            <a:r>
              <a:rPr lang="en-US" sz="1100" dirty="0"/>
              <a:t>Source: IBM; </a:t>
            </a:r>
            <a:r>
              <a:rPr lang="en-US" sz="1100" dirty="0">
                <a:hlinkClick r:id="rId3"/>
              </a:rPr>
              <a:t>https://www.ibm.com/think/topics/root-cause-analysis</a:t>
            </a:r>
            <a:endParaRPr lang="en-US" sz="1100" dirty="0"/>
          </a:p>
          <a:p>
            <a:endParaRPr lang="en-PK" sz="1100" dirty="0"/>
          </a:p>
        </p:txBody>
      </p:sp>
    </p:spTree>
    <p:extLst>
      <p:ext uri="{BB962C8B-B14F-4D97-AF65-F5344CB8AC3E}">
        <p14:creationId xmlns:p14="http://schemas.microsoft.com/office/powerpoint/2010/main" val="4216662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6612" y="337572"/>
            <a:ext cx="3932237" cy="1600200"/>
          </a:xfrm>
        </p:spPr>
        <p:txBody>
          <a:bodyPr>
            <a:normAutofit/>
          </a:bodyPr>
          <a:lstStyle/>
          <a:p>
            <a:r>
              <a:rPr lang="en-US" b="1" dirty="0">
                <a:solidFill>
                  <a:schemeClr val="bg2">
                    <a:lumMod val="50000"/>
                  </a:schemeClr>
                </a:solidFill>
                <a:latin typeface="+mn-lt"/>
              </a:rPr>
              <a:t>ROOT CAUSE ANALYSIS METHODOLOGIES</a:t>
            </a:r>
            <a:endParaRPr lang="en-PK" sz="2800" b="1" dirty="0">
              <a:solidFill>
                <a:schemeClr val="bg2">
                  <a:lumMod val="50000"/>
                </a:schemeClr>
              </a:solidFill>
              <a:latin typeface="+mn-lt"/>
            </a:endParaRPr>
          </a:p>
        </p:txBody>
      </p:sp>
      <p:sp>
        <p:nvSpPr>
          <p:cNvPr id="10" name="Text Placeholder 9">
            <a:extLst>
              <a:ext uri="{FF2B5EF4-FFF2-40B4-BE49-F238E27FC236}">
                <a16:creationId xmlns:a16="http://schemas.microsoft.com/office/drawing/2014/main" id="{3DF81F50-13B8-03D7-8322-FDB3F85B29D3}"/>
              </a:ext>
            </a:extLst>
          </p:cNvPr>
          <p:cNvSpPr>
            <a:spLocks noGrp="1"/>
          </p:cNvSpPr>
          <p:nvPr>
            <p:ph type="body" sz="half" idx="2"/>
          </p:nvPr>
        </p:nvSpPr>
        <p:spPr/>
        <p:txBody>
          <a:bodyPr>
            <a:normAutofit/>
          </a:bodyPr>
          <a:lstStyle/>
          <a:p>
            <a:pPr marL="358775" lvl="1" indent="-358775">
              <a:lnSpc>
                <a:spcPct val="150000"/>
              </a:lnSpc>
              <a:spcBef>
                <a:spcPts val="0"/>
              </a:spcBef>
              <a:spcAft>
                <a:spcPts val="600"/>
              </a:spcAft>
            </a:pPr>
            <a:r>
              <a:rPr lang="en-US" sz="1800" b="1" dirty="0">
                <a:solidFill>
                  <a:srgbClr val="0070C0"/>
                </a:solidFill>
              </a:rPr>
              <a:t>Ishikawa diagram</a:t>
            </a:r>
          </a:p>
          <a:p>
            <a:pPr marL="0" lvl="1">
              <a:lnSpc>
                <a:spcPct val="150000"/>
              </a:lnSpc>
              <a:spcBef>
                <a:spcPts val="0"/>
              </a:spcBef>
              <a:buNone/>
            </a:pPr>
            <a:r>
              <a:rPr lang="en-US" sz="1800" dirty="0"/>
              <a:t>“An Ishikawa diagram (or Fishbone diagram) is a cause-and-effect style diagram that visualizes the circumstances surrounding a problem. The diagram resembles a fish skeleton, with a long list of causes grouped into related subcategories.” </a:t>
            </a:r>
          </a:p>
          <a:p>
            <a:endParaRPr lang="en-PK" sz="1800" dirty="0"/>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5</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434172" y="6140906"/>
            <a:ext cx="9653587" cy="600164"/>
          </a:xfrm>
          <a:prstGeom prst="rect">
            <a:avLst/>
          </a:prstGeom>
          <a:noFill/>
        </p:spPr>
        <p:txBody>
          <a:bodyPr wrap="square" rtlCol="0">
            <a:spAutoFit/>
          </a:bodyPr>
          <a:lstStyle/>
          <a:p>
            <a:r>
              <a:rPr lang="en-US" sz="1100" dirty="0"/>
              <a:t>Source: IBM; </a:t>
            </a:r>
            <a:r>
              <a:rPr lang="en-US" sz="1100" dirty="0">
                <a:hlinkClick r:id="rId3"/>
              </a:rPr>
              <a:t>https://www.ibm.com/think/topics/root-cause-analysis</a:t>
            </a:r>
            <a:endParaRPr lang="en-US" sz="1100" dirty="0"/>
          </a:p>
          <a:p>
            <a:r>
              <a:rPr lang="en-US" sz="1100" dirty="0"/>
              <a:t>              Kaizen Institute; </a:t>
            </a:r>
            <a:r>
              <a:rPr lang="en-US" sz="1100" dirty="0">
                <a:hlinkClick r:id="rId4"/>
              </a:rPr>
              <a:t>https://kaizen.com/insights/ishikawa-diagram-root-cause-analysis/</a:t>
            </a:r>
            <a:endParaRPr lang="en-US" sz="1100" dirty="0"/>
          </a:p>
          <a:p>
            <a:endParaRPr lang="en-PK" sz="1100" dirty="0"/>
          </a:p>
        </p:txBody>
      </p:sp>
      <p:pic>
        <p:nvPicPr>
          <p:cNvPr id="1026" name="Picture 2" descr="Example of an Ishikawa Diagram structure ">
            <a:extLst>
              <a:ext uri="{FF2B5EF4-FFF2-40B4-BE49-F238E27FC236}">
                <a16:creationId xmlns:a16="http://schemas.microsoft.com/office/drawing/2014/main" id="{39225203-A20B-EC49-C73D-E5E667221C33}"/>
              </a:ext>
            </a:extLst>
          </p:cNvPr>
          <p:cNvPicPr>
            <a:picLocks noGrp="1" noChangeAspect="1" noChangeArrowheads="1"/>
          </p:cNvPicPr>
          <p:nvPr>
            <p:ph idx="1"/>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183188" y="1603921"/>
            <a:ext cx="6172200" cy="426506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74A1A19-9321-7450-FFDF-59574BEA05AE}"/>
              </a:ext>
            </a:extLst>
          </p:cNvPr>
          <p:cNvSpPr txBox="1"/>
          <p:nvPr/>
        </p:nvSpPr>
        <p:spPr>
          <a:xfrm>
            <a:off x="5235191" y="1170633"/>
            <a:ext cx="5406013" cy="369332"/>
          </a:xfrm>
          <a:prstGeom prst="rect">
            <a:avLst/>
          </a:prstGeom>
          <a:noFill/>
        </p:spPr>
        <p:txBody>
          <a:bodyPr wrap="square" rtlCol="0">
            <a:spAutoFit/>
          </a:bodyPr>
          <a:lstStyle/>
          <a:p>
            <a:r>
              <a:rPr lang="en-US" dirty="0"/>
              <a:t>Example of an Ishikawa Diagram: The 6 </a:t>
            </a:r>
            <a:r>
              <a:rPr lang="en-US" dirty="0" err="1"/>
              <a:t>Ms</a:t>
            </a:r>
            <a:r>
              <a:rPr lang="en-US" dirty="0"/>
              <a:t> Structure</a:t>
            </a:r>
            <a:endParaRPr lang="en-PK" dirty="0"/>
          </a:p>
        </p:txBody>
      </p:sp>
    </p:spTree>
    <p:extLst>
      <p:ext uri="{BB962C8B-B14F-4D97-AF65-F5344CB8AC3E}">
        <p14:creationId xmlns:p14="http://schemas.microsoft.com/office/powerpoint/2010/main" val="311137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199" y="834246"/>
            <a:ext cx="10515600" cy="847650"/>
          </a:xfrm>
        </p:spPr>
        <p:txBody>
          <a:bodyPr>
            <a:normAutofit/>
          </a:bodyPr>
          <a:lstStyle/>
          <a:p>
            <a:r>
              <a:rPr lang="en-US" dirty="0">
                <a:solidFill>
                  <a:schemeClr val="bg2">
                    <a:lumMod val="50000"/>
                  </a:schemeClr>
                </a:solidFill>
                <a:latin typeface="+mn-lt"/>
              </a:rPr>
              <a:t>BOTTLENECK ANALYSIS</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28662" y="1773534"/>
            <a:ext cx="11058525" cy="4436554"/>
          </a:xfrm>
        </p:spPr>
        <p:txBody>
          <a:bodyPr>
            <a:normAutofit/>
          </a:bodyPr>
          <a:lstStyle/>
          <a:p>
            <a:pPr marL="358775" lvl="1" indent="-358775">
              <a:lnSpc>
                <a:spcPct val="170000"/>
              </a:lnSpc>
              <a:spcBef>
                <a:spcPts val="0"/>
              </a:spcBef>
            </a:pPr>
            <a:r>
              <a:rPr lang="en-US" sz="2100" b="1" dirty="0">
                <a:solidFill>
                  <a:srgbClr val="0070C0"/>
                </a:solidFill>
              </a:rPr>
              <a:t>What is a bottleneck in business?</a:t>
            </a:r>
          </a:p>
          <a:p>
            <a:pPr marL="0" lvl="1" indent="0">
              <a:lnSpc>
                <a:spcPct val="170000"/>
              </a:lnSpc>
              <a:spcBef>
                <a:spcPts val="0"/>
              </a:spcBef>
              <a:buNone/>
            </a:pPr>
            <a:r>
              <a:rPr lang="en-US" sz="1800" dirty="0"/>
              <a:t>“Bottlenecks are the slowest or most restrictive parts of a system, process, or workflow that hinder productivity, slow growth, and negatively impact the bottom line.”</a:t>
            </a:r>
          </a:p>
          <a:p>
            <a:pPr marL="0" lvl="1" indent="0">
              <a:lnSpc>
                <a:spcPct val="170000"/>
              </a:lnSpc>
              <a:spcBef>
                <a:spcPts val="0"/>
              </a:spcBef>
              <a:buNone/>
            </a:pPr>
            <a:endParaRPr lang="en-US" sz="1400" dirty="0"/>
          </a:p>
          <a:p>
            <a:pPr marL="358775" lvl="1" indent="-358775">
              <a:lnSpc>
                <a:spcPct val="170000"/>
              </a:lnSpc>
              <a:spcBef>
                <a:spcPts val="0"/>
              </a:spcBef>
            </a:pPr>
            <a:r>
              <a:rPr lang="en-US" sz="2000" b="1" dirty="0">
                <a:solidFill>
                  <a:srgbClr val="0070C0"/>
                </a:solidFill>
              </a:rPr>
              <a:t>Why should you conduct bottleneck analysis?</a:t>
            </a:r>
          </a:p>
          <a:p>
            <a:pPr marL="0" lvl="1" indent="0">
              <a:lnSpc>
                <a:spcPct val="170000"/>
              </a:lnSpc>
              <a:spcBef>
                <a:spcPts val="0"/>
              </a:spcBef>
              <a:buNone/>
            </a:pPr>
            <a:r>
              <a:rPr lang="en-US" sz="1600" dirty="0"/>
              <a:t>Bottleneck analysis is a management tool used to identify constraints and inefficiencies in a system or process that limit its capacity and productivity. It involves identifying and prioritizing the steps that take the most time, resources, or effort and analyzing them to identify the root causes of the inefficiencies. This analysis helps to pinpoint the areas for process optimization.</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6</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430887"/>
          </a:xfrm>
          <a:prstGeom prst="rect">
            <a:avLst/>
          </a:prstGeom>
          <a:noFill/>
        </p:spPr>
        <p:txBody>
          <a:bodyPr wrap="square" rtlCol="0">
            <a:spAutoFit/>
          </a:bodyPr>
          <a:lstStyle/>
          <a:p>
            <a:r>
              <a:rPr lang="en-US" sz="1100" dirty="0"/>
              <a:t>Source: process maker; </a:t>
            </a:r>
            <a:r>
              <a:rPr lang="en-US" sz="1100" dirty="0">
                <a:hlinkClick r:id="rId3"/>
              </a:rPr>
              <a:t>https://www.processmaker.com/blog/bottleneck-analysis-explained/</a:t>
            </a:r>
            <a:endParaRPr lang="en-US" sz="1100" dirty="0"/>
          </a:p>
          <a:p>
            <a:endParaRPr lang="en-PK" sz="1100" dirty="0"/>
          </a:p>
        </p:txBody>
      </p:sp>
    </p:spTree>
    <p:extLst>
      <p:ext uri="{BB962C8B-B14F-4D97-AF65-F5344CB8AC3E}">
        <p14:creationId xmlns:p14="http://schemas.microsoft.com/office/powerpoint/2010/main" val="3993527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72884" y="549518"/>
            <a:ext cx="10515600" cy="657934"/>
          </a:xfrm>
        </p:spPr>
        <p:txBody>
          <a:bodyPr>
            <a:normAutofit/>
          </a:bodyPr>
          <a:lstStyle/>
          <a:p>
            <a:r>
              <a:rPr lang="en-US" dirty="0">
                <a:solidFill>
                  <a:schemeClr val="bg2">
                    <a:lumMod val="50000"/>
                  </a:schemeClr>
                </a:solidFill>
                <a:latin typeface="+mn-lt"/>
              </a:rPr>
              <a:t>HOW TO CONDUCT BOTTLENECK ANALYSIS</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28662" y="1297590"/>
            <a:ext cx="11058525" cy="4912498"/>
          </a:xfrm>
        </p:spPr>
        <p:txBody>
          <a:bodyPr>
            <a:normAutofit fontScale="92500" lnSpcReduction="20000"/>
          </a:bodyPr>
          <a:lstStyle/>
          <a:p>
            <a:pPr marL="0" indent="0" algn="l">
              <a:lnSpc>
                <a:spcPct val="160000"/>
              </a:lnSpc>
              <a:buNone/>
            </a:pPr>
            <a:r>
              <a:rPr lang="en-US" sz="1700" b="0" i="0" dirty="0">
                <a:solidFill>
                  <a:srgbClr val="212529"/>
                </a:solidFill>
                <a:effectLst/>
              </a:rPr>
              <a:t>“In a business organization bottleneck analysis can be conducted by a business analyst or operational excellence consultant. At the simplest level, a bottleneck analysis typically involves the following steps:</a:t>
            </a:r>
          </a:p>
          <a:p>
            <a:pPr marL="0" indent="0" algn="l">
              <a:lnSpc>
                <a:spcPct val="160000"/>
              </a:lnSpc>
              <a:buNone/>
            </a:pPr>
            <a:endParaRPr lang="en-US" sz="1700" b="0" i="0" dirty="0">
              <a:solidFill>
                <a:srgbClr val="212529"/>
              </a:solidFill>
              <a:effectLst/>
            </a:endParaRPr>
          </a:p>
          <a:p>
            <a:pPr algn="l"/>
            <a:r>
              <a:rPr lang="en-US" sz="1600" b="1" i="0" dirty="0">
                <a:solidFill>
                  <a:srgbClr val="212529"/>
                </a:solidFill>
                <a:effectLst/>
              </a:rPr>
              <a:t>Step 1: Identify the Process or System</a:t>
            </a:r>
            <a:endParaRPr lang="en-US" sz="1600" b="0" i="0" dirty="0">
              <a:solidFill>
                <a:srgbClr val="212529"/>
              </a:solidFill>
              <a:effectLst/>
            </a:endParaRPr>
          </a:p>
          <a:p>
            <a:pPr marL="0" indent="0" algn="l">
              <a:buNone/>
            </a:pPr>
            <a:r>
              <a:rPr lang="en-US" sz="1600" b="0" i="0" dirty="0">
                <a:solidFill>
                  <a:srgbClr val="212529"/>
                </a:solidFill>
                <a:effectLst/>
              </a:rPr>
              <a:t>	Identify the process or system that needs analysis, such as a manufacturing process, supply chain, or customer service process.</a:t>
            </a:r>
          </a:p>
          <a:p>
            <a:pPr algn="l"/>
            <a:r>
              <a:rPr lang="en-US" sz="1600" b="1" i="0" dirty="0">
                <a:solidFill>
                  <a:srgbClr val="212529"/>
                </a:solidFill>
                <a:effectLst/>
              </a:rPr>
              <a:t>Step 2: Map the Process</a:t>
            </a:r>
            <a:endParaRPr lang="en-US" sz="1600" b="0" i="0" dirty="0">
              <a:solidFill>
                <a:srgbClr val="212529"/>
              </a:solidFill>
              <a:effectLst/>
            </a:endParaRPr>
          </a:p>
          <a:p>
            <a:pPr marL="0" indent="0" algn="l">
              <a:buNone/>
            </a:pPr>
            <a:r>
              <a:rPr lang="en-US" sz="1600" b="0" i="0" dirty="0">
                <a:solidFill>
                  <a:srgbClr val="212529"/>
                </a:solidFill>
                <a:effectLst/>
              </a:rPr>
              <a:t>	Map out the process or system, identifying each step and the resources required for each step.</a:t>
            </a:r>
          </a:p>
          <a:p>
            <a:pPr algn="l"/>
            <a:r>
              <a:rPr lang="en-US" sz="1600" b="1" i="0" dirty="0">
                <a:solidFill>
                  <a:srgbClr val="212529"/>
                </a:solidFill>
                <a:effectLst/>
              </a:rPr>
              <a:t>Step 3: Identify the Bottleneck</a:t>
            </a:r>
            <a:endParaRPr lang="en-US" sz="1600" b="0" i="0" dirty="0">
              <a:solidFill>
                <a:srgbClr val="212529"/>
              </a:solidFill>
              <a:effectLst/>
            </a:endParaRPr>
          </a:p>
          <a:p>
            <a:pPr marL="0" indent="0" algn="l">
              <a:buNone/>
            </a:pPr>
            <a:r>
              <a:rPr lang="en-US" sz="1600" b="0" i="0" dirty="0">
                <a:solidFill>
                  <a:srgbClr val="212529"/>
                </a:solidFill>
                <a:effectLst/>
              </a:rPr>
              <a:t>	Identify the slowest or most restrictive step in the process, the one that takes the most time or requires the most resources.</a:t>
            </a:r>
          </a:p>
          <a:p>
            <a:pPr algn="l"/>
            <a:r>
              <a:rPr lang="en-US" sz="1600" b="1" i="0" dirty="0">
                <a:solidFill>
                  <a:srgbClr val="212529"/>
                </a:solidFill>
                <a:effectLst/>
              </a:rPr>
              <a:t>Step 4: Analyze the Bottleneck</a:t>
            </a:r>
            <a:endParaRPr lang="en-US" sz="1600" b="0" i="0" dirty="0">
              <a:solidFill>
                <a:srgbClr val="212529"/>
              </a:solidFill>
              <a:effectLst/>
            </a:endParaRPr>
          </a:p>
          <a:p>
            <a:pPr marL="900113" indent="-900113" algn="l">
              <a:buNone/>
            </a:pPr>
            <a:r>
              <a:rPr lang="en-US" sz="1600" b="0" i="0" dirty="0">
                <a:solidFill>
                  <a:srgbClr val="212529"/>
                </a:solidFill>
                <a:effectLst/>
              </a:rPr>
              <a:t>	Analyze the bottleneck to identify the root cause of the inefficiencies. This may involve gathering data, conducting interviews, or using other analysis tools.</a:t>
            </a:r>
          </a:p>
          <a:p>
            <a:pPr algn="l"/>
            <a:r>
              <a:rPr lang="en-US" sz="1600" b="1" i="0" dirty="0">
                <a:solidFill>
                  <a:srgbClr val="212529"/>
                </a:solidFill>
                <a:effectLst/>
              </a:rPr>
              <a:t>Step 5: Develop and Implement Solutions</a:t>
            </a:r>
            <a:endParaRPr lang="en-US" sz="1600" b="0" i="0" dirty="0">
              <a:solidFill>
                <a:srgbClr val="212529"/>
              </a:solidFill>
              <a:effectLst/>
            </a:endParaRPr>
          </a:p>
          <a:p>
            <a:pPr marL="0" indent="0" algn="l">
              <a:buNone/>
            </a:pPr>
            <a:r>
              <a:rPr lang="en-US" sz="1600" b="0" i="0" dirty="0">
                <a:solidFill>
                  <a:srgbClr val="212529"/>
                </a:solidFill>
                <a:effectLst/>
              </a:rPr>
              <a:t>	Develop solutions to address the root causes of the bottleneck and implement them to improve the process or system.</a:t>
            </a:r>
          </a:p>
          <a:p>
            <a:pPr algn="l"/>
            <a:r>
              <a:rPr lang="en-US" sz="1600" b="1" i="0" dirty="0">
                <a:solidFill>
                  <a:srgbClr val="212529"/>
                </a:solidFill>
                <a:effectLst/>
              </a:rPr>
              <a:t>Step 6: Continuously monitor and improve</a:t>
            </a:r>
            <a:endParaRPr lang="en-US" sz="1600" b="0" i="0" dirty="0">
              <a:solidFill>
                <a:srgbClr val="212529"/>
              </a:solidFill>
              <a:effectLst/>
            </a:endParaRPr>
          </a:p>
          <a:p>
            <a:pPr marL="0" indent="0" algn="l">
              <a:buNone/>
            </a:pPr>
            <a:r>
              <a:rPr lang="en-US" sz="1600" b="0" i="0" dirty="0">
                <a:solidFill>
                  <a:srgbClr val="212529"/>
                </a:solidFill>
                <a:effectLst/>
              </a:rPr>
              <a:t>	Bottleneck analysis isn’t a one-off task. Businesses should monitor operations constantly to prevent future bottlenecks.”</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7</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261610"/>
          </a:xfrm>
          <a:prstGeom prst="rect">
            <a:avLst/>
          </a:prstGeom>
          <a:noFill/>
        </p:spPr>
        <p:txBody>
          <a:bodyPr wrap="square" rtlCol="0">
            <a:spAutoFit/>
          </a:bodyPr>
          <a:lstStyle/>
          <a:p>
            <a:r>
              <a:rPr lang="en-US" sz="1100" dirty="0"/>
              <a:t>Source: process maker; </a:t>
            </a:r>
            <a:r>
              <a:rPr lang="en-US" sz="1100" dirty="0">
                <a:hlinkClick r:id="rId3"/>
              </a:rPr>
              <a:t>https://www.processmaker.com/blog/bottleneck-analysis-explained</a:t>
            </a:r>
            <a:endParaRPr lang="en-PK" sz="1100" dirty="0"/>
          </a:p>
        </p:txBody>
      </p:sp>
    </p:spTree>
    <p:extLst>
      <p:ext uri="{BB962C8B-B14F-4D97-AF65-F5344CB8AC3E}">
        <p14:creationId xmlns:p14="http://schemas.microsoft.com/office/powerpoint/2010/main" val="868353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72884" y="549518"/>
            <a:ext cx="10515600" cy="657934"/>
          </a:xfrm>
        </p:spPr>
        <p:txBody>
          <a:bodyPr>
            <a:normAutofit/>
          </a:bodyPr>
          <a:lstStyle/>
          <a:p>
            <a:r>
              <a:rPr lang="en-US" dirty="0">
                <a:solidFill>
                  <a:schemeClr val="bg2">
                    <a:lumMod val="50000"/>
                  </a:schemeClr>
                </a:solidFill>
                <a:latin typeface="+mn-lt"/>
              </a:rPr>
              <a:t>HOW TO CONDUCT BOTTLENECK ANALYSIS</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8</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261610"/>
          </a:xfrm>
          <a:prstGeom prst="rect">
            <a:avLst/>
          </a:prstGeom>
          <a:noFill/>
        </p:spPr>
        <p:txBody>
          <a:bodyPr wrap="square" rtlCol="0">
            <a:spAutoFit/>
          </a:bodyPr>
          <a:lstStyle/>
          <a:p>
            <a:r>
              <a:rPr lang="en-US" sz="1100" dirty="0"/>
              <a:t>Source: process maker; </a:t>
            </a:r>
            <a:r>
              <a:rPr lang="en-US" sz="1100" dirty="0">
                <a:hlinkClick r:id="rId3"/>
              </a:rPr>
              <a:t>https://www.processmaker.com/blog/bottleneck-analysis-explained</a:t>
            </a:r>
            <a:endParaRPr lang="en-PK" sz="1100" dirty="0"/>
          </a:p>
        </p:txBody>
      </p:sp>
      <p:pic>
        <p:nvPicPr>
          <p:cNvPr id="3076" name="Picture 4" descr="Bottleneck Analysis Explained">
            <a:extLst>
              <a:ext uri="{FF2B5EF4-FFF2-40B4-BE49-F238E27FC236}">
                <a16:creationId xmlns:a16="http://schemas.microsoft.com/office/drawing/2014/main" id="{3AD4BC6C-1B15-A20F-6046-404D46D16F4F}"/>
              </a:ext>
            </a:extLst>
          </p:cNvPr>
          <p:cNvPicPr>
            <a:picLocks noChangeAspect="1" noChangeArrowheads="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25000"/>
                    </a14:imgEffect>
                    <a14:imgEffect>
                      <a14:brightnessContrast bright="40000" contrast="-20000"/>
                    </a14:imgEffect>
                  </a14:imgLayer>
                </a14:imgProps>
              </a:ext>
              <a:ext uri="{28A0092B-C50C-407E-A947-70E740481C1C}">
                <a14:useLocalDpi xmlns:a14="http://schemas.microsoft.com/office/drawing/2010/main" val="0"/>
              </a:ext>
            </a:extLst>
          </a:blip>
          <a:srcRect t="4333" b="10102"/>
          <a:stretch/>
        </p:blipFill>
        <p:spPr bwMode="auto">
          <a:xfrm>
            <a:off x="1862666" y="1896532"/>
            <a:ext cx="7760305" cy="3875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028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536572" y="291402"/>
            <a:ext cx="3932237" cy="1193776"/>
          </a:xfrm>
        </p:spPr>
        <p:txBody>
          <a:bodyPr>
            <a:normAutofit/>
          </a:bodyPr>
          <a:lstStyle/>
          <a:p>
            <a:r>
              <a:rPr lang="en-US" b="1" dirty="0">
                <a:solidFill>
                  <a:schemeClr val="bg2">
                    <a:lumMod val="50000"/>
                  </a:schemeClr>
                </a:solidFill>
                <a:latin typeface="+mn-lt"/>
              </a:rPr>
              <a:t>GAP ANALYSIS</a:t>
            </a:r>
            <a:endParaRPr lang="en-PK" sz="2800" b="1" dirty="0">
              <a:solidFill>
                <a:schemeClr val="bg2">
                  <a:lumMod val="50000"/>
                </a:schemeClr>
              </a:solidFill>
              <a:latin typeface="+mn-lt"/>
            </a:endParaRPr>
          </a:p>
        </p:txBody>
      </p:sp>
      <p:sp>
        <p:nvSpPr>
          <p:cNvPr id="10" name="Text Placeholder 9">
            <a:extLst>
              <a:ext uri="{FF2B5EF4-FFF2-40B4-BE49-F238E27FC236}">
                <a16:creationId xmlns:a16="http://schemas.microsoft.com/office/drawing/2014/main" id="{4EC50225-A2C4-F6D8-8D3A-17A1DB352BEB}"/>
              </a:ext>
            </a:extLst>
          </p:cNvPr>
          <p:cNvSpPr>
            <a:spLocks noGrp="1"/>
          </p:cNvSpPr>
          <p:nvPr>
            <p:ph type="body" sz="half" idx="2"/>
          </p:nvPr>
        </p:nvSpPr>
        <p:spPr>
          <a:xfrm>
            <a:off x="536573" y="1557495"/>
            <a:ext cx="4562965" cy="4697604"/>
          </a:xfrm>
        </p:spPr>
        <p:txBody>
          <a:bodyPr>
            <a:noAutofit/>
          </a:bodyPr>
          <a:lstStyle/>
          <a:p>
            <a:pPr marL="358775" lvl="1" indent="-358775">
              <a:lnSpc>
                <a:spcPct val="170000"/>
              </a:lnSpc>
              <a:spcBef>
                <a:spcPts val="0"/>
              </a:spcBef>
              <a:spcAft>
                <a:spcPts val="600"/>
              </a:spcAft>
            </a:pPr>
            <a:r>
              <a:rPr lang="en-US" b="1" dirty="0">
                <a:solidFill>
                  <a:srgbClr val="0070C0"/>
                </a:solidFill>
              </a:rPr>
              <a:t>What is gap analysis</a:t>
            </a:r>
          </a:p>
          <a:p>
            <a:pPr marL="0" lvl="1">
              <a:lnSpc>
                <a:spcPct val="170000"/>
              </a:lnSpc>
              <a:spcBef>
                <a:spcPts val="0"/>
              </a:spcBef>
              <a:buNone/>
            </a:pPr>
            <a:r>
              <a:rPr lang="en-US" dirty="0"/>
              <a:t>“A gap analysis is the process of analyzing where a company or process is, where it should be, the differences between the two and determining how to implement change.”</a:t>
            </a:r>
          </a:p>
          <a:p>
            <a:pPr marL="358775" lvl="1" indent="-358775">
              <a:lnSpc>
                <a:spcPct val="170000"/>
              </a:lnSpc>
              <a:spcBef>
                <a:spcPts val="0"/>
              </a:spcBef>
            </a:pPr>
            <a:endParaRPr lang="en-US" b="1" dirty="0">
              <a:solidFill>
                <a:srgbClr val="0070C0"/>
              </a:solidFill>
            </a:endParaRPr>
          </a:p>
          <a:p>
            <a:pPr marL="358775" lvl="1" indent="-358775">
              <a:lnSpc>
                <a:spcPct val="170000"/>
              </a:lnSpc>
              <a:spcBef>
                <a:spcPts val="0"/>
              </a:spcBef>
            </a:pPr>
            <a:r>
              <a:rPr lang="en-US" b="1" dirty="0">
                <a:solidFill>
                  <a:srgbClr val="0070C0"/>
                </a:solidFill>
              </a:rPr>
              <a:t>When to conduct gap analysis</a:t>
            </a:r>
          </a:p>
          <a:p>
            <a:pPr marL="0" lvl="1">
              <a:lnSpc>
                <a:spcPct val="170000"/>
              </a:lnSpc>
              <a:spcBef>
                <a:spcPts val="0"/>
              </a:spcBef>
              <a:buNone/>
            </a:pPr>
            <a:r>
              <a:rPr lang="en-US" dirty="0"/>
              <a:t>“A gap analysis should be considered when a company experiences significant ‘corporate pain,’ such as consistently missing key metrics, teams failing to meet their goals, or persistent people-related challenges like low employee engagement and high turnover. These issues are often symptoms of a deeper ‘fundamental misalignment.”</a:t>
            </a:r>
          </a:p>
          <a:p>
            <a:pPr marL="0" lvl="1">
              <a:lnSpc>
                <a:spcPct val="170000"/>
              </a:lnSpc>
              <a:spcBef>
                <a:spcPts val="0"/>
              </a:spcBef>
              <a:buNone/>
            </a:pPr>
            <a:endParaRPr lang="en-US" dirty="0"/>
          </a:p>
          <a:p>
            <a:endParaRPr lang="en-PK" sz="1400" dirty="0"/>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9</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6572" y="6265025"/>
            <a:ext cx="10704425" cy="430887"/>
          </a:xfrm>
          <a:prstGeom prst="rect">
            <a:avLst/>
          </a:prstGeom>
          <a:noFill/>
        </p:spPr>
        <p:txBody>
          <a:bodyPr wrap="square" rtlCol="0">
            <a:spAutoFit/>
          </a:bodyPr>
          <a:lstStyle/>
          <a:p>
            <a:r>
              <a:rPr lang="en-US" sz="1100" dirty="0"/>
              <a:t>Source: Forbes; </a:t>
            </a:r>
            <a:r>
              <a:rPr lang="en-US" sz="1100" dirty="0">
                <a:hlinkClick r:id="rId3"/>
              </a:rPr>
              <a:t>https://www.forbes.com/advisor/business/gap-analysis-template/</a:t>
            </a:r>
            <a:endParaRPr lang="en-US" sz="1100" dirty="0"/>
          </a:p>
          <a:p>
            <a:endParaRPr lang="en-PK" sz="1100" dirty="0"/>
          </a:p>
        </p:txBody>
      </p:sp>
      <p:pic>
        <p:nvPicPr>
          <p:cNvPr id="9" name="Picture 8">
            <a:extLst>
              <a:ext uri="{FF2B5EF4-FFF2-40B4-BE49-F238E27FC236}">
                <a16:creationId xmlns:a16="http://schemas.microsoft.com/office/drawing/2014/main" id="{A90A598A-BC3E-BF2B-5C80-D3367F8BE30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40000"/>
                    </a14:imgEffect>
                  </a14:imgLayer>
                </a14:imgProps>
              </a:ext>
            </a:extLst>
          </a:blip>
          <a:srcRect t="27332" b="19262"/>
          <a:stretch/>
        </p:blipFill>
        <p:spPr>
          <a:xfrm>
            <a:off x="5143081" y="2981593"/>
            <a:ext cx="6662058" cy="2437074"/>
          </a:xfrm>
          <a:prstGeom prst="rect">
            <a:avLst/>
          </a:prstGeom>
        </p:spPr>
      </p:pic>
      <p:sp>
        <p:nvSpPr>
          <p:cNvPr id="11" name="TextBox 10">
            <a:extLst>
              <a:ext uri="{FF2B5EF4-FFF2-40B4-BE49-F238E27FC236}">
                <a16:creationId xmlns:a16="http://schemas.microsoft.com/office/drawing/2014/main" id="{D6E5D054-710F-116D-D9B6-16D26C3A55CF}"/>
              </a:ext>
            </a:extLst>
          </p:cNvPr>
          <p:cNvSpPr txBox="1"/>
          <p:nvPr/>
        </p:nvSpPr>
        <p:spPr>
          <a:xfrm>
            <a:off x="5404337" y="2247864"/>
            <a:ext cx="5938576" cy="461665"/>
          </a:xfrm>
          <a:prstGeom prst="rect">
            <a:avLst/>
          </a:prstGeom>
          <a:noFill/>
        </p:spPr>
        <p:txBody>
          <a:bodyPr wrap="square" rtlCol="0">
            <a:spAutoFit/>
          </a:bodyPr>
          <a:lstStyle/>
          <a:p>
            <a:pPr algn="ctr"/>
            <a:r>
              <a:rPr lang="en-US" sz="2400" b="1" dirty="0"/>
              <a:t>The Four Stages of Gap Analysis</a:t>
            </a:r>
            <a:endParaRPr lang="en-PK" sz="2400" b="1" dirty="0"/>
          </a:p>
        </p:txBody>
      </p:sp>
    </p:spTree>
    <p:extLst>
      <p:ext uri="{BB962C8B-B14F-4D97-AF65-F5344CB8AC3E}">
        <p14:creationId xmlns:p14="http://schemas.microsoft.com/office/powerpoint/2010/main" val="349994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28662" y="410422"/>
            <a:ext cx="10515600" cy="847650"/>
          </a:xfrm>
        </p:spPr>
        <p:txBody>
          <a:bodyPr>
            <a:normAutofit/>
          </a:bodyPr>
          <a:lstStyle/>
          <a:p>
            <a:r>
              <a:rPr lang="en-US" dirty="0">
                <a:solidFill>
                  <a:schemeClr val="bg2">
                    <a:lumMod val="50000"/>
                  </a:schemeClr>
                </a:solidFill>
                <a:latin typeface="+mn-lt"/>
              </a:rPr>
              <a:t>THE FOUR STAGES OF GAP ANALYSIS</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28662" y="1170634"/>
            <a:ext cx="11058525" cy="5039454"/>
          </a:xfrm>
        </p:spPr>
        <p:txBody>
          <a:bodyPr>
            <a:normAutofit fontScale="92500" lnSpcReduction="10000"/>
          </a:bodyPr>
          <a:lstStyle/>
          <a:p>
            <a:pPr marL="358775" lvl="1" indent="-358775">
              <a:lnSpc>
                <a:spcPct val="170000"/>
              </a:lnSpc>
              <a:spcBef>
                <a:spcPts val="0"/>
              </a:spcBef>
            </a:pPr>
            <a:r>
              <a:rPr lang="en-US" sz="2100" b="1" dirty="0">
                <a:solidFill>
                  <a:srgbClr val="0070C0"/>
                </a:solidFill>
              </a:rPr>
              <a:t>The Current State</a:t>
            </a:r>
          </a:p>
          <a:p>
            <a:pPr marL="0" lvl="1" indent="0">
              <a:lnSpc>
                <a:spcPct val="170000"/>
              </a:lnSpc>
              <a:spcBef>
                <a:spcPts val="0"/>
              </a:spcBef>
              <a:buNone/>
            </a:pPr>
            <a:r>
              <a:rPr lang="en-US" sz="1800" dirty="0"/>
              <a:t>“The first stage of gap analysis is to take a long, hard look at where your business or a certain process is.” Example: If you want to improve a process in managing projects, it may involve:</a:t>
            </a:r>
          </a:p>
          <a:p>
            <a:pPr marL="815975" lvl="2" indent="-358775">
              <a:lnSpc>
                <a:spcPct val="170000"/>
              </a:lnSpc>
              <a:spcBef>
                <a:spcPts val="0"/>
              </a:spcBef>
            </a:pPr>
            <a:r>
              <a:rPr lang="en-US" sz="1400" dirty="0"/>
              <a:t>Market gaps. The difference between your budgeted and actual sales.</a:t>
            </a:r>
          </a:p>
          <a:p>
            <a:pPr marL="815975" lvl="2" indent="-358775">
              <a:lnSpc>
                <a:spcPct val="170000"/>
              </a:lnSpc>
              <a:spcBef>
                <a:spcPts val="0"/>
              </a:spcBef>
            </a:pPr>
            <a:r>
              <a:rPr lang="en-US" sz="1400" dirty="0"/>
              <a:t>Resource gaps. The number of team members available for the amount of work which is a critical component of resource management.</a:t>
            </a:r>
          </a:p>
          <a:p>
            <a:pPr marL="815975" lvl="2" indent="-358775">
              <a:lnSpc>
                <a:spcPct val="170000"/>
              </a:lnSpc>
              <a:spcBef>
                <a:spcPts val="0"/>
              </a:spcBef>
            </a:pPr>
            <a:r>
              <a:rPr lang="en-US" sz="1400" dirty="0"/>
              <a:t>Performance gaps. The difference between expected and actual performance regarding task and project due dates.</a:t>
            </a:r>
          </a:p>
          <a:p>
            <a:pPr marL="815975" lvl="2" indent="-358775">
              <a:lnSpc>
                <a:spcPct val="170000"/>
              </a:lnSpc>
              <a:spcBef>
                <a:spcPts val="0"/>
              </a:spcBef>
            </a:pPr>
            <a:r>
              <a:rPr lang="en-US" sz="1400" dirty="0"/>
              <a:t>Budget gaps. The difference between actual spend and budgeted amount, which could be especially helpful when trying to combat scope creep. To help you get an even better grip on your finances, you can conduct a cost-benefit analysis.”</a:t>
            </a:r>
          </a:p>
          <a:p>
            <a:pPr marL="358775" lvl="1" indent="-358775">
              <a:lnSpc>
                <a:spcPct val="170000"/>
              </a:lnSpc>
              <a:spcBef>
                <a:spcPts val="0"/>
              </a:spcBef>
            </a:pPr>
            <a:r>
              <a:rPr lang="en-US" sz="2000" b="1" dirty="0">
                <a:solidFill>
                  <a:srgbClr val="0070C0"/>
                </a:solidFill>
              </a:rPr>
              <a:t>The Future State</a:t>
            </a:r>
          </a:p>
          <a:p>
            <a:pPr marL="0" lvl="1" indent="0">
              <a:lnSpc>
                <a:spcPct val="170000"/>
              </a:lnSpc>
              <a:spcBef>
                <a:spcPts val="0"/>
              </a:spcBef>
              <a:buNone/>
            </a:pPr>
            <a:r>
              <a:rPr lang="en-US" sz="1600" dirty="0"/>
              <a:t>Involves determining the overall objective a business is aiming at. Examples:</a:t>
            </a:r>
          </a:p>
          <a:p>
            <a:pPr marL="742950" lvl="2" indent="-285750">
              <a:lnSpc>
                <a:spcPct val="170000"/>
              </a:lnSpc>
              <a:spcBef>
                <a:spcPts val="0"/>
              </a:spcBef>
            </a:pPr>
            <a:r>
              <a:rPr lang="en-US" sz="1400" dirty="0"/>
              <a:t>Tasks to be completed in a given time frame</a:t>
            </a:r>
          </a:p>
          <a:p>
            <a:pPr marL="742950" lvl="2" indent="-285750">
              <a:lnSpc>
                <a:spcPct val="170000"/>
              </a:lnSpc>
              <a:spcBef>
                <a:spcPts val="0"/>
              </a:spcBef>
            </a:pPr>
            <a:r>
              <a:rPr lang="en-US" sz="1400" dirty="0"/>
              <a:t>Increasing the number of customers by a certain percentage</a:t>
            </a:r>
          </a:p>
          <a:p>
            <a:pPr marL="742950" lvl="2" indent="-285750">
              <a:lnSpc>
                <a:spcPct val="170000"/>
              </a:lnSpc>
              <a:spcBef>
                <a:spcPts val="0"/>
              </a:spcBef>
            </a:pPr>
            <a:r>
              <a:rPr lang="en-US" sz="1400" dirty="0"/>
              <a:t>Number of employees to have on a specific sales goal</a:t>
            </a:r>
          </a:p>
          <a:p>
            <a:pPr marL="358775" lvl="1" indent="-358775">
              <a:lnSpc>
                <a:spcPct val="170000"/>
              </a:lnSpc>
              <a:spcBef>
                <a:spcPts val="0"/>
              </a:spcBef>
            </a:pPr>
            <a:endParaRPr lang="en-US" sz="16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10</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430887"/>
          </a:xfrm>
          <a:prstGeom prst="rect">
            <a:avLst/>
          </a:prstGeom>
          <a:noFill/>
        </p:spPr>
        <p:txBody>
          <a:bodyPr wrap="square" rtlCol="0">
            <a:spAutoFit/>
          </a:bodyPr>
          <a:lstStyle/>
          <a:p>
            <a:r>
              <a:rPr lang="en-US" sz="1100" dirty="0"/>
              <a:t>Source: Forbes; </a:t>
            </a:r>
            <a:r>
              <a:rPr lang="en-US" sz="1100" dirty="0">
                <a:hlinkClick r:id="rId3"/>
              </a:rPr>
              <a:t>https://www.forbes.com/advisor/business/gap-analysis-template/</a:t>
            </a:r>
            <a:endParaRPr lang="en-US" sz="1100" dirty="0"/>
          </a:p>
          <a:p>
            <a:endParaRPr lang="en-PK" sz="1100" dirty="0"/>
          </a:p>
        </p:txBody>
      </p:sp>
    </p:spTree>
    <p:extLst>
      <p:ext uri="{BB962C8B-B14F-4D97-AF65-F5344CB8AC3E}">
        <p14:creationId xmlns:p14="http://schemas.microsoft.com/office/powerpoint/2010/main" val="1845781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585054" y="160901"/>
            <a:ext cx="4146777" cy="1311815"/>
          </a:xfrm>
        </p:spPr>
        <p:txBody>
          <a:bodyPr>
            <a:normAutofit/>
          </a:bodyPr>
          <a:lstStyle/>
          <a:p>
            <a:r>
              <a:rPr lang="en-US" b="1" dirty="0">
                <a:solidFill>
                  <a:schemeClr val="bg2">
                    <a:lumMod val="50000"/>
                  </a:schemeClr>
                </a:solidFill>
                <a:latin typeface="+mn-lt"/>
              </a:rPr>
              <a:t>THE FOUR STAGES OF GAP ANALYSIS</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type="body" sz="half" idx="2"/>
          </p:nvPr>
        </p:nvSpPr>
        <p:spPr>
          <a:xfrm>
            <a:off x="713433" y="1567543"/>
            <a:ext cx="4702629" cy="4642543"/>
          </a:xfrm>
        </p:spPr>
        <p:txBody>
          <a:bodyPr>
            <a:normAutofit fontScale="77500" lnSpcReduction="20000"/>
          </a:bodyPr>
          <a:lstStyle/>
          <a:p>
            <a:pPr marL="358775" lvl="1" indent="-358775">
              <a:lnSpc>
                <a:spcPct val="170000"/>
              </a:lnSpc>
              <a:spcBef>
                <a:spcPts val="0"/>
              </a:spcBef>
              <a:buFont typeface="Arial" panose="020B0604020202020204" pitchFamily="34" charset="0"/>
              <a:buChar char="•"/>
            </a:pPr>
            <a:r>
              <a:rPr lang="en-US" sz="2100" b="1" dirty="0">
                <a:solidFill>
                  <a:srgbClr val="0070C0"/>
                </a:solidFill>
              </a:rPr>
              <a:t>The Gap</a:t>
            </a:r>
          </a:p>
          <a:p>
            <a:pPr marL="0" lvl="1" indent="0">
              <a:lnSpc>
                <a:spcPct val="170000"/>
              </a:lnSpc>
              <a:spcBef>
                <a:spcPts val="0"/>
              </a:spcBef>
              <a:buNone/>
            </a:pPr>
            <a:r>
              <a:rPr lang="en-US" sz="1900" dirty="0"/>
              <a:t>Involves determining the deficiencies between the current and future state</a:t>
            </a:r>
            <a:r>
              <a:rPr lang="en-US" sz="1900" dirty="0">
                <a:solidFill>
                  <a:srgbClr val="C00000"/>
                </a:solidFill>
              </a:rPr>
              <a:t>. Example:</a:t>
            </a:r>
          </a:p>
          <a:p>
            <a:pPr marL="466725" lvl="2" indent="-285750">
              <a:lnSpc>
                <a:spcPct val="170000"/>
              </a:lnSpc>
              <a:spcBef>
                <a:spcPts val="0"/>
              </a:spcBef>
              <a:buFont typeface="Courier New" panose="02070309020205020404" pitchFamily="49" charset="0"/>
              <a:buChar char="o"/>
            </a:pPr>
            <a:r>
              <a:rPr lang="en-US" sz="1500" dirty="0"/>
              <a:t>Sales have decreased due to poor marketing or staff training</a:t>
            </a:r>
          </a:p>
          <a:p>
            <a:pPr marL="466725" lvl="2" indent="-285750">
              <a:lnSpc>
                <a:spcPct val="170000"/>
              </a:lnSpc>
              <a:spcBef>
                <a:spcPts val="0"/>
              </a:spcBef>
              <a:buFont typeface="Courier New" panose="02070309020205020404" pitchFamily="49" charset="0"/>
              <a:buChar char="o"/>
            </a:pPr>
            <a:r>
              <a:rPr lang="en-US" sz="1500" dirty="0"/>
              <a:t>Tasks are not being completed due to poor staffing</a:t>
            </a:r>
          </a:p>
          <a:p>
            <a:pPr marL="358775" lvl="1" indent="-358775">
              <a:lnSpc>
                <a:spcPct val="170000"/>
              </a:lnSpc>
              <a:spcBef>
                <a:spcPts val="0"/>
              </a:spcBef>
              <a:buFont typeface="Arial" panose="020B0604020202020204" pitchFamily="34" charset="0"/>
              <a:buChar char="•"/>
            </a:pPr>
            <a:r>
              <a:rPr lang="en-US" sz="2000" b="1" dirty="0">
                <a:solidFill>
                  <a:srgbClr val="0070C0"/>
                </a:solidFill>
              </a:rPr>
              <a:t>Ideas and Improvement</a:t>
            </a:r>
          </a:p>
          <a:p>
            <a:pPr marL="0" lvl="1" indent="0">
              <a:lnSpc>
                <a:spcPct val="170000"/>
              </a:lnSpc>
              <a:spcBef>
                <a:spcPts val="0"/>
              </a:spcBef>
              <a:buNone/>
            </a:pPr>
            <a:r>
              <a:rPr lang="en-US" sz="1900" dirty="0"/>
              <a:t>Involves using the S.M.A.R.T. goal framework to define specific, measurable, achievable, relevant and time-bound goals that can help take you from your current state to your desired future state. </a:t>
            </a:r>
            <a:r>
              <a:rPr lang="en-US" sz="1900" dirty="0">
                <a:solidFill>
                  <a:srgbClr val="C00000"/>
                </a:solidFill>
              </a:rPr>
              <a:t>Example:</a:t>
            </a:r>
          </a:p>
          <a:p>
            <a:pPr marL="180975" lvl="2">
              <a:lnSpc>
                <a:spcPct val="170000"/>
              </a:lnSpc>
              <a:spcBef>
                <a:spcPts val="0"/>
              </a:spcBef>
            </a:pPr>
            <a:r>
              <a:rPr lang="en-US" sz="1500" dirty="0"/>
              <a:t>We will increase the successful completion of tasks by their due date from 65% to 85%. We will achieve this by teaching how to manage time, how to utilize project management software properly and ensuring that all required resources are readily available.</a:t>
            </a:r>
            <a:endParaRPr lang="en-US" sz="1800" dirty="0"/>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11</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85054" y="6287373"/>
            <a:ext cx="10704425" cy="430887"/>
          </a:xfrm>
          <a:prstGeom prst="rect">
            <a:avLst/>
          </a:prstGeom>
          <a:noFill/>
        </p:spPr>
        <p:txBody>
          <a:bodyPr wrap="square" rtlCol="0">
            <a:spAutoFit/>
          </a:bodyPr>
          <a:lstStyle/>
          <a:p>
            <a:r>
              <a:rPr lang="en-US" sz="1100" dirty="0"/>
              <a:t>Source: Forbes; </a:t>
            </a:r>
            <a:r>
              <a:rPr lang="en-US" sz="1100" dirty="0">
                <a:hlinkClick r:id="rId3"/>
              </a:rPr>
              <a:t>https://www.forbes.com/advisor/business/gap-analysis-template/</a:t>
            </a:r>
            <a:endParaRPr lang="en-US" sz="1100" dirty="0"/>
          </a:p>
          <a:p>
            <a:endParaRPr lang="en-PK" sz="1100" dirty="0"/>
          </a:p>
        </p:txBody>
      </p:sp>
      <p:pic>
        <p:nvPicPr>
          <p:cNvPr id="2054" name="Picture 6" descr="A graphic showing the five stages of S.M.A.R.T. goals.">
            <a:extLst>
              <a:ext uri="{FF2B5EF4-FFF2-40B4-BE49-F238E27FC236}">
                <a16:creationId xmlns:a16="http://schemas.microsoft.com/office/drawing/2014/main" id="{B94D3242-B35E-5950-BD5B-C0657CEADC4A}"/>
              </a:ext>
            </a:extLst>
          </p:cNvPr>
          <p:cNvPicPr>
            <a:picLocks noChangeAspect="1" noChangeArrowheads="1"/>
          </p:cNvPicPr>
          <p:nvPr/>
        </p:nvPicPr>
        <p:blipFill rotWithShape="1">
          <a:blip r:embed="rId4">
            <a:duotone>
              <a:schemeClr val="accent3">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rcRect b="15000"/>
          <a:stretch/>
        </p:blipFill>
        <p:spPr bwMode="auto">
          <a:xfrm>
            <a:off x="5452875" y="2020263"/>
            <a:ext cx="5899337" cy="3461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416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96396" y="1094542"/>
            <a:ext cx="10515600" cy="847650"/>
          </a:xfrm>
        </p:spPr>
        <p:txBody>
          <a:bodyPr>
            <a:normAutofit/>
          </a:bodyPr>
          <a:lstStyle/>
          <a:p>
            <a:r>
              <a:rPr lang="en-US" dirty="0">
                <a:solidFill>
                  <a:schemeClr val="bg2">
                    <a:lumMod val="50000"/>
                  </a:schemeClr>
                </a:solidFill>
                <a:latin typeface="+mn-lt"/>
              </a:rPr>
              <a:t>ACTIVITY</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28662" y="2486781"/>
            <a:ext cx="11058525" cy="3723306"/>
          </a:xfrm>
        </p:spPr>
        <p:txBody>
          <a:bodyPr>
            <a:normAutofit/>
          </a:bodyPr>
          <a:lstStyle/>
          <a:p>
            <a:pPr marL="358775" lvl="1" indent="-358775">
              <a:lnSpc>
                <a:spcPct val="170000"/>
              </a:lnSpc>
              <a:spcBef>
                <a:spcPts val="0"/>
              </a:spcBef>
            </a:pPr>
            <a:r>
              <a:rPr lang="en-US" sz="2100" dirty="0"/>
              <a:t>Out of the three methods suggested for business process improvement, identify your preferred method</a:t>
            </a:r>
          </a:p>
          <a:p>
            <a:pPr marL="358775" lvl="1" indent="-358775">
              <a:lnSpc>
                <a:spcPct val="170000"/>
              </a:lnSpc>
              <a:spcBef>
                <a:spcPts val="0"/>
              </a:spcBef>
            </a:pPr>
            <a:r>
              <a:rPr lang="en-US" sz="2100" dirty="0"/>
              <a:t>Select one process that you think can be improved at your learning institution</a:t>
            </a:r>
          </a:p>
          <a:p>
            <a:pPr marL="358775" lvl="1" indent="-358775">
              <a:lnSpc>
                <a:spcPct val="170000"/>
              </a:lnSpc>
              <a:spcBef>
                <a:spcPts val="0"/>
              </a:spcBef>
            </a:pPr>
            <a:r>
              <a:rPr lang="en-US" sz="2100" dirty="0"/>
              <a:t>Use your preferred method for improving that process</a:t>
            </a:r>
            <a:endParaRPr lang="en-US" sz="1400" dirty="0"/>
          </a:p>
          <a:p>
            <a:pPr marL="358775" lvl="1" indent="-358775">
              <a:lnSpc>
                <a:spcPct val="170000"/>
              </a:lnSpc>
              <a:spcBef>
                <a:spcPts val="0"/>
              </a:spcBef>
            </a:pPr>
            <a:endParaRPr lang="en-US" sz="16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12</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330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67860" y="859310"/>
            <a:ext cx="10515600" cy="847650"/>
          </a:xfrm>
        </p:spPr>
        <p:txBody>
          <a:bodyPr>
            <a:normAutofit/>
          </a:bodyPr>
          <a:lstStyle/>
          <a:p>
            <a:r>
              <a:rPr lang="en-US" dirty="0">
                <a:solidFill>
                  <a:schemeClr val="bg2">
                    <a:lumMod val="50000"/>
                  </a:schemeClr>
                </a:solidFill>
                <a:latin typeface="+mn-lt"/>
              </a:rPr>
              <a:t>ESSENTIAL READINGS</a:t>
            </a: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67860" y="2375505"/>
            <a:ext cx="11101389" cy="3592068"/>
          </a:xfrm>
        </p:spPr>
        <p:txBody>
          <a:bodyPr>
            <a:noAutofit/>
          </a:bodyPr>
          <a:lstStyle/>
          <a:p>
            <a:pPr marL="0" indent="0">
              <a:lnSpc>
                <a:spcPct val="100000"/>
              </a:lnSpc>
              <a:spcBef>
                <a:spcPts val="600"/>
              </a:spcBef>
              <a:spcAft>
                <a:spcPts val="600"/>
              </a:spcAft>
              <a:buNone/>
            </a:pPr>
            <a:r>
              <a:rPr lang="en-US" sz="1400" b="1" dirty="0">
                <a:solidFill>
                  <a:srgbClr val="0070C0"/>
                </a:solidFill>
              </a:rPr>
              <a:t>Forbes:</a:t>
            </a:r>
            <a:r>
              <a:rPr lang="en-US" sz="1400" dirty="0"/>
              <a:t> “</a:t>
            </a:r>
            <a:r>
              <a:rPr lang="en-US" sz="1400" i="0" dirty="0">
                <a:effectLst/>
              </a:rPr>
              <a:t>Conducting a gap analysis”, available at </a:t>
            </a:r>
            <a:r>
              <a:rPr lang="en-US" sz="1400" dirty="0">
                <a:hlinkClick r:id="rId2"/>
              </a:rPr>
              <a:t>https://www.forbes.com/advisor/business/gap-analysis-template/</a:t>
            </a:r>
            <a:endParaRPr lang="en-US" sz="1400" dirty="0"/>
          </a:p>
          <a:p>
            <a:pPr marL="0" indent="0">
              <a:lnSpc>
                <a:spcPct val="100000"/>
              </a:lnSpc>
              <a:spcBef>
                <a:spcPts val="600"/>
              </a:spcBef>
              <a:spcAft>
                <a:spcPts val="600"/>
              </a:spcAft>
              <a:buNone/>
            </a:pPr>
            <a:r>
              <a:rPr lang="en-US" sz="1400" b="1" dirty="0">
                <a:solidFill>
                  <a:srgbClr val="0070C0"/>
                </a:solidFill>
              </a:rPr>
              <a:t>IBM:</a:t>
            </a:r>
            <a:r>
              <a:rPr lang="en-US" sz="1400" dirty="0"/>
              <a:t> “</a:t>
            </a:r>
            <a:r>
              <a:rPr lang="en-US" sz="1400" i="0" dirty="0">
                <a:effectLst/>
              </a:rPr>
              <a:t>What is root cause analysis”, available at </a:t>
            </a:r>
            <a:r>
              <a:rPr lang="en-US" sz="1400" dirty="0">
                <a:hlinkClick r:id="rId3"/>
              </a:rPr>
              <a:t>https://www.ibm.com/think/topics/root-cause-analysis</a:t>
            </a:r>
            <a:endParaRPr lang="en-US" sz="1400" dirty="0"/>
          </a:p>
          <a:p>
            <a:pPr marL="0" indent="0">
              <a:lnSpc>
                <a:spcPct val="100000"/>
              </a:lnSpc>
              <a:spcBef>
                <a:spcPts val="600"/>
              </a:spcBef>
              <a:spcAft>
                <a:spcPts val="600"/>
              </a:spcAft>
              <a:buNone/>
            </a:pPr>
            <a:r>
              <a:rPr lang="en-US" sz="1400" b="1" dirty="0">
                <a:solidFill>
                  <a:srgbClr val="0070C0"/>
                </a:solidFill>
              </a:rPr>
              <a:t>Kaizen Institute:</a:t>
            </a:r>
            <a:r>
              <a:rPr lang="en-US" sz="1400" dirty="0"/>
              <a:t> “</a:t>
            </a:r>
            <a:r>
              <a:rPr lang="en-US" sz="1400" i="0" dirty="0">
                <a:effectLst/>
              </a:rPr>
              <a:t>Understanding the Ishikawa Diagram?”, available at </a:t>
            </a:r>
            <a:r>
              <a:rPr lang="en-US" sz="1400" dirty="0">
                <a:hlinkClick r:id="rId4"/>
              </a:rPr>
              <a:t>https://kaizen.com/insights/ishikawa-diagram-root-cause-analysis/</a:t>
            </a:r>
            <a:endParaRPr lang="en-US" sz="1400" b="1" dirty="0">
              <a:solidFill>
                <a:srgbClr val="0070C0"/>
              </a:solidFill>
            </a:endParaRPr>
          </a:p>
          <a:p>
            <a:pPr marL="0" indent="0">
              <a:lnSpc>
                <a:spcPct val="100000"/>
              </a:lnSpc>
              <a:spcBef>
                <a:spcPts val="600"/>
              </a:spcBef>
              <a:spcAft>
                <a:spcPts val="600"/>
              </a:spcAft>
              <a:buNone/>
            </a:pPr>
            <a:r>
              <a:rPr lang="en-US" sz="1400" b="1" dirty="0" err="1">
                <a:solidFill>
                  <a:srgbClr val="0070C0"/>
                </a:solidFill>
              </a:rPr>
              <a:t>Processmaker</a:t>
            </a:r>
            <a:r>
              <a:rPr lang="en-US" sz="1400" b="1" dirty="0">
                <a:solidFill>
                  <a:srgbClr val="0070C0"/>
                </a:solidFill>
              </a:rPr>
              <a:t>:</a:t>
            </a:r>
            <a:r>
              <a:rPr lang="en-US" sz="1400" dirty="0"/>
              <a:t> “Bottleneck analysis explained</a:t>
            </a:r>
            <a:r>
              <a:rPr lang="en-US" sz="1400" i="0" dirty="0">
                <a:effectLst/>
              </a:rPr>
              <a:t>”, available at </a:t>
            </a:r>
            <a:r>
              <a:rPr lang="en-US" sz="1400" dirty="0">
                <a:hlinkClick r:id="rId5"/>
              </a:rPr>
              <a:t>https://www.processmaker.com/blog/bottleneck-analysis-explained/</a:t>
            </a:r>
            <a:endParaRPr lang="en-US" sz="1400" dirty="0"/>
          </a:p>
          <a:p>
            <a:pPr marL="0" indent="0">
              <a:lnSpc>
                <a:spcPct val="100000"/>
              </a:lnSpc>
              <a:spcBef>
                <a:spcPts val="600"/>
              </a:spcBef>
              <a:spcAft>
                <a:spcPts val="600"/>
              </a:spcAft>
              <a:buNone/>
            </a:pPr>
            <a:endParaRPr lang="en-US" sz="1400" dirty="0"/>
          </a:p>
          <a:p>
            <a:pPr marL="0" indent="0">
              <a:lnSpc>
                <a:spcPct val="100000"/>
              </a:lnSpc>
              <a:spcBef>
                <a:spcPts val="600"/>
              </a:spcBef>
              <a:spcAft>
                <a:spcPts val="600"/>
              </a:spcAft>
              <a:buNone/>
            </a:pPr>
            <a:endParaRPr lang="en-US" sz="14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13</a:t>
            </a:fld>
            <a:endParaRPr lang="en-PK" dirty="0"/>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36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85812" y="971550"/>
            <a:ext cx="10515600" cy="847650"/>
          </a:xfrm>
        </p:spPr>
        <p:txBody>
          <a:bodyPr>
            <a:normAutofit/>
          </a:bodyPr>
          <a:lstStyle/>
          <a:p>
            <a:r>
              <a:rPr lang="en-US" dirty="0">
                <a:solidFill>
                  <a:srgbClr val="C00000"/>
                </a:solidFill>
                <a:latin typeface="+mn-lt"/>
              </a:rPr>
              <a:t>REFERENCE BOOKS OPTIONS</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838197" y="2009701"/>
            <a:ext cx="10515601" cy="4241734"/>
          </a:xfrm>
        </p:spPr>
        <p:txBody>
          <a:bodyPr>
            <a:noAutofit/>
          </a:bodyPr>
          <a:lstStyle/>
          <a:p>
            <a:pPr marL="0" indent="0">
              <a:lnSpc>
                <a:spcPct val="110000"/>
              </a:lnSpc>
              <a:spcBef>
                <a:spcPts val="0"/>
              </a:spcBef>
              <a:buNone/>
            </a:pPr>
            <a:endParaRPr lang="en-US" sz="1600" dirty="0"/>
          </a:p>
          <a:p>
            <a:pPr>
              <a:lnSpc>
                <a:spcPct val="110000"/>
              </a:lnSpc>
              <a:spcBef>
                <a:spcPts val="0"/>
              </a:spcBef>
              <a:buFontTx/>
              <a:buChar char="-"/>
            </a:pPr>
            <a:r>
              <a:rPr lang="en-US" sz="1600" b="1" dirty="0"/>
              <a:t>BUSINESS ANALYSIS BODY OF KNOWLEDGE (BABOK); </a:t>
            </a:r>
            <a:r>
              <a:rPr lang="en-US" sz="1600" dirty="0"/>
              <a:t>IIBA Bookstore: </a:t>
            </a:r>
            <a:r>
              <a:rPr lang="en-US" sz="1600" i="0" dirty="0">
                <a:effectLst/>
                <a:hlinkClick r:id="rId2">
                  <a:extLst>
                    <a:ext uri="{A12FA001-AC4F-418D-AE19-62706E023703}">
                      <ahyp:hlinkClr xmlns:ahyp="http://schemas.microsoft.com/office/drawing/2018/hyperlinkcolor" val="tx"/>
                    </a:ext>
                  </a:extLst>
                </a:hlinkClick>
              </a:rPr>
              <a:t>https://www.iiba.org/career-resources/a-business-analysis-professionals-foundation-for-success/babok/</a:t>
            </a:r>
            <a:endParaRPr lang="en-US" sz="1600" i="0" dirty="0">
              <a:effectLst/>
            </a:endParaRPr>
          </a:p>
          <a:p>
            <a:pPr marL="0" indent="0">
              <a:lnSpc>
                <a:spcPct val="110000"/>
              </a:lnSpc>
              <a:spcBef>
                <a:spcPts val="0"/>
              </a:spcBef>
              <a:buNone/>
            </a:pPr>
            <a:endParaRPr lang="en-US" sz="1600" i="0" dirty="0">
              <a:effectLst/>
            </a:endParaRPr>
          </a:p>
          <a:p>
            <a:pPr>
              <a:lnSpc>
                <a:spcPct val="110000"/>
              </a:lnSpc>
              <a:spcBef>
                <a:spcPts val="0"/>
              </a:spcBef>
              <a:buFontTx/>
              <a:buChar char="-"/>
            </a:pPr>
            <a:r>
              <a:rPr lang="en-US" sz="1600" b="1" dirty="0"/>
              <a:t>BUSINESS ANALYSIS (Fourth Edition) </a:t>
            </a:r>
            <a:r>
              <a:rPr lang="en-US" sz="1600" dirty="0"/>
              <a:t>by </a:t>
            </a:r>
            <a:r>
              <a:rPr lang="en-US" sz="1600" i="0" dirty="0">
                <a:effectLst/>
              </a:rPr>
              <a:t>Debra </a:t>
            </a:r>
            <a:r>
              <a:rPr lang="en-US" sz="1600" b="0" i="0" dirty="0">
                <a:effectLst/>
              </a:rPr>
              <a:t>Paul (Author), </a:t>
            </a:r>
            <a:r>
              <a:rPr lang="en-US" sz="1600" b="0" i="0" u="none" strike="noStrike" dirty="0">
                <a:effectLst/>
              </a:rPr>
              <a:t>James </a:t>
            </a:r>
            <a:r>
              <a:rPr lang="en-US" sz="1600" b="0" i="0" u="none" strike="noStrike" dirty="0" err="1">
                <a:effectLst/>
              </a:rPr>
              <a:t>Cadle</a:t>
            </a:r>
            <a:r>
              <a:rPr lang="en-US" sz="1600" b="0" i="0" u="none" strike="noStrike" dirty="0">
                <a:effectLst/>
              </a:rPr>
              <a:t> (Author)</a:t>
            </a:r>
            <a:r>
              <a:rPr lang="en-US" sz="1600" b="0" i="0" dirty="0">
                <a:effectLst/>
              </a:rPr>
              <a:t>, </a:t>
            </a:r>
            <a:r>
              <a:rPr lang="en-US" sz="1600" b="0" i="0" u="none" strike="noStrike" dirty="0">
                <a:effectLst/>
              </a:rPr>
              <a:t>Malcolm Eva (Author)</a:t>
            </a:r>
            <a:r>
              <a:rPr lang="en-US" sz="1600" b="0" i="0" dirty="0">
                <a:effectLst/>
              </a:rPr>
              <a:t>, </a:t>
            </a:r>
            <a:r>
              <a:rPr lang="en-US" sz="1600" b="0" i="0" u="none" strike="noStrike" dirty="0">
                <a:effectLst/>
              </a:rPr>
              <a:t>Craig Rollason (Author)</a:t>
            </a:r>
            <a:r>
              <a:rPr lang="en-US" sz="1600" b="0" i="0" dirty="0">
                <a:effectLst/>
              </a:rPr>
              <a:t>, </a:t>
            </a:r>
            <a:r>
              <a:rPr lang="en-US" sz="1600" b="0" i="0" u="none" strike="noStrike" dirty="0">
                <a:effectLst/>
              </a:rPr>
              <a:t>Jonathan </a:t>
            </a:r>
            <a:r>
              <a:rPr lang="en-US" sz="1600" b="0" i="0" u="none" strike="noStrike" dirty="0" err="1">
                <a:effectLst/>
              </a:rPr>
              <a:t>Hunsley</a:t>
            </a:r>
            <a:r>
              <a:rPr lang="en-US" sz="1600" b="0" i="0" u="none" strike="noStrike" dirty="0">
                <a:effectLst/>
              </a:rPr>
              <a:t> (Author)</a:t>
            </a:r>
          </a:p>
          <a:p>
            <a:pPr>
              <a:lnSpc>
                <a:spcPct val="110000"/>
              </a:lnSpc>
              <a:spcBef>
                <a:spcPts val="0"/>
              </a:spcBef>
              <a:buFontTx/>
              <a:buChar char="-"/>
            </a:pPr>
            <a:endParaRPr lang="en-US" sz="1600" dirty="0"/>
          </a:p>
          <a:p>
            <a:pPr>
              <a:lnSpc>
                <a:spcPct val="110000"/>
              </a:lnSpc>
              <a:spcBef>
                <a:spcPts val="0"/>
              </a:spcBef>
              <a:buFontTx/>
              <a:buChar char="-"/>
            </a:pPr>
            <a:r>
              <a:rPr lang="en-US" sz="1600" b="1" i="0" dirty="0">
                <a:effectLst/>
              </a:rPr>
              <a:t>BUSINESS ANALYSIS TECHNIQUES: 123 ESSENTIAL TOOLS FOR SUCCESS (3RD Edition) </a:t>
            </a:r>
            <a:r>
              <a:rPr lang="en-US" sz="1600" b="0" i="0" dirty="0">
                <a:effectLst/>
              </a:rPr>
              <a:t>by </a:t>
            </a:r>
            <a:r>
              <a:rPr lang="en-US" sz="1600" b="0" i="0" u="none" strike="noStrike" dirty="0">
                <a:effectLst/>
              </a:rPr>
              <a:t>James </a:t>
            </a:r>
            <a:r>
              <a:rPr lang="en-US" sz="1600" b="0" i="0" u="none" strike="noStrike" dirty="0" err="1">
                <a:effectLst/>
              </a:rPr>
              <a:t>Cadle</a:t>
            </a:r>
            <a:r>
              <a:rPr lang="en-US" sz="1600" b="0" i="0" dirty="0">
                <a:effectLst/>
              </a:rPr>
              <a:t> (Author), </a:t>
            </a:r>
            <a:r>
              <a:rPr lang="en-US" sz="1600" b="0" i="0" u="none" strike="noStrike" dirty="0">
                <a:effectLst/>
              </a:rPr>
              <a:t>Debra Paul</a:t>
            </a:r>
            <a:r>
              <a:rPr lang="en-US" sz="1600" b="0" i="0" dirty="0">
                <a:effectLst/>
              </a:rPr>
              <a:t> (Author), </a:t>
            </a:r>
            <a:r>
              <a:rPr lang="en-US" sz="1600" b="0" i="0" u="none" strike="noStrike" dirty="0">
                <a:effectLst/>
              </a:rPr>
              <a:t>Jonathan </a:t>
            </a:r>
            <a:r>
              <a:rPr lang="en-US" sz="1600" b="0" i="0" u="none" strike="noStrike" dirty="0" err="1">
                <a:effectLst/>
              </a:rPr>
              <a:t>Hunsley</a:t>
            </a:r>
            <a:r>
              <a:rPr lang="en-US" sz="1600" b="0" i="0" dirty="0">
                <a:effectLst/>
              </a:rPr>
              <a:t> (Author), </a:t>
            </a:r>
            <a:r>
              <a:rPr lang="en-US" sz="1600" b="0" i="0" u="none" strike="noStrike" dirty="0">
                <a:effectLst/>
              </a:rPr>
              <a:t>Adrian Reed</a:t>
            </a:r>
            <a:r>
              <a:rPr lang="en-US" sz="1600" b="0" i="0" dirty="0">
                <a:effectLst/>
              </a:rPr>
              <a:t> (Author)</a:t>
            </a:r>
          </a:p>
          <a:p>
            <a:pPr>
              <a:lnSpc>
                <a:spcPct val="110000"/>
              </a:lnSpc>
              <a:spcBef>
                <a:spcPts val="0"/>
              </a:spcBef>
              <a:buFontTx/>
              <a:buChar char="-"/>
            </a:pPr>
            <a:endParaRPr lang="en-US" sz="1600" b="1" i="0" dirty="0">
              <a:effectLst/>
            </a:endParaRPr>
          </a:p>
          <a:p>
            <a:pPr marL="0" indent="0">
              <a:lnSpc>
                <a:spcPct val="110000"/>
              </a:lnSpc>
              <a:spcBef>
                <a:spcPts val="0"/>
              </a:spcBef>
              <a:buNone/>
            </a:pPr>
            <a:endParaRPr lang="en-US" sz="1600" b="1" i="0" dirty="0">
              <a:solidFill>
                <a:srgbClr val="000000"/>
              </a:solidFill>
              <a:effectLst/>
              <a:latin typeface="Roboto Condensed"/>
            </a:endParaRPr>
          </a:p>
          <a:p>
            <a:pPr marL="0" indent="0">
              <a:lnSpc>
                <a:spcPct val="110000"/>
              </a:lnSpc>
              <a:spcBef>
                <a:spcPts val="0"/>
              </a:spcBef>
              <a:buNone/>
            </a:pPr>
            <a:endParaRPr lang="en-US" sz="1600" i="0" dirty="0">
              <a:effectLst/>
            </a:endParaRP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14</a:t>
            </a:fld>
            <a:endParaRPr lang="en-PK" dirty="0"/>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845735"/>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44346</TotalTime>
  <Words>1613</Words>
  <Application>Microsoft Office PowerPoint</Application>
  <PresentationFormat>Widescreen</PresentationFormat>
  <Paragraphs>121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Courier New</vt:lpstr>
      <vt:lpstr>Roboto Condensed</vt:lpstr>
      <vt:lpstr>Office Theme</vt:lpstr>
      <vt:lpstr>BUSINESS ANALYSIS  Business Process Improvement</vt:lpstr>
      <vt:lpstr>ROOT CAUSE ANALYSIS</vt:lpstr>
      <vt:lpstr> HOW TO CONDUCT A ROOT CAUSE ANALYSIS  </vt:lpstr>
      <vt:lpstr> ROOT CAUSE ANALYSIS METHODOLOGIES </vt:lpstr>
      <vt:lpstr>ROOT CAUSE ANALYSIS METHODOLOGIES</vt:lpstr>
      <vt:lpstr>BOTTLENECK ANALYSIS</vt:lpstr>
      <vt:lpstr>HOW TO CONDUCT BOTTLENECK ANALYSIS</vt:lpstr>
      <vt:lpstr>HOW TO CONDUCT BOTTLENECK ANALYSIS</vt:lpstr>
      <vt:lpstr>GAP ANALYSIS</vt:lpstr>
      <vt:lpstr>THE FOUR STAGES OF GAP ANALYSIS</vt:lpstr>
      <vt:lpstr>THE FOUR STAGES OF GAP ANALYSIS</vt:lpstr>
      <vt:lpstr>ACTIVITY</vt:lpstr>
      <vt:lpstr>ESSENTIAL READINGS</vt:lpstr>
      <vt:lpstr>REFERENCE BOOKS OPTIONS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HORIZONTAL LINKAGES WITH OTHER GOVERNMENT DEPARTMENTS</dc:title>
  <dc:creator>Mufeeza Iqbal</dc:creator>
  <cp:lastModifiedBy>Mufeeza Iqbal</cp:lastModifiedBy>
  <cp:revision>246</cp:revision>
  <cp:lastPrinted>2026-03-09T15:36:44Z</cp:lastPrinted>
  <dcterms:created xsi:type="dcterms:W3CDTF">2024-06-09T07:08:43Z</dcterms:created>
  <dcterms:modified xsi:type="dcterms:W3CDTF">2026-03-24T10:21:09Z</dcterms:modified>
</cp:coreProperties>
</file>