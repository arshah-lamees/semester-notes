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1"/>
  </p:sldMasterIdLst>
  <p:notesMasterIdLst>
    <p:notesMasterId r:id="rId17"/>
  </p:notesMasterIdLst>
  <p:sldIdLst>
    <p:sldId id="256" r:id="rId2"/>
    <p:sldId id="322" r:id="rId3"/>
    <p:sldId id="445" r:id="rId4"/>
    <p:sldId id="446" r:id="rId5"/>
    <p:sldId id="447" r:id="rId6"/>
    <p:sldId id="448" r:id="rId7"/>
    <p:sldId id="449" r:id="rId8"/>
    <p:sldId id="451" r:id="rId9"/>
    <p:sldId id="452" r:id="rId10"/>
    <p:sldId id="453" r:id="rId11"/>
    <p:sldId id="450" r:id="rId12"/>
    <p:sldId id="454" r:id="rId13"/>
    <p:sldId id="428" r:id="rId14"/>
    <p:sldId id="338" r:id="rId15"/>
    <p:sldId id="395" r:id="rId16"/>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feeza Iqbal" initials="MI" lastIdx="1" clrIdx="0">
    <p:extLst>
      <p:ext uri="{19B8F6BF-5375-455C-9EA6-DF929625EA0E}">
        <p15:presenceInfo xmlns:p15="http://schemas.microsoft.com/office/powerpoint/2012/main" userId="Mufeeza Iqb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675C4"/>
    <a:srgbClr val="F4F8FE"/>
    <a:srgbClr val="D4E5F7"/>
    <a:srgbClr val="F7E485"/>
    <a:srgbClr val="FFDA3F"/>
    <a:srgbClr val="F7ECA7"/>
    <a:srgbClr val="FFE6B3"/>
    <a:srgbClr val="DEC904"/>
    <a:srgbClr val="E2B700"/>
    <a:srgbClr val="F6E9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917" autoAdjust="0"/>
  </p:normalViewPr>
  <p:slideViewPr>
    <p:cSldViewPr snapToGrid="0">
      <p:cViewPr varScale="1">
        <p:scale>
          <a:sx n="84" d="100"/>
          <a:sy n="84" d="100"/>
        </p:scale>
        <p:origin x="58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A3216-91D5-43D0-B205-F0CBF00F2A3B}" type="datetimeFigureOut">
              <a:rPr lang="en-PK" smtClean="0"/>
              <a:t>28/04/2026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88AE2D-6C56-4B4B-AC93-0FCEBED5A4D6}" type="slidenum">
              <a:rPr lang="en-PK" smtClean="0"/>
              <a:t>‹#›</a:t>
            </a:fld>
            <a:endParaRPr lang="en-PK"/>
          </a:p>
        </p:txBody>
      </p:sp>
    </p:spTree>
    <p:extLst>
      <p:ext uri="{BB962C8B-B14F-4D97-AF65-F5344CB8AC3E}">
        <p14:creationId xmlns:p14="http://schemas.microsoft.com/office/powerpoint/2010/main" val="1092021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392AE-3475-5519-9CD2-B3813CA2A3E0}"/>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PK" dirty="0"/>
          </a:p>
        </p:txBody>
      </p:sp>
      <p:sp>
        <p:nvSpPr>
          <p:cNvPr id="3" name="Subtitle 2">
            <a:extLst>
              <a:ext uri="{FF2B5EF4-FFF2-40B4-BE49-F238E27FC236}">
                <a16:creationId xmlns:a16="http://schemas.microsoft.com/office/drawing/2014/main" id="{C69BC997-4B8A-9709-FA3F-2812ED29EB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PK" dirty="0"/>
          </a:p>
        </p:txBody>
      </p:sp>
      <p:sp>
        <p:nvSpPr>
          <p:cNvPr id="4" name="Date Placeholder 3">
            <a:extLst>
              <a:ext uri="{FF2B5EF4-FFF2-40B4-BE49-F238E27FC236}">
                <a16:creationId xmlns:a16="http://schemas.microsoft.com/office/drawing/2014/main" id="{0CEDD1C2-A443-3425-F1A3-450EEF2D63F4}"/>
              </a:ext>
            </a:extLst>
          </p:cNvPr>
          <p:cNvSpPr>
            <a:spLocks noGrp="1"/>
          </p:cNvSpPr>
          <p:nvPr>
            <p:ph type="dt" sz="half" idx="10"/>
          </p:nvPr>
        </p:nvSpPr>
        <p:spPr/>
        <p:txBody>
          <a:bodyPr/>
          <a:lstStyle/>
          <a:p>
            <a:fld id="{F2E0BE24-4914-473D-86E2-D4EE0B0E90C7}" type="datetime8">
              <a:rPr lang="en-PK" smtClean="0"/>
              <a:t>28/04/2026 2:11 pm</a:t>
            </a:fld>
            <a:endParaRPr lang="en-PK"/>
          </a:p>
        </p:txBody>
      </p:sp>
      <p:sp>
        <p:nvSpPr>
          <p:cNvPr id="5" name="Footer Placeholder 4">
            <a:extLst>
              <a:ext uri="{FF2B5EF4-FFF2-40B4-BE49-F238E27FC236}">
                <a16:creationId xmlns:a16="http://schemas.microsoft.com/office/drawing/2014/main" id="{80BE2A3E-9208-EDCE-DEBB-4D933736745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7EF72C-8D9E-F888-7543-7E09C4BFD1ED}"/>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970094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9ADE-7B08-A01C-72DF-FE9993CEE412}"/>
              </a:ext>
            </a:extLst>
          </p:cNvPr>
          <p:cNvSpPr>
            <a:spLocks noGrp="1"/>
          </p:cNvSpPr>
          <p:nvPr>
            <p:ph type="title"/>
          </p:nvPr>
        </p:nvSpPr>
        <p:spPr/>
        <p:txBody>
          <a:bodyPr>
            <a:normAutofit/>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D7607FC3-A55A-4A8D-FCDC-D328082DEE3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Date Placeholder 3">
            <a:extLst>
              <a:ext uri="{FF2B5EF4-FFF2-40B4-BE49-F238E27FC236}">
                <a16:creationId xmlns:a16="http://schemas.microsoft.com/office/drawing/2014/main" id="{81EEBE8E-9BB1-B225-5B4C-55AEA4E7FB3F}"/>
              </a:ext>
            </a:extLst>
          </p:cNvPr>
          <p:cNvSpPr>
            <a:spLocks noGrp="1"/>
          </p:cNvSpPr>
          <p:nvPr>
            <p:ph type="dt" sz="half" idx="10"/>
          </p:nvPr>
        </p:nvSpPr>
        <p:spPr/>
        <p:txBody>
          <a:bodyPr/>
          <a:lstStyle/>
          <a:p>
            <a:fld id="{9E39EF77-D47F-4BB1-86E4-5F455460BD9C}" type="datetime8">
              <a:rPr lang="en-PK" smtClean="0"/>
              <a:t>28/04/2026 2:11 pm</a:t>
            </a:fld>
            <a:endParaRPr lang="en-PK"/>
          </a:p>
        </p:txBody>
      </p:sp>
      <p:sp>
        <p:nvSpPr>
          <p:cNvPr id="5" name="Footer Placeholder 4">
            <a:extLst>
              <a:ext uri="{FF2B5EF4-FFF2-40B4-BE49-F238E27FC236}">
                <a16:creationId xmlns:a16="http://schemas.microsoft.com/office/drawing/2014/main" id="{1C5AE679-F999-E1F9-0F77-DEA6D713194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877F485-BD67-E327-64C3-D7E71B9E5CDC}"/>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910424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A042-DF09-56BB-8638-29DBAD3887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E1508DB-FFA7-6D03-67FA-3EF149A1B8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14BE1E-EE08-ACCC-1271-2F5E25CAF127}"/>
              </a:ext>
            </a:extLst>
          </p:cNvPr>
          <p:cNvSpPr>
            <a:spLocks noGrp="1"/>
          </p:cNvSpPr>
          <p:nvPr>
            <p:ph type="dt" sz="half" idx="10"/>
          </p:nvPr>
        </p:nvSpPr>
        <p:spPr/>
        <p:txBody>
          <a:bodyPr/>
          <a:lstStyle/>
          <a:p>
            <a:fld id="{8081A5AA-2A6E-43F2-9F30-AF7EED5FA600}" type="datetime8">
              <a:rPr lang="en-PK" smtClean="0"/>
              <a:t>28/04/2026 2:11 pm</a:t>
            </a:fld>
            <a:endParaRPr lang="en-PK"/>
          </a:p>
        </p:txBody>
      </p:sp>
      <p:sp>
        <p:nvSpPr>
          <p:cNvPr id="5" name="Footer Placeholder 4">
            <a:extLst>
              <a:ext uri="{FF2B5EF4-FFF2-40B4-BE49-F238E27FC236}">
                <a16:creationId xmlns:a16="http://schemas.microsoft.com/office/drawing/2014/main" id="{C3D9D85B-5C96-E835-D822-93C86F7831C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F1899E9-E472-DD15-F881-200436473BF1}"/>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010372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7FCC-3AE3-0214-F9D4-FCB15D614000}"/>
              </a:ext>
            </a:extLst>
          </p:cNvPr>
          <p:cNvSpPr>
            <a:spLocks noGrp="1"/>
          </p:cNvSpPr>
          <p:nvPr>
            <p:ph type="title"/>
          </p:nvPr>
        </p:nvSpPr>
        <p:spPr/>
        <p:txBody>
          <a:bodyPr/>
          <a:lstStyle>
            <a:lvl1pPr>
              <a:defRPr sz="2800" b="1" i="0" baseline="0">
                <a:solidFill>
                  <a:srgbClr val="0070C0"/>
                </a:solidFill>
              </a:defRPr>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8207161E-F706-1674-13DB-BACD4723176A}"/>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Content Placeholder 3">
            <a:extLst>
              <a:ext uri="{FF2B5EF4-FFF2-40B4-BE49-F238E27FC236}">
                <a16:creationId xmlns:a16="http://schemas.microsoft.com/office/drawing/2014/main" id="{57CA0A05-46B6-960E-7368-B2CE54CC3B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DF639986-E720-F1B7-36F9-B2708004C907}"/>
              </a:ext>
            </a:extLst>
          </p:cNvPr>
          <p:cNvSpPr>
            <a:spLocks noGrp="1"/>
          </p:cNvSpPr>
          <p:nvPr>
            <p:ph type="dt" sz="half" idx="10"/>
          </p:nvPr>
        </p:nvSpPr>
        <p:spPr/>
        <p:txBody>
          <a:bodyPr/>
          <a:lstStyle/>
          <a:p>
            <a:fld id="{9E4E2CB0-8F81-407D-9308-759F0E533D95}" type="datetime8">
              <a:rPr lang="en-PK" smtClean="0"/>
              <a:t>28/04/2026 2:11 pm</a:t>
            </a:fld>
            <a:endParaRPr lang="en-PK"/>
          </a:p>
        </p:txBody>
      </p:sp>
      <p:sp>
        <p:nvSpPr>
          <p:cNvPr id="6" name="Footer Placeholder 5">
            <a:extLst>
              <a:ext uri="{FF2B5EF4-FFF2-40B4-BE49-F238E27FC236}">
                <a16:creationId xmlns:a16="http://schemas.microsoft.com/office/drawing/2014/main" id="{108C3A9C-BA81-3B68-288D-EB7FD47FFBA7}"/>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EAEAC4-C699-2232-BD98-7252DC5E195A}"/>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606244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4A8C3-75DD-1313-ABA5-5D3FFA02C9DA}"/>
              </a:ext>
            </a:extLst>
          </p:cNvPr>
          <p:cNvSpPr>
            <a:spLocks noGrp="1"/>
          </p:cNvSpPr>
          <p:nvPr>
            <p:ph type="title"/>
          </p:nvPr>
        </p:nvSpPr>
        <p:spPr>
          <a:xfrm>
            <a:off x="839788" y="365125"/>
            <a:ext cx="10515600" cy="1325563"/>
          </a:xfrm>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8C77D5B1-50C2-CF91-9D88-610914E272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B35284C-0315-C6F1-CA04-F3E219D15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C47C534-C2F2-A37B-C431-9DF8A42B31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AA4DAB-49CA-2EFC-9842-564884678C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E64688EE-799F-3F23-A121-4F674361A703}"/>
              </a:ext>
            </a:extLst>
          </p:cNvPr>
          <p:cNvSpPr>
            <a:spLocks noGrp="1"/>
          </p:cNvSpPr>
          <p:nvPr>
            <p:ph type="dt" sz="half" idx="10"/>
          </p:nvPr>
        </p:nvSpPr>
        <p:spPr/>
        <p:txBody>
          <a:bodyPr/>
          <a:lstStyle/>
          <a:p>
            <a:fld id="{6F0FBD63-32C8-45D6-BE9D-408F278BE9C8}" type="datetime8">
              <a:rPr lang="en-PK" smtClean="0"/>
              <a:t>28/04/2026 2:11 pm</a:t>
            </a:fld>
            <a:endParaRPr lang="en-PK"/>
          </a:p>
        </p:txBody>
      </p:sp>
      <p:sp>
        <p:nvSpPr>
          <p:cNvPr id="8" name="Footer Placeholder 7">
            <a:extLst>
              <a:ext uri="{FF2B5EF4-FFF2-40B4-BE49-F238E27FC236}">
                <a16:creationId xmlns:a16="http://schemas.microsoft.com/office/drawing/2014/main" id="{93E4848C-55D2-9A77-36F1-FAD52DCB085E}"/>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2D5D59BD-56E3-4753-6C9F-3B1F4CE0BE6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930308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AC4B4-FA75-C85D-E743-3DB6E5DB7351}"/>
              </a:ext>
            </a:extLst>
          </p:cNvPr>
          <p:cNvSpPr>
            <a:spLocks noGrp="1"/>
          </p:cNvSpPr>
          <p:nvPr>
            <p:ph type="title"/>
          </p:nvPr>
        </p:nvSpPr>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Date Placeholder 2">
            <a:extLst>
              <a:ext uri="{FF2B5EF4-FFF2-40B4-BE49-F238E27FC236}">
                <a16:creationId xmlns:a16="http://schemas.microsoft.com/office/drawing/2014/main" id="{2FDF645E-1294-7708-0DA4-EDA61782FD91}"/>
              </a:ext>
            </a:extLst>
          </p:cNvPr>
          <p:cNvSpPr>
            <a:spLocks noGrp="1"/>
          </p:cNvSpPr>
          <p:nvPr>
            <p:ph type="dt" sz="half" idx="10"/>
          </p:nvPr>
        </p:nvSpPr>
        <p:spPr/>
        <p:txBody>
          <a:bodyPr/>
          <a:lstStyle/>
          <a:p>
            <a:fld id="{165A7C61-2664-45A8-9CA0-D9D546B35364}" type="datetime8">
              <a:rPr lang="en-PK" smtClean="0"/>
              <a:t>28/04/2026 2:11 pm</a:t>
            </a:fld>
            <a:endParaRPr lang="en-PK"/>
          </a:p>
        </p:txBody>
      </p:sp>
      <p:sp>
        <p:nvSpPr>
          <p:cNvPr id="4" name="Footer Placeholder 3">
            <a:extLst>
              <a:ext uri="{FF2B5EF4-FFF2-40B4-BE49-F238E27FC236}">
                <a16:creationId xmlns:a16="http://schemas.microsoft.com/office/drawing/2014/main" id="{4E69AFA9-8467-3A28-7BFF-CA12EF3CA431}"/>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08D24441-1E31-6A33-D8E8-781D599AD101}"/>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292362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B7448-39E8-68A0-B712-84409BF4EB3A}"/>
              </a:ext>
            </a:extLst>
          </p:cNvPr>
          <p:cNvSpPr>
            <a:spLocks noGrp="1"/>
          </p:cNvSpPr>
          <p:nvPr>
            <p:ph type="title"/>
          </p:nvPr>
        </p:nvSpPr>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Date Placeholder 2">
            <a:extLst>
              <a:ext uri="{FF2B5EF4-FFF2-40B4-BE49-F238E27FC236}">
                <a16:creationId xmlns:a16="http://schemas.microsoft.com/office/drawing/2014/main" id="{E7243484-DEAD-0EB1-DC5F-24E6FD4BABC5}"/>
              </a:ext>
            </a:extLst>
          </p:cNvPr>
          <p:cNvSpPr>
            <a:spLocks noGrp="1"/>
          </p:cNvSpPr>
          <p:nvPr>
            <p:ph type="dt" sz="half" idx="10"/>
          </p:nvPr>
        </p:nvSpPr>
        <p:spPr/>
        <p:txBody>
          <a:bodyPr/>
          <a:lstStyle/>
          <a:p>
            <a:fld id="{D7C78C6A-94B1-48CD-B95C-7BBCF06B539F}" type="datetime8">
              <a:rPr lang="en-PK" smtClean="0"/>
              <a:t>28/04/2026 2:11 pm</a:t>
            </a:fld>
            <a:endParaRPr lang="en-PK"/>
          </a:p>
        </p:txBody>
      </p:sp>
      <p:sp>
        <p:nvSpPr>
          <p:cNvPr id="4" name="Footer Placeholder 3">
            <a:extLst>
              <a:ext uri="{FF2B5EF4-FFF2-40B4-BE49-F238E27FC236}">
                <a16:creationId xmlns:a16="http://schemas.microsoft.com/office/drawing/2014/main" id="{7BF8FE36-0300-3AD8-5E95-41E333E1816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73CC0281-9CE6-90B4-45F9-D9D954D12024}"/>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092040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53CB-8CBB-A3DD-2AD9-1CA3785107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FEF21173-6A64-ACDD-90B1-F466FBD621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C611703-8264-01ED-8E5E-06DFA98EE8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25018-0F9D-E6A7-30D4-FA1B94922608}"/>
              </a:ext>
            </a:extLst>
          </p:cNvPr>
          <p:cNvSpPr>
            <a:spLocks noGrp="1"/>
          </p:cNvSpPr>
          <p:nvPr>
            <p:ph type="dt" sz="half" idx="10"/>
          </p:nvPr>
        </p:nvSpPr>
        <p:spPr/>
        <p:txBody>
          <a:bodyPr/>
          <a:lstStyle/>
          <a:p>
            <a:fld id="{8885620F-E5D6-45BD-ABE4-D3E73AEC1059}" type="datetime8">
              <a:rPr lang="en-PK" smtClean="0"/>
              <a:t>28/04/2026 2:11 pm</a:t>
            </a:fld>
            <a:endParaRPr lang="en-PK"/>
          </a:p>
        </p:txBody>
      </p:sp>
      <p:sp>
        <p:nvSpPr>
          <p:cNvPr id="6" name="Footer Placeholder 5">
            <a:extLst>
              <a:ext uri="{FF2B5EF4-FFF2-40B4-BE49-F238E27FC236}">
                <a16:creationId xmlns:a16="http://schemas.microsoft.com/office/drawing/2014/main" id="{EC9345B6-DE39-4DE7-B63A-020AA0C2594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077E181-66A9-8AF7-8FC6-FD18E1778D1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821884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E283-232A-203F-BE7E-C1FAB18986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35344E88-2CB0-6548-1689-37B5CD1D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FAC45364-9FD1-5237-6F05-3CD9FF28E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A0F029-9EDC-16AD-E233-F72153868CD3}"/>
              </a:ext>
            </a:extLst>
          </p:cNvPr>
          <p:cNvSpPr>
            <a:spLocks noGrp="1"/>
          </p:cNvSpPr>
          <p:nvPr>
            <p:ph type="dt" sz="half" idx="10"/>
          </p:nvPr>
        </p:nvSpPr>
        <p:spPr/>
        <p:txBody>
          <a:bodyPr/>
          <a:lstStyle/>
          <a:p>
            <a:fld id="{C0B36677-69CF-4F57-B961-69869666485F}" type="datetime8">
              <a:rPr lang="en-PK" smtClean="0"/>
              <a:t>28/04/2026 2:11 pm</a:t>
            </a:fld>
            <a:endParaRPr lang="en-PK"/>
          </a:p>
        </p:txBody>
      </p:sp>
      <p:sp>
        <p:nvSpPr>
          <p:cNvPr id="6" name="Footer Placeholder 5">
            <a:extLst>
              <a:ext uri="{FF2B5EF4-FFF2-40B4-BE49-F238E27FC236}">
                <a16:creationId xmlns:a16="http://schemas.microsoft.com/office/drawing/2014/main" id="{566EAD10-9813-FA15-7AA3-F311C1514D6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6593DEC-A834-573B-8137-57A252A1E13A}"/>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553929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B6A8F-48A0-C1A4-C992-787E5B87AC6B}"/>
              </a:ext>
            </a:extLst>
          </p:cNvPr>
          <p:cNvSpPr>
            <a:spLocks noGrp="1"/>
          </p:cNvSpPr>
          <p:nvPr>
            <p:ph type="title"/>
          </p:nvPr>
        </p:nvSpPr>
        <p:spPr/>
        <p:txBody>
          <a:bodyPr>
            <a:normAutofit/>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Vertical Text Placeholder 2">
            <a:extLst>
              <a:ext uri="{FF2B5EF4-FFF2-40B4-BE49-F238E27FC236}">
                <a16:creationId xmlns:a16="http://schemas.microsoft.com/office/drawing/2014/main" id="{9785B7C4-4FCF-3883-BC91-FDBC338D9E93}"/>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Date Placeholder 3">
            <a:extLst>
              <a:ext uri="{FF2B5EF4-FFF2-40B4-BE49-F238E27FC236}">
                <a16:creationId xmlns:a16="http://schemas.microsoft.com/office/drawing/2014/main" id="{D6E4F67A-FCF1-D4E4-E162-793DEACCA4D9}"/>
              </a:ext>
            </a:extLst>
          </p:cNvPr>
          <p:cNvSpPr>
            <a:spLocks noGrp="1"/>
          </p:cNvSpPr>
          <p:nvPr>
            <p:ph type="dt" sz="half" idx="10"/>
          </p:nvPr>
        </p:nvSpPr>
        <p:spPr/>
        <p:txBody>
          <a:bodyPr/>
          <a:lstStyle/>
          <a:p>
            <a:fld id="{76AFB392-8D81-42DB-9470-C0982980A208}" type="datetime8">
              <a:rPr lang="en-PK" smtClean="0"/>
              <a:t>28/04/2026 2:11 pm</a:t>
            </a:fld>
            <a:endParaRPr lang="en-PK"/>
          </a:p>
        </p:txBody>
      </p:sp>
      <p:sp>
        <p:nvSpPr>
          <p:cNvPr id="5" name="Footer Placeholder 4">
            <a:extLst>
              <a:ext uri="{FF2B5EF4-FFF2-40B4-BE49-F238E27FC236}">
                <a16:creationId xmlns:a16="http://schemas.microsoft.com/office/drawing/2014/main" id="{1FD6A201-A7CA-71B8-8718-9897B03FE15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B9A3F33-5AA9-E112-2ABF-79F547887F53}"/>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626848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D59074-43DC-F3A1-F847-B382DA9986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4F3AC57-AF5B-EC7C-207D-DD87813931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95FF8A-8F6C-7460-66BD-36FE94B2C2E8}"/>
              </a:ext>
            </a:extLst>
          </p:cNvPr>
          <p:cNvSpPr>
            <a:spLocks noGrp="1"/>
          </p:cNvSpPr>
          <p:nvPr>
            <p:ph type="dt" sz="half" idx="10"/>
          </p:nvPr>
        </p:nvSpPr>
        <p:spPr/>
        <p:txBody>
          <a:bodyPr/>
          <a:lstStyle/>
          <a:p>
            <a:fld id="{A3C8CE2D-4511-4580-808C-44E58A6F6871}" type="datetime8">
              <a:rPr lang="en-PK" smtClean="0"/>
              <a:t>28/04/2026 2:11 pm</a:t>
            </a:fld>
            <a:endParaRPr lang="en-PK"/>
          </a:p>
        </p:txBody>
      </p:sp>
      <p:sp>
        <p:nvSpPr>
          <p:cNvPr id="5" name="Footer Placeholder 4">
            <a:extLst>
              <a:ext uri="{FF2B5EF4-FFF2-40B4-BE49-F238E27FC236}">
                <a16:creationId xmlns:a16="http://schemas.microsoft.com/office/drawing/2014/main" id="{8DBE7764-4D16-A8A5-2DA2-548355B8B7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EDDCA92-473C-706D-5019-016D87F1B60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4229802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5FF33B-CB98-4E49-F470-FDEB20A1B0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5895A451-6F13-E99E-AA74-118FE0705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A7D6080-894B-699D-C377-9FCB24BB49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8247E1-80FA-4B68-AED4-FB0D556219B2}" type="datetime8">
              <a:rPr lang="en-PK" smtClean="0"/>
              <a:t>28/04/2026 2:11 pm</a:t>
            </a:fld>
            <a:endParaRPr lang="en-PK"/>
          </a:p>
        </p:txBody>
      </p:sp>
      <p:sp>
        <p:nvSpPr>
          <p:cNvPr id="5" name="Footer Placeholder 4">
            <a:extLst>
              <a:ext uri="{FF2B5EF4-FFF2-40B4-BE49-F238E27FC236}">
                <a16:creationId xmlns:a16="http://schemas.microsoft.com/office/drawing/2014/main" id="{4E1F34FF-7C89-DFB6-0D18-88EA7A4B3B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41908851-096B-57D1-721E-52D426BA69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5646D-91FE-4030-A7F0-07F651F9A7F3}" type="slidenum">
              <a:rPr lang="en-PK" smtClean="0"/>
              <a:t>‹#›</a:t>
            </a:fld>
            <a:endParaRPr lang="en-PK"/>
          </a:p>
        </p:txBody>
      </p:sp>
    </p:spTree>
    <p:extLst>
      <p:ext uri="{BB962C8B-B14F-4D97-AF65-F5344CB8AC3E}">
        <p14:creationId xmlns:p14="http://schemas.microsoft.com/office/powerpoint/2010/main" val="506824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0"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sana.com/resources/agile-methodology"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hyperlink" Target="https://itchronicles.com/agile/agile-methodology-what-it-means/"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asana.com/resources/agile-methodology"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sana.com/resources/agile-methodology"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sana.com/resources/agile-methodology"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nstituteprojectmanagement.com/blog/waterfall-methodology/"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https://resources.scrumalliance.org/Article/scrum-team"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projectmanager.com/blog/product-backlog-sprint-backlog"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www.projectmanager.com/blog/product-backlog-sprint-backlog"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projectmanager.com/blog/product-backlog-sprint-backlog"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www.projectmanager.com/blog/product-backlog-sprint-backlog" TargetMode="External"/><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3" Type="http://schemas.openxmlformats.org/officeDocument/2006/relationships/hyperlink" Target="https://www.smartsheet.com/content/agile-project-management-examples?srsltid=AfmBOopMdRNNTKAQvCZlYrbx7yQp5P_D7eSP8tDyAUe3OEaNwdaFxN9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atapatrol.com/business-data-why-is-it-important-for-your-organization/" TargetMode="External"/><Relationship Id="rId2" Type="http://schemas.openxmlformats.org/officeDocument/2006/relationships/hyperlink" Target="https://www.signavio.com/wiki/process-design/bpmn/"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www.qlik.com/us/data-analytics/financial-analysis" TargetMode="External"/><Relationship Id="rId4" Type="http://schemas.openxmlformats.org/officeDocument/2006/relationships/hyperlink" Target="https://www.indeed.com/career-advice/career-development/data-in-busines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iiba.org/career-resources/a-business-analysis-professionals-foundation-for-success/babo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D80B44-5D51-DEB9-139E-D6588E08DCEE}"/>
              </a:ext>
            </a:extLst>
          </p:cNvPr>
          <p:cNvSpPr/>
          <p:nvPr/>
        </p:nvSpPr>
        <p:spPr>
          <a:xfrm>
            <a:off x="-1" y="6553199"/>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F0A358E0-F332-E7D0-E6FF-67C0C524EC5E}"/>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 name="Slide Number Placeholder 2">
            <a:extLst>
              <a:ext uri="{FF2B5EF4-FFF2-40B4-BE49-F238E27FC236}">
                <a16:creationId xmlns:a16="http://schemas.microsoft.com/office/drawing/2014/main" id="{3CC7347E-773E-501C-BBCD-F143B41F9D1E}"/>
              </a:ext>
            </a:extLst>
          </p:cNvPr>
          <p:cNvSpPr>
            <a:spLocks noGrp="1"/>
          </p:cNvSpPr>
          <p:nvPr>
            <p:ph type="sldNum" sz="quarter" idx="12"/>
          </p:nvPr>
        </p:nvSpPr>
        <p:spPr/>
        <p:txBody>
          <a:bodyPr/>
          <a:lstStyle/>
          <a:p>
            <a:fld id="{8C95646D-91FE-4030-A7F0-07F651F9A7F3}" type="slidenum">
              <a:rPr lang="en-PK" smtClean="0"/>
              <a:t>1</a:t>
            </a:fld>
            <a:endParaRPr lang="en-PK"/>
          </a:p>
        </p:txBody>
      </p:sp>
      <p:sp>
        <p:nvSpPr>
          <p:cNvPr id="5" name="Title 4">
            <a:extLst>
              <a:ext uri="{FF2B5EF4-FFF2-40B4-BE49-F238E27FC236}">
                <a16:creationId xmlns:a16="http://schemas.microsoft.com/office/drawing/2014/main" id="{376D3B6A-B4FC-14B2-8C07-F3041090EE78}"/>
              </a:ext>
            </a:extLst>
          </p:cNvPr>
          <p:cNvSpPr>
            <a:spLocks noGrp="1"/>
          </p:cNvSpPr>
          <p:nvPr>
            <p:ph type="ctrTitle"/>
          </p:nvPr>
        </p:nvSpPr>
        <p:spPr>
          <a:xfrm>
            <a:off x="1524000" y="1567543"/>
            <a:ext cx="9144000" cy="2997200"/>
          </a:xfrm>
        </p:spPr>
        <p:txBody>
          <a:bodyPr>
            <a:normAutofit/>
          </a:bodyPr>
          <a:lstStyle/>
          <a:p>
            <a:r>
              <a:rPr lang="en-US" dirty="0"/>
              <a:t>BUSINESS ANALYSIS</a:t>
            </a:r>
            <a:br>
              <a:rPr lang="en-US" sz="1600" dirty="0"/>
            </a:br>
            <a:br>
              <a:rPr lang="en-US" sz="1600" dirty="0"/>
            </a:br>
            <a:r>
              <a:rPr lang="en-US" sz="4400" dirty="0">
                <a:solidFill>
                  <a:srgbClr val="0070C0"/>
                </a:solidFill>
              </a:rPr>
              <a:t>Agile, Scrum Roles &amp; Backlog</a:t>
            </a:r>
            <a:endParaRPr lang="en-PK" dirty="0">
              <a:solidFill>
                <a:srgbClr val="0070C0"/>
              </a:solidFill>
            </a:endParaRPr>
          </a:p>
        </p:txBody>
      </p:sp>
      <p:pic>
        <p:nvPicPr>
          <p:cNvPr id="1028" name="Picture 4" descr="Download HD 55 Pm 52458 Fast University ...">
            <a:extLst>
              <a:ext uri="{FF2B5EF4-FFF2-40B4-BE49-F238E27FC236}">
                <a16:creationId xmlns:a16="http://schemas.microsoft.com/office/drawing/2014/main" id="{7C0E69E7-0624-E377-FC31-A9DAAD9B9B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915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665921" y="581872"/>
            <a:ext cx="10389516" cy="842424"/>
          </a:xfrm>
        </p:spPr>
        <p:txBody>
          <a:bodyPr>
            <a:normAutofit/>
          </a:bodyPr>
          <a:lstStyle/>
          <a:p>
            <a:r>
              <a:rPr lang="en-US" b="1" dirty="0">
                <a:solidFill>
                  <a:schemeClr val="bg2">
                    <a:lumMod val="50000"/>
                  </a:schemeClr>
                </a:solidFill>
                <a:latin typeface="+mn-lt"/>
              </a:rPr>
              <a:t>AGILE OVERVIEW</a:t>
            </a:r>
            <a:endParaRPr lang="en-PK" sz="2800" b="1" dirty="0">
              <a:solidFill>
                <a:schemeClr val="bg2">
                  <a:lumMod val="50000"/>
                </a:schemeClr>
              </a:solidFill>
              <a:latin typeface="+mn-lt"/>
            </a:endParaRPr>
          </a:p>
        </p:txBody>
      </p:sp>
      <p:sp>
        <p:nvSpPr>
          <p:cNvPr id="9" name="Text Placeholder 8">
            <a:extLst>
              <a:ext uri="{FF2B5EF4-FFF2-40B4-BE49-F238E27FC236}">
                <a16:creationId xmlns:a16="http://schemas.microsoft.com/office/drawing/2014/main" id="{6B04F1F3-4564-F11E-C8DA-FC6F3788B8B9}"/>
              </a:ext>
            </a:extLst>
          </p:cNvPr>
          <p:cNvSpPr>
            <a:spLocks noGrp="1"/>
          </p:cNvSpPr>
          <p:nvPr>
            <p:ph idx="1"/>
          </p:nvPr>
        </p:nvSpPr>
        <p:spPr>
          <a:xfrm>
            <a:off x="665921" y="1424296"/>
            <a:ext cx="11171583" cy="4618695"/>
          </a:xfrm>
        </p:spPr>
        <p:txBody>
          <a:bodyPr>
            <a:normAutofit/>
          </a:bodyPr>
          <a:lstStyle/>
          <a:p>
            <a:pPr marL="358775" lvl="1" indent="-358775">
              <a:lnSpc>
                <a:spcPct val="170000"/>
              </a:lnSpc>
              <a:spcBef>
                <a:spcPts val="0"/>
              </a:spcBef>
            </a:pPr>
            <a:r>
              <a:rPr lang="en-US" sz="1500" b="1" dirty="0">
                <a:solidFill>
                  <a:srgbClr val="0070C0"/>
                </a:solidFill>
              </a:rPr>
              <a:t>What is Agile Methodology: </a:t>
            </a:r>
            <a:r>
              <a:rPr lang="en-US" sz="1500" dirty="0"/>
              <a:t>A project management framework that breaks projects down into several dynamic phases, known as sprints.</a:t>
            </a:r>
          </a:p>
          <a:p>
            <a:pPr marL="358775" lvl="1" indent="-358775">
              <a:lnSpc>
                <a:spcPct val="170000"/>
              </a:lnSpc>
              <a:spcBef>
                <a:spcPts val="0"/>
              </a:spcBef>
            </a:pPr>
            <a:r>
              <a:rPr lang="en-US" sz="1500" b="1" dirty="0">
                <a:solidFill>
                  <a:srgbClr val="0070C0"/>
                </a:solidFill>
              </a:rPr>
              <a:t>Why use Agile: </a:t>
            </a:r>
            <a:r>
              <a:rPr lang="en-US" sz="1500" dirty="0"/>
              <a:t>To accommodate shifting needs and priorities of customers</a:t>
            </a:r>
          </a:p>
          <a:p>
            <a:pPr marL="358775" lvl="1" indent="-358775">
              <a:lnSpc>
                <a:spcPct val="170000"/>
              </a:lnSpc>
              <a:spcBef>
                <a:spcPts val="0"/>
              </a:spcBef>
            </a:pPr>
            <a:r>
              <a:rPr lang="en-US" sz="1500" b="1" dirty="0">
                <a:solidFill>
                  <a:srgbClr val="0070C0"/>
                </a:solidFill>
              </a:rPr>
              <a:t>How it works: </a:t>
            </a:r>
            <a:r>
              <a:rPr lang="en-US" sz="1500" dirty="0"/>
              <a:t>An iterative process in which teams set goals for each sprint, then build, test, and review their work with stakeholders before moving to the next sprint. </a:t>
            </a:r>
          </a:p>
          <a:p>
            <a:pPr marL="358775" lvl="1" indent="-358775">
              <a:lnSpc>
                <a:spcPct val="170000"/>
              </a:lnSpc>
              <a:spcBef>
                <a:spcPts val="0"/>
              </a:spcBef>
            </a:pPr>
            <a:endParaRPr lang="en-PK" sz="1500" dirty="0"/>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2</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39837" y="6116081"/>
            <a:ext cx="10704425" cy="600164"/>
          </a:xfrm>
          <a:prstGeom prst="rect">
            <a:avLst/>
          </a:prstGeom>
          <a:noFill/>
        </p:spPr>
        <p:txBody>
          <a:bodyPr wrap="square" rtlCol="0">
            <a:spAutoFit/>
          </a:bodyPr>
          <a:lstStyle/>
          <a:p>
            <a:r>
              <a:rPr lang="en-US" sz="1100" dirty="0"/>
              <a:t>Source: asana; </a:t>
            </a:r>
            <a:r>
              <a:rPr lang="en-US" sz="1100" dirty="0">
                <a:hlinkClick r:id="rId3"/>
              </a:rPr>
              <a:t>https://asana.com/resources/agile-methodology</a:t>
            </a:r>
            <a:endParaRPr lang="en-US" sz="1100" dirty="0"/>
          </a:p>
          <a:p>
            <a:r>
              <a:rPr lang="en-US" sz="1100" dirty="0"/>
              <a:t>IT Chronicles: </a:t>
            </a:r>
            <a:r>
              <a:rPr lang="en-US" sz="1100" dirty="0">
                <a:hlinkClick r:id="rId4"/>
              </a:rPr>
              <a:t>https://itchronicles.com/agile/agile-methodology-what-it-means/</a:t>
            </a:r>
            <a:endParaRPr lang="en-US" sz="1100" dirty="0"/>
          </a:p>
          <a:p>
            <a:endParaRPr lang="en-PK" sz="1100" dirty="0"/>
          </a:p>
        </p:txBody>
      </p:sp>
      <p:pic>
        <p:nvPicPr>
          <p:cNvPr id="1028" name="Picture 4" descr="agile-methodology">
            <a:extLst>
              <a:ext uri="{FF2B5EF4-FFF2-40B4-BE49-F238E27FC236}">
                <a16:creationId xmlns:a16="http://schemas.microsoft.com/office/drawing/2014/main" id="{E349139E-83D7-672F-AC50-53841E93A3A0}"/>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434349" y="3429000"/>
            <a:ext cx="8915400" cy="250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7379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p:txBody>
          <a:bodyPr>
            <a:normAutofit/>
          </a:bodyPr>
          <a:lstStyle/>
          <a:p>
            <a:r>
              <a:rPr lang="en-US" b="1" dirty="0">
                <a:solidFill>
                  <a:schemeClr val="bg2">
                    <a:lumMod val="50000"/>
                  </a:schemeClr>
                </a:solidFill>
                <a:latin typeface="+mn-lt"/>
              </a:rPr>
              <a:t>AGILE CONCEPTS</a:t>
            </a:r>
            <a:endParaRPr lang="en-PK" sz="2800" b="1" dirty="0">
              <a:solidFill>
                <a:schemeClr val="bg2">
                  <a:lumMod val="50000"/>
                </a:schemeClr>
              </a:solidFill>
              <a:latin typeface="+mn-lt"/>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3</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9">
            <a:extLst>
              <a:ext uri="{FF2B5EF4-FFF2-40B4-BE49-F238E27FC236}">
                <a16:creationId xmlns:a16="http://schemas.microsoft.com/office/drawing/2014/main" id="{31A6037D-1363-DC9E-C8E6-E1D88FFE0CAD}"/>
              </a:ext>
            </a:extLst>
          </p:cNvPr>
          <p:cNvSpPr>
            <a:spLocks noGrp="1"/>
          </p:cNvSpPr>
          <p:nvPr>
            <p:ph idx="1"/>
          </p:nvPr>
        </p:nvSpPr>
        <p:spPr>
          <a:xfrm>
            <a:off x="838200" y="1585913"/>
            <a:ext cx="10772776" cy="4386261"/>
          </a:xfrm>
        </p:spPr>
        <p:txBody>
          <a:bodyPr>
            <a:normAutofit lnSpcReduction="10000"/>
          </a:bodyPr>
          <a:lstStyle/>
          <a:p>
            <a:pPr>
              <a:spcAft>
                <a:spcPts val="800"/>
              </a:spcAft>
            </a:pPr>
            <a:r>
              <a:rPr lang="en-US" sz="1600" b="0" i="0" dirty="0">
                <a:solidFill>
                  <a:srgbClr val="0D0D0D"/>
                </a:solidFill>
                <a:effectLst/>
              </a:rPr>
              <a:t>“</a:t>
            </a:r>
            <a:r>
              <a:rPr lang="en-US" sz="1600" b="1" i="0" dirty="0">
                <a:solidFill>
                  <a:srgbClr val="0070C0"/>
                </a:solidFill>
                <a:effectLst/>
              </a:rPr>
              <a:t>Sprint</a:t>
            </a:r>
            <a:r>
              <a:rPr lang="en-US" sz="1600" b="0" i="0" dirty="0">
                <a:solidFill>
                  <a:srgbClr val="0D0D0D"/>
                </a:solidFill>
                <a:effectLst/>
              </a:rPr>
              <a:t>: A short work cycle, usually one to four weeks, where teams commit to completing specific tasks.</a:t>
            </a:r>
          </a:p>
          <a:p>
            <a:pPr algn="l" fontAlgn="auto">
              <a:spcAft>
                <a:spcPts val="800"/>
              </a:spcAft>
              <a:buFont typeface="Arial" panose="020B0604020202020204" pitchFamily="34" charset="0"/>
              <a:buChar char="•"/>
            </a:pPr>
            <a:r>
              <a:rPr lang="en-US" sz="1600" b="1" i="0" dirty="0">
                <a:solidFill>
                  <a:srgbClr val="0070C0"/>
                </a:solidFill>
                <a:effectLst/>
              </a:rPr>
              <a:t>Product backlog</a:t>
            </a:r>
            <a:r>
              <a:rPr lang="en-US" sz="1600" b="0" i="0" dirty="0">
                <a:solidFill>
                  <a:srgbClr val="0D0D0D"/>
                </a:solidFill>
                <a:effectLst/>
              </a:rPr>
              <a:t>: A prioritized list of features, fixes, and tasks that guide what the team will work on next.</a:t>
            </a:r>
          </a:p>
          <a:p>
            <a:pPr algn="l" fontAlgn="auto">
              <a:spcAft>
                <a:spcPts val="800"/>
              </a:spcAft>
              <a:buFont typeface="Arial" panose="020B0604020202020204" pitchFamily="34" charset="0"/>
              <a:buChar char="•"/>
            </a:pPr>
            <a:r>
              <a:rPr lang="en-US" sz="1600" b="1" i="0" dirty="0">
                <a:solidFill>
                  <a:srgbClr val="0070C0"/>
                </a:solidFill>
                <a:effectLst/>
              </a:rPr>
              <a:t>Sprint backlog</a:t>
            </a:r>
            <a:r>
              <a:rPr lang="en-US" sz="1600" b="0" i="0" dirty="0">
                <a:solidFill>
                  <a:srgbClr val="0D0D0D"/>
                </a:solidFill>
                <a:effectLst/>
              </a:rPr>
              <a:t>: The selected items from the product backlog (prioritized list of functions) that the team plans to finish.</a:t>
            </a:r>
          </a:p>
          <a:p>
            <a:pPr algn="l" fontAlgn="auto">
              <a:spcAft>
                <a:spcPts val="800"/>
              </a:spcAft>
              <a:buFont typeface="Arial" panose="020B0604020202020204" pitchFamily="34" charset="0"/>
              <a:buChar char="•"/>
            </a:pPr>
            <a:r>
              <a:rPr lang="en-US" sz="1600" b="1" i="0" dirty="0">
                <a:solidFill>
                  <a:srgbClr val="0070C0"/>
                </a:solidFill>
                <a:effectLst/>
              </a:rPr>
              <a:t>Standup</a:t>
            </a:r>
            <a:r>
              <a:rPr lang="en-US" sz="1600" b="0" i="0" dirty="0">
                <a:solidFill>
                  <a:srgbClr val="0D0D0D"/>
                </a:solidFill>
                <a:effectLst/>
              </a:rPr>
              <a:t>: A short daily meeting where team members share progress, plans, and roadblocks.</a:t>
            </a:r>
          </a:p>
          <a:p>
            <a:pPr algn="l" fontAlgn="auto">
              <a:spcAft>
                <a:spcPts val="800"/>
              </a:spcAft>
              <a:buFont typeface="Arial" panose="020B0604020202020204" pitchFamily="34" charset="0"/>
              <a:buChar char="•"/>
            </a:pPr>
            <a:r>
              <a:rPr lang="en-US" sz="1600" b="1" i="0" dirty="0">
                <a:solidFill>
                  <a:srgbClr val="0070C0"/>
                </a:solidFill>
                <a:effectLst/>
              </a:rPr>
              <a:t>Iteration</a:t>
            </a:r>
            <a:r>
              <a:rPr lang="en-US" sz="1600" b="0" i="0" dirty="0">
                <a:solidFill>
                  <a:srgbClr val="0D0D0D"/>
                </a:solidFill>
                <a:effectLst/>
              </a:rPr>
              <a:t>: A repeated cycle of planning, building, testing, and reviewing work to improve outcomes.</a:t>
            </a:r>
          </a:p>
          <a:p>
            <a:pPr algn="l" fontAlgn="auto">
              <a:spcAft>
                <a:spcPts val="800"/>
              </a:spcAft>
              <a:buFont typeface="Arial" panose="020B0604020202020204" pitchFamily="34" charset="0"/>
              <a:buChar char="•"/>
            </a:pPr>
            <a:r>
              <a:rPr lang="en-US" sz="1600" b="1" i="0" dirty="0">
                <a:solidFill>
                  <a:srgbClr val="0070C0"/>
                </a:solidFill>
                <a:effectLst/>
              </a:rPr>
              <a:t>User story</a:t>
            </a:r>
            <a:r>
              <a:rPr lang="en-US" sz="1600" b="0" i="0" dirty="0">
                <a:solidFill>
                  <a:srgbClr val="0D0D0D"/>
                </a:solidFill>
                <a:effectLst/>
              </a:rPr>
              <a:t>: A brief explanation of a feature from the end user's perspective, often used to define requirements.</a:t>
            </a:r>
          </a:p>
          <a:p>
            <a:pPr algn="l" fontAlgn="auto">
              <a:spcAft>
                <a:spcPts val="800"/>
              </a:spcAft>
              <a:buFont typeface="Arial" panose="020B0604020202020204" pitchFamily="34" charset="0"/>
              <a:buChar char="•"/>
            </a:pPr>
            <a:r>
              <a:rPr lang="en-US" sz="1600" b="1" i="0" dirty="0">
                <a:solidFill>
                  <a:srgbClr val="0070C0"/>
                </a:solidFill>
                <a:effectLst/>
              </a:rPr>
              <a:t>Epic</a:t>
            </a:r>
            <a:r>
              <a:rPr lang="en-US" sz="1600" b="0" i="0" dirty="0">
                <a:solidFill>
                  <a:srgbClr val="0D0D0D"/>
                </a:solidFill>
                <a:effectLst/>
              </a:rPr>
              <a:t>: A large work item made up of multiple user stories that span several sprints.</a:t>
            </a:r>
          </a:p>
          <a:p>
            <a:pPr algn="l" fontAlgn="auto">
              <a:spcAft>
                <a:spcPts val="800"/>
              </a:spcAft>
              <a:buFont typeface="Arial" panose="020B0604020202020204" pitchFamily="34" charset="0"/>
              <a:buChar char="•"/>
            </a:pPr>
            <a:r>
              <a:rPr lang="en-US" sz="1600" b="1" i="0" dirty="0">
                <a:solidFill>
                  <a:srgbClr val="0070C0"/>
                </a:solidFill>
                <a:effectLst/>
              </a:rPr>
              <a:t>Velocity</a:t>
            </a:r>
            <a:r>
              <a:rPr lang="en-US" sz="1600" b="0" i="0" dirty="0">
                <a:solidFill>
                  <a:srgbClr val="0D0D0D"/>
                </a:solidFill>
                <a:effectLst/>
              </a:rPr>
              <a:t>: A metric showing how much work a team completes in a sprint, often measured in story points.</a:t>
            </a:r>
          </a:p>
          <a:p>
            <a:pPr algn="l" fontAlgn="auto">
              <a:spcAft>
                <a:spcPts val="800"/>
              </a:spcAft>
              <a:buFont typeface="Arial" panose="020B0604020202020204" pitchFamily="34" charset="0"/>
              <a:buChar char="•"/>
            </a:pPr>
            <a:r>
              <a:rPr lang="en-US" sz="1600" b="1" i="0" dirty="0">
                <a:solidFill>
                  <a:srgbClr val="0070C0"/>
                </a:solidFill>
                <a:effectLst/>
              </a:rPr>
              <a:t>Burndown chart</a:t>
            </a:r>
            <a:r>
              <a:rPr lang="en-US" sz="1600" b="0" i="0" dirty="0">
                <a:solidFill>
                  <a:srgbClr val="0D0D0D"/>
                </a:solidFill>
                <a:effectLst/>
              </a:rPr>
              <a:t>: A visual tool that tracks remaining work against the time left in a sprint or project.</a:t>
            </a:r>
          </a:p>
          <a:p>
            <a:pPr algn="l" fontAlgn="auto">
              <a:spcAft>
                <a:spcPts val="800"/>
              </a:spcAft>
              <a:buFont typeface="Arial" panose="020B0604020202020204" pitchFamily="34" charset="0"/>
              <a:buChar char="•"/>
            </a:pPr>
            <a:r>
              <a:rPr lang="en-US" sz="1600" b="1" i="0" dirty="0">
                <a:solidFill>
                  <a:srgbClr val="0070C0"/>
                </a:solidFill>
                <a:effectLst/>
              </a:rPr>
              <a:t>Work in progress (WIP)</a:t>
            </a:r>
            <a:r>
              <a:rPr lang="en-US" sz="1600" b="0" i="0" dirty="0">
                <a:solidFill>
                  <a:srgbClr val="0D0D0D"/>
                </a:solidFill>
                <a:effectLst/>
              </a:rPr>
              <a:t>: The tasks currently being worked on; limiting WIP helps prevent bottlenecks and delays.”</a:t>
            </a:r>
          </a:p>
          <a:p>
            <a:pPr>
              <a:spcAft>
                <a:spcPts val="800"/>
              </a:spcAft>
            </a:pPr>
            <a:endParaRPr lang="en-PK" sz="1600" dirty="0"/>
          </a:p>
        </p:txBody>
      </p:sp>
      <p:sp>
        <p:nvSpPr>
          <p:cNvPr id="12" name="TextBox 11">
            <a:extLst>
              <a:ext uri="{FF2B5EF4-FFF2-40B4-BE49-F238E27FC236}">
                <a16:creationId xmlns:a16="http://schemas.microsoft.com/office/drawing/2014/main" id="{8E8702EB-3B8A-61D6-2986-971413219AB1}"/>
              </a:ext>
            </a:extLst>
          </p:cNvPr>
          <p:cNvSpPr txBox="1"/>
          <p:nvPr/>
        </p:nvSpPr>
        <p:spPr>
          <a:xfrm>
            <a:off x="539837" y="6266212"/>
            <a:ext cx="10704425" cy="430887"/>
          </a:xfrm>
          <a:prstGeom prst="rect">
            <a:avLst/>
          </a:prstGeom>
          <a:noFill/>
        </p:spPr>
        <p:txBody>
          <a:bodyPr wrap="square" rtlCol="0">
            <a:spAutoFit/>
          </a:bodyPr>
          <a:lstStyle/>
          <a:p>
            <a:r>
              <a:rPr lang="en-US" sz="1100" dirty="0"/>
              <a:t>Source: asana; </a:t>
            </a:r>
            <a:r>
              <a:rPr lang="en-US" sz="1100" dirty="0">
                <a:hlinkClick r:id="rId3"/>
              </a:rPr>
              <a:t>https://asana.com/resources/agile-methodology</a:t>
            </a:r>
            <a:endParaRPr lang="en-US" sz="1100" dirty="0"/>
          </a:p>
          <a:p>
            <a:endParaRPr lang="en-PK" sz="1100" dirty="0"/>
          </a:p>
        </p:txBody>
      </p:sp>
    </p:spTree>
    <p:extLst>
      <p:ext uri="{BB962C8B-B14F-4D97-AF65-F5344CB8AC3E}">
        <p14:creationId xmlns:p14="http://schemas.microsoft.com/office/powerpoint/2010/main" val="1803135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38200" y="885857"/>
            <a:ext cx="10515600" cy="913455"/>
          </a:xfrm>
        </p:spPr>
        <p:txBody>
          <a:bodyPr>
            <a:normAutofit/>
          </a:bodyPr>
          <a:lstStyle/>
          <a:p>
            <a:r>
              <a:rPr lang="en-US" b="1" dirty="0">
                <a:solidFill>
                  <a:schemeClr val="bg2">
                    <a:lumMod val="50000"/>
                  </a:schemeClr>
                </a:solidFill>
                <a:latin typeface="+mn-lt"/>
              </a:rPr>
              <a:t>FOUR PILLARS OF AGILE</a:t>
            </a:r>
            <a:endParaRPr lang="en-PK" sz="2800" b="1" dirty="0">
              <a:solidFill>
                <a:schemeClr val="bg2">
                  <a:lumMod val="50000"/>
                </a:schemeClr>
              </a:solidFill>
              <a:latin typeface="+mn-lt"/>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4</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9">
            <a:extLst>
              <a:ext uri="{FF2B5EF4-FFF2-40B4-BE49-F238E27FC236}">
                <a16:creationId xmlns:a16="http://schemas.microsoft.com/office/drawing/2014/main" id="{31A6037D-1363-DC9E-C8E6-E1D88FFE0CAD}"/>
              </a:ext>
            </a:extLst>
          </p:cNvPr>
          <p:cNvSpPr>
            <a:spLocks noGrp="1"/>
          </p:cNvSpPr>
          <p:nvPr>
            <p:ph idx="1"/>
          </p:nvPr>
        </p:nvSpPr>
        <p:spPr>
          <a:xfrm>
            <a:off x="838200" y="1964975"/>
            <a:ext cx="10515600" cy="4211988"/>
          </a:xfrm>
        </p:spPr>
        <p:txBody>
          <a:bodyPr>
            <a:normAutofit/>
          </a:bodyPr>
          <a:lstStyle/>
          <a:p>
            <a:pPr algn="l" fontAlgn="auto">
              <a:lnSpc>
                <a:spcPct val="150000"/>
              </a:lnSpc>
              <a:spcAft>
                <a:spcPts val="1000"/>
              </a:spcAft>
              <a:buFont typeface="Arial" panose="020B0604020202020204" pitchFamily="34" charset="0"/>
              <a:buChar char="•"/>
            </a:pPr>
            <a:r>
              <a:rPr lang="en-US" sz="1600" b="1" i="0" dirty="0">
                <a:solidFill>
                  <a:srgbClr val="0070C0"/>
                </a:solidFill>
                <a:effectLst/>
              </a:rPr>
              <a:t>Individuals over processes and tools</a:t>
            </a:r>
            <a:r>
              <a:rPr lang="en-US" sz="1600" b="0" i="0" dirty="0">
                <a:solidFill>
                  <a:srgbClr val="0D0D0D"/>
                </a:solidFill>
                <a:effectLst/>
              </a:rPr>
              <a:t>. Agile teams value team collaboration and teamwork over working independently</a:t>
            </a:r>
          </a:p>
          <a:p>
            <a:pPr algn="l" fontAlgn="auto">
              <a:lnSpc>
                <a:spcPct val="150000"/>
              </a:lnSpc>
              <a:spcAft>
                <a:spcPts val="1000"/>
              </a:spcAft>
              <a:buFont typeface="Arial" panose="020B0604020202020204" pitchFamily="34" charset="0"/>
              <a:buChar char="•"/>
            </a:pPr>
            <a:r>
              <a:rPr lang="en-US" sz="1600" b="1" i="0" dirty="0">
                <a:solidFill>
                  <a:srgbClr val="0070C0"/>
                </a:solidFill>
                <a:effectLst/>
              </a:rPr>
              <a:t>Working software over comprehensive documentation</a:t>
            </a:r>
            <a:r>
              <a:rPr lang="en-US" sz="1600" b="0" i="0" dirty="0">
                <a:solidFill>
                  <a:srgbClr val="0D0D0D"/>
                </a:solidFill>
                <a:effectLst/>
              </a:rPr>
              <a:t>. The software that Agile teams develop should work; additional work, like documentation, is not as important</a:t>
            </a:r>
          </a:p>
          <a:p>
            <a:pPr algn="l" fontAlgn="auto">
              <a:lnSpc>
                <a:spcPct val="150000"/>
              </a:lnSpc>
              <a:spcAft>
                <a:spcPts val="1000"/>
              </a:spcAft>
              <a:buFont typeface="Arial" panose="020B0604020202020204" pitchFamily="34" charset="0"/>
              <a:buChar char="•"/>
            </a:pPr>
            <a:r>
              <a:rPr lang="en-US" sz="1600" b="1" i="0" dirty="0">
                <a:solidFill>
                  <a:srgbClr val="0070C0"/>
                </a:solidFill>
                <a:effectLst/>
              </a:rPr>
              <a:t>Customer collaboration over contract negotiation</a:t>
            </a:r>
            <a:r>
              <a:rPr lang="en-US" sz="1600" b="0" i="0" dirty="0">
                <a:solidFill>
                  <a:srgbClr val="0D0D0D"/>
                </a:solidFill>
                <a:effectLst/>
              </a:rPr>
              <a:t>. Customers are extremely important within the Agile methodology; customer collaboration is more important than the finer details of contract negotiation</a:t>
            </a:r>
          </a:p>
          <a:p>
            <a:pPr algn="l" fontAlgn="auto">
              <a:lnSpc>
                <a:spcPct val="150000"/>
              </a:lnSpc>
              <a:spcAft>
                <a:spcPts val="1000"/>
              </a:spcAft>
              <a:buFont typeface="Arial" panose="020B0604020202020204" pitchFamily="34" charset="0"/>
              <a:buChar char="•"/>
            </a:pPr>
            <a:r>
              <a:rPr lang="en-US" sz="1600" b="1" i="0" dirty="0">
                <a:solidFill>
                  <a:srgbClr val="0070C0"/>
                </a:solidFill>
                <a:effectLst/>
              </a:rPr>
              <a:t>Responding to change over following a plan</a:t>
            </a:r>
            <a:r>
              <a:rPr lang="en-US" sz="1600" b="0" i="0" dirty="0">
                <a:solidFill>
                  <a:srgbClr val="0D0D0D"/>
                </a:solidFill>
                <a:effectLst/>
              </a:rPr>
              <a:t>. Agile project management is very flexible; allows teams to quickly shift strategies and workflows without derailing an entire project.</a:t>
            </a:r>
            <a:endParaRPr lang="en-PK" sz="1600" dirty="0"/>
          </a:p>
        </p:txBody>
      </p:sp>
      <p:sp>
        <p:nvSpPr>
          <p:cNvPr id="3" name="TextBox 2">
            <a:extLst>
              <a:ext uri="{FF2B5EF4-FFF2-40B4-BE49-F238E27FC236}">
                <a16:creationId xmlns:a16="http://schemas.microsoft.com/office/drawing/2014/main" id="{EC0E83E9-3BB3-35E1-1C5D-431C3B8275ED}"/>
              </a:ext>
            </a:extLst>
          </p:cNvPr>
          <p:cNvSpPr txBox="1"/>
          <p:nvPr/>
        </p:nvSpPr>
        <p:spPr>
          <a:xfrm>
            <a:off x="539837" y="6266212"/>
            <a:ext cx="10704425" cy="430887"/>
          </a:xfrm>
          <a:prstGeom prst="rect">
            <a:avLst/>
          </a:prstGeom>
          <a:noFill/>
        </p:spPr>
        <p:txBody>
          <a:bodyPr wrap="square" rtlCol="0">
            <a:spAutoFit/>
          </a:bodyPr>
          <a:lstStyle/>
          <a:p>
            <a:r>
              <a:rPr lang="en-US" sz="1100" dirty="0"/>
              <a:t>Source: asana; </a:t>
            </a:r>
            <a:r>
              <a:rPr lang="en-US" sz="1100" dirty="0">
                <a:hlinkClick r:id="rId3"/>
              </a:rPr>
              <a:t>https://asana.com/resources/agile-methodology</a:t>
            </a:r>
            <a:endParaRPr lang="en-US" sz="1100" dirty="0"/>
          </a:p>
          <a:p>
            <a:endParaRPr lang="en-PK" sz="1100" dirty="0"/>
          </a:p>
        </p:txBody>
      </p:sp>
    </p:spTree>
    <p:extLst>
      <p:ext uri="{BB962C8B-B14F-4D97-AF65-F5344CB8AC3E}">
        <p14:creationId xmlns:p14="http://schemas.microsoft.com/office/powerpoint/2010/main" val="1526574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38200" y="744110"/>
            <a:ext cx="10515600" cy="946578"/>
          </a:xfrm>
        </p:spPr>
        <p:txBody>
          <a:bodyPr>
            <a:normAutofit/>
          </a:bodyPr>
          <a:lstStyle/>
          <a:p>
            <a:r>
              <a:rPr lang="en-US" b="1" dirty="0">
                <a:solidFill>
                  <a:schemeClr val="bg2">
                    <a:lumMod val="50000"/>
                  </a:schemeClr>
                </a:solidFill>
                <a:latin typeface="+mn-lt"/>
              </a:rPr>
              <a:t>DIFFERENT TYPES OF AGILE METHODOLIGIES</a:t>
            </a:r>
            <a:endParaRPr lang="en-PK" sz="2800" b="1" dirty="0">
              <a:solidFill>
                <a:schemeClr val="bg2">
                  <a:lumMod val="50000"/>
                </a:schemeClr>
              </a:solidFill>
              <a:latin typeface="+mn-lt"/>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5</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9">
            <a:extLst>
              <a:ext uri="{FF2B5EF4-FFF2-40B4-BE49-F238E27FC236}">
                <a16:creationId xmlns:a16="http://schemas.microsoft.com/office/drawing/2014/main" id="{31A6037D-1363-DC9E-C8E6-E1D88FFE0CAD}"/>
              </a:ext>
            </a:extLst>
          </p:cNvPr>
          <p:cNvSpPr>
            <a:spLocks noGrp="1"/>
          </p:cNvSpPr>
          <p:nvPr>
            <p:ph idx="1"/>
          </p:nvPr>
        </p:nvSpPr>
        <p:spPr/>
        <p:txBody>
          <a:bodyPr>
            <a:normAutofit/>
          </a:bodyPr>
          <a:lstStyle/>
          <a:p>
            <a:pPr algn="l" fontAlgn="auto">
              <a:spcAft>
                <a:spcPts val="1000"/>
              </a:spcAft>
              <a:buFont typeface="Arial" panose="020B0604020202020204" pitchFamily="34" charset="0"/>
              <a:buChar char="•"/>
            </a:pPr>
            <a:r>
              <a:rPr lang="en-US" sz="1600" b="1" i="0" dirty="0">
                <a:solidFill>
                  <a:srgbClr val="0070C0"/>
                </a:solidFill>
                <a:effectLst/>
              </a:rPr>
              <a:t>Kanban</a:t>
            </a:r>
            <a:r>
              <a:rPr lang="en-US" sz="1600" b="0" i="0" dirty="0">
                <a:solidFill>
                  <a:srgbClr val="0D0D0D"/>
                </a:solidFill>
                <a:effectLst/>
              </a:rPr>
              <a:t> is a visual approach to Agile; teams use online Kanban boards to show work in progress as tasks move through each stage of development.</a:t>
            </a:r>
          </a:p>
          <a:p>
            <a:pPr algn="l" fontAlgn="auto">
              <a:spcAft>
                <a:spcPts val="1000"/>
              </a:spcAft>
              <a:buFont typeface="Arial" panose="020B0604020202020204" pitchFamily="34" charset="0"/>
              <a:buChar char="•"/>
            </a:pPr>
            <a:r>
              <a:rPr lang="en-US" sz="1600" b="1" i="0" dirty="0">
                <a:solidFill>
                  <a:srgbClr val="0070C0"/>
                </a:solidFill>
                <a:effectLst/>
              </a:rPr>
              <a:t>Scrum</a:t>
            </a:r>
            <a:r>
              <a:rPr lang="en-US" sz="1600" b="0" i="0" dirty="0">
                <a:solidFill>
                  <a:srgbClr val="0D0D0D"/>
                </a:solidFill>
                <a:effectLst/>
              </a:rPr>
              <a:t> is a popular Agile methodology used by small teams and also involves sprints. </a:t>
            </a:r>
          </a:p>
          <a:p>
            <a:pPr lvl="1" indent="-419100">
              <a:spcAft>
                <a:spcPts val="1000"/>
              </a:spcAft>
              <a:buFont typeface="Courier New" panose="02070309020205020404" pitchFamily="49" charset="0"/>
              <a:buChar char="o"/>
            </a:pPr>
            <a:r>
              <a:rPr lang="en-US" sz="1400" b="0" i="0" dirty="0">
                <a:solidFill>
                  <a:srgbClr val="0D0D0D"/>
                </a:solidFill>
                <a:effectLst/>
              </a:rPr>
              <a:t>The team is led by a Scrum master whose primary role is to remove obstacles so team members can focus on their daily tasks. </a:t>
            </a:r>
          </a:p>
          <a:p>
            <a:pPr lvl="1" indent="-419100">
              <a:spcAft>
                <a:spcPts val="1000"/>
              </a:spcAft>
              <a:buFont typeface="Courier New" panose="02070309020205020404" pitchFamily="49" charset="0"/>
              <a:buChar char="o"/>
            </a:pPr>
            <a:r>
              <a:rPr lang="en-US" sz="1400" b="0" i="0" dirty="0">
                <a:solidFill>
                  <a:srgbClr val="0D0D0D"/>
                </a:solidFill>
                <a:effectLst/>
              </a:rPr>
              <a:t>Scrum teams hold daily meetings to discuss ongoing tasks, roadblocks, and other issues that might impact the development process.</a:t>
            </a:r>
          </a:p>
          <a:p>
            <a:pPr algn="l" fontAlgn="auto">
              <a:spcAft>
                <a:spcPts val="1000"/>
              </a:spcAft>
              <a:buFont typeface="Arial" panose="020B0604020202020204" pitchFamily="34" charset="0"/>
              <a:buChar char="•"/>
            </a:pPr>
            <a:r>
              <a:rPr lang="en-US" sz="1600" b="1" i="0" dirty="0">
                <a:solidFill>
                  <a:srgbClr val="0070C0"/>
                </a:solidFill>
                <a:effectLst/>
              </a:rPr>
              <a:t>Extreme Programming (XP) </a:t>
            </a:r>
            <a:r>
              <a:rPr lang="en-US" sz="1600" b="0" i="0" dirty="0">
                <a:solidFill>
                  <a:srgbClr val="0D0D0D"/>
                </a:solidFill>
                <a:effectLst/>
              </a:rPr>
              <a:t>emphasizes team values to improve collaboration. It has 5e core values that guide how developers interact and make decisions throughout the project:</a:t>
            </a:r>
          </a:p>
          <a:p>
            <a:pPr lvl="1" indent="-419100">
              <a:spcBef>
                <a:spcPts val="0"/>
              </a:spcBef>
              <a:buFont typeface="Courier New" panose="02070309020205020404" pitchFamily="49" charset="0"/>
              <a:buChar char="o"/>
            </a:pPr>
            <a:r>
              <a:rPr lang="en-US" sz="1400" dirty="0">
                <a:solidFill>
                  <a:srgbClr val="0D0D0D"/>
                </a:solidFill>
              </a:rPr>
              <a:t>C</a:t>
            </a:r>
            <a:r>
              <a:rPr lang="en-US" sz="1400" b="0" i="0" dirty="0">
                <a:solidFill>
                  <a:srgbClr val="0D0D0D"/>
                </a:solidFill>
                <a:effectLst/>
              </a:rPr>
              <a:t>ommunication</a:t>
            </a:r>
          </a:p>
          <a:p>
            <a:pPr lvl="1" indent="-419100">
              <a:spcBef>
                <a:spcPts val="0"/>
              </a:spcBef>
              <a:buFont typeface="Courier New" panose="02070309020205020404" pitchFamily="49" charset="0"/>
              <a:buChar char="o"/>
            </a:pPr>
            <a:r>
              <a:rPr lang="en-US" sz="1400" dirty="0">
                <a:solidFill>
                  <a:srgbClr val="0D0D0D"/>
                </a:solidFill>
              </a:rPr>
              <a:t>S</a:t>
            </a:r>
            <a:r>
              <a:rPr lang="en-US" sz="1400" b="0" i="0" dirty="0">
                <a:solidFill>
                  <a:srgbClr val="0D0D0D"/>
                </a:solidFill>
                <a:effectLst/>
              </a:rPr>
              <a:t>implicity</a:t>
            </a:r>
          </a:p>
          <a:p>
            <a:pPr lvl="1" indent="-419100">
              <a:spcBef>
                <a:spcPts val="0"/>
              </a:spcBef>
              <a:buFont typeface="Courier New" panose="02070309020205020404" pitchFamily="49" charset="0"/>
              <a:buChar char="o"/>
            </a:pPr>
            <a:r>
              <a:rPr lang="en-US" sz="1400" dirty="0">
                <a:solidFill>
                  <a:srgbClr val="0D0D0D"/>
                </a:solidFill>
              </a:rPr>
              <a:t>F</a:t>
            </a:r>
            <a:r>
              <a:rPr lang="en-US" sz="1400" b="0" i="0" dirty="0">
                <a:solidFill>
                  <a:srgbClr val="0D0D0D"/>
                </a:solidFill>
                <a:effectLst/>
              </a:rPr>
              <a:t>eedback</a:t>
            </a:r>
          </a:p>
          <a:p>
            <a:pPr lvl="1" indent="-419100">
              <a:spcBef>
                <a:spcPts val="0"/>
              </a:spcBef>
              <a:buFont typeface="Courier New" panose="02070309020205020404" pitchFamily="49" charset="0"/>
              <a:buChar char="o"/>
            </a:pPr>
            <a:r>
              <a:rPr lang="en-US" sz="1400" b="0" i="0" dirty="0">
                <a:solidFill>
                  <a:srgbClr val="0D0D0D"/>
                </a:solidFill>
                <a:effectLst/>
              </a:rPr>
              <a:t>Courage</a:t>
            </a:r>
          </a:p>
          <a:p>
            <a:pPr lvl="1" indent="-419100">
              <a:spcBef>
                <a:spcPts val="0"/>
              </a:spcBef>
              <a:buFont typeface="Courier New" panose="02070309020205020404" pitchFamily="49" charset="0"/>
              <a:buChar char="o"/>
            </a:pPr>
            <a:r>
              <a:rPr lang="en-US" sz="1400" b="0" i="0" dirty="0">
                <a:solidFill>
                  <a:srgbClr val="0D0D0D"/>
                </a:solidFill>
                <a:effectLst/>
              </a:rPr>
              <a:t>Respect</a:t>
            </a:r>
          </a:p>
          <a:p>
            <a:pPr algn="l" fontAlgn="auto">
              <a:spcAft>
                <a:spcPts val="1000"/>
              </a:spcAft>
              <a:buFont typeface="Arial" panose="020B0604020202020204" pitchFamily="34" charset="0"/>
              <a:buChar char="•"/>
            </a:pPr>
            <a:r>
              <a:rPr lang="en-US" sz="1600" b="1" i="0" dirty="0">
                <a:solidFill>
                  <a:srgbClr val="0070C0"/>
                </a:solidFill>
                <a:effectLst/>
              </a:rPr>
              <a:t>The Adaptive Project Framework </a:t>
            </a:r>
            <a:r>
              <a:rPr lang="en-US" sz="1600" b="0" i="0" dirty="0">
                <a:solidFill>
                  <a:srgbClr val="0D0D0D"/>
                </a:solidFill>
                <a:effectLst/>
              </a:rPr>
              <a:t>acknowledges that unknown factors can emerge and budgets, timelines, and team composition may have to be modified</a:t>
            </a:r>
            <a:endParaRPr lang="en-PK" sz="1600" dirty="0"/>
          </a:p>
        </p:txBody>
      </p:sp>
      <p:sp>
        <p:nvSpPr>
          <p:cNvPr id="3" name="TextBox 2">
            <a:extLst>
              <a:ext uri="{FF2B5EF4-FFF2-40B4-BE49-F238E27FC236}">
                <a16:creationId xmlns:a16="http://schemas.microsoft.com/office/drawing/2014/main" id="{CF9819E1-A68F-379D-6BB1-4CAD981187A1}"/>
              </a:ext>
            </a:extLst>
          </p:cNvPr>
          <p:cNvSpPr txBox="1"/>
          <p:nvPr/>
        </p:nvSpPr>
        <p:spPr>
          <a:xfrm>
            <a:off x="539837" y="6266212"/>
            <a:ext cx="10704425" cy="430887"/>
          </a:xfrm>
          <a:prstGeom prst="rect">
            <a:avLst/>
          </a:prstGeom>
          <a:noFill/>
        </p:spPr>
        <p:txBody>
          <a:bodyPr wrap="square" rtlCol="0">
            <a:spAutoFit/>
          </a:bodyPr>
          <a:lstStyle/>
          <a:p>
            <a:r>
              <a:rPr lang="en-US" sz="1100" dirty="0"/>
              <a:t>Source: asana; </a:t>
            </a:r>
            <a:r>
              <a:rPr lang="en-US" sz="1100" dirty="0">
                <a:hlinkClick r:id="rId3"/>
              </a:rPr>
              <a:t>https://asana.com/resources/agile-methodology</a:t>
            </a:r>
            <a:endParaRPr lang="en-US" sz="1100" dirty="0"/>
          </a:p>
          <a:p>
            <a:endParaRPr lang="en-PK" sz="1100" dirty="0"/>
          </a:p>
        </p:txBody>
      </p:sp>
    </p:spTree>
    <p:extLst>
      <p:ext uri="{BB962C8B-B14F-4D97-AF65-F5344CB8AC3E}">
        <p14:creationId xmlns:p14="http://schemas.microsoft.com/office/powerpoint/2010/main" val="879616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38200" y="814388"/>
            <a:ext cx="10515600" cy="876300"/>
          </a:xfrm>
        </p:spPr>
        <p:txBody>
          <a:bodyPr>
            <a:normAutofit/>
          </a:bodyPr>
          <a:lstStyle/>
          <a:p>
            <a:r>
              <a:rPr lang="en-US" b="1" dirty="0">
                <a:solidFill>
                  <a:schemeClr val="bg2">
                    <a:lumMod val="50000"/>
                  </a:schemeClr>
                </a:solidFill>
                <a:latin typeface="+mn-lt"/>
              </a:rPr>
              <a:t>AGILE VS. WATERFALL METHODOLOGY</a:t>
            </a:r>
            <a:endParaRPr lang="en-PK" b="1" dirty="0">
              <a:solidFill>
                <a:schemeClr val="bg2">
                  <a:lumMod val="50000"/>
                </a:schemeClr>
              </a:solidFill>
              <a:latin typeface="+mn-lt"/>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6</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F9819E1-A68F-379D-6BB1-4CAD981187A1}"/>
              </a:ext>
            </a:extLst>
          </p:cNvPr>
          <p:cNvSpPr txBox="1"/>
          <p:nvPr/>
        </p:nvSpPr>
        <p:spPr>
          <a:xfrm>
            <a:off x="539837" y="6266212"/>
            <a:ext cx="10704425" cy="430887"/>
          </a:xfrm>
          <a:prstGeom prst="rect">
            <a:avLst/>
          </a:prstGeom>
          <a:noFill/>
        </p:spPr>
        <p:txBody>
          <a:bodyPr wrap="square" rtlCol="0">
            <a:spAutoFit/>
          </a:bodyPr>
          <a:lstStyle/>
          <a:p>
            <a:r>
              <a:rPr lang="en-US" sz="1100" dirty="0"/>
              <a:t>Source: Institute Project Management; </a:t>
            </a:r>
            <a:r>
              <a:rPr lang="en-US" sz="1100" dirty="0">
                <a:hlinkClick r:id="rId3"/>
              </a:rPr>
              <a:t>https://instituteprojectmanagement.com/blog/waterfall-methodology/</a:t>
            </a:r>
            <a:endParaRPr lang="en-US" sz="1100" dirty="0"/>
          </a:p>
          <a:p>
            <a:endParaRPr lang="en-PK" sz="1100" dirty="0"/>
          </a:p>
        </p:txBody>
      </p:sp>
      <p:pic>
        <p:nvPicPr>
          <p:cNvPr id="2050" name="Picture 2" descr="agile-vs-waterfall">
            <a:extLst>
              <a:ext uri="{FF2B5EF4-FFF2-40B4-BE49-F238E27FC236}">
                <a16:creationId xmlns:a16="http://schemas.microsoft.com/office/drawing/2014/main" id="{DFDA846D-8A52-891A-CF7E-A8C6210497E9}"/>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t="33646"/>
          <a:stretch/>
        </p:blipFill>
        <p:spPr bwMode="auto">
          <a:xfrm>
            <a:off x="1276350" y="2253165"/>
            <a:ext cx="9390086" cy="324515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2FC66C-0FE5-6332-6239-94632F57A7B6}"/>
              </a:ext>
            </a:extLst>
          </p:cNvPr>
          <p:cNvSpPr txBox="1"/>
          <p:nvPr/>
        </p:nvSpPr>
        <p:spPr>
          <a:xfrm>
            <a:off x="1774209" y="1737815"/>
            <a:ext cx="3152633" cy="373039"/>
          </a:xfrm>
          <a:prstGeom prst="rect">
            <a:avLst/>
          </a:prstGeom>
          <a:noFill/>
        </p:spPr>
        <p:txBody>
          <a:bodyPr wrap="square" rtlCol="0">
            <a:spAutoFit/>
          </a:bodyPr>
          <a:lstStyle/>
          <a:p>
            <a:pPr algn="ctr"/>
            <a:r>
              <a:rPr lang="en-US" b="1" dirty="0">
                <a:solidFill>
                  <a:srgbClr val="C00000"/>
                </a:solidFill>
              </a:rPr>
              <a:t>WATERFALL</a:t>
            </a:r>
            <a:endParaRPr lang="en-PK" b="1" dirty="0">
              <a:solidFill>
                <a:srgbClr val="C00000"/>
              </a:solidFill>
            </a:endParaRPr>
          </a:p>
        </p:txBody>
      </p:sp>
      <p:sp>
        <p:nvSpPr>
          <p:cNvPr id="9" name="TextBox 8">
            <a:extLst>
              <a:ext uri="{FF2B5EF4-FFF2-40B4-BE49-F238E27FC236}">
                <a16:creationId xmlns:a16="http://schemas.microsoft.com/office/drawing/2014/main" id="{7A99A0C9-F6CE-88FB-735D-56C4337357FD}"/>
              </a:ext>
            </a:extLst>
          </p:cNvPr>
          <p:cNvSpPr txBox="1"/>
          <p:nvPr/>
        </p:nvSpPr>
        <p:spPr>
          <a:xfrm>
            <a:off x="6666932" y="1698651"/>
            <a:ext cx="3152633" cy="373039"/>
          </a:xfrm>
          <a:prstGeom prst="rect">
            <a:avLst/>
          </a:prstGeom>
          <a:noFill/>
        </p:spPr>
        <p:txBody>
          <a:bodyPr wrap="square" rtlCol="0">
            <a:spAutoFit/>
          </a:bodyPr>
          <a:lstStyle/>
          <a:p>
            <a:pPr algn="ctr"/>
            <a:r>
              <a:rPr lang="en-US" b="1" dirty="0">
                <a:solidFill>
                  <a:srgbClr val="C00000"/>
                </a:solidFill>
              </a:rPr>
              <a:t>AGILE</a:t>
            </a:r>
            <a:endParaRPr lang="en-PK" b="1" dirty="0">
              <a:solidFill>
                <a:srgbClr val="C00000"/>
              </a:solidFill>
            </a:endParaRPr>
          </a:p>
        </p:txBody>
      </p:sp>
    </p:spTree>
    <p:extLst>
      <p:ext uri="{BB962C8B-B14F-4D97-AF65-F5344CB8AC3E}">
        <p14:creationId xmlns:p14="http://schemas.microsoft.com/office/powerpoint/2010/main" val="2488296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38200" y="744110"/>
            <a:ext cx="10515600" cy="795200"/>
          </a:xfrm>
        </p:spPr>
        <p:txBody>
          <a:bodyPr>
            <a:normAutofit/>
          </a:bodyPr>
          <a:lstStyle/>
          <a:p>
            <a:r>
              <a:rPr lang="en-US" sz="2800" b="1" dirty="0">
                <a:solidFill>
                  <a:schemeClr val="bg2">
                    <a:lumMod val="50000"/>
                  </a:schemeClr>
                </a:solidFill>
                <a:latin typeface="+mn-lt"/>
              </a:rPr>
              <a:t>SCRUM ROLES</a:t>
            </a:r>
            <a:endParaRPr lang="en-PK" sz="2800" b="1" dirty="0">
              <a:solidFill>
                <a:schemeClr val="bg2">
                  <a:lumMod val="50000"/>
                </a:schemeClr>
              </a:solidFill>
              <a:latin typeface="+mn-lt"/>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7</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9">
            <a:extLst>
              <a:ext uri="{FF2B5EF4-FFF2-40B4-BE49-F238E27FC236}">
                <a16:creationId xmlns:a16="http://schemas.microsoft.com/office/drawing/2014/main" id="{31A6037D-1363-DC9E-C8E6-E1D88FFE0CAD}"/>
              </a:ext>
            </a:extLst>
          </p:cNvPr>
          <p:cNvSpPr>
            <a:spLocks noGrp="1"/>
          </p:cNvSpPr>
          <p:nvPr>
            <p:ph idx="1"/>
          </p:nvPr>
        </p:nvSpPr>
        <p:spPr>
          <a:xfrm>
            <a:off x="838200" y="1563686"/>
            <a:ext cx="10515600" cy="4550203"/>
          </a:xfrm>
        </p:spPr>
        <p:txBody>
          <a:bodyPr>
            <a:normAutofit/>
          </a:bodyPr>
          <a:lstStyle/>
          <a:p>
            <a:pPr algn="l" fontAlgn="auto">
              <a:spcAft>
                <a:spcPts val="1000"/>
              </a:spcAft>
              <a:buFont typeface="Arial" panose="020B0604020202020204" pitchFamily="34" charset="0"/>
              <a:buChar char="•"/>
            </a:pPr>
            <a:r>
              <a:rPr lang="en-US" sz="1600" b="1" i="0" dirty="0">
                <a:solidFill>
                  <a:srgbClr val="0070C0"/>
                </a:solidFill>
                <a:effectLst/>
              </a:rPr>
              <a:t>The product owner </a:t>
            </a:r>
            <a:r>
              <a:rPr lang="en-US" sz="1600" b="0" i="0" dirty="0">
                <a:solidFill>
                  <a:srgbClr val="0D0D0D"/>
                </a:solidFill>
                <a:effectLst/>
              </a:rPr>
              <a:t>maximizes the value the product creates; defines the why, who, and what—why it is worthwhile to develop a product, who it is for, and what features it should contain.</a:t>
            </a:r>
          </a:p>
          <a:p>
            <a:pPr marL="719138" indent="-452438" algn="l" fontAlgn="auto">
              <a:lnSpc>
                <a:spcPct val="120000"/>
              </a:lnSpc>
              <a:spcBef>
                <a:spcPts val="0"/>
              </a:spcBef>
              <a:buFont typeface="Courier New" panose="02070309020205020404" pitchFamily="49" charset="0"/>
              <a:buChar char="o"/>
            </a:pPr>
            <a:r>
              <a:rPr lang="en-US" sz="1400" b="0" i="0" dirty="0">
                <a:solidFill>
                  <a:srgbClr val="0D0D0D"/>
                </a:solidFill>
                <a:effectLst/>
              </a:rPr>
              <a:t>Set product goals</a:t>
            </a:r>
          </a:p>
          <a:p>
            <a:pPr marL="719138" indent="-452438" algn="l" fontAlgn="auto">
              <a:lnSpc>
                <a:spcPct val="120000"/>
              </a:lnSpc>
              <a:spcBef>
                <a:spcPts val="0"/>
              </a:spcBef>
              <a:buFont typeface="Courier New" panose="02070309020205020404" pitchFamily="49" charset="0"/>
              <a:buChar char="o"/>
            </a:pPr>
            <a:r>
              <a:rPr lang="en-US" sz="1400" b="0" i="0" dirty="0">
                <a:solidFill>
                  <a:srgbClr val="0D0D0D"/>
                </a:solidFill>
                <a:effectLst/>
              </a:rPr>
              <a:t>Ensure that the product backlog is stocked with clearly expressed items that help reach the product goal</a:t>
            </a:r>
          </a:p>
          <a:p>
            <a:pPr marL="719138" indent="-452438" algn="l" fontAlgn="auto">
              <a:lnSpc>
                <a:spcPct val="120000"/>
              </a:lnSpc>
              <a:spcBef>
                <a:spcPts val="0"/>
              </a:spcBef>
              <a:buFont typeface="Courier New" panose="02070309020205020404" pitchFamily="49" charset="0"/>
              <a:buChar char="o"/>
            </a:pPr>
            <a:r>
              <a:rPr lang="en-US" sz="1400" b="0" i="0" dirty="0">
                <a:solidFill>
                  <a:srgbClr val="0D0D0D"/>
                </a:solidFill>
                <a:effectLst/>
              </a:rPr>
              <a:t>Order the backlog</a:t>
            </a:r>
          </a:p>
          <a:p>
            <a:pPr marL="719138" indent="-452438" algn="l" fontAlgn="auto">
              <a:lnSpc>
                <a:spcPct val="120000"/>
              </a:lnSpc>
              <a:spcBef>
                <a:spcPts val="0"/>
              </a:spcBef>
              <a:buFont typeface="Courier New" panose="02070309020205020404" pitchFamily="49" charset="0"/>
              <a:buChar char="o"/>
            </a:pPr>
            <a:r>
              <a:rPr lang="en-US" sz="1400" b="0" i="0" dirty="0">
                <a:solidFill>
                  <a:srgbClr val="0D0D0D"/>
                </a:solidFill>
                <a:effectLst/>
              </a:rPr>
              <a:t>Regularly update and refine the backlog together with the developers</a:t>
            </a:r>
          </a:p>
          <a:p>
            <a:pPr marL="719138" indent="-452438" algn="l" fontAlgn="auto">
              <a:lnSpc>
                <a:spcPct val="120000"/>
              </a:lnSpc>
              <a:spcBef>
                <a:spcPts val="0"/>
              </a:spcBef>
              <a:buFont typeface="Courier New" panose="02070309020205020404" pitchFamily="49" charset="0"/>
              <a:buChar char="o"/>
            </a:pPr>
            <a:r>
              <a:rPr lang="en-US" sz="1400" b="0" i="0" dirty="0">
                <a:solidFill>
                  <a:srgbClr val="0D0D0D"/>
                </a:solidFill>
                <a:effectLst/>
              </a:rPr>
              <a:t>Collect feedback from users, customers, and stakeholders on the product increments</a:t>
            </a:r>
          </a:p>
          <a:p>
            <a:pPr marL="719138" indent="-452438" algn="l" fontAlgn="auto">
              <a:lnSpc>
                <a:spcPct val="120000"/>
              </a:lnSpc>
              <a:spcBef>
                <a:spcPts val="0"/>
              </a:spcBef>
              <a:buFont typeface="Courier New" panose="02070309020205020404" pitchFamily="49" charset="0"/>
              <a:buChar char="o"/>
            </a:pPr>
            <a:r>
              <a:rPr lang="en-US" sz="1400" b="0" i="0" dirty="0">
                <a:solidFill>
                  <a:srgbClr val="0D0D0D"/>
                </a:solidFill>
                <a:effectLst/>
              </a:rPr>
              <a:t>Agree on sprint goals with the developers</a:t>
            </a:r>
          </a:p>
          <a:p>
            <a:pPr algn="l" fontAlgn="auto">
              <a:spcAft>
                <a:spcPts val="1000"/>
              </a:spcAft>
              <a:buFont typeface="Arial" panose="020B0604020202020204" pitchFamily="34" charset="0"/>
              <a:buChar char="•"/>
            </a:pPr>
            <a:r>
              <a:rPr lang="en-US" sz="1600" b="1" i="0" dirty="0">
                <a:solidFill>
                  <a:srgbClr val="0070C0"/>
                </a:solidFill>
                <a:effectLst/>
              </a:rPr>
              <a:t>The development team </a:t>
            </a:r>
            <a:r>
              <a:rPr lang="en-US" sz="1600" b="0" i="0" dirty="0">
                <a:solidFill>
                  <a:srgbClr val="0D0D0D"/>
                </a:solidFill>
                <a:effectLst/>
              </a:rPr>
              <a:t>creates products with the right quality; c</a:t>
            </a:r>
            <a:r>
              <a:rPr lang="en-US" sz="1600" dirty="0">
                <a:solidFill>
                  <a:srgbClr val="0D0D0D"/>
                </a:solidFill>
              </a:rPr>
              <a:t>omprises a small team (2 to 3 people) that is:</a:t>
            </a:r>
          </a:p>
          <a:p>
            <a:pPr lvl="1" indent="-419100">
              <a:spcBef>
                <a:spcPts val="0"/>
              </a:spcBef>
              <a:buFont typeface="Courier New" panose="02070309020205020404" pitchFamily="49" charset="0"/>
              <a:buChar char="o"/>
            </a:pPr>
            <a:r>
              <a:rPr lang="en-US" sz="1400" b="0" i="0" dirty="0">
                <a:solidFill>
                  <a:srgbClr val="0D0D0D"/>
                </a:solidFill>
                <a:effectLst/>
              </a:rPr>
              <a:t>Self-organizing</a:t>
            </a:r>
          </a:p>
          <a:p>
            <a:pPr lvl="1" indent="-419100">
              <a:spcBef>
                <a:spcPts val="0"/>
              </a:spcBef>
              <a:buFont typeface="Courier New" panose="02070309020205020404" pitchFamily="49" charset="0"/>
              <a:buChar char="o"/>
            </a:pPr>
            <a:r>
              <a:rPr lang="en-US" sz="1400" dirty="0">
                <a:solidFill>
                  <a:srgbClr val="0D0D0D"/>
                </a:solidFill>
              </a:rPr>
              <a:t>Cross-functional</a:t>
            </a:r>
            <a:endParaRPr lang="en-US" sz="1400" b="0" i="0" dirty="0">
              <a:solidFill>
                <a:srgbClr val="0D0D0D"/>
              </a:solidFill>
              <a:effectLst/>
            </a:endParaRPr>
          </a:p>
          <a:p>
            <a:pPr algn="l" fontAlgn="auto">
              <a:spcAft>
                <a:spcPts val="1000"/>
              </a:spcAft>
              <a:buFont typeface="Arial" panose="020B0604020202020204" pitchFamily="34" charset="0"/>
              <a:buChar char="•"/>
            </a:pPr>
            <a:r>
              <a:rPr lang="en-US" sz="1600" b="1" i="0" dirty="0">
                <a:solidFill>
                  <a:srgbClr val="0070C0"/>
                </a:solidFill>
                <a:effectLst/>
              </a:rPr>
              <a:t>The scrum master </a:t>
            </a:r>
            <a:r>
              <a:rPr lang="en-US" sz="1600" b="0" i="0" dirty="0">
                <a:solidFill>
                  <a:srgbClr val="0D0D0D"/>
                </a:solidFill>
                <a:effectLst/>
              </a:rPr>
              <a:t>coaches the product owner, developers, and stakeholders; he acts as a</a:t>
            </a:r>
          </a:p>
          <a:p>
            <a:pPr lvl="1" indent="-419100">
              <a:lnSpc>
                <a:spcPct val="110000"/>
              </a:lnSpc>
              <a:spcBef>
                <a:spcPts val="0"/>
              </a:spcBef>
              <a:buFont typeface="Courier New" panose="02070309020205020404" pitchFamily="49" charset="0"/>
              <a:buChar char="o"/>
            </a:pPr>
            <a:r>
              <a:rPr lang="en-US" sz="1400" dirty="0">
                <a:solidFill>
                  <a:srgbClr val="0D0D0D"/>
                </a:solidFill>
              </a:rPr>
              <a:t>Coach: </a:t>
            </a:r>
            <a:r>
              <a:rPr lang="en-US" sz="1400" b="0" i="0" dirty="0">
                <a:solidFill>
                  <a:srgbClr val="182340"/>
                </a:solidFill>
                <a:effectLst/>
                <a:latin typeface="Graphik"/>
              </a:rPr>
              <a:t>Facilitate meetings, conversations, and improvements.</a:t>
            </a:r>
          </a:p>
          <a:p>
            <a:pPr lvl="1" indent="-419100">
              <a:lnSpc>
                <a:spcPct val="110000"/>
              </a:lnSpc>
              <a:spcBef>
                <a:spcPts val="0"/>
              </a:spcBef>
              <a:buFont typeface="Courier New" panose="02070309020205020404" pitchFamily="49" charset="0"/>
              <a:buChar char="o"/>
            </a:pPr>
            <a:r>
              <a:rPr lang="en-US" sz="1400" b="0" i="0" dirty="0">
                <a:solidFill>
                  <a:srgbClr val="182340"/>
                </a:solidFill>
                <a:effectLst/>
                <a:latin typeface="Graphik"/>
              </a:rPr>
              <a:t>Protector: Run interference so the team can remain focused.</a:t>
            </a:r>
          </a:p>
          <a:p>
            <a:pPr lvl="1" indent="-419100">
              <a:lnSpc>
                <a:spcPct val="110000"/>
              </a:lnSpc>
              <a:spcBef>
                <a:spcPts val="0"/>
              </a:spcBef>
              <a:buFont typeface="Courier New" panose="02070309020205020404" pitchFamily="49" charset="0"/>
              <a:buChar char="o"/>
            </a:pPr>
            <a:r>
              <a:rPr lang="en-US" sz="1400" b="0" i="0" dirty="0">
                <a:solidFill>
                  <a:srgbClr val="182340"/>
                </a:solidFill>
                <a:effectLst/>
                <a:latin typeface="Graphik"/>
              </a:rPr>
              <a:t>Leader: Lead without authority and puts the team first. </a:t>
            </a:r>
          </a:p>
          <a:p>
            <a:pPr lvl="1" indent="-419100">
              <a:lnSpc>
                <a:spcPct val="110000"/>
              </a:lnSpc>
              <a:spcBef>
                <a:spcPts val="0"/>
              </a:spcBef>
              <a:buFont typeface="Courier New" panose="02070309020205020404" pitchFamily="49" charset="0"/>
              <a:buChar char="o"/>
            </a:pPr>
            <a:r>
              <a:rPr lang="en-US" sz="1400" b="0" i="0" dirty="0">
                <a:solidFill>
                  <a:srgbClr val="182340"/>
                </a:solidFill>
                <a:effectLst/>
                <a:latin typeface="Graphik"/>
              </a:rPr>
              <a:t>Advocate: Reinforce agile principles throughout the organization.</a:t>
            </a:r>
            <a:endParaRPr lang="en-US" sz="1400" dirty="0">
              <a:solidFill>
                <a:srgbClr val="0D0D0D"/>
              </a:solidFill>
            </a:endParaRPr>
          </a:p>
        </p:txBody>
      </p:sp>
      <p:sp>
        <p:nvSpPr>
          <p:cNvPr id="3" name="TextBox 2">
            <a:extLst>
              <a:ext uri="{FF2B5EF4-FFF2-40B4-BE49-F238E27FC236}">
                <a16:creationId xmlns:a16="http://schemas.microsoft.com/office/drawing/2014/main" id="{CF9819E1-A68F-379D-6BB1-4CAD981187A1}"/>
              </a:ext>
            </a:extLst>
          </p:cNvPr>
          <p:cNvSpPr txBox="1"/>
          <p:nvPr/>
        </p:nvSpPr>
        <p:spPr>
          <a:xfrm>
            <a:off x="539837" y="6266212"/>
            <a:ext cx="10704425" cy="430887"/>
          </a:xfrm>
          <a:prstGeom prst="rect">
            <a:avLst/>
          </a:prstGeom>
          <a:noFill/>
        </p:spPr>
        <p:txBody>
          <a:bodyPr wrap="square" rtlCol="0">
            <a:spAutoFit/>
          </a:bodyPr>
          <a:lstStyle/>
          <a:p>
            <a:r>
              <a:rPr lang="en-US" sz="1100" dirty="0"/>
              <a:t>Source: SCRUMALLIANCE; </a:t>
            </a:r>
            <a:r>
              <a:rPr lang="en-US" sz="1100" dirty="0">
                <a:hlinkClick r:id="rId3"/>
              </a:rPr>
              <a:t>https://resources.scrumalliance.org/Article/scrum-team</a:t>
            </a:r>
            <a:endParaRPr lang="en-US" sz="1100" dirty="0"/>
          </a:p>
          <a:p>
            <a:endParaRPr lang="en-PK" sz="1100" dirty="0"/>
          </a:p>
        </p:txBody>
      </p:sp>
    </p:spTree>
    <p:extLst>
      <p:ext uri="{BB962C8B-B14F-4D97-AF65-F5344CB8AC3E}">
        <p14:creationId xmlns:p14="http://schemas.microsoft.com/office/powerpoint/2010/main" val="2678687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85825" y="586896"/>
            <a:ext cx="10515600" cy="795200"/>
          </a:xfrm>
        </p:spPr>
        <p:txBody>
          <a:bodyPr>
            <a:normAutofit/>
          </a:bodyPr>
          <a:lstStyle/>
          <a:p>
            <a:r>
              <a:rPr lang="en-US" sz="2800" b="1" dirty="0">
                <a:solidFill>
                  <a:schemeClr val="bg2">
                    <a:lumMod val="50000"/>
                  </a:schemeClr>
                </a:solidFill>
                <a:latin typeface="+mn-lt"/>
              </a:rPr>
              <a:t>BACKLOG</a:t>
            </a:r>
            <a:endParaRPr lang="en-PK" sz="2800" b="1" dirty="0">
              <a:solidFill>
                <a:schemeClr val="bg2">
                  <a:lumMod val="50000"/>
                </a:schemeClr>
              </a:solidFill>
              <a:latin typeface="+mn-lt"/>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8</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9">
            <a:extLst>
              <a:ext uri="{FF2B5EF4-FFF2-40B4-BE49-F238E27FC236}">
                <a16:creationId xmlns:a16="http://schemas.microsoft.com/office/drawing/2014/main" id="{31A6037D-1363-DC9E-C8E6-E1D88FFE0CAD}"/>
              </a:ext>
            </a:extLst>
          </p:cNvPr>
          <p:cNvSpPr>
            <a:spLocks noGrp="1"/>
          </p:cNvSpPr>
          <p:nvPr>
            <p:ph idx="1"/>
          </p:nvPr>
        </p:nvSpPr>
        <p:spPr>
          <a:xfrm>
            <a:off x="838199" y="1316669"/>
            <a:ext cx="10515600" cy="5122862"/>
          </a:xfrm>
        </p:spPr>
        <p:txBody>
          <a:bodyPr>
            <a:normAutofit fontScale="92500" lnSpcReduction="20000"/>
          </a:bodyPr>
          <a:lstStyle/>
          <a:p>
            <a:pPr algn="l" fontAlgn="auto">
              <a:spcBef>
                <a:spcPts val="0"/>
              </a:spcBef>
              <a:buFont typeface="Arial" panose="020B0604020202020204" pitchFamily="34" charset="0"/>
              <a:buChar char="•"/>
            </a:pPr>
            <a:r>
              <a:rPr lang="en-US" sz="1500" b="1" dirty="0">
                <a:solidFill>
                  <a:srgbClr val="0070C0"/>
                </a:solidFill>
              </a:rPr>
              <a:t>What is a Backlog/Product Backlog in Agile? </a:t>
            </a:r>
          </a:p>
          <a:p>
            <a:pPr marL="266700" indent="-266700" algn="l" fontAlgn="auto">
              <a:spcBef>
                <a:spcPts val="0"/>
              </a:spcBef>
              <a:buNone/>
            </a:pPr>
            <a:r>
              <a:rPr lang="en-US" sz="1500" b="0" i="0" dirty="0">
                <a:solidFill>
                  <a:srgbClr val="0D0D0D"/>
                </a:solidFill>
                <a:effectLst/>
              </a:rPr>
              <a:t>	A list that compiles all the tasks and user stories that must be done to complete the whole project</a:t>
            </a:r>
          </a:p>
          <a:p>
            <a:pPr marL="266700" indent="-266700" algn="l" fontAlgn="auto">
              <a:spcBef>
                <a:spcPts val="0"/>
              </a:spcBef>
              <a:buNone/>
            </a:pPr>
            <a:r>
              <a:rPr lang="en-US" sz="1500" dirty="0">
                <a:solidFill>
                  <a:srgbClr val="0D0D0D"/>
                </a:solidFill>
              </a:rPr>
              <a:t>	</a:t>
            </a:r>
            <a:r>
              <a:rPr lang="en-US" sz="1500" b="0" i="0" dirty="0">
                <a:solidFill>
                  <a:srgbClr val="0D0D0D"/>
                </a:solidFill>
                <a:effectLst/>
              </a:rPr>
              <a:t>The sprint backlog is a subset of the product backlog and contains items that can be completed during each agile sprint.</a:t>
            </a:r>
          </a:p>
          <a:p>
            <a:pPr algn="l" fontAlgn="auto">
              <a:spcBef>
                <a:spcPts val="0"/>
              </a:spcBef>
              <a:buFont typeface="Arial" panose="020B0604020202020204" pitchFamily="34" charset="0"/>
              <a:buChar char="•"/>
            </a:pPr>
            <a:endParaRPr lang="en-US" sz="1500" b="1" i="0" dirty="0">
              <a:solidFill>
                <a:srgbClr val="0070C0"/>
              </a:solidFill>
              <a:effectLst/>
            </a:endParaRPr>
          </a:p>
          <a:p>
            <a:pPr algn="l" fontAlgn="auto">
              <a:spcBef>
                <a:spcPts val="0"/>
              </a:spcBef>
              <a:buFont typeface="Arial" panose="020B0604020202020204" pitchFamily="34" charset="0"/>
              <a:buChar char="•"/>
            </a:pPr>
            <a:r>
              <a:rPr lang="en-US" sz="1500" b="1" i="0" dirty="0">
                <a:solidFill>
                  <a:srgbClr val="0070C0"/>
                </a:solidFill>
                <a:effectLst/>
              </a:rPr>
              <a:t>What should be included in a Product Backlog?</a:t>
            </a:r>
          </a:p>
          <a:p>
            <a:pPr algn="l" fontAlgn="auto">
              <a:spcBef>
                <a:spcPts val="0"/>
              </a:spcBef>
              <a:buFont typeface="Arial" panose="020B0604020202020204" pitchFamily="34" charset="0"/>
              <a:buChar char="•"/>
            </a:pPr>
            <a:endParaRPr lang="en-US" sz="1400" b="0" i="0" dirty="0">
              <a:solidFill>
                <a:srgbClr val="0D0D0D"/>
              </a:solidFill>
              <a:effectLst/>
            </a:endParaRPr>
          </a:p>
          <a:p>
            <a:pPr marL="538163" lvl="1" indent="-357188">
              <a:spcBef>
                <a:spcPts val="0"/>
              </a:spcBef>
              <a:buFont typeface="Courier New" panose="02070309020205020404" pitchFamily="49" charset="0"/>
              <a:buChar char="o"/>
            </a:pPr>
            <a:r>
              <a:rPr lang="en-US" sz="1500" b="1" i="0" dirty="0">
                <a:solidFill>
                  <a:srgbClr val="0D0D0D"/>
                </a:solidFill>
                <a:effectLst/>
              </a:rPr>
              <a:t>User Stories &amp; Epics</a:t>
            </a:r>
            <a:r>
              <a:rPr lang="en-US" sz="1500" dirty="0">
                <a:solidFill>
                  <a:srgbClr val="0D0D0D"/>
                </a:solidFill>
              </a:rPr>
              <a:t>: Descriptions of a feature or functionality from the end user’s perspective, e.g., “As a [user], I want [feature] so that [benefit].” Epics are larger user stories that require multiple sprints or tasks to complete and are later broken down into smaller, actionable user stories</a:t>
            </a:r>
          </a:p>
          <a:p>
            <a:pPr marL="538163" lvl="1" indent="-357188">
              <a:spcBef>
                <a:spcPts val="0"/>
              </a:spcBef>
              <a:buFont typeface="Courier New" panose="02070309020205020404" pitchFamily="49" charset="0"/>
              <a:buChar char="o"/>
            </a:pPr>
            <a:endParaRPr lang="en-US" sz="1500" dirty="0">
              <a:solidFill>
                <a:srgbClr val="0D0D0D"/>
              </a:solidFill>
            </a:endParaRPr>
          </a:p>
          <a:p>
            <a:pPr marL="538163" lvl="1" indent="-357188">
              <a:spcBef>
                <a:spcPts val="0"/>
              </a:spcBef>
              <a:buFont typeface="Courier New" panose="02070309020205020404" pitchFamily="49" charset="0"/>
              <a:buChar char="o"/>
            </a:pPr>
            <a:r>
              <a:rPr lang="en-US" sz="1500" b="1" dirty="0">
                <a:solidFill>
                  <a:srgbClr val="0D0D0D"/>
                </a:solidFill>
              </a:rPr>
              <a:t>Technical Improvements</a:t>
            </a:r>
            <a:r>
              <a:rPr lang="en-US" sz="1500" dirty="0">
                <a:solidFill>
                  <a:srgbClr val="0D0D0D"/>
                </a:solidFill>
              </a:rPr>
              <a:t>: Backend or infrastructure-related enhancements that improve system performance, scalability, security or maintainability. Examples include optimizing database queries or upgrading frameworks.</a:t>
            </a:r>
          </a:p>
          <a:p>
            <a:pPr marL="538163" lvl="1" indent="-357188">
              <a:spcBef>
                <a:spcPts val="0"/>
              </a:spcBef>
              <a:buFont typeface="Courier New" panose="02070309020205020404" pitchFamily="49" charset="0"/>
              <a:buChar char="o"/>
            </a:pPr>
            <a:endParaRPr lang="en-US" sz="1500" b="0" i="0" dirty="0">
              <a:solidFill>
                <a:srgbClr val="0D0D0D"/>
              </a:solidFill>
              <a:effectLst/>
            </a:endParaRPr>
          </a:p>
          <a:p>
            <a:pPr marL="538163" lvl="1" indent="-357188">
              <a:spcBef>
                <a:spcPts val="0"/>
              </a:spcBef>
              <a:buFont typeface="Courier New" panose="02070309020205020404" pitchFamily="49" charset="0"/>
              <a:buChar char="o"/>
            </a:pPr>
            <a:r>
              <a:rPr lang="en-US" sz="1500" b="1" i="0" dirty="0">
                <a:solidFill>
                  <a:srgbClr val="0D0D0D"/>
                </a:solidFill>
                <a:effectLst/>
              </a:rPr>
              <a:t>Spikes</a:t>
            </a:r>
            <a:r>
              <a:rPr lang="en-US" sz="1500" b="0" i="0" dirty="0">
                <a:solidFill>
                  <a:srgbClr val="0D0D0D"/>
                </a:solidFill>
                <a:effectLst/>
              </a:rPr>
              <a:t> are time-boxed investigations or experiments to gain knowledge, reduce uncertainty or evaluate technical feasibility. They are often used when teams need to explore new technologies, architectural decisions or complex requirements before committing to implementation.</a:t>
            </a:r>
          </a:p>
          <a:p>
            <a:pPr marL="538163" lvl="1" indent="-357188">
              <a:spcBef>
                <a:spcPts val="0"/>
              </a:spcBef>
              <a:buFont typeface="Courier New" panose="02070309020205020404" pitchFamily="49" charset="0"/>
              <a:buChar char="o"/>
            </a:pPr>
            <a:endParaRPr lang="en-US" sz="1500" b="0" i="0" dirty="0">
              <a:solidFill>
                <a:srgbClr val="0D0D0D"/>
              </a:solidFill>
              <a:effectLst/>
            </a:endParaRPr>
          </a:p>
          <a:p>
            <a:pPr marL="538163" lvl="1" indent="-357188">
              <a:spcBef>
                <a:spcPts val="0"/>
              </a:spcBef>
              <a:buFont typeface="Courier New" panose="02070309020205020404" pitchFamily="49" charset="0"/>
              <a:buChar char="o"/>
            </a:pPr>
            <a:r>
              <a:rPr lang="en-US" sz="1500" b="1" i="0" dirty="0">
                <a:solidFill>
                  <a:srgbClr val="0D0D0D"/>
                </a:solidFill>
                <a:effectLst/>
              </a:rPr>
              <a:t>Non-Functional Requirements: </a:t>
            </a:r>
            <a:r>
              <a:rPr lang="en-US" sz="1500" b="0" i="0" dirty="0">
                <a:solidFill>
                  <a:srgbClr val="0D0D0D"/>
                </a:solidFill>
                <a:effectLst/>
              </a:rPr>
              <a:t>These define system attributes such as performance, reliability, scalability and security.</a:t>
            </a:r>
          </a:p>
          <a:p>
            <a:pPr marL="538163" lvl="1" indent="-357188">
              <a:spcBef>
                <a:spcPts val="0"/>
              </a:spcBef>
              <a:buFont typeface="Courier New" panose="02070309020205020404" pitchFamily="49" charset="0"/>
              <a:buChar char="o"/>
            </a:pPr>
            <a:endParaRPr lang="en-US" sz="1500" b="0" i="0" dirty="0">
              <a:solidFill>
                <a:srgbClr val="0D0D0D"/>
              </a:solidFill>
              <a:effectLst/>
            </a:endParaRPr>
          </a:p>
          <a:p>
            <a:pPr marL="538163" lvl="1" indent="-357188">
              <a:spcBef>
                <a:spcPts val="0"/>
              </a:spcBef>
              <a:buFont typeface="Courier New" panose="02070309020205020404" pitchFamily="49" charset="0"/>
              <a:buChar char="o"/>
            </a:pPr>
            <a:r>
              <a:rPr lang="en-US" sz="1500" b="1" i="0" dirty="0">
                <a:solidFill>
                  <a:srgbClr val="0D0D0D"/>
                </a:solidFill>
                <a:effectLst/>
              </a:rPr>
              <a:t>Dependencies &amp; Constraints</a:t>
            </a:r>
            <a:r>
              <a:rPr lang="en-US" sz="1500" b="0" i="0" dirty="0">
                <a:solidFill>
                  <a:srgbClr val="0D0D0D"/>
                </a:solidFill>
                <a:effectLst/>
              </a:rPr>
              <a:t>: Dependencies are tasks that rely on completing other work items before they can be implemented. Constraints refer to limitations such as budget, time, regulatory requirements or technical restrictions that influence how a product is developed.</a:t>
            </a:r>
          </a:p>
          <a:p>
            <a:pPr marL="538163" lvl="1" indent="-357188">
              <a:spcBef>
                <a:spcPts val="0"/>
              </a:spcBef>
              <a:buFont typeface="Courier New" panose="02070309020205020404" pitchFamily="49" charset="0"/>
              <a:buChar char="o"/>
            </a:pPr>
            <a:endParaRPr lang="en-US" sz="1500" b="0" i="0" dirty="0">
              <a:solidFill>
                <a:srgbClr val="0D0D0D"/>
              </a:solidFill>
              <a:effectLst/>
            </a:endParaRPr>
          </a:p>
          <a:p>
            <a:pPr marL="538163" lvl="1" indent="-357188">
              <a:spcBef>
                <a:spcPts val="0"/>
              </a:spcBef>
              <a:buFont typeface="Courier New" panose="02070309020205020404" pitchFamily="49" charset="0"/>
              <a:buChar char="o"/>
            </a:pPr>
            <a:r>
              <a:rPr lang="en-US" sz="1500" b="1" i="0" dirty="0">
                <a:solidFill>
                  <a:srgbClr val="0D0D0D"/>
                </a:solidFill>
                <a:effectLst/>
              </a:rPr>
              <a:t>Story Points</a:t>
            </a:r>
            <a:r>
              <a:rPr lang="en-US" sz="1500" b="0" i="0" dirty="0">
                <a:solidFill>
                  <a:srgbClr val="0D0D0D"/>
                </a:solidFill>
                <a:effectLst/>
              </a:rPr>
              <a:t>: Story points are a unit of measure used to estimate the effort required to complete a task or user story. They consider complexity, risk, and time, helping teams gauge workload and prioritize tasks without relying on exact time estimates.</a:t>
            </a:r>
          </a:p>
          <a:p>
            <a:pPr marL="538163" lvl="1" indent="-357188">
              <a:spcBef>
                <a:spcPts val="0"/>
              </a:spcBef>
              <a:buFont typeface="Courier New" panose="02070309020205020404" pitchFamily="49" charset="0"/>
              <a:buChar char="o"/>
            </a:pPr>
            <a:endParaRPr lang="en-US" sz="1500" b="0" i="0" dirty="0">
              <a:solidFill>
                <a:srgbClr val="0D0D0D"/>
              </a:solidFill>
              <a:effectLst/>
            </a:endParaRPr>
          </a:p>
          <a:p>
            <a:pPr marL="538163" lvl="1" indent="-357188">
              <a:spcBef>
                <a:spcPts val="0"/>
              </a:spcBef>
              <a:buFont typeface="Courier New" panose="02070309020205020404" pitchFamily="49" charset="0"/>
              <a:buChar char="o"/>
            </a:pPr>
            <a:r>
              <a:rPr lang="en-US" sz="1500" b="1" i="0" dirty="0">
                <a:solidFill>
                  <a:srgbClr val="0D0D0D"/>
                </a:solidFill>
                <a:effectLst/>
              </a:rPr>
              <a:t>Acceptance Criteria</a:t>
            </a:r>
            <a:r>
              <a:rPr lang="en-US" sz="1500" b="0" i="0" dirty="0">
                <a:solidFill>
                  <a:srgbClr val="0D0D0D"/>
                </a:solidFill>
                <a:effectLst/>
              </a:rPr>
              <a:t>: The specific conditions and requirements that a product or feature must meet for it to be considered acceptable by stakeholders.</a:t>
            </a:r>
          </a:p>
          <a:p>
            <a:pPr marL="538163" lvl="1" indent="-357188">
              <a:spcBef>
                <a:spcPts val="0"/>
              </a:spcBef>
              <a:buFont typeface="Courier New" panose="02070309020205020404" pitchFamily="49" charset="0"/>
              <a:buChar char="o"/>
            </a:pPr>
            <a:endParaRPr lang="en-US" sz="1500" b="0" i="0" dirty="0">
              <a:solidFill>
                <a:srgbClr val="0D0D0D"/>
              </a:solidFill>
              <a:effectLst/>
            </a:endParaRPr>
          </a:p>
          <a:p>
            <a:pPr marL="538163" lvl="1" indent="-357188">
              <a:spcBef>
                <a:spcPts val="0"/>
              </a:spcBef>
              <a:buFont typeface="Courier New" panose="02070309020205020404" pitchFamily="49" charset="0"/>
              <a:buChar char="o"/>
            </a:pPr>
            <a:r>
              <a:rPr lang="en-US" sz="1500" b="1" i="0" dirty="0">
                <a:solidFill>
                  <a:srgbClr val="0D0D0D"/>
                </a:solidFill>
                <a:effectLst/>
              </a:rPr>
              <a:t>Backlog Items Priority Levels and Status</a:t>
            </a:r>
            <a:r>
              <a:rPr lang="en-US" sz="1500" b="0" i="0" dirty="0">
                <a:solidFill>
                  <a:srgbClr val="0D0D0D"/>
                </a:solidFill>
                <a:effectLst/>
              </a:rPr>
              <a:t>: Backlog items’ priority levels and status help teams organize and track work in an agile backlog. Priority levels (e.g., high, medium, low) define importance, while status (e.g., to-do, in progress, done) indicates progress toward completion.</a:t>
            </a:r>
            <a:endParaRPr lang="en-US" sz="1200" dirty="0">
              <a:solidFill>
                <a:srgbClr val="0D0D0D"/>
              </a:solidFill>
            </a:endParaRPr>
          </a:p>
        </p:txBody>
      </p:sp>
      <p:sp>
        <p:nvSpPr>
          <p:cNvPr id="3" name="TextBox 2">
            <a:extLst>
              <a:ext uri="{FF2B5EF4-FFF2-40B4-BE49-F238E27FC236}">
                <a16:creationId xmlns:a16="http://schemas.microsoft.com/office/drawing/2014/main" id="{CF9819E1-A68F-379D-6BB1-4CAD981187A1}"/>
              </a:ext>
            </a:extLst>
          </p:cNvPr>
          <p:cNvSpPr txBox="1"/>
          <p:nvPr/>
        </p:nvSpPr>
        <p:spPr>
          <a:xfrm>
            <a:off x="544599" y="6316337"/>
            <a:ext cx="10704425" cy="430887"/>
          </a:xfrm>
          <a:prstGeom prst="rect">
            <a:avLst/>
          </a:prstGeom>
          <a:noFill/>
        </p:spPr>
        <p:txBody>
          <a:bodyPr wrap="square" rtlCol="0">
            <a:spAutoFit/>
          </a:bodyPr>
          <a:lstStyle/>
          <a:p>
            <a:r>
              <a:rPr lang="en-US" sz="1100" dirty="0"/>
              <a:t>Source: </a:t>
            </a:r>
            <a:r>
              <a:rPr lang="en-US" sz="1100" dirty="0" err="1"/>
              <a:t>ProjectManager</a:t>
            </a:r>
            <a:r>
              <a:rPr lang="en-US" sz="1100" dirty="0"/>
              <a:t>; </a:t>
            </a:r>
            <a:r>
              <a:rPr lang="en-US" sz="1100" dirty="0">
                <a:hlinkClick r:id="rId3"/>
              </a:rPr>
              <a:t>https://www.projectmanager.com/blog/product-backlog-sprint-backlog</a:t>
            </a:r>
            <a:endParaRPr lang="en-US" sz="1100" dirty="0"/>
          </a:p>
          <a:p>
            <a:endParaRPr lang="en-PK" sz="1100" dirty="0"/>
          </a:p>
        </p:txBody>
      </p:sp>
    </p:spTree>
    <p:extLst>
      <p:ext uri="{BB962C8B-B14F-4D97-AF65-F5344CB8AC3E}">
        <p14:creationId xmlns:p14="http://schemas.microsoft.com/office/powerpoint/2010/main" val="1330382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604838" y="597345"/>
            <a:ext cx="10515600" cy="795200"/>
          </a:xfrm>
        </p:spPr>
        <p:txBody>
          <a:bodyPr>
            <a:normAutofit/>
          </a:bodyPr>
          <a:lstStyle/>
          <a:p>
            <a:r>
              <a:rPr lang="en-US" sz="2800" b="1" dirty="0">
                <a:solidFill>
                  <a:schemeClr val="bg2">
                    <a:lumMod val="50000"/>
                  </a:schemeClr>
                </a:solidFill>
                <a:latin typeface="+mn-lt"/>
              </a:rPr>
              <a:t>BACKLOG EXAMPLE</a:t>
            </a:r>
            <a:endParaRPr lang="en-PK" sz="2800" b="1" dirty="0">
              <a:solidFill>
                <a:schemeClr val="bg2">
                  <a:lumMod val="50000"/>
                </a:schemeClr>
              </a:solidFill>
              <a:latin typeface="+mn-lt"/>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9</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3">
            <a:extLst>
              <a:ext uri="{FF2B5EF4-FFF2-40B4-BE49-F238E27FC236}">
                <a16:creationId xmlns:a16="http://schemas.microsoft.com/office/drawing/2014/main" id="{E875B5BF-A8F2-B7C1-1439-F9A66E008B87}"/>
              </a:ext>
            </a:extLst>
          </p:cNvPr>
          <p:cNvPicPr>
            <a:picLocks noGrp="1" noChangeAspect="1"/>
          </p:cNvPicPr>
          <p:nvPr>
            <p:ph idx="1"/>
          </p:nvPr>
        </p:nvPicPr>
        <p:blipFill rotWithShape="1">
          <a:blip r:embed="rId3"/>
          <a:srcRect t="12813"/>
          <a:stretch/>
        </p:blipFill>
        <p:spPr>
          <a:xfrm>
            <a:off x="659606" y="1422109"/>
            <a:ext cx="10968038" cy="4738708"/>
          </a:xfrm>
          <a:prstGeom prst="rect">
            <a:avLst/>
          </a:prstGeom>
        </p:spPr>
      </p:pic>
      <p:sp>
        <p:nvSpPr>
          <p:cNvPr id="9" name="TextBox 8">
            <a:extLst>
              <a:ext uri="{FF2B5EF4-FFF2-40B4-BE49-F238E27FC236}">
                <a16:creationId xmlns:a16="http://schemas.microsoft.com/office/drawing/2014/main" id="{D5F7E278-8F9C-7DF8-E39A-8E1E128906EC}"/>
              </a:ext>
            </a:extLst>
          </p:cNvPr>
          <p:cNvSpPr txBox="1"/>
          <p:nvPr/>
        </p:nvSpPr>
        <p:spPr>
          <a:xfrm>
            <a:off x="544599" y="6316337"/>
            <a:ext cx="10704425" cy="430887"/>
          </a:xfrm>
          <a:prstGeom prst="rect">
            <a:avLst/>
          </a:prstGeom>
          <a:noFill/>
        </p:spPr>
        <p:txBody>
          <a:bodyPr wrap="square" rtlCol="0">
            <a:spAutoFit/>
          </a:bodyPr>
          <a:lstStyle/>
          <a:p>
            <a:r>
              <a:rPr lang="en-US" sz="1100" dirty="0"/>
              <a:t>Source: </a:t>
            </a:r>
            <a:r>
              <a:rPr lang="en-US" sz="1100" dirty="0" err="1"/>
              <a:t>ProjectManager</a:t>
            </a:r>
            <a:r>
              <a:rPr lang="en-US" sz="1100" dirty="0"/>
              <a:t>; </a:t>
            </a:r>
            <a:r>
              <a:rPr lang="en-US" sz="1100" dirty="0">
                <a:hlinkClick r:id="rId4"/>
              </a:rPr>
              <a:t>https://www.projectmanager.com/blog/product-backlog-sprint-backlog</a:t>
            </a:r>
            <a:endParaRPr lang="en-US" sz="1100" dirty="0"/>
          </a:p>
          <a:p>
            <a:endParaRPr lang="en-PK" sz="1100" dirty="0"/>
          </a:p>
        </p:txBody>
      </p:sp>
    </p:spTree>
    <p:extLst>
      <p:ext uri="{BB962C8B-B14F-4D97-AF65-F5344CB8AC3E}">
        <p14:creationId xmlns:p14="http://schemas.microsoft.com/office/powerpoint/2010/main" val="2861779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639011" y="826433"/>
            <a:ext cx="10515600" cy="795200"/>
          </a:xfrm>
        </p:spPr>
        <p:txBody>
          <a:bodyPr>
            <a:normAutofit/>
          </a:bodyPr>
          <a:lstStyle/>
          <a:p>
            <a:r>
              <a:rPr lang="en-US" sz="2800" b="1" dirty="0">
                <a:solidFill>
                  <a:schemeClr val="bg2">
                    <a:lumMod val="50000"/>
                  </a:schemeClr>
                </a:solidFill>
                <a:latin typeface="+mn-lt"/>
              </a:rPr>
              <a:t>SPRINT BACKLOG EXAMPLE</a:t>
            </a:r>
            <a:endParaRPr lang="en-PK" sz="2800" b="1" dirty="0">
              <a:solidFill>
                <a:schemeClr val="bg2">
                  <a:lumMod val="50000"/>
                </a:schemeClr>
              </a:solidFill>
              <a:latin typeface="+mn-lt"/>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10</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5F7E278-8F9C-7DF8-E39A-8E1E128906EC}"/>
              </a:ext>
            </a:extLst>
          </p:cNvPr>
          <p:cNvSpPr txBox="1"/>
          <p:nvPr/>
        </p:nvSpPr>
        <p:spPr>
          <a:xfrm>
            <a:off x="544599" y="6316337"/>
            <a:ext cx="10704425" cy="430887"/>
          </a:xfrm>
          <a:prstGeom prst="rect">
            <a:avLst/>
          </a:prstGeom>
          <a:noFill/>
        </p:spPr>
        <p:txBody>
          <a:bodyPr wrap="square" rtlCol="0">
            <a:spAutoFit/>
          </a:bodyPr>
          <a:lstStyle/>
          <a:p>
            <a:r>
              <a:rPr lang="en-US" sz="1100" dirty="0"/>
              <a:t>Source: </a:t>
            </a:r>
            <a:r>
              <a:rPr lang="en-US" sz="1100" dirty="0" err="1"/>
              <a:t>ProjectManager</a:t>
            </a:r>
            <a:r>
              <a:rPr lang="en-US" sz="1100" dirty="0"/>
              <a:t>; </a:t>
            </a:r>
            <a:r>
              <a:rPr lang="en-US" sz="1100" dirty="0">
                <a:hlinkClick r:id="rId3"/>
              </a:rPr>
              <a:t>https://www.projectmanager.com/blog/product-backlog-sprint-backlog</a:t>
            </a:r>
            <a:endParaRPr lang="en-US" sz="1100" dirty="0"/>
          </a:p>
          <a:p>
            <a:endParaRPr lang="en-PK" sz="1100" dirty="0"/>
          </a:p>
        </p:txBody>
      </p:sp>
      <p:pic>
        <p:nvPicPr>
          <p:cNvPr id="11" name="Picture 10">
            <a:extLst>
              <a:ext uri="{FF2B5EF4-FFF2-40B4-BE49-F238E27FC236}">
                <a16:creationId xmlns:a16="http://schemas.microsoft.com/office/drawing/2014/main" id="{D1B620EA-3EC9-7A1E-8D6B-44A6FB72684C}"/>
              </a:ext>
            </a:extLst>
          </p:cNvPr>
          <p:cNvPicPr>
            <a:picLocks noChangeAspect="1"/>
          </p:cNvPicPr>
          <p:nvPr/>
        </p:nvPicPr>
        <p:blipFill rotWithShape="1">
          <a:blip r:embed="rId4"/>
          <a:srcRect t="22762"/>
          <a:stretch/>
        </p:blipFill>
        <p:spPr>
          <a:xfrm>
            <a:off x="544599" y="2047875"/>
            <a:ext cx="11107749" cy="2833688"/>
          </a:xfrm>
          <a:prstGeom prst="rect">
            <a:avLst/>
          </a:prstGeom>
        </p:spPr>
      </p:pic>
    </p:spTree>
    <p:extLst>
      <p:ext uri="{BB962C8B-B14F-4D97-AF65-F5344CB8AC3E}">
        <p14:creationId xmlns:p14="http://schemas.microsoft.com/office/powerpoint/2010/main" val="98744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38200" y="744110"/>
            <a:ext cx="10515600" cy="795200"/>
          </a:xfrm>
        </p:spPr>
        <p:txBody>
          <a:bodyPr>
            <a:normAutofit/>
          </a:bodyPr>
          <a:lstStyle/>
          <a:p>
            <a:r>
              <a:rPr lang="en-US" sz="2800" b="1" dirty="0">
                <a:solidFill>
                  <a:schemeClr val="bg2">
                    <a:lumMod val="50000"/>
                  </a:schemeClr>
                </a:solidFill>
                <a:latin typeface="+mn-lt"/>
              </a:rPr>
              <a:t>PRODUCT BACKLOG VS. SPRINT BACKLOG</a:t>
            </a:r>
            <a:endParaRPr lang="en-PK" sz="2800" b="1" dirty="0">
              <a:solidFill>
                <a:schemeClr val="bg2">
                  <a:lumMod val="50000"/>
                </a:schemeClr>
              </a:solidFill>
              <a:latin typeface="+mn-lt"/>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11</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9" name="Content Placeholder 8">
            <a:extLst>
              <a:ext uri="{FF2B5EF4-FFF2-40B4-BE49-F238E27FC236}">
                <a16:creationId xmlns:a16="http://schemas.microsoft.com/office/drawing/2014/main" id="{084AA07C-CB11-193F-6502-D112C77E346F}"/>
              </a:ext>
            </a:extLst>
          </p:cNvPr>
          <p:cNvPicPr>
            <a:picLocks noGrp="1" noChangeAspect="1"/>
          </p:cNvPicPr>
          <p:nvPr>
            <p:ph idx="1"/>
          </p:nvPr>
        </p:nvPicPr>
        <p:blipFill>
          <a:blip r:embed="rId3">
            <a:biLevel thresh="75000"/>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1556965" y="1718817"/>
            <a:ext cx="8839946" cy="4418013"/>
          </a:xfrm>
        </p:spPr>
      </p:pic>
      <p:sp>
        <p:nvSpPr>
          <p:cNvPr id="11" name="TextBox 10">
            <a:extLst>
              <a:ext uri="{FF2B5EF4-FFF2-40B4-BE49-F238E27FC236}">
                <a16:creationId xmlns:a16="http://schemas.microsoft.com/office/drawing/2014/main" id="{5552E771-D204-1DED-39DC-290E46BD62C9}"/>
              </a:ext>
            </a:extLst>
          </p:cNvPr>
          <p:cNvSpPr txBox="1"/>
          <p:nvPr/>
        </p:nvSpPr>
        <p:spPr>
          <a:xfrm>
            <a:off x="544599" y="6316337"/>
            <a:ext cx="10704425" cy="430887"/>
          </a:xfrm>
          <a:prstGeom prst="rect">
            <a:avLst/>
          </a:prstGeom>
          <a:noFill/>
        </p:spPr>
        <p:txBody>
          <a:bodyPr wrap="square" rtlCol="0">
            <a:spAutoFit/>
          </a:bodyPr>
          <a:lstStyle/>
          <a:p>
            <a:r>
              <a:rPr lang="en-US" sz="1100" dirty="0"/>
              <a:t>Source: </a:t>
            </a:r>
            <a:r>
              <a:rPr lang="en-US" sz="1100" dirty="0" err="1"/>
              <a:t>ProjectManager</a:t>
            </a:r>
            <a:r>
              <a:rPr lang="en-US" sz="1100" dirty="0"/>
              <a:t>; </a:t>
            </a:r>
            <a:r>
              <a:rPr lang="en-US" sz="1100" dirty="0">
                <a:hlinkClick r:id="rId5"/>
              </a:rPr>
              <a:t>https://www.projectmanager.com/blog/product-backlog-sprint-backlog</a:t>
            </a:r>
            <a:endParaRPr lang="en-US" sz="1100" dirty="0"/>
          </a:p>
          <a:p>
            <a:endParaRPr lang="en-PK" sz="1100" dirty="0"/>
          </a:p>
        </p:txBody>
      </p:sp>
    </p:spTree>
    <p:extLst>
      <p:ext uri="{BB962C8B-B14F-4D97-AF65-F5344CB8AC3E}">
        <p14:creationId xmlns:p14="http://schemas.microsoft.com/office/powerpoint/2010/main" val="26568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38200" y="744110"/>
            <a:ext cx="10515600" cy="795200"/>
          </a:xfrm>
        </p:spPr>
        <p:txBody>
          <a:bodyPr>
            <a:normAutofit/>
          </a:bodyPr>
          <a:lstStyle/>
          <a:p>
            <a:r>
              <a:rPr lang="en-US" sz="2800" b="1" dirty="0">
                <a:solidFill>
                  <a:schemeClr val="bg2">
                    <a:lumMod val="50000"/>
                  </a:schemeClr>
                </a:solidFill>
                <a:latin typeface="+mn-lt"/>
              </a:rPr>
              <a:t>REAL WORLD EXAMPLES OF AGILE METHOD</a:t>
            </a:r>
            <a:endParaRPr lang="en-PK" sz="2800" b="1" dirty="0">
              <a:solidFill>
                <a:schemeClr val="bg2">
                  <a:lumMod val="50000"/>
                </a:schemeClr>
              </a:solidFill>
              <a:latin typeface="+mn-lt"/>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12</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9">
            <a:extLst>
              <a:ext uri="{FF2B5EF4-FFF2-40B4-BE49-F238E27FC236}">
                <a16:creationId xmlns:a16="http://schemas.microsoft.com/office/drawing/2014/main" id="{31A6037D-1363-DC9E-C8E6-E1D88FFE0CAD}"/>
              </a:ext>
            </a:extLst>
          </p:cNvPr>
          <p:cNvSpPr>
            <a:spLocks noGrp="1"/>
          </p:cNvSpPr>
          <p:nvPr>
            <p:ph idx="1"/>
          </p:nvPr>
        </p:nvSpPr>
        <p:spPr>
          <a:xfrm>
            <a:off x="838200" y="1695450"/>
            <a:ext cx="10515600" cy="4418439"/>
          </a:xfrm>
        </p:spPr>
        <p:txBody>
          <a:bodyPr>
            <a:normAutofit/>
          </a:bodyPr>
          <a:lstStyle/>
          <a:p>
            <a:pPr algn="l" fontAlgn="auto">
              <a:spcBef>
                <a:spcPts val="0"/>
              </a:spcBef>
              <a:buFont typeface="Arial" panose="020B0604020202020204" pitchFamily="34" charset="0"/>
              <a:buChar char="•"/>
            </a:pPr>
            <a:r>
              <a:rPr lang="en-US" sz="1600" b="1" dirty="0">
                <a:solidFill>
                  <a:srgbClr val="0070C0"/>
                </a:solidFill>
              </a:rPr>
              <a:t>PayPal </a:t>
            </a:r>
          </a:p>
          <a:p>
            <a:pPr marL="719138" indent="-452438" algn="l" fontAlgn="auto">
              <a:lnSpc>
                <a:spcPct val="120000"/>
              </a:lnSpc>
              <a:spcBef>
                <a:spcPts val="0"/>
              </a:spcBef>
              <a:buFont typeface="Courier New" panose="02070309020205020404" pitchFamily="49" charset="0"/>
              <a:buChar char="o"/>
            </a:pPr>
            <a:r>
              <a:rPr lang="en-US" sz="1400" b="0" i="0" dirty="0">
                <a:solidFill>
                  <a:srgbClr val="0D0D0D"/>
                </a:solidFill>
                <a:effectLst/>
              </a:rPr>
              <a:t>Problem: The company had become disorganized, bottlenecked, and slow to release new products.</a:t>
            </a:r>
          </a:p>
          <a:p>
            <a:pPr marL="719138" indent="-452438" algn="l" fontAlgn="auto">
              <a:lnSpc>
                <a:spcPct val="120000"/>
              </a:lnSpc>
              <a:spcBef>
                <a:spcPts val="0"/>
              </a:spcBef>
              <a:buFont typeface="Courier New" panose="02070309020205020404" pitchFamily="49" charset="0"/>
              <a:buChar char="o"/>
            </a:pPr>
            <a:r>
              <a:rPr lang="en-US" sz="1400" b="0" i="0" dirty="0">
                <a:solidFill>
                  <a:srgbClr val="0D0D0D"/>
                </a:solidFill>
                <a:effectLst/>
              </a:rPr>
              <a:t>Strategy:  </a:t>
            </a:r>
          </a:p>
          <a:p>
            <a:pPr marL="1176338" lvl="1" indent="-452438">
              <a:lnSpc>
                <a:spcPct val="120000"/>
              </a:lnSpc>
              <a:spcBef>
                <a:spcPts val="0"/>
              </a:spcBef>
              <a:buFont typeface="Courier New" panose="02070309020205020404" pitchFamily="49" charset="0"/>
              <a:buChar char="o"/>
            </a:pPr>
            <a:r>
              <a:rPr lang="en-US" sz="1400" b="0" i="0" dirty="0">
                <a:solidFill>
                  <a:srgbClr val="0D0D0D"/>
                </a:solidFill>
                <a:effectLst/>
              </a:rPr>
              <a:t>A team of 150 was assembled; coaches were engaged and formal training provided to thousands of employees. </a:t>
            </a:r>
          </a:p>
          <a:p>
            <a:pPr marL="1176338" lvl="1" indent="-452438">
              <a:lnSpc>
                <a:spcPct val="120000"/>
              </a:lnSpc>
              <a:spcBef>
                <a:spcPts val="0"/>
              </a:spcBef>
              <a:buFont typeface="Courier New" panose="02070309020205020404" pitchFamily="49" charset="0"/>
              <a:buChar char="o"/>
            </a:pPr>
            <a:r>
              <a:rPr lang="en-US" sz="1400" dirty="0">
                <a:solidFill>
                  <a:srgbClr val="0D0D0D"/>
                </a:solidFill>
              </a:rPr>
              <a:t>A </a:t>
            </a:r>
            <a:r>
              <a:rPr lang="en-US" sz="1400" b="0" i="0" dirty="0">
                <a:solidFill>
                  <a:srgbClr val="0D0D0D"/>
                </a:solidFill>
                <a:effectLst/>
              </a:rPr>
              <a:t>Scrum model was used and hundreds of cross-functional teams aligned around a two-week “sprint” (work) cycle. </a:t>
            </a:r>
            <a:endParaRPr lang="en-US" sz="1000" b="0" i="0" dirty="0">
              <a:solidFill>
                <a:srgbClr val="0D0D0D"/>
              </a:solidFill>
              <a:effectLst/>
            </a:endParaRPr>
          </a:p>
          <a:p>
            <a:pPr marL="719138" indent="-452438" algn="l" fontAlgn="auto">
              <a:lnSpc>
                <a:spcPct val="120000"/>
              </a:lnSpc>
              <a:spcBef>
                <a:spcPts val="0"/>
              </a:spcBef>
              <a:buFont typeface="Courier New" panose="02070309020205020404" pitchFamily="49" charset="0"/>
              <a:buChar char="o"/>
            </a:pPr>
            <a:r>
              <a:rPr lang="en-US" sz="1400" dirty="0">
                <a:solidFill>
                  <a:srgbClr val="0D0D0D"/>
                </a:solidFill>
              </a:rPr>
              <a:t>Results/Outcome: </a:t>
            </a:r>
            <a:r>
              <a:rPr lang="en-US" sz="1400" b="0" i="0" dirty="0">
                <a:solidFill>
                  <a:srgbClr val="0D0D0D"/>
                </a:solidFill>
                <a:effectLst/>
              </a:rPr>
              <a:t>Within six months, the company had delivered 58 new products. </a:t>
            </a:r>
          </a:p>
          <a:p>
            <a:pPr algn="l" fontAlgn="auto">
              <a:spcBef>
                <a:spcPts val="0"/>
              </a:spcBef>
              <a:buFont typeface="Arial" panose="020B0604020202020204" pitchFamily="34" charset="0"/>
              <a:buChar char="•"/>
            </a:pPr>
            <a:endParaRPr lang="en-US" sz="1600" b="1" dirty="0">
              <a:solidFill>
                <a:srgbClr val="0070C0"/>
              </a:solidFill>
            </a:endParaRPr>
          </a:p>
          <a:p>
            <a:pPr algn="l" fontAlgn="auto">
              <a:spcBef>
                <a:spcPts val="0"/>
              </a:spcBef>
              <a:buFont typeface="Arial" panose="020B0604020202020204" pitchFamily="34" charset="0"/>
              <a:buChar char="•"/>
            </a:pPr>
            <a:r>
              <a:rPr lang="en-US" sz="1600" b="1" dirty="0">
                <a:solidFill>
                  <a:srgbClr val="0070C0"/>
                </a:solidFill>
              </a:rPr>
              <a:t>Cisco</a:t>
            </a:r>
          </a:p>
          <a:p>
            <a:pPr marL="719138" indent="-452438" algn="l" fontAlgn="auto">
              <a:lnSpc>
                <a:spcPct val="120000"/>
              </a:lnSpc>
              <a:spcBef>
                <a:spcPts val="0"/>
              </a:spcBef>
              <a:buFont typeface="Courier New" panose="02070309020205020404" pitchFamily="49" charset="0"/>
              <a:buChar char="o"/>
            </a:pPr>
            <a:r>
              <a:rPr lang="en-US" sz="1400" b="0" i="0" dirty="0">
                <a:solidFill>
                  <a:srgbClr val="0D0D0D"/>
                </a:solidFill>
                <a:effectLst/>
              </a:rPr>
              <a:t>Problem: The waterfall methodology was inefficient and created delays.</a:t>
            </a:r>
          </a:p>
          <a:p>
            <a:pPr marL="719138" indent="-452438" algn="l" fontAlgn="auto">
              <a:lnSpc>
                <a:spcPct val="120000"/>
              </a:lnSpc>
              <a:spcBef>
                <a:spcPts val="0"/>
              </a:spcBef>
              <a:buFont typeface="Courier New" panose="02070309020205020404" pitchFamily="49" charset="0"/>
              <a:buChar char="o"/>
            </a:pPr>
            <a:r>
              <a:rPr lang="en-US" sz="1400" b="0" i="0" dirty="0">
                <a:solidFill>
                  <a:srgbClr val="0D0D0D"/>
                </a:solidFill>
                <a:effectLst/>
              </a:rPr>
              <a:t>Strategy:  Cisco implemented </a:t>
            </a:r>
            <a:r>
              <a:rPr lang="en-US" sz="1400" b="0" i="0" dirty="0" err="1">
                <a:solidFill>
                  <a:srgbClr val="0D0D0D"/>
                </a:solidFill>
                <a:effectLst/>
              </a:rPr>
              <a:t>SAFe</a:t>
            </a:r>
            <a:r>
              <a:rPr lang="en-US" sz="1400" b="0" i="0" dirty="0">
                <a:solidFill>
                  <a:srgbClr val="0D0D0D"/>
                </a:solidFill>
                <a:effectLst/>
              </a:rPr>
              <a:t> for its Subscription Billing Platform as part of a broader shift to Agile methodologies</a:t>
            </a:r>
          </a:p>
          <a:p>
            <a:pPr marL="1176338" lvl="1" indent="-452438">
              <a:lnSpc>
                <a:spcPct val="120000"/>
              </a:lnSpc>
              <a:spcBef>
                <a:spcPts val="0"/>
              </a:spcBef>
              <a:buFont typeface="Courier New" panose="02070309020205020404" pitchFamily="49" charset="0"/>
              <a:buChar char="o"/>
            </a:pPr>
            <a:r>
              <a:rPr lang="en-US" sz="1400" b="0" i="0" dirty="0">
                <a:solidFill>
                  <a:srgbClr val="0D0D0D"/>
                </a:solidFill>
                <a:effectLst/>
              </a:rPr>
              <a:t>Cisco created three Agile Release Trains: Capabilities, Defects/Fixes, and Projects. </a:t>
            </a:r>
          </a:p>
          <a:p>
            <a:pPr marL="1176338" lvl="1" indent="-452438">
              <a:lnSpc>
                <a:spcPct val="120000"/>
              </a:lnSpc>
              <a:spcBef>
                <a:spcPts val="0"/>
              </a:spcBef>
              <a:buFont typeface="Courier New" panose="02070309020205020404" pitchFamily="49" charset="0"/>
              <a:buChar char="o"/>
            </a:pPr>
            <a:r>
              <a:rPr lang="en-US" sz="1400" b="0" i="0" dirty="0">
                <a:solidFill>
                  <a:srgbClr val="0D0D0D"/>
                </a:solidFill>
                <a:effectLst/>
              </a:rPr>
              <a:t>Teams coordinated for 15 minutes each morning to share progress and determine priorities, which enabled greater cohesion. </a:t>
            </a:r>
          </a:p>
          <a:p>
            <a:pPr marL="719138" indent="-452438" algn="l" fontAlgn="auto">
              <a:lnSpc>
                <a:spcPct val="120000"/>
              </a:lnSpc>
              <a:spcBef>
                <a:spcPts val="0"/>
              </a:spcBef>
              <a:buFont typeface="Courier New" panose="02070309020205020404" pitchFamily="49" charset="0"/>
              <a:buChar char="o"/>
            </a:pPr>
            <a:r>
              <a:rPr lang="en-US" sz="1400" dirty="0">
                <a:solidFill>
                  <a:srgbClr val="0D0D0D"/>
                </a:solidFill>
              </a:rPr>
              <a:t>Results/Outcome: </a:t>
            </a:r>
          </a:p>
          <a:p>
            <a:pPr marL="1176338" lvl="1" indent="-452438">
              <a:lnSpc>
                <a:spcPct val="120000"/>
              </a:lnSpc>
              <a:spcBef>
                <a:spcPts val="0"/>
              </a:spcBef>
              <a:buFont typeface="Courier New" panose="02070309020205020404" pitchFamily="49" charset="0"/>
              <a:buChar char="o"/>
            </a:pPr>
            <a:r>
              <a:rPr lang="en-US" sz="1400" b="0" i="0" dirty="0">
                <a:solidFill>
                  <a:srgbClr val="0D0D0D"/>
                </a:solidFill>
                <a:effectLst/>
              </a:rPr>
              <a:t>Workflows accelerated, overtime hours decreased, employees felt better overall. </a:t>
            </a:r>
          </a:p>
          <a:p>
            <a:pPr marL="1176338" lvl="1" indent="-452438">
              <a:lnSpc>
                <a:spcPct val="120000"/>
              </a:lnSpc>
              <a:spcBef>
                <a:spcPts val="0"/>
              </a:spcBef>
              <a:buFont typeface="Courier New" panose="02070309020205020404" pitchFamily="49" charset="0"/>
              <a:buChar char="o"/>
            </a:pPr>
            <a:r>
              <a:rPr lang="en-US" sz="1400" b="0" i="0" dirty="0">
                <a:solidFill>
                  <a:srgbClr val="0D0D0D"/>
                </a:solidFill>
                <a:effectLst/>
              </a:rPr>
              <a:t>There was 40 percent reduction in defects </a:t>
            </a:r>
          </a:p>
          <a:p>
            <a:pPr marL="1176338" lvl="1" indent="-452438">
              <a:lnSpc>
                <a:spcPct val="120000"/>
              </a:lnSpc>
              <a:spcBef>
                <a:spcPts val="0"/>
              </a:spcBef>
              <a:buFont typeface="Courier New" panose="02070309020205020404" pitchFamily="49" charset="0"/>
              <a:buChar char="o"/>
            </a:pPr>
            <a:r>
              <a:rPr lang="en-US" sz="1400" b="0" i="0" dirty="0">
                <a:solidFill>
                  <a:srgbClr val="0D0D0D"/>
                </a:solidFill>
                <a:effectLst/>
              </a:rPr>
              <a:t>There was 14 percent improvement in Defect Removal Efficiency. </a:t>
            </a:r>
          </a:p>
        </p:txBody>
      </p:sp>
      <p:sp>
        <p:nvSpPr>
          <p:cNvPr id="3" name="TextBox 2">
            <a:extLst>
              <a:ext uri="{FF2B5EF4-FFF2-40B4-BE49-F238E27FC236}">
                <a16:creationId xmlns:a16="http://schemas.microsoft.com/office/drawing/2014/main" id="{CF9819E1-A68F-379D-6BB1-4CAD981187A1}"/>
              </a:ext>
            </a:extLst>
          </p:cNvPr>
          <p:cNvSpPr txBox="1"/>
          <p:nvPr/>
        </p:nvSpPr>
        <p:spPr>
          <a:xfrm>
            <a:off x="539837" y="6266212"/>
            <a:ext cx="10704425" cy="430887"/>
          </a:xfrm>
          <a:prstGeom prst="rect">
            <a:avLst/>
          </a:prstGeom>
          <a:noFill/>
        </p:spPr>
        <p:txBody>
          <a:bodyPr wrap="square" rtlCol="0">
            <a:spAutoFit/>
          </a:bodyPr>
          <a:lstStyle/>
          <a:p>
            <a:r>
              <a:rPr lang="en-US" sz="1100" dirty="0"/>
              <a:t>Source: </a:t>
            </a:r>
            <a:r>
              <a:rPr lang="en-US" sz="1100" dirty="0" err="1"/>
              <a:t>smartsheet</a:t>
            </a:r>
            <a:r>
              <a:rPr lang="en-US" sz="1100" dirty="0"/>
              <a:t>; </a:t>
            </a:r>
            <a:r>
              <a:rPr lang="en-US" sz="1100" dirty="0">
                <a:hlinkClick r:id="rId3"/>
              </a:rPr>
              <a:t>https://www.smartsheet.com/content/agile-project-management-examples?srsltid=AfmBOopMdRNNTKAQvCZlYrbx7yQp5P_D7eSP8tDyAUe3OEaNwdaFxN9s</a:t>
            </a:r>
            <a:endParaRPr lang="en-US" sz="1100" dirty="0"/>
          </a:p>
          <a:p>
            <a:endParaRPr lang="en-PK" sz="1100" dirty="0"/>
          </a:p>
        </p:txBody>
      </p:sp>
    </p:spTree>
    <p:extLst>
      <p:ext uri="{BB962C8B-B14F-4D97-AF65-F5344CB8AC3E}">
        <p14:creationId xmlns:p14="http://schemas.microsoft.com/office/powerpoint/2010/main" val="2800068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563349" y="414178"/>
            <a:ext cx="10622128" cy="704938"/>
          </a:xfrm>
        </p:spPr>
        <p:txBody>
          <a:bodyPr>
            <a:normAutofit/>
          </a:bodyPr>
          <a:lstStyle/>
          <a:p>
            <a:r>
              <a:rPr lang="en-US" dirty="0">
                <a:solidFill>
                  <a:schemeClr val="bg2">
                    <a:lumMod val="50000"/>
                  </a:schemeClr>
                </a:solidFill>
                <a:latin typeface="+mn-lt"/>
              </a:rPr>
              <a:t>ACTIVITY</a:t>
            </a:r>
            <a:endParaRPr lang="en-PK" sz="2800" b="0" dirty="0">
              <a:solidFill>
                <a:schemeClr val="tx1"/>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563347" y="1187355"/>
            <a:ext cx="11269261" cy="5214718"/>
          </a:xfrm>
        </p:spPr>
        <p:txBody>
          <a:bodyPr>
            <a:noAutofit/>
          </a:bodyPr>
          <a:lstStyle/>
          <a:p>
            <a:pPr marL="0" indent="0" algn="l">
              <a:spcBef>
                <a:spcPts val="600"/>
              </a:spcBef>
              <a:spcAft>
                <a:spcPts val="600"/>
              </a:spcAft>
              <a:buNone/>
            </a:pPr>
            <a:r>
              <a:rPr lang="en-US" sz="1600" dirty="0"/>
              <a:t>Imagine a hypothetical situation in which a business is facing declining profits and you are called upon to analyze the problem as a BA</a:t>
            </a:r>
          </a:p>
          <a:p>
            <a:pPr>
              <a:spcBef>
                <a:spcPts val="600"/>
              </a:spcBef>
              <a:spcAft>
                <a:spcPts val="600"/>
              </a:spcAft>
            </a:pPr>
            <a:r>
              <a:rPr lang="en-US" sz="1600" dirty="0"/>
              <a:t>Describe the situation</a:t>
            </a:r>
          </a:p>
          <a:p>
            <a:pPr>
              <a:spcBef>
                <a:spcPts val="600"/>
              </a:spcBef>
              <a:spcAft>
                <a:spcPts val="600"/>
              </a:spcAft>
            </a:pPr>
            <a:r>
              <a:rPr lang="en-US" sz="1600" dirty="0"/>
              <a:t>Provide descriptive statistics relevant to the situation, and perform </a:t>
            </a:r>
          </a:p>
          <a:p>
            <a:pPr lvl="1">
              <a:lnSpc>
                <a:spcPct val="100000"/>
              </a:lnSpc>
              <a:spcBef>
                <a:spcPts val="0"/>
              </a:spcBef>
            </a:pPr>
            <a:r>
              <a:rPr lang="en-US" sz="1400" dirty="0"/>
              <a:t>Diagnostic analysis</a:t>
            </a:r>
          </a:p>
          <a:p>
            <a:pPr lvl="1">
              <a:lnSpc>
                <a:spcPct val="100000"/>
              </a:lnSpc>
              <a:spcBef>
                <a:spcPts val="0"/>
              </a:spcBef>
            </a:pPr>
            <a:r>
              <a:rPr lang="en-US" sz="1400" dirty="0"/>
              <a:t>Predictive analysis</a:t>
            </a:r>
          </a:p>
          <a:p>
            <a:pPr lvl="1">
              <a:lnSpc>
                <a:spcPct val="100000"/>
              </a:lnSpc>
              <a:spcBef>
                <a:spcPts val="0"/>
              </a:spcBef>
            </a:pPr>
            <a:r>
              <a:rPr lang="en-US" sz="1400" dirty="0"/>
              <a:t>Prescriptive analysis</a:t>
            </a:r>
          </a:p>
          <a:p>
            <a:pPr>
              <a:spcBef>
                <a:spcPts val="0"/>
              </a:spcBef>
            </a:pPr>
            <a:endParaRPr lang="en-US" sz="1600" dirty="0"/>
          </a:p>
          <a:p>
            <a:pPr>
              <a:spcBef>
                <a:spcPts val="600"/>
              </a:spcBef>
              <a:spcAft>
                <a:spcPts val="600"/>
              </a:spcAft>
            </a:pPr>
            <a:r>
              <a:rPr lang="en-US" sz="1600" dirty="0"/>
              <a:t>Using the prescriptive analysis as a guide, describe the agile methodology you will use for your project to resolve the business problem and the sprint activities for four teams </a:t>
            </a:r>
          </a:p>
          <a:p>
            <a:pPr>
              <a:spcBef>
                <a:spcPts val="600"/>
              </a:spcBef>
              <a:spcAft>
                <a:spcPts val="600"/>
              </a:spcAft>
            </a:pPr>
            <a:r>
              <a:rPr lang="en-US" sz="1600" dirty="0"/>
              <a:t>Last, describe four backlog items related to your project in the following table</a:t>
            </a:r>
          </a:p>
          <a:p>
            <a:pPr>
              <a:spcBef>
                <a:spcPts val="600"/>
              </a:spcBef>
              <a:spcAft>
                <a:spcPts val="600"/>
              </a:spcAft>
            </a:pPr>
            <a:endParaRPr lang="en-US" sz="1600" dirty="0"/>
          </a:p>
          <a:p>
            <a:pPr marL="0" indent="0">
              <a:spcBef>
                <a:spcPts val="600"/>
              </a:spcBef>
              <a:spcAft>
                <a:spcPts val="600"/>
              </a:spcAft>
              <a:buNone/>
            </a:pPr>
            <a:r>
              <a:rPr lang="en-US" sz="1600" dirty="0"/>
              <a:t>  </a:t>
            </a:r>
          </a:p>
          <a:p>
            <a:pPr marL="0" indent="0" algn="l">
              <a:spcBef>
                <a:spcPts val="600"/>
              </a:spcBef>
              <a:spcAft>
                <a:spcPts val="600"/>
              </a:spcAft>
              <a:buNone/>
            </a:pPr>
            <a:endParaRPr lang="en-US" sz="1400"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13</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8">
            <a:extLst>
              <a:ext uri="{FF2B5EF4-FFF2-40B4-BE49-F238E27FC236}">
                <a16:creationId xmlns:a16="http://schemas.microsoft.com/office/drawing/2014/main" id="{69D6571E-313A-38BF-3809-2D48FA52E040}"/>
              </a:ext>
            </a:extLst>
          </p:cNvPr>
          <p:cNvGraphicFramePr>
            <a:graphicFrameLocks noGrp="1"/>
          </p:cNvGraphicFramePr>
          <p:nvPr>
            <p:extLst>
              <p:ext uri="{D42A27DB-BD31-4B8C-83A1-F6EECF244321}">
                <p14:modId xmlns:p14="http://schemas.microsoft.com/office/powerpoint/2010/main" val="1357847402"/>
              </p:ext>
            </p:extLst>
          </p:nvPr>
        </p:nvGraphicFramePr>
        <p:xfrm>
          <a:off x="804225" y="4262651"/>
          <a:ext cx="10587102" cy="1947651"/>
        </p:xfrm>
        <a:graphic>
          <a:graphicData uri="http://schemas.openxmlformats.org/drawingml/2006/table">
            <a:tbl>
              <a:tblPr firstRow="1" bandRow="1">
                <a:tableStyleId>{F5AB1C69-6EDB-4FF4-983F-18BD219EF322}</a:tableStyleId>
              </a:tblPr>
              <a:tblGrid>
                <a:gridCol w="968868">
                  <a:extLst>
                    <a:ext uri="{9D8B030D-6E8A-4147-A177-3AD203B41FA5}">
                      <a16:colId xmlns:a16="http://schemas.microsoft.com/office/drawing/2014/main" val="4056814665"/>
                    </a:ext>
                  </a:extLst>
                </a:gridCol>
                <a:gridCol w="959829">
                  <a:extLst>
                    <a:ext uri="{9D8B030D-6E8A-4147-A177-3AD203B41FA5}">
                      <a16:colId xmlns:a16="http://schemas.microsoft.com/office/drawing/2014/main" val="2955455587"/>
                    </a:ext>
                  </a:extLst>
                </a:gridCol>
                <a:gridCol w="1236915">
                  <a:extLst>
                    <a:ext uri="{9D8B030D-6E8A-4147-A177-3AD203B41FA5}">
                      <a16:colId xmlns:a16="http://schemas.microsoft.com/office/drawing/2014/main" val="523353460"/>
                    </a:ext>
                  </a:extLst>
                </a:gridCol>
                <a:gridCol w="1236915">
                  <a:extLst>
                    <a:ext uri="{9D8B030D-6E8A-4147-A177-3AD203B41FA5}">
                      <a16:colId xmlns:a16="http://schemas.microsoft.com/office/drawing/2014/main" val="173540668"/>
                    </a:ext>
                  </a:extLst>
                </a:gridCol>
                <a:gridCol w="1236915">
                  <a:extLst>
                    <a:ext uri="{9D8B030D-6E8A-4147-A177-3AD203B41FA5}">
                      <a16:colId xmlns:a16="http://schemas.microsoft.com/office/drawing/2014/main" val="824619750"/>
                    </a:ext>
                  </a:extLst>
                </a:gridCol>
                <a:gridCol w="1236915">
                  <a:extLst>
                    <a:ext uri="{9D8B030D-6E8A-4147-A177-3AD203B41FA5}">
                      <a16:colId xmlns:a16="http://schemas.microsoft.com/office/drawing/2014/main" val="194869386"/>
                    </a:ext>
                  </a:extLst>
                </a:gridCol>
                <a:gridCol w="1236915">
                  <a:extLst>
                    <a:ext uri="{9D8B030D-6E8A-4147-A177-3AD203B41FA5}">
                      <a16:colId xmlns:a16="http://schemas.microsoft.com/office/drawing/2014/main" val="3420613712"/>
                    </a:ext>
                  </a:extLst>
                </a:gridCol>
                <a:gridCol w="1236915">
                  <a:extLst>
                    <a:ext uri="{9D8B030D-6E8A-4147-A177-3AD203B41FA5}">
                      <a16:colId xmlns:a16="http://schemas.microsoft.com/office/drawing/2014/main" val="1135975836"/>
                    </a:ext>
                  </a:extLst>
                </a:gridCol>
                <a:gridCol w="1236915">
                  <a:extLst>
                    <a:ext uri="{9D8B030D-6E8A-4147-A177-3AD203B41FA5}">
                      <a16:colId xmlns:a16="http://schemas.microsoft.com/office/drawing/2014/main" val="258364999"/>
                    </a:ext>
                  </a:extLst>
                </a:gridCol>
              </a:tblGrid>
              <a:tr h="850371">
                <a:tc>
                  <a:txBody>
                    <a:bodyPr/>
                    <a:lstStyle/>
                    <a:p>
                      <a:r>
                        <a:rPr lang="en-US" sz="1400" dirty="0">
                          <a:solidFill>
                            <a:schemeClr val="bg1"/>
                          </a:solidFill>
                        </a:rPr>
                        <a:t>Backlog Item No.</a:t>
                      </a:r>
                      <a:endParaRPr lang="en-PK" sz="1400" dirty="0">
                        <a:solidFill>
                          <a:schemeClr val="bg1"/>
                        </a:solidFill>
                      </a:endParaRPr>
                    </a:p>
                  </a:txBody>
                  <a:tcPr/>
                </a:tc>
                <a:tc>
                  <a:txBody>
                    <a:bodyPr/>
                    <a:lstStyle/>
                    <a:p>
                      <a:r>
                        <a:rPr lang="en-US" sz="1400" dirty="0">
                          <a:solidFill>
                            <a:schemeClr val="bg1"/>
                          </a:solidFill>
                        </a:rPr>
                        <a:t>Type of Backlog item</a:t>
                      </a:r>
                      <a:endParaRPr lang="en-PK" sz="1400" dirty="0">
                        <a:solidFill>
                          <a:schemeClr val="bg1"/>
                        </a:solidFill>
                      </a:endParaRPr>
                    </a:p>
                  </a:txBody>
                  <a:tcPr/>
                </a:tc>
                <a:tc>
                  <a:txBody>
                    <a:bodyPr/>
                    <a:lstStyle/>
                    <a:p>
                      <a:r>
                        <a:rPr lang="en-US" sz="1400" dirty="0">
                          <a:solidFill>
                            <a:schemeClr val="bg1"/>
                          </a:solidFill>
                        </a:rPr>
                        <a:t>Description</a:t>
                      </a:r>
                      <a:endParaRPr lang="en-PK" sz="1400" dirty="0">
                        <a:solidFill>
                          <a:schemeClr val="bg1"/>
                        </a:solidFill>
                      </a:endParaRPr>
                    </a:p>
                  </a:txBody>
                  <a:tcPr/>
                </a:tc>
                <a:tc>
                  <a:txBody>
                    <a:bodyPr/>
                    <a:lstStyle/>
                    <a:p>
                      <a:r>
                        <a:rPr lang="en-US" sz="1400" dirty="0">
                          <a:solidFill>
                            <a:schemeClr val="bg1"/>
                          </a:solidFill>
                        </a:rPr>
                        <a:t>Priority</a:t>
                      </a:r>
                      <a:endParaRPr lang="en-PK" sz="1400" dirty="0">
                        <a:solidFill>
                          <a:schemeClr val="bg1"/>
                        </a:solidFill>
                      </a:endParaRPr>
                    </a:p>
                  </a:txBody>
                  <a:tcPr/>
                </a:tc>
                <a:tc>
                  <a:txBody>
                    <a:bodyPr/>
                    <a:lstStyle/>
                    <a:p>
                      <a:r>
                        <a:rPr lang="en-US" sz="1400" dirty="0">
                          <a:solidFill>
                            <a:schemeClr val="bg1"/>
                          </a:solidFill>
                        </a:rPr>
                        <a:t>Story Points</a:t>
                      </a:r>
                      <a:endParaRPr lang="en-PK" sz="1400" dirty="0">
                        <a:solidFill>
                          <a:schemeClr val="bg1"/>
                        </a:solidFill>
                      </a:endParaRPr>
                    </a:p>
                  </a:txBody>
                  <a:tcPr/>
                </a:tc>
                <a:tc>
                  <a:txBody>
                    <a:bodyPr/>
                    <a:lstStyle/>
                    <a:p>
                      <a:r>
                        <a:rPr lang="en-US" sz="1400" dirty="0">
                          <a:solidFill>
                            <a:schemeClr val="bg1"/>
                          </a:solidFill>
                        </a:rPr>
                        <a:t>Status</a:t>
                      </a:r>
                      <a:endParaRPr lang="en-PK" sz="1400" dirty="0">
                        <a:solidFill>
                          <a:schemeClr val="bg1"/>
                        </a:solidFill>
                      </a:endParaRPr>
                    </a:p>
                  </a:txBody>
                  <a:tcPr/>
                </a:tc>
                <a:tc>
                  <a:txBody>
                    <a:bodyPr/>
                    <a:lstStyle/>
                    <a:p>
                      <a:r>
                        <a:rPr lang="en-US" sz="1400" dirty="0">
                          <a:solidFill>
                            <a:schemeClr val="bg1"/>
                          </a:solidFill>
                        </a:rPr>
                        <a:t>Sprint</a:t>
                      </a:r>
                      <a:endParaRPr lang="en-PK" sz="1400" dirty="0">
                        <a:solidFill>
                          <a:schemeClr val="bg1"/>
                        </a:solidFill>
                      </a:endParaRPr>
                    </a:p>
                  </a:txBody>
                  <a:tcPr/>
                </a:tc>
                <a:tc>
                  <a:txBody>
                    <a:bodyPr/>
                    <a:lstStyle/>
                    <a:p>
                      <a:r>
                        <a:rPr lang="en-US" sz="1400" dirty="0">
                          <a:solidFill>
                            <a:schemeClr val="bg1"/>
                          </a:solidFill>
                        </a:rPr>
                        <a:t>Assignee</a:t>
                      </a:r>
                      <a:endParaRPr lang="en-PK" sz="1400" dirty="0">
                        <a:solidFill>
                          <a:schemeClr val="bg1"/>
                        </a:solidFill>
                      </a:endParaRPr>
                    </a:p>
                  </a:txBody>
                  <a:tcPr/>
                </a:tc>
                <a:tc>
                  <a:txBody>
                    <a:bodyPr/>
                    <a:lstStyle/>
                    <a:p>
                      <a:r>
                        <a:rPr lang="en-US" sz="1400" dirty="0">
                          <a:solidFill>
                            <a:schemeClr val="bg1"/>
                          </a:solidFill>
                        </a:rPr>
                        <a:t>Acceptance Criteria</a:t>
                      </a:r>
                      <a:endParaRPr lang="en-PK" sz="1400" dirty="0">
                        <a:solidFill>
                          <a:schemeClr val="bg1"/>
                        </a:solidFill>
                      </a:endParaRPr>
                    </a:p>
                  </a:txBody>
                  <a:tcPr/>
                </a:tc>
                <a:extLst>
                  <a:ext uri="{0D108BD9-81ED-4DB2-BD59-A6C34878D82A}">
                    <a16:rowId xmlns:a16="http://schemas.microsoft.com/office/drawing/2014/main" val="339072914"/>
                  </a:ext>
                </a:extLst>
              </a:tr>
              <a:tr h="246882">
                <a:tc>
                  <a:txBody>
                    <a:bodyPr/>
                    <a:lstStyle/>
                    <a:p>
                      <a:endParaRPr lang="en-US"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extLst>
                  <a:ext uri="{0D108BD9-81ED-4DB2-BD59-A6C34878D82A}">
                    <a16:rowId xmlns:a16="http://schemas.microsoft.com/office/drawing/2014/main" val="32889350"/>
                  </a:ext>
                </a:extLst>
              </a:tr>
              <a:tr h="246882">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extLst>
                  <a:ext uri="{0D108BD9-81ED-4DB2-BD59-A6C34878D82A}">
                    <a16:rowId xmlns:a16="http://schemas.microsoft.com/office/drawing/2014/main" val="348395877"/>
                  </a:ext>
                </a:extLst>
              </a:tr>
              <a:tr h="246882">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extLst>
                  <a:ext uri="{0D108BD9-81ED-4DB2-BD59-A6C34878D82A}">
                    <a16:rowId xmlns:a16="http://schemas.microsoft.com/office/drawing/2014/main" val="2775365955"/>
                  </a:ext>
                </a:extLst>
              </a:tr>
              <a:tr h="246882">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tc>
                  <a:txBody>
                    <a:bodyPr/>
                    <a:lstStyle/>
                    <a:p>
                      <a:endParaRPr lang="en-PK" sz="1200" dirty="0"/>
                    </a:p>
                  </a:txBody>
                  <a:tcPr/>
                </a:tc>
                <a:extLst>
                  <a:ext uri="{0D108BD9-81ED-4DB2-BD59-A6C34878D82A}">
                    <a16:rowId xmlns:a16="http://schemas.microsoft.com/office/drawing/2014/main" val="2818161106"/>
                  </a:ext>
                </a:extLst>
              </a:tr>
            </a:tbl>
          </a:graphicData>
        </a:graphic>
      </p:graphicFrame>
    </p:spTree>
    <p:extLst>
      <p:ext uri="{BB962C8B-B14F-4D97-AF65-F5344CB8AC3E}">
        <p14:creationId xmlns:p14="http://schemas.microsoft.com/office/powerpoint/2010/main" val="1010659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67860" y="1283136"/>
            <a:ext cx="10515600" cy="847650"/>
          </a:xfrm>
        </p:spPr>
        <p:txBody>
          <a:bodyPr>
            <a:normAutofit/>
          </a:bodyPr>
          <a:lstStyle/>
          <a:p>
            <a:r>
              <a:rPr lang="en-US" dirty="0">
                <a:solidFill>
                  <a:schemeClr val="bg2">
                    <a:lumMod val="50000"/>
                  </a:schemeClr>
                </a:solidFill>
                <a:latin typeface="+mn-lt"/>
              </a:rPr>
              <a:t>ESSENTIAL READINGS</a:t>
            </a:r>
            <a:endParaRPr lang="en-PK" sz="2800" b="1" dirty="0">
              <a:solidFill>
                <a:schemeClr val="bg2">
                  <a:lumMod val="50000"/>
                </a:schemeClr>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767860" y="2370160"/>
            <a:ext cx="11101389" cy="3629257"/>
          </a:xfrm>
        </p:spPr>
        <p:txBody>
          <a:bodyPr>
            <a:noAutofit/>
          </a:bodyPr>
          <a:lstStyle/>
          <a:p>
            <a:pPr marL="0" indent="0">
              <a:lnSpc>
                <a:spcPct val="100000"/>
              </a:lnSpc>
              <a:spcBef>
                <a:spcPts val="600"/>
              </a:spcBef>
              <a:spcAft>
                <a:spcPts val="600"/>
              </a:spcAft>
              <a:buNone/>
            </a:pPr>
            <a:r>
              <a:rPr lang="en-US" sz="1400" b="1" dirty="0">
                <a:solidFill>
                  <a:srgbClr val="0070C0"/>
                </a:solidFill>
              </a:rPr>
              <a:t>ACCOUNDEMY:</a:t>
            </a:r>
            <a:r>
              <a:rPr lang="en-US" sz="1400" dirty="0"/>
              <a:t> “Introduction to Financial Accounting and The Financial Statements</a:t>
            </a:r>
            <a:r>
              <a:rPr lang="en-US" sz="1400" i="0" dirty="0">
                <a:effectLst/>
              </a:rPr>
              <a:t>”, available at </a:t>
            </a:r>
            <a:r>
              <a:rPr lang="en-US" sz="1400" dirty="0">
                <a:hlinkClick r:id="rId2"/>
              </a:rPr>
              <a:t>https://accountdemy.com/introduction-to-financial-accounting-and-the-financial-statements/ </a:t>
            </a:r>
            <a:endParaRPr lang="en-US" sz="1400" dirty="0"/>
          </a:p>
          <a:p>
            <a:pPr marL="0" indent="0">
              <a:lnSpc>
                <a:spcPct val="100000"/>
              </a:lnSpc>
              <a:spcBef>
                <a:spcPts val="600"/>
              </a:spcBef>
              <a:spcAft>
                <a:spcPts val="600"/>
              </a:spcAft>
              <a:buNone/>
            </a:pPr>
            <a:r>
              <a:rPr lang="en-US" sz="1400" b="1" dirty="0">
                <a:solidFill>
                  <a:srgbClr val="0070C0"/>
                </a:solidFill>
              </a:rPr>
              <a:t>DATAPATROL:</a:t>
            </a:r>
            <a:r>
              <a:rPr lang="en-US" sz="1400" dirty="0"/>
              <a:t> “Business data</a:t>
            </a:r>
            <a:r>
              <a:rPr lang="en-US" sz="1400" i="0" dirty="0">
                <a:effectLst/>
              </a:rPr>
              <a:t>”, available at </a:t>
            </a:r>
            <a:r>
              <a:rPr lang="en-US" sz="1400" dirty="0">
                <a:hlinkClick r:id="rId3"/>
              </a:rPr>
              <a:t>https://datapatrol.com/business-data-why-is-it-important-for-your-organization/</a:t>
            </a:r>
            <a:endParaRPr lang="en-US" sz="1400" dirty="0"/>
          </a:p>
          <a:p>
            <a:pPr marL="0" indent="0">
              <a:lnSpc>
                <a:spcPct val="100000"/>
              </a:lnSpc>
              <a:spcBef>
                <a:spcPts val="600"/>
              </a:spcBef>
              <a:spcAft>
                <a:spcPts val="600"/>
              </a:spcAft>
              <a:buNone/>
            </a:pPr>
            <a:r>
              <a:rPr lang="en-US" sz="1400" b="1" dirty="0">
                <a:solidFill>
                  <a:srgbClr val="0070C0"/>
                </a:solidFill>
              </a:rPr>
              <a:t>indeed:</a:t>
            </a:r>
            <a:r>
              <a:rPr lang="en-US" sz="1400" dirty="0"/>
              <a:t> “</a:t>
            </a:r>
            <a:r>
              <a:rPr lang="en-US" sz="1400" i="0" dirty="0">
                <a:effectLst/>
              </a:rPr>
              <a:t>What is data in business”, available at </a:t>
            </a:r>
            <a:r>
              <a:rPr lang="en-US" sz="1400" dirty="0">
                <a:hlinkClick r:id="rId4"/>
              </a:rPr>
              <a:t>https://www.indeed.com/career-advice/career-development/data-in-business</a:t>
            </a:r>
            <a:endParaRPr lang="en-US" sz="1400" dirty="0"/>
          </a:p>
          <a:p>
            <a:pPr marL="0" indent="0">
              <a:lnSpc>
                <a:spcPct val="100000"/>
              </a:lnSpc>
              <a:spcBef>
                <a:spcPts val="600"/>
              </a:spcBef>
              <a:spcAft>
                <a:spcPts val="600"/>
              </a:spcAft>
              <a:buNone/>
            </a:pPr>
            <a:r>
              <a:rPr lang="en-US" sz="1400" b="1" dirty="0">
                <a:solidFill>
                  <a:srgbClr val="0070C0"/>
                </a:solidFill>
              </a:rPr>
              <a:t>Qlik:</a:t>
            </a:r>
            <a:r>
              <a:rPr lang="en-US" sz="1400" dirty="0"/>
              <a:t> “</a:t>
            </a:r>
            <a:r>
              <a:rPr lang="en-US" sz="1400" i="0" dirty="0">
                <a:effectLst/>
              </a:rPr>
              <a:t>Financial analysis”, available at </a:t>
            </a:r>
            <a:r>
              <a:rPr lang="en-US" sz="1400" dirty="0">
                <a:hlinkClick r:id="rId5"/>
              </a:rPr>
              <a:t>https://www.qlik.com/us/data-analytics/financial-analysis </a:t>
            </a:r>
            <a:endParaRPr lang="en-US" sz="1400" dirty="0"/>
          </a:p>
          <a:p>
            <a:pPr marL="0" indent="0">
              <a:lnSpc>
                <a:spcPct val="100000"/>
              </a:lnSpc>
              <a:spcBef>
                <a:spcPts val="600"/>
              </a:spcBef>
              <a:spcAft>
                <a:spcPts val="600"/>
              </a:spcAft>
              <a:buNone/>
            </a:pPr>
            <a:endParaRPr lang="en-US" sz="1400"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14</a:t>
            </a:fld>
            <a:endParaRPr lang="en-PK" dirty="0"/>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36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85812" y="971550"/>
            <a:ext cx="10515600" cy="847650"/>
          </a:xfrm>
        </p:spPr>
        <p:txBody>
          <a:bodyPr>
            <a:normAutofit/>
          </a:bodyPr>
          <a:lstStyle/>
          <a:p>
            <a:r>
              <a:rPr lang="en-US" dirty="0">
                <a:solidFill>
                  <a:srgbClr val="C00000"/>
                </a:solidFill>
                <a:latin typeface="+mn-lt"/>
              </a:rPr>
              <a:t>REFERENCE BOOKS OPTIONS</a:t>
            </a: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838197" y="2009701"/>
            <a:ext cx="10515601" cy="4241734"/>
          </a:xfrm>
        </p:spPr>
        <p:txBody>
          <a:bodyPr>
            <a:noAutofit/>
          </a:bodyPr>
          <a:lstStyle/>
          <a:p>
            <a:pPr marL="0" indent="0">
              <a:lnSpc>
                <a:spcPct val="110000"/>
              </a:lnSpc>
              <a:spcBef>
                <a:spcPts val="0"/>
              </a:spcBef>
              <a:buNone/>
            </a:pPr>
            <a:endParaRPr lang="en-US" sz="1600" dirty="0"/>
          </a:p>
          <a:p>
            <a:pPr>
              <a:lnSpc>
                <a:spcPct val="110000"/>
              </a:lnSpc>
              <a:spcBef>
                <a:spcPts val="0"/>
              </a:spcBef>
              <a:buFontTx/>
              <a:buChar char="-"/>
            </a:pPr>
            <a:r>
              <a:rPr lang="en-US" sz="1600" b="1" dirty="0"/>
              <a:t>BUSINESS ANALYSIS BODY OF KNOWLEDGE (BABOK); </a:t>
            </a:r>
            <a:r>
              <a:rPr lang="en-US" sz="1600" dirty="0"/>
              <a:t>IIBA Bookstore: </a:t>
            </a:r>
            <a:r>
              <a:rPr lang="en-US" sz="1600" i="0" dirty="0">
                <a:effectLst/>
                <a:hlinkClick r:id="rId2">
                  <a:extLst>
                    <a:ext uri="{A12FA001-AC4F-418D-AE19-62706E023703}">
                      <ahyp:hlinkClr xmlns:ahyp="http://schemas.microsoft.com/office/drawing/2018/hyperlinkcolor" val="tx"/>
                    </a:ext>
                  </a:extLst>
                </a:hlinkClick>
              </a:rPr>
              <a:t>https://www.iiba.org/career-resources/a-business-analysis-professionals-foundation-for-success/babok/</a:t>
            </a:r>
            <a:endParaRPr lang="en-US" sz="1600" i="0" dirty="0">
              <a:effectLst/>
            </a:endParaRPr>
          </a:p>
          <a:p>
            <a:pPr marL="0" indent="0">
              <a:lnSpc>
                <a:spcPct val="110000"/>
              </a:lnSpc>
              <a:spcBef>
                <a:spcPts val="0"/>
              </a:spcBef>
              <a:buNone/>
            </a:pPr>
            <a:endParaRPr lang="en-US" sz="1600" i="0" dirty="0">
              <a:effectLst/>
            </a:endParaRPr>
          </a:p>
          <a:p>
            <a:pPr>
              <a:lnSpc>
                <a:spcPct val="110000"/>
              </a:lnSpc>
              <a:spcBef>
                <a:spcPts val="0"/>
              </a:spcBef>
              <a:buFontTx/>
              <a:buChar char="-"/>
            </a:pPr>
            <a:r>
              <a:rPr lang="en-US" sz="1600" b="1" dirty="0"/>
              <a:t>BUSINESS ANALYSIS (Fourth Edition) </a:t>
            </a:r>
            <a:r>
              <a:rPr lang="en-US" sz="1600" dirty="0"/>
              <a:t>by </a:t>
            </a:r>
            <a:r>
              <a:rPr lang="en-US" sz="1600" i="0" dirty="0">
                <a:effectLst/>
              </a:rPr>
              <a:t>Debra </a:t>
            </a:r>
            <a:r>
              <a:rPr lang="en-US" sz="1600" b="0" i="0" dirty="0">
                <a:effectLst/>
              </a:rPr>
              <a:t>Paul (Author), </a:t>
            </a:r>
            <a:r>
              <a:rPr lang="en-US" sz="1600" b="0" i="0" u="none" strike="noStrike" dirty="0">
                <a:effectLst/>
              </a:rPr>
              <a:t>James </a:t>
            </a:r>
            <a:r>
              <a:rPr lang="en-US" sz="1600" b="0" i="0" u="none" strike="noStrike" dirty="0" err="1">
                <a:effectLst/>
              </a:rPr>
              <a:t>Cadle</a:t>
            </a:r>
            <a:r>
              <a:rPr lang="en-US" sz="1600" b="0" i="0" u="none" strike="noStrike" dirty="0">
                <a:effectLst/>
              </a:rPr>
              <a:t> (Author)</a:t>
            </a:r>
            <a:r>
              <a:rPr lang="en-US" sz="1600" b="0" i="0" dirty="0">
                <a:effectLst/>
              </a:rPr>
              <a:t>, </a:t>
            </a:r>
            <a:r>
              <a:rPr lang="en-US" sz="1600" b="0" i="0" u="none" strike="noStrike" dirty="0">
                <a:effectLst/>
              </a:rPr>
              <a:t>Malcolm Eva (Author)</a:t>
            </a:r>
            <a:r>
              <a:rPr lang="en-US" sz="1600" b="0" i="0" dirty="0">
                <a:effectLst/>
              </a:rPr>
              <a:t>, </a:t>
            </a:r>
            <a:r>
              <a:rPr lang="en-US" sz="1600" b="0" i="0" u="none" strike="noStrike" dirty="0">
                <a:effectLst/>
              </a:rPr>
              <a:t>Craig Rollason (Author)</a:t>
            </a:r>
            <a:r>
              <a:rPr lang="en-US" sz="1600" b="0" i="0" dirty="0">
                <a:effectLst/>
              </a:rPr>
              <a:t>, </a:t>
            </a:r>
            <a:r>
              <a:rPr lang="en-US" sz="1600" b="0" i="0" u="none" strike="noStrike" dirty="0">
                <a:effectLst/>
              </a:rPr>
              <a:t>Jonathan </a:t>
            </a:r>
            <a:r>
              <a:rPr lang="en-US" sz="1600" b="0" i="0" u="none" strike="noStrike" dirty="0" err="1">
                <a:effectLst/>
              </a:rPr>
              <a:t>Hunsley</a:t>
            </a:r>
            <a:r>
              <a:rPr lang="en-US" sz="1600" b="0" i="0" u="none" strike="noStrike" dirty="0">
                <a:effectLst/>
              </a:rPr>
              <a:t> (Author)</a:t>
            </a:r>
          </a:p>
          <a:p>
            <a:pPr>
              <a:lnSpc>
                <a:spcPct val="110000"/>
              </a:lnSpc>
              <a:spcBef>
                <a:spcPts val="0"/>
              </a:spcBef>
              <a:buFontTx/>
              <a:buChar char="-"/>
            </a:pPr>
            <a:endParaRPr lang="en-US" sz="1600" dirty="0"/>
          </a:p>
          <a:p>
            <a:pPr>
              <a:lnSpc>
                <a:spcPct val="110000"/>
              </a:lnSpc>
              <a:spcBef>
                <a:spcPts val="0"/>
              </a:spcBef>
              <a:buFontTx/>
              <a:buChar char="-"/>
            </a:pPr>
            <a:r>
              <a:rPr lang="en-US" sz="1600" b="1" i="0" dirty="0">
                <a:effectLst/>
              </a:rPr>
              <a:t>BUSINESS ANALYSIS TECHNIQUES: 123 ESSENTIAL TOOLS FOR SUCCESS (3RD Edition) </a:t>
            </a:r>
            <a:r>
              <a:rPr lang="en-US" sz="1600" b="0" i="0" dirty="0">
                <a:effectLst/>
              </a:rPr>
              <a:t>by </a:t>
            </a:r>
            <a:r>
              <a:rPr lang="en-US" sz="1600" b="0" i="0" u="none" strike="noStrike" dirty="0">
                <a:effectLst/>
              </a:rPr>
              <a:t>James </a:t>
            </a:r>
            <a:r>
              <a:rPr lang="en-US" sz="1600" b="0" i="0" u="none" strike="noStrike" dirty="0" err="1">
                <a:effectLst/>
              </a:rPr>
              <a:t>Cadle</a:t>
            </a:r>
            <a:r>
              <a:rPr lang="en-US" sz="1600" b="0" i="0" dirty="0">
                <a:effectLst/>
              </a:rPr>
              <a:t> (Author), </a:t>
            </a:r>
            <a:r>
              <a:rPr lang="en-US" sz="1600" b="0" i="0" u="none" strike="noStrike" dirty="0">
                <a:effectLst/>
              </a:rPr>
              <a:t>Debra Paul</a:t>
            </a:r>
            <a:r>
              <a:rPr lang="en-US" sz="1600" b="0" i="0" dirty="0">
                <a:effectLst/>
              </a:rPr>
              <a:t> (Author), </a:t>
            </a:r>
            <a:r>
              <a:rPr lang="en-US" sz="1600" b="0" i="0" u="none" strike="noStrike" dirty="0">
                <a:effectLst/>
              </a:rPr>
              <a:t>Jonathan </a:t>
            </a:r>
            <a:r>
              <a:rPr lang="en-US" sz="1600" b="0" i="0" u="none" strike="noStrike" dirty="0" err="1">
                <a:effectLst/>
              </a:rPr>
              <a:t>Hunsley</a:t>
            </a:r>
            <a:r>
              <a:rPr lang="en-US" sz="1600" b="0" i="0" dirty="0">
                <a:effectLst/>
              </a:rPr>
              <a:t> (Author), </a:t>
            </a:r>
            <a:r>
              <a:rPr lang="en-US" sz="1600" b="0" i="0" u="none" strike="noStrike" dirty="0">
                <a:effectLst/>
              </a:rPr>
              <a:t>Adrian Reed</a:t>
            </a:r>
            <a:r>
              <a:rPr lang="en-US" sz="1600" b="0" i="0" dirty="0">
                <a:effectLst/>
              </a:rPr>
              <a:t> (Author)</a:t>
            </a:r>
          </a:p>
          <a:p>
            <a:pPr>
              <a:lnSpc>
                <a:spcPct val="110000"/>
              </a:lnSpc>
              <a:spcBef>
                <a:spcPts val="0"/>
              </a:spcBef>
              <a:buFontTx/>
              <a:buChar char="-"/>
            </a:pPr>
            <a:endParaRPr lang="en-US" sz="1600" b="1" i="0" dirty="0">
              <a:effectLst/>
            </a:endParaRPr>
          </a:p>
          <a:p>
            <a:pPr marL="0" indent="0">
              <a:lnSpc>
                <a:spcPct val="110000"/>
              </a:lnSpc>
              <a:spcBef>
                <a:spcPts val="0"/>
              </a:spcBef>
              <a:buNone/>
            </a:pPr>
            <a:endParaRPr lang="en-US" sz="1600" b="1" i="0" dirty="0">
              <a:solidFill>
                <a:srgbClr val="000000"/>
              </a:solidFill>
              <a:effectLst/>
              <a:latin typeface="Roboto Condensed"/>
            </a:endParaRPr>
          </a:p>
          <a:p>
            <a:pPr marL="0" indent="0">
              <a:lnSpc>
                <a:spcPct val="110000"/>
              </a:lnSpc>
              <a:spcBef>
                <a:spcPts val="0"/>
              </a:spcBef>
              <a:buNone/>
            </a:pPr>
            <a:endParaRPr lang="en-US" sz="1600" i="0" dirty="0">
              <a:effectLst/>
            </a:endParaRP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15</a:t>
            </a:fld>
            <a:endParaRPr lang="en-PK" dirty="0"/>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845735"/>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TM03457475[[fn=Frame]]</Template>
  <TotalTime>73801</TotalTime>
  <Words>1774</Words>
  <Application>Microsoft Office PowerPoint</Application>
  <PresentationFormat>Widescreen</PresentationFormat>
  <Paragraphs>155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Courier New</vt:lpstr>
      <vt:lpstr>Graphik</vt:lpstr>
      <vt:lpstr>Roboto Condensed</vt:lpstr>
      <vt:lpstr>Office Theme</vt:lpstr>
      <vt:lpstr>BUSINESS ANALYSIS  Agile, Scrum Roles &amp; Backlog</vt:lpstr>
      <vt:lpstr>AGILE OVERVIEW</vt:lpstr>
      <vt:lpstr>AGILE CONCEPTS</vt:lpstr>
      <vt:lpstr>FOUR PILLARS OF AGILE</vt:lpstr>
      <vt:lpstr>DIFFERENT TYPES OF AGILE METHODOLIGIES</vt:lpstr>
      <vt:lpstr>AGILE VS. WATERFALL METHODOLOGY</vt:lpstr>
      <vt:lpstr>SCRUM ROLES</vt:lpstr>
      <vt:lpstr>BACKLOG</vt:lpstr>
      <vt:lpstr>BACKLOG EXAMPLE</vt:lpstr>
      <vt:lpstr>SPRINT BACKLOG EXAMPLE</vt:lpstr>
      <vt:lpstr>PRODUCT BACKLOG VS. SPRINT BACKLOG</vt:lpstr>
      <vt:lpstr>REAL WORLD EXAMPLES OF AGILE METHOD</vt:lpstr>
      <vt:lpstr>ACTIVITY</vt:lpstr>
      <vt:lpstr>ESSENTIAL READINGS</vt:lpstr>
      <vt:lpstr>REFERENCE BOOKS OPTIONS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DEVELOPING HORIZONTAL LINKAGES WITH OTHER GOVERNMENT DEPARTMENTS</dc:title>
  <dc:creator>Mufeeza Iqbal</dc:creator>
  <cp:lastModifiedBy>Mufeeza Iqbal</cp:lastModifiedBy>
  <cp:revision>308</cp:revision>
  <cp:lastPrinted>2026-03-09T15:36:44Z</cp:lastPrinted>
  <dcterms:created xsi:type="dcterms:W3CDTF">2024-06-09T07:08:43Z</dcterms:created>
  <dcterms:modified xsi:type="dcterms:W3CDTF">2026-05-05T10:35:13Z</dcterms:modified>
</cp:coreProperties>
</file>