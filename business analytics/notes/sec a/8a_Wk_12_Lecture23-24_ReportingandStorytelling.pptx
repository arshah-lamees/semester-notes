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48" r:id="rId1"/>
  </p:sldMasterIdLst>
  <p:notesMasterIdLst>
    <p:notesMasterId r:id="rId20"/>
  </p:notesMasterIdLst>
  <p:sldIdLst>
    <p:sldId id="256" r:id="rId2"/>
    <p:sldId id="345" r:id="rId3"/>
    <p:sldId id="357" r:id="rId4"/>
    <p:sldId id="380" r:id="rId5"/>
    <p:sldId id="401" r:id="rId6"/>
    <p:sldId id="408" r:id="rId7"/>
    <p:sldId id="347" r:id="rId8"/>
    <p:sldId id="402" r:id="rId9"/>
    <p:sldId id="409" r:id="rId10"/>
    <p:sldId id="403" r:id="rId11"/>
    <p:sldId id="386" r:id="rId12"/>
    <p:sldId id="411" r:id="rId13"/>
    <p:sldId id="410" r:id="rId14"/>
    <p:sldId id="404" r:id="rId15"/>
    <p:sldId id="405" r:id="rId16"/>
    <p:sldId id="406" r:id="rId17"/>
    <p:sldId id="407" r:id="rId18"/>
    <p:sldId id="400" r:id="rId19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feeza Iqbal" initials="MI" lastIdx="1" clrIdx="0">
    <p:extLst>
      <p:ext uri="{19B8F6BF-5375-455C-9EA6-DF929625EA0E}">
        <p15:presenceInfo xmlns:p15="http://schemas.microsoft.com/office/powerpoint/2012/main" userId="Mufeeza Iqb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75C4"/>
    <a:srgbClr val="D4E5F7"/>
    <a:srgbClr val="E3EEFD"/>
    <a:srgbClr val="BAE2D1"/>
    <a:srgbClr val="ECF3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456" autoAdjust="0"/>
    <p:restoredTop sz="94729"/>
  </p:normalViewPr>
  <p:slideViewPr>
    <p:cSldViewPr snapToGrid="0">
      <p:cViewPr varScale="1">
        <p:scale>
          <a:sx n="72" d="100"/>
          <a:sy n="72" d="100"/>
        </p:scale>
        <p:origin x="20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A3216-91D5-43D0-B205-F0CBF00F2A3B}" type="datetimeFigureOut">
              <a:rPr lang="en-PK" smtClean="0"/>
              <a:t>4/10/26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8AE2D-6C56-4B4B-AC93-0FCEBED5A4D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92021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“Throughout this course, we’ve learned how to gather requirements, analyze processes, and define KPIs.</a:t>
            </a:r>
            <a:br>
              <a:rPr lang="en-US" dirty="0"/>
            </a:br>
            <a:r>
              <a:rPr lang="en-US" dirty="0"/>
              <a:t>Today we learn how to communicate insights in a way that drives decisions.”</a:t>
            </a:r>
          </a:p>
          <a:p>
            <a:r>
              <a:rPr lang="en-US" dirty="0"/>
              <a:t>Then say:</a:t>
            </a:r>
          </a:p>
          <a:p>
            <a:r>
              <a:rPr lang="en-US" dirty="0"/>
              <a:t>“Data doesn’t convince people — stories do.”</a:t>
            </a:r>
          </a:p>
          <a:p>
            <a:r>
              <a:rPr lang="en-US" dirty="0"/>
              <a:t>Explain:</a:t>
            </a:r>
          </a:p>
          <a:p>
            <a:r>
              <a:rPr lang="en-US" dirty="0"/>
              <a:t>“Today is about how Business Analysts turn data into action.”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93250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“Last week we learned visualization — charts and dashboards.”</a:t>
            </a:r>
          </a:p>
          <a:p>
            <a:r>
              <a:rPr lang="en-US" dirty="0"/>
              <a:t>Ask:</a:t>
            </a:r>
          </a:p>
          <a:p>
            <a:r>
              <a:rPr lang="en-US" dirty="0"/>
              <a:t>“But what if stakeholders still don’t act after seeing charts?”</a:t>
            </a:r>
          </a:p>
          <a:p>
            <a:r>
              <a:rPr lang="en-US" dirty="0"/>
              <a:t>Explain:</a:t>
            </a:r>
          </a:p>
          <a:p>
            <a:r>
              <a:rPr lang="en-US" dirty="0"/>
              <a:t>“Because charts alone don’t drive decisions — stories do.”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72042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BB447-F144-5925-911C-003EFFD48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BAC8DF-16D4-F845-900D-417394111A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0D572E-A483-D42F-0088-5E24403CE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Data Storytelling = Data + Context + Narrative</a:t>
            </a:r>
            <a:endParaRPr lang="en-US" dirty="0"/>
          </a:p>
          <a:p>
            <a:r>
              <a:rPr lang="en-US" dirty="0"/>
              <a:t>Explain:</a:t>
            </a:r>
          </a:p>
          <a:p>
            <a:r>
              <a:rPr lang="en-US" dirty="0"/>
              <a:t>“Numbers tell you what. Stories tell you why and what to do next.”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0B9D1-DB6F-2948-6B93-CEE04EAD5B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585105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E27D8-B3D7-AFF2-A721-938177575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D787AC-468D-C9C1-73C6-F8CC93E26C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F77323-F971-179B-68D0-B89C0D0B5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Data Storytelling = Data + Context + Narrative</a:t>
            </a:r>
            <a:endParaRPr lang="en-US" dirty="0"/>
          </a:p>
          <a:p>
            <a:r>
              <a:rPr lang="en-US" dirty="0"/>
              <a:t>Explain:</a:t>
            </a:r>
          </a:p>
          <a:p>
            <a:r>
              <a:rPr lang="en-US" dirty="0"/>
              <a:t>“Numbers tell you what. Stories tell you why and what to do next.”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C70B3-26D8-ACCD-EDFC-385F8C9F67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005571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Example</a:t>
            </a:r>
          </a:p>
          <a:p>
            <a:r>
              <a:rPr lang="en-US" dirty="0"/>
              <a:t>Context:</a:t>
            </a:r>
          </a:p>
          <a:p>
            <a:r>
              <a:rPr lang="en-US" dirty="0"/>
              <a:t>Delivery delays increasing.</a:t>
            </a:r>
          </a:p>
          <a:p>
            <a:r>
              <a:rPr lang="en-US" dirty="0"/>
              <a:t>Insight:</a:t>
            </a:r>
          </a:p>
          <a:p>
            <a:r>
              <a:rPr lang="en-US" dirty="0"/>
              <a:t>Peak hour delays increased 40%.</a:t>
            </a:r>
          </a:p>
          <a:p>
            <a:r>
              <a:rPr lang="en-US" dirty="0"/>
              <a:t>Impact:</a:t>
            </a:r>
          </a:p>
          <a:p>
            <a:r>
              <a:rPr lang="en-US" dirty="0"/>
              <a:t>Customer churn risk.</a:t>
            </a:r>
          </a:p>
          <a:p>
            <a:r>
              <a:rPr lang="en-US" dirty="0"/>
              <a:t>Recommendation:</a:t>
            </a:r>
          </a:p>
          <a:p>
            <a:r>
              <a:rPr lang="en-US" dirty="0"/>
              <a:t>Automate rider assignment.</a:t>
            </a:r>
          </a:p>
          <a:p>
            <a:r>
              <a:rPr lang="en-US" dirty="0"/>
              <a:t>Say:</a:t>
            </a:r>
          </a:p>
          <a:p>
            <a:r>
              <a:rPr lang="en-US" dirty="0"/>
              <a:t>“This structure keeps your message clear and convincing.”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35793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A95ED-B9EA-8C43-B430-530C651F7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4DD3F9-3672-D1C0-0DDC-530F2C71EF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376603-49B4-CBF8-9C33-F16470301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“Executives don’t read long reports. They need quick decisions.”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Executive Summary Template</a:t>
            </a:r>
          </a:p>
          <a:p>
            <a:r>
              <a:rPr lang="en-US" dirty="0"/>
              <a:t>Problem </a:t>
            </a:r>
          </a:p>
          <a:p>
            <a:r>
              <a:rPr lang="en-US" dirty="0"/>
              <a:t>Key Data </a:t>
            </a:r>
          </a:p>
          <a:p>
            <a:r>
              <a:rPr lang="en-US" dirty="0"/>
              <a:t>Impact </a:t>
            </a:r>
          </a:p>
          <a:p>
            <a:r>
              <a:rPr lang="en-US" dirty="0"/>
              <a:t>Recommendation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F86E2-101B-8C0C-5E47-BF4EFE09E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444927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BAB13-E597-19ED-44CF-6832F395B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42D2E5-4F7E-C765-1539-5C29604C86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072059-A908-3E85-5AC0-9E51CB3696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“Executives don’t read long reports. They need quick decisions.”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Executive Summary Template</a:t>
            </a:r>
          </a:p>
          <a:p>
            <a:r>
              <a:rPr lang="en-US" dirty="0"/>
              <a:t>Problem </a:t>
            </a:r>
          </a:p>
          <a:p>
            <a:r>
              <a:rPr lang="en-US" dirty="0"/>
              <a:t>Key Data </a:t>
            </a:r>
          </a:p>
          <a:p>
            <a:r>
              <a:rPr lang="en-US" dirty="0"/>
              <a:t>Impact </a:t>
            </a:r>
          </a:p>
          <a:p>
            <a:r>
              <a:rPr lang="en-US" dirty="0"/>
              <a:t>Recommendation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A383A-0C32-6049-4AF5-6426CB67F4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53845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89C6C-1623-A551-D473-BDE162316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66C73-CE6D-9E6C-C39C-F84271CE7B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22A706-B593-9C64-AA25-1F3904F65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 same data must be presented differently to different stakeholders.”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Audience Focus</a:t>
            </a:r>
          </a:p>
          <a:p>
            <a:r>
              <a:rPr lang="en-US" dirty="0"/>
              <a:t>CEO → Business impact </a:t>
            </a:r>
          </a:p>
          <a:p>
            <a:r>
              <a:rPr lang="en-US" dirty="0"/>
              <a:t>Developer → Technical detail </a:t>
            </a:r>
          </a:p>
          <a:p>
            <a:r>
              <a:rPr lang="en-US" dirty="0"/>
              <a:t>Operations → Workflow </a:t>
            </a:r>
          </a:p>
          <a:p>
            <a:r>
              <a:rPr lang="en-US" dirty="0"/>
              <a:t>Client → Value delivered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0BF36-337A-D884-C015-BF93F600AB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428351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915899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BE1CB-F44B-C816-FB8F-6F00F79A8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A8B94E-DE21-9BF0-865A-FDC2E2428D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5DA41E-2B00-A5E7-201B-E2CACC8B36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8FD1D-9024-0168-C8C2-8CB703DCE1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750234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C6203-FDF2-56C6-A733-848147A15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8161DB-CA5F-D54F-CCAE-AFD1DEDE3C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99614A-853B-7D71-16BB-EA9C6D509C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7E6CCD-B9CD-793D-102F-948BD26CF4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227283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47625-5AB5-0D35-2C67-02E312A7E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7B6C02-A35A-89D9-6269-8A3209FDF5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45E130-384E-ED90-B598-3BD8B7414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Expected Example</a:t>
            </a:r>
          </a:p>
          <a:p>
            <a:r>
              <a:rPr lang="en-US" dirty="0"/>
              <a:t>Issue:</a:t>
            </a:r>
          </a:p>
          <a:p>
            <a:r>
              <a:rPr lang="en-US" dirty="0"/>
              <a:t>Delivery delays.</a:t>
            </a:r>
          </a:p>
          <a:p>
            <a:r>
              <a:rPr lang="en-US" dirty="0"/>
              <a:t>Insight:</a:t>
            </a:r>
          </a:p>
          <a:p>
            <a:r>
              <a:rPr lang="en-US" dirty="0"/>
              <a:t>Manual assignment causes 70% of delays.</a:t>
            </a:r>
          </a:p>
          <a:p>
            <a:r>
              <a:rPr lang="en-US" dirty="0"/>
              <a:t>Recommendation:</a:t>
            </a:r>
          </a:p>
          <a:p>
            <a:r>
              <a:rPr lang="en-US" dirty="0"/>
              <a:t>Automate rider assignment.</a:t>
            </a:r>
          </a:p>
          <a:p>
            <a:r>
              <a:rPr lang="en-US" dirty="0"/>
              <a:t>Walk around and give feedback.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5D66F-D765-AB71-786F-704B1426DD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601847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33ECF-9AEA-4B4D-A167-9192121CA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723D97-C072-F2CA-3B41-0426EA8462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3B445B-314E-D4AB-EE50-8412193A4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“Insights without decisions are useless.”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Example</a:t>
            </a:r>
          </a:p>
          <a:p>
            <a:r>
              <a:rPr lang="en-US" dirty="0"/>
              <a:t>Insight:</a:t>
            </a:r>
          </a:p>
          <a:p>
            <a:r>
              <a:rPr lang="en-US" dirty="0"/>
              <a:t>Orders increasing.</a:t>
            </a:r>
          </a:p>
          <a:p>
            <a:r>
              <a:rPr lang="en-US" dirty="0"/>
              <a:t>Wrong conclusion:</a:t>
            </a:r>
          </a:p>
          <a:p>
            <a:r>
              <a:rPr lang="en-US" dirty="0"/>
              <a:t>“Business is good.”</a:t>
            </a:r>
          </a:p>
          <a:p>
            <a:r>
              <a:rPr lang="en-US" dirty="0"/>
              <a:t>Better conclusion:</a:t>
            </a:r>
          </a:p>
          <a:p>
            <a:r>
              <a:rPr lang="en-US" dirty="0"/>
              <a:t>“Growth is stressing operations — need to scale.”</a:t>
            </a:r>
          </a:p>
          <a:p>
            <a:r>
              <a:rPr lang="en-US" dirty="0"/>
              <a:t>Say:</a:t>
            </a:r>
          </a:p>
          <a:p>
            <a:r>
              <a:rPr lang="en-US" dirty="0"/>
              <a:t>“Good BAs recommend actions, not just report numbers.”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17B6F-5BC3-ABA2-CB0B-7E658EF5AF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585958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1D367-82F7-6E08-3938-AC7AB0B95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ED40E7-47E5-B6CA-9F97-ABFBB9BC49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70E03D-194A-7679-4232-D412E0C883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8AB4A-71AD-F278-750A-DB28E8A08E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626518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0D726-B498-2E85-105F-0FF088BF4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C3E936-0AF1-8641-7D51-872EECF59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D7D82E-41FA-7092-60B3-AA239996F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63F05-3F06-4CE6-3CF0-641CD25378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045051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7E494-ACEF-4818-B1C7-64ABF414F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34B188-5E93-F2C6-B7DA-D2F322B4E5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AA3D5C-0B3E-EA91-1CA4-F8527C1B07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“Visualization turns data into understanding.”</a:t>
            </a:r>
          </a:p>
          <a:p>
            <a:r>
              <a:rPr lang="en-US" dirty="0"/>
              <a:t>Repeat:</a:t>
            </a:r>
          </a:p>
          <a:p>
            <a:r>
              <a:rPr lang="en-US" dirty="0"/>
              <a:t>Visualization simplifies complexity</a:t>
            </a:r>
          </a:p>
          <a:p>
            <a:r>
              <a:rPr lang="en-US" dirty="0"/>
              <a:t>Right chart = correct insight</a:t>
            </a:r>
          </a:p>
          <a:p>
            <a:r>
              <a:rPr lang="en-US" dirty="0"/>
              <a:t>Dashboards support decisions</a:t>
            </a:r>
          </a:p>
          <a:p>
            <a:r>
              <a:rPr lang="en-US" dirty="0"/>
              <a:t>BA interprets and communicates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34D58-1F94-9B33-8A78-8955D5D085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9269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392AE-3475-5519-9CD2-B3813CA2A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9BC997-4B8A-9709-FA3F-2812ED29EB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DD1C2-A443-3425-F1A3-450EEF2D6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0BE24-4914-473D-86E2-D4EE0B0E90C7}" type="datetime8">
              <a:rPr lang="en-PK" smtClean="0"/>
              <a:t>4/10/26 8:49 AM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E2A3E-9208-EDCE-DEBB-4D9337367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EF72C-8D9E-F888-7543-7E09C4BFD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70094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99ADE-7B08-A01C-72DF-FE9993CEE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07FC3-A55A-4A8D-FCDC-D328082DE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EBE8E-9BB1-B225-5B4C-55AEA4E7F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EF77-D47F-4BB1-86E4-5F455460BD9C}" type="datetime8">
              <a:rPr lang="en-PK" smtClean="0"/>
              <a:t>4/10/26 8:49 AM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AE679-F999-E1F9-0F77-DEA6D7131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7F485-BD67-E327-64C3-D7E71B9E5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10424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EA042-DF09-56BB-8638-29DBAD388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1508DB-FFA7-6D03-67FA-3EF149A1B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4BE1E-EE08-ACCC-1271-2F5E25CAF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1A5AA-2A6E-43F2-9F30-AF7EED5FA600}" type="datetime8">
              <a:rPr lang="en-PK" smtClean="0"/>
              <a:t>4/10/26 8:49 AM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9D85B-5C96-E835-D822-93C86F783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899E9-E472-DD15-F881-200436473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10372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27FCC-3AE3-0214-F9D4-FCB15D614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i="0" baseline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7161E-F706-1674-13DB-BACD472317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CA0A05-46B6-960E-7368-B2CE54CC3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39986-E720-F1B7-36F9-B2708004C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E2CB0-8F81-407D-9308-759F0E533D95}" type="datetime8">
              <a:rPr lang="en-PK" smtClean="0"/>
              <a:t>4/10/26 8:49 AM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C3A9C-BA81-3B68-288D-EB7FD47FF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AEAC4-C699-2232-BD98-7252DC5E1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06244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4A8C3-75DD-1313-ABA5-5D3FFA02C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7D5B1-50C2-CF91-9D88-610914E27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5284C-0315-C6F1-CA04-F3E219D15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47C534-C2F2-A37B-C431-9DF8A42B3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AA4DAB-49CA-2EFC-9842-564884678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4688EE-799F-3F23-A121-4F674361A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FBD63-32C8-45D6-BE9D-408F278BE9C8}" type="datetime8">
              <a:rPr lang="en-PK" smtClean="0"/>
              <a:t>4/10/26 8:49 AM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E4848C-55D2-9A77-36F1-FAD52DCB0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5D59BD-56E3-4753-6C9F-3B1F4CE0B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30308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AC4B4-FA75-C85D-E743-3DB6E5DB7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F645E-1294-7708-0DA4-EDA61782F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7C61-2664-45A8-9CA0-D9D546B35364}" type="datetime8">
              <a:rPr lang="en-PK" smtClean="0"/>
              <a:t>4/10/26 8:49 AM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69AFA9-8467-3A28-7BFF-CA12EF3C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D24441-1E31-6A33-D8E8-781D599AD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92362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B7448-39E8-68A0-B712-84409BF4E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243484-DEAD-0EB1-DC5F-24E6FD4BA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78C6A-94B1-48CD-B95C-7BBCF06B539F}" type="datetime8">
              <a:rPr lang="en-PK" smtClean="0"/>
              <a:t>4/10/26 8:49 AM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F8FE36-0300-3AD8-5E95-41E333E18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CC0281-9CE6-90B4-45F9-D9D954D12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92040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053CB-8CBB-A3DD-2AD9-1CA378510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21173-6A64-ACDD-90B1-F466FBD62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611703-8264-01ED-8E5E-06DFA98EE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925018-0F9D-E6A7-30D4-FA1B94922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620F-E5D6-45BD-ABE4-D3E73AEC1059}" type="datetime8">
              <a:rPr lang="en-PK" smtClean="0"/>
              <a:t>4/10/26 8:49 AM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9345B6-DE39-4DE7-B63A-020AA0C25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7E181-66A9-8AF7-8FC6-FD18E1778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21884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9E283-232A-203F-BE7E-C1FAB1898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344E88-2CB0-6548-1689-37B5CD1D82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C45364-9FD1-5237-6F05-3CD9FF28E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0F029-9EDC-16AD-E233-F7215386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6677-69CF-4F57-B961-69869666485F}" type="datetime8">
              <a:rPr lang="en-PK" smtClean="0"/>
              <a:t>4/10/26 8:49 AM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EAD10-9813-FA15-7AA3-F311C1514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93DEC-A834-573B-8137-57A252A1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53929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B6A8F-48A0-C1A4-C992-787E5B87A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5B7C4-4FCF-3883-BC91-FDBC338D9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4F67A-FCF1-D4E4-E162-793DEACCA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B392-8D81-42DB-9470-C0982980A208}" type="datetime8">
              <a:rPr lang="en-PK" smtClean="0"/>
              <a:t>4/10/26 8:49 AM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6A201-A7CA-71B8-8718-9897B03FE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A3F33-5AA9-E112-2ABF-79F547887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26848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D59074-43DC-F3A1-F847-B382DA9986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F3AC57-AF5B-EC7C-207D-DD8781393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5FF8A-8F6C-7460-66BD-36FE94B2C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8CE2D-4511-4580-808C-44E58A6F6871}" type="datetime8">
              <a:rPr lang="en-PK" smtClean="0"/>
              <a:t>4/10/26 8:49 AM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E7764-4D16-A8A5-2DA2-548355B8B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DCA92-473C-706D-5019-016D87F1B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29802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5FF33B-CB98-4E49-F470-FDEB20A1B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5A451-6F13-E99E-AA74-118FE0705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D6080-894B-699D-C377-9FCB24BB49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247E1-80FA-4B68-AED4-FB0D556219B2}" type="datetime8">
              <a:rPr lang="en-PK" smtClean="0"/>
              <a:t>4/10/26 8:49 AM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F34FF-7C89-DFB6-0D18-88EA7A4B3B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08851-096B-57D1-721E-52D426BA6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6824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0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D80B44-5D51-DEB9-139E-D6588E08DCEE}"/>
              </a:ext>
            </a:extLst>
          </p:cNvPr>
          <p:cNvSpPr/>
          <p:nvPr/>
        </p:nvSpPr>
        <p:spPr>
          <a:xfrm>
            <a:off x="-1" y="6553199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A358E0-F332-E7D0-E6FF-67C0C524EC5E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C7347E-773E-501C-BBCD-F143B41F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</a:t>
            </a:fld>
            <a:endParaRPr lang="en-PK"/>
          </a:p>
        </p:txBody>
      </p:sp>
      <p:pic>
        <p:nvPicPr>
          <p:cNvPr id="1028" name="Picture 4" descr="Download HD 55 Pm 52458 Fast University ...">
            <a:extLst>
              <a:ext uri="{FF2B5EF4-FFF2-40B4-BE49-F238E27FC236}">
                <a16:creationId xmlns:a16="http://schemas.microsoft.com/office/drawing/2014/main" id="{7C0E69E7-0624-E377-FC31-A9DAAD9B9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Blue Abstract Data Analysis Technology Background, Blue, Abstract ...">
            <a:extLst>
              <a:ext uri="{FF2B5EF4-FFF2-40B4-BE49-F238E27FC236}">
                <a16:creationId xmlns:a16="http://schemas.microsoft.com/office/drawing/2014/main" id="{AE2E633B-B89B-2AD6-B235-B52FC21A3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12192001" cy="685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150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A8744-A704-1C59-1304-02055AF7C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6E56C57-21E3-F72F-1B57-E9FD05DDB415}"/>
              </a:ext>
            </a:extLst>
          </p:cNvPr>
          <p:cNvSpPr/>
          <p:nvPr/>
        </p:nvSpPr>
        <p:spPr>
          <a:xfrm>
            <a:off x="-1" y="6553199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D03E08-0EA6-164B-E5C0-0ABD98254645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9F7046-524C-B6E2-F233-6AA93275F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2</a:t>
            </a:fld>
            <a:endParaRPr lang="en-PK"/>
          </a:p>
        </p:txBody>
      </p:sp>
      <p:pic>
        <p:nvPicPr>
          <p:cNvPr id="1028" name="Picture 4" descr="Download HD 55 Pm 52458 Fast University ...">
            <a:extLst>
              <a:ext uri="{FF2B5EF4-FFF2-40B4-BE49-F238E27FC236}">
                <a16:creationId xmlns:a16="http://schemas.microsoft.com/office/drawing/2014/main" id="{715E161C-5FF5-7252-A206-A10477B0B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4">
            <a:extLst>
              <a:ext uri="{FF2B5EF4-FFF2-40B4-BE49-F238E27FC236}">
                <a16:creationId xmlns:a16="http://schemas.microsoft.com/office/drawing/2014/main" id="{4FA3E7AE-A2AD-D117-25F2-EA3F62B70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006" y="687984"/>
            <a:ext cx="9144000" cy="29972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BUSINESS ANALYTICS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sz="4400" dirty="0">
                <a:solidFill>
                  <a:schemeClr val="bg1"/>
                </a:solidFill>
              </a:rPr>
              <a:t>Introduction to Business Analytics and Core Business Functions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05E0D16E-2E56-B97C-A39A-BD2DC36A3359}"/>
              </a:ext>
            </a:extLst>
          </p:cNvPr>
          <p:cNvSpPr txBox="1">
            <a:spLocks/>
          </p:cNvSpPr>
          <p:nvPr/>
        </p:nvSpPr>
        <p:spPr>
          <a:xfrm>
            <a:off x="964406" y="975360"/>
            <a:ext cx="9144000" cy="28622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BUSINESS ANALYSIS</a:t>
            </a:r>
            <a:br>
              <a:rPr lang="en-US" sz="16600" dirty="0"/>
            </a:br>
            <a:r>
              <a:rPr lang="en-US" sz="4300" dirty="0"/>
              <a:t>Reporting and Storytelling</a:t>
            </a:r>
            <a:endParaRPr lang="en-PK" sz="4300" dirty="0"/>
          </a:p>
        </p:txBody>
      </p:sp>
      <p:pic>
        <p:nvPicPr>
          <p:cNvPr id="5" name="Picture 4" descr="3d Analyst Working On Business Analytics Dashboard With Kpi ...">
            <a:extLst>
              <a:ext uri="{FF2B5EF4-FFF2-40B4-BE49-F238E27FC236}">
                <a16:creationId xmlns:a16="http://schemas.microsoft.com/office/drawing/2014/main" id="{55A10BB7-3531-CC3A-305B-1101C4343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4856" y="2949575"/>
            <a:ext cx="37719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218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741F9-C6FD-1E39-BD7F-93E026F55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Learning Objectives – WEEK 12</a:t>
            </a: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CCE4D-95E9-6FB6-ED27-6AA4627A2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102766"/>
            <a:ext cx="10515600" cy="388336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/>
              <a:t>By the end of today you should be able to:</a:t>
            </a:r>
          </a:p>
          <a:p>
            <a:pPr marL="0" indent="0">
              <a:buNone/>
            </a:pPr>
            <a:endParaRPr lang="en-US" sz="2400" dirty="0"/>
          </a:p>
          <a:p>
            <a:pPr>
              <a:lnSpc>
                <a:spcPct val="200000"/>
              </a:lnSpc>
            </a:pPr>
            <a:r>
              <a:rPr lang="en-US" sz="2000" dirty="0"/>
              <a:t>Understand what makes a strong business report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Tell a compelling story using data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Communicate insights to different stakeholders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Build executive summaries that drive decisions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Avoid common reporting mistakes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C24661-1429-04BE-6E64-7D554BED14A1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F29413-F335-2DA5-47CF-A2EC49D47E62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3593E-E656-4749-0FCA-C58FDE33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3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DC946E10-9E58-EF2D-6D0E-8116B41ED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85AFD7-D5C0-A6EE-5F55-057216A8D06C}"/>
              </a:ext>
            </a:extLst>
          </p:cNvPr>
          <p:cNvSpPr txBox="1"/>
          <p:nvPr/>
        </p:nvSpPr>
        <p:spPr>
          <a:xfrm>
            <a:off x="7090092" y="6164740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Data doesn’t convince people — stories do.</a:t>
            </a:r>
            <a:endParaRPr lang="en-PK" sz="1200" dirty="0"/>
          </a:p>
        </p:txBody>
      </p:sp>
    </p:spTree>
    <p:extLst>
      <p:ext uri="{BB962C8B-B14F-4D97-AF65-F5344CB8AC3E}">
        <p14:creationId xmlns:p14="http://schemas.microsoft.com/office/powerpoint/2010/main" val="1620906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741F9-C6FD-1E39-BD7F-93E026F55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Previous Week - 10</a:t>
            </a: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CCE4D-95E9-6FB6-ED27-6AA4627A2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6831"/>
            <a:ext cx="10515600" cy="4030224"/>
          </a:xfrm>
        </p:spPr>
        <p:txBody>
          <a:bodyPr>
            <a:normAutofit/>
          </a:bodyPr>
          <a:lstStyle/>
          <a:p>
            <a:r>
              <a:rPr lang="en-US" sz="2400" dirty="0"/>
              <a:t>Last week we learned:</a:t>
            </a:r>
          </a:p>
          <a:p>
            <a:r>
              <a:rPr lang="en-US" sz="2400" dirty="0"/>
              <a:t>✔ Charts</a:t>
            </a:r>
            <a:br>
              <a:rPr lang="en-US" sz="2400" dirty="0"/>
            </a:br>
            <a:r>
              <a:rPr lang="en-US" sz="2400" dirty="0"/>
              <a:t>✔ Dashboards</a:t>
            </a:r>
            <a:br>
              <a:rPr lang="en-US" sz="2400" dirty="0"/>
            </a:br>
            <a:r>
              <a:rPr lang="en-US" sz="2400" dirty="0"/>
              <a:t>✔ Visual principles</a:t>
            </a:r>
          </a:p>
          <a:p>
            <a:endParaRPr lang="en-US" sz="2400" dirty="0"/>
          </a:p>
          <a:p>
            <a:r>
              <a:rPr lang="en-US" sz="2400" dirty="0"/>
              <a:t>Now we go further:</a:t>
            </a:r>
          </a:p>
          <a:p>
            <a:r>
              <a:rPr lang="en-US" sz="2400" dirty="0"/>
              <a:t>👉 How do you </a:t>
            </a:r>
            <a:r>
              <a:rPr lang="en-US" sz="2400" b="1" dirty="0"/>
              <a:t>present insights so people actually act?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C24661-1429-04BE-6E64-7D554BED14A1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F29413-F335-2DA5-47CF-A2EC49D47E62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3593E-E656-4749-0FCA-C58FDE33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4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DC946E10-9E58-EF2D-6D0E-8116B41ED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542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1CEA8-2001-5D12-5113-6EFB8435A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4513D-9634-5B86-BF2D-60B4E8873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445274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DATA STORYTELLING?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BDF236-CE2E-3F6E-2732-099DA4B9948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708B4D-C835-D452-9838-6B031A06C730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52FC9-A2BD-3FAF-3DF2-F7C42C2C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5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F2995B5C-5362-9EF5-1671-D16AA7A28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usiness KPI Metrics Dashboard PowerPoint Template and Google Slides Theme">
            <a:extLst>
              <a:ext uri="{FF2B5EF4-FFF2-40B4-BE49-F238E27FC236}">
                <a16:creationId xmlns:a16="http://schemas.microsoft.com/office/drawing/2014/main" id="{AB10341F-80AB-4C7F-C7AE-34F515EF7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9974" y="-11597377"/>
            <a:ext cx="8327635" cy="4684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08487A-CFAB-CF06-454E-A066BED76FAB}"/>
              </a:ext>
            </a:extLst>
          </p:cNvPr>
          <p:cNvSpPr txBox="1"/>
          <p:nvPr/>
        </p:nvSpPr>
        <p:spPr>
          <a:xfrm>
            <a:off x="826294" y="964838"/>
            <a:ext cx="8778240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/>
              <a:t>Data Storytelling = Data + Context + Narrative</a:t>
            </a:r>
          </a:p>
          <a:p>
            <a:pPr>
              <a:lnSpc>
                <a:spcPct val="150000"/>
              </a:lnSpc>
            </a:pPr>
            <a:r>
              <a:rPr lang="en-US" dirty="0"/>
              <a:t>A good report answers:</a:t>
            </a:r>
          </a:p>
          <a:p>
            <a:pPr>
              <a:lnSpc>
                <a:spcPct val="150000"/>
              </a:lnSpc>
            </a:pPr>
            <a:r>
              <a:rPr lang="en-US" dirty="0"/>
              <a:t>✔ What happened?</a:t>
            </a:r>
            <a:br>
              <a:rPr lang="en-US" dirty="0"/>
            </a:br>
            <a:r>
              <a:rPr lang="en-US" dirty="0"/>
              <a:t>✔ Why did it happen?</a:t>
            </a:r>
            <a:br>
              <a:rPr lang="en-US" dirty="0"/>
            </a:br>
            <a:r>
              <a:rPr lang="en-US" dirty="0"/>
              <a:t>✔ What should we do?</a:t>
            </a:r>
          </a:p>
          <a:p>
            <a:pPr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CE9303-0133-CA58-F047-DD3C7640F59C}"/>
              </a:ext>
            </a:extLst>
          </p:cNvPr>
          <p:cNvSpPr txBox="1"/>
          <p:nvPr/>
        </p:nvSpPr>
        <p:spPr>
          <a:xfrm>
            <a:off x="826294" y="3284615"/>
            <a:ext cx="4307409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🇵🇰 Pakistan Example</a:t>
            </a:r>
          </a:p>
          <a:p>
            <a:pPr>
              <a:lnSpc>
                <a:spcPct val="150000"/>
              </a:lnSpc>
            </a:pPr>
            <a:r>
              <a:rPr lang="en-US" dirty="0"/>
              <a:t>A delivery app dashboard shows:</a:t>
            </a:r>
          </a:p>
          <a:p>
            <a:pPr>
              <a:lnSpc>
                <a:spcPct val="150000"/>
              </a:lnSpc>
            </a:pPr>
            <a:r>
              <a:rPr lang="en-US" dirty="0"/>
              <a:t>Orders ↑ </a:t>
            </a:r>
          </a:p>
          <a:p>
            <a:pPr>
              <a:lnSpc>
                <a:spcPct val="150000"/>
              </a:lnSpc>
            </a:pPr>
            <a:r>
              <a:rPr lang="en-US" dirty="0"/>
              <a:t>Delivery time ↑ </a:t>
            </a:r>
          </a:p>
          <a:p>
            <a:pPr>
              <a:lnSpc>
                <a:spcPct val="150000"/>
              </a:lnSpc>
            </a:pPr>
            <a:r>
              <a:rPr lang="en-US" dirty="0"/>
              <a:t>Customer complaints ↑ </a:t>
            </a:r>
          </a:p>
          <a:p>
            <a:pPr>
              <a:lnSpc>
                <a:spcPct val="150000"/>
              </a:lnSpc>
            </a:pPr>
            <a:r>
              <a:rPr lang="en-US" dirty="0"/>
              <a:t>Data Story:</a:t>
            </a:r>
          </a:p>
          <a:p>
            <a:pPr>
              <a:lnSpc>
                <a:spcPct val="150000"/>
              </a:lnSpc>
            </a:pPr>
            <a:r>
              <a:rPr lang="en-US" dirty="0"/>
              <a:t>Growth is causing operational strain. Automation required.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9F4290-5C7E-DD4E-326F-5A362ED1718D}"/>
              </a:ext>
            </a:extLst>
          </p:cNvPr>
          <p:cNvSpPr txBox="1"/>
          <p:nvPr/>
        </p:nvSpPr>
        <p:spPr>
          <a:xfrm>
            <a:off x="4615551" y="3324803"/>
            <a:ext cx="877824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🌎 International Example</a:t>
            </a:r>
          </a:p>
          <a:p>
            <a:pPr>
              <a:lnSpc>
                <a:spcPct val="150000"/>
              </a:lnSpc>
            </a:pPr>
            <a:r>
              <a:rPr lang="en-US" dirty="0"/>
              <a:t>Netflix:</a:t>
            </a:r>
          </a:p>
          <a:p>
            <a:pPr>
              <a:lnSpc>
                <a:spcPct val="150000"/>
              </a:lnSpc>
            </a:pPr>
            <a:r>
              <a:rPr lang="en-US" dirty="0"/>
              <a:t>Data shows user drop after episode 2.</a:t>
            </a:r>
          </a:p>
          <a:p>
            <a:pPr>
              <a:lnSpc>
                <a:spcPct val="150000"/>
              </a:lnSpc>
            </a:pPr>
            <a:r>
              <a:rPr lang="en-US" dirty="0"/>
              <a:t>Story:</a:t>
            </a:r>
          </a:p>
          <a:p>
            <a:pPr>
              <a:lnSpc>
                <a:spcPct val="150000"/>
              </a:lnSpc>
            </a:pPr>
            <a:r>
              <a:rPr lang="en-US" dirty="0"/>
              <a:t>Content engagement issue, not platform issue.</a:t>
            </a:r>
          </a:p>
        </p:txBody>
      </p:sp>
      <p:pic>
        <p:nvPicPr>
          <p:cNvPr id="4098" name="Picture 2" descr="Data Storytelling: The Essential Data Science Skill Everyone Needs">
            <a:extLst>
              <a:ext uri="{FF2B5EF4-FFF2-40B4-BE49-F238E27FC236}">
                <a16:creationId xmlns:a16="http://schemas.microsoft.com/office/drawing/2014/main" id="{6B8436F0-296E-C5A5-FA87-7D0D8E0F6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883" y="974363"/>
            <a:ext cx="3524491" cy="3524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19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1410D-BF22-68CA-276B-C40DDFBDD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84960-8DA8-39A0-772C-315344754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445274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Data Storytelling?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B5472C-5532-EA68-DDD1-5122A9721820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5949B4-2BA2-657F-694A-C307EC34F2C9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0AAA0D-F286-0852-FEBB-E62D19A89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6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5D63F52C-B46A-FC50-50BE-4ECD882AE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 descr="Book Summary - Storytelling with Data - Cole Knaflic">
            <a:extLst>
              <a:ext uri="{FF2B5EF4-FFF2-40B4-BE49-F238E27FC236}">
                <a16:creationId xmlns:a16="http://schemas.microsoft.com/office/drawing/2014/main" id="{DD972538-4A52-DF6B-BC3C-FA5413C1F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226" y="1011665"/>
            <a:ext cx="8137002" cy="5551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7742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445274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/>
              <a:t>STRUCTURE OF A STRONG BUSINESS REPORT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7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usiness KPI Metrics Dashboard PowerPoint Template and Google Slides Theme">
            <a:extLst>
              <a:ext uri="{FF2B5EF4-FFF2-40B4-BE49-F238E27FC236}">
                <a16:creationId xmlns:a16="http://schemas.microsoft.com/office/drawing/2014/main" id="{5CD4D3CD-ED79-1AA3-8B63-AECF7285B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9974" y="-11597377"/>
            <a:ext cx="8327635" cy="4684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0F4BEA-FEE1-D1F0-4C93-422D912F93D2}"/>
              </a:ext>
            </a:extLst>
          </p:cNvPr>
          <p:cNvSpPr txBox="1"/>
          <p:nvPr/>
        </p:nvSpPr>
        <p:spPr>
          <a:xfrm>
            <a:off x="871012" y="1321216"/>
            <a:ext cx="8778240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1️⃣ Context</a:t>
            </a:r>
          </a:p>
          <a:p>
            <a:pPr>
              <a:lnSpc>
                <a:spcPct val="150000"/>
              </a:lnSpc>
            </a:pPr>
            <a:r>
              <a:rPr lang="en-US" dirty="0"/>
              <a:t>What’s the situation?</a:t>
            </a:r>
          </a:p>
          <a:p>
            <a:pPr>
              <a:lnSpc>
                <a:spcPct val="150000"/>
              </a:lnSpc>
            </a:pPr>
            <a:r>
              <a:rPr lang="en-US" b="1" dirty="0"/>
              <a:t>2️⃣ Insight</a:t>
            </a:r>
          </a:p>
          <a:p>
            <a:pPr>
              <a:lnSpc>
                <a:spcPct val="150000"/>
              </a:lnSpc>
            </a:pPr>
            <a:r>
              <a:rPr lang="en-US" dirty="0"/>
              <a:t>What did the data show?</a:t>
            </a:r>
          </a:p>
          <a:p>
            <a:pPr>
              <a:lnSpc>
                <a:spcPct val="150000"/>
              </a:lnSpc>
            </a:pPr>
            <a:r>
              <a:rPr lang="en-US" b="1" dirty="0"/>
              <a:t>3️⃣ Impact</a:t>
            </a:r>
          </a:p>
          <a:p>
            <a:pPr>
              <a:lnSpc>
                <a:spcPct val="150000"/>
              </a:lnSpc>
            </a:pPr>
            <a:r>
              <a:rPr lang="en-US" dirty="0"/>
              <a:t>Why does it matter?</a:t>
            </a:r>
          </a:p>
          <a:p>
            <a:pPr>
              <a:lnSpc>
                <a:spcPct val="150000"/>
              </a:lnSpc>
            </a:pPr>
            <a:r>
              <a:rPr lang="en-US" b="1" dirty="0"/>
              <a:t>4️⃣ Recommendation</a:t>
            </a:r>
          </a:p>
          <a:p>
            <a:pPr>
              <a:lnSpc>
                <a:spcPct val="150000"/>
              </a:lnSpc>
            </a:pPr>
            <a:r>
              <a:rPr lang="en-US" dirty="0"/>
              <a:t>What should be done?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4A2862-F98D-30CE-1EEC-EB255C9861FD}"/>
              </a:ext>
            </a:extLst>
          </p:cNvPr>
          <p:cNvSpPr txBox="1"/>
          <p:nvPr/>
        </p:nvSpPr>
        <p:spPr>
          <a:xfrm>
            <a:off x="5821680" y="1226346"/>
            <a:ext cx="8778240" cy="3788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Example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Context:</a:t>
            </a:r>
            <a:br>
              <a:rPr lang="en-US" dirty="0"/>
            </a:br>
            <a:r>
              <a:rPr lang="en-US" dirty="0"/>
              <a:t>Delivery delays increasing.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Insight:</a:t>
            </a:r>
            <a:br>
              <a:rPr lang="en-US" dirty="0"/>
            </a:br>
            <a:r>
              <a:rPr lang="en-US" dirty="0"/>
              <a:t>Peak-hour delays spike by 40%.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Impact:</a:t>
            </a:r>
            <a:br>
              <a:rPr lang="en-US" dirty="0"/>
            </a:br>
            <a:r>
              <a:rPr lang="en-US" dirty="0"/>
              <a:t>Customer churn risk.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Recommendation:</a:t>
            </a:r>
            <a:br>
              <a:rPr lang="en-US" dirty="0"/>
            </a:br>
            <a:r>
              <a:rPr lang="en-US" dirty="0"/>
              <a:t>Automate rider assignment.</a:t>
            </a:r>
          </a:p>
        </p:txBody>
      </p:sp>
      <p:pic>
        <p:nvPicPr>
          <p:cNvPr id="5122" name="Picture 2" descr="Businessman look up and writing management solution method solve">
            <a:extLst>
              <a:ext uri="{FF2B5EF4-FFF2-40B4-BE49-F238E27FC236}">
                <a16:creationId xmlns:a16="http://schemas.microsoft.com/office/drawing/2014/main" id="{C17352BE-3712-B49E-95B5-5275F5433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6387" y="1691895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6582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08332-DC1B-CD7F-9ABE-3DFFBF0B0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CE865-BDD1-CB9C-0820-B08AF73EB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445274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/>
              <a:t>Executive Summary 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0B7C63-116C-F7DF-B827-C6F3DE305B53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5E24CB-6CC9-2296-0408-308072B28B7A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90922B-B846-68C9-FCD2-FC94EDBF2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8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C5EA43E4-5FD6-E2B4-89E2-497936386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usiness KPI Metrics Dashboard PowerPoint Template and Google Slides Theme">
            <a:extLst>
              <a:ext uri="{FF2B5EF4-FFF2-40B4-BE49-F238E27FC236}">
                <a16:creationId xmlns:a16="http://schemas.microsoft.com/office/drawing/2014/main" id="{F062CED5-AED5-E5F4-4C0D-1926DD80A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9974" y="-11597377"/>
            <a:ext cx="8327635" cy="4684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9BED31-9D1F-32ED-663A-9BA5579A4F8E}"/>
              </a:ext>
            </a:extLst>
          </p:cNvPr>
          <p:cNvSpPr txBox="1"/>
          <p:nvPr/>
        </p:nvSpPr>
        <p:spPr>
          <a:xfrm>
            <a:off x="826294" y="926883"/>
            <a:ext cx="8778240" cy="2130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Executives don’t read long reports.</a:t>
            </a:r>
          </a:p>
          <a:p>
            <a:pPr>
              <a:lnSpc>
                <a:spcPct val="150000"/>
              </a:lnSpc>
            </a:pPr>
            <a:r>
              <a:rPr lang="en-US" dirty="0"/>
              <a:t>They want:</a:t>
            </a:r>
          </a:p>
          <a:p>
            <a:pPr>
              <a:lnSpc>
                <a:spcPct val="150000"/>
              </a:lnSpc>
            </a:pPr>
            <a:r>
              <a:rPr lang="en-US" dirty="0"/>
              <a:t>✔ Key numbers</a:t>
            </a:r>
            <a:br>
              <a:rPr lang="en-US" dirty="0"/>
            </a:br>
            <a:r>
              <a:rPr lang="en-US" dirty="0"/>
              <a:t>✔ Risks</a:t>
            </a:r>
            <a:br>
              <a:rPr lang="en-US" dirty="0"/>
            </a:br>
            <a:r>
              <a:rPr lang="en-US" dirty="0"/>
              <a:t>✔ Decisions needed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87CCDE-90EC-A3B9-C508-E5565B29834F}"/>
              </a:ext>
            </a:extLst>
          </p:cNvPr>
          <p:cNvSpPr txBox="1"/>
          <p:nvPr/>
        </p:nvSpPr>
        <p:spPr>
          <a:xfrm>
            <a:off x="5297009" y="878062"/>
            <a:ext cx="877824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Template</a:t>
            </a:r>
          </a:p>
          <a:p>
            <a:pPr>
              <a:lnSpc>
                <a:spcPct val="150000"/>
              </a:lnSpc>
            </a:pPr>
            <a:r>
              <a:rPr lang="en-US" dirty="0"/>
              <a:t>Problem </a:t>
            </a:r>
          </a:p>
          <a:p>
            <a:pPr>
              <a:lnSpc>
                <a:spcPct val="150000"/>
              </a:lnSpc>
            </a:pPr>
            <a:r>
              <a:rPr lang="en-US" dirty="0"/>
              <a:t>Key Data </a:t>
            </a:r>
          </a:p>
          <a:p>
            <a:pPr>
              <a:lnSpc>
                <a:spcPct val="150000"/>
              </a:lnSpc>
            </a:pPr>
            <a:r>
              <a:rPr lang="en-US" dirty="0"/>
              <a:t>Impact </a:t>
            </a:r>
          </a:p>
          <a:p>
            <a:pPr>
              <a:lnSpc>
                <a:spcPct val="150000"/>
              </a:lnSpc>
            </a:pPr>
            <a:r>
              <a:rPr lang="en-US" dirty="0"/>
              <a:t>Recommended Action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44D6A9-54F3-DD45-9C37-1B81CA707004}"/>
              </a:ext>
            </a:extLst>
          </p:cNvPr>
          <p:cNvSpPr txBox="1"/>
          <p:nvPr/>
        </p:nvSpPr>
        <p:spPr>
          <a:xfrm>
            <a:off x="826294" y="3508256"/>
            <a:ext cx="877824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🇵🇰 Example</a:t>
            </a:r>
          </a:p>
          <a:p>
            <a:pPr>
              <a:lnSpc>
                <a:spcPct val="150000"/>
              </a:lnSpc>
              <a:buNone/>
            </a:pPr>
            <a:r>
              <a:rPr lang="en-US" dirty="0" err="1"/>
              <a:t>QuickBasket</a:t>
            </a:r>
            <a:r>
              <a:rPr lang="en-US" dirty="0"/>
              <a:t> Executive Summary: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Delivery delays increased 30% due to manual assignment. Recommend automated dispatch system to improve delivery time and customer satisfaction.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C28550-7DCF-646F-9492-59A38355DD80}"/>
              </a:ext>
            </a:extLst>
          </p:cNvPr>
          <p:cNvSpPr txBox="1"/>
          <p:nvPr/>
        </p:nvSpPr>
        <p:spPr>
          <a:xfrm>
            <a:off x="6378892" y="5922704"/>
            <a:ext cx="8778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“A strong executive summary saves hours of meetings.”</a:t>
            </a:r>
          </a:p>
        </p:txBody>
      </p:sp>
    </p:spTree>
    <p:extLst>
      <p:ext uri="{BB962C8B-B14F-4D97-AF65-F5344CB8AC3E}">
        <p14:creationId xmlns:p14="http://schemas.microsoft.com/office/powerpoint/2010/main" val="165369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3F7B3-9E0A-77B5-83C5-FA37979B4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DBCCE-1F9A-8F60-0551-835195473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445274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/>
              <a:t>Executive Summary 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C13193-7200-9E94-DBE7-481995F96D9C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9DA1E5-4B26-F8AD-1902-FF2A7A74C5E2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D20905-3EE6-4016-27B1-0981B303B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9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E2CE4990-DCAF-A018-353D-4CB5AF682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usiness KPI Metrics Dashboard PowerPoint Template and Google Slides Theme">
            <a:extLst>
              <a:ext uri="{FF2B5EF4-FFF2-40B4-BE49-F238E27FC236}">
                <a16:creationId xmlns:a16="http://schemas.microsoft.com/office/drawing/2014/main" id="{93D44E08-E71E-2A63-FB46-CB90D5A1E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9974" y="-11597377"/>
            <a:ext cx="8327635" cy="4684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Top 10 Executive Summary Report Templates with Samples and Examples">
            <a:extLst>
              <a:ext uri="{FF2B5EF4-FFF2-40B4-BE49-F238E27FC236}">
                <a16:creationId xmlns:a16="http://schemas.microsoft.com/office/drawing/2014/main" id="{0FF64F27-F23F-0B7E-A8C0-DDD20B5D3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1100" y="0"/>
            <a:ext cx="47482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4473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F59DF-4E55-40AF-FDF6-1B2EE89E0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7B9D4-5E1F-1822-2791-D9FB001C9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445274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/>
              <a:t>Audience Matters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5273C5-8170-A10B-3180-2B01597E61E3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E9F0DB-A4CB-0B51-6CE8-196C96AC6DF3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F9B38-395D-3FC2-2652-BFD0942EE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10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72D32DB5-DE82-44B3-7457-3F15FE48D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usiness KPI Metrics Dashboard PowerPoint Template and Google Slides Theme">
            <a:extLst>
              <a:ext uri="{FF2B5EF4-FFF2-40B4-BE49-F238E27FC236}">
                <a16:creationId xmlns:a16="http://schemas.microsoft.com/office/drawing/2014/main" id="{15B145E8-D598-B9D8-A413-FD595709F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9974" y="-11597377"/>
            <a:ext cx="8327635" cy="4684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614498-F7EF-6A15-10D2-790E7D0DB0FF}"/>
              </a:ext>
            </a:extLst>
          </p:cNvPr>
          <p:cNvSpPr txBox="1"/>
          <p:nvPr/>
        </p:nvSpPr>
        <p:spPr>
          <a:xfrm>
            <a:off x="826294" y="790205"/>
            <a:ext cx="580310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Same data → different communication style.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E55535F-D17A-8917-B331-C9554E104E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188118"/>
              </p:ext>
            </p:extLst>
          </p:nvPr>
        </p:nvGraphicFramePr>
        <p:xfrm>
          <a:off x="826294" y="1434908"/>
          <a:ext cx="6658723" cy="1828800"/>
        </p:xfrm>
        <a:graphic>
          <a:graphicData uri="http://schemas.openxmlformats.org/drawingml/2006/table">
            <a:tbl>
              <a:tblPr/>
              <a:tblGrid>
                <a:gridCol w="1900381">
                  <a:extLst>
                    <a:ext uri="{9D8B030D-6E8A-4147-A177-3AD203B41FA5}">
                      <a16:colId xmlns:a16="http://schemas.microsoft.com/office/drawing/2014/main" val="4276161922"/>
                    </a:ext>
                  </a:extLst>
                </a:gridCol>
                <a:gridCol w="4758342">
                  <a:extLst>
                    <a:ext uri="{9D8B030D-6E8A-4147-A177-3AD203B41FA5}">
                      <a16:colId xmlns:a16="http://schemas.microsoft.com/office/drawing/2014/main" val="10360223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Audience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Focus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866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CEO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Business impact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759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Developer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Technical details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7584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Operations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Workflow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38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Value delivered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869696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04A5A0B-7260-5B91-0C98-A0CFAA8C7A68}"/>
              </a:ext>
            </a:extLst>
          </p:cNvPr>
          <p:cNvSpPr txBox="1"/>
          <p:nvPr/>
        </p:nvSpPr>
        <p:spPr>
          <a:xfrm>
            <a:off x="826294" y="3284615"/>
            <a:ext cx="8778240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Example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Delivery Delay Report: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CEO:</a:t>
            </a:r>
            <a:br>
              <a:rPr lang="en-US" dirty="0"/>
            </a:br>
            <a:r>
              <a:rPr lang="en-US" dirty="0"/>
              <a:t>Revenue impact.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Operations:</a:t>
            </a:r>
            <a:br>
              <a:rPr lang="en-US" dirty="0"/>
            </a:br>
            <a:r>
              <a:rPr lang="en-US" dirty="0"/>
              <a:t>Staff workload.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Developers:</a:t>
            </a:r>
            <a:br>
              <a:rPr lang="en-US" dirty="0"/>
            </a:br>
            <a:r>
              <a:rPr lang="en-US" dirty="0"/>
              <a:t>System performance.</a:t>
            </a:r>
          </a:p>
        </p:txBody>
      </p:sp>
      <p:pic>
        <p:nvPicPr>
          <p:cNvPr id="1026" name="Picture 2" descr="1.3 Understanding the Rhetorical Situation – Technical Writing Essentials">
            <a:extLst>
              <a:ext uri="{FF2B5EF4-FFF2-40B4-BE49-F238E27FC236}">
                <a16:creationId xmlns:a16="http://schemas.microsoft.com/office/drawing/2014/main" id="{2823E80A-A583-D549-EA8E-60051CA08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4640" y="1690327"/>
            <a:ext cx="4839788" cy="4355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3572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62944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/>
              <a:t>Audience Matters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11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Stakeholder Communication: Does One-Size Plan Fits All?">
            <a:extLst>
              <a:ext uri="{FF2B5EF4-FFF2-40B4-BE49-F238E27FC236}">
                <a16:creationId xmlns:a16="http://schemas.microsoft.com/office/drawing/2014/main" id="{A5DE992B-4DA9-8EE9-A294-D0B6A5788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78497"/>
            <a:ext cx="12192000" cy="5633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9000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AE426-3E3F-527A-F1ED-1440623A4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765CA-8997-D561-7B97-A359F5C1D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62944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/>
              <a:t>Audience Matters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FC9784-31F6-7C3F-4605-F070960ED978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C53094-B782-0B3A-3735-FBB5FD750A8B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6D842-8D50-9FA3-FBA2-1188649C9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12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3D646790-9B27-30A6-E343-F31716C74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8 Communication Plan Templates for Different Use Cases">
            <a:extLst>
              <a:ext uri="{FF2B5EF4-FFF2-40B4-BE49-F238E27FC236}">
                <a16:creationId xmlns:a16="http://schemas.microsoft.com/office/drawing/2014/main" id="{960E7A25-C586-37AD-C277-5A17FD8E3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3588"/>
            <a:ext cx="12192000" cy="5904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3861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C63CD-3AD8-E03E-E1DB-BD4A59496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4237E-5ED7-9E40-D4DB-CB209CC8C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62944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/>
              <a:t>Common Reporting Mistakes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911CF6-CE4E-68CC-0C5E-32653E4E942F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7C63CB-06AB-255E-BD8A-8BD40465B70E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6D53F2-0A23-9FBB-0B3F-2932424FB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13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8AEAFBA9-8F6A-088F-A926-A53093EC8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00B208B-6259-7FDF-821F-DA3495889B81}"/>
              </a:ext>
            </a:extLst>
          </p:cNvPr>
          <p:cNvSpPr txBox="1"/>
          <p:nvPr/>
        </p:nvSpPr>
        <p:spPr>
          <a:xfrm>
            <a:off x="934560" y="1098009"/>
            <a:ext cx="6096000" cy="2788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❌ Too much data</a:t>
            </a:r>
            <a:br>
              <a:rPr lang="en-US" dirty="0"/>
            </a:br>
            <a:r>
              <a:rPr lang="en-US" dirty="0"/>
              <a:t>❌ No clear message</a:t>
            </a:r>
            <a:br>
              <a:rPr lang="en-US" dirty="0"/>
            </a:br>
            <a:r>
              <a:rPr lang="en-US" dirty="0"/>
              <a:t>❌ No recommendation</a:t>
            </a:r>
            <a:br>
              <a:rPr lang="en-US" dirty="0"/>
            </a:br>
            <a:r>
              <a:rPr lang="en-US" dirty="0"/>
              <a:t>❌ Confusing visuals</a:t>
            </a:r>
            <a:br>
              <a:rPr lang="en-US" dirty="0"/>
            </a:br>
            <a:r>
              <a:rPr lang="en-US" dirty="0"/>
              <a:t>❌ No context</a:t>
            </a:r>
            <a:endParaRPr lang="en-P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4AAF9D-A204-5E2A-4F4B-D5C31BC9DDF9}"/>
              </a:ext>
            </a:extLst>
          </p:cNvPr>
          <p:cNvSpPr txBox="1"/>
          <p:nvPr/>
        </p:nvSpPr>
        <p:spPr>
          <a:xfrm>
            <a:off x="886232" y="4197680"/>
            <a:ext cx="609600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Tip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Don’t say: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“Delivery time is high.”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Say: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“Delivery time increased 20% due to manual dispatch.”</a:t>
            </a:r>
          </a:p>
        </p:txBody>
      </p:sp>
      <p:pic>
        <p:nvPicPr>
          <p:cNvPr id="10242" name="Picture 2" descr="3 Easy Design Tips to Make Your Dashboards Better">
            <a:extLst>
              <a:ext uri="{FF2B5EF4-FFF2-40B4-BE49-F238E27FC236}">
                <a16:creationId xmlns:a16="http://schemas.microsoft.com/office/drawing/2014/main" id="{7428E990-BF04-0AFB-6FBE-58EDFC2DC6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0458" y="1657486"/>
            <a:ext cx="6649130" cy="3723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17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42133-BFEE-63B3-8D50-7577300BD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D18F4-D2BA-83E6-5E7C-C925C2916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62944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/>
              <a:t>Activity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B6EA4D-5D34-D42C-4653-6F28342CD7E6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89B75F-145C-03EA-F60D-A69DC73D15C9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20D806-E15A-AE9D-07F8-A6554CEB1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14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468A40E8-A6AF-94D7-56E9-4DAA41442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E5CC0E-6FDC-C251-D20A-7A11F9F910CF}"/>
              </a:ext>
            </a:extLst>
          </p:cNvPr>
          <p:cNvSpPr txBox="1"/>
          <p:nvPr/>
        </p:nvSpPr>
        <p:spPr>
          <a:xfrm>
            <a:off x="914400" y="1641455"/>
            <a:ext cx="6096000" cy="3896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Create a Mini Report</a:t>
            </a:r>
          </a:p>
          <a:p>
            <a:pPr>
              <a:lnSpc>
                <a:spcPct val="200000"/>
              </a:lnSpc>
            </a:pPr>
            <a:r>
              <a:rPr lang="en-US" dirty="0"/>
              <a:t>Give students scenario:</a:t>
            </a:r>
          </a:p>
          <a:p>
            <a:pPr>
              <a:lnSpc>
                <a:spcPct val="200000"/>
              </a:lnSpc>
            </a:pPr>
            <a:r>
              <a:rPr lang="en-US" dirty="0" err="1"/>
              <a:t>QuickBasket</a:t>
            </a:r>
            <a:r>
              <a:rPr lang="en-US" dirty="0"/>
              <a:t> delivery delays increased.</a:t>
            </a:r>
          </a:p>
          <a:p>
            <a:pPr>
              <a:lnSpc>
                <a:spcPct val="200000"/>
              </a:lnSpc>
            </a:pPr>
            <a:r>
              <a:rPr lang="en-US" dirty="0"/>
              <a:t>Ask students to:</a:t>
            </a:r>
          </a:p>
          <a:p>
            <a:pPr>
              <a:lnSpc>
                <a:spcPct val="200000"/>
              </a:lnSpc>
            </a:pPr>
            <a:r>
              <a:rPr lang="en-US" dirty="0"/>
              <a:t>1️⃣ Identify key issue</a:t>
            </a:r>
            <a:br>
              <a:rPr lang="en-US" dirty="0"/>
            </a:br>
            <a:r>
              <a:rPr lang="en-US" dirty="0"/>
              <a:t>2️⃣ Write one insight</a:t>
            </a:r>
            <a:br>
              <a:rPr lang="en-US" dirty="0"/>
            </a:br>
            <a:r>
              <a:rPr lang="en-US" dirty="0"/>
              <a:t>3️⃣ Write one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2135609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C33A6-B5FF-690A-D995-C04BB9957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B8896-24A9-698C-5609-F70A5CF24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62944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/>
              <a:t>Converting Insights into Action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5B5080-ADE8-1D81-C33D-B77B0506DB40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A6518C-E393-058E-A1FD-6C6E08ED4D54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884C01-FDF5-8240-384D-514CA9C6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15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73FE63E6-BF44-2F65-FA4B-5F27FADA7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D26B5B-3238-3F0F-334C-68E0DE239164}"/>
              </a:ext>
            </a:extLst>
          </p:cNvPr>
          <p:cNvSpPr txBox="1"/>
          <p:nvPr/>
        </p:nvSpPr>
        <p:spPr>
          <a:xfrm>
            <a:off x="914400" y="1641455"/>
            <a:ext cx="6096000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Insights must lead to decisions.</a:t>
            </a:r>
          </a:p>
          <a:p>
            <a:pPr>
              <a:lnSpc>
                <a:spcPct val="150000"/>
              </a:lnSpc>
            </a:pPr>
            <a:br>
              <a:rPr lang="en-US" dirty="0"/>
            </a:b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Example:</a:t>
            </a:r>
          </a:p>
          <a:p>
            <a:pPr>
              <a:lnSpc>
                <a:spcPct val="150000"/>
              </a:lnSpc>
            </a:pPr>
            <a:r>
              <a:rPr lang="en-US" dirty="0"/>
              <a:t>Insight:</a:t>
            </a:r>
            <a:br>
              <a:rPr lang="en-US" dirty="0"/>
            </a:br>
            <a:r>
              <a:rPr lang="en-US" dirty="0"/>
              <a:t>Orders increasing.</a:t>
            </a:r>
          </a:p>
          <a:p>
            <a:pPr>
              <a:lnSpc>
                <a:spcPct val="150000"/>
              </a:lnSpc>
            </a:pPr>
            <a:r>
              <a:rPr lang="en-US" dirty="0"/>
              <a:t>Wrong Conclusion:</a:t>
            </a:r>
            <a:br>
              <a:rPr lang="en-US" dirty="0"/>
            </a:br>
            <a:r>
              <a:rPr lang="en-US" dirty="0"/>
              <a:t>“Business is good.”</a:t>
            </a:r>
          </a:p>
          <a:p>
            <a:pPr>
              <a:lnSpc>
                <a:spcPct val="150000"/>
              </a:lnSpc>
            </a:pPr>
            <a:r>
              <a:rPr lang="en-US" dirty="0"/>
              <a:t>Better Conclusion:</a:t>
            </a:r>
            <a:br>
              <a:rPr lang="en-US" dirty="0"/>
            </a:br>
            <a:r>
              <a:rPr lang="en-US" dirty="0"/>
              <a:t>“Growth is stressing operations → need scaling.”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FC8202-9F8E-B087-2C74-8FC2021B1DBB}"/>
              </a:ext>
            </a:extLst>
          </p:cNvPr>
          <p:cNvSpPr txBox="1"/>
          <p:nvPr/>
        </p:nvSpPr>
        <p:spPr>
          <a:xfrm>
            <a:off x="5562600" y="603631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Good BAs recommend actions, not just report numbers.”</a:t>
            </a:r>
          </a:p>
        </p:txBody>
      </p:sp>
      <p:pic>
        <p:nvPicPr>
          <p:cNvPr id="11266" name="Picture 2" descr="Applying Business Analysis Techniques in Business Data Analytics Contexts | by Nuno Santos | Analyst’s corner | Medium">
            <a:extLst>
              <a:ext uri="{FF2B5EF4-FFF2-40B4-BE49-F238E27FC236}">
                <a16:creationId xmlns:a16="http://schemas.microsoft.com/office/drawing/2014/main" id="{8D5E482D-CCA8-20DF-49F4-78683362E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9591" y="1118845"/>
            <a:ext cx="6235444" cy="4236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8053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18521-4699-93E5-A7B9-7436CCF92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5D486-4E20-B547-26EA-87EEC6BB9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62944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/>
              <a:t>Link to Business Decisions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CA2B25-9030-5C71-A638-3E80481EDCBA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63C715-A4C9-9022-06F6-E484B3C08C0A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EE1FF3-A174-7023-3A2C-03364035E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16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55C7CD4D-E1E1-2DE6-6D5D-CE56327404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5A20A9-5852-E966-D834-3B6A1AC62EC5}"/>
              </a:ext>
            </a:extLst>
          </p:cNvPr>
          <p:cNvSpPr txBox="1"/>
          <p:nvPr/>
        </p:nvSpPr>
        <p:spPr>
          <a:xfrm>
            <a:off x="914400" y="1641455"/>
            <a:ext cx="6096000" cy="2546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Explain:</a:t>
            </a:r>
          </a:p>
          <a:p>
            <a:pPr>
              <a:lnSpc>
                <a:spcPct val="150000"/>
              </a:lnSpc>
            </a:pPr>
            <a:r>
              <a:rPr lang="en-US" dirty="0"/>
              <a:t>Good reporting leads to:</a:t>
            </a:r>
          </a:p>
          <a:p>
            <a:pPr>
              <a:lnSpc>
                <a:spcPct val="150000"/>
              </a:lnSpc>
            </a:pPr>
            <a:r>
              <a:rPr lang="en-US" dirty="0"/>
              <a:t>✔ Investment decisions</a:t>
            </a:r>
            <a:br>
              <a:rPr lang="en-US" dirty="0"/>
            </a:br>
            <a:r>
              <a:rPr lang="en-US" dirty="0"/>
              <a:t>✔ Hiring decisions</a:t>
            </a:r>
            <a:br>
              <a:rPr lang="en-US" dirty="0"/>
            </a:br>
            <a:r>
              <a:rPr lang="en-US" dirty="0"/>
              <a:t>✔ Feature prioritization</a:t>
            </a:r>
            <a:br>
              <a:rPr lang="en-US" dirty="0"/>
            </a:br>
            <a:r>
              <a:rPr lang="en-US" dirty="0"/>
              <a:t>✔ Process improvement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4EB96-B340-8246-6CF2-B6337980B537}"/>
              </a:ext>
            </a:extLst>
          </p:cNvPr>
          <p:cNvSpPr txBox="1"/>
          <p:nvPr/>
        </p:nvSpPr>
        <p:spPr>
          <a:xfrm>
            <a:off x="914400" y="4435860"/>
            <a:ext cx="3528851" cy="2126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Example</a:t>
            </a:r>
          </a:p>
          <a:p>
            <a:pPr>
              <a:lnSpc>
                <a:spcPct val="150000"/>
              </a:lnSpc>
            </a:pPr>
            <a:r>
              <a:rPr lang="en-US" dirty="0"/>
              <a:t>Data shows high demand in Lahore.</a:t>
            </a:r>
          </a:p>
          <a:p>
            <a:pPr>
              <a:lnSpc>
                <a:spcPct val="150000"/>
              </a:lnSpc>
            </a:pPr>
            <a:r>
              <a:rPr lang="en-US" dirty="0"/>
              <a:t>Decision:</a:t>
            </a:r>
          </a:p>
          <a:p>
            <a:pPr>
              <a:lnSpc>
                <a:spcPct val="150000"/>
              </a:lnSpc>
            </a:pPr>
            <a:r>
              <a:rPr lang="en-US" dirty="0"/>
              <a:t>Expand fleet there.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C84810-A9C6-5124-943E-FCFF590F048C}"/>
              </a:ext>
            </a:extLst>
          </p:cNvPr>
          <p:cNvSpPr txBox="1"/>
          <p:nvPr/>
        </p:nvSpPr>
        <p:spPr>
          <a:xfrm>
            <a:off x="6096000" y="5987018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Data → Analysis → Insight → Recommendation → Decision</a:t>
            </a:r>
          </a:p>
        </p:txBody>
      </p:sp>
    </p:spTree>
    <p:extLst>
      <p:ext uri="{BB962C8B-B14F-4D97-AF65-F5344CB8AC3E}">
        <p14:creationId xmlns:p14="http://schemas.microsoft.com/office/powerpoint/2010/main" val="2205155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58F18-38D0-98B1-EFD0-94F4FE54B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5828A-1C8F-7910-8A01-6C0BAA10C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62944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/>
              <a:t>BA Role in Reporting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638614-1522-1584-D9BF-2FFC2CC2D889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59B024-5134-88E5-C96B-0BDFE31003E9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A070C-6E29-2A94-6B24-4D6A068BB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17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0A8D2C50-9028-DA80-C88D-57D670E89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938023-001F-472B-19ED-398AF289CC89}"/>
              </a:ext>
            </a:extLst>
          </p:cNvPr>
          <p:cNvSpPr txBox="1"/>
          <p:nvPr/>
        </p:nvSpPr>
        <p:spPr>
          <a:xfrm>
            <a:off x="914400" y="1641455"/>
            <a:ext cx="6096000" cy="462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Business Analyst must:</a:t>
            </a:r>
          </a:p>
          <a:p>
            <a:pPr>
              <a:lnSpc>
                <a:spcPct val="150000"/>
              </a:lnSpc>
            </a:pPr>
            <a:r>
              <a:rPr lang="en-US" dirty="0"/>
              <a:t>✔ Analyze data</a:t>
            </a:r>
            <a:br>
              <a:rPr lang="en-US" dirty="0"/>
            </a:br>
            <a:r>
              <a:rPr lang="en-US" dirty="0"/>
              <a:t>✔ Communicate clearly</a:t>
            </a:r>
            <a:br>
              <a:rPr lang="en-US" dirty="0"/>
            </a:br>
            <a:r>
              <a:rPr lang="en-US" dirty="0"/>
              <a:t>✔ Recommend actions</a:t>
            </a:r>
            <a:br>
              <a:rPr lang="en-US" dirty="0"/>
            </a:br>
            <a:r>
              <a:rPr lang="en-US" dirty="0"/>
              <a:t>✔ Influence decisions</a:t>
            </a:r>
          </a:p>
          <a:p>
            <a:pPr>
              <a:lnSpc>
                <a:spcPct val="150000"/>
              </a:lnSpc>
            </a:pPr>
            <a:br>
              <a:rPr lang="en-US" dirty="0"/>
            </a:b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Real World Insight</a:t>
            </a:r>
          </a:p>
          <a:p>
            <a:pPr>
              <a:lnSpc>
                <a:spcPct val="150000"/>
              </a:lnSpc>
            </a:pPr>
            <a:r>
              <a:rPr lang="en-US" dirty="0"/>
              <a:t>BA success is judged by:</a:t>
            </a:r>
          </a:p>
          <a:p>
            <a:pPr>
              <a:lnSpc>
                <a:spcPct val="150000"/>
              </a:lnSpc>
            </a:pPr>
            <a:r>
              <a:rPr lang="en-US" dirty="0"/>
              <a:t>👉 Clarity of insights</a:t>
            </a:r>
            <a:br>
              <a:rPr lang="en-US" dirty="0"/>
            </a:br>
            <a:r>
              <a:rPr lang="en-US" dirty="0"/>
              <a:t>👉 Quality of recommendations</a:t>
            </a:r>
          </a:p>
        </p:txBody>
      </p:sp>
      <p:pic>
        <p:nvPicPr>
          <p:cNvPr id="13314" name="Picture 2" descr="Business Analysis Process Roadmap Infographic">
            <a:extLst>
              <a:ext uri="{FF2B5EF4-FFF2-40B4-BE49-F238E27FC236}">
                <a16:creationId xmlns:a16="http://schemas.microsoft.com/office/drawing/2014/main" id="{0F2EF3C2-143C-5FA8-5CBE-E3367BFA8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8093" y="1117599"/>
            <a:ext cx="5601494" cy="5270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4574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764C8-6440-5A01-F04D-E78ABE22D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76B66-70B3-0FBB-1892-D05FB0252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62944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/>
              <a:t>KEY TAKEAWAYS (END OF LECTURE)</a:t>
            </a: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3B498F-9F7A-98AE-83E3-CD726D42CB34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4E770F-B141-2FFE-CF34-1591BBE9C8C6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2E02EC-5786-13B9-592E-DB8221BFF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18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6636CEFE-3791-AF03-C195-40C44B8CF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EE15C0-14A7-7519-9C33-D9D98FFF3424}"/>
              </a:ext>
            </a:extLst>
          </p:cNvPr>
          <p:cNvSpPr txBox="1"/>
          <p:nvPr/>
        </p:nvSpPr>
        <p:spPr>
          <a:xfrm>
            <a:off x="826294" y="1401095"/>
            <a:ext cx="8317706" cy="3892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✔ Data storytelling influences decisions</a:t>
            </a:r>
            <a:br>
              <a:rPr lang="en-US" dirty="0"/>
            </a:br>
            <a:r>
              <a:rPr lang="en-US" dirty="0"/>
              <a:t>✔ Reports must be clear &amp; concise</a:t>
            </a:r>
            <a:br>
              <a:rPr lang="en-US" dirty="0"/>
            </a:br>
            <a:r>
              <a:rPr lang="en-US" dirty="0"/>
              <a:t>✔ Audience matters</a:t>
            </a:r>
            <a:br>
              <a:rPr lang="en-US" dirty="0"/>
            </a:br>
            <a:r>
              <a:rPr lang="en-US" dirty="0"/>
              <a:t>✔ Insights must drive action</a:t>
            </a:r>
            <a:br>
              <a:rPr lang="en-US" dirty="0"/>
            </a:br>
            <a:r>
              <a:rPr lang="en-US" dirty="0"/>
              <a:t>✔ Good BAs communicate, not just analyze</a:t>
            </a:r>
          </a:p>
          <a:p>
            <a:pPr>
              <a:lnSpc>
                <a:spcPct val="200000"/>
              </a:lnSpc>
            </a:pPr>
            <a:endParaRPr lang="en-US" dirty="0"/>
          </a:p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F779FD77-7AE1-3908-FACC-2B70699CA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2" y="4152177"/>
            <a:ext cx="6766596" cy="2222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“Many dashboards fail because they show data, not decisions.”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“Executives don’t need data — they need direction.”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“A strong BA turns numbers into narratives.”</a:t>
            </a:r>
          </a:p>
        </p:txBody>
      </p:sp>
    </p:spTree>
    <p:extLst>
      <p:ext uri="{BB962C8B-B14F-4D97-AF65-F5344CB8AC3E}">
        <p14:creationId xmlns:p14="http://schemas.microsoft.com/office/powerpoint/2010/main" val="1751418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29994</TotalTime>
  <Words>1068</Words>
  <Application>Microsoft Macintosh PowerPoint</Application>
  <PresentationFormat>Widescreen</PresentationFormat>
  <Paragraphs>231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BUSINESS ANALYTICS  Introduction to Business Analytics and Core Business Functions</vt:lpstr>
      <vt:lpstr>Learning Objectives – WEEK 12 </vt:lpstr>
      <vt:lpstr>Previous Week - 10 </vt:lpstr>
      <vt:lpstr>WHAT IS DATA STORYTELLING?</vt:lpstr>
      <vt:lpstr>What is Data Storytelling?</vt:lpstr>
      <vt:lpstr>STRUCTURE OF A STRONG BUSINESS REPORT</vt:lpstr>
      <vt:lpstr>Executive Summary </vt:lpstr>
      <vt:lpstr>Executive Summary </vt:lpstr>
      <vt:lpstr>Audience Matters</vt:lpstr>
      <vt:lpstr>Audience Matters</vt:lpstr>
      <vt:lpstr>Audience Matters</vt:lpstr>
      <vt:lpstr>Common Reporting Mistakes</vt:lpstr>
      <vt:lpstr>Activity</vt:lpstr>
      <vt:lpstr>Converting Insights into Action</vt:lpstr>
      <vt:lpstr>Link to Business Decisions</vt:lpstr>
      <vt:lpstr>BA Role in Reporting</vt:lpstr>
      <vt:lpstr>KEY TAKEAWAYS (END OF LECTURE)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DEVELOPING HORIZONTAL LINKAGES WITH OTHER GOVERNMENT DEPARTMENTS</dc:title>
  <dc:creator>Mufeeza Iqbal</dc:creator>
  <cp:lastModifiedBy>Moiz Shah</cp:lastModifiedBy>
  <cp:revision>178</cp:revision>
  <dcterms:created xsi:type="dcterms:W3CDTF">2024-06-09T07:08:43Z</dcterms:created>
  <dcterms:modified xsi:type="dcterms:W3CDTF">2026-04-10T06:08:29Z</dcterms:modified>
</cp:coreProperties>
</file>