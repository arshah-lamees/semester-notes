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37"/>
  </p:notesMasterIdLst>
  <p:sldIdLst>
    <p:sldId id="256" r:id="rId2"/>
    <p:sldId id="345" r:id="rId3"/>
    <p:sldId id="357" r:id="rId4"/>
    <p:sldId id="412" r:id="rId5"/>
    <p:sldId id="401" r:id="rId6"/>
    <p:sldId id="413" r:id="rId7"/>
    <p:sldId id="408" r:id="rId8"/>
    <p:sldId id="414" r:id="rId9"/>
    <p:sldId id="432" r:id="rId10"/>
    <p:sldId id="415" r:id="rId11"/>
    <p:sldId id="416" r:id="rId12"/>
    <p:sldId id="417" r:id="rId13"/>
    <p:sldId id="418" r:id="rId14"/>
    <p:sldId id="433" r:id="rId15"/>
    <p:sldId id="434" r:id="rId16"/>
    <p:sldId id="419" r:id="rId17"/>
    <p:sldId id="435" r:id="rId18"/>
    <p:sldId id="420" r:id="rId19"/>
    <p:sldId id="436" r:id="rId20"/>
    <p:sldId id="421" r:id="rId21"/>
    <p:sldId id="422" r:id="rId22"/>
    <p:sldId id="437" r:id="rId23"/>
    <p:sldId id="423" r:id="rId24"/>
    <p:sldId id="424" r:id="rId25"/>
    <p:sldId id="425" r:id="rId26"/>
    <p:sldId id="426" r:id="rId27"/>
    <p:sldId id="427" r:id="rId28"/>
    <p:sldId id="428" r:id="rId29"/>
    <p:sldId id="438" r:id="rId30"/>
    <p:sldId id="430" r:id="rId31"/>
    <p:sldId id="431" r:id="rId32"/>
    <p:sldId id="410" r:id="rId33"/>
    <p:sldId id="400" r:id="rId34"/>
    <p:sldId id="429" r:id="rId35"/>
    <p:sldId id="439" r:id="rId3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94" autoAdjust="0"/>
    <p:restoredTop sz="94690"/>
  </p:normalViewPr>
  <p:slideViewPr>
    <p:cSldViewPr snapToGrid="0">
      <p:cViewPr varScale="1">
        <p:scale>
          <a:sx n="81" d="100"/>
          <a:sy n="81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4/27/26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3250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3F2B-2AFE-C768-3C4D-15398FAC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E2A47-44C1-4E66-C544-E31E10C22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BF703-38A3-2926-4171-F179C26D6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C9253-05CC-41B2-82DB-0D25DAF08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8539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B447-F144-5925-911C-003EFFD4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AC8DF-16D4-F845-900D-417394111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D572E-A483-D42F-0088-5E24403CE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0B9D1-DB6F-2948-6B93-CEE04EAD5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58510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4AD3A-04E1-3556-9660-721735766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1EEE9-5404-03C4-1C25-6C63723C8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D5F97-B729-C98E-927F-CEB9A9586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305C6-C2A1-4DB3-0F26-0697CDDB9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0149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27D8-B3D7-AFF2-A721-93817757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787AC-468D-C9C1-73C6-F8CC93E26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77323-F971-179B-68D0-B89C0D0B5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C70B3-26D8-ACCD-EDFC-385F8C9F6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0557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8F69-C191-29A9-6C20-4D8C9129F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86C35-8842-0E87-B9F6-CD1B2C804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9F723-DC54-E1D8-4A36-4E5466D0E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6BC6C-45F1-9883-0415-951C4D2A2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5226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F291-AB8D-D8F1-4E73-153DC3E9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91BDC-CA37-20F8-5BF7-3DFF4C991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A3EF5-480C-702D-5D0B-A95B2CF40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166E3-4B8F-B732-FD01-8F24C4C4F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4101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4F585-500C-5FD4-908A-5252AA4B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2E3E6-6183-AB1F-1F10-C22138A87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94BD4-5A11-174B-4482-DC592C3DA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33B4-38C5-2C58-B4FD-251CFA4D4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0974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BF425-56C5-96B5-1D27-678737A7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D4B7B-F716-67C8-BCE3-DE5F79FEE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9A80F-23B0-20DC-750C-B52A83FE7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C43B5-46DD-68C4-4B6F-3018D0F60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1420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17768-B8BA-5282-7498-3EF26A1D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1822B-91B6-CBA6-69CC-DF6B79CD3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E1607-A67B-6EF8-FB4A-6C36D95E6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8D6E8-AA42-2E07-C01C-5643A254B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62036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6130-1E3B-30B4-AE23-6385F9F3B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6D8C5-5A86-26D8-818F-B5C5F5D3E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77FE7-906D-21F4-4E1E-AB33C358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DA034-B55A-C2FC-B02D-8B16BC4D6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9231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AC31-782E-2E0D-10AA-B187643E4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A9570-E94F-83C1-19AD-525AC3B1D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D27B9-BF72-BD76-3A66-CC8167760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02E67-4930-F729-6DDB-92D0370F1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6436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AE04-3431-C245-A167-E9706BF11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25571-E893-49D2-D25D-27E235807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E776B-262D-E30B-64AA-CF33710FB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31A85-D04E-E345-6C99-3A1F2152B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14123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61DA7-9499-4CCF-EDAE-A411FF4C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53373-C652-DA72-A0EF-B83075AC4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5B996-E369-3BF0-5FCE-701BA9ADA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20D7A-5588-07B4-504F-56DB748F5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7930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31868-A286-E080-670F-EA5E3815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47B67-118D-0A81-A0A1-1D64E99DA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4E273-FA0C-83DA-3018-9790AAE86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976CE-32CF-1878-203C-ECDA4E0DE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9302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F8F25-C1D2-986B-11F2-BF804646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3400D-B704-8F74-86A3-C615E3A3E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FFBA7-1F27-755C-A8F4-D026CA014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8CBCB-5C1B-3724-F65C-9311106B2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56620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215A-3573-3F85-E3E7-15050FFC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47E95-D5A0-B682-E893-03C7FF471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B4A5E-A8A0-440C-9BCF-B56476B6A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17739-87BF-348F-7EE7-6537338A2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8372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04E6-8D4C-C8F2-CCA2-18C8F9CB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A8739-C3ED-AF45-C814-286FCCD9D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C241A-3F12-FD2B-EA86-1B326BE29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EFCB8-AD27-EC60-8187-B1E8DC502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63979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BF76-B26C-08A8-B1CB-4A53F4C6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C1619-7DB6-09F2-0CB2-48087B585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0EE1B-3019-3B7F-6094-4947DA26F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17FB7-BA63-07FA-D239-65CB399C0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5776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960C9-6E28-13E0-D793-F2D1DDAB1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EBB32-5E8C-01C6-3279-DBA48C0B6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7BBDC-B38A-0E51-EC08-33CA574D5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275A9-1D7D-1494-D881-297FE71CD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3314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F62C-7A0B-8F04-2FEC-00081EE4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6D4D5-44F4-F92A-32B4-DB92D35A5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42352-29D6-F755-8F17-81E16C7F0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D20DE-7BA4-52A3-AF27-1B467DD7F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10473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CEC9-291C-63BD-3B9C-5F8FEDA5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59B2F-EC5B-D8BB-74C5-31F83598A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34E2F-FA9D-429F-C09F-C4628F720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29A94-F5EB-DDC2-584A-39C775516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530812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ED569-A4D1-05C9-96F0-FE8A3ED8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6F5BE-9F58-557D-3FE6-598C0C2A9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0CBD2-FD49-7BEB-E9AE-0C40CDB23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B55D7-C2CA-F335-D6BB-60FA04735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5982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DCCA1-C48F-2526-76FC-E3B98C816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3C85E-B646-C3E9-E9C7-A04BB291D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C3966-9077-2F32-BE95-6440B0C83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C005F-7192-A882-BEB2-78B4EAD17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110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0EEAC-6AE9-C287-4E8C-314C9EC8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2EA0B-B185-A0AF-8482-BC2BF961F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3599A-A1CC-8C5D-3AD5-0A26D10D1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83F11-B7E4-6EF3-493F-80CBB9FF1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21973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C1188-4E1A-384D-BB59-FB0540E7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A36C4-16CB-1B73-5078-11A7C0369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504A1-1EAE-F70B-D467-C97BB72A5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4B968-E263-956B-DFC4-785B7F97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844739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FB3DC-43D6-A522-C79F-5110B4C7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69529-2553-0393-C05D-AE1B2F335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4FBAC-99F6-70A6-62F4-9D48EA787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C88E-7537-F673-16FE-6D96B9E25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47518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A348A-9B6A-A2AC-07CA-5DE297E19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9A423-24BB-3CBC-A0C5-EDDB12CF9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F89FC-4141-51CA-72D8-F1D478355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97720-9605-B3C3-6205-A0930747E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14060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AEB1-3E53-E619-9B7A-35C26D023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B9471-85A5-15E3-0755-69A297383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9D1ED-2A5B-3627-3A67-5E4BC919B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6B1E4-FB14-8475-BFE1-45819C073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8542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C6203-FDF2-56C6-A733-848147A1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161DB-CA5F-D54F-CCAE-AFD1DEDE3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9614A-853B-7D71-16BB-EA9C6D509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E6CCD-B9CD-793D-102F-948BD26CF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27283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E494-ACEF-4818-B1C7-64ABF414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4B188-5E93-F2C6-B7DA-D2F322B4E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A3D5C-0B3E-EA91-1CA4-F8527C1B0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34D58-1F94-9B33-8A78-8955D5D08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92693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CBAD-326E-9603-B819-7EA06E03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491CD-9ED7-0DDB-41A6-88A6535C4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9E8B8-B841-0666-7C93-457A0DE05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4CB63-123E-9463-8937-4BACAC425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28675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7D092-F06D-AF9D-3536-3BC15981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8988D-11B9-ABD3-0EC1-F711DF9A5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A6B57-FEC5-C77B-57F5-D98D76DA0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CB2B2-A630-95F0-5070-5D4362B26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7461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4/27/26 1:24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4/27/26 1:24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4/27/26 1:24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4/27/26 1:24 AM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4/27/26 1:24 AM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4/27/26 1:24 AM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4/27/26 1:24 AM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4/27/26 1:24 AM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4/27/26 1:24 AM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4/27/26 1:24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4/27/26 1:24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4/27/26 1:24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irstname.lastname@gmail.com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609600" y="975360"/>
            <a:ext cx="9498806" cy="2862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sz="16600" dirty="0"/>
            </a:br>
            <a:r>
              <a:rPr lang="en-US" sz="4300" dirty="0"/>
              <a:t>REAL WORLD - AGILE WAYS</a:t>
            </a:r>
            <a:endParaRPr lang="en-PK" sz="4300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13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4000"/>
            <a:ext cx="10515600" cy="44621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buNone/>
            </a:pP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000" dirty="0"/>
              <a:t>Understand how Business Analysts operate in real companies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 Understand Agile in practice (not theory only)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Know what employers expect from junior Bas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Learn how to behave in projects, meetings, and teams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Feel more prepared for jobs and internships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987F-CA9A-57D4-BC21-AD9FA9D3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D0D9-F352-841A-7FC5-5FC049FD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PREVIOUS WEEKS – 1 -&gt; 12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67A73-FA1D-F829-21AB-239DEEC37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30"/>
            <a:ext cx="10515600" cy="46577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Last weeks we learned:</a:t>
            </a:r>
          </a:p>
          <a:p>
            <a:pPr marL="0" indent="0">
              <a:buNone/>
            </a:pPr>
            <a:r>
              <a:rPr lang="en-US" sz="2400" dirty="0"/>
              <a:t>✔ Business fundamentals</a:t>
            </a:r>
            <a:br>
              <a:rPr lang="en-US" sz="2400" dirty="0"/>
            </a:br>
            <a:r>
              <a:rPr lang="en-US" sz="2400" dirty="0"/>
              <a:t>✔ Stakeholders</a:t>
            </a:r>
            <a:br>
              <a:rPr lang="en-US" sz="2400" dirty="0"/>
            </a:br>
            <a:r>
              <a:rPr lang="en-US" sz="2400" dirty="0"/>
              <a:t>✔ Requirements</a:t>
            </a:r>
            <a:br>
              <a:rPr lang="en-US" sz="2400" dirty="0"/>
            </a:br>
            <a:r>
              <a:rPr lang="en-US" sz="2400" dirty="0"/>
              <a:t>✔ Documentation</a:t>
            </a:r>
            <a:br>
              <a:rPr lang="en-US" sz="2400" dirty="0"/>
            </a:br>
            <a:r>
              <a:rPr lang="en-US" sz="2400" dirty="0"/>
              <a:t>✔ Process modeling</a:t>
            </a:r>
            <a:br>
              <a:rPr lang="en-US" sz="2400" dirty="0"/>
            </a:br>
            <a:r>
              <a:rPr lang="en-US" sz="2400" dirty="0"/>
              <a:t>✔ Improvement</a:t>
            </a:r>
            <a:br>
              <a:rPr lang="en-US" sz="2400" dirty="0"/>
            </a:br>
            <a:r>
              <a:rPr lang="en-US" sz="2400" dirty="0"/>
              <a:t>✔ Analytics</a:t>
            </a:r>
            <a:br>
              <a:rPr lang="en-US" sz="2400" dirty="0"/>
            </a:br>
            <a:r>
              <a:rPr lang="en-US" sz="2400" dirty="0"/>
              <a:t>✔ KPIs</a:t>
            </a:r>
            <a:br>
              <a:rPr lang="en-US" sz="2400" dirty="0"/>
            </a:br>
            <a:r>
              <a:rPr lang="en-US" sz="2400" dirty="0"/>
              <a:t>✔ Dashboards</a:t>
            </a:r>
            <a:br>
              <a:rPr lang="en-US" sz="2400" dirty="0"/>
            </a:br>
            <a:r>
              <a:rPr lang="en-US" sz="2400" dirty="0"/>
              <a:t>✔ Storytelling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Now we go last mile:</a:t>
            </a:r>
          </a:p>
          <a:p>
            <a:r>
              <a:rPr lang="en-US" sz="2400" dirty="0"/>
              <a:t>👉 Today we combine everything into </a:t>
            </a:r>
            <a:r>
              <a:rPr lang="en-US" sz="2400" b="1" dirty="0"/>
              <a:t>real project execution</a:t>
            </a:r>
            <a:r>
              <a:rPr lang="en-US" sz="24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9F1E5D-D5AF-8C87-127D-FC319A63A133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E1E0E-93FA-6C7F-81DD-AA96FD5E28F7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9D075-3CF3-84B1-2A2D-9C44140A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3A1EEDA-0CFE-DF80-91E4-DF3796205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59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CEA8-2001-5D12-5113-6EFB8435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513D-9634-5B86-BF2D-60B4E887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219987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BIG PICTURE: WHAT HAPPENS IN THE REAL WORLD?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DF236-CE2E-3F6E-2732-099DA4B9948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08B4D-C835-D452-9838-6B031A06C73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52FC9-A2BD-3FAF-3DF2-F7C42C2C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F2995B5C-5362-9EF5-1671-D16AA7A28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AB10341F-80AB-4C7F-C7AE-34F515EF7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08487A-CFAB-CF06-454E-A066BED76FAB}"/>
              </a:ext>
            </a:extLst>
          </p:cNvPr>
          <p:cNvSpPr txBox="1"/>
          <p:nvPr/>
        </p:nvSpPr>
        <p:spPr>
          <a:xfrm>
            <a:off x="826294" y="681154"/>
            <a:ext cx="8778240" cy="587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University often teaches concepts separately: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Requirements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Stakeholders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KPIs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Reports </a:t>
            </a:r>
          </a:p>
          <a:p>
            <a:pPr>
              <a:lnSpc>
                <a:spcPct val="150000"/>
              </a:lnSpc>
            </a:pPr>
            <a:r>
              <a:rPr lang="en-US" dirty="0"/>
              <a:t>But in real jobs, all happen together.</a:t>
            </a:r>
          </a:p>
          <a:p>
            <a:pPr>
              <a:lnSpc>
                <a:spcPct val="150000"/>
              </a:lnSpc>
            </a:pPr>
            <a:r>
              <a:rPr lang="en-US" dirty="0"/>
              <a:t>A BA may do in one day:</a:t>
            </a:r>
          </a:p>
          <a:p>
            <a:pPr>
              <a:lnSpc>
                <a:spcPct val="150000"/>
              </a:lnSpc>
            </a:pPr>
            <a:r>
              <a:rPr lang="en-US" dirty="0"/>
              <a:t>✔ Attend stakeholder meeting</a:t>
            </a:r>
            <a:br>
              <a:rPr lang="en-US" dirty="0"/>
            </a:br>
            <a:r>
              <a:rPr lang="en-US" dirty="0"/>
              <a:t>✔ Clarify user story</a:t>
            </a:r>
            <a:br>
              <a:rPr lang="en-US" dirty="0"/>
            </a:br>
            <a:r>
              <a:rPr lang="en-US" dirty="0"/>
              <a:t>✔ Update Jira ticket</a:t>
            </a:r>
            <a:br>
              <a:rPr lang="en-US" dirty="0"/>
            </a:br>
            <a:r>
              <a:rPr lang="en-US" dirty="0"/>
              <a:t>✔ Help QA understand scope</a:t>
            </a:r>
            <a:br>
              <a:rPr lang="en-US" dirty="0"/>
            </a:br>
            <a:r>
              <a:rPr lang="en-US" dirty="0"/>
              <a:t>✔ Analyze KPI drop</a:t>
            </a:r>
            <a:br>
              <a:rPr lang="en-US" dirty="0"/>
            </a:br>
            <a:r>
              <a:rPr lang="en-US" dirty="0"/>
              <a:t>✔ Prepare status update</a:t>
            </a:r>
            <a:br>
              <a:rPr lang="en-US" dirty="0"/>
            </a:br>
            <a:r>
              <a:rPr lang="en-US" dirty="0"/>
              <a:t>✔ Join sprint planning</a:t>
            </a:r>
          </a:p>
        </p:txBody>
      </p:sp>
      <p:pic>
        <p:nvPicPr>
          <p:cNvPr id="6148" name="Picture 4" descr="Office people workflow process. Presentation. Scrum kanban board. Teamwork agile project management, vector illustration">
            <a:extLst>
              <a:ext uri="{FF2B5EF4-FFF2-40B4-BE49-F238E27FC236}">
                <a16:creationId xmlns:a16="http://schemas.microsoft.com/office/drawing/2014/main" id="{4A4F1044-9A97-CD66-A1A1-2865B4830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637" y="1101436"/>
            <a:ext cx="5417127" cy="406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55E39-1C74-B895-30C0-9136F1C1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9796-CA56-9D02-8DB3-FD757004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BIG PICTURE: WHAT HAPPENS IN THE REAL WORLD?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D453A-4A3E-FB21-96EA-7637038995BD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AB706-25D4-8755-0303-435AAB7CFC3B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59071-0F2E-888B-1E23-723E2D63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C929632F-C7F5-049A-D2D1-E30CFD0C1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AB658280-3C7B-2B8A-A461-78A368B50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7A8B62-64C5-F6DA-3203-137617EE886B}"/>
              </a:ext>
            </a:extLst>
          </p:cNvPr>
          <p:cNvSpPr txBox="1"/>
          <p:nvPr/>
        </p:nvSpPr>
        <p:spPr>
          <a:xfrm>
            <a:off x="613001" y="1991809"/>
            <a:ext cx="5482999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🇵🇰 Pakistan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Software house in Lahore builds app for UAE client.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BA responsibilities: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Understand overseas client needs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Manage </a:t>
            </a:r>
            <a:r>
              <a:rPr lang="en-US" dirty="0" err="1"/>
              <a:t>timezone</a:t>
            </a:r>
            <a:r>
              <a:rPr lang="en-US" dirty="0"/>
              <a:t> communication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Convert requests into backlog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 dev team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 progress weekly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D7B27B-2AB1-6012-1E28-64AC5427BEDC}"/>
              </a:ext>
            </a:extLst>
          </p:cNvPr>
          <p:cNvSpPr txBox="1"/>
          <p:nvPr/>
        </p:nvSpPr>
        <p:spPr>
          <a:xfrm>
            <a:off x="6183086" y="1991809"/>
            <a:ext cx="4047786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🌎 Global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Product company like Uber: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BA/Product Analyst monitors rider cancellations and proposes improvements using data.</a:t>
            </a:r>
          </a:p>
        </p:txBody>
      </p:sp>
    </p:spTree>
    <p:extLst>
      <p:ext uri="{BB962C8B-B14F-4D97-AF65-F5344CB8AC3E}">
        <p14:creationId xmlns:p14="http://schemas.microsoft.com/office/powerpoint/2010/main" val="20961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1410D-BF22-68CA-276B-C40DDFBD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960-8DA8-39A0-772C-31534475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254000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WHAT EMPLOYERS EXPECT FROM A JUNIOR BA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5472C-5532-EA68-DDD1-5122A9721820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949B4-2BA2-657F-694A-C307EC34F2C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AAA0D-F286-0852-FEBB-E62D19A8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5D63F52C-B46A-FC50-50BE-4ECD882AE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54BF83-7CF6-C0AB-470E-4ADDBB66E099}"/>
              </a:ext>
            </a:extLst>
          </p:cNvPr>
          <p:cNvSpPr txBox="1"/>
          <p:nvPr/>
        </p:nvSpPr>
        <p:spPr>
          <a:xfrm>
            <a:off x="826294" y="735609"/>
            <a:ext cx="6096000" cy="379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They do NOT expect perfection.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They expect: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Good communication</a:t>
            </a:r>
            <a:br>
              <a:rPr lang="en-US" dirty="0"/>
            </a:br>
            <a:r>
              <a:rPr lang="en-US" dirty="0"/>
              <a:t>✔ Structured thinking</a:t>
            </a:r>
            <a:br>
              <a:rPr lang="en-US" dirty="0"/>
            </a:br>
            <a:r>
              <a:rPr lang="en-US" dirty="0"/>
              <a:t>✔ Professional attitude</a:t>
            </a:r>
            <a:br>
              <a:rPr lang="en-US" dirty="0"/>
            </a:br>
            <a:r>
              <a:rPr lang="en-US" dirty="0"/>
              <a:t>✔ Curiosity</a:t>
            </a:r>
            <a:br>
              <a:rPr lang="en-US" dirty="0"/>
            </a:br>
            <a:r>
              <a:rPr lang="en-US" dirty="0"/>
              <a:t>✔ Ability to learn tools</a:t>
            </a:r>
            <a:br>
              <a:rPr lang="en-US" dirty="0"/>
            </a:br>
            <a:r>
              <a:rPr lang="en-US" dirty="0"/>
              <a:t>✔ Clear documentation</a:t>
            </a:r>
            <a:br>
              <a:rPr lang="en-US" dirty="0"/>
            </a:br>
            <a:r>
              <a:rPr lang="en-US" dirty="0"/>
              <a:t>✔ Reliability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6F20B-6008-64D5-F784-76B211FBAE85}"/>
              </a:ext>
            </a:extLst>
          </p:cNvPr>
          <p:cNvSpPr txBox="1"/>
          <p:nvPr/>
        </p:nvSpPr>
        <p:spPr>
          <a:xfrm>
            <a:off x="819459" y="4626361"/>
            <a:ext cx="552388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❌ Common Wrong Assumption</a:t>
            </a:r>
          </a:p>
          <a:p>
            <a:pPr>
              <a:lnSpc>
                <a:spcPct val="150000"/>
              </a:lnSpc>
            </a:pPr>
            <a:r>
              <a:rPr lang="en-US" dirty="0"/>
              <a:t>“I need 5 years experience.”</a:t>
            </a:r>
          </a:p>
          <a:p>
            <a:pPr>
              <a:lnSpc>
                <a:spcPct val="150000"/>
              </a:lnSpc>
            </a:pPr>
            <a:r>
              <a:rPr lang="en-US" dirty="0"/>
              <a:t>No.</a:t>
            </a:r>
          </a:p>
          <a:p>
            <a:pPr>
              <a:lnSpc>
                <a:spcPct val="150000"/>
              </a:lnSpc>
            </a:pPr>
            <a:r>
              <a:rPr lang="en-US" dirty="0"/>
              <a:t>Entry-level roles need strong fundamentals + confidence.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7170" name="Picture 2" descr="Career Readiness Facts | Infobase">
            <a:extLst>
              <a:ext uri="{FF2B5EF4-FFF2-40B4-BE49-F238E27FC236}">
                <a16:creationId xmlns:a16="http://schemas.microsoft.com/office/drawing/2014/main" id="{A581E1C9-C065-5256-999B-0143130B0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556" y="1693717"/>
            <a:ext cx="5719268" cy="326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74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DB20C-29D7-2119-64C0-ECA13133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B0BE-017F-372B-2381-AFB953BCF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BA PATHWAY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04D960-9F2B-3DB9-1C74-6298D460F516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8FC069-473E-FEBD-2F0E-98716E265A7F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2539E-5D18-64D2-BA20-2A7C75EA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8F591A5F-6253-6C15-F661-9873906F9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areer paths for Business Analysts | by Ale Natiq (Ali Mashhadi) | Medium">
            <a:extLst>
              <a:ext uri="{FF2B5EF4-FFF2-40B4-BE49-F238E27FC236}">
                <a16:creationId xmlns:a16="http://schemas.microsoft.com/office/drawing/2014/main" id="{0434DD2B-A202-9744-DC08-1842967A2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917" y="799716"/>
            <a:ext cx="8198283" cy="573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22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D09D-65BA-E8BD-5866-F94A49F6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2BA9-3871-668C-F80C-AE24E87A2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REAL SKILLS VS ACADEMIC SKILLS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393CA-2A82-974C-AD6C-281CE3679E90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444454-ED72-8B78-7273-F5F923F8DCB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DD912-E45E-2BAD-C637-5AF6EF14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79A24235-0F77-F2DF-F8CC-E0C888238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68EC16-1790-02C3-4C29-54A3129B323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89792"/>
          <a:ext cx="6346372" cy="1828800"/>
        </p:xfrm>
        <a:graphic>
          <a:graphicData uri="http://schemas.openxmlformats.org/drawingml/2006/table">
            <a:tbl>
              <a:tblPr/>
              <a:tblGrid>
                <a:gridCol w="3173186">
                  <a:extLst>
                    <a:ext uri="{9D8B030D-6E8A-4147-A177-3AD203B41FA5}">
                      <a16:colId xmlns:a16="http://schemas.microsoft.com/office/drawing/2014/main" val="1738154697"/>
                    </a:ext>
                  </a:extLst>
                </a:gridCol>
                <a:gridCol w="3173186">
                  <a:extLst>
                    <a:ext uri="{9D8B030D-6E8A-4147-A177-3AD203B41FA5}">
                      <a16:colId xmlns:a16="http://schemas.microsoft.com/office/drawing/2014/main" val="4067366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Academic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Real World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166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Write definitions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Solve ambiguity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10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Answer exam 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Ask better 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36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Learn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Apply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56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Individual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Cross-functional teamwork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712950"/>
                  </a:ext>
                </a:extLst>
              </a:tr>
            </a:tbl>
          </a:graphicData>
        </a:graphic>
      </p:graphicFrame>
      <p:pic>
        <p:nvPicPr>
          <p:cNvPr id="9218" name="Picture 2" descr="Job Skills Training vs. Traditional Education">
            <a:extLst>
              <a:ext uri="{FF2B5EF4-FFF2-40B4-BE49-F238E27FC236}">
                <a16:creationId xmlns:a16="http://schemas.microsoft.com/office/drawing/2014/main" id="{BF83388C-5BAD-C9C4-F8CE-E6E17D28F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294" y="935199"/>
            <a:ext cx="4860997" cy="486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945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E0A6-9495-5AE8-997C-5C3597270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231E-43CD-9B26-42FF-EA2D0DBA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029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A DAY IN THE LIFE OF A BA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E994A-4413-481E-3C18-8584E7BFBD0E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DFD445-C96A-A605-EA17-01641056F161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B179E-D033-1F5E-6618-A437431B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9965D26-2AC3-2BCD-F953-B0C2078BD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1AB55A-83A9-C2FE-F7F6-011A8334F69E}"/>
              </a:ext>
            </a:extLst>
          </p:cNvPr>
          <p:cNvSpPr txBox="1"/>
          <p:nvPr/>
        </p:nvSpPr>
        <p:spPr>
          <a:xfrm>
            <a:off x="1090616" y="364831"/>
            <a:ext cx="6096000" cy="628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u="sng" dirty="0"/>
              <a:t>Example daily schedule: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10:00 AM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Check emails, Slack, Jira updates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11:00 AM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Daily standup with team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12:00 PM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Requirement clarification with client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2:00 PM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Write user stories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4:00 PM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Review dashboard metrics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5:00 PM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UAT feedback meeting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6:00 PM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Prepare status summary</a:t>
            </a:r>
          </a:p>
        </p:txBody>
      </p:sp>
      <p:pic>
        <p:nvPicPr>
          <p:cNvPr id="10242" name="Picture 2" descr="The Future of Business Analysis - Why BA Role Isn’t Disappearing - It’s Evolving">
            <a:extLst>
              <a:ext uri="{FF2B5EF4-FFF2-40B4-BE49-F238E27FC236}">
                <a16:creationId xmlns:a16="http://schemas.microsoft.com/office/drawing/2014/main" id="{1DCB2397-145B-5C3F-EF3B-7B698543B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082" y="781193"/>
            <a:ext cx="7349836" cy="5661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616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5E1FB-2A23-8339-3925-2BEB6FE8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5896-2596-5717-FA71-48F72161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STAKEHOLDER MANAGEMENT IN REAL PROJECTS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303BE-E371-3762-1F51-7AA31AE11DA3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ECB4A-F3E5-B0DC-7461-5FD3E74ED46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FBAF4-8C8D-BC51-0628-FA73C93D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9A363FFE-17CB-E063-E245-86EB4994C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902353-ADC3-C526-B8AE-271190743EA1}"/>
              </a:ext>
            </a:extLst>
          </p:cNvPr>
          <p:cNvSpPr txBox="1"/>
          <p:nvPr/>
        </p:nvSpPr>
        <p:spPr>
          <a:xfrm>
            <a:off x="850106" y="784187"/>
            <a:ext cx="609600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Who you deal with</a:t>
            </a:r>
            <a:r>
              <a:rPr lang="en-US" dirty="0"/>
              <a:t>:</a:t>
            </a:r>
          </a:p>
          <a:p>
            <a:r>
              <a:rPr lang="en-US" dirty="0"/>
              <a:t>Client </a:t>
            </a:r>
          </a:p>
          <a:p>
            <a:r>
              <a:rPr lang="en-US" dirty="0"/>
              <a:t>CEO </a:t>
            </a:r>
          </a:p>
          <a:p>
            <a:r>
              <a:rPr lang="en-US" dirty="0"/>
              <a:t>Product owner </a:t>
            </a:r>
          </a:p>
          <a:p>
            <a:r>
              <a:rPr lang="en-US" dirty="0"/>
              <a:t>Developers </a:t>
            </a:r>
          </a:p>
          <a:p>
            <a:r>
              <a:rPr lang="en-US" dirty="0"/>
              <a:t>QA </a:t>
            </a:r>
          </a:p>
          <a:p>
            <a:r>
              <a:rPr lang="en-US" dirty="0"/>
              <a:t>Designers </a:t>
            </a:r>
          </a:p>
          <a:p>
            <a:r>
              <a:rPr lang="en-US" dirty="0"/>
              <a:t>Support team </a:t>
            </a:r>
          </a:p>
          <a:p>
            <a:r>
              <a:rPr lang="en-US" dirty="0"/>
              <a:t>End users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3E8D5-2E3D-45C0-F0EB-8D7EC66BACDB}"/>
              </a:ext>
            </a:extLst>
          </p:cNvPr>
          <p:cNvSpPr txBox="1"/>
          <p:nvPr/>
        </p:nvSpPr>
        <p:spPr>
          <a:xfrm>
            <a:off x="850106" y="3366429"/>
            <a:ext cx="60960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 Conflict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Client wants launch tomorrow.</a:t>
            </a:r>
            <a:br>
              <a:rPr lang="en-US" dirty="0"/>
            </a:br>
            <a:r>
              <a:rPr lang="en-US" dirty="0"/>
              <a:t>Developer says needs 1 week.</a:t>
            </a:r>
            <a:br>
              <a:rPr lang="en-US" dirty="0"/>
            </a:br>
            <a:r>
              <a:rPr lang="en-US" dirty="0"/>
              <a:t>QA says many bugs remain.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BA response:</a:t>
            </a:r>
          </a:p>
          <a:p>
            <a:pPr>
              <a:buNone/>
            </a:pPr>
            <a:r>
              <a:rPr lang="en-US" dirty="0"/>
              <a:t>✔ Clarify priorities</a:t>
            </a:r>
            <a:br>
              <a:rPr lang="en-US" dirty="0"/>
            </a:br>
            <a:r>
              <a:rPr lang="en-US" dirty="0"/>
              <a:t>✔ Present trade-offs</a:t>
            </a:r>
            <a:br>
              <a:rPr lang="en-US" dirty="0"/>
            </a:br>
            <a:r>
              <a:rPr lang="en-US" dirty="0"/>
              <a:t>✔ Suggest MVP release</a:t>
            </a:r>
          </a:p>
        </p:txBody>
      </p:sp>
      <p:pic>
        <p:nvPicPr>
          <p:cNvPr id="11266" name="Picture 2" descr="Collaborative Problem Solving,Business professionals discuss challenges together in an office environment, representing teamwork, strategic thinking, and collective decision-making to find effective solutions.">
            <a:extLst>
              <a:ext uri="{FF2B5EF4-FFF2-40B4-BE49-F238E27FC236}">
                <a16:creationId xmlns:a16="http://schemas.microsoft.com/office/drawing/2014/main" id="{15243489-687D-230D-9225-68640BE95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386" y="1435023"/>
            <a:ext cx="6757360" cy="414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923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CF9F-08CF-20F1-6DBC-E47FBB14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3941-E512-8585-31F1-58B8DEF8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COMMUNICATION SKILLS (HIGHLY IMPORTANT)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BECA0-FFF3-4989-4770-19A66322A8E9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CC8D1-70E7-667F-0A19-01AD6BBF889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4E87-DC5E-FE7B-FDBF-B6B04668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65120A21-A2D9-F8D7-98A5-9351319AD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E0169B-170E-EDC9-EB7C-3D7DC4EDD246}"/>
              </a:ext>
            </a:extLst>
          </p:cNvPr>
          <p:cNvSpPr txBox="1"/>
          <p:nvPr/>
        </p:nvSpPr>
        <p:spPr>
          <a:xfrm>
            <a:off x="826294" y="1102282"/>
            <a:ext cx="6096000" cy="213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Good BA writing is: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Clear</a:t>
            </a:r>
            <a:br>
              <a:rPr lang="en-US" dirty="0"/>
            </a:br>
            <a:r>
              <a:rPr lang="en-US" dirty="0"/>
              <a:t>✔ Short</a:t>
            </a:r>
            <a:br>
              <a:rPr lang="en-US" dirty="0"/>
            </a:br>
            <a:r>
              <a:rPr lang="en-US" dirty="0"/>
              <a:t>✔ Action-oriented</a:t>
            </a:r>
            <a:br>
              <a:rPr lang="en-US" dirty="0"/>
            </a:br>
            <a:r>
              <a:rPr lang="en-US" dirty="0"/>
              <a:t>✔ Structured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ED7F9-73D2-976C-3CC1-7E56D769B7FF}"/>
              </a:ext>
            </a:extLst>
          </p:cNvPr>
          <p:cNvSpPr txBox="1"/>
          <p:nvPr/>
        </p:nvSpPr>
        <p:spPr>
          <a:xfrm>
            <a:off x="826294" y="3307857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Weak Message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“Need update.”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Strong Message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“Please confirm whether payment gateway testing will complete by 3 PM so sprint demo can proceed.”</a:t>
            </a:r>
          </a:p>
        </p:txBody>
      </p:sp>
      <p:pic>
        <p:nvPicPr>
          <p:cNvPr id="12290" name="Picture 2" descr="Project Team Communication – project management 101">
            <a:extLst>
              <a:ext uri="{FF2B5EF4-FFF2-40B4-BE49-F238E27FC236}">
                <a16:creationId xmlns:a16="http://schemas.microsoft.com/office/drawing/2014/main" id="{234AF6F9-CEDD-8C1A-8795-33ACD5DB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725" y="1299936"/>
            <a:ext cx="5706641" cy="427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746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AFA34-B507-6F51-14BC-613E92D5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F94AA2-134E-03E8-0B98-7A06F8DB5C7C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D02289-C56D-B892-B847-2094F5767E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C7508-3002-7235-2DEE-91BF50B4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03BF01B6-5419-5558-5A75-0A4EA4888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00FAA8E-E669-4C58-74F2-BBB971CB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83101"/>
            <a:ext cx="10515600" cy="1030668"/>
          </a:xfrm>
        </p:spPr>
        <p:txBody>
          <a:bodyPr/>
          <a:lstStyle/>
          <a:p>
            <a:r>
              <a:rPr lang="en-US" dirty="0"/>
              <a:t>DOCUMENTATION IN REAL PROJECTS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D71735-6B9D-BB7D-9252-17BEB65BB60D}"/>
              </a:ext>
            </a:extLst>
          </p:cNvPr>
          <p:cNvSpPr txBox="1"/>
          <p:nvPr/>
        </p:nvSpPr>
        <p:spPr>
          <a:xfrm>
            <a:off x="826294" y="857694"/>
            <a:ext cx="6096000" cy="379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Documents are not made for marks.</a:t>
            </a:r>
            <a:br>
              <a:rPr lang="en-US" dirty="0"/>
            </a:br>
            <a:r>
              <a:rPr lang="en-US" dirty="0"/>
              <a:t>They are made to reduce confusion.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Examples: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User stories</a:t>
            </a:r>
            <a:br>
              <a:rPr lang="en-US" dirty="0"/>
            </a:br>
            <a:r>
              <a:rPr lang="en-US" dirty="0"/>
              <a:t>✔ Acceptance criteria</a:t>
            </a:r>
            <a:br>
              <a:rPr lang="en-US" dirty="0"/>
            </a:br>
            <a:r>
              <a:rPr lang="en-US" dirty="0"/>
              <a:t>✔ Process flows</a:t>
            </a:r>
            <a:br>
              <a:rPr lang="en-US" dirty="0"/>
            </a:br>
            <a:r>
              <a:rPr lang="en-US" dirty="0"/>
              <a:t>✔ Meeting notes</a:t>
            </a:r>
            <a:br>
              <a:rPr lang="en-US" dirty="0"/>
            </a:br>
            <a:r>
              <a:rPr lang="en-US" dirty="0"/>
              <a:t>✔ Decision logs</a:t>
            </a:r>
            <a:br>
              <a:rPr lang="en-US" dirty="0"/>
            </a:br>
            <a:r>
              <a:rPr lang="en-US" dirty="0"/>
              <a:t>✔ Change requests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3CD936-D27C-24BE-FA30-559CF314B530}"/>
              </a:ext>
            </a:extLst>
          </p:cNvPr>
          <p:cNvSpPr txBox="1"/>
          <p:nvPr/>
        </p:nvSpPr>
        <p:spPr>
          <a:xfrm>
            <a:off x="3584864" y="1724353"/>
            <a:ext cx="4333009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 User Story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As a customer, I want to save multiple addresses so that checkout is faster.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Acceptance Criteria: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up to 5 addresses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Default address selectable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Editable anytime</a:t>
            </a:r>
          </a:p>
        </p:txBody>
      </p:sp>
      <p:pic>
        <p:nvPicPr>
          <p:cNvPr id="16386" name="Picture 2" descr="Acceptance Criteria for User Stories in Agile: Purposes, Formats, Examples, and Best Practices | by Berk Aktaş | Medium">
            <a:extLst>
              <a:ext uri="{FF2B5EF4-FFF2-40B4-BE49-F238E27FC236}">
                <a16:creationId xmlns:a16="http://schemas.microsoft.com/office/drawing/2014/main" id="{669E03D6-FFD1-9AA8-5D3B-9CC01DA4B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064" y="2980748"/>
            <a:ext cx="5729936" cy="374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1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AD7C8-9DBB-2433-DDAA-753D83FB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1F171C-D0A6-E428-345B-A94F06D38B5C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6AA771-24B6-E4A4-A4DA-D1A4F307E3BC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54CC9-999E-F86A-FF9A-997424A8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EB7EFC16-AF6D-12B3-EDB0-F90CCCD41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6AF1837-D8A1-4AEE-37F6-6F5DE201D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83101"/>
            <a:ext cx="10515600" cy="1030668"/>
          </a:xfrm>
        </p:spPr>
        <p:txBody>
          <a:bodyPr/>
          <a:lstStyle/>
          <a:p>
            <a:r>
              <a:rPr lang="en-US" dirty="0"/>
              <a:t>DOCUMENTATION IN REAL PROJECTS</a:t>
            </a:r>
          </a:p>
        </p:txBody>
      </p:sp>
      <p:pic>
        <p:nvPicPr>
          <p:cNvPr id="13314" name="Picture 2" descr="SYSTEMS +: Business Analyst Documentation - Bare Essentials">
            <a:extLst>
              <a:ext uri="{FF2B5EF4-FFF2-40B4-BE49-F238E27FC236}">
                <a16:creationId xmlns:a16="http://schemas.microsoft.com/office/drawing/2014/main" id="{800742AF-1E36-8258-956F-CA798BF6B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791" y="944616"/>
            <a:ext cx="5477597" cy="572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49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4"/>
    </mc:Choice>
    <mc:Fallback xmlns="">
      <p:transition spd="slow" advTm="300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1175F-55FC-A3E9-2F1F-96D0949A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ED0A4D-3B59-271E-A72A-9C27E7246E2D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B0E21-AEED-3B11-C13B-5FC9E29B79B7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ED719-0BC0-C0A6-EFDC-7058DA51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3D6D85F-FFAD-5622-75FA-2710DFC0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C370062-7E5C-A2E1-C672-42BBA297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83101"/>
            <a:ext cx="10515600" cy="1030668"/>
          </a:xfrm>
        </p:spPr>
        <p:txBody>
          <a:bodyPr/>
          <a:lstStyle/>
          <a:p>
            <a:r>
              <a:rPr lang="en-US" dirty="0"/>
              <a:t>DOCUMENTATION IN REAL PROJECTS</a:t>
            </a:r>
          </a:p>
        </p:txBody>
      </p:sp>
      <p:pic>
        <p:nvPicPr>
          <p:cNvPr id="15362" name="Picture 2" descr="How to Effectively Communicate Insights to Stakeholders in the IT Industry">
            <a:extLst>
              <a:ext uri="{FF2B5EF4-FFF2-40B4-BE49-F238E27FC236}">
                <a16:creationId xmlns:a16="http://schemas.microsoft.com/office/drawing/2014/main" id="{6EF29666-EF82-78CA-7CFC-A8BBE34DD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336" y="816074"/>
            <a:ext cx="10747664" cy="603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592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5755D-AAD1-926F-3D1E-048CA8061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26DFC0-37D2-C412-BC69-4674EF158E54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FD68FD-7FCE-3834-70D5-21187D5FE25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30881-A60F-402C-6472-88509E601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E24837DC-2FED-0E49-BE57-2E66E550A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3DDF5E-B7D2-A4B5-9E13-5B594890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AGILE DEEP DIVE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E7FE6-D366-4167-DF86-A3C00C185EF8}"/>
              </a:ext>
            </a:extLst>
          </p:cNvPr>
          <p:cNvSpPr txBox="1"/>
          <p:nvPr/>
        </p:nvSpPr>
        <p:spPr>
          <a:xfrm>
            <a:off x="826294" y="758258"/>
            <a:ext cx="994171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Agile is not just “fast work”.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Agile = delivering value in small increments with continuous feedback.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BD8B285-5079-6795-D786-1DC54E648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403451"/>
              </p:ext>
            </p:extLst>
          </p:nvPr>
        </p:nvGraphicFramePr>
        <p:xfrm>
          <a:off x="838200" y="1829128"/>
          <a:ext cx="6825342" cy="1828800"/>
        </p:xfrm>
        <a:graphic>
          <a:graphicData uri="http://schemas.openxmlformats.org/drawingml/2006/table">
            <a:tbl>
              <a:tblPr/>
              <a:tblGrid>
                <a:gridCol w="3412671">
                  <a:extLst>
                    <a:ext uri="{9D8B030D-6E8A-4147-A177-3AD203B41FA5}">
                      <a16:colId xmlns:a16="http://schemas.microsoft.com/office/drawing/2014/main" val="2237449165"/>
                    </a:ext>
                  </a:extLst>
                </a:gridCol>
                <a:gridCol w="3412671">
                  <a:extLst>
                    <a:ext uri="{9D8B030D-6E8A-4147-A177-3AD203B41FA5}">
                      <a16:colId xmlns:a16="http://schemas.microsoft.com/office/drawing/2014/main" val="1401907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Waterfall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Agile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89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Full scope 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Incremental delivery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547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Late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Continuous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693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Big launch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Frequent releases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66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Hard to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Adaptable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91171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CD0275E-56E4-E872-E1E5-77D806B5E348}"/>
              </a:ext>
            </a:extLst>
          </p:cNvPr>
          <p:cNvSpPr txBox="1"/>
          <p:nvPr/>
        </p:nvSpPr>
        <p:spPr>
          <a:xfrm>
            <a:off x="838200" y="3848429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Waterfall:</a:t>
            </a:r>
            <a:br>
              <a:rPr lang="en-US" dirty="0"/>
            </a:br>
            <a:r>
              <a:rPr lang="en-US" dirty="0"/>
              <a:t>Build full e-commerce platform in 8 months.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Agile:</a:t>
            </a:r>
            <a:br>
              <a:rPr lang="en-US" dirty="0"/>
            </a:br>
            <a:r>
              <a:rPr lang="en-US" dirty="0"/>
              <a:t>Release login → cart → payment → tracking step by step.</a:t>
            </a:r>
          </a:p>
        </p:txBody>
      </p:sp>
      <p:pic>
        <p:nvPicPr>
          <p:cNvPr id="3074" name="Picture 2" descr="agile strategic methodology  vs waterfall strategic">
            <a:extLst>
              <a:ext uri="{FF2B5EF4-FFF2-40B4-BE49-F238E27FC236}">
                <a16:creationId xmlns:a16="http://schemas.microsoft.com/office/drawing/2014/main" id="{90635E64-DBD5-1148-3CC4-FCE6BB5E1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385" y="2030712"/>
            <a:ext cx="5142665" cy="377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426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506E-5137-94DD-BD62-89C6F1087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01C1CF-1A0F-A621-92EA-5C1221A908B8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580CBA-A489-A2DA-114E-0C161E386B5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A7C96-EEF0-6824-C8F4-BD089E66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6D22BEAD-0134-E6BC-AB87-15202C355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F826C06-E4D3-16FC-DF91-780FA4AA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WATERFALL OR AGILE</a:t>
            </a:r>
          </a:p>
        </p:txBody>
      </p:sp>
      <p:pic>
        <p:nvPicPr>
          <p:cNvPr id="18434" name="Picture 2" descr="Using Waterfall Project Management Over Agile | Smartsheet">
            <a:extLst>
              <a:ext uri="{FF2B5EF4-FFF2-40B4-BE49-F238E27FC236}">
                <a16:creationId xmlns:a16="http://schemas.microsoft.com/office/drawing/2014/main" id="{538C3852-DDBB-695C-22A3-128B09446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779318"/>
            <a:ext cx="6502400" cy="590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336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8B87-490B-14B7-489A-6FEFA7FD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5FCFF1-4E8F-7716-673F-A465AA2D223B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A6725C-6889-C911-2BD2-99430CFC0B77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3C517-F36F-BA07-E03D-78CEDB58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BA7E4ED5-E296-A322-7058-BB353EF91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8311DB3-9287-B9B6-D687-EC6C656E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FRAMEWORK IN PRACTICE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BB088-0B35-4271-5E12-2B931E836887}"/>
              </a:ext>
            </a:extLst>
          </p:cNvPr>
          <p:cNvSpPr txBox="1"/>
          <p:nvPr/>
        </p:nvSpPr>
        <p:spPr>
          <a:xfrm>
            <a:off x="838200" y="1326822"/>
            <a:ext cx="609600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Product Owner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Defines priorities.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Scrum Master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Improves team process.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Developers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Build solution.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QA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Validates quality.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BA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Clarifies requirements and aligns everyone.</a:t>
            </a:r>
          </a:p>
        </p:txBody>
      </p:sp>
      <p:pic>
        <p:nvPicPr>
          <p:cNvPr id="19458" name="Picture 2" descr="What is Scrum Team? - Scrum Guide">
            <a:extLst>
              <a:ext uri="{FF2B5EF4-FFF2-40B4-BE49-F238E27FC236}">
                <a16:creationId xmlns:a16="http://schemas.microsoft.com/office/drawing/2014/main" id="{4C582267-5F53-E5D0-E32C-F3F461656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832" y="1324933"/>
            <a:ext cx="5715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71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AE67D-1DC5-410E-A48F-C5538D663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105B4E-8725-0836-E1A0-EEBBD0FF5AD2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F2654-260D-D49E-93ED-D90DAF408C7C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E35B7-C197-7CBE-B6CC-13773B6C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72599534-2C90-35F3-9878-46525C41F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E953DCE-9EB0-C866-A9EC-4502A3BB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82" y="-285430"/>
            <a:ext cx="10515600" cy="1325563"/>
          </a:xfrm>
        </p:spPr>
        <p:txBody>
          <a:bodyPr/>
          <a:lstStyle/>
          <a:p>
            <a:r>
              <a:rPr lang="en-US" dirty="0"/>
              <a:t>SCRUM FRAMEWORK IN PRACTICE</a:t>
            </a:r>
          </a:p>
        </p:txBody>
      </p:sp>
      <p:pic>
        <p:nvPicPr>
          <p:cNvPr id="21506" name="Picture 2" descr="SCRUM framework overview shows sprint cycles, roles, and workflow steps ...">
            <a:extLst>
              <a:ext uri="{FF2B5EF4-FFF2-40B4-BE49-F238E27FC236}">
                <a16:creationId xmlns:a16="http://schemas.microsoft.com/office/drawing/2014/main" id="{883C1FBD-23A7-C2AA-0C79-359384D77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82" y="654370"/>
            <a:ext cx="10300854" cy="603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639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4EED-3101-B330-134E-3C77946A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1C4682-4976-8FDD-7829-1BCC70B3E632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8734B-7F06-4DBA-8361-6C86B290BD98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AEEDB-172E-372D-02D5-0ED74802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47D5A259-7BBB-9DF0-F751-E70B09435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879209-46D9-2616-B1D3-1B119057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SCRUM CEREMONIES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293E1A-2AEE-71FA-99AC-BCA6BFE01F8F}"/>
              </a:ext>
            </a:extLst>
          </p:cNvPr>
          <p:cNvSpPr txBox="1"/>
          <p:nvPr/>
        </p:nvSpPr>
        <p:spPr>
          <a:xfrm>
            <a:off x="838200" y="787713"/>
            <a:ext cx="6096000" cy="587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1️⃣ Sprint Planning</a:t>
            </a:r>
          </a:p>
          <a:p>
            <a:pPr>
              <a:lnSpc>
                <a:spcPct val="150000"/>
              </a:lnSpc>
            </a:pPr>
            <a:r>
              <a:rPr lang="en-US" dirty="0"/>
              <a:t>Team selects work for next 2 weeks.</a:t>
            </a:r>
          </a:p>
          <a:p>
            <a:pPr>
              <a:lnSpc>
                <a:spcPct val="150000"/>
              </a:lnSpc>
            </a:pPr>
            <a:r>
              <a:rPr lang="en-US" dirty="0"/>
              <a:t>BA role:</a:t>
            </a:r>
          </a:p>
          <a:p>
            <a:pPr>
              <a:lnSpc>
                <a:spcPct val="150000"/>
              </a:lnSpc>
            </a:pPr>
            <a:r>
              <a:rPr lang="en-US" dirty="0"/>
              <a:t>✔ Explain stories</a:t>
            </a:r>
            <a:br>
              <a:rPr lang="en-US" dirty="0"/>
            </a:br>
            <a:r>
              <a:rPr lang="en-US" dirty="0"/>
              <a:t>✔ Clarify business value</a:t>
            </a:r>
            <a:br>
              <a:rPr lang="en-US" dirty="0"/>
            </a:br>
            <a:r>
              <a:rPr lang="en-US" dirty="0"/>
              <a:t>✔ Define acceptance criteria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2️⃣ Daily Standup</a:t>
            </a:r>
          </a:p>
          <a:p>
            <a:pPr>
              <a:lnSpc>
                <a:spcPct val="150000"/>
              </a:lnSpc>
            </a:pPr>
            <a:r>
              <a:rPr lang="en-US" dirty="0"/>
              <a:t>3 questions:</a:t>
            </a:r>
          </a:p>
          <a:p>
            <a:pPr>
              <a:lnSpc>
                <a:spcPct val="150000"/>
              </a:lnSpc>
            </a:pPr>
            <a:r>
              <a:rPr lang="en-US" dirty="0"/>
              <a:t>What did I do? </a:t>
            </a:r>
          </a:p>
          <a:p>
            <a:pPr>
              <a:lnSpc>
                <a:spcPct val="150000"/>
              </a:lnSpc>
            </a:pPr>
            <a:r>
              <a:rPr lang="en-US" dirty="0"/>
              <a:t>What will I do? </a:t>
            </a:r>
          </a:p>
          <a:p>
            <a:pPr>
              <a:lnSpc>
                <a:spcPct val="150000"/>
              </a:lnSpc>
            </a:pPr>
            <a:r>
              <a:rPr lang="en-US" dirty="0"/>
              <a:t>Any blockers? </a:t>
            </a:r>
          </a:p>
          <a:p>
            <a:pPr>
              <a:lnSpc>
                <a:spcPct val="150000"/>
              </a:lnSpc>
            </a:pPr>
            <a:r>
              <a:rPr lang="en-US" dirty="0"/>
              <a:t>BA role:</a:t>
            </a:r>
          </a:p>
          <a:p>
            <a:pPr>
              <a:lnSpc>
                <a:spcPct val="150000"/>
              </a:lnSpc>
            </a:pPr>
            <a:r>
              <a:rPr lang="en-US" dirty="0"/>
              <a:t>✔ Remove ambiguity</a:t>
            </a:r>
            <a:br>
              <a:rPr lang="en-US" dirty="0"/>
            </a:br>
            <a:r>
              <a:rPr lang="en-US" dirty="0"/>
              <a:t>✔ Resolve blockers quickly</a:t>
            </a:r>
          </a:p>
        </p:txBody>
      </p:sp>
      <p:pic>
        <p:nvPicPr>
          <p:cNvPr id="23554" name="Picture 2" descr="Daily stand-up (Günlük Scrum) Toplantıları | by T4A | Medium">
            <a:extLst>
              <a:ext uri="{FF2B5EF4-FFF2-40B4-BE49-F238E27FC236}">
                <a16:creationId xmlns:a16="http://schemas.microsoft.com/office/drawing/2014/main" id="{69CA9FB9-E406-9ACD-1219-F57D93F60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881" y="1556180"/>
            <a:ext cx="5212583" cy="390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23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B5000-B117-98E6-577A-A907D876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FAB561-A2D4-0A30-BE9D-5C991503BB2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5CEB27-5EAA-A831-9219-AE78EA7A298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998CB-8B56-DE28-E387-4F5186DD6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FE26EE8B-4A27-6FBC-5568-6A6FE27EE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D1791EB-BE4C-AC51-BC45-C47281DB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CEREMONIES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28C58C-89BB-C11B-1E6C-E00011D3985B}"/>
              </a:ext>
            </a:extLst>
          </p:cNvPr>
          <p:cNvSpPr txBox="1"/>
          <p:nvPr/>
        </p:nvSpPr>
        <p:spPr>
          <a:xfrm>
            <a:off x="838200" y="1303664"/>
            <a:ext cx="6096000" cy="5039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3️⃣ Sprint Review</a:t>
            </a:r>
          </a:p>
          <a:p>
            <a:pPr>
              <a:lnSpc>
                <a:spcPct val="150000"/>
              </a:lnSpc>
            </a:pPr>
            <a:r>
              <a:rPr lang="en-US" dirty="0"/>
              <a:t>Show completed work.</a:t>
            </a:r>
          </a:p>
          <a:p>
            <a:pPr>
              <a:lnSpc>
                <a:spcPct val="150000"/>
              </a:lnSpc>
            </a:pPr>
            <a:r>
              <a:rPr lang="en-US" dirty="0"/>
              <a:t>BA role:</a:t>
            </a:r>
          </a:p>
          <a:p>
            <a:pPr>
              <a:lnSpc>
                <a:spcPct val="150000"/>
              </a:lnSpc>
            </a:pPr>
            <a:r>
              <a:rPr lang="en-US" dirty="0"/>
              <a:t>✔ Validate business expectations</a:t>
            </a:r>
            <a:br>
              <a:rPr lang="en-US" dirty="0"/>
            </a:br>
            <a:r>
              <a:rPr lang="en-US" dirty="0"/>
              <a:t>✔ Capture feedback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4️⃣ Retrospective</a:t>
            </a:r>
          </a:p>
          <a:p>
            <a:pPr>
              <a:lnSpc>
                <a:spcPct val="150000"/>
              </a:lnSpc>
            </a:pPr>
            <a:r>
              <a:rPr lang="en-US" dirty="0"/>
              <a:t>Improve how team works.</a:t>
            </a:r>
          </a:p>
          <a:p>
            <a:pPr>
              <a:lnSpc>
                <a:spcPct val="150000"/>
              </a:lnSpc>
            </a:pPr>
            <a:r>
              <a:rPr lang="en-US" dirty="0"/>
              <a:t>BA role:</a:t>
            </a:r>
          </a:p>
          <a:p>
            <a:pPr>
              <a:lnSpc>
                <a:spcPct val="150000"/>
              </a:lnSpc>
            </a:pPr>
            <a:r>
              <a:rPr lang="en-US" dirty="0"/>
              <a:t>✔ Identify process issues</a:t>
            </a:r>
            <a:br>
              <a:rPr lang="en-US" dirty="0"/>
            </a:br>
            <a:r>
              <a:rPr lang="en-US" dirty="0"/>
              <a:t>✔ Suggest improvements</a:t>
            </a:r>
          </a:p>
        </p:txBody>
      </p:sp>
    </p:spTree>
    <p:extLst>
      <p:ext uri="{BB962C8B-B14F-4D97-AF65-F5344CB8AC3E}">
        <p14:creationId xmlns:p14="http://schemas.microsoft.com/office/powerpoint/2010/main" val="3647897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78EA2-C50F-ECEE-08F3-520ACF1F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BE5B7A-0104-9278-E8EB-5E899E7675A6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D94A00-72FA-311A-CC09-D26349DCBFA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EE8F1-DA3A-AE47-2A0F-F8A342AB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E174E573-0872-5912-BB07-8A53BD7B3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3691DB4-4303-9721-E672-EC271157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73" y="-142413"/>
            <a:ext cx="10515600" cy="1325563"/>
          </a:xfrm>
        </p:spPr>
        <p:txBody>
          <a:bodyPr/>
          <a:lstStyle/>
          <a:p>
            <a:r>
              <a:rPr lang="en-US" dirty="0"/>
              <a:t>SCRUM CEREMONIES</a:t>
            </a:r>
          </a:p>
        </p:txBody>
      </p:sp>
      <p:pic>
        <p:nvPicPr>
          <p:cNvPr id="22530" name="Picture 2" descr="Printable 5 Types Of Scrum Meetings With 11 Best Practices Project Sprint Review Meeting Agenda Template Excel | IDTcenter">
            <a:extLst>
              <a:ext uri="{FF2B5EF4-FFF2-40B4-BE49-F238E27FC236}">
                <a16:creationId xmlns:a16="http://schemas.microsoft.com/office/drawing/2014/main" id="{390E2949-A3C9-0322-88E8-779CC16D1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86" y="787862"/>
            <a:ext cx="11703627" cy="567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738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FCA50-39E8-3BB6-8E06-D60819C6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D82ED3-E1FC-F78E-2866-FBB668037980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F05AAC-CCAA-FF8A-E69A-99C5B65F858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440B9-5ECD-C6FD-D120-C9CEE84DA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89B3CD1B-79CD-2433-32D1-0F86C9974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EE5100D-3C6D-43BE-7905-909DD2B4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REAL SCENARIO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18DB7-F718-DE14-4792-5AF39584E341}"/>
              </a:ext>
            </a:extLst>
          </p:cNvPr>
          <p:cNvSpPr txBox="1"/>
          <p:nvPr/>
        </p:nvSpPr>
        <p:spPr>
          <a:xfrm>
            <a:off x="838200" y="1690688"/>
            <a:ext cx="609600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Agile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Startup in Karachi launches food app.</a:t>
            </a:r>
          </a:p>
          <a:p>
            <a:pPr>
              <a:lnSpc>
                <a:spcPct val="150000"/>
              </a:lnSpc>
            </a:pPr>
            <a:r>
              <a:rPr lang="en-US" dirty="0"/>
              <a:t>Sprint 1:</a:t>
            </a:r>
            <a:br>
              <a:rPr lang="en-US" dirty="0"/>
            </a:br>
            <a:r>
              <a:rPr lang="en-US" dirty="0"/>
              <a:t>Registration</a:t>
            </a:r>
          </a:p>
          <a:p>
            <a:pPr>
              <a:lnSpc>
                <a:spcPct val="150000"/>
              </a:lnSpc>
            </a:pPr>
            <a:r>
              <a:rPr lang="en-US" dirty="0"/>
              <a:t>Sprint 2:</a:t>
            </a:r>
            <a:br>
              <a:rPr lang="en-US" dirty="0"/>
            </a:br>
            <a:r>
              <a:rPr lang="en-US" dirty="0"/>
              <a:t>Ordering</a:t>
            </a:r>
          </a:p>
          <a:p>
            <a:pPr>
              <a:lnSpc>
                <a:spcPct val="150000"/>
              </a:lnSpc>
            </a:pPr>
            <a:r>
              <a:rPr lang="en-US" dirty="0"/>
              <a:t>Sprint 3:</a:t>
            </a:r>
            <a:br>
              <a:rPr lang="en-US" dirty="0"/>
            </a:br>
            <a:r>
              <a:rPr lang="en-US" dirty="0"/>
              <a:t>Payments</a:t>
            </a:r>
          </a:p>
          <a:p>
            <a:pPr>
              <a:lnSpc>
                <a:spcPct val="150000"/>
              </a:lnSpc>
            </a:pPr>
            <a:r>
              <a:rPr lang="en-US" dirty="0"/>
              <a:t>Sprint 4:</a:t>
            </a:r>
            <a:br>
              <a:rPr lang="en-US" dirty="0"/>
            </a:br>
            <a:r>
              <a:rPr lang="en-US" dirty="0"/>
              <a:t>Tracking</a:t>
            </a:r>
          </a:p>
          <a:p>
            <a:pPr>
              <a:lnSpc>
                <a:spcPct val="150000"/>
              </a:lnSpc>
            </a:pPr>
            <a:r>
              <a:rPr lang="en-US" dirty="0"/>
              <a:t>This is real Agile progression.</a:t>
            </a:r>
          </a:p>
        </p:txBody>
      </p:sp>
    </p:spTree>
    <p:extLst>
      <p:ext uri="{BB962C8B-B14F-4D97-AF65-F5344CB8AC3E}">
        <p14:creationId xmlns:p14="http://schemas.microsoft.com/office/powerpoint/2010/main" val="1127190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76D0-F14E-1678-99AD-FE4215638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587E68-E9EA-7FF7-32C3-614C285D773B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6FD96C-3BFA-AA36-CCD2-DDACF67C1001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CA4BC-8291-EF67-8866-2564BE56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740915CD-B9FE-47AF-9348-E0F10160D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04D592-F592-1A9C-86AF-4F84BBEE0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25202"/>
            <a:ext cx="10515600" cy="1325563"/>
          </a:xfrm>
        </p:spPr>
        <p:txBody>
          <a:bodyPr/>
          <a:lstStyle/>
          <a:p>
            <a:r>
              <a:rPr lang="en-US" dirty="0"/>
              <a:t>BACKLOG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64E9A7-D467-EEB7-8BD8-4C2B5887548F}"/>
              </a:ext>
            </a:extLst>
          </p:cNvPr>
          <p:cNvSpPr txBox="1"/>
          <p:nvPr/>
        </p:nvSpPr>
        <p:spPr>
          <a:xfrm>
            <a:off x="826294" y="1144089"/>
            <a:ext cx="6096000" cy="2546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Backlog = list of future work.</a:t>
            </a:r>
          </a:p>
          <a:p>
            <a:pPr>
              <a:lnSpc>
                <a:spcPct val="150000"/>
              </a:lnSpc>
            </a:pPr>
            <a:r>
              <a:rPr lang="en-US" dirty="0"/>
              <a:t>BA helps refine items by:</a:t>
            </a:r>
          </a:p>
          <a:p>
            <a:pPr>
              <a:lnSpc>
                <a:spcPct val="150000"/>
              </a:lnSpc>
            </a:pPr>
            <a:r>
              <a:rPr lang="en-US" dirty="0"/>
              <a:t>✔ Splitting big features</a:t>
            </a:r>
            <a:br>
              <a:rPr lang="en-US" dirty="0"/>
            </a:br>
            <a:r>
              <a:rPr lang="en-US" dirty="0"/>
              <a:t>✔ Clarifying scope</a:t>
            </a:r>
            <a:br>
              <a:rPr lang="en-US" dirty="0"/>
            </a:br>
            <a:r>
              <a:rPr lang="en-US" dirty="0"/>
              <a:t>✔ Adding priorities</a:t>
            </a:r>
            <a:br>
              <a:rPr lang="en-US" dirty="0"/>
            </a:br>
            <a:r>
              <a:rPr lang="en-US" dirty="0"/>
              <a:t>✔ Defining dependencies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383AC3-B5E9-A85E-D0BD-3E5B3987032C}"/>
              </a:ext>
            </a:extLst>
          </p:cNvPr>
          <p:cNvSpPr txBox="1"/>
          <p:nvPr/>
        </p:nvSpPr>
        <p:spPr>
          <a:xfrm>
            <a:off x="826294" y="3690363"/>
            <a:ext cx="6096000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 Epic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“Improve Checkout”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Broken into: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Save address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Coupon code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Payment retry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Guest checkout</a:t>
            </a:r>
          </a:p>
        </p:txBody>
      </p:sp>
      <p:pic>
        <p:nvPicPr>
          <p:cNvPr id="24578" name="Picture 2" descr="Agile Requirements Backlog at Amy Heyer blog">
            <a:extLst>
              <a:ext uri="{FF2B5EF4-FFF2-40B4-BE49-F238E27FC236}">
                <a16:creationId xmlns:a16="http://schemas.microsoft.com/office/drawing/2014/main" id="{091E5C10-5A5D-6695-5785-8E3D41F7C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798" y="1165240"/>
            <a:ext cx="7332789" cy="479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523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51A95-890B-D77A-F9A7-F6A8FB176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00F144-95CF-703A-DFC3-B45A6C44C1F4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F8BAFD-C778-A1B9-0CB2-77AD743E913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F1545-F42A-1FC6-6248-60F7C6489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CBA1B0A0-2FC8-93D5-67E0-AFC6BDC4C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580A925-C02F-DA18-D9D7-262859AEA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CHANGE REQUESTS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70D17-1C35-1DE9-9CAF-03BA68878217}"/>
              </a:ext>
            </a:extLst>
          </p:cNvPr>
          <p:cNvSpPr txBox="1"/>
          <p:nvPr/>
        </p:nvSpPr>
        <p:spPr>
          <a:xfrm>
            <a:off x="838200" y="1690688"/>
            <a:ext cx="6096000" cy="379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Reality:</a:t>
            </a:r>
          </a:p>
          <a:p>
            <a:pPr>
              <a:lnSpc>
                <a:spcPct val="150000"/>
              </a:lnSpc>
            </a:pPr>
            <a:r>
              <a:rPr lang="en-US" dirty="0"/>
              <a:t>Requirements change often.</a:t>
            </a:r>
          </a:p>
          <a:p>
            <a:pPr>
              <a:lnSpc>
                <a:spcPct val="150000"/>
              </a:lnSpc>
            </a:pPr>
            <a:r>
              <a:rPr lang="en-US" dirty="0"/>
              <a:t>Bad BA says:</a:t>
            </a:r>
            <a:br>
              <a:rPr lang="en-US" dirty="0"/>
            </a:br>
            <a:r>
              <a:rPr lang="en-US" dirty="0"/>
              <a:t>“That wasn’t in scope.”</a:t>
            </a:r>
          </a:p>
          <a:p>
            <a:pPr>
              <a:lnSpc>
                <a:spcPct val="150000"/>
              </a:lnSpc>
            </a:pPr>
            <a:r>
              <a:rPr lang="en-US" dirty="0"/>
              <a:t>Good BA says:</a:t>
            </a:r>
          </a:p>
          <a:p>
            <a:pPr>
              <a:lnSpc>
                <a:spcPct val="150000"/>
              </a:lnSpc>
            </a:pPr>
            <a:r>
              <a:rPr lang="en-US" dirty="0"/>
              <a:t>✔ Understand impact</a:t>
            </a:r>
            <a:br>
              <a:rPr lang="en-US" dirty="0"/>
            </a:br>
            <a:r>
              <a:rPr lang="en-US" dirty="0"/>
              <a:t>✔ Estimate effort</a:t>
            </a:r>
            <a:br>
              <a:rPr lang="en-US" dirty="0"/>
            </a:br>
            <a:r>
              <a:rPr lang="en-US" dirty="0"/>
              <a:t>✔ Reprioritize backlog</a:t>
            </a:r>
            <a:br>
              <a:rPr lang="en-US" dirty="0"/>
            </a:br>
            <a:r>
              <a:rPr lang="en-US" dirty="0"/>
              <a:t>✔ Communicate trade-offs</a:t>
            </a:r>
          </a:p>
        </p:txBody>
      </p:sp>
      <p:pic>
        <p:nvPicPr>
          <p:cNvPr id="25602" name="Picture 2" descr="ITSM Best Practices: Flow Charts &amp; Examples - IT Guide | SolarWinds">
            <a:extLst>
              <a:ext uri="{FF2B5EF4-FFF2-40B4-BE49-F238E27FC236}">
                <a16:creationId xmlns:a16="http://schemas.microsoft.com/office/drawing/2014/main" id="{0BF0543E-7C41-6EF6-B5A8-849311A77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032" y="1374542"/>
            <a:ext cx="5038288" cy="495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521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DD0BF-008C-EAF5-8820-77679794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6D196A-805E-6CEF-B249-F22B74D9F79D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92B318-4A36-8B72-C2DF-F2E59CB0C6E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D14DC-14F4-FB74-B018-B1D0ECC2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7EF1802E-3297-37C4-0077-340F5AFAC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A47EE0D-7E8F-76B6-F923-1FEBB726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 + DATA IN AGILE TEAMS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B1718-9709-37D9-3EB6-23A0C3E2F03A}"/>
              </a:ext>
            </a:extLst>
          </p:cNvPr>
          <p:cNvSpPr txBox="1"/>
          <p:nvPr/>
        </p:nvSpPr>
        <p:spPr>
          <a:xfrm>
            <a:off x="838200" y="1690688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Modern BA uses data.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dirty="0"/>
              <a:t>Drop-off rate </a:t>
            </a:r>
          </a:p>
          <a:p>
            <a:pPr>
              <a:lnSpc>
                <a:spcPct val="150000"/>
              </a:lnSpc>
            </a:pPr>
            <a:r>
              <a:rPr lang="en-US" dirty="0"/>
              <a:t>Delivery time </a:t>
            </a:r>
          </a:p>
          <a:p>
            <a:pPr>
              <a:lnSpc>
                <a:spcPct val="150000"/>
              </a:lnSpc>
            </a:pPr>
            <a:r>
              <a:rPr lang="en-US" dirty="0"/>
              <a:t>Bug trends </a:t>
            </a:r>
          </a:p>
          <a:p>
            <a:pPr>
              <a:lnSpc>
                <a:spcPct val="150000"/>
              </a:lnSpc>
            </a:pPr>
            <a:r>
              <a:rPr lang="en-US" dirty="0"/>
              <a:t>User retention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4CB10-3DFE-EE83-E27E-E16DFD88E2BC}"/>
              </a:ext>
            </a:extLst>
          </p:cNvPr>
          <p:cNvSpPr txBox="1"/>
          <p:nvPr/>
        </p:nvSpPr>
        <p:spPr>
          <a:xfrm>
            <a:off x="838200" y="4423552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Checkout abandonment = 40%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BA investigates friction points.</a:t>
            </a:r>
          </a:p>
        </p:txBody>
      </p:sp>
      <p:pic>
        <p:nvPicPr>
          <p:cNvPr id="26626" name="Picture 2" descr="The Only Bug Report Template You’ll Ever Need [Free Download]">
            <a:extLst>
              <a:ext uri="{FF2B5EF4-FFF2-40B4-BE49-F238E27FC236}">
                <a16:creationId xmlns:a16="http://schemas.microsoft.com/office/drawing/2014/main" id="{F251D8C5-7753-30E8-2241-798C58635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792" y="1215781"/>
            <a:ext cx="7045902" cy="492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359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A362-D604-B13A-2D23-7BBEC1E3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AF8459-F440-A5B4-83AC-134A3D839B9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B22855-E311-5E89-959B-4A7F37B7D50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3D0A5-14D8-1651-2A8F-95584878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70CAAD58-A688-130C-17BF-9AFFB1862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3D205-CBB6-CB02-2000-298219DB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INTERVIEW READINESS SECTION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E20C0-2066-83DE-06E3-5E9840042D00}"/>
              </a:ext>
            </a:extLst>
          </p:cNvPr>
          <p:cNvSpPr txBox="1"/>
          <p:nvPr/>
        </p:nvSpPr>
        <p:spPr>
          <a:xfrm>
            <a:off x="838199" y="1004491"/>
            <a:ext cx="8617527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Q: What does a BA do?</a:t>
            </a:r>
          </a:p>
          <a:p>
            <a:pPr>
              <a:lnSpc>
                <a:spcPct val="150000"/>
              </a:lnSpc>
            </a:pPr>
            <a:r>
              <a:rPr lang="en-US" dirty="0"/>
              <a:t>Answer:</a:t>
            </a:r>
            <a:br>
              <a:rPr lang="en-US" dirty="0"/>
            </a:br>
            <a:r>
              <a:rPr lang="en-US" dirty="0"/>
              <a:t>A BA identifies business needs, gathers requirements, improves processes, and ensures solutions create value.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Q: Agile vs Waterfall?</a:t>
            </a:r>
          </a:p>
          <a:p>
            <a:pPr>
              <a:lnSpc>
                <a:spcPct val="150000"/>
              </a:lnSpc>
            </a:pPr>
            <a:r>
              <a:rPr lang="en-US" dirty="0"/>
              <a:t>Explain delivery model + feedback difference.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Q: How handle difficult stakeholder?</a:t>
            </a:r>
          </a:p>
          <a:p>
            <a:pPr>
              <a:lnSpc>
                <a:spcPct val="150000"/>
              </a:lnSpc>
            </a:pPr>
            <a:r>
              <a:rPr lang="en-US" dirty="0"/>
              <a:t>Listen, clarify concerns, align on priorities, document decisions.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Q: Example KPI for delivery app?</a:t>
            </a:r>
          </a:p>
          <a:p>
            <a:pPr>
              <a:lnSpc>
                <a:spcPct val="150000"/>
              </a:lnSpc>
            </a:pPr>
            <a:r>
              <a:rPr lang="en-US" dirty="0"/>
              <a:t>Delivery time </a:t>
            </a:r>
          </a:p>
          <a:p>
            <a:pPr>
              <a:lnSpc>
                <a:spcPct val="150000"/>
              </a:lnSpc>
            </a:pPr>
            <a:r>
              <a:rPr lang="en-US" dirty="0"/>
              <a:t>Cancellation rate </a:t>
            </a:r>
          </a:p>
          <a:p>
            <a:pPr>
              <a:lnSpc>
                <a:spcPct val="150000"/>
              </a:lnSpc>
            </a:pPr>
            <a:r>
              <a:rPr lang="en-US" dirty="0"/>
              <a:t>Retention rate </a:t>
            </a:r>
          </a:p>
        </p:txBody>
      </p:sp>
      <p:pic>
        <p:nvPicPr>
          <p:cNvPr id="27650" name="Picture 2" descr="Job interview process, hiring new employees, interview and recruitment concept">
            <a:extLst>
              <a:ext uri="{FF2B5EF4-FFF2-40B4-BE49-F238E27FC236}">
                <a16:creationId xmlns:a16="http://schemas.microsoft.com/office/drawing/2014/main" id="{4088294F-0D90-BBD6-5BBF-D684DDA75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03" y="2430065"/>
            <a:ext cx="4165683" cy="392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693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DEFD-2EF3-B2AC-528D-A7E68F0F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0F51A-FB65-4285-6854-D7E15788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26415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HOW TO STAND OUT AS A GRADUATE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824A45-76A9-228D-5896-D12ECD9B1A5A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14377E-C5CB-B508-2436-33669B4467A1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E5AD2-5F0A-FD04-C903-974E3228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F5BA2E7-EBB4-8FE1-D3D9-0CEB6E7A1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EBAAA4-432D-C287-DD94-D12DCAFD55F2}"/>
              </a:ext>
            </a:extLst>
          </p:cNvPr>
          <p:cNvSpPr txBox="1"/>
          <p:nvPr/>
        </p:nvSpPr>
        <p:spPr>
          <a:xfrm>
            <a:off x="934560" y="1098009"/>
            <a:ext cx="6096000" cy="4208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Build portfolio with:</a:t>
            </a:r>
          </a:p>
          <a:p>
            <a:pPr>
              <a:lnSpc>
                <a:spcPct val="150000"/>
              </a:lnSpc>
            </a:pPr>
            <a:r>
              <a:rPr lang="en-US" dirty="0"/>
              <a:t>✔ Sample BRD</a:t>
            </a:r>
            <a:br>
              <a:rPr lang="en-US" dirty="0"/>
            </a:br>
            <a:r>
              <a:rPr lang="en-US" dirty="0"/>
              <a:t>✔ User stories</a:t>
            </a:r>
            <a:br>
              <a:rPr lang="en-US" dirty="0"/>
            </a:br>
            <a:r>
              <a:rPr lang="en-US" dirty="0"/>
              <a:t>✔ Process diagram</a:t>
            </a:r>
            <a:br>
              <a:rPr lang="en-US" dirty="0"/>
            </a:br>
            <a:r>
              <a:rPr lang="en-US" dirty="0"/>
              <a:t>✔ Dashboard mockup</a:t>
            </a:r>
            <a:br>
              <a:rPr lang="en-US" dirty="0"/>
            </a:br>
            <a:r>
              <a:rPr lang="en-US" dirty="0"/>
              <a:t>✔ Capstone project</a:t>
            </a:r>
          </a:p>
          <a:p>
            <a:pPr>
              <a:lnSpc>
                <a:spcPct val="150000"/>
              </a:lnSpc>
            </a:pPr>
            <a:r>
              <a:rPr lang="en-US" dirty="0"/>
              <a:t>Also improve:</a:t>
            </a:r>
          </a:p>
          <a:p>
            <a:pPr>
              <a:lnSpc>
                <a:spcPct val="150000"/>
              </a:lnSpc>
            </a:pPr>
            <a:r>
              <a:rPr lang="en-US" dirty="0"/>
              <a:t>✔ LinkedIn profile</a:t>
            </a:r>
            <a:br>
              <a:rPr lang="en-US" dirty="0"/>
            </a:br>
            <a:r>
              <a:rPr lang="en-US" dirty="0"/>
              <a:t>✔ Communication</a:t>
            </a:r>
            <a:br>
              <a:rPr lang="en-US" dirty="0"/>
            </a:br>
            <a:r>
              <a:rPr lang="en-US" dirty="0"/>
              <a:t>✔ Confidence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DAE1C8-20AA-CB09-36D5-93DDBB0EA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545" y="-4762"/>
            <a:ext cx="4572000" cy="67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436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ABFA4-57EF-9D87-4BDD-297DBD56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3594-A814-BAC7-205F-8DF9DC72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94" y="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HOW TO STAND OUT AS A GRADUATE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BEA0EB-CC90-44C6-CEF1-18F38730AEEF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A33B58-02D6-2E66-6921-C30EB30D3CD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64174-998A-4E43-5B53-E8143E41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C2993723-BBBB-D423-55E6-42A455F23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4" name="Picture 2" descr="Top 12 Types of Visuals/Diagrams Created by a Business Analyst | by Jayakishor Bayadi | Medium">
            <a:extLst>
              <a:ext uri="{FF2B5EF4-FFF2-40B4-BE49-F238E27FC236}">
                <a16:creationId xmlns:a16="http://schemas.microsoft.com/office/drawing/2014/main" id="{FEBBA608-8DF4-3E78-CE25-AC5339C82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879400"/>
            <a:ext cx="5721927" cy="572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522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84E7-5B56-1F14-6650-361345AC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1A8072-0B29-2E2A-AD06-B911CCB61D94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A6F9EA-1BDB-D105-6F82-AD635B45E13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7F40-0F1D-B6D5-8610-17FD721E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420C1241-49A3-13CA-B935-47FB06F85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25A747-4D93-127F-D67F-DC0ECBCF1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2" y="136525"/>
            <a:ext cx="10515600" cy="785333"/>
          </a:xfrm>
        </p:spPr>
        <p:txBody>
          <a:bodyPr/>
          <a:lstStyle/>
          <a:p>
            <a:r>
              <a:rPr lang="en-US" dirty="0"/>
              <a:t>COMMON RESUME MISTAKES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4F60C-45B1-B0D3-D363-83EB16788062}"/>
              </a:ext>
            </a:extLst>
          </p:cNvPr>
          <p:cNvSpPr txBox="1"/>
          <p:nvPr/>
        </p:nvSpPr>
        <p:spPr>
          <a:xfrm>
            <a:off x="838200" y="719734"/>
            <a:ext cx="52578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Bad File Name</a:t>
            </a:r>
          </a:p>
          <a:p>
            <a:r>
              <a:rPr lang="en-US" dirty="0"/>
              <a:t>Examples: Resume </a:t>
            </a:r>
            <a:r>
              <a:rPr lang="en-US" dirty="0" err="1"/>
              <a:t>Final.pdf</a:t>
            </a:r>
            <a:r>
              <a:rPr lang="en-US" dirty="0"/>
              <a:t>, CV </a:t>
            </a:r>
            <a:r>
              <a:rPr lang="en-US" dirty="0" err="1"/>
              <a:t>Latest.docx</a:t>
            </a:r>
            <a:r>
              <a:rPr lang="en-US" dirty="0"/>
              <a:t>, BA Resume (1).pdf</a:t>
            </a:r>
            <a:br>
              <a:rPr lang="en-US" dirty="0"/>
            </a:br>
            <a:r>
              <a:rPr lang="en-US" dirty="0"/>
              <a:t>✅ Use: </a:t>
            </a:r>
            <a:r>
              <a:rPr lang="en-US" b="1" dirty="0" err="1"/>
              <a:t>FullName_JrBA_Resume.pdf</a:t>
            </a:r>
            <a:endParaRPr lang="en-US" b="1" dirty="0"/>
          </a:p>
          <a:p>
            <a:endParaRPr lang="en-US" dirty="0"/>
          </a:p>
          <a:p>
            <a:r>
              <a:rPr lang="en-US" b="1" dirty="0"/>
              <a:t>2. Sending Word File</a:t>
            </a:r>
          </a:p>
          <a:p>
            <a:r>
              <a:rPr lang="en-US" dirty="0"/>
              <a:t>❌ .docx</a:t>
            </a:r>
            <a:br>
              <a:rPr lang="en-US" dirty="0"/>
            </a:br>
            <a:r>
              <a:rPr lang="en-US" dirty="0"/>
              <a:t>✅ Always send PDF</a:t>
            </a:r>
          </a:p>
          <a:p>
            <a:endParaRPr lang="en-US" dirty="0"/>
          </a:p>
          <a:p>
            <a:r>
              <a:rPr lang="en-US" b="1" dirty="0"/>
              <a:t>3. No Clear Target Role</a:t>
            </a:r>
          </a:p>
          <a:p>
            <a:r>
              <a:rPr lang="en-US" dirty="0"/>
              <a:t>Resume says “Student” instead of </a:t>
            </a:r>
            <a:r>
              <a:rPr lang="en-US" b="1" dirty="0"/>
              <a:t>Junior Business Analyst</a:t>
            </a:r>
          </a:p>
          <a:p>
            <a:endParaRPr lang="en-US" dirty="0"/>
          </a:p>
          <a:p>
            <a:r>
              <a:rPr lang="en-US" b="1" dirty="0"/>
              <a:t>4. Weak Summary</a:t>
            </a:r>
          </a:p>
          <a:p>
            <a:r>
              <a:rPr lang="en-US" dirty="0"/>
              <a:t>Generic lines like “motivated student”</a:t>
            </a:r>
            <a:br>
              <a:rPr lang="en-US" dirty="0"/>
            </a:br>
            <a:r>
              <a:rPr lang="en-US" dirty="0"/>
              <a:t>✅ Mention BA skills + value</a:t>
            </a:r>
          </a:p>
          <a:p>
            <a:endParaRPr lang="en-US" dirty="0"/>
          </a:p>
          <a:p>
            <a:r>
              <a:rPr lang="en-US" b="1" dirty="0"/>
              <a:t>5. Poor Structure</a:t>
            </a:r>
          </a:p>
          <a:p>
            <a:r>
              <a:rPr lang="en-US" dirty="0"/>
              <a:t>Wrong order / cluttered sections</a:t>
            </a:r>
            <a:br>
              <a:rPr lang="en-US" dirty="0"/>
            </a:br>
            <a:r>
              <a:rPr lang="en-US" dirty="0"/>
              <a:t>✅ Best order: Summary → Skills → Experience → Projects → Education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C746A-8D76-FA0C-83D7-20A71964C781}"/>
              </a:ext>
            </a:extLst>
          </p:cNvPr>
          <p:cNvSpPr txBox="1"/>
          <p:nvPr/>
        </p:nvSpPr>
        <p:spPr>
          <a:xfrm>
            <a:off x="6301343" y="702436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Too Much Theory</a:t>
            </a:r>
          </a:p>
          <a:p>
            <a:pPr>
              <a:buNone/>
            </a:pPr>
            <a:r>
              <a:rPr lang="en-US" dirty="0"/>
              <a:t>Lists skills but no proof</a:t>
            </a:r>
          </a:p>
          <a:p>
            <a:pPr>
              <a:buNone/>
            </a:pPr>
            <a:r>
              <a:rPr lang="en-US" dirty="0"/>
              <a:t>❌ Stakeholder management</a:t>
            </a:r>
            <a:br>
              <a:rPr lang="en-US" dirty="0"/>
            </a:br>
            <a:r>
              <a:rPr lang="en-US" dirty="0"/>
              <a:t>✅ Conducted stakeholder interviews for 5 users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7. No Metrics</a:t>
            </a:r>
          </a:p>
          <a:p>
            <a:pPr>
              <a:buNone/>
            </a:pPr>
            <a:r>
              <a:rPr lang="en-US" dirty="0"/>
              <a:t>❌ Created dashboard</a:t>
            </a:r>
            <a:br>
              <a:rPr lang="en-US" dirty="0"/>
            </a:br>
            <a:r>
              <a:rPr lang="en-US" dirty="0"/>
              <a:t>✅ Built dashboard tracking 12 KPIs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8. Developer Resume as BA Resume</a:t>
            </a:r>
          </a:p>
          <a:p>
            <a:pPr>
              <a:buNone/>
            </a:pPr>
            <a:r>
              <a:rPr lang="en-US" dirty="0"/>
              <a:t>Too much coding/tools, little business analysis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9. Missing BA Keywords</a:t>
            </a:r>
          </a:p>
          <a:p>
            <a:pPr>
              <a:buNone/>
            </a:pPr>
            <a:r>
              <a:rPr lang="en-US" dirty="0"/>
              <a:t>Use terms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Stories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BPMN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Jira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Agile</a:t>
            </a:r>
          </a:p>
        </p:txBody>
      </p:sp>
    </p:spTree>
    <p:extLst>
      <p:ext uri="{BB962C8B-B14F-4D97-AF65-F5344CB8AC3E}">
        <p14:creationId xmlns:p14="http://schemas.microsoft.com/office/powerpoint/2010/main" val="37732048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E4292-F2FB-BB2D-80CB-43BCCBDA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8BD3A1-3B59-9D0B-24C6-12906965B03B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4E362F-7DF3-2596-265E-36745362E428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1FE2C-A8EA-42D8-6953-36BF8E15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DA1C024-8D33-5933-9B89-8D4BA0C21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41B79E-00C5-4477-AD35-BE48C74F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RESUME MISTAKES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10EF7-F119-FAAB-2C39-1BD27DC38ABB}"/>
              </a:ext>
            </a:extLst>
          </p:cNvPr>
          <p:cNvSpPr txBox="1"/>
          <p:nvPr/>
        </p:nvSpPr>
        <p:spPr>
          <a:xfrm>
            <a:off x="838200" y="1399743"/>
            <a:ext cx="5257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10. Responsibilities Only</a:t>
            </a:r>
          </a:p>
          <a:p>
            <a:r>
              <a:rPr lang="en-US" dirty="0"/>
              <a:t>❌ Worked with team</a:t>
            </a:r>
            <a:br>
              <a:rPr lang="en-US" dirty="0"/>
            </a:br>
            <a:r>
              <a:rPr lang="en-US" dirty="0"/>
              <a:t>✅ Reduced delays / improved process / clarified requirements</a:t>
            </a:r>
          </a:p>
          <a:p>
            <a:endParaRPr lang="en-US" dirty="0"/>
          </a:p>
          <a:p>
            <a:r>
              <a:rPr lang="en-US" b="1" dirty="0"/>
              <a:t>11. Poor Formatting</a:t>
            </a:r>
          </a:p>
          <a:p>
            <a:r>
              <a:rPr lang="en-US" dirty="0"/>
              <a:t>Dense text, no spacing, hard to scan</a:t>
            </a:r>
          </a:p>
          <a:p>
            <a:endParaRPr lang="en-US" dirty="0"/>
          </a:p>
          <a:p>
            <a:r>
              <a:rPr lang="en-US" b="1" dirty="0"/>
              <a:t>12. Grammar / Spelling Errors</a:t>
            </a:r>
          </a:p>
          <a:p>
            <a:r>
              <a:rPr lang="en-US" dirty="0"/>
              <a:t>Major red flag</a:t>
            </a:r>
          </a:p>
          <a:p>
            <a:endParaRPr lang="en-US" dirty="0"/>
          </a:p>
          <a:p>
            <a:r>
              <a:rPr lang="en-US" b="1" dirty="0"/>
              <a:t>13. Unprofessional Email</a:t>
            </a:r>
          </a:p>
          <a:p>
            <a:r>
              <a:rPr lang="en-US" dirty="0"/>
              <a:t>❌ coolboy123@gmail.com</a:t>
            </a:r>
            <a:br>
              <a:rPr lang="en-US" dirty="0"/>
            </a:br>
            <a:r>
              <a:rPr lang="en-US" dirty="0"/>
              <a:t>✅ </a:t>
            </a:r>
            <a:r>
              <a:rPr lang="en-US" dirty="0">
                <a:hlinkClick r:id="rId4"/>
              </a:rPr>
              <a:t>firstname.lastname@gmail.com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14. No Customization</a:t>
            </a:r>
          </a:p>
          <a:p>
            <a:r>
              <a:rPr lang="en-US" dirty="0"/>
              <a:t>Same resume sent for every job</a:t>
            </a:r>
          </a:p>
        </p:txBody>
      </p:sp>
    </p:spTree>
    <p:extLst>
      <p:ext uri="{BB962C8B-B14F-4D97-AF65-F5344CB8AC3E}">
        <p14:creationId xmlns:p14="http://schemas.microsoft.com/office/powerpoint/2010/main" val="2392060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C63CD-3AD8-E03E-E1DB-BD4A5949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237E-5ED7-9E40-D4DB-CB209CC8C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REAL MISTAKES NEW BAS MAKE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911CF6-CE4E-68CC-0C5E-32653E4E942F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7C63CB-06AB-255E-BD8A-8BD40465B70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D53F2-0A23-9FBB-0B3F-2932424F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8AEAFBA9-8F6A-088F-A926-A53093EC8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0B208B-6259-7FDF-821F-DA3495889B81}"/>
              </a:ext>
            </a:extLst>
          </p:cNvPr>
          <p:cNvSpPr txBox="1"/>
          <p:nvPr/>
        </p:nvSpPr>
        <p:spPr>
          <a:xfrm>
            <a:off x="934560" y="1098009"/>
            <a:ext cx="6096000" cy="3342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❌ Writing unclear requirements</a:t>
            </a:r>
            <a:br>
              <a:rPr lang="en-US" dirty="0"/>
            </a:br>
            <a:r>
              <a:rPr lang="en-US" dirty="0"/>
              <a:t>❌ Accepting vague requests</a:t>
            </a:r>
            <a:br>
              <a:rPr lang="en-US" dirty="0"/>
            </a:br>
            <a:r>
              <a:rPr lang="en-US" dirty="0"/>
              <a:t>❌ Not asking follow-up questions</a:t>
            </a:r>
            <a:br>
              <a:rPr lang="en-US" dirty="0"/>
            </a:br>
            <a:r>
              <a:rPr lang="en-US" dirty="0"/>
              <a:t>❌ Over-documenting simple work</a:t>
            </a:r>
            <a:br>
              <a:rPr lang="en-US" dirty="0"/>
            </a:br>
            <a:r>
              <a:rPr lang="en-US" dirty="0"/>
              <a:t>❌ Ignoring stakeholder alignment</a:t>
            </a:r>
            <a:br>
              <a:rPr lang="en-US" dirty="0"/>
            </a:br>
            <a:r>
              <a:rPr lang="en-US" dirty="0"/>
              <a:t>❌ Focusing only on tools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917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64C8-6440-5A01-F04D-E78ABE22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6B66-70B3-0FBB-1892-D05FB025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Activity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B498F-9F7A-98AE-83E3-CD726D42CB34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E770F-B141-2FFE-CF34-1591BBE9C8C6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E02EC-5786-13B9-592E-DB8221BF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6636CEFE-3791-AF03-C195-40C44B8CF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EE15C0-14A7-7519-9C33-D9D98FFF3424}"/>
              </a:ext>
            </a:extLst>
          </p:cNvPr>
          <p:cNvSpPr txBox="1"/>
          <p:nvPr/>
        </p:nvSpPr>
        <p:spPr>
          <a:xfrm>
            <a:off x="826294" y="1401095"/>
            <a:ext cx="8317706" cy="220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Prepare a 3-5 lines answer (w/o use of </a:t>
            </a:r>
            <a:r>
              <a:rPr lang="en-US" sz="2400" dirty="0" err="1"/>
              <a:t>chatgpt</a:t>
            </a:r>
            <a:r>
              <a:rPr lang="en-US" sz="2400" dirty="0"/>
              <a:t>) :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“If I join a company as Junior BA, how will I add value in first 30 days?”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DAD83-3362-D9F3-D925-0238F23E0C8B}"/>
              </a:ext>
            </a:extLst>
          </p:cNvPr>
          <p:cNvSpPr txBox="1"/>
          <p:nvPr/>
        </p:nvSpPr>
        <p:spPr>
          <a:xfrm>
            <a:off x="826294" y="5913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answer can become your interview script.</a:t>
            </a:r>
          </a:p>
        </p:txBody>
      </p:sp>
    </p:spTree>
    <p:extLst>
      <p:ext uri="{BB962C8B-B14F-4D97-AF65-F5344CB8AC3E}">
        <p14:creationId xmlns:p14="http://schemas.microsoft.com/office/powerpoint/2010/main" val="1751418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26FBA-7032-3274-B9C6-559157E0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835C-C50E-3C05-5652-B299AEC6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KEY TAKEAWAYS (END OF LECTURE)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D6ADA-03FE-71E9-767E-0B9E37FA054A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F1D2DE-B1BF-10F6-C57A-47715581C44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C20EA-FFE7-4E2F-17F1-14FA8744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1F45DA-0C9E-5A47-38FF-A94ACA9E6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55C6B4-CC26-C474-E6D9-AD53AB62C323}"/>
              </a:ext>
            </a:extLst>
          </p:cNvPr>
          <p:cNvSpPr txBox="1"/>
          <p:nvPr/>
        </p:nvSpPr>
        <p:spPr>
          <a:xfrm>
            <a:off x="826294" y="1401095"/>
            <a:ext cx="8317706" cy="278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✔ BA is one of the most practical business-tech careers</a:t>
            </a:r>
            <a:br>
              <a:rPr lang="en-US" dirty="0"/>
            </a:br>
            <a:r>
              <a:rPr lang="en-US" dirty="0"/>
              <a:t>✔ Agile needs communication + clarity</a:t>
            </a:r>
            <a:br>
              <a:rPr lang="en-US" dirty="0"/>
            </a:br>
            <a:r>
              <a:rPr lang="en-US" dirty="0"/>
              <a:t>✔ Employers value mindset more than memorization</a:t>
            </a:r>
            <a:br>
              <a:rPr lang="en-US" dirty="0"/>
            </a:br>
            <a:r>
              <a:rPr lang="en-US" dirty="0"/>
              <a:t>✔ You are closer to industry-ready than you think</a:t>
            </a:r>
            <a:br>
              <a:rPr lang="en-US" dirty="0"/>
            </a:br>
            <a:r>
              <a:rPr lang="en-US" dirty="0"/>
              <a:t>✔ Start practicing now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20D0F5-84FD-67AE-A574-375A290D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" y="4078826"/>
            <a:ext cx="6210354" cy="211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“Real projects are messy — that’s why BAs are valuable.”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best analysts stay calm in ambiguity.”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“Tools can be learned. Mindset is harder to teach.”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“Communication is often the real bottleneck.”</a:t>
            </a:r>
          </a:p>
        </p:txBody>
      </p:sp>
    </p:spTree>
    <p:extLst>
      <p:ext uri="{BB962C8B-B14F-4D97-AF65-F5344CB8AC3E}">
        <p14:creationId xmlns:p14="http://schemas.microsoft.com/office/powerpoint/2010/main" val="1695292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EE27-91F3-C693-90F8-0316D658F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425C90-4149-1A24-0E23-9FA78CE8410E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12B608-6656-7F55-10FC-56BA8471EE6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F1E43-450A-F95A-A50F-B5689DCE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FFC24AC7-3730-F217-6822-79D2B2EB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22D68B3-DA55-1983-AA62-EA1B3C35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486" y="2380414"/>
            <a:ext cx="10515600" cy="1325563"/>
          </a:xfrm>
        </p:spPr>
        <p:txBody>
          <a:bodyPr/>
          <a:lstStyle/>
          <a:p>
            <a:r>
              <a:rPr lang="en-US" dirty="0"/>
              <a:t>“Your degree gives you knowledge.</a:t>
            </a:r>
            <a:br>
              <a:rPr lang="en-US" dirty="0"/>
            </a:br>
            <a:r>
              <a:rPr lang="en-US" dirty="0"/>
              <a:t>Your mindset gets you hired.”</a:t>
            </a:r>
          </a:p>
        </p:txBody>
      </p:sp>
    </p:spTree>
    <p:extLst>
      <p:ext uri="{BB962C8B-B14F-4D97-AF65-F5344CB8AC3E}">
        <p14:creationId xmlns:p14="http://schemas.microsoft.com/office/powerpoint/2010/main" val="3987383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31128</TotalTime>
  <Words>1594</Words>
  <Application>Microsoft Macintosh PowerPoint</Application>
  <PresentationFormat>Widescreen</PresentationFormat>
  <Paragraphs>341</Paragraphs>
  <Slides>35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13 </vt:lpstr>
      <vt:lpstr>PREVIOUS WEEKS – 1 -&gt; 12 </vt:lpstr>
      <vt:lpstr>BIG PICTURE: WHAT HAPPENS IN THE REAL WORLD?</vt:lpstr>
      <vt:lpstr>BIG PICTURE: WHAT HAPPENS IN THE REAL WORLD?</vt:lpstr>
      <vt:lpstr>WHAT EMPLOYERS EXPECT FROM A JUNIOR BA</vt:lpstr>
      <vt:lpstr>BA PATHWAY</vt:lpstr>
      <vt:lpstr>REAL SKILLS VS ACADEMIC SKILLS</vt:lpstr>
      <vt:lpstr>A DAY IN THE LIFE OF A BA</vt:lpstr>
      <vt:lpstr>STAKEHOLDER MANAGEMENT IN REAL PROJECTS</vt:lpstr>
      <vt:lpstr>COMMUNICATION SKILLS (HIGHLY IMPORTANT)</vt:lpstr>
      <vt:lpstr>DOCUMENTATION IN REAL PROJECTS</vt:lpstr>
      <vt:lpstr>DOCUMENTATION IN REAL PROJECTS</vt:lpstr>
      <vt:lpstr>DOCUMENTATION IN REAL PROJECTS</vt:lpstr>
      <vt:lpstr>AGILE DEEP DIVE</vt:lpstr>
      <vt:lpstr>WATERFALL OR AGILE</vt:lpstr>
      <vt:lpstr>SCRUM FRAMEWORK IN PRACTICE</vt:lpstr>
      <vt:lpstr>SCRUM FRAMEWORK IN PRACTICE</vt:lpstr>
      <vt:lpstr>SCRUM CEREMONIES</vt:lpstr>
      <vt:lpstr>SCRUM CEREMONIES</vt:lpstr>
      <vt:lpstr>SCRUM CEREMONIES</vt:lpstr>
      <vt:lpstr>AGILE REAL SCENARIO</vt:lpstr>
      <vt:lpstr>BACKLOG MANAGEMENT</vt:lpstr>
      <vt:lpstr>HANDLING CHANGE REQUESTS</vt:lpstr>
      <vt:lpstr>BA + DATA IN AGILE TEAMS</vt:lpstr>
      <vt:lpstr>INTERVIEW READINESS SECTION</vt:lpstr>
      <vt:lpstr>HOW TO STAND OUT AS A GRADUATE</vt:lpstr>
      <vt:lpstr>HOW TO STAND OUT AS A GRADUATE</vt:lpstr>
      <vt:lpstr>COMMON RESUME MISTAKES</vt:lpstr>
      <vt:lpstr>COMMON RESUME MISTAKES</vt:lpstr>
      <vt:lpstr>REAL MISTAKES NEW BAS MAKE</vt:lpstr>
      <vt:lpstr>Activity</vt:lpstr>
      <vt:lpstr>KEY TAKEAWAYS (END OF LECTURE)</vt:lpstr>
      <vt:lpstr>“Your degree gives you knowledge. Your mindset gets you hired.”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184</cp:revision>
  <dcterms:created xsi:type="dcterms:W3CDTF">2024-06-09T07:08:43Z</dcterms:created>
  <dcterms:modified xsi:type="dcterms:W3CDTF">2026-04-26T20:27:28Z</dcterms:modified>
</cp:coreProperties>
</file>