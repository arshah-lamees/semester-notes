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648" r:id="rId1"/>
  </p:sldMasterIdLst>
  <p:notesMasterIdLst>
    <p:notesMasterId r:id="rId22"/>
  </p:notesMasterIdLst>
  <p:sldIdLst>
    <p:sldId id="256" r:id="rId2"/>
    <p:sldId id="345" r:id="rId3"/>
    <p:sldId id="357" r:id="rId4"/>
    <p:sldId id="347" r:id="rId5"/>
    <p:sldId id="360" r:id="rId6"/>
    <p:sldId id="386" r:id="rId7"/>
    <p:sldId id="375" r:id="rId8"/>
    <p:sldId id="371" r:id="rId9"/>
    <p:sldId id="387" r:id="rId10"/>
    <p:sldId id="374" r:id="rId11"/>
    <p:sldId id="363" r:id="rId12"/>
    <p:sldId id="376" r:id="rId13"/>
    <p:sldId id="369" r:id="rId14"/>
    <p:sldId id="382" r:id="rId15"/>
    <p:sldId id="364" r:id="rId16"/>
    <p:sldId id="378" r:id="rId17"/>
    <p:sldId id="383" r:id="rId18"/>
    <p:sldId id="384" r:id="rId19"/>
    <p:sldId id="385" r:id="rId20"/>
    <p:sldId id="380" r:id="rId21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feeza Iqbal" initials="MI" lastIdx="1" clrIdx="0">
    <p:extLst>
      <p:ext uri="{19B8F6BF-5375-455C-9EA6-DF929625EA0E}">
        <p15:presenceInfo xmlns:p15="http://schemas.microsoft.com/office/powerpoint/2012/main" userId="Mufeeza Iqb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75C4"/>
    <a:srgbClr val="D4E5F7"/>
    <a:srgbClr val="E3EEFD"/>
    <a:srgbClr val="BAE2D1"/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BD5350-3F5C-D542-B995-E998A3C1ED16}" v="86" dt="2026-03-13T05:43:36.2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71" autoAdjust="0"/>
    <p:restoredTop sz="94729"/>
  </p:normalViewPr>
  <p:slideViewPr>
    <p:cSldViewPr snapToGrid="0">
      <p:cViewPr varScale="1">
        <p:scale>
          <a:sx n="84" d="100"/>
          <a:sy n="84" d="100"/>
        </p:scale>
        <p:origin x="20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iz Ali" userId="f5d92abebf1a8182" providerId="LiveId" clId="{1D29D2DF-8AFD-5E4B-B438-1B9FE838644C}"/>
    <pc:docChg chg="modSld">
      <pc:chgData name="Moiz Ali" userId="f5d92abebf1a8182" providerId="LiveId" clId="{1D29D2DF-8AFD-5E4B-B438-1B9FE838644C}" dt="2026-03-28T10:38:25.746" v="14" actId="20577"/>
      <pc:docMkLst>
        <pc:docMk/>
      </pc:docMkLst>
      <pc:sldChg chg="modNotesTx">
        <pc:chgData name="Moiz Ali" userId="f5d92abebf1a8182" providerId="LiveId" clId="{1D29D2DF-8AFD-5E4B-B438-1B9FE838644C}" dt="2026-03-28T10:37:30.300" v="1" actId="20577"/>
        <pc:sldMkLst>
          <pc:docMk/>
          <pc:sldMk cId="3706582229" sldId="347"/>
        </pc:sldMkLst>
      </pc:sldChg>
      <pc:sldChg chg="modNotesTx">
        <pc:chgData name="Moiz Ali" userId="f5d92abebf1a8182" providerId="LiveId" clId="{1D29D2DF-8AFD-5E4B-B438-1B9FE838644C}" dt="2026-03-28T10:37:27.214" v="0" actId="20577"/>
        <pc:sldMkLst>
          <pc:docMk/>
          <pc:sldMk cId="1620906448" sldId="357"/>
        </pc:sldMkLst>
      </pc:sldChg>
      <pc:sldChg chg="modNotesTx">
        <pc:chgData name="Moiz Ali" userId="f5d92abebf1a8182" providerId="LiveId" clId="{1D29D2DF-8AFD-5E4B-B438-1B9FE838644C}" dt="2026-03-28T10:37:33.592" v="2" actId="20577"/>
        <pc:sldMkLst>
          <pc:docMk/>
          <pc:sldMk cId="21022313" sldId="360"/>
        </pc:sldMkLst>
      </pc:sldChg>
      <pc:sldChg chg="modNotesTx">
        <pc:chgData name="Moiz Ali" userId="f5d92abebf1a8182" providerId="LiveId" clId="{1D29D2DF-8AFD-5E4B-B438-1B9FE838644C}" dt="2026-03-28T10:37:53.357" v="6" actId="20577"/>
        <pc:sldMkLst>
          <pc:docMk/>
          <pc:sldMk cId="1428968341" sldId="363"/>
        </pc:sldMkLst>
      </pc:sldChg>
      <pc:sldChg chg="modNotesTx">
        <pc:chgData name="Moiz Ali" userId="f5d92abebf1a8182" providerId="LiveId" clId="{1D29D2DF-8AFD-5E4B-B438-1B9FE838644C}" dt="2026-03-28T10:38:06.384" v="10" actId="20577"/>
        <pc:sldMkLst>
          <pc:docMk/>
          <pc:sldMk cId="1966666034" sldId="364"/>
        </pc:sldMkLst>
      </pc:sldChg>
      <pc:sldChg chg="modNotesTx">
        <pc:chgData name="Moiz Ali" userId="f5d92abebf1a8182" providerId="LiveId" clId="{1D29D2DF-8AFD-5E4B-B438-1B9FE838644C}" dt="2026-03-28T10:37:59.922" v="8" actId="20577"/>
        <pc:sldMkLst>
          <pc:docMk/>
          <pc:sldMk cId="2747938471" sldId="369"/>
        </pc:sldMkLst>
      </pc:sldChg>
      <pc:sldChg chg="modNotesTx">
        <pc:chgData name="Moiz Ali" userId="f5d92abebf1a8182" providerId="LiveId" clId="{1D29D2DF-8AFD-5E4B-B438-1B9FE838644C}" dt="2026-03-28T10:37:42.336" v="4" actId="20577"/>
        <pc:sldMkLst>
          <pc:docMk/>
          <pc:sldMk cId="2516336401" sldId="371"/>
        </pc:sldMkLst>
      </pc:sldChg>
      <pc:sldChg chg="modNotesTx">
        <pc:chgData name="Moiz Ali" userId="f5d92abebf1a8182" providerId="LiveId" clId="{1D29D2DF-8AFD-5E4B-B438-1B9FE838644C}" dt="2026-03-28T10:37:50.209" v="5" actId="20577"/>
        <pc:sldMkLst>
          <pc:docMk/>
          <pc:sldMk cId="1572805326" sldId="374"/>
        </pc:sldMkLst>
      </pc:sldChg>
      <pc:sldChg chg="modNotesTx">
        <pc:chgData name="Moiz Ali" userId="f5d92abebf1a8182" providerId="LiveId" clId="{1D29D2DF-8AFD-5E4B-B438-1B9FE838644C}" dt="2026-03-28T10:37:38.147" v="3" actId="20577"/>
        <pc:sldMkLst>
          <pc:docMk/>
          <pc:sldMk cId="1083492549" sldId="375"/>
        </pc:sldMkLst>
      </pc:sldChg>
      <pc:sldChg chg="modNotesTx">
        <pc:chgData name="Moiz Ali" userId="f5d92abebf1a8182" providerId="LiveId" clId="{1D29D2DF-8AFD-5E4B-B438-1B9FE838644C}" dt="2026-03-28T10:37:56.586" v="7" actId="20577"/>
        <pc:sldMkLst>
          <pc:docMk/>
          <pc:sldMk cId="3079172236" sldId="376"/>
        </pc:sldMkLst>
      </pc:sldChg>
      <pc:sldChg chg="modNotesTx">
        <pc:chgData name="Moiz Ali" userId="f5d92abebf1a8182" providerId="LiveId" clId="{1D29D2DF-8AFD-5E4B-B438-1B9FE838644C}" dt="2026-03-28T10:38:10.438" v="11" actId="20577"/>
        <pc:sldMkLst>
          <pc:docMk/>
          <pc:sldMk cId="261600335" sldId="378"/>
        </pc:sldMkLst>
      </pc:sldChg>
      <pc:sldChg chg="modNotesTx">
        <pc:chgData name="Moiz Ali" userId="f5d92abebf1a8182" providerId="LiveId" clId="{1D29D2DF-8AFD-5E4B-B438-1B9FE838644C}" dt="2026-03-28T10:38:25.746" v="14" actId="20577"/>
        <pc:sldMkLst>
          <pc:docMk/>
          <pc:sldMk cId="271983639" sldId="380"/>
        </pc:sldMkLst>
      </pc:sldChg>
      <pc:sldChg chg="modNotesTx">
        <pc:chgData name="Moiz Ali" userId="f5d92abebf1a8182" providerId="LiveId" clId="{1D29D2DF-8AFD-5E4B-B438-1B9FE838644C}" dt="2026-03-28T10:38:02.673" v="9" actId="20577"/>
        <pc:sldMkLst>
          <pc:docMk/>
          <pc:sldMk cId="1255614144" sldId="382"/>
        </pc:sldMkLst>
      </pc:sldChg>
      <pc:sldChg chg="modNotesTx">
        <pc:chgData name="Moiz Ali" userId="f5d92abebf1a8182" providerId="LiveId" clId="{1D29D2DF-8AFD-5E4B-B438-1B9FE838644C}" dt="2026-03-28T10:38:14.322" v="12" actId="20577"/>
        <pc:sldMkLst>
          <pc:docMk/>
          <pc:sldMk cId="172332819" sldId="383"/>
        </pc:sldMkLst>
      </pc:sldChg>
      <pc:sldChg chg="modNotesTx">
        <pc:chgData name="Moiz Ali" userId="f5d92abebf1a8182" providerId="LiveId" clId="{1D29D2DF-8AFD-5E4B-B438-1B9FE838644C}" dt="2026-03-28T10:38:18.423" v="13" actId="20577"/>
        <pc:sldMkLst>
          <pc:docMk/>
          <pc:sldMk cId="285656653" sldId="3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AA3216-91D5-43D0-B205-F0CBF00F2A3B}" type="datetimeFigureOut">
              <a:rPr lang="en-PK" smtClean="0"/>
              <a:t>3/28/26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8AE2D-6C56-4B4B-AC93-0FCEBED5A4D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2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35725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5005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2563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46806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94513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53240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5096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15383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6125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7176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0075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949794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84323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51405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88AE2D-6C56-4B4B-AC93-0FCEBED5A4D6}" type="slidenum">
              <a:rPr lang="en-PK" smtClean="0"/>
              <a:t>20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9703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92AE-3475-5519-9CD2-B3813CA2A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9BC997-4B8A-9709-FA3F-2812ED29E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DD1C2-A443-3425-F1A3-450EEF2D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0BE24-4914-473D-86E2-D4EE0B0E90C7}" type="datetime8">
              <a:rPr lang="en-PK" smtClean="0"/>
              <a:t>3/28/26 3:37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E2A3E-9208-EDCE-DEBB-4D9337367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EF72C-8D9E-F888-7543-7E09C4B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7009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9ADE-7B08-A01C-72DF-FE9993CEE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07FC3-A55A-4A8D-FCDC-D328082DE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EBE8E-9BB1-B225-5B4C-55AEA4E7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9EF77-D47F-4BB1-86E4-5F455460BD9C}" type="datetime8">
              <a:rPr lang="en-PK" smtClean="0"/>
              <a:t>3/28/26 3:37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E679-F999-E1F9-0F77-DEA6D7131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F485-BD67-E327-64C3-D7E71B9E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424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EA042-DF09-56BB-8638-29DBAD38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1508DB-FFA7-6D03-67FA-3EF149A1B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BE1E-EE08-ACCC-1271-2F5E25CAF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1A5AA-2A6E-43F2-9F30-AF7EED5FA600}" type="datetime8">
              <a:rPr lang="en-PK" smtClean="0"/>
              <a:t>3/28/26 3:37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9D85B-5C96-E835-D822-93C86F783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899E9-E472-DD15-F881-20043647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037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27FCC-3AE3-0214-F9D4-FCB15D61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7161E-F706-1674-13DB-BACD47231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A0A05-46B6-960E-7368-B2CE54CC3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39986-E720-F1B7-36F9-B2708004C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E2CB0-8F81-407D-9308-759F0E533D95}" type="datetime8">
              <a:rPr lang="en-PK" smtClean="0"/>
              <a:t>3/28/26 3:37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C3A9C-BA81-3B68-288D-EB7FD47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AEAC4-C699-2232-BD98-7252DC5E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0624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A8C3-75DD-1313-ABA5-5D3FFA02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7D5B1-50C2-CF91-9D88-610914E27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5284C-0315-C6F1-CA04-F3E219D15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7C534-C2F2-A37B-C431-9DF8A42B3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AA4DAB-49CA-2EFC-9842-564884678C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688EE-799F-3F23-A121-4F674361A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FBD63-32C8-45D6-BE9D-408F278BE9C8}" type="datetime8">
              <a:rPr lang="en-PK" smtClean="0"/>
              <a:t>3/28/26 3:37 PM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E4848C-55D2-9A77-36F1-FAD52DCB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D59BD-56E3-4753-6C9F-3B1F4CE0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3030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C4B4-FA75-C85D-E743-3DB6E5DB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F645E-1294-7708-0DA4-EDA6178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7C61-2664-45A8-9CA0-D9D546B35364}" type="datetime8">
              <a:rPr lang="en-PK" smtClean="0"/>
              <a:t>3/28/26 3:37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9AFA9-8467-3A28-7BFF-CA12EF3C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24441-1E31-6A33-D8E8-781D599A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92362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7448-39E8-68A0-B712-84409BF4E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3484-DEAD-0EB1-DC5F-24E6FD4BA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78C6A-94B1-48CD-B95C-7BBCF06B539F}" type="datetime8">
              <a:rPr lang="en-PK" smtClean="0"/>
              <a:t>3/28/26 3:37 PM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F8FE36-0300-3AD8-5E95-41E333E18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CC0281-9CE6-90B4-45F9-D9D954D12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92040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053CB-8CBB-A3DD-2AD9-1CA378510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1173-6A64-ACDD-90B1-F466FBD62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611703-8264-01ED-8E5E-06DFA98EE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25018-0F9D-E6A7-30D4-FA1B94922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20F-E5D6-45BD-ABE4-D3E73AEC1059}" type="datetime8">
              <a:rPr lang="en-PK" smtClean="0"/>
              <a:t>3/28/26 3:37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345B6-DE39-4DE7-B63A-020AA0C25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7E181-66A9-8AF7-8FC6-FD18E177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21884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E283-232A-203F-BE7E-C1FAB189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344E88-2CB0-6548-1689-37B5CD1D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C45364-9FD1-5237-6F05-3CD9FF28E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0F029-9EDC-16AD-E233-F7215386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36677-69CF-4F57-B961-69869666485F}" type="datetime8">
              <a:rPr lang="en-PK" smtClean="0"/>
              <a:t>3/28/26 3:37 PM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EAD10-9813-FA15-7AA3-F311C1514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93DEC-A834-573B-8137-57A252A1E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5392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B6A8F-48A0-C1A4-C992-787E5B87A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 b="1" i="0" baseline="0">
                <a:solidFill>
                  <a:srgbClr val="0070C0"/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5B7C4-4FCF-3883-BC91-FDBC338D9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4F67A-FCF1-D4E4-E162-793DEACC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FB392-8D81-42DB-9470-C0982980A208}" type="datetime8">
              <a:rPr lang="en-PK" smtClean="0"/>
              <a:t>3/28/26 3:37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D6A201-A7CA-71B8-8718-9897B03FE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A3F33-5AA9-E112-2ABF-79F54788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6848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59074-43DC-F3A1-F847-B382DA998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3AC57-AF5B-EC7C-207D-DD8781393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5FF8A-8F6C-7460-66BD-36FE94B2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8CE2D-4511-4580-808C-44E58A6F6871}" type="datetime8">
              <a:rPr lang="en-PK" smtClean="0"/>
              <a:t>3/28/26 3:37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E7764-4D16-A8A5-2DA2-548355B8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DCA92-473C-706D-5019-016D87F1B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29802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FF33B-CB98-4E49-F470-FDEB20A1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5A451-6F13-E99E-AA74-118FE0705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6080-894B-699D-C377-9FCB24B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47E1-80FA-4B68-AED4-FB0D556219B2}" type="datetime8">
              <a:rPr lang="en-PK" smtClean="0"/>
              <a:t>3/28/26 3:37 PM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F34FF-7C89-DFB6-0D18-88EA7A4B3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08851-096B-57D1-721E-52D426BA6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5646D-91FE-4030-A7F0-07F651F9A7F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6824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60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9D80B44-5D51-DEB9-139E-D6588E08DCEE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358E0-F332-E7D0-E6FF-67C0C524EC5E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C7347E-773E-501C-BBCD-F143B41F9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C0E69E7-0624-E377-FC31-A9DAAD9B9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Blue Abstract Data Analysis Technology Background, Blue, Abstract ...">
            <a:extLst>
              <a:ext uri="{FF2B5EF4-FFF2-40B4-BE49-F238E27FC236}">
                <a16:creationId xmlns:a16="http://schemas.microsoft.com/office/drawing/2014/main" id="{AE2E633B-B89B-2AD6-B235-B52FC21A3B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2001" cy="68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15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A8744-A704-1C59-1304-02055AF7C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E56C57-21E3-F72F-1B57-E9FD05DDB415}"/>
              </a:ext>
            </a:extLst>
          </p:cNvPr>
          <p:cNvSpPr/>
          <p:nvPr/>
        </p:nvSpPr>
        <p:spPr>
          <a:xfrm>
            <a:off x="-1" y="6553199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D03E08-0EA6-164B-E5C0-0ABD98254645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F7046-524C-B6E2-F233-6AA93275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</a:t>
            </a:fld>
            <a:endParaRPr lang="en-PK"/>
          </a:p>
        </p:txBody>
      </p:sp>
      <p:pic>
        <p:nvPicPr>
          <p:cNvPr id="1028" name="Picture 4" descr="Download HD 55 Pm 52458 Fast University ...">
            <a:extLst>
              <a:ext uri="{FF2B5EF4-FFF2-40B4-BE49-F238E27FC236}">
                <a16:creationId xmlns:a16="http://schemas.microsoft.com/office/drawing/2014/main" id="{715E161C-5FF5-7252-A206-A10477B0B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4">
            <a:extLst>
              <a:ext uri="{FF2B5EF4-FFF2-40B4-BE49-F238E27FC236}">
                <a16:creationId xmlns:a16="http://schemas.microsoft.com/office/drawing/2014/main" id="{4FA3E7AE-A2AD-D117-25F2-EA3F62B700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006" y="687984"/>
            <a:ext cx="9144000" cy="29972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BUSINESS ANALYTICS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Introduction to Business Analytics and Core Business Functions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5E0D16E-2E56-B97C-A39A-BD2DC36A3359}"/>
              </a:ext>
            </a:extLst>
          </p:cNvPr>
          <p:cNvSpPr txBox="1">
            <a:spLocks/>
          </p:cNvSpPr>
          <p:nvPr/>
        </p:nvSpPr>
        <p:spPr>
          <a:xfrm>
            <a:off x="964406" y="840384"/>
            <a:ext cx="9144000" cy="299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BUSINESS ANALYSIS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PROCESS IMPROVEMENT</a:t>
            </a:r>
            <a:endParaRPr lang="en-PK" sz="4000" dirty="0"/>
          </a:p>
        </p:txBody>
      </p:sp>
      <p:pic>
        <p:nvPicPr>
          <p:cNvPr id="5" name="Picture 4" descr="3d Analyst Working On Business Analytics Dashboard With Kpi ...">
            <a:extLst>
              <a:ext uri="{FF2B5EF4-FFF2-40B4-BE49-F238E27FC236}">
                <a16:creationId xmlns:a16="http://schemas.microsoft.com/office/drawing/2014/main" id="{55A10BB7-3531-CC3A-305B-1101C4343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4856" y="2949575"/>
            <a:ext cx="37719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8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741F9-C6FD-1E39-BD7F-93E026F55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Learning Objectives – WEEK 8</a:t>
            </a: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CCE4D-95E9-6FB6-ED27-6AA4627A2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02766"/>
            <a:ext cx="10515600" cy="36274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/>
              <a:t>By the end of today you should be able to: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Identify inefficient business processes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Perform Root Cause Analysis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Conduct Gap Analysis (AS-IS vs TO-BE)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Identify bottlenecks in workflows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Propose process improvement solutions like a Business Analyst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C24661-1429-04BE-6E64-7D554BED14A1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F29413-F335-2DA5-47CF-A2EC49D47E62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33593E-E656-4749-0FCA-C58FDE336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DC946E10-9E58-EF2D-6D0E-8116B41ED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207E6FA1-0F3A-98FC-B8D2-0120858E2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3572" y="3429000"/>
            <a:ext cx="2468880" cy="2468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90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294" y="968797"/>
            <a:ext cx="10515600" cy="44985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LAST WEEK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br>
              <a:rPr lang="en-US" sz="44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1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7C6773-C7D6-73F7-1812-E4BA72617305}"/>
              </a:ext>
            </a:extLst>
          </p:cNvPr>
          <p:cNvSpPr txBox="1"/>
          <p:nvPr/>
        </p:nvSpPr>
        <p:spPr>
          <a:xfrm>
            <a:off x="826294" y="1609158"/>
            <a:ext cx="8317706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Last week we learned </a:t>
            </a:r>
            <a:r>
              <a:rPr lang="en-US" b="1" dirty="0"/>
              <a:t>Process Modeling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/>
              <a:t>✔ AS-IS process</a:t>
            </a:r>
            <a:br>
              <a:rPr lang="en-US" dirty="0"/>
            </a:br>
            <a:r>
              <a:rPr lang="en-US" dirty="0"/>
              <a:t>✔ TO-BE process</a:t>
            </a:r>
            <a:br>
              <a:rPr lang="en-US" dirty="0"/>
            </a:br>
            <a:r>
              <a:rPr lang="en-US" dirty="0"/>
              <a:t>✔ Flowcharts</a:t>
            </a:r>
            <a:br>
              <a:rPr lang="en-US" dirty="0"/>
            </a:br>
            <a:r>
              <a:rPr lang="en-US" dirty="0"/>
              <a:t>✔ BPMN</a:t>
            </a:r>
          </a:p>
          <a:p>
            <a:pPr>
              <a:lnSpc>
                <a:spcPct val="150000"/>
              </a:lnSpc>
            </a:pPr>
            <a:br>
              <a:rPr lang="en-US" dirty="0"/>
            </a:br>
            <a:r>
              <a:rPr lang="en-US" dirty="0"/>
              <a:t>👉 Today we answer </a:t>
            </a:r>
            <a:r>
              <a:rPr lang="en-US" b="1" dirty="0"/>
              <a:t>WHY the process needs improvement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Process modeling shows the workflow.</a:t>
            </a:r>
            <a:br>
              <a:rPr lang="en-US" dirty="0"/>
            </a:br>
            <a:r>
              <a:rPr lang="en-US" dirty="0"/>
              <a:t>Process improvement fixes the workflow.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58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PROCESS IMPROVEMENT?</a:t>
            </a:r>
            <a:br>
              <a:rPr lang="en-US" b="1" dirty="0"/>
            </a:br>
            <a:br>
              <a:rPr lang="en-US" sz="2800" b="1" dirty="0">
                <a:solidFill>
                  <a:schemeClr val="bg2">
                    <a:lumMod val="50000"/>
                  </a:schemeClr>
                </a:solidFill>
                <a:latin typeface="+mn-lt"/>
              </a:rPr>
            </a:b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909615-B88E-5AD4-2E91-C4E96A53D387}"/>
              </a:ext>
            </a:extLst>
          </p:cNvPr>
          <p:cNvSpPr txBox="1"/>
          <p:nvPr/>
        </p:nvSpPr>
        <p:spPr>
          <a:xfrm>
            <a:off x="890588" y="1410765"/>
            <a:ext cx="8253412" cy="2546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Process Improvement = systematic approach to improve:</a:t>
            </a:r>
          </a:p>
          <a:p>
            <a:pPr>
              <a:lnSpc>
                <a:spcPct val="150000"/>
              </a:lnSpc>
            </a:pPr>
            <a:r>
              <a:rPr lang="en-US" dirty="0"/>
              <a:t>✔ efficiency</a:t>
            </a:r>
            <a:br>
              <a:rPr lang="en-US" dirty="0"/>
            </a:br>
            <a:r>
              <a:rPr lang="en-US" dirty="0"/>
              <a:t>✔ cost</a:t>
            </a:r>
            <a:br>
              <a:rPr lang="en-US" dirty="0"/>
            </a:br>
            <a:r>
              <a:rPr lang="en-US" dirty="0"/>
              <a:t>✔ speed</a:t>
            </a:r>
            <a:br>
              <a:rPr lang="en-US" dirty="0"/>
            </a:br>
            <a:r>
              <a:rPr lang="en-US" dirty="0"/>
              <a:t>✔ quality</a:t>
            </a:r>
            <a:br>
              <a:rPr lang="en-US" dirty="0"/>
            </a:br>
            <a:r>
              <a:rPr lang="en-US" dirty="0"/>
              <a:t>✔ customer satisfaction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6AE5AF-0062-2FB1-89A1-24E3224A9A7A}"/>
              </a:ext>
            </a:extLst>
          </p:cNvPr>
          <p:cNvSpPr txBox="1"/>
          <p:nvPr/>
        </p:nvSpPr>
        <p:spPr>
          <a:xfrm>
            <a:off x="738187" y="3988700"/>
            <a:ext cx="4114798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Simple Real Example</a:t>
            </a:r>
          </a:p>
          <a:p>
            <a:pPr>
              <a:lnSpc>
                <a:spcPct val="150000"/>
              </a:lnSpc>
            </a:pPr>
            <a:r>
              <a:rPr lang="en-US" dirty="0"/>
              <a:t>Restaurant kitchen workflow.</a:t>
            </a:r>
          </a:p>
          <a:p>
            <a:pPr>
              <a:lnSpc>
                <a:spcPct val="150000"/>
              </a:lnSpc>
            </a:pPr>
            <a:r>
              <a:rPr lang="en-US" dirty="0"/>
              <a:t>If chef waits for ingredients → delay.</a:t>
            </a:r>
          </a:p>
          <a:p>
            <a:pPr>
              <a:lnSpc>
                <a:spcPct val="150000"/>
              </a:lnSpc>
            </a:pPr>
            <a:r>
              <a:rPr lang="en-US" dirty="0"/>
              <a:t>Improvement:</a:t>
            </a:r>
          </a:p>
          <a:p>
            <a:pPr>
              <a:lnSpc>
                <a:spcPct val="150000"/>
              </a:lnSpc>
            </a:pPr>
            <a:r>
              <a:rPr lang="en-US" dirty="0"/>
              <a:t>Prepare ingredients earlier.</a:t>
            </a:r>
          </a:p>
          <a:p>
            <a:pPr>
              <a:lnSpc>
                <a:spcPct val="150000"/>
              </a:lnSpc>
            </a:pPr>
            <a:r>
              <a:rPr lang="en-US" dirty="0"/>
              <a:t>Same logic applies to businesses.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E1AE52-8265-26A4-15DC-7266866F663C}"/>
              </a:ext>
            </a:extLst>
          </p:cNvPr>
          <p:cNvSpPr txBox="1"/>
          <p:nvPr/>
        </p:nvSpPr>
        <p:spPr>
          <a:xfrm>
            <a:off x="5422110" y="1886522"/>
            <a:ext cx="5345902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🇵🇰 Pakistan Example — Bank Loan Approval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AS-IS:</a:t>
            </a:r>
          </a:p>
          <a:p>
            <a:pPr>
              <a:lnSpc>
                <a:spcPct val="150000"/>
              </a:lnSpc>
            </a:pPr>
            <a:r>
              <a:rPr lang="en-US" dirty="0"/>
              <a:t>Application → Manual review → Branch approval → Central office → Approval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Time:</a:t>
            </a:r>
            <a:br>
              <a:rPr lang="en-US" dirty="0"/>
            </a:br>
            <a:r>
              <a:rPr lang="en-US" dirty="0"/>
              <a:t>7-10 days.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TO-BE:</a:t>
            </a:r>
          </a:p>
          <a:p>
            <a:pPr>
              <a:lnSpc>
                <a:spcPct val="150000"/>
              </a:lnSpc>
            </a:pPr>
            <a:r>
              <a:rPr lang="en-US" dirty="0"/>
              <a:t>Application → Automated credit check → Approval.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Time:</a:t>
            </a:r>
            <a:br>
              <a:rPr lang="en-US" dirty="0"/>
            </a:br>
            <a:r>
              <a:rPr lang="en-US" dirty="0"/>
              <a:t>2 days.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29238-0F89-3523-EDD7-47E602B5F3EF}"/>
              </a:ext>
            </a:extLst>
          </p:cNvPr>
          <p:cNvSpPr txBox="1"/>
          <p:nvPr/>
        </p:nvSpPr>
        <p:spPr>
          <a:xfrm>
            <a:off x="5791201" y="6301114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“Automation only works after process analysis.”</a:t>
            </a:r>
          </a:p>
        </p:txBody>
      </p:sp>
    </p:spTree>
    <p:extLst>
      <p:ext uri="{BB962C8B-B14F-4D97-AF65-F5344CB8AC3E}">
        <p14:creationId xmlns:p14="http://schemas.microsoft.com/office/powerpoint/2010/main" val="21022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5C535-F118-1FC0-7E94-8ACABEE5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6</a:t>
            </a:fld>
            <a:endParaRPr lang="en-PK"/>
          </a:p>
        </p:txBody>
      </p:sp>
      <p:pic>
        <p:nvPicPr>
          <p:cNvPr id="5" name="Picture 4" descr="The Art of Process Transformation: 6 Steps to transform your business  processes">
            <a:extLst>
              <a:ext uri="{FF2B5EF4-FFF2-40B4-BE49-F238E27FC236}">
                <a16:creationId xmlns:a16="http://schemas.microsoft.com/office/drawing/2014/main" id="{4D042A5C-A22E-9BC2-DADF-7FC03886D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163" y="1050925"/>
            <a:ext cx="9882428" cy="475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0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ROOT CAUSE ANALYSIS (CORE BA SKILL)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7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8543E4-BEF0-D966-807C-8DB664CD1B4B}"/>
              </a:ext>
            </a:extLst>
          </p:cNvPr>
          <p:cNvSpPr txBox="1"/>
          <p:nvPr/>
        </p:nvSpPr>
        <p:spPr>
          <a:xfrm>
            <a:off x="785812" y="1502601"/>
            <a:ext cx="7485352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Root Cause Analysis identifies </a:t>
            </a:r>
            <a:r>
              <a:rPr lang="en-US" b="1" dirty="0"/>
              <a:t>why problems occur</a:t>
            </a:r>
            <a:r>
              <a:rPr lang="en-US" dirty="0"/>
              <a:t>, not just symptoms.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79F915-5685-9E86-608B-ABBE2E8EB546}"/>
              </a:ext>
            </a:extLst>
          </p:cNvPr>
          <p:cNvSpPr txBox="1"/>
          <p:nvPr/>
        </p:nvSpPr>
        <p:spPr>
          <a:xfrm>
            <a:off x="826294" y="4340610"/>
            <a:ext cx="6096000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Example Problem</a:t>
            </a:r>
          </a:p>
          <a:p>
            <a:pPr>
              <a:lnSpc>
                <a:spcPct val="150000"/>
              </a:lnSpc>
            </a:pPr>
            <a:r>
              <a:rPr lang="en-US" dirty="0"/>
              <a:t>Food delivery orders are late.</a:t>
            </a:r>
          </a:p>
          <a:p>
            <a:pPr>
              <a:lnSpc>
                <a:spcPct val="150000"/>
              </a:lnSpc>
            </a:pPr>
            <a:r>
              <a:rPr lang="en-US" dirty="0"/>
              <a:t>Symptoms:</a:t>
            </a:r>
          </a:p>
          <a:p>
            <a:pPr>
              <a:lnSpc>
                <a:spcPct val="150000"/>
              </a:lnSpc>
            </a:pPr>
            <a:r>
              <a:rPr lang="en-US" dirty="0"/>
              <a:t>Customer complaints.</a:t>
            </a:r>
          </a:p>
          <a:p>
            <a:pPr>
              <a:lnSpc>
                <a:spcPct val="150000"/>
              </a:lnSpc>
            </a:pPr>
            <a:r>
              <a:rPr lang="en-US" dirty="0"/>
              <a:t>But what is the root cause?</a:t>
            </a:r>
          </a:p>
        </p:txBody>
      </p:sp>
      <p:pic>
        <p:nvPicPr>
          <p:cNvPr id="3" name="Picture 2" descr="Root cause analysis process of identifying the source of a problem and looking for a solution in the root level">
            <a:extLst>
              <a:ext uri="{FF2B5EF4-FFF2-40B4-BE49-F238E27FC236}">
                <a16:creationId xmlns:a16="http://schemas.microsoft.com/office/drawing/2014/main" id="{B17AA209-EDFB-512C-1C3E-6D6B02EA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236" y="2147773"/>
            <a:ext cx="5375563" cy="2137064"/>
          </a:xfrm>
          <a:prstGeom prst="rect">
            <a:avLst/>
          </a:prstGeom>
        </p:spPr>
      </p:pic>
      <p:pic>
        <p:nvPicPr>
          <p:cNvPr id="9" name="Picture 8" descr="Root Cause Analysis : Meaning, Process, Benefits, Methods">
            <a:extLst>
              <a:ext uri="{FF2B5EF4-FFF2-40B4-BE49-F238E27FC236}">
                <a16:creationId xmlns:a16="http://schemas.microsoft.com/office/drawing/2014/main" id="{1BD35252-B7B6-1E1D-4813-D207B7173D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300" y="2234173"/>
            <a:ext cx="5521732" cy="2837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166EAB-BBFD-1FA6-BEB1-76015DBC5EBC}"/>
              </a:ext>
            </a:extLst>
          </p:cNvPr>
          <p:cNvSpPr txBox="1"/>
          <p:nvPr/>
        </p:nvSpPr>
        <p:spPr>
          <a:xfrm>
            <a:off x="6245166" y="548684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Symptoms → Complaints</a:t>
            </a:r>
            <a:br>
              <a:rPr lang="en-US" dirty="0"/>
            </a:br>
            <a:r>
              <a:rPr lang="en-US" dirty="0"/>
              <a:t>Root Cause → Process failure</a:t>
            </a:r>
          </a:p>
          <a:p>
            <a:pPr>
              <a:buNone/>
            </a:pPr>
            <a:r>
              <a:rPr lang="en-US" dirty="0"/>
              <a:t>This visual helps students understand </a:t>
            </a:r>
            <a:r>
              <a:rPr lang="en-US" b="1" dirty="0"/>
              <a:t>why analysis matters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3492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5 WHYS TECHNIQUE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8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4A85A2-6D53-35D3-92B2-28F8EA6C7EC4}"/>
              </a:ext>
            </a:extLst>
          </p:cNvPr>
          <p:cNvSpPr txBox="1"/>
          <p:nvPr/>
        </p:nvSpPr>
        <p:spPr>
          <a:xfrm>
            <a:off x="826294" y="1560787"/>
            <a:ext cx="6096000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Problem</a:t>
            </a:r>
          </a:p>
          <a:p>
            <a:pPr>
              <a:lnSpc>
                <a:spcPct val="150000"/>
              </a:lnSpc>
            </a:pPr>
            <a:r>
              <a:rPr lang="en-US" dirty="0"/>
              <a:t>Delivery taking too long.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Why 1</a:t>
            </a:r>
          </a:p>
          <a:p>
            <a:pPr>
              <a:lnSpc>
                <a:spcPct val="150000"/>
              </a:lnSpc>
            </a:pPr>
            <a:r>
              <a:rPr lang="en-US" dirty="0"/>
              <a:t>Why late?</a:t>
            </a:r>
          </a:p>
          <a:p>
            <a:pPr>
              <a:lnSpc>
                <a:spcPct val="150000"/>
              </a:lnSpc>
            </a:pPr>
            <a:r>
              <a:rPr lang="en-US" dirty="0"/>
              <a:t>→ Rider assigned late.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Why 2</a:t>
            </a:r>
          </a:p>
          <a:p>
            <a:pPr>
              <a:lnSpc>
                <a:spcPct val="150000"/>
              </a:lnSpc>
            </a:pPr>
            <a:r>
              <a:rPr lang="en-US" dirty="0"/>
              <a:t>Why rider assigned late?</a:t>
            </a:r>
          </a:p>
          <a:p>
            <a:pPr>
              <a:lnSpc>
                <a:spcPct val="150000"/>
              </a:lnSpc>
            </a:pPr>
            <a:r>
              <a:rPr lang="en-US" dirty="0"/>
              <a:t>→ Operations team assigns manually.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Why 3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Why manual assignment?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→ No automated system.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1B0F07-AC92-9077-1BB5-4FCCCDB60920}"/>
              </a:ext>
            </a:extLst>
          </p:cNvPr>
          <p:cNvSpPr txBox="1"/>
          <p:nvPr/>
        </p:nvSpPr>
        <p:spPr>
          <a:xfrm>
            <a:off x="5005386" y="2789427"/>
            <a:ext cx="6096000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Why 4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Why no automation?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→ Requirements unclear.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Why 5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Why unclear requirements?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→ Stakeholder discussions incomplete.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A03D0D-4600-AB0A-EE55-02E8FDED7952}"/>
              </a:ext>
            </a:extLst>
          </p:cNvPr>
          <p:cNvSpPr txBox="1"/>
          <p:nvPr/>
        </p:nvSpPr>
        <p:spPr>
          <a:xfrm>
            <a:off x="5791201" y="59210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Root Cause</a:t>
            </a:r>
          </a:p>
          <a:p>
            <a:pPr>
              <a:buNone/>
            </a:pPr>
            <a:r>
              <a:rPr lang="en-US" dirty="0"/>
              <a:t>Poor requirement discovery.</a:t>
            </a:r>
          </a:p>
        </p:txBody>
      </p:sp>
    </p:spTree>
    <p:extLst>
      <p:ext uri="{BB962C8B-B14F-4D97-AF65-F5344CB8AC3E}">
        <p14:creationId xmlns:p14="http://schemas.microsoft.com/office/powerpoint/2010/main" val="2516336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D1AA2-D452-8131-4A89-82E2B848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Using 5 Whys (5Y) Tool for the Root Cause Analysis">
            <a:extLst>
              <a:ext uri="{FF2B5EF4-FFF2-40B4-BE49-F238E27FC236}">
                <a16:creationId xmlns:a16="http://schemas.microsoft.com/office/drawing/2014/main" id="{1800F2AB-145A-3234-6356-172F8FB52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57944"/>
            <a:ext cx="8887691" cy="666576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5FABB-288E-B92E-145F-D92FC86B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14125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812" y="97155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FISHBONE DIAGRAM (CAUSE-EFFECT ANALYSIS)</a:t>
            </a:r>
            <a:endParaRPr lang="en-PK" sz="2800" b="1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8FF872-3F74-9D11-9993-D89E510CD887}"/>
              </a:ext>
            </a:extLst>
          </p:cNvPr>
          <p:cNvSpPr txBox="1"/>
          <p:nvPr/>
        </p:nvSpPr>
        <p:spPr>
          <a:xfrm>
            <a:off x="481012" y="2009701"/>
            <a:ext cx="6096000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— Delivery Delays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People:</a:t>
            </a:r>
            <a:br>
              <a:rPr lang="en-US" dirty="0"/>
            </a:br>
            <a:r>
              <a:rPr lang="en-US" dirty="0"/>
              <a:t>Untrained riders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Process:</a:t>
            </a:r>
            <a:br>
              <a:rPr lang="en-US" dirty="0"/>
            </a:br>
            <a:r>
              <a:rPr lang="en-US" dirty="0"/>
              <a:t>Manual dispatch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Technology:</a:t>
            </a:r>
            <a:br>
              <a:rPr lang="en-US" dirty="0"/>
            </a:br>
            <a:r>
              <a:rPr lang="en-US" dirty="0"/>
              <a:t>Slow app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Explain: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Problems often come from </a:t>
            </a:r>
            <a:r>
              <a:rPr lang="en-US" b="1" dirty="0"/>
              <a:t>multiple causes</a:t>
            </a:r>
            <a:r>
              <a:rPr lang="en-US" dirty="0"/>
              <a:t>.</a:t>
            </a:r>
          </a:p>
        </p:txBody>
      </p:sp>
      <p:pic>
        <p:nvPicPr>
          <p:cNvPr id="11" name="Picture 10" descr="How to draw a Cause and Effect diagram – Business Analysis Excellence">
            <a:extLst>
              <a:ext uri="{FF2B5EF4-FFF2-40B4-BE49-F238E27FC236}">
                <a16:creationId xmlns:a16="http://schemas.microsoft.com/office/drawing/2014/main" id="{7F24654C-A3BC-A285-AAD1-FEA87318A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904" y="1912707"/>
            <a:ext cx="6691745" cy="376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05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33054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GAP ANALYSIS (STRATEGIC IMPROVEMENT TOOL)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 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DA5BEF-283A-8B09-5495-DEFD9F5F12B8}"/>
              </a:ext>
            </a:extLst>
          </p:cNvPr>
          <p:cNvSpPr txBox="1"/>
          <p:nvPr/>
        </p:nvSpPr>
        <p:spPr>
          <a:xfrm>
            <a:off x="674052" y="982749"/>
            <a:ext cx="69965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Gap Analysis compares: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207A5D-68E0-7477-5499-6A2E91C6F4E4}"/>
              </a:ext>
            </a:extLst>
          </p:cNvPr>
          <p:cNvSpPr txBox="1"/>
          <p:nvPr/>
        </p:nvSpPr>
        <p:spPr>
          <a:xfrm>
            <a:off x="1614055" y="1222467"/>
            <a:ext cx="6996544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Current State (AS-IS)</a:t>
            </a:r>
          </a:p>
          <a:p>
            <a:pPr>
              <a:lnSpc>
                <a:spcPct val="150000"/>
              </a:lnSpc>
            </a:pPr>
            <a:r>
              <a:rPr lang="en-US" dirty="0"/>
              <a:t>        vs</a:t>
            </a:r>
          </a:p>
          <a:p>
            <a:pPr>
              <a:lnSpc>
                <a:spcPct val="150000"/>
              </a:lnSpc>
            </a:pPr>
            <a:r>
              <a:rPr lang="en-US" dirty="0"/>
              <a:t>Future State (TO-BE)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6D948F-346F-89EA-A36E-43B6736BD454}"/>
              </a:ext>
            </a:extLst>
          </p:cNvPr>
          <p:cNvSpPr txBox="1"/>
          <p:nvPr/>
        </p:nvSpPr>
        <p:spPr>
          <a:xfrm>
            <a:off x="674052" y="2388721"/>
            <a:ext cx="6996544" cy="21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Example — </a:t>
            </a:r>
            <a:r>
              <a:rPr lang="en-US" b="1" dirty="0" err="1"/>
              <a:t>QuickBasket</a:t>
            </a:r>
            <a:endParaRPr lang="en-US" b="1" dirty="0"/>
          </a:p>
          <a:p>
            <a:pPr>
              <a:lnSpc>
                <a:spcPct val="150000"/>
              </a:lnSpc>
              <a:buNone/>
            </a:pPr>
            <a:r>
              <a:rPr lang="en-US" dirty="0"/>
              <a:t>AS-IS: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WhatsApp orders.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TO-BE: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Mobile ordering system.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681D22-9F71-6F9C-5737-07A34E2E1928}"/>
              </a:ext>
            </a:extLst>
          </p:cNvPr>
          <p:cNvSpPr txBox="1"/>
          <p:nvPr/>
        </p:nvSpPr>
        <p:spPr>
          <a:xfrm>
            <a:off x="674052" y="4515585"/>
            <a:ext cx="6996544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Gap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Manual ordering process.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Visual Diagram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AS-IS → GAP → TO-BE</a:t>
            </a:r>
          </a:p>
        </p:txBody>
      </p:sp>
    </p:spTree>
    <p:extLst>
      <p:ext uri="{BB962C8B-B14F-4D97-AF65-F5344CB8AC3E}">
        <p14:creationId xmlns:p14="http://schemas.microsoft.com/office/powerpoint/2010/main" val="1428968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052" y="21304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BOTTLENECK IDENTIFICATION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12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ADB4EE-6A42-7F1C-E251-2D7A4EC90C9A}"/>
              </a:ext>
            </a:extLst>
          </p:cNvPr>
          <p:cNvSpPr txBox="1"/>
          <p:nvPr/>
        </p:nvSpPr>
        <p:spPr>
          <a:xfrm>
            <a:off x="674052" y="905499"/>
            <a:ext cx="7051962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Bottleneck = slowest step in workflow.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Example:</a:t>
            </a:r>
          </a:p>
          <a:p>
            <a:pPr rtl="0">
              <a:lnSpc>
                <a:spcPct val="150000"/>
              </a:lnSpc>
              <a:buNone/>
            </a:pPr>
            <a:r>
              <a:rPr lang="en-US" dirty="0">
                <a:latin typeface="Courier New" panose="02070309020205020404" pitchFamily="49" charset="0"/>
              </a:rPr>
              <a:t>Order → Payment → Assignment → Delivery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   ↑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      Bottleneck</a:t>
            </a: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🇵🇰 Example — University Admission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Student → Application → Verification → Approval → Admission.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Verification step takes 3 days.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That is the bottleneck.</a:t>
            </a: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🌎 Example — Tesla Production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Battery assembly slowed entire manufacturing.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Improving this step increased production.</a:t>
            </a:r>
          </a:p>
        </p:txBody>
      </p:sp>
      <p:pic>
        <p:nvPicPr>
          <p:cNvPr id="11" name="Picture 10" descr="Identifying Bottlenecks In The Workflow - FasterCapital">
            <a:extLst>
              <a:ext uri="{FF2B5EF4-FFF2-40B4-BE49-F238E27FC236}">
                <a16:creationId xmlns:a16="http://schemas.microsoft.com/office/drawing/2014/main" id="{27179B10-475F-B091-7DCA-03290F236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514" y="1753149"/>
            <a:ext cx="5440239" cy="305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17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56727"/>
            <a:ext cx="10515600" cy="847650"/>
          </a:xfrm>
        </p:spPr>
        <p:txBody>
          <a:bodyPr>
            <a:normAutofit fontScale="90000"/>
          </a:bodyPr>
          <a:lstStyle/>
          <a:p>
            <a:r>
              <a:rPr lang="en-US" dirty="0"/>
              <a:t>HOW BUSINESS ANALYSTS IDENTIFY BOTTLENECKS</a:t>
            </a:r>
            <a:br>
              <a:rPr lang="en-US" dirty="0"/>
            </a:b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13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997D84-037C-9A7A-2534-DD2BF717B91E}"/>
              </a:ext>
            </a:extLst>
          </p:cNvPr>
          <p:cNvSpPr txBox="1"/>
          <p:nvPr/>
        </p:nvSpPr>
        <p:spPr>
          <a:xfrm>
            <a:off x="826294" y="1404377"/>
            <a:ext cx="6096000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Look for / Practical Indicators: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✔ long wait times</a:t>
            </a:r>
            <a:br>
              <a:rPr lang="en-US" dirty="0"/>
            </a:br>
            <a:r>
              <a:rPr lang="en-US" dirty="0"/>
              <a:t>✔ repetitive work</a:t>
            </a:r>
            <a:br>
              <a:rPr lang="en-US" dirty="0"/>
            </a:br>
            <a:r>
              <a:rPr lang="en-US" dirty="0"/>
              <a:t>✔ manual approvals</a:t>
            </a:r>
            <a:br>
              <a:rPr lang="en-US" dirty="0"/>
            </a:br>
            <a:r>
              <a:rPr lang="en-US" dirty="0"/>
              <a:t>✔ dependency delays</a:t>
            </a:r>
          </a:p>
          <a:p>
            <a:pPr>
              <a:lnSpc>
                <a:spcPct val="150000"/>
              </a:lnSpc>
              <a:buNone/>
            </a:pP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Instructor Example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In software projects: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Design approval delays development.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Design stage becomes bottleneck.</a:t>
            </a:r>
          </a:p>
        </p:txBody>
      </p:sp>
    </p:spTree>
    <p:extLst>
      <p:ext uri="{BB962C8B-B14F-4D97-AF65-F5344CB8AC3E}">
        <p14:creationId xmlns:p14="http://schemas.microsoft.com/office/powerpoint/2010/main" val="2747938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95909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CASE STUDY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14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Workflow automation: Definition, tutorial, and tools">
            <a:extLst>
              <a:ext uri="{FF2B5EF4-FFF2-40B4-BE49-F238E27FC236}">
                <a16:creationId xmlns:a16="http://schemas.microsoft.com/office/drawing/2014/main" id="{39B1EECD-A988-AD0E-5EF2-160FB4E574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72080" y="3276600"/>
            <a:ext cx="3576320" cy="357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D5349-73D1-3028-4F55-74583A83BB3C}"/>
              </a:ext>
            </a:extLst>
          </p:cNvPr>
          <p:cNvSpPr txBox="1"/>
          <p:nvPr/>
        </p:nvSpPr>
        <p:spPr>
          <a:xfrm>
            <a:off x="684212" y="1457176"/>
            <a:ext cx="6096000" cy="4450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Scenario:</a:t>
            </a:r>
          </a:p>
          <a:p>
            <a:pPr>
              <a:lnSpc>
                <a:spcPct val="200000"/>
              </a:lnSpc>
              <a:buNone/>
            </a:pPr>
            <a:r>
              <a:rPr lang="en-US" dirty="0" err="1"/>
              <a:t>QuickBasket</a:t>
            </a:r>
            <a:r>
              <a:rPr lang="en-US" dirty="0"/>
              <a:t> Delivery System.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AS-IS: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Customer order → Ops assign rider → Rider delivers.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Students identify: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✔ Root cause</a:t>
            </a:r>
            <a:br>
              <a:rPr lang="en-US" dirty="0"/>
            </a:br>
            <a:r>
              <a:rPr lang="en-US" dirty="0"/>
              <a:t>✔ Bottleneck</a:t>
            </a:r>
            <a:br>
              <a:rPr lang="en-US" dirty="0"/>
            </a:br>
            <a:r>
              <a:rPr lang="en-US" dirty="0"/>
              <a:t>✔ Improvement.</a:t>
            </a:r>
          </a:p>
        </p:txBody>
      </p:sp>
      <p:pic>
        <p:nvPicPr>
          <p:cNvPr id="12" name="Picture 11" descr="Online food order and delivery process, vector infographics, diagram">
            <a:extLst>
              <a:ext uri="{FF2B5EF4-FFF2-40B4-BE49-F238E27FC236}">
                <a16:creationId xmlns:a16="http://schemas.microsoft.com/office/drawing/2014/main" id="{63061B87-CA78-3DFD-A2EE-4DA1E695C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300" y="746635"/>
            <a:ext cx="7772400" cy="221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14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692" y="398951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PROCESS IMPROVEMENT TECHNIQUES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15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CA4601-5469-061A-AA98-85EE43C5E6C9}"/>
              </a:ext>
            </a:extLst>
          </p:cNvPr>
          <p:cNvSpPr txBox="1"/>
          <p:nvPr/>
        </p:nvSpPr>
        <p:spPr>
          <a:xfrm>
            <a:off x="711993" y="1045258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1️⃣ Automation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/>
              <a:t>Online payments replacing manual cash.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2️⃣ Simplification</a:t>
            </a:r>
          </a:p>
          <a:p>
            <a:pPr>
              <a:buNone/>
            </a:pPr>
            <a:r>
              <a:rPr lang="en-US" dirty="0"/>
              <a:t>Reduce unnecessary steps.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>
              <a:buNone/>
            </a:pPr>
            <a:r>
              <a:rPr lang="en-US" dirty="0"/>
              <a:t>3 approval layers → 1 approval.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3️⃣ Parallel Processing</a:t>
            </a:r>
          </a:p>
          <a:p>
            <a:r>
              <a:rPr lang="en-US" dirty="0"/>
              <a:t>Multiple tasks happen simultaneously.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Payment verification while preparing order.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4️⃣ Standardization</a:t>
            </a:r>
          </a:p>
          <a:p>
            <a:r>
              <a:rPr lang="en-US" dirty="0"/>
              <a:t>Create consistent workflows.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Customer service scripts.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A2AFF1-6C54-B505-A665-682D6CE737FE}"/>
              </a:ext>
            </a:extLst>
          </p:cNvPr>
          <p:cNvSpPr txBox="1"/>
          <p:nvPr/>
        </p:nvSpPr>
        <p:spPr>
          <a:xfrm>
            <a:off x="5257799" y="1045258"/>
            <a:ext cx="609600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Industry Example (Relatable)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Uber driver matching.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Old process: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Manual dispatch.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New process: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AI auto matching.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Improvement: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Faster ride allocation.</a:t>
            </a:r>
          </a:p>
        </p:txBody>
      </p:sp>
      <p:pic>
        <p:nvPicPr>
          <p:cNvPr id="15" name="Picture 14" descr="12 ways to apply process optimization to your business">
            <a:extLst>
              <a:ext uri="{FF2B5EF4-FFF2-40B4-BE49-F238E27FC236}">
                <a16:creationId xmlns:a16="http://schemas.microsoft.com/office/drawing/2014/main" id="{854213DA-0DF7-37E2-C3B8-AA0AD8492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329" y="2313232"/>
            <a:ext cx="3571113" cy="372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666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9FED-CB5A-2675-1E7F-FC53BF05A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492" y="454660"/>
            <a:ext cx="10515600" cy="847650"/>
          </a:xfrm>
        </p:spPr>
        <p:txBody>
          <a:bodyPr>
            <a:normAutofit/>
          </a:bodyPr>
          <a:lstStyle/>
          <a:p>
            <a:r>
              <a:rPr lang="en-US" dirty="0"/>
              <a:t>COMMON MISTAKES STUDENTS MAKE</a:t>
            </a:r>
            <a:endParaRPr lang="en-PK" dirty="0">
              <a:solidFill>
                <a:schemeClr val="bg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16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F4ED64-BC27-3C6B-72E7-B3B2A5D985B4}"/>
              </a:ext>
            </a:extLst>
          </p:cNvPr>
          <p:cNvSpPr txBox="1"/>
          <p:nvPr/>
        </p:nvSpPr>
        <p:spPr>
          <a:xfrm>
            <a:off x="826294" y="1205635"/>
            <a:ext cx="6096000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❌ Jumping to tech solutions immediately.</a:t>
            </a:r>
          </a:p>
          <a:p>
            <a:pPr>
              <a:lnSpc>
                <a:spcPct val="200000"/>
              </a:lnSpc>
            </a:pPr>
            <a:r>
              <a:rPr lang="en-US" dirty="0"/>
              <a:t>❌ Ignoring human workflow.</a:t>
            </a:r>
          </a:p>
          <a:p>
            <a:pPr>
              <a:lnSpc>
                <a:spcPct val="200000"/>
              </a:lnSpc>
            </a:pPr>
            <a:r>
              <a:rPr lang="en-US" dirty="0"/>
              <a:t>❌ Fixing symptoms instead of root causes.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Teach:</a:t>
            </a:r>
          </a:p>
          <a:p>
            <a:pPr>
              <a:lnSpc>
                <a:spcPct val="200000"/>
              </a:lnSpc>
            </a:pPr>
            <a:r>
              <a:rPr lang="en-US" dirty="0"/>
              <a:t>First analyze process → then improve.</a:t>
            </a:r>
          </a:p>
        </p:txBody>
      </p:sp>
    </p:spTree>
    <p:extLst>
      <p:ext uri="{BB962C8B-B14F-4D97-AF65-F5344CB8AC3E}">
        <p14:creationId xmlns:p14="http://schemas.microsoft.com/office/powerpoint/2010/main" val="261600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F7D4-3F5D-8705-8DFA-37475F63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TO DATA ANALYTICS (PREVIEW WEEK 9)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64768-8BEF-F959-A99B-3ACDCFB4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17</a:t>
            </a:fld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D9EE4-FF27-74E4-EEB7-AE93629B3165}"/>
              </a:ext>
            </a:extLst>
          </p:cNvPr>
          <p:cNvSpPr txBox="1"/>
          <p:nvPr/>
        </p:nvSpPr>
        <p:spPr>
          <a:xfrm>
            <a:off x="838200" y="1715195"/>
            <a:ext cx="6096000" cy="444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Explain: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Process improvement relies on </a:t>
            </a:r>
            <a:r>
              <a:rPr lang="en-US" b="1" dirty="0"/>
              <a:t>data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Examples: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Delivery time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Order volume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complaints</a:t>
            </a:r>
          </a:p>
          <a:p>
            <a:pPr>
              <a:lnSpc>
                <a:spcPct val="200000"/>
              </a:lnSpc>
              <a:buNone/>
            </a:pPr>
            <a:r>
              <a:rPr lang="en-US" dirty="0"/>
              <a:t>Analytics reveals bottlenecks.</a:t>
            </a:r>
          </a:p>
          <a:p>
            <a:pPr>
              <a:lnSpc>
                <a:spcPct val="200000"/>
              </a:lnSpc>
              <a:buNone/>
            </a:pPr>
            <a:r>
              <a:rPr lang="en-US" u="sng" dirty="0"/>
              <a:t>Next week </a:t>
            </a:r>
            <a:r>
              <a:rPr lang="en-US" dirty="0"/>
              <a:t>students learn this.</a:t>
            </a:r>
          </a:p>
        </p:txBody>
      </p:sp>
      <p:pic>
        <p:nvPicPr>
          <p:cNvPr id="7" name="Picture 4" descr="Download HD 55 Pm 52458 Fast University ...">
            <a:extLst>
              <a:ext uri="{FF2B5EF4-FFF2-40B4-BE49-F238E27FC236}">
                <a16:creationId xmlns:a16="http://schemas.microsoft.com/office/drawing/2014/main" id="{E3827A05-9283-2EB8-8875-5EC594375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7BD5847-40A6-81CC-599D-169AE9F79A66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9D2B6-D48D-9F00-BBEA-EF4BB5A081B9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2332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851E-5558-BB31-4AB1-D0253850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844E-02BE-1BFF-C63A-2F6B8C50C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CLASSROOM WORKSHOP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3CC8C-ADA1-12D8-E226-050E1B56E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18</a:t>
            </a:fld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8FC444-E27A-E94E-6CBD-282031BC0B0B}"/>
              </a:ext>
            </a:extLst>
          </p:cNvPr>
          <p:cNvSpPr txBox="1"/>
          <p:nvPr/>
        </p:nvSpPr>
        <p:spPr>
          <a:xfrm>
            <a:off x="838200" y="1715195"/>
            <a:ext cx="6096000" cy="389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Divide class into groups.</a:t>
            </a:r>
          </a:p>
          <a:p>
            <a:pPr>
              <a:lnSpc>
                <a:spcPct val="200000"/>
              </a:lnSpc>
            </a:pPr>
            <a:r>
              <a:rPr lang="en-US" dirty="0"/>
              <a:t>Scenario:</a:t>
            </a:r>
          </a:p>
          <a:p>
            <a:pPr>
              <a:lnSpc>
                <a:spcPct val="200000"/>
              </a:lnSpc>
            </a:pPr>
            <a:r>
              <a:rPr lang="en-US" dirty="0"/>
              <a:t>University course registration.</a:t>
            </a:r>
          </a:p>
          <a:p>
            <a:pPr>
              <a:lnSpc>
                <a:spcPct val="200000"/>
              </a:lnSpc>
            </a:pPr>
            <a:r>
              <a:rPr lang="en-US" dirty="0"/>
              <a:t>Students must:</a:t>
            </a:r>
          </a:p>
          <a:p>
            <a:pPr>
              <a:lnSpc>
                <a:spcPct val="200000"/>
              </a:lnSpc>
            </a:pPr>
            <a:r>
              <a:rPr lang="en-US" dirty="0"/>
              <a:t>✔ Identify bottleneck</a:t>
            </a:r>
            <a:br>
              <a:rPr lang="en-US" dirty="0"/>
            </a:br>
            <a:r>
              <a:rPr lang="en-US" dirty="0"/>
              <a:t>✔ Perform 5 Whys</a:t>
            </a:r>
            <a:br>
              <a:rPr lang="en-US" dirty="0"/>
            </a:br>
            <a:r>
              <a:rPr lang="en-US" dirty="0"/>
              <a:t>✔ Suggest TO-BE process.</a:t>
            </a:r>
          </a:p>
        </p:txBody>
      </p:sp>
      <p:pic>
        <p:nvPicPr>
          <p:cNvPr id="7" name="Picture 4" descr="Download HD 55 Pm 52458 Fast University ...">
            <a:extLst>
              <a:ext uri="{FF2B5EF4-FFF2-40B4-BE49-F238E27FC236}">
                <a16:creationId xmlns:a16="http://schemas.microsoft.com/office/drawing/2014/main" id="{5BBB0D35-3462-D8FF-2E87-B02B10A66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27BFEAA-0A83-EC42-2A98-28AB4528D55C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277EEE-DAB5-927D-0307-113385F1C120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C1F12-0332-B691-7144-9A20E8B658FF}"/>
              </a:ext>
            </a:extLst>
          </p:cNvPr>
          <p:cNvSpPr txBox="1"/>
          <p:nvPr/>
        </p:nvSpPr>
        <p:spPr>
          <a:xfrm>
            <a:off x="6096000" y="4442798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/>
              <a:t>“What step takes longest?”</a:t>
            </a:r>
          </a:p>
          <a:p>
            <a:pPr>
              <a:lnSpc>
                <a:spcPct val="150000"/>
              </a:lnSpc>
              <a:buNone/>
            </a:pPr>
            <a:r>
              <a:rPr lang="en-US" dirty="0"/>
              <a:t>“Can tasks run in parallel?”</a:t>
            </a:r>
          </a:p>
        </p:txBody>
      </p:sp>
    </p:spTree>
    <p:extLst>
      <p:ext uri="{BB962C8B-B14F-4D97-AF65-F5344CB8AC3E}">
        <p14:creationId xmlns:p14="http://schemas.microsoft.com/office/powerpoint/2010/main" val="2856566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F4B08-83D1-07B1-A14C-3728742F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8B22-358B-6CE9-2589-AD4789872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D34A2-F474-B510-EB72-0ADB43FB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19</a:t>
            </a:fld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5C4763-9679-A147-4AFF-A86E691F8FCF}"/>
              </a:ext>
            </a:extLst>
          </p:cNvPr>
          <p:cNvSpPr txBox="1"/>
          <p:nvPr/>
        </p:nvSpPr>
        <p:spPr>
          <a:xfrm>
            <a:off x="838200" y="1715195"/>
            <a:ext cx="6096000" cy="278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✔ Root Cause Analysis identifies real problems</a:t>
            </a:r>
            <a:br>
              <a:rPr lang="en-US" dirty="0"/>
            </a:br>
            <a:r>
              <a:rPr lang="en-US" dirty="0"/>
              <a:t>✔ Gap Analysis guides transformation</a:t>
            </a:r>
            <a:br>
              <a:rPr lang="en-US" dirty="0"/>
            </a:br>
            <a:r>
              <a:rPr lang="en-US" dirty="0"/>
              <a:t>✔ Bottlenecks slow entire process</a:t>
            </a:r>
            <a:br>
              <a:rPr lang="en-US" dirty="0"/>
            </a:br>
            <a:r>
              <a:rPr lang="en-US" dirty="0"/>
              <a:t>✔ Process improvement increases efficiency</a:t>
            </a:r>
            <a:br>
              <a:rPr lang="en-US" dirty="0"/>
            </a:br>
            <a:r>
              <a:rPr lang="en-US" dirty="0"/>
              <a:t>✔ Business Analysts drive operational optimization</a:t>
            </a:r>
          </a:p>
        </p:txBody>
      </p:sp>
      <p:pic>
        <p:nvPicPr>
          <p:cNvPr id="7" name="Picture 4" descr="Download HD 55 Pm 52458 Fast University ...">
            <a:extLst>
              <a:ext uri="{FF2B5EF4-FFF2-40B4-BE49-F238E27FC236}">
                <a16:creationId xmlns:a16="http://schemas.microsoft.com/office/drawing/2014/main" id="{0270ECFC-6A1E-A7F3-CC75-67A77D51A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84A8611-5C26-920F-A480-98393036CB63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57A31-83DF-E14C-6AAF-0AE8F3BF63F4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3773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6902-2E1C-9A3A-E0FD-D40BB553C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68B48F-CC93-999E-F782-F02B318D8BE7}"/>
              </a:ext>
            </a:extLst>
          </p:cNvPr>
          <p:cNvSpPr/>
          <p:nvPr/>
        </p:nvSpPr>
        <p:spPr>
          <a:xfrm>
            <a:off x="-1" y="6562724"/>
            <a:ext cx="5005387" cy="30003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2ED117-36EF-5865-1070-6B51DA07061D}"/>
              </a:ext>
            </a:extLst>
          </p:cNvPr>
          <p:cNvSpPr/>
          <p:nvPr/>
        </p:nvSpPr>
        <p:spPr>
          <a:xfrm>
            <a:off x="5005387" y="6753225"/>
            <a:ext cx="3833814" cy="1000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A8FEC-ACC6-59AC-B944-9E5874AE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5646D-91FE-4030-A7F0-07F651F9A7F3}" type="slidenum">
              <a:rPr lang="en-PK" smtClean="0"/>
              <a:t>20</a:t>
            </a:fld>
            <a:endParaRPr lang="en-PK"/>
          </a:p>
        </p:txBody>
      </p:sp>
      <p:pic>
        <p:nvPicPr>
          <p:cNvPr id="8" name="Picture 4" descr="Download HD 55 Pm 52458 Fast University ...">
            <a:extLst>
              <a:ext uri="{FF2B5EF4-FFF2-40B4-BE49-F238E27FC236}">
                <a16:creationId xmlns:a16="http://schemas.microsoft.com/office/drawing/2014/main" id="{1D39AB7B-B058-231B-1E62-A2380D989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8012" y="238125"/>
            <a:ext cx="1171575" cy="449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829CBDE3-0AB1-BFBA-5BF0-B58E0BB19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600" y="1650911"/>
            <a:ext cx="10764550" cy="2204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“Many companies automate broken processes — which only makes problems faster.”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“Process improvement often costs less than building new technology.”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“The best BAs solve problems before they become expensive.”</a:t>
            </a:r>
          </a:p>
        </p:txBody>
      </p:sp>
    </p:spTree>
    <p:extLst>
      <p:ext uri="{BB962C8B-B14F-4D97-AF65-F5344CB8AC3E}">
        <p14:creationId xmlns:p14="http://schemas.microsoft.com/office/powerpoint/2010/main" val="271983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28493</TotalTime>
  <Words>875</Words>
  <Application>Microsoft Macintosh PowerPoint</Application>
  <PresentationFormat>Widescreen</PresentationFormat>
  <Paragraphs>199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BUSINESS ANALYTICS  Introduction to Business Analytics and Core Business Functions</vt:lpstr>
      <vt:lpstr>Learning Objectives – WEEK 8 </vt:lpstr>
      <vt:lpstr>LAST WEEK  </vt:lpstr>
      <vt:lpstr>WHAT IS PROCESS IMPROVEMENT?  </vt:lpstr>
      <vt:lpstr>PowerPoint Presentation</vt:lpstr>
      <vt:lpstr>ROOT CAUSE ANALYSIS (CORE BA SKILL)</vt:lpstr>
      <vt:lpstr>5 WHYS TECHNIQUE</vt:lpstr>
      <vt:lpstr>PowerPoint Presentation</vt:lpstr>
      <vt:lpstr>FISHBONE DIAGRAM (CAUSE-EFFECT ANALYSIS)</vt:lpstr>
      <vt:lpstr>GAP ANALYSIS (STRATEGIC IMPROVEMENT TOOL) </vt:lpstr>
      <vt:lpstr>BOTTLENECK IDENTIFICATION</vt:lpstr>
      <vt:lpstr>HOW BUSINESS ANALYSTS IDENTIFY BOTTLENECKS </vt:lpstr>
      <vt:lpstr>CASE STUDY</vt:lpstr>
      <vt:lpstr>PROCESS IMPROVEMENT TECHNIQUES</vt:lpstr>
      <vt:lpstr>COMMON MISTAKES STUDENTS MAKE</vt:lpstr>
      <vt:lpstr>LINK TO DATA ANALYTICS (PREVIEW WEEK 9)</vt:lpstr>
      <vt:lpstr>CLASSROOM WORKSHOP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DEVELOPING HORIZONTAL LINKAGES WITH OTHER GOVERNMENT DEPARTMENTS</dc:title>
  <dc:creator>Mufeeza Iqbal</dc:creator>
  <cp:lastModifiedBy>Moiz Shah</cp:lastModifiedBy>
  <cp:revision>147</cp:revision>
  <dcterms:created xsi:type="dcterms:W3CDTF">2024-06-09T07:08:43Z</dcterms:created>
  <dcterms:modified xsi:type="dcterms:W3CDTF">2026-03-28T10:38:28Z</dcterms:modified>
</cp:coreProperties>
</file>