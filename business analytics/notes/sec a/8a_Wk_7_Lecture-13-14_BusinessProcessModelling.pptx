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4">
  <p:sldMasterIdLst>
    <p:sldMasterId id="2147483648" r:id="rId1"/>
  </p:sldMasterIdLst>
  <p:notesMasterIdLst>
    <p:notesMasterId r:id="rId20"/>
  </p:notesMasterIdLst>
  <p:sldIdLst>
    <p:sldId id="256" r:id="rId2"/>
    <p:sldId id="345" r:id="rId3"/>
    <p:sldId id="357" r:id="rId4"/>
    <p:sldId id="347" r:id="rId5"/>
    <p:sldId id="360" r:id="rId6"/>
    <p:sldId id="381" r:id="rId7"/>
    <p:sldId id="375" r:id="rId8"/>
    <p:sldId id="371" r:id="rId9"/>
    <p:sldId id="374" r:id="rId10"/>
    <p:sldId id="363" r:id="rId11"/>
    <p:sldId id="376" r:id="rId12"/>
    <p:sldId id="369" r:id="rId13"/>
    <p:sldId id="377" r:id="rId14"/>
    <p:sldId id="382" r:id="rId15"/>
    <p:sldId id="364" r:id="rId16"/>
    <p:sldId id="365" r:id="rId17"/>
    <p:sldId id="378" r:id="rId18"/>
    <p:sldId id="380" r:id="rId19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ufeeza Iqbal" initials="MI" lastIdx="1" clrIdx="0">
    <p:extLst>
      <p:ext uri="{19B8F6BF-5375-455C-9EA6-DF929625EA0E}">
        <p15:presenceInfo xmlns:p15="http://schemas.microsoft.com/office/powerpoint/2012/main" userId="Mufeeza Iqbal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675C4"/>
    <a:srgbClr val="D4E5F7"/>
    <a:srgbClr val="E3EEFD"/>
    <a:srgbClr val="BAE2D1"/>
    <a:srgbClr val="ECF3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16" autoAdjust="0"/>
    <p:restoredTop sz="94729"/>
  </p:normalViewPr>
  <p:slideViewPr>
    <p:cSldViewPr snapToGrid="0">
      <p:cViewPr varScale="1">
        <p:scale>
          <a:sx n="93" d="100"/>
          <a:sy n="93" d="100"/>
        </p:scale>
        <p:origin x="224" y="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iz Ali" userId="f5d92abebf1a8182" providerId="LiveId" clId="{1D29D2DF-8AFD-5E4B-B438-1B9FE838644C}"/>
    <pc:docChg chg="modSld">
      <pc:chgData name="Moiz Ali" userId="f5d92abebf1a8182" providerId="LiveId" clId="{1D29D2DF-8AFD-5E4B-B438-1B9FE838644C}" dt="2026-03-28T10:39:20.165" v="11" actId="20577"/>
      <pc:docMkLst>
        <pc:docMk/>
      </pc:docMkLst>
      <pc:sldChg chg="modNotesTx">
        <pc:chgData name="Moiz Ali" userId="f5d92abebf1a8182" providerId="LiveId" clId="{1D29D2DF-8AFD-5E4B-B438-1B9FE838644C}" dt="2026-03-28T10:38:40.541" v="1" actId="20577"/>
        <pc:sldMkLst>
          <pc:docMk/>
          <pc:sldMk cId="3706582229" sldId="347"/>
        </pc:sldMkLst>
      </pc:sldChg>
      <pc:sldChg chg="modNotesTx">
        <pc:chgData name="Moiz Ali" userId="f5d92abebf1a8182" providerId="LiveId" clId="{1D29D2DF-8AFD-5E4B-B438-1B9FE838644C}" dt="2026-03-28T10:38:37.532" v="0" actId="20577"/>
        <pc:sldMkLst>
          <pc:docMk/>
          <pc:sldMk cId="1620906448" sldId="357"/>
        </pc:sldMkLst>
      </pc:sldChg>
      <pc:sldChg chg="modNotesTx">
        <pc:chgData name="Moiz Ali" userId="f5d92abebf1a8182" providerId="LiveId" clId="{1D29D2DF-8AFD-5E4B-B438-1B9FE838644C}" dt="2026-03-28T10:38:43.893" v="2" actId="20577"/>
        <pc:sldMkLst>
          <pc:docMk/>
          <pc:sldMk cId="21022313" sldId="360"/>
        </pc:sldMkLst>
      </pc:sldChg>
      <pc:sldChg chg="modNotesTx">
        <pc:chgData name="Moiz Ali" userId="f5d92abebf1a8182" providerId="LiveId" clId="{1D29D2DF-8AFD-5E4B-B438-1B9FE838644C}" dt="2026-03-28T10:39:14.249" v="9" actId="20577"/>
        <pc:sldMkLst>
          <pc:docMk/>
          <pc:sldMk cId="962672365" sldId="365"/>
        </pc:sldMkLst>
      </pc:sldChg>
      <pc:sldChg chg="modNotesTx">
        <pc:chgData name="Moiz Ali" userId="f5d92abebf1a8182" providerId="LiveId" clId="{1D29D2DF-8AFD-5E4B-B438-1B9FE838644C}" dt="2026-03-28T10:38:53.257" v="5" actId="20577"/>
        <pc:sldMkLst>
          <pc:docMk/>
          <pc:sldMk cId="2516336401" sldId="371"/>
        </pc:sldMkLst>
      </pc:sldChg>
      <pc:sldChg chg="modNotesTx">
        <pc:chgData name="Moiz Ali" userId="f5d92abebf1a8182" providerId="LiveId" clId="{1D29D2DF-8AFD-5E4B-B438-1B9FE838644C}" dt="2026-03-28T10:38:56.845" v="6" actId="20577"/>
        <pc:sldMkLst>
          <pc:docMk/>
          <pc:sldMk cId="1572805326" sldId="374"/>
        </pc:sldMkLst>
      </pc:sldChg>
      <pc:sldChg chg="modNotesTx">
        <pc:chgData name="Moiz Ali" userId="f5d92abebf1a8182" providerId="LiveId" clId="{1D29D2DF-8AFD-5E4B-B438-1B9FE838644C}" dt="2026-03-28T10:38:50.652" v="4" actId="20577"/>
        <pc:sldMkLst>
          <pc:docMk/>
          <pc:sldMk cId="1083492549" sldId="375"/>
        </pc:sldMkLst>
      </pc:sldChg>
      <pc:sldChg chg="modNotesTx">
        <pc:chgData name="Moiz Ali" userId="f5d92abebf1a8182" providerId="LiveId" clId="{1D29D2DF-8AFD-5E4B-B438-1B9FE838644C}" dt="2026-03-28T10:39:05.545" v="7" actId="20577"/>
        <pc:sldMkLst>
          <pc:docMk/>
          <pc:sldMk cId="1786454272" sldId="377"/>
        </pc:sldMkLst>
      </pc:sldChg>
      <pc:sldChg chg="modNotesTx">
        <pc:chgData name="Moiz Ali" userId="f5d92abebf1a8182" providerId="LiveId" clId="{1D29D2DF-8AFD-5E4B-B438-1B9FE838644C}" dt="2026-03-28T10:39:17.034" v="10" actId="20577"/>
        <pc:sldMkLst>
          <pc:docMk/>
          <pc:sldMk cId="261600335" sldId="378"/>
        </pc:sldMkLst>
      </pc:sldChg>
      <pc:sldChg chg="modNotesTx">
        <pc:chgData name="Moiz Ali" userId="f5d92abebf1a8182" providerId="LiveId" clId="{1D29D2DF-8AFD-5E4B-B438-1B9FE838644C}" dt="2026-03-28T10:39:20.165" v="11" actId="20577"/>
        <pc:sldMkLst>
          <pc:docMk/>
          <pc:sldMk cId="271983639" sldId="380"/>
        </pc:sldMkLst>
      </pc:sldChg>
      <pc:sldChg chg="modNotesTx">
        <pc:chgData name="Moiz Ali" userId="f5d92abebf1a8182" providerId="LiveId" clId="{1D29D2DF-8AFD-5E4B-B438-1B9FE838644C}" dt="2026-03-28T10:38:47.308" v="3" actId="20577"/>
        <pc:sldMkLst>
          <pc:docMk/>
          <pc:sldMk cId="840735988" sldId="381"/>
        </pc:sldMkLst>
      </pc:sldChg>
      <pc:sldChg chg="modNotesTx">
        <pc:chgData name="Moiz Ali" userId="f5d92abebf1a8182" providerId="LiveId" clId="{1D29D2DF-8AFD-5E4B-B438-1B9FE838644C}" dt="2026-03-28T10:39:09.399" v="8" actId="20577"/>
        <pc:sldMkLst>
          <pc:docMk/>
          <pc:sldMk cId="1255614144" sldId="38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AA3216-91D5-43D0-B205-F0CBF00F2A3B}" type="datetimeFigureOut">
              <a:rPr lang="en-PK" smtClean="0"/>
              <a:t>3/28/26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88AE2D-6C56-4B4B-AC93-0FCEBED5A4D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092021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3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8357254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4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8250057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5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3256300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6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2778406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7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0646806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8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6945131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9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6532402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10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4509614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11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8153836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12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1261251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13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1719415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14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4371768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15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0900755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16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8133460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17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94979440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18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8970344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392AE-3475-5519-9CD2-B3813CA2A3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P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9BC997-4B8A-9709-FA3F-2812ED29EB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EDD1C2-A443-3425-F1A3-450EEF2D6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0BE24-4914-473D-86E2-D4EE0B0E90C7}" type="datetime8">
              <a:rPr lang="en-PK" smtClean="0"/>
              <a:t>3/28/26 3:38 PM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BE2A3E-9208-EDCE-DEBB-4D9337367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7EF72C-8D9E-F888-7543-7E09C4BFD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9700944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99ADE-7B08-A01C-72DF-FE9993CEE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 b="1" i="0" baseline="0">
                <a:solidFill>
                  <a:srgbClr val="0070C0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607FC3-A55A-4A8D-FCDC-D328082DEE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EEBE8E-9BB1-B225-5B4C-55AEA4E7F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9EF77-D47F-4BB1-86E4-5F455460BD9C}" type="datetime8">
              <a:rPr lang="en-PK" smtClean="0"/>
              <a:t>3/28/26 3:38 PM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5AE679-F999-E1F9-0F77-DEA6D7131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77F485-BD67-E327-64C3-D7E71B9E5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9104249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EA042-DF09-56BB-8638-29DBAD388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1508DB-FFA7-6D03-67FA-3EF149A1B8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14BE1E-EE08-ACCC-1271-2F5E25CAF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1A5AA-2A6E-43F2-9F30-AF7EED5FA600}" type="datetime8">
              <a:rPr lang="en-PK" smtClean="0"/>
              <a:t>3/28/26 3:38 PM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D9D85B-5C96-E835-D822-93C86F783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1899E9-E472-DD15-F881-200436473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0103720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27FCC-3AE3-0214-F9D4-FCB15D614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 b="1" i="0" baseline="0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07161E-F706-1674-13DB-BACD472317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K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CA0A05-46B6-960E-7368-B2CE54CC3B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639986-E720-F1B7-36F9-B2708004C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E2CB0-8F81-407D-9308-759F0E533D95}" type="datetime8">
              <a:rPr lang="en-PK" smtClean="0"/>
              <a:t>3/28/26 3:38 PM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8C3A9C-BA81-3B68-288D-EB7FD47FF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EAEAC4-C699-2232-BD98-7252DC5E1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606244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4A8C3-75DD-1313-ABA5-5D3FFA02C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2800" b="1" i="0" baseline="0">
                <a:solidFill>
                  <a:srgbClr val="0070C0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77D5B1-50C2-CF91-9D88-610914E272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35284C-0315-C6F1-CA04-F3E219D15F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47C534-C2F2-A37B-C431-9DF8A42B31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AA4DAB-49CA-2EFC-9842-564884678C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4688EE-799F-3F23-A121-4F674361A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FBD63-32C8-45D6-BE9D-408F278BE9C8}" type="datetime8">
              <a:rPr lang="en-PK" smtClean="0"/>
              <a:t>3/28/26 3:38 PM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E4848C-55D2-9A77-36F1-FAD52DCB0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5D59BD-56E3-4753-6C9F-3B1F4CE0B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9303089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AC4B4-FA75-C85D-E743-3DB6E5DB7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 b="1" i="0" baseline="0">
                <a:solidFill>
                  <a:srgbClr val="0070C0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PK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DF645E-1294-7708-0DA4-EDA61782F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7C61-2664-45A8-9CA0-D9D546B35364}" type="datetime8">
              <a:rPr lang="en-PK" smtClean="0"/>
              <a:t>3/28/26 3:38 PM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69AFA9-8467-3A28-7BFF-CA12EF3CA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D24441-1E31-6A33-D8E8-781D599AD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292362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B7448-39E8-68A0-B712-84409BF4E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 b="1" i="0" baseline="0">
                <a:solidFill>
                  <a:srgbClr val="0070C0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PK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243484-DEAD-0EB1-DC5F-24E6FD4BA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78C6A-94B1-48CD-B95C-7BBCF06B539F}" type="datetime8">
              <a:rPr lang="en-PK" smtClean="0"/>
              <a:t>3/28/26 3:38 PM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F8FE36-0300-3AD8-5E95-41E333E18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CC0281-9CE6-90B4-45F9-D9D954D12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092040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053CB-8CBB-A3DD-2AD9-1CA378510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F21173-6A64-ACDD-90B1-F466FBD621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611703-8264-01ED-8E5E-06DFA98EE8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925018-0F9D-E6A7-30D4-FA1B94922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5620F-E5D6-45BD-ABE4-D3E73AEC1059}" type="datetime8">
              <a:rPr lang="en-PK" smtClean="0"/>
              <a:t>3/28/26 3:38 PM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9345B6-DE39-4DE7-B63A-020AA0C25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77E181-66A9-8AF7-8FC6-FD18E1778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8218844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9E283-232A-203F-BE7E-C1FAB1898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344E88-2CB0-6548-1689-37B5CD1D82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C45364-9FD1-5237-6F05-3CD9FF28E6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A0F029-9EDC-16AD-E233-F72153868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36677-69CF-4F57-B961-69869666485F}" type="datetime8">
              <a:rPr lang="en-PK" smtClean="0"/>
              <a:t>3/28/26 3:38 PM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6EAD10-9813-FA15-7AA3-F311C1514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593DEC-A834-573B-8137-57A252A1E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553929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B6A8F-48A0-C1A4-C992-787E5B87A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 b="1" i="0" baseline="0">
                <a:solidFill>
                  <a:srgbClr val="0070C0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PK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85B7C4-4FCF-3883-BC91-FDBC338D9E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E4F67A-FCF1-D4E4-E162-793DEACCA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FB392-8D81-42DB-9470-C0982980A208}" type="datetime8">
              <a:rPr lang="en-PK" smtClean="0"/>
              <a:t>3/28/26 3:38 PM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D6A201-A7CA-71B8-8718-9897B03FE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9A3F33-5AA9-E112-2ABF-79F547887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6268487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D59074-43DC-F3A1-F847-B382DA9986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F3AC57-AF5B-EC7C-207D-DD87813931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95FF8A-8F6C-7460-66BD-36FE94B2C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8CE2D-4511-4580-808C-44E58A6F6871}" type="datetime8">
              <a:rPr lang="en-PK" smtClean="0"/>
              <a:t>3/28/26 3:38 PM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BE7764-4D16-A8A5-2DA2-548355B8B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DDCA92-473C-706D-5019-016D87F1B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2298022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5FF33B-CB98-4E49-F470-FDEB20A1B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95A451-6F13-E99E-AA74-118FE07054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7D6080-894B-699D-C377-9FCB24BB49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8247E1-80FA-4B68-AED4-FB0D556219B2}" type="datetime8">
              <a:rPr lang="en-PK" smtClean="0"/>
              <a:t>3/28/26 3:38 PM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1F34FF-7C89-DFB6-0D18-88EA7A4B3B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908851-096B-57D1-721E-52D426BA69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95646D-91FE-4030-A7F0-07F651F9A7F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506824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60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9D80B44-5D51-DEB9-139E-D6588E08DCEE}"/>
              </a:ext>
            </a:extLst>
          </p:cNvPr>
          <p:cNvSpPr/>
          <p:nvPr/>
        </p:nvSpPr>
        <p:spPr>
          <a:xfrm>
            <a:off x="-1" y="6553199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0A358E0-F332-E7D0-E6FF-67C0C524EC5E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CC7347E-773E-501C-BBCD-F143B41F9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1</a:t>
            </a:fld>
            <a:endParaRPr lang="en-PK"/>
          </a:p>
        </p:txBody>
      </p:sp>
      <p:pic>
        <p:nvPicPr>
          <p:cNvPr id="1028" name="Picture 4" descr="Download HD 55 Pm 52458 Fast University ...">
            <a:extLst>
              <a:ext uri="{FF2B5EF4-FFF2-40B4-BE49-F238E27FC236}">
                <a16:creationId xmlns:a16="http://schemas.microsoft.com/office/drawing/2014/main" id="{7C0E69E7-0624-E377-FC31-A9DAAD9B9B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Blue Abstract Data Analysis Technology Background, Blue, Abstract ...">
            <a:extLst>
              <a:ext uri="{FF2B5EF4-FFF2-40B4-BE49-F238E27FC236}">
                <a16:creationId xmlns:a16="http://schemas.microsoft.com/office/drawing/2014/main" id="{AE2E633B-B89B-2AD6-B235-B52FC21A3B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-1"/>
            <a:ext cx="12192001" cy="6853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1500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A8744-A704-1C59-1304-02055AF7C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6E56C57-21E3-F72F-1B57-E9FD05DDB415}"/>
              </a:ext>
            </a:extLst>
          </p:cNvPr>
          <p:cNvSpPr/>
          <p:nvPr/>
        </p:nvSpPr>
        <p:spPr>
          <a:xfrm>
            <a:off x="-1" y="6553199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D03E08-0EA6-164B-E5C0-0ABD98254645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C9F7046-524C-B6E2-F233-6AA93275F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2</a:t>
            </a:fld>
            <a:endParaRPr lang="en-PK"/>
          </a:p>
        </p:txBody>
      </p:sp>
      <p:pic>
        <p:nvPicPr>
          <p:cNvPr id="1028" name="Picture 4" descr="Download HD 55 Pm 52458 Fast University ...">
            <a:extLst>
              <a:ext uri="{FF2B5EF4-FFF2-40B4-BE49-F238E27FC236}">
                <a16:creationId xmlns:a16="http://schemas.microsoft.com/office/drawing/2014/main" id="{715E161C-5FF5-7252-A206-A10477B0B4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itle 4">
            <a:extLst>
              <a:ext uri="{FF2B5EF4-FFF2-40B4-BE49-F238E27FC236}">
                <a16:creationId xmlns:a16="http://schemas.microsoft.com/office/drawing/2014/main" id="{4FA3E7AE-A2AD-D117-25F2-EA3F62B700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2006" y="687984"/>
            <a:ext cx="9144000" cy="299720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BUSINESS ANALYTICS</a:t>
            </a:r>
            <a:br>
              <a:rPr lang="en-US" dirty="0">
                <a:solidFill>
                  <a:schemeClr val="bg1"/>
                </a:solidFill>
              </a:rPr>
            </a:br>
            <a:br>
              <a:rPr lang="en-US" dirty="0">
                <a:solidFill>
                  <a:schemeClr val="bg1"/>
                </a:solidFill>
              </a:rPr>
            </a:br>
            <a:r>
              <a:rPr lang="en-US" sz="4400" dirty="0">
                <a:solidFill>
                  <a:schemeClr val="bg1"/>
                </a:solidFill>
              </a:rPr>
              <a:t>Introduction to Business Analytics and Core Business Functions</a:t>
            </a:r>
            <a:endParaRPr lang="en-PK" dirty="0">
              <a:solidFill>
                <a:schemeClr val="bg1"/>
              </a:solidFill>
            </a:endParaRPr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05E0D16E-2E56-B97C-A39A-BD2DC36A3359}"/>
              </a:ext>
            </a:extLst>
          </p:cNvPr>
          <p:cNvSpPr txBox="1">
            <a:spLocks/>
          </p:cNvSpPr>
          <p:nvPr/>
        </p:nvSpPr>
        <p:spPr>
          <a:xfrm>
            <a:off x="964406" y="840384"/>
            <a:ext cx="9144000" cy="29972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BUSINESS ANALYSIS</a:t>
            </a:r>
            <a:br>
              <a:rPr lang="en-US" dirty="0"/>
            </a:br>
            <a:br>
              <a:rPr lang="en-US" dirty="0"/>
            </a:br>
            <a:r>
              <a:rPr lang="en-US" sz="4000" dirty="0"/>
              <a:t>Business Process Modeling</a:t>
            </a:r>
            <a:endParaRPr lang="en-PK" sz="4000" dirty="0"/>
          </a:p>
        </p:txBody>
      </p:sp>
      <p:pic>
        <p:nvPicPr>
          <p:cNvPr id="5" name="Picture 4" descr="3d Analyst Working On Business Analytics Dashboard With Kpi ...">
            <a:extLst>
              <a:ext uri="{FF2B5EF4-FFF2-40B4-BE49-F238E27FC236}">
                <a16:creationId xmlns:a16="http://schemas.microsoft.com/office/drawing/2014/main" id="{55A10BB7-3531-CC3A-305B-1101C4343D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4856" y="2949575"/>
            <a:ext cx="3771900" cy="377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2180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741F9-C6FD-1E39-BD7F-93E026F55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812" y="971550"/>
            <a:ext cx="10515600" cy="84765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Learning Objectives – WEEK 7</a:t>
            </a:r>
            <a:br>
              <a:rPr lang="en-US" sz="2800" b="1" dirty="0">
                <a:solidFill>
                  <a:schemeClr val="bg2">
                    <a:lumMod val="50000"/>
                  </a:schemeClr>
                </a:solidFill>
                <a:latin typeface="+mn-lt"/>
              </a:rPr>
            </a:br>
            <a:endParaRPr lang="en-PK" sz="2800" b="1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CCE4D-95E9-6FB6-ED27-6AA4627A29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102766"/>
            <a:ext cx="10515600" cy="36274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By the end of today you should be able to: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Define a business process in real-world terms</a:t>
            </a:r>
          </a:p>
          <a:p>
            <a:r>
              <a:rPr lang="en-US" sz="2400" dirty="0"/>
              <a:t>Translate requirements into visual workflows</a:t>
            </a:r>
          </a:p>
          <a:p>
            <a:r>
              <a:rPr lang="en-US" sz="2400" dirty="0"/>
              <a:t>Build AS-IS and TO-BE diagrams</a:t>
            </a:r>
          </a:p>
          <a:p>
            <a:r>
              <a:rPr lang="en-US" sz="2400" dirty="0"/>
              <a:t>Understand Flowcharts vs BPMN</a:t>
            </a:r>
          </a:p>
          <a:p>
            <a:r>
              <a:rPr lang="en-US" sz="2400" dirty="0"/>
              <a:t>Use Swim-lanes to show stakeholder responsibilities</a:t>
            </a:r>
          </a:p>
          <a:p>
            <a:endParaRPr lang="en-US" sz="20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C24661-1429-04BE-6E64-7D554BED14A1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4F29413-F335-2DA5-47CF-A2EC49D47E62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33593E-E656-4749-0FCA-C58FDE336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3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DC946E10-9E58-EF2D-6D0E-8116B41ED2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0" name="Picture 2">
            <a:extLst>
              <a:ext uri="{FF2B5EF4-FFF2-40B4-BE49-F238E27FC236}">
                <a16:creationId xmlns:a16="http://schemas.microsoft.com/office/drawing/2014/main" id="{207E6FA1-0F3A-98FC-B8D2-0120858E20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33572" y="3429000"/>
            <a:ext cx="2468880" cy="2468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09064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A6902-2E1C-9A3A-E0FD-D40BB553C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39FED-CB5A-2675-1E7F-FC53BF05A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294" y="968797"/>
            <a:ext cx="10515600" cy="449859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LAST WEEK</a:t>
            </a:r>
            <a:br>
              <a:rPr lang="en-US" dirty="0">
                <a:solidFill>
                  <a:schemeClr val="bg2">
                    <a:lumMod val="50000"/>
                  </a:schemeClr>
                </a:solidFill>
                <a:latin typeface="+mn-lt"/>
              </a:rPr>
            </a:br>
            <a:br>
              <a:rPr lang="en-US" sz="4400" b="1" dirty="0">
                <a:solidFill>
                  <a:schemeClr val="bg2">
                    <a:lumMod val="50000"/>
                  </a:schemeClr>
                </a:solidFill>
                <a:latin typeface="+mn-lt"/>
              </a:rPr>
            </a:br>
            <a:endParaRPr lang="en-PK" sz="12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68B48F-CC93-999E-F782-F02B318D8BE7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2ED117-36EF-5865-1070-6B51DA07061D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A8FEC-ACC6-59AC-B944-9E5874AEA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4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1D39AB7B-B058-231B-1E62-A2380D9893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67C6773-C7D6-73F7-1812-E4BA72617305}"/>
              </a:ext>
            </a:extLst>
          </p:cNvPr>
          <p:cNvSpPr txBox="1"/>
          <p:nvPr/>
        </p:nvSpPr>
        <p:spPr>
          <a:xfrm>
            <a:off x="826294" y="1609158"/>
            <a:ext cx="8317706" cy="4998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dirty="0"/>
              <a:t>Last week we documented requirements:</a:t>
            </a:r>
          </a:p>
          <a:p>
            <a:pPr>
              <a:lnSpc>
                <a:spcPct val="200000"/>
              </a:lnSpc>
            </a:pPr>
            <a:r>
              <a:rPr lang="en-US" dirty="0"/>
              <a:t>✔ BRD</a:t>
            </a:r>
            <a:br>
              <a:rPr lang="en-US" dirty="0"/>
            </a:br>
            <a:r>
              <a:rPr lang="en-US" dirty="0"/>
              <a:t>✔ SRS</a:t>
            </a:r>
            <a:br>
              <a:rPr lang="en-US" dirty="0"/>
            </a:br>
            <a:r>
              <a:rPr lang="en-US" dirty="0"/>
              <a:t>✔ User Stories</a:t>
            </a:r>
            <a:br>
              <a:rPr lang="en-US" dirty="0"/>
            </a:br>
            <a:r>
              <a:rPr lang="en-US" dirty="0"/>
              <a:t>✔ Acceptance Criteria</a:t>
            </a:r>
          </a:p>
          <a:p>
            <a:pPr>
              <a:lnSpc>
                <a:spcPct val="200000"/>
              </a:lnSpc>
            </a:pPr>
            <a:br>
              <a:rPr lang="en-US" dirty="0"/>
            </a:br>
            <a:r>
              <a:rPr lang="en-US" dirty="0"/>
              <a:t>“Developers, designers, and stakeholders understand diagrams faster than long paragraphs</a:t>
            </a:r>
            <a:br>
              <a:rPr lang="en-US" dirty="0"/>
            </a:br>
            <a:r>
              <a:rPr lang="en-US" dirty="0"/>
              <a:t>👉 Today we </a:t>
            </a:r>
            <a:r>
              <a:rPr lang="en-US" b="1" dirty="0"/>
              <a:t>visualize</a:t>
            </a:r>
            <a:r>
              <a:rPr lang="en-US" dirty="0"/>
              <a:t> those requirements.</a:t>
            </a:r>
          </a:p>
        </p:txBody>
      </p:sp>
    </p:spTree>
    <p:extLst>
      <p:ext uri="{BB962C8B-B14F-4D97-AF65-F5344CB8AC3E}">
        <p14:creationId xmlns:p14="http://schemas.microsoft.com/office/powerpoint/2010/main" val="37065822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A6902-2E1C-9A3A-E0FD-D40BB553C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39FED-CB5A-2675-1E7F-FC53BF05A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812" y="971550"/>
            <a:ext cx="10515600" cy="84765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WHAT IS A BUSINESS PROCESS?</a:t>
            </a:r>
            <a:br>
              <a:rPr lang="en-US" b="1" dirty="0"/>
            </a:br>
            <a:br>
              <a:rPr lang="en-US" sz="2800" b="1" dirty="0">
                <a:solidFill>
                  <a:schemeClr val="bg2">
                    <a:lumMod val="50000"/>
                  </a:schemeClr>
                </a:solidFill>
                <a:latin typeface="+mn-lt"/>
              </a:rPr>
            </a:br>
            <a:endParaRPr lang="en-PK" sz="2800" b="1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68B48F-CC93-999E-F782-F02B318D8BE7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2ED117-36EF-5865-1070-6B51DA07061D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A8FEC-ACC6-59AC-B944-9E5874AEA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5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1D39AB7B-B058-231B-1E62-A2380D9893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9909615-B88E-5AD4-2E91-C4E96A53D387}"/>
              </a:ext>
            </a:extLst>
          </p:cNvPr>
          <p:cNvSpPr txBox="1"/>
          <p:nvPr/>
        </p:nvSpPr>
        <p:spPr>
          <a:xfrm>
            <a:off x="890588" y="1410765"/>
            <a:ext cx="8253412" cy="880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A Business Process is:</a:t>
            </a:r>
          </a:p>
          <a:p>
            <a:pPr>
              <a:lnSpc>
                <a:spcPct val="150000"/>
              </a:lnSpc>
            </a:pPr>
            <a:r>
              <a:rPr lang="en-US" dirty="0"/>
              <a:t>A structured sequence of tasks performed by people and systems to deliver value.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6AE5AF-0062-2FB1-89A1-24E3224A9A7A}"/>
              </a:ext>
            </a:extLst>
          </p:cNvPr>
          <p:cNvSpPr txBox="1"/>
          <p:nvPr/>
        </p:nvSpPr>
        <p:spPr>
          <a:xfrm>
            <a:off x="890588" y="2636469"/>
            <a:ext cx="4114798" cy="25423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PK" b="1" dirty="0"/>
              <a:t>🇵🇰 </a:t>
            </a:r>
            <a:r>
              <a:rPr lang="en-US" b="1" dirty="0"/>
              <a:t>Pakistan Example — </a:t>
            </a:r>
            <a:r>
              <a:rPr lang="en-US" b="1" dirty="0" err="1"/>
              <a:t>Daraz</a:t>
            </a:r>
            <a:endParaRPr lang="en-US" b="1" dirty="0"/>
          </a:p>
          <a:p>
            <a:pPr>
              <a:lnSpc>
                <a:spcPct val="150000"/>
              </a:lnSpc>
            </a:pPr>
            <a:r>
              <a:rPr lang="en-US" dirty="0"/>
              <a:t>Customer → Vendor → Warehouse → Rider → Delivery.</a:t>
            </a:r>
          </a:p>
          <a:p>
            <a:pPr>
              <a:lnSpc>
                <a:spcPct val="150000"/>
              </a:lnSpc>
            </a:pPr>
            <a:r>
              <a:rPr lang="en-US" dirty="0"/>
              <a:t>Explain:</a:t>
            </a:r>
          </a:p>
          <a:p>
            <a:pPr>
              <a:lnSpc>
                <a:spcPct val="150000"/>
              </a:lnSpc>
            </a:pPr>
            <a:r>
              <a:rPr lang="en-US" dirty="0"/>
              <a:t>Even though app exists, real process involves multiple departments.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DE1AE52-8265-26A4-15DC-7266866F663C}"/>
              </a:ext>
            </a:extLst>
          </p:cNvPr>
          <p:cNvSpPr txBox="1"/>
          <p:nvPr/>
        </p:nvSpPr>
        <p:spPr>
          <a:xfrm>
            <a:off x="5562600" y="2702780"/>
            <a:ext cx="3833814" cy="21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🌎 International Example — Netflix Signup</a:t>
            </a:r>
          </a:p>
          <a:p>
            <a:pPr>
              <a:lnSpc>
                <a:spcPct val="150000"/>
              </a:lnSpc>
            </a:pPr>
            <a:r>
              <a:rPr lang="en-US" dirty="0"/>
              <a:t>User → Payment Gateway → Recommendation Engine → Account Creation.</a:t>
            </a:r>
          </a:p>
        </p:txBody>
      </p:sp>
    </p:spTree>
    <p:extLst>
      <p:ext uri="{BB962C8B-B14F-4D97-AF65-F5344CB8AC3E}">
        <p14:creationId xmlns:p14="http://schemas.microsoft.com/office/powerpoint/2010/main" val="210223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A6902-2E1C-9A3A-E0FD-D40BB553C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39FED-CB5A-2675-1E7F-FC53BF05A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812" y="971550"/>
            <a:ext cx="10515600" cy="84765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WHAT IS A BUSINESS PROCESS?</a:t>
            </a:r>
            <a:br>
              <a:rPr lang="en-US" b="1" dirty="0"/>
            </a:br>
            <a:br>
              <a:rPr lang="en-US" sz="2800" b="1" dirty="0">
                <a:solidFill>
                  <a:schemeClr val="bg2">
                    <a:lumMod val="50000"/>
                  </a:schemeClr>
                </a:solidFill>
                <a:latin typeface="+mn-lt"/>
              </a:rPr>
            </a:br>
            <a:endParaRPr lang="en-PK" sz="2800" b="1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68B48F-CC93-999E-F782-F02B318D8BE7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2ED117-36EF-5865-1070-6B51DA07061D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A8FEC-ACC6-59AC-B944-9E5874AEA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6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1D39AB7B-B058-231B-1E62-A2380D9893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Workflow Diagram Examples and Tips | Smartsheet">
            <a:extLst>
              <a:ext uri="{FF2B5EF4-FFF2-40B4-BE49-F238E27FC236}">
                <a16:creationId xmlns:a16="http://schemas.microsoft.com/office/drawing/2014/main" id="{FFC6AAB6-7416-3977-A91A-1291283A95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4960" y="1508088"/>
            <a:ext cx="7620000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07359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A6902-2E1C-9A3A-E0FD-D40BB553C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39FED-CB5A-2675-1E7F-FC53BF05A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812" y="971550"/>
            <a:ext cx="10515600" cy="84765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WHY PROCESS MODELING MATTERS (INDUSTRY REALITY)</a:t>
            </a:r>
            <a:br>
              <a:rPr lang="en-US" b="1" dirty="0"/>
            </a:br>
            <a:br>
              <a:rPr lang="en-US" sz="2800" b="1" dirty="0">
                <a:solidFill>
                  <a:schemeClr val="bg2">
                    <a:lumMod val="50000"/>
                  </a:schemeClr>
                </a:solidFill>
                <a:latin typeface="+mn-lt"/>
              </a:rPr>
            </a:br>
            <a:endParaRPr lang="en-PK" sz="2800" b="1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68B48F-CC93-999E-F782-F02B318D8BE7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2ED117-36EF-5865-1070-6B51DA07061D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A8FEC-ACC6-59AC-B944-9E5874AEA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7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1D39AB7B-B058-231B-1E62-A2380D9893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F8543E4-BEF0-D966-807C-8DB664CD1B4B}"/>
              </a:ext>
            </a:extLst>
          </p:cNvPr>
          <p:cNvSpPr txBox="1"/>
          <p:nvPr/>
        </p:nvSpPr>
        <p:spPr>
          <a:xfrm>
            <a:off x="785812" y="1502601"/>
            <a:ext cx="4842828" cy="17095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Without process models:</a:t>
            </a:r>
          </a:p>
          <a:p>
            <a:pPr>
              <a:lnSpc>
                <a:spcPct val="150000"/>
              </a:lnSpc>
            </a:pPr>
            <a:r>
              <a:rPr lang="en-US" dirty="0"/>
              <a:t>❌ Developers misunderstand workflows</a:t>
            </a:r>
            <a:br>
              <a:rPr lang="en-US" dirty="0"/>
            </a:br>
            <a:r>
              <a:rPr lang="en-US" dirty="0"/>
              <a:t>❌ Stakeholders assume different steps</a:t>
            </a:r>
            <a:br>
              <a:rPr lang="en-US" dirty="0"/>
            </a:br>
            <a:r>
              <a:rPr lang="en-US" dirty="0"/>
              <a:t>❌ QA tests wrong scenarios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A79F915-5685-9E86-608B-ABBE2E8EB546}"/>
              </a:ext>
            </a:extLst>
          </p:cNvPr>
          <p:cNvSpPr txBox="1"/>
          <p:nvPr/>
        </p:nvSpPr>
        <p:spPr>
          <a:xfrm>
            <a:off x="826294" y="3645893"/>
            <a:ext cx="6096000" cy="25423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Real Scenario </a:t>
            </a:r>
          </a:p>
          <a:p>
            <a:pPr>
              <a:lnSpc>
                <a:spcPct val="150000"/>
              </a:lnSpc>
            </a:pPr>
            <a:endParaRPr lang="en-US" b="1" dirty="0"/>
          </a:p>
          <a:p>
            <a:pPr>
              <a:lnSpc>
                <a:spcPct val="150000"/>
              </a:lnSpc>
            </a:pPr>
            <a:r>
              <a:rPr lang="en-US" dirty="0"/>
              <a:t>Client says:</a:t>
            </a:r>
          </a:p>
          <a:p>
            <a:pPr>
              <a:lnSpc>
                <a:spcPct val="150000"/>
              </a:lnSpc>
            </a:pPr>
            <a:r>
              <a:rPr lang="en-US" dirty="0"/>
              <a:t>“Feature missing.”</a:t>
            </a:r>
          </a:p>
          <a:p>
            <a:pPr>
              <a:lnSpc>
                <a:spcPct val="150000"/>
              </a:lnSpc>
            </a:pPr>
            <a:r>
              <a:rPr lang="en-US" dirty="0"/>
              <a:t>BA shows process diagram → stakeholder realizes they forgot to request it.</a:t>
            </a:r>
          </a:p>
        </p:txBody>
      </p:sp>
      <p:pic>
        <p:nvPicPr>
          <p:cNvPr id="6146" name="Picture 2" descr="Client And Consultant Engagement Process Flow Diagram PPT Example">
            <a:extLst>
              <a:ext uri="{FF2B5EF4-FFF2-40B4-BE49-F238E27FC236}">
                <a16:creationId xmlns:a16="http://schemas.microsoft.com/office/drawing/2014/main" id="{6291A8D6-A8DF-9368-846D-DBF2CB44D5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0631" y="1623340"/>
            <a:ext cx="6538956" cy="3678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34925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A6902-2E1C-9A3A-E0FD-D40BB553C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39FED-CB5A-2675-1E7F-FC53BF05A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812" y="971550"/>
            <a:ext cx="10515600" cy="84765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AS-IS Modeling (Current State)</a:t>
            </a:r>
            <a:br>
              <a:rPr lang="en-US" b="1" dirty="0"/>
            </a:br>
            <a:br>
              <a:rPr lang="en-US" sz="2800" b="1" dirty="0">
                <a:solidFill>
                  <a:schemeClr val="bg2">
                    <a:lumMod val="50000"/>
                  </a:schemeClr>
                </a:solidFill>
                <a:latin typeface="+mn-lt"/>
              </a:rPr>
            </a:br>
            <a:endParaRPr lang="en-PK" sz="2800" b="1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68B48F-CC93-999E-F782-F02B318D8BE7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2ED117-36EF-5865-1070-6B51DA07061D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A8FEC-ACC6-59AC-B944-9E5874AEA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8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1D39AB7B-B058-231B-1E62-A2380D9893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24A85A2-6D53-35D3-92B2-28F8EA6C7EC4}"/>
              </a:ext>
            </a:extLst>
          </p:cNvPr>
          <p:cNvSpPr txBox="1"/>
          <p:nvPr/>
        </p:nvSpPr>
        <p:spPr>
          <a:xfrm>
            <a:off x="826294" y="17334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AS-IS = How work happens today.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0975EC8-2CD8-2B1C-4B15-70099908F007}"/>
              </a:ext>
            </a:extLst>
          </p:cNvPr>
          <p:cNvSpPr txBox="1"/>
          <p:nvPr/>
        </p:nvSpPr>
        <p:spPr>
          <a:xfrm>
            <a:off x="826294" y="3244334"/>
            <a:ext cx="41790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K" sz="2000" b="1" dirty="0"/>
              <a:t>🇵🇰 </a:t>
            </a:r>
            <a:r>
              <a:rPr lang="en-US" sz="2000" b="1" dirty="0" err="1"/>
              <a:t>QuickBasket</a:t>
            </a:r>
            <a:r>
              <a:rPr lang="en-US" sz="2000" b="1" dirty="0"/>
              <a:t> Example</a:t>
            </a:r>
            <a:endParaRPr lang="en-PK" sz="20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4475C17-B5F8-F0B3-635B-5C768CF24167}"/>
              </a:ext>
            </a:extLst>
          </p:cNvPr>
          <p:cNvSpPr txBox="1"/>
          <p:nvPr/>
        </p:nvSpPr>
        <p:spPr>
          <a:xfrm>
            <a:off x="711200" y="3914329"/>
            <a:ext cx="47650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Customer WhatsApp → Operations assign rider manually → Delivery</a:t>
            </a:r>
            <a:endParaRPr lang="en-PK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7EEEF91-E750-66F1-72A1-29EDB1E923C3}"/>
              </a:ext>
            </a:extLst>
          </p:cNvPr>
          <p:cNvSpPr txBox="1"/>
          <p:nvPr/>
        </p:nvSpPr>
        <p:spPr>
          <a:xfrm>
            <a:off x="711200" y="4706009"/>
            <a:ext cx="4409440" cy="1711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Problems: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Delays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Human error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No tracking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153CA5B-B887-68C7-0A73-FF9724786286}"/>
              </a:ext>
            </a:extLst>
          </p:cNvPr>
          <p:cNvSpPr txBox="1"/>
          <p:nvPr/>
        </p:nvSpPr>
        <p:spPr>
          <a:xfrm>
            <a:off x="785812" y="2297340"/>
            <a:ext cx="6096000" cy="880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Purpose:</a:t>
            </a:r>
          </a:p>
          <a:p>
            <a:pPr>
              <a:lnSpc>
                <a:spcPct val="150000"/>
              </a:lnSpc>
            </a:pPr>
            <a:r>
              <a:rPr lang="en-US" dirty="0"/>
              <a:t>Identify inefficiencies, delays, manual tasks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FF793E7D-3617-D965-5F3C-605C52F865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1313" y="1335766"/>
            <a:ext cx="6580687" cy="4988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63364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A6902-2E1C-9A3A-E0FD-D40BB553C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39FED-CB5A-2675-1E7F-FC53BF05A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812" y="971550"/>
            <a:ext cx="10515600" cy="84765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TO-BE MODELING (FUTURE STATE)</a:t>
            </a:r>
            <a:br>
              <a:rPr lang="en-US" b="1" dirty="0"/>
            </a:br>
            <a:br>
              <a:rPr lang="en-US" sz="2800" b="1" dirty="0">
                <a:solidFill>
                  <a:schemeClr val="bg2">
                    <a:lumMod val="50000"/>
                  </a:schemeClr>
                </a:solidFill>
                <a:latin typeface="+mn-lt"/>
              </a:rPr>
            </a:br>
            <a:endParaRPr lang="en-PK" sz="2800" b="1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68B48F-CC93-999E-F782-F02B318D8BE7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2ED117-36EF-5865-1070-6B51DA07061D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A8FEC-ACC6-59AC-B944-9E5874AEA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9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1D39AB7B-B058-231B-1E62-A2380D9893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1F6051A-E6AC-0625-4226-8E822FCDAFC0}"/>
              </a:ext>
            </a:extLst>
          </p:cNvPr>
          <p:cNvSpPr txBox="1"/>
          <p:nvPr/>
        </p:nvSpPr>
        <p:spPr>
          <a:xfrm>
            <a:off x="785812" y="148161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TO-BE = Optimized process after improvement</a:t>
            </a:r>
            <a:endParaRPr lang="en-PK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E8179F-696E-40DF-A907-2185F310925A}"/>
              </a:ext>
            </a:extLst>
          </p:cNvPr>
          <p:cNvSpPr txBox="1"/>
          <p:nvPr/>
        </p:nvSpPr>
        <p:spPr>
          <a:xfrm>
            <a:off x="785812" y="2460675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K" sz="1600" dirty="0"/>
              <a:t>Customer App → Auto Payment → Auto Rider Assignment → Live Tracking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F18EBD1-C6F8-59D8-D7A4-779AE995D898}"/>
              </a:ext>
            </a:extLst>
          </p:cNvPr>
          <p:cNvSpPr txBox="1"/>
          <p:nvPr/>
        </p:nvSpPr>
        <p:spPr>
          <a:xfrm>
            <a:off x="785812" y="210276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Example</a:t>
            </a:r>
            <a:r>
              <a:rPr lang="en-US" dirty="0"/>
              <a:t>:</a:t>
            </a:r>
            <a:endParaRPr lang="en-PK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4A00F76-4A44-F31B-BE79-AAB5FDC7D462}"/>
              </a:ext>
            </a:extLst>
          </p:cNvPr>
          <p:cNvSpPr txBox="1"/>
          <p:nvPr/>
        </p:nvSpPr>
        <p:spPr>
          <a:xfrm>
            <a:off x="785812" y="3362882"/>
            <a:ext cx="6096000" cy="1711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Teaching insight:</a:t>
            </a:r>
            <a:br>
              <a:rPr lang="en-US" dirty="0"/>
            </a:br>
            <a:r>
              <a:rPr lang="en-US" dirty="0"/>
              <a:t>AS-IS shows pain.</a:t>
            </a:r>
            <a:br>
              <a:rPr lang="en-US" dirty="0"/>
            </a:br>
            <a:r>
              <a:rPr lang="en-US" dirty="0"/>
              <a:t>TO-BE shows solution.</a:t>
            </a:r>
          </a:p>
          <a:p>
            <a:pPr>
              <a:lnSpc>
                <a:spcPct val="150000"/>
              </a:lnSpc>
            </a:pPr>
            <a:r>
              <a:rPr lang="en-US" dirty="0"/>
              <a:t>This prepares students for Week 8 (Process Improvement).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83A0BC0-9102-CA49-06E2-1580C688E775}"/>
              </a:ext>
            </a:extLst>
          </p:cNvPr>
          <p:cNvSpPr txBox="1"/>
          <p:nvPr/>
        </p:nvSpPr>
        <p:spPr>
          <a:xfrm>
            <a:off x="6096000" y="6107211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“This concept becomes critical when we discuss process improvement next week”</a:t>
            </a:r>
            <a:endParaRPr lang="en-PK" sz="1400" dirty="0"/>
          </a:p>
        </p:txBody>
      </p:sp>
      <p:pic>
        <p:nvPicPr>
          <p:cNvPr id="8194" name="Picture 2" descr="Business Process Reengineering (BPR) in ERP | by Sifat Khan | Medium">
            <a:extLst>
              <a:ext uri="{FF2B5EF4-FFF2-40B4-BE49-F238E27FC236}">
                <a16:creationId xmlns:a16="http://schemas.microsoft.com/office/drawing/2014/main" id="{50497D80-3579-184E-A7F4-BA75640FBC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732" y="1318129"/>
            <a:ext cx="5622188" cy="4216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28053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A6902-2E1C-9A3A-E0FD-D40BB553C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39FED-CB5A-2675-1E7F-FC53BF05A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052" y="330540"/>
            <a:ext cx="10515600" cy="84765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FLOWCHARTS </a:t>
            </a:r>
            <a:endParaRPr lang="en-PK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68B48F-CC93-999E-F782-F02B318D8BE7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2ED117-36EF-5865-1070-6B51DA07061D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1D39AB7B-B058-231B-1E62-A2380D9893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A038C76B-E614-CBD6-028E-37E1FBC040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2890700"/>
              </p:ext>
            </p:extLst>
          </p:nvPr>
        </p:nvGraphicFramePr>
        <p:xfrm>
          <a:off x="674052" y="1723771"/>
          <a:ext cx="6355080" cy="2103120"/>
        </p:xfrm>
        <a:graphic>
          <a:graphicData uri="http://schemas.openxmlformats.org/drawingml/2006/table">
            <a:tbl>
              <a:tblPr/>
              <a:tblGrid>
                <a:gridCol w="2118360">
                  <a:extLst>
                    <a:ext uri="{9D8B030D-6E8A-4147-A177-3AD203B41FA5}">
                      <a16:colId xmlns:a16="http://schemas.microsoft.com/office/drawing/2014/main" val="4049316472"/>
                    </a:ext>
                  </a:extLst>
                </a:gridCol>
                <a:gridCol w="2118360">
                  <a:extLst>
                    <a:ext uri="{9D8B030D-6E8A-4147-A177-3AD203B41FA5}">
                      <a16:colId xmlns:a16="http://schemas.microsoft.com/office/drawing/2014/main" val="165265522"/>
                    </a:ext>
                  </a:extLst>
                </a:gridCol>
                <a:gridCol w="2118360">
                  <a:extLst>
                    <a:ext uri="{9D8B030D-6E8A-4147-A177-3AD203B41FA5}">
                      <a16:colId xmlns:a16="http://schemas.microsoft.com/office/drawing/2014/main" val="298417962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Shape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Teaching Tip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669167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Oval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Start/End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Always begin &amp; finish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054541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Rectangle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Task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Action happens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03555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Diamond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Decision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Yes/No branch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29394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Arrow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Direction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8604394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98A1C6E8-9357-1D14-C9D7-6EA915F5585B}"/>
              </a:ext>
            </a:extLst>
          </p:cNvPr>
          <p:cNvSpPr txBox="1"/>
          <p:nvPr/>
        </p:nvSpPr>
        <p:spPr>
          <a:xfrm>
            <a:off x="674052" y="3992273"/>
            <a:ext cx="3491548" cy="1295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🇵🇰 Example — Careem Ride Flow</a:t>
            </a:r>
          </a:p>
          <a:p>
            <a:pPr>
              <a:lnSpc>
                <a:spcPct val="150000"/>
              </a:lnSpc>
            </a:pPr>
            <a:r>
              <a:rPr lang="en-US" dirty="0"/>
              <a:t>Start → Enter Location → Driver Available? → Confirm Ride → End.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352C6D1-E724-8D77-CF4E-38E6AC612A08}"/>
              </a:ext>
            </a:extLst>
          </p:cNvPr>
          <p:cNvSpPr txBox="1"/>
          <p:nvPr/>
        </p:nvSpPr>
        <p:spPr>
          <a:xfrm>
            <a:off x="674052" y="5490191"/>
            <a:ext cx="6096000" cy="880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Common Beginner Mistake</a:t>
            </a:r>
          </a:p>
          <a:p>
            <a:pPr>
              <a:lnSpc>
                <a:spcPct val="150000"/>
              </a:lnSpc>
            </a:pPr>
            <a:r>
              <a:rPr lang="en-US" dirty="0"/>
              <a:t>Students create linear flows without decisions.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75CF416-1892-F4A1-6CC5-3B263E4B0F7F}"/>
              </a:ext>
            </a:extLst>
          </p:cNvPr>
          <p:cNvSpPr txBox="1"/>
          <p:nvPr/>
        </p:nvSpPr>
        <p:spPr>
          <a:xfrm>
            <a:off x="674052" y="116708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Flowcharts are the simplest way to represent processes</a:t>
            </a:r>
            <a:endParaRPr lang="en-PK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CDC6798-669E-A2B4-2589-E88DE2E2CAEE}"/>
              </a:ext>
            </a:extLst>
          </p:cNvPr>
          <p:cNvSpPr txBox="1"/>
          <p:nvPr/>
        </p:nvSpPr>
        <p:spPr>
          <a:xfrm>
            <a:off x="7894320" y="5962134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Real processes always include decisions</a:t>
            </a:r>
            <a:endParaRPr lang="en-PK" sz="1400" dirty="0"/>
          </a:p>
        </p:txBody>
      </p:sp>
      <p:pic>
        <p:nvPicPr>
          <p:cNvPr id="1026" name="Picture 2" descr="Understand Business Process Modeling | Hyland">
            <a:extLst>
              <a:ext uri="{FF2B5EF4-FFF2-40B4-BE49-F238E27FC236}">
                <a16:creationId xmlns:a16="http://schemas.microsoft.com/office/drawing/2014/main" id="{C2D06848-1CEC-929F-1FB4-D1F4C3EB1C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3835" y="2517073"/>
            <a:ext cx="5586566" cy="2505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89683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A6902-2E1C-9A3A-E0FD-D40BB553C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39FED-CB5A-2675-1E7F-FC53BF05A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052" y="213049"/>
            <a:ext cx="10515600" cy="84765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SWIMLANE DIAGRAMS</a:t>
            </a:r>
            <a:endParaRPr lang="en-PK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68B48F-CC93-999E-F782-F02B318D8BE7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2ED117-36EF-5865-1070-6B51DA07061D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A8FEC-ACC6-59AC-B944-9E5874AEA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11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1D39AB7B-B058-231B-1E62-A2380D9893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4D2926E-0D9B-2C98-C30B-27FCB8DC240E}"/>
              </a:ext>
            </a:extLst>
          </p:cNvPr>
          <p:cNvSpPr txBox="1"/>
          <p:nvPr/>
        </p:nvSpPr>
        <p:spPr>
          <a:xfrm>
            <a:off x="802640" y="1251200"/>
            <a:ext cx="8341360" cy="1711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Explain:</a:t>
            </a:r>
          </a:p>
          <a:p>
            <a:pPr>
              <a:lnSpc>
                <a:spcPct val="150000"/>
              </a:lnSpc>
            </a:pPr>
            <a:r>
              <a:rPr lang="en-US" dirty="0" err="1"/>
              <a:t>Swimlanes</a:t>
            </a:r>
            <a:r>
              <a:rPr lang="en-US" dirty="0"/>
              <a:t> divide process by </a:t>
            </a:r>
            <a:r>
              <a:rPr lang="en-US" b="1" dirty="0"/>
              <a:t>roles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Example lanes:</a:t>
            </a:r>
          </a:p>
          <a:p>
            <a:pPr>
              <a:lnSpc>
                <a:spcPct val="150000"/>
              </a:lnSpc>
            </a:pPr>
            <a:r>
              <a:rPr lang="en-US" dirty="0"/>
              <a:t>Customer | System | Operations | Rider.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A8EC2F2-380C-D47C-05A9-C99B160BC484}"/>
              </a:ext>
            </a:extLst>
          </p:cNvPr>
          <p:cNvSpPr txBox="1"/>
          <p:nvPr/>
        </p:nvSpPr>
        <p:spPr>
          <a:xfrm>
            <a:off x="826294" y="3295270"/>
            <a:ext cx="6096000" cy="1711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Customer: Place Order</a:t>
            </a:r>
            <a:br>
              <a:rPr lang="en-US" dirty="0"/>
            </a:br>
            <a:r>
              <a:rPr lang="en-US" dirty="0"/>
              <a:t>System: Validate Payment</a:t>
            </a:r>
            <a:br>
              <a:rPr lang="en-US" dirty="0"/>
            </a:br>
            <a:r>
              <a:rPr lang="en-US" dirty="0"/>
              <a:t>Operations: Assign Rider</a:t>
            </a:r>
            <a:br>
              <a:rPr lang="en-US" dirty="0"/>
            </a:br>
            <a:r>
              <a:rPr lang="en-US" dirty="0" err="1"/>
              <a:t>Rider</a:t>
            </a:r>
            <a:r>
              <a:rPr lang="en-US" dirty="0"/>
              <a:t>: Deliver</a:t>
            </a:r>
            <a:endParaRPr lang="en-PK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4CC1CBB-0389-9BA9-5E18-79BDB8604C1F}"/>
              </a:ext>
            </a:extLst>
          </p:cNvPr>
          <p:cNvSpPr txBox="1"/>
          <p:nvPr/>
        </p:nvSpPr>
        <p:spPr>
          <a:xfrm>
            <a:off x="802640" y="302695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Visual Example</a:t>
            </a:r>
            <a:endParaRPr lang="en-PK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1A77A04-BC79-4A5E-5CD2-CD1CD714F392}"/>
              </a:ext>
            </a:extLst>
          </p:cNvPr>
          <p:cNvSpPr txBox="1"/>
          <p:nvPr/>
        </p:nvSpPr>
        <p:spPr>
          <a:xfrm>
            <a:off x="8006080" y="5987018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 err="1"/>
              <a:t>Swimlanes</a:t>
            </a:r>
            <a:r>
              <a:rPr lang="en-US" sz="1400" dirty="0"/>
              <a:t> reveal responsibility.</a:t>
            </a:r>
            <a:endParaRPr lang="en-PK" sz="1400" dirty="0"/>
          </a:p>
        </p:txBody>
      </p:sp>
      <p:pic>
        <p:nvPicPr>
          <p:cNvPr id="9218" name="Picture 2" descr="Cross-Functional Flowcharts: What Is It, Types, How To Create It - Venngage">
            <a:extLst>
              <a:ext uri="{FF2B5EF4-FFF2-40B4-BE49-F238E27FC236}">
                <a16:creationId xmlns:a16="http://schemas.microsoft.com/office/drawing/2014/main" id="{A5244AB1-B00A-7B06-E770-BC12A861C8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5546" y="789771"/>
            <a:ext cx="6590107" cy="5090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91722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A6902-2E1C-9A3A-E0FD-D40BB553C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39FED-CB5A-2675-1E7F-FC53BF05A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556727"/>
            <a:ext cx="10515600" cy="84765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BPMN (INDUSTRY-LEVEL MODELING)</a:t>
            </a:r>
            <a:endParaRPr lang="en-PK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68B48F-CC93-999E-F782-F02B318D8BE7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2ED117-36EF-5865-1070-6B51DA07061D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A8FEC-ACC6-59AC-B944-9E5874AEA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12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1D39AB7B-B058-231B-1E62-A2380D9893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5A277A9-B487-43A4-5A02-B5430A9D40EF}"/>
              </a:ext>
            </a:extLst>
          </p:cNvPr>
          <p:cNvSpPr txBox="1"/>
          <p:nvPr/>
        </p:nvSpPr>
        <p:spPr>
          <a:xfrm>
            <a:off x="684212" y="1314202"/>
            <a:ext cx="6096000" cy="880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Flowcharts = Simple</a:t>
            </a:r>
            <a:br>
              <a:rPr lang="en-US" dirty="0"/>
            </a:br>
            <a:r>
              <a:rPr lang="en-US" dirty="0"/>
              <a:t>BPMN = Professional version of flowcharts used in industry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8F15870-B8A7-FFA6-980F-231E4B4FE8DC}"/>
              </a:ext>
            </a:extLst>
          </p:cNvPr>
          <p:cNvSpPr txBox="1"/>
          <p:nvPr/>
        </p:nvSpPr>
        <p:spPr>
          <a:xfrm>
            <a:off x="684212" y="2391391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Basic BPMN Elements</a:t>
            </a:r>
            <a:endParaRPr lang="en-PK" sz="2000" b="1" dirty="0"/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54489C80-EF6E-FF52-84B5-57442C3942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6053842"/>
              </p:ext>
            </p:extLst>
          </p:nvPr>
        </p:nvGraphicFramePr>
        <p:xfrm>
          <a:off x="684212" y="2848313"/>
          <a:ext cx="4842828" cy="1828800"/>
        </p:xfrm>
        <a:graphic>
          <a:graphicData uri="http://schemas.openxmlformats.org/drawingml/2006/table">
            <a:tbl>
              <a:tblPr/>
              <a:tblGrid>
                <a:gridCol w="2421414">
                  <a:extLst>
                    <a:ext uri="{9D8B030D-6E8A-4147-A177-3AD203B41FA5}">
                      <a16:colId xmlns:a16="http://schemas.microsoft.com/office/drawing/2014/main" val="3783435703"/>
                    </a:ext>
                  </a:extLst>
                </a:gridCol>
                <a:gridCol w="2421414">
                  <a:extLst>
                    <a:ext uri="{9D8B030D-6E8A-4147-A177-3AD203B41FA5}">
                      <a16:colId xmlns:a16="http://schemas.microsoft.com/office/drawing/2014/main" val="16321773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Element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116008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Start Event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Process begins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163807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Task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Action step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275768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Gateway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Decision point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31402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End Event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Completion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9246048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F111D922-BA89-528C-EC6C-EED8E94A8467}"/>
              </a:ext>
            </a:extLst>
          </p:cNvPr>
          <p:cNvSpPr txBox="1"/>
          <p:nvPr/>
        </p:nvSpPr>
        <p:spPr>
          <a:xfrm>
            <a:off x="684212" y="4689942"/>
            <a:ext cx="6096000" cy="1711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🌎 International Example</a:t>
            </a:r>
          </a:p>
          <a:p>
            <a:pPr>
              <a:lnSpc>
                <a:spcPct val="150000"/>
              </a:lnSpc>
            </a:pPr>
            <a:r>
              <a:rPr lang="en-US" dirty="0"/>
              <a:t>Bank loan approval BPMN:</a:t>
            </a:r>
          </a:p>
          <a:p>
            <a:pPr>
              <a:lnSpc>
                <a:spcPct val="150000"/>
              </a:lnSpc>
            </a:pPr>
            <a:r>
              <a:rPr lang="en-US" dirty="0"/>
              <a:t>Customer submits request → Risk assessment → Approval decision → Payment.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FE12B58-078E-7739-A038-53B2C22A0FCF}"/>
              </a:ext>
            </a:extLst>
          </p:cNvPr>
          <p:cNvSpPr txBox="1"/>
          <p:nvPr/>
        </p:nvSpPr>
        <p:spPr>
          <a:xfrm>
            <a:off x="7284720" y="6048573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BPMN stands for Business Process Model and Notation</a:t>
            </a:r>
            <a:endParaRPr lang="en-PK" sz="1400" dirty="0"/>
          </a:p>
        </p:txBody>
      </p:sp>
      <p:pic>
        <p:nvPicPr>
          <p:cNvPr id="2050" name="Picture 2" descr="BPMN Diagram &amp; Symbols | Business Process Modeling Notation">
            <a:extLst>
              <a:ext uri="{FF2B5EF4-FFF2-40B4-BE49-F238E27FC236}">
                <a16:creationId xmlns:a16="http://schemas.microsoft.com/office/drawing/2014/main" id="{F4B81101-8EBF-3755-C21C-CFD8101000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4458" y="1694123"/>
            <a:ext cx="5095240" cy="35525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79384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A6902-2E1C-9A3A-E0FD-D40BB553C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768B48F-CC93-999E-F782-F02B318D8BE7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2ED117-36EF-5865-1070-6B51DA07061D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A8FEC-ACC6-59AC-B944-9E5874AEA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13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1D39AB7B-B058-231B-1E62-A2380D9893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 descr="Business Process Modeling and Notation (BPMN) 101 | Smartsheet">
            <a:extLst>
              <a:ext uri="{FF2B5EF4-FFF2-40B4-BE49-F238E27FC236}">
                <a16:creationId xmlns:a16="http://schemas.microsoft.com/office/drawing/2014/main" id="{D85EE6F4-2C11-804D-5CB5-FB007F55ED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440" y="136525"/>
            <a:ext cx="9745225" cy="6111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64542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A6902-2E1C-9A3A-E0FD-D40BB553C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39FED-CB5A-2675-1E7F-FC53BF05A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295909"/>
            <a:ext cx="10515600" cy="84765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PROCESS MODELING MISTAKES (VERY IMPORTANT)</a:t>
            </a:r>
            <a:endParaRPr lang="en-PK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68B48F-CC93-999E-F782-F02B318D8BE7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2ED117-36EF-5865-1070-6B51DA07061D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A8FEC-ACC6-59AC-B944-9E5874AEA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14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1D39AB7B-B058-231B-1E62-A2380D9893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5C73D98-48B7-B454-306F-6A8A2C92DC16}"/>
              </a:ext>
            </a:extLst>
          </p:cNvPr>
          <p:cNvSpPr txBox="1"/>
          <p:nvPr/>
        </p:nvSpPr>
        <p:spPr>
          <a:xfrm>
            <a:off x="684212" y="1334060"/>
            <a:ext cx="6096000" cy="17095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❌ Too much detail (technical logic)</a:t>
            </a:r>
            <a:br>
              <a:rPr lang="en-US" dirty="0"/>
            </a:br>
            <a:r>
              <a:rPr lang="en-US" dirty="0"/>
              <a:t>❌ Missing stakeholders</a:t>
            </a:r>
            <a:br>
              <a:rPr lang="en-US" dirty="0"/>
            </a:br>
            <a:r>
              <a:rPr lang="en-US" dirty="0"/>
              <a:t>❌ No clear start/end</a:t>
            </a:r>
            <a:br>
              <a:rPr lang="en-US" dirty="0"/>
            </a:br>
            <a:r>
              <a:rPr lang="en-US" dirty="0"/>
              <a:t>❌ Confusing system vs human actions</a:t>
            </a:r>
            <a:endParaRPr lang="en-PK" dirty="0"/>
          </a:p>
        </p:txBody>
      </p:sp>
      <p:sp>
        <p:nvSpPr>
          <p:cNvPr id="3" name="AutoShape 2" descr="Workflow automation: Definition, tutorial, and tools">
            <a:extLst>
              <a:ext uri="{FF2B5EF4-FFF2-40B4-BE49-F238E27FC236}">
                <a16:creationId xmlns:a16="http://schemas.microsoft.com/office/drawing/2014/main" id="{39B1EECD-A988-AD0E-5EF2-160FB4E574C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672080" y="3276600"/>
            <a:ext cx="3576320" cy="3576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PK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2131E9E-1512-CF9D-F27D-96F81BBC19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1001" y="976732"/>
            <a:ext cx="3856175" cy="5585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6141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A6902-2E1C-9A3A-E0FD-D40BB553C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39FED-CB5A-2675-1E7F-FC53BF05A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692" y="398951"/>
            <a:ext cx="10515600" cy="847650"/>
          </a:xfrm>
        </p:spPr>
        <p:txBody>
          <a:bodyPr>
            <a:normAutofit/>
          </a:bodyPr>
          <a:lstStyle/>
          <a:p>
            <a:r>
              <a:rPr lang="en-US" dirty="0"/>
              <a:t>LIVE CASE STUDY</a:t>
            </a:r>
            <a:endParaRPr lang="en-PK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68B48F-CC93-999E-F782-F02B318D8BE7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2ED117-36EF-5865-1070-6B51DA07061D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A8FEC-ACC6-59AC-B944-9E5874AEA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15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1D39AB7B-B058-231B-1E62-A2380D9893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A23C3FAD-73B2-955D-8670-0B8C8E0DFA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692" y="1286240"/>
            <a:ext cx="2930354" cy="44467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200000"/>
              </a:lnSpc>
            </a:pPr>
            <a:r>
              <a:rPr lang="en-US" b="1" dirty="0"/>
              <a:t>Scenario:</a:t>
            </a:r>
          </a:p>
          <a:p>
            <a:pPr>
              <a:lnSpc>
                <a:spcPct val="200000"/>
              </a:lnSpc>
            </a:pPr>
            <a:r>
              <a:rPr lang="en-US" dirty="0" err="1"/>
              <a:t>QuickBasket</a:t>
            </a:r>
            <a:r>
              <a:rPr lang="en-US" dirty="0"/>
              <a:t> grocery delivery.</a:t>
            </a:r>
          </a:p>
          <a:p>
            <a:pPr>
              <a:lnSpc>
                <a:spcPct val="200000"/>
              </a:lnSpc>
            </a:pPr>
            <a:r>
              <a:rPr lang="en-US" dirty="0"/>
              <a:t>Groups must create:</a:t>
            </a:r>
          </a:p>
          <a:p>
            <a:pPr>
              <a:lnSpc>
                <a:spcPct val="200000"/>
              </a:lnSpc>
            </a:pPr>
            <a:r>
              <a:rPr lang="en-US" dirty="0"/>
              <a:t>✔ AS-IS Flowchart</a:t>
            </a:r>
            <a:br>
              <a:rPr lang="en-US" dirty="0"/>
            </a:br>
            <a:r>
              <a:rPr lang="en-US" dirty="0"/>
              <a:t>✔ TO-BE Swimlane Diagram</a:t>
            </a:r>
          </a:p>
          <a:p>
            <a:pPr>
              <a:lnSpc>
                <a:spcPct val="200000"/>
              </a:lnSpc>
            </a:pPr>
            <a:r>
              <a:rPr lang="en-US" dirty="0"/>
              <a:t>Let groups present.</a:t>
            </a:r>
          </a:p>
          <a:p>
            <a:pPr>
              <a:lnSpc>
                <a:spcPct val="200000"/>
              </a:lnSpc>
            </a:pPr>
            <a:r>
              <a:rPr lang="en-US" b="1" dirty="0"/>
              <a:t>Challenges:</a:t>
            </a:r>
          </a:p>
          <a:p>
            <a:pPr>
              <a:lnSpc>
                <a:spcPct val="200000"/>
              </a:lnSpc>
            </a:pPr>
            <a:r>
              <a:rPr lang="en-US" dirty="0"/>
              <a:t>“Where is bottleneck?”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DBCB6E-BBD0-D2D5-734C-AD3ED67DCA95}"/>
              </a:ext>
            </a:extLst>
          </p:cNvPr>
          <p:cNvSpPr txBox="1"/>
          <p:nvPr/>
        </p:nvSpPr>
        <p:spPr>
          <a:xfrm>
            <a:off x="3645046" y="3675090"/>
            <a:ext cx="6096000" cy="1295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Cases to handle</a:t>
            </a:r>
            <a:br>
              <a:rPr lang="en-US" dirty="0"/>
            </a:br>
            <a:r>
              <a:rPr lang="en-US" dirty="0"/>
              <a:t>“Where is delay occurring?”</a:t>
            </a:r>
          </a:p>
          <a:p>
            <a:pPr>
              <a:lnSpc>
                <a:spcPct val="150000"/>
              </a:lnSpc>
            </a:pPr>
            <a:r>
              <a:rPr lang="en-US" dirty="0"/>
              <a:t>“Which stakeholder performs this task?”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FC7C000-A402-1E3D-383E-DA3AD1F952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5386" y="768364"/>
            <a:ext cx="7049065" cy="3042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6660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A6902-2E1C-9A3A-E0FD-D40BB553C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39FED-CB5A-2675-1E7F-FC53BF05A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5492" y="454660"/>
            <a:ext cx="10515600" cy="84765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ADVANCED INSIGHT</a:t>
            </a:r>
            <a:endParaRPr lang="en-PK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68B48F-CC93-999E-F782-F02B318D8BE7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2ED117-36EF-5865-1070-6B51DA07061D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A8FEC-ACC6-59AC-B944-9E5874AEA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16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1D39AB7B-B058-231B-1E62-A2380D9893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F7E7181-21BC-F65F-0B61-8E4AF2657FF3}"/>
              </a:ext>
            </a:extLst>
          </p:cNvPr>
          <p:cNvSpPr txBox="1"/>
          <p:nvPr/>
        </p:nvSpPr>
        <p:spPr>
          <a:xfrm>
            <a:off x="765492" y="1343511"/>
            <a:ext cx="6096000" cy="880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Explain difference:</a:t>
            </a:r>
          </a:p>
          <a:p>
            <a:pPr>
              <a:lnSpc>
                <a:spcPct val="150000"/>
              </a:lnSpc>
            </a:pPr>
            <a:r>
              <a:rPr lang="en-US" dirty="0"/>
              <a:t>Process Modeling vs User Journey.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35CF8071-7DF5-C572-20E8-193798EEA3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0090571"/>
              </p:ext>
            </p:extLst>
          </p:nvPr>
        </p:nvGraphicFramePr>
        <p:xfrm>
          <a:off x="765492" y="2469702"/>
          <a:ext cx="6702108" cy="1097280"/>
        </p:xfrm>
        <a:graphic>
          <a:graphicData uri="http://schemas.openxmlformats.org/drawingml/2006/table">
            <a:tbl>
              <a:tblPr/>
              <a:tblGrid>
                <a:gridCol w="3351054">
                  <a:extLst>
                    <a:ext uri="{9D8B030D-6E8A-4147-A177-3AD203B41FA5}">
                      <a16:colId xmlns:a16="http://schemas.microsoft.com/office/drawing/2014/main" val="297872314"/>
                    </a:ext>
                  </a:extLst>
                </a:gridCol>
                <a:gridCol w="3351054">
                  <a:extLst>
                    <a:ext uri="{9D8B030D-6E8A-4147-A177-3AD203B41FA5}">
                      <a16:colId xmlns:a16="http://schemas.microsoft.com/office/drawing/2014/main" val="19500267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Process Model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User Journey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248564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Internal workflow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Customer experience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83049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Multiple roles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Single perspective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9647753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F286A9F1-43FF-DED2-D0E7-486136EFCBC4}"/>
              </a:ext>
            </a:extLst>
          </p:cNvPr>
          <p:cNvSpPr txBox="1"/>
          <p:nvPr/>
        </p:nvSpPr>
        <p:spPr>
          <a:xfrm>
            <a:off x="765492" y="3932031"/>
            <a:ext cx="6096000" cy="880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Example:</a:t>
            </a:r>
          </a:p>
          <a:p>
            <a:pPr>
              <a:lnSpc>
                <a:spcPct val="150000"/>
              </a:lnSpc>
            </a:pPr>
            <a:r>
              <a:rPr lang="en-US" dirty="0" err="1"/>
              <a:t>Daraz</a:t>
            </a:r>
            <a:r>
              <a:rPr lang="en-US" dirty="0"/>
              <a:t> order process vs customer shopping journey.</a:t>
            </a:r>
          </a:p>
        </p:txBody>
      </p:sp>
    </p:spTree>
    <p:extLst>
      <p:ext uri="{BB962C8B-B14F-4D97-AF65-F5344CB8AC3E}">
        <p14:creationId xmlns:p14="http://schemas.microsoft.com/office/powerpoint/2010/main" val="9626723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A6902-2E1C-9A3A-E0FD-D40BB553C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39FED-CB5A-2675-1E7F-FC53BF05A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5492" y="454660"/>
            <a:ext cx="10515600" cy="84765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KEY TAKEAWAYS</a:t>
            </a:r>
            <a:endParaRPr lang="en-PK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68B48F-CC93-999E-F782-F02B318D8BE7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2ED117-36EF-5865-1070-6B51DA07061D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A8FEC-ACC6-59AC-B944-9E5874AEA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17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1D39AB7B-B058-231B-1E62-A2380D9893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5F4ED64-BC27-3C6B-72E7-B3B2A5D985B4}"/>
              </a:ext>
            </a:extLst>
          </p:cNvPr>
          <p:cNvSpPr txBox="1"/>
          <p:nvPr/>
        </p:nvSpPr>
        <p:spPr>
          <a:xfrm>
            <a:off x="826294" y="1205635"/>
            <a:ext cx="6096000" cy="444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dirty="0"/>
              <a:t>Business Analysts turn complexity into clarity.</a:t>
            </a:r>
          </a:p>
          <a:p>
            <a:pPr>
              <a:lnSpc>
                <a:spcPct val="200000"/>
              </a:lnSpc>
            </a:pPr>
            <a:r>
              <a:rPr lang="en-US" b="1" dirty="0"/>
              <a:t>Summary</a:t>
            </a:r>
            <a:r>
              <a:rPr lang="en-US" dirty="0"/>
              <a:t>:</a:t>
            </a:r>
          </a:p>
          <a:p>
            <a:pPr>
              <a:lnSpc>
                <a:spcPct val="200000"/>
              </a:lnSpc>
            </a:pPr>
            <a:r>
              <a:rPr lang="en-US" dirty="0"/>
              <a:t>Processes show how work happens.</a:t>
            </a:r>
          </a:p>
          <a:p>
            <a:pPr>
              <a:lnSpc>
                <a:spcPct val="200000"/>
              </a:lnSpc>
            </a:pPr>
            <a:r>
              <a:rPr lang="en-US" dirty="0"/>
              <a:t>AS-IS identifies problems.</a:t>
            </a:r>
          </a:p>
          <a:p>
            <a:pPr>
              <a:lnSpc>
                <a:spcPct val="200000"/>
              </a:lnSpc>
            </a:pPr>
            <a:r>
              <a:rPr lang="en-US" dirty="0"/>
              <a:t>TO-BE proposes improvements.</a:t>
            </a:r>
          </a:p>
          <a:p>
            <a:pPr>
              <a:lnSpc>
                <a:spcPct val="200000"/>
              </a:lnSpc>
            </a:pPr>
            <a:r>
              <a:rPr lang="en-US" dirty="0"/>
              <a:t>Flowcharts simplify understanding.</a:t>
            </a:r>
          </a:p>
          <a:p>
            <a:pPr>
              <a:lnSpc>
                <a:spcPct val="200000"/>
              </a:lnSpc>
            </a:pPr>
            <a:r>
              <a:rPr lang="en-US" dirty="0"/>
              <a:t>BPMN supports professional modeling.</a:t>
            </a:r>
          </a:p>
          <a:p>
            <a:pPr>
              <a:lnSpc>
                <a:spcPct val="200000"/>
              </a:lnSpc>
            </a:pPr>
            <a:r>
              <a:rPr lang="en-US" dirty="0" err="1"/>
              <a:t>Swimlanes</a:t>
            </a:r>
            <a:r>
              <a:rPr lang="en-US" dirty="0"/>
              <a:t> show responsibilities.</a:t>
            </a:r>
          </a:p>
        </p:txBody>
      </p:sp>
    </p:spTree>
    <p:extLst>
      <p:ext uri="{BB962C8B-B14F-4D97-AF65-F5344CB8AC3E}">
        <p14:creationId xmlns:p14="http://schemas.microsoft.com/office/powerpoint/2010/main" val="2616003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A6902-2E1C-9A3A-E0FD-D40BB553C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768B48F-CC93-999E-F782-F02B318D8BE7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2ED117-36EF-5865-1070-6B51DA07061D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A8FEC-ACC6-59AC-B944-9E5874AEA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18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1D39AB7B-B058-231B-1E62-A2380D9893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2">
            <a:extLst>
              <a:ext uri="{FF2B5EF4-FFF2-40B4-BE49-F238E27FC236}">
                <a16:creationId xmlns:a16="http://schemas.microsoft.com/office/drawing/2014/main" id="{829CBDE3-0AB1-BFBA-5BF0-B58E0BB19F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600" y="1656522"/>
            <a:ext cx="11753154" cy="21936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“Most process improvements start when someone finally maps the process visually.”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“Many problems are invisible until we draw the workflow.”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PK" altLang="en-PK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“Good diagrams save hours of meetings.”</a:t>
            </a:r>
          </a:p>
        </p:txBody>
      </p:sp>
    </p:spTree>
    <p:extLst>
      <p:ext uri="{BB962C8B-B14F-4D97-AF65-F5344CB8AC3E}">
        <p14:creationId xmlns:p14="http://schemas.microsoft.com/office/powerpoint/2010/main" val="2719836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TM03457475[[fn=Frame]]</Template>
  <TotalTime>27556</TotalTime>
  <Words>743</Words>
  <Application>Microsoft Macintosh PowerPoint</Application>
  <PresentationFormat>Widescreen</PresentationFormat>
  <Paragraphs>164</Paragraphs>
  <Slides>18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Presentation</vt:lpstr>
      <vt:lpstr>BUSINESS ANALYTICS  Introduction to Business Analytics and Core Business Functions</vt:lpstr>
      <vt:lpstr>Learning Objectives – WEEK 7 </vt:lpstr>
      <vt:lpstr>LAST WEEK  </vt:lpstr>
      <vt:lpstr>WHAT IS A BUSINESS PROCESS?  </vt:lpstr>
      <vt:lpstr>WHAT IS A BUSINESS PROCESS?  </vt:lpstr>
      <vt:lpstr>WHY PROCESS MODELING MATTERS (INDUSTRY REALITY)  </vt:lpstr>
      <vt:lpstr>AS-IS Modeling (Current State)  </vt:lpstr>
      <vt:lpstr>TO-BE MODELING (FUTURE STATE)  </vt:lpstr>
      <vt:lpstr>FLOWCHARTS </vt:lpstr>
      <vt:lpstr>SWIMLANE DIAGRAMS</vt:lpstr>
      <vt:lpstr>BPMN (INDUSTRY-LEVEL MODELING)</vt:lpstr>
      <vt:lpstr>PowerPoint Presentation</vt:lpstr>
      <vt:lpstr>PROCESS MODELING MISTAKES (VERY IMPORTANT)</vt:lpstr>
      <vt:lpstr>LIVE CASE STUDY</vt:lpstr>
      <vt:lpstr>ADVANCED INSIGHT</vt:lpstr>
      <vt:lpstr>KEY TAKEAWAYS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DEVELOPING HORIZONTAL LINKAGES WITH OTHER GOVERNMENT DEPARTMENTS</dc:title>
  <dc:creator>Mufeeza Iqbal</dc:creator>
  <cp:lastModifiedBy>Moiz Shah</cp:lastModifiedBy>
  <cp:revision>147</cp:revision>
  <dcterms:created xsi:type="dcterms:W3CDTF">2024-06-09T07:08:43Z</dcterms:created>
  <dcterms:modified xsi:type="dcterms:W3CDTF">2026-03-28T10:39:21Z</dcterms:modified>
</cp:coreProperties>
</file>