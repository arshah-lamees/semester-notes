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8"/>
  </p:notesMasterIdLst>
  <p:sldIdLst>
    <p:sldId id="256" r:id="rId2"/>
    <p:sldId id="345" r:id="rId3"/>
    <p:sldId id="357" r:id="rId4"/>
    <p:sldId id="378" r:id="rId5"/>
    <p:sldId id="347" r:id="rId6"/>
    <p:sldId id="373" r:id="rId7"/>
    <p:sldId id="360" r:id="rId8"/>
    <p:sldId id="375" r:id="rId9"/>
    <p:sldId id="371" r:id="rId10"/>
    <p:sldId id="374" r:id="rId11"/>
    <p:sldId id="376" r:id="rId12"/>
    <p:sldId id="369" r:id="rId13"/>
    <p:sldId id="377" r:id="rId14"/>
    <p:sldId id="364" r:id="rId15"/>
    <p:sldId id="379" r:id="rId16"/>
    <p:sldId id="372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6" autoAdjust="0"/>
    <p:restoredTop sz="94669"/>
  </p:normalViewPr>
  <p:slideViewPr>
    <p:cSldViewPr snapToGrid="0">
      <p:cViewPr varScale="1">
        <p:scale>
          <a:sx n="93" d="100"/>
          <a:sy n="93" d="100"/>
        </p:scale>
        <p:origin x="22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2/20/26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680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513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3240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5383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6125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1941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0075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8827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5789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2/20/26 1:58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2/20/26 1:58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2/20/26 1:58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2/20/26 1:58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2/20/26 1:58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2/20/26 1:58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2/20/26 1:58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2/20/26 1:58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2/20/26 1:58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2/20/26 1:57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975360"/>
            <a:ext cx="9144000" cy="286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sz="16600" dirty="0"/>
            </a:br>
            <a:r>
              <a:rPr lang="en-US" sz="4300" dirty="0"/>
              <a:t>Requirements Elicitation</a:t>
            </a:r>
            <a:endParaRPr lang="en-PK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5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Understand how Business Analysts gather requirements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Choose the right elicitation technique for a situation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Conduct interviews and workshops effectively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Avoid common mistakes when talking to stakeholders</a:t>
            </a:r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Effective Requirements Gathering and Management in Software ...">
            <a:extLst>
              <a:ext uri="{FF2B5EF4-FFF2-40B4-BE49-F238E27FC236}">
                <a16:creationId xmlns:a16="http://schemas.microsoft.com/office/drawing/2014/main" id="{72DE7798-1D1A-16EE-B1CC-2A5032FBF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457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IS REQUIREMENTS ELICITATION?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CF9045-7E27-F42B-B5BB-F4092DC7A517}"/>
              </a:ext>
            </a:extLst>
          </p:cNvPr>
          <p:cNvSpPr txBox="1"/>
          <p:nvPr/>
        </p:nvSpPr>
        <p:spPr>
          <a:xfrm>
            <a:off x="833436" y="960501"/>
            <a:ext cx="7784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Requirements elicitation = </a:t>
            </a:r>
            <a:r>
              <a:rPr lang="en-US" b="1" dirty="0"/>
              <a:t>How we extract real needs from stakeholders.</a:t>
            </a:r>
            <a:endParaRPr lang="en-PK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A28215-F4C2-35C9-E86D-99E8392CB737}"/>
              </a:ext>
            </a:extLst>
          </p:cNvPr>
          <p:cNvSpPr txBox="1"/>
          <p:nvPr/>
        </p:nvSpPr>
        <p:spPr>
          <a:xfrm>
            <a:off x="6084094" y="476448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Amazon Checkout Optimization</a:t>
            </a:r>
            <a:endParaRPr lang="en-US" dirty="0"/>
          </a:p>
          <a:p>
            <a:r>
              <a:rPr lang="en-US" dirty="0"/>
              <a:t>Stakeholders wanted:</a:t>
            </a:r>
            <a:br>
              <a:rPr lang="en-US" dirty="0"/>
            </a:br>
            <a:r>
              <a:rPr lang="en-US" dirty="0"/>
              <a:t>“Better checkout.”</a:t>
            </a:r>
          </a:p>
          <a:p>
            <a:r>
              <a:rPr lang="en-US" dirty="0"/>
              <a:t>BA conducted workshops + user observation → found users dropping off at shipping step.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675878-34E3-A9ED-860C-73097E6B4DA3}"/>
              </a:ext>
            </a:extLst>
          </p:cNvPr>
          <p:cNvSpPr txBox="1"/>
          <p:nvPr/>
        </p:nvSpPr>
        <p:spPr>
          <a:xfrm>
            <a:off x="4013835" y="41018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Example</a:t>
            </a:r>
            <a:endParaRPr lang="en-PK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8DEE9-4336-8C24-970A-F76C127B0225}"/>
              </a:ext>
            </a:extLst>
          </p:cNvPr>
          <p:cNvSpPr txBox="1"/>
          <p:nvPr/>
        </p:nvSpPr>
        <p:spPr>
          <a:xfrm>
            <a:off x="833436" y="1365520"/>
            <a:ext cx="6096000" cy="2956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Stakeholders rarely give perfect requirements.</a:t>
            </a:r>
            <a:br>
              <a:rPr lang="en-US" dirty="0"/>
            </a:br>
            <a:r>
              <a:rPr lang="en-US" dirty="0"/>
              <a:t>BA must:</a:t>
            </a:r>
          </a:p>
          <a:p>
            <a:pPr>
              <a:lnSpc>
                <a:spcPct val="150000"/>
              </a:lnSpc>
            </a:pPr>
            <a:r>
              <a:rPr lang="en-US" dirty="0"/>
              <a:t>✔ Ask</a:t>
            </a:r>
            <a:br>
              <a:rPr lang="en-US" dirty="0"/>
            </a:br>
            <a:r>
              <a:rPr lang="en-US" dirty="0"/>
              <a:t>✔ Observe</a:t>
            </a:r>
            <a:br>
              <a:rPr lang="en-US" dirty="0"/>
            </a:br>
            <a:r>
              <a:rPr lang="en-US" dirty="0"/>
              <a:t>✔ Facilitate</a:t>
            </a:r>
            <a:br>
              <a:rPr lang="en-US" dirty="0"/>
            </a:br>
            <a:r>
              <a:rPr lang="en-US" dirty="0"/>
              <a:t>✔ Clarify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CC7A6E9-4C3E-D7DD-31B3-8E41AACD5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93" y="4717895"/>
            <a:ext cx="312656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Banking Mobile App</a:t>
            </a: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Stakeholder says: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“Customers want faster payments.”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 must dig deeper: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Faster compared to what?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Which screens slow?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Backend or UI issue?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DF0B07-3164-29B8-8554-AE31733A3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3" y="0"/>
            <a:ext cx="10033147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6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3" y="496265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WHY ELICITATION IS CRITICAL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5EC536-3D3C-CC1A-3879-51A977F69083}"/>
              </a:ext>
            </a:extLst>
          </p:cNvPr>
          <p:cNvSpPr txBox="1"/>
          <p:nvPr/>
        </p:nvSpPr>
        <p:spPr>
          <a:xfrm>
            <a:off x="826293" y="1310975"/>
            <a:ext cx="6434136" cy="170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Most project failures happen because:</a:t>
            </a:r>
          </a:p>
          <a:p>
            <a:pPr>
              <a:lnSpc>
                <a:spcPct val="150000"/>
              </a:lnSpc>
            </a:pPr>
            <a:r>
              <a:rPr lang="en-US" dirty="0"/>
              <a:t>❌ Requirements assumed</a:t>
            </a:r>
            <a:br>
              <a:rPr lang="en-US" dirty="0"/>
            </a:br>
            <a:r>
              <a:rPr lang="en-US" dirty="0"/>
              <a:t>❌ Stakeholders misunderstood</a:t>
            </a:r>
            <a:br>
              <a:rPr lang="en-US" dirty="0"/>
            </a:br>
            <a:r>
              <a:rPr lang="en-US" dirty="0"/>
              <a:t>❌ Communication gaps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D6636-1AC2-9925-F05D-BF212C1B4D15}"/>
              </a:ext>
            </a:extLst>
          </p:cNvPr>
          <p:cNvSpPr txBox="1"/>
          <p:nvPr/>
        </p:nvSpPr>
        <p:spPr>
          <a:xfrm>
            <a:off x="826294" y="33993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Developers build what is written — not what was intended.</a:t>
            </a:r>
            <a:endParaRPr lang="en-PK" dirty="0"/>
          </a:p>
        </p:txBody>
      </p:sp>
      <p:pic>
        <p:nvPicPr>
          <p:cNvPr id="8194" name="Picture 2" descr="The Ultimate Guide to Requirements Gathering: Types, Steps With ...">
            <a:extLst>
              <a:ext uri="{FF2B5EF4-FFF2-40B4-BE49-F238E27FC236}">
                <a16:creationId xmlns:a16="http://schemas.microsoft.com/office/drawing/2014/main" id="{C53493DC-FBBE-16FB-9A6A-E2D17CE5A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685" y="2390775"/>
            <a:ext cx="392124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516167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ELICITATION TECHNIQUE #1 – INTERVIEWS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5F6F2B-DA90-C6C0-3342-0A320762B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1527784"/>
            <a:ext cx="55318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is an Interview?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One-on-one discussion to understand stakeholder needs.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3FD7E-DE58-60C6-A463-297D4BF1A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1666917"/>
            <a:ext cx="6746975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Pakistan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 interviews Jazz operations team to understand SIM activation flow.</a:t>
            </a:r>
            <a:endParaRPr kumimoji="0" lang="en-PK" altLang="en-PK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International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Spotify BA interviews users about playlist usage.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5C06E-A5EB-438A-8B1F-4B5C25CFFC53}"/>
              </a:ext>
            </a:extLst>
          </p:cNvPr>
          <p:cNvSpPr txBox="1"/>
          <p:nvPr/>
        </p:nvSpPr>
        <p:spPr>
          <a:xfrm>
            <a:off x="785812" y="392884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🎯 How to Conduct Good Interviews</a:t>
            </a:r>
          </a:p>
          <a:p>
            <a:r>
              <a:rPr lang="en-US"/>
              <a:t>Teach students simple structure:</a:t>
            </a:r>
          </a:p>
          <a:p>
            <a:pPr>
              <a:buFont typeface="+mj-lt"/>
              <a:buAutoNum type="arabicPeriod"/>
            </a:pPr>
            <a:r>
              <a:rPr lang="en-US"/>
              <a:t>Start broad:</a:t>
            </a:r>
            <a:br>
              <a:rPr lang="en-US"/>
            </a:br>
            <a:r>
              <a:rPr lang="en-US"/>
              <a:t>👉 “What challenges do you face daily?”</a:t>
            </a:r>
          </a:p>
          <a:p>
            <a:pPr>
              <a:buFont typeface="+mj-lt"/>
              <a:buAutoNum type="arabicPeriod"/>
            </a:pPr>
            <a:r>
              <a:rPr lang="en-US"/>
              <a:t>Probe deeper:</a:t>
            </a:r>
            <a:br>
              <a:rPr lang="en-US"/>
            </a:br>
            <a:r>
              <a:rPr lang="en-US"/>
              <a:t>👉 “Why does this issue occur?”</a:t>
            </a:r>
          </a:p>
          <a:p>
            <a:pPr>
              <a:buFont typeface="+mj-lt"/>
              <a:buAutoNum type="arabicPeriod"/>
            </a:pPr>
            <a:r>
              <a:rPr lang="en-US"/>
              <a:t>Confirm understanding:</a:t>
            </a:r>
            <a:br>
              <a:rPr lang="en-US"/>
            </a:br>
            <a:r>
              <a:rPr lang="en-US"/>
              <a:t>👉 “So your main problem is X, correct?”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29A6-63F4-A364-7035-96D914CA9539}"/>
              </a:ext>
            </a:extLst>
          </p:cNvPr>
          <p:cNvSpPr txBox="1"/>
          <p:nvPr/>
        </p:nvSpPr>
        <p:spPr>
          <a:xfrm>
            <a:off x="6229350" y="395180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❌ Common Mistake</a:t>
            </a:r>
          </a:p>
          <a:p>
            <a:r>
              <a:rPr lang="en-US" dirty="0"/>
              <a:t>Leading questions:</a:t>
            </a:r>
          </a:p>
          <a:p>
            <a:r>
              <a:rPr lang="en-US" dirty="0"/>
              <a:t>Bad:</a:t>
            </a:r>
            <a:br>
              <a:rPr lang="en-US" dirty="0"/>
            </a:br>
            <a:r>
              <a:rPr lang="en-US" dirty="0"/>
              <a:t>👉 “You want dark mode, right?”</a:t>
            </a:r>
          </a:p>
          <a:p>
            <a:r>
              <a:rPr lang="en-US" dirty="0"/>
              <a:t>Good:</a:t>
            </a:r>
            <a:br>
              <a:rPr lang="en-US" dirty="0"/>
            </a:br>
            <a:r>
              <a:rPr lang="en-US" dirty="0"/>
              <a:t>👉 “How do users prefer viewing content?”</a:t>
            </a:r>
          </a:p>
        </p:txBody>
      </p:sp>
      <p:pic>
        <p:nvPicPr>
          <p:cNvPr id="2053" name="Picture 5" descr="Generic Questions for Interviewing Stakeholders">
            <a:extLst>
              <a:ext uri="{FF2B5EF4-FFF2-40B4-BE49-F238E27FC236}">
                <a16:creationId xmlns:a16="http://schemas.microsoft.com/office/drawing/2014/main" id="{33593AB0-1E52-DC59-6336-4A4AB71D9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098" y="1250285"/>
            <a:ext cx="3581401" cy="266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49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ELICITATION TECHNIQUE #2 – WORKSHOPS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218FBEA-D8CD-0964-AAF8-FDB4AA88C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" y="1496034"/>
            <a:ext cx="51616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📌 What is a Workshop?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Group session to gather ideas and align stakeholders.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9596294-C5BF-7157-3889-6CFBB5A73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927" y="1742320"/>
            <a:ext cx="3105530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Pakistan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Fintech startup workshop with: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Developers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Marketing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Product Owner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</a:t>
            </a:r>
            <a:b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PK" altLang="en-PK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Define MVP features.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637FB8-0769-F6B3-39AE-1AFD9E6459A9}"/>
              </a:ext>
            </a:extLst>
          </p:cNvPr>
          <p:cNvSpPr txBox="1"/>
          <p:nvPr/>
        </p:nvSpPr>
        <p:spPr>
          <a:xfrm>
            <a:off x="1007457" y="5240119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Google design workshops using collaborative brainstorming.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B8CCAB-8C70-5553-CE71-1FA0D8D2B896}"/>
              </a:ext>
            </a:extLst>
          </p:cNvPr>
          <p:cNvSpPr txBox="1"/>
          <p:nvPr/>
        </p:nvSpPr>
        <p:spPr>
          <a:xfrm>
            <a:off x="7200900" y="4866336"/>
            <a:ext cx="6096000" cy="170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🧠 Workshop Benefits</a:t>
            </a:r>
          </a:p>
          <a:p>
            <a:pPr>
              <a:lnSpc>
                <a:spcPct val="150000"/>
              </a:lnSpc>
            </a:pPr>
            <a:r>
              <a:rPr lang="en-US" dirty="0"/>
              <a:t>✔ Faster alignment</a:t>
            </a:r>
            <a:br>
              <a:rPr lang="en-US" dirty="0"/>
            </a:br>
            <a:r>
              <a:rPr lang="en-US" dirty="0"/>
              <a:t>✔ Conflict resolution</a:t>
            </a:r>
            <a:br>
              <a:rPr lang="en-US" dirty="0"/>
            </a:br>
            <a:r>
              <a:rPr lang="en-US" dirty="0"/>
              <a:t>✔ Shared understanding</a:t>
            </a:r>
          </a:p>
        </p:txBody>
      </p:sp>
      <p:pic>
        <p:nvPicPr>
          <p:cNvPr id="3077" name="Picture 5" descr="4 Collaboration Tools For Design Thinking | Medium">
            <a:extLst>
              <a:ext uri="{FF2B5EF4-FFF2-40B4-BE49-F238E27FC236}">
                <a16:creationId xmlns:a16="http://schemas.microsoft.com/office/drawing/2014/main" id="{9C1D73BB-F32F-5D6A-6A73-EA4D24FB8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197" y="1553109"/>
            <a:ext cx="434474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33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60960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ELICITATION TECHNIQUE #3 – OBSERVATION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296431-3F4C-B791-40C7-10C72EBC1EF1}"/>
              </a:ext>
            </a:extLst>
          </p:cNvPr>
          <p:cNvSpPr txBox="1"/>
          <p:nvPr/>
        </p:nvSpPr>
        <p:spPr>
          <a:xfrm>
            <a:off x="738187" y="1134084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Sometimes stakeholders don’t know their own problems.</a:t>
            </a:r>
          </a:p>
          <a:p>
            <a:pPr>
              <a:lnSpc>
                <a:spcPct val="150000"/>
              </a:lnSpc>
            </a:pPr>
            <a:r>
              <a:rPr lang="en-US" dirty="0"/>
              <a:t>BA observes real workflows.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8B94D-5E90-C766-8F5D-2D5A0059E036}"/>
              </a:ext>
            </a:extLst>
          </p:cNvPr>
          <p:cNvSpPr txBox="1"/>
          <p:nvPr/>
        </p:nvSpPr>
        <p:spPr>
          <a:xfrm>
            <a:off x="738187" y="2538937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Pakistan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BA watches call center agents using CRM → discovers manual copy-paste process.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Uber observing driver app usage during peak hours.</a:t>
            </a:r>
          </a:p>
        </p:txBody>
      </p:sp>
      <p:pic>
        <p:nvPicPr>
          <p:cNvPr id="9218" name="Picture 2" descr="12 Steps for Usability Testing: Plan, Run, Analyze, Report">
            <a:extLst>
              <a:ext uri="{FF2B5EF4-FFF2-40B4-BE49-F238E27FC236}">
                <a16:creationId xmlns:a16="http://schemas.microsoft.com/office/drawing/2014/main" id="{5B05408D-9722-D0FF-6D23-90C714527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167" y="829674"/>
            <a:ext cx="3449639" cy="501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80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21304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ELICITATION TECHNIQUE #4 – SURVEYS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C9017B-E827-1D56-EE2D-38024B4FA0DA}"/>
              </a:ext>
            </a:extLst>
          </p:cNvPr>
          <p:cNvSpPr txBox="1"/>
          <p:nvPr/>
        </p:nvSpPr>
        <p:spPr>
          <a:xfrm>
            <a:off x="742950" y="1092449"/>
            <a:ext cx="6096000" cy="1294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Best when:</a:t>
            </a:r>
          </a:p>
          <a:p>
            <a:pPr>
              <a:lnSpc>
                <a:spcPct val="150000"/>
              </a:lnSpc>
            </a:pPr>
            <a:r>
              <a:rPr lang="en-US" dirty="0"/>
              <a:t>✔ Large audience</a:t>
            </a:r>
            <a:br>
              <a:rPr lang="en-US" dirty="0"/>
            </a:br>
            <a:r>
              <a:rPr lang="en-US" dirty="0"/>
              <a:t>✔ Quick feedback needed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E46C61-BBBE-0C66-4A42-B422CCDD052A}"/>
              </a:ext>
            </a:extLst>
          </p:cNvPr>
          <p:cNvSpPr txBox="1"/>
          <p:nvPr/>
        </p:nvSpPr>
        <p:spPr>
          <a:xfrm>
            <a:off x="742950" y="2828835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Pakistan Example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Daraz</a:t>
            </a:r>
            <a:r>
              <a:rPr lang="en-US" dirty="0"/>
              <a:t> sends survey about delivery experience.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Netflix asks users to rate recommendations.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B1137-B249-7DA1-BB4E-8D7B8C6FC736}"/>
              </a:ext>
            </a:extLst>
          </p:cNvPr>
          <p:cNvSpPr txBox="1"/>
          <p:nvPr/>
        </p:nvSpPr>
        <p:spPr>
          <a:xfrm>
            <a:off x="8305799" y="5222890"/>
            <a:ext cx="6096000" cy="1448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⚠️ Tip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Surveys are shallow — not deep understanding.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Use alongside interviews/workshops.</a:t>
            </a:r>
            <a:br>
              <a:rPr lang="en-US" sz="1200" dirty="0"/>
            </a:br>
            <a:r>
              <a:rPr lang="en-US" sz="1200" dirty="0"/>
              <a:t>Surveys = Wide reach</a:t>
            </a:r>
            <a:br>
              <a:rPr lang="en-US" sz="1200" dirty="0"/>
            </a:br>
            <a:r>
              <a:rPr lang="en-US" sz="1200" dirty="0"/>
              <a:t>Interviews = Deep insights</a:t>
            </a:r>
          </a:p>
        </p:txBody>
      </p:sp>
      <p:pic>
        <p:nvPicPr>
          <p:cNvPr id="10242" name="Picture 2" descr="Customer Feedback Analysis: Top 5 Essential Strategies 2025">
            <a:extLst>
              <a:ext uri="{FF2B5EF4-FFF2-40B4-BE49-F238E27FC236}">
                <a16:creationId xmlns:a16="http://schemas.microsoft.com/office/drawing/2014/main" id="{5660E1AD-8FAC-3245-35EC-5768B23D6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9" y="4540201"/>
            <a:ext cx="2995929" cy="192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Free and customizable survey templates">
            <a:extLst>
              <a:ext uri="{FF2B5EF4-FFF2-40B4-BE49-F238E27FC236}">
                <a16:creationId xmlns:a16="http://schemas.microsoft.com/office/drawing/2014/main" id="{C6060DBD-9913-B4F3-A4AC-5D24DF1BC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748" y="846586"/>
            <a:ext cx="2995929" cy="4237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17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56727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ELICITATION TECHNIQUE #5 – BRAINSTORMING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D617EF-B676-339D-AC1E-3261711DFAD4}"/>
              </a:ext>
            </a:extLst>
          </p:cNvPr>
          <p:cNvSpPr txBox="1"/>
          <p:nvPr/>
        </p:nvSpPr>
        <p:spPr>
          <a:xfrm>
            <a:off x="684212" y="1353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Idea generation session without judgment.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CEE179-5611-351E-97FD-3B31162A950A}"/>
              </a:ext>
            </a:extLst>
          </p:cNvPr>
          <p:cNvSpPr txBox="1"/>
          <p:nvPr/>
        </p:nvSpPr>
        <p:spPr>
          <a:xfrm>
            <a:off x="684212" y="2008983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Pakistan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Startup brainstorming new features for </a:t>
            </a:r>
            <a:r>
              <a:rPr lang="en-US" dirty="0" err="1"/>
              <a:t>Bykea</a:t>
            </a:r>
            <a:r>
              <a:rPr lang="en-US" dirty="0"/>
              <a:t> app.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Apple product ideation sessions.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ABF7AE-F814-06B6-0619-A4E9981CDDBF}"/>
              </a:ext>
            </a:extLst>
          </p:cNvPr>
          <p:cNvSpPr txBox="1"/>
          <p:nvPr/>
        </p:nvSpPr>
        <p:spPr>
          <a:xfrm>
            <a:off x="7720012" y="4829405"/>
            <a:ext cx="6096000" cy="170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🧠 Brainstorming Rules</a:t>
            </a:r>
          </a:p>
          <a:p>
            <a:pPr>
              <a:lnSpc>
                <a:spcPct val="150000"/>
              </a:lnSpc>
            </a:pPr>
            <a:r>
              <a:rPr lang="en-US" dirty="0"/>
              <a:t>✔ No criticism initially</a:t>
            </a:r>
            <a:br>
              <a:rPr lang="en-US" dirty="0"/>
            </a:br>
            <a:r>
              <a:rPr lang="en-US" dirty="0"/>
              <a:t>✔ Quantity over perfection</a:t>
            </a:r>
            <a:br>
              <a:rPr lang="en-US" dirty="0"/>
            </a:br>
            <a:r>
              <a:rPr lang="en-US" dirty="0"/>
              <a:t>✔ Build on ideas</a:t>
            </a:r>
          </a:p>
        </p:txBody>
      </p:sp>
      <p:pic>
        <p:nvPicPr>
          <p:cNvPr id="11266" name="Picture 2" descr="brainstorming Infographic 10 steps concept.imagination, idea, opportunity, teamwork simple icons">
            <a:extLst>
              <a:ext uri="{FF2B5EF4-FFF2-40B4-BE49-F238E27FC236}">
                <a16:creationId xmlns:a16="http://schemas.microsoft.com/office/drawing/2014/main" id="{D7689C5F-8CBE-AA7A-2171-467D137BE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49" y="1298805"/>
            <a:ext cx="3514725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Vector illustration of team brainstorming with sticky notes on whiteboard creative problem solving">
            <a:extLst>
              <a:ext uri="{FF2B5EF4-FFF2-40B4-BE49-F238E27FC236}">
                <a16:creationId xmlns:a16="http://schemas.microsoft.com/office/drawing/2014/main" id="{AA495E02-3B4A-65DE-DE9D-B44B3FDB8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2" y="3990436"/>
            <a:ext cx="3244264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93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590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CHOOSING THE RIGHT TECHNIQUE (DECISION FRAMEWORK)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31E15B-58A7-92E0-7487-E7DFDA2C1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646813"/>
              </p:ext>
            </p:extLst>
          </p:nvPr>
        </p:nvGraphicFramePr>
        <p:xfrm>
          <a:off x="742948" y="1556982"/>
          <a:ext cx="8524876" cy="2762250"/>
        </p:xfrm>
        <a:graphic>
          <a:graphicData uri="http://schemas.openxmlformats.org/drawingml/2006/table">
            <a:tbl>
              <a:tblPr/>
              <a:tblGrid>
                <a:gridCol w="4262438">
                  <a:extLst>
                    <a:ext uri="{9D8B030D-6E8A-4147-A177-3AD203B41FA5}">
                      <a16:colId xmlns:a16="http://schemas.microsoft.com/office/drawing/2014/main" val="340016415"/>
                    </a:ext>
                  </a:extLst>
                </a:gridCol>
                <a:gridCol w="4262438">
                  <a:extLst>
                    <a:ext uri="{9D8B030D-6E8A-4147-A177-3AD203B41FA5}">
                      <a16:colId xmlns:a16="http://schemas.microsoft.com/office/drawing/2014/main" val="1647773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08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/>
                        <a:t>One expert stakeholder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Interview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8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Conflicting opinions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/>
                        <a:t>Workshop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516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Hidden workflows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728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/>
                        <a:t>Large user 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/>
                        <a:t>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471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/>
                        <a:t>Innovation 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Brainstorming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00905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C7B7CF3-C91D-7332-363A-2ABAC84B3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475" y="1556982"/>
            <a:ext cx="3927922" cy="433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5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2" y="398951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VISUAL ELICITATION FUNNEL MODEL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B04EC3-EBA8-E053-1EBB-3C51423EA89E}"/>
              </a:ext>
            </a:extLst>
          </p:cNvPr>
          <p:cNvSpPr txBox="1"/>
          <p:nvPr/>
        </p:nvSpPr>
        <p:spPr>
          <a:xfrm>
            <a:off x="826294" y="58208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 filters noise into structured requirements.</a:t>
            </a:r>
            <a:endParaRPr lang="en-P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EB925D-0169-FF73-B7F6-20CCD266E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117" y="1278351"/>
            <a:ext cx="6586537" cy="431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66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How to Design the Most Effective Workflow | Smartsheet">
            <a:extLst>
              <a:ext uri="{FF2B5EF4-FFF2-40B4-BE49-F238E27FC236}">
                <a16:creationId xmlns:a16="http://schemas.microsoft.com/office/drawing/2014/main" id="{104E8251-9AD7-A0AC-C555-1E9A2CEDC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41211"/>
            <a:ext cx="8353425" cy="641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1EDC2B-B619-6268-5757-CFC11692AC7D}"/>
              </a:ext>
            </a:extLst>
          </p:cNvPr>
          <p:cNvSpPr txBox="1"/>
          <p:nvPr/>
        </p:nvSpPr>
        <p:spPr>
          <a:xfrm>
            <a:off x="8605838" y="2700874"/>
            <a:ext cx="3333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Client → “Make system modern.”</a:t>
            </a:r>
            <a:br>
              <a:rPr lang="en-US" dirty="0"/>
            </a:br>
            <a:r>
              <a:rPr lang="en-US" dirty="0"/>
              <a:t>BA → Ask probing questions.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3695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67717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KEY TERMINOLOGY STUDENTS MUST LEARN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43D3A1-6720-5242-7142-D19CEF081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19782"/>
              </p:ext>
            </p:extLst>
          </p:nvPr>
        </p:nvGraphicFramePr>
        <p:xfrm>
          <a:off x="981074" y="1114425"/>
          <a:ext cx="9786936" cy="5120994"/>
        </p:xfrm>
        <a:graphic>
          <a:graphicData uri="http://schemas.openxmlformats.org/drawingml/2006/table">
            <a:tbl>
              <a:tblPr/>
              <a:tblGrid>
                <a:gridCol w="2446734">
                  <a:extLst>
                    <a:ext uri="{9D8B030D-6E8A-4147-A177-3AD203B41FA5}">
                      <a16:colId xmlns:a16="http://schemas.microsoft.com/office/drawing/2014/main" val="3337522556"/>
                    </a:ext>
                  </a:extLst>
                </a:gridCol>
                <a:gridCol w="2446734">
                  <a:extLst>
                    <a:ext uri="{9D8B030D-6E8A-4147-A177-3AD203B41FA5}">
                      <a16:colId xmlns:a16="http://schemas.microsoft.com/office/drawing/2014/main" val="3558270273"/>
                    </a:ext>
                  </a:extLst>
                </a:gridCol>
                <a:gridCol w="2446734">
                  <a:extLst>
                    <a:ext uri="{9D8B030D-6E8A-4147-A177-3AD203B41FA5}">
                      <a16:colId xmlns:a16="http://schemas.microsoft.com/office/drawing/2014/main" val="370991540"/>
                    </a:ext>
                  </a:extLst>
                </a:gridCol>
                <a:gridCol w="2446734">
                  <a:extLst>
                    <a:ext uri="{9D8B030D-6E8A-4147-A177-3AD203B41FA5}">
                      <a16:colId xmlns:a16="http://schemas.microsoft.com/office/drawing/2014/main" val="3727081369"/>
                    </a:ext>
                  </a:extLst>
                </a:gridCol>
              </a:tblGrid>
              <a:tr h="323687">
                <a:tc>
                  <a:txBody>
                    <a:bodyPr/>
                    <a:lstStyle/>
                    <a:p>
                      <a:r>
                        <a:rPr lang="en-US" sz="1400" b="1"/>
                        <a:t>Term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Definition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Main Purpose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Simple Example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963948"/>
                  </a:ext>
                </a:extLst>
              </a:tr>
              <a:tr h="812744">
                <a:tc>
                  <a:txBody>
                    <a:bodyPr/>
                    <a:lstStyle/>
                    <a:p>
                      <a:r>
                        <a:rPr lang="en-US" sz="1400" b="1"/>
                        <a:t>Open-Ended Questions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Questions that require detailed answers instead of “yes” or “no.”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 gather deeper information and encourage discussion.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“What challenges do you face when using this system?”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714799"/>
                  </a:ext>
                </a:extLst>
              </a:tr>
              <a:tr h="1057273">
                <a:tc>
                  <a:txBody>
                    <a:bodyPr/>
                    <a:lstStyle/>
                    <a:p>
                      <a:r>
                        <a:rPr lang="en-US" sz="1400" b="1"/>
                        <a:t>Stakeholder Bias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When a stakeholder’s personal opinions or interests influence their judgment or decisions.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 recognize and manage unfair or one-sided viewpoints in projects.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manager promotes features that only help their department.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249648"/>
                  </a:ext>
                </a:extLst>
              </a:tr>
              <a:tr h="1057273">
                <a:tc>
                  <a:txBody>
                    <a:bodyPr/>
                    <a:lstStyle/>
                    <a:p>
                      <a:r>
                        <a:rPr lang="en-US" sz="1400" b="1"/>
                        <a:t>Active Listening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Fully focusing on, understanding, and responding thoughtfully to what someone says.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 improve communication, trust, and clarity.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Nodding, paraphrasing, and asking clarifying questions.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553719"/>
                  </a:ext>
                </a:extLst>
              </a:tr>
              <a:tr h="1057273">
                <a:tc>
                  <a:txBody>
                    <a:bodyPr/>
                    <a:lstStyle/>
                    <a:p>
                      <a:r>
                        <a:rPr lang="en-US" sz="1400" b="1"/>
                        <a:t>Facilitation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Guiding a group discussion so participants collaborate effectively and reach outcomes.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 keep meetings productive and organized.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Leading a workshop to define project requirements.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359959"/>
                  </a:ext>
                </a:extLst>
              </a:tr>
              <a:tr h="812744">
                <a:tc>
                  <a:txBody>
                    <a:bodyPr/>
                    <a:lstStyle/>
                    <a:p>
                      <a:r>
                        <a:rPr lang="en-US" sz="1400" b="1"/>
                        <a:t>Requirement Probing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Asking deeper follow-up questions to clarify or uncover hidden needs.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 ensure requirements are clear, complete, and accurate.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“What response time should the system have?”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24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54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27852</TotalTime>
  <Words>788</Words>
  <Application>Microsoft Macintosh PowerPoint</Application>
  <PresentationFormat>Widescreen</PresentationFormat>
  <Paragraphs>152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5 </vt:lpstr>
      <vt:lpstr>PowerPoint Presentation</vt:lpstr>
      <vt:lpstr>WHAT IS REQUIREMENTS ELICITATION? </vt:lpstr>
      <vt:lpstr>PowerPoint Presentation</vt:lpstr>
      <vt:lpstr>WHY ELICITATION IS CRITICAL </vt:lpstr>
      <vt:lpstr>ELICITATION TECHNIQUE #1 – INTERVIEWS </vt:lpstr>
      <vt:lpstr>ELICITATION TECHNIQUE #2 – WORKSHOPS  </vt:lpstr>
      <vt:lpstr>ELICITATION TECHNIQUE #3 – OBSERVATION  </vt:lpstr>
      <vt:lpstr>ELICITATION TECHNIQUE #4 – SURVEYS</vt:lpstr>
      <vt:lpstr>ELICITATION TECHNIQUE #5 – BRAINSTORMING</vt:lpstr>
      <vt:lpstr>CHOOSING THE RIGHT TECHNIQUE (DECISION FRAMEWORK)</vt:lpstr>
      <vt:lpstr>VISUAL ELICITATION FUNNEL MODEL </vt:lpstr>
      <vt:lpstr>PowerPoint Presentation</vt:lpstr>
      <vt:lpstr>KEY TERMINOLOGY STUDENTS MUST LEARN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148</cp:revision>
  <dcterms:created xsi:type="dcterms:W3CDTF">2024-06-09T07:08:43Z</dcterms:created>
  <dcterms:modified xsi:type="dcterms:W3CDTF">2026-02-20T08:58:56Z</dcterms:modified>
</cp:coreProperties>
</file>