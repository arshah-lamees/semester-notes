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48" r:id="rId1"/>
  </p:sldMasterIdLst>
  <p:notesMasterIdLst>
    <p:notesMasterId r:id="rId22"/>
  </p:notesMasterIdLst>
  <p:sldIdLst>
    <p:sldId id="256" r:id="rId2"/>
    <p:sldId id="345" r:id="rId3"/>
    <p:sldId id="357" r:id="rId4"/>
    <p:sldId id="380" r:id="rId5"/>
    <p:sldId id="347" r:id="rId6"/>
    <p:sldId id="389" r:id="rId7"/>
    <p:sldId id="397" r:id="rId8"/>
    <p:sldId id="390" r:id="rId9"/>
    <p:sldId id="398" r:id="rId10"/>
    <p:sldId id="391" r:id="rId11"/>
    <p:sldId id="392" r:id="rId12"/>
    <p:sldId id="393" r:id="rId13"/>
    <p:sldId id="399" r:id="rId14"/>
    <p:sldId id="394" r:id="rId15"/>
    <p:sldId id="396" r:id="rId16"/>
    <p:sldId id="395" r:id="rId17"/>
    <p:sldId id="386" r:id="rId18"/>
    <p:sldId id="387" r:id="rId19"/>
    <p:sldId id="388" r:id="rId20"/>
    <p:sldId id="400" r:id="rId21"/>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feeza Iqbal" initials="MI" lastIdx="1" clrIdx="0">
    <p:extLst>
      <p:ext uri="{19B8F6BF-5375-455C-9EA6-DF929625EA0E}">
        <p15:presenceInfo xmlns:p15="http://schemas.microsoft.com/office/powerpoint/2012/main" userId="Mufeeza Iqb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75C4"/>
    <a:srgbClr val="D4E5F7"/>
    <a:srgbClr val="E3EEFD"/>
    <a:srgbClr val="BAE2D1"/>
    <a:srgbClr val="ECF3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91"/>
  </p:normalViewPr>
  <p:slideViewPr>
    <p:cSldViewPr snapToGrid="0">
      <p:cViewPr varScale="1">
        <p:scale>
          <a:sx n="120" d="100"/>
          <a:sy n="120" d="100"/>
        </p:scale>
        <p:origin x="1848"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A3216-91D5-43D0-B205-F0CBF00F2A3B}" type="datetimeFigureOut">
              <a:rPr lang="en-PK" smtClean="0"/>
              <a:t>3/27/26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88AE2D-6C56-4B4B-AC93-0FCEBED5A4D6}" type="slidenum">
              <a:rPr lang="en-PK" smtClean="0"/>
              <a:t>‹#›</a:t>
            </a:fld>
            <a:endParaRPr lang="en-PK"/>
          </a:p>
        </p:txBody>
      </p:sp>
    </p:spTree>
    <p:extLst>
      <p:ext uri="{BB962C8B-B14F-4D97-AF65-F5344CB8AC3E}">
        <p14:creationId xmlns:p14="http://schemas.microsoft.com/office/powerpoint/2010/main" val="109202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E88AE2D-6C56-4B4B-AC93-0FCEBED5A4D6}" type="slidenum">
              <a:rPr lang="en-PK" smtClean="0"/>
              <a:t>3</a:t>
            </a:fld>
            <a:endParaRPr lang="en-PK"/>
          </a:p>
        </p:txBody>
      </p:sp>
    </p:spTree>
    <p:extLst>
      <p:ext uri="{BB962C8B-B14F-4D97-AF65-F5344CB8AC3E}">
        <p14:creationId xmlns:p14="http://schemas.microsoft.com/office/powerpoint/2010/main" val="3093250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4</a:t>
            </a:fld>
            <a:endParaRPr lang="en-PK"/>
          </a:p>
        </p:txBody>
      </p:sp>
    </p:spTree>
    <p:extLst>
      <p:ext uri="{BB962C8B-B14F-4D97-AF65-F5344CB8AC3E}">
        <p14:creationId xmlns:p14="http://schemas.microsoft.com/office/powerpoint/2010/main" val="4072042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5</a:t>
            </a:fld>
            <a:endParaRPr lang="en-PK"/>
          </a:p>
        </p:txBody>
      </p:sp>
    </p:spTree>
    <p:extLst>
      <p:ext uri="{BB962C8B-B14F-4D97-AF65-F5344CB8AC3E}">
        <p14:creationId xmlns:p14="http://schemas.microsoft.com/office/powerpoint/2010/main" val="2235793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29124-CF7D-2B14-B0C7-97AD41DE5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CF541-1E90-0DC9-B676-E3788BCCFA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27A77-3C4B-1824-07EB-8C1778ED84DD}"/>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E0005468-C841-C493-2AC9-BD8F75AC5B92}"/>
              </a:ext>
            </a:extLst>
          </p:cNvPr>
          <p:cNvSpPr>
            <a:spLocks noGrp="1"/>
          </p:cNvSpPr>
          <p:nvPr>
            <p:ph type="sldNum" sz="quarter" idx="5"/>
          </p:nvPr>
        </p:nvSpPr>
        <p:spPr/>
        <p:txBody>
          <a:bodyPr/>
          <a:lstStyle/>
          <a:p>
            <a:fld id="{AE88AE2D-6C56-4B4B-AC93-0FCEBED5A4D6}" type="slidenum">
              <a:rPr lang="en-PK" smtClean="0"/>
              <a:t>6</a:t>
            </a:fld>
            <a:endParaRPr lang="en-PK"/>
          </a:p>
        </p:txBody>
      </p:sp>
    </p:spTree>
    <p:extLst>
      <p:ext uri="{BB962C8B-B14F-4D97-AF65-F5344CB8AC3E}">
        <p14:creationId xmlns:p14="http://schemas.microsoft.com/office/powerpoint/2010/main" val="1562083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91012-0D57-C1AC-0120-6B80C239B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B7363-7669-9AD6-FCD5-6278157EE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A30C9-6994-CC1A-CA4F-AC120DC505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081427-7ED7-F89C-5090-26A107BA1E71}"/>
              </a:ext>
            </a:extLst>
          </p:cNvPr>
          <p:cNvSpPr>
            <a:spLocks noGrp="1"/>
          </p:cNvSpPr>
          <p:nvPr>
            <p:ph type="sldNum" sz="quarter" idx="5"/>
          </p:nvPr>
        </p:nvSpPr>
        <p:spPr/>
        <p:txBody>
          <a:bodyPr/>
          <a:lstStyle/>
          <a:p>
            <a:fld id="{AE88AE2D-6C56-4B4B-AC93-0FCEBED5A4D6}" type="slidenum">
              <a:rPr lang="en-PK" smtClean="0"/>
              <a:t>7</a:t>
            </a:fld>
            <a:endParaRPr lang="en-PK"/>
          </a:p>
        </p:txBody>
      </p:sp>
    </p:spTree>
    <p:extLst>
      <p:ext uri="{BB962C8B-B14F-4D97-AF65-F5344CB8AC3E}">
        <p14:creationId xmlns:p14="http://schemas.microsoft.com/office/powerpoint/2010/main" val="3284120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DA680-8F73-08E5-9DD6-46DD06029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E88B4-64AC-E870-1F0A-34EF3B424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09E404-876A-A2A6-63C8-D4A9C15769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E49F47-CEC6-6C36-9B44-9E8D323103A3}"/>
              </a:ext>
            </a:extLst>
          </p:cNvPr>
          <p:cNvSpPr>
            <a:spLocks noGrp="1"/>
          </p:cNvSpPr>
          <p:nvPr>
            <p:ph type="sldNum" sz="quarter" idx="5"/>
          </p:nvPr>
        </p:nvSpPr>
        <p:spPr/>
        <p:txBody>
          <a:bodyPr/>
          <a:lstStyle/>
          <a:p>
            <a:fld id="{AE88AE2D-6C56-4B4B-AC93-0FCEBED5A4D6}" type="slidenum">
              <a:rPr lang="en-PK" smtClean="0"/>
              <a:t>8</a:t>
            </a:fld>
            <a:endParaRPr lang="en-PK"/>
          </a:p>
        </p:txBody>
      </p:sp>
    </p:spTree>
    <p:extLst>
      <p:ext uri="{BB962C8B-B14F-4D97-AF65-F5344CB8AC3E}">
        <p14:creationId xmlns:p14="http://schemas.microsoft.com/office/powerpoint/2010/main" val="3390847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D4522-84B3-DDAD-3DE7-6C192FD76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6EA07-788C-1790-D253-1EBA3CFA6E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335EA-9CAE-2D23-3189-C55D75D8FD1E}"/>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6C7BA957-8F99-B6DD-6056-D237DE447DFC}"/>
              </a:ext>
            </a:extLst>
          </p:cNvPr>
          <p:cNvSpPr>
            <a:spLocks noGrp="1"/>
          </p:cNvSpPr>
          <p:nvPr>
            <p:ph type="sldNum" sz="quarter" idx="5"/>
          </p:nvPr>
        </p:nvSpPr>
        <p:spPr/>
        <p:txBody>
          <a:bodyPr/>
          <a:lstStyle/>
          <a:p>
            <a:fld id="{AE88AE2D-6C56-4B4B-AC93-0FCEBED5A4D6}" type="slidenum">
              <a:rPr lang="en-PK" smtClean="0"/>
              <a:t>9</a:t>
            </a:fld>
            <a:endParaRPr lang="en-PK"/>
          </a:p>
        </p:txBody>
      </p:sp>
    </p:spTree>
    <p:extLst>
      <p:ext uri="{BB962C8B-B14F-4D97-AF65-F5344CB8AC3E}">
        <p14:creationId xmlns:p14="http://schemas.microsoft.com/office/powerpoint/2010/main" val="572213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E2A8C-0C87-AF58-627C-8F0EB8D89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36ED05-B50B-0722-6367-81BB7D684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67490-0DA7-3292-26CF-16A5994A9219}"/>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A6CB2A44-6415-E1AB-51CC-7EACCB97B311}"/>
              </a:ext>
            </a:extLst>
          </p:cNvPr>
          <p:cNvSpPr>
            <a:spLocks noGrp="1"/>
          </p:cNvSpPr>
          <p:nvPr>
            <p:ph type="sldNum" sz="quarter" idx="5"/>
          </p:nvPr>
        </p:nvSpPr>
        <p:spPr/>
        <p:txBody>
          <a:bodyPr/>
          <a:lstStyle/>
          <a:p>
            <a:fld id="{AE88AE2D-6C56-4B4B-AC93-0FCEBED5A4D6}" type="slidenum">
              <a:rPr lang="en-PK" smtClean="0"/>
              <a:t>10</a:t>
            </a:fld>
            <a:endParaRPr lang="en-PK"/>
          </a:p>
        </p:txBody>
      </p:sp>
    </p:spTree>
    <p:extLst>
      <p:ext uri="{BB962C8B-B14F-4D97-AF65-F5344CB8AC3E}">
        <p14:creationId xmlns:p14="http://schemas.microsoft.com/office/powerpoint/2010/main" val="807839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D6706-E7FD-F0B6-D7E4-81F761F23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DB728-BB12-F4C2-9FAC-D40B25457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A3D8E-70FE-0969-81F5-9B1C446E23BF}"/>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27A829A8-764B-82C0-E385-965525068530}"/>
              </a:ext>
            </a:extLst>
          </p:cNvPr>
          <p:cNvSpPr>
            <a:spLocks noGrp="1"/>
          </p:cNvSpPr>
          <p:nvPr>
            <p:ph type="sldNum" sz="quarter" idx="5"/>
          </p:nvPr>
        </p:nvSpPr>
        <p:spPr/>
        <p:txBody>
          <a:bodyPr/>
          <a:lstStyle/>
          <a:p>
            <a:fld id="{AE88AE2D-6C56-4B4B-AC93-0FCEBED5A4D6}" type="slidenum">
              <a:rPr lang="en-PK" smtClean="0"/>
              <a:t>11</a:t>
            </a:fld>
            <a:endParaRPr lang="en-PK"/>
          </a:p>
        </p:txBody>
      </p:sp>
    </p:spTree>
    <p:extLst>
      <p:ext uri="{BB962C8B-B14F-4D97-AF65-F5344CB8AC3E}">
        <p14:creationId xmlns:p14="http://schemas.microsoft.com/office/powerpoint/2010/main" val="2542257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68477-CF05-E3FD-DA9D-4CF99540D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39E7B-D041-9CC4-FFC8-D4564B780C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39074-B5E9-3FD8-8774-52BF894F8E0E}"/>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2D040F07-3966-75AB-BDB9-05490CB0EBA3}"/>
              </a:ext>
            </a:extLst>
          </p:cNvPr>
          <p:cNvSpPr>
            <a:spLocks noGrp="1"/>
          </p:cNvSpPr>
          <p:nvPr>
            <p:ph type="sldNum" sz="quarter" idx="5"/>
          </p:nvPr>
        </p:nvSpPr>
        <p:spPr/>
        <p:txBody>
          <a:bodyPr/>
          <a:lstStyle/>
          <a:p>
            <a:fld id="{AE88AE2D-6C56-4B4B-AC93-0FCEBED5A4D6}" type="slidenum">
              <a:rPr lang="en-PK" smtClean="0"/>
              <a:t>12</a:t>
            </a:fld>
            <a:endParaRPr lang="en-PK"/>
          </a:p>
        </p:txBody>
      </p:sp>
    </p:spTree>
    <p:extLst>
      <p:ext uri="{BB962C8B-B14F-4D97-AF65-F5344CB8AC3E}">
        <p14:creationId xmlns:p14="http://schemas.microsoft.com/office/powerpoint/2010/main" val="3375707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78827-6236-20BC-EF66-B59B304B1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35E3C1-86E0-B73C-AE01-2133F5D87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6D693-F228-04F3-EACE-CA8DAEB42E77}"/>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C1BC6AEB-1AE7-CCDB-2583-EA14B23ED337}"/>
              </a:ext>
            </a:extLst>
          </p:cNvPr>
          <p:cNvSpPr>
            <a:spLocks noGrp="1"/>
          </p:cNvSpPr>
          <p:nvPr>
            <p:ph type="sldNum" sz="quarter" idx="5"/>
          </p:nvPr>
        </p:nvSpPr>
        <p:spPr/>
        <p:txBody>
          <a:bodyPr/>
          <a:lstStyle/>
          <a:p>
            <a:fld id="{AE88AE2D-6C56-4B4B-AC93-0FCEBED5A4D6}" type="slidenum">
              <a:rPr lang="en-PK" smtClean="0"/>
              <a:t>13</a:t>
            </a:fld>
            <a:endParaRPr lang="en-PK"/>
          </a:p>
        </p:txBody>
      </p:sp>
    </p:spTree>
    <p:extLst>
      <p:ext uri="{BB962C8B-B14F-4D97-AF65-F5344CB8AC3E}">
        <p14:creationId xmlns:p14="http://schemas.microsoft.com/office/powerpoint/2010/main" val="671137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1A266-17D7-B08F-4954-F7A8571EE9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EA2CCF-98DD-92C2-1A60-A0E98C0D79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B4173A-01C9-AFE8-1C2A-5E8164EC6F16}"/>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9147294E-1ECE-9EDE-3A53-2E6FBF057665}"/>
              </a:ext>
            </a:extLst>
          </p:cNvPr>
          <p:cNvSpPr>
            <a:spLocks noGrp="1"/>
          </p:cNvSpPr>
          <p:nvPr>
            <p:ph type="sldNum" sz="quarter" idx="5"/>
          </p:nvPr>
        </p:nvSpPr>
        <p:spPr/>
        <p:txBody>
          <a:bodyPr/>
          <a:lstStyle/>
          <a:p>
            <a:fld id="{AE88AE2D-6C56-4B4B-AC93-0FCEBED5A4D6}" type="slidenum">
              <a:rPr lang="en-PK" smtClean="0"/>
              <a:t>14</a:t>
            </a:fld>
            <a:endParaRPr lang="en-PK"/>
          </a:p>
        </p:txBody>
      </p:sp>
    </p:spTree>
    <p:extLst>
      <p:ext uri="{BB962C8B-B14F-4D97-AF65-F5344CB8AC3E}">
        <p14:creationId xmlns:p14="http://schemas.microsoft.com/office/powerpoint/2010/main" val="3396815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59095-C661-51FD-ABC4-C7D91996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76EA0-FF8F-EF10-2A47-98D3116AB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5C4F4-C8B9-301C-F0E7-6E2A89605B3F}"/>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F8B7F42-1CDE-B9C1-5A47-971BE9A08878}"/>
              </a:ext>
            </a:extLst>
          </p:cNvPr>
          <p:cNvSpPr>
            <a:spLocks noGrp="1"/>
          </p:cNvSpPr>
          <p:nvPr>
            <p:ph type="sldNum" sz="quarter" idx="5"/>
          </p:nvPr>
        </p:nvSpPr>
        <p:spPr/>
        <p:txBody>
          <a:bodyPr/>
          <a:lstStyle/>
          <a:p>
            <a:fld id="{AE88AE2D-6C56-4B4B-AC93-0FCEBED5A4D6}" type="slidenum">
              <a:rPr lang="en-PK" smtClean="0"/>
              <a:t>15</a:t>
            </a:fld>
            <a:endParaRPr lang="en-PK"/>
          </a:p>
        </p:txBody>
      </p:sp>
    </p:spTree>
    <p:extLst>
      <p:ext uri="{BB962C8B-B14F-4D97-AF65-F5344CB8AC3E}">
        <p14:creationId xmlns:p14="http://schemas.microsoft.com/office/powerpoint/2010/main" val="3726763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3E760-3B8D-E12E-B8E1-E8641065C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9FD7D-21C5-49E2-CBD2-E832AED029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142F67-7259-6570-46A9-FC710BEC21FF}"/>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2CAF5BD5-B05E-C432-FD55-0ED43BFF9919}"/>
              </a:ext>
            </a:extLst>
          </p:cNvPr>
          <p:cNvSpPr>
            <a:spLocks noGrp="1"/>
          </p:cNvSpPr>
          <p:nvPr>
            <p:ph type="sldNum" sz="quarter" idx="5"/>
          </p:nvPr>
        </p:nvSpPr>
        <p:spPr/>
        <p:txBody>
          <a:bodyPr/>
          <a:lstStyle/>
          <a:p>
            <a:fld id="{AE88AE2D-6C56-4B4B-AC93-0FCEBED5A4D6}" type="slidenum">
              <a:rPr lang="en-PK" smtClean="0"/>
              <a:t>16</a:t>
            </a:fld>
            <a:endParaRPr lang="en-PK"/>
          </a:p>
        </p:txBody>
      </p:sp>
    </p:spTree>
    <p:extLst>
      <p:ext uri="{BB962C8B-B14F-4D97-AF65-F5344CB8AC3E}">
        <p14:creationId xmlns:p14="http://schemas.microsoft.com/office/powerpoint/2010/main" val="573575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17</a:t>
            </a:fld>
            <a:endParaRPr lang="en-PK"/>
          </a:p>
        </p:txBody>
      </p:sp>
    </p:spTree>
    <p:extLst>
      <p:ext uri="{BB962C8B-B14F-4D97-AF65-F5344CB8AC3E}">
        <p14:creationId xmlns:p14="http://schemas.microsoft.com/office/powerpoint/2010/main" val="1191589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18</a:t>
            </a:fld>
            <a:endParaRPr lang="en-PK"/>
          </a:p>
        </p:txBody>
      </p:sp>
    </p:spTree>
    <p:extLst>
      <p:ext uri="{BB962C8B-B14F-4D97-AF65-F5344CB8AC3E}">
        <p14:creationId xmlns:p14="http://schemas.microsoft.com/office/powerpoint/2010/main" val="34132371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88AE2D-6C56-4B4B-AC93-0FCEBED5A4D6}" type="slidenum">
              <a:rPr lang="en-PK" smtClean="0"/>
              <a:t>19</a:t>
            </a:fld>
            <a:endParaRPr lang="en-PK"/>
          </a:p>
        </p:txBody>
      </p:sp>
    </p:spTree>
    <p:extLst>
      <p:ext uri="{BB962C8B-B14F-4D97-AF65-F5344CB8AC3E}">
        <p14:creationId xmlns:p14="http://schemas.microsoft.com/office/powerpoint/2010/main" val="3288920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E494-ACEF-4818-B1C7-64ABF414F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34B188-5E93-F2C6-B7DA-D2F322B4E5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A3D5C-0B3E-EA91-1CA4-F8527C1B07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634D58-1F94-9B33-8A78-8955D5D08589}"/>
              </a:ext>
            </a:extLst>
          </p:cNvPr>
          <p:cNvSpPr>
            <a:spLocks noGrp="1"/>
          </p:cNvSpPr>
          <p:nvPr>
            <p:ph type="sldNum" sz="quarter" idx="5"/>
          </p:nvPr>
        </p:nvSpPr>
        <p:spPr/>
        <p:txBody>
          <a:bodyPr/>
          <a:lstStyle/>
          <a:p>
            <a:fld id="{AE88AE2D-6C56-4B4B-AC93-0FCEBED5A4D6}" type="slidenum">
              <a:rPr lang="en-PK" smtClean="0"/>
              <a:t>20</a:t>
            </a:fld>
            <a:endParaRPr lang="en-PK"/>
          </a:p>
        </p:txBody>
      </p:sp>
    </p:spTree>
    <p:extLst>
      <p:ext uri="{BB962C8B-B14F-4D97-AF65-F5344CB8AC3E}">
        <p14:creationId xmlns:p14="http://schemas.microsoft.com/office/powerpoint/2010/main" val="509269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92AE-3475-5519-9CD2-B3813CA2A3E0}"/>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PK" dirty="0"/>
          </a:p>
        </p:txBody>
      </p:sp>
      <p:sp>
        <p:nvSpPr>
          <p:cNvPr id="3" name="Subtitle 2">
            <a:extLst>
              <a:ext uri="{FF2B5EF4-FFF2-40B4-BE49-F238E27FC236}">
                <a16:creationId xmlns:a16="http://schemas.microsoft.com/office/drawing/2014/main" id="{C69BC997-4B8A-9709-FA3F-2812ED29E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PK" dirty="0"/>
          </a:p>
        </p:txBody>
      </p:sp>
      <p:sp>
        <p:nvSpPr>
          <p:cNvPr id="4" name="Date Placeholder 3">
            <a:extLst>
              <a:ext uri="{FF2B5EF4-FFF2-40B4-BE49-F238E27FC236}">
                <a16:creationId xmlns:a16="http://schemas.microsoft.com/office/drawing/2014/main" id="{0CEDD1C2-A443-3425-F1A3-450EEF2D63F4}"/>
              </a:ext>
            </a:extLst>
          </p:cNvPr>
          <p:cNvSpPr>
            <a:spLocks noGrp="1"/>
          </p:cNvSpPr>
          <p:nvPr>
            <p:ph type="dt" sz="half" idx="10"/>
          </p:nvPr>
        </p:nvSpPr>
        <p:spPr/>
        <p:txBody>
          <a:bodyPr/>
          <a:lstStyle/>
          <a:p>
            <a:fld id="{F2E0BE24-4914-473D-86E2-D4EE0B0E90C7}" type="datetime8">
              <a:rPr lang="en-PK" smtClean="0"/>
              <a:t>3/27/26 8:53 AM</a:t>
            </a:fld>
            <a:endParaRPr lang="en-PK"/>
          </a:p>
        </p:txBody>
      </p:sp>
      <p:sp>
        <p:nvSpPr>
          <p:cNvPr id="5" name="Footer Placeholder 4">
            <a:extLst>
              <a:ext uri="{FF2B5EF4-FFF2-40B4-BE49-F238E27FC236}">
                <a16:creationId xmlns:a16="http://schemas.microsoft.com/office/drawing/2014/main" id="{80BE2A3E-9208-EDCE-DEBB-4D933736745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7EF72C-8D9E-F888-7543-7E09C4BFD1ED}"/>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970094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99ADE-7B08-A01C-72DF-FE9993CEE412}"/>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D7607FC3-A55A-4A8D-FCDC-D328082DEE3B}"/>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81EEBE8E-9BB1-B225-5B4C-55AEA4E7FB3F}"/>
              </a:ext>
            </a:extLst>
          </p:cNvPr>
          <p:cNvSpPr>
            <a:spLocks noGrp="1"/>
          </p:cNvSpPr>
          <p:nvPr>
            <p:ph type="dt" sz="half" idx="10"/>
          </p:nvPr>
        </p:nvSpPr>
        <p:spPr/>
        <p:txBody>
          <a:bodyPr/>
          <a:lstStyle/>
          <a:p>
            <a:fld id="{9E39EF77-D47F-4BB1-86E4-5F455460BD9C}" type="datetime8">
              <a:rPr lang="en-PK" smtClean="0"/>
              <a:t>3/27/26 8:53 AM</a:t>
            </a:fld>
            <a:endParaRPr lang="en-PK"/>
          </a:p>
        </p:txBody>
      </p:sp>
      <p:sp>
        <p:nvSpPr>
          <p:cNvPr id="5" name="Footer Placeholder 4">
            <a:extLst>
              <a:ext uri="{FF2B5EF4-FFF2-40B4-BE49-F238E27FC236}">
                <a16:creationId xmlns:a16="http://schemas.microsoft.com/office/drawing/2014/main" id="{1C5AE679-F999-E1F9-0F77-DEA6D713194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877F485-BD67-E327-64C3-D7E71B9E5CDC}"/>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910424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EA042-DF09-56BB-8638-29DBAD3887F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6E1508DB-FFA7-6D03-67FA-3EF149A1B8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14BE1E-EE08-ACCC-1271-2F5E25CAF127}"/>
              </a:ext>
            </a:extLst>
          </p:cNvPr>
          <p:cNvSpPr>
            <a:spLocks noGrp="1"/>
          </p:cNvSpPr>
          <p:nvPr>
            <p:ph type="dt" sz="half" idx="10"/>
          </p:nvPr>
        </p:nvSpPr>
        <p:spPr/>
        <p:txBody>
          <a:bodyPr/>
          <a:lstStyle/>
          <a:p>
            <a:fld id="{8081A5AA-2A6E-43F2-9F30-AF7EED5FA600}" type="datetime8">
              <a:rPr lang="en-PK" smtClean="0"/>
              <a:t>3/27/26 8:53 AM</a:t>
            </a:fld>
            <a:endParaRPr lang="en-PK"/>
          </a:p>
        </p:txBody>
      </p:sp>
      <p:sp>
        <p:nvSpPr>
          <p:cNvPr id="5" name="Footer Placeholder 4">
            <a:extLst>
              <a:ext uri="{FF2B5EF4-FFF2-40B4-BE49-F238E27FC236}">
                <a16:creationId xmlns:a16="http://schemas.microsoft.com/office/drawing/2014/main" id="{C3D9D85B-5C96-E835-D822-93C86F7831C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F1899E9-E472-DD15-F881-200436473BF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010372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7FCC-3AE3-0214-F9D4-FCB15D614000}"/>
              </a:ext>
            </a:extLst>
          </p:cNvPr>
          <p:cNvSpPr>
            <a:spLocks noGrp="1"/>
          </p:cNvSpPr>
          <p:nvPr>
            <p:ph type="title"/>
          </p:nvPr>
        </p:nvSpPr>
        <p:spPr/>
        <p:txBody>
          <a:bodyPr/>
          <a:lstStyle>
            <a:lvl1pPr>
              <a:defRPr sz="2800" b="1" i="0" baseline="0">
                <a:solidFill>
                  <a:srgbClr val="0070C0"/>
                </a:solidFill>
              </a:defRPr>
            </a:lvl1pPr>
          </a:lstStyle>
          <a:p>
            <a:r>
              <a:rPr lang="en-US" dirty="0"/>
              <a:t>Click to edit Master title style</a:t>
            </a:r>
            <a:endParaRPr lang="en-PK" dirty="0"/>
          </a:p>
        </p:txBody>
      </p:sp>
      <p:sp>
        <p:nvSpPr>
          <p:cNvPr id="3" name="Content Placeholder 2">
            <a:extLst>
              <a:ext uri="{FF2B5EF4-FFF2-40B4-BE49-F238E27FC236}">
                <a16:creationId xmlns:a16="http://schemas.microsoft.com/office/drawing/2014/main" id="{8207161E-F706-1674-13DB-BACD4723176A}"/>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Content Placeholder 3">
            <a:extLst>
              <a:ext uri="{FF2B5EF4-FFF2-40B4-BE49-F238E27FC236}">
                <a16:creationId xmlns:a16="http://schemas.microsoft.com/office/drawing/2014/main" id="{57CA0A05-46B6-960E-7368-B2CE54CC3B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DF639986-E720-F1B7-36F9-B2708004C907}"/>
              </a:ext>
            </a:extLst>
          </p:cNvPr>
          <p:cNvSpPr>
            <a:spLocks noGrp="1"/>
          </p:cNvSpPr>
          <p:nvPr>
            <p:ph type="dt" sz="half" idx="10"/>
          </p:nvPr>
        </p:nvSpPr>
        <p:spPr/>
        <p:txBody>
          <a:bodyPr/>
          <a:lstStyle/>
          <a:p>
            <a:fld id="{9E4E2CB0-8F81-407D-9308-759F0E533D95}" type="datetime8">
              <a:rPr lang="en-PK" smtClean="0"/>
              <a:t>3/27/26 8:53 AM</a:t>
            </a:fld>
            <a:endParaRPr lang="en-PK"/>
          </a:p>
        </p:txBody>
      </p:sp>
      <p:sp>
        <p:nvSpPr>
          <p:cNvPr id="6" name="Footer Placeholder 5">
            <a:extLst>
              <a:ext uri="{FF2B5EF4-FFF2-40B4-BE49-F238E27FC236}">
                <a16:creationId xmlns:a16="http://schemas.microsoft.com/office/drawing/2014/main" id="{108C3A9C-BA81-3B68-288D-EB7FD47FFBA7}"/>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CEAEAC4-C699-2232-BD98-7252DC5E195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606244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4A8C3-75DD-1313-ABA5-5D3FFA02C9DA}"/>
              </a:ext>
            </a:extLst>
          </p:cNvPr>
          <p:cNvSpPr>
            <a:spLocks noGrp="1"/>
          </p:cNvSpPr>
          <p:nvPr>
            <p:ph type="title"/>
          </p:nvPr>
        </p:nvSpPr>
        <p:spPr>
          <a:xfrm>
            <a:off x="839788" y="365125"/>
            <a:ext cx="10515600" cy="1325563"/>
          </a:xfrm>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8C77D5B1-50C2-CF91-9D88-610914E272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B35284C-0315-C6F1-CA04-F3E219D15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BC47C534-C2F2-A37B-C431-9DF8A42B31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AA4DAB-49CA-2EFC-9842-564884678C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E64688EE-799F-3F23-A121-4F674361A703}"/>
              </a:ext>
            </a:extLst>
          </p:cNvPr>
          <p:cNvSpPr>
            <a:spLocks noGrp="1"/>
          </p:cNvSpPr>
          <p:nvPr>
            <p:ph type="dt" sz="half" idx="10"/>
          </p:nvPr>
        </p:nvSpPr>
        <p:spPr/>
        <p:txBody>
          <a:bodyPr/>
          <a:lstStyle/>
          <a:p>
            <a:fld id="{6F0FBD63-32C8-45D6-BE9D-408F278BE9C8}" type="datetime8">
              <a:rPr lang="en-PK" smtClean="0"/>
              <a:t>3/27/26 8:53 AM</a:t>
            </a:fld>
            <a:endParaRPr lang="en-PK"/>
          </a:p>
        </p:txBody>
      </p:sp>
      <p:sp>
        <p:nvSpPr>
          <p:cNvPr id="8" name="Footer Placeholder 7">
            <a:extLst>
              <a:ext uri="{FF2B5EF4-FFF2-40B4-BE49-F238E27FC236}">
                <a16:creationId xmlns:a16="http://schemas.microsoft.com/office/drawing/2014/main" id="{93E4848C-55D2-9A77-36F1-FAD52DCB085E}"/>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D5D59BD-56E3-4753-6C9F-3B1F4CE0BE6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930308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AC4B4-FA75-C85D-E743-3DB6E5DB7351}"/>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2FDF645E-1294-7708-0DA4-EDA61782FD91}"/>
              </a:ext>
            </a:extLst>
          </p:cNvPr>
          <p:cNvSpPr>
            <a:spLocks noGrp="1"/>
          </p:cNvSpPr>
          <p:nvPr>
            <p:ph type="dt" sz="half" idx="10"/>
          </p:nvPr>
        </p:nvSpPr>
        <p:spPr/>
        <p:txBody>
          <a:bodyPr/>
          <a:lstStyle/>
          <a:p>
            <a:fld id="{165A7C61-2664-45A8-9CA0-D9D546B35364}" type="datetime8">
              <a:rPr lang="en-PK" smtClean="0"/>
              <a:t>3/27/26 8:53 AM</a:t>
            </a:fld>
            <a:endParaRPr lang="en-PK"/>
          </a:p>
        </p:txBody>
      </p:sp>
      <p:sp>
        <p:nvSpPr>
          <p:cNvPr id="4" name="Footer Placeholder 3">
            <a:extLst>
              <a:ext uri="{FF2B5EF4-FFF2-40B4-BE49-F238E27FC236}">
                <a16:creationId xmlns:a16="http://schemas.microsoft.com/office/drawing/2014/main" id="{4E69AFA9-8467-3A28-7BFF-CA12EF3CA431}"/>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08D24441-1E31-6A33-D8E8-781D599AD101}"/>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292362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B7448-39E8-68A0-B712-84409BF4EB3A}"/>
              </a:ext>
            </a:extLst>
          </p:cNvPr>
          <p:cNvSpPr>
            <a:spLocks noGrp="1"/>
          </p:cNvSpPr>
          <p:nvPr>
            <p:ph type="title"/>
          </p:nvPr>
        </p:nvSpPr>
        <p:spPr/>
        <p:txBody>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Date Placeholder 2">
            <a:extLst>
              <a:ext uri="{FF2B5EF4-FFF2-40B4-BE49-F238E27FC236}">
                <a16:creationId xmlns:a16="http://schemas.microsoft.com/office/drawing/2014/main" id="{E7243484-DEAD-0EB1-DC5F-24E6FD4BABC5}"/>
              </a:ext>
            </a:extLst>
          </p:cNvPr>
          <p:cNvSpPr>
            <a:spLocks noGrp="1"/>
          </p:cNvSpPr>
          <p:nvPr>
            <p:ph type="dt" sz="half" idx="10"/>
          </p:nvPr>
        </p:nvSpPr>
        <p:spPr/>
        <p:txBody>
          <a:bodyPr/>
          <a:lstStyle/>
          <a:p>
            <a:fld id="{D7C78C6A-94B1-48CD-B95C-7BBCF06B539F}" type="datetime8">
              <a:rPr lang="en-PK" smtClean="0"/>
              <a:t>3/27/26 8:53 AM</a:t>
            </a:fld>
            <a:endParaRPr lang="en-PK"/>
          </a:p>
        </p:txBody>
      </p:sp>
      <p:sp>
        <p:nvSpPr>
          <p:cNvPr id="4" name="Footer Placeholder 3">
            <a:extLst>
              <a:ext uri="{FF2B5EF4-FFF2-40B4-BE49-F238E27FC236}">
                <a16:creationId xmlns:a16="http://schemas.microsoft.com/office/drawing/2014/main" id="{7BF8FE36-0300-3AD8-5E95-41E333E18162}"/>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73CC0281-9CE6-90B4-45F9-D9D954D12024}"/>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092040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53CB-8CBB-A3DD-2AD9-1CA3785107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FEF21173-6A64-ACDD-90B1-F466FBD621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BC611703-8264-01ED-8E5E-06DFA98EE8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925018-0F9D-E6A7-30D4-FA1B94922608}"/>
              </a:ext>
            </a:extLst>
          </p:cNvPr>
          <p:cNvSpPr>
            <a:spLocks noGrp="1"/>
          </p:cNvSpPr>
          <p:nvPr>
            <p:ph type="dt" sz="half" idx="10"/>
          </p:nvPr>
        </p:nvSpPr>
        <p:spPr/>
        <p:txBody>
          <a:bodyPr/>
          <a:lstStyle/>
          <a:p>
            <a:fld id="{8885620F-E5D6-45BD-ABE4-D3E73AEC1059}" type="datetime8">
              <a:rPr lang="en-PK" smtClean="0"/>
              <a:t>3/27/26 8:53 AM</a:t>
            </a:fld>
            <a:endParaRPr lang="en-PK"/>
          </a:p>
        </p:txBody>
      </p:sp>
      <p:sp>
        <p:nvSpPr>
          <p:cNvPr id="6" name="Footer Placeholder 5">
            <a:extLst>
              <a:ext uri="{FF2B5EF4-FFF2-40B4-BE49-F238E27FC236}">
                <a16:creationId xmlns:a16="http://schemas.microsoft.com/office/drawing/2014/main" id="{EC9345B6-DE39-4DE7-B63A-020AA0C2594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077E181-66A9-8AF7-8FC6-FD18E1778D1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1821884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9E283-232A-203F-BE7E-C1FAB18986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35344E88-2CB0-6548-1689-37B5CD1D82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FAC45364-9FD1-5237-6F05-3CD9FF28E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A0F029-9EDC-16AD-E233-F72153868CD3}"/>
              </a:ext>
            </a:extLst>
          </p:cNvPr>
          <p:cNvSpPr>
            <a:spLocks noGrp="1"/>
          </p:cNvSpPr>
          <p:nvPr>
            <p:ph type="dt" sz="half" idx="10"/>
          </p:nvPr>
        </p:nvSpPr>
        <p:spPr/>
        <p:txBody>
          <a:bodyPr/>
          <a:lstStyle/>
          <a:p>
            <a:fld id="{C0B36677-69CF-4F57-B961-69869666485F}" type="datetime8">
              <a:rPr lang="en-PK" smtClean="0"/>
              <a:t>3/27/26 8:53 AM</a:t>
            </a:fld>
            <a:endParaRPr lang="en-PK"/>
          </a:p>
        </p:txBody>
      </p:sp>
      <p:sp>
        <p:nvSpPr>
          <p:cNvPr id="6" name="Footer Placeholder 5">
            <a:extLst>
              <a:ext uri="{FF2B5EF4-FFF2-40B4-BE49-F238E27FC236}">
                <a16:creationId xmlns:a16="http://schemas.microsoft.com/office/drawing/2014/main" id="{566EAD10-9813-FA15-7AA3-F311C1514D6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6593DEC-A834-573B-8137-57A252A1E13A}"/>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355392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B6A8F-48A0-C1A4-C992-787E5B87AC6B}"/>
              </a:ext>
            </a:extLst>
          </p:cNvPr>
          <p:cNvSpPr>
            <a:spLocks noGrp="1"/>
          </p:cNvSpPr>
          <p:nvPr>
            <p:ph type="title"/>
          </p:nvPr>
        </p:nvSpPr>
        <p:spPr/>
        <p:txBody>
          <a:bodyPr>
            <a:normAutofit/>
          </a:bodyPr>
          <a:lstStyle>
            <a:lvl1pPr>
              <a:defRPr sz="2800" b="1" i="0" baseline="0">
                <a:solidFill>
                  <a:srgbClr val="0070C0"/>
                </a:solidFill>
                <a:latin typeface="Calibri" panose="020F0502020204030204" pitchFamily="34" charset="0"/>
              </a:defRPr>
            </a:lvl1pPr>
          </a:lstStyle>
          <a:p>
            <a:r>
              <a:rPr lang="en-US" dirty="0"/>
              <a:t>Click to edit Master title style</a:t>
            </a:r>
            <a:endParaRPr lang="en-PK" dirty="0"/>
          </a:p>
        </p:txBody>
      </p:sp>
      <p:sp>
        <p:nvSpPr>
          <p:cNvPr id="3" name="Vertical Text Placeholder 2">
            <a:extLst>
              <a:ext uri="{FF2B5EF4-FFF2-40B4-BE49-F238E27FC236}">
                <a16:creationId xmlns:a16="http://schemas.microsoft.com/office/drawing/2014/main" id="{9785B7C4-4FCF-3883-BC91-FDBC338D9E93}"/>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K" dirty="0"/>
          </a:p>
        </p:txBody>
      </p:sp>
      <p:sp>
        <p:nvSpPr>
          <p:cNvPr id="4" name="Date Placeholder 3">
            <a:extLst>
              <a:ext uri="{FF2B5EF4-FFF2-40B4-BE49-F238E27FC236}">
                <a16:creationId xmlns:a16="http://schemas.microsoft.com/office/drawing/2014/main" id="{D6E4F67A-FCF1-D4E4-E162-793DEACCA4D9}"/>
              </a:ext>
            </a:extLst>
          </p:cNvPr>
          <p:cNvSpPr>
            <a:spLocks noGrp="1"/>
          </p:cNvSpPr>
          <p:nvPr>
            <p:ph type="dt" sz="half" idx="10"/>
          </p:nvPr>
        </p:nvSpPr>
        <p:spPr/>
        <p:txBody>
          <a:bodyPr/>
          <a:lstStyle/>
          <a:p>
            <a:fld id="{76AFB392-8D81-42DB-9470-C0982980A208}" type="datetime8">
              <a:rPr lang="en-PK" smtClean="0"/>
              <a:t>3/27/26 8:53 AM</a:t>
            </a:fld>
            <a:endParaRPr lang="en-PK"/>
          </a:p>
        </p:txBody>
      </p:sp>
      <p:sp>
        <p:nvSpPr>
          <p:cNvPr id="5" name="Footer Placeholder 4">
            <a:extLst>
              <a:ext uri="{FF2B5EF4-FFF2-40B4-BE49-F238E27FC236}">
                <a16:creationId xmlns:a16="http://schemas.microsoft.com/office/drawing/2014/main" id="{1FD6A201-A7CA-71B8-8718-9897B03FE15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B9A3F33-5AA9-E112-2ABF-79F547887F53}"/>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626848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D59074-43DC-F3A1-F847-B382DA9986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4F3AC57-AF5B-EC7C-207D-DD87813931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95FF8A-8F6C-7460-66BD-36FE94B2C2E8}"/>
              </a:ext>
            </a:extLst>
          </p:cNvPr>
          <p:cNvSpPr>
            <a:spLocks noGrp="1"/>
          </p:cNvSpPr>
          <p:nvPr>
            <p:ph type="dt" sz="half" idx="10"/>
          </p:nvPr>
        </p:nvSpPr>
        <p:spPr/>
        <p:txBody>
          <a:bodyPr/>
          <a:lstStyle/>
          <a:p>
            <a:fld id="{A3C8CE2D-4511-4580-808C-44E58A6F6871}" type="datetime8">
              <a:rPr lang="en-PK" smtClean="0"/>
              <a:t>3/27/26 8:53 AM</a:t>
            </a:fld>
            <a:endParaRPr lang="en-PK"/>
          </a:p>
        </p:txBody>
      </p:sp>
      <p:sp>
        <p:nvSpPr>
          <p:cNvPr id="5" name="Footer Placeholder 4">
            <a:extLst>
              <a:ext uri="{FF2B5EF4-FFF2-40B4-BE49-F238E27FC236}">
                <a16:creationId xmlns:a16="http://schemas.microsoft.com/office/drawing/2014/main" id="{8DBE7764-4D16-A8A5-2DA2-548355B8B7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EDDCA92-473C-706D-5019-016D87F1B607}"/>
              </a:ext>
            </a:extLst>
          </p:cNvPr>
          <p:cNvSpPr>
            <a:spLocks noGrp="1"/>
          </p:cNvSpPr>
          <p:nvPr>
            <p:ph type="sldNum" sz="quarter" idx="12"/>
          </p:nvPr>
        </p:nvSpPr>
        <p:spPr/>
        <p:txBody>
          <a:bodyPr/>
          <a:lstStyle/>
          <a:p>
            <a:fld id="{8C95646D-91FE-4030-A7F0-07F651F9A7F3}" type="slidenum">
              <a:rPr lang="en-PK" smtClean="0"/>
              <a:t>‹#›</a:t>
            </a:fld>
            <a:endParaRPr lang="en-PK"/>
          </a:p>
        </p:txBody>
      </p:sp>
    </p:spTree>
    <p:extLst>
      <p:ext uri="{BB962C8B-B14F-4D97-AF65-F5344CB8AC3E}">
        <p14:creationId xmlns:p14="http://schemas.microsoft.com/office/powerpoint/2010/main" val="4229802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5FF33B-CB98-4E49-F470-FDEB20A1B0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PK" dirty="0"/>
          </a:p>
        </p:txBody>
      </p:sp>
      <p:sp>
        <p:nvSpPr>
          <p:cNvPr id="3" name="Text Placeholder 2">
            <a:extLst>
              <a:ext uri="{FF2B5EF4-FFF2-40B4-BE49-F238E27FC236}">
                <a16:creationId xmlns:a16="http://schemas.microsoft.com/office/drawing/2014/main" id="{5895A451-6F13-E99E-AA74-118FE07054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A7D6080-894B-699D-C377-9FCB24BB49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8247E1-80FA-4B68-AED4-FB0D556219B2}" type="datetime8">
              <a:rPr lang="en-PK" smtClean="0"/>
              <a:t>3/27/26 8:53 AM</a:t>
            </a:fld>
            <a:endParaRPr lang="en-PK"/>
          </a:p>
        </p:txBody>
      </p:sp>
      <p:sp>
        <p:nvSpPr>
          <p:cNvPr id="5" name="Footer Placeholder 4">
            <a:extLst>
              <a:ext uri="{FF2B5EF4-FFF2-40B4-BE49-F238E27FC236}">
                <a16:creationId xmlns:a16="http://schemas.microsoft.com/office/drawing/2014/main" id="{4E1F34FF-7C89-DFB6-0D18-88EA7A4B3B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41908851-096B-57D1-721E-52D426BA69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5646D-91FE-4030-A7F0-07F651F9A7F3}" type="slidenum">
              <a:rPr lang="en-PK" smtClean="0"/>
              <a:t>‹#›</a:t>
            </a:fld>
            <a:endParaRPr lang="en-PK"/>
          </a:p>
        </p:txBody>
      </p:sp>
    </p:spTree>
    <p:extLst>
      <p:ext uri="{BB962C8B-B14F-4D97-AF65-F5344CB8AC3E}">
        <p14:creationId xmlns:p14="http://schemas.microsoft.com/office/powerpoint/2010/main" val="506824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0"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gif"/><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D80B44-5D51-DEB9-139E-D6588E08DCEE}"/>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F0A358E0-F332-E7D0-E6FF-67C0C524EC5E}"/>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3CC7347E-773E-501C-BBCD-F143B41F9D1E}"/>
              </a:ext>
            </a:extLst>
          </p:cNvPr>
          <p:cNvSpPr>
            <a:spLocks noGrp="1"/>
          </p:cNvSpPr>
          <p:nvPr>
            <p:ph type="sldNum" sz="quarter" idx="12"/>
          </p:nvPr>
        </p:nvSpPr>
        <p:spPr/>
        <p:txBody>
          <a:bodyPr/>
          <a:lstStyle/>
          <a:p>
            <a:fld id="{8C95646D-91FE-4030-A7F0-07F651F9A7F3}" type="slidenum">
              <a:rPr lang="en-PK" smtClean="0"/>
              <a:t>1</a:t>
            </a:fld>
            <a:endParaRPr lang="en-PK"/>
          </a:p>
        </p:txBody>
      </p:sp>
      <p:pic>
        <p:nvPicPr>
          <p:cNvPr id="1028" name="Picture 4" descr="Download HD 55 Pm 52458 Fast University ...">
            <a:extLst>
              <a:ext uri="{FF2B5EF4-FFF2-40B4-BE49-F238E27FC236}">
                <a16:creationId xmlns:a16="http://schemas.microsoft.com/office/drawing/2014/main" id="{7C0E69E7-0624-E377-FC31-A9DAAD9B9B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Blue Abstract Data Analysis Technology Background, Blue, Abstract ...">
            <a:extLst>
              <a:ext uri="{FF2B5EF4-FFF2-40B4-BE49-F238E27FC236}">
                <a16:creationId xmlns:a16="http://schemas.microsoft.com/office/drawing/2014/main" id="{AE2E633B-B89B-2AD6-B235-B52FC21A3B75}"/>
              </a:ext>
            </a:extLst>
          </p:cNvPr>
          <p:cNvPicPr>
            <a:picLocks noChangeAspect="1"/>
          </p:cNvPicPr>
          <p:nvPr/>
        </p:nvPicPr>
        <p:blipFill>
          <a:blip r:embed="rId3"/>
          <a:stretch>
            <a:fillRect/>
          </a:stretch>
        </p:blipFill>
        <p:spPr>
          <a:xfrm>
            <a:off x="-1" y="-1"/>
            <a:ext cx="12192001" cy="6853237"/>
          </a:xfrm>
          <a:prstGeom prst="rect">
            <a:avLst/>
          </a:prstGeom>
        </p:spPr>
      </p:pic>
    </p:spTree>
    <p:extLst>
      <p:ext uri="{BB962C8B-B14F-4D97-AF65-F5344CB8AC3E}">
        <p14:creationId xmlns:p14="http://schemas.microsoft.com/office/powerpoint/2010/main" val="172915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8744-A704-1C59-1304-02055AF7C58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6E56C57-21E3-F72F-1B57-E9FD05DDB415}"/>
              </a:ext>
            </a:extLst>
          </p:cNvPr>
          <p:cNvSpPr/>
          <p:nvPr/>
        </p:nvSpPr>
        <p:spPr>
          <a:xfrm>
            <a:off x="-1" y="6553199"/>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7" name="Rectangle 6">
            <a:extLst>
              <a:ext uri="{FF2B5EF4-FFF2-40B4-BE49-F238E27FC236}">
                <a16:creationId xmlns:a16="http://schemas.microsoft.com/office/drawing/2014/main" id="{72D03E08-0EA6-164B-E5C0-0ABD98254645}"/>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3" name="Slide Number Placeholder 2">
            <a:extLst>
              <a:ext uri="{FF2B5EF4-FFF2-40B4-BE49-F238E27FC236}">
                <a16:creationId xmlns:a16="http://schemas.microsoft.com/office/drawing/2014/main" id="{4C9F7046-524C-B6E2-F233-6AA93275F5A6}"/>
              </a:ext>
            </a:extLst>
          </p:cNvPr>
          <p:cNvSpPr>
            <a:spLocks noGrp="1"/>
          </p:cNvSpPr>
          <p:nvPr>
            <p:ph type="sldNum" sz="quarter" idx="12"/>
          </p:nvPr>
        </p:nvSpPr>
        <p:spPr/>
        <p:txBody>
          <a:bodyPr/>
          <a:lstStyle/>
          <a:p>
            <a:fld id="{8C95646D-91FE-4030-A7F0-07F651F9A7F3}" type="slidenum">
              <a:rPr lang="en-PK" smtClean="0"/>
              <a:t>2</a:t>
            </a:fld>
            <a:endParaRPr lang="en-PK"/>
          </a:p>
        </p:txBody>
      </p:sp>
      <p:pic>
        <p:nvPicPr>
          <p:cNvPr id="1028" name="Picture 4" descr="Download HD 55 Pm 52458 Fast University ...">
            <a:extLst>
              <a:ext uri="{FF2B5EF4-FFF2-40B4-BE49-F238E27FC236}">
                <a16:creationId xmlns:a16="http://schemas.microsoft.com/office/drawing/2014/main" id="{715E161C-5FF5-7252-A206-A10477B0B4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9" name="Title 4">
            <a:extLst>
              <a:ext uri="{FF2B5EF4-FFF2-40B4-BE49-F238E27FC236}">
                <a16:creationId xmlns:a16="http://schemas.microsoft.com/office/drawing/2014/main" id="{4FA3E7AE-A2AD-D117-25F2-EA3F62B70084}"/>
              </a:ext>
            </a:extLst>
          </p:cNvPr>
          <p:cNvSpPr>
            <a:spLocks noGrp="1"/>
          </p:cNvSpPr>
          <p:nvPr>
            <p:ph type="ctrTitle"/>
          </p:nvPr>
        </p:nvSpPr>
        <p:spPr>
          <a:xfrm>
            <a:off x="812006" y="687984"/>
            <a:ext cx="9144000" cy="2997200"/>
          </a:xfrm>
        </p:spPr>
        <p:txBody>
          <a:bodyPr/>
          <a:lstStyle/>
          <a:p>
            <a:r>
              <a:rPr lang="en-US" dirty="0">
                <a:solidFill>
                  <a:schemeClr val="bg1"/>
                </a:solidFill>
              </a:rPr>
              <a:t>BUSINESS ANALYTICS</a:t>
            </a:r>
            <a:br>
              <a:rPr lang="en-US" dirty="0">
                <a:solidFill>
                  <a:schemeClr val="bg1"/>
                </a:solidFill>
              </a:rPr>
            </a:br>
            <a:br>
              <a:rPr lang="en-US" dirty="0">
                <a:solidFill>
                  <a:schemeClr val="bg1"/>
                </a:solidFill>
              </a:rPr>
            </a:br>
            <a:r>
              <a:rPr lang="en-US" sz="4400" dirty="0">
                <a:solidFill>
                  <a:schemeClr val="bg1"/>
                </a:solidFill>
              </a:rPr>
              <a:t>Introduction to Business Analytics and Core Business Functions</a:t>
            </a:r>
            <a:endParaRPr lang="en-PK" dirty="0">
              <a:solidFill>
                <a:schemeClr val="bg1"/>
              </a:solidFill>
            </a:endParaRPr>
          </a:p>
        </p:txBody>
      </p:sp>
      <p:sp>
        <p:nvSpPr>
          <p:cNvPr id="4" name="Title 4">
            <a:extLst>
              <a:ext uri="{FF2B5EF4-FFF2-40B4-BE49-F238E27FC236}">
                <a16:creationId xmlns:a16="http://schemas.microsoft.com/office/drawing/2014/main" id="{05E0D16E-2E56-B97C-A39A-BD2DC36A3359}"/>
              </a:ext>
            </a:extLst>
          </p:cNvPr>
          <p:cNvSpPr txBox="1">
            <a:spLocks/>
          </p:cNvSpPr>
          <p:nvPr/>
        </p:nvSpPr>
        <p:spPr>
          <a:xfrm>
            <a:off x="964406" y="975360"/>
            <a:ext cx="9144000" cy="286222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BUSINESS ANALYSIS</a:t>
            </a:r>
            <a:br>
              <a:rPr lang="en-US" sz="16600" dirty="0"/>
            </a:br>
            <a:r>
              <a:rPr lang="en-US" sz="4300" dirty="0"/>
              <a:t>KPIs and Metrics</a:t>
            </a:r>
            <a:endParaRPr lang="en-PK" sz="4300" dirty="0"/>
          </a:p>
        </p:txBody>
      </p:sp>
      <p:pic>
        <p:nvPicPr>
          <p:cNvPr id="5" name="Picture 4" descr="3d Analyst Working On Business Analytics Dashboard With Kpi ...">
            <a:extLst>
              <a:ext uri="{FF2B5EF4-FFF2-40B4-BE49-F238E27FC236}">
                <a16:creationId xmlns:a16="http://schemas.microsoft.com/office/drawing/2014/main" id="{55A10BB7-3531-CC3A-305B-1101C4343D0B}"/>
              </a:ext>
            </a:extLst>
          </p:cNvPr>
          <p:cNvPicPr>
            <a:picLocks noChangeAspect="1"/>
          </p:cNvPicPr>
          <p:nvPr/>
        </p:nvPicPr>
        <p:blipFill>
          <a:blip r:embed="rId3"/>
          <a:stretch>
            <a:fillRect/>
          </a:stretch>
        </p:blipFill>
        <p:spPr>
          <a:xfrm>
            <a:off x="8374856" y="2949575"/>
            <a:ext cx="3771900" cy="3771900"/>
          </a:xfrm>
          <a:prstGeom prst="rect">
            <a:avLst/>
          </a:prstGeom>
        </p:spPr>
      </p:pic>
    </p:spTree>
    <p:extLst>
      <p:ext uri="{BB962C8B-B14F-4D97-AF65-F5344CB8AC3E}">
        <p14:creationId xmlns:p14="http://schemas.microsoft.com/office/powerpoint/2010/main" val="1291218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85812" y="971550"/>
            <a:ext cx="10515600" cy="847650"/>
          </a:xfrm>
        </p:spPr>
        <p:txBody>
          <a:bodyPr>
            <a:normAutofit fontScale="90000"/>
          </a:bodyPr>
          <a:lstStyle/>
          <a:p>
            <a:r>
              <a:rPr lang="en-US" dirty="0">
                <a:solidFill>
                  <a:schemeClr val="bg2">
                    <a:lumMod val="50000"/>
                  </a:schemeClr>
                </a:solidFill>
                <a:latin typeface="+mn-lt"/>
              </a:rPr>
              <a:t>Learning Objectives – WEEK 10</a:t>
            </a: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838199" y="2102766"/>
            <a:ext cx="10515600" cy="3883364"/>
          </a:xfrm>
        </p:spPr>
        <p:txBody>
          <a:bodyPr>
            <a:normAutofit fontScale="92500" lnSpcReduction="20000"/>
          </a:bodyPr>
          <a:lstStyle/>
          <a:p>
            <a:pPr marL="0" indent="0">
              <a:buNone/>
            </a:pPr>
            <a:r>
              <a:rPr lang="en-US" sz="2400" dirty="0"/>
              <a:t>By the end of today you should be able to:</a:t>
            </a:r>
          </a:p>
          <a:p>
            <a:pPr marL="0" indent="0">
              <a:buNone/>
            </a:pPr>
            <a:endParaRPr lang="en-US" sz="2400" dirty="0"/>
          </a:p>
          <a:p>
            <a:pPr>
              <a:lnSpc>
                <a:spcPct val="200000"/>
              </a:lnSpc>
            </a:pPr>
            <a:r>
              <a:rPr lang="en-US" sz="2000" dirty="0"/>
              <a:t>Understand what KPIs and metrics are</a:t>
            </a:r>
          </a:p>
          <a:p>
            <a:pPr>
              <a:lnSpc>
                <a:spcPct val="200000"/>
              </a:lnSpc>
            </a:pPr>
            <a:r>
              <a:rPr lang="en-US" sz="2000" dirty="0"/>
              <a:t>Design meaningful KPIs for real businesses</a:t>
            </a:r>
          </a:p>
          <a:p>
            <a:pPr>
              <a:lnSpc>
                <a:spcPct val="200000"/>
              </a:lnSpc>
            </a:pPr>
            <a:r>
              <a:rPr lang="en-US" sz="2000" dirty="0"/>
              <a:t>Differentiate operational vs strategic KPIs</a:t>
            </a:r>
          </a:p>
          <a:p>
            <a:pPr>
              <a:lnSpc>
                <a:spcPct val="200000"/>
              </a:lnSpc>
            </a:pPr>
            <a:r>
              <a:rPr lang="en-US" sz="2000" dirty="0"/>
              <a:t>Identify good vs bad KPIs</a:t>
            </a:r>
          </a:p>
          <a:p>
            <a:pPr>
              <a:lnSpc>
                <a:spcPct val="200000"/>
              </a:lnSpc>
            </a:pPr>
            <a:r>
              <a:rPr lang="en-US" sz="2000" dirty="0"/>
              <a:t>Connect KPIs to business decisions</a:t>
            </a:r>
            <a:endParaRPr lang="en-US"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3</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D85AFD7-D5C0-A6EE-5F55-057216A8D06C}"/>
              </a:ext>
            </a:extLst>
          </p:cNvPr>
          <p:cNvSpPr txBox="1"/>
          <p:nvPr/>
        </p:nvSpPr>
        <p:spPr>
          <a:xfrm>
            <a:off x="7090092" y="6164740"/>
            <a:ext cx="6096000" cy="276999"/>
          </a:xfrm>
          <a:prstGeom prst="rect">
            <a:avLst/>
          </a:prstGeom>
          <a:noFill/>
        </p:spPr>
        <p:txBody>
          <a:bodyPr wrap="square">
            <a:spAutoFit/>
          </a:bodyPr>
          <a:lstStyle/>
          <a:p>
            <a:r>
              <a:rPr lang="en-US" sz="1200" dirty="0"/>
              <a:t>If you can’t measure it, you can’t improve it.</a:t>
            </a:r>
            <a:endParaRPr lang="en-PK" sz="1200" dirty="0"/>
          </a:p>
        </p:txBody>
      </p:sp>
    </p:spTree>
    <p:extLst>
      <p:ext uri="{BB962C8B-B14F-4D97-AF65-F5344CB8AC3E}">
        <p14:creationId xmlns:p14="http://schemas.microsoft.com/office/powerpoint/2010/main" val="1620906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741F9-C6FD-1E39-BD7F-93E026F5590C}"/>
              </a:ext>
            </a:extLst>
          </p:cNvPr>
          <p:cNvSpPr>
            <a:spLocks noGrp="1"/>
          </p:cNvSpPr>
          <p:nvPr>
            <p:ph type="title"/>
          </p:nvPr>
        </p:nvSpPr>
        <p:spPr>
          <a:xfrm>
            <a:off x="785812" y="971550"/>
            <a:ext cx="10515600" cy="847650"/>
          </a:xfrm>
        </p:spPr>
        <p:txBody>
          <a:bodyPr>
            <a:normAutofit fontScale="90000"/>
          </a:bodyPr>
          <a:lstStyle/>
          <a:p>
            <a:r>
              <a:rPr lang="en-US" dirty="0">
                <a:solidFill>
                  <a:schemeClr val="bg2">
                    <a:lumMod val="50000"/>
                  </a:schemeClr>
                </a:solidFill>
                <a:latin typeface="+mn-lt"/>
              </a:rPr>
              <a:t>Previous Week - 9</a:t>
            </a:r>
            <a:br>
              <a:rPr lang="en-US" sz="2800" b="1" dirty="0">
                <a:solidFill>
                  <a:schemeClr val="bg2">
                    <a:lumMod val="50000"/>
                  </a:schemeClr>
                </a:solidFill>
                <a:latin typeface="+mn-lt"/>
              </a:rPr>
            </a:br>
            <a:endParaRPr lang="en-PK" sz="2800" b="1" dirty="0">
              <a:solidFill>
                <a:schemeClr val="bg2">
                  <a:lumMod val="50000"/>
                </a:schemeClr>
              </a:solidFill>
              <a:latin typeface="+mn-lt"/>
            </a:endParaRPr>
          </a:p>
        </p:txBody>
      </p:sp>
      <p:sp>
        <p:nvSpPr>
          <p:cNvPr id="3" name="Content Placeholder 2">
            <a:extLst>
              <a:ext uri="{FF2B5EF4-FFF2-40B4-BE49-F238E27FC236}">
                <a16:creationId xmlns:a16="http://schemas.microsoft.com/office/drawing/2014/main" id="{0F1CCE4D-95E9-6FB6-ED27-6AA4627A29B6}"/>
              </a:ext>
            </a:extLst>
          </p:cNvPr>
          <p:cNvSpPr>
            <a:spLocks noGrp="1"/>
          </p:cNvSpPr>
          <p:nvPr>
            <p:ph idx="1"/>
          </p:nvPr>
        </p:nvSpPr>
        <p:spPr>
          <a:xfrm>
            <a:off x="838200" y="1666831"/>
            <a:ext cx="10515600" cy="4030224"/>
          </a:xfrm>
        </p:spPr>
        <p:txBody>
          <a:bodyPr>
            <a:normAutofit fontScale="85000" lnSpcReduction="20000"/>
          </a:bodyPr>
          <a:lstStyle/>
          <a:p>
            <a:pPr marL="0" indent="0">
              <a:buNone/>
            </a:pPr>
            <a:r>
              <a:rPr lang="en-US" sz="2400" dirty="0"/>
              <a:t>Last week we learned:</a:t>
            </a:r>
          </a:p>
          <a:p>
            <a:pPr marL="0" indent="0">
              <a:lnSpc>
                <a:spcPct val="200000"/>
              </a:lnSpc>
              <a:buNone/>
            </a:pPr>
            <a:r>
              <a:rPr lang="en-US" sz="2400" dirty="0"/>
              <a:t>✔ Descriptive = What happened</a:t>
            </a:r>
            <a:br>
              <a:rPr lang="en-US" sz="2400" dirty="0"/>
            </a:br>
            <a:r>
              <a:rPr lang="en-US" sz="2400" dirty="0"/>
              <a:t>✔ Diagnostic = Why it happened</a:t>
            </a:r>
            <a:br>
              <a:rPr lang="en-US" sz="2400" dirty="0"/>
            </a:br>
            <a:r>
              <a:rPr lang="en-US" sz="2400" dirty="0"/>
              <a:t>✔ Predictive = What will happen</a:t>
            </a:r>
            <a:br>
              <a:rPr lang="en-US" sz="2400" dirty="0"/>
            </a:br>
            <a:r>
              <a:rPr lang="en-US" sz="2400" dirty="0"/>
              <a:t>✔ Prescriptive = What to do</a:t>
            </a:r>
          </a:p>
          <a:p>
            <a:pPr marL="0" indent="0">
              <a:lnSpc>
                <a:spcPct val="150000"/>
              </a:lnSpc>
              <a:buNone/>
            </a:pPr>
            <a:r>
              <a:rPr lang="en-US" sz="2400" dirty="0"/>
              <a:t>Now:</a:t>
            </a:r>
          </a:p>
          <a:p>
            <a:pPr marL="0" indent="0">
              <a:buNone/>
            </a:pPr>
            <a:r>
              <a:rPr lang="en-US" sz="2400" dirty="0"/>
              <a:t>👉 Analytics needs </a:t>
            </a:r>
            <a:r>
              <a:rPr lang="en-US" sz="2400" b="1" dirty="0"/>
              <a:t>metrics to work</a:t>
            </a:r>
            <a:r>
              <a:rPr lang="en-US" sz="2400" dirty="0"/>
              <a:t>.</a:t>
            </a:r>
          </a:p>
          <a:p>
            <a:pPr marL="0" indent="0">
              <a:buNone/>
            </a:pPr>
            <a:r>
              <a:rPr lang="en-US" sz="2400" dirty="0"/>
              <a:t>Without KPIs → No measurement → No decisions</a:t>
            </a:r>
          </a:p>
          <a:p>
            <a:pPr marL="0" indent="0">
              <a:lnSpc>
                <a:spcPct val="150000"/>
              </a:lnSpc>
              <a:buNone/>
            </a:pPr>
            <a:endParaRPr lang="en-US" sz="2400" dirty="0"/>
          </a:p>
        </p:txBody>
      </p:sp>
      <p:sp>
        <p:nvSpPr>
          <p:cNvPr id="5" name="Rectangle 4">
            <a:extLst>
              <a:ext uri="{FF2B5EF4-FFF2-40B4-BE49-F238E27FC236}">
                <a16:creationId xmlns:a16="http://schemas.microsoft.com/office/drawing/2014/main" id="{48C24661-1429-04BE-6E64-7D554BED14A1}"/>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4F29413-F335-2DA5-47CF-A2EC49D47E62}"/>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6833593E-E656-4749-0FCA-C58FDE336C6F}"/>
              </a:ext>
            </a:extLst>
          </p:cNvPr>
          <p:cNvSpPr>
            <a:spLocks noGrp="1"/>
          </p:cNvSpPr>
          <p:nvPr>
            <p:ph type="sldNum" sz="quarter" idx="12"/>
          </p:nvPr>
        </p:nvSpPr>
        <p:spPr/>
        <p:txBody>
          <a:bodyPr/>
          <a:lstStyle/>
          <a:p>
            <a:fld id="{8C95646D-91FE-4030-A7F0-07F651F9A7F3}" type="slidenum">
              <a:rPr lang="en-PK" smtClean="0"/>
              <a:t>4</a:t>
            </a:fld>
            <a:endParaRPr lang="en-PK"/>
          </a:p>
        </p:txBody>
      </p:sp>
      <p:pic>
        <p:nvPicPr>
          <p:cNvPr id="8" name="Picture 4" descr="Download HD 55 Pm 52458 Fast University ...">
            <a:extLst>
              <a:ext uri="{FF2B5EF4-FFF2-40B4-BE49-F238E27FC236}">
                <a16:creationId xmlns:a16="http://schemas.microsoft.com/office/drawing/2014/main" id="{DC946E10-9E58-EF2D-6D0E-8116B41ED2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B4CB631-0533-E6C6-F4F3-3FE3FDC8E46C}"/>
              </a:ext>
            </a:extLst>
          </p:cNvPr>
          <p:cNvSpPr txBox="1"/>
          <p:nvPr/>
        </p:nvSpPr>
        <p:spPr>
          <a:xfrm>
            <a:off x="8983239" y="3913688"/>
            <a:ext cx="7337738" cy="2002664"/>
          </a:xfrm>
          <a:prstGeom prst="rect">
            <a:avLst/>
          </a:prstGeom>
          <a:noFill/>
        </p:spPr>
        <p:txBody>
          <a:bodyPr wrap="square">
            <a:spAutoFit/>
          </a:bodyPr>
          <a:lstStyle/>
          <a:p>
            <a:pPr>
              <a:lnSpc>
                <a:spcPct val="150000"/>
              </a:lnSpc>
              <a:buNone/>
            </a:pPr>
            <a:r>
              <a:rPr lang="en-US" sz="1200" b="1" dirty="0"/>
              <a:t>Example</a:t>
            </a:r>
          </a:p>
          <a:p>
            <a:pPr>
              <a:lnSpc>
                <a:spcPct val="150000"/>
              </a:lnSpc>
              <a:buNone/>
            </a:pPr>
            <a:r>
              <a:rPr lang="en-US" sz="1200" dirty="0"/>
              <a:t>Week 9:</a:t>
            </a:r>
          </a:p>
          <a:p>
            <a:pPr>
              <a:lnSpc>
                <a:spcPct val="150000"/>
              </a:lnSpc>
              <a:buNone/>
            </a:pPr>
            <a:r>
              <a:rPr lang="en-US" sz="1200" dirty="0"/>
              <a:t>We analyzed delivery delays.</a:t>
            </a:r>
          </a:p>
          <a:p>
            <a:pPr>
              <a:lnSpc>
                <a:spcPct val="150000"/>
              </a:lnSpc>
              <a:buNone/>
            </a:pPr>
            <a:r>
              <a:rPr lang="en-US" sz="1200" dirty="0"/>
              <a:t>Week 10:</a:t>
            </a:r>
          </a:p>
          <a:p>
            <a:pPr>
              <a:lnSpc>
                <a:spcPct val="150000"/>
              </a:lnSpc>
              <a:buNone/>
            </a:pPr>
            <a:r>
              <a:rPr lang="en-US" sz="1200" dirty="0"/>
              <a:t>👉 What metric tells us delivery is improving?</a:t>
            </a:r>
          </a:p>
          <a:p>
            <a:pPr>
              <a:lnSpc>
                <a:spcPct val="150000"/>
              </a:lnSpc>
              <a:buNone/>
            </a:pPr>
            <a:r>
              <a:rPr lang="en-US" sz="1200" dirty="0"/>
              <a:t>Answer:</a:t>
            </a:r>
          </a:p>
          <a:p>
            <a:pPr>
              <a:lnSpc>
                <a:spcPct val="150000"/>
              </a:lnSpc>
              <a:buNone/>
            </a:pPr>
            <a:r>
              <a:rPr lang="en-US" sz="1200" dirty="0"/>
              <a:t>Delivery Time KPI.</a:t>
            </a:r>
          </a:p>
        </p:txBody>
      </p:sp>
    </p:spTree>
    <p:extLst>
      <p:ext uri="{BB962C8B-B14F-4D97-AF65-F5344CB8AC3E}">
        <p14:creationId xmlns:p14="http://schemas.microsoft.com/office/powerpoint/2010/main" val="232542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826294" y="445274"/>
            <a:ext cx="10515600" cy="449859"/>
          </a:xfrm>
        </p:spPr>
        <p:txBody>
          <a:bodyPr>
            <a:normAutofit fontScale="90000"/>
          </a:bodyPr>
          <a:lstStyle/>
          <a:p>
            <a:r>
              <a:rPr lang="en-US" dirty="0">
                <a:solidFill>
                  <a:schemeClr val="bg2">
                    <a:lumMod val="50000"/>
                  </a:schemeClr>
                </a:solidFill>
                <a:latin typeface="+mn-lt"/>
              </a:rPr>
              <a:t>WHAT IS METRIC VS KPI? </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5</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3854628-D37C-CDF2-9B3A-91E9D060E3EC}"/>
              </a:ext>
            </a:extLst>
          </p:cNvPr>
          <p:cNvSpPr txBox="1"/>
          <p:nvPr/>
        </p:nvSpPr>
        <p:spPr>
          <a:xfrm>
            <a:off x="826294" y="1410181"/>
            <a:ext cx="6097772" cy="1711366"/>
          </a:xfrm>
          <a:prstGeom prst="rect">
            <a:avLst/>
          </a:prstGeom>
          <a:noFill/>
        </p:spPr>
        <p:txBody>
          <a:bodyPr wrap="square">
            <a:spAutoFit/>
          </a:bodyPr>
          <a:lstStyle/>
          <a:p>
            <a:pPr>
              <a:lnSpc>
                <a:spcPct val="150000"/>
              </a:lnSpc>
              <a:buNone/>
            </a:pPr>
            <a:r>
              <a:rPr lang="en-US" b="1" dirty="0"/>
              <a:t>📊 Metric</a:t>
            </a:r>
          </a:p>
          <a:p>
            <a:pPr>
              <a:lnSpc>
                <a:spcPct val="150000"/>
              </a:lnSpc>
              <a:buNone/>
            </a:pPr>
            <a:r>
              <a:rPr lang="en-US" dirty="0"/>
              <a:t>Any measurable value.</a:t>
            </a:r>
          </a:p>
          <a:p>
            <a:pPr>
              <a:lnSpc>
                <a:spcPct val="150000"/>
              </a:lnSpc>
              <a:buNone/>
            </a:pPr>
            <a:r>
              <a:rPr lang="en-US" dirty="0"/>
              <a:t>Example:</a:t>
            </a:r>
            <a:br>
              <a:rPr lang="en-US" dirty="0"/>
            </a:br>
            <a:r>
              <a:rPr lang="en-US" dirty="0"/>
              <a:t>Number of app downloads.</a:t>
            </a:r>
          </a:p>
        </p:txBody>
      </p:sp>
      <p:sp>
        <p:nvSpPr>
          <p:cNvPr id="14" name="TextBox 13">
            <a:extLst>
              <a:ext uri="{FF2B5EF4-FFF2-40B4-BE49-F238E27FC236}">
                <a16:creationId xmlns:a16="http://schemas.microsoft.com/office/drawing/2014/main" id="{826F1AFC-3273-7C2E-E47C-9913F30816EA}"/>
              </a:ext>
            </a:extLst>
          </p:cNvPr>
          <p:cNvSpPr txBox="1"/>
          <p:nvPr/>
        </p:nvSpPr>
        <p:spPr>
          <a:xfrm>
            <a:off x="824522" y="3480627"/>
            <a:ext cx="6097772" cy="1711366"/>
          </a:xfrm>
          <a:prstGeom prst="rect">
            <a:avLst/>
          </a:prstGeom>
          <a:noFill/>
        </p:spPr>
        <p:txBody>
          <a:bodyPr wrap="square">
            <a:spAutoFit/>
          </a:bodyPr>
          <a:lstStyle/>
          <a:p>
            <a:pPr>
              <a:lnSpc>
                <a:spcPct val="150000"/>
              </a:lnSpc>
              <a:buNone/>
            </a:pPr>
            <a:r>
              <a:rPr lang="en-US" b="1" dirty="0"/>
              <a:t>🎯 KPI (Key Performance Indicator)</a:t>
            </a:r>
          </a:p>
          <a:p>
            <a:pPr>
              <a:lnSpc>
                <a:spcPct val="150000"/>
              </a:lnSpc>
              <a:buNone/>
            </a:pPr>
            <a:r>
              <a:rPr lang="en-US" dirty="0"/>
              <a:t>A </a:t>
            </a:r>
            <a:r>
              <a:rPr lang="en-US" b="1" dirty="0"/>
              <a:t>critical metric tied to business goals</a:t>
            </a:r>
            <a:r>
              <a:rPr lang="en-US" dirty="0"/>
              <a:t>.</a:t>
            </a:r>
          </a:p>
          <a:p>
            <a:pPr>
              <a:lnSpc>
                <a:spcPct val="150000"/>
              </a:lnSpc>
              <a:buNone/>
            </a:pPr>
            <a:r>
              <a:rPr lang="en-US" dirty="0"/>
              <a:t>Example:</a:t>
            </a:r>
            <a:br>
              <a:rPr lang="en-US" dirty="0"/>
            </a:br>
            <a:r>
              <a:rPr lang="en-US" dirty="0"/>
              <a:t>Conversion rate (users who actually place order).</a:t>
            </a:r>
          </a:p>
        </p:txBody>
      </p:sp>
      <p:sp>
        <p:nvSpPr>
          <p:cNvPr id="17" name="TextBox 16">
            <a:extLst>
              <a:ext uri="{FF2B5EF4-FFF2-40B4-BE49-F238E27FC236}">
                <a16:creationId xmlns:a16="http://schemas.microsoft.com/office/drawing/2014/main" id="{02DE31D1-E54A-D2D1-4A76-EDDC86A1F12A}"/>
              </a:ext>
            </a:extLst>
          </p:cNvPr>
          <p:cNvSpPr txBox="1"/>
          <p:nvPr/>
        </p:nvSpPr>
        <p:spPr>
          <a:xfrm>
            <a:off x="8839201" y="6281856"/>
            <a:ext cx="6097772" cy="430887"/>
          </a:xfrm>
          <a:prstGeom prst="rect">
            <a:avLst/>
          </a:prstGeom>
          <a:noFill/>
        </p:spPr>
        <p:txBody>
          <a:bodyPr wrap="square">
            <a:spAutoFit/>
          </a:bodyPr>
          <a:lstStyle/>
          <a:p>
            <a:r>
              <a:rPr lang="en-US" sz="1100" i="1" dirty="0"/>
              <a:t>All KPIs are metrics,</a:t>
            </a:r>
            <a:br>
              <a:rPr lang="en-US" sz="1100" i="1" dirty="0"/>
            </a:br>
            <a:r>
              <a:rPr lang="en-US" sz="1100" i="1" dirty="0"/>
              <a:t>but not all metrics are KPIs</a:t>
            </a:r>
            <a:r>
              <a:rPr lang="en-US" sz="1100" dirty="0"/>
              <a:t>.</a:t>
            </a:r>
          </a:p>
        </p:txBody>
      </p:sp>
      <p:sp>
        <p:nvSpPr>
          <p:cNvPr id="20" name="TextBox 19">
            <a:extLst>
              <a:ext uri="{FF2B5EF4-FFF2-40B4-BE49-F238E27FC236}">
                <a16:creationId xmlns:a16="http://schemas.microsoft.com/office/drawing/2014/main" id="{4D6AD9DB-4915-CCA5-2D66-D7BFEF3C84F4}"/>
              </a:ext>
            </a:extLst>
          </p:cNvPr>
          <p:cNvSpPr txBox="1"/>
          <p:nvPr/>
        </p:nvSpPr>
        <p:spPr>
          <a:xfrm>
            <a:off x="838200" y="6169580"/>
            <a:ext cx="6097772" cy="369332"/>
          </a:xfrm>
          <a:prstGeom prst="rect">
            <a:avLst/>
          </a:prstGeom>
          <a:noFill/>
        </p:spPr>
        <p:txBody>
          <a:bodyPr wrap="square">
            <a:spAutoFit/>
          </a:bodyPr>
          <a:lstStyle/>
          <a:p>
            <a:pPr>
              <a:buNone/>
            </a:pPr>
            <a:r>
              <a:rPr lang="en-US" dirty="0"/>
              <a:t>👉 “Is number of website visitors always a KPI?”</a:t>
            </a:r>
          </a:p>
        </p:txBody>
      </p:sp>
      <p:pic>
        <p:nvPicPr>
          <p:cNvPr id="1032" name="Picture 8" descr="Business KPI Metrics Dashboard PowerPoint Template and Google Slides Theme">
            <a:extLst>
              <a:ext uri="{FF2B5EF4-FFF2-40B4-BE49-F238E27FC236}">
                <a16:creationId xmlns:a16="http://schemas.microsoft.com/office/drawing/2014/main" id="{5CD4D3CD-ED79-1AA3-8B63-AECF7285BB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29974" y="-11597377"/>
            <a:ext cx="8327635" cy="4684295"/>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OKRs vs KPIs vs Metrics Credit to Paweł Huryn. Follow him for more visuals  on project manangement. How do you ensure your OKRs, KPIs, and metrics stay  aligned with your overall business… |">
            <a:extLst>
              <a:ext uri="{FF2B5EF4-FFF2-40B4-BE49-F238E27FC236}">
                <a16:creationId xmlns:a16="http://schemas.microsoft.com/office/drawing/2014/main" id="{54789FC8-98BA-B072-FC0D-8DBEE6ED62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5770" y="703881"/>
            <a:ext cx="4163817" cy="55534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KPIs vs Metrics: Learn The Difference With Tips &amp; Examples">
            <a:extLst>
              <a:ext uri="{FF2B5EF4-FFF2-40B4-BE49-F238E27FC236}">
                <a16:creationId xmlns:a16="http://schemas.microsoft.com/office/drawing/2014/main" id="{AA106459-57BB-CBE5-B43E-E7BAC634D1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00510" y="8628734"/>
            <a:ext cx="3971239" cy="2232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582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10E84-AF97-B186-3473-749DDD86628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890B20E-445B-319E-2325-81551C9E4FDF}"/>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35422053-0A37-7A74-7A92-A9C99F35D6C9}"/>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09E4310B-8314-80A9-B95B-07743844BB81}"/>
              </a:ext>
            </a:extLst>
          </p:cNvPr>
          <p:cNvSpPr>
            <a:spLocks noGrp="1"/>
          </p:cNvSpPr>
          <p:nvPr>
            <p:ph type="sldNum" sz="quarter" idx="12"/>
          </p:nvPr>
        </p:nvSpPr>
        <p:spPr/>
        <p:txBody>
          <a:bodyPr/>
          <a:lstStyle/>
          <a:p>
            <a:fld id="{8C95646D-91FE-4030-A7F0-07F651F9A7F3}" type="slidenum">
              <a:rPr lang="en-PK" smtClean="0"/>
              <a:t>6</a:t>
            </a:fld>
            <a:endParaRPr lang="en-PK"/>
          </a:p>
        </p:txBody>
      </p:sp>
      <p:pic>
        <p:nvPicPr>
          <p:cNvPr id="8" name="Picture 4" descr="Download HD 55 Pm 52458 Fast University ...">
            <a:extLst>
              <a:ext uri="{FF2B5EF4-FFF2-40B4-BE49-F238E27FC236}">
                <a16:creationId xmlns:a16="http://schemas.microsoft.com/office/drawing/2014/main" id="{A812057F-790C-39FF-9EF0-F5D2C8A1B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D83A6B80-369B-3177-4218-A3CE46843C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326" y="719734"/>
            <a:ext cx="11413348" cy="5644813"/>
          </a:xfrm>
          <a:prstGeom prst="rect">
            <a:avLst/>
          </a:prstGeom>
        </p:spPr>
      </p:pic>
    </p:spTree>
    <p:extLst>
      <p:ext uri="{BB962C8B-B14F-4D97-AF65-F5344CB8AC3E}">
        <p14:creationId xmlns:p14="http://schemas.microsoft.com/office/powerpoint/2010/main" val="2371997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E8EBD-BB68-0A9D-E603-52E2F18581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7304B-4F85-5BF0-752E-CEA613BF759E}"/>
              </a:ext>
            </a:extLst>
          </p:cNvPr>
          <p:cNvSpPr>
            <a:spLocks noGrp="1"/>
          </p:cNvSpPr>
          <p:nvPr>
            <p:ph type="title"/>
          </p:nvPr>
        </p:nvSpPr>
        <p:spPr>
          <a:xfrm>
            <a:off x="826294" y="445274"/>
            <a:ext cx="10515600" cy="449859"/>
          </a:xfrm>
        </p:spPr>
        <p:txBody>
          <a:bodyPr>
            <a:normAutofit fontScale="90000"/>
          </a:bodyPr>
          <a:lstStyle/>
          <a:p>
            <a:r>
              <a:rPr lang="en-US" dirty="0">
                <a:solidFill>
                  <a:schemeClr val="bg2">
                    <a:lumMod val="50000"/>
                  </a:schemeClr>
                </a:solidFill>
                <a:latin typeface="+mn-lt"/>
              </a:rPr>
              <a:t>TYPES OF KPI</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3FF13EF-2767-044A-BE54-51E836B22DF0}"/>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88D60EE4-1648-0C43-59FF-E5C427002C8A}"/>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ED84F4CD-F11C-0ED6-3682-7EA5A0D0B6B9}"/>
              </a:ext>
            </a:extLst>
          </p:cNvPr>
          <p:cNvSpPr>
            <a:spLocks noGrp="1"/>
          </p:cNvSpPr>
          <p:nvPr>
            <p:ph type="sldNum" sz="quarter" idx="12"/>
          </p:nvPr>
        </p:nvSpPr>
        <p:spPr/>
        <p:txBody>
          <a:bodyPr/>
          <a:lstStyle/>
          <a:p>
            <a:fld id="{8C95646D-91FE-4030-A7F0-07F651F9A7F3}" type="slidenum">
              <a:rPr lang="en-PK" smtClean="0"/>
              <a:t>7</a:t>
            </a:fld>
            <a:endParaRPr lang="en-PK"/>
          </a:p>
        </p:txBody>
      </p:sp>
      <p:pic>
        <p:nvPicPr>
          <p:cNvPr id="8" name="Picture 4" descr="Download HD 55 Pm 52458 Fast University ...">
            <a:extLst>
              <a:ext uri="{FF2B5EF4-FFF2-40B4-BE49-F238E27FC236}">
                <a16:creationId xmlns:a16="http://schemas.microsoft.com/office/drawing/2014/main" id="{07862A39-FF0F-C4CE-F4CD-98AAE636C7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A9F3503-28BE-2741-4245-7A458DEEBF09}"/>
              </a:ext>
            </a:extLst>
          </p:cNvPr>
          <p:cNvSpPr txBox="1"/>
          <p:nvPr/>
        </p:nvSpPr>
        <p:spPr>
          <a:xfrm>
            <a:off x="826294" y="1207647"/>
            <a:ext cx="6097772" cy="1295868"/>
          </a:xfrm>
          <a:prstGeom prst="rect">
            <a:avLst/>
          </a:prstGeom>
          <a:noFill/>
        </p:spPr>
        <p:txBody>
          <a:bodyPr wrap="square">
            <a:spAutoFit/>
          </a:bodyPr>
          <a:lstStyle/>
          <a:p>
            <a:pPr>
              <a:lnSpc>
                <a:spcPct val="150000"/>
              </a:lnSpc>
              <a:buNone/>
            </a:pPr>
            <a:r>
              <a:rPr lang="en-US" b="1" dirty="0"/>
              <a:t>📈 1. Strategic KPIs (High-Level)</a:t>
            </a:r>
          </a:p>
          <a:p>
            <a:pPr>
              <a:lnSpc>
                <a:spcPct val="150000"/>
              </a:lnSpc>
              <a:buNone/>
            </a:pPr>
            <a:r>
              <a:rPr lang="en-US" dirty="0"/>
              <a:t>Explain:</a:t>
            </a:r>
          </a:p>
          <a:p>
            <a:pPr>
              <a:lnSpc>
                <a:spcPct val="150000"/>
              </a:lnSpc>
              <a:buNone/>
            </a:pPr>
            <a:r>
              <a:rPr lang="en-US" dirty="0"/>
              <a:t>Measure long-term business success.</a:t>
            </a:r>
          </a:p>
        </p:txBody>
      </p:sp>
      <p:sp>
        <p:nvSpPr>
          <p:cNvPr id="10" name="TextBox 9">
            <a:extLst>
              <a:ext uri="{FF2B5EF4-FFF2-40B4-BE49-F238E27FC236}">
                <a16:creationId xmlns:a16="http://schemas.microsoft.com/office/drawing/2014/main" id="{8B0664D5-FE23-B02F-DEB4-896C82EEEAC3}"/>
              </a:ext>
            </a:extLst>
          </p:cNvPr>
          <p:cNvSpPr txBox="1"/>
          <p:nvPr/>
        </p:nvSpPr>
        <p:spPr>
          <a:xfrm>
            <a:off x="826294" y="2940478"/>
            <a:ext cx="6097772" cy="1711366"/>
          </a:xfrm>
          <a:prstGeom prst="rect">
            <a:avLst/>
          </a:prstGeom>
          <a:noFill/>
        </p:spPr>
        <p:txBody>
          <a:bodyPr wrap="square">
            <a:spAutoFit/>
          </a:bodyPr>
          <a:lstStyle/>
          <a:p>
            <a:pPr>
              <a:lnSpc>
                <a:spcPct val="150000"/>
              </a:lnSpc>
              <a:buNone/>
            </a:pPr>
            <a:r>
              <a:rPr lang="en-US" b="1" dirty="0"/>
              <a:t>🇵🇰 Example</a:t>
            </a:r>
          </a:p>
          <a:p>
            <a:pPr>
              <a:lnSpc>
                <a:spcPct val="150000"/>
              </a:lnSpc>
              <a:buNone/>
            </a:pPr>
            <a:r>
              <a:rPr lang="en-US" dirty="0"/>
              <a:t>Bank:</a:t>
            </a:r>
          </a:p>
          <a:p>
            <a:pPr>
              <a:lnSpc>
                <a:spcPct val="150000"/>
              </a:lnSpc>
              <a:buFont typeface="Arial" panose="020B0604020202020204" pitchFamily="34" charset="0"/>
              <a:buChar char="•"/>
            </a:pPr>
            <a:r>
              <a:rPr lang="en-US" dirty="0"/>
              <a:t>Revenue growth </a:t>
            </a:r>
          </a:p>
          <a:p>
            <a:pPr>
              <a:lnSpc>
                <a:spcPct val="150000"/>
              </a:lnSpc>
              <a:buFont typeface="Arial" panose="020B0604020202020204" pitchFamily="34" charset="0"/>
              <a:buChar char="•"/>
            </a:pPr>
            <a:r>
              <a:rPr lang="en-US" dirty="0"/>
              <a:t>Customer base increase</a:t>
            </a:r>
          </a:p>
        </p:txBody>
      </p:sp>
      <p:sp>
        <p:nvSpPr>
          <p:cNvPr id="12" name="TextBox 11">
            <a:extLst>
              <a:ext uri="{FF2B5EF4-FFF2-40B4-BE49-F238E27FC236}">
                <a16:creationId xmlns:a16="http://schemas.microsoft.com/office/drawing/2014/main" id="{B4F5D11E-320E-A259-733A-44D51E26FD1B}"/>
              </a:ext>
            </a:extLst>
          </p:cNvPr>
          <p:cNvSpPr txBox="1"/>
          <p:nvPr/>
        </p:nvSpPr>
        <p:spPr>
          <a:xfrm>
            <a:off x="6610793" y="3040235"/>
            <a:ext cx="6097772" cy="1711366"/>
          </a:xfrm>
          <a:prstGeom prst="rect">
            <a:avLst/>
          </a:prstGeom>
          <a:noFill/>
        </p:spPr>
        <p:txBody>
          <a:bodyPr wrap="square">
            <a:spAutoFit/>
          </a:bodyPr>
          <a:lstStyle/>
          <a:p>
            <a:pPr>
              <a:lnSpc>
                <a:spcPct val="150000"/>
              </a:lnSpc>
              <a:buNone/>
            </a:pPr>
            <a:r>
              <a:rPr lang="en-US" b="1" dirty="0"/>
              <a:t>🌎 Example</a:t>
            </a:r>
          </a:p>
          <a:p>
            <a:pPr>
              <a:lnSpc>
                <a:spcPct val="150000"/>
              </a:lnSpc>
              <a:buNone/>
            </a:pPr>
            <a:r>
              <a:rPr lang="en-US" dirty="0"/>
              <a:t>Amazon:</a:t>
            </a:r>
          </a:p>
          <a:p>
            <a:pPr>
              <a:lnSpc>
                <a:spcPct val="150000"/>
              </a:lnSpc>
              <a:buFont typeface="Arial" panose="020B0604020202020204" pitchFamily="34" charset="0"/>
              <a:buChar char="•"/>
            </a:pPr>
            <a:r>
              <a:rPr lang="en-US" dirty="0"/>
              <a:t>Annual revenue </a:t>
            </a:r>
          </a:p>
          <a:p>
            <a:pPr>
              <a:lnSpc>
                <a:spcPct val="150000"/>
              </a:lnSpc>
              <a:buFont typeface="Arial" panose="020B0604020202020204" pitchFamily="34" charset="0"/>
              <a:buChar char="•"/>
            </a:pPr>
            <a:r>
              <a:rPr lang="en-US" dirty="0"/>
              <a:t>Market share</a:t>
            </a:r>
          </a:p>
        </p:txBody>
      </p:sp>
      <p:sp>
        <p:nvSpPr>
          <p:cNvPr id="14" name="TextBox 13">
            <a:extLst>
              <a:ext uri="{FF2B5EF4-FFF2-40B4-BE49-F238E27FC236}">
                <a16:creationId xmlns:a16="http://schemas.microsoft.com/office/drawing/2014/main" id="{2FABE5EA-CC9B-0D65-A14F-3A13DC3CA57B}"/>
              </a:ext>
            </a:extLst>
          </p:cNvPr>
          <p:cNvSpPr txBox="1"/>
          <p:nvPr/>
        </p:nvSpPr>
        <p:spPr>
          <a:xfrm>
            <a:off x="826294" y="5517868"/>
            <a:ext cx="6352952" cy="369332"/>
          </a:xfrm>
          <a:prstGeom prst="rect">
            <a:avLst/>
          </a:prstGeom>
          <a:noFill/>
        </p:spPr>
        <p:txBody>
          <a:bodyPr wrap="square">
            <a:spAutoFit/>
          </a:bodyPr>
          <a:lstStyle/>
          <a:p>
            <a:r>
              <a:rPr lang="en-US" b="1" dirty="0"/>
              <a:t>Strategic KPIs = “Big Picture”</a:t>
            </a:r>
          </a:p>
        </p:txBody>
      </p:sp>
    </p:spTree>
    <p:extLst>
      <p:ext uri="{BB962C8B-B14F-4D97-AF65-F5344CB8AC3E}">
        <p14:creationId xmlns:p14="http://schemas.microsoft.com/office/powerpoint/2010/main" val="4122063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D271D-FF81-F25A-5A9C-E3445BE364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16168-A72F-9DC3-8D87-ED6611FE5361}"/>
              </a:ext>
            </a:extLst>
          </p:cNvPr>
          <p:cNvSpPr>
            <a:spLocks noGrp="1"/>
          </p:cNvSpPr>
          <p:nvPr>
            <p:ph type="title"/>
          </p:nvPr>
        </p:nvSpPr>
        <p:spPr>
          <a:xfrm>
            <a:off x="826294" y="445274"/>
            <a:ext cx="10515600" cy="449859"/>
          </a:xfrm>
        </p:spPr>
        <p:txBody>
          <a:bodyPr>
            <a:normAutofit fontScale="90000"/>
          </a:bodyPr>
          <a:lstStyle/>
          <a:p>
            <a:r>
              <a:rPr lang="en-US" dirty="0">
                <a:solidFill>
                  <a:schemeClr val="bg2">
                    <a:lumMod val="50000"/>
                  </a:schemeClr>
                </a:solidFill>
                <a:latin typeface="+mn-lt"/>
              </a:rPr>
              <a:t>TYPES OF KPI</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10C534D4-F174-FD73-B5A1-7E4F89BEE145}"/>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964CBC51-6B50-3280-AA1E-375FACFF1D07}"/>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7356C73A-CA80-E875-E12B-A82F12DAF7FB}"/>
              </a:ext>
            </a:extLst>
          </p:cNvPr>
          <p:cNvSpPr>
            <a:spLocks noGrp="1"/>
          </p:cNvSpPr>
          <p:nvPr>
            <p:ph type="sldNum" sz="quarter" idx="12"/>
          </p:nvPr>
        </p:nvSpPr>
        <p:spPr/>
        <p:txBody>
          <a:bodyPr/>
          <a:lstStyle/>
          <a:p>
            <a:fld id="{8C95646D-91FE-4030-A7F0-07F651F9A7F3}" type="slidenum">
              <a:rPr lang="en-PK" smtClean="0"/>
              <a:t>8</a:t>
            </a:fld>
            <a:endParaRPr lang="en-PK"/>
          </a:p>
        </p:txBody>
      </p:sp>
      <p:pic>
        <p:nvPicPr>
          <p:cNvPr id="8" name="Picture 4" descr="Download HD 55 Pm 52458 Fast University ...">
            <a:extLst>
              <a:ext uri="{FF2B5EF4-FFF2-40B4-BE49-F238E27FC236}">
                <a16:creationId xmlns:a16="http://schemas.microsoft.com/office/drawing/2014/main" id="{869F3198-DA1A-A852-F43A-AD22147E82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6588711-29F3-5100-01CB-170A01AA0F2E}"/>
              </a:ext>
            </a:extLst>
          </p:cNvPr>
          <p:cNvSpPr txBox="1"/>
          <p:nvPr/>
        </p:nvSpPr>
        <p:spPr>
          <a:xfrm>
            <a:off x="826294" y="1271442"/>
            <a:ext cx="6097772" cy="1295868"/>
          </a:xfrm>
          <a:prstGeom prst="rect">
            <a:avLst/>
          </a:prstGeom>
          <a:noFill/>
        </p:spPr>
        <p:txBody>
          <a:bodyPr wrap="square">
            <a:spAutoFit/>
          </a:bodyPr>
          <a:lstStyle/>
          <a:p>
            <a:pPr>
              <a:lnSpc>
                <a:spcPct val="150000"/>
              </a:lnSpc>
              <a:buNone/>
            </a:pPr>
            <a:r>
              <a:rPr lang="en-US" b="1" dirty="0"/>
              <a:t>⚙️ 2. Operational KPIs (Day-to-Day)</a:t>
            </a:r>
          </a:p>
          <a:p>
            <a:pPr>
              <a:lnSpc>
                <a:spcPct val="150000"/>
              </a:lnSpc>
              <a:buNone/>
            </a:pPr>
            <a:r>
              <a:rPr lang="en-US" dirty="0"/>
              <a:t>Explain:</a:t>
            </a:r>
          </a:p>
          <a:p>
            <a:pPr>
              <a:lnSpc>
                <a:spcPct val="150000"/>
              </a:lnSpc>
              <a:buNone/>
            </a:pPr>
            <a:r>
              <a:rPr lang="en-US" dirty="0"/>
              <a:t>Measure daily performance.</a:t>
            </a:r>
          </a:p>
        </p:txBody>
      </p:sp>
      <p:sp>
        <p:nvSpPr>
          <p:cNvPr id="10" name="TextBox 9">
            <a:extLst>
              <a:ext uri="{FF2B5EF4-FFF2-40B4-BE49-F238E27FC236}">
                <a16:creationId xmlns:a16="http://schemas.microsoft.com/office/drawing/2014/main" id="{73AF5457-8E82-0DEA-9B48-E609888BD292}"/>
              </a:ext>
            </a:extLst>
          </p:cNvPr>
          <p:cNvSpPr txBox="1"/>
          <p:nvPr/>
        </p:nvSpPr>
        <p:spPr>
          <a:xfrm>
            <a:off x="824522" y="3224014"/>
            <a:ext cx="6097772" cy="1711366"/>
          </a:xfrm>
          <a:prstGeom prst="rect">
            <a:avLst/>
          </a:prstGeom>
          <a:noFill/>
        </p:spPr>
        <p:txBody>
          <a:bodyPr wrap="square">
            <a:spAutoFit/>
          </a:bodyPr>
          <a:lstStyle/>
          <a:p>
            <a:pPr>
              <a:lnSpc>
                <a:spcPct val="150000"/>
              </a:lnSpc>
              <a:buNone/>
            </a:pPr>
            <a:r>
              <a:rPr lang="en-US" b="1" dirty="0"/>
              <a:t>🇵🇰 Example</a:t>
            </a:r>
          </a:p>
          <a:p>
            <a:pPr>
              <a:lnSpc>
                <a:spcPct val="150000"/>
              </a:lnSpc>
              <a:buNone/>
            </a:pPr>
            <a:r>
              <a:rPr lang="en-US" dirty="0"/>
              <a:t>Careem:</a:t>
            </a:r>
          </a:p>
          <a:p>
            <a:pPr>
              <a:lnSpc>
                <a:spcPct val="150000"/>
              </a:lnSpc>
              <a:buFont typeface="Arial" panose="020B0604020202020204" pitchFamily="34" charset="0"/>
              <a:buChar char="•"/>
            </a:pPr>
            <a:r>
              <a:rPr lang="en-US" dirty="0"/>
              <a:t>Ride completion time </a:t>
            </a:r>
          </a:p>
          <a:p>
            <a:pPr>
              <a:lnSpc>
                <a:spcPct val="150000"/>
              </a:lnSpc>
              <a:buFont typeface="Arial" panose="020B0604020202020204" pitchFamily="34" charset="0"/>
              <a:buChar char="•"/>
            </a:pPr>
            <a:r>
              <a:rPr lang="en-US" dirty="0"/>
              <a:t>Driver availability</a:t>
            </a:r>
          </a:p>
        </p:txBody>
      </p:sp>
      <p:sp>
        <p:nvSpPr>
          <p:cNvPr id="12" name="TextBox 11">
            <a:extLst>
              <a:ext uri="{FF2B5EF4-FFF2-40B4-BE49-F238E27FC236}">
                <a16:creationId xmlns:a16="http://schemas.microsoft.com/office/drawing/2014/main" id="{3924E742-6A82-9740-D908-FB9D12CF6C29}"/>
              </a:ext>
            </a:extLst>
          </p:cNvPr>
          <p:cNvSpPr txBox="1"/>
          <p:nvPr/>
        </p:nvSpPr>
        <p:spPr>
          <a:xfrm>
            <a:off x="6196123" y="3277253"/>
            <a:ext cx="6097772" cy="1711366"/>
          </a:xfrm>
          <a:prstGeom prst="rect">
            <a:avLst/>
          </a:prstGeom>
          <a:noFill/>
        </p:spPr>
        <p:txBody>
          <a:bodyPr wrap="square">
            <a:spAutoFit/>
          </a:bodyPr>
          <a:lstStyle/>
          <a:p>
            <a:pPr>
              <a:lnSpc>
                <a:spcPct val="150000"/>
              </a:lnSpc>
              <a:buNone/>
            </a:pPr>
            <a:r>
              <a:rPr lang="en-US" b="1" dirty="0"/>
              <a:t>🌎 Example</a:t>
            </a:r>
          </a:p>
          <a:p>
            <a:pPr>
              <a:lnSpc>
                <a:spcPct val="150000"/>
              </a:lnSpc>
              <a:buNone/>
            </a:pPr>
            <a:r>
              <a:rPr lang="en-US" dirty="0"/>
              <a:t>Uber:</a:t>
            </a:r>
          </a:p>
          <a:p>
            <a:pPr>
              <a:lnSpc>
                <a:spcPct val="150000"/>
              </a:lnSpc>
              <a:buFont typeface="Arial" panose="020B0604020202020204" pitchFamily="34" charset="0"/>
              <a:buChar char="•"/>
            </a:pPr>
            <a:r>
              <a:rPr lang="en-US" dirty="0"/>
              <a:t>Avg ride wait time </a:t>
            </a:r>
          </a:p>
          <a:p>
            <a:pPr>
              <a:lnSpc>
                <a:spcPct val="150000"/>
              </a:lnSpc>
              <a:buFont typeface="Arial" panose="020B0604020202020204" pitchFamily="34" charset="0"/>
              <a:buChar char="•"/>
            </a:pPr>
            <a:r>
              <a:rPr lang="en-US" dirty="0"/>
              <a:t>Cancellation rate</a:t>
            </a:r>
          </a:p>
        </p:txBody>
      </p:sp>
      <p:sp>
        <p:nvSpPr>
          <p:cNvPr id="14" name="TextBox 13">
            <a:extLst>
              <a:ext uri="{FF2B5EF4-FFF2-40B4-BE49-F238E27FC236}">
                <a16:creationId xmlns:a16="http://schemas.microsoft.com/office/drawing/2014/main" id="{E0D948C7-6C6F-5F7A-3100-8C3BCF13EE54}"/>
              </a:ext>
            </a:extLst>
          </p:cNvPr>
          <p:cNvSpPr txBox="1"/>
          <p:nvPr/>
        </p:nvSpPr>
        <p:spPr>
          <a:xfrm>
            <a:off x="824522" y="5698562"/>
            <a:ext cx="6145618" cy="369332"/>
          </a:xfrm>
          <a:prstGeom prst="rect">
            <a:avLst/>
          </a:prstGeom>
          <a:noFill/>
        </p:spPr>
        <p:txBody>
          <a:bodyPr wrap="square">
            <a:spAutoFit/>
          </a:bodyPr>
          <a:lstStyle/>
          <a:p>
            <a:r>
              <a:rPr lang="en-US" b="1" dirty="0"/>
              <a:t>Operational KPIs = “Daily performance”</a:t>
            </a:r>
          </a:p>
        </p:txBody>
      </p:sp>
    </p:spTree>
    <p:extLst>
      <p:ext uri="{BB962C8B-B14F-4D97-AF65-F5344CB8AC3E}">
        <p14:creationId xmlns:p14="http://schemas.microsoft.com/office/powerpoint/2010/main" val="2237504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16B2-D015-4726-DE06-1A74D24CB82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1F64FE0-4268-E0D1-9615-46C8A31AE610}"/>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955D7359-C9FB-25C3-A2DE-87B9E42A2996}"/>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5FDB1054-298D-3B21-B11A-B9DFBEB212EA}"/>
              </a:ext>
            </a:extLst>
          </p:cNvPr>
          <p:cNvSpPr>
            <a:spLocks noGrp="1"/>
          </p:cNvSpPr>
          <p:nvPr>
            <p:ph type="sldNum" sz="quarter" idx="12"/>
          </p:nvPr>
        </p:nvSpPr>
        <p:spPr/>
        <p:txBody>
          <a:bodyPr/>
          <a:lstStyle/>
          <a:p>
            <a:fld id="{8C95646D-91FE-4030-A7F0-07F651F9A7F3}" type="slidenum">
              <a:rPr lang="en-PK" smtClean="0"/>
              <a:t>9</a:t>
            </a:fld>
            <a:endParaRPr lang="en-PK"/>
          </a:p>
        </p:txBody>
      </p:sp>
      <p:pic>
        <p:nvPicPr>
          <p:cNvPr id="8" name="Picture 4" descr="Download HD 55 Pm 52458 Fast University ...">
            <a:extLst>
              <a:ext uri="{FF2B5EF4-FFF2-40B4-BE49-F238E27FC236}">
                <a16:creationId xmlns:a16="http://schemas.microsoft.com/office/drawing/2014/main" id="{CDBF931B-EC48-C4AB-0057-35BF751EC0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KPIs or OKRs? Find the Perfect Fit for Your Goals | Medium">
            <a:extLst>
              <a:ext uri="{FF2B5EF4-FFF2-40B4-BE49-F238E27FC236}">
                <a16:creationId xmlns:a16="http://schemas.microsoft.com/office/drawing/2014/main" id="{7F6F9931-90E7-08DE-CC80-AA80C68547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719734"/>
            <a:ext cx="12192000" cy="57572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466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07029-5CD7-6493-88EC-B2598C5B01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8213F-7772-A7A8-A051-C7E2DDD72D36}"/>
              </a:ext>
            </a:extLst>
          </p:cNvPr>
          <p:cNvSpPr>
            <a:spLocks noGrp="1"/>
          </p:cNvSpPr>
          <p:nvPr>
            <p:ph type="title"/>
          </p:nvPr>
        </p:nvSpPr>
        <p:spPr>
          <a:xfrm>
            <a:off x="826294" y="445274"/>
            <a:ext cx="10515600" cy="449859"/>
          </a:xfrm>
        </p:spPr>
        <p:txBody>
          <a:bodyPr>
            <a:normAutofit fontScale="90000"/>
          </a:bodyPr>
          <a:lstStyle/>
          <a:p>
            <a:r>
              <a:rPr lang="en-US" dirty="0"/>
              <a:t>VISUAL HIERARCHY</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4581EFF5-F673-F690-302A-30F80F4F340D}"/>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D2BE4C9A-9E53-B7A8-7FA5-5E58B78A9AE4}"/>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58FD0A88-FBEC-CE2C-B842-8E9B8BBBB084}"/>
              </a:ext>
            </a:extLst>
          </p:cNvPr>
          <p:cNvSpPr>
            <a:spLocks noGrp="1"/>
          </p:cNvSpPr>
          <p:nvPr>
            <p:ph type="sldNum" sz="quarter" idx="12"/>
          </p:nvPr>
        </p:nvSpPr>
        <p:spPr/>
        <p:txBody>
          <a:bodyPr/>
          <a:lstStyle/>
          <a:p>
            <a:fld id="{8C95646D-91FE-4030-A7F0-07F651F9A7F3}" type="slidenum">
              <a:rPr lang="en-PK" smtClean="0"/>
              <a:t>10</a:t>
            </a:fld>
            <a:endParaRPr lang="en-PK"/>
          </a:p>
        </p:txBody>
      </p:sp>
      <p:pic>
        <p:nvPicPr>
          <p:cNvPr id="8" name="Picture 4" descr="Download HD 55 Pm 52458 Fast University ...">
            <a:extLst>
              <a:ext uri="{FF2B5EF4-FFF2-40B4-BE49-F238E27FC236}">
                <a16:creationId xmlns:a16="http://schemas.microsoft.com/office/drawing/2014/main" id="{FA1ABC1A-C0A7-A384-6701-36BA97B6D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Aligning Metrics to Outcomes: A Strategic Imperative for Modern Enterprises  &amp; Why It Matters in 2025!">
            <a:extLst>
              <a:ext uri="{FF2B5EF4-FFF2-40B4-BE49-F238E27FC236}">
                <a16:creationId xmlns:a16="http://schemas.microsoft.com/office/drawing/2014/main" id="{5112D0A0-05C0-3D69-2786-DC2D9447B6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39783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2F97E-4E0C-9BDB-0F9B-8A9E1EC61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A3389A-AAAA-1A92-5423-E13A661720F5}"/>
              </a:ext>
            </a:extLst>
          </p:cNvPr>
          <p:cNvSpPr>
            <a:spLocks noGrp="1"/>
          </p:cNvSpPr>
          <p:nvPr>
            <p:ph type="title"/>
          </p:nvPr>
        </p:nvSpPr>
        <p:spPr>
          <a:xfrm>
            <a:off x="826294" y="445274"/>
            <a:ext cx="10515600" cy="449859"/>
          </a:xfrm>
        </p:spPr>
        <p:txBody>
          <a:bodyPr>
            <a:normAutofit fontScale="90000"/>
          </a:bodyPr>
          <a:lstStyle/>
          <a:p>
            <a:r>
              <a:rPr lang="en-US" dirty="0"/>
              <a:t>CHARACTERISTICS OF A GOOD KPI</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CE1CF462-4FAF-5A8D-505F-B07D2EBE9A5B}"/>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CBE5BA9F-E4B6-8F2E-1FDA-CDDC88E12E9B}"/>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8D53EADE-09B2-C217-A6F6-337755C4F0A0}"/>
              </a:ext>
            </a:extLst>
          </p:cNvPr>
          <p:cNvSpPr>
            <a:spLocks noGrp="1"/>
          </p:cNvSpPr>
          <p:nvPr>
            <p:ph type="sldNum" sz="quarter" idx="12"/>
          </p:nvPr>
        </p:nvSpPr>
        <p:spPr/>
        <p:txBody>
          <a:bodyPr/>
          <a:lstStyle/>
          <a:p>
            <a:fld id="{8C95646D-91FE-4030-A7F0-07F651F9A7F3}" type="slidenum">
              <a:rPr lang="en-PK" smtClean="0"/>
              <a:t>11</a:t>
            </a:fld>
            <a:endParaRPr lang="en-PK"/>
          </a:p>
        </p:txBody>
      </p:sp>
      <p:pic>
        <p:nvPicPr>
          <p:cNvPr id="8" name="Picture 4" descr="Download HD 55 Pm 52458 Fast University ...">
            <a:extLst>
              <a:ext uri="{FF2B5EF4-FFF2-40B4-BE49-F238E27FC236}">
                <a16:creationId xmlns:a16="http://schemas.microsoft.com/office/drawing/2014/main" id="{C9E236D2-FD52-918D-6381-3F7C682FD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1BED5CF-7C9C-FAA8-E9F2-92C815A2731A}"/>
              </a:ext>
            </a:extLst>
          </p:cNvPr>
          <p:cNvSpPr txBox="1"/>
          <p:nvPr/>
        </p:nvSpPr>
        <p:spPr>
          <a:xfrm>
            <a:off x="826294" y="1302511"/>
            <a:ext cx="6097772" cy="3342646"/>
          </a:xfrm>
          <a:prstGeom prst="rect">
            <a:avLst/>
          </a:prstGeom>
          <a:noFill/>
        </p:spPr>
        <p:txBody>
          <a:bodyPr wrap="square">
            <a:spAutoFit/>
          </a:bodyPr>
          <a:lstStyle/>
          <a:p>
            <a:pPr>
              <a:lnSpc>
                <a:spcPct val="200000"/>
              </a:lnSpc>
              <a:buNone/>
            </a:pPr>
            <a:r>
              <a:rPr lang="en-US" dirty="0"/>
              <a:t>SMART framework:</a:t>
            </a:r>
          </a:p>
          <a:p>
            <a:pPr>
              <a:lnSpc>
                <a:spcPct val="200000"/>
              </a:lnSpc>
              <a:buNone/>
            </a:pPr>
            <a:r>
              <a:rPr lang="en-US" dirty="0"/>
              <a:t>✔ Specific</a:t>
            </a:r>
            <a:br>
              <a:rPr lang="en-US" dirty="0"/>
            </a:br>
            <a:r>
              <a:rPr lang="en-US" dirty="0"/>
              <a:t>✔ Measurable</a:t>
            </a:r>
            <a:br>
              <a:rPr lang="en-US" dirty="0"/>
            </a:br>
            <a:r>
              <a:rPr lang="en-US" dirty="0"/>
              <a:t>✔ Achievable</a:t>
            </a:r>
            <a:br>
              <a:rPr lang="en-US" dirty="0"/>
            </a:br>
            <a:r>
              <a:rPr lang="en-US" dirty="0"/>
              <a:t>✔ Relevant</a:t>
            </a:r>
            <a:br>
              <a:rPr lang="en-US" dirty="0"/>
            </a:br>
            <a:r>
              <a:rPr lang="en-US" dirty="0"/>
              <a:t>✔ Time-bound</a:t>
            </a:r>
          </a:p>
        </p:txBody>
      </p:sp>
      <p:sp>
        <p:nvSpPr>
          <p:cNvPr id="10" name="TextBox 9">
            <a:extLst>
              <a:ext uri="{FF2B5EF4-FFF2-40B4-BE49-F238E27FC236}">
                <a16:creationId xmlns:a16="http://schemas.microsoft.com/office/drawing/2014/main" id="{31703617-ABEF-11EE-1ACA-17BE051B5CF2}"/>
              </a:ext>
            </a:extLst>
          </p:cNvPr>
          <p:cNvSpPr txBox="1"/>
          <p:nvPr/>
        </p:nvSpPr>
        <p:spPr>
          <a:xfrm>
            <a:off x="824522" y="5280775"/>
            <a:ext cx="4353534" cy="1295868"/>
          </a:xfrm>
          <a:prstGeom prst="rect">
            <a:avLst/>
          </a:prstGeom>
          <a:noFill/>
        </p:spPr>
        <p:txBody>
          <a:bodyPr wrap="square">
            <a:spAutoFit/>
          </a:bodyPr>
          <a:lstStyle/>
          <a:p>
            <a:pPr>
              <a:lnSpc>
                <a:spcPct val="150000"/>
              </a:lnSpc>
              <a:buNone/>
            </a:pPr>
            <a:r>
              <a:rPr lang="en-US" b="1" dirty="0"/>
              <a:t>Good KPI Example</a:t>
            </a:r>
          </a:p>
          <a:p>
            <a:pPr>
              <a:lnSpc>
                <a:spcPct val="150000"/>
              </a:lnSpc>
              <a:buNone/>
            </a:pPr>
            <a:r>
              <a:rPr lang="en-US" dirty="0"/>
              <a:t>“Reduce delivery time from 45 min to 30 min in 3 months.”</a:t>
            </a:r>
          </a:p>
        </p:txBody>
      </p:sp>
      <p:sp>
        <p:nvSpPr>
          <p:cNvPr id="12" name="TextBox 11">
            <a:extLst>
              <a:ext uri="{FF2B5EF4-FFF2-40B4-BE49-F238E27FC236}">
                <a16:creationId xmlns:a16="http://schemas.microsoft.com/office/drawing/2014/main" id="{CBED72EB-33E9-1B65-EC53-1001A7FAD744}"/>
              </a:ext>
            </a:extLst>
          </p:cNvPr>
          <p:cNvSpPr txBox="1"/>
          <p:nvPr/>
        </p:nvSpPr>
        <p:spPr>
          <a:xfrm>
            <a:off x="6536365" y="5298563"/>
            <a:ext cx="6097772" cy="880369"/>
          </a:xfrm>
          <a:prstGeom prst="rect">
            <a:avLst/>
          </a:prstGeom>
          <a:noFill/>
        </p:spPr>
        <p:txBody>
          <a:bodyPr wrap="square">
            <a:spAutoFit/>
          </a:bodyPr>
          <a:lstStyle/>
          <a:p>
            <a:pPr>
              <a:lnSpc>
                <a:spcPct val="150000"/>
              </a:lnSpc>
              <a:buNone/>
            </a:pPr>
            <a:r>
              <a:rPr lang="en-US" b="1" dirty="0"/>
              <a:t>Bad KPI Example</a:t>
            </a:r>
          </a:p>
          <a:p>
            <a:pPr>
              <a:lnSpc>
                <a:spcPct val="150000"/>
              </a:lnSpc>
              <a:buNone/>
            </a:pPr>
            <a:r>
              <a:rPr lang="en-US" dirty="0"/>
              <a:t>“Improve customer satisfaction.”</a:t>
            </a:r>
          </a:p>
        </p:txBody>
      </p:sp>
      <p:pic>
        <p:nvPicPr>
          <p:cNvPr id="6146" name="Picture 2" descr="SMART Goals">
            <a:extLst>
              <a:ext uri="{FF2B5EF4-FFF2-40B4-BE49-F238E27FC236}">
                <a16:creationId xmlns:a16="http://schemas.microsoft.com/office/drawing/2014/main" id="{A50307E5-B1A7-AEEF-9DFE-6D6124A933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1300" y="1189733"/>
            <a:ext cx="7480594" cy="4207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2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C660A-D5FD-32CE-A7F9-BA0205480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C7C15-A59C-0360-8B02-B87D146DA612}"/>
              </a:ext>
            </a:extLst>
          </p:cNvPr>
          <p:cNvSpPr>
            <a:spLocks noGrp="1"/>
          </p:cNvSpPr>
          <p:nvPr>
            <p:ph type="title"/>
          </p:nvPr>
        </p:nvSpPr>
        <p:spPr>
          <a:xfrm>
            <a:off x="826294" y="445274"/>
            <a:ext cx="10515600" cy="449859"/>
          </a:xfrm>
        </p:spPr>
        <p:txBody>
          <a:bodyPr>
            <a:normAutofit fontScale="90000"/>
          </a:bodyPr>
          <a:lstStyle/>
          <a:p>
            <a:r>
              <a:rPr lang="en-US" dirty="0"/>
              <a:t>REAL INDUSTRY KPI </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515A266E-6F5A-0686-F195-A1B89EE71659}"/>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6FB31D85-AA02-6A2C-5275-E605131FE258}"/>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FD54B4C-ECE2-AF98-DB71-17B3C2619141}"/>
              </a:ext>
            </a:extLst>
          </p:cNvPr>
          <p:cNvSpPr>
            <a:spLocks noGrp="1"/>
          </p:cNvSpPr>
          <p:nvPr>
            <p:ph type="sldNum" sz="quarter" idx="12"/>
          </p:nvPr>
        </p:nvSpPr>
        <p:spPr/>
        <p:txBody>
          <a:bodyPr/>
          <a:lstStyle/>
          <a:p>
            <a:fld id="{8C95646D-91FE-4030-A7F0-07F651F9A7F3}" type="slidenum">
              <a:rPr lang="en-PK" smtClean="0"/>
              <a:t>12</a:t>
            </a:fld>
            <a:endParaRPr lang="en-PK"/>
          </a:p>
        </p:txBody>
      </p:sp>
      <p:pic>
        <p:nvPicPr>
          <p:cNvPr id="8" name="Picture 4" descr="Download HD 55 Pm 52458 Fast University ...">
            <a:extLst>
              <a:ext uri="{FF2B5EF4-FFF2-40B4-BE49-F238E27FC236}">
                <a16:creationId xmlns:a16="http://schemas.microsoft.com/office/drawing/2014/main" id="{4291FDF4-20F8-D270-10B9-CFA1526B06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61097BB-5DDD-F89F-1EB4-BABD951A977F}"/>
              </a:ext>
            </a:extLst>
          </p:cNvPr>
          <p:cNvSpPr txBox="1"/>
          <p:nvPr/>
        </p:nvSpPr>
        <p:spPr>
          <a:xfrm>
            <a:off x="826294" y="1409390"/>
            <a:ext cx="6097772" cy="2230739"/>
          </a:xfrm>
          <a:prstGeom prst="rect">
            <a:avLst/>
          </a:prstGeom>
          <a:noFill/>
        </p:spPr>
        <p:txBody>
          <a:bodyPr wrap="square">
            <a:spAutoFit/>
          </a:bodyPr>
          <a:lstStyle/>
          <a:p>
            <a:pPr>
              <a:lnSpc>
                <a:spcPct val="200000"/>
              </a:lnSpc>
              <a:buNone/>
            </a:pPr>
            <a:r>
              <a:rPr lang="en-US" b="1" dirty="0"/>
              <a:t>🇵🇰 </a:t>
            </a:r>
            <a:r>
              <a:rPr lang="en-US" b="1" dirty="0" err="1"/>
              <a:t>Daraz</a:t>
            </a:r>
            <a:endParaRPr lang="en-US" b="1" dirty="0"/>
          </a:p>
          <a:p>
            <a:pPr>
              <a:lnSpc>
                <a:spcPct val="200000"/>
              </a:lnSpc>
              <a:buFont typeface="Arial" panose="020B0604020202020204" pitchFamily="34" charset="0"/>
              <a:buChar char="•"/>
            </a:pPr>
            <a:r>
              <a:rPr lang="en-US" dirty="0"/>
              <a:t>Order conversion rate </a:t>
            </a:r>
          </a:p>
          <a:p>
            <a:pPr>
              <a:lnSpc>
                <a:spcPct val="200000"/>
              </a:lnSpc>
              <a:buFont typeface="Arial" panose="020B0604020202020204" pitchFamily="34" charset="0"/>
              <a:buChar char="•"/>
            </a:pPr>
            <a:r>
              <a:rPr lang="en-US" dirty="0"/>
              <a:t>Delivery success rate </a:t>
            </a:r>
          </a:p>
          <a:p>
            <a:pPr>
              <a:lnSpc>
                <a:spcPct val="200000"/>
              </a:lnSpc>
              <a:buFont typeface="Arial" panose="020B0604020202020204" pitchFamily="34" charset="0"/>
              <a:buChar char="•"/>
            </a:pPr>
            <a:r>
              <a:rPr lang="en-US" dirty="0"/>
              <a:t>Customer return rate</a:t>
            </a:r>
          </a:p>
        </p:txBody>
      </p:sp>
      <p:sp>
        <p:nvSpPr>
          <p:cNvPr id="10" name="TextBox 9">
            <a:extLst>
              <a:ext uri="{FF2B5EF4-FFF2-40B4-BE49-F238E27FC236}">
                <a16:creationId xmlns:a16="http://schemas.microsoft.com/office/drawing/2014/main" id="{0C8D6EB9-88A5-7261-0EB2-B46B141E01E8}"/>
              </a:ext>
            </a:extLst>
          </p:cNvPr>
          <p:cNvSpPr txBox="1"/>
          <p:nvPr/>
        </p:nvSpPr>
        <p:spPr>
          <a:xfrm>
            <a:off x="5841815" y="1409390"/>
            <a:ext cx="6097772" cy="1676741"/>
          </a:xfrm>
          <a:prstGeom prst="rect">
            <a:avLst/>
          </a:prstGeom>
          <a:noFill/>
        </p:spPr>
        <p:txBody>
          <a:bodyPr wrap="square">
            <a:spAutoFit/>
          </a:bodyPr>
          <a:lstStyle/>
          <a:p>
            <a:pPr>
              <a:lnSpc>
                <a:spcPct val="200000"/>
              </a:lnSpc>
              <a:buNone/>
            </a:pPr>
            <a:r>
              <a:rPr lang="en-US" b="1" dirty="0"/>
              <a:t>🇵🇰 Jazz Telecom</a:t>
            </a:r>
          </a:p>
          <a:p>
            <a:pPr>
              <a:lnSpc>
                <a:spcPct val="200000"/>
              </a:lnSpc>
              <a:buFont typeface="Arial" panose="020B0604020202020204" pitchFamily="34" charset="0"/>
              <a:buChar char="•"/>
            </a:pPr>
            <a:r>
              <a:rPr lang="en-US" dirty="0"/>
              <a:t>Network uptime </a:t>
            </a:r>
          </a:p>
          <a:p>
            <a:pPr>
              <a:lnSpc>
                <a:spcPct val="200000"/>
              </a:lnSpc>
              <a:buFont typeface="Arial" panose="020B0604020202020204" pitchFamily="34" charset="0"/>
              <a:buChar char="•"/>
            </a:pPr>
            <a:r>
              <a:rPr lang="en-US" dirty="0"/>
              <a:t>Customer churn rate</a:t>
            </a:r>
          </a:p>
        </p:txBody>
      </p:sp>
      <p:sp>
        <p:nvSpPr>
          <p:cNvPr id="12" name="TextBox 11">
            <a:extLst>
              <a:ext uri="{FF2B5EF4-FFF2-40B4-BE49-F238E27FC236}">
                <a16:creationId xmlns:a16="http://schemas.microsoft.com/office/drawing/2014/main" id="{FC50556C-25EE-E7C6-227D-532DE73092D8}"/>
              </a:ext>
            </a:extLst>
          </p:cNvPr>
          <p:cNvSpPr txBox="1"/>
          <p:nvPr/>
        </p:nvSpPr>
        <p:spPr>
          <a:xfrm>
            <a:off x="824522" y="4178096"/>
            <a:ext cx="6097772" cy="1676741"/>
          </a:xfrm>
          <a:prstGeom prst="rect">
            <a:avLst/>
          </a:prstGeom>
          <a:noFill/>
        </p:spPr>
        <p:txBody>
          <a:bodyPr wrap="square">
            <a:spAutoFit/>
          </a:bodyPr>
          <a:lstStyle/>
          <a:p>
            <a:pPr>
              <a:lnSpc>
                <a:spcPct val="200000"/>
              </a:lnSpc>
              <a:buNone/>
            </a:pPr>
            <a:r>
              <a:rPr lang="en-US" b="1" dirty="0"/>
              <a:t>🌎 Netflix</a:t>
            </a:r>
          </a:p>
          <a:p>
            <a:pPr>
              <a:lnSpc>
                <a:spcPct val="200000"/>
              </a:lnSpc>
              <a:buFont typeface="Arial" panose="020B0604020202020204" pitchFamily="34" charset="0"/>
              <a:buChar char="•"/>
            </a:pPr>
            <a:r>
              <a:rPr lang="en-US" dirty="0"/>
              <a:t>Watch time </a:t>
            </a:r>
          </a:p>
          <a:p>
            <a:pPr>
              <a:lnSpc>
                <a:spcPct val="200000"/>
              </a:lnSpc>
              <a:buFont typeface="Arial" panose="020B0604020202020204" pitchFamily="34" charset="0"/>
              <a:buChar char="•"/>
            </a:pPr>
            <a:r>
              <a:rPr lang="en-US" dirty="0"/>
              <a:t>Retention rate</a:t>
            </a:r>
          </a:p>
        </p:txBody>
      </p:sp>
      <p:sp>
        <p:nvSpPr>
          <p:cNvPr id="14" name="TextBox 13">
            <a:extLst>
              <a:ext uri="{FF2B5EF4-FFF2-40B4-BE49-F238E27FC236}">
                <a16:creationId xmlns:a16="http://schemas.microsoft.com/office/drawing/2014/main" id="{DFA138AD-75F1-9D8D-61D5-73EAF7E335D5}"/>
              </a:ext>
            </a:extLst>
          </p:cNvPr>
          <p:cNvSpPr txBox="1"/>
          <p:nvPr/>
        </p:nvSpPr>
        <p:spPr>
          <a:xfrm>
            <a:off x="5841815" y="4178095"/>
            <a:ext cx="6097772" cy="1676741"/>
          </a:xfrm>
          <a:prstGeom prst="rect">
            <a:avLst/>
          </a:prstGeom>
          <a:noFill/>
        </p:spPr>
        <p:txBody>
          <a:bodyPr wrap="square">
            <a:spAutoFit/>
          </a:bodyPr>
          <a:lstStyle/>
          <a:p>
            <a:pPr>
              <a:lnSpc>
                <a:spcPct val="200000"/>
              </a:lnSpc>
              <a:buNone/>
            </a:pPr>
            <a:r>
              <a:rPr lang="en-US" b="1" dirty="0"/>
              <a:t>🌎 Google</a:t>
            </a:r>
          </a:p>
          <a:p>
            <a:pPr>
              <a:lnSpc>
                <a:spcPct val="200000"/>
              </a:lnSpc>
              <a:buFont typeface="Arial" panose="020B0604020202020204" pitchFamily="34" charset="0"/>
              <a:buChar char="•"/>
            </a:pPr>
            <a:r>
              <a:rPr lang="en-US" dirty="0"/>
              <a:t>Click-through rate (CTR) </a:t>
            </a:r>
          </a:p>
          <a:p>
            <a:pPr>
              <a:lnSpc>
                <a:spcPct val="200000"/>
              </a:lnSpc>
              <a:buFont typeface="Arial" panose="020B0604020202020204" pitchFamily="34" charset="0"/>
              <a:buChar char="•"/>
            </a:pPr>
            <a:r>
              <a:rPr lang="en-US" dirty="0"/>
              <a:t>Ad conversion rate</a:t>
            </a:r>
          </a:p>
        </p:txBody>
      </p:sp>
      <p:sp>
        <p:nvSpPr>
          <p:cNvPr id="16" name="TextBox 15">
            <a:extLst>
              <a:ext uri="{FF2B5EF4-FFF2-40B4-BE49-F238E27FC236}">
                <a16:creationId xmlns:a16="http://schemas.microsoft.com/office/drawing/2014/main" id="{D86628B2-E53B-9FF0-D205-9983E1158FD1}"/>
              </a:ext>
            </a:extLst>
          </p:cNvPr>
          <p:cNvSpPr txBox="1"/>
          <p:nvPr/>
        </p:nvSpPr>
        <p:spPr>
          <a:xfrm>
            <a:off x="2410932" y="6208136"/>
            <a:ext cx="6097772" cy="369332"/>
          </a:xfrm>
          <a:prstGeom prst="rect">
            <a:avLst/>
          </a:prstGeom>
          <a:noFill/>
        </p:spPr>
        <p:txBody>
          <a:bodyPr wrap="square">
            <a:spAutoFit/>
          </a:bodyPr>
          <a:lstStyle/>
          <a:p>
            <a:r>
              <a:rPr lang="en-US" dirty="0"/>
              <a:t>“Every business tracks different KPIs based on its goals.”</a:t>
            </a:r>
          </a:p>
        </p:txBody>
      </p:sp>
    </p:spTree>
    <p:extLst>
      <p:ext uri="{BB962C8B-B14F-4D97-AF65-F5344CB8AC3E}">
        <p14:creationId xmlns:p14="http://schemas.microsoft.com/office/powerpoint/2010/main" val="1519757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B48A0-CF62-FCED-5D74-DFB0CF733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D78DF-3DC4-F1AF-2AFC-AAE193DD036B}"/>
              </a:ext>
            </a:extLst>
          </p:cNvPr>
          <p:cNvSpPr>
            <a:spLocks noGrp="1"/>
          </p:cNvSpPr>
          <p:nvPr>
            <p:ph type="title"/>
          </p:nvPr>
        </p:nvSpPr>
        <p:spPr>
          <a:xfrm>
            <a:off x="826294" y="445274"/>
            <a:ext cx="10515600" cy="449859"/>
          </a:xfrm>
        </p:spPr>
        <p:txBody>
          <a:bodyPr>
            <a:normAutofit fontScale="90000"/>
          </a:bodyPr>
          <a:lstStyle/>
          <a:p>
            <a:r>
              <a:rPr lang="en-US" dirty="0"/>
              <a:t>KPI DASHBOARD</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91C76C30-BB76-779B-2FA6-C991D4BCC7E4}"/>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1F2DC17E-10C2-E20A-79B8-9D9898FDA4CB}"/>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13295DE0-FFCB-FC57-93A9-60E8DCDC25C8}"/>
              </a:ext>
            </a:extLst>
          </p:cNvPr>
          <p:cNvSpPr>
            <a:spLocks noGrp="1"/>
          </p:cNvSpPr>
          <p:nvPr>
            <p:ph type="sldNum" sz="quarter" idx="12"/>
          </p:nvPr>
        </p:nvSpPr>
        <p:spPr/>
        <p:txBody>
          <a:bodyPr/>
          <a:lstStyle/>
          <a:p>
            <a:fld id="{8C95646D-91FE-4030-A7F0-07F651F9A7F3}" type="slidenum">
              <a:rPr lang="en-PK" smtClean="0"/>
              <a:t>13</a:t>
            </a:fld>
            <a:endParaRPr lang="en-PK"/>
          </a:p>
        </p:txBody>
      </p:sp>
      <p:pic>
        <p:nvPicPr>
          <p:cNvPr id="8" name="Picture 4" descr="Download HD 55 Pm 52458 Fast University ...">
            <a:extLst>
              <a:ext uri="{FF2B5EF4-FFF2-40B4-BE49-F238E27FC236}">
                <a16:creationId xmlns:a16="http://schemas.microsoft.com/office/drawing/2014/main" id="{A56DFB97-0726-0A43-8CE0-7D867C539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Explo | What Are KPI Dashboards? With Examples">
            <a:extLst>
              <a:ext uri="{FF2B5EF4-FFF2-40B4-BE49-F238E27FC236}">
                <a16:creationId xmlns:a16="http://schemas.microsoft.com/office/drawing/2014/main" id="{7CFEEA4D-7578-40CB-9930-6CFA78804E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4371" y="856350"/>
            <a:ext cx="8478986" cy="5706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022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A5693-CF10-B6AD-9179-67B34D9D3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0C26E6-6313-7125-57FA-60917C615818}"/>
              </a:ext>
            </a:extLst>
          </p:cNvPr>
          <p:cNvSpPr>
            <a:spLocks noGrp="1"/>
          </p:cNvSpPr>
          <p:nvPr>
            <p:ph type="title"/>
          </p:nvPr>
        </p:nvSpPr>
        <p:spPr>
          <a:xfrm>
            <a:off x="826294" y="445274"/>
            <a:ext cx="10515600" cy="449859"/>
          </a:xfrm>
        </p:spPr>
        <p:txBody>
          <a:bodyPr>
            <a:normAutofit fontScale="90000"/>
          </a:bodyPr>
          <a:lstStyle/>
          <a:p>
            <a:r>
              <a:rPr lang="en-US" dirty="0"/>
              <a:t>KPI DESIGN FRAMEWORK (STEP-BY-STEP)</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004F649F-808F-9BEE-C1A5-38F49EA6A864}"/>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C04DBF47-BF49-9EFA-A79A-771A39B062AC}"/>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34275445-5C15-74A0-3E5F-E506C8C3F21B}"/>
              </a:ext>
            </a:extLst>
          </p:cNvPr>
          <p:cNvSpPr>
            <a:spLocks noGrp="1"/>
          </p:cNvSpPr>
          <p:nvPr>
            <p:ph type="sldNum" sz="quarter" idx="12"/>
          </p:nvPr>
        </p:nvSpPr>
        <p:spPr/>
        <p:txBody>
          <a:bodyPr/>
          <a:lstStyle/>
          <a:p>
            <a:fld id="{8C95646D-91FE-4030-A7F0-07F651F9A7F3}" type="slidenum">
              <a:rPr lang="en-PK" smtClean="0"/>
              <a:t>14</a:t>
            </a:fld>
            <a:endParaRPr lang="en-PK"/>
          </a:p>
        </p:txBody>
      </p:sp>
      <p:pic>
        <p:nvPicPr>
          <p:cNvPr id="8" name="Picture 4" descr="Download HD 55 Pm 52458 Fast University ...">
            <a:extLst>
              <a:ext uri="{FF2B5EF4-FFF2-40B4-BE49-F238E27FC236}">
                <a16:creationId xmlns:a16="http://schemas.microsoft.com/office/drawing/2014/main" id="{A52B9170-25A6-F11B-BB73-19FAC7C74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8C969D8-7204-6798-86CA-581C15702FE8}"/>
              </a:ext>
            </a:extLst>
          </p:cNvPr>
          <p:cNvSpPr txBox="1"/>
          <p:nvPr/>
        </p:nvSpPr>
        <p:spPr>
          <a:xfrm>
            <a:off x="826294" y="1430930"/>
            <a:ext cx="6097772" cy="1295868"/>
          </a:xfrm>
          <a:prstGeom prst="rect">
            <a:avLst/>
          </a:prstGeom>
          <a:noFill/>
        </p:spPr>
        <p:txBody>
          <a:bodyPr wrap="square">
            <a:spAutoFit/>
          </a:bodyPr>
          <a:lstStyle/>
          <a:p>
            <a:pPr>
              <a:lnSpc>
                <a:spcPct val="150000"/>
              </a:lnSpc>
              <a:buNone/>
            </a:pPr>
            <a:r>
              <a:rPr lang="en-US" b="1" dirty="0"/>
              <a:t>Step 1: Identify Business Goal</a:t>
            </a:r>
          </a:p>
          <a:p>
            <a:pPr>
              <a:lnSpc>
                <a:spcPct val="150000"/>
              </a:lnSpc>
              <a:buNone/>
            </a:pPr>
            <a:r>
              <a:rPr lang="en-US" dirty="0"/>
              <a:t>Example:</a:t>
            </a:r>
          </a:p>
          <a:p>
            <a:pPr>
              <a:lnSpc>
                <a:spcPct val="150000"/>
              </a:lnSpc>
              <a:buNone/>
            </a:pPr>
            <a:r>
              <a:rPr lang="en-US" dirty="0"/>
              <a:t>Increase revenue.</a:t>
            </a:r>
          </a:p>
        </p:txBody>
      </p:sp>
      <p:sp>
        <p:nvSpPr>
          <p:cNvPr id="10" name="TextBox 9">
            <a:extLst>
              <a:ext uri="{FF2B5EF4-FFF2-40B4-BE49-F238E27FC236}">
                <a16:creationId xmlns:a16="http://schemas.microsoft.com/office/drawing/2014/main" id="{9E96B89F-DA20-AB85-4010-69126DCB5B5C}"/>
              </a:ext>
            </a:extLst>
          </p:cNvPr>
          <p:cNvSpPr txBox="1"/>
          <p:nvPr/>
        </p:nvSpPr>
        <p:spPr>
          <a:xfrm>
            <a:off x="7546458" y="1441634"/>
            <a:ext cx="6097772" cy="1295868"/>
          </a:xfrm>
          <a:prstGeom prst="rect">
            <a:avLst/>
          </a:prstGeom>
          <a:noFill/>
        </p:spPr>
        <p:txBody>
          <a:bodyPr wrap="square">
            <a:spAutoFit/>
          </a:bodyPr>
          <a:lstStyle/>
          <a:p>
            <a:pPr>
              <a:lnSpc>
                <a:spcPct val="150000"/>
              </a:lnSpc>
              <a:buNone/>
            </a:pPr>
            <a:r>
              <a:rPr lang="en-US" b="1" dirty="0"/>
              <a:t>Step 2: Identify Success Factor</a:t>
            </a:r>
          </a:p>
          <a:p>
            <a:pPr>
              <a:lnSpc>
                <a:spcPct val="150000"/>
              </a:lnSpc>
              <a:buNone/>
            </a:pPr>
            <a:r>
              <a:rPr lang="en-US" dirty="0"/>
              <a:t>Example:</a:t>
            </a:r>
          </a:p>
          <a:p>
            <a:pPr>
              <a:lnSpc>
                <a:spcPct val="150000"/>
              </a:lnSpc>
              <a:buNone/>
            </a:pPr>
            <a:r>
              <a:rPr lang="en-US" dirty="0"/>
              <a:t>More customer orders.</a:t>
            </a:r>
          </a:p>
        </p:txBody>
      </p:sp>
      <p:sp>
        <p:nvSpPr>
          <p:cNvPr id="12" name="TextBox 11">
            <a:extLst>
              <a:ext uri="{FF2B5EF4-FFF2-40B4-BE49-F238E27FC236}">
                <a16:creationId xmlns:a16="http://schemas.microsoft.com/office/drawing/2014/main" id="{6F16437A-53FC-8E14-71F6-F07226862A0E}"/>
              </a:ext>
            </a:extLst>
          </p:cNvPr>
          <p:cNvSpPr txBox="1"/>
          <p:nvPr/>
        </p:nvSpPr>
        <p:spPr>
          <a:xfrm>
            <a:off x="826294" y="3207873"/>
            <a:ext cx="6363586" cy="1295868"/>
          </a:xfrm>
          <a:prstGeom prst="rect">
            <a:avLst/>
          </a:prstGeom>
          <a:noFill/>
        </p:spPr>
        <p:txBody>
          <a:bodyPr wrap="square">
            <a:spAutoFit/>
          </a:bodyPr>
          <a:lstStyle/>
          <a:p>
            <a:pPr>
              <a:lnSpc>
                <a:spcPct val="150000"/>
              </a:lnSpc>
              <a:buNone/>
            </a:pPr>
            <a:r>
              <a:rPr lang="en-US" b="1" dirty="0"/>
              <a:t>Step 3: Define KPI</a:t>
            </a:r>
          </a:p>
          <a:p>
            <a:pPr>
              <a:lnSpc>
                <a:spcPct val="150000"/>
              </a:lnSpc>
              <a:buNone/>
            </a:pPr>
            <a:r>
              <a:rPr lang="en-US" dirty="0"/>
              <a:t>Example:</a:t>
            </a:r>
          </a:p>
          <a:p>
            <a:pPr>
              <a:lnSpc>
                <a:spcPct val="150000"/>
              </a:lnSpc>
              <a:buNone/>
            </a:pPr>
            <a:r>
              <a:rPr lang="en-US" dirty="0"/>
              <a:t>Orders per day.</a:t>
            </a:r>
          </a:p>
        </p:txBody>
      </p:sp>
      <p:sp>
        <p:nvSpPr>
          <p:cNvPr id="14" name="TextBox 13">
            <a:extLst>
              <a:ext uri="{FF2B5EF4-FFF2-40B4-BE49-F238E27FC236}">
                <a16:creationId xmlns:a16="http://schemas.microsoft.com/office/drawing/2014/main" id="{CEE5405F-D37E-29DE-2FA8-DDA27189209D}"/>
              </a:ext>
            </a:extLst>
          </p:cNvPr>
          <p:cNvSpPr txBox="1"/>
          <p:nvPr/>
        </p:nvSpPr>
        <p:spPr>
          <a:xfrm>
            <a:off x="7586219" y="3218113"/>
            <a:ext cx="6363586" cy="1295868"/>
          </a:xfrm>
          <a:prstGeom prst="rect">
            <a:avLst/>
          </a:prstGeom>
          <a:noFill/>
        </p:spPr>
        <p:txBody>
          <a:bodyPr wrap="square">
            <a:spAutoFit/>
          </a:bodyPr>
          <a:lstStyle/>
          <a:p>
            <a:pPr>
              <a:lnSpc>
                <a:spcPct val="150000"/>
              </a:lnSpc>
              <a:buNone/>
            </a:pPr>
            <a:r>
              <a:rPr lang="en-US" b="1" dirty="0"/>
              <a:t>Step 4: Define Target</a:t>
            </a:r>
          </a:p>
          <a:p>
            <a:pPr>
              <a:lnSpc>
                <a:spcPct val="150000"/>
              </a:lnSpc>
              <a:buNone/>
            </a:pPr>
            <a:r>
              <a:rPr lang="en-US" dirty="0"/>
              <a:t>Example:</a:t>
            </a:r>
          </a:p>
          <a:p>
            <a:pPr>
              <a:lnSpc>
                <a:spcPct val="150000"/>
              </a:lnSpc>
              <a:buNone/>
            </a:pPr>
            <a:r>
              <a:rPr lang="en-US" dirty="0"/>
              <a:t>Increase from 500 → 700 orders/day.</a:t>
            </a:r>
          </a:p>
        </p:txBody>
      </p:sp>
      <p:sp>
        <p:nvSpPr>
          <p:cNvPr id="16" name="TextBox 15">
            <a:extLst>
              <a:ext uri="{FF2B5EF4-FFF2-40B4-BE49-F238E27FC236}">
                <a16:creationId xmlns:a16="http://schemas.microsoft.com/office/drawing/2014/main" id="{DD8B1129-7FFB-AEFD-AA58-F15E8E71925C}"/>
              </a:ext>
            </a:extLst>
          </p:cNvPr>
          <p:cNvSpPr txBox="1"/>
          <p:nvPr/>
        </p:nvSpPr>
        <p:spPr>
          <a:xfrm>
            <a:off x="3415710" y="4867036"/>
            <a:ext cx="6432696" cy="1600438"/>
          </a:xfrm>
          <a:prstGeom prst="rect">
            <a:avLst/>
          </a:prstGeom>
          <a:noFill/>
        </p:spPr>
        <p:txBody>
          <a:bodyPr wrap="square">
            <a:spAutoFit/>
          </a:bodyPr>
          <a:lstStyle/>
          <a:p>
            <a:pPr>
              <a:buNone/>
            </a:pPr>
            <a:r>
              <a:rPr lang="en-US" sz="1400" b="1" dirty="0"/>
              <a:t>🎯 Classroom Exercise</a:t>
            </a:r>
          </a:p>
          <a:p>
            <a:pPr>
              <a:buNone/>
            </a:pPr>
            <a:r>
              <a:rPr lang="en-US" sz="1400" dirty="0"/>
              <a:t>Scenario:</a:t>
            </a:r>
          </a:p>
          <a:p>
            <a:pPr>
              <a:buNone/>
            </a:pPr>
            <a:r>
              <a:rPr lang="en-US" sz="1400" dirty="0"/>
              <a:t>Food delivery app.</a:t>
            </a:r>
          </a:p>
          <a:p>
            <a:pPr>
              <a:buNone/>
            </a:pPr>
            <a:r>
              <a:rPr lang="en-US" sz="1400" dirty="0"/>
              <a:t>Students create:</a:t>
            </a:r>
          </a:p>
          <a:p>
            <a:pPr>
              <a:buNone/>
            </a:pPr>
            <a:r>
              <a:rPr lang="en-US" sz="1400" dirty="0"/>
              <a:t>✔ Business goal</a:t>
            </a:r>
            <a:br>
              <a:rPr lang="en-US" sz="1400" dirty="0"/>
            </a:br>
            <a:r>
              <a:rPr lang="en-US" sz="1400" dirty="0"/>
              <a:t>✔ KPI</a:t>
            </a:r>
            <a:br>
              <a:rPr lang="en-US" sz="1400" dirty="0"/>
            </a:br>
            <a:r>
              <a:rPr lang="en-US" sz="1400" dirty="0"/>
              <a:t>✔ Target</a:t>
            </a:r>
          </a:p>
        </p:txBody>
      </p:sp>
      <p:pic>
        <p:nvPicPr>
          <p:cNvPr id="8194" name="Picture 2" descr="Beyond Basic Metrics: Leading KPIs That Drive Business Agility and Growth |  Leaping Frog Solutions">
            <a:extLst>
              <a:ext uri="{FF2B5EF4-FFF2-40B4-BE49-F238E27FC236}">
                <a16:creationId xmlns:a16="http://schemas.microsoft.com/office/drawing/2014/main" id="{92935852-1CBC-BEBA-987D-203C5793D8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218" y="1826027"/>
            <a:ext cx="3839675" cy="2617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067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5BB6F-F0EE-8E75-1420-9D9D5D955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8C0BF-CF6D-4BEA-2118-69B38D2C6C33}"/>
              </a:ext>
            </a:extLst>
          </p:cNvPr>
          <p:cNvSpPr>
            <a:spLocks noGrp="1"/>
          </p:cNvSpPr>
          <p:nvPr>
            <p:ph type="title"/>
          </p:nvPr>
        </p:nvSpPr>
        <p:spPr>
          <a:xfrm>
            <a:off x="826294" y="445274"/>
            <a:ext cx="10515600" cy="449859"/>
          </a:xfrm>
        </p:spPr>
        <p:txBody>
          <a:bodyPr>
            <a:normAutofit fontScale="90000"/>
          </a:bodyPr>
          <a:lstStyle/>
          <a:p>
            <a:r>
              <a:rPr lang="en-US" dirty="0"/>
              <a:t>LEADING VS LAGGING KPIS</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09DBDBC6-11B8-9236-BA4C-AF50008BE91E}"/>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CD69CD6E-D5E2-1B60-ACB9-F5449ACFD4C9}"/>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46FA8BCD-6119-0B88-8996-435E5AE4F141}"/>
              </a:ext>
            </a:extLst>
          </p:cNvPr>
          <p:cNvSpPr>
            <a:spLocks noGrp="1"/>
          </p:cNvSpPr>
          <p:nvPr>
            <p:ph type="sldNum" sz="quarter" idx="12"/>
          </p:nvPr>
        </p:nvSpPr>
        <p:spPr/>
        <p:txBody>
          <a:bodyPr/>
          <a:lstStyle/>
          <a:p>
            <a:fld id="{8C95646D-91FE-4030-A7F0-07F651F9A7F3}" type="slidenum">
              <a:rPr lang="en-PK" smtClean="0"/>
              <a:t>15</a:t>
            </a:fld>
            <a:endParaRPr lang="en-PK"/>
          </a:p>
        </p:txBody>
      </p:sp>
      <p:pic>
        <p:nvPicPr>
          <p:cNvPr id="8" name="Picture 4" descr="Download HD 55 Pm 52458 Fast University ...">
            <a:extLst>
              <a:ext uri="{FF2B5EF4-FFF2-40B4-BE49-F238E27FC236}">
                <a16:creationId xmlns:a16="http://schemas.microsoft.com/office/drawing/2014/main" id="{B37EBBE5-AAF1-D400-25FD-99ACD31EB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DCF25A0-49A9-53FD-FCBB-71FA36D9525A}"/>
              </a:ext>
            </a:extLst>
          </p:cNvPr>
          <p:cNvSpPr txBox="1"/>
          <p:nvPr/>
        </p:nvSpPr>
        <p:spPr>
          <a:xfrm>
            <a:off x="824522" y="1214912"/>
            <a:ext cx="6097772" cy="1711366"/>
          </a:xfrm>
          <a:prstGeom prst="rect">
            <a:avLst/>
          </a:prstGeom>
          <a:noFill/>
        </p:spPr>
        <p:txBody>
          <a:bodyPr wrap="square">
            <a:spAutoFit/>
          </a:bodyPr>
          <a:lstStyle/>
          <a:p>
            <a:pPr>
              <a:lnSpc>
                <a:spcPct val="150000"/>
              </a:lnSpc>
              <a:buNone/>
            </a:pPr>
            <a:r>
              <a:rPr lang="en-US" b="1" dirty="0"/>
              <a:t>🟢 Leading KPIs </a:t>
            </a:r>
          </a:p>
          <a:p>
            <a:pPr>
              <a:lnSpc>
                <a:spcPct val="150000"/>
              </a:lnSpc>
              <a:buNone/>
            </a:pPr>
            <a:r>
              <a:rPr lang="en-US" dirty="0"/>
              <a:t>Metrics used as predictive measure for Future performance.</a:t>
            </a:r>
          </a:p>
          <a:p>
            <a:pPr>
              <a:lnSpc>
                <a:spcPct val="150000"/>
              </a:lnSpc>
              <a:buNone/>
            </a:pPr>
            <a:r>
              <a:rPr lang="en-US" dirty="0"/>
              <a:t>Example:</a:t>
            </a:r>
          </a:p>
          <a:p>
            <a:pPr>
              <a:lnSpc>
                <a:spcPct val="150000"/>
              </a:lnSpc>
              <a:buNone/>
            </a:pPr>
            <a:r>
              <a:rPr lang="en-US" dirty="0"/>
              <a:t>Number of new users.</a:t>
            </a:r>
          </a:p>
        </p:txBody>
      </p:sp>
      <p:sp>
        <p:nvSpPr>
          <p:cNvPr id="10" name="TextBox 9">
            <a:extLst>
              <a:ext uri="{FF2B5EF4-FFF2-40B4-BE49-F238E27FC236}">
                <a16:creationId xmlns:a16="http://schemas.microsoft.com/office/drawing/2014/main" id="{D3F9A1AE-6255-1E36-DA0B-5A09591DA24A}"/>
              </a:ext>
            </a:extLst>
          </p:cNvPr>
          <p:cNvSpPr txBox="1"/>
          <p:nvPr/>
        </p:nvSpPr>
        <p:spPr>
          <a:xfrm>
            <a:off x="7801639" y="1106113"/>
            <a:ext cx="6097772" cy="1711366"/>
          </a:xfrm>
          <a:prstGeom prst="rect">
            <a:avLst/>
          </a:prstGeom>
          <a:noFill/>
        </p:spPr>
        <p:txBody>
          <a:bodyPr wrap="square">
            <a:spAutoFit/>
          </a:bodyPr>
          <a:lstStyle/>
          <a:p>
            <a:pPr>
              <a:lnSpc>
                <a:spcPct val="150000"/>
              </a:lnSpc>
              <a:buNone/>
            </a:pPr>
            <a:r>
              <a:rPr lang="en-US" b="1" dirty="0"/>
              <a:t>🔴 Lagging KPIs </a:t>
            </a:r>
          </a:p>
          <a:p>
            <a:pPr>
              <a:lnSpc>
                <a:spcPct val="150000"/>
              </a:lnSpc>
              <a:buNone/>
            </a:pPr>
            <a:r>
              <a:rPr lang="en-US" dirty="0"/>
              <a:t>Metrics used to measure past performance</a:t>
            </a:r>
          </a:p>
          <a:p>
            <a:pPr>
              <a:lnSpc>
                <a:spcPct val="150000"/>
              </a:lnSpc>
              <a:buNone/>
            </a:pPr>
            <a:r>
              <a:rPr lang="en-US" dirty="0"/>
              <a:t>Example:</a:t>
            </a:r>
          </a:p>
          <a:p>
            <a:pPr>
              <a:lnSpc>
                <a:spcPct val="150000"/>
              </a:lnSpc>
              <a:buNone/>
            </a:pPr>
            <a:r>
              <a:rPr lang="en-US" dirty="0"/>
              <a:t>Total revenue.</a:t>
            </a:r>
          </a:p>
        </p:txBody>
      </p:sp>
      <p:sp>
        <p:nvSpPr>
          <p:cNvPr id="12" name="TextBox 11">
            <a:extLst>
              <a:ext uri="{FF2B5EF4-FFF2-40B4-BE49-F238E27FC236}">
                <a16:creationId xmlns:a16="http://schemas.microsoft.com/office/drawing/2014/main" id="{CEC4D4DC-9A2A-C188-966B-91768AC0DFDE}"/>
              </a:ext>
            </a:extLst>
          </p:cNvPr>
          <p:cNvSpPr txBox="1"/>
          <p:nvPr/>
        </p:nvSpPr>
        <p:spPr>
          <a:xfrm>
            <a:off x="8610600" y="5670849"/>
            <a:ext cx="6225362" cy="461665"/>
          </a:xfrm>
          <a:prstGeom prst="rect">
            <a:avLst/>
          </a:prstGeom>
          <a:noFill/>
        </p:spPr>
        <p:txBody>
          <a:bodyPr wrap="square">
            <a:spAutoFit/>
          </a:bodyPr>
          <a:lstStyle/>
          <a:p>
            <a:r>
              <a:rPr lang="en-US" sz="1200" dirty="0"/>
              <a:t>Leading KPIs help prevent problems.</a:t>
            </a:r>
            <a:br>
              <a:rPr lang="en-US" sz="1200" dirty="0"/>
            </a:br>
            <a:r>
              <a:rPr lang="en-US" sz="1200" dirty="0"/>
              <a:t>Lagging KPIs show results.</a:t>
            </a:r>
          </a:p>
        </p:txBody>
      </p:sp>
      <p:pic>
        <p:nvPicPr>
          <p:cNvPr id="9218" name="Picture 2" descr="Leading Vs Lagging Indicators PowerPoint and Google Slides Template - PPT  Slides">
            <a:extLst>
              <a:ext uri="{FF2B5EF4-FFF2-40B4-BE49-F238E27FC236}">
                <a16:creationId xmlns:a16="http://schemas.microsoft.com/office/drawing/2014/main" id="{40E01062-C2B1-5D0D-F980-39C3E7FAC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5441" y="2849229"/>
            <a:ext cx="5572145" cy="3750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3157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D206D-0BE8-02DB-0329-308436E0ED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1A2B6-7E4B-CA59-824C-64DC3C233EAE}"/>
              </a:ext>
            </a:extLst>
          </p:cNvPr>
          <p:cNvSpPr>
            <a:spLocks noGrp="1"/>
          </p:cNvSpPr>
          <p:nvPr>
            <p:ph type="title"/>
          </p:nvPr>
        </p:nvSpPr>
        <p:spPr>
          <a:xfrm>
            <a:off x="826294" y="445274"/>
            <a:ext cx="10515600" cy="449859"/>
          </a:xfrm>
        </p:spPr>
        <p:txBody>
          <a:bodyPr>
            <a:normAutofit fontScale="90000"/>
          </a:bodyPr>
          <a:lstStyle/>
          <a:p>
            <a:r>
              <a:rPr lang="en-US" dirty="0"/>
              <a:t>CASE STUDY (HIGH ENGAGEMENT)</a:t>
            </a:r>
            <a:endParaRPr lang="en-PK"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3C150ED6-A1E9-3FB0-58DD-6A4C50B0017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DB60259-7262-7989-9D57-855A6A6AF8F7}"/>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DF81FB94-D7FD-7E43-4A1E-7864B2C2ED50}"/>
              </a:ext>
            </a:extLst>
          </p:cNvPr>
          <p:cNvSpPr>
            <a:spLocks noGrp="1"/>
          </p:cNvSpPr>
          <p:nvPr>
            <p:ph type="sldNum" sz="quarter" idx="12"/>
          </p:nvPr>
        </p:nvSpPr>
        <p:spPr/>
        <p:txBody>
          <a:bodyPr/>
          <a:lstStyle/>
          <a:p>
            <a:fld id="{8C95646D-91FE-4030-A7F0-07F651F9A7F3}" type="slidenum">
              <a:rPr lang="en-PK" smtClean="0"/>
              <a:t>16</a:t>
            </a:fld>
            <a:endParaRPr lang="en-PK"/>
          </a:p>
        </p:txBody>
      </p:sp>
      <p:pic>
        <p:nvPicPr>
          <p:cNvPr id="8" name="Picture 4" descr="Download HD 55 Pm 52458 Fast University ...">
            <a:extLst>
              <a:ext uri="{FF2B5EF4-FFF2-40B4-BE49-F238E27FC236}">
                <a16:creationId xmlns:a16="http://schemas.microsoft.com/office/drawing/2014/main" id="{0417C382-6297-E360-460B-D84486E8AA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3AFDD81-236D-32DB-99A3-9304818157B5}"/>
              </a:ext>
            </a:extLst>
          </p:cNvPr>
          <p:cNvSpPr txBox="1"/>
          <p:nvPr/>
        </p:nvSpPr>
        <p:spPr>
          <a:xfrm>
            <a:off x="8304913" y="1555036"/>
            <a:ext cx="6097772" cy="4247317"/>
          </a:xfrm>
          <a:prstGeom prst="rect">
            <a:avLst/>
          </a:prstGeom>
          <a:noFill/>
        </p:spPr>
        <p:txBody>
          <a:bodyPr wrap="square">
            <a:spAutoFit/>
          </a:bodyPr>
          <a:lstStyle/>
          <a:p>
            <a:pPr>
              <a:buNone/>
            </a:pPr>
            <a:r>
              <a:rPr lang="en-US" b="1" dirty="0"/>
              <a:t>Connecting Dots:</a:t>
            </a:r>
          </a:p>
          <a:p>
            <a:pPr>
              <a:buNone/>
            </a:pPr>
            <a:r>
              <a:rPr lang="en-US" b="1" dirty="0"/>
              <a:t>Scenario:</a:t>
            </a:r>
          </a:p>
          <a:p>
            <a:pPr>
              <a:buNone/>
            </a:pPr>
            <a:r>
              <a:rPr lang="en-US" dirty="0" err="1"/>
              <a:t>QuickBasket</a:t>
            </a:r>
            <a:r>
              <a:rPr lang="en-US" dirty="0"/>
              <a:t> wants to grow.</a:t>
            </a:r>
          </a:p>
          <a:p>
            <a:pPr>
              <a:buNone/>
            </a:pPr>
            <a:endParaRPr lang="en-US" dirty="0"/>
          </a:p>
          <a:p>
            <a:pPr>
              <a:buNone/>
            </a:pPr>
            <a:r>
              <a:rPr lang="en-US" b="1" dirty="0"/>
              <a:t>Strategic KPI</a:t>
            </a:r>
          </a:p>
          <a:p>
            <a:pPr>
              <a:buNone/>
            </a:pPr>
            <a:r>
              <a:rPr lang="en-US" dirty="0"/>
              <a:t>Revenue growth.</a:t>
            </a:r>
            <a:br>
              <a:rPr lang="en-US" dirty="0"/>
            </a:br>
            <a:endParaRPr lang="en-US" dirty="0"/>
          </a:p>
          <a:p>
            <a:pPr>
              <a:buNone/>
            </a:pPr>
            <a:r>
              <a:rPr lang="en-US" b="1" dirty="0"/>
              <a:t>Operational KPIs</a:t>
            </a:r>
          </a:p>
          <a:p>
            <a:pPr>
              <a:buFont typeface="Arial" panose="020B0604020202020204" pitchFamily="34" charset="0"/>
              <a:buChar char="•"/>
            </a:pPr>
            <a:r>
              <a:rPr lang="en-US" dirty="0"/>
              <a:t>Orders per day </a:t>
            </a:r>
          </a:p>
          <a:p>
            <a:pPr>
              <a:buFont typeface="Arial" panose="020B0604020202020204" pitchFamily="34" charset="0"/>
              <a:buChar char="•"/>
            </a:pPr>
            <a:r>
              <a:rPr lang="en-US" dirty="0"/>
              <a:t>Delivery time </a:t>
            </a:r>
          </a:p>
          <a:p>
            <a:pPr>
              <a:buFont typeface="Arial" panose="020B0604020202020204" pitchFamily="34" charset="0"/>
              <a:buChar char="•"/>
            </a:pPr>
            <a:r>
              <a:rPr lang="en-US" dirty="0"/>
              <a:t>Customer retention </a:t>
            </a:r>
            <a:br>
              <a:rPr lang="en-US" dirty="0"/>
            </a:br>
            <a:endParaRPr lang="en-US" dirty="0"/>
          </a:p>
          <a:p>
            <a:pPr>
              <a:buNone/>
            </a:pPr>
            <a:r>
              <a:rPr lang="en-US" b="1" dirty="0"/>
              <a:t>Metrics</a:t>
            </a:r>
          </a:p>
          <a:p>
            <a:pPr>
              <a:buFont typeface="Arial" panose="020B0604020202020204" pitchFamily="34" charset="0"/>
              <a:buChar char="•"/>
            </a:pPr>
            <a:r>
              <a:rPr lang="en-US" dirty="0"/>
              <a:t>App downloads </a:t>
            </a:r>
          </a:p>
          <a:p>
            <a:pPr>
              <a:buFont typeface="Arial" panose="020B0604020202020204" pitchFamily="34" charset="0"/>
              <a:buChar char="•"/>
            </a:pPr>
            <a:r>
              <a:rPr lang="en-US" dirty="0"/>
              <a:t>Page views </a:t>
            </a:r>
          </a:p>
        </p:txBody>
      </p:sp>
      <p:sp>
        <p:nvSpPr>
          <p:cNvPr id="10" name="TextBox 9">
            <a:extLst>
              <a:ext uri="{FF2B5EF4-FFF2-40B4-BE49-F238E27FC236}">
                <a16:creationId xmlns:a16="http://schemas.microsoft.com/office/drawing/2014/main" id="{78B45882-965F-36B9-7E1F-E2FD791F66F3}"/>
              </a:ext>
            </a:extLst>
          </p:cNvPr>
          <p:cNvSpPr txBox="1"/>
          <p:nvPr/>
        </p:nvSpPr>
        <p:spPr>
          <a:xfrm>
            <a:off x="964904" y="1350318"/>
            <a:ext cx="7203558" cy="3342646"/>
          </a:xfrm>
          <a:prstGeom prst="rect">
            <a:avLst/>
          </a:prstGeom>
          <a:noFill/>
        </p:spPr>
        <p:txBody>
          <a:bodyPr wrap="square">
            <a:spAutoFit/>
          </a:bodyPr>
          <a:lstStyle/>
          <a:p>
            <a:pPr>
              <a:lnSpc>
                <a:spcPct val="200000"/>
              </a:lnSpc>
              <a:buNone/>
            </a:pPr>
            <a:r>
              <a:rPr lang="en-US" b="1" dirty="0"/>
              <a:t>Scenario:</a:t>
            </a:r>
          </a:p>
          <a:p>
            <a:pPr>
              <a:lnSpc>
                <a:spcPct val="200000"/>
              </a:lnSpc>
              <a:buNone/>
            </a:pPr>
            <a:r>
              <a:rPr lang="en-US" dirty="0"/>
              <a:t>University LMS.</a:t>
            </a:r>
          </a:p>
          <a:p>
            <a:pPr>
              <a:lnSpc>
                <a:spcPct val="200000"/>
              </a:lnSpc>
              <a:buNone/>
            </a:pPr>
            <a:r>
              <a:rPr lang="en-US" dirty="0"/>
              <a:t>Students must:</a:t>
            </a:r>
          </a:p>
          <a:p>
            <a:pPr>
              <a:lnSpc>
                <a:spcPct val="200000"/>
              </a:lnSpc>
              <a:buNone/>
            </a:pPr>
            <a:r>
              <a:rPr lang="en-US" dirty="0"/>
              <a:t>✔ Define 3 KPIs</a:t>
            </a:r>
            <a:br>
              <a:rPr lang="en-US" dirty="0"/>
            </a:br>
            <a:r>
              <a:rPr lang="en-US" dirty="0"/>
              <a:t>✔ Classify as strategic/operational</a:t>
            </a:r>
            <a:br>
              <a:rPr lang="en-US" dirty="0"/>
            </a:br>
            <a:r>
              <a:rPr lang="en-US" dirty="0"/>
              <a:t>✔ Define targets</a:t>
            </a:r>
          </a:p>
        </p:txBody>
      </p:sp>
    </p:spTree>
    <p:extLst>
      <p:ext uri="{BB962C8B-B14F-4D97-AF65-F5344CB8AC3E}">
        <p14:creationId xmlns:p14="http://schemas.microsoft.com/office/powerpoint/2010/main" val="1939151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684212" y="362944"/>
            <a:ext cx="10515600" cy="847650"/>
          </a:xfrm>
        </p:spPr>
        <p:txBody>
          <a:bodyPr>
            <a:normAutofit/>
          </a:bodyPr>
          <a:lstStyle/>
          <a:p>
            <a:r>
              <a:rPr lang="en-US" dirty="0"/>
              <a:t>COMMON KPIs MISTAKES </a:t>
            </a: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17</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4A8893-4579-F8C2-464A-A73842263E30}"/>
              </a:ext>
            </a:extLst>
          </p:cNvPr>
          <p:cNvSpPr txBox="1"/>
          <p:nvPr/>
        </p:nvSpPr>
        <p:spPr>
          <a:xfrm>
            <a:off x="914400" y="1641455"/>
            <a:ext cx="6096000" cy="2234651"/>
          </a:xfrm>
          <a:prstGeom prst="rect">
            <a:avLst/>
          </a:prstGeom>
          <a:noFill/>
        </p:spPr>
        <p:txBody>
          <a:bodyPr wrap="square">
            <a:spAutoFit/>
          </a:bodyPr>
          <a:lstStyle/>
          <a:p>
            <a:pPr>
              <a:lnSpc>
                <a:spcPct val="200000"/>
              </a:lnSpc>
            </a:pPr>
            <a:r>
              <a:rPr lang="en-US" dirty="0"/>
              <a:t>❌ Tracking too many KPIs</a:t>
            </a:r>
            <a:br>
              <a:rPr lang="en-US" dirty="0"/>
            </a:br>
            <a:r>
              <a:rPr lang="en-US" dirty="0"/>
              <a:t>❌ Measuring irrelevant data</a:t>
            </a:r>
            <a:br>
              <a:rPr lang="en-US" dirty="0"/>
            </a:br>
            <a:r>
              <a:rPr lang="en-US" dirty="0"/>
              <a:t>❌ No targets defined</a:t>
            </a:r>
            <a:br>
              <a:rPr lang="en-US" dirty="0"/>
            </a:br>
            <a:r>
              <a:rPr lang="en-US" dirty="0"/>
              <a:t>❌ Ignoring business alignment</a:t>
            </a:r>
            <a:endParaRPr lang="en-PK" dirty="0"/>
          </a:p>
        </p:txBody>
      </p:sp>
      <p:sp>
        <p:nvSpPr>
          <p:cNvPr id="10" name="TextBox 9">
            <a:extLst>
              <a:ext uri="{FF2B5EF4-FFF2-40B4-BE49-F238E27FC236}">
                <a16:creationId xmlns:a16="http://schemas.microsoft.com/office/drawing/2014/main" id="{A3F4E705-43AC-9692-5D77-DF5949BC0688}"/>
              </a:ext>
            </a:extLst>
          </p:cNvPr>
          <p:cNvSpPr txBox="1"/>
          <p:nvPr/>
        </p:nvSpPr>
        <p:spPr>
          <a:xfrm>
            <a:off x="3569232" y="5497977"/>
            <a:ext cx="6096000" cy="646331"/>
          </a:xfrm>
          <a:prstGeom prst="rect">
            <a:avLst/>
          </a:prstGeom>
          <a:noFill/>
        </p:spPr>
        <p:txBody>
          <a:bodyPr wrap="square">
            <a:spAutoFit/>
          </a:bodyPr>
          <a:lstStyle/>
          <a:p>
            <a:r>
              <a:rPr lang="en-US" b="1" dirty="0"/>
              <a:t>More KPIs ≠ Better performance.</a:t>
            </a:r>
          </a:p>
          <a:p>
            <a:r>
              <a:rPr lang="en-US" b="1" dirty="0"/>
              <a:t>Focus on what matters.</a:t>
            </a:r>
          </a:p>
        </p:txBody>
      </p:sp>
    </p:spTree>
    <p:extLst>
      <p:ext uri="{BB962C8B-B14F-4D97-AF65-F5344CB8AC3E}">
        <p14:creationId xmlns:p14="http://schemas.microsoft.com/office/powerpoint/2010/main" val="2469000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684212" y="362944"/>
            <a:ext cx="10515600" cy="847650"/>
          </a:xfrm>
        </p:spPr>
        <p:txBody>
          <a:bodyPr>
            <a:normAutofit/>
          </a:bodyPr>
          <a:lstStyle/>
          <a:p>
            <a:r>
              <a:rPr lang="en-US" dirty="0"/>
              <a:t>ROLE OF BUSINESS ANALYST IN KPI DESIGN</a:t>
            </a: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18</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4A8893-4579-F8C2-464A-A73842263E30}"/>
              </a:ext>
            </a:extLst>
          </p:cNvPr>
          <p:cNvSpPr txBox="1"/>
          <p:nvPr/>
        </p:nvSpPr>
        <p:spPr>
          <a:xfrm>
            <a:off x="914400" y="1098009"/>
            <a:ext cx="6096000" cy="2788649"/>
          </a:xfrm>
          <a:prstGeom prst="rect">
            <a:avLst/>
          </a:prstGeom>
          <a:noFill/>
        </p:spPr>
        <p:txBody>
          <a:bodyPr wrap="square">
            <a:spAutoFit/>
          </a:bodyPr>
          <a:lstStyle/>
          <a:p>
            <a:pPr>
              <a:lnSpc>
                <a:spcPct val="200000"/>
              </a:lnSpc>
            </a:pPr>
            <a:r>
              <a:rPr lang="en-US" dirty="0"/>
              <a:t>BA responsibilities:</a:t>
            </a:r>
          </a:p>
          <a:p>
            <a:pPr>
              <a:lnSpc>
                <a:spcPct val="200000"/>
              </a:lnSpc>
            </a:pPr>
            <a:r>
              <a:rPr lang="en-US" dirty="0"/>
              <a:t>✔ Defines KPIs with stakeholders</a:t>
            </a:r>
            <a:br>
              <a:rPr lang="en-US" dirty="0"/>
            </a:br>
            <a:r>
              <a:rPr lang="en-US" dirty="0"/>
              <a:t>✔ Ensures alignment with goals</a:t>
            </a:r>
            <a:br>
              <a:rPr lang="en-US" dirty="0"/>
            </a:br>
            <a:r>
              <a:rPr lang="en-US" dirty="0"/>
              <a:t>✔ Tracks performance</a:t>
            </a:r>
            <a:br>
              <a:rPr lang="en-US" dirty="0"/>
            </a:br>
            <a:r>
              <a:rPr lang="en-US" dirty="0"/>
              <a:t>✔ Communicates insights</a:t>
            </a:r>
          </a:p>
        </p:txBody>
      </p:sp>
      <p:sp>
        <p:nvSpPr>
          <p:cNvPr id="9" name="TextBox 8">
            <a:extLst>
              <a:ext uri="{FF2B5EF4-FFF2-40B4-BE49-F238E27FC236}">
                <a16:creationId xmlns:a16="http://schemas.microsoft.com/office/drawing/2014/main" id="{E6EF84EB-B7EE-F61D-B137-FA079B7A87E7}"/>
              </a:ext>
            </a:extLst>
          </p:cNvPr>
          <p:cNvSpPr txBox="1"/>
          <p:nvPr/>
        </p:nvSpPr>
        <p:spPr>
          <a:xfrm>
            <a:off x="914400" y="4463731"/>
            <a:ext cx="6969760" cy="2031325"/>
          </a:xfrm>
          <a:prstGeom prst="rect">
            <a:avLst/>
          </a:prstGeom>
          <a:noFill/>
        </p:spPr>
        <p:txBody>
          <a:bodyPr wrap="square">
            <a:spAutoFit/>
          </a:bodyPr>
          <a:lstStyle/>
          <a:p>
            <a:r>
              <a:rPr lang="en-US" b="1" dirty="0"/>
              <a:t>Real Scenario</a:t>
            </a:r>
          </a:p>
          <a:p>
            <a:r>
              <a:rPr lang="en-US" dirty="0"/>
              <a:t>Client says:</a:t>
            </a:r>
          </a:p>
          <a:p>
            <a:r>
              <a:rPr lang="en-US" dirty="0"/>
              <a:t>“We want better performance.”</a:t>
            </a:r>
            <a:br>
              <a:rPr lang="en-US" dirty="0"/>
            </a:br>
            <a:endParaRPr lang="en-US" dirty="0"/>
          </a:p>
          <a:p>
            <a:r>
              <a:rPr lang="en-US" dirty="0"/>
              <a:t>BA asks:</a:t>
            </a:r>
          </a:p>
          <a:p>
            <a:r>
              <a:rPr lang="en-US" dirty="0"/>
              <a:t>👉 “How will we measure it?”</a:t>
            </a:r>
          </a:p>
          <a:p>
            <a:r>
              <a:rPr lang="en-US" dirty="0"/>
              <a:t>That’s KPI thinking.</a:t>
            </a:r>
          </a:p>
        </p:txBody>
      </p:sp>
    </p:spTree>
    <p:extLst>
      <p:ext uri="{BB962C8B-B14F-4D97-AF65-F5344CB8AC3E}">
        <p14:creationId xmlns:p14="http://schemas.microsoft.com/office/powerpoint/2010/main" val="3382237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A6902-2E1C-9A3A-E0FD-D40BB553C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39FED-CB5A-2675-1E7F-FC53BF05AA5F}"/>
              </a:ext>
            </a:extLst>
          </p:cNvPr>
          <p:cNvSpPr>
            <a:spLocks noGrp="1"/>
          </p:cNvSpPr>
          <p:nvPr>
            <p:ph type="title"/>
          </p:nvPr>
        </p:nvSpPr>
        <p:spPr>
          <a:xfrm>
            <a:off x="684212" y="362944"/>
            <a:ext cx="10515600" cy="847650"/>
          </a:xfrm>
        </p:spPr>
        <p:txBody>
          <a:bodyPr>
            <a:normAutofit/>
          </a:bodyPr>
          <a:lstStyle/>
          <a:p>
            <a:r>
              <a:rPr lang="en-US" sz="2800" b="1" dirty="0">
                <a:solidFill>
                  <a:schemeClr val="bg2">
                    <a:lumMod val="50000"/>
                  </a:schemeClr>
                </a:solidFill>
                <a:latin typeface="+mn-lt"/>
              </a:rPr>
              <a:t>IMPORTANT BUSINESS HACK</a:t>
            </a: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D768B48F-CC93-999E-F782-F02B318D8BE7}"/>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272ED117-36EF-5865-1070-6B51DA07061D}"/>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7A8FEC-ACC6-59AC-B944-9E5874AEA576}"/>
              </a:ext>
            </a:extLst>
          </p:cNvPr>
          <p:cNvSpPr>
            <a:spLocks noGrp="1"/>
          </p:cNvSpPr>
          <p:nvPr>
            <p:ph type="sldNum" sz="quarter" idx="12"/>
          </p:nvPr>
        </p:nvSpPr>
        <p:spPr/>
        <p:txBody>
          <a:bodyPr/>
          <a:lstStyle/>
          <a:p>
            <a:fld id="{8C95646D-91FE-4030-A7F0-07F651F9A7F3}" type="slidenum">
              <a:rPr lang="en-PK" smtClean="0"/>
              <a:t>19</a:t>
            </a:fld>
            <a:endParaRPr lang="en-PK"/>
          </a:p>
        </p:txBody>
      </p:sp>
      <p:pic>
        <p:nvPicPr>
          <p:cNvPr id="8" name="Picture 4" descr="Download HD 55 Pm 52458 Fast University ...">
            <a:extLst>
              <a:ext uri="{FF2B5EF4-FFF2-40B4-BE49-F238E27FC236}">
                <a16:creationId xmlns:a16="http://schemas.microsoft.com/office/drawing/2014/main" id="{1D39AB7B-B058-231B-1E62-A2380D9893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C2E927C-95CD-CD1C-F6E4-B2C7531D466F}"/>
              </a:ext>
            </a:extLst>
          </p:cNvPr>
          <p:cNvSpPr txBox="1"/>
          <p:nvPr/>
        </p:nvSpPr>
        <p:spPr>
          <a:xfrm>
            <a:off x="826294" y="1401095"/>
            <a:ext cx="8317706" cy="568745"/>
          </a:xfrm>
          <a:prstGeom prst="rect">
            <a:avLst/>
          </a:prstGeom>
          <a:noFill/>
        </p:spPr>
        <p:txBody>
          <a:bodyPr wrap="square">
            <a:spAutoFit/>
          </a:bodyPr>
          <a:lstStyle/>
          <a:p>
            <a:pPr>
              <a:lnSpc>
                <a:spcPct val="200000"/>
              </a:lnSpc>
            </a:pPr>
            <a:r>
              <a:rPr lang="en-US" dirty="0"/>
              <a:t>KPIs = </a:t>
            </a:r>
            <a:r>
              <a:rPr lang="en-US" b="1" dirty="0"/>
              <a:t>business + data + clarity</a:t>
            </a:r>
            <a:endParaRPr lang="en-US" dirty="0"/>
          </a:p>
        </p:txBody>
      </p:sp>
      <p:sp>
        <p:nvSpPr>
          <p:cNvPr id="4" name="TextBox 3">
            <a:extLst>
              <a:ext uri="{FF2B5EF4-FFF2-40B4-BE49-F238E27FC236}">
                <a16:creationId xmlns:a16="http://schemas.microsoft.com/office/drawing/2014/main" id="{2AE821D8-32F2-9DD7-CB3A-3F6B48356CBD}"/>
              </a:ext>
            </a:extLst>
          </p:cNvPr>
          <p:cNvSpPr txBox="1"/>
          <p:nvPr/>
        </p:nvSpPr>
        <p:spPr>
          <a:xfrm>
            <a:off x="2379035" y="2131769"/>
            <a:ext cx="6097772" cy="2031325"/>
          </a:xfrm>
          <a:prstGeom prst="rect">
            <a:avLst/>
          </a:prstGeom>
          <a:noFill/>
        </p:spPr>
        <p:txBody>
          <a:bodyPr wrap="square">
            <a:spAutoFit/>
          </a:bodyPr>
          <a:lstStyle/>
          <a:p>
            <a:pPr algn="ctr"/>
            <a:r>
              <a:rPr lang="en-US" dirty="0"/>
              <a:t>BUSINESS GOAL</a:t>
            </a:r>
          </a:p>
          <a:p>
            <a:pPr algn="ctr"/>
            <a:r>
              <a:rPr lang="en-US" dirty="0"/>
              <a:t>     ↓</a:t>
            </a:r>
          </a:p>
          <a:p>
            <a:pPr algn="ctr"/>
            <a:r>
              <a:rPr lang="en-US" dirty="0"/>
              <a:t>  SUCCESS FACTOR</a:t>
            </a:r>
          </a:p>
          <a:p>
            <a:pPr algn="ctr"/>
            <a:r>
              <a:rPr lang="en-US" dirty="0"/>
              <a:t>     ↓</a:t>
            </a:r>
          </a:p>
          <a:p>
            <a:pPr algn="ctr"/>
            <a:r>
              <a:rPr lang="en-US" dirty="0"/>
              <a:t>    KPI</a:t>
            </a:r>
          </a:p>
          <a:p>
            <a:pPr algn="ctr"/>
            <a:r>
              <a:rPr lang="en-US" dirty="0"/>
              <a:t>     ↓</a:t>
            </a:r>
          </a:p>
          <a:p>
            <a:pPr algn="ctr"/>
            <a:r>
              <a:rPr lang="en-US" dirty="0"/>
              <a:t>     TARGET</a:t>
            </a:r>
          </a:p>
        </p:txBody>
      </p:sp>
      <p:sp>
        <p:nvSpPr>
          <p:cNvPr id="11" name="TextBox 10">
            <a:extLst>
              <a:ext uri="{FF2B5EF4-FFF2-40B4-BE49-F238E27FC236}">
                <a16:creationId xmlns:a16="http://schemas.microsoft.com/office/drawing/2014/main" id="{0CF51CA8-7841-C908-DA3A-DA1531C27991}"/>
              </a:ext>
            </a:extLst>
          </p:cNvPr>
          <p:cNvSpPr txBox="1"/>
          <p:nvPr/>
        </p:nvSpPr>
        <p:spPr>
          <a:xfrm>
            <a:off x="1305146" y="5056571"/>
            <a:ext cx="6097772" cy="1299779"/>
          </a:xfrm>
          <a:prstGeom prst="rect">
            <a:avLst/>
          </a:prstGeom>
          <a:noFill/>
        </p:spPr>
        <p:txBody>
          <a:bodyPr wrap="square">
            <a:spAutoFit/>
          </a:bodyPr>
          <a:lstStyle/>
          <a:p>
            <a:pPr>
              <a:lnSpc>
                <a:spcPct val="150000"/>
              </a:lnSpc>
              <a:buNone/>
            </a:pPr>
            <a:r>
              <a:rPr lang="en-US" dirty="0"/>
              <a:t>👉 “Where do most companies fail?”</a:t>
            </a:r>
          </a:p>
          <a:p>
            <a:pPr>
              <a:lnSpc>
                <a:spcPct val="150000"/>
              </a:lnSpc>
              <a:buNone/>
            </a:pPr>
            <a:r>
              <a:rPr lang="en-US" dirty="0"/>
              <a:t>Answer:</a:t>
            </a:r>
          </a:p>
          <a:p>
            <a:pPr>
              <a:lnSpc>
                <a:spcPct val="150000"/>
              </a:lnSpc>
              <a:buNone/>
            </a:pPr>
            <a:r>
              <a:rPr lang="en-US" dirty="0"/>
              <a:t>👉 KPI definition stage.</a:t>
            </a:r>
          </a:p>
        </p:txBody>
      </p:sp>
    </p:spTree>
    <p:extLst>
      <p:ext uri="{BB962C8B-B14F-4D97-AF65-F5344CB8AC3E}">
        <p14:creationId xmlns:p14="http://schemas.microsoft.com/office/powerpoint/2010/main" val="1432161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764C8-6440-5A01-F04D-E78ABE22D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76B66-70B3-0FBB-1892-D05FB025274D}"/>
              </a:ext>
            </a:extLst>
          </p:cNvPr>
          <p:cNvSpPr>
            <a:spLocks noGrp="1"/>
          </p:cNvSpPr>
          <p:nvPr>
            <p:ph type="title"/>
          </p:nvPr>
        </p:nvSpPr>
        <p:spPr>
          <a:xfrm>
            <a:off x="684212" y="362944"/>
            <a:ext cx="10515600" cy="847650"/>
          </a:xfrm>
        </p:spPr>
        <p:txBody>
          <a:bodyPr>
            <a:normAutofit/>
          </a:bodyPr>
          <a:lstStyle/>
          <a:p>
            <a:r>
              <a:rPr lang="en-US" dirty="0"/>
              <a:t>KEY TAKEAWAYS (END OF LECTURE)</a:t>
            </a:r>
            <a:endParaRPr lang="en-PK" sz="2800" b="1" dirty="0">
              <a:solidFill>
                <a:schemeClr val="bg2">
                  <a:lumMod val="50000"/>
                </a:schemeClr>
              </a:solidFill>
              <a:latin typeface="+mn-lt"/>
            </a:endParaRPr>
          </a:p>
        </p:txBody>
      </p:sp>
      <p:sp>
        <p:nvSpPr>
          <p:cNvPr id="5" name="Rectangle 4">
            <a:extLst>
              <a:ext uri="{FF2B5EF4-FFF2-40B4-BE49-F238E27FC236}">
                <a16:creationId xmlns:a16="http://schemas.microsoft.com/office/drawing/2014/main" id="{843B498F-9F7A-98AE-83E3-CD726D42CB34}"/>
              </a:ext>
            </a:extLst>
          </p:cNvPr>
          <p:cNvSpPr/>
          <p:nvPr/>
        </p:nvSpPr>
        <p:spPr>
          <a:xfrm>
            <a:off x="-1" y="6562724"/>
            <a:ext cx="5005387" cy="300038"/>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PK"/>
          </a:p>
        </p:txBody>
      </p:sp>
      <p:sp>
        <p:nvSpPr>
          <p:cNvPr id="6" name="Rectangle 5">
            <a:extLst>
              <a:ext uri="{FF2B5EF4-FFF2-40B4-BE49-F238E27FC236}">
                <a16:creationId xmlns:a16="http://schemas.microsoft.com/office/drawing/2014/main" id="{FA4E770F-B141-2FFE-CF34-1591BBE9C8C6}"/>
              </a:ext>
            </a:extLst>
          </p:cNvPr>
          <p:cNvSpPr/>
          <p:nvPr/>
        </p:nvSpPr>
        <p:spPr>
          <a:xfrm>
            <a:off x="5005387" y="6753225"/>
            <a:ext cx="3833814" cy="10001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PK"/>
          </a:p>
        </p:txBody>
      </p:sp>
      <p:sp>
        <p:nvSpPr>
          <p:cNvPr id="7" name="Slide Number Placeholder 6">
            <a:extLst>
              <a:ext uri="{FF2B5EF4-FFF2-40B4-BE49-F238E27FC236}">
                <a16:creationId xmlns:a16="http://schemas.microsoft.com/office/drawing/2014/main" id="{C02E02EC-5786-13B9-592E-DB8221BFFC2C}"/>
              </a:ext>
            </a:extLst>
          </p:cNvPr>
          <p:cNvSpPr>
            <a:spLocks noGrp="1"/>
          </p:cNvSpPr>
          <p:nvPr>
            <p:ph type="sldNum" sz="quarter" idx="12"/>
          </p:nvPr>
        </p:nvSpPr>
        <p:spPr/>
        <p:txBody>
          <a:bodyPr/>
          <a:lstStyle/>
          <a:p>
            <a:fld id="{8C95646D-91FE-4030-A7F0-07F651F9A7F3}" type="slidenum">
              <a:rPr lang="en-PK" smtClean="0"/>
              <a:t>20</a:t>
            </a:fld>
            <a:endParaRPr lang="en-PK"/>
          </a:p>
        </p:txBody>
      </p:sp>
      <p:pic>
        <p:nvPicPr>
          <p:cNvPr id="8" name="Picture 4" descr="Download HD 55 Pm 52458 Fast University ...">
            <a:extLst>
              <a:ext uri="{FF2B5EF4-FFF2-40B4-BE49-F238E27FC236}">
                <a16:creationId xmlns:a16="http://schemas.microsoft.com/office/drawing/2014/main" id="{6636CEFE-3791-AF03-C195-40C44B8CFE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8012" y="238125"/>
            <a:ext cx="1171575" cy="44985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DEE15C0-14A7-7519-9C33-D9D98FFF3424}"/>
              </a:ext>
            </a:extLst>
          </p:cNvPr>
          <p:cNvSpPr txBox="1"/>
          <p:nvPr/>
        </p:nvSpPr>
        <p:spPr>
          <a:xfrm>
            <a:off x="826294" y="1401095"/>
            <a:ext cx="8317706" cy="3336876"/>
          </a:xfrm>
          <a:prstGeom prst="rect">
            <a:avLst/>
          </a:prstGeom>
          <a:noFill/>
        </p:spPr>
        <p:txBody>
          <a:bodyPr wrap="square">
            <a:spAutoFit/>
          </a:bodyPr>
          <a:lstStyle/>
          <a:p>
            <a:pPr>
              <a:lnSpc>
                <a:spcPct val="200000"/>
              </a:lnSpc>
            </a:pPr>
            <a:r>
              <a:rPr lang="en-US" dirty="0"/>
              <a:t>✔ KPIs measure business success</a:t>
            </a:r>
            <a:br>
              <a:rPr lang="en-US" dirty="0"/>
            </a:br>
            <a:r>
              <a:rPr lang="en-US" dirty="0"/>
              <a:t>✔ Metrics support KPIs</a:t>
            </a:r>
            <a:br>
              <a:rPr lang="en-US" dirty="0"/>
            </a:br>
            <a:r>
              <a:rPr lang="en-US" dirty="0"/>
              <a:t>✔ Strategic KPIs = long-term</a:t>
            </a:r>
            <a:br>
              <a:rPr lang="en-US" dirty="0"/>
            </a:br>
            <a:r>
              <a:rPr lang="en-US" dirty="0"/>
              <a:t>✔ Operational KPIs = daily performance</a:t>
            </a:r>
            <a:br>
              <a:rPr lang="en-US" dirty="0"/>
            </a:br>
            <a:r>
              <a:rPr lang="en-US" dirty="0"/>
              <a:t>✔ Good KPIs must be SMART</a:t>
            </a:r>
            <a:br>
              <a:rPr lang="en-US" dirty="0"/>
            </a:br>
            <a:r>
              <a:rPr lang="en-US" dirty="0"/>
              <a:t>✔ BA ensures KPIs align with goals</a:t>
            </a:r>
          </a:p>
        </p:txBody>
      </p:sp>
    </p:spTree>
    <p:extLst>
      <p:ext uri="{BB962C8B-B14F-4D97-AF65-F5344CB8AC3E}">
        <p14:creationId xmlns:p14="http://schemas.microsoft.com/office/powerpoint/2010/main" val="1751418417"/>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29747</TotalTime>
  <Words>808</Words>
  <Application>Microsoft Macintosh PowerPoint</Application>
  <PresentationFormat>Widescreen</PresentationFormat>
  <Paragraphs>194</Paragraphs>
  <Slides>20</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BUSINESS ANALYTICS  Introduction to Business Analytics and Core Business Functions</vt:lpstr>
      <vt:lpstr>Learning Objectives – WEEK 10 </vt:lpstr>
      <vt:lpstr>Previous Week - 9 </vt:lpstr>
      <vt:lpstr>WHAT IS METRIC VS KPI? </vt:lpstr>
      <vt:lpstr>PowerPoint Presentation</vt:lpstr>
      <vt:lpstr>TYPES OF KPI</vt:lpstr>
      <vt:lpstr>TYPES OF KPI</vt:lpstr>
      <vt:lpstr>PowerPoint Presentation</vt:lpstr>
      <vt:lpstr>VISUAL HIERARCHY</vt:lpstr>
      <vt:lpstr>CHARACTERISTICS OF A GOOD KPI</vt:lpstr>
      <vt:lpstr>REAL INDUSTRY KPI </vt:lpstr>
      <vt:lpstr>KPI DASHBOARD</vt:lpstr>
      <vt:lpstr>KPI DESIGN FRAMEWORK (STEP-BY-STEP)</vt:lpstr>
      <vt:lpstr>LEADING VS LAGGING KPIS</vt:lpstr>
      <vt:lpstr>CASE STUDY (HIGH ENGAGEMENT)</vt:lpstr>
      <vt:lpstr>COMMON KPIs MISTAKES </vt:lpstr>
      <vt:lpstr>ROLE OF BUSINESS ANALYST IN KPI DESIGN</vt:lpstr>
      <vt:lpstr>IMPORTANT BUSINESS HACK</vt:lpstr>
      <vt:lpstr>KEY TAKEAWAYS (END OF LECTURE)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DEVELOPING HORIZONTAL LINKAGES WITH OTHER GOVERNMENT DEPARTMENTS</dc:title>
  <dc:creator>Mufeeza Iqbal</dc:creator>
  <cp:lastModifiedBy>Moiz Shah</cp:lastModifiedBy>
  <cp:revision>170</cp:revision>
  <dcterms:created xsi:type="dcterms:W3CDTF">2024-06-09T07:08:43Z</dcterms:created>
  <dcterms:modified xsi:type="dcterms:W3CDTF">2026-03-28T10:35:52Z</dcterms:modified>
</cp:coreProperties>
</file>