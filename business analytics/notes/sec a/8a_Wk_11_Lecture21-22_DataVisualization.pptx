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18"/>
  </p:notesMasterIdLst>
  <p:sldIdLst>
    <p:sldId id="256" r:id="rId2"/>
    <p:sldId id="345" r:id="rId3"/>
    <p:sldId id="357" r:id="rId4"/>
    <p:sldId id="380" r:id="rId5"/>
    <p:sldId id="401" r:id="rId6"/>
    <p:sldId id="347" r:id="rId7"/>
    <p:sldId id="402" r:id="rId8"/>
    <p:sldId id="403" r:id="rId9"/>
    <p:sldId id="404" r:id="rId10"/>
    <p:sldId id="405" r:id="rId11"/>
    <p:sldId id="407" r:id="rId12"/>
    <p:sldId id="406" r:id="rId13"/>
    <p:sldId id="408" r:id="rId14"/>
    <p:sldId id="386" r:id="rId15"/>
    <p:sldId id="387" r:id="rId16"/>
    <p:sldId id="400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0" autoAdjust="0"/>
    <p:restoredTop sz="94729"/>
  </p:normalViewPr>
  <p:slideViewPr>
    <p:cSldViewPr snapToGrid="0">
      <p:cViewPr varScale="1">
        <p:scale>
          <a:sx n="98" d="100"/>
          <a:sy n="98" d="100"/>
        </p:scale>
        <p:origin x="110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4/3/26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325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2042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B447-F144-5925-911C-003EFFD4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AC8DF-16D4-F845-900D-417394111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D572E-A483-D42F-0088-5E24403C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0B9D1-DB6F-2948-6B93-CEE04EAD5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8510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5793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95ED-B9EA-8C43-B430-530C651F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DD3F9-3672-D1C0-0DDC-530F2C71E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76603-49B4-CBF8-9C33-F16470301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F86E2-101B-8C0C-5E47-BF4EFE09E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4492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89C6C-1623-A551-D473-BDE16231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66C73-CE6D-9E6C-C39C-F84271CE7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2A706-B593-9C64-AA25-1F3904F65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0BF36-337A-D884-C015-BF93F600A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2835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2A46-6B4B-8F10-396F-46789922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6FAFA-9940-D3C2-A11F-CE0A74CF6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2ABB4-A0F4-E097-CA57-5B75C3205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749C2-BA32-8405-F0B2-E7ABB7D5F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6596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7897-7319-9427-C20B-4CB75DA5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EC4ED-C443-E6C9-217F-13348C8A1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1BB92-8071-43E8-3DC0-27E696119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F0E00-B634-9EFC-8210-7A4C670CB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1751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999EF-7385-E2C3-4AF7-C0C05C96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43E7C-2CB4-DDB4-07E8-6B7BAFFE0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347F9-286B-0944-4FC3-86834FB07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075B7-6095-2D88-1252-9DEBEC6E8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996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CAA7-44B8-A146-6886-321925DA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E6682-22C7-EA07-41D6-A2FF4E74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48AE3-56F7-ACDB-7347-2D7746325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24E33-0F93-E4CC-9BA7-25E94AA05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21852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767C5-8A67-0F95-C0B7-C14141D6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155FD-7765-D1BE-CB50-FBC04E2CD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5212A-BFC1-0D00-E4BB-FA26508E6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FFBE6-D428-BDCB-4FEF-9759FF907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1064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1589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3237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E494-ACEF-4818-B1C7-64ABF414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4B188-5E93-F2C6-B7DA-D2F322B4E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A3D5C-0B3E-EA91-1CA4-F8527C1B0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“Visualization turns data into understanding.”</a:t>
            </a:r>
          </a:p>
          <a:p>
            <a:r>
              <a:rPr lang="en-US" dirty="0"/>
              <a:t>Repeat:</a:t>
            </a:r>
          </a:p>
          <a:p>
            <a:r>
              <a:rPr lang="en-US" dirty="0"/>
              <a:t>Visualization simplifies complexity</a:t>
            </a:r>
          </a:p>
          <a:p>
            <a:r>
              <a:rPr lang="en-US" dirty="0"/>
              <a:t>Right chart = correct insight</a:t>
            </a:r>
          </a:p>
          <a:p>
            <a:r>
              <a:rPr lang="en-US" dirty="0"/>
              <a:t>Dashboards support decisions</a:t>
            </a:r>
          </a:p>
          <a:p>
            <a:r>
              <a:rPr lang="en-US" dirty="0"/>
              <a:t>BA interprets and communicates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4D58-1F94-9B33-8A78-8955D5D08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926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4/3/26 8:53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4/3/26 8:53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4/3/26 8:53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4/3/26 8:53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4/3/26 8:53 AM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4/3/26 8:53 AM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4/3/26 8:53 AM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4/3/26 8:53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4/3/26 8:53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4/3/26 8:53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4/3/26 8:53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4/3/26 8:53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975360"/>
            <a:ext cx="9144000" cy="2862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sz="16600" dirty="0"/>
            </a:br>
            <a:r>
              <a:rPr lang="en-US" sz="4300" dirty="0"/>
              <a:t>Data Visualization</a:t>
            </a:r>
            <a:endParaRPr lang="en-PK" sz="4300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11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8833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000" dirty="0"/>
              <a:t>Understand why visualization is critical in business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Choose the right chart for the right data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Design simple dashboards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Avoid common visualization mistakes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Think like a Business Analyst when presenting data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85AFD7-D5C0-A6EE-5F55-057216A8D06C}"/>
              </a:ext>
            </a:extLst>
          </p:cNvPr>
          <p:cNvSpPr txBox="1"/>
          <p:nvPr/>
        </p:nvSpPr>
        <p:spPr>
          <a:xfrm>
            <a:off x="7090092" y="61647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 bad chart hides the truth. A good chart tells a story instantly.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Previous Week - 10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31"/>
            <a:ext cx="10515600" cy="40302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Last week we defined KPIs: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✔ Revenue</a:t>
            </a:r>
            <a:br>
              <a:rPr lang="en-US" sz="2400" dirty="0"/>
            </a:br>
            <a:r>
              <a:rPr lang="en-US" sz="2400" dirty="0"/>
              <a:t>✔ Delivery time</a:t>
            </a:r>
            <a:br>
              <a:rPr lang="en-US" sz="2400" dirty="0"/>
            </a:br>
            <a:r>
              <a:rPr lang="en-US" sz="2400" dirty="0"/>
              <a:t>✔ Customer retention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Now :</a:t>
            </a:r>
          </a:p>
          <a:p>
            <a:pPr marL="0" indent="0">
              <a:buNone/>
            </a:pPr>
            <a:r>
              <a:rPr lang="en-US" sz="2400" dirty="0"/>
              <a:t>👉 How do we show this to stakeholders?</a:t>
            </a:r>
          </a:p>
          <a:p>
            <a:pPr marL="0" indent="0">
              <a:buNone/>
            </a:pPr>
            <a:r>
              <a:rPr lang="en-US" sz="2400" dirty="0"/>
              <a:t>Answer:</a:t>
            </a:r>
          </a:p>
          <a:p>
            <a:pPr marL="0" indent="0">
              <a:buNone/>
            </a:pPr>
            <a:r>
              <a:rPr lang="en-US" sz="2400" dirty="0"/>
              <a:t>👉 Through </a:t>
            </a:r>
            <a:r>
              <a:rPr lang="en-US" sz="2400" b="1" dirty="0"/>
              <a:t>data visualization (charts, dashboards)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4CB631-0533-E6C6-F4F3-3FE3FDC8E46C}"/>
              </a:ext>
            </a:extLst>
          </p:cNvPr>
          <p:cNvSpPr txBox="1"/>
          <p:nvPr/>
        </p:nvSpPr>
        <p:spPr>
          <a:xfrm>
            <a:off x="8983239" y="3913688"/>
            <a:ext cx="7337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Example</a:t>
            </a:r>
            <a:r>
              <a:rPr lang="en-US" sz="1200" dirty="0"/>
              <a:t>:</a:t>
            </a:r>
          </a:p>
          <a:p>
            <a:br>
              <a:rPr lang="en-US" sz="1200" dirty="0"/>
            </a:br>
            <a:r>
              <a:rPr lang="en-US" sz="1200" dirty="0"/>
              <a:t>KPI:</a:t>
            </a:r>
          </a:p>
          <a:p>
            <a:r>
              <a:rPr lang="en-US" sz="1200" dirty="0"/>
              <a:t>Delivery time = 45 min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Question:</a:t>
            </a:r>
          </a:p>
          <a:p>
            <a:r>
              <a:rPr lang="en-US" sz="1200" dirty="0"/>
              <a:t>👉 Is that good or bad?</a:t>
            </a:r>
          </a:p>
          <a:p>
            <a:r>
              <a:rPr lang="en-US" sz="1200" dirty="0"/>
              <a:t>Now show chart → students understand instantly.</a:t>
            </a:r>
          </a:p>
        </p:txBody>
      </p:sp>
    </p:spTree>
    <p:extLst>
      <p:ext uri="{BB962C8B-B14F-4D97-AF65-F5344CB8AC3E}">
        <p14:creationId xmlns:p14="http://schemas.microsoft.com/office/powerpoint/2010/main" val="23254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CEA8-2001-5D12-5113-6EFB8435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513D-9634-5B86-BF2D-60B4E887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DATA VISUALIZATION?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DF236-CE2E-3F6E-2732-099DA4B9948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08B4D-C835-D452-9838-6B031A06C73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52FC9-A2BD-3FAF-3DF2-F7C42C2C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F2995B5C-5362-9EF5-1671-D16AA7A28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AB10341F-80AB-4C7F-C7AE-34F515EF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3295C4FC-0807-6BE1-35D5-F1077EB2C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08487A-CFAB-CF06-454E-A066BED76FAB}"/>
              </a:ext>
            </a:extLst>
          </p:cNvPr>
          <p:cNvSpPr txBox="1"/>
          <p:nvPr/>
        </p:nvSpPr>
        <p:spPr>
          <a:xfrm>
            <a:off x="871012" y="1321216"/>
            <a:ext cx="877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Data Visualization = presenting data visually to make decisions easier.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CE9303-0133-CA58-F047-DD3C7640F59C}"/>
              </a:ext>
            </a:extLst>
          </p:cNvPr>
          <p:cNvSpPr txBox="1"/>
          <p:nvPr/>
        </p:nvSpPr>
        <p:spPr>
          <a:xfrm>
            <a:off x="826294" y="2148413"/>
            <a:ext cx="4307409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🇵🇰 Pakistan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 err="1"/>
              <a:t>Daraz</a:t>
            </a:r>
            <a:r>
              <a:rPr lang="en-US" dirty="0"/>
              <a:t> dashboard: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Orders per day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Delivery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Revenue trends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F4290-5C7E-DD4E-326F-5A362ED1718D}"/>
              </a:ext>
            </a:extLst>
          </p:cNvPr>
          <p:cNvSpPr txBox="1"/>
          <p:nvPr/>
        </p:nvSpPr>
        <p:spPr>
          <a:xfrm>
            <a:off x="3960495" y="2244546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🌎 International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Netflix dashboard: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Watch time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engagement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Retention trends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A28CDD-4DDD-B33F-4AD5-22665F38C3E4}"/>
              </a:ext>
            </a:extLst>
          </p:cNvPr>
          <p:cNvSpPr txBox="1"/>
          <p:nvPr/>
        </p:nvSpPr>
        <p:spPr>
          <a:xfrm>
            <a:off x="744583" y="5601158"/>
            <a:ext cx="877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Ask:</a:t>
            </a:r>
          </a:p>
          <a:p>
            <a:pPr>
              <a:buNone/>
            </a:pPr>
            <a:r>
              <a:rPr lang="en-US" dirty="0"/>
              <a:t>👉 “Would you rather read 100 rows of Excel OR see one chart?”</a:t>
            </a:r>
          </a:p>
        </p:txBody>
      </p:sp>
      <p:pic>
        <p:nvPicPr>
          <p:cNvPr id="14" name="Picture 2" descr="The basics of business intelligence dashboards">
            <a:extLst>
              <a:ext uri="{FF2B5EF4-FFF2-40B4-BE49-F238E27FC236}">
                <a16:creationId xmlns:a16="http://schemas.microsoft.com/office/drawing/2014/main" id="{95BCE9E4-37EA-067E-72FD-DE94E89C9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299" y="2096080"/>
            <a:ext cx="5133701" cy="280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E625E4-6AF3-D0A7-BE22-BF7A8DB79169}"/>
              </a:ext>
            </a:extLst>
          </p:cNvPr>
          <p:cNvSpPr txBox="1"/>
          <p:nvPr/>
        </p:nvSpPr>
        <p:spPr>
          <a:xfrm>
            <a:off x="826294" y="4449091"/>
            <a:ext cx="8786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Overlay:</a:t>
            </a:r>
          </a:p>
          <a:p>
            <a:pPr>
              <a:buNone/>
            </a:pPr>
            <a:r>
              <a:rPr lang="en-US" dirty="0"/>
              <a:t>Data → Chart → Insight → Decision</a:t>
            </a:r>
          </a:p>
        </p:txBody>
      </p:sp>
    </p:spTree>
    <p:extLst>
      <p:ext uri="{BB962C8B-B14F-4D97-AF65-F5344CB8AC3E}">
        <p14:creationId xmlns:p14="http://schemas.microsoft.com/office/powerpoint/2010/main" val="3571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WHY VISUALIZATION MATTERS (INDUSTRY REALITY)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5CD4D3CD-ED79-1AA3-8B63-AECF7285B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AA106459-57BB-CBE5-B43E-E7BAC634D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0F4BEA-FEE1-D1F0-4C93-422D912F93D2}"/>
              </a:ext>
            </a:extLst>
          </p:cNvPr>
          <p:cNvSpPr txBox="1"/>
          <p:nvPr/>
        </p:nvSpPr>
        <p:spPr>
          <a:xfrm>
            <a:off x="871012" y="1321216"/>
            <a:ext cx="8778240" cy="337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Without visualization:</a:t>
            </a:r>
          </a:p>
          <a:p>
            <a:pPr>
              <a:lnSpc>
                <a:spcPct val="150000"/>
              </a:lnSpc>
            </a:pPr>
            <a:r>
              <a:rPr lang="en-US" dirty="0"/>
              <a:t>❌ Data is hard to interpret</a:t>
            </a:r>
            <a:br>
              <a:rPr lang="en-US" dirty="0"/>
            </a:br>
            <a:r>
              <a:rPr lang="en-US" dirty="0"/>
              <a:t>❌ Decisions delayed</a:t>
            </a:r>
            <a:br>
              <a:rPr lang="en-US" dirty="0"/>
            </a:br>
            <a:r>
              <a:rPr lang="en-US" dirty="0"/>
              <a:t>❌ Stakeholders confused</a:t>
            </a:r>
          </a:p>
          <a:p>
            <a:pPr>
              <a:lnSpc>
                <a:spcPct val="150000"/>
              </a:lnSpc>
            </a:pPr>
            <a:r>
              <a:rPr lang="en-US" dirty="0"/>
              <a:t>With visualization:</a:t>
            </a:r>
          </a:p>
          <a:p>
            <a:pPr>
              <a:lnSpc>
                <a:spcPct val="150000"/>
              </a:lnSpc>
            </a:pPr>
            <a:r>
              <a:rPr lang="en-US" dirty="0"/>
              <a:t>✔ Quick understanding</a:t>
            </a:r>
            <a:br>
              <a:rPr lang="en-US" dirty="0"/>
            </a:br>
            <a:r>
              <a:rPr lang="en-US" dirty="0"/>
              <a:t>✔ Better decisions</a:t>
            </a:r>
            <a:br>
              <a:rPr lang="en-US" dirty="0"/>
            </a:br>
            <a:r>
              <a:rPr lang="en-US" dirty="0"/>
              <a:t>✔ Clear 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5AA06-27EF-8B86-A0E0-5BDA2ED42532}"/>
              </a:ext>
            </a:extLst>
          </p:cNvPr>
          <p:cNvSpPr txBox="1"/>
          <p:nvPr/>
        </p:nvSpPr>
        <p:spPr>
          <a:xfrm>
            <a:off x="6015036" y="5865776"/>
            <a:ext cx="877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Executives don’t read data tables — they read dashboards.</a:t>
            </a:r>
          </a:p>
        </p:txBody>
      </p:sp>
      <p:pic>
        <p:nvPicPr>
          <p:cNvPr id="3074" name="Picture 2" descr="KPI Dashboard: Definition, Examples, Templates &amp; Best Practices">
            <a:extLst>
              <a:ext uri="{FF2B5EF4-FFF2-40B4-BE49-F238E27FC236}">
                <a16:creationId xmlns:a16="http://schemas.microsoft.com/office/drawing/2014/main" id="{90BE36DD-A587-D689-C412-476AB1A04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731" y="888525"/>
            <a:ext cx="7005738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9F5239-A2FB-02A4-735C-C272DAC36EF7}"/>
              </a:ext>
            </a:extLst>
          </p:cNvPr>
          <p:cNvSpPr txBox="1"/>
          <p:nvPr/>
        </p:nvSpPr>
        <p:spPr>
          <a:xfrm>
            <a:off x="611980" y="5216604"/>
            <a:ext cx="878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KPI → Chart → Dashboard → Decision</a:t>
            </a:r>
          </a:p>
        </p:txBody>
      </p:sp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08332-DC1B-CD7F-9ABE-3DFFBF0B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E865-BDD1-CB9C-0820-B08AF73E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CHARTS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0B7C63-116C-F7DF-B827-C6F3DE305B5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E24CB-6CC9-2296-0408-308072B28B7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0922B-B846-68C9-FCD2-FC94EDBF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C5EA43E4-5FD6-E2B4-89E2-497936386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F062CED5-AED5-E5F4-4C0D-1926DD80A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54006C8B-1586-3C7C-7F11-011CCEB7A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BED31-9D1F-32ED-663A-9BA5579A4F8E}"/>
              </a:ext>
            </a:extLst>
          </p:cNvPr>
          <p:cNvSpPr txBox="1"/>
          <p:nvPr/>
        </p:nvSpPr>
        <p:spPr>
          <a:xfrm>
            <a:off x="871012" y="1321216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📈 Line Chart (Trend Over Time)</a:t>
            </a:r>
          </a:p>
          <a:p>
            <a:pPr>
              <a:lnSpc>
                <a:spcPct val="150000"/>
              </a:lnSpc>
            </a:pPr>
            <a:r>
              <a:rPr lang="en-US" dirty="0"/>
              <a:t>Use when:</a:t>
            </a:r>
          </a:p>
          <a:p>
            <a:pPr>
              <a:lnSpc>
                <a:spcPct val="150000"/>
              </a:lnSpc>
            </a:pPr>
            <a:r>
              <a:rPr lang="en-US" dirty="0"/>
              <a:t>✔ Showing growth or decline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Daraz</a:t>
            </a:r>
            <a:r>
              <a:rPr lang="en-US" dirty="0"/>
              <a:t> orders over 6 months.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7CCDE-90EC-A3B9-C508-E5565B29834F}"/>
              </a:ext>
            </a:extLst>
          </p:cNvPr>
          <p:cNvSpPr txBox="1"/>
          <p:nvPr/>
        </p:nvSpPr>
        <p:spPr>
          <a:xfrm>
            <a:off x="907889" y="3991274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Bar Chart (Comparison)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Use when: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Comparing categories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Sales by city (Lahore vs Karachi)</a:t>
            </a:r>
          </a:p>
        </p:txBody>
      </p:sp>
      <p:pic>
        <p:nvPicPr>
          <p:cNvPr id="4098" name="Picture 2" descr="What is a Business Intelligence (BI) Dashboard? | Klipfolio">
            <a:extLst>
              <a:ext uri="{FF2B5EF4-FFF2-40B4-BE49-F238E27FC236}">
                <a16:creationId xmlns:a16="http://schemas.microsoft.com/office/drawing/2014/main" id="{E49C05F5-19E0-A747-7717-ED0408093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994" y="1531013"/>
            <a:ext cx="6391593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6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59DF-4E55-40AF-FDF6-1B2EE89E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B9D4-5E1F-1822-2791-D9FB001C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CHARTS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5273C5-8170-A10B-3180-2B01597E61E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9F0DB-A4CB-0B51-6CE8-196C96AC6DF3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F9B38-395D-3FC2-2652-BFD0942E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2D32DB5-DE82-44B3-7457-3F15FE48D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15B145E8-D598-B9D8-A413-FD595709F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14498-F7EF-6A15-10D2-790E7D0DB0FF}"/>
              </a:ext>
            </a:extLst>
          </p:cNvPr>
          <p:cNvSpPr txBox="1"/>
          <p:nvPr/>
        </p:nvSpPr>
        <p:spPr>
          <a:xfrm>
            <a:off x="826294" y="965929"/>
            <a:ext cx="5803106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Pie Chart (Distribution)</a:t>
            </a:r>
          </a:p>
          <a:p>
            <a:pPr>
              <a:lnSpc>
                <a:spcPct val="150000"/>
              </a:lnSpc>
            </a:pPr>
            <a:r>
              <a:rPr lang="en-US" dirty="0"/>
              <a:t>Use when:</a:t>
            </a:r>
          </a:p>
          <a:p>
            <a:pPr>
              <a:lnSpc>
                <a:spcPct val="150000"/>
              </a:lnSpc>
            </a:pPr>
            <a:r>
              <a:rPr lang="en-US" dirty="0"/>
              <a:t>✔ Showing proportions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Payment types (Cash vs Card)</a:t>
            </a:r>
          </a:p>
          <a:p>
            <a:pPr>
              <a:lnSpc>
                <a:spcPct val="150000"/>
              </a:lnSpc>
            </a:pPr>
            <a:r>
              <a:rPr lang="en-US" dirty="0"/>
              <a:t>⚠️ Warning:</a:t>
            </a:r>
          </a:p>
          <a:p>
            <a:pPr>
              <a:lnSpc>
                <a:spcPct val="150000"/>
              </a:lnSpc>
            </a:pPr>
            <a:r>
              <a:rPr lang="en-US" dirty="0"/>
              <a:t>Avoid too many slices.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AC24B-FF1D-BF17-8A17-7A0285CDE3D1}"/>
              </a:ext>
            </a:extLst>
          </p:cNvPr>
          <p:cNvSpPr txBox="1"/>
          <p:nvPr/>
        </p:nvSpPr>
        <p:spPr>
          <a:xfrm>
            <a:off x="826294" y="4409343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📉 Histogram (Distribution)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Use when: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Understanding frequency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Delivery times grouped (20–30 mins, 30–40 mins)</a:t>
            </a:r>
          </a:p>
        </p:txBody>
      </p:sp>
      <p:pic>
        <p:nvPicPr>
          <p:cNvPr id="5122" name="Picture 2" descr="Pie Chart Component - JavaScript/HTML5 &amp; jQuery | Ignite UI">
            <a:extLst>
              <a:ext uri="{FF2B5EF4-FFF2-40B4-BE49-F238E27FC236}">
                <a16:creationId xmlns:a16="http://schemas.microsoft.com/office/drawing/2014/main" id="{4B0D66DE-ECFF-35C8-3568-9CD2EE058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890" y="1085634"/>
            <a:ext cx="3536122" cy="254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requency Distribution Visuals: Histograms, Line Charts, Range Charts PPT  Slide Deck">
            <a:extLst>
              <a:ext uri="{FF2B5EF4-FFF2-40B4-BE49-F238E27FC236}">
                <a16:creationId xmlns:a16="http://schemas.microsoft.com/office/drawing/2014/main" id="{0E0B0AB9-2396-B2AD-8C30-ACC059891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799" y="3813557"/>
            <a:ext cx="4635950" cy="290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57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0877-25C3-8B61-7243-2C130501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5045-AEED-A936-D81C-B417FAF9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CHARTS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CD386-5FEC-D6A3-DF39-71C9A179FB06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F0BB1-B627-B931-0F67-ADC70614900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AD3EA-3467-382E-FDBE-58A93D53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37A8EE1E-4CEE-8FA1-E1E6-B830B5D65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42DC7421-3813-5265-1782-39B614A9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8E933227-5F34-9E60-B949-B2A1DCC0A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E7D66A-9221-E8B0-6967-49B7272729F2}"/>
              </a:ext>
            </a:extLst>
          </p:cNvPr>
          <p:cNvSpPr txBox="1"/>
          <p:nvPr/>
        </p:nvSpPr>
        <p:spPr>
          <a:xfrm>
            <a:off x="871012" y="1321216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📍 Scatter Plot (Relationship)</a:t>
            </a:r>
          </a:p>
          <a:p>
            <a:pPr>
              <a:lnSpc>
                <a:spcPct val="150000"/>
              </a:lnSpc>
            </a:pPr>
            <a:r>
              <a:rPr lang="en-US" dirty="0"/>
              <a:t>Use when:</a:t>
            </a:r>
          </a:p>
          <a:p>
            <a:pPr>
              <a:lnSpc>
                <a:spcPct val="150000"/>
              </a:lnSpc>
            </a:pPr>
            <a:r>
              <a:rPr lang="en-US" dirty="0"/>
              <a:t>✔ Finding correlation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Delivery time vs customer rating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03E01-0983-6307-6837-5A806D592D18}"/>
              </a:ext>
            </a:extLst>
          </p:cNvPr>
          <p:cNvSpPr txBox="1"/>
          <p:nvPr/>
        </p:nvSpPr>
        <p:spPr>
          <a:xfrm>
            <a:off x="907889" y="4197648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Ask students: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👉 Which chart for: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“Revenue over time?”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👉 Which chart for: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“Top 5 cities by orders?”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909CE0-6DBF-87D0-F1F0-D9E87472FA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400" y="1116697"/>
            <a:ext cx="4320612" cy="264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77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EBD4-01EF-8C5E-2BE2-900FDE6C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3CE4-99CD-989E-E7D3-E08D7289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VISUALIZATION PRINCIPLES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A9D43-D9F6-242B-7F4E-F5DBF62AADB5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EC0A9C-94DF-87D5-5667-E05AE2A3C75B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C12C3-5CEE-A332-ABA2-327C2EC0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00E25E24-E661-E198-2C77-DBF379A35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7B94446D-C4F5-31AE-2AD9-CA2EBBB96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8E74E9A9-1E2D-2F8C-EC65-9B8E95542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11F709-60D0-5F80-6D29-010D69E1E354}"/>
              </a:ext>
            </a:extLst>
          </p:cNvPr>
          <p:cNvSpPr txBox="1"/>
          <p:nvPr/>
        </p:nvSpPr>
        <p:spPr>
          <a:xfrm>
            <a:off x="871012" y="1321216"/>
            <a:ext cx="4558238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1️⃣ Keep it Simple</a:t>
            </a:r>
          </a:p>
          <a:p>
            <a:pPr>
              <a:lnSpc>
                <a:spcPct val="150000"/>
              </a:lnSpc>
            </a:pPr>
            <a:r>
              <a:rPr lang="en-US" dirty="0"/>
              <a:t>Avoid clutter.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2️⃣ Use Correct Chart</a:t>
            </a:r>
          </a:p>
          <a:p>
            <a:pPr>
              <a:lnSpc>
                <a:spcPct val="150000"/>
              </a:lnSpc>
            </a:pPr>
            <a:r>
              <a:rPr lang="en-US" dirty="0"/>
              <a:t>Don’t use pie chart for trends.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3️⃣ Highlight Insights</a:t>
            </a:r>
          </a:p>
          <a:p>
            <a:pPr>
              <a:lnSpc>
                <a:spcPct val="150000"/>
              </a:lnSpc>
            </a:pPr>
            <a:r>
              <a:rPr lang="en-US" dirty="0"/>
              <a:t>Use color to show important data.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4️⃣ Label Clearly</a:t>
            </a:r>
          </a:p>
          <a:p>
            <a:pPr>
              <a:lnSpc>
                <a:spcPct val="150000"/>
              </a:lnSpc>
            </a:pPr>
            <a:r>
              <a:rPr lang="en-US" dirty="0"/>
              <a:t>No confusion in axes or titles.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5️⃣ Avoid Misleading Data</a:t>
            </a:r>
          </a:p>
          <a:p>
            <a:pPr>
              <a:lnSpc>
                <a:spcPct val="150000"/>
              </a:lnSpc>
            </a:pPr>
            <a:r>
              <a:rPr lang="en-US" dirty="0"/>
              <a:t>Don’t distort scales.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</p:txBody>
      </p:sp>
      <p:pic>
        <p:nvPicPr>
          <p:cNvPr id="8194" name="Picture 2" descr="Choosing the Right Chart: Line or Bar for Time-Based Data | Brent Dykes  posted on the topic | LinkedIn">
            <a:extLst>
              <a:ext uri="{FF2B5EF4-FFF2-40B4-BE49-F238E27FC236}">
                <a16:creationId xmlns:a16="http://schemas.microsoft.com/office/drawing/2014/main" id="{09C43306-2092-3157-33B1-162ABA9B9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191" y="1244492"/>
            <a:ext cx="7778396" cy="436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67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CCF1-6D68-9A98-405D-078DD4AEB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EF36-43A9-1A02-80DC-48FFFF7D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VISUALIZATION PRINCIPLES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19A40A-5D03-4A4A-80BD-59BC7720573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63C07A-C6E1-5112-B477-606CEBB0E65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2347C-992C-AB0B-0B53-4A70ABE8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E6FC114-58EB-08E5-6DF5-59810FE99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D9B581E9-354F-0250-B4CC-BFBE5029C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FE0F300A-1F6A-EE86-1192-00FAF7FE4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72160-4A9D-7E41-4B09-472F3B01811F}"/>
              </a:ext>
            </a:extLst>
          </p:cNvPr>
          <p:cNvSpPr txBox="1"/>
          <p:nvPr/>
        </p:nvSpPr>
        <p:spPr>
          <a:xfrm>
            <a:off x="871012" y="1321216"/>
            <a:ext cx="877824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Show bad chart:</a:t>
            </a:r>
          </a:p>
          <a:p>
            <a:pPr>
              <a:lnSpc>
                <a:spcPct val="150000"/>
              </a:lnSpc>
            </a:pPr>
            <a:r>
              <a:rPr lang="en-US" dirty="0"/>
              <a:t>Too many colors</a:t>
            </a:r>
          </a:p>
          <a:p>
            <a:pPr>
              <a:lnSpc>
                <a:spcPct val="150000"/>
              </a:lnSpc>
            </a:pPr>
            <a:r>
              <a:rPr lang="en-US" dirty="0"/>
              <a:t>No labels</a:t>
            </a:r>
          </a:p>
          <a:p>
            <a:pPr>
              <a:lnSpc>
                <a:spcPct val="150000"/>
              </a:lnSpc>
            </a:pPr>
            <a:r>
              <a:rPr lang="en-US" dirty="0"/>
              <a:t>Then show improved </a:t>
            </a:r>
          </a:p>
          <a:p>
            <a:pPr>
              <a:lnSpc>
                <a:spcPct val="150000"/>
              </a:lnSpc>
            </a:pPr>
            <a:r>
              <a:rPr lang="en-US" dirty="0"/>
              <a:t>version.</a:t>
            </a:r>
          </a:p>
        </p:txBody>
      </p:sp>
      <p:pic>
        <p:nvPicPr>
          <p:cNvPr id="7170" name="Picture 2" descr="Bad Data Visualization: Common Mistakes And Best Practices — Data Lab  Collective">
            <a:extLst>
              <a:ext uri="{FF2B5EF4-FFF2-40B4-BE49-F238E27FC236}">
                <a16:creationId xmlns:a16="http://schemas.microsoft.com/office/drawing/2014/main" id="{55E87FDE-C306-6131-AFDB-E3471A3D5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510" y="1053991"/>
            <a:ext cx="881107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17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DBAA-E31E-5DB2-7EB6-4891C316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611F-9E63-3281-CD74-7CFFEFB7C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 DESIGN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64CBDB-F5C9-DA3F-1083-AF5BF350AEEE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8E392-E502-451D-E7B6-312FD8E67A8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8C7BC-926C-1EA8-0945-16584D6E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85968C73-E18C-9998-5413-33000618D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10C6FCA0-4C1B-1E41-54BA-CB2FB7E54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A1002113-216A-7052-477E-6A4F21327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FA3A29-9458-3ADD-5B58-39593A49F707}"/>
              </a:ext>
            </a:extLst>
          </p:cNvPr>
          <p:cNvSpPr txBox="1"/>
          <p:nvPr/>
        </p:nvSpPr>
        <p:spPr>
          <a:xfrm>
            <a:off x="826294" y="995645"/>
            <a:ext cx="877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Dashboard = collection of charts showing KPIs.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91C90-4665-5A3A-8B32-857B5E0D58DE}"/>
              </a:ext>
            </a:extLst>
          </p:cNvPr>
          <p:cNvSpPr txBox="1"/>
          <p:nvPr/>
        </p:nvSpPr>
        <p:spPr>
          <a:xfrm>
            <a:off x="826294" y="1509713"/>
            <a:ext cx="5269706" cy="2546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— </a:t>
            </a:r>
            <a:r>
              <a:rPr lang="en-US" b="1" dirty="0" err="1"/>
              <a:t>QuickBasket</a:t>
            </a:r>
            <a:r>
              <a:rPr lang="en-US" b="1" dirty="0"/>
              <a:t> Dashboard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Include: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Orders per day</a:t>
            </a:r>
            <a:br>
              <a:rPr lang="en-US" dirty="0"/>
            </a:br>
            <a:r>
              <a:rPr lang="en-US" dirty="0"/>
              <a:t>✔ Delivery time</a:t>
            </a:r>
            <a:br>
              <a:rPr lang="en-US" dirty="0"/>
            </a:br>
            <a:r>
              <a:rPr lang="en-US" dirty="0"/>
              <a:t>✔ Customer complaints</a:t>
            </a:r>
            <a:br>
              <a:rPr lang="en-US" dirty="0"/>
            </a:br>
            <a:r>
              <a:rPr lang="en-US" dirty="0"/>
              <a:t>✔ Revenue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1F4C82-CF60-C3C4-FFC0-964BFA49E69F}"/>
              </a:ext>
            </a:extLst>
          </p:cNvPr>
          <p:cNvSpPr txBox="1"/>
          <p:nvPr/>
        </p:nvSpPr>
        <p:spPr>
          <a:xfrm>
            <a:off x="817722" y="4381401"/>
            <a:ext cx="4640103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Layout  Tip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Top → KPIs</a:t>
            </a:r>
            <a:br>
              <a:rPr lang="en-US" dirty="0"/>
            </a:br>
            <a:r>
              <a:rPr lang="en-US" dirty="0"/>
              <a:t>Middle → Trends</a:t>
            </a:r>
            <a:br>
              <a:rPr lang="en-US" dirty="0"/>
            </a:br>
            <a:r>
              <a:rPr lang="en-US" dirty="0"/>
              <a:t>Bottom → Details</a:t>
            </a:r>
          </a:p>
        </p:txBody>
      </p:sp>
      <p:pic>
        <p:nvPicPr>
          <p:cNvPr id="9218" name="Picture 2" descr="Executive Dashboards: 7 Examples for CEOs &amp; Executives | Klipfolio">
            <a:extLst>
              <a:ext uri="{FF2B5EF4-FFF2-40B4-BE49-F238E27FC236}">
                <a16:creationId xmlns:a16="http://schemas.microsoft.com/office/drawing/2014/main" id="{FF216E44-3540-E512-EE03-B92957A90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355" y="1217532"/>
            <a:ext cx="5942489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110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EA7A-2D00-292B-ABC5-B0F4DD17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B756-DE1F-EC9F-8429-A257B93C4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STORYTELLING WITH DATA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4DE29-72D7-61CE-6EAF-157E8836BDC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B2297-7E70-C356-7027-CB86C5469354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82549-E399-B136-D80A-4DC9D568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68DA577-8F02-C8A9-A7BB-3B956F5D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8B5DB428-7559-F27B-A6D9-56569A2A1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PIs vs Metrics: Learn The Difference With Tips &amp; Examples">
            <a:extLst>
              <a:ext uri="{FF2B5EF4-FFF2-40B4-BE49-F238E27FC236}">
                <a16:creationId xmlns:a16="http://schemas.microsoft.com/office/drawing/2014/main" id="{2D1891DD-86D0-AB68-E927-033D7D833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510" y="8628734"/>
            <a:ext cx="3971239" cy="22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6874EB-275B-9DAB-1703-5697A9675068}"/>
              </a:ext>
            </a:extLst>
          </p:cNvPr>
          <p:cNvSpPr txBox="1"/>
          <p:nvPr/>
        </p:nvSpPr>
        <p:spPr>
          <a:xfrm>
            <a:off x="838200" y="956122"/>
            <a:ext cx="8778240" cy="5039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Charts alone are not enough.</a:t>
            </a:r>
          </a:p>
          <a:p>
            <a:pPr>
              <a:lnSpc>
                <a:spcPct val="150000"/>
              </a:lnSpc>
            </a:pPr>
            <a:r>
              <a:rPr lang="en-US" dirty="0"/>
              <a:t>BA must 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✔ What is happening</a:t>
            </a:r>
            <a:br>
              <a:rPr lang="en-US" dirty="0"/>
            </a:br>
            <a:r>
              <a:rPr lang="en-US" dirty="0"/>
              <a:t>✔ Why it matters</a:t>
            </a:r>
            <a:br>
              <a:rPr lang="en-US" dirty="0"/>
            </a:br>
            <a:r>
              <a:rPr lang="en-US" dirty="0"/>
              <a:t>✔ What action to take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Chart shows:</a:t>
            </a:r>
          </a:p>
          <a:p>
            <a:pPr>
              <a:lnSpc>
                <a:spcPct val="150000"/>
              </a:lnSpc>
            </a:pPr>
            <a:r>
              <a:rPr lang="en-US" dirty="0"/>
              <a:t>Delivery time increasing.</a:t>
            </a:r>
          </a:p>
          <a:p>
            <a:pPr>
              <a:lnSpc>
                <a:spcPct val="150000"/>
              </a:lnSpc>
            </a:pPr>
            <a:r>
              <a:rPr lang="en-US" dirty="0"/>
              <a:t>BA says:</a:t>
            </a:r>
          </a:p>
          <a:p>
            <a:pPr>
              <a:lnSpc>
                <a:spcPct val="150000"/>
              </a:lnSpc>
            </a:pPr>
            <a:r>
              <a:rPr lang="en-US" dirty="0"/>
              <a:t>👉 “Delays increased by 20% due to manual assignment — recommend automation.”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4AF8C-72F8-DD5E-51B8-ED45B7D9F770}"/>
              </a:ext>
            </a:extLst>
          </p:cNvPr>
          <p:cNvSpPr txBox="1"/>
          <p:nvPr/>
        </p:nvSpPr>
        <p:spPr>
          <a:xfrm>
            <a:off x="8371862" y="6193392"/>
            <a:ext cx="878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+ Story = Decision.</a:t>
            </a:r>
          </a:p>
        </p:txBody>
      </p:sp>
      <p:pic>
        <p:nvPicPr>
          <p:cNvPr id="10242" name="Picture 2" descr="Data Storytelling 101: A Beginner's Guide To Turning Insights Into Action">
            <a:extLst>
              <a:ext uri="{FF2B5EF4-FFF2-40B4-BE49-F238E27FC236}">
                <a16:creationId xmlns:a16="http://schemas.microsoft.com/office/drawing/2014/main" id="{D8E1EFA2-A673-7E6D-973E-6AD5A2517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661" y="1385947"/>
            <a:ext cx="8002926" cy="241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190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COMMON VISUALIZATION MISTAKES 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4A8893-4579-F8C2-464A-A73842263E30}"/>
              </a:ext>
            </a:extLst>
          </p:cNvPr>
          <p:cNvSpPr txBox="1"/>
          <p:nvPr/>
        </p:nvSpPr>
        <p:spPr>
          <a:xfrm>
            <a:off x="914400" y="1641455"/>
            <a:ext cx="6096000" cy="27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❌ Too many charts</a:t>
            </a:r>
            <a:br>
              <a:rPr lang="en-US" dirty="0"/>
            </a:br>
            <a:r>
              <a:rPr lang="en-US" dirty="0"/>
              <a:t>❌ Wrong chart type</a:t>
            </a:r>
            <a:br>
              <a:rPr lang="en-US" dirty="0"/>
            </a:br>
            <a:r>
              <a:rPr lang="en-US" dirty="0"/>
              <a:t>❌ No context</a:t>
            </a:r>
            <a:br>
              <a:rPr lang="en-US" dirty="0"/>
            </a:br>
            <a:r>
              <a:rPr lang="en-US" dirty="0"/>
              <a:t>❌ Overuse of colors</a:t>
            </a:r>
            <a:br>
              <a:rPr lang="en-US" dirty="0"/>
            </a:br>
            <a:r>
              <a:rPr lang="en-US" dirty="0"/>
              <a:t>❌ Ignoring audience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4E705-43AC-9692-5D77-DF5949BC0688}"/>
              </a:ext>
            </a:extLst>
          </p:cNvPr>
          <p:cNvSpPr txBox="1"/>
          <p:nvPr/>
        </p:nvSpPr>
        <p:spPr>
          <a:xfrm>
            <a:off x="3569232" y="5497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Bad dashboards confuse stakeholders.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900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TOOLS INTRODUCTION – NEXT CLASS | PRACTICAL IMPLEMENTATION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4A8893-4579-F8C2-464A-A73842263E30}"/>
              </a:ext>
            </a:extLst>
          </p:cNvPr>
          <p:cNvSpPr txBox="1"/>
          <p:nvPr/>
        </p:nvSpPr>
        <p:spPr>
          <a:xfrm>
            <a:off x="914400" y="1098009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🟢 Excel</a:t>
            </a:r>
          </a:p>
          <a:p>
            <a:r>
              <a:rPr lang="en-US" dirty="0"/>
              <a:t>Basic charts</a:t>
            </a:r>
            <a:br>
              <a:rPr lang="en-US" dirty="0"/>
            </a:br>
            <a:r>
              <a:rPr lang="en-US" dirty="0"/>
              <a:t>Good for beginners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🔵 Power BI</a:t>
            </a:r>
          </a:p>
          <a:p>
            <a:r>
              <a:rPr lang="en-US" dirty="0"/>
              <a:t>Interactive dashboards</a:t>
            </a:r>
            <a:br>
              <a:rPr lang="en-US" dirty="0"/>
            </a:br>
            <a:r>
              <a:rPr lang="en-US" dirty="0"/>
              <a:t>Used in industry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🟣 Tableau</a:t>
            </a:r>
          </a:p>
          <a:p>
            <a:r>
              <a:rPr lang="en-US" dirty="0"/>
              <a:t>Advanced visualization</a:t>
            </a:r>
            <a:br>
              <a:rPr lang="en-US" dirty="0"/>
            </a:br>
            <a:r>
              <a:rPr lang="en-US" dirty="0"/>
              <a:t>Used globally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90D44-8291-1AAB-62A1-87E50702BCE2}"/>
              </a:ext>
            </a:extLst>
          </p:cNvPr>
          <p:cNvSpPr txBox="1"/>
          <p:nvPr/>
        </p:nvSpPr>
        <p:spPr>
          <a:xfrm>
            <a:off x="821532" y="5492360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don’t need tool mastery — focus on thinking.</a:t>
            </a:r>
          </a:p>
        </p:txBody>
      </p:sp>
    </p:spTree>
    <p:extLst>
      <p:ext uri="{BB962C8B-B14F-4D97-AF65-F5344CB8AC3E}">
        <p14:creationId xmlns:p14="http://schemas.microsoft.com/office/powerpoint/2010/main" val="3382237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64C8-6440-5A01-F04D-E78ABE22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6B66-70B3-0FBB-1892-D05FB025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KEY TAKEAWAYS (END OF LECTURE)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B498F-9F7A-98AE-83E3-CD726D42CB34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E770F-B141-2FFE-CF34-1591BBE9C8C6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E02EC-5786-13B9-592E-DB8221BF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636CEFE-3791-AF03-C195-40C44B8CF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EE15C0-14A7-7519-9C33-D9D98FFF3424}"/>
              </a:ext>
            </a:extLst>
          </p:cNvPr>
          <p:cNvSpPr txBox="1"/>
          <p:nvPr/>
        </p:nvSpPr>
        <p:spPr>
          <a:xfrm>
            <a:off x="826294" y="1401095"/>
            <a:ext cx="8317706" cy="2234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✔ Visualization simplifies complex data</a:t>
            </a:r>
            <a:br>
              <a:rPr lang="en-US" dirty="0"/>
            </a:br>
            <a:r>
              <a:rPr lang="en-US" dirty="0"/>
              <a:t>✔ Right chart = correct understanding</a:t>
            </a:r>
            <a:br>
              <a:rPr lang="en-US" dirty="0"/>
            </a:br>
            <a:r>
              <a:rPr lang="en-US" dirty="0"/>
              <a:t>✔ Dashboards drive decisions</a:t>
            </a:r>
            <a:br>
              <a:rPr lang="en-US" dirty="0"/>
            </a:br>
            <a:r>
              <a:rPr lang="en-US" dirty="0"/>
              <a:t>✔ BA role = interpret + communicate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527B3-54DC-F91F-9A59-93169C7F62F4}"/>
              </a:ext>
            </a:extLst>
          </p:cNvPr>
          <p:cNvSpPr txBox="1"/>
          <p:nvPr/>
        </p:nvSpPr>
        <p:spPr>
          <a:xfrm>
            <a:off x="7085012" y="5615582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👉 “Where does a Business Analyst add value?”</a:t>
            </a:r>
          </a:p>
          <a:p>
            <a:pPr>
              <a:buNone/>
            </a:pPr>
            <a:r>
              <a:rPr lang="en-US" dirty="0"/>
              <a:t>Answer:</a:t>
            </a:r>
          </a:p>
          <a:p>
            <a:pPr>
              <a:buNone/>
            </a:pPr>
            <a:r>
              <a:rPr lang="en-US" dirty="0"/>
              <a:t>👉 Insight + Decision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CFDCF59-7B69-3EFF-30A9-CCBB0DAE4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4058895"/>
            <a:ext cx="6407523" cy="128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“Many dashboards fail because they show data, not insight.”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chart without explanation is just decoration.”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“Executives don’t need more data — they need clarity.”</a:t>
            </a:r>
          </a:p>
        </p:txBody>
      </p:sp>
    </p:spTree>
    <p:extLst>
      <p:ext uri="{BB962C8B-B14F-4D97-AF65-F5344CB8AC3E}">
        <p14:creationId xmlns:p14="http://schemas.microsoft.com/office/powerpoint/2010/main" val="1751418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29855</TotalTime>
  <Words>802</Words>
  <Application>Microsoft Macintosh PowerPoint</Application>
  <PresentationFormat>Widescreen</PresentationFormat>
  <Paragraphs>180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11 </vt:lpstr>
      <vt:lpstr>Previous Week - 10 </vt:lpstr>
      <vt:lpstr>WHAT IS DATA VISUALIZATION?</vt:lpstr>
      <vt:lpstr>WHY VISUALIZATION MATTERS (INDUSTRY REALITY)</vt:lpstr>
      <vt:lpstr>TYPES OF CHARTS</vt:lpstr>
      <vt:lpstr>TYPES OF CHARTS</vt:lpstr>
      <vt:lpstr>TYPES OF CHARTS</vt:lpstr>
      <vt:lpstr>VISUALIZATION PRINCIPLES</vt:lpstr>
      <vt:lpstr>VISUALIZATION PRINCIPLES</vt:lpstr>
      <vt:lpstr>DASHBOARD DESIGN</vt:lpstr>
      <vt:lpstr>STORYTELLING WITH DATA </vt:lpstr>
      <vt:lpstr>COMMON VISUALIZATION MISTAKES </vt:lpstr>
      <vt:lpstr>TOOLS INTRODUCTION – NEXT CLASS | PRACTICAL IMPLEMENTATION</vt:lpstr>
      <vt:lpstr>KEY TAKEAWAYS (END OF LECTURE)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173</cp:revision>
  <dcterms:created xsi:type="dcterms:W3CDTF">2024-06-09T07:08:43Z</dcterms:created>
  <dcterms:modified xsi:type="dcterms:W3CDTF">2026-04-03T05:42:00Z</dcterms:modified>
</cp:coreProperties>
</file>