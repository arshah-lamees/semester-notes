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22"/>
  </p:notesMasterIdLst>
  <p:sldIdLst>
    <p:sldId id="256" r:id="rId2"/>
    <p:sldId id="345" r:id="rId3"/>
    <p:sldId id="357" r:id="rId4"/>
    <p:sldId id="378" r:id="rId5"/>
    <p:sldId id="347" r:id="rId6"/>
    <p:sldId id="373" r:id="rId7"/>
    <p:sldId id="380" r:id="rId8"/>
    <p:sldId id="360" r:id="rId9"/>
    <p:sldId id="375" r:id="rId10"/>
    <p:sldId id="371" r:id="rId11"/>
    <p:sldId id="374" r:id="rId12"/>
    <p:sldId id="363" r:id="rId13"/>
    <p:sldId id="381" r:id="rId14"/>
    <p:sldId id="376" r:id="rId15"/>
    <p:sldId id="377" r:id="rId16"/>
    <p:sldId id="364" r:id="rId17"/>
    <p:sldId id="365" r:id="rId18"/>
    <p:sldId id="370" r:id="rId19"/>
    <p:sldId id="372" r:id="rId20"/>
    <p:sldId id="379" r:id="rId2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feeza Iqbal" initials="MI" lastIdx="1" clrIdx="0">
    <p:extLst>
      <p:ext uri="{19B8F6BF-5375-455C-9EA6-DF929625EA0E}">
        <p15:presenceInfo xmlns:p15="http://schemas.microsoft.com/office/powerpoint/2012/main" userId="Mufeeza Iqb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75C4"/>
    <a:srgbClr val="D4E5F7"/>
    <a:srgbClr val="E3EEFD"/>
    <a:srgbClr val="BAE2D1"/>
    <a:srgbClr val="ECF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130" autoAdjust="0"/>
    <p:restoredTop sz="94600"/>
  </p:normalViewPr>
  <p:slideViewPr>
    <p:cSldViewPr snapToGrid="0">
      <p:cViewPr varScale="1">
        <p:scale>
          <a:sx n="96" d="100"/>
          <a:sy n="96" d="100"/>
        </p:scale>
        <p:origin x="17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iz Ali" userId="f5d92abebf1a8182" providerId="LiveId" clId="{1D29D2DF-8AFD-5E4B-B438-1B9FE838644C}"/>
    <pc:docChg chg="modSld">
      <pc:chgData name="Moiz Ali" userId="f5d92abebf1a8182" providerId="LiveId" clId="{1D29D2DF-8AFD-5E4B-B438-1B9FE838644C}" dt="2026-03-28T10:40:19.181" v="10" actId="20577"/>
      <pc:docMkLst>
        <pc:docMk/>
      </pc:docMkLst>
      <pc:sldChg chg="modNotesTx">
        <pc:chgData name="Moiz Ali" userId="f5d92abebf1a8182" providerId="LiveId" clId="{1D29D2DF-8AFD-5E4B-B438-1B9FE838644C}" dt="2026-03-28T10:39:45.688" v="2" actId="20577"/>
        <pc:sldMkLst>
          <pc:docMk/>
          <pc:sldMk cId="3706582229" sldId="347"/>
        </pc:sldMkLst>
      </pc:sldChg>
      <pc:sldChg chg="modNotesTx">
        <pc:chgData name="Moiz Ali" userId="f5d92abebf1a8182" providerId="LiveId" clId="{1D29D2DF-8AFD-5E4B-B438-1B9FE838644C}" dt="2026-03-28T10:39:38.957" v="0" actId="20577"/>
        <pc:sldMkLst>
          <pc:docMk/>
          <pc:sldMk cId="1620906448" sldId="357"/>
        </pc:sldMkLst>
      </pc:sldChg>
      <pc:sldChg chg="modNotesTx">
        <pc:chgData name="Moiz Ali" userId="f5d92abebf1a8182" providerId="LiveId" clId="{1D29D2DF-8AFD-5E4B-B438-1B9FE838644C}" dt="2026-03-28T10:39:51.525" v="3" actId="20577"/>
        <pc:sldMkLst>
          <pc:docMk/>
          <pc:sldMk cId="21022313" sldId="360"/>
        </pc:sldMkLst>
      </pc:sldChg>
      <pc:sldChg chg="modNotesTx">
        <pc:chgData name="Moiz Ali" userId="f5d92abebf1a8182" providerId="LiveId" clId="{1D29D2DF-8AFD-5E4B-B438-1B9FE838644C}" dt="2026-03-28T10:40:06.250" v="7" actId="20577"/>
        <pc:sldMkLst>
          <pc:docMk/>
          <pc:sldMk cId="1428968341" sldId="363"/>
        </pc:sldMkLst>
      </pc:sldChg>
      <pc:sldChg chg="modNotesTx">
        <pc:chgData name="Moiz Ali" userId="f5d92abebf1a8182" providerId="LiveId" clId="{1D29D2DF-8AFD-5E4B-B438-1B9FE838644C}" dt="2026-03-28T10:40:19.181" v="10" actId="20577"/>
        <pc:sldMkLst>
          <pc:docMk/>
          <pc:sldMk cId="962672365" sldId="365"/>
        </pc:sldMkLst>
      </pc:sldChg>
      <pc:sldChg chg="modNotesTx">
        <pc:chgData name="Moiz Ali" userId="f5d92abebf1a8182" providerId="LiveId" clId="{1D29D2DF-8AFD-5E4B-B438-1B9FE838644C}" dt="2026-03-28T10:39:59.607" v="5" actId="20577"/>
        <pc:sldMkLst>
          <pc:docMk/>
          <pc:sldMk cId="2516336401" sldId="371"/>
        </pc:sldMkLst>
      </pc:sldChg>
      <pc:sldChg chg="modNotesTx">
        <pc:chgData name="Moiz Ali" userId="f5d92abebf1a8182" providerId="LiveId" clId="{1D29D2DF-8AFD-5E4B-B438-1B9FE838644C}" dt="2026-03-28T10:40:02.904" v="6" actId="20577"/>
        <pc:sldMkLst>
          <pc:docMk/>
          <pc:sldMk cId="1572805326" sldId="374"/>
        </pc:sldMkLst>
      </pc:sldChg>
      <pc:sldChg chg="modNotesTx">
        <pc:chgData name="Moiz Ali" userId="f5d92abebf1a8182" providerId="LiveId" clId="{1D29D2DF-8AFD-5E4B-B438-1B9FE838644C}" dt="2026-03-28T10:39:55.013" v="4" actId="20577"/>
        <pc:sldMkLst>
          <pc:docMk/>
          <pc:sldMk cId="1083492549" sldId="375"/>
        </pc:sldMkLst>
      </pc:sldChg>
      <pc:sldChg chg="modNotesTx">
        <pc:chgData name="Moiz Ali" userId="f5d92abebf1a8182" providerId="LiveId" clId="{1D29D2DF-8AFD-5E4B-B438-1B9FE838644C}" dt="2026-03-28T10:40:11.187" v="8" actId="20577"/>
        <pc:sldMkLst>
          <pc:docMk/>
          <pc:sldMk cId="3079172236" sldId="376"/>
        </pc:sldMkLst>
      </pc:sldChg>
      <pc:sldChg chg="modNotesTx">
        <pc:chgData name="Moiz Ali" userId="f5d92abebf1a8182" providerId="LiveId" clId="{1D29D2DF-8AFD-5E4B-B438-1B9FE838644C}" dt="2026-03-28T10:40:13.750" v="9" actId="20577"/>
        <pc:sldMkLst>
          <pc:docMk/>
          <pc:sldMk cId="1786454272" sldId="377"/>
        </pc:sldMkLst>
      </pc:sldChg>
      <pc:sldChg chg="modNotesTx">
        <pc:chgData name="Moiz Ali" userId="f5d92abebf1a8182" providerId="LiveId" clId="{1D29D2DF-8AFD-5E4B-B438-1B9FE838644C}" dt="2026-03-28T10:39:42.302" v="1" actId="20577"/>
        <pc:sldMkLst>
          <pc:docMk/>
          <pc:sldMk cId="2610224108" sldId="3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A3216-91D5-43D0-B205-F0CBF00F2A3B}" type="datetimeFigureOut">
              <a:rPr lang="en-PK" smtClean="0"/>
              <a:t>3/28/26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8AE2D-6C56-4B4B-AC93-0FCEBED5A4D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2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57991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FC071-FF6B-E774-A164-C0D3DBEF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000D6C-69C2-7D9C-EECD-CFA5D6418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90DC0-DB99-9287-8F2F-AAD5A0777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E973C-2B2E-DA13-F792-BC5D70B84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6999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41120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25630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64680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945131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532402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50961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15383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71941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900755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13346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70965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857897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4ADB5-D400-C10A-7485-C57254650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D783C-7B7F-4F5B-E02A-E0571898DD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49733-4A4D-827E-A60A-BA8D9456D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E9B28-831C-9E35-AA9B-05C8D8A75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20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3235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92AE-3475-5519-9CD2-B3813CA2A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BC997-4B8A-9709-FA3F-2812ED29E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DD1C2-A443-3425-F1A3-450EEF2D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BE24-4914-473D-86E2-D4EE0B0E90C7}" type="datetime8">
              <a:rPr lang="en-PK" smtClean="0"/>
              <a:t>3/28/26 3:39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E2A3E-9208-EDCE-DEBB-4D933736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EF72C-8D9E-F888-7543-7E09C4BF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70094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9ADE-7B08-A01C-72DF-FE9993CE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07FC3-A55A-4A8D-FCDC-D328082DE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EBE8E-9BB1-B225-5B4C-55AEA4E7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F77-D47F-4BB1-86E4-5F455460BD9C}" type="datetime8">
              <a:rPr lang="en-PK" smtClean="0"/>
              <a:t>3/28/26 3:39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AE679-F999-E1F9-0F77-DEA6D713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7F485-BD67-E327-64C3-D7E71B9E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0424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EA042-DF09-56BB-8638-29DBAD38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508DB-FFA7-6D03-67FA-3EF149A1B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4BE1E-EE08-ACCC-1271-2F5E25CAF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1A5AA-2A6E-43F2-9F30-AF7EED5FA600}" type="datetime8">
              <a:rPr lang="en-PK" smtClean="0"/>
              <a:t>3/28/26 3:39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9D85B-5C96-E835-D822-93C86F783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899E9-E472-DD15-F881-20043647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10372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7FCC-3AE3-0214-F9D4-FCB15D61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7161E-F706-1674-13DB-BACD47231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A0A05-46B6-960E-7368-B2CE54CC3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39986-E720-F1B7-36F9-B2708004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E2CB0-8F81-407D-9308-759F0E533D95}" type="datetime8">
              <a:rPr lang="en-PK" smtClean="0"/>
              <a:t>3/28/26 3:39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C3A9C-BA81-3B68-288D-EB7FD47F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AEAC4-C699-2232-BD98-7252DC5E1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0624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4A8C3-75DD-1313-ABA5-5D3FFA02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7D5B1-50C2-CF91-9D88-610914E27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5284C-0315-C6F1-CA04-F3E219D15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47C534-C2F2-A37B-C431-9DF8A42B3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A4DAB-49CA-2EFC-9842-564884678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4688EE-799F-3F23-A121-4F674361A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FBD63-32C8-45D6-BE9D-408F278BE9C8}" type="datetime8">
              <a:rPr lang="en-PK" smtClean="0"/>
              <a:t>3/28/26 3:39 PM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4848C-55D2-9A77-36F1-FAD52DCB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5D59BD-56E3-4753-6C9F-3B1F4CE0B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30308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C4B4-FA75-C85D-E743-3DB6E5DB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F645E-1294-7708-0DA4-EDA61782F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7C61-2664-45A8-9CA0-D9D546B35364}" type="datetime8">
              <a:rPr lang="en-PK" smtClean="0"/>
              <a:t>3/28/26 3:39 PM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9AFA9-8467-3A28-7BFF-CA12EF3C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24441-1E31-6A33-D8E8-781D599AD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2362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7448-39E8-68A0-B712-84409BF4E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43484-DEAD-0EB1-DC5F-24E6FD4BA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78C6A-94B1-48CD-B95C-7BBCF06B539F}" type="datetime8">
              <a:rPr lang="en-PK" smtClean="0"/>
              <a:t>3/28/26 3:39 PM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F8FE36-0300-3AD8-5E95-41E333E1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C0281-9CE6-90B4-45F9-D9D954D1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40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053CB-8CBB-A3DD-2AD9-1CA378510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21173-6A64-ACDD-90B1-F466FBD62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11703-8264-01ED-8E5E-06DFA98EE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25018-0F9D-E6A7-30D4-FA1B94922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20F-E5D6-45BD-ABE4-D3E73AEC1059}" type="datetime8">
              <a:rPr lang="en-PK" smtClean="0"/>
              <a:t>3/28/26 3:39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345B6-DE39-4DE7-B63A-020AA0C25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7E181-66A9-8AF7-8FC6-FD18E177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1884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E283-232A-203F-BE7E-C1FAB189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344E88-2CB0-6548-1689-37B5CD1D8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45364-9FD1-5237-6F05-3CD9FF28E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0F029-9EDC-16AD-E233-F7215386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6677-69CF-4F57-B961-69869666485F}" type="datetime8">
              <a:rPr lang="en-PK" smtClean="0"/>
              <a:t>3/28/26 3:39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EAD10-9813-FA15-7AA3-F311C151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93DEC-A834-573B-8137-57A252A1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392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B6A8F-48A0-C1A4-C992-787E5B87A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5B7C4-4FCF-3883-BC91-FDBC338D9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4F67A-FCF1-D4E4-E162-793DEACCA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B392-8D81-42DB-9470-C0982980A208}" type="datetime8">
              <a:rPr lang="en-PK" smtClean="0"/>
              <a:t>3/28/26 3:39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6A201-A7CA-71B8-8718-9897B03FE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A3F33-5AA9-E112-2ABF-79F54788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2684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D59074-43DC-F3A1-F847-B382DA998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3AC57-AF5B-EC7C-207D-DD8781393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5FF8A-8F6C-7460-66BD-36FE94B2C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CE2D-4511-4580-808C-44E58A6F6871}" type="datetime8">
              <a:rPr lang="en-PK" smtClean="0"/>
              <a:t>3/28/26 3:39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E7764-4D16-A8A5-2DA2-548355B8B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DCA92-473C-706D-5019-016D87F1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9802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FF33B-CB98-4E49-F470-FDEB20A1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5A451-6F13-E99E-AA74-118FE0705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D6080-894B-699D-C377-9FCB24BB4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247E1-80FA-4B68-AED4-FB0D556219B2}" type="datetime8">
              <a:rPr lang="en-PK" smtClean="0"/>
              <a:t>3/28/26 3:39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F34FF-7C89-DFB6-0D18-88EA7A4B3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08851-096B-57D1-721E-52D426BA6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6824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D80B44-5D51-DEB9-139E-D6588E08DCEE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A358E0-F332-E7D0-E6FF-67C0C524EC5E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C7347E-773E-501C-BBCD-F143B41F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C0E69E7-0624-E377-FC31-A9DAAD9B9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Blue Abstract Data Analysis Technology Background, Blue, Abstract ...">
            <a:extLst>
              <a:ext uri="{FF2B5EF4-FFF2-40B4-BE49-F238E27FC236}">
                <a16:creationId xmlns:a16="http://schemas.microsoft.com/office/drawing/2014/main" id="{AE2E633B-B89B-2AD6-B235-B52FC21A3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2192001" cy="685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15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8744-A704-1C59-1304-02055AF7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E56C57-21E3-F72F-1B57-E9FD05DDB415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D03E08-0EA6-164B-E5C0-0ABD98254645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9F7046-524C-B6E2-F233-6AA93275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15E161C-5FF5-7252-A206-A10477B0B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4FA3E7AE-A2AD-D117-25F2-EA3F62B70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006" y="687984"/>
            <a:ext cx="9144000" cy="29972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BUSINESS ANALYTICS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Introduction to Business Analytics and Core Business Functions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5E0D16E-2E56-B97C-A39A-BD2DC36A3359}"/>
              </a:ext>
            </a:extLst>
          </p:cNvPr>
          <p:cNvSpPr txBox="1">
            <a:spLocks/>
          </p:cNvSpPr>
          <p:nvPr/>
        </p:nvSpPr>
        <p:spPr>
          <a:xfrm>
            <a:off x="964406" y="840384"/>
            <a:ext cx="9144000" cy="23281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BUSINESS ANALYSIS</a:t>
            </a:r>
            <a:br>
              <a:rPr lang="en-US" dirty="0"/>
            </a:br>
            <a:br>
              <a:rPr lang="en-US" dirty="0"/>
            </a:br>
            <a:r>
              <a:rPr lang="en-US" sz="4000" dirty="0"/>
              <a:t>Requirements Documentation</a:t>
            </a:r>
            <a:endParaRPr lang="en-PK" dirty="0"/>
          </a:p>
        </p:txBody>
      </p:sp>
      <p:pic>
        <p:nvPicPr>
          <p:cNvPr id="5" name="Picture 4" descr="3d Analyst Working On Business Analytics Dashboard With Kpi ...">
            <a:extLst>
              <a:ext uri="{FF2B5EF4-FFF2-40B4-BE49-F238E27FC236}">
                <a16:creationId xmlns:a16="http://schemas.microsoft.com/office/drawing/2014/main" id="{55A10BB7-3531-CC3A-305B-1101C4343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856" y="2949575"/>
            <a:ext cx="37719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18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1F9-C6FD-1E39-BD7F-93E026F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Learning Objectives – WEEK 6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CCE4D-95E9-6FB6-ED27-6AA4627A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64121"/>
            <a:ext cx="10515600" cy="445043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By the end of today you should be able to: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Understand WHY documentation is critical in projects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Differentiate BRD vs SRS vs Agile User Stories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Write basic Use Cases and Acceptance Criteria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Understand Requirement Traceability Matrix (RTM)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Think like an industry Business Analyst</a:t>
            </a:r>
            <a:endParaRPr lang="en-US" sz="2000" dirty="0"/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906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70096-BF95-42CB-993F-D2E1C6607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1A40F-95FB-FE1C-5BCB-0C7DDC3F9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LCLO – WEEK 5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57CE-E28F-9978-E491-D523A77FD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19200"/>
            <a:ext cx="10515600" cy="391100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Last week we learned </a:t>
            </a:r>
            <a:r>
              <a:rPr lang="en-US" sz="2400" b="1" dirty="0"/>
              <a:t>Requirements Elicitation</a:t>
            </a:r>
            <a:r>
              <a:rPr lang="en-US" sz="2400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✔ Interviews</a:t>
            </a:r>
            <a:br>
              <a:rPr lang="en-US" sz="2400" dirty="0"/>
            </a:br>
            <a:r>
              <a:rPr lang="en-US" sz="2400" dirty="0"/>
              <a:t>✔ Workshops</a:t>
            </a:r>
            <a:br>
              <a:rPr lang="en-US" sz="2400" dirty="0"/>
            </a:br>
            <a:r>
              <a:rPr lang="en-US" sz="2400" dirty="0"/>
              <a:t>✔ Observation</a:t>
            </a:r>
            <a:br>
              <a:rPr lang="en-US" sz="2400" dirty="0"/>
            </a:br>
            <a:r>
              <a:rPr lang="en-US" sz="2400" dirty="0"/>
              <a:t>✔ Brainstorming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👉 Today we convert that information into </a:t>
            </a:r>
            <a:r>
              <a:rPr lang="en-US" sz="2400" b="1" dirty="0"/>
              <a:t>structured artefacts</a:t>
            </a:r>
            <a:r>
              <a:rPr lang="en-US" sz="2400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12ED64-C4B3-8B44-35E9-930802228A9C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E142C0-FBF2-9430-2FAD-0508C1AAE1D8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B87C5-69FD-7125-AF96-046373EC6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BA5CBEE0-AD56-C049-17CF-2BA4EFEE1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0224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968797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WHY DOCUMENTATION MATTERS?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b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8C3F083-5B72-BE63-E45D-8F41FAB92FF8}"/>
              </a:ext>
            </a:extLst>
          </p:cNvPr>
          <p:cNvSpPr txBox="1"/>
          <p:nvPr/>
        </p:nvSpPr>
        <p:spPr>
          <a:xfrm>
            <a:off x="579226" y="4460441"/>
            <a:ext cx="5005388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Fintech project:</a:t>
            </a:r>
          </a:p>
          <a:p>
            <a:pPr>
              <a:lnSpc>
                <a:spcPct val="150000"/>
              </a:lnSpc>
            </a:pPr>
            <a:r>
              <a:rPr lang="en-US" dirty="0"/>
              <a:t>Client gives feature verbally → Dev builds → Client rejects.</a:t>
            </a:r>
          </a:p>
          <a:p>
            <a:r>
              <a:rPr lang="en-US" u="sng" dirty="0"/>
              <a:t>Reason:</a:t>
            </a:r>
            <a:br>
              <a:rPr lang="en-US" dirty="0"/>
            </a:br>
            <a:r>
              <a:rPr lang="en-US" dirty="0"/>
              <a:t>“No acceptance criteria = no shared definition of success.”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A28215-F4C2-35C9-E86D-99E8392CB737}"/>
              </a:ext>
            </a:extLst>
          </p:cNvPr>
          <p:cNvSpPr txBox="1"/>
          <p:nvPr/>
        </p:nvSpPr>
        <p:spPr>
          <a:xfrm>
            <a:off x="6505730" y="4491677"/>
            <a:ext cx="5674363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Airbnb</a:t>
            </a:r>
            <a:r>
              <a:rPr lang="en-US" dirty="0"/>
              <a:t> feature backlog uses user stories with acceptance criteria → global teams align easily.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675878-34E3-A9ED-860C-73097E6B4DA3}"/>
              </a:ext>
            </a:extLst>
          </p:cNvPr>
          <p:cNvSpPr txBox="1"/>
          <p:nvPr/>
        </p:nvSpPr>
        <p:spPr>
          <a:xfrm>
            <a:off x="4008369" y="392607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Example</a:t>
            </a:r>
            <a:endParaRPr lang="en-PK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CA18E1-6B61-EAAC-8172-FC7D647DFA38}"/>
              </a:ext>
            </a:extLst>
          </p:cNvPr>
          <p:cNvSpPr txBox="1"/>
          <p:nvPr/>
        </p:nvSpPr>
        <p:spPr>
          <a:xfrm>
            <a:off x="826294" y="1609157"/>
            <a:ext cx="4511250" cy="1715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In real projects: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❌ Verbal agreements cause scope conflict</a:t>
            </a:r>
            <a:br>
              <a:rPr lang="en-US" dirty="0"/>
            </a:br>
            <a:r>
              <a:rPr lang="en-US" dirty="0"/>
              <a:t>❌ Developers interpret differently</a:t>
            </a:r>
            <a:br>
              <a:rPr lang="en-US" dirty="0"/>
            </a:br>
            <a:r>
              <a:rPr lang="en-US" dirty="0"/>
              <a:t>❌ QA doesn’t know expected behavior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43B0AA-779D-0050-D5DA-EFDEC52046A8}"/>
              </a:ext>
            </a:extLst>
          </p:cNvPr>
          <p:cNvSpPr txBox="1"/>
          <p:nvPr/>
        </p:nvSpPr>
        <p:spPr>
          <a:xfrm>
            <a:off x="5787657" y="1609156"/>
            <a:ext cx="6103088" cy="1715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Documentation ensures: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✔ Alignment</a:t>
            </a:r>
            <a:br>
              <a:rPr lang="en-US" dirty="0"/>
            </a:br>
            <a:r>
              <a:rPr lang="en-US" dirty="0"/>
              <a:t>✔ Accountability</a:t>
            </a:r>
            <a:br>
              <a:rPr lang="en-US" dirty="0"/>
            </a:br>
            <a:r>
              <a:rPr lang="en-US" dirty="0"/>
              <a:t>✔ Traceability</a:t>
            </a:r>
          </a:p>
        </p:txBody>
      </p:sp>
    </p:spTree>
    <p:extLst>
      <p:ext uri="{BB962C8B-B14F-4D97-AF65-F5344CB8AC3E}">
        <p14:creationId xmlns:p14="http://schemas.microsoft.com/office/powerpoint/2010/main" val="3706582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How to Document a Process">
            <a:extLst>
              <a:ext uri="{FF2B5EF4-FFF2-40B4-BE49-F238E27FC236}">
                <a16:creationId xmlns:a16="http://schemas.microsoft.com/office/drawing/2014/main" id="{AB1B9F1F-7535-6ABB-BBD5-8E4D42577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692" y="1021739"/>
            <a:ext cx="6491406" cy="569824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7594AAC-6D2F-E4C4-225B-04E830DEB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110" y="238125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HOW TO DOCUMENT A PROCESS - EXAMPLE</a:t>
            </a: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91163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881ED-5AB7-D1D8-696C-49DE99792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09578A-24AF-CDE4-32C8-05D655005B2C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C80662-3DD4-73BE-72FE-394D644008AF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0D418-DA6F-FB05-495B-467A39949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7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B73BDC02-E4B9-CB75-6A6C-9C6EC6AD8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BFF40B2-1950-F84A-AD46-47E66DA58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110" y="238125"/>
            <a:ext cx="10515600" cy="84765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WORKFLOW DOCUMENTTAION AS BA - EXAMPLE</a:t>
            </a: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12" name="Picture 11" descr="What is workflow Documentation? How and Why to document your workflows">
            <a:extLst>
              <a:ext uri="{FF2B5EF4-FFF2-40B4-BE49-F238E27FC236}">
                <a16:creationId xmlns:a16="http://schemas.microsoft.com/office/drawing/2014/main" id="{08F64410-C54C-298A-CD02-69B653E30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110" y="1996815"/>
            <a:ext cx="10741388" cy="286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456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BRD — Business Requirement Document</a:t>
            </a:r>
            <a:br>
              <a:rPr lang="en-US" b="1" dirty="0"/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8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9D1DBD-1041-69DF-2B96-A629B0C335A3}"/>
              </a:ext>
            </a:extLst>
          </p:cNvPr>
          <p:cNvSpPr txBox="1"/>
          <p:nvPr/>
        </p:nvSpPr>
        <p:spPr>
          <a:xfrm>
            <a:off x="890588" y="1423890"/>
            <a:ext cx="46701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Purpose</a:t>
            </a:r>
          </a:p>
          <a:p>
            <a:r>
              <a:rPr lang="en-US" dirty="0"/>
              <a:t>High-level view of:</a:t>
            </a:r>
          </a:p>
          <a:p>
            <a:r>
              <a:rPr lang="en-US" dirty="0"/>
              <a:t>Business goals</a:t>
            </a:r>
          </a:p>
          <a:p>
            <a:r>
              <a:rPr lang="en-US" dirty="0"/>
              <a:t>Stakeholders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Scope</a:t>
            </a:r>
          </a:p>
          <a:p>
            <a:endParaRPr lang="en-US" dirty="0"/>
          </a:p>
          <a:p>
            <a:r>
              <a:rPr lang="en-US" b="1" dirty="0"/>
              <a:t>Audience:</a:t>
            </a:r>
          </a:p>
          <a:p>
            <a:r>
              <a:rPr lang="en-US" dirty="0"/>
              <a:t>✔ Executives</a:t>
            </a:r>
            <a:br>
              <a:rPr lang="en-US" dirty="0"/>
            </a:br>
            <a:r>
              <a:rPr lang="en-US" dirty="0"/>
              <a:t>✔ Product owners</a:t>
            </a:r>
            <a:br>
              <a:rPr lang="en-US" dirty="0"/>
            </a:br>
            <a:r>
              <a:rPr lang="en-US" dirty="0"/>
              <a:t>✔ Clients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0C9FD2-E73A-B750-F841-59D0E0FFC7DB}"/>
              </a:ext>
            </a:extLst>
          </p:cNvPr>
          <p:cNvSpPr txBox="1"/>
          <p:nvPr/>
        </p:nvSpPr>
        <p:spPr>
          <a:xfrm>
            <a:off x="785812" y="4574359"/>
            <a:ext cx="6438274" cy="1988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Daraz</a:t>
            </a:r>
            <a:r>
              <a:rPr lang="en-US" b="1" dirty="0"/>
              <a:t> Checkout Optimization - Example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BRD Contains: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Goal: Increase conversion rate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Problem: Cart abandonment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KPI: Reduce drop-off by 20%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63AA17-80ED-2E16-4921-D2487814A6EE}"/>
              </a:ext>
            </a:extLst>
          </p:cNvPr>
          <p:cNvSpPr txBox="1"/>
          <p:nvPr/>
        </p:nvSpPr>
        <p:spPr>
          <a:xfrm>
            <a:off x="8250914" y="5891768"/>
            <a:ext cx="61009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“BRD answers WHY — not HOW.”</a:t>
            </a:r>
          </a:p>
        </p:txBody>
      </p:sp>
      <p:pic>
        <p:nvPicPr>
          <p:cNvPr id="13" name="Picture 12" descr="Business Requirements Document: Tips &amp; Templates | Responsive">
            <a:extLst>
              <a:ext uri="{FF2B5EF4-FFF2-40B4-BE49-F238E27FC236}">
                <a16:creationId xmlns:a16="http://schemas.microsoft.com/office/drawing/2014/main" id="{A6F6112F-271A-CAFF-F556-E3BE147AC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914" y="1336585"/>
            <a:ext cx="2821304" cy="423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SRS — SOFTWARE REQUIREMENT SPECIFICATION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br>
              <a:rPr lang="en-US" b="1" dirty="0"/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9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F97CAE00-7E89-9236-47DF-AAEBA50EA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2" y="932451"/>
            <a:ext cx="5085080" cy="296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SRS translates business needs into </a:t>
            </a:r>
            <a:r>
              <a:rPr lang="en-US" b="1" dirty="0"/>
              <a:t>technical behavior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Includes:</a:t>
            </a:r>
          </a:p>
          <a:p>
            <a:pPr>
              <a:lnSpc>
                <a:spcPct val="150000"/>
              </a:lnSpc>
            </a:pPr>
            <a:r>
              <a:rPr lang="en-US" dirty="0"/>
              <a:t>✔ Functional requirements</a:t>
            </a:r>
            <a:br>
              <a:rPr lang="en-US" dirty="0"/>
            </a:br>
            <a:r>
              <a:rPr lang="en-US" dirty="0"/>
              <a:t>✔ Non-functional requirements</a:t>
            </a:r>
            <a:br>
              <a:rPr lang="en-US" dirty="0"/>
            </a:br>
            <a:r>
              <a:rPr lang="en-US" dirty="0"/>
              <a:t>✔ System constraints</a:t>
            </a:r>
            <a:br>
              <a:rPr lang="en-US" dirty="0"/>
            </a:br>
            <a:r>
              <a:rPr lang="en-US" dirty="0"/>
              <a:t>✔ Data flows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A37F9-C0DA-C427-6687-91A0330A1937}"/>
              </a:ext>
            </a:extLst>
          </p:cNvPr>
          <p:cNvSpPr txBox="1"/>
          <p:nvPr/>
        </p:nvSpPr>
        <p:spPr>
          <a:xfrm>
            <a:off x="785812" y="4145244"/>
            <a:ext cx="6100996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Example — Banking App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Functional:</a:t>
            </a:r>
            <a:br>
              <a:rPr lang="en-US" dirty="0"/>
            </a:br>
            <a:r>
              <a:rPr lang="en-US" dirty="0"/>
              <a:t>User transfers money.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Non-functional:</a:t>
            </a:r>
            <a:br>
              <a:rPr lang="en-US" dirty="0"/>
            </a:br>
            <a:r>
              <a:rPr lang="en-US" dirty="0"/>
              <a:t>Response time &lt; 2 seconds.</a:t>
            </a:r>
          </a:p>
        </p:txBody>
      </p:sp>
      <p:pic>
        <p:nvPicPr>
          <p:cNvPr id="12" name="Picture 11" descr="Software Requirement Specification (SRS) Document Checklist - GeeksforGeeks">
            <a:extLst>
              <a:ext uri="{FF2B5EF4-FFF2-40B4-BE49-F238E27FC236}">
                <a16:creationId xmlns:a16="http://schemas.microsoft.com/office/drawing/2014/main" id="{10210E50-6F1E-212D-BB0B-65EB24727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386" y="2102766"/>
            <a:ext cx="6554298" cy="327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492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10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08DF0A88-B808-6DAA-A65B-CC329E8295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454" y="132149"/>
            <a:ext cx="4374549" cy="640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336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USE CASES 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11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9C9356-06E8-A131-CC56-C46E4DDD05F6}"/>
              </a:ext>
            </a:extLst>
          </p:cNvPr>
          <p:cNvSpPr txBox="1"/>
          <p:nvPr/>
        </p:nvSpPr>
        <p:spPr>
          <a:xfrm>
            <a:off x="785812" y="1475716"/>
            <a:ext cx="610099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Definition</a:t>
            </a:r>
          </a:p>
          <a:p>
            <a:pPr>
              <a:buNone/>
            </a:pPr>
            <a:r>
              <a:rPr lang="en-US" dirty="0"/>
              <a:t>A Use Case describes interaction between actor and system.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Trigger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Alternate flows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Outcome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7E6659-2159-6873-1CA0-11B6D4F715B8}"/>
              </a:ext>
            </a:extLst>
          </p:cNvPr>
          <p:cNvSpPr txBox="1"/>
          <p:nvPr/>
        </p:nvSpPr>
        <p:spPr>
          <a:xfrm>
            <a:off x="785812" y="4061039"/>
            <a:ext cx="61009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— Careem Ride Booking</a:t>
            </a:r>
          </a:p>
          <a:p>
            <a:pPr>
              <a:buNone/>
            </a:pPr>
            <a:r>
              <a:rPr lang="en-US" dirty="0"/>
              <a:t>Actor:</a:t>
            </a:r>
            <a:br>
              <a:rPr lang="en-US" dirty="0"/>
            </a:br>
            <a:r>
              <a:rPr lang="en-US" dirty="0"/>
              <a:t>Customer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Main Flow:</a:t>
            </a:r>
          </a:p>
          <a:p>
            <a:pPr>
              <a:buFont typeface="+mj-lt"/>
              <a:buAutoNum type="arabicPeriod"/>
            </a:pPr>
            <a:r>
              <a:rPr lang="en-US" dirty="0"/>
              <a:t>Open app</a:t>
            </a:r>
          </a:p>
          <a:p>
            <a:pPr>
              <a:buFont typeface="+mj-lt"/>
              <a:buAutoNum type="arabicPeriod"/>
            </a:pPr>
            <a:r>
              <a:rPr lang="en-US" dirty="0"/>
              <a:t>Enter pickup</a:t>
            </a:r>
          </a:p>
          <a:p>
            <a:pPr>
              <a:buFont typeface="+mj-lt"/>
              <a:buAutoNum type="arabicPeriod"/>
            </a:pPr>
            <a:r>
              <a:rPr lang="en-US" dirty="0"/>
              <a:t>Confirm ride</a:t>
            </a:r>
          </a:p>
          <a:p>
            <a:pPr>
              <a:buFont typeface="+mj-lt"/>
              <a:buAutoNum type="arabicPeriod"/>
            </a:pPr>
            <a:r>
              <a:rPr lang="en-US" dirty="0"/>
              <a:t>Payment processed</a:t>
            </a:r>
            <a:br>
              <a:rPr lang="en-US" dirty="0"/>
            </a:b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4E19DC-1F1E-7FCA-BCEF-CEF7B1054F1A}"/>
              </a:ext>
            </a:extLst>
          </p:cNvPr>
          <p:cNvSpPr txBox="1"/>
          <p:nvPr/>
        </p:nvSpPr>
        <p:spPr>
          <a:xfrm>
            <a:off x="2738205" y="5160365"/>
            <a:ext cx="6100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Alternate Flow:</a:t>
            </a:r>
          </a:p>
          <a:p>
            <a:pPr>
              <a:buNone/>
            </a:pPr>
            <a:r>
              <a:rPr lang="en-US" dirty="0"/>
              <a:t>Driver unavailable.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B5CE5F-D006-C957-FD5A-9C6DC4DCCA3B}"/>
              </a:ext>
            </a:extLst>
          </p:cNvPr>
          <p:cNvSpPr txBox="1"/>
          <p:nvPr/>
        </p:nvSpPr>
        <p:spPr>
          <a:xfrm>
            <a:off x="8082197" y="5280122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Actor → System → Decision → Outcome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FC2FD0-D7BB-286B-A5D3-03FC2E2F7C3A}"/>
              </a:ext>
            </a:extLst>
          </p:cNvPr>
          <p:cNvSpPr txBox="1"/>
          <p:nvPr/>
        </p:nvSpPr>
        <p:spPr>
          <a:xfrm>
            <a:off x="6709350" y="6081760"/>
            <a:ext cx="52302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“Use Cases help visualize real behavior — not abstract features.”</a:t>
            </a:r>
          </a:p>
        </p:txBody>
      </p:sp>
      <p:pic>
        <p:nvPicPr>
          <p:cNvPr id="17" name="Picture 16" descr="Use Case Diagram Example: External System as Actor | Use Case Diagram  Template">
            <a:extLst>
              <a:ext uri="{FF2B5EF4-FFF2-40B4-BE49-F238E27FC236}">
                <a16:creationId xmlns:a16="http://schemas.microsoft.com/office/drawing/2014/main" id="{058EB03E-48D5-14C3-F09D-62A0A386F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272" y="1155631"/>
            <a:ext cx="5258036" cy="385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805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52" y="330540"/>
            <a:ext cx="10515600" cy="847650"/>
          </a:xfrm>
        </p:spPr>
        <p:txBody>
          <a:bodyPr>
            <a:normAutofit/>
          </a:bodyPr>
          <a:lstStyle/>
          <a:p>
            <a:r>
              <a:rPr lang="en-US" sz="2500" dirty="0"/>
              <a:t>USER STORIES (AGILE DOCUMENTATION)</a:t>
            </a:r>
            <a:endParaRPr lang="en-PK" sz="25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12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F166EA-023E-AF03-18F2-B4171A05FCA5}"/>
              </a:ext>
            </a:extLst>
          </p:cNvPr>
          <p:cNvSpPr txBox="1"/>
          <p:nvPr/>
        </p:nvSpPr>
        <p:spPr>
          <a:xfrm>
            <a:off x="821298" y="1368691"/>
            <a:ext cx="6100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Agile prefers short structured requirements.</a:t>
            </a:r>
          </a:p>
          <a:p>
            <a:pPr>
              <a:buNone/>
            </a:pPr>
            <a:r>
              <a:rPr lang="en-US" b="1" dirty="0"/>
              <a:t>Format</a:t>
            </a:r>
            <a:r>
              <a:rPr lang="en-US" dirty="0"/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C9E607-574A-1C5E-E120-58C257ABA55E}"/>
              </a:ext>
            </a:extLst>
          </p:cNvPr>
          <p:cNvSpPr txBox="1"/>
          <p:nvPr/>
        </p:nvSpPr>
        <p:spPr>
          <a:xfrm>
            <a:off x="1506511" y="2015022"/>
            <a:ext cx="6100996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As a [role]</a:t>
            </a:r>
          </a:p>
          <a:p>
            <a:pPr>
              <a:lnSpc>
                <a:spcPct val="150000"/>
              </a:lnSpc>
            </a:pPr>
            <a:r>
              <a:rPr lang="en-US" dirty="0"/>
              <a:t>I want [feature]</a:t>
            </a:r>
          </a:p>
          <a:p>
            <a:pPr>
              <a:lnSpc>
                <a:spcPct val="150000"/>
              </a:lnSpc>
            </a:pPr>
            <a:r>
              <a:rPr lang="en-US" dirty="0"/>
              <a:t>So that [value]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B14029-AE8A-6D6A-21C8-D9B591CDA8F7}"/>
              </a:ext>
            </a:extLst>
          </p:cNvPr>
          <p:cNvSpPr txBox="1"/>
          <p:nvPr/>
        </p:nvSpPr>
        <p:spPr>
          <a:xfrm>
            <a:off x="821298" y="3775184"/>
            <a:ext cx="6100996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Example — Grocery App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As a rider</a:t>
            </a:r>
            <a:br>
              <a:rPr lang="en-US" dirty="0"/>
            </a:br>
            <a:r>
              <a:rPr lang="en-US" dirty="0"/>
              <a:t>I want delivery location navigation</a:t>
            </a:r>
            <a:br>
              <a:rPr lang="en-US" dirty="0"/>
            </a:br>
            <a:r>
              <a:rPr lang="en-US" dirty="0"/>
              <a:t>So that I deliver faster.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085E60-EE2D-E9E6-4C3B-AE39BA527916}"/>
              </a:ext>
            </a:extLst>
          </p:cNvPr>
          <p:cNvSpPr txBox="1"/>
          <p:nvPr/>
        </p:nvSpPr>
        <p:spPr>
          <a:xfrm>
            <a:off x="4557009" y="3780264"/>
            <a:ext cx="6100996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Netflix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As a viewer</a:t>
            </a:r>
            <a:br>
              <a:rPr lang="en-US" dirty="0"/>
            </a:br>
            <a:r>
              <a:rPr lang="en-US" dirty="0"/>
              <a:t>I want autoplay</a:t>
            </a:r>
            <a:br>
              <a:rPr lang="en-US" dirty="0"/>
            </a:br>
            <a:r>
              <a:rPr lang="en-US" dirty="0"/>
              <a:t>So that watching feels seamless.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5BAB9A-1C7C-999F-C3DF-97AC3739B440}"/>
              </a:ext>
            </a:extLst>
          </p:cNvPr>
          <p:cNvSpPr txBox="1"/>
          <p:nvPr/>
        </p:nvSpPr>
        <p:spPr>
          <a:xfrm>
            <a:off x="1954888" y="6098142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“User Stories emphasize user value, not system design.”</a:t>
            </a:r>
          </a:p>
        </p:txBody>
      </p:sp>
    </p:spTree>
    <p:extLst>
      <p:ext uri="{BB962C8B-B14F-4D97-AF65-F5344CB8AC3E}">
        <p14:creationId xmlns:p14="http://schemas.microsoft.com/office/powerpoint/2010/main" val="1428968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4D947-8499-A7AC-ABE6-72E1624F5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13</a:t>
            </a:fld>
            <a:endParaRPr lang="en-PK"/>
          </a:p>
        </p:txBody>
      </p:sp>
      <p:pic>
        <p:nvPicPr>
          <p:cNvPr id="5" name="Picture 4" descr="Free User Story Templates: Epic, Thematic &amp; SAFe - All Formats">
            <a:extLst>
              <a:ext uri="{FF2B5EF4-FFF2-40B4-BE49-F238E27FC236}">
                <a16:creationId xmlns:a16="http://schemas.microsoft.com/office/drawing/2014/main" id="{03029B8F-08F5-635C-8B36-200BCEA0C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12644" cy="672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90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52" y="213049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ACCEPTANCE CRITERIA (VERY CRITICAL CONCEPT)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D3F1E0-288A-15A6-1853-6F2C842BB675}"/>
              </a:ext>
            </a:extLst>
          </p:cNvPr>
          <p:cNvSpPr txBox="1"/>
          <p:nvPr/>
        </p:nvSpPr>
        <p:spPr>
          <a:xfrm>
            <a:off x="674052" y="1251200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Acceptance Criteria = testable conditions defining success.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4B40D8-9F80-3721-1297-64D4128E3C07}"/>
              </a:ext>
            </a:extLst>
          </p:cNvPr>
          <p:cNvSpPr txBox="1"/>
          <p:nvPr/>
        </p:nvSpPr>
        <p:spPr>
          <a:xfrm>
            <a:off x="674052" y="2155553"/>
            <a:ext cx="4857318" cy="2961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Good Example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User Story:</a:t>
            </a:r>
            <a:br>
              <a:rPr lang="en-US" dirty="0"/>
            </a:br>
            <a:r>
              <a:rPr lang="en-US" dirty="0"/>
              <a:t>As a customer I want fast checkout.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Acceptance Criteria: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✔ Checkout within 3 clicks</a:t>
            </a:r>
            <a:br>
              <a:rPr lang="en-US" dirty="0"/>
            </a:br>
            <a:r>
              <a:rPr lang="en-US" dirty="0"/>
              <a:t>✔ Payment success message displayed</a:t>
            </a:r>
            <a:br>
              <a:rPr lang="en-US" dirty="0"/>
            </a:br>
            <a:r>
              <a:rPr lang="en-US" dirty="0"/>
              <a:t>✔ Order ID generated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411125-1EA2-D73A-AB69-740F6FFF89EB}"/>
              </a:ext>
            </a:extLst>
          </p:cNvPr>
          <p:cNvSpPr txBox="1"/>
          <p:nvPr/>
        </p:nvSpPr>
        <p:spPr>
          <a:xfrm>
            <a:off x="5088656" y="2155553"/>
            <a:ext cx="6100996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Bad Example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“System should be user friendly.”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Ambiguous: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No measurement = no validation.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172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95909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REQUIREMENT TRACEABILITY MATRIX (RTM)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1985ED-E8C1-2C51-9E2D-E5E62267A1AE}"/>
              </a:ext>
            </a:extLst>
          </p:cNvPr>
          <p:cNvSpPr txBox="1"/>
          <p:nvPr/>
        </p:nvSpPr>
        <p:spPr>
          <a:xfrm>
            <a:off x="684212" y="1334060"/>
            <a:ext cx="9029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Business Goal → Requirement → Design → Development → Test Case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A17E9B-EBD3-77FE-E94A-3EB514EDE847}"/>
              </a:ext>
            </a:extLst>
          </p:cNvPr>
          <p:cNvSpPr txBox="1"/>
          <p:nvPr/>
        </p:nvSpPr>
        <p:spPr>
          <a:xfrm>
            <a:off x="684212" y="1931577"/>
            <a:ext cx="6100996" cy="1715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Purpose: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✔ Track scope</a:t>
            </a:r>
            <a:br>
              <a:rPr lang="en-US" dirty="0"/>
            </a:br>
            <a:r>
              <a:rPr lang="en-US" dirty="0"/>
              <a:t>✔ Prevent missing features</a:t>
            </a:r>
            <a:br>
              <a:rPr lang="en-US" dirty="0"/>
            </a:br>
            <a:r>
              <a:rPr lang="en-US" dirty="0"/>
              <a:t>✔ Help QA validation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9B09EA-C62C-56FA-687C-A3228E89CC72}"/>
              </a:ext>
            </a:extLst>
          </p:cNvPr>
          <p:cNvSpPr txBox="1"/>
          <p:nvPr/>
        </p:nvSpPr>
        <p:spPr>
          <a:xfrm>
            <a:off x="684212" y="3820537"/>
            <a:ext cx="610099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— Banking Login Feature</a:t>
            </a:r>
          </a:p>
          <a:p>
            <a:pPr>
              <a:buNone/>
            </a:pPr>
            <a:r>
              <a:rPr lang="en-US" dirty="0"/>
              <a:t>Goal:</a:t>
            </a:r>
            <a:br>
              <a:rPr lang="en-US" dirty="0"/>
            </a:br>
            <a:r>
              <a:rPr lang="en-US" dirty="0"/>
              <a:t>Secure access.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Requirement:</a:t>
            </a:r>
            <a:br>
              <a:rPr lang="en-US" dirty="0"/>
            </a:br>
            <a:r>
              <a:rPr lang="en-US" dirty="0"/>
              <a:t>OTP login.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Test Case:</a:t>
            </a:r>
            <a:br>
              <a:rPr lang="en-US" dirty="0"/>
            </a:br>
            <a:r>
              <a:rPr lang="en-US" dirty="0"/>
              <a:t>Verify OTP expires in 30 sec.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6CAFA5-D2FA-2D6C-F38A-DFAE27ABC547}"/>
              </a:ext>
            </a:extLst>
          </p:cNvPr>
          <p:cNvSpPr txBox="1"/>
          <p:nvPr/>
        </p:nvSpPr>
        <p:spPr>
          <a:xfrm>
            <a:off x="7292714" y="5707102"/>
            <a:ext cx="61009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/>
              <a:t>“RTM protects BAs during scope disputes.”</a:t>
            </a:r>
          </a:p>
        </p:txBody>
      </p:sp>
      <p:pic>
        <p:nvPicPr>
          <p:cNvPr id="18" name="Picture 17" descr="A diagram of a process&#10;&#10;AI-generated content may be incorrect.">
            <a:extLst>
              <a:ext uri="{FF2B5EF4-FFF2-40B4-BE49-F238E27FC236}">
                <a16:creationId xmlns:a16="http://schemas.microsoft.com/office/drawing/2014/main" id="{2397E7DE-247B-111C-53F9-83B03937DC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6459" y="1703392"/>
            <a:ext cx="3986644" cy="397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454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692" y="398951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COMMON STUDENT MISTAKES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8A2869-31B0-CDCE-184A-5A262697762F}"/>
              </a:ext>
            </a:extLst>
          </p:cNvPr>
          <p:cNvSpPr txBox="1"/>
          <p:nvPr/>
        </p:nvSpPr>
        <p:spPr>
          <a:xfrm>
            <a:off x="821298" y="1501088"/>
            <a:ext cx="6100996" cy="3742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/>
              <a:t>❌ Writing solutions instead of requirements</a:t>
            </a:r>
            <a:br>
              <a:rPr lang="en-US" sz="2000" dirty="0"/>
            </a:br>
            <a:r>
              <a:rPr lang="en-US" sz="2000" dirty="0"/>
              <a:t>❌ Mixing business and functional levels</a:t>
            </a:r>
            <a:br>
              <a:rPr lang="en-US" sz="2000" dirty="0"/>
            </a:br>
            <a:r>
              <a:rPr lang="en-US" sz="2000" dirty="0"/>
              <a:t>❌ Writing acceptance criteria like descriptions</a:t>
            </a:r>
          </a:p>
          <a:p>
            <a:pPr>
              <a:lnSpc>
                <a:spcPct val="150000"/>
              </a:lnSpc>
              <a:buNone/>
            </a:pPr>
            <a:br>
              <a:rPr lang="en-US" sz="2000" dirty="0"/>
            </a:br>
            <a:r>
              <a:rPr lang="en-US" sz="2000" dirty="0"/>
              <a:t>Requirements must be: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✔ Specific</a:t>
            </a:r>
            <a:br>
              <a:rPr lang="en-US" sz="2000" dirty="0"/>
            </a:br>
            <a:r>
              <a:rPr lang="en-US" sz="2000" dirty="0"/>
              <a:t>✔ Measurable</a:t>
            </a:r>
            <a:br>
              <a:rPr lang="en-US" sz="2000" dirty="0"/>
            </a:br>
            <a:r>
              <a:rPr lang="en-US" sz="2000" dirty="0"/>
              <a:t>✔ Testable</a:t>
            </a:r>
          </a:p>
        </p:txBody>
      </p:sp>
    </p:spTree>
    <p:extLst>
      <p:ext uri="{BB962C8B-B14F-4D97-AF65-F5344CB8AC3E}">
        <p14:creationId xmlns:p14="http://schemas.microsoft.com/office/powerpoint/2010/main" val="1966666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492" y="213255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REAL LIFE FLOW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17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5B0EC7-311B-5B8F-2623-805E39626127}"/>
              </a:ext>
            </a:extLst>
          </p:cNvPr>
          <p:cNvSpPr txBox="1"/>
          <p:nvPr/>
        </p:nvSpPr>
        <p:spPr>
          <a:xfrm>
            <a:off x="765492" y="1170208"/>
            <a:ext cx="25323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BRD</a:t>
            </a:r>
          </a:p>
          <a:p>
            <a:r>
              <a:rPr lang="en-US" dirty="0"/>
              <a:t> ↑</a:t>
            </a:r>
          </a:p>
          <a:p>
            <a:r>
              <a:rPr lang="en-US" dirty="0"/>
              <a:t>Use Case</a:t>
            </a:r>
          </a:p>
          <a:p>
            <a:r>
              <a:rPr lang="en-US" dirty="0"/>
              <a:t> ↑</a:t>
            </a:r>
          </a:p>
          <a:p>
            <a:r>
              <a:rPr lang="en-US" dirty="0"/>
              <a:t>User Story</a:t>
            </a:r>
          </a:p>
          <a:p>
            <a:r>
              <a:rPr lang="en-US" dirty="0"/>
              <a:t> ↑</a:t>
            </a:r>
          </a:p>
          <a:p>
            <a:r>
              <a:rPr lang="en-US" dirty="0"/>
              <a:t>Acceptance Criteria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C0AF6D-3197-6DB0-1C88-EF1B884A1357}"/>
              </a:ext>
            </a:extLst>
          </p:cNvPr>
          <p:cNvSpPr txBox="1"/>
          <p:nvPr/>
        </p:nvSpPr>
        <p:spPr>
          <a:xfrm>
            <a:off x="765492" y="4159819"/>
            <a:ext cx="61009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Use Case vs User Story: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36D638A-D1B5-5620-4876-BAA20099B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933744"/>
              </p:ext>
            </p:extLst>
          </p:nvPr>
        </p:nvGraphicFramePr>
        <p:xfrm>
          <a:off x="765492" y="4606477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25916024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25238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User 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641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Detailed steps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Short 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842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Traditional projects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Agile projects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4611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Formal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Flexible format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68977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25C7ADA-536C-DE7E-92B7-BE4AA3B92296}"/>
              </a:ext>
            </a:extLst>
          </p:cNvPr>
          <p:cNvSpPr txBox="1"/>
          <p:nvPr/>
        </p:nvSpPr>
        <p:spPr>
          <a:xfrm>
            <a:off x="3341478" y="1177376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Big picture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A92C0C-3EB7-2D52-71A9-C4FA2E73A480}"/>
              </a:ext>
            </a:extLst>
          </p:cNvPr>
          <p:cNvSpPr txBox="1"/>
          <p:nvPr/>
        </p:nvSpPr>
        <p:spPr>
          <a:xfrm>
            <a:off x="3341478" y="1756550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Interaction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928275-B7B0-B9CF-2757-6A3BDCA99800}"/>
              </a:ext>
            </a:extLst>
          </p:cNvPr>
          <p:cNvSpPr txBox="1"/>
          <p:nvPr/>
        </p:nvSpPr>
        <p:spPr>
          <a:xfrm>
            <a:off x="3341478" y="2245188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Value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23E49A-6F73-8248-4556-E04485A5F63F}"/>
              </a:ext>
            </a:extLst>
          </p:cNvPr>
          <p:cNvSpPr txBox="1"/>
          <p:nvPr/>
        </p:nvSpPr>
        <p:spPr>
          <a:xfrm>
            <a:off x="3341478" y="2822806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Precision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17C21B-92B4-FDD1-6C60-CABCE8CD45AC}"/>
              </a:ext>
            </a:extLst>
          </p:cNvPr>
          <p:cNvSpPr txBox="1"/>
          <p:nvPr/>
        </p:nvSpPr>
        <p:spPr>
          <a:xfrm>
            <a:off x="765492" y="3435803"/>
            <a:ext cx="61009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Think of documentation like zooming into detail.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6C9A5E-A66D-421C-20BD-DEFE849B7D66}"/>
              </a:ext>
            </a:extLst>
          </p:cNvPr>
          <p:cNvSpPr txBox="1"/>
          <p:nvPr/>
        </p:nvSpPr>
        <p:spPr>
          <a:xfrm>
            <a:off x="1461541" y="6190314"/>
            <a:ext cx="73626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“Large enterprises still use Use Cases — startups often rely on User Stories.”</a:t>
            </a:r>
          </a:p>
        </p:txBody>
      </p:sp>
    </p:spTree>
    <p:extLst>
      <p:ext uri="{BB962C8B-B14F-4D97-AF65-F5344CB8AC3E}">
        <p14:creationId xmlns:p14="http://schemas.microsoft.com/office/powerpoint/2010/main" val="962672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677170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KEY TAKEAWAYS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18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Browse thousands of Checkout Screen Mobile UI images for design inspiration  | Dribbble">
            <a:extLst>
              <a:ext uri="{FF2B5EF4-FFF2-40B4-BE49-F238E27FC236}">
                <a16:creationId xmlns:a16="http://schemas.microsoft.com/office/drawing/2014/main" id="{6E4A7A63-EC89-30BE-B77B-D83F8BA55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EBD08A-5C83-5858-4D5E-AE6381011525}"/>
              </a:ext>
            </a:extLst>
          </p:cNvPr>
          <p:cNvSpPr txBox="1"/>
          <p:nvPr/>
        </p:nvSpPr>
        <p:spPr>
          <a:xfrm>
            <a:off x="785812" y="1523547"/>
            <a:ext cx="6100996" cy="3364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✔ Documentation prevents misunderstandings</a:t>
            </a:r>
            <a:br>
              <a:rPr lang="en-US" sz="2400" dirty="0"/>
            </a:br>
            <a:r>
              <a:rPr lang="en-US" sz="2400" dirty="0"/>
              <a:t>✔ BRD explains business vision</a:t>
            </a:r>
            <a:br>
              <a:rPr lang="en-US" sz="2400" dirty="0"/>
            </a:br>
            <a:r>
              <a:rPr lang="en-US" sz="2400" dirty="0"/>
              <a:t>✔ SRS explains system behavior</a:t>
            </a:r>
            <a:br>
              <a:rPr lang="en-US" sz="2400" dirty="0"/>
            </a:br>
            <a:r>
              <a:rPr lang="en-US" sz="2400" dirty="0"/>
              <a:t>✔ User Stories drive Agile teams/deliveries</a:t>
            </a:r>
            <a:br>
              <a:rPr lang="en-US" sz="2400" dirty="0"/>
            </a:br>
            <a:r>
              <a:rPr lang="en-US" sz="2400" dirty="0"/>
              <a:t>✔ Acceptance Criteria define done/success</a:t>
            </a:r>
            <a:br>
              <a:rPr lang="en-US" sz="2400" dirty="0"/>
            </a:br>
            <a:r>
              <a:rPr lang="en-US" sz="2400" dirty="0"/>
              <a:t>✔ RTM ensures traceability = nothing lost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ACD0F4-28F8-EE1D-8600-359059FCEFDB}"/>
              </a:ext>
            </a:extLst>
          </p:cNvPr>
          <p:cNvSpPr txBox="1"/>
          <p:nvPr/>
        </p:nvSpPr>
        <p:spPr>
          <a:xfrm>
            <a:off x="1849957" y="5786477"/>
            <a:ext cx="7758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“Documentation is not paperwork — it is shared understanding.”</a:t>
            </a:r>
          </a:p>
        </p:txBody>
      </p:sp>
    </p:spTree>
    <p:extLst>
      <p:ext uri="{BB962C8B-B14F-4D97-AF65-F5344CB8AC3E}">
        <p14:creationId xmlns:p14="http://schemas.microsoft.com/office/powerpoint/2010/main" val="231509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677170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CASE STUDY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19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2ECBB6A-93A9-5C6E-7DEC-7EB8F78EEF41}"/>
              </a:ext>
            </a:extLst>
          </p:cNvPr>
          <p:cNvSpPr txBox="1"/>
          <p:nvPr/>
        </p:nvSpPr>
        <p:spPr>
          <a:xfrm>
            <a:off x="936885" y="1715321"/>
            <a:ext cx="6100996" cy="4203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/>
              <a:t>Choose one: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Careem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Daraz</a:t>
            </a:r>
            <a:endParaRPr lang="en-US" sz="20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WhatsApp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Create</a:t>
            </a:r>
            <a:r>
              <a:rPr lang="en-US" sz="2000" dirty="0"/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✔ 1 Use Case</a:t>
            </a:r>
            <a:br>
              <a:rPr lang="en-US" sz="2000" dirty="0"/>
            </a:br>
            <a:r>
              <a:rPr lang="en-US" sz="2000" dirty="0"/>
              <a:t>✔ 2 User Stories</a:t>
            </a:r>
            <a:br>
              <a:rPr lang="en-US" sz="2000" dirty="0"/>
            </a:br>
            <a:r>
              <a:rPr lang="en-US" sz="2000" dirty="0"/>
              <a:t>✔ Acceptance Criteria</a:t>
            </a:r>
            <a:br>
              <a:rPr lang="en-US" sz="2000" dirty="0"/>
            </a:br>
            <a:r>
              <a:rPr lang="en-US" sz="2000" dirty="0"/>
              <a:t>✔ Simple RTM table</a:t>
            </a:r>
          </a:p>
        </p:txBody>
      </p:sp>
    </p:spTree>
    <p:extLst>
      <p:ext uri="{BB962C8B-B14F-4D97-AF65-F5344CB8AC3E}">
        <p14:creationId xmlns:p14="http://schemas.microsoft.com/office/powerpoint/2010/main" val="2681541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2F66B-EC10-91B9-C0A5-9DB0B8734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048132-C41D-CF8F-5A27-30C18CD32B0C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730283-4CF7-4A92-CC14-F910D63BAA0A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ACECB-6667-EAA9-206A-4E39AC74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20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42BBA7B8-0CFE-4A34-C538-15DEA6118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D4EE48-5C64-70B8-8D0C-BFA45606B3DA}"/>
              </a:ext>
            </a:extLst>
          </p:cNvPr>
          <p:cNvSpPr txBox="1"/>
          <p:nvPr/>
        </p:nvSpPr>
        <p:spPr>
          <a:xfrm>
            <a:off x="719528" y="2401775"/>
            <a:ext cx="11220059" cy="220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2400" dirty="0"/>
              <a:t>“Many escalations I’ve handled happened because acceptance criteria were missing.”</a:t>
            </a:r>
          </a:p>
          <a:p>
            <a:pPr>
              <a:lnSpc>
                <a:spcPct val="200000"/>
              </a:lnSpc>
              <a:buNone/>
            </a:pPr>
            <a:r>
              <a:rPr lang="en-US" sz="2400" dirty="0"/>
              <a:t>“Developers don’t need long documents — they need clear expectations.”</a:t>
            </a:r>
          </a:p>
          <a:p>
            <a:pPr>
              <a:lnSpc>
                <a:spcPct val="200000"/>
              </a:lnSpc>
              <a:buNone/>
            </a:pPr>
            <a:r>
              <a:rPr lang="en-US" sz="2400" dirty="0"/>
              <a:t>“Traceability becomes critical when projects scale.”</a:t>
            </a:r>
          </a:p>
        </p:txBody>
      </p:sp>
    </p:spTree>
    <p:extLst>
      <p:ext uri="{BB962C8B-B14F-4D97-AF65-F5344CB8AC3E}">
        <p14:creationId xmlns:p14="http://schemas.microsoft.com/office/powerpoint/2010/main" val="844264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27575</TotalTime>
  <Words>846</Words>
  <Application>Microsoft Macintosh PowerPoint</Application>
  <PresentationFormat>Widescreen</PresentationFormat>
  <Paragraphs>176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BUSINESS ANALYTICS  Introduction to Business Analytics and Core Business Functions</vt:lpstr>
      <vt:lpstr>Learning Objectives – WEEK 6 </vt:lpstr>
      <vt:lpstr>LCLO – WEEK 5 </vt:lpstr>
      <vt:lpstr>WHY DOCUMENTATION MATTERS?  </vt:lpstr>
      <vt:lpstr>HOW TO DOCUMENT A PROCESS - EXAMPLE</vt:lpstr>
      <vt:lpstr>WORKFLOW DOCUMENTTAION AS BA - EXAMPLE</vt:lpstr>
      <vt:lpstr>BRD — Business Requirement Document  </vt:lpstr>
      <vt:lpstr>SRS — SOFTWARE REQUIREMENT SPECIFICATION   </vt:lpstr>
      <vt:lpstr>PowerPoint Presentation</vt:lpstr>
      <vt:lpstr>USE CASES   </vt:lpstr>
      <vt:lpstr>USER STORIES (AGILE DOCUMENTATION)</vt:lpstr>
      <vt:lpstr>PowerPoint Presentation</vt:lpstr>
      <vt:lpstr>ACCEPTANCE CRITERIA (VERY CRITICAL CONCEPT)</vt:lpstr>
      <vt:lpstr>REQUIREMENT TRACEABILITY MATRIX (RTM)</vt:lpstr>
      <vt:lpstr>COMMON STUDENT MISTAKES</vt:lpstr>
      <vt:lpstr>REAL LIFE FLOW</vt:lpstr>
      <vt:lpstr>KEY TAKEAWAYS</vt:lpstr>
      <vt:lpstr>CASE STUDY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HORIZONTAL LINKAGES WITH OTHER GOVERNMENT DEPARTMENTS</dc:title>
  <dc:creator>Mufeeza Iqbal</dc:creator>
  <cp:lastModifiedBy>Moiz Shah</cp:lastModifiedBy>
  <cp:revision>139</cp:revision>
  <dcterms:created xsi:type="dcterms:W3CDTF">2024-06-09T07:08:43Z</dcterms:created>
  <dcterms:modified xsi:type="dcterms:W3CDTF">2026-03-28T10:40:21Z</dcterms:modified>
</cp:coreProperties>
</file>