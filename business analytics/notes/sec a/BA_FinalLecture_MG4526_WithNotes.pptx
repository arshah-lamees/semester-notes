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70" r:id="rId11"/>
    <p:sldId id="271" r:id="rId12"/>
    <p:sldId id="264" r:id="rId13"/>
    <p:sldId id="272" r:id="rId14"/>
    <p:sldId id="266" r:id="rId15"/>
    <p:sldId id="267" r:id="rId16"/>
    <p:sldId id="268" r:id="rId17"/>
    <p:sldId id="269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/>
    <p:restoredTop sz="94617"/>
  </p:normalViewPr>
  <p:slideViewPr>
    <p:cSldViewPr snapToGrid="0" snapToObjects="1">
      <p:cViewPr varScale="1">
        <p:scale>
          <a:sx n="122" d="100"/>
          <a:sy n="122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524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maspk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2F5A">
              <a:alpha val="70000"/>
            </a:srgbClr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A2F5A">
              <a:alpha val="70000"/>
            </a:srgbClr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4572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MG4526 · FINAL LECTURE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Classroom to Career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Your Complete Roadmap: Certifications · Interview Prep · Final Exam Strategy · Career Launch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16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Weeks Covered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01752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Certifications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50+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2064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Interview Qs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2376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Final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BA Journey — 16 Weeks in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280160" cy="128016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W1-2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2240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BA Foundations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&amp; Business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Fundamentals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37160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0" y="868680"/>
            <a:ext cx="1280160" cy="128016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11680" y="868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W3-6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20240" y="2240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Stakeholders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Requirements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&amp; Midterm 1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868680"/>
            <a:ext cx="1280160" cy="1280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49040" y="868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W7-10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0" y="2240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Process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Modeling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Analytics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0" y="868680"/>
            <a:ext cx="1280160" cy="1280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486400" y="868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W11-14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94960" y="2240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Visualization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Agile &amp; Ethics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&amp; Midterm 2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223760" y="868680"/>
            <a:ext cx="1280160" cy="12801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223760" y="8686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W15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132320" y="2240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Project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Presentations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&amp; Demos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274320" y="3108960"/>
            <a:ext cx="8595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1B3E"/>
                </a:solidFill>
              </a:rPr>
              <a:t>KEY SKILLS YOU'VE BUILT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Requirements Elicitation &amp; Documentation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Business Process Modeling (BPMN/Flowcharts)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151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Stakeholder Management &amp; Communication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443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Data Analysis &amp; KPI Design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66344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Agile / Scrum BA Practices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66344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Data Visualization (Power BI / Tableau)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663440" y="4151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Executive Reporting &amp; Storytelling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663440" y="4443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✓  Ethics, Privacy &amp; Professional Conduct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4572000" cy="4572000"/>
          </a:xfrm>
          <a:prstGeom prst="ellipse">
            <a:avLst/>
          </a:prstGeom>
          <a:solidFill>
            <a:srgbClr val="0A2550">
              <a:alpha val="70000"/>
            </a:srgbClr>
          </a:solidFill>
          <a:ln w="12700">
            <a:solidFill>
              <a:srgbClr val="0A2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A2550">
              <a:alpha val="70000"/>
            </a:srgbClr>
          </a:solidFill>
          <a:ln w="12700">
            <a:solidFill>
              <a:srgbClr val="0A2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"/>
            <a:ext cx="16459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AI × BUSINESS ANALYSIS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5740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 Your Daily Co-Analyst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57400" y="5669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/>
              <a:t>5 BA task areas transformed by Artificial Intelligence — practical, daily, real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265176" y="996696"/>
            <a:ext cx="1664208" cy="34290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60120"/>
            <a:ext cx="1664208" cy="3429000"/>
          </a:xfrm>
          <a:prstGeom prst="rect">
            <a:avLst/>
          </a:prstGeom>
          <a:solidFill>
            <a:srgbClr val="1A2F5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960120"/>
            <a:ext cx="1664208" cy="86868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01498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" y="1380744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Elicitation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1874520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187452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A8"/>
                </a:solidFill>
              </a:rPr>
              <a:t>ChatGPT · Claude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258568"/>
            <a:ext cx="91440" cy="914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Paste interview transcript →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91440" cy="914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" y="26426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AI extracts user stories 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136392"/>
            <a:ext cx="91440" cy="914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acceptance criteria instantly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575304"/>
            <a:ext cx="91440" cy="914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BRD drafts in minutes not days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4041648"/>
            <a:ext cx="166420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4041648"/>
            <a:ext cx="1664208" cy="3657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407822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A8"/>
                </a:solidFill>
              </a:rPr>
              <a:t>⏱  Saves ~3 hrs/day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57400" y="996696"/>
            <a:ext cx="1664208" cy="34290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20824" y="960120"/>
            <a:ext cx="1664208" cy="3429000"/>
          </a:xfrm>
          <a:prstGeom prst="rect">
            <a:avLst/>
          </a:prstGeom>
          <a:solidFill>
            <a:srgbClr val="1A2F5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20824" y="960120"/>
            <a:ext cx="166420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20824" y="101498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020824" y="1380744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30552" y="1874520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30552" y="187452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</a:rPr>
              <a:t>Eraser.io · ChatGPT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12264" y="225856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58568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Describe process in words →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12264" y="269748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58568" y="26426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AI generates BPMN/flowchart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112264" y="313639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58568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Auto-identifies bottlenecks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12264" y="357530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58568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Instant AS-IS to TO-BE drafts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20824" y="4041648"/>
            <a:ext cx="166420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020824" y="4041648"/>
            <a:ext cx="1664208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020824" y="407822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</a:rPr>
              <a:t>⏱  Saves ~2 hrs/day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9624" y="996696"/>
            <a:ext cx="1664208" cy="34290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813048" y="960120"/>
            <a:ext cx="1664208" cy="3429000"/>
          </a:xfrm>
          <a:prstGeom prst="rect">
            <a:avLst/>
          </a:prstGeom>
          <a:solidFill>
            <a:srgbClr val="1A2F5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813048" y="960120"/>
            <a:ext cx="1664208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13048" y="101498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813048" y="1380744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922776" y="1874520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22776" y="187452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</a:rPr>
              <a:t>Claude · Notion AI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904488" y="2258568"/>
            <a:ext cx="91440" cy="91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050792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Upload meeting transcript →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904488" y="2697480"/>
            <a:ext cx="91440" cy="91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050792" y="26426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AI maps concerns by role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04488" y="3136392"/>
            <a:ext cx="91440" cy="91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50792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Detects hidden objections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904488" y="3575304"/>
            <a:ext cx="91440" cy="91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050792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Suggests engagement strategy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813048" y="4041648"/>
            <a:ext cx="166420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813048" y="4041648"/>
            <a:ext cx="1664208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813048" y="407822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580C"/>
                </a:solidFill>
              </a:rPr>
              <a:t>⏱  Saves ~1 hr/day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41848" y="996696"/>
            <a:ext cx="1664208" cy="34290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605272" y="960120"/>
            <a:ext cx="1664208" cy="3429000"/>
          </a:xfrm>
          <a:prstGeom prst="rect">
            <a:avLst/>
          </a:prstGeom>
          <a:solidFill>
            <a:srgbClr val="1A2F5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605272" y="960120"/>
            <a:ext cx="16642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605272" y="101498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5605272" y="1380744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SQL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715000" y="1874520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715000" y="187452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Copilot · Power BI AI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696712" y="225856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843016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Plain English → SQL query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696712" y="2697480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843016" y="26426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Auto-generate KPI dashboards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696712" y="313639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43016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Anomaly detection in data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696712" y="357530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843016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Natural language reporting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605272" y="4041648"/>
            <a:ext cx="166420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605272" y="4041648"/>
            <a:ext cx="166420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605272" y="407822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A5E9"/>
                </a:solidFill>
              </a:rPr>
              <a:t>⏱  Saves ~2 hrs/day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434072" y="996696"/>
            <a:ext cx="1664208" cy="34290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397496" y="960120"/>
            <a:ext cx="1664208" cy="3429000"/>
          </a:xfrm>
          <a:prstGeom prst="rect">
            <a:avLst/>
          </a:prstGeom>
          <a:solidFill>
            <a:srgbClr val="1A2F5A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397496" y="960120"/>
            <a:ext cx="16642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97496" y="101498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7397496" y="1380744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Reporting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507224" y="1874520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507224" y="187452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</a:rPr>
              <a:t>Copilot · Notion AI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488936" y="22585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635240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Meeting minutes in seconds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488936" y="269748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635240" y="26426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Executive summary auto-draft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488936" y="31363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635240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Status report generation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488936" y="35753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635240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Change request templates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397496" y="4041648"/>
            <a:ext cx="166420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397496" y="4041648"/>
            <a:ext cx="1664208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397496" y="407822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⏱  Saves ~1.5 hrs/day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0" y="4507992"/>
            <a:ext cx="9144000" cy="6355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0" y="4507992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28600" y="458114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228600" y="458114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⚡  ~9.5 hrs saved / week</a:t>
            </a:r>
            <a:endParaRPr lang="en-US" sz="1150" dirty="0"/>
          </a:p>
        </p:txBody>
      </p:sp>
      <p:sp>
        <p:nvSpPr>
          <p:cNvPr id="103" name="Text 101"/>
          <p:cNvSpPr/>
          <p:nvPr/>
        </p:nvSpPr>
        <p:spPr>
          <a:xfrm>
            <a:off x="2651760" y="4590288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2E8F0"/>
                </a:solidFill>
              </a:rPr>
              <a:t>AI doesn't replace the BA — it eliminates repetitive tasks so you focus on what only humans can do: critical thinking, stakeholder empathy &amp; strategic judgment.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BA — Practical Toolkit &amp; Smart Usage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Real tools · Prompt techniques · Time savings · Ethical guardrails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2834640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961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🛠  THE BA AI TOOL STACK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779776" cy="5120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371600"/>
            <a:ext cx="45720" cy="5120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ChatGPT / Claude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6184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Requirements, gap analysis, user stories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1947672"/>
            <a:ext cx="2779776" cy="5120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947672"/>
            <a:ext cx="45720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947672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1984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GitHub Copilot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1945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SQL queries, data scripts, test cases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523744"/>
            <a:ext cx="2779776" cy="5120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523744"/>
            <a:ext cx="45720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523744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2560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Notion AI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27706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Meeting notes, action items, summaries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099816"/>
            <a:ext cx="2779776" cy="5120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099816"/>
            <a:ext cx="4572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099816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136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Miro 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33467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Mind maps, process flows from text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675888"/>
            <a:ext cx="2779776" cy="5120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675888"/>
            <a:ext cx="4572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675888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3712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Power BI Copilot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39227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Natural language to dashboard visuals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4251960"/>
            <a:ext cx="2779776" cy="5120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4251960"/>
            <a:ext cx="45720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251960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288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MS Copilot (Teams)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" y="44988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Auto meeting summaries &amp; follow-ups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46120" y="896112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46120" y="896112"/>
            <a:ext cx="30175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37560" y="89611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PROMPT ENGINEERING FOR BAs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1371600"/>
            <a:ext cx="292608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37560" y="13716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❌  WEAK PROMPT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1664208"/>
            <a:ext cx="292608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64992" y="1664208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</a:rPr>
              <a:t>"Write requirements for a banking app."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91840" y="2240280"/>
            <a:ext cx="292608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37560" y="22402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✅  POWER PROMPT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2532888"/>
            <a:ext cx="292608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64992" y="2532888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59669"/>
                </a:solidFill>
              </a:rPr>
              <a:t>"Act as a senior BA. Given this transcript [paste], extract: 5 functional requirements, 2 non-functional requirements, and 3 user stories with acceptance criteria in Gherkin format."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91840" y="3520440"/>
            <a:ext cx="2926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91840" y="3520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THE FORMULA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3813048"/>
            <a:ext cx="292608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37560" y="38130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ROLE  +  CONTEXT  +  TASK  +  OUTPUT FORMAT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91840" y="4160520"/>
            <a:ext cx="292608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364992" y="4160520"/>
            <a:ext cx="2779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Always assign a ROLE → Set CONTEXT → Define the TASK → Specify OUTPUT FORMAT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46520" y="896112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46520" y="896112"/>
            <a:ext cx="246888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37960" y="8961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ETHICAL GUARDRAILS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92240" y="138074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56832" y="133502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Never paste confidential client data into public AI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92240" y="170992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56832" y="16642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Always validate AI output — it can hallucinate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92240" y="203911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56832" y="199339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AI drafts requirements; YOU sign them off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92240" y="236829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56832" y="23225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Check your company's AI usage policy first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46520" y="2880360"/>
            <a:ext cx="24688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446520" y="2880360"/>
            <a:ext cx="246888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537960" y="288036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WEEKLY TIME SAVINGS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92240" y="338328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Docs &amp; Reports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680960" y="3438144"/>
            <a:ext cx="502920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220456" y="3383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A8A8"/>
                </a:solidFill>
              </a:rPr>
              <a:t>1.5 hrs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492240" y="366674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Requirements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680960" y="3721608"/>
            <a:ext cx="914400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631936" y="36667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5CF6"/>
                </a:solidFill>
              </a:rPr>
              <a:t>3.0 hrs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492240" y="395020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Data/SQL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680960" y="4005072"/>
            <a:ext cx="685800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403336" y="39502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</a:rPr>
              <a:t>2.0 hrs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492240" y="423367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Process Models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680960" y="4288536"/>
            <a:ext cx="68580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403336" y="4233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A580C"/>
                </a:solidFill>
              </a:rPr>
              <a:t>2.0 hrs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492240" y="45171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Stakeholder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680960" y="4572000"/>
            <a:ext cx="36576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083296" y="45171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59669"/>
                </a:solidFill>
              </a:rPr>
              <a:t>1.0 hr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446520" y="4526280"/>
            <a:ext cx="246888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46520" y="4526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TOTAL  ~9.5 hrs / week saved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🚀  2025 BA Job Market: 73% of job postings now list AI tool proficiency as required or preferred — start building this skill today, not after graduation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BA Interview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PART 1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Q1  What is the difference between a BRD and SRS?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</a:rPr>
              <a:t>→  BRD captures business needs (WHY); SRS defines system behavior (WHAT). BRD is stakeholder-facing, SRS is technical team-facing.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Q2  How do you handle conflicting requirements from stakeholders?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</a:rPr>
              <a:t>→  Use the Power-Interest matrix. Facilitate workshops, document trade-offs, escalate to sponsor if unresolved. Always trace decisions.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Q3  Explain the difference between a use case and a user story.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</a:rPr>
              <a:t>→  Use cases are structured (actor, flow, alternatives); user stories are informal (As a… I want… So that…). Stories fit Agile; use cases fit waterfall.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Q4  What is gap analysis and when do you use it?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</a:rPr>
              <a:t>→  Comparing AS-IS vs TO-BE states to identify gaps. Used in process improvement, system migrations, and organizational change projects.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BA Interview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5A"/>
                </a:solidFill>
              </a:rPr>
              <a:t>PART 2 OF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74980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966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Q5  Walk me through your requirements elicitation process.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 Plan → Identify stakeholders → Choose technique (interviews, workshops, surveys) → Validate → Document → Sign-off. Always ask why, not just what.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54864" cy="74980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19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Q6  What is a traceability matrix and why is it important?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 Maps requirements to their sources, design, test cases, and delivery. Ensures nothing is missed and supports change impact analysis.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859536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54864" cy="74980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426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Q7  Describe your experience with Agile/Scrum as a BA.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 BAs write user stories, define acceptance criteria, participate in sprint planning, facilitate backlog refinement, and liaise between PO and devs.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859536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54864" cy="74980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65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Q8  How do you prioritize requirements when time is limited?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 MoSCoW method (Must/Should/Could/Won't), business value vs effort matrix, or Kano model. Always align with business objectives and sponsor.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51960"/>
            <a:ext cx="859536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54864" cy="74980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885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Q9  What is BPMN and can you model a simple process?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→  Business Process Model and Notation — standard for process diagrams using start/end events, tasks, gateways, and sequence flows.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the BA Interview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Pro tips from hiring managers &amp; senior BAs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Use STAR Format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356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Situation → Task → Action → Result. Structure every behavioral answer this way.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Research the Company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350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Know their industry, pain points, tech stack, and BA role before the interview.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9260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Ask Smart Questions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264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"What does success look like in 90 days?" shows BA thinking.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8404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Bring Artifacts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Sample BRD, user story, or process diagram you created. Tangible proof beats words.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0972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1143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Think Out 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14356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BAs solve problems in meetings. Narrate your reasoning when given a scenario.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0116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Know Your Tools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350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Be ready to name tools: Jira, Confluence, Visio, Excel, SQL, Power BI, Miro.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9260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9260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4068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Show Soft Skills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264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Communication &amp; empathy win over technical knowledge. BAs bridge gaps.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404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8404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4068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Follow 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Send a thank-you email within 24 hrs. Mention one specific topic discussed.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CBAP®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Certified Business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Analysis Professional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</a:rPr>
              <a:t>by IIBA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• 7,500 hrs BA experience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035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• 900 hrs in 4+ KAs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• 21 PD hours training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6210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• 2 professional references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💰 ~$125/hr salary boost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CBAP Exam Breakdown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749808"/>
            <a:ext cx="51206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960120"/>
            <a:ext cx="512064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960120"/>
            <a:ext cx="73152" cy="5303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13632" y="1014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Business Analysis Planning &amp; Monitoring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051560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0" y="10515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1581912"/>
            <a:ext cx="512064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49040" y="1581912"/>
            <a:ext cx="73152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13632" y="16367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Elicitation &amp; Collaboration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1673352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16733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2203704"/>
            <a:ext cx="512064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49040" y="2203704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13632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Requirements Life Cycle Management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295144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46720" y="22951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2825496"/>
            <a:ext cx="512064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49040" y="2825496"/>
            <a:ext cx="73152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13632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Strategy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916936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291693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13%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49040" y="3447288"/>
            <a:ext cx="512064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49040" y="3447288"/>
            <a:ext cx="7315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13632" y="3502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Requirements Analysis &amp; Design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46720" y="3538728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46720" y="3538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27%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49040" y="4069080"/>
            <a:ext cx="512064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749040" y="4069080"/>
            <a:ext cx="7315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13632" y="41239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Solution Evaluation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0" y="4160520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46720" y="4160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19%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749040" y="4754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120 Qs · 3.5 hrs · 70%+ to pass · Renew every 3 years (60 CDUs)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CSM® — Certified ScrumMaster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by Scrum Alliance — Perfect complement for BA roles in Agile teams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931920" cy="4572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WHAT YOU NEED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🎓  Attend 16-hr in-person/online CSM class (mandatory)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📝  Pass online exam: 50 Qs, 60 mins, 74% pass mark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✅  No prior Scrum experience required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💲  Cost: ~$400-800 USD (includes 2-yr membership)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🔄  Renew every 2 years (20 SEUs required)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HOW TO PREPARE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1. Read the Scrum Guide (free – scrumguides.org)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2. Memorize: Sprint, Ceremonies, Artifacts, 3 Roles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3. Practice: Mihail Lefter or Udemy CSM flashcards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4. Understand differences: PO vs SM vs Dev Team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5. Know velocity, burndown, Definition of Done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6. Take mock tests on ScrumQuiz or Quizlet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💡  Pro Tip: CSM + CBAP together puts you in the top 5% of BA candidates globally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1A2F5A">
              <a:alpha val="60000"/>
            </a:srgbClr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13716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ENTRY LEVEL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097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ECBA®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434840" y="201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</a:rPr>
              <a:t>Entry Certificate in Business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502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by IIBA — Perfect for Final-Year CS Students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932688"/>
            <a:ext cx="2651760" cy="3931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932688"/>
            <a:ext cx="2651760" cy="402336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9326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📋  WHO CAN APPLY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417320"/>
            <a:ext cx="25603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1563624"/>
            <a:ext cx="201168" cy="20116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141732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Final-year student OR fresh graduate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84248"/>
            <a:ext cx="25603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1305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1984248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NO work experience required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51176"/>
            <a:ext cx="25603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2697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2551176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21 Professional Development (PD) hours of BA training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18104"/>
            <a:ext cx="25603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326440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118104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IIBA student membership is FREE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85032"/>
            <a:ext cx="25603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048" y="3831336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3685032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Exam is online — take from anywhere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51960"/>
            <a:ext cx="25603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4398264"/>
            <a:ext cx="201168" cy="20116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" y="4251960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Cost: ~$125 USD (IIBA member price)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63240" y="932688"/>
            <a:ext cx="2788920" cy="3931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63240" y="932688"/>
            <a:ext cx="27889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54680" y="93268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🧠  HOW TO PREPARE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108960" y="1417320"/>
            <a:ext cx="26974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82112" y="143560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50 MCQ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82112" y="16916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Questions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78224" y="143560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60 min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78224" y="16916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Duration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74336" y="143560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65%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74336" y="16916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Pass Mark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27248" y="20299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27248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0" y="202996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Read BABOK® Guide v3 (free summary on IIBA site)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27248" y="251460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127248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251460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Complete a 21-hr online BA course (Udemy / Coursera)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27248" y="299923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127248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0" y="299923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Study 6 BABOK Knowledge Areas deeply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127248" y="3483864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27248" y="3483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74720" y="3483864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Take mock tests: iZenBridge, BATimes, Quizlet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127248" y="396849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127248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74720" y="3968496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Join IIBA study groups on LinkedIn/Facebook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27248" y="445312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127248" y="4453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74720" y="445312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Apply in 4–6 weeks — it's designed for students!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35040" y="932688"/>
            <a:ext cx="2880360" cy="3931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35040" y="932688"/>
            <a:ext cx="288036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126480" y="93268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🚀  WHY GET IT?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080760" y="1417320"/>
            <a:ext cx="27889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080760" y="1417320"/>
            <a:ext cx="36576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153912" y="156362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46520" y="1435608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Job-Ready Signal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446520" y="1636776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Proves BA knowledge to employers — no experience needed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80760" y="1984248"/>
            <a:ext cx="27889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080760" y="1984248"/>
            <a:ext cx="36576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153912" y="21305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446520" y="200253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Salary Edge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446520" y="2203704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10–20% higher starting offers vs non-certified peers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80760" y="2551176"/>
            <a:ext cx="27889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80760" y="2551176"/>
            <a:ext cx="36576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153912" y="2697480"/>
            <a:ext cx="201168" cy="20116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446520" y="2569464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Interview Shortlist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446520" y="2770632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ECBA on CV = instant credibility at HR screening stage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80760" y="3118104"/>
            <a:ext cx="27889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080760" y="3118104"/>
            <a:ext cx="36576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153912" y="32644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446520" y="3136392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CBAP Pathway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446520" y="3337560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Counts toward CBAP/CCBA once you gain experience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080760" y="3685032"/>
            <a:ext cx="27889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080760" y="3685032"/>
            <a:ext cx="36576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153912" y="3831336"/>
            <a:ext cx="201168" cy="20116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46520" y="3703320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Global Recognition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46520" y="3904488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Accepted in Pakistan, UAE, UK, Canada, USA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080760" y="4251960"/>
            <a:ext cx="278892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080760" y="4251960"/>
            <a:ext cx="36576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153912" y="4398264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46520" y="4270248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Fast to Get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446520" y="4471416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4–6 weeks prep. Achievable BEFORE graduation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⭐  ECBA is the only IIBA certification with ZERO experience required — Get it before your first job and walk in ahead of everyone else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 Roadmap — Which One First?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51760" cy="7772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START 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CSM®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Scrum Alliance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⏱  Requirement: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1-2 days class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exam. (Pakistan Agile Education for Training)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💵  Exam Fee: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~$300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👤  Best For: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Fresh grads, Agile teams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651760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868680"/>
            <a:ext cx="26517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ECBA 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PMI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⏱  Requirement: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21 hrs. training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IIBA Membership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880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💵  Exam Fee: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~$125 (member)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703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👤  Best For: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Final year students &amp;</a:t>
            </a:r>
            <a:br>
              <a:rPr lang="en-US" sz="1000" dirty="0">
                <a:solidFill>
                  <a:srgbClr val="1E293B"/>
                </a:solidFill>
              </a:rPr>
            </a:br>
            <a:r>
              <a:rPr lang="en-US" sz="1000" dirty="0">
                <a:solidFill>
                  <a:srgbClr val="1E293B"/>
                </a:solidFill>
              </a:rPr>
              <a:t>Fresh Graduates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868680"/>
            <a:ext cx="2651760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868680"/>
            <a:ext cx="265176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GOAL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CBAP®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3504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IIBA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057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⏱  Requirement: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7,500 hrs exp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+ 900 hrs in KAs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880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💵  Exam Fee: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~$325 (member)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703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👤  Best For: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Senior BA (5+ yrs)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79604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📈  Salary Impact of Certifications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4832604"/>
            <a:ext cx="640080" cy="1508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0" y="46040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3E"/>
                </a:solidFill>
              </a:rPr>
              <a:t>$55K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0" y="5001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No Cert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23560" y="4796942"/>
            <a:ext cx="640080" cy="18653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23560" y="456834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3E"/>
                </a:solidFill>
              </a:rPr>
              <a:t>$68K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23560" y="5001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CSM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4758538"/>
            <a:ext cx="640080" cy="2249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75120" y="452993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3E"/>
                </a:solidFill>
              </a:rPr>
              <a:t>$82K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75120" y="5001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ECBA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726680" y="4714646"/>
            <a:ext cx="640080" cy="26883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26680" y="448604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3E"/>
                </a:solidFill>
              </a:rPr>
              <a:t>$98K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26680" y="5001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CBAP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Final Exam — What to Expect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This is a comprehensive, case-study driven exam — not a memorization 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</a:rPr>
              <a:t>📝  EXAM 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8404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73152" cy="9144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367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A8"/>
                </a:solidFill>
              </a:rPr>
              <a:t>Section A — MCQ — Objective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30 marks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20–25 questions covering all 16 weeks.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Case-based MCQs (not pure recall)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38404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883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Section B — Short Answer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25 marks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Scenario-based Qs. Define, compare,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apply concepts from course.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384048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73152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739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580C"/>
                </a:solidFill>
              </a:rPr>
              <a:t>Section C — Full Case Study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0507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45 marks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One large real-world scenario requiring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BRD, BPMN, KPIs, stakeholder plan,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and Agile user stories.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C2626"/>
                </a:solidFill>
              </a:rPr>
              <a:t>🎯  WHY IT'S TOUGH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⚡  Integrates concepts across ALL weeks — no siloed answers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122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⚡  Case study requires you to think like a real BA, not a student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624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⚡  MCQs have plausible distractors — context matters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136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⚡  You must justify your choices (no rote answers)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6484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⚡  Time pressure: 3 hours for all three sections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⚡  Partial marks in Section C — structure and reasoning matter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690872"/>
            <a:ext cx="8595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690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Pass criteria: 50% overall + must score in ALL three sections individually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— Sample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</a:rPr>
              <a:t>📋  THE SCENARIO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SuperMart, a mid-size retail chain, wants to digitize its inventory management. Currently, stockouts cause 15% revenue loss. They have 200 stores, 500 employees, and a 6-month deadline. Budget: $2M. Stakeholders include: CEO, IT Director, Store Managers, Warehouse Staff, and Customers.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54864" cy="84124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Stakeholder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3957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Power-Interest grid + RACI. Identify champions, resistors, and neutral parties.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3558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Write 3 business requirements, 4 functional, 2 non-functional, and 2 user stories with acceptance criteria.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54864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BPMN 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315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Model AS-IS inventory process. Identify 2 bottlenecks. Sketch TO-BE with improvements.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21024" y="2046457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21024" y="2046457"/>
            <a:ext cx="54864" cy="8412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30752" y="209217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15384" y="2092177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KPI Design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0752" y="2430505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Define 4 KPIs for inventory system success. Include formula, target, and measurement frequency.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6452" y="29718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21024" y="2972648"/>
            <a:ext cx="54864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30752" y="305229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15384" y="3052297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Agile Backlog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30752" y="3285469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Create a product backlog with 5 prioritized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epics/user stories. Assign to 3 sprints.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</a:rPr>
              <a:t>💡  Exam Tip: Structure your answer with headings. Examiner marks reasoning + completeness, not perfection.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Exam Preparation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59669"/>
                </a:solidFill>
              </a:rPr>
              <a:t>YOUR 2-WEEK COUNTDOWN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41148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 —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206240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Days 1-2: Re-read BRD, SRS, Use Cases, User Stories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Days 3-4: Process modeling — redraw 2 BPMN diagrams from scratch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 5: Analytics, KPIs, and data visualization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735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 6: Agile/Scrum deep dive — memorize ceremonies &amp; artifacts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2219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 7: Ethics, privacy, and professional conduct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20624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143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2 — PRACTICE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4206240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62763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Days 1-2: Do 2 full mock case studies (timed)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Days 3-4: MCQ practice on all topics — aim for 80%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2491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 5: Peer study session — quiz each other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2735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 6: Review your weakest topic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82219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Day 7: Light review, sleep early, NO cramming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📌  Mnemonics: BACCM · MoSCoW · SMART · RACI · SWOT · PESTLE · AS-IS/TO-BE · SIPOC · BPMN Events/Gateways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Career Launch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From CS Graduate → Professional Business Analyst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14800" cy="4572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📁  Month 1-2 — Build Your Portfolio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Create sample BRD for a real app (e.g., food delivery)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Draw 2 BPMN diagrams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Design a Power BI dashboard on public dataset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Upload everything to GitHub/LinkedIn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🏅  Month 2-3 — Certify &amp; Network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Take CSM course online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Join IIBA student chapter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Attend 2 local BA/tech meetups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505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Connect with 10 BAs on LinkedIn weekly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3108960"/>
            <a:ext cx="41148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 Month 3-6 — Apply Strategically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Target: Junior BA, Business Systems Analyst, Product Analyst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Tailor CV for each role (ATS keywords)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Apply to 5 roles/week minimum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517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Practice mock interviews with peers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108960"/>
            <a:ext cx="41148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📈  Year 1-2 — Grow on the Job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Volunteer for complex projects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Track hours for CBAP eligibility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Mentor juniors — solidifies knowledge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4517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Aim for PMI-PBA after 2 yrs experience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These Tools — The BA Toolkit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600200" cy="5029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1627632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627632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Jira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258568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25856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Confluence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889504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889504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Azure DevOps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3520440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352044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IBM DOORS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56816" y="1005840"/>
            <a:ext cx="160020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56816" y="1005840"/>
            <a:ext cx="1600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56816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56816" y="126187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Process Modeling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66544" y="1627632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66544" y="1627632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Visio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66544" y="2258568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66544" y="225856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Lucidchart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66544" y="2889504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66544" y="2889504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draw.io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66544" y="3520440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66544" y="352044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Bizagi Modeler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30752" y="1005840"/>
            <a:ext cx="160020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730752" y="1005840"/>
            <a:ext cx="1600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30752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30752" y="126187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&amp; Analytics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1627632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0" y="1627632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2258568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0" y="225856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Tableau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2889504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0" y="2889504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3520440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40480" y="352044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Google Analytics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04688" y="1005840"/>
            <a:ext cx="160020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04688" y="1005840"/>
            <a:ext cx="1600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04688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🤝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04688" y="126187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Collaboration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14416" y="1627632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14416" y="1627632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Miro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14416" y="2258568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14416" y="225856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Slack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14416" y="2889504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14416" y="2889504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MS Teams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14416" y="3520440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14416" y="352044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78624" y="1005840"/>
            <a:ext cx="1600200" cy="3200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278624" y="1005840"/>
            <a:ext cx="1600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278624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🗄️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278624" y="126187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 / SQL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88352" y="1627632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88352" y="1627632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88352" y="2258568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88352" y="2258568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88352" y="2889504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388352" y="2889504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 Server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88352" y="3520440"/>
            <a:ext cx="1380744" cy="50292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88352" y="3520440"/>
            <a:ext cx="1380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BigQuery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82880" y="4370832"/>
            <a:ext cx="8778240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4407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🏆  Priority Order for Job Seekers: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291840" y="44074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Excel → SQL → Jira → Power BI → Lucidchart → Confluence   (Learn the top 3 before your first interview)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</a:rPr>
              <a:t>Proficiency in these 6 tools covers 80% of BA job postings in Pakistan, UAE, UK &amp; North America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1A2F5A">
              <a:alpha val="50000"/>
            </a:srgbClr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Business Analyst doesn't just document requirements —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translate the language of business into the language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technology, and back again.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</a:rPr>
              <a:t>— The Role You Are Now Prepared For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7680960" cy="0"/>
          </a:xfrm>
          <a:prstGeom prst="line">
            <a:avLst/>
          </a:prstGeom>
          <a:noFill/>
          <a:ln w="12700">
            <a:solidFill>
              <a:srgbClr val="00A8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</a:rPr>
              <a:t>TAKE THESE 5 THINGS INTO THE WORLD: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🎯  Think in outcomes, not just outputs. Always ask: What problem does this solve?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🤝  Soft skills will take you further than any tool. Master listening first.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📚  Never stop learning. BA is a growing field — stay curious, stay certified.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6966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💡  Your CS background is your superpower. You understand both worlds.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51713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🚀  You are ready. Your first step is to take the first step.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54F985-0FC1-B51F-3119-0519981D895A}"/>
              </a:ext>
            </a:extLst>
          </p:cNvPr>
          <p:cNvSpPr txBox="1"/>
          <p:nvPr/>
        </p:nvSpPr>
        <p:spPr>
          <a:xfrm>
            <a:off x="2286000" y="2390092"/>
            <a:ext cx="6068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https://www.linkedin.com/in/smaspk/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368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2666</Words>
  <Application>Microsoft Macintosh PowerPoint</Application>
  <PresentationFormat>On-screen Show (16:9)</PresentationFormat>
  <Paragraphs>442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MG4526 Business Analysis – Final Closing Lecture</dc:title>
  <dc:subject>PptxGenJS Presentation</dc:subject>
  <dc:creator>PptxGenJS</dc:creator>
  <cp:lastModifiedBy>Moiz Shah</cp:lastModifiedBy>
  <cp:revision>4</cp:revision>
  <dcterms:created xsi:type="dcterms:W3CDTF">2026-05-07T15:57:51Z</dcterms:created>
  <dcterms:modified xsi:type="dcterms:W3CDTF">2026-05-08T07:37:09Z</dcterms:modified>
</cp:coreProperties>
</file>