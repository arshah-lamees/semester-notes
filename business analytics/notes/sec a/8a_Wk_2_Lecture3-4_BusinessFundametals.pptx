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6"/>
  </p:notesMasterIdLst>
  <p:sldIdLst>
    <p:sldId id="256" r:id="rId2"/>
    <p:sldId id="345" r:id="rId3"/>
    <p:sldId id="357" r:id="rId4"/>
    <p:sldId id="347" r:id="rId5"/>
    <p:sldId id="360" r:id="rId6"/>
    <p:sldId id="362" r:id="rId7"/>
    <p:sldId id="380" r:id="rId8"/>
    <p:sldId id="377" r:id="rId9"/>
    <p:sldId id="381" r:id="rId10"/>
    <p:sldId id="379" r:id="rId11"/>
    <p:sldId id="373" r:id="rId12"/>
    <p:sldId id="382" r:id="rId13"/>
    <p:sldId id="374" r:id="rId14"/>
    <p:sldId id="371"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feeza Iqbal" initials="MI" lastIdx="1" clrIdx="0">
    <p:extLst>
      <p:ext uri="{19B8F6BF-5375-455C-9EA6-DF929625EA0E}">
        <p15:presenceInfo xmlns:p15="http://schemas.microsoft.com/office/powerpoint/2012/main" userId="Mufeeza Iqb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75C4"/>
    <a:srgbClr val="D4E5F7"/>
    <a:srgbClr val="E3EEFD"/>
    <a:srgbClr val="BAE2D1"/>
    <a:srgbClr val="EC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09" autoAdjust="0"/>
    <p:restoredTop sz="94741"/>
  </p:normalViewPr>
  <p:slideViewPr>
    <p:cSldViewPr snapToGrid="0">
      <p:cViewPr varScale="1">
        <p:scale>
          <a:sx n="90" d="100"/>
          <a:sy n="90" d="100"/>
        </p:scale>
        <p:origin x="232" y="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A3216-91D5-43D0-B205-F0CBF00F2A3B}" type="datetimeFigureOut">
              <a:rPr lang="en-PK" smtClean="0"/>
              <a:t>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8AE2D-6C56-4B4B-AC93-0FCEBED5A4D6}" type="slidenum">
              <a:rPr lang="en-PK" smtClean="0"/>
              <a:t>‹#›</a:t>
            </a:fld>
            <a:endParaRPr lang="en-PK"/>
          </a:p>
        </p:txBody>
      </p:sp>
    </p:spTree>
    <p:extLst>
      <p:ext uri="{BB962C8B-B14F-4D97-AF65-F5344CB8AC3E}">
        <p14:creationId xmlns:p14="http://schemas.microsoft.com/office/powerpoint/2010/main" val="10920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3</a:t>
            </a:fld>
            <a:endParaRPr lang="en-PK"/>
          </a:p>
        </p:txBody>
      </p:sp>
    </p:spTree>
    <p:extLst>
      <p:ext uri="{BB962C8B-B14F-4D97-AF65-F5344CB8AC3E}">
        <p14:creationId xmlns:p14="http://schemas.microsoft.com/office/powerpoint/2010/main" val="1577694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4</a:t>
            </a:fld>
            <a:endParaRPr lang="en-PK"/>
          </a:p>
        </p:txBody>
      </p:sp>
    </p:spTree>
    <p:extLst>
      <p:ext uri="{BB962C8B-B14F-4D97-AF65-F5344CB8AC3E}">
        <p14:creationId xmlns:p14="http://schemas.microsoft.com/office/powerpoint/2010/main" val="2259390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5</a:t>
            </a:fld>
            <a:endParaRPr lang="en-PK"/>
          </a:p>
        </p:txBody>
      </p:sp>
    </p:spTree>
    <p:extLst>
      <p:ext uri="{BB962C8B-B14F-4D97-AF65-F5344CB8AC3E}">
        <p14:creationId xmlns:p14="http://schemas.microsoft.com/office/powerpoint/2010/main" val="2325630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6</a:t>
            </a:fld>
            <a:endParaRPr lang="en-PK"/>
          </a:p>
        </p:txBody>
      </p:sp>
    </p:spTree>
    <p:extLst>
      <p:ext uri="{BB962C8B-B14F-4D97-AF65-F5344CB8AC3E}">
        <p14:creationId xmlns:p14="http://schemas.microsoft.com/office/powerpoint/2010/main" val="1700168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7</a:t>
            </a:fld>
            <a:endParaRPr lang="en-PK"/>
          </a:p>
        </p:txBody>
      </p:sp>
    </p:spTree>
    <p:extLst>
      <p:ext uri="{BB962C8B-B14F-4D97-AF65-F5344CB8AC3E}">
        <p14:creationId xmlns:p14="http://schemas.microsoft.com/office/powerpoint/2010/main" val="1277716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8</a:t>
            </a:fld>
            <a:endParaRPr lang="en-PK"/>
          </a:p>
        </p:txBody>
      </p:sp>
    </p:spTree>
    <p:extLst>
      <p:ext uri="{BB962C8B-B14F-4D97-AF65-F5344CB8AC3E}">
        <p14:creationId xmlns:p14="http://schemas.microsoft.com/office/powerpoint/2010/main" val="287867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9</a:t>
            </a:fld>
            <a:endParaRPr lang="en-PK"/>
          </a:p>
        </p:txBody>
      </p:sp>
    </p:spTree>
    <p:extLst>
      <p:ext uri="{BB962C8B-B14F-4D97-AF65-F5344CB8AC3E}">
        <p14:creationId xmlns:p14="http://schemas.microsoft.com/office/powerpoint/2010/main" val="3424439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10</a:t>
            </a:fld>
            <a:endParaRPr lang="en-PK"/>
          </a:p>
        </p:txBody>
      </p:sp>
    </p:spTree>
    <p:extLst>
      <p:ext uri="{BB962C8B-B14F-4D97-AF65-F5344CB8AC3E}">
        <p14:creationId xmlns:p14="http://schemas.microsoft.com/office/powerpoint/2010/main" val="2633602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11</a:t>
            </a:fld>
            <a:endParaRPr lang="en-PK"/>
          </a:p>
        </p:txBody>
      </p:sp>
    </p:spTree>
    <p:extLst>
      <p:ext uri="{BB962C8B-B14F-4D97-AF65-F5344CB8AC3E}">
        <p14:creationId xmlns:p14="http://schemas.microsoft.com/office/powerpoint/2010/main" val="678120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12</a:t>
            </a:fld>
            <a:endParaRPr lang="en-PK"/>
          </a:p>
        </p:txBody>
      </p:sp>
    </p:spTree>
    <p:extLst>
      <p:ext uri="{BB962C8B-B14F-4D97-AF65-F5344CB8AC3E}">
        <p14:creationId xmlns:p14="http://schemas.microsoft.com/office/powerpoint/2010/main" val="3268819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13</a:t>
            </a:fld>
            <a:endParaRPr lang="en-PK"/>
          </a:p>
        </p:txBody>
      </p:sp>
    </p:spTree>
    <p:extLst>
      <p:ext uri="{BB962C8B-B14F-4D97-AF65-F5344CB8AC3E}">
        <p14:creationId xmlns:p14="http://schemas.microsoft.com/office/powerpoint/2010/main" val="235829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14</a:t>
            </a:fld>
            <a:endParaRPr lang="en-PK"/>
          </a:p>
        </p:txBody>
      </p:sp>
    </p:spTree>
    <p:extLst>
      <p:ext uri="{BB962C8B-B14F-4D97-AF65-F5344CB8AC3E}">
        <p14:creationId xmlns:p14="http://schemas.microsoft.com/office/powerpoint/2010/main" val="1323365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92AE-3475-5519-9CD2-B3813CA2A3E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C69BC997-4B8A-9709-FA3F-2812ED29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PK" dirty="0"/>
          </a:p>
        </p:txBody>
      </p:sp>
      <p:sp>
        <p:nvSpPr>
          <p:cNvPr id="4" name="Date Placeholder 3">
            <a:extLst>
              <a:ext uri="{FF2B5EF4-FFF2-40B4-BE49-F238E27FC236}">
                <a16:creationId xmlns:a16="http://schemas.microsoft.com/office/drawing/2014/main" id="{0CEDD1C2-A443-3425-F1A3-450EEF2D63F4}"/>
              </a:ext>
            </a:extLst>
          </p:cNvPr>
          <p:cNvSpPr>
            <a:spLocks noGrp="1"/>
          </p:cNvSpPr>
          <p:nvPr>
            <p:ph type="dt" sz="half" idx="10"/>
          </p:nvPr>
        </p:nvSpPr>
        <p:spPr/>
        <p:txBody>
          <a:bodyPr/>
          <a:lstStyle/>
          <a:p>
            <a:fld id="{F2E0BE24-4914-473D-86E2-D4EE0B0E90C7}" type="datetime8">
              <a:rPr lang="en-PK" smtClean="0"/>
              <a:t>2/20/26 1:55 PM</a:t>
            </a:fld>
            <a:endParaRPr lang="en-PK"/>
          </a:p>
        </p:txBody>
      </p:sp>
      <p:sp>
        <p:nvSpPr>
          <p:cNvPr id="5" name="Footer Placeholder 4">
            <a:extLst>
              <a:ext uri="{FF2B5EF4-FFF2-40B4-BE49-F238E27FC236}">
                <a16:creationId xmlns:a16="http://schemas.microsoft.com/office/drawing/2014/main" id="{80BE2A3E-9208-EDCE-DEBB-4D93373674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7EF72C-8D9E-F888-7543-7E09C4BFD1ED}"/>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97009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9ADE-7B08-A01C-72DF-FE9993CEE412}"/>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7607FC3-A55A-4A8D-FCDC-D328082DEE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81EEBE8E-9BB1-B225-5B4C-55AEA4E7FB3F}"/>
              </a:ext>
            </a:extLst>
          </p:cNvPr>
          <p:cNvSpPr>
            <a:spLocks noGrp="1"/>
          </p:cNvSpPr>
          <p:nvPr>
            <p:ph type="dt" sz="half" idx="10"/>
          </p:nvPr>
        </p:nvSpPr>
        <p:spPr/>
        <p:txBody>
          <a:bodyPr/>
          <a:lstStyle/>
          <a:p>
            <a:fld id="{9E39EF77-D47F-4BB1-86E4-5F455460BD9C}" type="datetime8">
              <a:rPr lang="en-PK" smtClean="0"/>
              <a:t>2/20/26 1:55 PM</a:t>
            </a:fld>
            <a:endParaRPr lang="en-PK"/>
          </a:p>
        </p:txBody>
      </p:sp>
      <p:sp>
        <p:nvSpPr>
          <p:cNvPr id="5" name="Footer Placeholder 4">
            <a:extLst>
              <a:ext uri="{FF2B5EF4-FFF2-40B4-BE49-F238E27FC236}">
                <a16:creationId xmlns:a16="http://schemas.microsoft.com/office/drawing/2014/main" id="{1C5AE679-F999-E1F9-0F77-DEA6D71319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877F485-BD67-E327-64C3-D7E71B9E5CDC}"/>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9104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A042-DF09-56BB-8638-29DBAD3887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E1508DB-FFA7-6D03-67FA-3EF149A1B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4BE1E-EE08-ACCC-1271-2F5E25CAF127}"/>
              </a:ext>
            </a:extLst>
          </p:cNvPr>
          <p:cNvSpPr>
            <a:spLocks noGrp="1"/>
          </p:cNvSpPr>
          <p:nvPr>
            <p:ph type="dt" sz="half" idx="10"/>
          </p:nvPr>
        </p:nvSpPr>
        <p:spPr/>
        <p:txBody>
          <a:bodyPr/>
          <a:lstStyle/>
          <a:p>
            <a:fld id="{8081A5AA-2A6E-43F2-9F30-AF7EED5FA600}" type="datetime8">
              <a:rPr lang="en-PK" smtClean="0"/>
              <a:t>2/20/26 1:55 PM</a:t>
            </a:fld>
            <a:endParaRPr lang="en-PK"/>
          </a:p>
        </p:txBody>
      </p:sp>
      <p:sp>
        <p:nvSpPr>
          <p:cNvPr id="5" name="Footer Placeholder 4">
            <a:extLst>
              <a:ext uri="{FF2B5EF4-FFF2-40B4-BE49-F238E27FC236}">
                <a16:creationId xmlns:a16="http://schemas.microsoft.com/office/drawing/2014/main" id="{C3D9D85B-5C96-E835-D822-93C86F7831C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F1899E9-E472-DD15-F881-200436473BF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0103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7FCC-3AE3-0214-F9D4-FCB15D614000}"/>
              </a:ext>
            </a:extLst>
          </p:cNvPr>
          <p:cNvSpPr>
            <a:spLocks noGrp="1"/>
          </p:cNvSpPr>
          <p:nvPr>
            <p:ph type="title"/>
          </p:nvPr>
        </p:nvSpPr>
        <p:spPr/>
        <p:txBody>
          <a:bodyPr/>
          <a:lstStyle>
            <a:lvl1pPr>
              <a:defRPr sz="2800" b="1" i="0" baseline="0">
                <a:solidFill>
                  <a:srgbClr val="0070C0"/>
                </a:solidFill>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8207161E-F706-1674-13DB-BACD4723176A}"/>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Content Placeholder 3">
            <a:extLst>
              <a:ext uri="{FF2B5EF4-FFF2-40B4-BE49-F238E27FC236}">
                <a16:creationId xmlns:a16="http://schemas.microsoft.com/office/drawing/2014/main" id="{57CA0A05-46B6-960E-7368-B2CE54CC3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F639986-E720-F1B7-36F9-B2708004C907}"/>
              </a:ext>
            </a:extLst>
          </p:cNvPr>
          <p:cNvSpPr>
            <a:spLocks noGrp="1"/>
          </p:cNvSpPr>
          <p:nvPr>
            <p:ph type="dt" sz="half" idx="10"/>
          </p:nvPr>
        </p:nvSpPr>
        <p:spPr/>
        <p:txBody>
          <a:bodyPr/>
          <a:lstStyle/>
          <a:p>
            <a:fld id="{9E4E2CB0-8F81-407D-9308-759F0E533D95}" type="datetime8">
              <a:rPr lang="en-PK" smtClean="0"/>
              <a:t>2/20/26 1:55 PM</a:t>
            </a:fld>
            <a:endParaRPr lang="en-PK"/>
          </a:p>
        </p:txBody>
      </p:sp>
      <p:sp>
        <p:nvSpPr>
          <p:cNvPr id="6" name="Footer Placeholder 5">
            <a:extLst>
              <a:ext uri="{FF2B5EF4-FFF2-40B4-BE49-F238E27FC236}">
                <a16:creationId xmlns:a16="http://schemas.microsoft.com/office/drawing/2014/main" id="{108C3A9C-BA81-3B68-288D-EB7FD47FFBA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EAEAC4-C699-2232-BD98-7252DC5E195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606244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A8C3-75DD-1313-ABA5-5D3FFA02C9DA}"/>
              </a:ext>
            </a:extLst>
          </p:cNvPr>
          <p:cNvSpPr>
            <a:spLocks noGrp="1"/>
          </p:cNvSpPr>
          <p:nvPr>
            <p:ph type="title"/>
          </p:nvPr>
        </p:nvSpPr>
        <p:spPr>
          <a:xfrm>
            <a:off x="839788" y="365125"/>
            <a:ext cx="10515600" cy="1325563"/>
          </a:xfrm>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C77D5B1-50C2-CF91-9D88-610914E27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35284C-0315-C6F1-CA04-F3E219D15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C47C534-C2F2-A37B-C431-9DF8A42B3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A4DAB-49CA-2EFC-9842-564884678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64688EE-799F-3F23-A121-4F674361A703}"/>
              </a:ext>
            </a:extLst>
          </p:cNvPr>
          <p:cNvSpPr>
            <a:spLocks noGrp="1"/>
          </p:cNvSpPr>
          <p:nvPr>
            <p:ph type="dt" sz="half" idx="10"/>
          </p:nvPr>
        </p:nvSpPr>
        <p:spPr/>
        <p:txBody>
          <a:bodyPr/>
          <a:lstStyle/>
          <a:p>
            <a:fld id="{6F0FBD63-32C8-45D6-BE9D-408F278BE9C8}" type="datetime8">
              <a:rPr lang="en-PK" smtClean="0"/>
              <a:t>2/20/26 1:55 PM</a:t>
            </a:fld>
            <a:endParaRPr lang="en-PK"/>
          </a:p>
        </p:txBody>
      </p:sp>
      <p:sp>
        <p:nvSpPr>
          <p:cNvPr id="8" name="Footer Placeholder 7">
            <a:extLst>
              <a:ext uri="{FF2B5EF4-FFF2-40B4-BE49-F238E27FC236}">
                <a16:creationId xmlns:a16="http://schemas.microsoft.com/office/drawing/2014/main" id="{93E4848C-55D2-9A77-36F1-FAD52DCB085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D5D59BD-56E3-4753-6C9F-3B1F4CE0BE6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93030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AC4B4-FA75-C85D-E743-3DB6E5DB7351}"/>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2FDF645E-1294-7708-0DA4-EDA61782FD91}"/>
              </a:ext>
            </a:extLst>
          </p:cNvPr>
          <p:cNvSpPr>
            <a:spLocks noGrp="1"/>
          </p:cNvSpPr>
          <p:nvPr>
            <p:ph type="dt" sz="half" idx="10"/>
          </p:nvPr>
        </p:nvSpPr>
        <p:spPr/>
        <p:txBody>
          <a:bodyPr/>
          <a:lstStyle/>
          <a:p>
            <a:fld id="{165A7C61-2664-45A8-9CA0-D9D546B35364}" type="datetime8">
              <a:rPr lang="en-PK" smtClean="0"/>
              <a:t>2/20/26 1:55 PM</a:t>
            </a:fld>
            <a:endParaRPr lang="en-PK"/>
          </a:p>
        </p:txBody>
      </p:sp>
      <p:sp>
        <p:nvSpPr>
          <p:cNvPr id="4" name="Footer Placeholder 3">
            <a:extLst>
              <a:ext uri="{FF2B5EF4-FFF2-40B4-BE49-F238E27FC236}">
                <a16:creationId xmlns:a16="http://schemas.microsoft.com/office/drawing/2014/main" id="{4E69AFA9-8467-3A28-7BFF-CA12EF3CA43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08D24441-1E31-6A33-D8E8-781D599AD10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29236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448-39E8-68A0-B712-84409BF4EB3A}"/>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E7243484-DEAD-0EB1-DC5F-24E6FD4BABC5}"/>
              </a:ext>
            </a:extLst>
          </p:cNvPr>
          <p:cNvSpPr>
            <a:spLocks noGrp="1"/>
          </p:cNvSpPr>
          <p:nvPr>
            <p:ph type="dt" sz="half" idx="10"/>
          </p:nvPr>
        </p:nvSpPr>
        <p:spPr/>
        <p:txBody>
          <a:bodyPr/>
          <a:lstStyle/>
          <a:p>
            <a:fld id="{D7C78C6A-94B1-48CD-B95C-7BBCF06B539F}" type="datetime8">
              <a:rPr lang="en-PK" smtClean="0"/>
              <a:t>2/20/26 1:55 PM</a:t>
            </a:fld>
            <a:endParaRPr lang="en-PK"/>
          </a:p>
        </p:txBody>
      </p:sp>
      <p:sp>
        <p:nvSpPr>
          <p:cNvPr id="4" name="Footer Placeholder 3">
            <a:extLst>
              <a:ext uri="{FF2B5EF4-FFF2-40B4-BE49-F238E27FC236}">
                <a16:creationId xmlns:a16="http://schemas.microsoft.com/office/drawing/2014/main" id="{7BF8FE36-0300-3AD8-5E95-41E333E1816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3CC0281-9CE6-90B4-45F9-D9D954D12024}"/>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09204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53CB-8CBB-A3DD-2AD9-1CA37851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EF21173-6A64-ACDD-90B1-F466FBD62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C611703-8264-01ED-8E5E-06DFA98EE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018-0F9D-E6A7-30D4-FA1B94922608}"/>
              </a:ext>
            </a:extLst>
          </p:cNvPr>
          <p:cNvSpPr>
            <a:spLocks noGrp="1"/>
          </p:cNvSpPr>
          <p:nvPr>
            <p:ph type="dt" sz="half" idx="10"/>
          </p:nvPr>
        </p:nvSpPr>
        <p:spPr/>
        <p:txBody>
          <a:bodyPr/>
          <a:lstStyle/>
          <a:p>
            <a:fld id="{8885620F-E5D6-45BD-ABE4-D3E73AEC1059}" type="datetime8">
              <a:rPr lang="en-PK" smtClean="0"/>
              <a:t>2/20/26 1:55 PM</a:t>
            </a:fld>
            <a:endParaRPr lang="en-PK"/>
          </a:p>
        </p:txBody>
      </p:sp>
      <p:sp>
        <p:nvSpPr>
          <p:cNvPr id="6" name="Footer Placeholder 5">
            <a:extLst>
              <a:ext uri="{FF2B5EF4-FFF2-40B4-BE49-F238E27FC236}">
                <a16:creationId xmlns:a16="http://schemas.microsoft.com/office/drawing/2014/main" id="{EC9345B6-DE39-4DE7-B63A-020AA0C2594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077E181-66A9-8AF7-8FC6-FD18E1778D1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82188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E283-232A-203F-BE7E-C1FAB1898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5344E88-2CB0-6548-1689-37B5CD1D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AC45364-9FD1-5237-6F05-3CD9FF28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F029-9EDC-16AD-E233-F72153868CD3}"/>
              </a:ext>
            </a:extLst>
          </p:cNvPr>
          <p:cNvSpPr>
            <a:spLocks noGrp="1"/>
          </p:cNvSpPr>
          <p:nvPr>
            <p:ph type="dt" sz="half" idx="10"/>
          </p:nvPr>
        </p:nvSpPr>
        <p:spPr/>
        <p:txBody>
          <a:bodyPr/>
          <a:lstStyle/>
          <a:p>
            <a:fld id="{C0B36677-69CF-4F57-B961-69869666485F}" type="datetime8">
              <a:rPr lang="en-PK" smtClean="0"/>
              <a:t>2/20/26 1:55 PM</a:t>
            </a:fld>
            <a:endParaRPr lang="en-PK"/>
          </a:p>
        </p:txBody>
      </p:sp>
      <p:sp>
        <p:nvSpPr>
          <p:cNvPr id="6" name="Footer Placeholder 5">
            <a:extLst>
              <a:ext uri="{FF2B5EF4-FFF2-40B4-BE49-F238E27FC236}">
                <a16:creationId xmlns:a16="http://schemas.microsoft.com/office/drawing/2014/main" id="{566EAD10-9813-FA15-7AA3-F311C1514D6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6593DEC-A834-573B-8137-57A252A1E13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55392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6A8F-48A0-C1A4-C992-787E5B87AC6B}"/>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Vertical Text Placeholder 2">
            <a:extLst>
              <a:ext uri="{FF2B5EF4-FFF2-40B4-BE49-F238E27FC236}">
                <a16:creationId xmlns:a16="http://schemas.microsoft.com/office/drawing/2014/main" id="{9785B7C4-4FCF-3883-BC91-FDBC338D9E93}"/>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D6E4F67A-FCF1-D4E4-E162-793DEACCA4D9}"/>
              </a:ext>
            </a:extLst>
          </p:cNvPr>
          <p:cNvSpPr>
            <a:spLocks noGrp="1"/>
          </p:cNvSpPr>
          <p:nvPr>
            <p:ph type="dt" sz="half" idx="10"/>
          </p:nvPr>
        </p:nvSpPr>
        <p:spPr/>
        <p:txBody>
          <a:bodyPr/>
          <a:lstStyle/>
          <a:p>
            <a:fld id="{76AFB392-8D81-42DB-9470-C0982980A208}" type="datetime8">
              <a:rPr lang="en-PK" smtClean="0"/>
              <a:t>2/20/26 1:55 PM</a:t>
            </a:fld>
            <a:endParaRPr lang="en-PK"/>
          </a:p>
        </p:txBody>
      </p:sp>
      <p:sp>
        <p:nvSpPr>
          <p:cNvPr id="5" name="Footer Placeholder 4">
            <a:extLst>
              <a:ext uri="{FF2B5EF4-FFF2-40B4-BE49-F238E27FC236}">
                <a16:creationId xmlns:a16="http://schemas.microsoft.com/office/drawing/2014/main" id="{1FD6A201-A7CA-71B8-8718-9897B03FE15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B9A3F33-5AA9-E112-2ABF-79F547887F53}"/>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62684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59074-43DC-F3A1-F847-B382DA99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4F3AC57-AF5B-EC7C-207D-DD8781393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95FF8A-8F6C-7460-66BD-36FE94B2C2E8}"/>
              </a:ext>
            </a:extLst>
          </p:cNvPr>
          <p:cNvSpPr>
            <a:spLocks noGrp="1"/>
          </p:cNvSpPr>
          <p:nvPr>
            <p:ph type="dt" sz="half" idx="10"/>
          </p:nvPr>
        </p:nvSpPr>
        <p:spPr/>
        <p:txBody>
          <a:bodyPr/>
          <a:lstStyle/>
          <a:p>
            <a:fld id="{A3C8CE2D-4511-4580-808C-44E58A6F6871}" type="datetime8">
              <a:rPr lang="en-PK" smtClean="0"/>
              <a:t>2/20/26 1:55 PM</a:t>
            </a:fld>
            <a:endParaRPr lang="en-PK"/>
          </a:p>
        </p:txBody>
      </p:sp>
      <p:sp>
        <p:nvSpPr>
          <p:cNvPr id="5" name="Footer Placeholder 4">
            <a:extLst>
              <a:ext uri="{FF2B5EF4-FFF2-40B4-BE49-F238E27FC236}">
                <a16:creationId xmlns:a16="http://schemas.microsoft.com/office/drawing/2014/main" id="{8DBE7764-4D16-A8A5-2DA2-548355B8B7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EDDCA92-473C-706D-5019-016D87F1B60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42298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FF33B-CB98-4E49-F470-FDEB20A1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5895A451-6F13-E99E-AA74-118FE0705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7D6080-894B-699D-C377-9FCB24BB4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47E1-80FA-4B68-AED4-FB0D556219B2}" type="datetime8">
              <a:rPr lang="en-PK" smtClean="0"/>
              <a:t>2/20/26 1:55 PM</a:t>
            </a:fld>
            <a:endParaRPr lang="en-PK"/>
          </a:p>
        </p:txBody>
      </p:sp>
      <p:sp>
        <p:nvSpPr>
          <p:cNvPr id="5" name="Footer Placeholder 4">
            <a:extLst>
              <a:ext uri="{FF2B5EF4-FFF2-40B4-BE49-F238E27FC236}">
                <a16:creationId xmlns:a16="http://schemas.microsoft.com/office/drawing/2014/main" id="{4E1F34FF-7C89-DFB6-0D18-88EA7A4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1908851-096B-57D1-721E-52D426BA6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5646D-91FE-4030-A7F0-07F651F9A7F3}" type="slidenum">
              <a:rPr lang="en-PK" smtClean="0"/>
              <a:t>‹#›</a:t>
            </a:fld>
            <a:endParaRPr lang="en-PK"/>
          </a:p>
        </p:txBody>
      </p:sp>
    </p:spTree>
    <p:extLst>
      <p:ext uri="{BB962C8B-B14F-4D97-AF65-F5344CB8AC3E}">
        <p14:creationId xmlns:p14="http://schemas.microsoft.com/office/powerpoint/2010/main" val="50682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D80B44-5D51-DEB9-139E-D6588E08DCE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0A358E0-F332-E7D0-E6FF-67C0C524EC5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3CC7347E-773E-501C-BBCD-F143B41F9D1E}"/>
              </a:ext>
            </a:extLst>
          </p:cNvPr>
          <p:cNvSpPr>
            <a:spLocks noGrp="1"/>
          </p:cNvSpPr>
          <p:nvPr>
            <p:ph type="sldNum" sz="quarter" idx="12"/>
          </p:nvPr>
        </p:nvSpPr>
        <p:spPr/>
        <p:txBody>
          <a:bodyPr/>
          <a:lstStyle/>
          <a:p>
            <a:fld id="{8C95646D-91FE-4030-A7F0-07F651F9A7F3}" type="slidenum">
              <a:rPr lang="en-PK" smtClean="0"/>
              <a:t>1</a:t>
            </a:fld>
            <a:endParaRPr lang="en-PK"/>
          </a:p>
        </p:txBody>
      </p:sp>
      <p:pic>
        <p:nvPicPr>
          <p:cNvPr id="1028" name="Picture 4" descr="Download HD 55 Pm 52458 Fast University ...">
            <a:extLst>
              <a:ext uri="{FF2B5EF4-FFF2-40B4-BE49-F238E27FC236}">
                <a16:creationId xmlns:a16="http://schemas.microsoft.com/office/drawing/2014/main" id="{7C0E69E7-0624-E377-FC31-A9DAAD9B9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Blue Abstract Data Analysis Technology Background, Blue, Abstract ...">
            <a:extLst>
              <a:ext uri="{FF2B5EF4-FFF2-40B4-BE49-F238E27FC236}">
                <a16:creationId xmlns:a16="http://schemas.microsoft.com/office/drawing/2014/main" id="{AE2E633B-B89B-2AD6-B235-B52FC21A3B75}"/>
              </a:ext>
            </a:extLst>
          </p:cNvPr>
          <p:cNvPicPr>
            <a:picLocks noChangeAspect="1"/>
          </p:cNvPicPr>
          <p:nvPr/>
        </p:nvPicPr>
        <p:blipFill>
          <a:blip r:embed="rId3"/>
          <a:stretch>
            <a:fillRect/>
          </a:stretch>
        </p:blipFill>
        <p:spPr>
          <a:xfrm>
            <a:off x="-1" y="-1"/>
            <a:ext cx="12192001" cy="6853237"/>
          </a:xfrm>
          <a:prstGeom prst="rect">
            <a:avLst/>
          </a:prstGeom>
        </p:spPr>
      </p:pic>
    </p:spTree>
    <p:extLst>
      <p:ext uri="{BB962C8B-B14F-4D97-AF65-F5344CB8AC3E}">
        <p14:creationId xmlns:p14="http://schemas.microsoft.com/office/powerpoint/2010/main" val="17291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8744-A704-1C59-1304-02055AF7C58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E56C57-21E3-F72F-1B57-E9FD05DDB415}"/>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72D03E08-0EA6-164B-E5C0-0ABD98254645}"/>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4C9F7046-524C-B6E2-F233-6AA93275F5A6}"/>
              </a:ext>
            </a:extLst>
          </p:cNvPr>
          <p:cNvSpPr>
            <a:spLocks noGrp="1"/>
          </p:cNvSpPr>
          <p:nvPr>
            <p:ph type="sldNum" sz="quarter" idx="12"/>
          </p:nvPr>
        </p:nvSpPr>
        <p:spPr/>
        <p:txBody>
          <a:bodyPr/>
          <a:lstStyle/>
          <a:p>
            <a:fld id="{8C95646D-91FE-4030-A7F0-07F651F9A7F3}" type="slidenum">
              <a:rPr lang="en-PK" smtClean="0"/>
              <a:t>2</a:t>
            </a:fld>
            <a:endParaRPr lang="en-PK"/>
          </a:p>
        </p:txBody>
      </p:sp>
      <p:pic>
        <p:nvPicPr>
          <p:cNvPr id="1028" name="Picture 4" descr="Download HD 55 Pm 52458 Fast University ...">
            <a:extLst>
              <a:ext uri="{FF2B5EF4-FFF2-40B4-BE49-F238E27FC236}">
                <a16:creationId xmlns:a16="http://schemas.microsoft.com/office/drawing/2014/main" id="{715E161C-5FF5-7252-A206-A10477B0B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4">
            <a:extLst>
              <a:ext uri="{FF2B5EF4-FFF2-40B4-BE49-F238E27FC236}">
                <a16:creationId xmlns:a16="http://schemas.microsoft.com/office/drawing/2014/main" id="{4FA3E7AE-A2AD-D117-25F2-EA3F62B70084}"/>
              </a:ext>
            </a:extLst>
          </p:cNvPr>
          <p:cNvSpPr>
            <a:spLocks noGrp="1"/>
          </p:cNvSpPr>
          <p:nvPr>
            <p:ph type="ctrTitle"/>
          </p:nvPr>
        </p:nvSpPr>
        <p:spPr>
          <a:xfrm>
            <a:off x="812006" y="687984"/>
            <a:ext cx="9144000" cy="2997200"/>
          </a:xfrm>
        </p:spPr>
        <p:txBody>
          <a:bodyPr/>
          <a:lstStyle/>
          <a:p>
            <a:r>
              <a:rPr lang="en-US" dirty="0">
                <a:solidFill>
                  <a:schemeClr val="bg1"/>
                </a:solidFill>
              </a:rPr>
              <a:t>BUSINESS ANALYTICS</a:t>
            </a:r>
            <a:br>
              <a:rPr lang="en-US" dirty="0">
                <a:solidFill>
                  <a:schemeClr val="bg1"/>
                </a:solidFill>
              </a:rPr>
            </a:br>
            <a:br>
              <a:rPr lang="en-US" dirty="0">
                <a:solidFill>
                  <a:schemeClr val="bg1"/>
                </a:solidFill>
              </a:rPr>
            </a:br>
            <a:r>
              <a:rPr lang="en-US" sz="4400" dirty="0">
                <a:solidFill>
                  <a:schemeClr val="bg1"/>
                </a:solidFill>
              </a:rPr>
              <a:t>Introduction to Business Analytics and Core Business Functions</a:t>
            </a:r>
            <a:endParaRPr lang="en-PK" dirty="0">
              <a:solidFill>
                <a:schemeClr val="bg1"/>
              </a:solidFill>
            </a:endParaRPr>
          </a:p>
        </p:txBody>
      </p:sp>
      <p:sp>
        <p:nvSpPr>
          <p:cNvPr id="4" name="Title 4">
            <a:extLst>
              <a:ext uri="{FF2B5EF4-FFF2-40B4-BE49-F238E27FC236}">
                <a16:creationId xmlns:a16="http://schemas.microsoft.com/office/drawing/2014/main" id="{05E0D16E-2E56-B97C-A39A-BD2DC36A3359}"/>
              </a:ext>
            </a:extLst>
          </p:cNvPr>
          <p:cNvSpPr txBox="1">
            <a:spLocks/>
          </p:cNvSpPr>
          <p:nvPr/>
        </p:nvSpPr>
        <p:spPr>
          <a:xfrm>
            <a:off x="669766" y="13493"/>
            <a:ext cx="9144000" cy="29972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BUSINESS ANALYSIS</a:t>
            </a:r>
            <a:br>
              <a:rPr lang="en-US" dirty="0"/>
            </a:br>
            <a:br>
              <a:rPr lang="en-US" dirty="0"/>
            </a:br>
            <a:r>
              <a:rPr lang="en-US" sz="3600" dirty="0"/>
              <a:t>Week 2 Lecture: Business Fundamentals</a:t>
            </a:r>
            <a:endParaRPr lang="en-PK" sz="3600" dirty="0"/>
          </a:p>
        </p:txBody>
      </p:sp>
      <p:pic>
        <p:nvPicPr>
          <p:cNvPr id="2" name="Picture 1" descr="https://mir-s3-cdn-cf.behance.net/project_modules/1400_opt_1/c4c95797092699.5ebd2616ea612.jpg">
            <a:extLst>
              <a:ext uri="{FF2B5EF4-FFF2-40B4-BE49-F238E27FC236}">
                <a16:creationId xmlns:a16="http://schemas.microsoft.com/office/drawing/2014/main" id="{46681272-A99C-CB0B-1B3C-5C89667A8EE6}"/>
              </a:ext>
            </a:extLst>
          </p:cNvPr>
          <p:cNvPicPr>
            <a:picLocks noChangeAspect="1"/>
          </p:cNvPicPr>
          <p:nvPr/>
        </p:nvPicPr>
        <p:blipFill>
          <a:blip r:embed="rId3"/>
          <a:stretch>
            <a:fillRect/>
          </a:stretch>
        </p:blipFill>
        <p:spPr>
          <a:xfrm>
            <a:off x="8387556" y="3259137"/>
            <a:ext cx="3746500" cy="2997200"/>
          </a:xfrm>
          <a:prstGeom prst="rect">
            <a:avLst/>
          </a:prstGeom>
        </p:spPr>
      </p:pic>
    </p:spTree>
    <p:extLst>
      <p:ext uri="{BB962C8B-B14F-4D97-AF65-F5344CB8AC3E}">
        <p14:creationId xmlns:p14="http://schemas.microsoft.com/office/powerpoint/2010/main" val="1291218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Learning Objectives – WEEK 2</a:t>
            </a: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199" y="2102766"/>
            <a:ext cx="10515600" cy="3627438"/>
          </a:xfrm>
        </p:spPr>
        <p:txBody>
          <a:bodyPr>
            <a:normAutofit/>
          </a:bodyPr>
          <a:lstStyle/>
          <a:p>
            <a:pPr marL="0" indent="0">
              <a:lnSpc>
                <a:spcPct val="200000"/>
              </a:lnSpc>
              <a:buNone/>
            </a:pPr>
            <a:r>
              <a:rPr lang="en-US" sz="1800" dirty="0"/>
              <a:t>By the end of this lecture you should be able to:</a:t>
            </a:r>
          </a:p>
          <a:p>
            <a:pPr>
              <a:lnSpc>
                <a:spcPct val="200000"/>
              </a:lnSpc>
            </a:pPr>
            <a:r>
              <a:rPr lang="en-US" sz="1800" dirty="0"/>
              <a:t>Understand how real companies operate internally</a:t>
            </a:r>
          </a:p>
          <a:p>
            <a:pPr>
              <a:lnSpc>
                <a:spcPct val="200000"/>
              </a:lnSpc>
            </a:pPr>
            <a:r>
              <a:rPr lang="en-US" sz="1800" dirty="0"/>
              <a:t>Identify business functions inside an organization</a:t>
            </a:r>
          </a:p>
          <a:p>
            <a:pPr>
              <a:lnSpc>
                <a:spcPct val="200000"/>
              </a:lnSpc>
            </a:pPr>
            <a:r>
              <a:rPr lang="en-US" sz="1800" dirty="0"/>
              <a:t>Explain different business models (SaaS, B2B, B2C)</a:t>
            </a:r>
          </a:p>
          <a:p>
            <a:pPr>
              <a:lnSpc>
                <a:spcPct val="200000"/>
              </a:lnSpc>
            </a:pPr>
            <a:r>
              <a:rPr lang="en-US" sz="1800" dirty="0"/>
              <a:t>Speak basic business language like a Business Analyst</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3</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onceptual flat design illustration of business hierarchy">
            <a:extLst>
              <a:ext uri="{FF2B5EF4-FFF2-40B4-BE49-F238E27FC236}">
                <a16:creationId xmlns:a16="http://schemas.microsoft.com/office/drawing/2014/main" id="{9E2F0D25-7419-2EFE-81AA-46A5029FBB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2698" y="1850950"/>
            <a:ext cx="3668714" cy="3668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90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663892" y="519999"/>
            <a:ext cx="10515600" cy="847650"/>
          </a:xfrm>
        </p:spPr>
        <p:txBody>
          <a:bodyPr>
            <a:normAutofit/>
          </a:bodyPr>
          <a:lstStyle/>
          <a:p>
            <a:r>
              <a:rPr lang="en-US" dirty="0">
                <a:solidFill>
                  <a:schemeClr val="bg2">
                    <a:lumMod val="50000"/>
                  </a:schemeClr>
                </a:solidFill>
                <a:latin typeface="+mn-lt"/>
              </a:rPr>
              <a:t>HOW ORGANIZATIONS OPERATE (CORE CONCEPT)</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4</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6FD9A4-4799-F58A-1491-0AB6DA5A50BC}"/>
              </a:ext>
            </a:extLst>
          </p:cNvPr>
          <p:cNvSpPr txBox="1"/>
          <p:nvPr/>
        </p:nvSpPr>
        <p:spPr>
          <a:xfrm>
            <a:off x="663892" y="1336285"/>
            <a:ext cx="9414986" cy="2246769"/>
          </a:xfrm>
          <a:prstGeom prst="rect">
            <a:avLst/>
          </a:prstGeom>
          <a:noFill/>
        </p:spPr>
        <p:txBody>
          <a:bodyPr wrap="square">
            <a:spAutoFit/>
          </a:bodyPr>
          <a:lstStyle/>
          <a:p>
            <a:r>
              <a:rPr lang="en-US" sz="2000" dirty="0"/>
              <a:t>Think of a company like a living system.</a:t>
            </a:r>
            <a:br>
              <a:rPr lang="en-US" sz="2000" dirty="0"/>
            </a:br>
            <a:r>
              <a:rPr lang="en-US" sz="2000" dirty="0"/>
              <a:t>Every organization has 3 layers:</a:t>
            </a:r>
            <a:br>
              <a:rPr lang="en-US" sz="2000" dirty="0"/>
            </a:br>
            <a:br>
              <a:rPr lang="en-US" sz="2000" dirty="0"/>
            </a:br>
            <a:r>
              <a:rPr lang="en-US" sz="2000" dirty="0"/>
              <a:t>Strategy = Leadership vision</a:t>
            </a:r>
          </a:p>
          <a:p>
            <a:r>
              <a:rPr lang="en-US" sz="2000" dirty="0"/>
              <a:t>Operations = Day-to-day execution</a:t>
            </a:r>
          </a:p>
          <a:p>
            <a:r>
              <a:rPr lang="en-US" sz="2000" dirty="0"/>
              <a:t>Technology = Tools that support execution</a:t>
            </a:r>
            <a:br>
              <a:rPr lang="en-US" sz="2000" dirty="0"/>
            </a:br>
            <a:endParaRPr lang="en-US" sz="2000" dirty="0"/>
          </a:p>
        </p:txBody>
      </p:sp>
      <p:sp>
        <p:nvSpPr>
          <p:cNvPr id="16" name="AutoShape 2" descr="Stakeholders Clipart PNG, Vector, PSD, and Clipart With Transparent  Background for Free Download | Pngtree">
            <a:extLst>
              <a:ext uri="{FF2B5EF4-FFF2-40B4-BE49-F238E27FC236}">
                <a16:creationId xmlns:a16="http://schemas.microsoft.com/office/drawing/2014/main" id="{111BED4F-52CD-112B-80FB-5245A573EF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
        <p:nvSpPr>
          <p:cNvPr id="9" name="TextBox 8">
            <a:extLst>
              <a:ext uri="{FF2B5EF4-FFF2-40B4-BE49-F238E27FC236}">
                <a16:creationId xmlns:a16="http://schemas.microsoft.com/office/drawing/2014/main" id="{766395D9-2EC2-5F15-C0A3-A5BAD49ABE7D}"/>
              </a:ext>
            </a:extLst>
          </p:cNvPr>
          <p:cNvSpPr txBox="1"/>
          <p:nvPr/>
        </p:nvSpPr>
        <p:spPr>
          <a:xfrm>
            <a:off x="663892" y="3307027"/>
            <a:ext cx="6096000" cy="2126864"/>
          </a:xfrm>
          <a:prstGeom prst="rect">
            <a:avLst/>
          </a:prstGeom>
          <a:noFill/>
        </p:spPr>
        <p:txBody>
          <a:bodyPr wrap="square">
            <a:spAutoFit/>
          </a:bodyPr>
          <a:lstStyle/>
          <a:p>
            <a:pPr>
              <a:lnSpc>
                <a:spcPct val="150000"/>
              </a:lnSpc>
            </a:pPr>
            <a:r>
              <a:rPr lang="en-US" b="1" dirty="0"/>
              <a:t>Example – Pakistan (Real Case)</a:t>
            </a:r>
          </a:p>
          <a:p>
            <a:pPr>
              <a:lnSpc>
                <a:spcPct val="150000"/>
              </a:lnSpc>
            </a:pPr>
            <a:r>
              <a:rPr lang="en-US" b="1" dirty="0" err="1"/>
              <a:t>Daraz</a:t>
            </a:r>
            <a:r>
              <a:rPr lang="en-US" b="1" dirty="0"/>
              <a:t> Pakistan</a:t>
            </a:r>
            <a:endParaRPr lang="en-US" dirty="0"/>
          </a:p>
          <a:p>
            <a:pPr>
              <a:lnSpc>
                <a:spcPct val="150000"/>
              </a:lnSpc>
              <a:buFont typeface="Arial" panose="020B0604020202020204" pitchFamily="34" charset="0"/>
              <a:buChar char="•"/>
            </a:pPr>
            <a:r>
              <a:rPr lang="en-US" dirty="0"/>
              <a:t>Strategy → Grow online retail</a:t>
            </a:r>
          </a:p>
          <a:p>
            <a:pPr>
              <a:lnSpc>
                <a:spcPct val="150000"/>
              </a:lnSpc>
              <a:buFont typeface="Arial" panose="020B0604020202020204" pitchFamily="34" charset="0"/>
              <a:buChar char="•"/>
            </a:pPr>
            <a:r>
              <a:rPr lang="en-US" dirty="0"/>
              <a:t>Operations → Vendor onboarding, logistics</a:t>
            </a:r>
          </a:p>
          <a:p>
            <a:pPr>
              <a:lnSpc>
                <a:spcPct val="150000"/>
              </a:lnSpc>
              <a:buFont typeface="Arial" panose="020B0604020202020204" pitchFamily="34" charset="0"/>
              <a:buChar char="•"/>
            </a:pPr>
            <a:r>
              <a:rPr lang="en-US" dirty="0"/>
              <a:t>Technology → Mobile app, payment gateway</a:t>
            </a:r>
          </a:p>
        </p:txBody>
      </p:sp>
      <p:sp>
        <p:nvSpPr>
          <p:cNvPr id="11" name="TextBox 10">
            <a:extLst>
              <a:ext uri="{FF2B5EF4-FFF2-40B4-BE49-F238E27FC236}">
                <a16:creationId xmlns:a16="http://schemas.microsoft.com/office/drawing/2014/main" id="{E6D3E5A3-B2E8-FEFB-8C07-CAE679E4E444}"/>
              </a:ext>
            </a:extLst>
          </p:cNvPr>
          <p:cNvSpPr txBox="1"/>
          <p:nvPr/>
        </p:nvSpPr>
        <p:spPr>
          <a:xfrm>
            <a:off x="5943600" y="3302885"/>
            <a:ext cx="6096000" cy="1711366"/>
          </a:xfrm>
          <a:prstGeom prst="rect">
            <a:avLst/>
          </a:prstGeom>
          <a:noFill/>
        </p:spPr>
        <p:txBody>
          <a:bodyPr wrap="square">
            <a:spAutoFit/>
          </a:bodyPr>
          <a:lstStyle/>
          <a:p>
            <a:pPr>
              <a:lnSpc>
                <a:spcPct val="150000"/>
              </a:lnSpc>
            </a:pPr>
            <a:r>
              <a:rPr lang="en-US" b="1" dirty="0"/>
              <a:t>Amazon</a:t>
            </a:r>
            <a:endParaRPr lang="en-US" dirty="0"/>
          </a:p>
          <a:p>
            <a:pPr>
              <a:lnSpc>
                <a:spcPct val="150000"/>
              </a:lnSpc>
              <a:buFont typeface="Arial" panose="020B0604020202020204" pitchFamily="34" charset="0"/>
              <a:buChar char="•"/>
            </a:pPr>
            <a:r>
              <a:rPr lang="en-US" dirty="0"/>
              <a:t>Strategy → Customer obsession</a:t>
            </a:r>
          </a:p>
          <a:p>
            <a:pPr>
              <a:lnSpc>
                <a:spcPct val="150000"/>
              </a:lnSpc>
              <a:buFont typeface="Arial" panose="020B0604020202020204" pitchFamily="34" charset="0"/>
              <a:buChar char="•"/>
            </a:pPr>
            <a:r>
              <a:rPr lang="en-US" dirty="0"/>
              <a:t>Operations → Fulfillment centers</a:t>
            </a:r>
          </a:p>
          <a:p>
            <a:pPr>
              <a:lnSpc>
                <a:spcPct val="150000"/>
              </a:lnSpc>
              <a:buFont typeface="Arial" panose="020B0604020202020204" pitchFamily="34" charset="0"/>
              <a:buChar char="•"/>
            </a:pPr>
            <a:r>
              <a:rPr lang="en-US" dirty="0"/>
              <a:t>Technology → AI recommendations</a:t>
            </a:r>
          </a:p>
        </p:txBody>
      </p:sp>
    </p:spTree>
    <p:extLst>
      <p:ext uri="{BB962C8B-B14F-4D97-AF65-F5344CB8AC3E}">
        <p14:creationId xmlns:p14="http://schemas.microsoft.com/office/powerpoint/2010/main" val="3706582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FUNCTIONAL AREAS OF A BUSINESS</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5</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3F4B7D6-E032-2176-0034-C3A7B357A2DA}"/>
              </a:ext>
            </a:extLst>
          </p:cNvPr>
          <p:cNvPicPr>
            <a:picLocks noChangeAspect="1"/>
          </p:cNvPicPr>
          <p:nvPr/>
        </p:nvPicPr>
        <p:blipFill>
          <a:blip r:embed="rId4"/>
          <a:stretch>
            <a:fillRect/>
          </a:stretch>
        </p:blipFill>
        <p:spPr>
          <a:xfrm>
            <a:off x="983775" y="1618874"/>
            <a:ext cx="8770374" cy="4267576"/>
          </a:xfrm>
          <a:prstGeom prst="rect">
            <a:avLst/>
          </a:prstGeom>
        </p:spPr>
      </p:pic>
    </p:spTree>
    <p:extLst>
      <p:ext uri="{BB962C8B-B14F-4D97-AF65-F5344CB8AC3E}">
        <p14:creationId xmlns:p14="http://schemas.microsoft.com/office/powerpoint/2010/main" val="21022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BUSINESS MODELS (VERY IMPORTANT FOR BA STUDENTS)</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6</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226DE4A-1F36-662C-475F-856B21ECCAC1}"/>
              </a:ext>
            </a:extLst>
          </p:cNvPr>
          <p:cNvSpPr txBox="1"/>
          <p:nvPr/>
        </p:nvSpPr>
        <p:spPr>
          <a:xfrm>
            <a:off x="826294" y="1572821"/>
            <a:ext cx="6096000" cy="3371500"/>
          </a:xfrm>
          <a:prstGeom prst="rect">
            <a:avLst/>
          </a:prstGeom>
          <a:noFill/>
        </p:spPr>
        <p:txBody>
          <a:bodyPr wrap="square">
            <a:spAutoFit/>
          </a:bodyPr>
          <a:lstStyle/>
          <a:p>
            <a:pPr>
              <a:lnSpc>
                <a:spcPct val="150000"/>
              </a:lnSpc>
            </a:pPr>
            <a:r>
              <a:rPr lang="en-US" b="1" dirty="0"/>
              <a:t>🟢 B2C – Business to Customer</a:t>
            </a:r>
          </a:p>
          <a:p>
            <a:pPr>
              <a:lnSpc>
                <a:spcPct val="150000"/>
              </a:lnSpc>
            </a:pPr>
            <a:r>
              <a:rPr lang="en-US" dirty="0"/>
              <a:t>Company sells directly to users.</a:t>
            </a:r>
          </a:p>
          <a:p>
            <a:pPr>
              <a:lnSpc>
                <a:spcPct val="150000"/>
              </a:lnSpc>
            </a:pPr>
            <a:r>
              <a:rPr lang="en-US" dirty="0"/>
              <a:t>Examples:</a:t>
            </a:r>
          </a:p>
          <a:p>
            <a:pPr>
              <a:lnSpc>
                <a:spcPct val="150000"/>
              </a:lnSpc>
              <a:buFont typeface="Arial" panose="020B0604020202020204" pitchFamily="34" charset="0"/>
              <a:buChar char="•"/>
            </a:pPr>
            <a:r>
              <a:rPr lang="en-US" dirty="0" err="1"/>
              <a:t>Daraz</a:t>
            </a:r>
            <a:endParaRPr lang="en-US" dirty="0"/>
          </a:p>
          <a:p>
            <a:pPr>
              <a:lnSpc>
                <a:spcPct val="150000"/>
              </a:lnSpc>
              <a:buFont typeface="Arial" panose="020B0604020202020204" pitchFamily="34" charset="0"/>
              <a:buChar char="•"/>
            </a:pPr>
            <a:r>
              <a:rPr lang="en-US" dirty="0"/>
              <a:t>Netflix</a:t>
            </a:r>
          </a:p>
          <a:p>
            <a:pPr>
              <a:lnSpc>
                <a:spcPct val="150000"/>
              </a:lnSpc>
              <a:buFont typeface="Arial" panose="020B0604020202020204" pitchFamily="34" charset="0"/>
              <a:buChar char="•"/>
            </a:pPr>
            <a:r>
              <a:rPr lang="en-US" dirty="0"/>
              <a:t>Careem</a:t>
            </a:r>
          </a:p>
          <a:p>
            <a:pPr>
              <a:lnSpc>
                <a:spcPct val="150000"/>
              </a:lnSpc>
            </a:pPr>
            <a:r>
              <a:rPr lang="en-US" dirty="0"/>
              <a:t>Revenue Source:</a:t>
            </a:r>
            <a:br>
              <a:rPr lang="en-US" dirty="0"/>
            </a:br>
            <a:r>
              <a:rPr lang="en-US" dirty="0"/>
              <a:t>👉 Individual customers</a:t>
            </a:r>
          </a:p>
        </p:txBody>
      </p:sp>
      <p:sp>
        <p:nvSpPr>
          <p:cNvPr id="10" name="TextBox 9">
            <a:extLst>
              <a:ext uri="{FF2B5EF4-FFF2-40B4-BE49-F238E27FC236}">
                <a16:creationId xmlns:a16="http://schemas.microsoft.com/office/drawing/2014/main" id="{F648F44E-EE9D-C8A4-DB12-5D0A69D3BCE1}"/>
              </a:ext>
            </a:extLst>
          </p:cNvPr>
          <p:cNvSpPr txBox="1"/>
          <p:nvPr/>
        </p:nvSpPr>
        <p:spPr>
          <a:xfrm>
            <a:off x="4472067" y="1563296"/>
            <a:ext cx="6096000" cy="3371500"/>
          </a:xfrm>
          <a:prstGeom prst="rect">
            <a:avLst/>
          </a:prstGeom>
          <a:noFill/>
        </p:spPr>
        <p:txBody>
          <a:bodyPr wrap="square">
            <a:spAutoFit/>
          </a:bodyPr>
          <a:lstStyle/>
          <a:p>
            <a:pPr>
              <a:lnSpc>
                <a:spcPct val="150000"/>
              </a:lnSpc>
            </a:pPr>
            <a:r>
              <a:rPr lang="en-US" b="1" dirty="0"/>
              <a:t>🔵 B2B – Business to Business</a:t>
            </a:r>
          </a:p>
          <a:p>
            <a:pPr>
              <a:lnSpc>
                <a:spcPct val="150000"/>
              </a:lnSpc>
            </a:pPr>
            <a:r>
              <a:rPr lang="en-US" dirty="0"/>
              <a:t>Company sells to other companies.</a:t>
            </a:r>
          </a:p>
          <a:p>
            <a:pPr>
              <a:lnSpc>
                <a:spcPct val="150000"/>
              </a:lnSpc>
            </a:pPr>
            <a:r>
              <a:rPr lang="en-US" dirty="0"/>
              <a:t>Examples:</a:t>
            </a:r>
          </a:p>
          <a:p>
            <a:pPr>
              <a:lnSpc>
                <a:spcPct val="150000"/>
              </a:lnSpc>
              <a:buFont typeface="Arial" panose="020B0604020202020204" pitchFamily="34" charset="0"/>
              <a:buChar char="•"/>
            </a:pPr>
            <a:r>
              <a:rPr lang="en-US" dirty="0"/>
              <a:t>Systems Limited consulting</a:t>
            </a:r>
          </a:p>
          <a:p>
            <a:pPr>
              <a:lnSpc>
                <a:spcPct val="150000"/>
              </a:lnSpc>
              <a:buFont typeface="Arial" panose="020B0604020202020204" pitchFamily="34" charset="0"/>
              <a:buChar char="•"/>
            </a:pPr>
            <a:r>
              <a:rPr lang="en-US" dirty="0" err="1"/>
              <a:t>Tkxel</a:t>
            </a:r>
            <a:r>
              <a:rPr lang="en-US" dirty="0"/>
              <a:t> software services</a:t>
            </a:r>
          </a:p>
          <a:p>
            <a:pPr>
              <a:lnSpc>
                <a:spcPct val="150000"/>
              </a:lnSpc>
              <a:buFont typeface="Arial" panose="020B0604020202020204" pitchFamily="34" charset="0"/>
              <a:buChar char="•"/>
            </a:pPr>
            <a:r>
              <a:rPr lang="en-US" dirty="0"/>
              <a:t>SAP enterprise solutions</a:t>
            </a:r>
          </a:p>
          <a:p>
            <a:pPr>
              <a:lnSpc>
                <a:spcPct val="150000"/>
              </a:lnSpc>
            </a:pPr>
            <a:r>
              <a:rPr lang="en-US" dirty="0"/>
              <a:t>Revenue Source:</a:t>
            </a:r>
            <a:br>
              <a:rPr lang="en-US" dirty="0"/>
            </a:br>
            <a:r>
              <a:rPr lang="en-US" dirty="0"/>
              <a:t>👉 Contracts &amp; projects</a:t>
            </a:r>
          </a:p>
        </p:txBody>
      </p:sp>
      <p:sp>
        <p:nvSpPr>
          <p:cNvPr id="12" name="TextBox 11">
            <a:extLst>
              <a:ext uri="{FF2B5EF4-FFF2-40B4-BE49-F238E27FC236}">
                <a16:creationId xmlns:a16="http://schemas.microsoft.com/office/drawing/2014/main" id="{5D7DB688-1EA8-ADC8-9999-67BD2468DAF6}"/>
              </a:ext>
            </a:extLst>
          </p:cNvPr>
          <p:cNvSpPr txBox="1"/>
          <p:nvPr/>
        </p:nvSpPr>
        <p:spPr>
          <a:xfrm>
            <a:off x="8117840" y="1553075"/>
            <a:ext cx="3972560" cy="4202497"/>
          </a:xfrm>
          <a:prstGeom prst="rect">
            <a:avLst/>
          </a:prstGeom>
          <a:noFill/>
        </p:spPr>
        <p:txBody>
          <a:bodyPr wrap="square">
            <a:spAutoFit/>
          </a:bodyPr>
          <a:lstStyle/>
          <a:p>
            <a:pPr>
              <a:lnSpc>
                <a:spcPct val="150000"/>
              </a:lnSpc>
            </a:pPr>
            <a:r>
              <a:rPr lang="en-PK" b="1" dirty="0"/>
              <a:t>🟣 </a:t>
            </a:r>
            <a:r>
              <a:rPr lang="en-US" b="1" dirty="0"/>
              <a:t>SaaS – Software as a Service</a:t>
            </a:r>
          </a:p>
          <a:p>
            <a:pPr>
              <a:lnSpc>
                <a:spcPct val="150000"/>
              </a:lnSpc>
            </a:pPr>
            <a:r>
              <a:rPr lang="en-US" dirty="0"/>
              <a:t>Subscription-based software.</a:t>
            </a:r>
          </a:p>
          <a:p>
            <a:pPr>
              <a:lnSpc>
                <a:spcPct val="150000"/>
              </a:lnSpc>
            </a:pPr>
            <a:r>
              <a:rPr lang="en-US" dirty="0"/>
              <a:t>Examples:</a:t>
            </a:r>
          </a:p>
          <a:p>
            <a:pPr>
              <a:lnSpc>
                <a:spcPct val="150000"/>
              </a:lnSpc>
              <a:buFont typeface="Arial" panose="020B0604020202020204" pitchFamily="34" charset="0"/>
              <a:buChar char="•"/>
            </a:pPr>
            <a:r>
              <a:rPr lang="en-US" dirty="0"/>
              <a:t>Salesforce</a:t>
            </a:r>
          </a:p>
          <a:p>
            <a:pPr>
              <a:lnSpc>
                <a:spcPct val="150000"/>
              </a:lnSpc>
              <a:buFont typeface="Arial" panose="020B0604020202020204" pitchFamily="34" charset="0"/>
              <a:buChar char="•"/>
            </a:pPr>
            <a:r>
              <a:rPr lang="en-US" dirty="0"/>
              <a:t>HubSpot</a:t>
            </a:r>
          </a:p>
          <a:p>
            <a:pPr>
              <a:lnSpc>
                <a:spcPct val="150000"/>
              </a:lnSpc>
              <a:buFont typeface="Arial" panose="020B0604020202020204" pitchFamily="34" charset="0"/>
              <a:buChar char="•"/>
            </a:pPr>
            <a:r>
              <a:rPr lang="en-US" dirty="0"/>
              <a:t>Slack</a:t>
            </a:r>
          </a:p>
          <a:p>
            <a:pPr>
              <a:lnSpc>
                <a:spcPct val="150000"/>
              </a:lnSpc>
              <a:buFont typeface="Arial" panose="020B0604020202020204" pitchFamily="34" charset="0"/>
              <a:buChar char="•"/>
            </a:pPr>
            <a:r>
              <a:rPr lang="en-US" dirty="0"/>
              <a:t>Pakistani example: </a:t>
            </a:r>
            <a:r>
              <a:rPr lang="en-US" dirty="0" err="1"/>
              <a:t>Bykea</a:t>
            </a:r>
            <a:r>
              <a:rPr lang="en-US" dirty="0"/>
              <a:t> backend tools (similar model internally)</a:t>
            </a:r>
          </a:p>
          <a:p>
            <a:pPr>
              <a:lnSpc>
                <a:spcPct val="150000"/>
              </a:lnSpc>
            </a:pPr>
            <a:r>
              <a:rPr lang="en-US" dirty="0"/>
              <a:t>Revenue:</a:t>
            </a:r>
            <a:br>
              <a:rPr lang="en-US" dirty="0"/>
            </a:br>
            <a:r>
              <a:rPr lang="en-PK" dirty="0"/>
              <a:t>👉 </a:t>
            </a:r>
            <a:r>
              <a:rPr lang="en-US" dirty="0"/>
              <a:t>Monthly subscription</a:t>
            </a:r>
          </a:p>
        </p:txBody>
      </p:sp>
    </p:spTree>
    <p:extLst>
      <p:ext uri="{BB962C8B-B14F-4D97-AF65-F5344CB8AC3E}">
        <p14:creationId xmlns:p14="http://schemas.microsoft.com/office/powerpoint/2010/main" val="4287934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BUSINESS MODELS </a:t>
            </a:r>
            <a:br>
              <a:rPr lang="en-US"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7</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B2B vs B2C Marketing - Infographic Template | Visme">
            <a:extLst>
              <a:ext uri="{FF2B5EF4-FFF2-40B4-BE49-F238E27FC236}">
                <a16:creationId xmlns:a16="http://schemas.microsoft.com/office/drawing/2014/main" id="{4C668898-8F79-CF53-F2F9-8FA92E05F3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8450" y="0"/>
            <a:ext cx="39751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231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638797"/>
            <a:ext cx="10515600" cy="847650"/>
          </a:xfrm>
        </p:spPr>
        <p:txBody>
          <a:bodyPr>
            <a:normAutofit fontScale="90000"/>
          </a:bodyPr>
          <a:lstStyle/>
          <a:p>
            <a:r>
              <a:rPr lang="en-US" dirty="0">
                <a:solidFill>
                  <a:schemeClr val="bg2">
                    <a:lumMod val="50000"/>
                  </a:schemeClr>
                </a:solidFill>
                <a:latin typeface="+mn-lt"/>
              </a:rPr>
              <a:t>BUSINESS TERMINOLOGY EVERY BA MUST KNOW</a:t>
            </a:r>
            <a:br>
              <a:rPr lang="en-US" dirty="0">
                <a:solidFill>
                  <a:schemeClr val="bg2">
                    <a:lumMod val="50000"/>
                  </a:schemeClr>
                </a:solidFill>
                <a:latin typeface="+mn-lt"/>
              </a:rPr>
            </a:br>
            <a:br>
              <a:rPr lang="en-US" sz="2800" b="1" dirty="0">
                <a:solidFill>
                  <a:schemeClr val="bg2">
                    <a:lumMod val="50000"/>
                  </a:schemeClr>
                </a:solidFill>
                <a:latin typeface="+mn-lt"/>
              </a:rPr>
            </a:br>
            <a:r>
              <a:rPr lang="en-PK" dirty="0"/>
              <a:t>📊 </a:t>
            </a:r>
            <a:r>
              <a:rPr lang="en-US" dirty="0"/>
              <a:t>Key Terms</a:t>
            </a: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8</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4A4D590-0718-A78A-B31D-3C11AB36C05A}"/>
              </a:ext>
            </a:extLst>
          </p:cNvPr>
          <p:cNvSpPr txBox="1"/>
          <p:nvPr/>
        </p:nvSpPr>
        <p:spPr>
          <a:xfrm>
            <a:off x="785812" y="1767187"/>
            <a:ext cx="6096000" cy="1711366"/>
          </a:xfrm>
          <a:prstGeom prst="rect">
            <a:avLst/>
          </a:prstGeom>
          <a:noFill/>
        </p:spPr>
        <p:txBody>
          <a:bodyPr wrap="square">
            <a:spAutoFit/>
          </a:bodyPr>
          <a:lstStyle/>
          <a:p>
            <a:pPr>
              <a:lnSpc>
                <a:spcPct val="150000"/>
              </a:lnSpc>
            </a:pPr>
            <a:r>
              <a:rPr lang="en-US" b="1" dirty="0"/>
              <a:t>Revenue</a:t>
            </a:r>
          </a:p>
          <a:p>
            <a:pPr>
              <a:lnSpc>
                <a:spcPct val="150000"/>
              </a:lnSpc>
            </a:pPr>
            <a:r>
              <a:rPr lang="en-US" dirty="0"/>
              <a:t>Money coming into business.</a:t>
            </a:r>
          </a:p>
          <a:p>
            <a:pPr>
              <a:lnSpc>
                <a:spcPct val="150000"/>
              </a:lnSpc>
            </a:pPr>
            <a:r>
              <a:rPr lang="en-US" dirty="0"/>
              <a:t>Example:</a:t>
            </a:r>
            <a:br>
              <a:rPr lang="en-US" dirty="0"/>
            </a:br>
            <a:r>
              <a:rPr lang="en-US" dirty="0" err="1"/>
              <a:t>Foodpanda</a:t>
            </a:r>
            <a:r>
              <a:rPr lang="en-US" dirty="0"/>
              <a:t> delivery fees.</a:t>
            </a:r>
          </a:p>
        </p:txBody>
      </p:sp>
      <p:sp>
        <p:nvSpPr>
          <p:cNvPr id="13" name="TextBox 12">
            <a:extLst>
              <a:ext uri="{FF2B5EF4-FFF2-40B4-BE49-F238E27FC236}">
                <a16:creationId xmlns:a16="http://schemas.microsoft.com/office/drawing/2014/main" id="{16964F65-D0D2-2A7C-E01E-DD57546BADDA}"/>
              </a:ext>
            </a:extLst>
          </p:cNvPr>
          <p:cNvSpPr txBox="1"/>
          <p:nvPr/>
        </p:nvSpPr>
        <p:spPr>
          <a:xfrm>
            <a:off x="3906521" y="1829051"/>
            <a:ext cx="6096000" cy="1711366"/>
          </a:xfrm>
          <a:prstGeom prst="rect">
            <a:avLst/>
          </a:prstGeom>
          <a:noFill/>
        </p:spPr>
        <p:txBody>
          <a:bodyPr wrap="square">
            <a:spAutoFit/>
          </a:bodyPr>
          <a:lstStyle/>
          <a:p>
            <a:pPr>
              <a:lnSpc>
                <a:spcPct val="150000"/>
              </a:lnSpc>
            </a:pPr>
            <a:r>
              <a:rPr lang="en-US" b="1" dirty="0"/>
              <a:t>Cost</a:t>
            </a:r>
          </a:p>
          <a:p>
            <a:pPr>
              <a:lnSpc>
                <a:spcPct val="150000"/>
              </a:lnSpc>
            </a:pPr>
            <a:r>
              <a:rPr lang="en-US" dirty="0"/>
              <a:t>Money spent.</a:t>
            </a:r>
          </a:p>
          <a:p>
            <a:pPr>
              <a:lnSpc>
                <a:spcPct val="150000"/>
              </a:lnSpc>
            </a:pPr>
            <a:r>
              <a:rPr lang="en-US" dirty="0"/>
              <a:t>Example:</a:t>
            </a:r>
            <a:br>
              <a:rPr lang="en-US" dirty="0"/>
            </a:br>
            <a:r>
              <a:rPr lang="en-US" dirty="0"/>
              <a:t>Careem driver incentives.</a:t>
            </a:r>
          </a:p>
        </p:txBody>
      </p:sp>
      <p:sp>
        <p:nvSpPr>
          <p:cNvPr id="18" name="TextBox 17">
            <a:extLst>
              <a:ext uri="{FF2B5EF4-FFF2-40B4-BE49-F238E27FC236}">
                <a16:creationId xmlns:a16="http://schemas.microsoft.com/office/drawing/2014/main" id="{54CAEA43-F85A-7714-29ED-ABBFF795D44E}"/>
              </a:ext>
            </a:extLst>
          </p:cNvPr>
          <p:cNvSpPr txBox="1"/>
          <p:nvPr/>
        </p:nvSpPr>
        <p:spPr>
          <a:xfrm>
            <a:off x="7152641" y="1759668"/>
            <a:ext cx="4807267" cy="2126864"/>
          </a:xfrm>
          <a:prstGeom prst="rect">
            <a:avLst/>
          </a:prstGeom>
          <a:noFill/>
        </p:spPr>
        <p:txBody>
          <a:bodyPr wrap="square">
            <a:spAutoFit/>
          </a:bodyPr>
          <a:lstStyle/>
          <a:p>
            <a:pPr>
              <a:lnSpc>
                <a:spcPct val="150000"/>
              </a:lnSpc>
            </a:pPr>
            <a:r>
              <a:rPr lang="en-US" b="1" dirty="0"/>
              <a:t>Profit</a:t>
            </a:r>
          </a:p>
          <a:p>
            <a:pPr>
              <a:lnSpc>
                <a:spcPct val="150000"/>
              </a:lnSpc>
            </a:pPr>
            <a:r>
              <a:rPr lang="en-US" dirty="0"/>
              <a:t>Revenue – Cost.</a:t>
            </a:r>
          </a:p>
          <a:p>
            <a:pPr>
              <a:lnSpc>
                <a:spcPct val="150000"/>
              </a:lnSpc>
            </a:pPr>
            <a:r>
              <a:rPr lang="en-US" dirty="0"/>
              <a:t>👉 “If </a:t>
            </a:r>
            <a:r>
              <a:rPr lang="en-US" dirty="0" err="1"/>
              <a:t>Daraz</a:t>
            </a:r>
            <a:r>
              <a:rPr lang="en-US" dirty="0"/>
              <a:t> sells a phone for 50,000 but delivery costs 48,000 — is that success?”</a:t>
            </a:r>
          </a:p>
          <a:p>
            <a:pPr>
              <a:lnSpc>
                <a:spcPct val="150000"/>
              </a:lnSpc>
            </a:pPr>
            <a:r>
              <a:rPr lang="en-US" dirty="0"/>
              <a:t>(Expected: No — profit matters)</a:t>
            </a:r>
          </a:p>
        </p:txBody>
      </p:sp>
      <p:sp>
        <p:nvSpPr>
          <p:cNvPr id="20" name="TextBox 19">
            <a:extLst>
              <a:ext uri="{FF2B5EF4-FFF2-40B4-BE49-F238E27FC236}">
                <a16:creationId xmlns:a16="http://schemas.microsoft.com/office/drawing/2014/main" id="{C84F8CE5-9BEA-1BC0-1FA4-4A2F74AFC34B}"/>
              </a:ext>
            </a:extLst>
          </p:cNvPr>
          <p:cNvSpPr txBox="1"/>
          <p:nvPr/>
        </p:nvSpPr>
        <p:spPr>
          <a:xfrm>
            <a:off x="785812" y="3727637"/>
            <a:ext cx="6096000" cy="2957861"/>
          </a:xfrm>
          <a:prstGeom prst="rect">
            <a:avLst/>
          </a:prstGeom>
          <a:noFill/>
        </p:spPr>
        <p:txBody>
          <a:bodyPr wrap="square">
            <a:spAutoFit/>
          </a:bodyPr>
          <a:lstStyle/>
          <a:p>
            <a:pPr>
              <a:lnSpc>
                <a:spcPct val="150000"/>
              </a:lnSpc>
            </a:pPr>
            <a:r>
              <a:rPr lang="en-US" b="1" dirty="0"/>
              <a:t>Stakeholder</a:t>
            </a:r>
          </a:p>
          <a:p>
            <a:pPr>
              <a:lnSpc>
                <a:spcPct val="150000"/>
              </a:lnSpc>
            </a:pPr>
            <a:r>
              <a:rPr lang="en-US" dirty="0"/>
              <a:t>Anyone affected by project.</a:t>
            </a:r>
          </a:p>
          <a:p>
            <a:pPr>
              <a:lnSpc>
                <a:spcPct val="150000"/>
              </a:lnSpc>
            </a:pPr>
            <a:r>
              <a:rPr lang="en-US" dirty="0"/>
              <a:t>Examples:</a:t>
            </a:r>
          </a:p>
          <a:p>
            <a:pPr>
              <a:lnSpc>
                <a:spcPct val="150000"/>
              </a:lnSpc>
              <a:buFont typeface="Arial" panose="020B0604020202020204" pitchFamily="34" charset="0"/>
              <a:buChar char="•"/>
            </a:pPr>
            <a:r>
              <a:rPr lang="en-US" dirty="0"/>
              <a:t>Customer</a:t>
            </a:r>
          </a:p>
          <a:p>
            <a:pPr>
              <a:lnSpc>
                <a:spcPct val="150000"/>
              </a:lnSpc>
              <a:buFont typeface="Arial" panose="020B0604020202020204" pitchFamily="34" charset="0"/>
              <a:buChar char="•"/>
            </a:pPr>
            <a:r>
              <a:rPr lang="en-US" dirty="0"/>
              <a:t>CEO</a:t>
            </a:r>
          </a:p>
          <a:p>
            <a:pPr>
              <a:lnSpc>
                <a:spcPct val="150000"/>
              </a:lnSpc>
              <a:buFont typeface="Arial" panose="020B0604020202020204" pitchFamily="34" charset="0"/>
              <a:buChar char="•"/>
            </a:pPr>
            <a:r>
              <a:rPr lang="en-US" dirty="0"/>
              <a:t>Developer</a:t>
            </a:r>
          </a:p>
          <a:p>
            <a:pPr>
              <a:lnSpc>
                <a:spcPct val="150000"/>
              </a:lnSpc>
              <a:buFont typeface="Arial" panose="020B0604020202020204" pitchFamily="34" charset="0"/>
              <a:buChar char="•"/>
            </a:pPr>
            <a:r>
              <a:rPr lang="en-US" dirty="0"/>
              <a:t>Government regulator</a:t>
            </a:r>
          </a:p>
        </p:txBody>
      </p:sp>
      <p:sp>
        <p:nvSpPr>
          <p:cNvPr id="22" name="TextBox 21">
            <a:extLst>
              <a:ext uri="{FF2B5EF4-FFF2-40B4-BE49-F238E27FC236}">
                <a16:creationId xmlns:a16="http://schemas.microsoft.com/office/drawing/2014/main" id="{5382DB3B-E325-D787-27CB-9CBB582FA0F4}"/>
              </a:ext>
            </a:extLst>
          </p:cNvPr>
          <p:cNvSpPr txBox="1"/>
          <p:nvPr/>
        </p:nvSpPr>
        <p:spPr>
          <a:xfrm>
            <a:off x="4031932" y="3682263"/>
            <a:ext cx="6096000" cy="2542363"/>
          </a:xfrm>
          <a:prstGeom prst="rect">
            <a:avLst/>
          </a:prstGeom>
          <a:noFill/>
        </p:spPr>
        <p:txBody>
          <a:bodyPr wrap="square">
            <a:spAutoFit/>
          </a:bodyPr>
          <a:lstStyle/>
          <a:p>
            <a:pPr>
              <a:lnSpc>
                <a:spcPct val="150000"/>
              </a:lnSpc>
            </a:pPr>
            <a:r>
              <a:rPr lang="en-US" b="1" dirty="0"/>
              <a:t>KPI (Preview of Week 10)</a:t>
            </a:r>
          </a:p>
          <a:p>
            <a:pPr>
              <a:lnSpc>
                <a:spcPct val="150000"/>
              </a:lnSpc>
            </a:pPr>
            <a:r>
              <a:rPr lang="en-US" dirty="0"/>
              <a:t>Measure of success.</a:t>
            </a:r>
          </a:p>
          <a:p>
            <a:pPr>
              <a:lnSpc>
                <a:spcPct val="150000"/>
              </a:lnSpc>
            </a:pPr>
            <a:r>
              <a:rPr lang="en-US" dirty="0"/>
              <a:t>Examples:</a:t>
            </a:r>
          </a:p>
          <a:p>
            <a:pPr>
              <a:lnSpc>
                <a:spcPct val="150000"/>
              </a:lnSpc>
              <a:buFont typeface="Arial" panose="020B0604020202020204" pitchFamily="34" charset="0"/>
              <a:buChar char="•"/>
            </a:pPr>
            <a:r>
              <a:rPr lang="en-US" dirty="0"/>
              <a:t>App downloads</a:t>
            </a:r>
          </a:p>
          <a:p>
            <a:pPr>
              <a:lnSpc>
                <a:spcPct val="150000"/>
              </a:lnSpc>
              <a:buFont typeface="Arial" panose="020B0604020202020204" pitchFamily="34" charset="0"/>
              <a:buChar char="•"/>
            </a:pPr>
            <a:r>
              <a:rPr lang="en-US" dirty="0"/>
              <a:t>Conversion rate</a:t>
            </a:r>
          </a:p>
          <a:p>
            <a:pPr>
              <a:lnSpc>
                <a:spcPct val="150000"/>
              </a:lnSpc>
              <a:buFont typeface="Arial" panose="020B0604020202020204" pitchFamily="34" charset="0"/>
              <a:buChar char="•"/>
            </a:pPr>
            <a:r>
              <a:rPr lang="en-US" dirty="0"/>
              <a:t>Delivery time</a:t>
            </a:r>
          </a:p>
        </p:txBody>
      </p:sp>
    </p:spTree>
    <p:extLst>
      <p:ext uri="{BB962C8B-B14F-4D97-AF65-F5344CB8AC3E}">
        <p14:creationId xmlns:p14="http://schemas.microsoft.com/office/powerpoint/2010/main" val="712152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638797"/>
            <a:ext cx="10515600" cy="847650"/>
          </a:xfrm>
        </p:spPr>
        <p:txBody>
          <a:bodyPr>
            <a:normAutofit fontScale="90000"/>
          </a:bodyPr>
          <a:lstStyle/>
          <a:p>
            <a:r>
              <a:rPr lang="en-US" dirty="0">
                <a:solidFill>
                  <a:schemeClr val="bg2">
                    <a:lumMod val="50000"/>
                  </a:schemeClr>
                </a:solidFill>
                <a:latin typeface="+mn-lt"/>
              </a:rPr>
              <a:t>BUSINESS TERMINOLOGY EVERY BA MUST KNOW</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9</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What is Cost Volume Profit (CVP) Chart? - Definition | Meaning | Example">
            <a:extLst>
              <a:ext uri="{FF2B5EF4-FFF2-40B4-BE49-F238E27FC236}">
                <a16:creationId xmlns:a16="http://schemas.microsoft.com/office/drawing/2014/main" id="{A9D83CDF-87B0-A98C-4461-1E7AE0FA6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480" y="1708424"/>
            <a:ext cx="7183120" cy="4616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80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4C9BF-FD8C-33FD-5294-6B80086E00D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26F8952-C6BD-73C3-F5C9-4C6948AD90A2}"/>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764D886-7E23-852D-8C48-192762E8CE0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DFBACCDB-CDCA-1CA9-5621-88EFED1C70DB}"/>
              </a:ext>
            </a:extLst>
          </p:cNvPr>
          <p:cNvSpPr>
            <a:spLocks noGrp="1"/>
          </p:cNvSpPr>
          <p:nvPr>
            <p:ph type="sldNum" sz="quarter" idx="12"/>
          </p:nvPr>
        </p:nvSpPr>
        <p:spPr/>
        <p:txBody>
          <a:bodyPr/>
          <a:lstStyle/>
          <a:p>
            <a:fld id="{8C95646D-91FE-4030-A7F0-07F651F9A7F3}" type="slidenum">
              <a:rPr lang="en-PK" smtClean="0"/>
              <a:t>10</a:t>
            </a:fld>
            <a:endParaRPr lang="en-PK"/>
          </a:p>
        </p:txBody>
      </p:sp>
      <p:pic>
        <p:nvPicPr>
          <p:cNvPr id="1028" name="Picture 4" descr="Download HD 55 Pm 52458 Fast University ...">
            <a:extLst>
              <a:ext uri="{FF2B5EF4-FFF2-40B4-BE49-F238E27FC236}">
                <a16:creationId xmlns:a16="http://schemas.microsoft.com/office/drawing/2014/main" id="{0FFDE430-CC73-3118-44AC-DFB70C516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4">
            <a:extLst>
              <a:ext uri="{FF2B5EF4-FFF2-40B4-BE49-F238E27FC236}">
                <a16:creationId xmlns:a16="http://schemas.microsoft.com/office/drawing/2014/main" id="{3A8F9DD2-D209-691A-A9F5-1443EEE422A1}"/>
              </a:ext>
            </a:extLst>
          </p:cNvPr>
          <p:cNvSpPr>
            <a:spLocks noGrp="1"/>
          </p:cNvSpPr>
          <p:nvPr>
            <p:ph type="ctrTitle"/>
          </p:nvPr>
        </p:nvSpPr>
        <p:spPr>
          <a:xfrm>
            <a:off x="-635159" y="345934"/>
            <a:ext cx="7415213" cy="1481818"/>
          </a:xfrm>
        </p:spPr>
        <p:txBody>
          <a:bodyPr>
            <a:normAutofit/>
          </a:bodyPr>
          <a:lstStyle/>
          <a:p>
            <a:r>
              <a:rPr lang="en-US" sz="3100" b="1" dirty="0">
                <a:solidFill>
                  <a:schemeClr val="bg2">
                    <a:lumMod val="50000"/>
                  </a:schemeClr>
                </a:solidFill>
                <a:latin typeface="+mn-lt"/>
              </a:rPr>
              <a:t>BA TRIANGLE DIAGRAM</a:t>
            </a:r>
            <a:br>
              <a:rPr lang="en-US" sz="3100" b="1" dirty="0">
                <a:solidFill>
                  <a:schemeClr val="bg2">
                    <a:lumMod val="50000"/>
                  </a:schemeClr>
                </a:solidFill>
                <a:latin typeface="+mn-lt"/>
              </a:rPr>
            </a:br>
            <a:br>
              <a:rPr lang="en-US" sz="3100" b="1" dirty="0">
                <a:solidFill>
                  <a:schemeClr val="bg2">
                    <a:lumMod val="50000"/>
                  </a:schemeClr>
                </a:solidFill>
                <a:latin typeface="+mn-lt"/>
              </a:rPr>
            </a:br>
            <a:endParaRPr lang="en-PK" sz="3100" b="1" dirty="0">
              <a:solidFill>
                <a:schemeClr val="bg2">
                  <a:lumMod val="50000"/>
                </a:schemeClr>
              </a:solidFill>
              <a:latin typeface="+mn-lt"/>
            </a:endParaRPr>
          </a:p>
        </p:txBody>
      </p:sp>
      <p:sp>
        <p:nvSpPr>
          <p:cNvPr id="5" name="TextBox 4">
            <a:extLst>
              <a:ext uri="{FF2B5EF4-FFF2-40B4-BE49-F238E27FC236}">
                <a16:creationId xmlns:a16="http://schemas.microsoft.com/office/drawing/2014/main" id="{25F9C0F2-9764-82BB-B456-7C5B64F0199E}"/>
              </a:ext>
            </a:extLst>
          </p:cNvPr>
          <p:cNvSpPr txBox="1"/>
          <p:nvPr/>
        </p:nvSpPr>
        <p:spPr>
          <a:xfrm>
            <a:off x="2514600" y="6183352"/>
            <a:ext cx="6096000" cy="369332"/>
          </a:xfrm>
          <a:prstGeom prst="rect">
            <a:avLst/>
          </a:prstGeom>
          <a:noFill/>
        </p:spPr>
        <p:txBody>
          <a:bodyPr wrap="square">
            <a:spAutoFit/>
          </a:bodyPr>
          <a:lstStyle/>
          <a:p>
            <a:r>
              <a:rPr lang="en-US" dirty="0"/>
              <a:t>A Business Analyst sits in the center balancing all three.</a:t>
            </a:r>
            <a:endParaRPr lang="en-PK" dirty="0"/>
          </a:p>
        </p:txBody>
      </p:sp>
      <p:pic>
        <p:nvPicPr>
          <p:cNvPr id="5122" name="Picture 2" descr="Top 10 People process technology icons in triangle PowerPoint Presentation  Templates in 2026">
            <a:extLst>
              <a:ext uri="{FF2B5EF4-FFF2-40B4-BE49-F238E27FC236}">
                <a16:creationId xmlns:a16="http://schemas.microsoft.com/office/drawing/2014/main" id="{184BDDE7-A3D8-030E-C734-751ECD7C9F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026" y="1361280"/>
            <a:ext cx="6204374" cy="4653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75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REAL INDUSTRY SCENARIO (HIGH-IMPACT EXAMPLE)</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11</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ABAE70-CF89-7E28-621F-3FDEDDC5D04E}"/>
              </a:ext>
            </a:extLst>
          </p:cNvPr>
          <p:cNvSpPr txBox="1"/>
          <p:nvPr/>
        </p:nvSpPr>
        <p:spPr>
          <a:xfrm>
            <a:off x="826294" y="2009701"/>
            <a:ext cx="6096000" cy="3788858"/>
          </a:xfrm>
          <a:prstGeom prst="rect">
            <a:avLst/>
          </a:prstGeom>
          <a:noFill/>
        </p:spPr>
        <p:txBody>
          <a:bodyPr wrap="square">
            <a:spAutoFit/>
          </a:bodyPr>
          <a:lstStyle/>
          <a:p>
            <a:pPr>
              <a:lnSpc>
                <a:spcPct val="150000"/>
              </a:lnSpc>
            </a:pPr>
            <a:r>
              <a:rPr lang="en-US" b="1" dirty="0"/>
              <a:t>🟠 Pakistan Case – Jazz Telecom</a:t>
            </a:r>
          </a:p>
          <a:p>
            <a:pPr>
              <a:lnSpc>
                <a:spcPct val="150000"/>
              </a:lnSpc>
            </a:pPr>
            <a:r>
              <a:rPr lang="en-US" dirty="0"/>
              <a:t>Business Problem:</a:t>
            </a:r>
            <a:br>
              <a:rPr lang="en-US" dirty="0"/>
            </a:br>
            <a:r>
              <a:rPr lang="en-US" dirty="0"/>
              <a:t>Customers leaving network.</a:t>
            </a:r>
          </a:p>
          <a:p>
            <a:pPr>
              <a:lnSpc>
                <a:spcPct val="150000"/>
              </a:lnSpc>
            </a:pPr>
            <a:r>
              <a:rPr lang="en-US" dirty="0"/>
              <a:t>BA Role:</a:t>
            </a:r>
          </a:p>
          <a:p>
            <a:pPr>
              <a:lnSpc>
                <a:spcPct val="150000"/>
              </a:lnSpc>
              <a:buFont typeface="Arial" panose="020B0604020202020204" pitchFamily="34" charset="0"/>
              <a:buChar char="•"/>
            </a:pPr>
            <a:r>
              <a:rPr lang="en-US" dirty="0"/>
              <a:t>Analyze churn data</a:t>
            </a:r>
          </a:p>
          <a:p>
            <a:pPr>
              <a:lnSpc>
                <a:spcPct val="150000"/>
              </a:lnSpc>
              <a:buFont typeface="Arial" panose="020B0604020202020204" pitchFamily="34" charset="0"/>
              <a:buChar char="•"/>
            </a:pPr>
            <a:r>
              <a:rPr lang="en-US" dirty="0"/>
              <a:t>Understand customer complaints</a:t>
            </a:r>
          </a:p>
          <a:p>
            <a:pPr>
              <a:lnSpc>
                <a:spcPct val="150000"/>
              </a:lnSpc>
              <a:buFont typeface="Arial" panose="020B0604020202020204" pitchFamily="34" charset="0"/>
              <a:buChar char="•"/>
            </a:pPr>
            <a:r>
              <a:rPr lang="en-US" dirty="0"/>
              <a:t>Recommend loyalty program</a:t>
            </a:r>
          </a:p>
          <a:p>
            <a:pPr>
              <a:lnSpc>
                <a:spcPct val="150000"/>
              </a:lnSpc>
            </a:pPr>
            <a:r>
              <a:rPr lang="en-US" dirty="0"/>
              <a:t>Outcome:</a:t>
            </a:r>
            <a:br>
              <a:rPr lang="en-US" dirty="0"/>
            </a:br>
            <a:r>
              <a:rPr lang="en-US" dirty="0"/>
              <a:t>Business solution, not just technical solution.</a:t>
            </a:r>
          </a:p>
        </p:txBody>
      </p:sp>
      <p:sp>
        <p:nvSpPr>
          <p:cNvPr id="11" name="TextBox 10">
            <a:extLst>
              <a:ext uri="{FF2B5EF4-FFF2-40B4-BE49-F238E27FC236}">
                <a16:creationId xmlns:a16="http://schemas.microsoft.com/office/drawing/2014/main" id="{778A498D-3A1E-6F94-D3C0-E11F9C7D5554}"/>
              </a:ext>
            </a:extLst>
          </p:cNvPr>
          <p:cNvSpPr txBox="1"/>
          <p:nvPr/>
        </p:nvSpPr>
        <p:spPr>
          <a:xfrm>
            <a:off x="5699760" y="2009701"/>
            <a:ext cx="6096000" cy="3373359"/>
          </a:xfrm>
          <a:prstGeom prst="rect">
            <a:avLst/>
          </a:prstGeom>
          <a:noFill/>
        </p:spPr>
        <p:txBody>
          <a:bodyPr wrap="square">
            <a:spAutoFit/>
          </a:bodyPr>
          <a:lstStyle/>
          <a:p>
            <a:pPr>
              <a:lnSpc>
                <a:spcPct val="150000"/>
              </a:lnSpc>
            </a:pPr>
            <a:r>
              <a:rPr lang="en-PK" b="1" dirty="0"/>
              <a:t>🔴 </a:t>
            </a:r>
            <a:r>
              <a:rPr lang="en-US" b="1" dirty="0"/>
              <a:t>International Case – Uber</a:t>
            </a:r>
          </a:p>
          <a:p>
            <a:pPr>
              <a:lnSpc>
                <a:spcPct val="150000"/>
              </a:lnSpc>
            </a:pPr>
            <a:r>
              <a:rPr lang="en-US" dirty="0"/>
              <a:t>Problem:</a:t>
            </a:r>
            <a:br>
              <a:rPr lang="en-US" dirty="0"/>
            </a:br>
            <a:r>
              <a:rPr lang="en-US" dirty="0"/>
              <a:t>Driver cancellations.</a:t>
            </a:r>
          </a:p>
          <a:p>
            <a:pPr>
              <a:lnSpc>
                <a:spcPct val="150000"/>
              </a:lnSpc>
            </a:pPr>
            <a:r>
              <a:rPr lang="en-US" dirty="0"/>
              <a:t>BA Action:</a:t>
            </a:r>
          </a:p>
          <a:p>
            <a:pPr>
              <a:lnSpc>
                <a:spcPct val="150000"/>
              </a:lnSpc>
              <a:buFont typeface="Arial" panose="020B0604020202020204" pitchFamily="34" charset="0"/>
              <a:buChar char="•"/>
            </a:pPr>
            <a:r>
              <a:rPr lang="en-US" dirty="0"/>
              <a:t>Analyze behavior patterns</a:t>
            </a:r>
          </a:p>
          <a:p>
            <a:pPr>
              <a:lnSpc>
                <a:spcPct val="150000"/>
              </a:lnSpc>
              <a:buFont typeface="Arial" panose="020B0604020202020204" pitchFamily="34" charset="0"/>
              <a:buChar char="•"/>
            </a:pPr>
            <a:r>
              <a:rPr lang="en-US" dirty="0"/>
              <a:t>Suggest surge pricing changes</a:t>
            </a:r>
          </a:p>
          <a:p>
            <a:pPr>
              <a:lnSpc>
                <a:spcPct val="150000"/>
              </a:lnSpc>
            </a:pPr>
            <a:r>
              <a:rPr lang="en-US" dirty="0"/>
              <a:t>Lesson:</a:t>
            </a:r>
            <a:br>
              <a:rPr lang="en-US" dirty="0"/>
            </a:br>
            <a:r>
              <a:rPr lang="en-US" dirty="0"/>
              <a:t>BA connects data + business decisions.</a:t>
            </a:r>
          </a:p>
        </p:txBody>
      </p:sp>
      <p:pic>
        <p:nvPicPr>
          <p:cNvPr id="4098" name="Picture 2" descr="Careem Super App – Smarter Wallet, Dining &amp; Rides Experience by ...">
            <a:extLst>
              <a:ext uri="{FF2B5EF4-FFF2-40B4-BE49-F238E27FC236}">
                <a16:creationId xmlns:a16="http://schemas.microsoft.com/office/drawing/2014/main" id="{60EB7B42-EB2F-232C-B7DD-9243222B2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7120" y="2445741"/>
            <a:ext cx="2802467" cy="210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6805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REAL INDUSTRY SCENARIO - DASHBOARDING</a:t>
            </a:r>
            <a:br>
              <a:rPr lang="en-US" dirty="0">
                <a:solidFill>
                  <a:schemeClr val="bg2">
                    <a:lumMod val="50000"/>
                  </a:schemeClr>
                </a:solidFill>
                <a:latin typeface="+mn-lt"/>
              </a:rPr>
            </a:b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12</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Analyzing Customer Churn in Telecom industry - Microsoft Fabric Community">
            <a:extLst>
              <a:ext uri="{FF2B5EF4-FFF2-40B4-BE49-F238E27FC236}">
                <a16:creationId xmlns:a16="http://schemas.microsoft.com/office/drawing/2014/main" id="{0BC7D196-DA17-F02D-5DB2-25B4315803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3360" y="1395375"/>
            <a:ext cx="8103870" cy="4834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42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4C9BF-FD8C-33FD-5294-6B80086E00D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26F8952-C6BD-73C3-F5C9-4C6948AD90A2}"/>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764D886-7E23-852D-8C48-192762E8CE0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DFBACCDB-CDCA-1CA9-5621-88EFED1C70DB}"/>
              </a:ext>
            </a:extLst>
          </p:cNvPr>
          <p:cNvSpPr>
            <a:spLocks noGrp="1"/>
          </p:cNvSpPr>
          <p:nvPr>
            <p:ph type="sldNum" sz="quarter" idx="12"/>
          </p:nvPr>
        </p:nvSpPr>
        <p:spPr/>
        <p:txBody>
          <a:bodyPr/>
          <a:lstStyle/>
          <a:p>
            <a:fld id="{8C95646D-91FE-4030-A7F0-07F651F9A7F3}" type="slidenum">
              <a:rPr lang="en-PK" smtClean="0"/>
              <a:t>13</a:t>
            </a:fld>
            <a:endParaRPr lang="en-PK"/>
          </a:p>
        </p:txBody>
      </p:sp>
      <p:pic>
        <p:nvPicPr>
          <p:cNvPr id="1028" name="Picture 4" descr="Download HD 55 Pm 52458 Fast University ...">
            <a:extLst>
              <a:ext uri="{FF2B5EF4-FFF2-40B4-BE49-F238E27FC236}">
                <a16:creationId xmlns:a16="http://schemas.microsoft.com/office/drawing/2014/main" id="{0FFDE430-CC73-3118-44AC-DFB70C516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4">
            <a:extLst>
              <a:ext uri="{FF2B5EF4-FFF2-40B4-BE49-F238E27FC236}">
                <a16:creationId xmlns:a16="http://schemas.microsoft.com/office/drawing/2014/main" id="{3A8F9DD2-D209-691A-A9F5-1443EEE422A1}"/>
              </a:ext>
            </a:extLst>
          </p:cNvPr>
          <p:cNvSpPr>
            <a:spLocks noGrp="1"/>
          </p:cNvSpPr>
          <p:nvPr>
            <p:ph type="ctrTitle"/>
          </p:nvPr>
        </p:nvSpPr>
        <p:spPr>
          <a:xfrm>
            <a:off x="431641" y="411046"/>
            <a:ext cx="7415213" cy="1481818"/>
          </a:xfrm>
        </p:spPr>
        <p:txBody>
          <a:bodyPr>
            <a:normAutofit/>
          </a:bodyPr>
          <a:lstStyle/>
          <a:p>
            <a:r>
              <a:rPr lang="en-US" sz="3100" b="1" dirty="0">
                <a:solidFill>
                  <a:schemeClr val="bg2">
                    <a:lumMod val="50000"/>
                  </a:schemeClr>
                </a:solidFill>
                <a:latin typeface="+mn-lt"/>
              </a:rPr>
              <a:t>Classroom Discussion (5 Minutes)</a:t>
            </a:r>
            <a:br>
              <a:rPr lang="en-US" sz="3100" b="1" dirty="0">
                <a:solidFill>
                  <a:schemeClr val="bg2">
                    <a:lumMod val="50000"/>
                  </a:schemeClr>
                </a:solidFill>
                <a:latin typeface="+mn-lt"/>
              </a:rPr>
            </a:br>
            <a:br>
              <a:rPr lang="en-US" sz="3100" b="1" dirty="0">
                <a:solidFill>
                  <a:schemeClr val="bg2">
                    <a:lumMod val="50000"/>
                  </a:schemeClr>
                </a:solidFill>
                <a:latin typeface="+mn-lt"/>
              </a:rPr>
            </a:br>
            <a:endParaRPr lang="en-PK" sz="3100" b="1" dirty="0">
              <a:solidFill>
                <a:schemeClr val="bg2">
                  <a:lumMod val="50000"/>
                </a:schemeClr>
              </a:solidFill>
              <a:latin typeface="+mn-lt"/>
            </a:endParaRPr>
          </a:p>
        </p:txBody>
      </p:sp>
      <p:sp>
        <p:nvSpPr>
          <p:cNvPr id="8" name="TextBox 7">
            <a:extLst>
              <a:ext uri="{FF2B5EF4-FFF2-40B4-BE49-F238E27FC236}">
                <a16:creationId xmlns:a16="http://schemas.microsoft.com/office/drawing/2014/main" id="{A891AB5F-121B-0043-732D-008AA5FDB55A}"/>
              </a:ext>
            </a:extLst>
          </p:cNvPr>
          <p:cNvSpPr txBox="1"/>
          <p:nvPr/>
        </p:nvSpPr>
        <p:spPr>
          <a:xfrm>
            <a:off x="1004094" y="1151955"/>
            <a:ext cx="6842760" cy="5122941"/>
          </a:xfrm>
          <a:prstGeom prst="rect">
            <a:avLst/>
          </a:prstGeom>
          <a:noFill/>
        </p:spPr>
        <p:txBody>
          <a:bodyPr wrap="square">
            <a:spAutoFit/>
          </a:bodyPr>
          <a:lstStyle/>
          <a:p>
            <a:pPr>
              <a:lnSpc>
                <a:spcPct val="150000"/>
              </a:lnSpc>
            </a:pPr>
            <a:r>
              <a:rPr lang="en-US" sz="2000" dirty="0"/>
              <a:t>Pick ONE company:</a:t>
            </a:r>
          </a:p>
          <a:p>
            <a:pPr>
              <a:lnSpc>
                <a:spcPct val="150000"/>
              </a:lnSpc>
              <a:buFont typeface="Arial" panose="020B0604020202020204" pitchFamily="34" charset="0"/>
              <a:buChar char="•"/>
            </a:pPr>
            <a:r>
              <a:rPr lang="en-US" sz="2000" dirty="0" err="1"/>
              <a:t>Daraz</a:t>
            </a:r>
            <a:endParaRPr lang="en-US" sz="2000" dirty="0"/>
          </a:p>
          <a:p>
            <a:pPr>
              <a:lnSpc>
                <a:spcPct val="150000"/>
              </a:lnSpc>
              <a:buFont typeface="Arial" panose="020B0604020202020204" pitchFamily="34" charset="0"/>
              <a:buChar char="•"/>
            </a:pPr>
            <a:r>
              <a:rPr lang="en-US" sz="2000" dirty="0"/>
              <a:t>Careem</a:t>
            </a:r>
          </a:p>
          <a:p>
            <a:pPr>
              <a:lnSpc>
                <a:spcPct val="150000"/>
              </a:lnSpc>
              <a:buFont typeface="Arial" panose="020B0604020202020204" pitchFamily="34" charset="0"/>
              <a:buChar char="•"/>
            </a:pPr>
            <a:r>
              <a:rPr lang="en-US" sz="2000" dirty="0"/>
              <a:t>Netflix</a:t>
            </a:r>
          </a:p>
          <a:p>
            <a:pPr>
              <a:lnSpc>
                <a:spcPct val="150000"/>
              </a:lnSpc>
              <a:buFont typeface="Arial" panose="020B0604020202020204" pitchFamily="34" charset="0"/>
              <a:buChar char="•"/>
            </a:pPr>
            <a:r>
              <a:rPr lang="en-US" sz="2000" dirty="0"/>
              <a:t>Amazon</a:t>
            </a:r>
          </a:p>
          <a:p>
            <a:pPr>
              <a:lnSpc>
                <a:spcPct val="150000"/>
              </a:lnSpc>
              <a:buFont typeface="Arial" panose="020B0604020202020204" pitchFamily="34" charset="0"/>
              <a:buChar char="•"/>
            </a:pPr>
            <a:r>
              <a:rPr lang="en-US" sz="2000" dirty="0" err="1"/>
              <a:t>Foodpanda</a:t>
            </a:r>
            <a:endParaRPr lang="en-US" sz="2000" dirty="0"/>
          </a:p>
          <a:p>
            <a:pPr>
              <a:lnSpc>
                <a:spcPct val="150000"/>
              </a:lnSpc>
            </a:pPr>
            <a:r>
              <a:rPr lang="en-US" sz="2000" dirty="0"/>
              <a:t>And identify:</a:t>
            </a:r>
          </a:p>
          <a:p>
            <a:pPr>
              <a:lnSpc>
                <a:spcPct val="150000"/>
              </a:lnSpc>
            </a:pPr>
            <a:r>
              <a:rPr lang="en-US" sz="2000" dirty="0"/>
              <a:t>✔ Business model</a:t>
            </a:r>
            <a:br>
              <a:rPr lang="en-US" sz="2000" dirty="0"/>
            </a:br>
            <a:r>
              <a:rPr lang="en-US" sz="2000" dirty="0"/>
              <a:t>✔ Main functional departments</a:t>
            </a:r>
            <a:br>
              <a:rPr lang="en-US" sz="2000" dirty="0"/>
            </a:br>
            <a:r>
              <a:rPr lang="en-US" sz="2000" dirty="0"/>
              <a:t>✔ Revenue source</a:t>
            </a:r>
            <a:br>
              <a:rPr lang="en-US" sz="2000" dirty="0"/>
            </a:br>
            <a:r>
              <a:rPr lang="en-US" sz="2000" dirty="0"/>
              <a:t>(You can make this a 10-minute breakout discussion.)</a:t>
            </a:r>
          </a:p>
        </p:txBody>
      </p:sp>
    </p:spTree>
    <p:extLst>
      <p:ext uri="{BB962C8B-B14F-4D97-AF65-F5344CB8AC3E}">
        <p14:creationId xmlns:p14="http://schemas.microsoft.com/office/powerpoint/2010/main" val="461653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BAA85-275A-8BD6-8075-05C233DFA76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9CC0008-5462-A913-6FE5-5B7F0870147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347FFE27-AD6B-CCBE-D539-BD0209C766E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E3ACE47A-B3AD-DA38-1E5B-E068BAA1A5D3}"/>
              </a:ext>
            </a:extLst>
          </p:cNvPr>
          <p:cNvSpPr>
            <a:spLocks noGrp="1"/>
          </p:cNvSpPr>
          <p:nvPr>
            <p:ph type="sldNum" sz="quarter" idx="12"/>
          </p:nvPr>
        </p:nvSpPr>
        <p:spPr/>
        <p:txBody>
          <a:bodyPr/>
          <a:lstStyle/>
          <a:p>
            <a:fld id="{8C95646D-91FE-4030-A7F0-07F651F9A7F3}" type="slidenum">
              <a:rPr lang="en-PK" smtClean="0"/>
              <a:t>14</a:t>
            </a:fld>
            <a:endParaRPr lang="en-PK"/>
          </a:p>
        </p:txBody>
      </p:sp>
      <p:pic>
        <p:nvPicPr>
          <p:cNvPr id="1028" name="Picture 4" descr="Download HD 55 Pm 52458 Fast University ...">
            <a:extLst>
              <a:ext uri="{FF2B5EF4-FFF2-40B4-BE49-F238E27FC236}">
                <a16:creationId xmlns:a16="http://schemas.microsoft.com/office/drawing/2014/main" id="{E021743A-F6A0-145E-613A-DA09F5E94A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72810340-E8E4-7BFA-6562-167E877EA5AA}"/>
              </a:ext>
            </a:extLst>
          </p:cNvPr>
          <p:cNvSpPr>
            <a:spLocks noGrp="1" noChangeArrowheads="1"/>
          </p:cNvSpPr>
          <p:nvPr>
            <p:ph type="ctrTitle"/>
          </p:nvPr>
        </p:nvSpPr>
        <p:spPr bwMode="auto">
          <a:xfrm>
            <a:off x="701675" y="2162205"/>
            <a:ext cx="10862782" cy="1668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tabLst/>
            </a:pPr>
            <a:r>
              <a:rPr kumimoji="0" lang="en-US" altLang="en-PK" sz="1800" b="0" i="0" u="none" strike="noStrike" cap="none" normalizeH="0" baseline="0" dirty="0">
                <a:ln>
                  <a:noFill/>
                </a:ln>
                <a:solidFill>
                  <a:schemeClr val="tx1"/>
                </a:solidFill>
                <a:effectLst/>
                <a:latin typeface="Arial" panose="020B0604020202020204" pitchFamily="34" charset="0"/>
              </a:rPr>
              <a:t>“</a:t>
            </a:r>
            <a:r>
              <a:rPr kumimoji="0" lang="en-PK" altLang="en-PK" sz="1800" b="0" i="0" u="none" strike="noStrike" cap="none" normalizeH="0" baseline="0" dirty="0">
                <a:ln>
                  <a:noFill/>
                </a:ln>
                <a:solidFill>
                  <a:schemeClr val="tx1"/>
                </a:solidFill>
                <a:effectLst/>
                <a:latin typeface="Arial" panose="020B0604020202020204" pitchFamily="34" charset="0"/>
              </a:rPr>
              <a:t>Sometimes design teams focus on UI, but business value is missing.”</a:t>
            </a:r>
          </a:p>
          <a:p>
            <a:pPr marL="0" marR="0" lvl="0" indent="0" algn="l" defTabSz="914400" rtl="0" eaLnBrk="0" fontAlgn="base" latinLnBrk="0" hangingPunct="0">
              <a:lnSpc>
                <a:spcPct val="200000"/>
              </a:lnSpc>
              <a:spcBef>
                <a:spcPct val="0"/>
              </a:spcBef>
              <a:spcAft>
                <a:spcPct val="0"/>
              </a:spcAft>
              <a:buClrTx/>
              <a:buSzTx/>
              <a:tabLst/>
            </a:pPr>
            <a:r>
              <a:rPr kumimoji="0" lang="en-PK" altLang="en-PK" sz="1800" b="0" i="0" u="none" strike="noStrike" cap="none" normalizeH="0" baseline="0" dirty="0">
                <a:ln>
                  <a:noFill/>
                </a:ln>
                <a:solidFill>
                  <a:schemeClr val="tx1"/>
                </a:solidFill>
                <a:effectLst/>
                <a:latin typeface="Arial" panose="020B0604020202020204" pitchFamily="34" charset="0"/>
              </a:rPr>
              <a:t>“Client escalations usually happen when business expectations are not aligned with technology delivery.”</a:t>
            </a:r>
          </a:p>
          <a:p>
            <a:pPr marL="0" marR="0" lvl="0" indent="0" algn="l" defTabSz="914400" rtl="0" eaLnBrk="0" fontAlgn="base" latinLnBrk="0" hangingPunct="0">
              <a:lnSpc>
                <a:spcPct val="200000"/>
              </a:lnSpc>
              <a:spcBef>
                <a:spcPct val="0"/>
              </a:spcBef>
              <a:spcAft>
                <a:spcPct val="0"/>
              </a:spcAft>
              <a:buClrTx/>
              <a:buSzTx/>
              <a:tabLst/>
            </a:pPr>
            <a:r>
              <a:rPr kumimoji="0" lang="en-PK" altLang="en-PK" sz="1800" b="0" i="0" u="none" strike="noStrike" cap="none" normalizeH="0" baseline="0" dirty="0">
                <a:ln>
                  <a:noFill/>
                </a:ln>
                <a:solidFill>
                  <a:schemeClr val="tx1"/>
                </a:solidFill>
                <a:effectLst/>
                <a:latin typeface="Arial" panose="020B0604020202020204" pitchFamily="34" charset="0"/>
              </a:rPr>
              <a:t>“A BA’s real job is preventing misunderstandings before they become problems.”</a:t>
            </a:r>
          </a:p>
        </p:txBody>
      </p:sp>
    </p:spTree>
    <p:extLst>
      <p:ext uri="{BB962C8B-B14F-4D97-AF65-F5344CB8AC3E}">
        <p14:creationId xmlns:p14="http://schemas.microsoft.com/office/powerpoint/2010/main" val="72473973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27487</TotalTime>
  <Words>576</Words>
  <Application>Microsoft Macintosh PowerPoint</Application>
  <PresentationFormat>Widescreen</PresentationFormat>
  <Paragraphs>126</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BUSINESS ANALYTICS  Introduction to Business Analytics and Core Business Functions</vt:lpstr>
      <vt:lpstr>Learning Objectives – WEEK 2 </vt:lpstr>
      <vt:lpstr>HOW ORGANIZATIONS OPERATE (CORE CONCEPT)</vt:lpstr>
      <vt:lpstr>FUNCTIONAL AREAS OF A BUSINESS  </vt:lpstr>
      <vt:lpstr>BUSINESS MODELS (VERY IMPORTANT FOR BA STUDENTS)  </vt:lpstr>
      <vt:lpstr>BUSINESS MODELS  </vt:lpstr>
      <vt:lpstr>BUSINESS TERMINOLOGY EVERY BA MUST KNOW  📊 Key Terms</vt:lpstr>
      <vt:lpstr>BUSINESS TERMINOLOGY EVERY BA MUST KNOW  </vt:lpstr>
      <vt:lpstr>BA TRIANGLE DIAGRAM  </vt:lpstr>
      <vt:lpstr>REAL INDUSTRY SCENARIO (HIGH-IMPACT EXAMPLE)  </vt:lpstr>
      <vt:lpstr>REAL INDUSTRY SCENARIO - DASHBOARDING  </vt:lpstr>
      <vt:lpstr>Classroom Discussion (5 Minutes)  </vt:lpstr>
      <vt:lpstr>“Sometimes design teams focus on UI, but business value is missing.” “Client escalations usually happen when business expectations are not aligned with technology delivery.” “A BA’s real job is preventing misunderstandings before they become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HORIZONTAL LINKAGES WITH OTHER GOVERNMENT DEPARTMENTS</dc:title>
  <dc:creator>Mufeeza Iqbal</dc:creator>
  <cp:lastModifiedBy>Moiz Shah</cp:lastModifiedBy>
  <cp:revision>148</cp:revision>
  <dcterms:created xsi:type="dcterms:W3CDTF">2024-06-09T07:08:43Z</dcterms:created>
  <dcterms:modified xsi:type="dcterms:W3CDTF">2026-02-20T08:56:03Z</dcterms:modified>
</cp:coreProperties>
</file>