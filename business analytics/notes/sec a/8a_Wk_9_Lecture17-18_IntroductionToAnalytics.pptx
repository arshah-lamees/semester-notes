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18"/>
  </p:notesMasterIdLst>
  <p:sldIdLst>
    <p:sldId id="256" r:id="rId2"/>
    <p:sldId id="345" r:id="rId3"/>
    <p:sldId id="357" r:id="rId4"/>
    <p:sldId id="380" r:id="rId5"/>
    <p:sldId id="347" r:id="rId6"/>
    <p:sldId id="360" r:id="rId7"/>
    <p:sldId id="383" r:id="rId8"/>
    <p:sldId id="382" r:id="rId9"/>
    <p:sldId id="381" r:id="rId10"/>
    <p:sldId id="384" r:id="rId11"/>
    <p:sldId id="375" r:id="rId12"/>
    <p:sldId id="371" r:id="rId13"/>
    <p:sldId id="385" r:id="rId14"/>
    <p:sldId id="386" r:id="rId15"/>
    <p:sldId id="387" r:id="rId16"/>
    <p:sldId id="388" r:id="rId1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6" autoAdjust="0"/>
    <p:restoredTop sz="94729"/>
  </p:normalViewPr>
  <p:slideViewPr>
    <p:cSldViewPr snapToGrid="0">
      <p:cViewPr varScale="1">
        <p:scale>
          <a:sx n="93" d="100"/>
          <a:sy n="93" d="100"/>
        </p:scale>
        <p:origin x="22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iz Ali" userId="f5d92abebf1a8182" providerId="LiveId" clId="{1D29D2DF-8AFD-5E4B-B438-1B9FE838644C}"/>
    <pc:docChg chg="modSld">
      <pc:chgData name="Moiz Ali" userId="f5d92abebf1a8182" providerId="LiveId" clId="{1D29D2DF-8AFD-5E4B-B438-1B9FE838644C}" dt="2026-03-28T10:37:13.165" v="12" actId="20577"/>
      <pc:docMkLst>
        <pc:docMk/>
      </pc:docMkLst>
      <pc:sldChg chg="modNotesTx">
        <pc:chgData name="Moiz Ali" userId="f5d92abebf1a8182" providerId="LiveId" clId="{1D29D2DF-8AFD-5E4B-B438-1B9FE838644C}" dt="2026-03-28T10:36:36.643" v="2" actId="20577"/>
        <pc:sldMkLst>
          <pc:docMk/>
          <pc:sldMk cId="3706582229" sldId="347"/>
        </pc:sldMkLst>
      </pc:sldChg>
      <pc:sldChg chg="modNotesTx">
        <pc:chgData name="Moiz Ali" userId="f5d92abebf1a8182" providerId="LiveId" clId="{1D29D2DF-8AFD-5E4B-B438-1B9FE838644C}" dt="2026-03-28T10:36:30.113" v="0" actId="20577"/>
        <pc:sldMkLst>
          <pc:docMk/>
          <pc:sldMk cId="1620906448" sldId="357"/>
        </pc:sldMkLst>
      </pc:sldChg>
      <pc:sldChg chg="modNotesTx">
        <pc:chgData name="Moiz Ali" userId="f5d92abebf1a8182" providerId="LiveId" clId="{1D29D2DF-8AFD-5E4B-B438-1B9FE838644C}" dt="2026-03-28T10:36:40.287" v="3" actId="20577"/>
        <pc:sldMkLst>
          <pc:docMk/>
          <pc:sldMk cId="21022313" sldId="360"/>
        </pc:sldMkLst>
      </pc:sldChg>
      <pc:sldChg chg="modNotesTx">
        <pc:chgData name="Moiz Ali" userId="f5d92abebf1a8182" providerId="LiveId" clId="{1D29D2DF-8AFD-5E4B-B438-1B9FE838644C}" dt="2026-03-28T10:36:59.485" v="8" actId="20577"/>
        <pc:sldMkLst>
          <pc:docMk/>
          <pc:sldMk cId="2516336401" sldId="371"/>
        </pc:sldMkLst>
      </pc:sldChg>
      <pc:sldChg chg="modNotesTx">
        <pc:chgData name="Moiz Ali" userId="f5d92abebf1a8182" providerId="LiveId" clId="{1D29D2DF-8AFD-5E4B-B438-1B9FE838644C}" dt="2026-03-28T10:36:56.164" v="7" actId="20577"/>
        <pc:sldMkLst>
          <pc:docMk/>
          <pc:sldMk cId="1083492549" sldId="375"/>
        </pc:sldMkLst>
      </pc:sldChg>
      <pc:sldChg chg="modNotesTx">
        <pc:chgData name="Moiz Ali" userId="f5d92abebf1a8182" providerId="LiveId" clId="{1D29D2DF-8AFD-5E4B-B438-1B9FE838644C}" dt="2026-03-28T10:36:32.810" v="1" actId="20577"/>
        <pc:sldMkLst>
          <pc:docMk/>
          <pc:sldMk cId="232542288" sldId="380"/>
        </pc:sldMkLst>
      </pc:sldChg>
      <pc:sldChg chg="modNotesTx">
        <pc:chgData name="Moiz Ali" userId="f5d92abebf1a8182" providerId="LiveId" clId="{1D29D2DF-8AFD-5E4B-B438-1B9FE838644C}" dt="2026-03-28T10:36:50.695" v="6" actId="20577"/>
        <pc:sldMkLst>
          <pc:docMk/>
          <pc:sldMk cId="1852823638" sldId="381"/>
        </pc:sldMkLst>
      </pc:sldChg>
      <pc:sldChg chg="modNotesTx">
        <pc:chgData name="Moiz Ali" userId="f5d92abebf1a8182" providerId="LiveId" clId="{1D29D2DF-8AFD-5E4B-B438-1B9FE838644C}" dt="2026-03-28T10:36:47.004" v="5" actId="20577"/>
        <pc:sldMkLst>
          <pc:docMk/>
          <pc:sldMk cId="1745369915" sldId="382"/>
        </pc:sldMkLst>
      </pc:sldChg>
      <pc:sldChg chg="modNotesTx">
        <pc:chgData name="Moiz Ali" userId="f5d92abebf1a8182" providerId="LiveId" clId="{1D29D2DF-8AFD-5E4B-B438-1B9FE838644C}" dt="2026-03-28T10:36:43.368" v="4" actId="20577"/>
        <pc:sldMkLst>
          <pc:docMk/>
          <pc:sldMk cId="644159433" sldId="383"/>
        </pc:sldMkLst>
      </pc:sldChg>
      <pc:sldChg chg="modNotesTx">
        <pc:chgData name="Moiz Ali" userId="f5d92abebf1a8182" providerId="LiveId" clId="{1D29D2DF-8AFD-5E4B-B438-1B9FE838644C}" dt="2026-03-28T10:37:03.204" v="9" actId="20577"/>
        <pc:sldMkLst>
          <pc:docMk/>
          <pc:sldMk cId="263972611" sldId="385"/>
        </pc:sldMkLst>
      </pc:sldChg>
      <pc:sldChg chg="modNotesTx">
        <pc:chgData name="Moiz Ali" userId="f5d92abebf1a8182" providerId="LiveId" clId="{1D29D2DF-8AFD-5E4B-B438-1B9FE838644C}" dt="2026-03-28T10:37:06.369" v="10" actId="20577"/>
        <pc:sldMkLst>
          <pc:docMk/>
          <pc:sldMk cId="2469000865" sldId="386"/>
        </pc:sldMkLst>
      </pc:sldChg>
      <pc:sldChg chg="modNotesTx">
        <pc:chgData name="Moiz Ali" userId="f5d92abebf1a8182" providerId="LiveId" clId="{1D29D2DF-8AFD-5E4B-B438-1B9FE838644C}" dt="2026-03-28T10:37:09.055" v="11" actId="20577"/>
        <pc:sldMkLst>
          <pc:docMk/>
          <pc:sldMk cId="3382237507" sldId="387"/>
        </pc:sldMkLst>
      </pc:sldChg>
      <pc:sldChg chg="modNotesTx">
        <pc:chgData name="Moiz Ali" userId="f5d92abebf1a8182" providerId="LiveId" clId="{1D29D2DF-8AFD-5E4B-B438-1B9FE838644C}" dt="2026-03-28T10:37:13.165" v="12" actId="20577"/>
        <pc:sldMkLst>
          <pc:docMk/>
          <pc:sldMk cId="1432161125" sldId="3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3/28/26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3250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72042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5793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5630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51640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2161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3227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30892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4680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4513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89546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91589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13237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88920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3/28/26 3:36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3/28/26 3:36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3/28/26 3:36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3/28/26 3:36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3/28/26 3:36 PM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3/28/26 3:36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3/28/26 3:36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3/28/26 3:36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3/28/26 3:36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3/28/26 3:36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3/28/26 3:36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3/28/26 3:36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964406" y="975360"/>
            <a:ext cx="9144000" cy="2862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sz="16600" dirty="0"/>
            </a:br>
            <a:r>
              <a:rPr lang="en-US" sz="4300" dirty="0"/>
              <a:t>Introduction to Analytics</a:t>
            </a:r>
            <a:endParaRPr lang="en-PK" sz="4300" dirty="0"/>
          </a:p>
        </p:txBody>
      </p:sp>
      <p:pic>
        <p:nvPicPr>
          <p:cNvPr id="5" name="Picture 4" descr="3d Analyst Working On Business Analytics Dashboard With Kpi ...">
            <a:extLst>
              <a:ext uri="{FF2B5EF4-FFF2-40B4-BE49-F238E27FC236}">
                <a16:creationId xmlns:a16="http://schemas.microsoft.com/office/drawing/2014/main" id="{55A10BB7-3531-CC3A-305B-1101C4343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56" y="2949575"/>
            <a:ext cx="3771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9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6274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By the end of today you should be able to:</a:t>
            </a:r>
          </a:p>
          <a:p>
            <a:pPr marL="0" indent="0">
              <a:buNone/>
            </a:pP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000" dirty="0"/>
              <a:t>Understand different types of analytics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Differentiate descriptive, diagnostic, predictive, and prescriptive analytics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Connect analytics with business decisions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Translate business problems into analytical questions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85AFD7-D5C0-A6EE-5F55-057216A8D06C}"/>
              </a:ext>
            </a:extLst>
          </p:cNvPr>
          <p:cNvSpPr txBox="1"/>
          <p:nvPr/>
        </p:nvSpPr>
        <p:spPr>
          <a:xfrm>
            <a:off x="7090092" y="616474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Data doesn’t create value — decisions based on data do.</a:t>
            </a:r>
            <a:endParaRPr lang="en-PK" sz="1200" dirty="0"/>
          </a:p>
        </p:txBody>
      </p:sp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Previous Week - 8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6274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Last week we improved processes: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✔ Root Cause Analysis</a:t>
            </a:r>
            <a:br>
              <a:rPr lang="en-US" sz="2400" dirty="0"/>
            </a:br>
            <a:r>
              <a:rPr lang="en-US" sz="2400" dirty="0"/>
              <a:t>✔ Bottleneck identification</a:t>
            </a:r>
            <a:br>
              <a:rPr lang="en-US" sz="2400" dirty="0"/>
            </a:br>
            <a:r>
              <a:rPr lang="en-US" sz="2400" dirty="0"/>
              <a:t>✔ Gap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Now: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👉 Analytics helps us </a:t>
            </a:r>
            <a:r>
              <a:rPr lang="en-US" sz="2400" b="1" dirty="0"/>
              <a:t>measure and validate those improvements</a:t>
            </a:r>
            <a:r>
              <a:rPr lang="en-US" sz="2400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85AFD7-D5C0-A6EE-5F55-057216A8D06C}"/>
              </a:ext>
            </a:extLst>
          </p:cNvPr>
          <p:cNvSpPr txBox="1"/>
          <p:nvPr/>
        </p:nvSpPr>
        <p:spPr>
          <a:xfrm>
            <a:off x="7090092" y="616474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Data doesn’t create value — decisions based on data do.</a:t>
            </a:r>
            <a:endParaRPr lang="en-PK" sz="1200" dirty="0"/>
          </a:p>
        </p:txBody>
      </p:sp>
    </p:spTree>
    <p:extLst>
      <p:ext uri="{BB962C8B-B14F-4D97-AF65-F5344CB8AC3E}">
        <p14:creationId xmlns:p14="http://schemas.microsoft.com/office/powerpoint/2010/main" val="23254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WHAT IS ANALYTICS? 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CF9045-7E27-F42B-B5BB-F4092DC7A517}"/>
              </a:ext>
            </a:extLst>
          </p:cNvPr>
          <p:cNvSpPr txBox="1"/>
          <p:nvPr/>
        </p:nvSpPr>
        <p:spPr>
          <a:xfrm>
            <a:off x="833436" y="960501"/>
            <a:ext cx="7784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Analytics = using data to understand and improve business decisions.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8DEE9-4336-8C24-970A-F76C127B0225}"/>
              </a:ext>
            </a:extLst>
          </p:cNvPr>
          <p:cNvSpPr txBox="1"/>
          <p:nvPr/>
        </p:nvSpPr>
        <p:spPr>
          <a:xfrm>
            <a:off x="833436" y="1365520"/>
            <a:ext cx="6096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🇵🇰 Pakistan Example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Daraz</a:t>
            </a:r>
            <a:r>
              <a:rPr lang="en-US" dirty="0"/>
              <a:t> tracks: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Orders per day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Delivery time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 ratings </a:t>
            </a:r>
          </a:p>
          <a:p>
            <a:pPr>
              <a:lnSpc>
                <a:spcPct val="150000"/>
              </a:lnSpc>
            </a:pPr>
            <a:r>
              <a:rPr lang="en-US" dirty="0"/>
              <a:t>Uses data to improve operations.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7FBF5C-43A9-D116-EA4C-95B3CC94371A}"/>
              </a:ext>
            </a:extLst>
          </p:cNvPr>
          <p:cNvSpPr txBox="1"/>
          <p:nvPr/>
        </p:nvSpPr>
        <p:spPr>
          <a:xfrm>
            <a:off x="5669280" y="1395201"/>
            <a:ext cx="6096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🌎 International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Netflix tracks: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you watch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When you stop watching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you like </a:t>
            </a:r>
          </a:p>
          <a:p>
            <a:pPr>
              <a:lnSpc>
                <a:spcPct val="150000"/>
              </a:lnSpc>
            </a:pPr>
            <a:r>
              <a:rPr lang="en-US" dirty="0"/>
              <a:t>Uses data to recommend content.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864589-06D1-807D-34F4-49DDF25946B3}"/>
              </a:ext>
            </a:extLst>
          </p:cNvPr>
          <p:cNvSpPr txBox="1"/>
          <p:nvPr/>
        </p:nvSpPr>
        <p:spPr>
          <a:xfrm>
            <a:off x="3342640" y="432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👉 “Is Excel sheet analytics?”</a:t>
            </a:r>
            <a:endParaRPr lang="en-PK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D495AA-AB78-955C-D955-3840293D010E}"/>
              </a:ext>
            </a:extLst>
          </p:cNvPr>
          <p:cNvSpPr txBox="1"/>
          <p:nvPr/>
        </p:nvSpPr>
        <p:spPr>
          <a:xfrm>
            <a:off x="2780347" y="52389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Analytics = </a:t>
            </a:r>
            <a:r>
              <a:rPr lang="en-US" b="1" dirty="0"/>
              <a:t>insight + decision-making</a:t>
            </a:r>
            <a:r>
              <a:rPr lang="en-US" dirty="0"/>
              <a:t>, not just data storage.</a:t>
            </a:r>
            <a:endParaRPr lang="en-PK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140C5B-ACEA-89D9-D0D3-B3EDA53FF81C}"/>
              </a:ext>
            </a:extLst>
          </p:cNvPr>
          <p:cNvSpPr txBox="1"/>
          <p:nvPr/>
        </p:nvSpPr>
        <p:spPr>
          <a:xfrm>
            <a:off x="7924800" y="595526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Data → Insight → Decision</a:t>
            </a:r>
            <a:endParaRPr lang="en-PK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B40D8BB-D76B-AFE9-81FB-0368B4D3A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4406" y="1456894"/>
            <a:ext cx="3113006" cy="291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3" y="496265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TYPES OF ANALYTICS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C44341-65E8-C88C-B4CD-3762A2E8E5CC}"/>
              </a:ext>
            </a:extLst>
          </p:cNvPr>
          <p:cNvSpPr txBox="1"/>
          <p:nvPr/>
        </p:nvSpPr>
        <p:spPr>
          <a:xfrm>
            <a:off x="589280" y="1708483"/>
            <a:ext cx="6096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📊 1. Descriptive Analytics (WHAT happened?)</a:t>
            </a:r>
          </a:p>
          <a:p>
            <a:pPr>
              <a:lnSpc>
                <a:spcPct val="150000"/>
              </a:lnSpc>
            </a:pPr>
            <a:r>
              <a:rPr lang="en-US" dirty="0"/>
              <a:t>Explain:</a:t>
            </a:r>
          </a:p>
          <a:p>
            <a:pPr>
              <a:lnSpc>
                <a:spcPct val="150000"/>
              </a:lnSpc>
            </a:pPr>
            <a:r>
              <a:rPr lang="en-US" dirty="0"/>
              <a:t>Descriptive = summary of past data.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2E903D-7661-7063-2BBF-B3177FDFFAFD}"/>
              </a:ext>
            </a:extLst>
          </p:cNvPr>
          <p:cNvSpPr txBox="1"/>
          <p:nvPr/>
        </p:nvSpPr>
        <p:spPr>
          <a:xfrm>
            <a:off x="701040" y="2921920"/>
            <a:ext cx="6096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Examples</a:t>
            </a:r>
          </a:p>
          <a:p>
            <a:pPr>
              <a:lnSpc>
                <a:spcPct val="150000"/>
              </a:lnSpc>
            </a:pPr>
            <a:r>
              <a:rPr lang="en-US"/>
              <a:t>Pakistan:</a:t>
            </a:r>
          </a:p>
          <a:p>
            <a:pPr>
              <a:lnSpc>
                <a:spcPct val="150000"/>
              </a:lnSpc>
            </a:pPr>
            <a:r>
              <a:rPr lang="en-US"/>
              <a:t>Foodpanda report: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Orders this week = 10,000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Avg delivery time = 35 mins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50A55E-2853-4E2E-867B-9806A62C44B4}"/>
              </a:ext>
            </a:extLst>
          </p:cNvPr>
          <p:cNvSpPr txBox="1"/>
          <p:nvPr/>
        </p:nvSpPr>
        <p:spPr>
          <a:xfrm>
            <a:off x="8822215" y="589176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Descriptive = “Report”</a:t>
            </a:r>
            <a:endParaRPr lang="en-PK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22DB09-B7B5-342F-9ABD-907C23700C6A}"/>
              </a:ext>
            </a:extLst>
          </p:cNvPr>
          <p:cNvSpPr txBox="1"/>
          <p:nvPr/>
        </p:nvSpPr>
        <p:spPr>
          <a:xfrm>
            <a:off x="416560" y="5371391"/>
            <a:ext cx="745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👉 “How many hours did you use your phone yesterday?”</a:t>
            </a:r>
            <a:endParaRPr lang="en-PK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51F59A-46F6-9EAA-2A7E-80E23CA2628D}"/>
              </a:ext>
            </a:extLst>
          </p:cNvPr>
          <p:cNvSpPr txBox="1"/>
          <p:nvPr/>
        </p:nvSpPr>
        <p:spPr>
          <a:xfrm>
            <a:off x="5527040" y="3342181"/>
            <a:ext cx="745744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International:</a:t>
            </a:r>
          </a:p>
          <a:p>
            <a:pPr>
              <a:lnSpc>
                <a:spcPct val="150000"/>
              </a:lnSpc>
            </a:pPr>
            <a:r>
              <a:rPr lang="en-US" dirty="0"/>
              <a:t>Spotify: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played song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listening hours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2C043C-6810-FF80-A9DA-219D85CE18CA}"/>
              </a:ext>
            </a:extLst>
          </p:cNvPr>
          <p:cNvSpPr txBox="1"/>
          <p:nvPr/>
        </p:nvSpPr>
        <p:spPr>
          <a:xfrm>
            <a:off x="2367280" y="1177848"/>
            <a:ext cx="745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Descriptive → Diagnostic → Predictive → Prescriptive</a:t>
            </a:r>
            <a:endParaRPr lang="en-PK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5B0499D-D0E4-09AB-9C30-95B9D7217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722" y="1383545"/>
            <a:ext cx="4655995" cy="324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3" y="496265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TYPES OF ANALYTICS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C44341-65E8-C88C-B4CD-3762A2E8E5CC}"/>
              </a:ext>
            </a:extLst>
          </p:cNvPr>
          <p:cNvSpPr txBox="1"/>
          <p:nvPr/>
        </p:nvSpPr>
        <p:spPr>
          <a:xfrm>
            <a:off x="711200" y="124589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🔍 2. Diagnostic Analytics (WHY it happened?)</a:t>
            </a:r>
          </a:p>
          <a:p>
            <a:endParaRPr lang="en-US" dirty="0"/>
          </a:p>
          <a:p>
            <a:r>
              <a:rPr lang="en-US" dirty="0"/>
              <a:t>Explain:</a:t>
            </a:r>
          </a:p>
          <a:p>
            <a:r>
              <a:rPr lang="en-US" dirty="0"/>
              <a:t>Diagnostic = finding reasons behind data.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CB9990-C9E5-F717-4166-3698DFB6979E}"/>
              </a:ext>
            </a:extLst>
          </p:cNvPr>
          <p:cNvSpPr txBox="1"/>
          <p:nvPr/>
        </p:nvSpPr>
        <p:spPr>
          <a:xfrm>
            <a:off x="711200" y="2636045"/>
            <a:ext cx="6096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🇵🇰 Example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Daraz</a:t>
            </a:r>
            <a:r>
              <a:rPr lang="en-US" dirty="0"/>
              <a:t> sales drop:</a:t>
            </a:r>
          </a:p>
          <a:p>
            <a:pPr>
              <a:lnSpc>
                <a:spcPct val="150000"/>
              </a:lnSpc>
            </a:pPr>
            <a:r>
              <a:rPr lang="en-US" dirty="0"/>
              <a:t>Reason: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Discount ended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Delivery delay increased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CA130-F779-3172-9BF0-89D7C0A6F843}"/>
              </a:ext>
            </a:extLst>
          </p:cNvPr>
          <p:cNvSpPr txBox="1"/>
          <p:nvPr/>
        </p:nvSpPr>
        <p:spPr>
          <a:xfrm>
            <a:off x="4826000" y="2734066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🌎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Netflix users leaving:</a:t>
            </a:r>
          </a:p>
          <a:p>
            <a:pPr>
              <a:lnSpc>
                <a:spcPct val="150000"/>
              </a:lnSpc>
            </a:pPr>
            <a:r>
              <a:rPr lang="en-US" dirty="0"/>
              <a:t>Reason:</a:t>
            </a:r>
          </a:p>
          <a:p>
            <a:pPr>
              <a:lnSpc>
                <a:spcPct val="150000"/>
              </a:lnSpc>
            </a:pPr>
            <a:r>
              <a:rPr lang="en-US" dirty="0"/>
              <a:t>Poor recommendations.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301745-BDD4-D9AB-DDC8-322808F7855F}"/>
              </a:ext>
            </a:extLst>
          </p:cNvPr>
          <p:cNvSpPr txBox="1"/>
          <p:nvPr/>
        </p:nvSpPr>
        <p:spPr>
          <a:xfrm>
            <a:off x="9144000" y="583558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Diagnostic = “Investigation”</a:t>
            </a:r>
            <a:endParaRPr lang="en-PK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72712E-6108-07F7-4BF2-58E662D5602B}"/>
              </a:ext>
            </a:extLst>
          </p:cNvPr>
          <p:cNvSpPr txBox="1"/>
          <p:nvPr/>
        </p:nvSpPr>
        <p:spPr>
          <a:xfrm>
            <a:off x="598081" y="5534972"/>
            <a:ext cx="7618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👉 “Why do students fail exams?”</a:t>
            </a:r>
            <a:endParaRPr lang="en-PK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A918007-3554-82B3-00D2-C1E2845B4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363" y="931751"/>
            <a:ext cx="5446575" cy="238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59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3" y="496265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TYPES OF ANALYTICS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C44341-65E8-C88C-B4CD-3762A2E8E5CC}"/>
              </a:ext>
            </a:extLst>
          </p:cNvPr>
          <p:cNvSpPr txBox="1"/>
          <p:nvPr/>
        </p:nvSpPr>
        <p:spPr>
          <a:xfrm>
            <a:off x="711200" y="1245215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🔮 </a:t>
            </a:r>
            <a:r>
              <a:rPr lang="en-US" sz="2000" b="1" dirty="0"/>
              <a:t>3. Predictive Analytics </a:t>
            </a:r>
            <a:r>
              <a:rPr lang="en-US" b="1" dirty="0"/>
              <a:t>(WHAT will happen?)</a:t>
            </a:r>
          </a:p>
          <a:p>
            <a:endParaRPr lang="en-US" dirty="0"/>
          </a:p>
          <a:p>
            <a:r>
              <a:rPr lang="en-US" dirty="0"/>
              <a:t>Explain:</a:t>
            </a:r>
          </a:p>
          <a:p>
            <a:r>
              <a:rPr lang="en-US" dirty="0"/>
              <a:t>Predictive = forecasting future using data.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F7CF1-81EC-0F7C-DF3E-1E2A6AEABFD6}"/>
              </a:ext>
            </a:extLst>
          </p:cNvPr>
          <p:cNvSpPr txBox="1"/>
          <p:nvPr/>
        </p:nvSpPr>
        <p:spPr>
          <a:xfrm>
            <a:off x="711200" y="2732829"/>
            <a:ext cx="6097772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🇵🇰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Bank predicts:</a:t>
            </a:r>
          </a:p>
          <a:p>
            <a:pPr>
              <a:lnSpc>
                <a:spcPct val="150000"/>
              </a:lnSpc>
            </a:pPr>
            <a:r>
              <a:rPr lang="en-US" dirty="0"/>
              <a:t>Which customers may default on loans.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1D81E-146A-605B-D95E-A63673EDF9F4}"/>
              </a:ext>
            </a:extLst>
          </p:cNvPr>
          <p:cNvSpPr txBox="1"/>
          <p:nvPr/>
        </p:nvSpPr>
        <p:spPr>
          <a:xfrm>
            <a:off x="6096000" y="2884478"/>
            <a:ext cx="6097772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🌎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Amazon predicts:</a:t>
            </a:r>
          </a:p>
          <a:p>
            <a:pPr>
              <a:lnSpc>
                <a:spcPct val="150000"/>
              </a:lnSpc>
            </a:pPr>
            <a:r>
              <a:rPr lang="en-US" dirty="0"/>
              <a:t>What you might buy next.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4D614-2854-148E-BFF2-4081C3CA13BB}"/>
              </a:ext>
            </a:extLst>
          </p:cNvPr>
          <p:cNvSpPr txBox="1"/>
          <p:nvPr/>
        </p:nvSpPr>
        <p:spPr>
          <a:xfrm>
            <a:off x="8610600" y="5917464"/>
            <a:ext cx="6097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Predictive = “Forecast”</a:t>
            </a:r>
            <a:endParaRPr lang="en-PK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F8BDBD-679B-91FD-9BE0-5D045F0E7F98}"/>
              </a:ext>
            </a:extLst>
          </p:cNvPr>
          <p:cNvSpPr txBox="1"/>
          <p:nvPr/>
        </p:nvSpPr>
        <p:spPr>
          <a:xfrm>
            <a:off x="711200" y="5015794"/>
            <a:ext cx="7352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👉 “Will food delivery orders increase on weekends?”</a:t>
            </a:r>
            <a:endParaRPr lang="en-PK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9DA6B69-99AD-5FDD-1B7A-8906DB9B4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489" y="693930"/>
            <a:ext cx="4472279" cy="277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6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3" y="496265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TYPES OF ANALYTICS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C44341-65E8-C88C-B4CD-3762A2E8E5CC}"/>
              </a:ext>
            </a:extLst>
          </p:cNvPr>
          <p:cNvSpPr txBox="1"/>
          <p:nvPr/>
        </p:nvSpPr>
        <p:spPr>
          <a:xfrm>
            <a:off x="711200" y="124521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🎯 4. Prescriptive Analytics (WHAT should we do?)</a:t>
            </a:r>
          </a:p>
          <a:p>
            <a:endParaRPr lang="en-US" b="1" dirty="0"/>
          </a:p>
          <a:p>
            <a:r>
              <a:rPr lang="en-US" dirty="0"/>
              <a:t>Explain:</a:t>
            </a:r>
          </a:p>
          <a:p>
            <a:r>
              <a:rPr lang="en-US" dirty="0"/>
              <a:t>Prescriptive = recommends actions.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903B9-84AF-F98A-EDE9-5038114031F5}"/>
              </a:ext>
            </a:extLst>
          </p:cNvPr>
          <p:cNvSpPr txBox="1"/>
          <p:nvPr/>
        </p:nvSpPr>
        <p:spPr>
          <a:xfrm>
            <a:off x="711200" y="2850495"/>
            <a:ext cx="6096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🇵🇰 Example</a:t>
            </a:r>
          </a:p>
          <a:p>
            <a:pPr>
              <a:lnSpc>
                <a:spcPct val="150000"/>
              </a:lnSpc>
            </a:pPr>
            <a:r>
              <a:rPr lang="en-US"/>
              <a:t>Ride-hailing app suggests:</a:t>
            </a:r>
          </a:p>
          <a:p>
            <a:pPr>
              <a:lnSpc>
                <a:spcPct val="150000"/>
              </a:lnSpc>
            </a:pPr>
            <a:r>
              <a:rPr lang="en-US"/>
              <a:t>Increase prices during peak hours.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FD201-619E-6FF2-0B76-ED66674C96C9}"/>
              </a:ext>
            </a:extLst>
          </p:cNvPr>
          <p:cNvSpPr txBox="1"/>
          <p:nvPr/>
        </p:nvSpPr>
        <p:spPr>
          <a:xfrm>
            <a:off x="748030" y="4740040"/>
            <a:ext cx="6096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🌎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Google Maps suggests:</a:t>
            </a:r>
          </a:p>
          <a:p>
            <a:pPr>
              <a:lnSpc>
                <a:spcPct val="150000"/>
              </a:lnSpc>
            </a:pPr>
            <a:r>
              <a:rPr lang="en-US" dirty="0"/>
              <a:t>Best route to avoid traffic.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DC1662-678B-A991-8A15-33EDEBE0CC8E}"/>
              </a:ext>
            </a:extLst>
          </p:cNvPr>
          <p:cNvSpPr txBox="1"/>
          <p:nvPr/>
        </p:nvSpPr>
        <p:spPr>
          <a:xfrm>
            <a:off x="8036560" y="570195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Prescriptive = “Decision”</a:t>
            </a:r>
            <a:endParaRPr lang="en-PK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425B2D-4E82-5DE8-71B4-781D59EDD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447" y="746241"/>
            <a:ext cx="541020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23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73" y="334461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 PYRAMID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5F90B6-A61E-3BD8-033C-E261979EA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68" y="946124"/>
            <a:ext cx="11017250" cy="577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846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516167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BUSINESS VS ANALYTICAL QUESTIONS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5F6F2B-DA90-C6C0-3342-0A320762B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" y="1070673"/>
            <a:ext cx="5188268" cy="129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Explain:</a:t>
            </a:r>
          </a:p>
          <a:p>
            <a:pPr>
              <a:lnSpc>
                <a:spcPct val="150000"/>
              </a:lnSpc>
            </a:pPr>
            <a:r>
              <a:rPr lang="en-US" dirty="0"/>
              <a:t>Business question is vague.</a:t>
            </a:r>
            <a:br>
              <a:rPr lang="en-US" dirty="0"/>
            </a:br>
            <a:r>
              <a:rPr lang="en-US" dirty="0"/>
              <a:t>Analytical question is measurable.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0CBC84-5ADA-3F29-AD43-4C70718ABD2A}"/>
              </a:ext>
            </a:extLst>
          </p:cNvPr>
          <p:cNvSpPr txBox="1"/>
          <p:nvPr/>
        </p:nvSpPr>
        <p:spPr>
          <a:xfrm>
            <a:off x="785812" y="2340742"/>
            <a:ext cx="6096000" cy="2125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Business Question:</a:t>
            </a:r>
          </a:p>
          <a:p>
            <a:pPr>
              <a:lnSpc>
                <a:spcPct val="150000"/>
              </a:lnSpc>
            </a:pPr>
            <a:r>
              <a:rPr lang="en-US" dirty="0"/>
              <a:t>👉 “Why are sales low?”</a:t>
            </a:r>
          </a:p>
          <a:p>
            <a:pPr>
              <a:lnSpc>
                <a:spcPct val="150000"/>
              </a:lnSpc>
            </a:pPr>
            <a:r>
              <a:rPr lang="en-US" dirty="0"/>
              <a:t>Analytical Question:</a:t>
            </a:r>
          </a:p>
          <a:p>
            <a:pPr>
              <a:lnSpc>
                <a:spcPct val="150000"/>
              </a:lnSpc>
            </a:pPr>
            <a:r>
              <a:rPr lang="en-US" dirty="0"/>
              <a:t>👉 “What factors caused a 20% drop in sales last month?”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9C21F3-CD39-F4C6-8E0B-7E5744F78C01}"/>
              </a:ext>
            </a:extLst>
          </p:cNvPr>
          <p:cNvSpPr txBox="1"/>
          <p:nvPr/>
        </p:nvSpPr>
        <p:spPr>
          <a:xfrm>
            <a:off x="785812" y="4427116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Business:</a:t>
            </a:r>
            <a:br>
              <a:rPr lang="en-US" dirty="0"/>
            </a:br>
            <a:r>
              <a:rPr lang="en-US" dirty="0"/>
              <a:t>“Why are Careem rides decreasing?”</a:t>
            </a:r>
          </a:p>
          <a:p>
            <a:pPr>
              <a:lnSpc>
                <a:spcPct val="150000"/>
              </a:lnSpc>
            </a:pPr>
            <a:r>
              <a:rPr lang="en-US" dirty="0"/>
              <a:t>Analytical:</a:t>
            </a:r>
            <a:br>
              <a:rPr lang="en-US" dirty="0"/>
            </a:br>
            <a:r>
              <a:rPr lang="en-US" dirty="0"/>
              <a:t>“What is average wait time vs cancellations?”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7989231-AE66-6A48-6FC0-8EC496842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040" y="768985"/>
            <a:ext cx="3849238" cy="598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92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METRICS &amp; DATA (FOUNDATION FOR WEEK 10)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218FBEA-D8CD-0964-AAF8-FDB4AA88C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" y="1540079"/>
            <a:ext cx="2989857" cy="2956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Explain:</a:t>
            </a:r>
          </a:p>
          <a:p>
            <a:pPr>
              <a:lnSpc>
                <a:spcPct val="150000"/>
              </a:lnSpc>
            </a:pPr>
            <a:r>
              <a:rPr lang="en-US" dirty="0"/>
              <a:t>Analytics depends on metrics.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Examples:</a:t>
            </a:r>
          </a:p>
          <a:p>
            <a:pPr>
              <a:lnSpc>
                <a:spcPct val="150000"/>
              </a:lnSpc>
            </a:pPr>
            <a:r>
              <a:rPr lang="en-US" dirty="0"/>
              <a:t>✔ Revenue</a:t>
            </a:r>
            <a:br>
              <a:rPr lang="en-US" dirty="0"/>
            </a:br>
            <a:r>
              <a:rPr lang="en-US" dirty="0"/>
              <a:t>✔ Conversion rate</a:t>
            </a:r>
            <a:br>
              <a:rPr lang="en-US" dirty="0"/>
            </a:br>
            <a:r>
              <a:rPr lang="en-US" dirty="0"/>
              <a:t>✔ Delivery time</a:t>
            </a:r>
            <a:br>
              <a:rPr lang="en-US" dirty="0"/>
            </a:br>
            <a:r>
              <a:rPr lang="en-US" dirty="0"/>
              <a:t>✔ User retention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D30CE0-6449-700E-A5EE-6458EE19A676}"/>
              </a:ext>
            </a:extLst>
          </p:cNvPr>
          <p:cNvSpPr txBox="1"/>
          <p:nvPr/>
        </p:nvSpPr>
        <p:spPr>
          <a:xfrm>
            <a:off x="8412480" y="578647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Bad metric = wrong decision.</a:t>
            </a:r>
            <a:endParaRPr lang="en-PK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725827-05B3-EEDE-BD8C-0800F0FD0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322" y="1001910"/>
            <a:ext cx="6215898" cy="412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336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CASE STUDY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283EDA1-3873-5A12-8B42-9CC6FC55F44E}"/>
              </a:ext>
            </a:extLst>
          </p:cNvPr>
          <p:cNvSpPr txBox="1"/>
          <p:nvPr/>
        </p:nvSpPr>
        <p:spPr>
          <a:xfrm>
            <a:off x="684212" y="1369630"/>
            <a:ext cx="7254240" cy="389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Scenario:</a:t>
            </a:r>
          </a:p>
          <a:p>
            <a:pPr>
              <a:lnSpc>
                <a:spcPct val="200000"/>
              </a:lnSpc>
            </a:pPr>
            <a:r>
              <a:rPr lang="en-US" dirty="0"/>
              <a:t>University LMS usage dropping.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Students must:</a:t>
            </a:r>
          </a:p>
          <a:p>
            <a:pPr>
              <a:lnSpc>
                <a:spcPct val="200000"/>
              </a:lnSpc>
            </a:pPr>
            <a:r>
              <a:rPr lang="en-US" dirty="0"/>
              <a:t>✔ Identify descriptive data</a:t>
            </a:r>
            <a:br>
              <a:rPr lang="en-US" dirty="0"/>
            </a:br>
            <a:r>
              <a:rPr lang="en-US" dirty="0"/>
              <a:t>✔ Ask diagnostic questions</a:t>
            </a:r>
            <a:br>
              <a:rPr lang="en-US" dirty="0"/>
            </a:br>
            <a:r>
              <a:rPr lang="en-US" dirty="0"/>
              <a:t>✔ Predict future</a:t>
            </a:r>
            <a:br>
              <a:rPr lang="en-US" dirty="0"/>
            </a:br>
            <a:r>
              <a:rPr lang="en-US" dirty="0"/>
              <a:t>✔ Suggest actions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1C1F85-84D9-8FBB-1837-79D7AF0B169D}"/>
              </a:ext>
            </a:extLst>
          </p:cNvPr>
          <p:cNvSpPr txBox="1"/>
          <p:nvPr/>
        </p:nvSpPr>
        <p:spPr>
          <a:xfrm>
            <a:off x="6934200" y="1534375"/>
            <a:ext cx="6096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/>
              <a:t>Connecting Dots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Scenario: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QuickBasket</a:t>
            </a:r>
            <a:r>
              <a:rPr lang="en-US" dirty="0"/>
              <a:t> deliveries slow.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712054-8E51-2A98-D4A9-9509BB817D2E}"/>
              </a:ext>
            </a:extLst>
          </p:cNvPr>
          <p:cNvSpPr txBox="1"/>
          <p:nvPr/>
        </p:nvSpPr>
        <p:spPr>
          <a:xfrm>
            <a:off x="6922294" y="2930272"/>
            <a:ext cx="6517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Descriptive</a:t>
            </a:r>
          </a:p>
          <a:p>
            <a:r>
              <a:rPr lang="en-US"/>
              <a:t>Avg delivery time = 50 mins.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AD7D8A-E889-7EC5-F479-F20E677C0DF1}"/>
              </a:ext>
            </a:extLst>
          </p:cNvPr>
          <p:cNvSpPr txBox="1"/>
          <p:nvPr/>
        </p:nvSpPr>
        <p:spPr>
          <a:xfrm>
            <a:off x="6922294" y="3610521"/>
            <a:ext cx="6720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Diagnostic</a:t>
            </a:r>
          </a:p>
          <a:p>
            <a:r>
              <a:rPr lang="en-US" dirty="0"/>
              <a:t>Reason:</a:t>
            </a:r>
          </a:p>
          <a:p>
            <a:r>
              <a:rPr lang="en-US" dirty="0"/>
              <a:t>Manual rider assignment.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E773A3-83C1-68E0-959C-AD91291C9A86}"/>
              </a:ext>
            </a:extLst>
          </p:cNvPr>
          <p:cNvSpPr txBox="1"/>
          <p:nvPr/>
        </p:nvSpPr>
        <p:spPr>
          <a:xfrm>
            <a:off x="6934200" y="4565601"/>
            <a:ext cx="6822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Predictive</a:t>
            </a:r>
          </a:p>
          <a:p>
            <a:r>
              <a:rPr lang="en-US" dirty="0"/>
              <a:t>Peak hour delays expected.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EEAFCA-0AA8-94AF-F8DF-6D019081EAB4}"/>
              </a:ext>
            </a:extLst>
          </p:cNvPr>
          <p:cNvSpPr txBox="1"/>
          <p:nvPr/>
        </p:nvSpPr>
        <p:spPr>
          <a:xfrm>
            <a:off x="6934200" y="5211932"/>
            <a:ext cx="687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Prescriptive</a:t>
            </a:r>
          </a:p>
          <a:p>
            <a:r>
              <a:rPr lang="en-US" dirty="0"/>
              <a:t>Introduce automated dispatch.</a:t>
            </a:r>
          </a:p>
        </p:txBody>
      </p:sp>
    </p:spTree>
    <p:extLst>
      <p:ext uri="{BB962C8B-B14F-4D97-AF65-F5344CB8AC3E}">
        <p14:creationId xmlns:p14="http://schemas.microsoft.com/office/powerpoint/2010/main" val="263972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COMMON MISTAKES STUDENTS MAKE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4A8893-4579-F8C2-464A-A73842263E30}"/>
              </a:ext>
            </a:extLst>
          </p:cNvPr>
          <p:cNvSpPr txBox="1"/>
          <p:nvPr/>
        </p:nvSpPr>
        <p:spPr>
          <a:xfrm>
            <a:off x="914400" y="1641455"/>
            <a:ext cx="6096000" cy="1674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❌ Confusing descriptive with diagnostic</a:t>
            </a:r>
            <a:br>
              <a:rPr lang="en-US" dirty="0"/>
            </a:br>
            <a:r>
              <a:rPr lang="en-US" dirty="0"/>
              <a:t>❌ Jumping to solutions without data</a:t>
            </a:r>
            <a:br>
              <a:rPr lang="en-US" dirty="0"/>
            </a:br>
            <a:r>
              <a:rPr lang="en-US" dirty="0"/>
              <a:t>❌ Using assumptions instead of analysis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4E705-43AC-9692-5D77-DF5949BC0688}"/>
              </a:ext>
            </a:extLst>
          </p:cNvPr>
          <p:cNvSpPr txBox="1"/>
          <p:nvPr/>
        </p:nvSpPr>
        <p:spPr>
          <a:xfrm>
            <a:off x="7843520" y="5352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Always move step by step.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69000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ROLE OF BUSINESS ANALYST IN ANALYTICS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4A8893-4579-F8C2-464A-A73842263E30}"/>
              </a:ext>
            </a:extLst>
          </p:cNvPr>
          <p:cNvSpPr txBox="1"/>
          <p:nvPr/>
        </p:nvSpPr>
        <p:spPr>
          <a:xfrm>
            <a:off x="914400" y="1641455"/>
            <a:ext cx="6096000" cy="2125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BA responsibilities:</a:t>
            </a:r>
          </a:p>
          <a:p>
            <a:pPr>
              <a:lnSpc>
                <a:spcPct val="150000"/>
              </a:lnSpc>
            </a:pPr>
            <a:r>
              <a:rPr lang="en-US" dirty="0"/>
              <a:t>✔ Define analytical questions</a:t>
            </a:r>
            <a:br>
              <a:rPr lang="en-US" dirty="0"/>
            </a:br>
            <a:r>
              <a:rPr lang="en-US" dirty="0"/>
              <a:t>✔ Identify metrics</a:t>
            </a:r>
            <a:br>
              <a:rPr lang="en-US" dirty="0"/>
            </a:br>
            <a:r>
              <a:rPr lang="en-US" dirty="0"/>
              <a:t>✔ Interpret results</a:t>
            </a:r>
            <a:br>
              <a:rPr lang="en-US" dirty="0"/>
            </a:br>
            <a:r>
              <a:rPr lang="en-US" dirty="0"/>
              <a:t>✔ Communicate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EF84EB-B7EE-F61D-B137-FA079B7A87E7}"/>
              </a:ext>
            </a:extLst>
          </p:cNvPr>
          <p:cNvSpPr txBox="1"/>
          <p:nvPr/>
        </p:nvSpPr>
        <p:spPr>
          <a:xfrm>
            <a:off x="914400" y="4367163"/>
            <a:ext cx="696976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BA is NOT data scientist.</a:t>
            </a:r>
          </a:p>
          <a:p>
            <a:pPr>
              <a:lnSpc>
                <a:spcPct val="150000"/>
              </a:lnSpc>
            </a:pPr>
            <a:r>
              <a:rPr lang="en-US" dirty="0"/>
              <a:t>BA = bridge between business and data.</a:t>
            </a:r>
          </a:p>
        </p:txBody>
      </p:sp>
    </p:spTree>
    <p:extLst>
      <p:ext uri="{BB962C8B-B14F-4D97-AF65-F5344CB8AC3E}">
        <p14:creationId xmlns:p14="http://schemas.microsoft.com/office/powerpoint/2010/main" val="3382237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KEY TAKEAWAYS (END OF LECTURE)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2E927C-95CD-CD1C-F6E4-B2C7531D466F}"/>
              </a:ext>
            </a:extLst>
          </p:cNvPr>
          <p:cNvSpPr txBox="1"/>
          <p:nvPr/>
        </p:nvSpPr>
        <p:spPr>
          <a:xfrm>
            <a:off x="826294" y="1401095"/>
            <a:ext cx="8317706" cy="3336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✔ Descriptive = What happened</a:t>
            </a:r>
            <a:br>
              <a:rPr lang="en-US" dirty="0"/>
            </a:br>
            <a:r>
              <a:rPr lang="en-US" dirty="0"/>
              <a:t>✔ Diagnostic = Why it happened</a:t>
            </a:r>
            <a:br>
              <a:rPr lang="en-US" dirty="0"/>
            </a:br>
            <a:r>
              <a:rPr lang="en-US" dirty="0"/>
              <a:t>✔ Predictive = What will happen</a:t>
            </a:r>
            <a:br>
              <a:rPr lang="en-US" dirty="0"/>
            </a:br>
            <a:r>
              <a:rPr lang="en-US" dirty="0"/>
              <a:t>✔ Prescriptive = What to do</a:t>
            </a:r>
          </a:p>
          <a:p>
            <a:pPr>
              <a:lnSpc>
                <a:spcPct val="200000"/>
              </a:lnSpc>
            </a:pPr>
            <a:r>
              <a:rPr lang="en-US" dirty="0"/>
              <a:t>✔ Analytics drives business decisions</a:t>
            </a:r>
            <a:br>
              <a:rPr lang="en-US" dirty="0"/>
            </a:br>
            <a:r>
              <a:rPr lang="en-US" dirty="0"/>
              <a:t>✔ Business Analysts convert business problems into data questions</a:t>
            </a:r>
          </a:p>
        </p:txBody>
      </p:sp>
    </p:spTree>
    <p:extLst>
      <p:ext uri="{BB962C8B-B14F-4D97-AF65-F5344CB8AC3E}">
        <p14:creationId xmlns:p14="http://schemas.microsoft.com/office/powerpoint/2010/main" val="1432161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27905</TotalTime>
  <Words>759</Words>
  <Application>Microsoft Macintosh PowerPoint</Application>
  <PresentationFormat>Widescreen</PresentationFormat>
  <Paragraphs>165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BUSINESS ANALYTICS  Introduction to Business Analytics and Core Business Functions</vt:lpstr>
      <vt:lpstr>Learning Objectives – WEEK 9 </vt:lpstr>
      <vt:lpstr>Previous Week - 8 </vt:lpstr>
      <vt:lpstr>WHAT IS ANALYTICS? </vt:lpstr>
      <vt:lpstr>TYPES OF ANALYTICS </vt:lpstr>
      <vt:lpstr>TYPES OF ANALYTICS </vt:lpstr>
      <vt:lpstr>TYPES OF ANALYTICS </vt:lpstr>
      <vt:lpstr>TYPES OF ANALYTICS </vt:lpstr>
      <vt:lpstr>VISUAL PYRAMID </vt:lpstr>
      <vt:lpstr>BUSINESS VS ANALYTICAL QUESTIONS</vt:lpstr>
      <vt:lpstr>METRICS &amp; DATA (FOUNDATION FOR WEEK 10)</vt:lpstr>
      <vt:lpstr>CASE STUDY</vt:lpstr>
      <vt:lpstr>COMMON MISTAKES STUDENTS MAKE</vt:lpstr>
      <vt:lpstr>ROLE OF BUSINESS ANALYST IN ANALYTICS</vt:lpstr>
      <vt:lpstr>KEY TAKEAWAYS (END OF LECTURE)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160</cp:revision>
  <dcterms:created xsi:type="dcterms:W3CDTF">2024-06-09T07:08:43Z</dcterms:created>
  <dcterms:modified xsi:type="dcterms:W3CDTF">2026-03-28T10:37:14Z</dcterms:modified>
</cp:coreProperties>
</file>