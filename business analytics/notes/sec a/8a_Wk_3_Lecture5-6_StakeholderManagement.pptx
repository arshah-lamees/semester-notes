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48" r:id="rId1"/>
  </p:sldMasterIdLst>
  <p:notesMasterIdLst>
    <p:notesMasterId r:id="rId16"/>
  </p:notesMasterIdLst>
  <p:sldIdLst>
    <p:sldId id="256" r:id="rId2"/>
    <p:sldId id="345" r:id="rId3"/>
    <p:sldId id="357" r:id="rId4"/>
    <p:sldId id="347" r:id="rId5"/>
    <p:sldId id="360" r:id="rId6"/>
    <p:sldId id="362" r:id="rId7"/>
    <p:sldId id="377" r:id="rId8"/>
    <p:sldId id="373" r:id="rId9"/>
    <p:sldId id="380" r:id="rId10"/>
    <p:sldId id="378" r:id="rId11"/>
    <p:sldId id="381" r:id="rId12"/>
    <p:sldId id="374" r:id="rId13"/>
    <p:sldId id="379" r:id="rId14"/>
    <p:sldId id="371" r:id="rId15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feeza Iqbal" initials="MI" lastIdx="1" clrIdx="0">
    <p:extLst>
      <p:ext uri="{19B8F6BF-5375-455C-9EA6-DF929625EA0E}">
        <p15:presenceInfo xmlns:p15="http://schemas.microsoft.com/office/powerpoint/2012/main" userId="Mufeeza Iqb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75C4"/>
    <a:srgbClr val="D4E5F7"/>
    <a:srgbClr val="E3EEFD"/>
    <a:srgbClr val="BAE2D1"/>
    <a:srgbClr val="ECF3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09" autoAdjust="0"/>
    <p:restoredTop sz="94741"/>
  </p:normalViewPr>
  <p:slideViewPr>
    <p:cSldViewPr snapToGrid="0">
      <p:cViewPr varScale="1">
        <p:scale>
          <a:sx n="90" d="100"/>
          <a:sy n="90" d="100"/>
        </p:scale>
        <p:origin x="232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AA3216-91D5-43D0-B205-F0CBF00F2A3B}" type="datetimeFigureOut">
              <a:rPr lang="en-PK" smtClean="0"/>
              <a:t>2/20/26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8AE2D-6C56-4B4B-AC93-0FCEBED5A4D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92021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77694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59390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256300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001684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786752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8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781204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9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064395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10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608890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472630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58291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33602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392AE-3475-5519-9CD2-B3813CA2A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9BC997-4B8A-9709-FA3F-2812ED29EB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DD1C2-A443-3425-F1A3-450EEF2D6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0BE24-4914-473D-86E2-D4EE0B0E90C7}" type="datetime8">
              <a:rPr lang="en-PK" smtClean="0"/>
              <a:t>2/20/26 1:56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E2A3E-9208-EDCE-DEBB-4D9337367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EF72C-8D9E-F888-7543-7E09C4BFD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70094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99ADE-7B08-A01C-72DF-FE9993CEE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07FC3-A55A-4A8D-FCDC-D328082DE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EBE8E-9BB1-B225-5B4C-55AEA4E7F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EF77-D47F-4BB1-86E4-5F455460BD9C}" type="datetime8">
              <a:rPr lang="en-PK" smtClean="0"/>
              <a:t>2/20/26 1:56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AE679-F999-E1F9-0F77-DEA6D7131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7F485-BD67-E327-64C3-D7E71B9E5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10424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EA042-DF09-56BB-8638-29DBAD388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1508DB-FFA7-6D03-67FA-3EF149A1B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4BE1E-EE08-ACCC-1271-2F5E25CAF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1A5AA-2A6E-43F2-9F30-AF7EED5FA600}" type="datetime8">
              <a:rPr lang="en-PK" smtClean="0"/>
              <a:t>2/20/26 1:56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9D85B-5C96-E835-D822-93C86F783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899E9-E472-DD15-F881-200436473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10372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27FCC-3AE3-0214-F9D4-FCB15D614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 i="0" baseline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7161E-F706-1674-13DB-BACD472317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CA0A05-46B6-960E-7368-B2CE54CC3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639986-E720-F1B7-36F9-B2708004C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E2CB0-8F81-407D-9308-759F0E533D95}" type="datetime8">
              <a:rPr lang="en-PK" smtClean="0"/>
              <a:t>2/20/26 1:56 PM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8C3A9C-BA81-3B68-288D-EB7FD47FF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AEAC4-C699-2232-BD98-7252DC5E1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06244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4A8C3-75DD-1313-ABA5-5D3FFA02C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77D5B1-50C2-CF91-9D88-610914E27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35284C-0315-C6F1-CA04-F3E219D15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47C534-C2F2-A37B-C431-9DF8A42B31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AA4DAB-49CA-2EFC-9842-564884678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4688EE-799F-3F23-A121-4F674361A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FBD63-32C8-45D6-BE9D-408F278BE9C8}" type="datetime8">
              <a:rPr lang="en-PK" smtClean="0"/>
              <a:t>2/20/26 1:56 PM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E4848C-55D2-9A77-36F1-FAD52DCB0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5D59BD-56E3-4753-6C9F-3B1F4CE0B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30308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AC4B4-FA75-C85D-E743-3DB6E5DB7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DF645E-1294-7708-0DA4-EDA61782F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7C61-2664-45A8-9CA0-D9D546B35364}" type="datetime8">
              <a:rPr lang="en-PK" smtClean="0"/>
              <a:t>2/20/26 1:56 PM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69AFA9-8467-3A28-7BFF-CA12EF3C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D24441-1E31-6A33-D8E8-781D599AD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92362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B7448-39E8-68A0-B712-84409BF4E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243484-DEAD-0EB1-DC5F-24E6FD4BA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78C6A-94B1-48CD-B95C-7BBCF06B539F}" type="datetime8">
              <a:rPr lang="en-PK" smtClean="0"/>
              <a:t>2/20/26 1:56 PM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F8FE36-0300-3AD8-5E95-41E333E18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CC0281-9CE6-90B4-45F9-D9D954D12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92040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053CB-8CBB-A3DD-2AD9-1CA378510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21173-6A64-ACDD-90B1-F466FBD62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611703-8264-01ED-8E5E-06DFA98EE8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925018-0F9D-E6A7-30D4-FA1B94922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620F-E5D6-45BD-ABE4-D3E73AEC1059}" type="datetime8">
              <a:rPr lang="en-PK" smtClean="0"/>
              <a:t>2/20/26 1:56 PM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9345B6-DE39-4DE7-B63A-020AA0C25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77E181-66A9-8AF7-8FC6-FD18E1778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21884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9E283-232A-203F-BE7E-C1FAB1898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344E88-2CB0-6548-1689-37B5CD1D82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C45364-9FD1-5237-6F05-3CD9FF28E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A0F029-9EDC-16AD-E233-F72153868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6677-69CF-4F57-B961-69869666485F}" type="datetime8">
              <a:rPr lang="en-PK" smtClean="0"/>
              <a:t>2/20/26 1:56 PM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6EAD10-9813-FA15-7AA3-F311C1514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593DEC-A834-573B-8137-57A252A1E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53929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B6A8F-48A0-C1A4-C992-787E5B87A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5B7C4-4FCF-3883-BC91-FDBC338D9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4F67A-FCF1-D4E4-E162-793DEACCA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FB392-8D81-42DB-9470-C0982980A208}" type="datetime8">
              <a:rPr lang="en-PK" smtClean="0"/>
              <a:t>2/20/26 1:56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6A201-A7CA-71B8-8718-9897B03FE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A3F33-5AA9-E112-2ABF-79F547887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26848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D59074-43DC-F3A1-F847-B382DA9986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F3AC57-AF5B-EC7C-207D-DD8781393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5FF8A-8F6C-7460-66BD-36FE94B2C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8CE2D-4511-4580-808C-44E58A6F6871}" type="datetime8">
              <a:rPr lang="en-PK" smtClean="0"/>
              <a:t>2/20/26 1:56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E7764-4D16-A8A5-2DA2-548355B8B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DCA92-473C-706D-5019-016D87F1B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29802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5FF33B-CB98-4E49-F470-FDEB20A1B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5A451-6F13-E99E-AA74-118FE0705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D6080-894B-699D-C377-9FCB24BB49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8247E1-80FA-4B68-AED4-FB0D556219B2}" type="datetime8">
              <a:rPr lang="en-PK" smtClean="0"/>
              <a:t>2/20/26 1:56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F34FF-7C89-DFB6-0D18-88EA7A4B3B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08851-096B-57D1-721E-52D426BA6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06824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0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D80B44-5D51-DEB9-139E-D6588E08DCEE}"/>
              </a:ext>
            </a:extLst>
          </p:cNvPr>
          <p:cNvSpPr/>
          <p:nvPr/>
        </p:nvSpPr>
        <p:spPr>
          <a:xfrm>
            <a:off x="-1" y="6553199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A358E0-F332-E7D0-E6FF-67C0C524EC5E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C7347E-773E-501C-BBCD-F143B41F9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</a:t>
            </a:fld>
            <a:endParaRPr lang="en-PK"/>
          </a:p>
        </p:txBody>
      </p:sp>
      <p:pic>
        <p:nvPicPr>
          <p:cNvPr id="1028" name="Picture 4" descr="Download HD 55 Pm 52458 Fast University ...">
            <a:extLst>
              <a:ext uri="{FF2B5EF4-FFF2-40B4-BE49-F238E27FC236}">
                <a16:creationId xmlns:a16="http://schemas.microsoft.com/office/drawing/2014/main" id="{7C0E69E7-0624-E377-FC31-A9DAAD9B9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Blue Abstract Data Analysis Technology Background, Blue, Abstract ...">
            <a:extLst>
              <a:ext uri="{FF2B5EF4-FFF2-40B4-BE49-F238E27FC236}">
                <a16:creationId xmlns:a16="http://schemas.microsoft.com/office/drawing/2014/main" id="{AE2E633B-B89B-2AD6-B235-B52FC21A3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"/>
            <a:ext cx="12192001" cy="685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150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A8744-A704-1C59-1304-02055AF7C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6E56C57-21E3-F72F-1B57-E9FD05DDB415}"/>
              </a:ext>
            </a:extLst>
          </p:cNvPr>
          <p:cNvSpPr/>
          <p:nvPr/>
        </p:nvSpPr>
        <p:spPr>
          <a:xfrm>
            <a:off x="-1" y="6553199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D03E08-0EA6-164B-E5C0-0ABD98254645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9F7046-524C-B6E2-F233-6AA93275F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2</a:t>
            </a:fld>
            <a:endParaRPr lang="en-PK"/>
          </a:p>
        </p:txBody>
      </p:sp>
      <p:pic>
        <p:nvPicPr>
          <p:cNvPr id="1028" name="Picture 4" descr="Download HD 55 Pm 52458 Fast University ...">
            <a:extLst>
              <a:ext uri="{FF2B5EF4-FFF2-40B4-BE49-F238E27FC236}">
                <a16:creationId xmlns:a16="http://schemas.microsoft.com/office/drawing/2014/main" id="{715E161C-5FF5-7252-A206-A10477B0B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4">
            <a:extLst>
              <a:ext uri="{FF2B5EF4-FFF2-40B4-BE49-F238E27FC236}">
                <a16:creationId xmlns:a16="http://schemas.microsoft.com/office/drawing/2014/main" id="{4FA3E7AE-A2AD-D117-25F2-EA3F62B700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006" y="687984"/>
            <a:ext cx="9144000" cy="29972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BUSINESS ANALYTICS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r>
              <a:rPr lang="en-US" sz="4400" dirty="0">
                <a:solidFill>
                  <a:schemeClr val="bg1"/>
                </a:solidFill>
              </a:rPr>
              <a:t>Introduction to Business Analytics and Core Business Functions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05E0D16E-2E56-B97C-A39A-BD2DC36A3359}"/>
              </a:ext>
            </a:extLst>
          </p:cNvPr>
          <p:cNvSpPr txBox="1">
            <a:spLocks/>
          </p:cNvSpPr>
          <p:nvPr/>
        </p:nvSpPr>
        <p:spPr>
          <a:xfrm>
            <a:off x="669766" y="13493"/>
            <a:ext cx="9144000" cy="2997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BUSINESS ANALYSIS</a:t>
            </a:r>
            <a:br>
              <a:rPr lang="en-US" dirty="0"/>
            </a:br>
            <a:br>
              <a:rPr lang="en-US" dirty="0"/>
            </a:br>
            <a:r>
              <a:rPr lang="en-US" sz="3600" dirty="0"/>
              <a:t>Week 3 Lecture: Stakeholder Management</a:t>
            </a:r>
            <a:endParaRPr lang="en-PK" sz="3600" dirty="0"/>
          </a:p>
        </p:txBody>
      </p:sp>
      <p:pic>
        <p:nvPicPr>
          <p:cNvPr id="2" name="Picture 1" descr="https://mir-s3-cdn-cf.behance.net/project_modules/1400_opt_1/c4c95797092699.5ebd2616ea612.jpg">
            <a:extLst>
              <a:ext uri="{FF2B5EF4-FFF2-40B4-BE49-F238E27FC236}">
                <a16:creationId xmlns:a16="http://schemas.microsoft.com/office/drawing/2014/main" id="{46681272-A99C-CB0B-1B3C-5C89667A8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7556" y="3259137"/>
            <a:ext cx="3746500" cy="299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218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741F9-C6FD-1E39-BD7F-93E026F55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Learning Objectives – WEEK 2</a:t>
            </a: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CCE4D-95E9-6FB6-ED27-6AA4627A2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102766"/>
            <a:ext cx="10515600" cy="3627438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1800" dirty="0"/>
              <a:t>By the end of this lecture you should be able to:</a:t>
            </a:r>
          </a:p>
          <a:p>
            <a:pPr>
              <a:lnSpc>
                <a:spcPct val="200000"/>
              </a:lnSpc>
            </a:pPr>
            <a:r>
              <a:rPr lang="en-US" sz="1800" dirty="0"/>
              <a:t>Identify stakeholders in real projects</a:t>
            </a:r>
          </a:p>
          <a:p>
            <a:pPr>
              <a:lnSpc>
                <a:spcPct val="200000"/>
              </a:lnSpc>
            </a:pPr>
            <a:r>
              <a:rPr lang="en-US" sz="1800" dirty="0"/>
              <a:t>Understand stakeholder influence &amp; expectations</a:t>
            </a:r>
          </a:p>
          <a:p>
            <a:pPr>
              <a:lnSpc>
                <a:spcPct val="200000"/>
              </a:lnSpc>
            </a:pPr>
            <a:r>
              <a:rPr lang="en-US" sz="1800" dirty="0"/>
              <a:t>Use a Power–Interest Matrix</a:t>
            </a:r>
          </a:p>
          <a:p>
            <a:pPr>
              <a:lnSpc>
                <a:spcPct val="200000"/>
              </a:lnSpc>
            </a:pPr>
            <a:r>
              <a:rPr lang="en-US" sz="1800" dirty="0"/>
              <a:t>Plan communication like a professional BA</a:t>
            </a:r>
          </a:p>
          <a:p>
            <a:pPr>
              <a:lnSpc>
                <a:spcPct val="200000"/>
              </a:lnSpc>
            </a:pPr>
            <a:r>
              <a:rPr lang="en-US" sz="1800" dirty="0"/>
              <a:t>Handle stakeholder conflicts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C24661-1429-04BE-6E64-7D554BED14A1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F29413-F335-2DA5-47CF-A2EC49D47E62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3593E-E656-4749-0FCA-C58FDE336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3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DC946E10-9E58-EF2D-6D0E-8116B41ED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0906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892" y="519999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WHAT IS A STAKEHOLDER?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4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6FD9A4-4799-F58A-1491-0AB6DA5A50BC}"/>
              </a:ext>
            </a:extLst>
          </p:cNvPr>
          <p:cNvSpPr txBox="1"/>
          <p:nvPr/>
        </p:nvSpPr>
        <p:spPr>
          <a:xfrm>
            <a:off x="663892" y="1552118"/>
            <a:ext cx="9414986" cy="4712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📌 Simple Definition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Anyone affected by the project OR anyone who can influence it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Pakistan Examples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Product Owner at Systems Limited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Client (REI </a:t>
            </a:r>
            <a:r>
              <a:rPr lang="en-US" dirty="0" err="1"/>
              <a:t>Blackbook</a:t>
            </a:r>
            <a:r>
              <a:rPr lang="en-US" dirty="0"/>
              <a:t> style scenario)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Government regulators (PTA in telecom)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Customers using </a:t>
            </a:r>
            <a:r>
              <a:rPr lang="en-US" dirty="0" err="1"/>
              <a:t>Daraz</a:t>
            </a:r>
            <a:r>
              <a:rPr lang="en-US" dirty="0"/>
              <a:t> or Careem</a:t>
            </a:r>
          </a:p>
          <a:p>
            <a:pPr>
              <a:lnSpc>
                <a:spcPct val="150000"/>
              </a:lnSpc>
            </a:pPr>
            <a:r>
              <a:rPr lang="en-US" b="1" dirty="0"/>
              <a:t>International Examples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Uber drivers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Netflix subscribers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Microsoft enterprise clients</a:t>
            </a:r>
          </a:p>
        </p:txBody>
      </p:sp>
      <p:sp>
        <p:nvSpPr>
          <p:cNvPr id="16" name="AutoShape 2" descr="Stakeholders Clipart PNG, Vector, PSD, and Clipart With Transparent  Background for Free Download | Pngtree">
            <a:extLst>
              <a:ext uri="{FF2B5EF4-FFF2-40B4-BE49-F238E27FC236}">
                <a16:creationId xmlns:a16="http://schemas.microsoft.com/office/drawing/2014/main" id="{111BED4F-52CD-112B-80FB-5245A573EF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K"/>
          </a:p>
        </p:txBody>
      </p:sp>
      <p:pic>
        <p:nvPicPr>
          <p:cNvPr id="8198" name="Picture 6" descr="Diagram of Stakeholder Management">
            <a:extLst>
              <a:ext uri="{FF2B5EF4-FFF2-40B4-BE49-F238E27FC236}">
                <a16:creationId xmlns:a16="http://schemas.microsoft.com/office/drawing/2014/main" id="{A8CEDB5C-CFF7-D9EE-DC03-674BCA427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6724" y="2088196"/>
            <a:ext cx="4001384" cy="3936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6582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TYPES OF STAKEHOLDERS</a:t>
            </a:r>
            <a:br>
              <a:rPr lang="en-US" b="1" dirty="0"/>
            </a:b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5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3779A02-CB8A-4C32-5B5F-1FA98156D493}"/>
              </a:ext>
            </a:extLst>
          </p:cNvPr>
          <p:cNvSpPr txBox="1"/>
          <p:nvPr/>
        </p:nvSpPr>
        <p:spPr>
          <a:xfrm>
            <a:off x="785812" y="1850950"/>
            <a:ext cx="5310188" cy="461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PK" b="1" dirty="0"/>
              <a:t>🟢 </a:t>
            </a:r>
            <a:r>
              <a:rPr lang="en-US" b="1" dirty="0"/>
              <a:t>Internal Stakeholders</a:t>
            </a:r>
          </a:p>
          <a:p>
            <a:pPr>
              <a:lnSpc>
                <a:spcPct val="150000"/>
              </a:lnSpc>
            </a:pPr>
            <a:r>
              <a:rPr lang="en-US" dirty="0"/>
              <a:t>These are people inside the organization who help deliver the product.</a:t>
            </a:r>
          </a:p>
          <a:p>
            <a:pPr>
              <a:lnSpc>
                <a:spcPct val="150000"/>
              </a:lnSpc>
            </a:pPr>
            <a:r>
              <a:rPr lang="en-US" dirty="0"/>
              <a:t>Examples: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Developers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Designers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QA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CEO</a:t>
            </a:r>
          </a:p>
          <a:p>
            <a:pPr>
              <a:lnSpc>
                <a:spcPct val="150000"/>
              </a:lnSpc>
            </a:pPr>
            <a:r>
              <a:rPr lang="en-US" dirty="0"/>
              <a:t>Pakistan Case:</a:t>
            </a:r>
            <a:br>
              <a:rPr lang="en-US" dirty="0"/>
            </a:br>
            <a:r>
              <a:rPr lang="en-US" dirty="0"/>
              <a:t>Jazz internal product teams.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B623AD-0602-7979-0E62-B85A2CE31E7B}"/>
              </a:ext>
            </a:extLst>
          </p:cNvPr>
          <p:cNvSpPr txBox="1"/>
          <p:nvPr/>
        </p:nvSpPr>
        <p:spPr>
          <a:xfrm>
            <a:off x="6043612" y="1819200"/>
            <a:ext cx="6096000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🔵 External Stakeholders</a:t>
            </a:r>
          </a:p>
          <a:p>
            <a:pPr>
              <a:lnSpc>
                <a:spcPct val="150000"/>
              </a:lnSpc>
            </a:pPr>
            <a:r>
              <a:rPr lang="en-US" dirty="0"/>
              <a:t>These people may not build the product but heavily influence success.</a:t>
            </a:r>
            <a:br>
              <a:rPr lang="en-US" dirty="0"/>
            </a:br>
            <a:r>
              <a:rPr lang="en-US" dirty="0"/>
              <a:t>Examples: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Customers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Vendors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Partners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Government</a:t>
            </a:r>
          </a:p>
          <a:p>
            <a:pPr>
              <a:lnSpc>
                <a:spcPct val="150000"/>
              </a:lnSpc>
            </a:pPr>
            <a:r>
              <a:rPr lang="en-US" dirty="0"/>
              <a:t>International Case:</a:t>
            </a:r>
            <a:br>
              <a:rPr lang="en-US" dirty="0"/>
            </a:br>
            <a:r>
              <a:rPr lang="en-US" dirty="0"/>
              <a:t>Amazon sellers are external stakeholders.</a:t>
            </a:r>
          </a:p>
        </p:txBody>
      </p:sp>
    </p:spTree>
    <p:extLst>
      <p:ext uri="{BB962C8B-B14F-4D97-AF65-F5344CB8AC3E}">
        <p14:creationId xmlns:p14="http://schemas.microsoft.com/office/powerpoint/2010/main" val="21022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POWER–INTEREST MATRIX</a:t>
            </a:r>
            <a:br>
              <a:rPr lang="en-US" b="1" dirty="0"/>
            </a:b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6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 descr="Diagram of Stakeholder Analysis">
            <a:extLst>
              <a:ext uri="{FF2B5EF4-FFF2-40B4-BE49-F238E27FC236}">
                <a16:creationId xmlns:a16="http://schemas.microsoft.com/office/drawing/2014/main" id="{C50611E0-87BE-0277-440C-07FCB2164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2" y="1630308"/>
            <a:ext cx="4107814" cy="409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Stakeholder Analysis Chart Infographic Powerpoint Template and Google  Slides Theme">
            <a:extLst>
              <a:ext uri="{FF2B5EF4-FFF2-40B4-BE49-F238E27FC236}">
                <a16:creationId xmlns:a16="http://schemas.microsoft.com/office/drawing/2014/main" id="{A854F855-54E5-1809-772E-36DB21902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9921" y="1793424"/>
            <a:ext cx="6302694" cy="3545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42D51EB-5DDA-77B4-B4F8-F67102EA4F46}"/>
              </a:ext>
            </a:extLst>
          </p:cNvPr>
          <p:cNvSpPr txBox="1"/>
          <p:nvPr/>
        </p:nvSpPr>
        <p:spPr>
          <a:xfrm>
            <a:off x="5067931" y="33875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OR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87934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POWER–INTEREST MATRIX</a:t>
            </a:r>
            <a:br>
              <a:rPr lang="en-US" b="1" dirty="0"/>
            </a:b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7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8CF9D5-19AE-2452-D883-F495FF2AB151}"/>
              </a:ext>
            </a:extLst>
          </p:cNvPr>
          <p:cNvSpPr txBox="1"/>
          <p:nvPr/>
        </p:nvSpPr>
        <p:spPr>
          <a:xfrm>
            <a:off x="650240" y="1640900"/>
            <a:ext cx="435514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🔴 Manage Closely (High Power + High Interest)</a:t>
            </a:r>
          </a:p>
          <a:p>
            <a:r>
              <a:rPr lang="en-US" sz="1600" dirty="0"/>
              <a:t>Examples: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Client CEO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Product Owner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Sponsor</a:t>
            </a:r>
            <a:br>
              <a:rPr lang="en-US" sz="1600" dirty="0"/>
            </a:br>
            <a:endParaRPr lang="en-US" sz="1600" dirty="0"/>
          </a:p>
          <a:p>
            <a:r>
              <a:rPr lang="en-PK" sz="1600" dirty="0"/>
              <a:t>.</a:t>
            </a:r>
          </a:p>
          <a:p>
            <a:r>
              <a:rPr lang="en-PK" sz="1600" dirty="0"/>
              <a:t>👉</a:t>
            </a:r>
            <a:r>
              <a:rPr lang="en-US" sz="1600" dirty="0"/>
              <a:t> BA Action:</a:t>
            </a:r>
            <a:br>
              <a:rPr lang="en-US" sz="1600" dirty="0"/>
            </a:br>
            <a:r>
              <a:rPr lang="en-US" sz="1600" dirty="0"/>
              <a:t>Daily updates, frequent meetings.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237709-66B6-CB58-567D-284DF9A5B634}"/>
              </a:ext>
            </a:extLst>
          </p:cNvPr>
          <p:cNvSpPr txBox="1"/>
          <p:nvPr/>
        </p:nvSpPr>
        <p:spPr>
          <a:xfrm>
            <a:off x="5953760" y="1674674"/>
            <a:ext cx="6096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🟠 Keep Satisfied (High Power + Low Interest)</a:t>
            </a:r>
          </a:p>
          <a:p>
            <a:r>
              <a:rPr lang="en-US" sz="1600" dirty="0"/>
              <a:t>Examples: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Finance Department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Legal Team</a:t>
            </a:r>
            <a:br>
              <a:rPr lang="en-US" sz="1600" dirty="0"/>
            </a:br>
            <a:endParaRPr lang="en-US" sz="1600" dirty="0"/>
          </a:p>
          <a:p>
            <a:r>
              <a:rPr lang="en-PK" sz="1600" dirty="0"/>
              <a:t>.</a:t>
            </a:r>
          </a:p>
          <a:p>
            <a:r>
              <a:rPr lang="en-PK" sz="1600" dirty="0"/>
              <a:t>👉</a:t>
            </a:r>
            <a:r>
              <a:rPr lang="en-US" sz="1600" dirty="0"/>
              <a:t> BA Action:</a:t>
            </a:r>
            <a:br>
              <a:rPr lang="en-US" sz="1600" dirty="0"/>
            </a:br>
            <a:r>
              <a:rPr lang="en-US" sz="1600" dirty="0"/>
              <a:t>Monthly summaries.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723595-9239-1704-46F4-A96D951CD783}"/>
              </a:ext>
            </a:extLst>
          </p:cNvPr>
          <p:cNvSpPr txBox="1"/>
          <p:nvPr/>
        </p:nvSpPr>
        <p:spPr>
          <a:xfrm>
            <a:off x="650240" y="4673843"/>
            <a:ext cx="609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🟡 Keep Informed (Low Power + High Interest)</a:t>
            </a:r>
          </a:p>
          <a:p>
            <a:r>
              <a:rPr lang="en-US" sz="1600" dirty="0"/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Developers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QA team</a:t>
            </a:r>
          </a:p>
          <a:p>
            <a:r>
              <a:rPr lang="en-PK" sz="1600" dirty="0"/>
              <a:t>.</a:t>
            </a:r>
          </a:p>
          <a:p>
            <a:r>
              <a:rPr lang="en-PK" sz="1600" dirty="0"/>
              <a:t>👉</a:t>
            </a:r>
            <a:r>
              <a:rPr lang="en-US" sz="1600" dirty="0"/>
              <a:t> BA Action:</a:t>
            </a:r>
            <a:br>
              <a:rPr lang="en-US" sz="1600" dirty="0"/>
            </a:br>
            <a:r>
              <a:rPr lang="en-US" sz="1600" dirty="0"/>
              <a:t>Sprint meetings, demos.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498A99-4F0E-DD00-DFB1-2F7F52E01096}"/>
              </a:ext>
            </a:extLst>
          </p:cNvPr>
          <p:cNvSpPr txBox="1"/>
          <p:nvPr/>
        </p:nvSpPr>
        <p:spPr>
          <a:xfrm>
            <a:off x="5953760" y="4600331"/>
            <a:ext cx="6096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🟢 Monitor (Low Power + Low Interest)</a:t>
            </a:r>
          </a:p>
          <a:p>
            <a:r>
              <a:rPr lang="en-US" sz="1600" dirty="0"/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Casual observers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Non-core departments</a:t>
            </a:r>
            <a:br>
              <a:rPr lang="en-US" sz="1600" dirty="0"/>
            </a:br>
            <a:endParaRPr lang="en-US" sz="1600" dirty="0"/>
          </a:p>
          <a:p>
            <a:r>
              <a:rPr lang="en-PK" sz="1600" dirty="0"/>
              <a:t>.</a:t>
            </a:r>
          </a:p>
          <a:p>
            <a:r>
              <a:rPr lang="en-PK" sz="1600" dirty="0"/>
              <a:t>👉</a:t>
            </a:r>
            <a:r>
              <a:rPr lang="en-US" sz="1600" dirty="0"/>
              <a:t> BA Action:</a:t>
            </a:r>
            <a:br>
              <a:rPr lang="en-US" sz="1600" dirty="0"/>
            </a:br>
            <a:r>
              <a:rPr lang="en-US" sz="1600" dirty="0"/>
              <a:t>Minimal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712152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COMMUNICATION PLANNING</a:t>
            </a:r>
            <a:br>
              <a:rPr lang="en-US" b="1" dirty="0"/>
            </a:b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8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65AB7DB-D431-5B84-76B4-039944537E0C}"/>
              </a:ext>
            </a:extLst>
          </p:cNvPr>
          <p:cNvSpPr txBox="1"/>
          <p:nvPr/>
        </p:nvSpPr>
        <p:spPr>
          <a:xfrm>
            <a:off x="785812" y="16662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Business Analyst spends </a:t>
            </a:r>
            <a:r>
              <a:rPr lang="en-US" b="1" dirty="0"/>
              <a:t>50–70% time communicating</a:t>
            </a:r>
            <a:r>
              <a:rPr lang="en-US" dirty="0"/>
              <a:t>.</a:t>
            </a:r>
            <a:endParaRPr lang="en-PK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6297258-FBD7-4749-2D07-A64A3C7087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3894" y="2284002"/>
            <a:ext cx="6622984" cy="3049332"/>
          </a:xfrm>
          <a:prstGeom prst="rect">
            <a:avLst/>
          </a:prstGeom>
        </p:spPr>
      </p:pic>
      <p:sp>
        <p:nvSpPr>
          <p:cNvPr id="16" name="Rectangle 3">
            <a:extLst>
              <a:ext uri="{FF2B5EF4-FFF2-40B4-BE49-F238E27FC236}">
                <a16:creationId xmlns:a16="http://schemas.microsoft.com/office/drawing/2014/main" id="{CBA2193B-35C5-A8A7-AEE1-081C5F216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3790" y="5777353"/>
            <a:ext cx="344838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Pakistan Example – Realistic Scenario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 says: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“Why is feature late?”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07B360-183C-7D4E-EF52-1DC1008441F1}"/>
              </a:ext>
            </a:extLst>
          </p:cNvPr>
          <p:cNvSpPr txBox="1"/>
          <p:nvPr/>
        </p:nvSpPr>
        <p:spPr>
          <a:xfrm>
            <a:off x="5791201" y="5741769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BA must: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Explain dependencies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Translate technical issues into business language</a:t>
            </a:r>
          </a:p>
        </p:txBody>
      </p:sp>
    </p:spTree>
    <p:extLst>
      <p:ext uri="{BB962C8B-B14F-4D97-AF65-F5344CB8AC3E}">
        <p14:creationId xmlns:p14="http://schemas.microsoft.com/office/powerpoint/2010/main" val="1426805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COMMUNICATION PLANNING</a:t>
            </a:r>
            <a:br>
              <a:rPr lang="en-US" b="1" dirty="0"/>
            </a:b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9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6" name="Picture 2" descr="What is Stakeholder Mapping? (How-tos, Examples, Tips) | Canva">
            <a:extLst>
              <a:ext uri="{FF2B5EF4-FFF2-40B4-BE49-F238E27FC236}">
                <a16:creationId xmlns:a16="http://schemas.microsoft.com/office/drawing/2014/main" id="{BF8ED343-2440-AF24-EF1D-2A7FE64B1B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4880" y="1310005"/>
            <a:ext cx="6715760" cy="5036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4124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CONFLICT MANAGEMENT</a:t>
            </a:r>
            <a:br>
              <a:rPr lang="en-US" b="1" dirty="0"/>
            </a:b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10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65AB7DB-D431-5B84-76B4-039944537E0C}"/>
              </a:ext>
            </a:extLst>
          </p:cNvPr>
          <p:cNvSpPr txBox="1"/>
          <p:nvPr/>
        </p:nvSpPr>
        <p:spPr>
          <a:xfrm>
            <a:off x="785812" y="1474268"/>
            <a:ext cx="6096000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Conflict is </a:t>
            </a:r>
            <a:r>
              <a:rPr lang="en-US" b="1" dirty="0"/>
              <a:t>NORMAL</a:t>
            </a:r>
            <a:r>
              <a:rPr lang="en-US" dirty="0"/>
              <a:t> in projects.</a:t>
            </a:r>
          </a:p>
          <a:p>
            <a:pPr>
              <a:lnSpc>
                <a:spcPct val="150000"/>
              </a:lnSpc>
            </a:pPr>
            <a:r>
              <a:rPr lang="en-US" dirty="0"/>
              <a:t>Common conflicts: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Business vs Tech priorities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Design vs Development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Client vs Delivery team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B7BEB8-03B5-9B7D-7C86-136FBCFF51CF}"/>
              </a:ext>
            </a:extLst>
          </p:cNvPr>
          <p:cNvSpPr txBox="1"/>
          <p:nvPr/>
        </p:nvSpPr>
        <p:spPr>
          <a:xfrm>
            <a:off x="6096000" y="1476896"/>
            <a:ext cx="6096000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🔴 Pakistan Industry Example</a:t>
            </a:r>
          </a:p>
          <a:p>
            <a:pPr>
              <a:lnSpc>
                <a:spcPct val="150000"/>
              </a:lnSpc>
            </a:pPr>
            <a:r>
              <a:rPr lang="en-US" dirty="0"/>
              <a:t>Real estate CRM project:</a:t>
            </a:r>
          </a:p>
          <a:p>
            <a:pPr>
              <a:lnSpc>
                <a:spcPct val="150000"/>
              </a:lnSpc>
            </a:pPr>
            <a:r>
              <a:rPr lang="en-US" dirty="0"/>
              <a:t>Client wants daily changes → Developers stressed.</a:t>
            </a:r>
          </a:p>
          <a:p>
            <a:pPr>
              <a:lnSpc>
                <a:spcPct val="150000"/>
              </a:lnSpc>
            </a:pPr>
            <a:r>
              <a:rPr lang="en-US" dirty="0"/>
              <a:t>BA Role: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Document requirements clearly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Set expectation boundaries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A8E627-EA7F-2941-B51C-A90E656C64BD}"/>
              </a:ext>
            </a:extLst>
          </p:cNvPr>
          <p:cNvSpPr txBox="1"/>
          <p:nvPr/>
        </p:nvSpPr>
        <p:spPr>
          <a:xfrm>
            <a:off x="965200" y="4019592"/>
            <a:ext cx="8087360" cy="295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🧠 Conflict Resolution Techniques</a:t>
            </a:r>
          </a:p>
          <a:p>
            <a:pPr>
              <a:lnSpc>
                <a:spcPct val="150000"/>
              </a:lnSpc>
            </a:pPr>
            <a:r>
              <a:rPr lang="en-US" dirty="0"/>
              <a:t>4 simple methods:</a:t>
            </a:r>
          </a:p>
          <a:p>
            <a:pPr>
              <a:lnSpc>
                <a:spcPct val="150000"/>
              </a:lnSpc>
            </a:pPr>
            <a:r>
              <a:rPr lang="en-US" dirty="0"/>
              <a:t>✔ Listen actively : “Don’t defend immediately — understand first.”</a:t>
            </a:r>
            <a:br>
              <a:rPr lang="en-US" dirty="0"/>
            </a:br>
            <a:r>
              <a:rPr lang="en-US" dirty="0"/>
              <a:t>✔ Reframe problem in business terms — “What outcome are we trying to achieve?”</a:t>
            </a:r>
            <a:br>
              <a:rPr lang="en-US" dirty="0"/>
            </a:br>
            <a:r>
              <a:rPr lang="en-US" dirty="0"/>
              <a:t>✔ Use data instead of emotion — “Numbers reduce emotional debates.”</a:t>
            </a:r>
            <a:br>
              <a:rPr lang="en-US" dirty="0"/>
            </a:br>
            <a:r>
              <a:rPr lang="en-US" dirty="0"/>
              <a:t>✔ Document decisions — “This protects the team later.”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12290" name="Picture 2" descr="Isometric team conflict flowchart with business arguing and problem solving scenes vector illustration">
            <a:extLst>
              <a:ext uri="{FF2B5EF4-FFF2-40B4-BE49-F238E27FC236}">
                <a16:creationId xmlns:a16="http://schemas.microsoft.com/office/drawing/2014/main" id="{7AE951C9-B440-F52C-5B9F-4094CD980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3092" y="3601132"/>
            <a:ext cx="2529840" cy="2529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8107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CONFLICT MANAGEMENT</a:t>
            </a:r>
            <a:br>
              <a:rPr lang="en-US" b="1" dirty="0"/>
            </a:b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11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4" name="Picture 2" descr="5 Stage Process Flow For Conflict Resolution | Presentation Graphics |  PowerPoint PPT Presentation Example | Slide Templates">
            <a:extLst>
              <a:ext uri="{FF2B5EF4-FFF2-40B4-BE49-F238E27FC236}">
                <a16:creationId xmlns:a16="http://schemas.microsoft.com/office/drawing/2014/main" id="{7FD9CA31-81E0-1CCE-E814-1C895C5DF5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588" y="1395374"/>
            <a:ext cx="8759666" cy="5135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7941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4C9BF-FD8C-33FD-5294-6B80086E0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6F8952-C6BD-73C3-F5C9-4C6948AD90A2}"/>
              </a:ext>
            </a:extLst>
          </p:cNvPr>
          <p:cNvSpPr/>
          <p:nvPr/>
        </p:nvSpPr>
        <p:spPr>
          <a:xfrm>
            <a:off x="-1" y="6553199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64D886-7E23-852D-8C48-192762E8CE0E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BACCDB-CDCA-1CA9-5621-88EFED1C7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12</a:t>
            </a:fld>
            <a:endParaRPr lang="en-PK"/>
          </a:p>
        </p:txBody>
      </p:sp>
      <p:pic>
        <p:nvPicPr>
          <p:cNvPr id="1028" name="Picture 4" descr="Download HD 55 Pm 52458 Fast University ...">
            <a:extLst>
              <a:ext uri="{FF2B5EF4-FFF2-40B4-BE49-F238E27FC236}">
                <a16:creationId xmlns:a16="http://schemas.microsoft.com/office/drawing/2014/main" id="{0FFDE430-CC73-3118-44AC-DFB70C516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4">
            <a:extLst>
              <a:ext uri="{FF2B5EF4-FFF2-40B4-BE49-F238E27FC236}">
                <a16:creationId xmlns:a16="http://schemas.microsoft.com/office/drawing/2014/main" id="{3A8F9DD2-D209-691A-A9F5-1443EEE42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641" y="411046"/>
            <a:ext cx="7415213" cy="1481818"/>
          </a:xfrm>
        </p:spPr>
        <p:txBody>
          <a:bodyPr>
            <a:normAutofit/>
          </a:bodyPr>
          <a:lstStyle/>
          <a:p>
            <a:r>
              <a:rPr lang="en-US" sz="31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Classroom Discussion (5 Minutes)</a:t>
            </a:r>
            <a:br>
              <a:rPr lang="en-US" sz="31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br>
              <a:rPr lang="en-US" sz="31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31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91AB5F-121B-0043-732D-008AA5FDB55A}"/>
              </a:ext>
            </a:extLst>
          </p:cNvPr>
          <p:cNvSpPr txBox="1"/>
          <p:nvPr/>
        </p:nvSpPr>
        <p:spPr>
          <a:xfrm>
            <a:off x="1004094" y="1151955"/>
            <a:ext cx="6842760" cy="4506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b="1" dirty="0"/>
              <a:t>Scenario:</a:t>
            </a:r>
          </a:p>
          <a:p>
            <a:pPr>
              <a:lnSpc>
                <a:spcPct val="200000"/>
              </a:lnSpc>
            </a:pPr>
            <a:r>
              <a:rPr lang="en-US" dirty="0"/>
              <a:t>Careem introduces a new pricing model.</a:t>
            </a:r>
          </a:p>
          <a:p>
            <a:pPr>
              <a:lnSpc>
                <a:spcPct val="200000"/>
              </a:lnSpc>
            </a:pPr>
            <a:r>
              <a:rPr lang="en-US" dirty="0"/>
              <a:t>Stakeholders: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Customers angry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Finance happy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Marketing confused</a:t>
            </a:r>
          </a:p>
          <a:p>
            <a:pPr>
              <a:lnSpc>
                <a:spcPct val="200000"/>
              </a:lnSpc>
            </a:pPr>
            <a:endParaRPr lang="en-US" dirty="0"/>
          </a:p>
          <a:p>
            <a:pPr>
              <a:lnSpc>
                <a:spcPct val="200000"/>
              </a:lnSpc>
            </a:pPr>
            <a:r>
              <a:rPr lang="en-US" dirty="0"/>
              <a:t>👉 “Who should the BA prioritize first?”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7ACE9C-6EA7-EA99-E15F-C22D66971F70}"/>
              </a:ext>
            </a:extLst>
          </p:cNvPr>
          <p:cNvSpPr txBox="1"/>
          <p:nvPr/>
        </p:nvSpPr>
        <p:spPr>
          <a:xfrm>
            <a:off x="8148320" y="5952520"/>
            <a:ext cx="4155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/>
              <a:t>Most escalations happen because expectations were unclear — not because teams failed.</a:t>
            </a:r>
            <a:endParaRPr lang="en-PK" sz="1400" i="1" dirty="0"/>
          </a:p>
        </p:txBody>
      </p:sp>
    </p:spTree>
    <p:extLst>
      <p:ext uri="{BB962C8B-B14F-4D97-AF65-F5344CB8AC3E}">
        <p14:creationId xmlns:p14="http://schemas.microsoft.com/office/powerpoint/2010/main" val="461653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4C9BF-FD8C-33FD-5294-6B80086E0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6F8952-C6BD-73C3-F5C9-4C6948AD90A2}"/>
              </a:ext>
            </a:extLst>
          </p:cNvPr>
          <p:cNvSpPr/>
          <p:nvPr/>
        </p:nvSpPr>
        <p:spPr>
          <a:xfrm>
            <a:off x="-1" y="6553199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64D886-7E23-852D-8C48-192762E8CE0E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BACCDB-CDCA-1CA9-5621-88EFED1C7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13</a:t>
            </a:fld>
            <a:endParaRPr lang="en-PK"/>
          </a:p>
        </p:txBody>
      </p:sp>
      <p:pic>
        <p:nvPicPr>
          <p:cNvPr id="1028" name="Picture 4" descr="Download HD 55 Pm 52458 Fast University ...">
            <a:extLst>
              <a:ext uri="{FF2B5EF4-FFF2-40B4-BE49-F238E27FC236}">
                <a16:creationId xmlns:a16="http://schemas.microsoft.com/office/drawing/2014/main" id="{0FFDE430-CC73-3118-44AC-DFB70C516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4">
            <a:extLst>
              <a:ext uri="{FF2B5EF4-FFF2-40B4-BE49-F238E27FC236}">
                <a16:creationId xmlns:a16="http://schemas.microsoft.com/office/drawing/2014/main" id="{3A8F9DD2-D209-691A-A9F5-1443EEE42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635159" y="345934"/>
            <a:ext cx="7415213" cy="1481818"/>
          </a:xfrm>
        </p:spPr>
        <p:txBody>
          <a:bodyPr>
            <a:normAutofit/>
          </a:bodyPr>
          <a:lstStyle/>
          <a:p>
            <a:r>
              <a:rPr lang="en-US" sz="31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BA TRIANGLE DIAGRAM</a:t>
            </a:r>
            <a:br>
              <a:rPr lang="en-US" sz="31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br>
              <a:rPr lang="en-US" sz="31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31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F9C0F2-9764-82BB-B456-7C5B64F0199E}"/>
              </a:ext>
            </a:extLst>
          </p:cNvPr>
          <p:cNvSpPr txBox="1"/>
          <p:nvPr/>
        </p:nvSpPr>
        <p:spPr>
          <a:xfrm>
            <a:off x="2514600" y="618335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BA stands at the intersection — balancing expectations.</a:t>
            </a:r>
            <a:endParaRPr lang="en-PK" dirty="0"/>
          </a:p>
        </p:txBody>
      </p:sp>
      <p:pic>
        <p:nvPicPr>
          <p:cNvPr id="14338" name="Picture 2" descr="People Process Technology Icons In Triangle | PowerPoint Templates ...">
            <a:extLst>
              <a:ext uri="{FF2B5EF4-FFF2-40B4-BE49-F238E27FC236}">
                <a16:creationId xmlns:a16="http://schemas.microsoft.com/office/drawing/2014/main" id="{840C0970-26BA-0585-F562-79F4C11CA4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6160" y="1370191"/>
            <a:ext cx="6532880" cy="4899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6751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BAA85-275A-8BD6-8075-05C233DFA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9CC0008-5462-A913-6FE5-5B7F0870147E}"/>
              </a:ext>
            </a:extLst>
          </p:cNvPr>
          <p:cNvSpPr/>
          <p:nvPr/>
        </p:nvSpPr>
        <p:spPr>
          <a:xfrm>
            <a:off x="-1" y="6553199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7FFE27-AD6B-CCBE-D539-BD0209C766E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ACE47A-B3AD-DA38-1E5B-E068BAA1A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14</a:t>
            </a:fld>
            <a:endParaRPr lang="en-PK"/>
          </a:p>
        </p:txBody>
      </p:sp>
      <p:pic>
        <p:nvPicPr>
          <p:cNvPr id="1028" name="Picture 4" descr="Download HD 55 Pm 52458 Fast University ...">
            <a:extLst>
              <a:ext uri="{FF2B5EF4-FFF2-40B4-BE49-F238E27FC236}">
                <a16:creationId xmlns:a16="http://schemas.microsoft.com/office/drawing/2014/main" id="{E021743A-F6A0-145E-613A-DA09F5E94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3A074665-72B7-118F-91F1-20F04AF810F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701734" y="1899726"/>
            <a:ext cx="10788531" cy="2193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“Many escalations I’ve seen were caused by unclear stakeholder ownership.”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“Design delays often happen when stakeholders are not aligned early.”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“A strong BA prevents problems before they reach management.”</a:t>
            </a:r>
          </a:p>
        </p:txBody>
      </p:sp>
    </p:spTree>
    <p:extLst>
      <p:ext uri="{BB962C8B-B14F-4D97-AF65-F5344CB8AC3E}">
        <p14:creationId xmlns:p14="http://schemas.microsoft.com/office/powerpoint/2010/main" val="724739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27466</TotalTime>
  <Words>589</Words>
  <Application>Microsoft Macintosh PowerPoint</Application>
  <PresentationFormat>Widescreen</PresentationFormat>
  <Paragraphs>131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BUSINESS ANALYTICS  Introduction to Business Analytics and Core Business Functions</vt:lpstr>
      <vt:lpstr>Learning Objectives – WEEK 2 </vt:lpstr>
      <vt:lpstr>WHAT IS A STAKEHOLDER?</vt:lpstr>
      <vt:lpstr>TYPES OF STAKEHOLDERS  </vt:lpstr>
      <vt:lpstr>POWER–INTEREST MATRIX  </vt:lpstr>
      <vt:lpstr>POWER–INTEREST MATRIX  </vt:lpstr>
      <vt:lpstr>COMMUNICATION PLANNING  </vt:lpstr>
      <vt:lpstr>COMMUNICATION PLANNING  </vt:lpstr>
      <vt:lpstr>CONFLICT MANAGEMENT  </vt:lpstr>
      <vt:lpstr>CONFLICT MANAGEMENT  </vt:lpstr>
      <vt:lpstr>Classroom Discussion (5 Minutes)  </vt:lpstr>
      <vt:lpstr>BA TRIANGLE DIAGRAM  </vt:lpstr>
      <vt:lpstr>“Many escalations I’ve seen were caused by unclear stakeholder ownership.” “Design delays often happen when stakeholders are not aligned early.” “A strong BA prevents problems before they reach management.”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DEVELOPING HORIZONTAL LINKAGES WITH OTHER GOVERNMENT DEPARTMENTS</dc:title>
  <dc:creator>Mufeeza Iqbal</dc:creator>
  <cp:lastModifiedBy>Moiz Shah</cp:lastModifiedBy>
  <cp:revision>140</cp:revision>
  <dcterms:created xsi:type="dcterms:W3CDTF">2024-06-09T07:08:43Z</dcterms:created>
  <dcterms:modified xsi:type="dcterms:W3CDTF">2026-02-20T08:56:38Z</dcterms:modified>
</cp:coreProperties>
</file>