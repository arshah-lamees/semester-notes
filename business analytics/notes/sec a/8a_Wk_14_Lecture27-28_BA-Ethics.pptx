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19"/>
  </p:notesMasterIdLst>
  <p:sldIdLst>
    <p:sldId id="256" r:id="rId2"/>
    <p:sldId id="345" r:id="rId3"/>
    <p:sldId id="357" r:id="rId4"/>
    <p:sldId id="401" r:id="rId5"/>
    <p:sldId id="413" r:id="rId6"/>
    <p:sldId id="440" r:id="rId7"/>
    <p:sldId id="408" r:id="rId8"/>
    <p:sldId id="432" r:id="rId9"/>
    <p:sldId id="415" r:id="rId10"/>
    <p:sldId id="416" r:id="rId11"/>
    <p:sldId id="417" r:id="rId12"/>
    <p:sldId id="443" r:id="rId13"/>
    <p:sldId id="418" r:id="rId14"/>
    <p:sldId id="441" r:id="rId15"/>
    <p:sldId id="442" r:id="rId16"/>
    <p:sldId id="429" r:id="rId17"/>
    <p:sldId id="439" r:id="rId18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feeza Iqbal" initials="MI" lastIdx="1" clrIdx="0">
    <p:extLst>
      <p:ext uri="{19B8F6BF-5375-455C-9EA6-DF929625EA0E}">
        <p15:presenceInfo xmlns:p15="http://schemas.microsoft.com/office/powerpoint/2012/main" userId="Mufeeza Iqb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75C4"/>
    <a:srgbClr val="D4E5F7"/>
    <a:srgbClr val="E3EEFD"/>
    <a:srgbClr val="BAE2D1"/>
    <a:srgbClr val="EC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40" autoAdjust="0"/>
    <p:restoredTop sz="94690"/>
  </p:normalViewPr>
  <p:slideViewPr>
    <p:cSldViewPr snapToGrid="0">
      <p:cViewPr varScale="1">
        <p:scale>
          <a:sx n="55" d="100"/>
          <a:sy n="55" d="100"/>
        </p:scale>
        <p:origin x="200" y="1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A3216-91D5-43D0-B205-F0CBF00F2A3B}" type="datetimeFigureOut">
              <a:rPr lang="en-PK" smtClean="0"/>
              <a:t>5/2/26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8AE2D-6C56-4B4B-AC93-0FCEBED5A4D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2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93250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BB447-F144-5925-911C-003EFFD4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AC8DF-16D4-F845-900D-417394111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D572E-A483-D42F-0088-5E24403CE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0B9D1-DB6F-2948-6B93-CEE04EAD5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58510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4AD3A-04E1-3556-9660-721735766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1EEE9-5404-03C4-1C25-6C63723C8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CD5F97-B729-C98E-927F-CEB9A9586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305C6-C2A1-4DB3-0F26-0697CDDB9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60149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AF38C-693D-D7E5-1B61-DA0F1AA4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0FCBD-DD03-9935-A335-3122F844A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C5442-25AB-1E15-5CDB-D80A590C5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77BBC-AF92-E842-FE03-BFB95841C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05999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E27D8-B3D7-AFF2-A721-938177575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787AC-468D-C9C1-73C6-F8CC93E26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77323-F971-179B-68D0-B89C0D0B5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C70B3-26D8-ACCD-EDFC-385F8C9F6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00557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4F291-AB8D-D8F1-4E73-153DC3E9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91BDC-CA37-20F8-5BF7-3DFF4C991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7A3EF5-480C-702D-5D0B-A95B2CF40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166E3-4B8F-B732-FD01-8F24C4C4F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64101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4F585-500C-5FD4-908A-5252AA4B1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52E3E6-6183-AB1F-1F10-C22138A87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94BD4-5A11-174B-4482-DC592C3DA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733B4-38C5-2C58-B4FD-251CFA4D4C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90974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BF425-56C5-96B5-1D27-678737A7B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D4B7B-F716-67C8-BCE3-DE5F79FEE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9A80F-23B0-20DC-750C-B52A83FE7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C43B5-46DD-68C4-4B6F-3018D0F60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214201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17768-B8BA-5282-7498-3EF26A1DF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01822B-91B6-CBA6-69CC-DF6B79CD3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E1607-A67B-6EF8-FB4A-6C36D95E6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8D6E8-AA42-2E07-C01C-5643A254B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56203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4DB9F-218A-7203-BEFD-844CBDA5E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CEABA-C7FD-BAC7-621E-13531214C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92B1CF-FCD3-C334-D502-265837BA9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CB600-52DD-5A64-6A69-827D9D812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460604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36130-1E3B-30B4-AE23-6385F9F3B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6D8C5-5A86-26D8-818F-B5C5F5D3E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77FE7-906D-21F4-4E1E-AB33C3581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DA034-B55A-C2FC-B02D-8B16BC4D67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19231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66C07-1F18-1EC9-DAA4-DD3D87FA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F304A-88A4-BC04-6935-136E6B56A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BE172-3236-46D8-5B16-DABFB10C0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373FA-4FAA-839B-5A6D-6B0B5739F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92834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EEE73-97BE-0FD6-C095-1959804B7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1F7BD-92D6-DB25-6EB2-53D7FD50A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20054-D71B-B390-0103-B713174D5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F7A08-29E5-D10B-9814-45229BA78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614043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BCBAD-326E-9603-B819-7EA06E03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491CD-9ED7-0DDB-41A6-88A6535C4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9E8B8-B841-0666-7C93-457A0DE05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4CB63-123E-9463-8937-4BACAC425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72867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7D092-F06D-AF9D-3536-3BC159819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8988D-11B9-ABD3-0EC1-F711DF9A5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0A6B57-FEC5-C77B-57F5-D98D76DA0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CB2B2-A630-95F0-5070-5D4362B26C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7461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92AE-3475-5519-9CD2-B3813CA2A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BC997-4B8A-9709-FA3F-2812ED29E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DD1C2-A443-3425-F1A3-450EEF2D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BE24-4914-473D-86E2-D4EE0B0E90C7}" type="datetime8">
              <a:rPr lang="en-PK" smtClean="0"/>
              <a:t>5/2/26 8:46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E2A3E-9208-EDCE-DEBB-4D933736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EF72C-8D9E-F888-7543-7E09C4BF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009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9ADE-7B08-A01C-72DF-FE9993CE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7FC3-A55A-4A8D-FCDC-D328082D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EBE8E-9BB1-B225-5B4C-55AEA4E7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F77-D47F-4BB1-86E4-5F455460BD9C}" type="datetime8">
              <a:rPr lang="en-PK" smtClean="0"/>
              <a:t>5/2/26 8:46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E679-F999-E1F9-0F77-DEA6D713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7F485-BD67-E327-64C3-D7E71B9E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042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EA042-DF09-56BB-8638-29DBAD38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508DB-FFA7-6D03-67FA-3EF149A1B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BE1E-EE08-ACCC-1271-2F5E25CAF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1A5AA-2A6E-43F2-9F30-AF7EED5FA600}" type="datetime8">
              <a:rPr lang="en-PK" smtClean="0"/>
              <a:t>5/2/26 8:46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D85B-5C96-E835-D822-93C86F78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899E9-E472-DD15-F881-20043647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037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7FCC-3AE3-0214-F9D4-FCB15D61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7161E-F706-1674-13DB-BACD47231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A0A05-46B6-960E-7368-B2CE54CC3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39986-E720-F1B7-36F9-B2708004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E2CB0-8F81-407D-9308-759F0E533D95}" type="datetime8">
              <a:rPr lang="en-PK" smtClean="0"/>
              <a:t>5/2/26 8:46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C3A9C-BA81-3B68-288D-EB7FD47F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AEAC4-C699-2232-BD98-7252DC5E1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0624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A8C3-75DD-1313-ABA5-5D3FFA02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7D5B1-50C2-CF91-9D88-610914E27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5284C-0315-C6F1-CA04-F3E219D15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7C534-C2F2-A37B-C431-9DF8A42B3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A4DAB-49CA-2EFC-9842-564884678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4688EE-799F-3F23-A121-4F674361A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FBD63-32C8-45D6-BE9D-408F278BE9C8}" type="datetime8">
              <a:rPr lang="en-PK" smtClean="0"/>
              <a:t>5/2/26 8:46 PM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4848C-55D2-9A77-36F1-FAD52DCB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D59BD-56E3-4753-6C9F-3B1F4CE0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030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C4B4-FA75-C85D-E743-3DB6E5DB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F645E-1294-7708-0DA4-EDA61782F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7C61-2664-45A8-9CA0-D9D546B35364}" type="datetime8">
              <a:rPr lang="en-PK" smtClean="0"/>
              <a:t>5/2/26 8:46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9AFA9-8467-3A28-7BFF-CA12EF3C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24441-1E31-6A33-D8E8-781D599A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2362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7448-39E8-68A0-B712-84409BF4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43484-DEAD-0EB1-DC5F-24E6FD4B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78C6A-94B1-48CD-B95C-7BBCF06B539F}" type="datetime8">
              <a:rPr lang="en-PK" smtClean="0"/>
              <a:t>5/2/26 8:46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8FE36-0300-3AD8-5E95-41E333E1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C0281-9CE6-90B4-45F9-D9D954D1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40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053CB-8CBB-A3DD-2AD9-1CA37851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21173-6A64-ACDD-90B1-F466FBD62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11703-8264-01ED-8E5E-06DFA98EE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25018-0F9D-E6A7-30D4-FA1B94922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20F-E5D6-45BD-ABE4-D3E73AEC1059}" type="datetime8">
              <a:rPr lang="en-PK" smtClean="0"/>
              <a:t>5/2/26 8:46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345B6-DE39-4DE7-B63A-020AA0C25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7E181-66A9-8AF7-8FC6-FD18E177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188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E283-232A-203F-BE7E-C1FAB189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44E88-2CB0-6548-1689-37B5CD1D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45364-9FD1-5237-6F05-3CD9FF28E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0F029-9EDC-16AD-E233-F7215386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6677-69CF-4F57-B961-69869666485F}" type="datetime8">
              <a:rPr lang="en-PK" smtClean="0"/>
              <a:t>5/2/26 8:46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EAD10-9813-FA15-7AA3-F311C151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93DEC-A834-573B-8137-57A252A1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392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6A8F-48A0-C1A4-C992-787E5B87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5B7C4-4FCF-3883-BC91-FDBC338D9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4F67A-FCF1-D4E4-E162-793DEACC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B392-8D81-42DB-9470-C0982980A208}" type="datetime8">
              <a:rPr lang="en-PK" smtClean="0"/>
              <a:t>5/2/26 8:46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6A201-A7CA-71B8-8718-9897B03F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A3F33-5AA9-E112-2ABF-79F54788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684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D59074-43DC-F3A1-F847-B382DA998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3AC57-AF5B-EC7C-207D-DD8781393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5FF8A-8F6C-7460-66BD-36FE94B2C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CE2D-4511-4580-808C-44E58A6F6871}" type="datetime8">
              <a:rPr lang="en-PK" smtClean="0"/>
              <a:t>5/2/26 8:46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7764-4D16-A8A5-2DA2-548355B8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DCA92-473C-706D-5019-016D87F1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980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FF33B-CB98-4E49-F470-FDEB20A1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5A451-6F13-E99E-AA74-118FE0705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6080-894B-699D-C377-9FCB24BB4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247E1-80FA-4B68-AED4-FB0D556219B2}" type="datetime8">
              <a:rPr lang="en-PK" smtClean="0"/>
              <a:t>5/2/26 8:46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F34FF-7C89-DFB6-0D18-88EA7A4B3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08851-096B-57D1-721E-52D426BA6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682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D80B44-5D51-DEB9-139E-D6588E08DCEE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A358E0-F332-E7D0-E6FF-67C0C524EC5E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C7347E-773E-501C-BBCD-F143B41F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C0E69E7-0624-E377-FC31-A9DAAD9B9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Blue Abstract Data Analysis Technology Background, Blue, Abstract ...">
            <a:extLst>
              <a:ext uri="{FF2B5EF4-FFF2-40B4-BE49-F238E27FC236}">
                <a16:creationId xmlns:a16="http://schemas.microsoft.com/office/drawing/2014/main" id="{AE2E633B-B89B-2AD6-B235-B52FC21A3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192001" cy="685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5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8744-A704-1C59-1304-02055AF7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E56C57-21E3-F72F-1B57-E9FD05DDB415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03E08-0EA6-164B-E5C0-0ABD98254645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9F7046-524C-B6E2-F233-6AA93275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15E161C-5FF5-7252-A206-A10477B0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4FA3E7AE-A2AD-D117-25F2-EA3F62B70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006" y="687984"/>
            <a:ext cx="9144000" cy="29972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BUSINESS ANALYTICS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Introduction to Business Analytics and Core Business Functions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5E0D16E-2E56-B97C-A39A-BD2DC36A3359}"/>
              </a:ext>
            </a:extLst>
          </p:cNvPr>
          <p:cNvSpPr txBox="1">
            <a:spLocks/>
          </p:cNvSpPr>
          <p:nvPr/>
        </p:nvSpPr>
        <p:spPr>
          <a:xfrm>
            <a:off x="609600" y="975360"/>
            <a:ext cx="9498806" cy="2862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BUSINESS ANALYSIS</a:t>
            </a:r>
            <a:br>
              <a:rPr lang="en-US" sz="16600" dirty="0"/>
            </a:br>
            <a:r>
              <a:rPr lang="en-US" sz="4300" dirty="0"/>
              <a:t>ETHICS</a:t>
            </a:r>
            <a:endParaRPr lang="en-PK" sz="4300" dirty="0"/>
          </a:p>
        </p:txBody>
      </p:sp>
      <p:pic>
        <p:nvPicPr>
          <p:cNvPr id="5" name="Picture 4" descr="3d Analyst Working On Business Analytics Dashboard With Kpi ...">
            <a:extLst>
              <a:ext uri="{FF2B5EF4-FFF2-40B4-BE49-F238E27FC236}">
                <a16:creationId xmlns:a16="http://schemas.microsoft.com/office/drawing/2014/main" id="{55A10BB7-3531-CC3A-305B-1101C4343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856" y="2949575"/>
            <a:ext cx="37719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1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LEARNING OBJECTIVES – WEEK 14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4000"/>
            <a:ext cx="10515600" cy="44621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By the end of today you should be able to:</a:t>
            </a:r>
          </a:p>
          <a:p>
            <a:pPr marL="0" indent="0">
              <a:buNone/>
            </a:pPr>
            <a:endParaRPr lang="en-US" sz="2400" dirty="0"/>
          </a:p>
          <a:p>
            <a:pPr>
              <a:lnSpc>
                <a:spcPct val="200000"/>
              </a:lnSpc>
            </a:pPr>
            <a:r>
              <a:rPr lang="en-US" sz="2000" dirty="0"/>
              <a:t>Understand ethical responsibilities of a Business Analyst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Handle sensitive data and confidentiality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Deal with stakeholder pressure ethically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Identify ethical dilemmas in real projects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Make responsible and professional decisions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D0524E-16D3-8E08-B421-62FD1C96046B}"/>
              </a:ext>
            </a:extLst>
          </p:cNvPr>
          <p:cNvSpPr txBox="1"/>
          <p:nvPr/>
        </p:nvSpPr>
        <p:spPr>
          <a:xfrm>
            <a:off x="1848065" y="6000345"/>
            <a:ext cx="84958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 good Business Analyst solves problems. A great Business Analyst solves them ethically.</a:t>
            </a:r>
          </a:p>
        </p:txBody>
      </p:sp>
      <p:pic>
        <p:nvPicPr>
          <p:cNvPr id="10" name="Picture 2" descr="An E-Infusion: Infusing Ethics Into Your Organization">
            <a:extLst>
              <a:ext uri="{FF2B5EF4-FFF2-40B4-BE49-F238E27FC236}">
                <a16:creationId xmlns:a16="http://schemas.microsoft.com/office/drawing/2014/main" id="{206E0B23-48CE-B725-384A-375CABD1F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4064" y="1620549"/>
            <a:ext cx="3509735" cy="3616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90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1CEA8-2001-5D12-5113-6EFB8435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4513D-9634-5B86-BF2D-60B4E8873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219987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WHY ETHICS MATTERS IN BUSINESS ANALYSIS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BDF236-CE2E-3F6E-2732-099DA4B9948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08B4D-C835-D452-9838-6B031A06C730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52FC9-A2BD-3FAF-3DF2-F7C42C2C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F2995B5C-5362-9EF5-1671-D16AA7A28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AB10341F-80AB-4C7F-C7AE-34F515EF7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08487A-CFAB-CF06-454E-A066BED76FAB}"/>
              </a:ext>
            </a:extLst>
          </p:cNvPr>
          <p:cNvSpPr txBox="1"/>
          <p:nvPr/>
        </p:nvSpPr>
        <p:spPr>
          <a:xfrm>
            <a:off x="826294" y="681154"/>
            <a:ext cx="8778240" cy="2546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BAs sit at the center of:</a:t>
            </a:r>
          </a:p>
          <a:p>
            <a:pPr>
              <a:lnSpc>
                <a:spcPct val="150000"/>
              </a:lnSpc>
            </a:pPr>
            <a:r>
              <a:rPr lang="en-US" dirty="0"/>
              <a:t>✔ Business decisions</a:t>
            </a:r>
            <a:br>
              <a:rPr lang="en-US" dirty="0"/>
            </a:br>
            <a:r>
              <a:rPr lang="en-US" dirty="0"/>
              <a:t>✔ Data access</a:t>
            </a:r>
            <a:br>
              <a:rPr lang="en-US" dirty="0"/>
            </a:br>
            <a:r>
              <a:rPr lang="en-US" dirty="0"/>
              <a:t>✔ Stakeholder communication</a:t>
            </a:r>
            <a:br>
              <a:rPr lang="en-US" dirty="0"/>
            </a:br>
            <a:r>
              <a:rPr lang="en-US" dirty="0"/>
              <a:t>✔ System design</a:t>
            </a:r>
          </a:p>
          <a:p>
            <a:pPr>
              <a:lnSpc>
                <a:spcPct val="150000"/>
              </a:lnSpc>
            </a:pPr>
            <a:r>
              <a:rPr lang="en-US" dirty="0"/>
              <a:t>👉 This gives </a:t>
            </a:r>
            <a:r>
              <a:rPr lang="en-US" b="1" dirty="0"/>
              <a:t>power and responsibility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B01A46-F5AB-EB22-25F3-A1222FAC0225}"/>
              </a:ext>
            </a:extLst>
          </p:cNvPr>
          <p:cNvSpPr txBox="1"/>
          <p:nvPr/>
        </p:nvSpPr>
        <p:spPr>
          <a:xfrm>
            <a:off x="826294" y="3227428"/>
            <a:ext cx="8783782" cy="2546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Real Risk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Without ethics: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❌ Wrong decisions</a:t>
            </a:r>
            <a:br>
              <a:rPr lang="en-US" dirty="0"/>
            </a:br>
            <a:r>
              <a:rPr lang="en-US" dirty="0"/>
              <a:t>❌ Data misuse</a:t>
            </a:r>
            <a:br>
              <a:rPr lang="en-US" dirty="0"/>
            </a:br>
            <a:r>
              <a:rPr lang="en-US" dirty="0"/>
              <a:t>❌ Stakeholder bias</a:t>
            </a:r>
            <a:br>
              <a:rPr lang="en-US" dirty="0"/>
            </a:br>
            <a:r>
              <a:rPr lang="en-US" dirty="0"/>
              <a:t>❌ Loss of trust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13F170-829F-F6C7-D588-4E974EB56EA4}"/>
              </a:ext>
            </a:extLst>
          </p:cNvPr>
          <p:cNvSpPr txBox="1"/>
          <p:nvPr/>
        </p:nvSpPr>
        <p:spPr>
          <a:xfrm>
            <a:off x="826294" y="5831615"/>
            <a:ext cx="8783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Core Insight</a:t>
            </a:r>
          </a:p>
          <a:p>
            <a:pPr>
              <a:buNone/>
            </a:pPr>
            <a:r>
              <a:rPr lang="en-US" dirty="0"/>
              <a:t>“Trust is the biggest asset of a Business Analyst.”</a:t>
            </a:r>
          </a:p>
        </p:txBody>
      </p:sp>
      <p:pic>
        <p:nvPicPr>
          <p:cNvPr id="4100" name="Picture 4" descr="Business Ethics Diagram with Key Values and Decision Making Connections">
            <a:extLst>
              <a:ext uri="{FF2B5EF4-FFF2-40B4-BE49-F238E27FC236}">
                <a16:creationId xmlns:a16="http://schemas.microsoft.com/office/drawing/2014/main" id="{49591B90-D133-0748-6559-F4003D585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837" y="2065867"/>
            <a:ext cx="5398728" cy="3599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9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55E39-1C74-B895-30C0-9136F1C1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49796-CA56-9D02-8DB3-FD7570048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Key Ethical Principles for BAs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7D453A-4A3E-FB21-96EA-7637038995BD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5AB706-25D4-8755-0303-435AAB7CFC3B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59071-0F2E-888B-1E23-723E2D63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C929632F-C7F5-049A-D2D1-E30CFD0C1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AB658280-3C7B-2B8A-A461-78A368B50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7A8B62-64C5-F6DA-3203-137617EE886B}"/>
              </a:ext>
            </a:extLst>
          </p:cNvPr>
          <p:cNvSpPr txBox="1"/>
          <p:nvPr/>
        </p:nvSpPr>
        <p:spPr>
          <a:xfrm>
            <a:off x="613001" y="1991809"/>
            <a:ext cx="5482999" cy="1715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1️⃣ Integrity</a:t>
            </a:r>
          </a:p>
          <a:p>
            <a:pPr>
              <a:lnSpc>
                <a:spcPct val="150000"/>
              </a:lnSpc>
            </a:pPr>
            <a:r>
              <a:rPr lang="en-US" dirty="0"/>
              <a:t>Be honest and transparent.</a:t>
            </a:r>
          </a:p>
          <a:p>
            <a:pPr>
              <a:lnSpc>
                <a:spcPct val="150000"/>
              </a:lnSpc>
            </a:pPr>
            <a:r>
              <a:rPr lang="en-US" dirty="0"/>
              <a:t>✔ Don’t manipulate data</a:t>
            </a:r>
            <a:br>
              <a:rPr lang="en-US" dirty="0"/>
            </a:br>
            <a:r>
              <a:rPr lang="en-US" dirty="0"/>
              <a:t>✔ Don’t hide problems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D7B27B-2AB1-6012-1E28-64AC5427BEDC}"/>
              </a:ext>
            </a:extLst>
          </p:cNvPr>
          <p:cNvSpPr txBox="1"/>
          <p:nvPr/>
        </p:nvSpPr>
        <p:spPr>
          <a:xfrm>
            <a:off x="6922294" y="2040956"/>
            <a:ext cx="4047786" cy="2130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2️⃣ Confidentiality</a:t>
            </a:r>
          </a:p>
          <a:p>
            <a:pPr>
              <a:lnSpc>
                <a:spcPct val="150000"/>
              </a:lnSpc>
            </a:pPr>
            <a:r>
              <a:rPr lang="en-US" dirty="0"/>
              <a:t>Protect sensitive information.</a:t>
            </a:r>
          </a:p>
          <a:p>
            <a:pPr>
              <a:lnSpc>
                <a:spcPct val="150000"/>
              </a:lnSpc>
            </a:pPr>
            <a:r>
              <a:rPr lang="en-US" dirty="0"/>
              <a:t>✔ Customer data</a:t>
            </a:r>
            <a:br>
              <a:rPr lang="en-US" dirty="0"/>
            </a:br>
            <a:r>
              <a:rPr lang="en-US" dirty="0"/>
              <a:t>✔ Financial data</a:t>
            </a:r>
            <a:br>
              <a:rPr lang="en-US" dirty="0"/>
            </a:br>
            <a:r>
              <a:rPr lang="en-US" dirty="0"/>
              <a:t>✔ Company strategy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F1DC22-4E9C-4A94-2D9B-40EB46C2F371}"/>
              </a:ext>
            </a:extLst>
          </p:cNvPr>
          <p:cNvSpPr txBox="1"/>
          <p:nvPr/>
        </p:nvSpPr>
        <p:spPr>
          <a:xfrm>
            <a:off x="613001" y="3738021"/>
            <a:ext cx="4392385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🇵🇰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Client asks:</a:t>
            </a:r>
          </a:p>
          <a:p>
            <a:pPr>
              <a:lnSpc>
                <a:spcPct val="150000"/>
              </a:lnSpc>
            </a:pPr>
            <a:r>
              <a:rPr lang="en-US" dirty="0"/>
              <a:t>“Show only positive results.”</a:t>
            </a:r>
          </a:p>
          <a:p>
            <a:pPr>
              <a:lnSpc>
                <a:spcPct val="150000"/>
              </a:lnSpc>
            </a:pPr>
            <a:r>
              <a:rPr lang="en-US" dirty="0"/>
              <a:t>BA response:</a:t>
            </a:r>
          </a:p>
          <a:p>
            <a:pPr>
              <a:lnSpc>
                <a:spcPct val="150000"/>
              </a:lnSpc>
            </a:pPr>
            <a:r>
              <a:rPr lang="en-US" dirty="0"/>
              <a:t>Present full data with explanation.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B61BF6-1C4B-F577-3F57-2968DB1D0327}"/>
              </a:ext>
            </a:extLst>
          </p:cNvPr>
          <p:cNvSpPr txBox="1"/>
          <p:nvPr/>
        </p:nvSpPr>
        <p:spPr>
          <a:xfrm>
            <a:off x="6922294" y="4298599"/>
            <a:ext cx="8783782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🌎 Example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Netflix user data cannot be shared externally.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19B7B1-5F35-173F-AA47-0B715D984544}"/>
              </a:ext>
            </a:extLst>
          </p:cNvPr>
          <p:cNvSpPr txBox="1"/>
          <p:nvPr/>
        </p:nvSpPr>
        <p:spPr>
          <a:xfrm>
            <a:off x="4032105" y="5864885"/>
            <a:ext cx="8783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⚠️ Rule:</a:t>
            </a:r>
          </a:p>
          <a:p>
            <a:pPr>
              <a:buNone/>
            </a:pPr>
            <a:r>
              <a:rPr lang="en-US" dirty="0"/>
              <a:t>If unsure → don’t share.</a:t>
            </a:r>
          </a:p>
        </p:txBody>
      </p:sp>
      <p:pic>
        <p:nvPicPr>
          <p:cNvPr id="1027" name="Picture 3" descr="Ethical corporate culture, business integrity and moral principles concept.">
            <a:extLst>
              <a:ext uri="{FF2B5EF4-FFF2-40B4-BE49-F238E27FC236}">
                <a16:creationId xmlns:a16="http://schemas.microsoft.com/office/drawing/2014/main" id="{DA0F2F03-C45F-4168-F570-544D90F78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390645"/>
            <a:ext cx="2584506" cy="2082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13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AE899-CB15-C356-06B6-1E46BD3D0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C7AEA-5D68-3C35-E0F7-227FE0160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Key Ethical Principles for BAs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7BE38B-0166-A4BC-DF74-1A2BE1A34C3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C20814-C9B1-6620-998D-DE648EA75F49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28841-A0F1-DCFC-B4C9-D68662C26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AE332AAC-3698-DFF0-1107-9EB6375EC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E1E26D38-ECE9-6D02-77A9-76F8A8443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736E44-3B89-552F-FCD6-A45A40B0D1A1}"/>
              </a:ext>
            </a:extLst>
          </p:cNvPr>
          <p:cNvSpPr txBox="1"/>
          <p:nvPr/>
        </p:nvSpPr>
        <p:spPr>
          <a:xfrm>
            <a:off x="613001" y="1340199"/>
            <a:ext cx="5482999" cy="1715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3️⃣ Objectivity</a:t>
            </a:r>
          </a:p>
          <a:p>
            <a:pPr>
              <a:lnSpc>
                <a:spcPct val="150000"/>
              </a:lnSpc>
            </a:pPr>
            <a:r>
              <a:rPr lang="en-US" dirty="0"/>
              <a:t>Avoid bias.</a:t>
            </a:r>
          </a:p>
          <a:p>
            <a:pPr>
              <a:lnSpc>
                <a:spcPct val="150000"/>
              </a:lnSpc>
            </a:pPr>
            <a:r>
              <a:rPr lang="en-US" dirty="0"/>
              <a:t>✔ Don’t favor one stakeholder</a:t>
            </a:r>
            <a:br>
              <a:rPr lang="en-US" dirty="0"/>
            </a:br>
            <a:r>
              <a:rPr lang="en-US" dirty="0"/>
              <a:t>✔ Base decisions on facts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0078DB-1F64-2CCB-DD3D-7C14A51D4A42}"/>
              </a:ext>
            </a:extLst>
          </p:cNvPr>
          <p:cNvSpPr txBox="1"/>
          <p:nvPr/>
        </p:nvSpPr>
        <p:spPr>
          <a:xfrm>
            <a:off x="6990882" y="1340199"/>
            <a:ext cx="4047786" cy="1715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4️⃣ Accountability</a:t>
            </a:r>
          </a:p>
          <a:p>
            <a:pPr>
              <a:lnSpc>
                <a:spcPct val="150000"/>
              </a:lnSpc>
            </a:pPr>
            <a:r>
              <a:rPr lang="en-US" dirty="0"/>
              <a:t>Own your work.</a:t>
            </a:r>
          </a:p>
          <a:p>
            <a:pPr>
              <a:lnSpc>
                <a:spcPct val="150000"/>
              </a:lnSpc>
            </a:pPr>
            <a:r>
              <a:rPr lang="en-US" dirty="0"/>
              <a:t>✔ Take responsibility for errors</a:t>
            </a:r>
            <a:br>
              <a:rPr lang="en-US" dirty="0"/>
            </a:br>
            <a:r>
              <a:rPr lang="en-US" dirty="0"/>
              <a:t>✔ Communicate risks early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BBABC-1C3D-D7ED-CF1E-19EA60A2FADB}"/>
              </a:ext>
            </a:extLst>
          </p:cNvPr>
          <p:cNvSpPr txBox="1"/>
          <p:nvPr/>
        </p:nvSpPr>
        <p:spPr>
          <a:xfrm>
            <a:off x="613001" y="3346714"/>
            <a:ext cx="4392385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CEO wants feature A.</a:t>
            </a:r>
            <a:br>
              <a:rPr lang="en-US" dirty="0"/>
            </a:br>
            <a:r>
              <a:rPr lang="en-US" dirty="0"/>
              <a:t>Data shows feature B is better.</a:t>
            </a:r>
          </a:p>
          <a:p>
            <a:pPr>
              <a:lnSpc>
                <a:spcPct val="150000"/>
              </a:lnSpc>
            </a:pPr>
            <a:r>
              <a:rPr lang="en-US" dirty="0"/>
              <a:t>BA must present facts.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E7A03A-3CFA-BFFC-A260-52B928588B5D}"/>
              </a:ext>
            </a:extLst>
          </p:cNvPr>
          <p:cNvSpPr txBox="1"/>
          <p:nvPr/>
        </p:nvSpPr>
        <p:spPr>
          <a:xfrm>
            <a:off x="6961908" y="3500543"/>
            <a:ext cx="8783782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If requirement was unclear → don’t blame dev → fix it.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CFBFFF-E052-CB1D-065B-ED0DD803E9DC}"/>
              </a:ext>
            </a:extLst>
          </p:cNvPr>
          <p:cNvSpPr txBox="1"/>
          <p:nvPr/>
        </p:nvSpPr>
        <p:spPr>
          <a:xfrm>
            <a:off x="4030988" y="4571413"/>
            <a:ext cx="8783782" cy="1715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5️⃣ Professional Behavior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✔ Respect stakeholders</a:t>
            </a:r>
            <a:br>
              <a:rPr lang="en-US" dirty="0"/>
            </a:br>
            <a:r>
              <a:rPr lang="en-US" dirty="0"/>
              <a:t>✔ Communicate professionally</a:t>
            </a:r>
            <a:br>
              <a:rPr lang="en-US" dirty="0"/>
            </a:br>
            <a:r>
              <a:rPr lang="en-US" dirty="0"/>
              <a:t>✔ Maintain boundaries</a:t>
            </a:r>
          </a:p>
        </p:txBody>
      </p:sp>
      <p:pic>
        <p:nvPicPr>
          <p:cNvPr id="12" name="Picture 3" descr="Ethical corporate culture, business integrity and moral principles concept.">
            <a:extLst>
              <a:ext uri="{FF2B5EF4-FFF2-40B4-BE49-F238E27FC236}">
                <a16:creationId xmlns:a16="http://schemas.microsoft.com/office/drawing/2014/main" id="{BF289940-404D-BE8D-0565-DA829D930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962" y="1965166"/>
            <a:ext cx="2584506" cy="2082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450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1410D-BF22-68CA-276B-C40DDFBDD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4960-8DA8-39A0-772C-315344754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254000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Common Ethical Dilemmas 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B5472C-5532-EA68-DDD1-5122A9721820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5949B4-2BA2-657F-694A-C307EC34F2C9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AAA0D-F286-0852-FEBB-E62D19A8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5D63F52C-B46A-FC50-50BE-4ECD882AE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54BF83-7CF6-C0AB-470E-4ADDBB66E099}"/>
              </a:ext>
            </a:extLst>
          </p:cNvPr>
          <p:cNvSpPr txBox="1"/>
          <p:nvPr/>
        </p:nvSpPr>
        <p:spPr>
          <a:xfrm>
            <a:off x="826294" y="735609"/>
            <a:ext cx="3580607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Scenario 1: Data Manipulation</a:t>
            </a:r>
          </a:p>
          <a:p>
            <a:pPr>
              <a:lnSpc>
                <a:spcPct val="150000"/>
              </a:lnSpc>
            </a:pPr>
            <a:r>
              <a:rPr lang="en-US" dirty="0"/>
              <a:t>Manager says:</a:t>
            </a:r>
          </a:p>
          <a:p>
            <a:pPr>
              <a:lnSpc>
                <a:spcPct val="150000"/>
              </a:lnSpc>
            </a:pPr>
            <a:r>
              <a:rPr lang="en-US" dirty="0"/>
              <a:t>“Adjust numbers to make report look better.”</a:t>
            </a:r>
          </a:p>
          <a:p>
            <a:pPr>
              <a:lnSpc>
                <a:spcPct val="150000"/>
              </a:lnSpc>
            </a:pPr>
            <a:r>
              <a:rPr lang="en-US" dirty="0"/>
              <a:t>👉 Ethical BA:</a:t>
            </a:r>
          </a:p>
          <a:p>
            <a:pPr>
              <a:lnSpc>
                <a:spcPct val="150000"/>
              </a:lnSpc>
            </a:pPr>
            <a:r>
              <a:rPr lang="en-US" dirty="0"/>
              <a:t>Refuses manipulation, explains impact.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36F20B-6008-64D5-F784-76B211FBAE85}"/>
              </a:ext>
            </a:extLst>
          </p:cNvPr>
          <p:cNvSpPr txBox="1"/>
          <p:nvPr/>
        </p:nvSpPr>
        <p:spPr>
          <a:xfrm>
            <a:off x="794646" y="3951850"/>
            <a:ext cx="4247253" cy="1711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Scenario 3: Stakeholder Pressure</a:t>
            </a:r>
          </a:p>
          <a:p>
            <a:pPr>
              <a:lnSpc>
                <a:spcPct val="150000"/>
              </a:lnSpc>
            </a:pPr>
            <a:r>
              <a:rPr lang="en-US" dirty="0"/>
              <a:t>Senior executive pushes unrealistic feature.</a:t>
            </a:r>
          </a:p>
          <a:p>
            <a:pPr>
              <a:lnSpc>
                <a:spcPct val="150000"/>
              </a:lnSpc>
            </a:pPr>
            <a:r>
              <a:rPr lang="en-US" dirty="0"/>
              <a:t>👉 Ethical BA:</a:t>
            </a:r>
          </a:p>
          <a:p>
            <a:pPr>
              <a:lnSpc>
                <a:spcPct val="150000"/>
              </a:lnSpc>
            </a:pPr>
            <a:r>
              <a:rPr lang="en-US" dirty="0"/>
              <a:t>Explains feasibility and impact.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AE080B-7C78-F78D-0BC7-0DFD9542AA28}"/>
              </a:ext>
            </a:extLst>
          </p:cNvPr>
          <p:cNvSpPr txBox="1"/>
          <p:nvPr/>
        </p:nvSpPr>
        <p:spPr>
          <a:xfrm>
            <a:off x="7099301" y="598622"/>
            <a:ext cx="609600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Scenario 2: Hiding Issues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Team finds major bug before release.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Manager says: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“Don’t tell client.”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👉 Ethical BA: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Escalates risk.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2E4FF-E1CD-4429-664F-E904B1F3D124}"/>
              </a:ext>
            </a:extLst>
          </p:cNvPr>
          <p:cNvSpPr txBox="1"/>
          <p:nvPr/>
        </p:nvSpPr>
        <p:spPr>
          <a:xfrm>
            <a:off x="7150103" y="3844862"/>
            <a:ext cx="3643946" cy="29578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Scenario 4: Confidential Information</a:t>
            </a:r>
          </a:p>
          <a:p>
            <a:pPr>
              <a:lnSpc>
                <a:spcPct val="150000"/>
              </a:lnSpc>
            </a:pPr>
            <a:r>
              <a:rPr lang="en-US" dirty="0"/>
              <a:t>You switch jobs.</a:t>
            </a:r>
          </a:p>
          <a:p>
            <a:pPr>
              <a:lnSpc>
                <a:spcPct val="150000"/>
              </a:lnSpc>
            </a:pPr>
            <a:r>
              <a:rPr lang="en-US" dirty="0"/>
              <a:t>New company asks:</a:t>
            </a:r>
          </a:p>
          <a:p>
            <a:pPr>
              <a:lnSpc>
                <a:spcPct val="150000"/>
              </a:lnSpc>
            </a:pPr>
            <a:r>
              <a:rPr lang="en-US" dirty="0"/>
              <a:t>“Share previous company’s data.”</a:t>
            </a:r>
          </a:p>
          <a:p>
            <a:pPr>
              <a:lnSpc>
                <a:spcPct val="150000"/>
              </a:lnSpc>
            </a:pPr>
            <a:r>
              <a:rPr lang="en-US" dirty="0"/>
              <a:t>👉 Ethical BA:</a:t>
            </a:r>
          </a:p>
          <a:p>
            <a:pPr>
              <a:lnSpc>
                <a:spcPct val="150000"/>
              </a:lnSpc>
            </a:pPr>
            <a:r>
              <a:rPr lang="en-US" dirty="0"/>
              <a:t>Refuses.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12" name="Picture 2" descr="Advanced Ethical Decision-Making, Finding the Right Path — Accounting Weekly">
            <a:extLst>
              <a:ext uri="{FF2B5EF4-FFF2-40B4-BE49-F238E27FC236}">
                <a16:creationId xmlns:a16="http://schemas.microsoft.com/office/drawing/2014/main" id="{B31731F4-9F5F-B7CC-8E86-F9D014E4B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83" y="1197361"/>
            <a:ext cx="2574458" cy="257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7742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FD09D-65BA-E8BD-5866-F94A49F6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42BA9-3871-668C-F80C-AE24E87A2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Ethical Decision-Making Framework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F393CA-2A82-974C-AD6C-281CE3679E90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444454-ED72-8B78-7273-F5F923F8DCB0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DD912-E45E-2BAD-C637-5AF6EF144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8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79A24235-0F77-F2DF-F8CC-E0C888238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E1030E-51F5-F0AB-CF6C-50666A128323}"/>
              </a:ext>
            </a:extLst>
          </p:cNvPr>
          <p:cNvSpPr txBox="1"/>
          <p:nvPr/>
        </p:nvSpPr>
        <p:spPr>
          <a:xfrm>
            <a:off x="826294" y="1395166"/>
            <a:ext cx="6096000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Step 1: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Identify the issue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Step 2: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Who is affected?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Step 3: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What are options?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Step 4: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What is the ethical choice?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Step 5: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Communicate professionally</a:t>
            </a:r>
          </a:p>
        </p:txBody>
      </p:sp>
      <p:pic>
        <p:nvPicPr>
          <p:cNvPr id="8194" name="Picture 2" descr="Ethical Decision Making Powerpoint Ppt Template Bundles PPT PowerPoint">
            <a:extLst>
              <a:ext uri="{FF2B5EF4-FFF2-40B4-BE49-F238E27FC236}">
                <a16:creationId xmlns:a16="http://schemas.microsoft.com/office/drawing/2014/main" id="{6C70C916-B059-8647-3499-C62DD5CD6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040" y="1157848"/>
            <a:ext cx="8349959" cy="469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945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1E0A6-9495-5AE8-997C-5C3597270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231E-43CD-9B26-42FF-EA2D0DBA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029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Ethics in Data &amp; Analytics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9E994A-4413-481E-3C18-8584E7BFBD0E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DFD445-C96A-A605-EA17-01641056F161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B179E-D033-1F5E-6618-A437431B9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9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9965D26-2AC3-2BCD-F953-B0C2078BD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1AB55A-83A9-C2FE-F7F6-011A8334F69E}"/>
              </a:ext>
            </a:extLst>
          </p:cNvPr>
          <p:cNvSpPr txBox="1"/>
          <p:nvPr/>
        </p:nvSpPr>
        <p:spPr>
          <a:xfrm>
            <a:off x="838199" y="911322"/>
            <a:ext cx="6096000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Very important for modern BA.</a:t>
            </a:r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Risks</a:t>
            </a:r>
          </a:p>
          <a:p>
            <a:pPr>
              <a:lnSpc>
                <a:spcPct val="150000"/>
              </a:lnSpc>
            </a:pPr>
            <a:r>
              <a:rPr lang="en-US" dirty="0"/>
              <a:t>❌ Misleading dashboards</a:t>
            </a:r>
            <a:br>
              <a:rPr lang="en-US" dirty="0"/>
            </a:br>
            <a:r>
              <a:rPr lang="en-US" dirty="0"/>
              <a:t>❌ Wrong KPIs</a:t>
            </a:r>
            <a:br>
              <a:rPr lang="en-US" dirty="0"/>
            </a:br>
            <a:r>
              <a:rPr lang="en-US" dirty="0"/>
              <a:t>❌ Biased analysis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Showing average delivery time only (hiding peak delays)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Ethical BA:</a:t>
            </a:r>
          </a:p>
          <a:p>
            <a:pPr>
              <a:lnSpc>
                <a:spcPct val="150000"/>
              </a:lnSpc>
            </a:pPr>
            <a:r>
              <a:rPr lang="en-US" dirty="0"/>
              <a:t>Shows full picture.</a:t>
            </a:r>
          </a:p>
        </p:txBody>
      </p:sp>
      <p:pic>
        <p:nvPicPr>
          <p:cNvPr id="9218" name="Picture 2" descr="Why Does Data Ethics Matter?. Benefits of Big Data | by John Porsovigan | Medium">
            <a:extLst>
              <a:ext uri="{FF2B5EF4-FFF2-40B4-BE49-F238E27FC236}">
                <a16:creationId xmlns:a16="http://schemas.microsoft.com/office/drawing/2014/main" id="{A4EA4A69-FD3B-70BF-EA3E-6EB406CB0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2609" y="965758"/>
            <a:ext cx="5163684" cy="4926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616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5E1FB-2A23-8339-3925-2BEB6FE8A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D5896-2596-5717-FA71-48F72161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Ethics in Agile &amp; Teams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B303BE-E371-3762-1F51-7AA31AE11DA3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BECB4A-F3E5-B0DC-7461-5FD3E74ED469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FBAF4-8C8D-BC51-0628-FA73C93D0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10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9A363FFE-17CB-E063-E245-86EB4994C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902353-ADC3-C526-B8AE-271190743EA1}"/>
              </a:ext>
            </a:extLst>
          </p:cNvPr>
          <p:cNvSpPr txBox="1"/>
          <p:nvPr/>
        </p:nvSpPr>
        <p:spPr>
          <a:xfrm>
            <a:off x="850106" y="784187"/>
            <a:ext cx="6096000" cy="2130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Agile:</a:t>
            </a:r>
          </a:p>
          <a:p>
            <a:pPr>
              <a:lnSpc>
                <a:spcPct val="150000"/>
              </a:lnSpc>
            </a:pPr>
            <a:r>
              <a:rPr lang="en-US" dirty="0"/>
              <a:t>✔ Be transparent in standups</a:t>
            </a:r>
            <a:br>
              <a:rPr lang="en-US" dirty="0"/>
            </a:br>
            <a:r>
              <a:rPr lang="en-US" dirty="0"/>
              <a:t>✔ Don’t hide blockers</a:t>
            </a:r>
            <a:br>
              <a:rPr lang="en-US" dirty="0"/>
            </a:br>
            <a:r>
              <a:rPr lang="en-US" dirty="0"/>
              <a:t>✔ Give honest updates</a:t>
            </a:r>
            <a:br>
              <a:rPr lang="en-US" dirty="0"/>
            </a:br>
            <a:r>
              <a:rPr lang="en-US" dirty="0"/>
              <a:t>✔ Respect team contributions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AE7361-B7DB-4117-56BF-77E014BEF293}"/>
              </a:ext>
            </a:extLst>
          </p:cNvPr>
          <p:cNvSpPr txBox="1"/>
          <p:nvPr/>
        </p:nvSpPr>
        <p:spPr>
          <a:xfrm>
            <a:off x="850106" y="3330783"/>
            <a:ext cx="609600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Example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Don’t say: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“Everything is fine”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When sprint is failing.</a:t>
            </a:r>
          </a:p>
        </p:txBody>
      </p:sp>
      <p:pic>
        <p:nvPicPr>
          <p:cNvPr id="10242" name="Picture 2" descr="Daily Standup - Scrum Slate">
            <a:extLst>
              <a:ext uri="{FF2B5EF4-FFF2-40B4-BE49-F238E27FC236}">
                <a16:creationId xmlns:a16="http://schemas.microsoft.com/office/drawing/2014/main" id="{6F0EEFDD-C5F7-674B-B96C-7F2F42ADE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869" y="1234046"/>
            <a:ext cx="6446664" cy="4029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2923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BCF9F-08CF-20F1-6DBC-E47FBB144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E3941-E512-8585-31F1-58B8DEF80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Ethics in Documentation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FBECA0-FFF3-4989-4770-19A66322A8E9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CCC8D1-70E7-667F-0A19-01AD6BBF889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84E87-DC5E-FE7B-FDBF-B6B04668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11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65120A21-A2D9-F8D7-98A5-9351319AD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E0169B-170E-EDC9-EB7C-3D7DC4EDD246}"/>
              </a:ext>
            </a:extLst>
          </p:cNvPr>
          <p:cNvSpPr txBox="1"/>
          <p:nvPr/>
        </p:nvSpPr>
        <p:spPr>
          <a:xfrm>
            <a:off x="826294" y="1102282"/>
            <a:ext cx="6096000" cy="1715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✔ Write clear requirements</a:t>
            </a:r>
            <a:br>
              <a:rPr lang="en-US" dirty="0"/>
            </a:br>
            <a:r>
              <a:rPr lang="en-US" dirty="0"/>
              <a:t>✔ Avoid ambiguity</a:t>
            </a:r>
            <a:br>
              <a:rPr lang="en-US" dirty="0"/>
            </a:br>
            <a:r>
              <a:rPr lang="en-US" dirty="0"/>
              <a:t>✔ Don’t copy blindly</a:t>
            </a:r>
            <a:br>
              <a:rPr lang="en-US" dirty="0"/>
            </a:br>
            <a:r>
              <a:rPr lang="en-US" dirty="0"/>
              <a:t>✔ Ensure traceability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DED7F9-73D2-976C-3CC1-7E56D769B7FF}"/>
              </a:ext>
            </a:extLst>
          </p:cNvPr>
          <p:cNvSpPr txBox="1"/>
          <p:nvPr/>
        </p:nvSpPr>
        <p:spPr>
          <a:xfrm>
            <a:off x="826294" y="3307857"/>
            <a:ext cx="60960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Student Warning</a:t>
            </a:r>
          </a:p>
          <a:p>
            <a:pPr>
              <a:lnSpc>
                <a:spcPct val="150000"/>
              </a:lnSpc>
            </a:pPr>
            <a:r>
              <a:rPr lang="en-US" dirty="0"/>
              <a:t>Copy-paste documentation </a:t>
            </a:r>
          </a:p>
          <a:p>
            <a:pPr>
              <a:lnSpc>
                <a:spcPct val="150000"/>
              </a:lnSpc>
            </a:pPr>
            <a:r>
              <a:rPr lang="en-US" dirty="0"/>
              <a:t>= unethical practice</a:t>
            </a:r>
          </a:p>
        </p:txBody>
      </p:sp>
      <p:pic>
        <p:nvPicPr>
          <p:cNvPr id="3" name="Picture 2" descr="How to write a project proposal | PandaDoc">
            <a:extLst>
              <a:ext uri="{FF2B5EF4-FFF2-40B4-BE49-F238E27FC236}">
                <a16:creationId xmlns:a16="http://schemas.microsoft.com/office/drawing/2014/main" id="{6D9D910E-299C-133F-7A13-338D8C422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012" y="108028"/>
            <a:ext cx="6096000" cy="6304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746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F298-5017-96C4-6D94-F8F1AF23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9DA58-BE50-375F-EBD4-22FA80749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394" y="238125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Ethics in Documentation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0F7341-9D89-5F76-156C-EA23C9CBD1D5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6001A-1730-E4B5-CEAB-CAA65BB9F755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74360-DD3D-EE51-F324-36699055D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12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9C6CF9FF-EC56-E017-3D2D-40CDF7619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How to Write Good Software Requirements">
            <a:extLst>
              <a:ext uri="{FF2B5EF4-FFF2-40B4-BE49-F238E27FC236}">
                <a16:creationId xmlns:a16="http://schemas.microsoft.com/office/drawing/2014/main" id="{D128A7F8-0A17-4984-5BED-1F054EFD8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"/>
            <a:ext cx="12192000" cy="6286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3776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AFA34-B507-6F51-14BC-613E92D5B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5F94AA2-134E-03E8-0B98-7A06F8DB5C7C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D02289-C56D-B892-B847-2094F5767E45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C7508-3002-7235-2DEE-91BF50B43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03BF01B6-5419-5558-5A75-0A4EA4888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00FAA8E-E669-4C58-74F2-BBB971CB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83101"/>
            <a:ext cx="10515600" cy="1030668"/>
          </a:xfrm>
        </p:spPr>
        <p:txBody>
          <a:bodyPr/>
          <a:lstStyle/>
          <a:p>
            <a:r>
              <a:rPr lang="en-US" dirty="0"/>
              <a:t>Ethics in Communication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D71735-6B9D-BB7D-9252-17BEB65BB60D}"/>
              </a:ext>
            </a:extLst>
          </p:cNvPr>
          <p:cNvSpPr txBox="1"/>
          <p:nvPr/>
        </p:nvSpPr>
        <p:spPr>
          <a:xfrm>
            <a:off x="826294" y="857694"/>
            <a:ext cx="6096000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✔ Don’t mislead</a:t>
            </a:r>
            <a:br>
              <a:rPr lang="en-US" dirty="0"/>
            </a:br>
            <a:r>
              <a:rPr lang="en-US" dirty="0"/>
              <a:t>✔ Don’t overpromise</a:t>
            </a:r>
            <a:br>
              <a:rPr lang="en-US" dirty="0"/>
            </a:br>
            <a:r>
              <a:rPr lang="en-US" dirty="0"/>
              <a:t>✔ Don’t under-communicate</a:t>
            </a:r>
          </a:p>
          <a:p>
            <a:pPr>
              <a:lnSpc>
                <a:spcPct val="150000"/>
              </a:lnSpc>
            </a:pPr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Wrong:</a:t>
            </a:r>
          </a:p>
          <a:p>
            <a:pPr>
              <a:lnSpc>
                <a:spcPct val="150000"/>
              </a:lnSpc>
            </a:pPr>
            <a:r>
              <a:rPr lang="en-US" dirty="0"/>
              <a:t>“Feature will be done tomorrow”</a:t>
            </a:r>
          </a:p>
          <a:p>
            <a:pPr>
              <a:lnSpc>
                <a:spcPct val="150000"/>
              </a:lnSpc>
            </a:pPr>
            <a:r>
              <a:rPr lang="en-US" dirty="0"/>
              <a:t>Right:</a:t>
            </a:r>
          </a:p>
          <a:p>
            <a:pPr>
              <a:lnSpc>
                <a:spcPct val="150000"/>
              </a:lnSpc>
            </a:pPr>
            <a:r>
              <a:rPr lang="en-US" dirty="0"/>
              <a:t>“Estimated completion is 2 days based on current progress.”</a:t>
            </a:r>
          </a:p>
        </p:txBody>
      </p:sp>
      <p:pic>
        <p:nvPicPr>
          <p:cNvPr id="13314" name="Picture 2" descr="Ethical communication: How to Communicate Ethically and Effectively with Your Stakeholders - FasterCapital">
            <a:extLst>
              <a:ext uri="{FF2B5EF4-FFF2-40B4-BE49-F238E27FC236}">
                <a16:creationId xmlns:a16="http://schemas.microsoft.com/office/drawing/2014/main" id="{6D1748A1-E260-79DD-3733-3AC18D4A2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386" y="1304270"/>
            <a:ext cx="8005733" cy="4501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15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241CF-C2B3-23EE-16BD-97202C583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10B60-B806-7D93-60D6-BDCB7639A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Common Ethical Mistakes by New BAs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50BA9E-7A3F-EC4C-8D6C-39416F80AF1B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A4049E-F540-FEE3-797F-D86EA8F68D23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438E7-F8D9-3E3C-BAFC-0CED8DF2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29A159DF-89CD-334E-6B16-203258DDA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B2D15D-CBFE-9646-A245-C1DA4DD4CA7B}"/>
              </a:ext>
            </a:extLst>
          </p:cNvPr>
          <p:cNvSpPr txBox="1"/>
          <p:nvPr/>
        </p:nvSpPr>
        <p:spPr>
          <a:xfrm>
            <a:off x="826294" y="1401095"/>
            <a:ext cx="8317706" cy="278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❌ Saying yes to everything</a:t>
            </a:r>
            <a:br>
              <a:rPr lang="en-US" dirty="0"/>
            </a:br>
            <a:r>
              <a:rPr lang="en-US" dirty="0"/>
              <a:t>❌ Hiding risks</a:t>
            </a:r>
            <a:br>
              <a:rPr lang="en-US" dirty="0"/>
            </a:br>
            <a:r>
              <a:rPr lang="en-US" dirty="0"/>
              <a:t>❌ Not asking questions</a:t>
            </a:r>
            <a:br>
              <a:rPr lang="en-US" dirty="0"/>
            </a:br>
            <a:r>
              <a:rPr lang="en-US" dirty="0"/>
              <a:t>❌ Sharing sensitive data</a:t>
            </a:r>
            <a:br>
              <a:rPr lang="en-US" dirty="0"/>
            </a:br>
            <a:r>
              <a:rPr lang="en-US" dirty="0"/>
              <a:t>❌ Copying work</a:t>
            </a:r>
          </a:p>
        </p:txBody>
      </p:sp>
      <p:pic>
        <p:nvPicPr>
          <p:cNvPr id="14338" name="Picture 2" descr="Business ethics, organizational behavior in the workplace icons - part1">
            <a:extLst>
              <a:ext uri="{FF2B5EF4-FFF2-40B4-BE49-F238E27FC236}">
                <a16:creationId xmlns:a16="http://schemas.microsoft.com/office/drawing/2014/main" id="{CAD65A86-D6E9-5707-CF09-928F10522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386" y="687983"/>
            <a:ext cx="6194426" cy="5744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5297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69249-7C59-4DE7-4DCA-231C1D371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E3B9-CA61-C8C7-23FB-56D3D753C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Role of Ethics in Career Growth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258E92-3686-465D-0C6D-F4C4AECA9029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D7FF25-389B-F0F6-20B0-3ECA1E4E37AC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A90C5-7F07-E577-7F82-1635B2A9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04A01300-70AF-C660-0AF5-64EE5A958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0FE51F-A479-98B9-77DE-59EEB9EF9AF1}"/>
              </a:ext>
            </a:extLst>
          </p:cNvPr>
          <p:cNvSpPr txBox="1"/>
          <p:nvPr/>
        </p:nvSpPr>
        <p:spPr>
          <a:xfrm>
            <a:off x="838200" y="1040293"/>
            <a:ext cx="8317706" cy="5454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Companies trust ethical professionals.</a:t>
            </a:r>
          </a:p>
          <a:p>
            <a:pPr>
              <a:lnSpc>
                <a:spcPct val="150000"/>
              </a:lnSpc>
            </a:pPr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Benefits</a:t>
            </a:r>
          </a:p>
          <a:p>
            <a:pPr>
              <a:lnSpc>
                <a:spcPct val="150000"/>
              </a:lnSpc>
            </a:pPr>
            <a:r>
              <a:rPr lang="en-US" dirty="0"/>
              <a:t>✔ Strong reputation</a:t>
            </a:r>
            <a:br>
              <a:rPr lang="en-US" dirty="0"/>
            </a:br>
            <a:r>
              <a:rPr lang="en-US" dirty="0"/>
              <a:t>✔ Leadership opportunities</a:t>
            </a:r>
            <a:br>
              <a:rPr lang="en-US" dirty="0"/>
            </a:br>
            <a:r>
              <a:rPr lang="en-US" dirty="0"/>
              <a:t>✔ Long-term success</a:t>
            </a:r>
          </a:p>
          <a:p>
            <a:pPr>
              <a:lnSpc>
                <a:spcPct val="150000"/>
              </a:lnSpc>
            </a:pPr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Risk of unethical behavior</a:t>
            </a:r>
          </a:p>
          <a:p>
            <a:pPr>
              <a:lnSpc>
                <a:spcPct val="150000"/>
              </a:lnSpc>
            </a:pPr>
            <a:r>
              <a:rPr lang="en-US" dirty="0"/>
              <a:t>❌ Job loss</a:t>
            </a:r>
            <a:br>
              <a:rPr lang="en-US" dirty="0"/>
            </a:br>
            <a:r>
              <a:rPr lang="en-US" dirty="0"/>
              <a:t>❌ Reputation damage</a:t>
            </a:r>
            <a:br>
              <a:rPr lang="en-US" dirty="0"/>
            </a:br>
            <a:r>
              <a:rPr lang="en-US" dirty="0"/>
              <a:t>❌ Legal issues</a:t>
            </a:r>
          </a:p>
        </p:txBody>
      </p:sp>
      <p:pic>
        <p:nvPicPr>
          <p:cNvPr id="15362" name="Picture 2" descr="Businessman's writing trust building concept, essential importance of trust">
            <a:extLst>
              <a:ext uri="{FF2B5EF4-FFF2-40B4-BE49-F238E27FC236}">
                <a16:creationId xmlns:a16="http://schemas.microsoft.com/office/drawing/2014/main" id="{1310EF5F-D71C-9AB9-AF5D-6E5C4E24E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100" y="1183111"/>
            <a:ext cx="6426202" cy="4129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027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26FBA-7032-3274-B9C6-559157E04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C835C-C50E-3C05-5652-B299AEC6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KEY TAKEAWAYS (END OF LECTURE)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6D6ADA-03FE-71E9-767E-0B9E37FA054A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F1D2DE-B1BF-10F6-C57A-47715581C44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C20EA-FFE7-4E2F-17F1-14FA8744B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1F45DA-0C9E-5A47-38FF-A94ACA9E6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55C6B4-CC26-C474-E6D9-AD53AB62C323}"/>
              </a:ext>
            </a:extLst>
          </p:cNvPr>
          <p:cNvSpPr txBox="1"/>
          <p:nvPr/>
        </p:nvSpPr>
        <p:spPr>
          <a:xfrm>
            <a:off x="826294" y="1401095"/>
            <a:ext cx="8317706" cy="278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✔ Ethics is not optional</a:t>
            </a:r>
            <a:br>
              <a:rPr lang="en-US" dirty="0"/>
            </a:br>
            <a:r>
              <a:rPr lang="en-US" dirty="0"/>
              <a:t>✔ Data must be handled responsibly</a:t>
            </a:r>
            <a:br>
              <a:rPr lang="en-US" dirty="0"/>
            </a:br>
            <a:r>
              <a:rPr lang="en-US" dirty="0"/>
              <a:t>✔ Transparency builds trust</a:t>
            </a:r>
            <a:br>
              <a:rPr lang="en-US" dirty="0"/>
            </a:br>
            <a:r>
              <a:rPr lang="en-US" dirty="0"/>
              <a:t>✔ BA must balance business &amp; ethics</a:t>
            </a:r>
            <a:br>
              <a:rPr lang="en-US" dirty="0"/>
            </a:br>
            <a:r>
              <a:rPr lang="en-US" dirty="0"/>
              <a:t>✔ Your decisions impact real people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5BAC16-6EC3-88E5-B702-0BF5C12DC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" y="4221494"/>
            <a:ext cx="7600157" cy="2118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“The hardest decisions in projects are not technical — they are ethical.”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“Short-term shortcuts create long-term damage.”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“Trust once lost is very hard to regain.”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“Strong BAs are trusted advisors, not just analysts.”</a:t>
            </a:r>
          </a:p>
        </p:txBody>
      </p:sp>
    </p:spTree>
    <p:extLst>
      <p:ext uri="{BB962C8B-B14F-4D97-AF65-F5344CB8AC3E}">
        <p14:creationId xmlns:p14="http://schemas.microsoft.com/office/powerpoint/2010/main" val="1695292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6EE27-91F3-C693-90F8-0316D658F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425C90-4149-1A24-0E23-9FA78CE8410E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12B608-6656-7F55-10FC-56BA8471EE6A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F1E43-450A-F95A-A50F-B5689DCE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FFC24AC7-3730-F217-6822-79D2B2EB8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222D68B3-DA55-1983-AA62-EA1B3C356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236" y="2435833"/>
            <a:ext cx="10515600" cy="1325563"/>
          </a:xfrm>
        </p:spPr>
        <p:txBody>
          <a:bodyPr/>
          <a:lstStyle/>
          <a:p>
            <a:r>
              <a:rPr lang="en-US" dirty="0"/>
              <a:t>Question</a:t>
            </a:r>
            <a:br>
              <a:rPr lang="en-US" dirty="0"/>
            </a:br>
            <a:r>
              <a:rPr lang="en-US" dirty="0"/>
              <a:t>👉 “What would you do if asked to act unethically?</a:t>
            </a:r>
          </a:p>
        </p:txBody>
      </p:sp>
    </p:spTree>
    <p:extLst>
      <p:ext uri="{BB962C8B-B14F-4D97-AF65-F5344CB8AC3E}">
        <p14:creationId xmlns:p14="http://schemas.microsoft.com/office/powerpoint/2010/main" val="3987383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31171</TotalTime>
  <Words>791</Words>
  <Application>Microsoft Macintosh PowerPoint</Application>
  <PresentationFormat>Widescreen</PresentationFormat>
  <Paragraphs>164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BUSINESS ANALYTICS  Introduction to Business Analytics and Core Business Functions</vt:lpstr>
      <vt:lpstr>LEARNING OBJECTIVES – WEEK 14 </vt:lpstr>
      <vt:lpstr>WHY ETHICS MATTERS IN BUSINESS ANALYSIS</vt:lpstr>
      <vt:lpstr>Key Ethical Principles for BAs</vt:lpstr>
      <vt:lpstr>Key Ethical Principles for BAs</vt:lpstr>
      <vt:lpstr>Common Ethical Dilemmas </vt:lpstr>
      <vt:lpstr>Ethical Decision-Making Framework</vt:lpstr>
      <vt:lpstr>Ethics in Data &amp; Analytics</vt:lpstr>
      <vt:lpstr>Ethics in Agile &amp; Teams</vt:lpstr>
      <vt:lpstr>Ethics in Documentation</vt:lpstr>
      <vt:lpstr>Ethics in Documentation</vt:lpstr>
      <vt:lpstr>Ethics in Communication</vt:lpstr>
      <vt:lpstr>Common Ethical Mistakes by New BAs</vt:lpstr>
      <vt:lpstr>Role of Ethics in Career Growth</vt:lpstr>
      <vt:lpstr>KEY TAKEAWAYS (END OF LECTURE)</vt:lpstr>
      <vt:lpstr>Question 👉 “What would you do if asked to act unethically?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HORIZONTAL LINKAGES WITH OTHER GOVERNMENT DEPARTMENTS</dc:title>
  <dc:creator>Mufeeza Iqbal</dc:creator>
  <cp:lastModifiedBy>Moiz Shah</cp:lastModifiedBy>
  <cp:revision>190</cp:revision>
  <dcterms:created xsi:type="dcterms:W3CDTF">2024-06-09T07:08:43Z</dcterms:created>
  <dcterms:modified xsi:type="dcterms:W3CDTF">2026-05-02T15:48:19Z</dcterms:modified>
</cp:coreProperties>
</file>