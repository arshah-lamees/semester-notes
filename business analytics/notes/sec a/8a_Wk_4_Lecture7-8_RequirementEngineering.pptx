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19"/>
  </p:notesMasterIdLst>
  <p:sldIdLst>
    <p:sldId id="256" r:id="rId2"/>
    <p:sldId id="345" r:id="rId3"/>
    <p:sldId id="357" r:id="rId4"/>
    <p:sldId id="347" r:id="rId5"/>
    <p:sldId id="373" r:id="rId6"/>
    <p:sldId id="360" r:id="rId7"/>
    <p:sldId id="375" r:id="rId8"/>
    <p:sldId id="371" r:id="rId9"/>
    <p:sldId id="374" r:id="rId10"/>
    <p:sldId id="363" r:id="rId11"/>
    <p:sldId id="376" r:id="rId12"/>
    <p:sldId id="369" r:id="rId13"/>
    <p:sldId id="377" r:id="rId14"/>
    <p:sldId id="364" r:id="rId15"/>
    <p:sldId id="365" r:id="rId16"/>
    <p:sldId id="370" r:id="rId17"/>
    <p:sldId id="372" r:id="rId1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6" autoAdjust="0"/>
    <p:restoredTop sz="94669"/>
  </p:normalViewPr>
  <p:slideViewPr>
    <p:cSldViewPr snapToGrid="0">
      <p:cViewPr varScale="1">
        <p:scale>
          <a:sx n="93" d="100"/>
          <a:sy n="93" d="100"/>
        </p:scale>
        <p:origin x="22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2/20/26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5630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4680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4513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3240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0961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5383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26125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1941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0075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334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very important concept:</a:t>
            </a:r>
          </a:p>
          <a:p>
            <a:r>
              <a:rPr lang="en-US" dirty="0"/>
              <a:t>Business Problem answers:</a:t>
            </a:r>
            <a:br>
              <a:rPr lang="en-US" dirty="0"/>
            </a:br>
            <a:r>
              <a:rPr lang="en-US" dirty="0"/>
              <a:t>WHAT is going wrong?</a:t>
            </a:r>
            <a:br>
              <a:rPr lang="en-US" dirty="0"/>
            </a:br>
            <a:r>
              <a:rPr lang="en-US" dirty="0"/>
              <a:t>WHY is it happening?</a:t>
            </a:r>
          </a:p>
          <a:p>
            <a:r>
              <a:rPr lang="en-US" dirty="0"/>
              <a:t>Technical Problem answers:</a:t>
            </a:r>
            <a:br>
              <a:rPr lang="en-US" dirty="0"/>
            </a:br>
            <a:r>
              <a:rPr lang="en-US" dirty="0"/>
              <a:t>HOW will we fix it using technology?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96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5789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2/20/26 1:57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2/20/26 1:57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2/20/26 1:57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2/20/26 1:57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2/20/26 1:57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2/20/26 1:57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2/20/26 1:57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2/20/26 1:57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2/20/26 1:57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2/20/26 1:57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2/20/26 1:57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2/20/26 1:57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964406" y="840384"/>
            <a:ext cx="9144000" cy="299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Requirements Engineering </a:t>
            </a:r>
          </a:p>
          <a:p>
            <a:r>
              <a:rPr lang="en-US" sz="4000" dirty="0"/>
              <a:t>Basics</a:t>
            </a:r>
            <a:endParaRPr lang="en-PK" dirty="0"/>
          </a:p>
        </p:txBody>
      </p:sp>
      <p:pic>
        <p:nvPicPr>
          <p:cNvPr id="5" name="Picture 4" descr="3d Analyst Working On Business Analytics Dashboard With Kpi ...">
            <a:extLst>
              <a:ext uri="{FF2B5EF4-FFF2-40B4-BE49-F238E27FC236}">
                <a16:creationId xmlns:a16="http://schemas.microsoft.com/office/drawing/2014/main" id="{55A10BB7-3531-CC3A-305B-1101C434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56" y="2949575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4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By the end of today you should be able to: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Differentiate Business, Functional, and Non-Functional requirements</a:t>
            </a:r>
          </a:p>
          <a:p>
            <a:r>
              <a:rPr lang="en-US" sz="2400" dirty="0"/>
              <a:t>Understand the Requirements Lifecycle</a:t>
            </a:r>
          </a:p>
          <a:p>
            <a:r>
              <a:rPr lang="en-US" sz="2400" dirty="0"/>
              <a:t>Identify high-quality requirements</a:t>
            </a:r>
          </a:p>
          <a:p>
            <a:r>
              <a:rPr lang="en-US" sz="2400" dirty="0"/>
              <a:t>Think like a real Business Analyst during requirement discovery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207E6FA1-0F3A-98FC-B8D2-0120858E2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3572" y="3429000"/>
            <a:ext cx="2468880" cy="246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968797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WHAT ARE REQUIREMENTS?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CF9045-7E27-F42B-B5BB-F4092DC7A517}"/>
              </a:ext>
            </a:extLst>
          </p:cNvPr>
          <p:cNvSpPr txBox="1"/>
          <p:nvPr/>
        </p:nvSpPr>
        <p:spPr>
          <a:xfrm>
            <a:off x="826294" y="14186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requirement is </a:t>
            </a:r>
            <a:r>
              <a:rPr lang="en-US" b="1" dirty="0"/>
              <a:t>what the business needs the system to do</a:t>
            </a:r>
            <a:r>
              <a:rPr lang="en-US" dirty="0"/>
              <a:t>.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8FA33-F680-86D0-6FB5-3770BEEB855C}"/>
              </a:ext>
            </a:extLst>
          </p:cNvPr>
          <p:cNvSpPr txBox="1"/>
          <p:nvPr/>
        </p:nvSpPr>
        <p:spPr>
          <a:xfrm>
            <a:off x="826294" y="214012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Requirements are NOT:</a:t>
            </a:r>
          </a:p>
          <a:p>
            <a:endParaRPr lang="en-US" dirty="0"/>
          </a:p>
          <a:p>
            <a:r>
              <a:rPr lang="en-US" dirty="0"/>
              <a:t>❌ Features guessed by developers</a:t>
            </a:r>
          </a:p>
          <a:p>
            <a:br>
              <a:rPr lang="en-US" dirty="0"/>
            </a:br>
            <a:r>
              <a:rPr lang="en-US" dirty="0"/>
              <a:t>❌ Ideas from one stakeholder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80DD1-1E7C-7D35-F88B-8222CD431891}"/>
              </a:ext>
            </a:extLst>
          </p:cNvPr>
          <p:cNvSpPr txBox="1"/>
          <p:nvPr/>
        </p:nvSpPr>
        <p:spPr>
          <a:xfrm>
            <a:off x="6096000" y="2135639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Requirements ARE:</a:t>
            </a:r>
          </a:p>
          <a:p>
            <a:endParaRPr lang="en-US" dirty="0"/>
          </a:p>
          <a:p>
            <a:r>
              <a:rPr lang="en-US" dirty="0"/>
              <a:t>✔ Business needs</a:t>
            </a:r>
          </a:p>
          <a:p>
            <a:br>
              <a:rPr lang="en-US" dirty="0"/>
            </a:br>
            <a:r>
              <a:rPr lang="en-US" dirty="0"/>
              <a:t>✔ User expectations</a:t>
            </a:r>
          </a:p>
          <a:p>
            <a:br>
              <a:rPr lang="en-US" dirty="0"/>
            </a:br>
            <a:r>
              <a:rPr lang="en-US" dirty="0"/>
              <a:t>✔ System constraints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C3F083-5B72-BE63-E45D-8F41FAB92FF8}"/>
              </a:ext>
            </a:extLst>
          </p:cNvPr>
          <p:cNvSpPr txBox="1"/>
          <p:nvPr/>
        </p:nvSpPr>
        <p:spPr>
          <a:xfrm>
            <a:off x="711993" y="487595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Careem Ride Booking</a:t>
            </a:r>
            <a:endParaRPr lang="en-US" dirty="0"/>
          </a:p>
          <a:p>
            <a:r>
              <a:rPr lang="en-US" dirty="0"/>
              <a:t>Business Need:</a:t>
            </a:r>
            <a:br>
              <a:rPr lang="en-US" dirty="0"/>
            </a:br>
            <a:r>
              <a:rPr lang="en-US" dirty="0"/>
              <a:t>Increase ride bookings.</a:t>
            </a:r>
          </a:p>
          <a:p>
            <a:r>
              <a:rPr lang="en-US" dirty="0"/>
              <a:t>Requirement:</a:t>
            </a:r>
            <a:br>
              <a:rPr lang="en-US" dirty="0"/>
            </a:br>
            <a:r>
              <a:rPr lang="en-US" dirty="0"/>
              <a:t>User can book ride in less than 3 clicks.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A28215-F4C2-35C9-E86D-99E8392CB737}"/>
              </a:ext>
            </a:extLst>
          </p:cNvPr>
          <p:cNvSpPr txBox="1"/>
          <p:nvPr/>
        </p:nvSpPr>
        <p:spPr>
          <a:xfrm>
            <a:off x="6096000" y="487754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Netflix</a:t>
            </a:r>
            <a:endParaRPr lang="en-US" dirty="0"/>
          </a:p>
          <a:p>
            <a:r>
              <a:rPr lang="en-US" dirty="0"/>
              <a:t>Business Need:</a:t>
            </a:r>
            <a:br>
              <a:rPr lang="en-US" dirty="0"/>
            </a:br>
            <a:r>
              <a:rPr lang="en-US" dirty="0"/>
              <a:t>Reduce churn.</a:t>
            </a:r>
          </a:p>
          <a:p>
            <a:r>
              <a:rPr lang="en-US" dirty="0"/>
              <a:t>Requirement:</a:t>
            </a:r>
            <a:br>
              <a:rPr lang="en-US" dirty="0"/>
            </a:br>
            <a:r>
              <a:rPr lang="en-US" dirty="0"/>
              <a:t>System recommends personalized content.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675878-34E3-A9ED-860C-73097E6B4DA3}"/>
              </a:ext>
            </a:extLst>
          </p:cNvPr>
          <p:cNvSpPr txBox="1"/>
          <p:nvPr/>
        </p:nvSpPr>
        <p:spPr>
          <a:xfrm>
            <a:off x="4023360" y="437640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Example</a:t>
            </a:r>
            <a:endParaRPr lang="en-PK" b="1" dirty="0"/>
          </a:p>
        </p:txBody>
      </p:sp>
      <p:pic>
        <p:nvPicPr>
          <p:cNvPr id="5122" name="Picture 2" descr="Frontiers | Automated requirements engineering framework for agile  model-driven development">
            <a:extLst>
              <a:ext uri="{FF2B5EF4-FFF2-40B4-BE49-F238E27FC236}">
                <a16:creationId xmlns:a16="http://schemas.microsoft.com/office/drawing/2014/main" id="{E6FB487B-6326-3A1A-43A3-D91AB12B5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862" y="2644997"/>
            <a:ext cx="3577837" cy="241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58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Business Requirements Document: Tips &amp; Templates | Responsive">
            <a:extLst>
              <a:ext uri="{FF2B5EF4-FFF2-40B4-BE49-F238E27FC236}">
                <a16:creationId xmlns:a16="http://schemas.microsoft.com/office/drawing/2014/main" id="{603DCF96-9542-88F6-F4D1-0C58945F7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80" y="-1"/>
            <a:ext cx="4572000" cy="655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16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TYPES OF REQUIREMENTS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826293" y="1424423"/>
            <a:ext cx="80129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Most beginner BAs confuse these — but industry separates them clearly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D1DBD-1041-69DF-2B96-A629B0C335A3}"/>
              </a:ext>
            </a:extLst>
          </p:cNvPr>
          <p:cNvSpPr txBox="1"/>
          <p:nvPr/>
        </p:nvSpPr>
        <p:spPr>
          <a:xfrm>
            <a:off x="1131252" y="1942309"/>
            <a:ext cx="4670108" cy="420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🟢 Business Requirements (WHY)</a:t>
            </a:r>
          </a:p>
          <a:p>
            <a:pPr>
              <a:lnSpc>
                <a:spcPct val="150000"/>
              </a:lnSpc>
            </a:pPr>
            <a:r>
              <a:rPr lang="en-US" dirty="0"/>
              <a:t>High-level goals from business perspective.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Examples:</a:t>
            </a:r>
          </a:p>
          <a:p>
            <a:pPr>
              <a:lnSpc>
                <a:spcPct val="150000"/>
              </a:lnSpc>
            </a:pPr>
            <a:r>
              <a:rPr lang="en-US" dirty="0"/>
              <a:t>Pakistan: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Bank wants to increase digital transactions by 30%.</a:t>
            </a:r>
          </a:p>
          <a:p>
            <a:pPr>
              <a:lnSpc>
                <a:spcPct val="150000"/>
              </a:lnSpc>
            </a:pPr>
            <a:r>
              <a:rPr lang="en-US" dirty="0"/>
              <a:t>International: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Amazon wants faster checkout experience.</a:t>
            </a:r>
          </a:p>
          <a:p>
            <a:pPr>
              <a:lnSpc>
                <a:spcPct val="150000"/>
              </a:lnSpc>
            </a:pPr>
            <a:r>
              <a:rPr lang="en-US" dirty="0"/>
              <a:t>Key Question:</a:t>
            </a:r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Why are we building this?</a:t>
            </a:r>
            <a:endParaRPr lang="en-US" dirty="0"/>
          </a:p>
        </p:txBody>
      </p:sp>
      <p:pic>
        <p:nvPicPr>
          <p:cNvPr id="1028" name="Picture 4" descr="Digital Business Strategy Infographic Powerpoint Template and ...">
            <a:extLst>
              <a:ext uri="{FF2B5EF4-FFF2-40B4-BE49-F238E27FC236}">
                <a16:creationId xmlns:a16="http://schemas.microsoft.com/office/drawing/2014/main" id="{596B2BB6-9AD2-4144-4CF4-ECABA4E6A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840" y="1582026"/>
            <a:ext cx="7294880" cy="474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TYPES OF REQUIREMENTS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826293" y="1424423"/>
            <a:ext cx="80129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Most beginner BAs confuse these — but industry separates them clearly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97CAE00-7E89-9236-47DF-AAEBA50EA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" y="2088784"/>
            <a:ext cx="5085080" cy="4204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🔵 Functional Requirements (WHAT SYSTEM DOES)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System behaviours or features.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Pakistan: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 can transfer money via </a:t>
            </a:r>
            <a:r>
              <a:rPr kumimoji="0" lang="en-PK" altLang="en-P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JazzCash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PK" altLang="en-PK" b="1" dirty="0">
                <a:latin typeface="+mj-lt"/>
              </a:rPr>
              <a:t>Customer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can add property in real estate CRM.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International: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Uber calculates fare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Format Example: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“System shall allow user to login using email.”</a:t>
            </a:r>
          </a:p>
        </p:txBody>
      </p:sp>
      <p:pic>
        <p:nvPicPr>
          <p:cNvPr id="8194" name="Picture 2" descr="User Flow for App Development: A Beginner's Guide | by Keith Shields w/  Designli | Medium">
            <a:extLst>
              <a:ext uri="{FF2B5EF4-FFF2-40B4-BE49-F238E27FC236}">
                <a16:creationId xmlns:a16="http://schemas.microsoft.com/office/drawing/2014/main" id="{8A9CD8D7-DEB4-9BB7-687A-6F96C0959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029" y="2088784"/>
            <a:ext cx="5430520" cy="416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49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TYPES OF REQUIREMENTS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E2F8EE-F958-6414-C77F-DF8E11F98394}"/>
              </a:ext>
            </a:extLst>
          </p:cNvPr>
          <p:cNvSpPr txBox="1"/>
          <p:nvPr/>
        </p:nvSpPr>
        <p:spPr>
          <a:xfrm>
            <a:off x="709454" y="1395375"/>
            <a:ext cx="9560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🟣 Non-Functional Requirements (HOW WELL SYSTEM WORKS)</a:t>
            </a:r>
          </a:p>
          <a:p>
            <a:r>
              <a:rPr lang="en-US" dirty="0"/>
              <a:t>Quality attributes.</a:t>
            </a:r>
          </a:p>
          <a:p>
            <a:endParaRPr lang="en-US" dirty="0"/>
          </a:p>
          <a:p>
            <a:r>
              <a:rPr lang="en-US" b="1" u="sng" dirty="0"/>
              <a:t>Examples: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5710577-1E72-BDAB-9621-DB5BB9A24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106077"/>
              </p:ext>
            </p:extLst>
          </p:nvPr>
        </p:nvGraphicFramePr>
        <p:xfrm>
          <a:off x="785812" y="2657203"/>
          <a:ext cx="5559266" cy="1828800"/>
        </p:xfrm>
        <a:graphic>
          <a:graphicData uri="http://schemas.openxmlformats.org/drawingml/2006/table">
            <a:tbl>
              <a:tblPr/>
              <a:tblGrid>
                <a:gridCol w="2779633">
                  <a:extLst>
                    <a:ext uri="{9D8B030D-6E8A-4147-A177-3AD203B41FA5}">
                      <a16:colId xmlns:a16="http://schemas.microsoft.com/office/drawing/2014/main" val="1125505745"/>
                    </a:ext>
                  </a:extLst>
                </a:gridCol>
                <a:gridCol w="2779633">
                  <a:extLst>
                    <a:ext uri="{9D8B030D-6E8A-4147-A177-3AD203B41FA5}">
                      <a16:colId xmlns:a16="http://schemas.microsoft.com/office/drawing/2014/main" val="2695862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469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 loads in &lt; 2 seconds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46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OTP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764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Usability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Mobile responsive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442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99.9% uptime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89246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9E6762C-A5FD-538C-33F1-B5D7D24CF9EF}"/>
              </a:ext>
            </a:extLst>
          </p:cNvPr>
          <p:cNvSpPr txBox="1"/>
          <p:nvPr/>
        </p:nvSpPr>
        <p:spPr>
          <a:xfrm>
            <a:off x="785812" y="4851647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Pakistan Example:</a:t>
            </a:r>
            <a:br>
              <a:rPr lang="en-US" sz="1600" dirty="0"/>
            </a:br>
            <a:r>
              <a:rPr lang="en-US" sz="1600" dirty="0"/>
              <a:t>NADRA portal must handle high traffic securely.</a:t>
            </a:r>
          </a:p>
          <a:p>
            <a:r>
              <a:rPr lang="en-US" sz="1600" b="1" dirty="0"/>
              <a:t>International Example:</a:t>
            </a:r>
            <a:br>
              <a:rPr lang="en-US" sz="1600" dirty="0"/>
            </a:br>
            <a:r>
              <a:rPr lang="en-US" sz="1600" dirty="0"/>
              <a:t>PayPal requires high security standards.</a:t>
            </a:r>
          </a:p>
        </p:txBody>
      </p:sp>
      <p:pic>
        <p:nvPicPr>
          <p:cNvPr id="2050" name="Picture 2" descr="Non-Functional Requirements: Types, Examples &amp; Best Practices">
            <a:extLst>
              <a:ext uri="{FF2B5EF4-FFF2-40B4-BE49-F238E27FC236}">
                <a16:creationId xmlns:a16="http://schemas.microsoft.com/office/drawing/2014/main" id="{79D05A58-CC11-DE42-B207-697F4D910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02766"/>
            <a:ext cx="5979795" cy="329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336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TYPES OF REQUIREMENTS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Functional and Nonfunctional Requirements: Specification and Types | by  AltexSoft Inc | Prototypr">
            <a:extLst>
              <a:ext uri="{FF2B5EF4-FFF2-40B4-BE49-F238E27FC236}">
                <a16:creationId xmlns:a16="http://schemas.microsoft.com/office/drawing/2014/main" id="{B99C1F43-3E64-5172-DF88-AE22AFBCF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0887"/>
            <a:ext cx="12139612" cy="560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80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52" y="33054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REQUIREMENTS</a:t>
            </a:r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LIFECYCLE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3514F5-5B6E-15A6-C295-8DE1E984345B}"/>
              </a:ext>
            </a:extLst>
          </p:cNvPr>
          <p:cNvSpPr txBox="1"/>
          <p:nvPr/>
        </p:nvSpPr>
        <p:spPr>
          <a:xfrm>
            <a:off x="1056640" y="11957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b="1" dirty="0"/>
              <a:t>Elicit → </a:t>
            </a:r>
            <a:r>
              <a:rPr lang="en-PK" b="1" dirty="0" err="1"/>
              <a:t>Analyze</a:t>
            </a:r>
            <a:r>
              <a:rPr lang="en-PK" b="1" dirty="0"/>
              <a:t> → Document → Validate → Manage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CADF09-5459-736C-64B6-B00DED0CDD7F}"/>
              </a:ext>
            </a:extLst>
          </p:cNvPr>
          <p:cNvSpPr txBox="1"/>
          <p:nvPr/>
        </p:nvSpPr>
        <p:spPr>
          <a:xfrm>
            <a:off x="714692" y="1616473"/>
            <a:ext cx="407066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🟠 Elicitation</a:t>
            </a:r>
          </a:p>
          <a:p>
            <a:pPr>
              <a:lnSpc>
                <a:spcPct val="150000"/>
              </a:lnSpc>
            </a:pPr>
            <a:r>
              <a:rPr lang="en-US" dirty="0"/>
              <a:t>Gather requirements.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BA interviews Careem operations team.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6805F9-C61C-D9C9-CDC5-5CE2AD086510}"/>
              </a:ext>
            </a:extLst>
          </p:cNvPr>
          <p:cNvSpPr txBox="1"/>
          <p:nvPr/>
        </p:nvSpPr>
        <p:spPr>
          <a:xfrm>
            <a:off x="5931852" y="1570063"/>
            <a:ext cx="461422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🟡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Understand feasibility.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Developer says feature needs API integration.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65567D-BCE5-CEF6-ED48-BBD5BD8CEE2F}"/>
              </a:ext>
            </a:extLst>
          </p:cNvPr>
          <p:cNvSpPr txBox="1"/>
          <p:nvPr/>
        </p:nvSpPr>
        <p:spPr>
          <a:xfrm>
            <a:off x="674052" y="3307266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🟢 Documentation</a:t>
            </a:r>
          </a:p>
          <a:p>
            <a:pPr>
              <a:lnSpc>
                <a:spcPct val="150000"/>
              </a:lnSpc>
            </a:pPr>
            <a:r>
              <a:rPr lang="en-US" dirty="0"/>
              <a:t>Write requirements clearly.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BRD, User Stories (coming in Week 6).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CC1A10-A625-4AB6-A3F9-918942D08895}"/>
              </a:ext>
            </a:extLst>
          </p:cNvPr>
          <p:cNvSpPr txBox="1"/>
          <p:nvPr/>
        </p:nvSpPr>
        <p:spPr>
          <a:xfrm>
            <a:off x="674052" y="4889486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🔵 Validation</a:t>
            </a:r>
          </a:p>
          <a:p>
            <a:pPr>
              <a:lnSpc>
                <a:spcPct val="150000"/>
              </a:lnSpc>
            </a:pPr>
            <a:r>
              <a:rPr lang="en-US" dirty="0"/>
              <a:t>Confirm with stakeholders.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Client signs off feature scope.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B683DE-358E-84A2-F76C-631B3BCD04CB}"/>
              </a:ext>
            </a:extLst>
          </p:cNvPr>
          <p:cNvSpPr txBox="1"/>
          <p:nvPr/>
        </p:nvSpPr>
        <p:spPr>
          <a:xfrm>
            <a:off x="5931852" y="3307266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PK" b="1" dirty="0"/>
              <a:t>🟣 </a:t>
            </a:r>
            <a:r>
              <a:rPr lang="en-US" b="1" dirty="0"/>
              <a:t>Management</a:t>
            </a:r>
          </a:p>
          <a:p>
            <a:pPr>
              <a:lnSpc>
                <a:spcPct val="150000"/>
              </a:lnSpc>
            </a:pPr>
            <a:r>
              <a:rPr lang="en-US" dirty="0"/>
              <a:t>Handle changes.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Client requests UI change mid-project.</a:t>
            </a:r>
          </a:p>
        </p:txBody>
      </p:sp>
    </p:spTree>
    <p:extLst>
      <p:ext uri="{BB962C8B-B14F-4D97-AF65-F5344CB8AC3E}">
        <p14:creationId xmlns:p14="http://schemas.microsoft.com/office/powerpoint/2010/main" val="1428968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52" y="21304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REQUIREMENTS</a:t>
            </a:r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LIFECYCLE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Understanding the Business Analysis Life Cycle | Diwakar Singh ...">
            <a:extLst>
              <a:ext uri="{FF2B5EF4-FFF2-40B4-BE49-F238E27FC236}">
                <a16:creationId xmlns:a16="http://schemas.microsoft.com/office/drawing/2014/main" id="{11C6E39A-6894-0EA3-D6AF-6468EF38F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52" y="919767"/>
            <a:ext cx="4050665" cy="552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Four Stages of Requirements Management Processes - Jama Software">
            <a:extLst>
              <a:ext uri="{FF2B5EF4-FFF2-40B4-BE49-F238E27FC236}">
                <a16:creationId xmlns:a16="http://schemas.microsoft.com/office/drawing/2014/main" id="{1DEB84D4-EA71-FBFA-4E65-84D5253E4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407" y="919766"/>
            <a:ext cx="6774132" cy="526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172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56727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CHARACTERISTICS OF GOOD REQUIREMENTS (QUALITY STANDARDS)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826294" y="1091677"/>
            <a:ext cx="6096000" cy="2540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good requirement must be:</a:t>
            </a:r>
          </a:p>
          <a:p>
            <a:pPr>
              <a:lnSpc>
                <a:spcPct val="150000"/>
              </a:lnSpc>
            </a:pPr>
            <a:r>
              <a:rPr lang="en-US" dirty="0"/>
              <a:t>✔ Clear</a:t>
            </a:r>
            <a:br>
              <a:rPr lang="en-US" dirty="0"/>
            </a:br>
            <a:r>
              <a:rPr lang="en-US" dirty="0"/>
              <a:t>✔ Testable</a:t>
            </a:r>
            <a:br>
              <a:rPr lang="en-US" dirty="0"/>
            </a:br>
            <a:r>
              <a:rPr lang="en-US" dirty="0"/>
              <a:t>✔ Measurable</a:t>
            </a:r>
            <a:br>
              <a:rPr lang="en-US" dirty="0"/>
            </a:br>
            <a:r>
              <a:rPr lang="en-US" dirty="0"/>
              <a:t>✔ Feasible</a:t>
            </a:r>
            <a:br>
              <a:rPr lang="en-US" dirty="0"/>
            </a:br>
            <a:r>
              <a:rPr lang="en-US" dirty="0"/>
              <a:t>✔ Unambiguous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F4F54-D960-E6B6-32E9-EAC60B34C7F8}"/>
              </a:ext>
            </a:extLst>
          </p:cNvPr>
          <p:cNvSpPr txBox="1"/>
          <p:nvPr/>
        </p:nvSpPr>
        <p:spPr>
          <a:xfrm>
            <a:off x="826294" y="4251482"/>
            <a:ext cx="6096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🔴 Bad Requirement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“System should be fast.”</a:t>
            </a:r>
          </a:p>
          <a:p>
            <a:pPr>
              <a:lnSpc>
                <a:spcPct val="150000"/>
              </a:lnSpc>
            </a:pPr>
            <a:r>
              <a:rPr lang="en-US" dirty="0"/>
              <a:t>Ask students:</a:t>
            </a:r>
          </a:p>
          <a:p>
            <a:pPr>
              <a:lnSpc>
                <a:spcPct val="150000"/>
              </a:lnSpc>
            </a:pPr>
            <a:r>
              <a:rPr lang="en-US" dirty="0"/>
              <a:t>👉 “What does fast mean?”</a:t>
            </a:r>
          </a:p>
          <a:p>
            <a:pPr>
              <a:lnSpc>
                <a:spcPct val="150000"/>
              </a:lnSpc>
            </a:pPr>
            <a:r>
              <a:rPr lang="en-US" dirty="0"/>
              <a:t>This teaches ambiguity.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6E29E4-D9A5-1602-7E59-D1C02D0B014F}"/>
              </a:ext>
            </a:extLst>
          </p:cNvPr>
          <p:cNvSpPr txBox="1"/>
          <p:nvPr/>
        </p:nvSpPr>
        <p:spPr>
          <a:xfrm>
            <a:off x="6043612" y="4266122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🟢 Good Requirement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“System should load dashboard within 2 seconds for 1,000 concurrent users.”</a:t>
            </a:r>
          </a:p>
        </p:txBody>
      </p:sp>
    </p:spTree>
    <p:extLst>
      <p:ext uri="{BB962C8B-B14F-4D97-AF65-F5344CB8AC3E}">
        <p14:creationId xmlns:p14="http://schemas.microsoft.com/office/powerpoint/2010/main" val="2747938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9590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CHARACTERISTICS OF GOOD REQUIREMENTS (QUALITY STANDARDS)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Smart Goals Process Infographic Template - Venngage">
            <a:extLst>
              <a:ext uri="{FF2B5EF4-FFF2-40B4-BE49-F238E27FC236}">
                <a16:creationId xmlns:a16="http://schemas.microsoft.com/office/drawing/2014/main" id="{38EDC26F-8F56-4AFD-4C80-A94087E92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88" y="853439"/>
            <a:ext cx="10361612" cy="5999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454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92" y="398951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REAL INDUSTRY SCENARIO 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23C3FAD-73B2-955D-8670-0B8C8E0DF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" y="1407427"/>
            <a:ext cx="5086585" cy="4204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Pakistan Case – Fintech App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Client says: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“Make app more user-friendly.”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 must convert into: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Functional: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Add quick transfer button.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Non-Functional: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Reduce loading time to 1.5 seconds.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Lesson:</a:t>
            </a:r>
            <a:b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 translates vague ideas into precise requirements.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ED9CC6-C193-C410-4C68-A7E429A6388E}"/>
              </a:ext>
            </a:extLst>
          </p:cNvPr>
          <p:cNvSpPr txBox="1"/>
          <p:nvPr/>
        </p:nvSpPr>
        <p:spPr>
          <a:xfrm>
            <a:off x="6390725" y="1393898"/>
            <a:ext cx="6096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International Case – Spotify</a:t>
            </a:r>
          </a:p>
          <a:p>
            <a:pPr>
              <a:lnSpc>
                <a:spcPct val="150000"/>
              </a:lnSpc>
            </a:pPr>
            <a:r>
              <a:rPr lang="en-US" dirty="0"/>
              <a:t>Requirement:</a:t>
            </a:r>
          </a:p>
          <a:p>
            <a:pPr>
              <a:lnSpc>
                <a:spcPct val="150000"/>
              </a:lnSpc>
            </a:pPr>
            <a:r>
              <a:rPr lang="en-US" dirty="0"/>
              <a:t>Functional: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can create playlist.</a:t>
            </a:r>
          </a:p>
          <a:p>
            <a:pPr>
              <a:lnSpc>
                <a:spcPct val="150000"/>
              </a:lnSpc>
            </a:pPr>
            <a:r>
              <a:rPr lang="en-US" dirty="0"/>
              <a:t>Non-Functional: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Playlist sync across devices instantly.</a:t>
            </a:r>
          </a:p>
        </p:txBody>
      </p:sp>
      <p:pic>
        <p:nvPicPr>
          <p:cNvPr id="3075" name="Picture 3" descr="Intuitive Mobile Dashboard UI: 4 Best Practices | Toptal®">
            <a:extLst>
              <a:ext uri="{FF2B5EF4-FFF2-40B4-BE49-F238E27FC236}">
                <a16:creationId xmlns:a16="http://schemas.microsoft.com/office/drawing/2014/main" id="{D35344D5-55D9-581B-C729-53F3A775E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294" y="4300485"/>
            <a:ext cx="4660106" cy="208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666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492" y="45466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REQUIREMENT PYRAMID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1159906" y="5701784"/>
            <a:ext cx="9872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266700"/>
            <a:r>
              <a:rPr lang="en-US" dirty="0"/>
              <a:t>Business drives functional → Functional defines system → Non-functional defines quality.</a:t>
            </a:r>
          </a:p>
        </p:txBody>
      </p:sp>
      <p:pic>
        <p:nvPicPr>
          <p:cNvPr id="11266" name="Picture 2" descr="Understanding the Hierarchy of Requirements | Gokul M Anil, PSPO, CPRE  posted on the topic | LinkedIn">
            <a:extLst>
              <a:ext uri="{FF2B5EF4-FFF2-40B4-BE49-F238E27FC236}">
                <a16:creationId xmlns:a16="http://schemas.microsoft.com/office/drawing/2014/main" id="{E9EA509C-7409-3D8C-4110-EC5878EDB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92" y="1302311"/>
            <a:ext cx="6883358" cy="387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672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67717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MINI CASE STUDY (INTERACTIVE DISCUSSION)</a:t>
            </a:r>
            <a:br>
              <a:rPr lang="en-US" b="1" dirty="0"/>
            </a:b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674052" y="1419989"/>
            <a:ext cx="8948738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Scenario: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Daraz</a:t>
            </a:r>
            <a:r>
              <a:rPr lang="en-US" dirty="0"/>
              <a:t> wants to improve checkout experience.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r>
              <a:rPr lang="en-US" dirty="0"/>
              <a:t>What are the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Business requirement?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Functional requirement?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Non-functional requirement?</a:t>
            </a:r>
          </a:p>
        </p:txBody>
      </p:sp>
      <p:pic>
        <p:nvPicPr>
          <p:cNvPr id="12290" name="Picture 2" descr="20 Best eCommerce Checkout Practices You Should Consider">
            <a:extLst>
              <a:ext uri="{FF2B5EF4-FFF2-40B4-BE49-F238E27FC236}">
                <a16:creationId xmlns:a16="http://schemas.microsoft.com/office/drawing/2014/main" id="{B7B62DA7-8085-09C4-14E7-7C00CEE99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112" y="2559250"/>
            <a:ext cx="5828687" cy="319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Browse thousands of Checkout Screen Mobile UI images for design inspiration  | Dribbble">
            <a:extLst>
              <a:ext uri="{FF2B5EF4-FFF2-40B4-BE49-F238E27FC236}">
                <a16:creationId xmlns:a16="http://schemas.microsoft.com/office/drawing/2014/main" id="{6E4A7A63-EC89-30BE-B77B-D83F8BA55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150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67717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KEY TERMINOLOGY STUDENTS MUST LEARN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6D0AF2-D0B2-639D-D672-5B9F82996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1" y="1330960"/>
            <a:ext cx="11530385" cy="476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4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27409</TotalTime>
  <Words>693</Words>
  <Application>Microsoft Macintosh PowerPoint</Application>
  <PresentationFormat>Widescreen</PresentationFormat>
  <Paragraphs>155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Learning Objectives – WEEK 4 </vt:lpstr>
      <vt:lpstr>WHAT ARE REQUIREMENTS?  </vt:lpstr>
      <vt:lpstr>PowerPoint Presentation</vt:lpstr>
      <vt:lpstr>TYPES OF REQUIREMENTS  </vt:lpstr>
      <vt:lpstr>TYPES OF REQUIREMENTS  </vt:lpstr>
      <vt:lpstr>TYPES OF REQUIREMENTS  </vt:lpstr>
      <vt:lpstr>TYPES OF REQUIREMENTS  </vt:lpstr>
      <vt:lpstr>REQUIREMENTS LIFECYCLE</vt:lpstr>
      <vt:lpstr>REQUIREMENTS LIFECYCLE</vt:lpstr>
      <vt:lpstr>CHARACTERISTICS OF GOOD REQUIREMENTS (QUALITY STANDARDS)</vt:lpstr>
      <vt:lpstr>CHARACTERISTICS OF GOOD REQUIREMENTS (QUALITY STANDARDS)</vt:lpstr>
      <vt:lpstr>REAL INDUSTRY SCENARIO </vt:lpstr>
      <vt:lpstr>REQUIREMENT PYRAMID</vt:lpstr>
      <vt:lpstr>MINI CASE STUDY (INTERACTIVE DISCUSSION) </vt:lpstr>
      <vt:lpstr>KEY TERMINOLOGY STUDENTS MUST LEARN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140</cp:revision>
  <dcterms:created xsi:type="dcterms:W3CDTF">2024-06-09T07:08:43Z</dcterms:created>
  <dcterms:modified xsi:type="dcterms:W3CDTF">2026-02-20T08:57:50Z</dcterms:modified>
</cp:coreProperties>
</file>