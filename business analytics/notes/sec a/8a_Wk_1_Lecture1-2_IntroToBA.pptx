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28"/>
  </p:notesMasterIdLst>
  <p:sldIdLst>
    <p:sldId id="256" r:id="rId2"/>
    <p:sldId id="345" r:id="rId3"/>
    <p:sldId id="322" r:id="rId4"/>
    <p:sldId id="330" r:id="rId5"/>
    <p:sldId id="355" r:id="rId6"/>
    <p:sldId id="332" r:id="rId7"/>
    <p:sldId id="334" r:id="rId8"/>
    <p:sldId id="358" r:id="rId9"/>
    <p:sldId id="356" r:id="rId10"/>
    <p:sldId id="357" r:id="rId11"/>
    <p:sldId id="347" r:id="rId12"/>
    <p:sldId id="359" r:id="rId13"/>
    <p:sldId id="360" r:id="rId14"/>
    <p:sldId id="362" r:id="rId15"/>
    <p:sldId id="363" r:id="rId16"/>
    <p:sldId id="369" r:id="rId17"/>
    <p:sldId id="348" r:id="rId18"/>
    <p:sldId id="346" r:id="rId19"/>
    <p:sldId id="372" r:id="rId20"/>
    <p:sldId id="371" r:id="rId21"/>
    <p:sldId id="364" r:id="rId22"/>
    <p:sldId id="365" r:id="rId23"/>
    <p:sldId id="366" r:id="rId24"/>
    <p:sldId id="367" r:id="rId25"/>
    <p:sldId id="368" r:id="rId26"/>
    <p:sldId id="370" r:id="rId2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09" autoAdjust="0"/>
    <p:restoredTop sz="94741"/>
  </p:normalViewPr>
  <p:slideViewPr>
    <p:cSldViewPr snapToGrid="0">
      <p:cViewPr varScale="1">
        <p:scale>
          <a:sx n="90" d="100"/>
          <a:sy n="90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2/20/26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5630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0168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0961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2612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0075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334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4116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86600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3632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96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2/20/26 1:54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2/20/26 1:54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2/20/26 1:54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2/20/26 1:54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2/20/26 1:54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2/20/26 1:54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2/20/26 1:54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2/20/26 1:54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2/20/26 1:54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2/20/26 1:54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2/20/26 1:54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2/20/26 1:54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964406" y="840384"/>
            <a:ext cx="9144000" cy="299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dirty="0"/>
            </a:br>
            <a:br>
              <a:rPr lang="en-US" dirty="0"/>
            </a:br>
            <a:r>
              <a:rPr lang="en-US" sz="4400" dirty="0"/>
              <a:t>Introduction to Business Analysis and Core Business Functions</a:t>
            </a:r>
            <a:endParaRPr lang="en-PK" dirty="0"/>
          </a:p>
        </p:txBody>
      </p:sp>
      <p:pic>
        <p:nvPicPr>
          <p:cNvPr id="2" name="Picture 1" descr="https://mir-s3-cdn-cf.behance.net/project_modules/1400_opt_1/c4c95797092699.5ebd2616ea612.jpg">
            <a:extLst>
              <a:ext uri="{FF2B5EF4-FFF2-40B4-BE49-F238E27FC236}">
                <a16:creationId xmlns:a16="http://schemas.microsoft.com/office/drawing/2014/main" id="{46681272-A99C-CB0B-1B3C-5C89667A8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556" y="3259137"/>
            <a:ext cx="37465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BUSINESS ANALYSIS COURSE OBJECTIVES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6A9466E1-9388-A232-5545-B83621453B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15796"/>
            <a:ext cx="10678064" cy="4570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/>
              <a:t>By the end of the course, students will be able to: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58775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 and scope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business analysis in organizations</a:t>
            </a:r>
          </a:p>
          <a:p>
            <a:pPr marL="358775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Analyze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business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models, structures, and functional areas</a:t>
            </a:r>
          </a:p>
          <a:p>
            <a:pPr marL="358775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and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manage stakeholders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effectively</a:t>
            </a:r>
          </a:p>
          <a:p>
            <a:pPr marL="358775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Elicit, document, and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validate business requirements</a:t>
            </a:r>
          </a:p>
          <a:p>
            <a:pPr marL="358775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and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improve business processes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standard techniques</a:t>
            </a:r>
          </a:p>
          <a:p>
            <a:pPr marL="358775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data and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support decision-making</a:t>
            </a:r>
          </a:p>
          <a:p>
            <a:pPr marL="358775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Communicate insights through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reports and visualizations</a:t>
            </a:r>
          </a:p>
          <a:p>
            <a:pPr marL="358775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business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analysis practices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Agile environments</a:t>
            </a:r>
          </a:p>
          <a:p>
            <a:pPr marL="358775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ethical and professional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</a:t>
            </a:r>
          </a:p>
          <a:p>
            <a:pPr marL="358775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a real-world business analysis project.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379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BUSINESS ANALYTICS COURSE SCOPE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ED4688-4941-5A07-3A0F-CC938ACE6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9377"/>
              </p:ext>
            </p:extLst>
          </p:nvPr>
        </p:nvGraphicFramePr>
        <p:xfrm>
          <a:off x="838198" y="1637389"/>
          <a:ext cx="8334375" cy="4503897"/>
        </p:xfrm>
        <a:graphic>
          <a:graphicData uri="http://schemas.openxmlformats.org/drawingml/2006/table">
            <a:tbl>
              <a:tblPr/>
              <a:tblGrid>
                <a:gridCol w="2205038">
                  <a:extLst>
                    <a:ext uri="{9D8B030D-6E8A-4147-A177-3AD203B41FA5}">
                      <a16:colId xmlns:a16="http://schemas.microsoft.com/office/drawing/2014/main" val="1176496577"/>
                    </a:ext>
                  </a:extLst>
                </a:gridCol>
                <a:gridCol w="6129337">
                  <a:extLst>
                    <a:ext uri="{9D8B030D-6E8A-4147-A177-3AD203B41FA5}">
                      <a16:colId xmlns:a16="http://schemas.microsoft.com/office/drawing/2014/main" val="2690518177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 to Business Analysis, BA vs DA vs BI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61812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 Functions, Business Models, Terminology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36922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Stakeholders, Communication &amp; Conflict Management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208390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Requirements Types &amp; Quality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77075"/>
                  </a:ext>
                </a:extLst>
              </a:tr>
              <a:tr h="490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WEEK 5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Elicitation Techniques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781787"/>
                  </a:ext>
                </a:extLst>
              </a:tr>
              <a:tr h="4786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WEEK 6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Documentation (BRD, SRS, User Stories)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408714"/>
                  </a:ext>
                </a:extLst>
              </a:tr>
              <a:tr h="1196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WEEK 7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Modeling (AS-IS/TO-BE, BPMN)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38122"/>
                  </a:ext>
                </a:extLst>
              </a:tr>
              <a:tr h="2461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WEEK 8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Improvement &amp; Root Cause Analysis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186734"/>
                  </a:ext>
                </a:extLst>
              </a:tr>
              <a:tr h="1264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WEEK 9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Types of Analytics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002467"/>
                  </a:ext>
                </a:extLst>
              </a:tr>
              <a:tr h="1196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WEEK 10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KPIs &amp; Business Metrics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956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80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BUSINESS ANALYTICS COURSE SCOPE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ED4688-4941-5A07-3A0F-CC938ACE6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874210"/>
              </p:ext>
            </p:extLst>
          </p:nvPr>
        </p:nvGraphicFramePr>
        <p:xfrm>
          <a:off x="838198" y="1637389"/>
          <a:ext cx="8334375" cy="2071688"/>
        </p:xfrm>
        <a:graphic>
          <a:graphicData uri="http://schemas.openxmlformats.org/drawingml/2006/table">
            <a:tbl>
              <a:tblPr/>
              <a:tblGrid>
                <a:gridCol w="2205038">
                  <a:extLst>
                    <a:ext uri="{9D8B030D-6E8A-4147-A177-3AD203B41FA5}">
                      <a16:colId xmlns:a16="http://schemas.microsoft.com/office/drawing/2014/main" val="1176496577"/>
                    </a:ext>
                  </a:extLst>
                </a:gridCol>
                <a:gridCol w="6129337">
                  <a:extLst>
                    <a:ext uri="{9D8B030D-6E8A-4147-A177-3AD203B41FA5}">
                      <a16:colId xmlns:a16="http://schemas.microsoft.com/office/drawing/2014/main" val="2690518177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WEEK 11</a:t>
                      </a:r>
                      <a:endParaRPr lang="en-PK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Visualization Tools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61812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WEEK 12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Reporting &amp; Data Storytelling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36922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WEEK 13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 in Agile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208390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WEEK 14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Ethics &amp; Professional Conduct</a:t>
                      </a:r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77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129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TEACHING METHODOLOGY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19"/>
            <a:ext cx="10515600" cy="3627438"/>
          </a:xfrm>
        </p:spPr>
        <p:txBody>
          <a:bodyPr>
            <a:normAutofit lnSpcReduction="10000"/>
          </a:bodyPr>
          <a:lstStyle/>
          <a:p>
            <a:pPr lvl="1" indent="-685800">
              <a:lnSpc>
                <a:spcPct val="150000"/>
              </a:lnSpc>
            </a:pPr>
            <a:r>
              <a:rPr lang="en-US" sz="2000" dirty="0"/>
              <a:t>Lectures on business analysis (industry oriented)</a:t>
            </a:r>
          </a:p>
          <a:p>
            <a:pPr marL="717550" indent="-717550"/>
            <a:r>
              <a:rPr lang="en-US" sz="2000" dirty="0"/>
              <a:t>Real-world problem solving</a:t>
            </a:r>
          </a:p>
          <a:p>
            <a:pPr lvl="1" indent="-685800">
              <a:lnSpc>
                <a:spcPct val="150000"/>
              </a:lnSpc>
            </a:pPr>
            <a:r>
              <a:rPr lang="en-US" sz="2000" dirty="0"/>
              <a:t>Student participation through presentations</a:t>
            </a:r>
          </a:p>
          <a:p>
            <a:pPr lvl="1" indent="-685800">
              <a:lnSpc>
                <a:spcPct val="150000"/>
              </a:lnSpc>
            </a:pPr>
            <a:r>
              <a:rPr lang="en-US" sz="2000" dirty="0"/>
              <a:t>Learning methods</a:t>
            </a:r>
          </a:p>
          <a:p>
            <a:pPr lvl="2" indent="-685800">
              <a:lnSpc>
                <a:spcPct val="150000"/>
              </a:lnSpc>
            </a:pPr>
            <a:r>
              <a:rPr lang="en-US" sz="1600" dirty="0"/>
              <a:t>Skill-focused</a:t>
            </a:r>
          </a:p>
          <a:p>
            <a:pPr lvl="2" indent="-685800">
              <a:lnSpc>
                <a:spcPct val="150000"/>
              </a:lnSpc>
            </a:pPr>
            <a:r>
              <a:rPr lang="en-US" sz="1600" dirty="0"/>
              <a:t>Analytical focused</a:t>
            </a:r>
          </a:p>
          <a:p>
            <a:pPr lvl="2" indent="-685800">
              <a:lnSpc>
                <a:spcPct val="150000"/>
              </a:lnSpc>
            </a:pPr>
            <a:r>
              <a:rPr lang="en-US" sz="1600" dirty="0"/>
              <a:t>Groups and teams</a:t>
            </a:r>
          </a:p>
          <a:p>
            <a:pPr lvl="2" indent="-685800">
              <a:lnSpc>
                <a:spcPct val="150000"/>
              </a:lnSpc>
            </a:pPr>
            <a:r>
              <a:rPr lang="en-US" sz="1600" dirty="0"/>
              <a:t>Project-based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EVALUATION METHOD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 lnSpcReduction="10000"/>
          </a:bodyPr>
          <a:lstStyle/>
          <a:p>
            <a:pPr lvl="1" indent="-685800">
              <a:lnSpc>
                <a:spcPct val="150000"/>
              </a:lnSpc>
            </a:pPr>
            <a:r>
              <a:rPr lang="en-US" sz="2000" dirty="0"/>
              <a:t>Quizzes – 5%</a:t>
            </a:r>
          </a:p>
          <a:p>
            <a:pPr lvl="1" indent="-685800">
              <a:lnSpc>
                <a:spcPct val="150000"/>
              </a:lnSpc>
            </a:pPr>
            <a:r>
              <a:rPr lang="en-US" sz="2000" dirty="0"/>
              <a:t>Short Assignments – 5%</a:t>
            </a:r>
          </a:p>
          <a:p>
            <a:pPr lvl="1" indent="-685800">
              <a:lnSpc>
                <a:spcPct val="150000"/>
              </a:lnSpc>
            </a:pPr>
            <a:r>
              <a:rPr lang="en-US" sz="2000" dirty="0"/>
              <a:t>Midterm Examination I – 15%</a:t>
            </a:r>
          </a:p>
          <a:p>
            <a:pPr lvl="1" indent="-685800">
              <a:lnSpc>
                <a:spcPct val="150000"/>
              </a:lnSpc>
            </a:pPr>
            <a:r>
              <a:rPr lang="en-US" sz="2000" dirty="0"/>
              <a:t>Midterm Examination II – 15%</a:t>
            </a:r>
          </a:p>
          <a:p>
            <a:pPr lvl="1" indent="-685800">
              <a:lnSpc>
                <a:spcPct val="150000"/>
              </a:lnSpc>
            </a:pPr>
            <a:r>
              <a:rPr lang="en-US" sz="2000" dirty="0"/>
              <a:t>Business-related Assignment &amp; Report – 10%</a:t>
            </a:r>
          </a:p>
          <a:p>
            <a:pPr lvl="1" indent="-685800">
              <a:lnSpc>
                <a:spcPct val="150000"/>
              </a:lnSpc>
            </a:pPr>
            <a:r>
              <a:rPr lang="en-US" sz="2000" dirty="0"/>
              <a:t>Presentation – 10%</a:t>
            </a:r>
          </a:p>
          <a:p>
            <a:pPr lvl="1" indent="-685800">
              <a:lnSpc>
                <a:spcPct val="150000"/>
              </a:lnSpc>
            </a:pPr>
            <a:r>
              <a:rPr lang="en-US" sz="2000" dirty="0"/>
              <a:t>Final Examination – 40%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298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SEMESTER PROJECT OVERVIEW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endParaRPr lang="en-US" sz="2000" dirty="0"/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Real business scenario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Problem identification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Analysis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Proposed solution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Presentation &amp; report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94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Why This Course Matters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Organizations fail due to poor understanding of needs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Business Analysts reduce this gap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High-demand role globally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Bridge between business and technology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72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1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Understand course structure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Define Business Analysis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Understand BA responsibilities</a:t>
            </a:r>
          </a:p>
          <a:p>
            <a:pPr marL="342900" lvl="1" indent="-342900">
              <a:lnSpc>
                <a:spcPct val="150000"/>
              </a:lnSpc>
            </a:pPr>
            <a:r>
              <a:rPr lang="en-US" sz="2000" dirty="0"/>
              <a:t>Differentiate BA, DA, BI, Business Analytics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WHAT IS BUSINESS ANALYSIS?</a:t>
            </a:r>
            <a:br>
              <a:rPr lang="en-US" b="1" dirty="0"/>
            </a:br>
            <a:b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sz="2000" dirty="0">
                <a:solidFill>
                  <a:schemeClr val="tx1"/>
                </a:solidFill>
                <a:latin typeface="+mn-lt"/>
              </a:rPr>
              <a:t>Business Analysis is the practice of understanding business problems, identifying business needs, and recommending solutions that create value for stakeholders.</a:t>
            </a:r>
            <a:endParaRPr lang="en-PK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0CCC6F-0554-D650-1C23-49CF06D06242}"/>
              </a:ext>
            </a:extLst>
          </p:cNvPr>
          <p:cNvSpPr txBox="1"/>
          <p:nvPr/>
        </p:nvSpPr>
        <p:spPr>
          <a:xfrm>
            <a:off x="826294" y="2311326"/>
            <a:ext cx="99417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 simple words:</a:t>
            </a:r>
          </a:p>
          <a:p>
            <a:endParaRPr lang="en-US" sz="1600" dirty="0"/>
          </a:p>
          <a:p>
            <a:r>
              <a:rPr lang="en-US" sz="1600" dirty="0"/>
              <a:t>👉 Business Analysis = </a:t>
            </a:r>
            <a:r>
              <a:rPr lang="en-US" sz="1400" b="1" dirty="0"/>
              <a:t>Understanding Problems + Understanding People + Defining Needs + Recommending Solutions</a:t>
            </a:r>
            <a:br>
              <a:rPr lang="en-US" sz="1400" b="1" dirty="0"/>
            </a:br>
            <a:endParaRPr lang="en-US" sz="1600" dirty="0"/>
          </a:p>
          <a:p>
            <a:r>
              <a:rPr lang="en-US" sz="1600" dirty="0"/>
              <a:t>A Business Analyst:</a:t>
            </a:r>
          </a:p>
          <a:p>
            <a:endParaRPr lang="en-US" sz="1600" dirty="0"/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Identifies what problem the business is facing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Understands why the problem exists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Works with stakeholders to define what is needed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Helps design solutions that solve the problem</a:t>
            </a:r>
          </a:p>
        </p:txBody>
      </p:sp>
    </p:spTree>
    <p:extLst>
      <p:ext uri="{BB962C8B-B14F-4D97-AF65-F5344CB8AC3E}">
        <p14:creationId xmlns:p14="http://schemas.microsoft.com/office/powerpoint/2010/main" val="3706582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D1D02-1E4F-1CC0-DF41-F6EB126F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4156"/>
            <a:ext cx="5257800" cy="542873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PK" sz="1600" dirty="0"/>
              <a:t>✅ </a:t>
            </a:r>
            <a:r>
              <a:rPr lang="en-US" sz="2400" dirty="0">
                <a:solidFill>
                  <a:srgbClr val="0070C0"/>
                </a:solidFill>
              </a:rPr>
              <a:t>What Business Analysis IS</a:t>
            </a:r>
          </a:p>
          <a:p>
            <a:pPr marL="0" indent="0">
              <a:buNone/>
            </a:pPr>
            <a:r>
              <a:rPr lang="en-US" sz="1600" b="1" dirty="0"/>
              <a:t>Business Analysis IS about: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Understanding business 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Understanding business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Gathering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Talking to stakeholders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Documenting needs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Improving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Supporting solution design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Think of BA as:</a:t>
            </a:r>
          </a:p>
          <a:p>
            <a:pPr marL="0" indent="0">
              <a:buNone/>
            </a:pPr>
            <a:r>
              <a:rPr lang="en-US" sz="1600" dirty="0"/>
              <a:t>🧠 Thinker</a:t>
            </a:r>
            <a:br>
              <a:rPr lang="en-US" sz="1600" dirty="0"/>
            </a:br>
            <a:r>
              <a:rPr lang="en-US" sz="1600" dirty="0"/>
              <a:t> 🗣 Communicator</a:t>
            </a:r>
            <a:br>
              <a:rPr lang="en-US" sz="1600" dirty="0"/>
            </a:br>
            <a:r>
              <a:rPr lang="en-US" sz="1600" dirty="0"/>
              <a:t>🧩 Problem Solver</a:t>
            </a:r>
            <a:br>
              <a:rPr lang="en-US" sz="1600" dirty="0"/>
            </a:br>
            <a:r>
              <a:rPr lang="en-US" sz="1600" dirty="0"/>
              <a:t>📋 Planner</a:t>
            </a:r>
          </a:p>
          <a:p>
            <a:pPr marL="0" indent="0">
              <a:buNone/>
            </a:pPr>
            <a:endParaRPr lang="en-US" sz="1600" dirty="0"/>
          </a:p>
          <a:p>
            <a:pPr>
              <a:lnSpc>
                <a:spcPct val="110000"/>
              </a:lnSpc>
            </a:pPr>
            <a:endParaRPr lang="en-US" sz="2400" dirty="0"/>
          </a:p>
          <a:p>
            <a:pPr>
              <a:lnSpc>
                <a:spcPct val="110000"/>
              </a:lnSpc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8D07A6-959F-2299-EC7B-4B2C04486E58}"/>
              </a:ext>
            </a:extLst>
          </p:cNvPr>
          <p:cNvSpPr txBox="1">
            <a:spLocks/>
          </p:cNvSpPr>
          <p:nvPr/>
        </p:nvSpPr>
        <p:spPr>
          <a:xfrm>
            <a:off x="6127376" y="783235"/>
            <a:ext cx="5257800" cy="29521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/>
              <a:t>❌ </a:t>
            </a:r>
            <a:r>
              <a:rPr lang="en-US" sz="2600" dirty="0">
                <a:solidFill>
                  <a:srgbClr val="0070C0"/>
                </a:solidFill>
              </a:rPr>
              <a:t>What Business Analysis is NOT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800" b="1" dirty="0"/>
              <a:t>Business Analysis is NOT: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Coding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Programming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Database administration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Server management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Network engineering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Graphic designing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Only documentation</a:t>
            </a:r>
          </a:p>
          <a:p>
            <a:pPr>
              <a:lnSpc>
                <a:spcPct val="110000"/>
              </a:lnSpc>
            </a:pPr>
            <a:endParaRPr lang="en-US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E7448-00BB-790A-565B-FD0DF5523450}"/>
              </a:ext>
            </a:extLst>
          </p:cNvPr>
          <p:cNvSpPr txBox="1"/>
          <p:nvPr/>
        </p:nvSpPr>
        <p:spPr>
          <a:xfrm>
            <a:off x="6051877" y="4387524"/>
            <a:ext cx="54087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🔹 Important Clarification</a:t>
            </a:r>
          </a:p>
          <a:p>
            <a:r>
              <a:rPr lang="en-US" sz="1600" dirty="0"/>
              <a:t>A BA may </a:t>
            </a:r>
            <a:r>
              <a:rPr lang="en-US" sz="1600" b="1" dirty="0"/>
              <a:t>understand technology</a:t>
            </a:r>
            <a:r>
              <a:rPr lang="en-US" sz="1600" dirty="0"/>
              <a:t>, but:</a:t>
            </a:r>
          </a:p>
          <a:p>
            <a:r>
              <a:rPr lang="en-US" sz="1600" dirty="0"/>
              <a:t>👉 BA does NOT build systems</a:t>
            </a:r>
            <a:br>
              <a:rPr lang="en-US" sz="1600" dirty="0"/>
            </a:br>
            <a:r>
              <a:rPr lang="en-US" sz="1600" dirty="0"/>
              <a:t>👉 BA helps decide </a:t>
            </a:r>
            <a:r>
              <a:rPr lang="en-US" sz="1600" b="1" dirty="0"/>
              <a:t>what should be built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31141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PRACTICAL EXAMPLE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B1FF08-9BC4-0D3A-C14F-9078AB8078B0}"/>
              </a:ext>
            </a:extLst>
          </p:cNvPr>
          <p:cNvSpPr txBox="1"/>
          <p:nvPr/>
        </p:nvSpPr>
        <p:spPr>
          <a:xfrm>
            <a:off x="826294" y="4292113"/>
            <a:ext cx="951463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Explanation: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600" dirty="0"/>
              <a:t>A Business Analyst is a </a:t>
            </a:r>
            <a:r>
              <a:rPr lang="en-US" sz="1600" b="1" dirty="0"/>
              <a:t>problem solver for the business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They do NOT jump into building software.</a:t>
            </a:r>
            <a:br>
              <a:rPr lang="en-US" sz="1600" dirty="0"/>
            </a:br>
            <a:r>
              <a:rPr lang="en-US" sz="1600" dirty="0"/>
              <a:t>They first understand the business problem and then guide how technology can help.</a:t>
            </a:r>
            <a:endParaRPr lang="en-PK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826294" y="1424423"/>
            <a:ext cx="6096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🔹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Example</a:t>
            </a:r>
          </a:p>
          <a:p>
            <a:r>
              <a:rPr lang="en-US" sz="1600" dirty="0"/>
              <a:t>Bank customers complain that mobile app is slow.</a:t>
            </a:r>
          </a:p>
          <a:p>
            <a:r>
              <a:rPr lang="en-US" sz="1600" dirty="0"/>
              <a:t>BA will: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Talk to customers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Talk to business managers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Analyze complaints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Identify root cause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Recommend improvement</a:t>
            </a:r>
          </a:p>
          <a:p>
            <a:pPr marL="358775" indent="358775"/>
            <a:r>
              <a:rPr lang="en-US" sz="1600" dirty="0"/>
              <a:t>BA does NOT directly code the app.</a:t>
            </a:r>
          </a:p>
        </p:txBody>
      </p:sp>
    </p:spTree>
    <p:extLst>
      <p:ext uri="{BB962C8B-B14F-4D97-AF65-F5344CB8AC3E}">
        <p14:creationId xmlns:p14="http://schemas.microsoft.com/office/powerpoint/2010/main" val="21022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PRACTICAL EXAMPLE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B1FF08-9BC4-0D3A-C14F-9078AB8078B0}"/>
              </a:ext>
            </a:extLst>
          </p:cNvPr>
          <p:cNvSpPr txBox="1"/>
          <p:nvPr/>
        </p:nvSpPr>
        <p:spPr>
          <a:xfrm>
            <a:off x="826294" y="4292113"/>
            <a:ext cx="951463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Explanation: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600" dirty="0"/>
              <a:t>A Business Analyst is a </a:t>
            </a:r>
            <a:r>
              <a:rPr lang="en-US" sz="1600" b="1" dirty="0"/>
              <a:t>problem solver for the business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They do NOT jump into building software.</a:t>
            </a:r>
            <a:br>
              <a:rPr lang="en-US" sz="1600" dirty="0"/>
            </a:br>
            <a:r>
              <a:rPr lang="en-US" sz="1600" dirty="0"/>
              <a:t>They first understand the business problem and then guide how technology can help.</a:t>
            </a:r>
            <a:endParaRPr lang="en-PK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826294" y="1424423"/>
            <a:ext cx="6096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🔹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Example</a:t>
            </a:r>
          </a:p>
          <a:p>
            <a:r>
              <a:rPr lang="en-US" sz="1600" dirty="0"/>
              <a:t>Bank customers complain that mobile app is slow.</a:t>
            </a:r>
          </a:p>
          <a:p>
            <a:r>
              <a:rPr lang="en-US" sz="1600" dirty="0"/>
              <a:t>BA will: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Talk to customers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Talk to business managers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Analyze complaints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Identify root cause</a:t>
            </a:r>
          </a:p>
          <a:p>
            <a:pPr marL="358775" indent="358775">
              <a:buFont typeface="Arial" panose="020B0604020202020204" pitchFamily="34" charset="0"/>
              <a:buChar char="•"/>
            </a:pPr>
            <a:r>
              <a:rPr lang="en-US" sz="1600" dirty="0"/>
              <a:t>Recommend improvement</a:t>
            </a:r>
          </a:p>
          <a:p>
            <a:pPr marL="358775" indent="358775"/>
            <a:r>
              <a:rPr lang="en-US" sz="1600" dirty="0"/>
              <a:t>BA does NOT directly code the app.</a:t>
            </a:r>
          </a:p>
        </p:txBody>
      </p:sp>
    </p:spTree>
    <p:extLst>
      <p:ext uri="{BB962C8B-B14F-4D97-AF65-F5344CB8AC3E}">
        <p14:creationId xmlns:p14="http://schemas.microsoft.com/office/powerpoint/2010/main" val="4287934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KEY RESPONSIBILITIES OF BA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826294" y="174177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266700"/>
            <a:r>
              <a:rPr lang="en-US" dirty="0"/>
              <a:t>• Identify problems</a:t>
            </a:r>
          </a:p>
          <a:p>
            <a:pPr marL="361950" indent="266700"/>
            <a:r>
              <a:rPr lang="en-US" dirty="0"/>
              <a:t>• Gather requirements</a:t>
            </a:r>
          </a:p>
          <a:p>
            <a:pPr marL="361950" indent="266700"/>
            <a:r>
              <a:rPr lang="en-US" dirty="0"/>
              <a:t>• Document requirements</a:t>
            </a:r>
          </a:p>
          <a:p>
            <a:pPr marL="361950" indent="266700"/>
            <a:r>
              <a:rPr lang="en-US" dirty="0"/>
              <a:t>• Communicate with stakeholders</a:t>
            </a:r>
          </a:p>
          <a:p>
            <a:pPr marL="361950" indent="266700"/>
            <a:r>
              <a:rPr lang="en-US" dirty="0"/>
              <a:t>• Validate solutions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D1A0B-8818-8376-2D70-48E0FC68DD7B}"/>
              </a:ext>
            </a:extLst>
          </p:cNvPr>
          <p:cNvSpPr txBox="1"/>
          <p:nvPr/>
        </p:nvSpPr>
        <p:spPr>
          <a:xfrm>
            <a:off x="826294" y="366774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ea typeface="+mj-ea"/>
                <a:cs typeface="+mj-cs"/>
              </a:rPr>
              <a:t>ROLE COMPARISON</a:t>
            </a:r>
            <a:endParaRPr lang="en-PK" sz="2800" b="1" dirty="0">
              <a:solidFill>
                <a:schemeClr val="bg2">
                  <a:lumMod val="5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4AC3C-1264-CDEA-0857-9F0E5A35E3A7}"/>
              </a:ext>
            </a:extLst>
          </p:cNvPr>
          <p:cNvSpPr txBox="1"/>
          <p:nvPr/>
        </p:nvSpPr>
        <p:spPr>
          <a:xfrm>
            <a:off x="1409700" y="4257343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Business Analyst – Problem &amp;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Analyst –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BI –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Business Analytics – Prediction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428968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IN-CLASS ACTIVITY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826294" y="1741772"/>
            <a:ext cx="609600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Form groups</a:t>
            </a:r>
          </a:p>
          <a:p>
            <a:pPr>
              <a:lnSpc>
                <a:spcPct val="200000"/>
              </a:lnSpc>
            </a:pPr>
            <a:r>
              <a:rPr lang="en-US" dirty="0"/>
              <a:t>• Choose Pakistani company</a:t>
            </a:r>
          </a:p>
          <a:p>
            <a:pPr>
              <a:lnSpc>
                <a:spcPct val="200000"/>
              </a:lnSpc>
            </a:pPr>
            <a:r>
              <a:rPr lang="en-US" dirty="0"/>
              <a:t>• Identify one problem</a:t>
            </a:r>
          </a:p>
          <a:p>
            <a:pPr>
              <a:lnSpc>
                <a:spcPct val="200000"/>
              </a:lnSpc>
            </a:pPr>
            <a:r>
              <a:rPr lang="en-US" dirty="0"/>
              <a:t>• Suggest BA approach</a:t>
            </a:r>
          </a:p>
        </p:txBody>
      </p:sp>
    </p:spTree>
    <p:extLst>
      <p:ext uri="{BB962C8B-B14F-4D97-AF65-F5344CB8AC3E}">
        <p14:creationId xmlns:p14="http://schemas.microsoft.com/office/powerpoint/2010/main" val="2747938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6317A-E6E0-4413-79BD-15025AF6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43E2B4-1125-37C3-1730-6DA7D8C23E51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07619E-3824-ECD2-2E26-060B257C00B4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41B6B-3949-D034-2E20-E9E24403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17</a:t>
            </a:fld>
            <a:endParaRPr lang="en-PK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D40F3F-ACD5-79DD-55DA-357D499BE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92919" y="226868"/>
            <a:ext cx="7415213" cy="1481818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INDUSTRY</a:t>
            </a:r>
            <a:r>
              <a:rPr lang="en-US" b="1" dirty="0">
                <a:solidFill>
                  <a:srgbClr val="333D42"/>
                </a:solidFill>
              </a:rPr>
              <a:t> </a:t>
            </a:r>
            <a:r>
              <a:rPr lang="en-US" sz="31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BUZZ WORDS/ROLES</a:t>
            </a:r>
            <a:br>
              <a:rPr lang="en-US" b="1" dirty="0">
                <a:solidFill>
                  <a:srgbClr val="333D42"/>
                </a:solidFill>
              </a:rPr>
            </a:br>
            <a:endParaRPr lang="en-PK" dirty="0">
              <a:solidFill>
                <a:srgbClr val="0070C0"/>
              </a:solidFill>
            </a:endParaRPr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4A81CC3C-306E-9031-550B-B2484A88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09F5BF-B490-626F-B486-869B3F90C982}"/>
              </a:ext>
            </a:extLst>
          </p:cNvPr>
          <p:cNvSpPr txBox="1"/>
          <p:nvPr/>
        </p:nvSpPr>
        <p:spPr>
          <a:xfrm>
            <a:off x="1293019" y="1344067"/>
            <a:ext cx="88915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333D4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 Analysis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33D4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333D4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 Analytics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33D4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333D4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 Analyst / Analytics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33D4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333D4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 Intelligence</a:t>
            </a:r>
          </a:p>
        </p:txBody>
      </p:sp>
    </p:spTree>
    <p:extLst>
      <p:ext uri="{BB962C8B-B14F-4D97-AF65-F5344CB8AC3E}">
        <p14:creationId xmlns:p14="http://schemas.microsoft.com/office/powerpoint/2010/main" val="1037768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78340-D201-6010-51E3-CC2C5CFAD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E321B7-522E-8498-CB7F-ADDCF3BC992F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72CE4F-7E8C-5E1C-58F6-EB93324B0B7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CD0BBD-B9B6-F1BE-BE5F-BCE6BEB5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18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DE3B3611-8C9A-CDBC-54BB-0EDC1A264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two hexagons with graphs and charts&#10;&#10;AI-generated content may be incorrect.">
            <a:extLst>
              <a:ext uri="{FF2B5EF4-FFF2-40B4-BE49-F238E27FC236}">
                <a16:creationId xmlns:a16="http://schemas.microsoft.com/office/drawing/2014/main" id="{90EC9204-0105-8505-19DD-8BA13708D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250" y="368301"/>
            <a:ext cx="9400853" cy="616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5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4C9BF-FD8C-33FD-5294-6B80086E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6F8952-C6BD-73C3-F5C9-4C6948AD90A2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64D886-7E23-852D-8C48-192762E8CE0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BACCDB-CDCA-1CA9-5621-88EFED1C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19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0FFDE430-CC73-3118-44AC-DFB70C516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730A0A-061C-44C8-78C0-10B982B17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53" y="888010"/>
            <a:ext cx="11885147" cy="44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73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BAA85-275A-8BD6-8075-05C233DFA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CC0008-5462-A913-6FE5-5B7F0870147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7FFE27-AD6B-CCBE-D539-BD0209C766E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CE47A-B3AD-DA38-1E5B-E068BAA1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20</a:t>
            </a:fld>
            <a:endParaRPr lang="en-PK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0F39AC-53F0-4D57-C475-27BA7777D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163657"/>
            <a:ext cx="8451274" cy="2403475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WHY BUSINESS ANALYSIS FOR CS STUDENTS? </a:t>
            </a:r>
            <a:br>
              <a:rPr lang="en-US" b="1" dirty="0"/>
            </a:br>
            <a:endParaRPr lang="en-PK" dirty="0">
              <a:solidFill>
                <a:srgbClr val="0070C0"/>
              </a:solidFill>
            </a:endParaRPr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E021743A-F6A0-145E-613A-DA09F5E94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57D554-D747-D833-A959-FCDC6D9A1732}"/>
              </a:ext>
            </a:extLst>
          </p:cNvPr>
          <p:cNvSpPr txBox="1"/>
          <p:nvPr/>
        </p:nvSpPr>
        <p:spPr>
          <a:xfrm>
            <a:off x="391319" y="1732022"/>
            <a:ext cx="107465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/>
          </a:p>
          <a:p>
            <a:r>
              <a:rPr lang="en-US" sz="2000" dirty="0"/>
              <a:t>“You don’t need to become a businessman — but you must understand business.”</a:t>
            </a:r>
          </a:p>
          <a:p>
            <a:endParaRPr lang="en-US" sz="2000" dirty="0"/>
          </a:p>
          <a:p>
            <a:r>
              <a:rPr lang="en-US" sz="2000" dirty="0"/>
              <a:t>Developers who understand business:</a:t>
            </a:r>
          </a:p>
          <a:p>
            <a:pPr lvl="1"/>
            <a:r>
              <a:rPr lang="en-US" sz="2000" dirty="0"/>
              <a:t>Write better software</a:t>
            </a:r>
          </a:p>
          <a:p>
            <a:pPr lvl="1"/>
            <a:r>
              <a:rPr lang="en-US" sz="2000" dirty="0"/>
              <a:t>Design better systems</a:t>
            </a:r>
          </a:p>
          <a:p>
            <a:pPr lvl="1"/>
            <a:r>
              <a:rPr lang="en-US" sz="2000" dirty="0"/>
              <a:t>Grow faster in careers</a:t>
            </a:r>
          </a:p>
          <a:p>
            <a:pPr lvl="1"/>
            <a:endParaRPr lang="en-US" sz="2000" dirty="0"/>
          </a:p>
          <a:p>
            <a:r>
              <a:rPr lang="en-US" sz="2000"/>
              <a:t>Analysis/Analytics </a:t>
            </a:r>
            <a:r>
              <a:rPr lang="en-US" sz="2000" dirty="0"/>
              <a:t>sits at the intersection of:</a:t>
            </a:r>
          </a:p>
          <a:p>
            <a:pPr lvl="1"/>
            <a:r>
              <a:rPr lang="en-US" sz="2000" dirty="0"/>
              <a:t>Data</a:t>
            </a:r>
          </a:p>
          <a:p>
            <a:pPr lvl="1"/>
            <a:r>
              <a:rPr lang="en-US" sz="2000" dirty="0"/>
              <a:t>Software</a:t>
            </a:r>
          </a:p>
          <a:p>
            <a:pPr lvl="1"/>
            <a:r>
              <a:rPr lang="en-US" sz="2000" dirty="0"/>
              <a:t>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724739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INDUSTRY ROLES &amp; CAREER PATHS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826293" y="1741772"/>
            <a:ext cx="788908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266700"/>
            <a:r>
              <a:rPr lang="en-US" dirty="0"/>
              <a:t>Business Analysts exist in almost every industry:</a:t>
            </a:r>
          </a:p>
          <a:p>
            <a:pPr marL="361950" indent="266700"/>
            <a:endParaRPr lang="en-US" dirty="0"/>
          </a:p>
          <a:p>
            <a:pPr marL="1257300" indent="-361950">
              <a:buFont typeface="Arial" panose="020B0604020202020204" pitchFamily="34" charset="0"/>
              <a:buChar char="•"/>
            </a:pPr>
            <a:r>
              <a:rPr lang="en-US" dirty="0"/>
              <a:t>Software companies </a:t>
            </a:r>
          </a:p>
          <a:p>
            <a:pPr marL="1257300" indent="-361950">
              <a:buFont typeface="Arial" panose="020B0604020202020204" pitchFamily="34" charset="0"/>
              <a:buChar char="•"/>
            </a:pPr>
            <a:r>
              <a:rPr lang="en-US" dirty="0"/>
              <a:t>Banks </a:t>
            </a:r>
          </a:p>
          <a:p>
            <a:pPr marL="1257300" indent="-361950">
              <a:buFont typeface="Arial" panose="020B0604020202020204" pitchFamily="34" charset="0"/>
              <a:buChar char="•"/>
            </a:pPr>
            <a:r>
              <a:rPr lang="en-US" dirty="0"/>
              <a:t>Telecom</a:t>
            </a:r>
          </a:p>
          <a:p>
            <a:pPr marL="1257300" indent="-361950">
              <a:buFont typeface="Arial" panose="020B0604020202020204" pitchFamily="34" charset="0"/>
              <a:buChar char="•"/>
            </a:pPr>
            <a:r>
              <a:rPr lang="en-US" dirty="0"/>
              <a:t>Healthcare </a:t>
            </a:r>
          </a:p>
          <a:p>
            <a:pPr marL="1257300" indent="-361950">
              <a:buFont typeface="Arial" panose="020B0604020202020204" pitchFamily="34" charset="0"/>
              <a:buChar char="•"/>
            </a:pPr>
            <a:r>
              <a:rPr lang="en-US" dirty="0"/>
              <a:t>E-commerce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1DA82F-19C7-43C5-281F-3241668255CD}"/>
              </a:ext>
            </a:extLst>
          </p:cNvPr>
          <p:cNvSpPr txBox="1"/>
          <p:nvPr/>
        </p:nvSpPr>
        <p:spPr>
          <a:xfrm>
            <a:off x="1400175" y="400866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Career progression: </a:t>
            </a:r>
          </a:p>
          <a:p>
            <a:endParaRPr lang="en-US" dirty="0"/>
          </a:p>
          <a:p>
            <a:r>
              <a:rPr lang="en-US" dirty="0"/>
              <a:t>Junior BA → BA → Senior BA → Product Owner / PM / Strategy Analyst / BA Lead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66666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PRACTICAL EXAMPLE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826293" y="1741772"/>
            <a:ext cx="78890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266700"/>
            <a:r>
              <a:rPr lang="en-US" sz="2000" b="1" dirty="0"/>
              <a:t>Real Example – </a:t>
            </a:r>
            <a:r>
              <a:rPr lang="en-US" sz="2000" b="1" dirty="0" err="1"/>
              <a:t>Daraz</a:t>
            </a:r>
            <a:r>
              <a:rPr lang="en-US" sz="2000" b="1" dirty="0"/>
              <a:t> </a:t>
            </a:r>
          </a:p>
          <a:p>
            <a:pPr marL="361950" indent="266700"/>
            <a:r>
              <a:rPr lang="en-US" dirty="0" err="1"/>
              <a:t>Daraz</a:t>
            </a:r>
            <a:r>
              <a:rPr lang="en-US" dirty="0"/>
              <a:t> notices delayed deliveries. </a:t>
            </a:r>
          </a:p>
          <a:p>
            <a:pPr marL="361950" indent="266700"/>
            <a:endParaRPr lang="en-US" dirty="0"/>
          </a:p>
          <a:p>
            <a:pPr marL="361950" indent="266700"/>
            <a:r>
              <a:rPr lang="en-US" b="1" dirty="0"/>
              <a:t>BA: </a:t>
            </a:r>
            <a:r>
              <a:rPr lang="en-US" dirty="0"/>
              <a:t>Maps supply chain </a:t>
            </a:r>
          </a:p>
          <a:p>
            <a:pPr marL="361950" indent="266700"/>
            <a:r>
              <a:rPr lang="en-US" dirty="0"/>
              <a:t>Finds bottlenecks </a:t>
            </a:r>
          </a:p>
          <a:p>
            <a:pPr marL="361950" indent="266700"/>
            <a:r>
              <a:rPr lang="en-US" dirty="0"/>
              <a:t>Identifies root causes </a:t>
            </a:r>
          </a:p>
          <a:p>
            <a:pPr marL="361950" indent="266700"/>
            <a:r>
              <a:rPr lang="en-US" dirty="0"/>
              <a:t>Suggests improvement steps </a:t>
            </a:r>
          </a:p>
          <a:p>
            <a:pPr marL="361950" indent="266700"/>
            <a:endParaRPr lang="en-US" dirty="0"/>
          </a:p>
          <a:p>
            <a:pPr marL="361950" indent="266700"/>
            <a:endParaRPr lang="en-US" dirty="0"/>
          </a:p>
          <a:p>
            <a:pPr marL="361950" indent="266700"/>
            <a:endParaRPr lang="en-US" dirty="0"/>
          </a:p>
          <a:p>
            <a:pPr marL="361950" indent="266700"/>
            <a:r>
              <a:rPr lang="en-US" dirty="0"/>
              <a:t>BA doesn’t drive trucks. </a:t>
            </a:r>
          </a:p>
          <a:p>
            <a:pPr marL="361950" indent="266700"/>
            <a:r>
              <a:rPr lang="en-US" dirty="0"/>
              <a:t>BA improves the process.”</a:t>
            </a:r>
          </a:p>
        </p:txBody>
      </p:sp>
    </p:spTree>
    <p:extLst>
      <p:ext uri="{BB962C8B-B14F-4D97-AF65-F5344CB8AC3E}">
        <p14:creationId xmlns:p14="http://schemas.microsoft.com/office/powerpoint/2010/main" val="962672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67717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BUSINESS PROBLEMS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785812" y="1397675"/>
            <a:ext cx="788908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Business Problems</a:t>
            </a:r>
            <a:br>
              <a:rPr lang="en-US" b="1" dirty="0"/>
            </a:b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Losing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Low sales / revenue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Slow operations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Poor customer experience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 cost of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B87C1D-98F9-7E2A-9757-87D50569D073}"/>
              </a:ext>
            </a:extLst>
          </p:cNvPr>
          <p:cNvSpPr txBox="1"/>
          <p:nvPr/>
        </p:nvSpPr>
        <p:spPr>
          <a:xfrm>
            <a:off x="785812" y="3629174"/>
            <a:ext cx="9777413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For example:</a:t>
            </a:r>
            <a:br>
              <a:rPr lang="en-US" sz="1600" dirty="0"/>
            </a:br>
            <a:r>
              <a:rPr lang="en-US" sz="1600" dirty="0"/>
              <a:t>If customers are leaving, sales are decreasing, or complaints are increasing — these are business problems.</a:t>
            </a:r>
          </a:p>
          <a:p>
            <a:r>
              <a:rPr lang="en-US" sz="1600" dirty="0"/>
              <a:t>Business problems usually impact: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Money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Customers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Reputation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Growth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A Business Analyst first tries to understand these problems before thinking about technology.</a:t>
            </a:r>
          </a:p>
        </p:txBody>
      </p:sp>
    </p:spTree>
    <p:extLst>
      <p:ext uri="{BB962C8B-B14F-4D97-AF65-F5344CB8AC3E}">
        <p14:creationId xmlns:p14="http://schemas.microsoft.com/office/powerpoint/2010/main" val="2820936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67717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TECHNICAL PROBLEMS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785812" y="1397675"/>
            <a:ext cx="7889081" cy="240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Technical Problems</a:t>
            </a:r>
            <a:endParaRPr lang="en-US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Server down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Bugs in system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Database crash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failure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Application not responding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B87C1D-98F9-7E2A-9757-87D50569D073}"/>
              </a:ext>
            </a:extLst>
          </p:cNvPr>
          <p:cNvSpPr txBox="1"/>
          <p:nvPr/>
        </p:nvSpPr>
        <p:spPr>
          <a:xfrm>
            <a:off x="785812" y="3985985"/>
            <a:ext cx="977741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For example: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Website not loading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App crashing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Data not saving</a:t>
            </a:r>
          </a:p>
          <a:p>
            <a:r>
              <a:rPr lang="en-US" sz="1600" dirty="0"/>
              <a:t>These problems are mostly handled by developers, testers, and IT teams.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Business Analysts do not fix technical problems themselves, but they must understand them.</a:t>
            </a:r>
          </a:p>
        </p:txBody>
      </p:sp>
    </p:spTree>
    <p:extLst>
      <p:ext uri="{BB962C8B-B14F-4D97-AF65-F5344CB8AC3E}">
        <p14:creationId xmlns:p14="http://schemas.microsoft.com/office/powerpoint/2010/main" val="2789271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67717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Business vs Technical Problems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785812" y="1397675"/>
            <a:ext cx="8948738" cy="195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Business vs Technical Problems</a:t>
            </a:r>
            <a:endParaRPr lang="en-US" dirty="0"/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Business Problem → WHAT is wrong &amp; WHY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Technical Problem → HOW to fix it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BA focuses mainly on WHAT and WHY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42D87-7831-CDAE-171B-D273438105F3}"/>
              </a:ext>
            </a:extLst>
          </p:cNvPr>
          <p:cNvSpPr txBox="1"/>
          <p:nvPr/>
        </p:nvSpPr>
        <p:spPr>
          <a:xfrm>
            <a:off x="785812" y="374284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Example:</a:t>
            </a:r>
          </a:p>
          <a:p>
            <a:r>
              <a:rPr lang="en-US" i="1" dirty="0"/>
              <a:t>Business Problem: </a:t>
            </a:r>
            <a:r>
              <a:rPr lang="en-US" dirty="0"/>
              <a:t>Customers cannot place orders.</a:t>
            </a:r>
            <a:br>
              <a:rPr lang="en-US" dirty="0"/>
            </a:br>
            <a:r>
              <a:rPr lang="en-US" i="1" dirty="0"/>
              <a:t>Technical Problem: </a:t>
            </a:r>
            <a:r>
              <a:rPr lang="en-US" dirty="0"/>
              <a:t>Payment gateway API is failing.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Business Analysts focus more on understanding WHAT and WHY, and then work with technical teams who decide HOW.</a:t>
            </a:r>
          </a:p>
        </p:txBody>
      </p:sp>
    </p:spTree>
    <p:extLst>
      <p:ext uri="{BB962C8B-B14F-4D97-AF65-F5344CB8AC3E}">
        <p14:creationId xmlns:p14="http://schemas.microsoft.com/office/powerpoint/2010/main" val="2568517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67717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WEEK 2 – SNEAK PEAK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F884C4-1707-B7BA-FF12-A2408515CA0B}"/>
              </a:ext>
            </a:extLst>
          </p:cNvPr>
          <p:cNvSpPr txBox="1"/>
          <p:nvPr/>
        </p:nvSpPr>
        <p:spPr>
          <a:xfrm>
            <a:off x="785812" y="1909259"/>
            <a:ext cx="89487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organizational structures and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 common business models (B2B, B2C, SaaS)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Grasp key business terms used by analysts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Relate BA roles to real-world business functions</a:t>
            </a:r>
          </a:p>
        </p:txBody>
      </p:sp>
    </p:spTree>
    <p:extLst>
      <p:ext uri="{BB962C8B-B14F-4D97-AF65-F5344CB8AC3E}">
        <p14:creationId xmlns:p14="http://schemas.microsoft.com/office/powerpoint/2010/main" val="23150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27376</TotalTime>
  <Words>1148</Words>
  <Application>Microsoft Macintosh PowerPoint</Application>
  <PresentationFormat>Widescreen</PresentationFormat>
  <Paragraphs>279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BUSINESS ANALYSIS COURSE OBJECTIVES </vt:lpstr>
      <vt:lpstr>BUSINESS ANALYTICS COURSE SCOPE </vt:lpstr>
      <vt:lpstr>BUSINESS ANALYTICS COURSE SCOPE </vt:lpstr>
      <vt:lpstr>TEACHING METHODOLOGY </vt:lpstr>
      <vt:lpstr>EVALUATION METHOD </vt:lpstr>
      <vt:lpstr>SEMESTER PROJECT OVERVIEW </vt:lpstr>
      <vt:lpstr>Why This Course Matters </vt:lpstr>
      <vt:lpstr>Learning Objectives – WEEK 1 </vt:lpstr>
      <vt:lpstr>WHAT IS BUSINESS ANALYSIS?  Business Analysis is the practice of understanding business problems, identifying business needs, and recommending solutions that create value for stakeholders.</vt:lpstr>
      <vt:lpstr>PowerPoint Presentation</vt:lpstr>
      <vt:lpstr>PRACTICAL EXAMPLE  </vt:lpstr>
      <vt:lpstr>PRACTICAL EXAMPLE  </vt:lpstr>
      <vt:lpstr>KEY RESPONSIBILITIES OF BA</vt:lpstr>
      <vt:lpstr>IN-CLASS ACTIVITY</vt:lpstr>
      <vt:lpstr>INDUSTRY BUZZ WORDS/ROLES </vt:lpstr>
      <vt:lpstr>PowerPoint Presentation</vt:lpstr>
      <vt:lpstr>PowerPoint Presentation</vt:lpstr>
      <vt:lpstr>WHY BUSINESS ANALYSIS FOR CS STUDENTS?  </vt:lpstr>
      <vt:lpstr>INDUSTRY ROLES &amp; CAREER PATHS</vt:lpstr>
      <vt:lpstr>PRACTICAL EXAMPLE</vt:lpstr>
      <vt:lpstr>BUSINESS PROBLEMS</vt:lpstr>
      <vt:lpstr>TECHNICAL PROBLEMS</vt:lpstr>
      <vt:lpstr>Business vs Technical Problems</vt:lpstr>
      <vt:lpstr>WEEK 2 – SNEAK PEAK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136</cp:revision>
  <dcterms:created xsi:type="dcterms:W3CDTF">2024-06-09T07:08:43Z</dcterms:created>
  <dcterms:modified xsi:type="dcterms:W3CDTF">2026-02-20T08:55:31Z</dcterms:modified>
</cp:coreProperties>
</file>