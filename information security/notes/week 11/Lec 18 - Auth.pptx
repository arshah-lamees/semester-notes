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47"/>
  </p:notesMasterIdLst>
  <p:sldIdLst>
    <p:sldId id="429" r:id="rId3"/>
    <p:sldId id="430" r:id="rId4"/>
    <p:sldId id="431" r:id="rId5"/>
    <p:sldId id="432" r:id="rId6"/>
    <p:sldId id="433" r:id="rId7"/>
    <p:sldId id="475" r:id="rId8"/>
    <p:sldId id="434" r:id="rId9"/>
    <p:sldId id="435" r:id="rId10"/>
    <p:sldId id="464" r:id="rId11"/>
    <p:sldId id="465" r:id="rId12"/>
    <p:sldId id="467" r:id="rId13"/>
    <p:sldId id="468" r:id="rId14"/>
    <p:sldId id="471" r:id="rId15"/>
    <p:sldId id="438" r:id="rId16"/>
    <p:sldId id="436" r:id="rId17"/>
    <p:sldId id="437" r:id="rId18"/>
    <p:sldId id="463" r:id="rId19"/>
    <p:sldId id="447" r:id="rId20"/>
    <p:sldId id="442" r:id="rId21"/>
    <p:sldId id="443" r:id="rId22"/>
    <p:sldId id="476" r:id="rId23"/>
    <p:sldId id="448" r:id="rId24"/>
    <p:sldId id="473" r:id="rId25"/>
    <p:sldId id="444" r:id="rId26"/>
    <p:sldId id="445" r:id="rId27"/>
    <p:sldId id="462" r:id="rId28"/>
    <p:sldId id="446" r:id="rId29"/>
    <p:sldId id="477" r:id="rId30"/>
    <p:sldId id="439" r:id="rId31"/>
    <p:sldId id="478" r:id="rId32"/>
    <p:sldId id="440" r:id="rId33"/>
    <p:sldId id="441" r:id="rId34"/>
    <p:sldId id="466" r:id="rId35"/>
    <p:sldId id="459" r:id="rId36"/>
    <p:sldId id="449" r:id="rId37"/>
    <p:sldId id="460" r:id="rId38"/>
    <p:sldId id="450" r:id="rId39"/>
    <p:sldId id="451" r:id="rId40"/>
    <p:sldId id="452" r:id="rId41"/>
    <p:sldId id="453" r:id="rId42"/>
    <p:sldId id="454" r:id="rId43"/>
    <p:sldId id="455" r:id="rId44"/>
    <p:sldId id="456" r:id="rId45"/>
    <p:sldId id="472" r:id="rId4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792" autoAdjust="0"/>
  </p:normalViewPr>
  <p:slideViewPr>
    <p:cSldViewPr>
      <p:cViewPr varScale="1">
        <p:scale>
          <a:sx n="108" d="100"/>
          <a:sy n="108" d="100"/>
        </p:scale>
        <p:origin x="1662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445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490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FC1A7-F877-44DD-B2DD-60553F4FFAE6}" type="datetimeFigureOut">
              <a:rPr lang="en-AU" smtClean="0"/>
              <a:t>16/10/2025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C33C15-5131-4101-B031-6627D1EB55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2664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2416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512" y="16778"/>
            <a:ext cx="8964488" cy="1069514"/>
          </a:xfrm>
          <a:prstGeom prst="rect">
            <a:avLst/>
          </a:prstGeom>
        </p:spPr>
        <p:txBody>
          <a:bodyPr anchor="ctr"/>
          <a:lstStyle>
            <a:lvl1pPr latinLnBrk="0">
              <a:defRPr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Click to add title</a:t>
            </a:r>
            <a:endParaRPr lang="ko-KR" alt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5EA4C87-1B6D-2CEA-39CA-59614D45309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7544" y="1560612"/>
            <a:ext cx="8229600" cy="4676700"/>
          </a:xfrm>
          <a:prstGeom prst="rect">
            <a:avLst/>
          </a:prstGeo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94015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91680" y="0"/>
            <a:ext cx="7452320" cy="1069514"/>
          </a:xfrm>
          <a:prstGeom prst="rect">
            <a:avLst/>
          </a:prstGeom>
        </p:spPr>
        <p:txBody>
          <a:bodyPr anchor="ctr"/>
          <a:lstStyle>
            <a:lvl1pPr latinLnBrk="0"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Click to add title</a:t>
            </a:r>
            <a:endParaRPr lang="ko-KR" alt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5ED14E-43B1-FAD8-93BB-3A0393784FE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34072" y="1268760"/>
            <a:ext cx="6563072" cy="4923175"/>
          </a:xfrm>
          <a:prstGeom prst="rect">
            <a:avLst/>
          </a:prstGeo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6818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" y="27709"/>
            <a:ext cx="9052560" cy="1039091"/>
          </a:xfrm>
        </p:spPr>
        <p:txBody>
          <a:bodyPr>
            <a:normAutofit/>
          </a:bodyPr>
          <a:lstStyle>
            <a:lvl1pPr algn="ctr">
              <a:defRPr sz="3600">
                <a:latin typeface="Arial" pitchFamily="34" charset="0"/>
                <a:ea typeface="Verdana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364162"/>
              </a:buClr>
              <a:buSzPct val="100000"/>
              <a:defRPr/>
            </a:lvl1pPr>
            <a:lvl2pPr>
              <a:buClr>
                <a:srgbClr val="364162"/>
              </a:buClr>
              <a:defRPr/>
            </a:lvl2pPr>
            <a:lvl3pPr marL="1143000" indent="-228600">
              <a:buClr>
                <a:srgbClr val="364162"/>
              </a:buClr>
              <a:buFont typeface="Wingdings" pitchFamily="2" charset="2"/>
              <a:buChar char="§"/>
              <a:defRPr/>
            </a:lvl3pPr>
            <a:lvl4pPr marL="1600200" indent="-228600">
              <a:buClr>
                <a:srgbClr val="364162"/>
              </a:buClr>
              <a:buFont typeface="Courier New" pitchFamily="49" charset="0"/>
              <a:buChar char="o"/>
              <a:defRPr/>
            </a:lvl4pPr>
            <a:lvl5pPr>
              <a:buClr>
                <a:srgbClr val="364162"/>
              </a:buCl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5891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igure + Caption Layout"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19169" y="357626"/>
            <a:ext cx="8032638" cy="100401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 bwMode="white">
          <a:xfrm>
            <a:off x="-7937" y="6248400"/>
            <a:ext cx="9151937" cy="617539"/>
          </a:xfrm>
          <a:prstGeom prst="rect">
            <a:avLst/>
          </a:prstGeom>
          <a:solidFill>
            <a:srgbClr val="3641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491331" y="5181600"/>
            <a:ext cx="8153400" cy="83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pyright" descr="Pearson: Copyright 2015, 2012, 2009"/>
          <p:cNvSpPr txBox="1">
            <a:spLocks noChangeArrowheads="1"/>
          </p:cNvSpPr>
          <p:nvPr userDrawn="1"/>
        </p:nvSpPr>
        <p:spPr bwMode="auto">
          <a:xfrm>
            <a:off x="1478450" y="6270381"/>
            <a:ext cx="7589350" cy="582256"/>
          </a:xfrm>
          <a:prstGeom prst="rect">
            <a:avLst/>
          </a:prstGeom>
          <a:solidFill>
            <a:srgbClr val="364162"/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sz="1200" dirty="0">
                <a:solidFill>
                  <a:prstClr val="white"/>
                </a:solidFill>
                <a:ea typeface="ＭＳ Ｐゴシック" charset="-128"/>
                <a:cs typeface="Arial" charset="0"/>
              </a:rPr>
              <a:t>Copyright </a:t>
            </a:r>
            <a:r>
              <a:rPr lang="en-US" sz="1200" dirty="0">
                <a:solidFill>
                  <a:prstClr val="white"/>
                </a:solidFill>
                <a:ea typeface="+mn-ea"/>
                <a:cs typeface="Arial" charset="0"/>
              </a:rPr>
              <a:t>© 2018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8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45959"/>
            <a:ext cx="1316182" cy="435841"/>
          </a:xfrm>
          <a:prstGeom prst="rect">
            <a:avLst/>
          </a:prstGeom>
          <a:solidFill>
            <a:srgbClr val="364162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0682021"/>
      </p:ext>
    </p:extLst>
  </p:cSld>
  <p:clrMapOvr>
    <a:masterClrMapping/>
  </p:clrMapOvr>
  <p:transition spd="slow"/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4pPr>
              <a:buFont typeface="Wingdings" pitchFamily="2" charset="2"/>
              <a:buChar char="§"/>
              <a:defRPr sz="1600"/>
            </a:lvl4pPr>
            <a:lvl5pPr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972514571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86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28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33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790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16/10/2025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8114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16/10/2025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1198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16/10/2025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18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884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0350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74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857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7338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73" r:id="rId4"/>
    <p:sldLayoutId id="2147483674" r:id="rId5"/>
    <p:sldLayoutId id="2147483675" r:id="rId6"/>
  </p:sldLayoutIdLst>
  <p:txStyles>
    <p:titleStyle>
      <a:lvl1pPr algn="l" defTabSz="914400" rtl="0" eaLnBrk="1" latinLnBrk="1" hangingPunct="1">
        <a:spcBef>
          <a:spcPct val="0"/>
        </a:spcBef>
        <a:buNone/>
        <a:defRPr sz="40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CCD61-643D-44A5-A450-3A42A50CBC1E}" type="datetimeFigureOut">
              <a:rPr lang="en-US" smtClean="0"/>
              <a:t>16/10/2025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35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iYhpbph4sLc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5N242XcKAsM" TargetMode="External"/><Relationship Id="rId2" Type="http://schemas.openxmlformats.org/officeDocument/2006/relationships/hyperlink" Target="https://youtu.be/qW361k3-Bt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4067944" y="4221088"/>
            <a:ext cx="4788024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en-US" altLang="ko-KR" sz="360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User Authentication</a:t>
            </a:r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DA019416-A58F-DC7C-5590-0A3C5E236B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11682"/>
            <a:ext cx="1428571" cy="14285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287E9B7-196F-5413-1EE2-727331E78929}"/>
              </a:ext>
            </a:extLst>
          </p:cNvPr>
          <p:cNvSpPr txBox="1"/>
          <p:nvPr/>
        </p:nvSpPr>
        <p:spPr>
          <a:xfrm>
            <a:off x="2045070" y="1916832"/>
            <a:ext cx="50538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en-US" sz="2800" b="1" dirty="0"/>
              <a:t>CS3002 Information Security</a:t>
            </a:r>
            <a:endParaRPr lang="en-AU" sz="28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6442DC-6D72-28EB-A755-796100BEAFBF}"/>
              </a:ext>
            </a:extLst>
          </p:cNvPr>
          <p:cNvSpPr txBox="1"/>
          <p:nvPr/>
        </p:nvSpPr>
        <p:spPr>
          <a:xfrm>
            <a:off x="6156176" y="111682"/>
            <a:ext cx="2880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latinLnBrk="0"/>
            <a:r>
              <a:rPr lang="en-US" b="1" dirty="0"/>
              <a:t>Dr. Ammar Haider</a:t>
            </a:r>
          </a:p>
          <a:p>
            <a:pPr algn="r" latinLnBrk="0"/>
            <a:r>
              <a:rPr lang="en-US" dirty="0"/>
              <a:t>Assistant Professor</a:t>
            </a:r>
          </a:p>
          <a:p>
            <a:pPr algn="r" latinLnBrk="0"/>
            <a:r>
              <a:rPr lang="en-US" dirty="0"/>
              <a:t>School of Computing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85668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800" dirty="0"/>
              <a:t>Verifying the identity of the user connecting to a system (authenticator)</a:t>
            </a:r>
          </a:p>
          <a:p>
            <a:endParaRPr lang="en-US" sz="2800" dirty="0"/>
          </a:p>
          <a:p>
            <a:r>
              <a:rPr lang="en-US" sz="2800" dirty="0"/>
              <a:t>Once authenticated, system will proceed to check </a:t>
            </a:r>
            <a:r>
              <a:rPr lang="en-US" sz="2800" b="1" dirty="0"/>
              <a:t>authorization</a:t>
            </a:r>
          </a:p>
          <a:p>
            <a:pPr lvl="1"/>
            <a:r>
              <a:rPr lang="en-US" sz="2400" dirty="0"/>
              <a:t>what resources user is authorized to access</a:t>
            </a:r>
          </a:p>
          <a:p>
            <a:pPr lvl="1"/>
            <a:r>
              <a:rPr lang="en-US" sz="2400" dirty="0"/>
              <a:t>what privileges they have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33985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3F2B1-EB5B-E853-CFD9-486E4F8FF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Means of Authentication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B1A1B-3B00-698D-F353-844E737D302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514350" indent="-514350">
              <a:buFont typeface="+mj-lt"/>
              <a:buAutoNum type="romanUcPeriod"/>
            </a:pPr>
            <a:r>
              <a:rPr lang="en-AU" sz="2400" b="1" dirty="0"/>
              <a:t>Something you know (knowledge)</a:t>
            </a:r>
          </a:p>
          <a:p>
            <a:pPr lvl="1"/>
            <a:r>
              <a:rPr lang="en-AU" sz="2000" dirty="0"/>
              <a:t>password, pin, security Q/A</a:t>
            </a:r>
          </a:p>
          <a:p>
            <a:pPr marL="514350" indent="-514350">
              <a:buFont typeface="+mj-lt"/>
              <a:buAutoNum type="romanUcPeriod"/>
            </a:pPr>
            <a:r>
              <a:rPr lang="en-AU" sz="2400" b="1" dirty="0"/>
              <a:t>Something you have (possession)</a:t>
            </a:r>
          </a:p>
          <a:p>
            <a:pPr lvl="1"/>
            <a:r>
              <a:rPr lang="en-AU" sz="2000" dirty="0"/>
              <a:t>mobile number, token (code generator), smartcard</a:t>
            </a:r>
          </a:p>
          <a:p>
            <a:pPr marL="514350" indent="-514350">
              <a:buFont typeface="+mj-lt"/>
              <a:buAutoNum type="romanUcPeriod"/>
            </a:pPr>
            <a:r>
              <a:rPr lang="en-AU" sz="2400" b="1" dirty="0"/>
              <a:t>Someone you are (biometrics)</a:t>
            </a:r>
          </a:p>
          <a:p>
            <a:pPr lvl="1"/>
            <a:r>
              <a:rPr lang="en-AU" sz="2000" dirty="0"/>
              <a:t>fingerprint, facial features, voice</a:t>
            </a:r>
          </a:p>
          <a:p>
            <a:pPr marL="514350" indent="-514350">
              <a:buFont typeface="+mj-lt"/>
              <a:buAutoNum type="romanUcPeriod"/>
            </a:pPr>
            <a:r>
              <a:rPr lang="en-AU" sz="2400" b="1" dirty="0"/>
              <a:t>Something you do (behaviour)</a:t>
            </a:r>
          </a:p>
          <a:p>
            <a:pPr lvl="1" indent="-295275"/>
            <a:r>
              <a:rPr lang="en-AU" sz="2000" dirty="0"/>
              <a:t>typing rhythm, computer usage pattern, mouse movement, touch interaction, handwriting</a:t>
            </a:r>
          </a:p>
          <a:p>
            <a:pPr lvl="1" indent="-295275"/>
            <a:endParaRPr lang="en-AU" sz="2000" dirty="0"/>
          </a:p>
          <a:p>
            <a:r>
              <a:rPr lang="en-AU" sz="2400" b="1" dirty="0">
                <a:solidFill>
                  <a:srgbClr val="C00000"/>
                </a:solidFill>
              </a:rPr>
              <a:t>Multifactor authentication</a:t>
            </a:r>
            <a:r>
              <a:rPr lang="en-AU" sz="2400" dirty="0">
                <a:solidFill>
                  <a:srgbClr val="C00000"/>
                </a:solidFill>
              </a:rPr>
              <a:t>:</a:t>
            </a:r>
            <a:r>
              <a:rPr lang="en-AU" sz="2400" dirty="0"/>
              <a:t> combining more than one modes from the above list</a:t>
            </a:r>
          </a:p>
        </p:txBody>
      </p:sp>
    </p:spTree>
    <p:extLst>
      <p:ext uri="{BB962C8B-B14F-4D97-AF65-F5344CB8AC3E}">
        <p14:creationId xmlns:p14="http://schemas.microsoft.com/office/powerpoint/2010/main" val="3922037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C1D04-821A-8605-F8CA-377630266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Authentication Types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3A763-9F2F-15D4-9992-A9B2B0C26CF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400" b="1" dirty="0"/>
              <a:t>Repudiable Authentication</a:t>
            </a:r>
            <a:r>
              <a:rPr lang="en-US" sz="2400" dirty="0"/>
              <a:t> </a:t>
            </a:r>
          </a:p>
          <a:p>
            <a:pPr lvl="1"/>
            <a:r>
              <a:rPr lang="en-US" sz="2000" dirty="0"/>
              <a:t>involves factors, “what you know” and “what you have,”</a:t>
            </a:r>
          </a:p>
          <a:p>
            <a:pPr lvl="1"/>
            <a:r>
              <a:rPr lang="en-US" sz="2000" dirty="0"/>
              <a:t>the information presented can be unreliable because such factors suffer from several well-known problems</a:t>
            </a:r>
          </a:p>
          <a:p>
            <a:pPr lvl="1"/>
            <a:r>
              <a:rPr lang="en-US" sz="2000" dirty="0"/>
              <a:t>e.g. passwords can be leaked, possessions can be lost, forged, or easily duplicated. </a:t>
            </a:r>
          </a:p>
          <a:p>
            <a:endParaRPr lang="en-US" sz="2400" dirty="0"/>
          </a:p>
          <a:p>
            <a:r>
              <a:rPr lang="en-US" sz="2400" b="1" dirty="0"/>
              <a:t>Non-repudiable Authentication</a:t>
            </a:r>
          </a:p>
          <a:p>
            <a:pPr lvl="1"/>
            <a:r>
              <a:rPr lang="en-US" sz="2000" dirty="0"/>
              <a:t>involves characteristics whose proof of origin cannot be denied. </a:t>
            </a:r>
          </a:p>
          <a:p>
            <a:pPr lvl="1"/>
            <a:r>
              <a:rPr lang="en-US" sz="2000" dirty="0"/>
              <a:t>includes biometrics like iris patterns, retinal images, hand geometry</a:t>
            </a:r>
          </a:p>
          <a:p>
            <a:pPr lvl="1"/>
            <a:r>
              <a:rPr lang="en-US" sz="2000" dirty="0"/>
              <a:t>they positively verify the identity of the individual. </a:t>
            </a:r>
          </a:p>
          <a:p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89663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80F7C-3451-4DD3-0605-20DBE890D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Authentication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BC9E0-9AD2-869E-E586-5BF679BC299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400" b="1" dirty="0"/>
              <a:t>Basic authentication involving a server</a:t>
            </a:r>
          </a:p>
          <a:p>
            <a:pPr lvl="1"/>
            <a:r>
              <a:rPr lang="en-US" sz="2000" dirty="0"/>
              <a:t>server maintains a file of usernames and passwords (or some other authenticating information)</a:t>
            </a:r>
          </a:p>
          <a:p>
            <a:pPr lvl="1"/>
            <a:r>
              <a:rPr lang="en-US" sz="2000" dirty="0"/>
              <a:t>client sends this information, which is examined by server and if correct, authorization is granted.</a:t>
            </a:r>
          </a:p>
          <a:p>
            <a:r>
              <a:rPr lang="en-US" sz="2400" b="1" dirty="0"/>
              <a:t>Challenge-response</a:t>
            </a:r>
          </a:p>
          <a:p>
            <a:pPr lvl="1"/>
            <a:r>
              <a:rPr lang="en-US" sz="2000" dirty="0"/>
              <a:t>the server or any other authenticating system generates a challenge to the host requesting for authentication and expects a correct response.</a:t>
            </a:r>
          </a:p>
          <a:p>
            <a:r>
              <a:rPr lang="en-US" sz="2400" b="1" dirty="0"/>
              <a:t>Centralized authentication</a:t>
            </a:r>
          </a:p>
          <a:p>
            <a:pPr lvl="1"/>
            <a:r>
              <a:rPr lang="en-US" sz="2000" dirty="0"/>
              <a:t>a central server authenticates users on the network and in addition also authorizes and audits them.</a:t>
            </a:r>
          </a:p>
          <a:p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165845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30D27-BFDD-E218-A3DD-9C67561A0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0A122-4035-ABA2-42CF-ED353073D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7797" y="2348880"/>
            <a:ext cx="7468699" cy="2160240"/>
          </a:xfrm>
        </p:spPr>
        <p:txBody>
          <a:bodyPr/>
          <a:lstStyle/>
          <a:p>
            <a:pPr algn="ctr"/>
            <a:r>
              <a:rPr lang="en-US" sz="4800" dirty="0"/>
              <a:t>Password-based Authentication</a:t>
            </a:r>
            <a:br>
              <a:rPr lang="en-US" sz="4800" dirty="0"/>
            </a:br>
            <a:r>
              <a:rPr lang="en-US" b="0" dirty="0"/>
              <a:t>(something you know)</a:t>
            </a:r>
            <a:endParaRPr lang="en-US" sz="4800" b="0" dirty="0"/>
          </a:p>
        </p:txBody>
      </p:sp>
    </p:spTree>
    <p:extLst>
      <p:ext uri="{BB962C8B-B14F-4D97-AF65-F5344CB8AC3E}">
        <p14:creationId xmlns:p14="http://schemas.microsoft.com/office/powerpoint/2010/main" val="905639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0B3A2-2C23-99D2-CAA9-4C9BC637A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Password-based Authentication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5ADB1-6454-1DD5-6ECF-D16F0EE4F4A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400" dirty="0"/>
              <a:t>secret = user’s password</a:t>
            </a:r>
          </a:p>
          <a:p>
            <a:endParaRPr lang="en-US" sz="2400" dirty="0"/>
          </a:p>
          <a:p>
            <a:r>
              <a:rPr lang="en-US" sz="2400" b="1" dirty="0"/>
              <a:t>User: </a:t>
            </a:r>
            <a:r>
              <a:rPr lang="en-US" sz="2400" dirty="0"/>
              <a:t>provides their identity </a:t>
            </a:r>
            <a:r>
              <a:rPr lang="en-US" sz="2400" dirty="0" err="1">
                <a:solidFill>
                  <a:srgbClr val="C00000"/>
                </a:solidFill>
              </a:rPr>
              <a:t>uid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C00000"/>
                </a:solidFill>
              </a:rPr>
              <a:t>proof</a:t>
            </a:r>
            <a:r>
              <a:rPr lang="en-US" sz="2400" dirty="0"/>
              <a:t> (password)</a:t>
            </a:r>
          </a:p>
          <a:p>
            <a:r>
              <a:rPr lang="en-US" sz="2400" b="1" dirty="0"/>
              <a:t>System: </a:t>
            </a:r>
            <a:r>
              <a:rPr lang="en-US" sz="2400" dirty="0"/>
              <a:t>verifies the proof</a:t>
            </a:r>
          </a:p>
          <a:p>
            <a:pPr lvl="1"/>
            <a:r>
              <a:rPr lang="en-US" sz="2400" dirty="0"/>
              <a:t>case #1:</a:t>
            </a:r>
          </a:p>
          <a:p>
            <a:pPr lvl="2"/>
            <a:r>
              <a:rPr lang="en-US" dirty="0"/>
              <a:t>system knows all user’s secrets in cleartext (!!!)</a:t>
            </a:r>
          </a:p>
          <a:p>
            <a:pPr lvl="2"/>
            <a:r>
              <a:rPr lang="en-US" dirty="0"/>
              <a:t>to check: proof == </a:t>
            </a:r>
            <a:r>
              <a:rPr lang="en-US" dirty="0" err="1"/>
              <a:t>secret</a:t>
            </a:r>
            <a:r>
              <a:rPr lang="en-US" baseline="-25000" dirty="0" err="1"/>
              <a:t>uid</a:t>
            </a:r>
            <a:r>
              <a:rPr lang="en-US" dirty="0"/>
              <a:t> ?</a:t>
            </a:r>
          </a:p>
          <a:p>
            <a:pPr lvl="1"/>
            <a:r>
              <a:rPr lang="en-US" sz="2400" dirty="0"/>
              <a:t>case #2: use one-way hash (digest)</a:t>
            </a:r>
          </a:p>
          <a:p>
            <a:pPr lvl="2"/>
            <a:r>
              <a:rPr lang="en-US" dirty="0"/>
              <a:t>system knows the digests of all user’s secrets</a:t>
            </a:r>
          </a:p>
          <a:p>
            <a:pPr lvl="2"/>
            <a:r>
              <a:rPr lang="en-US" dirty="0"/>
              <a:t>to check: hash(proof) == </a:t>
            </a:r>
            <a:r>
              <a:rPr lang="en-US" dirty="0" err="1"/>
              <a:t>digest</a:t>
            </a:r>
            <a:r>
              <a:rPr lang="en-US" baseline="-25000" dirty="0" err="1"/>
              <a:t>uid</a:t>
            </a:r>
            <a:r>
              <a:rPr lang="en-US" dirty="0"/>
              <a:t> ?</a:t>
            </a:r>
          </a:p>
          <a:p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4073380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C9896-DD95-A09B-92CF-CA5676758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Passwords </a:t>
            </a:r>
            <a:r>
              <a:rPr lang="en-US" sz="4000" b="1" dirty="0"/>
              <a:t>Pros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F3B26-1A83-80FA-F7D3-93D92873B02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For users</a:t>
            </a:r>
          </a:p>
          <a:p>
            <a:r>
              <a:rPr lang="en-US" sz="2400" dirty="0"/>
              <a:t>Easy to remember (but if only for one system)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For system administrators</a:t>
            </a:r>
          </a:p>
          <a:p>
            <a:r>
              <a:rPr lang="en-US" sz="2400" dirty="0"/>
              <a:t>Easiest to implement, compared to other auth methods</a:t>
            </a:r>
          </a:p>
          <a:p>
            <a:r>
              <a:rPr lang="en-US" sz="2400" dirty="0"/>
              <a:t>Users are familiar with the concept, do not require training</a:t>
            </a:r>
          </a:p>
          <a:p>
            <a:r>
              <a:rPr lang="en-US" sz="2400" dirty="0"/>
              <a:t>Lowest cost: no specialized hardware needed</a:t>
            </a:r>
          </a:p>
        </p:txBody>
      </p:sp>
    </p:spTree>
    <p:extLst>
      <p:ext uri="{BB962C8B-B14F-4D97-AF65-F5344CB8AC3E}">
        <p14:creationId xmlns:p14="http://schemas.microsoft.com/office/powerpoint/2010/main" val="3263270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F9D99-93FE-D179-812F-835116C49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23C46-DBCD-49CE-7407-9CB8CD567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Passwords </a:t>
            </a:r>
            <a:r>
              <a:rPr lang="en-US" sz="4000" b="1" dirty="0"/>
              <a:t>Cons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714DD-C9F2-FCE3-E6A3-DC37F6E429D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For users</a:t>
            </a:r>
          </a:p>
          <a:p>
            <a:r>
              <a:rPr lang="en-US" sz="2400" dirty="0"/>
              <a:t>can’t remember too many passwords</a:t>
            </a:r>
          </a:p>
          <a:p>
            <a:pPr lvl="1"/>
            <a:r>
              <a:rPr lang="en-US" sz="2400" dirty="0"/>
              <a:t>either use same password for multiple services !!!</a:t>
            </a:r>
          </a:p>
          <a:p>
            <a:pPr lvl="1"/>
            <a:r>
              <a:rPr lang="en-US" sz="2400" dirty="0"/>
              <a:t>or use simple easy to remember passwords</a:t>
            </a:r>
          </a:p>
          <a:p>
            <a:pPr lvl="2"/>
            <a:r>
              <a:rPr lang="en-US" dirty="0"/>
              <a:t>but that makes them guessable (son’s name!)</a:t>
            </a:r>
          </a:p>
          <a:p>
            <a:pPr lvl="1"/>
            <a:r>
              <a:rPr lang="en-US" sz="2400" dirty="0"/>
              <a:t>or use some form of password storage</a:t>
            </a:r>
          </a:p>
          <a:p>
            <a:pPr lvl="2"/>
            <a:r>
              <a:rPr lang="en-US" dirty="0" err="1"/>
              <a:t>post-it</a:t>
            </a:r>
            <a:r>
              <a:rPr lang="en-US" dirty="0"/>
              <a:t> notes !!!</a:t>
            </a:r>
          </a:p>
          <a:p>
            <a:pPr lvl="2"/>
            <a:r>
              <a:rPr lang="en-US" dirty="0"/>
              <a:t>client-side password manager app (aka vault)</a:t>
            </a:r>
            <a:endParaRPr lang="en-US" sz="2000" dirty="0"/>
          </a:p>
          <a:p>
            <a:endParaRPr lang="en-US" sz="2400" dirty="0"/>
          </a:p>
          <a:p>
            <a:r>
              <a:rPr lang="en-US" sz="2400" dirty="0"/>
              <a:t>vulnerable to shoulder surfing, phishing, social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25094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F01A8-DEFC-E5AD-3FD0-AD062A9FC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274A4-38C3-BE01-FCAB-11DA03506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Passwords </a:t>
            </a:r>
            <a:r>
              <a:rPr lang="en-US" sz="4000" b="1" dirty="0"/>
              <a:t>Cons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9C1BB-E7F4-1DDB-3976-12234CE08D3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For system administrators</a:t>
            </a:r>
          </a:p>
          <a:p>
            <a:r>
              <a:rPr lang="en-US" sz="2400" dirty="0"/>
              <a:t>password files are very frequently a stealing target for hackers. So, server-side password storage remains a challenge </a:t>
            </a:r>
          </a:p>
          <a:p>
            <a:pPr lvl="1"/>
            <a:r>
              <a:rPr lang="en-US" sz="2400" dirty="0"/>
              <a:t>hashing with a strong hash function is must</a:t>
            </a:r>
          </a:p>
          <a:p>
            <a:pPr lvl="1"/>
            <a:r>
              <a:rPr lang="en-US" sz="2400" dirty="0"/>
              <a:t>even hashed passwords are vulnerable to dictionary attacks</a:t>
            </a:r>
            <a:endParaRPr lang="en-US" sz="2000" dirty="0"/>
          </a:p>
          <a:p>
            <a:pPr lvl="2"/>
            <a:endParaRPr lang="en-US" sz="2000" dirty="0"/>
          </a:p>
          <a:p>
            <a:r>
              <a:rPr lang="en-US" sz="2400" dirty="0"/>
              <a:t>passwords are readable during transmission</a:t>
            </a:r>
          </a:p>
          <a:p>
            <a:pPr lvl="1"/>
            <a:r>
              <a:rPr lang="en-US" sz="2400" dirty="0"/>
              <a:t>encrypted channel is a must</a:t>
            </a:r>
          </a:p>
        </p:txBody>
      </p:sp>
    </p:spTree>
    <p:extLst>
      <p:ext uri="{BB962C8B-B14F-4D97-AF65-F5344CB8AC3E}">
        <p14:creationId xmlns:p14="http://schemas.microsoft.com/office/powerpoint/2010/main" val="615308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4084D-4470-8CBE-410B-96BA4478E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Offline Password Cracking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EEB6E-2441-92D9-946F-81465D1CAAF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400" dirty="0"/>
              <a:t>When hackers manages to steal the </a:t>
            </a:r>
            <a:r>
              <a:rPr lang="en-US" sz="2400" b="1" dirty="0"/>
              <a:t>password file</a:t>
            </a:r>
            <a:r>
              <a:rPr lang="en-US" sz="2400" dirty="0"/>
              <a:t> from a service’s database, they immediately get a big dataset of hashed passwords.</a:t>
            </a:r>
          </a:p>
          <a:p>
            <a:endParaRPr lang="en-US" sz="2400" dirty="0"/>
          </a:p>
          <a:p>
            <a:r>
              <a:rPr lang="en-US" sz="2400" dirty="0"/>
              <a:t>Since hash is a one-way function, attacker needs guesswork and a lot of computation to work out the actual passwords. </a:t>
            </a:r>
          </a:p>
          <a:p>
            <a:pPr marL="1074738" lvl="1" indent="-355600">
              <a:buFont typeface="+mj-lt"/>
              <a:buAutoNum type="arabicPeriod"/>
            </a:pPr>
            <a:r>
              <a:rPr lang="en-US" sz="2000" dirty="0"/>
              <a:t>make a guess </a:t>
            </a:r>
            <a:r>
              <a:rPr lang="en-US" sz="2000" dirty="0" err="1"/>
              <a:t>g</a:t>
            </a:r>
            <a:r>
              <a:rPr lang="en-US" sz="2000" baseline="-25000" dirty="0" err="1"/>
              <a:t>i</a:t>
            </a:r>
            <a:endParaRPr lang="en-US" sz="2000" dirty="0"/>
          </a:p>
          <a:p>
            <a:pPr marL="1074738" lvl="1" indent="-355600">
              <a:buFont typeface="+mj-lt"/>
              <a:buAutoNum type="arabicPeriod"/>
            </a:pPr>
            <a:r>
              <a:rPr lang="en-US" sz="2000" dirty="0"/>
              <a:t>compute h</a:t>
            </a:r>
            <a:r>
              <a:rPr lang="en-US" sz="2000" baseline="-25000" dirty="0"/>
              <a:t>i</a:t>
            </a:r>
            <a:r>
              <a:rPr lang="en-US" sz="2000" dirty="0"/>
              <a:t> = hash(</a:t>
            </a:r>
            <a:r>
              <a:rPr lang="en-US" sz="2000" dirty="0" err="1"/>
              <a:t>g</a:t>
            </a:r>
            <a:r>
              <a:rPr lang="en-US" sz="2000" baseline="-25000" dirty="0" err="1"/>
              <a:t>i</a:t>
            </a:r>
            <a:r>
              <a:rPr lang="en-US" sz="2000" dirty="0"/>
              <a:t>)</a:t>
            </a:r>
          </a:p>
          <a:p>
            <a:pPr marL="1074738" lvl="1" indent="-355600">
              <a:buFont typeface="+mj-lt"/>
              <a:buAutoNum type="arabicPeriod"/>
            </a:pPr>
            <a:r>
              <a:rPr lang="en-US" sz="2000" dirty="0"/>
              <a:t>search h</a:t>
            </a:r>
            <a:r>
              <a:rPr lang="en-US" sz="2000" baseline="-25000" dirty="0"/>
              <a:t>i</a:t>
            </a:r>
            <a:r>
              <a:rPr lang="en-US" sz="2000" dirty="0"/>
              <a:t> in the file. If found, a hash has been cracked, </a:t>
            </a:r>
            <a:r>
              <a:rPr lang="en-US" sz="2000" dirty="0" err="1"/>
              <a:t>g</a:t>
            </a:r>
            <a:r>
              <a:rPr lang="en-US" sz="2000" baseline="-25000" dirty="0" err="1"/>
              <a:t>i</a:t>
            </a:r>
            <a:r>
              <a:rPr lang="en-US" sz="2000" baseline="-25000" dirty="0"/>
              <a:t> </a:t>
            </a:r>
            <a:r>
              <a:rPr lang="en-US" sz="2000" dirty="0"/>
              <a:t>is the revealed password.</a:t>
            </a:r>
          </a:p>
          <a:p>
            <a:pPr marL="1074738" lvl="1" indent="-355600">
              <a:buFont typeface="+mj-lt"/>
              <a:buAutoNum type="arabicPeriod"/>
            </a:pPr>
            <a:r>
              <a:rPr lang="en-US" sz="2000" dirty="0"/>
              <a:t>loop back to step 1 until all hashes cracked</a:t>
            </a:r>
          </a:p>
        </p:txBody>
      </p:sp>
    </p:spTree>
    <p:extLst>
      <p:ext uri="{BB962C8B-B14F-4D97-AF65-F5344CB8AC3E}">
        <p14:creationId xmlns:p14="http://schemas.microsoft.com/office/powerpoint/2010/main" val="3674680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9AA95-C950-7B93-E450-C056D47BD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19537-2BFB-A2C4-A42C-276A9E175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Offline Password Cracking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7783F-6487-A694-12F8-E6C476282CD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400" dirty="0"/>
              <a:t>A naive way of guessing is to </a:t>
            </a:r>
            <a:r>
              <a:rPr lang="en-US" sz="2400" b="1" dirty="0"/>
              <a:t>brute-force</a:t>
            </a:r>
            <a:r>
              <a:rPr lang="en-US" sz="2400" dirty="0"/>
              <a:t>.</a:t>
            </a:r>
          </a:p>
          <a:p>
            <a:pPr lvl="1"/>
            <a:r>
              <a:rPr lang="en-US" sz="2000" dirty="0"/>
              <a:t>try every possible combination of letters, numbers, and symbols to guess a target password</a:t>
            </a:r>
            <a:endParaRPr lang="en-US" sz="2400" dirty="0"/>
          </a:p>
          <a:p>
            <a:pPr lvl="1"/>
            <a:r>
              <a:rPr lang="en-US" sz="2000" dirty="0"/>
              <a:t>quickly becomes infeasible when target passwords are longer</a:t>
            </a:r>
          </a:p>
          <a:p>
            <a:r>
              <a:rPr lang="en-US" sz="2400" dirty="0"/>
              <a:t>For a more selective brute forcing, attackers can use </a:t>
            </a:r>
            <a:r>
              <a:rPr lang="en-US" sz="2400" b="1" dirty="0"/>
              <a:t>mask attacks</a:t>
            </a:r>
            <a:r>
              <a:rPr lang="en-US" sz="2400" dirty="0"/>
              <a:t> – it assumes that target passwords follow a specific pattern</a:t>
            </a:r>
          </a:p>
          <a:p>
            <a:pPr lvl="1"/>
            <a:r>
              <a:rPr lang="en-US" sz="2000" dirty="0"/>
              <a:t>e.g. a common pattern is name and year (like sana2024). To crack such passwords, one can use a mask like</a:t>
            </a:r>
            <a:r>
              <a:rPr lang="en-US" sz="2000" dirty="0">
                <a:latin typeface="Consolas" panose="020B0609020204030204" pitchFamily="49" charset="0"/>
              </a:rPr>
              <a:t> ****#### </a:t>
            </a:r>
            <a:r>
              <a:rPr lang="en-US" sz="2000" dirty="0"/>
              <a:t>where</a:t>
            </a:r>
            <a:r>
              <a:rPr lang="en-US" sz="2000" dirty="0">
                <a:latin typeface="Consolas" panose="020B0609020204030204" pitchFamily="49" charset="0"/>
              </a:rPr>
              <a:t> * </a:t>
            </a:r>
            <a:r>
              <a:rPr lang="en-US" sz="2000" dirty="0"/>
              <a:t>is a lower-case letter and</a:t>
            </a:r>
            <a:r>
              <a:rPr lang="en-US" sz="2000" dirty="0">
                <a:latin typeface="Consolas" panose="020B0609020204030204" pitchFamily="49" charset="0"/>
              </a:rPr>
              <a:t> # </a:t>
            </a:r>
            <a:r>
              <a:rPr lang="en-US" sz="2000" dirty="0"/>
              <a:t>is a digit.</a:t>
            </a:r>
          </a:p>
          <a:p>
            <a:r>
              <a:rPr lang="en-US" sz="2400" dirty="0"/>
              <a:t>Mask attacks greatly speed up the password search if certain characteristics of the password are known.</a:t>
            </a:r>
          </a:p>
        </p:txBody>
      </p:sp>
    </p:spTree>
    <p:extLst>
      <p:ext uri="{BB962C8B-B14F-4D97-AF65-F5344CB8AC3E}">
        <p14:creationId xmlns:p14="http://schemas.microsoft.com/office/powerpoint/2010/main" val="1804994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B4A7A-F240-CE61-DC4E-85E437F92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Offline Password Cracking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3C25D-0C01-5A81-8C49-44443A98D90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800" dirty="0"/>
              <a:t>Other type of offline cracking is </a:t>
            </a:r>
            <a:r>
              <a:rPr lang="en-US" sz="2800" b="1" dirty="0"/>
              <a:t>dictionary attack</a:t>
            </a:r>
            <a:r>
              <a:rPr lang="en-US" sz="2800" dirty="0"/>
              <a:t>, where the password guesses are drawn from a list of commonly-used or previously-leaked passwords.</a:t>
            </a:r>
          </a:p>
          <a:p>
            <a:pPr lvl="1"/>
            <a:r>
              <a:rPr lang="en-US" sz="2400" dirty="0"/>
              <a:t>Such a list is called </a:t>
            </a:r>
            <a:r>
              <a:rPr lang="en-US" sz="2400" i="1" dirty="0"/>
              <a:t>dictionary</a:t>
            </a:r>
          </a:p>
          <a:p>
            <a:r>
              <a:rPr lang="en-US" sz="2800" dirty="0"/>
              <a:t>These attacks require far less computing effort than brute forcing, but will only reveal passwords present in the dictionary.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789922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75415-CD85-0C25-028D-7ED53011A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Passwords: Salted storage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2AA7F-C81B-8C6D-E381-A5A05726F6A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800" dirty="0"/>
              <a:t>To thwart dictionary attacks, passwords can be </a:t>
            </a:r>
            <a:r>
              <a:rPr lang="en-US" sz="2800" b="1" dirty="0"/>
              <a:t>salted</a:t>
            </a:r>
            <a:r>
              <a:rPr lang="en-US" sz="2800" dirty="0"/>
              <a:t>.</a:t>
            </a:r>
          </a:p>
          <a:p>
            <a:r>
              <a:rPr lang="en-US" sz="2800" dirty="0"/>
              <a:t>At registration time, for each user UID:</a:t>
            </a:r>
          </a:p>
          <a:p>
            <a:pPr lvl="1"/>
            <a:r>
              <a:rPr lang="en-US" sz="2400" dirty="0"/>
              <a:t>create / ask for the password</a:t>
            </a:r>
          </a:p>
          <a:p>
            <a:pPr lvl="1"/>
            <a:r>
              <a:rPr lang="en-US" sz="2400" dirty="0"/>
              <a:t>generate a salt (a new random value for each user)</a:t>
            </a:r>
          </a:p>
          <a:p>
            <a:r>
              <a:rPr lang="en-US" sz="2800" dirty="0"/>
              <a:t>compute HP = hash ( password | salt )</a:t>
            </a:r>
          </a:p>
          <a:p>
            <a:pPr lvl="1"/>
            <a:r>
              <a:rPr lang="en-US" sz="2400" dirty="0"/>
              <a:t>i.e. concatenate password with salt before hashing</a:t>
            </a:r>
          </a:p>
          <a:p>
            <a:r>
              <a:rPr lang="en-US" sz="2800" dirty="0"/>
              <a:t>store the triples { UID, HP, </a:t>
            </a:r>
            <a:r>
              <a:rPr lang="en-US" sz="2800" dirty="0" err="1"/>
              <a:t>salt</a:t>
            </a:r>
            <a:r>
              <a:rPr lang="en-US" sz="2800" baseline="-25000" dirty="0" err="1"/>
              <a:t>UID</a:t>
            </a:r>
            <a:r>
              <a:rPr lang="en-US" sz="2800" dirty="0"/>
              <a:t> } in file</a:t>
            </a:r>
          </a:p>
          <a:p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898734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75415-CD85-0C25-028D-7ED53011A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Passwords: Salted storage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E29A0A-9996-431D-0450-B575F9A6FAF3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706" y="1118227"/>
            <a:ext cx="7676099" cy="5525418"/>
          </a:xfrm>
        </p:spPr>
      </p:pic>
    </p:spTree>
    <p:extLst>
      <p:ext uri="{BB962C8B-B14F-4D97-AF65-F5344CB8AC3E}">
        <p14:creationId xmlns:p14="http://schemas.microsoft.com/office/powerpoint/2010/main" val="1778226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75415-CD85-0C25-028D-7ED53011A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Passwords: Salted storage</a:t>
            </a:r>
            <a:endParaRPr lang="en-AU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09D20A0-FC51-59E7-FD0E-53DBABC421FE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971" y="1268760"/>
            <a:ext cx="7942058" cy="5400600"/>
          </a:xfrm>
        </p:spPr>
      </p:pic>
    </p:spTree>
    <p:extLst>
      <p:ext uri="{BB962C8B-B14F-4D97-AF65-F5344CB8AC3E}">
        <p14:creationId xmlns:p14="http://schemas.microsoft.com/office/powerpoint/2010/main" val="3525644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75415-CD85-0C25-028D-7ED53011A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Passwords: Salted storage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2AA7F-C81B-8C6D-E381-A5A05726F6A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Advantages of salting</a:t>
            </a:r>
          </a:p>
          <a:p>
            <a:r>
              <a:rPr lang="en-US" sz="2800" dirty="0"/>
              <a:t>Prevents duplicate passwords from being visible in the password file (different HP for users having the same password).</a:t>
            </a:r>
          </a:p>
          <a:p>
            <a:r>
              <a:rPr lang="en-US" sz="2800" dirty="0"/>
              <a:t>Significantly increases the time complexity of offline dictionary attacks, since a unique salt is used for each user.</a:t>
            </a:r>
          </a:p>
          <a:p>
            <a:r>
              <a:rPr lang="en-US" sz="2800" dirty="0"/>
              <a:t>Makes it nearly impossible to tell if a person used the same password on multiple systems.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303623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3BE09-FECE-B57F-46BB-94CEF1C44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 User Authentication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21A06-8004-515A-4AE5-D134709FBB9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800" dirty="0"/>
              <a:t>Local authentication is safer</a:t>
            </a:r>
          </a:p>
          <a:p>
            <a:pPr lvl="1"/>
            <a:r>
              <a:rPr lang="en-US" sz="2400" dirty="0"/>
              <a:t>Login to personal computer</a:t>
            </a:r>
          </a:p>
          <a:p>
            <a:pPr lvl="1"/>
            <a:r>
              <a:rPr lang="en-US" sz="2400" dirty="0"/>
              <a:t>PIN input at ATM machine</a:t>
            </a:r>
          </a:p>
          <a:p>
            <a:endParaRPr lang="en-US" sz="2800" dirty="0"/>
          </a:p>
          <a:p>
            <a:r>
              <a:rPr lang="en-US" sz="2800" dirty="0"/>
              <a:t>Remote authentication problem</a:t>
            </a:r>
          </a:p>
          <a:p>
            <a:pPr lvl="1"/>
            <a:r>
              <a:rPr lang="en-US" sz="2400" dirty="0"/>
              <a:t>Eavesdroppers listening, looking for passwords</a:t>
            </a:r>
          </a:p>
          <a:p>
            <a:pPr lvl="1"/>
            <a:r>
              <a:rPr lang="en-US" sz="2400" dirty="0"/>
              <a:t>Solutions: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sz="2400" dirty="0"/>
              <a:t>transmit password over an encrypted channel</a:t>
            </a:r>
          </a:p>
          <a:p>
            <a:pPr lvl="2"/>
            <a:r>
              <a:rPr lang="en-US" sz="2000" dirty="0"/>
              <a:t>i.e. manage the overhead of creating a secure channel first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sz="2400" dirty="0"/>
              <a:t>use a challenge-response strategy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2942158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A8870-83D5-B74B-316B-6DE64355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3600" dirty="0"/>
              <a:t>Challenge-response authentication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5E85F4-2835-FE0F-585C-76F7DDB48FDA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/>
                  <a:t>Using Symmetric Crypto</a:t>
                </a:r>
              </a:p>
              <a:p>
                <a:r>
                  <a:rPr lang="en-US" sz="2400" dirty="0"/>
                  <a:t>server sends a challenge (typically a random nonce) to the user ...</a:t>
                </a:r>
              </a:p>
              <a:p>
                <a:r>
                  <a:rPr lang="en-US" sz="2400" dirty="0"/>
                  <a:t>… who replies with the solution after a computation involving the shared secret and the challenge</a:t>
                </a:r>
              </a:p>
              <a:p>
                <a:pPr lvl="1"/>
                <a:r>
                  <a:rPr lang="en-US" sz="2000" dirty="0"/>
                  <a:t>e.g. encrypt the nonce using shared secret as the key</a:t>
                </a:r>
              </a:p>
              <a:p>
                <a:pPr lvl="1"/>
                <a:r>
                  <a:rPr lang="en-US" sz="2000" dirty="0"/>
                  <a:t>the server should know the secret in clear!</a:t>
                </a:r>
              </a:p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 )</m:t>
                    </m:r>
                  </m:oMath>
                </a14:m>
                <a:r>
                  <a:rPr lang="en-US" sz="2400" dirty="0"/>
                  <a:t> is a non-secret mathematical function</a:t>
                </a:r>
              </a:p>
              <a:p>
                <a:endParaRPr lang="en-AU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5E85F4-2835-FE0F-585C-76F7DDB48F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185" t="-1043" r="-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93D8ECC7-1B9B-49E1-64CC-0250ED0356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5013176"/>
            <a:ext cx="5904656" cy="1515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331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A8870-83D5-B74B-316B-6DE64355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3600" dirty="0"/>
              <a:t>Challenge-response 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E85F4-2835-FE0F-585C-76F7DDB48FD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Using Asymmetric Crypto</a:t>
            </a:r>
          </a:p>
          <a:p>
            <a:r>
              <a:rPr lang="en-US" sz="2400" dirty="0"/>
              <a:t>server knows the public keys of all users</a:t>
            </a:r>
          </a:p>
          <a:p>
            <a:r>
              <a:rPr lang="en-US" sz="2400" dirty="0"/>
              <a:t>server sends a challenge to user: a random number R encrypted with the user’s public key ...</a:t>
            </a:r>
          </a:p>
          <a:p>
            <a:r>
              <a:rPr lang="en-US" sz="2400" dirty="0"/>
              <a:t>... and the users replies by sending R in clear thanks to its knowledge of the private key</a:t>
            </a:r>
          </a:p>
          <a:p>
            <a:pPr marL="0" indent="0">
              <a:buNone/>
            </a:pPr>
            <a:endParaRPr lang="en-AU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D36299-BCAF-2ECF-50B5-F9582588FE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000" y="4305790"/>
            <a:ext cx="6192688" cy="198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892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44D59-B12D-A9F8-BD92-E895E1B1B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A200F-1EE4-1777-47B6-F131F631A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7797" y="2348880"/>
            <a:ext cx="7468699" cy="2160240"/>
          </a:xfrm>
        </p:spPr>
        <p:txBody>
          <a:bodyPr/>
          <a:lstStyle/>
          <a:p>
            <a:pPr algn="ctr"/>
            <a:r>
              <a:rPr lang="en-US" sz="4800" dirty="0"/>
              <a:t>Possession-based authentication</a:t>
            </a:r>
            <a:br>
              <a:rPr lang="en-US" sz="4800" dirty="0"/>
            </a:br>
            <a:r>
              <a:rPr lang="en-US" b="0" dirty="0"/>
              <a:t>(something you have)</a:t>
            </a:r>
            <a:endParaRPr lang="en-US" sz="4800" b="0" dirty="0"/>
          </a:p>
        </p:txBody>
      </p:sp>
    </p:spTree>
    <p:extLst>
      <p:ext uri="{BB962C8B-B14F-4D97-AF65-F5344CB8AC3E}">
        <p14:creationId xmlns:p14="http://schemas.microsoft.com/office/powerpoint/2010/main" val="2176238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6778"/>
            <a:ext cx="8964488" cy="1069514"/>
          </a:xfrm>
        </p:spPr>
        <p:txBody>
          <a:bodyPr/>
          <a:lstStyle/>
          <a:p>
            <a:r>
              <a:rPr lang="en-US" dirty="0"/>
              <a:t>Possession-based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467544" y="1560612"/>
            <a:ext cx="8229600" cy="4676700"/>
          </a:xfrm>
        </p:spPr>
        <p:txBody>
          <a:bodyPr/>
          <a:lstStyle/>
          <a:p>
            <a:r>
              <a:rPr lang="en-US" sz="2600" dirty="0"/>
              <a:t>Possession-based authentication verifies a user’s identity using something they physically possess, such as a smartphone, hardware token, smart card, or security key.</a:t>
            </a:r>
          </a:p>
          <a:p>
            <a:r>
              <a:rPr lang="en-US" sz="2600" dirty="0"/>
              <a:t>Since there is a real danger of that physical object </a:t>
            </a:r>
            <a:r>
              <a:rPr lang="en-US" sz="2600" dirty="0">
                <a:solidFill>
                  <a:srgbClr val="FF0000"/>
                </a:solidFill>
              </a:rPr>
              <a:t>being stolen</a:t>
            </a:r>
            <a:r>
              <a:rPr lang="en-US" sz="2600" dirty="0"/>
              <a:t>, possession-based authentication is typically used as </a:t>
            </a:r>
            <a:r>
              <a:rPr lang="en-US" sz="2600" b="1" dirty="0">
                <a:solidFill>
                  <a:srgbClr val="7030A0"/>
                </a:solidFill>
              </a:rPr>
              <a:t>a second factor</a:t>
            </a:r>
            <a:r>
              <a:rPr lang="en-US" sz="2600" dirty="0"/>
              <a:t> of authentication (rather than the only factor).</a:t>
            </a:r>
          </a:p>
          <a:p>
            <a:r>
              <a:rPr lang="en-US" sz="2600" dirty="0"/>
              <a:t>A common way to implement it is via </a:t>
            </a:r>
            <a:r>
              <a:rPr lang="en-US" sz="2600" b="1" dirty="0"/>
              <a:t>One-Time Passcodes (OTP)</a:t>
            </a:r>
            <a:r>
              <a:rPr lang="en-US" sz="2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24683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F81DF-EFC3-80F7-5EB6-DD4EAE507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E2E43-F302-AC88-7514-797FE1CEB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One-Time Passcodes (OTP)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44C5D-BA61-CB09-55BE-8C502231EF7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7544" y="1562400"/>
            <a:ext cx="6768752" cy="4176464"/>
          </a:xfrm>
        </p:spPr>
        <p:txBody>
          <a:bodyPr/>
          <a:lstStyle/>
          <a:p>
            <a:r>
              <a:rPr lang="en-US" sz="2200" dirty="0"/>
              <a:t>An OTP is generated from a </a:t>
            </a:r>
            <a:r>
              <a:rPr lang="en-US" sz="2200" b="1" dirty="0"/>
              <a:t>secret (seed).</a:t>
            </a:r>
          </a:p>
          <a:p>
            <a:r>
              <a:rPr lang="en-US" sz="2200" dirty="0"/>
              <a:t>The secret could be held by </a:t>
            </a:r>
            <a:r>
              <a:rPr lang="en-US" sz="2200" dirty="0">
                <a:solidFill>
                  <a:srgbClr val="C00000"/>
                </a:solidFill>
              </a:rPr>
              <a:t>server only</a:t>
            </a:r>
            <a:r>
              <a:rPr lang="en-US" sz="2200" dirty="0"/>
              <a:t>.</a:t>
            </a:r>
          </a:p>
          <a:p>
            <a:pPr lvl="1"/>
            <a:r>
              <a:rPr lang="en-US" sz="1800" dirty="0"/>
              <a:t>OTP is generated by server and sent to client’s second factor device (like mobile phone via call/</a:t>
            </a:r>
            <a:r>
              <a:rPr lang="en-US" sz="1800" dirty="0" err="1"/>
              <a:t>sms</a:t>
            </a:r>
            <a:r>
              <a:rPr lang="en-US" sz="1800" dirty="0"/>
              <a:t>)</a:t>
            </a:r>
          </a:p>
          <a:p>
            <a:r>
              <a:rPr lang="en-US" sz="2200" dirty="0"/>
              <a:t>Or the secret could be </a:t>
            </a:r>
            <a:r>
              <a:rPr lang="en-US" sz="2200" dirty="0">
                <a:solidFill>
                  <a:srgbClr val="C00000"/>
                </a:solidFill>
              </a:rPr>
              <a:t>shared</a:t>
            </a:r>
            <a:r>
              <a:rPr lang="en-US" sz="2200" dirty="0"/>
              <a:t> between client and server. So, the server verifies the OTP created at client side</a:t>
            </a:r>
          </a:p>
          <a:p>
            <a:pPr lvl="1"/>
            <a:r>
              <a:rPr lang="en-US" sz="1800" dirty="0"/>
              <a:t>generated and shown by a hardware token device</a:t>
            </a:r>
          </a:p>
          <a:p>
            <a:pPr lvl="1"/>
            <a:r>
              <a:rPr lang="en-US" sz="1800" dirty="0"/>
              <a:t>generated and shown by an app on smartphone</a:t>
            </a:r>
          </a:p>
          <a:p>
            <a:pPr lvl="1"/>
            <a:r>
              <a:rPr lang="en-US" sz="1800" dirty="0"/>
              <a:t>emitted by smart card or hardware keys (connected over USB, Bluetooth or NFC)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F3A200-F0DD-CC95-A07A-99B80FFABC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1840" y="5112568"/>
            <a:ext cx="1340768" cy="13407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9C9FF1-852E-406D-E111-57A47C70EE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406" y="2037040"/>
            <a:ext cx="1671988" cy="35973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B93138-0AC2-C7EB-DF92-CB4ABB1F4B9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5382498"/>
            <a:ext cx="2232248" cy="9268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0864C3-8748-5E64-EA79-B8040264949D}"/>
              </a:ext>
            </a:extLst>
          </p:cNvPr>
          <p:cNvSpPr txBox="1"/>
          <p:nvPr/>
        </p:nvSpPr>
        <p:spPr>
          <a:xfrm>
            <a:off x="1327164" y="6309320"/>
            <a:ext cx="1665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Hardware token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2CD8E0-05F5-2B07-A9F1-5708EA3D01C5}"/>
              </a:ext>
            </a:extLst>
          </p:cNvPr>
          <p:cNvSpPr txBox="1"/>
          <p:nvPr/>
        </p:nvSpPr>
        <p:spPr>
          <a:xfrm>
            <a:off x="4937454" y="6309320"/>
            <a:ext cx="9087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YubiKey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A7BEA3-9EF5-78E1-E094-E79ACB60BA1F}"/>
              </a:ext>
            </a:extLst>
          </p:cNvPr>
          <p:cNvSpPr txBox="1"/>
          <p:nvPr/>
        </p:nvSpPr>
        <p:spPr>
          <a:xfrm>
            <a:off x="6912512" y="5821812"/>
            <a:ext cx="226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Code generator app</a:t>
            </a:r>
          </a:p>
          <a:p>
            <a:pPr algn="ctr"/>
            <a:r>
              <a:rPr lang="en-US" sz="1600" dirty="0"/>
              <a:t>(google authenticator)</a:t>
            </a:r>
          </a:p>
        </p:txBody>
      </p:sp>
    </p:spTree>
    <p:extLst>
      <p:ext uri="{BB962C8B-B14F-4D97-AF65-F5344CB8AC3E}">
        <p14:creationId xmlns:p14="http://schemas.microsoft.com/office/powerpoint/2010/main" val="11044164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B5AFC-76AD-FE0A-1892-43511BB1B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One-Time Passcodes (OTP)</a:t>
            </a:r>
            <a:endParaRPr lang="en-AU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AEE8C-06B0-315D-72FD-5D91425A01C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Counter based one-time passwords</a:t>
            </a:r>
          </a:p>
          <a:p>
            <a:r>
              <a:rPr lang="en-US" sz="2400" dirty="0"/>
              <a:t>A secret value (seed) is securely handed over to client</a:t>
            </a:r>
          </a:p>
          <a:p>
            <a:r>
              <a:rPr lang="en-US" sz="2400" dirty="0"/>
              <a:t>At authentication time, OTP is calculated at the client using </a:t>
            </a:r>
            <a:r>
              <a:rPr lang="en-US" sz="2400" b="1" dirty="0"/>
              <a:t>an increasing counter</a:t>
            </a:r>
            <a:r>
              <a:rPr lang="en-US" sz="2400" dirty="0"/>
              <a:t> and seed</a:t>
            </a:r>
          </a:p>
          <a:p>
            <a:r>
              <a:rPr lang="en-US" sz="2400" dirty="0"/>
              <a:t>A </a:t>
            </a:r>
            <a:r>
              <a:rPr lang="en-US" sz="2400" u="sng" dirty="0"/>
              <a:t>one-way</a:t>
            </a:r>
            <a:r>
              <a:rPr lang="en-US" sz="2400" dirty="0"/>
              <a:t> function is used for OTP calculation (why?)</a:t>
            </a:r>
            <a:endParaRPr lang="en-AU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6DE748-A42A-4DDF-FE6D-2B766EEED2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400" y="3933056"/>
            <a:ext cx="5430712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1028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9213B-9312-7057-B110-7F30B0A63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One-Time Passcodes (OTP)</a:t>
            </a:r>
            <a:endParaRPr lang="en-AU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A5538-BA10-A337-AD74-0EC9710BB52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Time based one-time passwords (TOTP)</a:t>
            </a:r>
          </a:p>
          <a:p>
            <a:r>
              <a:rPr lang="en-US" sz="2400" dirty="0"/>
              <a:t>A secret value (seed) is securely handed over to client</a:t>
            </a:r>
          </a:p>
          <a:p>
            <a:r>
              <a:rPr lang="en-US" sz="2400" dirty="0"/>
              <a:t>At authentication time, OTP is calculated at the client using </a:t>
            </a:r>
            <a:r>
              <a:rPr lang="en-US" sz="2400" b="1" dirty="0"/>
              <a:t>the current time</a:t>
            </a:r>
            <a:r>
              <a:rPr lang="en-US" sz="2400" dirty="0"/>
              <a:t> and seed</a:t>
            </a:r>
          </a:p>
          <a:p>
            <a:r>
              <a:rPr lang="en-US" sz="2400" dirty="0"/>
              <a:t>A </a:t>
            </a:r>
            <a:r>
              <a:rPr lang="en-US" sz="2400" u="sng" dirty="0"/>
              <a:t>one-way</a:t>
            </a:r>
            <a:r>
              <a:rPr lang="en-US" sz="2400" dirty="0"/>
              <a:t> function is used for OTP calculation (why?)</a:t>
            </a:r>
            <a:endParaRPr lang="en-AU" sz="2400" dirty="0"/>
          </a:p>
          <a:p>
            <a:endParaRPr lang="en-AU" sz="2800" dirty="0"/>
          </a:p>
          <a:p>
            <a:endParaRPr lang="en-US" sz="2400" dirty="0"/>
          </a:p>
          <a:p>
            <a:endParaRPr lang="en-AU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B83854-B893-C0AD-8471-046AA244F0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2167" y="3943443"/>
            <a:ext cx="5459177" cy="2768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6017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94F45-6280-9E92-67DD-93C99B351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One-Time Passcodes (OTP)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443BBB4-901D-8F24-27D6-DFACFE410D70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168" y="1556792"/>
            <a:ext cx="6755664" cy="4891252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167BB4-51B3-D1A3-6794-7753DE866411}"/>
              </a:ext>
            </a:extLst>
          </p:cNvPr>
          <p:cNvSpPr txBox="1"/>
          <p:nvPr/>
        </p:nvSpPr>
        <p:spPr>
          <a:xfrm>
            <a:off x="35496" y="6595001"/>
            <a:ext cx="38884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https://www.protectimus.com/blog/totp-algorithm-explained/</a:t>
            </a:r>
          </a:p>
        </p:txBody>
      </p:sp>
    </p:spTree>
    <p:extLst>
      <p:ext uri="{BB962C8B-B14F-4D97-AF65-F5344CB8AC3E}">
        <p14:creationId xmlns:p14="http://schemas.microsoft.com/office/powerpoint/2010/main" val="16083347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04606-DDE7-050D-215E-FA8501700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SecurID: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98337-23CD-3A06-2A85-4D5AF4A1051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400" dirty="0"/>
              <a:t>SecureID is time-based synchronous OTP technique invented and patented by RSA security company</a:t>
            </a:r>
          </a:p>
          <a:p>
            <a:r>
              <a:rPr lang="en-US" sz="2400" dirty="0"/>
              <a:t>OTP is calculated as: P</a:t>
            </a:r>
            <a:r>
              <a:rPr lang="en-US" sz="2400" baseline="-25000" dirty="0"/>
              <a:t>UID</a:t>
            </a:r>
            <a:r>
              <a:rPr lang="en-US" sz="2400" dirty="0"/>
              <a:t> ( t ) = f( SUID, t )</a:t>
            </a:r>
          </a:p>
          <a:p>
            <a:pPr lvl="1"/>
            <a:r>
              <a:rPr lang="en-US" sz="2000" dirty="0"/>
              <a:t>where SUID is the seed, and t is current time in </a:t>
            </a:r>
            <a:r>
              <a:rPr lang="en-US" sz="2000" b="1" dirty="0"/>
              <a:t>minutes</a:t>
            </a:r>
            <a:r>
              <a:rPr lang="en-US" sz="2000" dirty="0"/>
              <a:t>.</a:t>
            </a:r>
          </a:p>
          <a:p>
            <a:r>
              <a:rPr lang="en-US" sz="2400" dirty="0"/>
              <a:t>the client sends:</a:t>
            </a:r>
          </a:p>
          <a:p>
            <a:pPr lvl="1"/>
            <a:r>
              <a:rPr lang="en-US" sz="2000" dirty="0"/>
              <a:t>id, PIN, token-code (computed from seed and current time)</a:t>
            </a:r>
          </a:p>
          <a:p>
            <a:r>
              <a:rPr lang="en-US" sz="2400" dirty="0"/>
              <a:t>the server first verifies client’s PIN. Then it verifies the token against three possible values: TC-1, TC-0, TC+1</a:t>
            </a:r>
          </a:p>
          <a:p>
            <a:pPr lvl="1"/>
            <a:r>
              <a:rPr lang="en-US" sz="2000" dirty="0"/>
              <a:t>i.e. token code of past, current and future minute</a:t>
            </a:r>
          </a:p>
          <a:p>
            <a:r>
              <a:rPr lang="en-US" sz="2400" dirty="0"/>
              <a:t>will fail if there is a drift of more than one minute</a:t>
            </a:r>
          </a:p>
          <a:p>
            <a:r>
              <a:rPr lang="en-US" sz="2400" dirty="0"/>
              <a:t>wrong authentication attempts are limited</a:t>
            </a:r>
          </a:p>
          <a:p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4790700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E0EF9-B926-14A1-5DED-D4C4C941E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94477-D0E3-3684-63AD-FE534C947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7797" y="2348880"/>
            <a:ext cx="7468699" cy="2160240"/>
          </a:xfrm>
        </p:spPr>
        <p:txBody>
          <a:bodyPr/>
          <a:lstStyle/>
          <a:p>
            <a:pPr algn="ctr"/>
            <a:r>
              <a:rPr lang="en-US" sz="4800" dirty="0"/>
              <a:t>Biometric authentication</a:t>
            </a:r>
            <a:br>
              <a:rPr lang="en-US" sz="4800" dirty="0"/>
            </a:br>
            <a:r>
              <a:rPr lang="en-US" b="0" dirty="0"/>
              <a:t>(someone you are)</a:t>
            </a:r>
            <a:endParaRPr lang="en-US" sz="4800" b="0" dirty="0"/>
          </a:p>
        </p:txBody>
      </p:sp>
    </p:spTree>
    <p:extLst>
      <p:ext uri="{BB962C8B-B14F-4D97-AF65-F5344CB8AC3E}">
        <p14:creationId xmlns:p14="http://schemas.microsoft.com/office/powerpoint/2010/main" val="22179008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9774D-DE48-2EB6-69C9-5A80EE224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Biometric Authentication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4F3AD-0C90-CF15-54BF-E2ECFF9DB5C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800" dirty="0"/>
              <a:t>Authenticate user based on one of their physiological characteristics:</a:t>
            </a:r>
          </a:p>
          <a:p>
            <a:pPr lvl="1"/>
            <a:r>
              <a:rPr lang="en-US" sz="2400" dirty="0"/>
              <a:t>facial features</a:t>
            </a:r>
          </a:p>
          <a:p>
            <a:pPr lvl="1"/>
            <a:r>
              <a:rPr lang="en-US" sz="2400" dirty="0"/>
              <a:t>fingerprint</a:t>
            </a:r>
          </a:p>
          <a:p>
            <a:pPr lvl="1"/>
            <a:r>
              <a:rPr lang="en-US" sz="2400" dirty="0"/>
              <a:t>hand geometry</a:t>
            </a:r>
          </a:p>
          <a:p>
            <a:pPr lvl="1"/>
            <a:r>
              <a:rPr lang="en-US" sz="2400" dirty="0"/>
              <a:t>palm vein pattern</a:t>
            </a:r>
          </a:p>
          <a:p>
            <a:pPr lvl="1"/>
            <a:r>
              <a:rPr lang="en-US" sz="2400" dirty="0"/>
              <a:t>retina vessel pattern</a:t>
            </a:r>
          </a:p>
          <a:p>
            <a:pPr lvl="1"/>
            <a:r>
              <a:rPr lang="en-US" sz="2400" dirty="0"/>
              <a:t>iris pattern</a:t>
            </a:r>
          </a:p>
          <a:p>
            <a:pPr lvl="1"/>
            <a:r>
              <a:rPr lang="en-US" sz="2400" dirty="0"/>
              <a:t>signature dynamics</a:t>
            </a:r>
          </a:p>
          <a:p>
            <a:pPr lvl="1"/>
            <a:r>
              <a:rPr lang="en-US" sz="2400" dirty="0"/>
              <a:t>voice</a:t>
            </a:r>
          </a:p>
          <a:p>
            <a:endParaRPr lang="en-AU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319061-4DEA-5B75-EE66-147007B976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9535" t="11861" r="22759" b="32374"/>
          <a:stretch/>
        </p:blipFill>
        <p:spPr bwMode="auto">
          <a:xfrm>
            <a:off x="4211960" y="2636912"/>
            <a:ext cx="4824536" cy="3075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904512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9FAED-E546-D28D-21DE-CAFAC204F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and Templates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C7FEC-278C-6F54-625A-DFB176C30EE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400" dirty="0"/>
              <a:t>Specialized </a:t>
            </a:r>
            <a:r>
              <a:rPr lang="en-US" sz="2400" dirty="0">
                <a:solidFill>
                  <a:srgbClr val="C00000"/>
                </a:solidFill>
              </a:rPr>
              <a:t>sensors</a:t>
            </a:r>
            <a:r>
              <a:rPr lang="en-US" sz="2400" dirty="0"/>
              <a:t> are used to capture the biometric data.</a:t>
            </a:r>
          </a:p>
          <a:p>
            <a:r>
              <a:rPr lang="en-US" sz="2400" dirty="0"/>
              <a:t>During enrollment, the raw data (image/audio) is not stored by itself. Instead, the system performs </a:t>
            </a:r>
            <a:r>
              <a:rPr lang="en-US" sz="2400" dirty="0">
                <a:solidFill>
                  <a:srgbClr val="C00000"/>
                </a:solidFill>
              </a:rPr>
              <a:t>feature extraction</a:t>
            </a:r>
            <a:r>
              <a:rPr lang="en-US" sz="2400" dirty="0"/>
              <a:t> to convert it into a digital, mathematical representation, called biometric </a:t>
            </a:r>
            <a:r>
              <a:rPr lang="en-US" sz="2400" b="1" dirty="0">
                <a:solidFill>
                  <a:srgbClr val="C00000"/>
                </a:solidFill>
              </a:rPr>
              <a:t>template</a:t>
            </a:r>
            <a:r>
              <a:rPr lang="en-US" sz="2400" dirty="0"/>
              <a:t>.</a:t>
            </a:r>
          </a:p>
          <a:p>
            <a:pPr lvl="1"/>
            <a:r>
              <a:rPr lang="en-US" sz="2000" dirty="0"/>
              <a:t>Template cannot easily be reverse-engineered back into the original biometric data, which is an important security and privacy measure.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1BB3C9-3F45-256C-5668-441689776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224" y="4725144"/>
            <a:ext cx="4917232" cy="17377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903C99-1354-6952-91DF-E4FF19771F54}"/>
              </a:ext>
            </a:extLst>
          </p:cNvPr>
          <p:cNvSpPr txBox="1"/>
          <p:nvPr/>
        </p:nvSpPr>
        <p:spPr>
          <a:xfrm>
            <a:off x="14814" y="6611239"/>
            <a:ext cx="748881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https://www.researchgate.net/publication/354801909_Study_on_Introducing_Biometric_Fingerprint_Authentication_in_Automated_Student_Attendance_System</a:t>
            </a:r>
          </a:p>
        </p:txBody>
      </p:sp>
    </p:spTree>
    <p:extLst>
      <p:ext uri="{BB962C8B-B14F-4D97-AF65-F5344CB8AC3E}">
        <p14:creationId xmlns:p14="http://schemas.microsoft.com/office/powerpoint/2010/main" val="16348831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FF623-388D-AD58-5572-191B2DBA6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 of a biometric system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642AE-59D6-6EAF-0DA8-DCAB45175C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03585" y="1560612"/>
            <a:ext cx="3476327" cy="467670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Enrollment </a:t>
            </a:r>
            <a:r>
              <a:rPr lang="en-US" sz="2000" dirty="0"/>
              <a:t>means registration of a user’s template (unique trait)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Verification</a:t>
            </a:r>
            <a:r>
              <a:rPr lang="en-US" sz="2000" dirty="0"/>
              <a:t> is when user provides their identity (username, PIN etc.) plus biometric data to get authenticated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Identification</a:t>
            </a:r>
            <a:r>
              <a:rPr lang="en-US" sz="2000" dirty="0"/>
              <a:t> is when only biometric data is provided, system compares it with all the stored templates</a:t>
            </a:r>
          </a:p>
          <a:p>
            <a:endParaRPr lang="en-AU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F29E76-96CD-0AF6-6326-1CC3E9F66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l="4633" t="1790" r="4633" b="17897"/>
          <a:stretch>
            <a:fillRect/>
          </a:stretch>
        </p:blipFill>
        <p:spPr bwMode="auto">
          <a:xfrm>
            <a:off x="3923928" y="1083531"/>
            <a:ext cx="4916487" cy="5630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585549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070E8-0F03-2AE3-5DF1-C09FE727A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Template matching issue</a:t>
            </a:r>
            <a:endParaRPr lang="en-AU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7F8DE-6C60-5493-71AA-61762078B93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400" dirty="0"/>
              <a:t>Due to sensor noise and variability in human usage, there won’t be an exact match between any two biometric scan templates</a:t>
            </a:r>
          </a:p>
          <a:p>
            <a:pPr>
              <a:spcBef>
                <a:spcPts val="576"/>
              </a:spcBef>
              <a:buFont typeface="맑은 고딕" panose="020B0503020000020004" pitchFamily="34" charset="-127"/>
              <a:buChar char="–"/>
            </a:pPr>
            <a:r>
              <a:rPr lang="en-US" sz="2400" dirty="0"/>
              <a:t>So, system computes a </a:t>
            </a:r>
            <a:r>
              <a:rPr lang="en-US" sz="2400" b="1" dirty="0"/>
              <a:t>similarity score</a:t>
            </a:r>
            <a:r>
              <a:rPr lang="en-US" sz="2400" dirty="0"/>
              <a:t> (say 0 to 100). If the score is above some </a:t>
            </a:r>
            <a:r>
              <a:rPr lang="en-US" sz="2400" b="1" dirty="0"/>
              <a:t>threshold</a:t>
            </a:r>
            <a:r>
              <a:rPr lang="en-US" sz="2400" dirty="0"/>
              <a:t>, the user is accepted otherwise rejected</a:t>
            </a:r>
          </a:p>
          <a:p>
            <a:pPr>
              <a:spcBef>
                <a:spcPts val="576"/>
              </a:spcBef>
              <a:buFont typeface="맑은 고딕" panose="020B0503020000020004" pitchFamily="34" charset="-127"/>
              <a:buChar char="–"/>
            </a:pPr>
            <a:r>
              <a:rPr lang="en-US" sz="2400" dirty="0"/>
              <a:t>FAR = False Acceptance Rate</a:t>
            </a:r>
            <a:br>
              <a:rPr lang="en-US" sz="2400" dirty="0"/>
            </a:br>
            <a:r>
              <a:rPr lang="en-US" sz="2400" dirty="0"/>
              <a:t>FRR = False Rejection Rate</a:t>
            </a:r>
          </a:p>
          <a:p>
            <a:endParaRPr lang="en-US" sz="2400" dirty="0"/>
          </a:p>
          <a:p>
            <a:endParaRPr lang="en-AU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7BD66F-D81B-23BB-9D5F-9A30C1E77515}"/>
              </a:ext>
            </a:extLst>
          </p:cNvPr>
          <p:cNvSpPr txBox="1"/>
          <p:nvPr/>
        </p:nvSpPr>
        <p:spPr>
          <a:xfrm>
            <a:off x="3786808" y="4869160"/>
            <a:ext cx="49320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spcBef>
                <a:spcPts val="576"/>
              </a:spcBef>
            </a:pPr>
            <a:r>
              <a:rPr lang="en-US" sz="2000" dirty="0"/>
              <a:t>Using a higher threshold will reduce FAR (unauthorized users gaining access), at the cost of more genuine users getting blocked (high FRR)!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A1E4039-3ECF-83A7-B2BD-3077ADFAB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869160"/>
            <a:ext cx="2743200" cy="147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210187-0C2C-7F25-A55B-A9D0F90EC535}"/>
              </a:ext>
            </a:extLst>
          </p:cNvPr>
          <p:cNvSpPr txBox="1"/>
          <p:nvPr/>
        </p:nvSpPr>
        <p:spPr>
          <a:xfrm>
            <a:off x="2" y="6588521"/>
            <a:ext cx="322876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http://www.face-tek.com/e_bias_detail.php?BiasID=3</a:t>
            </a:r>
          </a:p>
        </p:txBody>
      </p:sp>
    </p:spTree>
    <p:extLst>
      <p:ext uri="{BB962C8B-B14F-4D97-AF65-F5344CB8AC3E}">
        <p14:creationId xmlns:p14="http://schemas.microsoft.com/office/powerpoint/2010/main" val="40413343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E2BAD-DEA6-7865-0289-90BF1764D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1A034-C8E9-7D95-2E5B-98B327A0B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Other challenges in biometric auth</a:t>
            </a:r>
            <a:endParaRPr lang="en-AU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DD7F9-FDD2-7B16-B03F-90DE5349877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400" dirty="0"/>
              <a:t>Biological characteristics are variable due to aging, wounds, swelling, wetness etc.</a:t>
            </a:r>
          </a:p>
          <a:p>
            <a:pPr lvl="1"/>
            <a:r>
              <a:rPr lang="en-US" sz="2000" dirty="0"/>
              <a:t>voice altered due to emotion or injury: </a:t>
            </a:r>
            <a:r>
              <a:rPr lang="en-US" sz="2000" dirty="0">
                <a:hlinkClick r:id="rId2"/>
              </a:rPr>
              <a:t>https://youtu.be/iYhpbph4sLc</a:t>
            </a:r>
            <a:endParaRPr lang="en-US" sz="2000" dirty="0"/>
          </a:p>
          <a:p>
            <a:pPr lvl="1"/>
            <a:r>
              <a:rPr lang="en-US" sz="2000" dirty="0"/>
              <a:t>retinal blood pattern altered due to alcohol or drug</a:t>
            </a:r>
          </a:p>
          <a:p>
            <a:r>
              <a:rPr lang="en-US" sz="2400" dirty="0"/>
              <a:t>Persons with disability unable to use the system, so a fallback is needed</a:t>
            </a:r>
          </a:p>
          <a:p>
            <a:r>
              <a:rPr lang="en-US" sz="2400" dirty="0"/>
              <a:t>Extra hardware &amp; logistical costs of sensors</a:t>
            </a:r>
          </a:p>
          <a:p>
            <a:r>
              <a:rPr lang="en-US" sz="2400" dirty="0"/>
              <a:t>No anonymous access possible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1539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672" y="2708920"/>
            <a:ext cx="7468699" cy="1656184"/>
          </a:xfrm>
        </p:spPr>
        <p:txBody>
          <a:bodyPr/>
          <a:lstStyle/>
          <a:p>
            <a:pPr algn="ctr"/>
            <a:r>
              <a:rPr lang="en-US" sz="4800" dirty="0"/>
              <a:t>Centralized Multi-Service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8249363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Multi-Service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800" dirty="0"/>
              <a:t>A typical enterprise environment has several application servers</a:t>
            </a:r>
          </a:p>
          <a:p>
            <a:pPr lvl="1"/>
            <a:r>
              <a:rPr lang="en-US" sz="2400" dirty="0"/>
              <a:t>e.g. sales management, knowledgebase, wiki, accounts, HR management, technical support</a:t>
            </a:r>
          </a:p>
          <a:p>
            <a:r>
              <a:rPr lang="en-US" sz="2800" dirty="0"/>
              <a:t>It will be too complex (and insecure) to store separate user credentials or keys on each application server</a:t>
            </a:r>
          </a:p>
          <a:p>
            <a:endParaRPr lang="en-US" sz="2800" dirty="0"/>
          </a:p>
          <a:p>
            <a:r>
              <a:rPr lang="en-US" sz="2800" dirty="0"/>
              <a:t>Solution: designate a </a:t>
            </a:r>
            <a:r>
              <a:rPr lang="en-US" sz="2800" b="1" dirty="0"/>
              <a:t>single authentication server</a:t>
            </a:r>
            <a:r>
              <a:rPr lang="en-US" sz="2800" dirty="0"/>
              <a:t> for all </a:t>
            </a:r>
            <a:r>
              <a:rPr lang="en-US" sz="2800" dirty="0" err="1"/>
              <a:t>auth</a:t>
            </a:r>
            <a:r>
              <a:rPr lang="en-US" sz="2800" dirty="0"/>
              <a:t> requests</a:t>
            </a:r>
          </a:p>
        </p:txBody>
      </p:sp>
    </p:spTree>
    <p:extLst>
      <p:ext uri="{BB962C8B-B14F-4D97-AF65-F5344CB8AC3E}">
        <p14:creationId xmlns:p14="http://schemas.microsoft.com/office/powerpoint/2010/main" val="21329051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Distribution Center (KDC)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467544" y="1560612"/>
            <a:ext cx="7992888" cy="46767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A solution for multi-party secure communication using </a:t>
            </a:r>
            <a:r>
              <a:rPr lang="en-US" sz="2400" b="1" dirty="0"/>
              <a:t>symmetric cryptography</a:t>
            </a:r>
          </a:p>
          <a:p>
            <a:r>
              <a:rPr lang="en-US" sz="2400" dirty="0"/>
              <a:t>Each node is configured with a secret key, shared with KDC.</a:t>
            </a:r>
          </a:p>
          <a:p>
            <a:r>
              <a:rPr lang="en-US" sz="2400" dirty="0"/>
              <a:t>KDC has all the keys.</a:t>
            </a:r>
          </a:p>
          <a:p>
            <a:r>
              <a:rPr lang="en-US" sz="2400" dirty="0"/>
              <a:t>To initiate A ↔ B communication,</a:t>
            </a:r>
          </a:p>
          <a:p>
            <a:pPr lvl="1"/>
            <a:r>
              <a:rPr lang="en-US" sz="2000" dirty="0"/>
              <a:t>KDC sends a randomly generated</a:t>
            </a:r>
            <a:br>
              <a:rPr lang="en-US" sz="2000" dirty="0"/>
            </a:br>
            <a:r>
              <a:rPr lang="en-US" sz="2000" dirty="0">
                <a:solidFill>
                  <a:srgbClr val="C00000"/>
                </a:solidFill>
              </a:rPr>
              <a:t>session key</a:t>
            </a:r>
            <a:r>
              <a:rPr lang="en-US" sz="2000" dirty="0"/>
              <a:t> K</a:t>
            </a:r>
            <a:r>
              <a:rPr lang="en-US" sz="2000" baseline="-25000" dirty="0"/>
              <a:t>AB</a:t>
            </a:r>
            <a:r>
              <a:rPr lang="en-US" sz="2000" dirty="0"/>
              <a:t> encrypted with A’s key to A</a:t>
            </a:r>
            <a:br>
              <a:rPr lang="en-US" sz="2000" dirty="0"/>
            </a:br>
            <a:r>
              <a:rPr lang="en-US" sz="2000" dirty="0"/>
              <a:t>and encrypted with B’s key to B.</a:t>
            </a:r>
          </a:p>
          <a:p>
            <a:pPr lvl="1"/>
            <a:r>
              <a:rPr lang="en-US" sz="2000" dirty="0"/>
              <a:t>Now A and B can have a private conversation</a:t>
            </a:r>
            <a:br>
              <a:rPr lang="en-US" sz="2000" dirty="0"/>
            </a:br>
            <a:r>
              <a:rPr lang="en-US" sz="2000" dirty="0"/>
              <a:t>secured with K</a:t>
            </a:r>
            <a:r>
              <a:rPr lang="en-US" sz="2000" baseline="-25000" dirty="0"/>
              <a:t>AB</a:t>
            </a:r>
            <a:endParaRPr lang="en-US" sz="2400" baseline="-25000" dirty="0"/>
          </a:p>
          <a:p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4" y="3277204"/>
            <a:ext cx="1860361" cy="2036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66467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Kerberos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400" dirty="0"/>
              <a:t>Network authentication protocol</a:t>
            </a:r>
          </a:p>
          <a:p>
            <a:r>
              <a:rPr lang="en-US" sz="2400" dirty="0"/>
              <a:t>Based on idea of using symmetric crypto</a:t>
            </a:r>
          </a:p>
          <a:p>
            <a:pPr lvl="1"/>
            <a:r>
              <a:rPr lang="en-US" sz="2000" dirty="0"/>
              <a:t>Maintain a KDC</a:t>
            </a:r>
          </a:p>
          <a:p>
            <a:r>
              <a:rPr lang="en-US" sz="2400" dirty="0"/>
              <a:t>Developed at MIT for project Athena</a:t>
            </a:r>
          </a:p>
          <a:p>
            <a:endParaRPr lang="en-US" sz="2400" dirty="0"/>
          </a:p>
          <a:p>
            <a:r>
              <a:rPr lang="en-US" sz="2400" dirty="0"/>
              <a:t>Named after Greek mythological character “Cerberus” – the three headed dog</a:t>
            </a:r>
          </a:p>
          <a:p>
            <a:r>
              <a:rPr lang="en-US" sz="2400" dirty="0"/>
              <a:t>Used by popular operating systems and servers</a:t>
            </a:r>
          </a:p>
          <a:p>
            <a:r>
              <a:rPr lang="en-US" sz="2400" dirty="0"/>
              <a:t>Protects against eavesdropping and replay attacks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288" y="1098372"/>
            <a:ext cx="1835944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3072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Kerberos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800" dirty="0"/>
              <a:t>Authentication server authenticates a user</a:t>
            </a:r>
          </a:p>
          <a:p>
            <a:r>
              <a:rPr lang="en-US" sz="2800" dirty="0"/>
              <a:t>TGS, Ticket Granting Server, grants ticket to the user, for a specific service in the network</a:t>
            </a:r>
          </a:p>
          <a:p>
            <a:pPr lvl="1"/>
            <a:r>
              <a:rPr lang="en-US" sz="2400" dirty="0"/>
              <a:t>Authentication server and TGS can be the same system. They work as a single unit.</a:t>
            </a:r>
          </a:p>
          <a:p>
            <a:r>
              <a:rPr lang="en-US" sz="2800" dirty="0"/>
              <a:t>Application Server provides the service to the user</a:t>
            </a:r>
          </a:p>
          <a:p>
            <a:r>
              <a:rPr lang="en-US" sz="2800" dirty="0"/>
              <a:t>The client, the KDC (auth. server + TGS) and the Application server are the 3 heads in </a:t>
            </a:r>
            <a:r>
              <a:rPr lang="en-US" sz="2800" dirty="0" err="1"/>
              <a:t>kerberos</a:t>
            </a: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708130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Kerberos High Level Working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7833" y="1253729"/>
            <a:ext cx="6208333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372C27-F12F-C114-2EF7-E56C48A32710}"/>
              </a:ext>
            </a:extLst>
          </p:cNvPr>
          <p:cNvSpPr txBox="1"/>
          <p:nvPr/>
        </p:nvSpPr>
        <p:spPr>
          <a:xfrm>
            <a:off x="1331385" y="5589240"/>
            <a:ext cx="66607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TGT = ticket granting ticket		T</a:t>
            </a:r>
            <a:r>
              <a:rPr lang="en-US" baseline="-25000" dirty="0"/>
              <a:t>s</a:t>
            </a:r>
            <a:r>
              <a:rPr lang="en-US" dirty="0"/>
              <a:t> = service ticket</a:t>
            </a:r>
          </a:p>
          <a:p>
            <a:r>
              <a:rPr lang="en-US" dirty="0"/>
              <a:t>K</a:t>
            </a:r>
            <a:r>
              <a:rPr lang="en-US" baseline="-25000" dirty="0"/>
              <a:t>UID</a:t>
            </a:r>
            <a:r>
              <a:rPr lang="en-US" dirty="0"/>
              <a:t> = secret key of user, pre-shared with AS</a:t>
            </a:r>
          </a:p>
          <a:p>
            <a:r>
              <a:rPr lang="en-US" dirty="0"/>
              <a:t>K</a:t>
            </a:r>
            <a:r>
              <a:rPr lang="en-US" baseline="-25000" dirty="0"/>
              <a:t>S</a:t>
            </a:r>
            <a:r>
              <a:rPr lang="en-US" dirty="0"/>
              <a:t> = secret key of application server, pre-shared with TGS</a:t>
            </a:r>
          </a:p>
        </p:txBody>
      </p:sp>
    </p:spTree>
    <p:extLst>
      <p:ext uri="{BB962C8B-B14F-4D97-AF65-F5344CB8AC3E}">
        <p14:creationId xmlns:p14="http://schemas.microsoft.com/office/powerpoint/2010/main" val="40244825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Kerberos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Ch14. Kerberos.pdf                                             002F6F4DMacintosh HD                   B83AE914:"/>
          <p:cNvPicPr>
            <a:picLocks noChangeAspect="1" noChangeArrowheads="1"/>
          </p:cNvPicPr>
          <p:nvPr/>
        </p:nvPicPr>
        <p:blipFill>
          <a:blip r:embed="rId2"/>
          <a:srcRect t="4633" b="9265"/>
          <a:stretch>
            <a:fillRect/>
          </a:stretch>
        </p:blipFill>
        <p:spPr bwMode="auto">
          <a:xfrm>
            <a:off x="546956" y="1196752"/>
            <a:ext cx="8229600" cy="54760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808379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1-2. Client Authentication (Issue TGT)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4879752" y="2564904"/>
            <a:ext cx="4248472" cy="4104456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Response contains</a:t>
            </a:r>
          </a:p>
          <a:p>
            <a:r>
              <a:rPr lang="en-US" sz="2000" dirty="0"/>
              <a:t>K</a:t>
            </a:r>
            <a:r>
              <a:rPr lang="en-US" sz="2000" baseline="-25000" dirty="0"/>
              <a:t>C,TGS </a:t>
            </a:r>
            <a:r>
              <a:rPr lang="en-US" sz="2000" dirty="0"/>
              <a:t>:</a:t>
            </a:r>
            <a:r>
              <a:rPr lang="en-US" sz="2000" baseline="-25000" dirty="0"/>
              <a:t> </a:t>
            </a:r>
            <a:r>
              <a:rPr lang="en-US" sz="2000" dirty="0"/>
              <a:t>the session key to connect to ticket granting server TGS</a:t>
            </a:r>
          </a:p>
          <a:p>
            <a:r>
              <a:rPr lang="en-US" sz="2000" dirty="0"/>
              <a:t>T</a:t>
            </a:r>
            <a:r>
              <a:rPr lang="en-US" sz="2000" baseline="-25000" dirty="0"/>
              <a:t>C,TGS </a:t>
            </a:r>
            <a:r>
              <a:rPr lang="en-US" sz="2000" dirty="0"/>
              <a:t>:</a:t>
            </a:r>
            <a:r>
              <a:rPr lang="en-US" sz="2000" baseline="-25000" dirty="0"/>
              <a:t> </a:t>
            </a:r>
            <a:r>
              <a:rPr lang="en-US" sz="2000" dirty="0"/>
              <a:t>the ticket-granting ticket. It is encrypted with K</a:t>
            </a:r>
            <a:r>
              <a:rPr lang="en-US" sz="2000" baseline="-25000" dirty="0"/>
              <a:t>TGS</a:t>
            </a:r>
            <a:r>
              <a:rPr lang="en-US" sz="2000" dirty="0"/>
              <a:t> (the secret key of TGS), not known to client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Whole response is encrypted with the secret key of client K</a:t>
            </a:r>
            <a:r>
              <a:rPr lang="en-US" sz="2000" baseline="-25000" dirty="0"/>
              <a:t>C</a:t>
            </a:r>
            <a:r>
              <a:rPr lang="en-US" sz="2000" dirty="0"/>
              <a:t> (derived from their password)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636912"/>
            <a:ext cx="4631921" cy="3171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8F5F0E-3662-A84C-F771-2C3B71B60922}"/>
              </a:ext>
            </a:extLst>
          </p:cNvPr>
          <p:cNvSpPr txBox="1"/>
          <p:nvPr/>
        </p:nvSpPr>
        <p:spPr>
          <a:xfrm>
            <a:off x="179512" y="1268760"/>
            <a:ext cx="64807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2000" b="1" dirty="0"/>
              <a:t>Request</a:t>
            </a:r>
          </a:p>
          <a:p>
            <a:pPr marL="285750" indent="-285750" latinLnBrk="0">
              <a:buFont typeface="Arial" panose="020B0604020202020204" pitchFamily="34" charset="0"/>
              <a:buChar char="•"/>
            </a:pPr>
            <a:r>
              <a:rPr lang="en-US" sz="2000" dirty="0"/>
              <a:t>client send their id C, and ask for a ticket that will help them connect to ticket granting server TGS</a:t>
            </a:r>
          </a:p>
          <a:p>
            <a:pPr marL="285750" indent="-285750" latinLnBrk="0">
              <a:buFont typeface="Arial" panose="020B0604020202020204" pitchFamily="34" charset="0"/>
              <a:buChar char="•"/>
            </a:pPr>
            <a:r>
              <a:rPr lang="en-US" sz="2000" dirty="0"/>
              <a:t>this message is in plaintext</a:t>
            </a:r>
          </a:p>
        </p:txBody>
      </p:sp>
    </p:spTree>
    <p:extLst>
      <p:ext uri="{BB962C8B-B14F-4D97-AF65-F5344CB8AC3E}">
        <p14:creationId xmlns:p14="http://schemas.microsoft.com/office/powerpoint/2010/main" val="11851524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3-4. Client Authorization </a:t>
            </a:r>
            <a:br>
              <a:rPr lang="en-US" sz="3200" dirty="0"/>
            </a:br>
            <a:r>
              <a:rPr lang="en-US" sz="3200" dirty="0"/>
              <a:t>(Issue Service Ticket)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140968"/>
            <a:ext cx="4661459" cy="3240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B17BD3-2970-8E37-E8FB-6998ADD83EE1}"/>
              </a:ext>
            </a:extLst>
          </p:cNvPr>
          <p:cNvSpPr txBox="1"/>
          <p:nvPr/>
        </p:nvSpPr>
        <p:spPr>
          <a:xfrm>
            <a:off x="179512" y="1268760"/>
            <a:ext cx="712879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2000" b="1" dirty="0"/>
              <a:t>Request</a:t>
            </a:r>
          </a:p>
          <a:p>
            <a:pPr marL="285750" indent="-285750" latinLnBrk="0">
              <a:buFont typeface="Arial" panose="020B0604020202020204" pitchFamily="34" charset="0"/>
              <a:buChar char="•"/>
            </a:pPr>
            <a:r>
              <a:rPr lang="en-US" sz="2000" dirty="0"/>
              <a:t>s</a:t>
            </a:r>
            <a:r>
              <a:rPr lang="en-US" sz="2000" baseline="-25000" dirty="0"/>
              <a:t> </a:t>
            </a:r>
            <a:r>
              <a:rPr lang="en-US" sz="2000" dirty="0"/>
              <a:t>: id of the service that client wants to use</a:t>
            </a:r>
          </a:p>
          <a:p>
            <a:pPr marL="285750" indent="-285750" latinLnBrk="0">
              <a:buFont typeface="Arial" panose="020B0604020202020204" pitchFamily="34" charset="0"/>
              <a:buChar char="•"/>
            </a:pPr>
            <a:r>
              <a:rPr lang="en-US" sz="2000" dirty="0"/>
              <a:t>Encrypted TGT (yellow highlighted)</a:t>
            </a:r>
          </a:p>
          <a:p>
            <a:pPr marL="285750" indent="-285750" latinLnBrk="0">
              <a:buFont typeface="Arial" panose="020B0604020202020204" pitchFamily="34" charset="0"/>
              <a:buChar char="•"/>
            </a:pPr>
            <a:r>
              <a:rPr lang="en-US" sz="2000" dirty="0"/>
              <a:t>A</a:t>
            </a:r>
            <a:r>
              <a:rPr lang="en-US" sz="2000" baseline="-25000" dirty="0"/>
              <a:t>C </a:t>
            </a:r>
            <a:r>
              <a:rPr lang="en-US" sz="2000" dirty="0"/>
              <a:t>: an authenticator message from client, proving his identity to TGS. It is encrypted by this session’s key K</a:t>
            </a:r>
            <a:r>
              <a:rPr lang="en-US" sz="2000" baseline="-25000" dirty="0"/>
              <a:t>C,TGS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0793DE-595D-9A96-C4E7-8C1090C8EEFB}"/>
              </a:ext>
            </a:extLst>
          </p:cNvPr>
          <p:cNvSpPr txBox="1"/>
          <p:nvPr/>
        </p:nvSpPr>
        <p:spPr>
          <a:xfrm>
            <a:off x="4932040" y="3211313"/>
            <a:ext cx="432048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2000" b="1" dirty="0"/>
              <a:t>Response</a:t>
            </a:r>
          </a:p>
          <a:p>
            <a:pPr marL="285750" indent="-285750" latinLnBrk="0">
              <a:buFont typeface="Arial" panose="020B0604020202020204" pitchFamily="34" charset="0"/>
              <a:buChar char="•"/>
            </a:pPr>
            <a:r>
              <a:rPr lang="en-US" sz="2000" dirty="0"/>
              <a:t>T</a:t>
            </a:r>
            <a:r>
              <a:rPr lang="en-US" sz="2000" baseline="-25000" dirty="0"/>
              <a:t>C,S </a:t>
            </a:r>
            <a:r>
              <a:rPr lang="en-US" sz="2000" dirty="0"/>
              <a:t>: service ticket, encrypted with key of application server K</a:t>
            </a:r>
            <a:r>
              <a:rPr lang="en-US" sz="2000" baseline="-25000" dirty="0"/>
              <a:t>S </a:t>
            </a:r>
            <a:r>
              <a:rPr lang="en-US" sz="2000" dirty="0"/>
              <a:t>(not known to client)</a:t>
            </a:r>
          </a:p>
          <a:p>
            <a:pPr marL="285750" indent="-285750" latinLnBrk="0">
              <a:buFont typeface="Arial" panose="020B0604020202020204" pitchFamily="34" charset="0"/>
              <a:buChar char="•"/>
            </a:pPr>
            <a:r>
              <a:rPr lang="en-US" sz="2000" dirty="0"/>
              <a:t>K</a:t>
            </a:r>
            <a:r>
              <a:rPr lang="en-US" sz="2000" baseline="-25000" dirty="0"/>
              <a:t>C,S </a:t>
            </a:r>
            <a:r>
              <a:rPr lang="en-US" sz="2000" dirty="0"/>
              <a:t>: A session key for use between client and application server</a:t>
            </a:r>
          </a:p>
          <a:p>
            <a:pPr marL="285750" indent="-285750" latinLnBrk="0">
              <a:buFont typeface="Arial" panose="020B0604020202020204" pitchFamily="34" charset="0"/>
              <a:buChar char="•"/>
            </a:pPr>
            <a:endParaRPr lang="en-US" sz="2000" dirty="0"/>
          </a:p>
          <a:p>
            <a:pPr latinLnBrk="0"/>
            <a:r>
              <a:rPr lang="en-US" sz="2000" dirty="0"/>
              <a:t>Whole message is encrypted by this session’s key K</a:t>
            </a:r>
            <a:r>
              <a:rPr lang="en-US" sz="2000" baseline="-25000" dirty="0"/>
              <a:t>C,TGS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857288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5-6. Client Service Request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085" y="3573016"/>
            <a:ext cx="4641830" cy="2947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6A88CD-202C-20AA-F3BA-888FA5A842FA}"/>
              </a:ext>
            </a:extLst>
          </p:cNvPr>
          <p:cNvSpPr txBox="1"/>
          <p:nvPr/>
        </p:nvSpPr>
        <p:spPr>
          <a:xfrm>
            <a:off x="179512" y="1268760"/>
            <a:ext cx="394859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2000" b="1" dirty="0"/>
              <a:t>Request</a:t>
            </a:r>
          </a:p>
          <a:p>
            <a:pPr marL="285750" indent="-285750" latinLnBrk="0">
              <a:buFont typeface="Arial" panose="020B0604020202020204" pitchFamily="34" charset="0"/>
              <a:buChar char="•"/>
            </a:pPr>
            <a:r>
              <a:rPr lang="en-US" sz="2000" dirty="0"/>
              <a:t>the encrypted service ticket (yellow highlighted)</a:t>
            </a:r>
          </a:p>
          <a:p>
            <a:pPr marL="285750" indent="-285750" latinLnBrk="0">
              <a:buFont typeface="Arial" panose="020B0604020202020204" pitchFamily="34" charset="0"/>
              <a:buChar char="•"/>
            </a:pPr>
            <a:r>
              <a:rPr lang="en-US" sz="2000" dirty="0"/>
              <a:t>A</a:t>
            </a:r>
            <a:r>
              <a:rPr lang="en-US" sz="2000" baseline="-25000" dirty="0"/>
              <a:t>C </a:t>
            </a:r>
            <a:r>
              <a:rPr lang="en-US" sz="2000" dirty="0"/>
              <a:t>: an authenticator message containing client ID and timestamp. It is encrypted by this session’s key K</a:t>
            </a:r>
            <a:r>
              <a:rPr lang="en-US" sz="2000" baseline="-25000" dirty="0"/>
              <a:t>C,S</a:t>
            </a:r>
            <a:r>
              <a:rPr lang="en-US" sz="200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717DC0-5B23-3D79-A391-13C0E233BB60}"/>
              </a:ext>
            </a:extLst>
          </p:cNvPr>
          <p:cNvSpPr txBox="1"/>
          <p:nvPr/>
        </p:nvSpPr>
        <p:spPr>
          <a:xfrm>
            <a:off x="4992202" y="1340768"/>
            <a:ext cx="411630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2000" b="1" dirty="0"/>
              <a:t>Response</a:t>
            </a:r>
          </a:p>
          <a:p>
            <a:pPr marL="285750" indent="-285750" latinLnBrk="0">
              <a:buFont typeface="Arial" panose="020B0604020202020204" pitchFamily="34" charset="0"/>
              <a:buChar char="•"/>
            </a:pPr>
            <a:r>
              <a:rPr lang="en-US" sz="2000" dirty="0"/>
              <a:t>Timestamp in client’s message plus 1, encrypted by this session’s key K</a:t>
            </a:r>
            <a:r>
              <a:rPr lang="en-US" sz="2000" baseline="-25000" dirty="0"/>
              <a:t>C,S </a:t>
            </a:r>
            <a:r>
              <a:rPr lang="en-US" sz="2000" dirty="0"/>
              <a:t>. It is a  confirmation to client that server is ready to serve it.</a:t>
            </a:r>
          </a:p>
        </p:txBody>
      </p:sp>
    </p:spTree>
    <p:extLst>
      <p:ext uri="{BB962C8B-B14F-4D97-AF65-F5344CB8AC3E}">
        <p14:creationId xmlns:p14="http://schemas.microsoft.com/office/powerpoint/2010/main" val="5490098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E5553-3E6D-F8C7-1097-F8DEDCB09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08116-0D2C-D29C-AFB7-A2B4667D769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800" dirty="0"/>
              <a:t>Stallings SPP chap 3, 23</a:t>
            </a:r>
          </a:p>
          <a:p>
            <a:r>
              <a:rPr lang="en-AU" sz="2800" dirty="0"/>
              <a:t>Kerberos on Computerphile: </a:t>
            </a:r>
            <a:r>
              <a:rPr lang="en-AU" sz="2800" dirty="0">
                <a:hlinkClick r:id="rId2"/>
              </a:rPr>
              <a:t>https://youtu.be/qW361k3-BtU</a:t>
            </a:r>
            <a:endParaRPr lang="en-AU" sz="2800" dirty="0"/>
          </a:p>
          <a:p>
            <a:r>
              <a:rPr lang="en-AU" sz="2800" dirty="0"/>
              <a:t>Kerberos message exchange in full detail </a:t>
            </a:r>
            <a:r>
              <a:rPr lang="en-AU" sz="2800" dirty="0">
                <a:hlinkClick r:id="rId3"/>
              </a:rPr>
              <a:t>https://youtu.be/5N242XcKAsM</a:t>
            </a:r>
            <a:endParaRPr lang="en-AU" sz="2800" dirty="0"/>
          </a:p>
          <a:p>
            <a:endParaRPr lang="en-AU" sz="2800" dirty="0"/>
          </a:p>
          <a:p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4035489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5635</TotalTime>
  <Words>2465</Words>
  <Application>Microsoft Office PowerPoint</Application>
  <PresentationFormat>On-screen Show (4:3)</PresentationFormat>
  <Paragraphs>274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54" baseType="lpstr">
      <vt:lpstr>맑은 고딕</vt:lpstr>
      <vt:lpstr>ＭＳ Ｐゴシック</vt:lpstr>
      <vt:lpstr>Arial</vt:lpstr>
      <vt:lpstr>Calibri</vt:lpstr>
      <vt:lpstr>Cambria Math</vt:lpstr>
      <vt:lpstr>Consolas</vt:lpstr>
      <vt:lpstr>Courier New</vt:lpstr>
      <vt:lpstr>Wingdings</vt:lpstr>
      <vt:lpstr>Office Theme</vt:lpstr>
      <vt:lpstr>Custom Design</vt:lpstr>
      <vt:lpstr>PowerPoint Presentation</vt:lpstr>
      <vt:lpstr>Authentication</vt:lpstr>
      <vt:lpstr>Means of Authentication</vt:lpstr>
      <vt:lpstr>Authentication Types</vt:lpstr>
      <vt:lpstr>Implementing Authentication</vt:lpstr>
      <vt:lpstr>Password-based Authentication (something you know)</vt:lpstr>
      <vt:lpstr>Password-based Authentication</vt:lpstr>
      <vt:lpstr>Passwords Pros</vt:lpstr>
      <vt:lpstr>Passwords Cons</vt:lpstr>
      <vt:lpstr>Passwords Cons</vt:lpstr>
      <vt:lpstr>Offline Password Cracking</vt:lpstr>
      <vt:lpstr>Offline Password Cracking</vt:lpstr>
      <vt:lpstr>Offline Password Cracking</vt:lpstr>
      <vt:lpstr>Passwords: Salted storage</vt:lpstr>
      <vt:lpstr>Passwords: Salted storage</vt:lpstr>
      <vt:lpstr>Passwords: Salted storage</vt:lpstr>
      <vt:lpstr>Passwords: Salted storage</vt:lpstr>
      <vt:lpstr>Remote User Authentication</vt:lpstr>
      <vt:lpstr>Challenge-response authentication</vt:lpstr>
      <vt:lpstr>Challenge-response authentication</vt:lpstr>
      <vt:lpstr>Possession-based authentication (something you have)</vt:lpstr>
      <vt:lpstr>Possession-based authentication</vt:lpstr>
      <vt:lpstr>One-Time Passcodes (OTP)</vt:lpstr>
      <vt:lpstr>One-Time Passcodes (OTP)</vt:lpstr>
      <vt:lpstr>One-Time Passcodes (OTP)</vt:lpstr>
      <vt:lpstr>One-Time Passcodes (OTP)</vt:lpstr>
      <vt:lpstr>SecurID: Architecture</vt:lpstr>
      <vt:lpstr>Biometric authentication (someone you are)</vt:lpstr>
      <vt:lpstr>Biometric Authentication</vt:lpstr>
      <vt:lpstr>Features and Templates</vt:lpstr>
      <vt:lpstr>Operation of a biometric system</vt:lpstr>
      <vt:lpstr>Template matching issue</vt:lpstr>
      <vt:lpstr>Other challenges in biometric auth</vt:lpstr>
      <vt:lpstr>Centralized Multi-Service Authentication</vt:lpstr>
      <vt:lpstr>Multi-Service Authentication</vt:lpstr>
      <vt:lpstr>Key Distribution Center (KDC)</vt:lpstr>
      <vt:lpstr>Kerberos</vt:lpstr>
      <vt:lpstr>Kerberos overview</vt:lpstr>
      <vt:lpstr>Kerberos High Level Working</vt:lpstr>
      <vt:lpstr>Kerberos Protocol</vt:lpstr>
      <vt:lpstr>1-2. Client Authentication (Issue TGT)</vt:lpstr>
      <vt:lpstr>3-4. Client Authorization  (Issue Service Ticket)</vt:lpstr>
      <vt:lpstr>5-6. Client Service Request</vt:lpstr>
      <vt:lpstr>References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Registered User</dc:creator>
  <cp:lastModifiedBy>Ammar Haider</cp:lastModifiedBy>
  <cp:revision>443</cp:revision>
  <dcterms:created xsi:type="dcterms:W3CDTF">2014-04-01T16:35:38Z</dcterms:created>
  <dcterms:modified xsi:type="dcterms:W3CDTF">2025-10-16T04:51:11Z</dcterms:modified>
</cp:coreProperties>
</file>