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7"/>
  </p:notesMasterIdLst>
  <p:sldIdLst>
    <p:sldId id="256" r:id="rId3"/>
    <p:sldId id="365" r:id="rId4"/>
    <p:sldId id="413" r:id="rId5"/>
    <p:sldId id="402" r:id="rId6"/>
    <p:sldId id="398" r:id="rId7"/>
    <p:sldId id="389" r:id="rId8"/>
    <p:sldId id="390" r:id="rId9"/>
    <p:sldId id="366" r:id="rId10"/>
    <p:sldId id="403" r:id="rId11"/>
    <p:sldId id="393" r:id="rId12"/>
    <p:sldId id="392" r:id="rId13"/>
    <p:sldId id="423" r:id="rId14"/>
    <p:sldId id="424" r:id="rId15"/>
    <p:sldId id="425" r:id="rId16"/>
    <p:sldId id="426" r:id="rId17"/>
    <p:sldId id="394" r:id="rId18"/>
    <p:sldId id="396" r:id="rId19"/>
    <p:sldId id="395" r:id="rId20"/>
    <p:sldId id="397" r:id="rId21"/>
    <p:sldId id="410" r:id="rId22"/>
    <p:sldId id="419" r:id="rId23"/>
    <p:sldId id="420" r:id="rId24"/>
    <p:sldId id="422" r:id="rId25"/>
    <p:sldId id="421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3792" autoAdjust="0"/>
  </p:normalViewPr>
  <p:slideViewPr>
    <p:cSldViewPr>
      <p:cViewPr varScale="1">
        <p:scale>
          <a:sx n="108" d="100"/>
          <a:sy n="108" d="100"/>
        </p:scale>
        <p:origin x="162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C1A7-F877-44DD-B2DD-60553F4FFAE6}" type="datetimeFigureOut">
              <a:rPr lang="en-AU" smtClean="0"/>
              <a:t>11/10/2024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3C15-5131-4101-B031-6627D1EB55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66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9512" y="16778"/>
            <a:ext cx="8964488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EA4C87-1B6D-2CEA-39CA-59614D4530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8229600" cy="4676700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91680" y="0"/>
            <a:ext cx="7452320" cy="1069514"/>
          </a:xfrm>
          <a:prstGeom prst="rect">
            <a:avLst/>
          </a:prstGeom>
        </p:spPr>
        <p:txBody>
          <a:bodyPr anchor="ctr"/>
          <a:lstStyle>
            <a:lvl1pPr latinLnBrk="0"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Click to add title</a:t>
            </a:r>
            <a:endParaRPr lang="ko-KR" alt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ED14E-43B1-FAD8-93BB-3A0393784F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34072" y="1268760"/>
            <a:ext cx="6563072" cy="4923175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" y="27709"/>
            <a:ext cx="9052560" cy="1039091"/>
          </a:xfrm>
        </p:spPr>
        <p:txBody>
          <a:bodyPr>
            <a:normAutofit/>
          </a:bodyPr>
          <a:lstStyle>
            <a:lvl1pPr algn="ctr">
              <a:defRPr sz="3600">
                <a:latin typeface="Arial" pitchFamily="34" charset="0"/>
                <a:ea typeface="Verdana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64162"/>
              </a:buClr>
              <a:buSzPct val="100000"/>
              <a:defRPr/>
            </a:lvl1pPr>
            <a:lvl2pPr>
              <a:buClr>
                <a:srgbClr val="364162"/>
              </a:buClr>
              <a:defRPr/>
            </a:lvl2pPr>
            <a:lvl3pPr marL="1143000" indent="-228600">
              <a:buClr>
                <a:srgbClr val="364162"/>
              </a:buClr>
              <a:buFont typeface="Wingdings" pitchFamily="2" charset="2"/>
              <a:buChar char="§"/>
              <a:defRPr/>
            </a:lvl3pPr>
            <a:lvl4pPr marL="1600200" indent="-228600">
              <a:buClr>
                <a:srgbClr val="364162"/>
              </a:buClr>
              <a:buFont typeface="Courier New" pitchFamily="49" charset="0"/>
              <a:buChar char="o"/>
              <a:defRPr/>
            </a:lvl4pPr>
            <a:lvl5pPr>
              <a:buClr>
                <a:srgbClr val="364162"/>
              </a:buCl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9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gure + Caption Layout"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9169" y="357626"/>
            <a:ext cx="8032638" cy="100401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 bwMode="white">
          <a:xfrm>
            <a:off x="-7937" y="6248400"/>
            <a:ext cx="9151937" cy="617539"/>
          </a:xfrm>
          <a:prstGeom prst="rect">
            <a:avLst/>
          </a:prstGeom>
          <a:solidFill>
            <a:srgbClr val="364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91331" y="5181600"/>
            <a:ext cx="8153400" cy="83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pyright" descr="Pearson: Copyright 2015, 2012, 2009"/>
          <p:cNvSpPr txBox="1">
            <a:spLocks noChangeArrowheads="1"/>
          </p:cNvSpPr>
          <p:nvPr userDrawn="1"/>
        </p:nvSpPr>
        <p:spPr bwMode="auto">
          <a:xfrm>
            <a:off x="1478450" y="6270381"/>
            <a:ext cx="7589350" cy="582256"/>
          </a:xfrm>
          <a:prstGeom prst="rect">
            <a:avLst/>
          </a:prstGeom>
          <a:solidFill>
            <a:srgbClr val="364162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1200" dirty="0">
                <a:solidFill>
                  <a:prstClr val="white"/>
                </a:solidFill>
                <a:ea typeface="ＭＳ Ｐゴシック" charset="-128"/>
                <a:cs typeface="Arial" charset="0"/>
              </a:rPr>
              <a:t>Copyright </a:t>
            </a:r>
            <a:r>
              <a:rPr lang="en-US" sz="1200" dirty="0">
                <a:solidFill>
                  <a:prstClr val="white"/>
                </a:solidFill>
                <a:ea typeface="+mn-ea"/>
                <a:cs typeface="Arial" charset="0"/>
              </a:rPr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45959"/>
            <a:ext cx="1316182" cy="435841"/>
          </a:xfrm>
          <a:prstGeom prst="rect">
            <a:avLst/>
          </a:prstGeom>
          <a:solidFill>
            <a:srgbClr val="36416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682021"/>
      </p:ext>
    </p:extLst>
  </p:cSld>
  <p:clrMapOvr>
    <a:masterClrMapping/>
  </p:clrMapOvr>
  <p:transition spd="slow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7251457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  <p:sldLayoutId id="2147483675" r:id="rId6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arutk.medium.com/illustrated-x-509-certificate-84aece2c5c2e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4067944" y="4170499"/>
            <a:ext cx="478802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Public Key Infrastructure</a:t>
            </a: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DA019416-A58F-DC7C-5590-0A3C5E236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1682"/>
            <a:ext cx="1428571" cy="14285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87E9B7-196F-5413-1EE2-727331E78929}"/>
              </a:ext>
            </a:extLst>
          </p:cNvPr>
          <p:cNvSpPr txBox="1"/>
          <p:nvPr/>
        </p:nvSpPr>
        <p:spPr>
          <a:xfrm>
            <a:off x="1835696" y="1916832"/>
            <a:ext cx="54726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sz="2800" b="1" dirty="0"/>
              <a:t>CS3002 Information Security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442DC-6D72-28EB-A755-796100BEAFBF}"/>
              </a:ext>
            </a:extLst>
          </p:cNvPr>
          <p:cNvSpPr txBox="1"/>
          <p:nvPr/>
        </p:nvSpPr>
        <p:spPr>
          <a:xfrm>
            <a:off x="6156176" y="111682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latinLnBrk="0"/>
            <a:r>
              <a:rPr lang="en-US" b="1" dirty="0"/>
              <a:t>Dr. Ammar Haider</a:t>
            </a:r>
          </a:p>
          <a:p>
            <a:pPr algn="r" latinLnBrk="0"/>
            <a:r>
              <a:rPr lang="en-US" dirty="0"/>
              <a:t>Assistant Professor</a:t>
            </a:r>
          </a:p>
          <a:p>
            <a:pPr algn="r" latinLnBrk="0"/>
            <a:r>
              <a:rPr lang="en-US" dirty="0"/>
              <a:t>School of Computing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3339CC-1B5A-6A39-986E-A50B229AE1D4}"/>
              </a:ext>
            </a:extLst>
          </p:cNvPr>
          <p:cNvSpPr txBox="1"/>
          <p:nvPr/>
        </p:nvSpPr>
        <p:spPr>
          <a:xfrm>
            <a:off x="125740" y="6434828"/>
            <a:ext cx="8838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Reference: </a:t>
            </a:r>
            <a:r>
              <a:rPr lang="en-US"/>
              <a:t>Stallings SPP </a:t>
            </a:r>
            <a:r>
              <a:rPr lang="en-US" dirty="0"/>
              <a:t>chap 23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MITM against </a:t>
            </a:r>
            <a:r>
              <a:rPr lang="en-US" dirty="0" err="1"/>
              <a:t>Diffie</a:t>
            </a:r>
            <a:r>
              <a:rPr lang="en-US" dirty="0"/>
              <a:t>-Hellman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Recap: Diffie-Hellman key exchange is vulnerable to main in the middle attack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3813247-4F80-32E7-8D4E-81EA92503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305894"/>
            <a:ext cx="5163834" cy="430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C19FB-A2B7-BAC8-FB23-DFAB563DB299}"/>
              </a:ext>
            </a:extLst>
          </p:cNvPr>
          <p:cNvSpPr txBox="1"/>
          <p:nvPr/>
        </p:nvSpPr>
        <p:spPr>
          <a:xfrm>
            <a:off x="4067944" y="6603910"/>
            <a:ext cx="50405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https://commons.wikimedia.org/wiki/File:Man-in-the-middle_attack_of_Diffie-Hellman_key_agreement.svg</a:t>
            </a:r>
          </a:p>
        </p:txBody>
      </p:sp>
    </p:spTree>
    <p:extLst>
      <p:ext uri="{BB962C8B-B14F-4D97-AF65-F5344CB8AC3E}">
        <p14:creationId xmlns:p14="http://schemas.microsoft.com/office/powerpoint/2010/main" val="58721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7852-5425-9B76-186E-5BF1D3F0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MITM in PKC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917EF-E971-B289-3DD6-03FCB9D3A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MITM is not unique to Diffie-Hellman key exchange</a:t>
            </a:r>
          </a:p>
          <a:p>
            <a:r>
              <a:rPr lang="en-US" sz="2800" dirty="0"/>
              <a:t>All kinds of asymmetric crypto (RSA, digital signatures, digital envelope etc.) is vulnerable to such attacks</a:t>
            </a:r>
          </a:p>
          <a:p>
            <a:r>
              <a:rPr lang="en-US" sz="2800" dirty="0"/>
              <a:t>Whenever public keys are exchanged over an insecure channel, we can not blindly trust the received public key.</a:t>
            </a:r>
          </a:p>
        </p:txBody>
      </p:sp>
    </p:spTree>
    <p:extLst>
      <p:ext uri="{BB962C8B-B14F-4D97-AF65-F5344CB8AC3E}">
        <p14:creationId xmlns:p14="http://schemas.microsoft.com/office/powerpoint/2010/main" val="159455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To prevent MITM against PKC, digital certificates are used.</a:t>
            </a:r>
          </a:p>
          <a:p>
            <a:r>
              <a:rPr lang="en-US" sz="2800" dirty="0"/>
              <a:t>A certificate associates a public key with an individual/company</a:t>
            </a:r>
          </a:p>
          <a:p>
            <a:r>
              <a:rPr lang="en-US" sz="2800" dirty="0"/>
              <a:t>Digital certificate is just a piece of data</a:t>
            </a:r>
          </a:p>
          <a:p>
            <a:pPr lvl="1"/>
            <a:r>
              <a:rPr lang="en-US" sz="2400" dirty="0"/>
              <a:t>A public key and ID of key owner, whole block signed by a </a:t>
            </a:r>
            <a:r>
              <a:rPr lang="en-US" sz="2400" b="1" dirty="0"/>
              <a:t>trusted third party</a:t>
            </a:r>
          </a:p>
          <a:p>
            <a:r>
              <a:rPr lang="en-US" sz="2800" dirty="0"/>
              <a:t>Issued by a Certificate Authority (CA)</a:t>
            </a:r>
          </a:p>
          <a:p>
            <a:r>
              <a:rPr lang="en-US" sz="2800" dirty="0"/>
              <a:t>Helps in authentication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6702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Signing a certificate by 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414D8-A1E1-19BB-503A-1CA4B6B75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348880"/>
            <a:ext cx="6588224" cy="418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8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Contains the following information:</a:t>
            </a:r>
          </a:p>
          <a:p>
            <a:pPr lvl="1"/>
            <a:r>
              <a:rPr lang="en-US" sz="2400" dirty="0"/>
              <a:t>who issued the certificate: </a:t>
            </a:r>
            <a:r>
              <a:rPr lang="en-US" sz="2400" dirty="0" err="1"/>
              <a:t>Comodo</a:t>
            </a:r>
            <a:r>
              <a:rPr lang="en-US" sz="2400" dirty="0"/>
              <a:t>, Symantec etc.</a:t>
            </a:r>
          </a:p>
          <a:p>
            <a:pPr lvl="1"/>
            <a:r>
              <a:rPr lang="en-US" sz="2400" dirty="0"/>
              <a:t>who the certificate is issued to (aka </a:t>
            </a:r>
            <a:r>
              <a:rPr lang="en-US" sz="2400" u="sng" dirty="0"/>
              <a:t>subject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public key of the owner</a:t>
            </a:r>
          </a:p>
          <a:p>
            <a:pPr lvl="1"/>
            <a:r>
              <a:rPr lang="en-US" sz="2400" dirty="0"/>
              <a:t>validity period</a:t>
            </a:r>
          </a:p>
          <a:p>
            <a:pPr lvl="1"/>
            <a:r>
              <a:rPr lang="en-US" sz="2400" dirty="0"/>
              <a:t>digital signature by CA</a:t>
            </a:r>
          </a:p>
          <a:p>
            <a:pPr lvl="1"/>
            <a:endParaRPr lang="en-US" sz="2400" dirty="0"/>
          </a:p>
          <a:p>
            <a:r>
              <a:rPr lang="en-US" sz="2800" dirty="0"/>
              <a:t>X.509: International Standard for the format of a public-key certificate</a:t>
            </a:r>
          </a:p>
          <a:p>
            <a:pPr lvl="1"/>
            <a:endParaRPr lang="en-US" sz="24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940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X.509 Identity Certificates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467544" y="1560612"/>
            <a:ext cx="5616624" cy="46767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Distinguished Name of user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GB" sz="1800" dirty="0"/>
              <a:t>C=US, O=Lawrence Berkeley National Laboratory, OU=DSD, CN=Mary R. Thompson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DN of Issuer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GB" sz="1800" dirty="0"/>
              <a:t>C=US, O=Lawrence Berkeley National Laboratory, CN=LBNL-CA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Validity dates: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GB" sz="1800" dirty="0"/>
              <a:t>Not before &lt;date&gt;, Not after &lt;date&gt;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User's public key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V3 extensions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CA signatures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GB" sz="2000" dirty="0"/>
              <a:t>Defined in </a:t>
            </a:r>
            <a:r>
              <a:rPr lang="en-GB" sz="2000" b="1" dirty="0"/>
              <a:t>ASN.1 notation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GB" sz="1600" dirty="0"/>
              <a:t>language independent</a:t>
            </a:r>
            <a:endParaRPr lang="en-US" sz="1600" dirty="0"/>
          </a:p>
        </p:txBody>
      </p:sp>
      <p:pic>
        <p:nvPicPr>
          <p:cNvPr id="8" name="Picture 7" descr="A diagram of a document&#10;&#10;Description automatically generated with medium confidence">
            <a:extLst>
              <a:ext uri="{FF2B5EF4-FFF2-40B4-BE49-F238E27FC236}">
                <a16:creationId xmlns:a16="http://schemas.microsoft.com/office/drawing/2014/main" id="{92B038E8-39B2-12D4-1A37-676C78A2B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457" y="2836139"/>
            <a:ext cx="4662184" cy="383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4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Key Infrastructure (PKI)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sz="2400" dirty="0"/>
              <a:t>PKI is the set of hardware, software, and procedures needed to create, store, distribute and revoke digital certificates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Elements of PKI</a:t>
            </a:r>
            <a:endParaRPr lang="en-US" sz="2400" dirty="0"/>
          </a:p>
          <a:p>
            <a:r>
              <a:rPr lang="en-US" sz="2400" dirty="0"/>
              <a:t>X.509 Certificates</a:t>
            </a:r>
          </a:p>
          <a:p>
            <a:r>
              <a:rPr lang="en-US" sz="2400" dirty="0"/>
              <a:t>Certificate Authorities (CA)</a:t>
            </a:r>
          </a:p>
          <a:p>
            <a:r>
              <a:rPr lang="en-US" sz="2400" dirty="0"/>
              <a:t>Registration Authorities (RA)</a:t>
            </a:r>
          </a:p>
          <a:p>
            <a:r>
              <a:rPr lang="en-GB" sz="2400" dirty="0"/>
              <a:t>Public/Private Key Pairs</a:t>
            </a:r>
            <a:endParaRPr lang="en-US" sz="2400" dirty="0"/>
          </a:p>
          <a:p>
            <a:r>
              <a:rPr lang="en-US" sz="2400" dirty="0"/>
              <a:t>Certificate Revocation Lists</a:t>
            </a:r>
          </a:p>
        </p:txBody>
      </p:sp>
    </p:spTree>
    <p:extLst>
      <p:ext uri="{BB962C8B-B14F-4D97-AF65-F5344CB8AC3E}">
        <p14:creationId xmlns:p14="http://schemas.microsoft.com/office/powerpoint/2010/main" val="10836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</a:t>
            </a:r>
            <a:r>
              <a:rPr lang="en-GB" dirty="0"/>
              <a:t>Authority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A third party. Must be a secure server</a:t>
            </a:r>
          </a:p>
          <a:p>
            <a:pPr lvl="1"/>
            <a:r>
              <a:rPr lang="en-US" sz="2000" dirty="0"/>
              <a:t>Signs and publishes X.509 Identity certificates</a:t>
            </a:r>
          </a:p>
          <a:p>
            <a:pPr lvl="1"/>
            <a:r>
              <a:rPr lang="en-US" sz="2000" dirty="0"/>
              <a:t>Revokes certificates and publishes a Certification Revocation List (CRL)</a:t>
            </a:r>
          </a:p>
          <a:p>
            <a:r>
              <a:rPr lang="en-US" sz="2400" dirty="0"/>
              <a:t>Anyone can sign certificates (act as CA), but their certificates will have no value unless the users </a:t>
            </a:r>
            <a:r>
              <a:rPr lang="en-US" sz="2400" b="1" dirty="0"/>
              <a:t>trust</a:t>
            </a:r>
            <a:r>
              <a:rPr lang="en-US" sz="2400" dirty="0"/>
              <a:t> them.</a:t>
            </a:r>
          </a:p>
          <a:p>
            <a:r>
              <a:rPr lang="en-US" sz="2400" dirty="0"/>
              <a:t>Trusting means the certificate inspector (receiver) already knows about this CA, and has pre-saved the CA’s public key in its records.</a:t>
            </a:r>
          </a:p>
          <a:p>
            <a:pPr lvl="1"/>
            <a:r>
              <a:rPr lang="en-US" sz="2000" dirty="0"/>
              <a:t>so that they can verify CA’s signatures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398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Issuance Process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4CAA5C-E8ED-1FE5-8CC3-B9A7FA38805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916832"/>
            <a:ext cx="7171997" cy="4176464"/>
          </a:xfrm>
        </p:spPr>
      </p:pic>
    </p:spTree>
    <p:extLst>
      <p:ext uri="{BB962C8B-B14F-4D97-AF65-F5344CB8AC3E}">
        <p14:creationId xmlns:p14="http://schemas.microsoft.com/office/powerpoint/2010/main" val="103970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Registration Authority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An RA is responsible for accepting requests for digital certificates and authenticating the entity making the request.</a:t>
            </a:r>
          </a:p>
          <a:p>
            <a:r>
              <a:rPr lang="en-US" sz="2800" dirty="0"/>
              <a:t>You provide RA with information and fees</a:t>
            </a:r>
          </a:p>
          <a:p>
            <a:r>
              <a:rPr lang="en-US" sz="2800" dirty="0"/>
              <a:t>RA verifies the information before the CA issues the certificate</a:t>
            </a:r>
          </a:p>
          <a:p>
            <a:r>
              <a:rPr lang="en-US" sz="2800" dirty="0"/>
              <a:t>RA does not sign the certificate</a:t>
            </a:r>
          </a:p>
          <a:p>
            <a:r>
              <a:rPr lang="en-US" sz="2800" dirty="0"/>
              <a:t>Your key pair maybe created by RA or yourself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9793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B91F-22DE-28F8-ABEE-3187D2A5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Trusted 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252A-E81A-DEE8-C65F-53EC17202C4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All operating systems come with a pre-installed list of trusted CAs.</a:t>
            </a:r>
          </a:p>
          <a:p>
            <a:r>
              <a:rPr lang="en-US" sz="2800" dirty="0"/>
              <a:t>There are several vendors</a:t>
            </a:r>
          </a:p>
          <a:p>
            <a:pPr lvl="1"/>
            <a:r>
              <a:rPr lang="en-US" sz="2400" dirty="0" err="1"/>
              <a:t>IdenTrust</a:t>
            </a:r>
            <a:endParaRPr lang="en-US" sz="2400" dirty="0"/>
          </a:p>
          <a:p>
            <a:pPr lvl="1"/>
            <a:r>
              <a:rPr lang="en-US" sz="2400" dirty="0"/>
              <a:t>DigiCert</a:t>
            </a:r>
          </a:p>
          <a:p>
            <a:pPr lvl="1"/>
            <a:r>
              <a:rPr lang="en-US" sz="2400" dirty="0" err="1"/>
              <a:t>Sectigo</a:t>
            </a:r>
            <a:r>
              <a:rPr lang="en-US" sz="2400" dirty="0"/>
              <a:t> (Comodo)</a:t>
            </a:r>
          </a:p>
          <a:p>
            <a:pPr lvl="1"/>
            <a:r>
              <a:rPr lang="en-US" sz="2400" dirty="0"/>
              <a:t>Lets Encrypt: issues free certificates</a:t>
            </a:r>
          </a:p>
          <a:p>
            <a:pPr lvl="1"/>
            <a:endParaRPr lang="en-US" sz="2400" dirty="0"/>
          </a:p>
          <a:p>
            <a:r>
              <a:rPr lang="en-US" sz="2800" dirty="0"/>
              <a:t>OpenSSL is a free and open source library. It can be used to setup your own CA server.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972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4D77-FA10-DF03-8E70-12D1F2717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Trusted CAs – Check your 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EAAE6-D058-559E-C163-14C6B5D050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7808" y="1268760"/>
            <a:ext cx="5400600" cy="716260"/>
          </a:xfrm>
        </p:spPr>
        <p:txBody>
          <a:bodyPr/>
          <a:lstStyle/>
          <a:p>
            <a:pPr marL="0" indent="0">
              <a:buNone/>
            </a:pPr>
            <a:r>
              <a:rPr lang="en-US" sz="2800" b="0" i="0" dirty="0">
                <a:solidFill>
                  <a:srgbClr val="2A2D4D"/>
                </a:solidFill>
                <a:effectLst/>
                <a:latin typeface="Inter"/>
              </a:rPr>
              <a:t>Windows: launch </a:t>
            </a:r>
            <a:r>
              <a:rPr lang="en-US" sz="2800" b="0" i="0" dirty="0" err="1">
                <a:solidFill>
                  <a:srgbClr val="2A2D4D"/>
                </a:solidFill>
                <a:effectLst/>
                <a:latin typeface="Inter"/>
              </a:rPr>
              <a:t>Certmgr.msc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3A33E9-D6F3-6A72-C5C6-90CF931AE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848646"/>
            <a:ext cx="6597352" cy="3947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0D2D88-92B8-49F5-FBB1-B7ADC04144DA}"/>
              </a:ext>
            </a:extLst>
          </p:cNvPr>
          <p:cNvSpPr txBox="1"/>
          <p:nvPr/>
        </p:nvSpPr>
        <p:spPr>
          <a:xfrm>
            <a:off x="395536" y="5910371"/>
            <a:ext cx="8424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All trusted authorities are present in system’s </a:t>
            </a:r>
            <a:r>
              <a:rPr lang="en-US" sz="1600" b="1" dirty="0"/>
              <a:t>certificates store</a:t>
            </a:r>
            <a:r>
              <a:rPr lang="en-US" sz="1600" dirty="0"/>
              <a:t>, aka </a:t>
            </a:r>
            <a:r>
              <a:rPr lang="en-US" sz="1600" b="1" dirty="0"/>
              <a:t>trust store</a:t>
            </a:r>
            <a:r>
              <a:rPr lang="en-US" sz="1600" dirty="0"/>
              <a:t>.</a:t>
            </a:r>
          </a:p>
          <a:p>
            <a:pPr latinLnBrk="0"/>
            <a:r>
              <a:rPr lang="en-US" sz="1600" dirty="0"/>
              <a:t>This is a highly security-critical component of system. What would happen if attackers could manipulate the certificate store?</a:t>
            </a:r>
          </a:p>
        </p:txBody>
      </p:sp>
    </p:spTree>
    <p:extLst>
      <p:ext uri="{BB962C8B-B14F-4D97-AF65-F5344CB8AC3E}">
        <p14:creationId xmlns:p14="http://schemas.microsoft.com/office/powerpoint/2010/main" val="353620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5F8E-0C34-4754-1135-D9D15553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B5F93-D1ED-8596-3452-64F2918828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Instead of getting a certificate directly from a root CA, it is more practical to get one from an intermediate CA which already has a certificate from root CA.</a:t>
            </a:r>
          </a:p>
          <a:p>
            <a:r>
              <a:rPr lang="en-US" sz="2400" dirty="0"/>
              <a:t>This hierarchy can go many levels deep</a:t>
            </a:r>
          </a:p>
        </p:txBody>
      </p:sp>
      <p:pic>
        <p:nvPicPr>
          <p:cNvPr id="1026" name="Picture 2" descr="Hierarchical trust model">
            <a:extLst>
              <a:ext uri="{FF2B5EF4-FFF2-40B4-BE49-F238E27FC236}">
                <a16:creationId xmlns:a16="http://schemas.microsoft.com/office/drawing/2014/main" id="{F7E2DEB7-EA75-9260-3A5B-994A50492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356992"/>
            <a:ext cx="4305846" cy="3210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615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209D-64F9-24A7-9C0E-12ABC57A4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Trust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E0665-7A86-AFC9-8512-DC4119C363F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6" y="1556792"/>
            <a:ext cx="8229600" cy="429281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94C384-17B4-F4DB-695A-61A05FEE1C7D}"/>
              </a:ext>
            </a:extLst>
          </p:cNvPr>
          <p:cNvSpPr txBox="1"/>
          <p:nvPr/>
        </p:nvSpPr>
        <p:spPr>
          <a:xfrm>
            <a:off x="1223628" y="5981549"/>
            <a:ext cx="66967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hlinkClick r:id="rId3"/>
              </a:rPr>
              <a:t>https://darutk.medium.com/illustrated-x-509-certificate-84aece2c5c2e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8921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Revocation List (CRL)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Certificates may need to be revoked (prior to expiration) for several reasons</a:t>
            </a:r>
          </a:p>
          <a:p>
            <a:r>
              <a:rPr lang="en-US" sz="2400" dirty="0"/>
              <a:t>Subject may request revocation because</a:t>
            </a:r>
            <a:endParaRPr lang="en-US" sz="2000" dirty="0"/>
          </a:p>
          <a:p>
            <a:pPr lvl="1"/>
            <a:r>
              <a:rPr lang="en-US" sz="2000" dirty="0"/>
              <a:t>Subject’s private key was compromised</a:t>
            </a:r>
          </a:p>
          <a:p>
            <a:pPr lvl="1"/>
            <a:r>
              <a:rPr lang="en-US" sz="2000" dirty="0"/>
              <a:t>HR reasons, e.g. employee left the company</a:t>
            </a:r>
          </a:p>
          <a:p>
            <a:pPr lvl="1"/>
            <a:r>
              <a:rPr lang="en-US" sz="2000" dirty="0"/>
              <a:t>Temporary revocation (on “hold”) e.g. resource on leave</a:t>
            </a:r>
          </a:p>
          <a:p>
            <a:pPr lvl="1"/>
            <a:r>
              <a:rPr lang="en-US" sz="2000" dirty="0"/>
              <a:t>Subject changed names, physical address, DNS</a:t>
            </a:r>
          </a:p>
          <a:p>
            <a:r>
              <a:rPr lang="en-US" sz="2400" dirty="0"/>
              <a:t>CA themselves may decide to revoke because</a:t>
            </a:r>
          </a:p>
          <a:p>
            <a:pPr lvl="1"/>
            <a:r>
              <a:rPr lang="en-US" sz="2000" dirty="0"/>
              <a:t>Subject provided false information</a:t>
            </a:r>
          </a:p>
          <a:p>
            <a:pPr lvl="1"/>
            <a:r>
              <a:rPr lang="en-US" sz="2000" dirty="0"/>
              <a:t>CA’s private key was compromised!</a:t>
            </a:r>
          </a:p>
          <a:p>
            <a:r>
              <a:rPr lang="en-US" sz="2400" dirty="0"/>
              <a:t>CAs maintain lists of revoked/cancelled certificates. These lists are published by CA frequently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8450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Certificate Revocation Timeline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586D55-982B-CDFD-4D19-4ECFF4DCE29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64" y="2132856"/>
            <a:ext cx="7138184" cy="3456384"/>
          </a:xfrm>
        </p:spPr>
      </p:pic>
    </p:spTree>
    <p:extLst>
      <p:ext uri="{BB962C8B-B14F-4D97-AF65-F5344CB8AC3E}">
        <p14:creationId xmlns:p14="http://schemas.microsoft.com/office/powerpoint/2010/main" val="172430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CRL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800" dirty="0"/>
              <a:t>Certificate revocation lists</a:t>
            </a:r>
          </a:p>
          <a:p>
            <a:pPr lvl="1"/>
            <a:r>
              <a:rPr lang="en-US" sz="2400" dirty="0"/>
              <a:t>Too much work on the client</a:t>
            </a:r>
          </a:p>
          <a:p>
            <a:pPr lvl="1"/>
            <a:r>
              <a:rPr lang="en-US" sz="2400" dirty="0"/>
              <a:t>Too much traffic on internet</a:t>
            </a:r>
          </a:p>
          <a:p>
            <a:pPr lvl="2"/>
            <a:r>
              <a:rPr lang="en-US" sz="2000" dirty="0"/>
              <a:t>Not used</a:t>
            </a:r>
          </a:p>
          <a:p>
            <a:pPr lvl="2"/>
            <a:endParaRPr lang="en-US" sz="2000" dirty="0"/>
          </a:p>
          <a:p>
            <a:r>
              <a:rPr lang="en-US" sz="2800" dirty="0"/>
              <a:t>Alternate: Online Certificate Status Protocol</a:t>
            </a:r>
          </a:p>
          <a:p>
            <a:pPr lvl="1"/>
            <a:r>
              <a:rPr lang="en-US" sz="2400" dirty="0"/>
              <a:t>CA’s always-online revocation server</a:t>
            </a:r>
          </a:p>
          <a:p>
            <a:pPr lvl="1"/>
            <a:r>
              <a:rPr lang="en-US" sz="2400" dirty="0"/>
              <a:t>Provides current information</a:t>
            </a:r>
          </a:p>
          <a:p>
            <a:pPr lvl="1"/>
            <a:r>
              <a:rPr lang="en-US" sz="2400" dirty="0"/>
              <a:t>Saves traffic on the internet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5182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2400" dirty="0"/>
              <a:t>Online certificate status protocol</a:t>
            </a:r>
          </a:p>
          <a:p>
            <a:r>
              <a:rPr lang="en-US" sz="2400" dirty="0"/>
              <a:t>IETF-PKIX standard to verify online if a certificate is valid:</a:t>
            </a:r>
          </a:p>
          <a:p>
            <a:pPr lvl="1"/>
            <a:r>
              <a:rPr lang="en-US" sz="2000" dirty="0"/>
              <a:t>good/verified</a:t>
            </a:r>
          </a:p>
          <a:p>
            <a:pPr lvl="1"/>
            <a:r>
              <a:rPr lang="en-US" sz="2000" dirty="0"/>
              <a:t>revoked</a:t>
            </a:r>
          </a:p>
          <a:p>
            <a:pPr lvl="2"/>
            <a:r>
              <a:rPr lang="en-US" sz="1800" dirty="0"/>
              <a:t>revocation time</a:t>
            </a:r>
          </a:p>
          <a:p>
            <a:pPr lvl="2"/>
            <a:r>
              <a:rPr lang="en-US" sz="1800" dirty="0"/>
              <a:t>revocation reason</a:t>
            </a:r>
          </a:p>
          <a:p>
            <a:pPr lvl="1"/>
            <a:r>
              <a:rPr lang="en-US" sz="2000" dirty="0"/>
              <a:t>unknown</a:t>
            </a:r>
          </a:p>
          <a:p>
            <a:r>
              <a:rPr lang="en-US" sz="2400" dirty="0"/>
              <a:t>response must be signed by the responder server (not by the CA!)</a:t>
            </a:r>
          </a:p>
          <a:p>
            <a:pPr lvl="1"/>
            <a:r>
              <a:rPr lang="en-US" sz="2000" dirty="0"/>
              <a:t>the OCSP server certificate cannot be verified with OCSP itself!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76160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OCSP Usage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50" y="5093145"/>
            <a:ext cx="914506" cy="914506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3" y="1327123"/>
            <a:ext cx="658466" cy="102175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464241" y="1772816"/>
            <a:ext cx="4248472" cy="56502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419078" y="2050281"/>
            <a:ext cx="4248472" cy="72008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2" y="1575448"/>
            <a:ext cx="658466" cy="1021757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163" y="4358551"/>
            <a:ext cx="658466" cy="1021757"/>
          </a:xfrm>
          <a:prstGeom prst="rect">
            <a:avLst/>
          </a:prstGeom>
        </p:spPr>
      </p:pic>
      <p:cxnSp>
        <p:nvCxnSpPr>
          <p:cNvPr id="42" name="Straight Connector 41"/>
          <p:cNvCxnSpPr/>
          <p:nvPr/>
        </p:nvCxnSpPr>
        <p:spPr>
          <a:xfrm>
            <a:off x="6342191" y="6696254"/>
            <a:ext cx="684076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43200" y="6443463"/>
            <a:ext cx="68407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37874" y="1198608"/>
            <a:ext cx="219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a. request certificate for public key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2456" y="2093459"/>
            <a:ext cx="1650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b. issue cert-A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4356" y="6289575"/>
            <a:ext cx="14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Ahead of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4356" y="6542366"/>
            <a:ext cx="209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At communication 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070" y="1181378"/>
            <a:ext cx="163589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subject server</a:t>
            </a:r>
          </a:p>
          <a:p>
            <a:r>
              <a:rPr lang="en-US" sz="1400" dirty="0"/>
              <a:t>e.g. youtube.com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52100" y="1281141"/>
            <a:ext cx="119507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 server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41824" y="5175152"/>
            <a:ext cx="123897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OCSP responder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77" y="5263228"/>
            <a:ext cx="109321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end user</a:t>
            </a:r>
          </a:p>
        </p:txBody>
      </p:sp>
    </p:spTree>
    <p:extLst>
      <p:ext uri="{BB962C8B-B14F-4D97-AF65-F5344CB8AC3E}">
        <p14:creationId xmlns:p14="http://schemas.microsoft.com/office/powerpoint/2010/main" val="126486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OCSP Usage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50" y="5093145"/>
            <a:ext cx="914506" cy="914506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3" y="1327123"/>
            <a:ext cx="658466" cy="102175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464241" y="1772816"/>
            <a:ext cx="4248472" cy="56502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419078" y="2050281"/>
            <a:ext cx="4248472" cy="72008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2" y="1575448"/>
            <a:ext cx="658466" cy="1021757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163" y="4358551"/>
            <a:ext cx="658466" cy="1021757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V="1">
            <a:off x="810361" y="2856417"/>
            <a:ext cx="600516" cy="1904079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068234" y="2927633"/>
            <a:ext cx="609575" cy="2020357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342191" y="6696254"/>
            <a:ext cx="684076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43200" y="6443463"/>
            <a:ext cx="68407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3179086"/>
            <a:ext cx="115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1. request certified public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5262" y="3685402"/>
            <a:ext cx="10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2. here is cert-A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7874" y="1198608"/>
            <a:ext cx="219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a. request certificate for public key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2456" y="2093459"/>
            <a:ext cx="1650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b. issue cert-A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4356" y="6289575"/>
            <a:ext cx="14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Ahead of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4356" y="6542366"/>
            <a:ext cx="209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At communication 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070" y="1181378"/>
            <a:ext cx="163589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subject server</a:t>
            </a:r>
          </a:p>
          <a:p>
            <a:r>
              <a:rPr lang="en-US" sz="1400" dirty="0"/>
              <a:t>e.g. youtube.com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52100" y="1281141"/>
            <a:ext cx="119507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 server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41824" y="5175152"/>
            <a:ext cx="123897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OCSP responder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77" y="5263228"/>
            <a:ext cx="109321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end user</a:t>
            </a:r>
          </a:p>
        </p:txBody>
      </p:sp>
    </p:spTree>
    <p:extLst>
      <p:ext uri="{BB962C8B-B14F-4D97-AF65-F5344CB8AC3E}">
        <p14:creationId xmlns:p14="http://schemas.microsoft.com/office/powerpoint/2010/main" val="335728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OCSP Usage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50" y="5093145"/>
            <a:ext cx="914506" cy="914506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3" y="1327123"/>
            <a:ext cx="658466" cy="102175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464241" y="1772816"/>
            <a:ext cx="4248472" cy="56502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419078" y="2050281"/>
            <a:ext cx="4248472" cy="72008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2" y="1575448"/>
            <a:ext cx="658466" cy="1021757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163" y="4358551"/>
            <a:ext cx="658466" cy="1021757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V="1">
            <a:off x="810361" y="2856417"/>
            <a:ext cx="600516" cy="1904079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068234" y="2927633"/>
            <a:ext cx="609575" cy="2020357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342191" y="6696254"/>
            <a:ext cx="684076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43200" y="6443463"/>
            <a:ext cx="68407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3179086"/>
            <a:ext cx="115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1. request certified public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5262" y="3685402"/>
            <a:ext cx="10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2. here is cert-A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7874" y="1198608"/>
            <a:ext cx="219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a. request certificate for public key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2456" y="2093459"/>
            <a:ext cx="1650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b. issue cert-A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4356" y="6289575"/>
            <a:ext cx="14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Ahead of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4356" y="6542366"/>
            <a:ext cx="209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At communication 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070" y="1181378"/>
            <a:ext cx="163589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subject server</a:t>
            </a:r>
          </a:p>
          <a:p>
            <a:r>
              <a:rPr lang="en-US" sz="1400" dirty="0"/>
              <a:t>e.g. youtube.com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52100" y="1281141"/>
            <a:ext cx="119507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 server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41824" y="5175152"/>
            <a:ext cx="123897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OCSP responder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77" y="5263228"/>
            <a:ext cx="109321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end user</a:t>
            </a:r>
          </a:p>
        </p:txBody>
      </p:sp>
      <p:sp>
        <p:nvSpPr>
          <p:cNvPr id="3" name="Rectangular Callout 67">
            <a:extLst>
              <a:ext uri="{FF2B5EF4-FFF2-40B4-BE49-F238E27FC236}">
                <a16:creationId xmlns:a16="http://schemas.microsoft.com/office/drawing/2014/main" id="{52DD0F47-A6BD-787C-0628-7013BCB574C2}"/>
              </a:ext>
            </a:extLst>
          </p:cNvPr>
          <p:cNvSpPr/>
          <p:nvPr/>
        </p:nvSpPr>
        <p:spPr>
          <a:xfrm>
            <a:off x="1315199" y="5924288"/>
            <a:ext cx="1791178" cy="798642"/>
          </a:xfrm>
          <a:prstGeom prst="wedgeRectCallout">
            <a:avLst>
              <a:gd name="adj1" fmla="val -73248"/>
              <a:gd name="adj2" fmla="val -6058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sz="1600" dirty="0">
                <a:solidFill>
                  <a:schemeClr val="tx1"/>
                </a:solidFill>
              </a:rPr>
              <a:t>3. ✔ not expired and signed by a trusted CA</a:t>
            </a:r>
          </a:p>
        </p:txBody>
      </p:sp>
    </p:spTree>
    <p:extLst>
      <p:ext uri="{BB962C8B-B14F-4D97-AF65-F5344CB8AC3E}">
        <p14:creationId xmlns:p14="http://schemas.microsoft.com/office/powerpoint/2010/main" val="186169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OCSP Usage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50" y="5093145"/>
            <a:ext cx="914506" cy="914506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3" y="1327123"/>
            <a:ext cx="658466" cy="102175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464241" y="1772816"/>
            <a:ext cx="4248472" cy="56502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419078" y="2050281"/>
            <a:ext cx="4248472" cy="72008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2" y="1575448"/>
            <a:ext cx="658466" cy="1021757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163" y="4358551"/>
            <a:ext cx="658466" cy="1021757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V="1">
            <a:off x="810361" y="2856417"/>
            <a:ext cx="600516" cy="1904079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068234" y="2927633"/>
            <a:ext cx="609575" cy="2020357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342191" y="6696254"/>
            <a:ext cx="684076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43200" y="6443463"/>
            <a:ext cx="68407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3179086"/>
            <a:ext cx="115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1. request certified public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5262" y="3685402"/>
            <a:ext cx="10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2. here is cert-A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7874" y="1198608"/>
            <a:ext cx="219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a. request certificate for public key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2456" y="2093459"/>
            <a:ext cx="1650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b. issue cert-A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4356" y="6289575"/>
            <a:ext cx="14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Ahead of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4356" y="6542366"/>
            <a:ext cx="209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At communication 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070" y="1181378"/>
            <a:ext cx="163589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subject server</a:t>
            </a:r>
          </a:p>
          <a:p>
            <a:r>
              <a:rPr lang="en-US" sz="1400" dirty="0"/>
              <a:t>e.g. youtube.com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52100" y="1281141"/>
            <a:ext cx="119507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 server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41824" y="5175152"/>
            <a:ext cx="123897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OCSP responder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77" y="5263228"/>
            <a:ext cx="109321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end user</a:t>
            </a:r>
          </a:p>
        </p:txBody>
      </p:sp>
      <p:sp>
        <p:nvSpPr>
          <p:cNvPr id="3" name="Rectangular Callout 67">
            <a:extLst>
              <a:ext uri="{FF2B5EF4-FFF2-40B4-BE49-F238E27FC236}">
                <a16:creationId xmlns:a16="http://schemas.microsoft.com/office/drawing/2014/main" id="{52DD0F47-A6BD-787C-0628-7013BCB574C2}"/>
              </a:ext>
            </a:extLst>
          </p:cNvPr>
          <p:cNvSpPr/>
          <p:nvPr/>
        </p:nvSpPr>
        <p:spPr>
          <a:xfrm>
            <a:off x="1315199" y="5924288"/>
            <a:ext cx="1791178" cy="798642"/>
          </a:xfrm>
          <a:prstGeom prst="wedgeRectCallout">
            <a:avLst>
              <a:gd name="adj1" fmla="val -73248"/>
              <a:gd name="adj2" fmla="val -6058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sz="1600" dirty="0">
                <a:solidFill>
                  <a:schemeClr val="tx1"/>
                </a:solidFill>
              </a:rPr>
              <a:t>3. ✔ not expired and signed by a trusted CA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F0B47D-526A-5127-8960-093CDC2B9F49}"/>
              </a:ext>
            </a:extLst>
          </p:cNvPr>
          <p:cNvCxnSpPr/>
          <p:nvPr/>
        </p:nvCxnSpPr>
        <p:spPr>
          <a:xfrm flipV="1">
            <a:off x="1774967" y="4901341"/>
            <a:ext cx="5747982" cy="457033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52B6AB-58FE-4AFF-CD5F-3A845321DEA8}"/>
              </a:ext>
            </a:extLst>
          </p:cNvPr>
          <p:cNvCxnSpPr/>
          <p:nvPr/>
        </p:nvCxnSpPr>
        <p:spPr>
          <a:xfrm flipH="1">
            <a:off x="1794495" y="5221142"/>
            <a:ext cx="5728455" cy="509184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6869763-7749-E62D-FE36-13C3703E921B}"/>
              </a:ext>
            </a:extLst>
          </p:cNvPr>
          <p:cNvSpPr txBox="1"/>
          <p:nvPr/>
        </p:nvSpPr>
        <p:spPr>
          <a:xfrm>
            <a:off x="3656404" y="4526076"/>
            <a:ext cx="1977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4. check revocation of cert-A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841A78-B244-EDEC-EBAA-BE58688338A0}"/>
              </a:ext>
            </a:extLst>
          </p:cNvPr>
          <p:cNvSpPr txBox="1"/>
          <p:nvPr/>
        </p:nvSpPr>
        <p:spPr>
          <a:xfrm>
            <a:off x="3753071" y="5568153"/>
            <a:ext cx="1899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5. cert-A revoked two days ago</a:t>
            </a:r>
          </a:p>
        </p:txBody>
      </p:sp>
    </p:spTree>
    <p:extLst>
      <p:ext uri="{BB962C8B-B14F-4D97-AF65-F5344CB8AC3E}">
        <p14:creationId xmlns:p14="http://schemas.microsoft.com/office/powerpoint/2010/main" val="294187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OCSP Usage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50" y="5093145"/>
            <a:ext cx="914506" cy="914506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3" y="1327123"/>
            <a:ext cx="658466" cy="1021757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464241" y="1772816"/>
            <a:ext cx="4248472" cy="56502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419078" y="2050281"/>
            <a:ext cx="4248472" cy="72008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62" y="1575448"/>
            <a:ext cx="658466" cy="1021757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163" y="4358551"/>
            <a:ext cx="658466" cy="1021757"/>
          </a:xfrm>
          <a:prstGeom prst="rect">
            <a:avLst/>
          </a:prstGeom>
        </p:spPr>
      </p:pic>
      <p:cxnSp>
        <p:nvCxnSpPr>
          <p:cNvPr id="26" name="Straight Arrow Connector 25"/>
          <p:cNvCxnSpPr/>
          <p:nvPr/>
        </p:nvCxnSpPr>
        <p:spPr>
          <a:xfrm flipV="1">
            <a:off x="810361" y="2856417"/>
            <a:ext cx="600516" cy="1904079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068234" y="2927633"/>
            <a:ext cx="609575" cy="2020357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342191" y="6696254"/>
            <a:ext cx="684076" cy="0"/>
          </a:xfrm>
          <a:prstGeom prst="line">
            <a:avLst/>
          </a:prstGeom>
          <a:ln w="22225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343200" y="6443463"/>
            <a:ext cx="68407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0" y="3179086"/>
            <a:ext cx="115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1. request certified public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5262" y="3685402"/>
            <a:ext cx="109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2. here is cert-A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7874" y="1198608"/>
            <a:ext cx="219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a. request certificate for public key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92456" y="2093459"/>
            <a:ext cx="1650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b. issue cert-A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64356" y="6289575"/>
            <a:ext cx="1427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Ahead of time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4356" y="6542366"/>
            <a:ext cx="209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400" dirty="0"/>
              <a:t>At communication time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9070" y="1181378"/>
            <a:ext cx="1635897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subject server</a:t>
            </a:r>
          </a:p>
          <a:p>
            <a:r>
              <a:rPr lang="en-US" sz="1400" dirty="0"/>
              <a:t>e.g. youtube.com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52100" y="1281141"/>
            <a:ext cx="119507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 server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41824" y="5175152"/>
            <a:ext cx="123897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OCSP responder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77" y="5263228"/>
            <a:ext cx="1093216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atinLnBrk="0"/>
            <a:r>
              <a:rPr lang="en-US" dirty="0"/>
              <a:t>end user</a:t>
            </a:r>
          </a:p>
        </p:txBody>
      </p:sp>
      <p:sp>
        <p:nvSpPr>
          <p:cNvPr id="3" name="Rectangular Callout 67">
            <a:extLst>
              <a:ext uri="{FF2B5EF4-FFF2-40B4-BE49-F238E27FC236}">
                <a16:creationId xmlns:a16="http://schemas.microsoft.com/office/drawing/2014/main" id="{52DD0F47-A6BD-787C-0628-7013BCB574C2}"/>
              </a:ext>
            </a:extLst>
          </p:cNvPr>
          <p:cNvSpPr/>
          <p:nvPr/>
        </p:nvSpPr>
        <p:spPr>
          <a:xfrm>
            <a:off x="1315199" y="5924288"/>
            <a:ext cx="1791178" cy="798642"/>
          </a:xfrm>
          <a:prstGeom prst="wedgeRectCallout">
            <a:avLst>
              <a:gd name="adj1" fmla="val -73248"/>
              <a:gd name="adj2" fmla="val -6058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/>
            <a:r>
              <a:rPr lang="en-US" sz="1600" dirty="0">
                <a:solidFill>
                  <a:schemeClr val="tx1"/>
                </a:solidFill>
              </a:rPr>
              <a:t>3. ✔ not expired and signed by a trusted CA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EE63D0F-E2FA-DCB5-2A41-62E4D27A9FD6}"/>
              </a:ext>
            </a:extLst>
          </p:cNvPr>
          <p:cNvCxnSpPr/>
          <p:nvPr/>
        </p:nvCxnSpPr>
        <p:spPr>
          <a:xfrm>
            <a:off x="7737163" y="2492896"/>
            <a:ext cx="462854" cy="1517094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3BA6E7-6C2B-A11D-24E9-D41B67C0C212}"/>
              </a:ext>
            </a:extLst>
          </p:cNvPr>
          <p:cNvCxnSpPr/>
          <p:nvPr/>
        </p:nvCxnSpPr>
        <p:spPr>
          <a:xfrm flipH="1" flipV="1">
            <a:off x="7437860" y="2597205"/>
            <a:ext cx="403964" cy="1466972"/>
          </a:xfrm>
          <a:prstGeom prst="straightConnector1">
            <a:avLst/>
          </a:prstGeom>
          <a:ln w="12700" cmpd="sng">
            <a:solidFill>
              <a:schemeClr val="accent6">
                <a:lumMod val="75000"/>
              </a:schemeClr>
            </a:solidFill>
            <a:prstDash val="lgDashDot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5A9B219-CECE-3597-F25D-685B6E162AC9}"/>
              </a:ext>
            </a:extLst>
          </p:cNvPr>
          <p:cNvSpPr txBox="1"/>
          <p:nvPr/>
        </p:nvSpPr>
        <p:spPr>
          <a:xfrm>
            <a:off x="5986752" y="3176955"/>
            <a:ext cx="1655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c. request cert for public key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251B3-2C18-DDB6-83C3-106ADD82DE58}"/>
              </a:ext>
            </a:extLst>
          </p:cNvPr>
          <p:cNvSpPr txBox="1"/>
          <p:nvPr/>
        </p:nvSpPr>
        <p:spPr>
          <a:xfrm>
            <a:off x="8009607" y="2696110"/>
            <a:ext cx="920123" cy="59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d. issue cert-X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92E4B7-7236-D4FA-1833-4789A581A404}"/>
              </a:ext>
            </a:extLst>
          </p:cNvPr>
          <p:cNvCxnSpPr/>
          <p:nvPr/>
        </p:nvCxnSpPr>
        <p:spPr>
          <a:xfrm flipV="1">
            <a:off x="1774967" y="4901341"/>
            <a:ext cx="5747982" cy="457033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DEA542-3370-622A-43F4-541632DFA65F}"/>
              </a:ext>
            </a:extLst>
          </p:cNvPr>
          <p:cNvCxnSpPr/>
          <p:nvPr/>
        </p:nvCxnSpPr>
        <p:spPr>
          <a:xfrm flipH="1">
            <a:off x="1794495" y="5221142"/>
            <a:ext cx="5728455" cy="509184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AFFBBFA-F2DE-22D5-CAB3-95459E828B88}"/>
              </a:ext>
            </a:extLst>
          </p:cNvPr>
          <p:cNvSpPr txBox="1"/>
          <p:nvPr/>
        </p:nvSpPr>
        <p:spPr>
          <a:xfrm>
            <a:off x="3656404" y="4526076"/>
            <a:ext cx="1977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4. check revocation of cert-A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92C90-3205-9570-8906-71EE8B7F887B}"/>
              </a:ext>
            </a:extLst>
          </p:cNvPr>
          <p:cNvSpPr txBox="1"/>
          <p:nvPr/>
        </p:nvSpPr>
        <p:spPr>
          <a:xfrm>
            <a:off x="3753071" y="5568153"/>
            <a:ext cx="1899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sz="1600" dirty="0"/>
              <a:t>5. cert-A revoked two days ago</a:t>
            </a:r>
          </a:p>
        </p:txBody>
      </p:sp>
      <p:sp>
        <p:nvSpPr>
          <p:cNvPr id="16" name="Rectangular Callout 64">
            <a:extLst>
              <a:ext uri="{FF2B5EF4-FFF2-40B4-BE49-F238E27FC236}">
                <a16:creationId xmlns:a16="http://schemas.microsoft.com/office/drawing/2014/main" id="{32F11A6A-6A79-DE91-BC35-D33E740F45A6}"/>
              </a:ext>
            </a:extLst>
          </p:cNvPr>
          <p:cNvSpPr/>
          <p:nvPr/>
        </p:nvSpPr>
        <p:spPr>
          <a:xfrm>
            <a:off x="5897713" y="5442734"/>
            <a:ext cx="1166643" cy="755682"/>
          </a:xfrm>
          <a:prstGeom prst="wedgeRectCallout">
            <a:avLst>
              <a:gd name="adj1" fmla="val -83234"/>
              <a:gd name="adj2" fmla="val -11365"/>
            </a:avLst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sz="1600" dirty="0"/>
              <a:t>Must be a signed response</a:t>
            </a:r>
          </a:p>
        </p:txBody>
      </p:sp>
    </p:spTree>
    <p:extLst>
      <p:ext uri="{BB962C8B-B14F-4D97-AF65-F5344CB8AC3E}">
        <p14:creationId xmlns:p14="http://schemas.microsoft.com/office/powerpoint/2010/main" val="401675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2567</TotalTime>
  <Words>1127</Words>
  <Application>Microsoft Office PowerPoint</Application>
  <PresentationFormat>On-screen Show (4:3)</PresentationFormat>
  <Paragraphs>187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Inter</vt:lpstr>
      <vt:lpstr>ＭＳ Ｐゴシック</vt:lpstr>
      <vt:lpstr>Arial</vt:lpstr>
      <vt:lpstr>Calibri</vt:lpstr>
      <vt:lpstr>Courier New</vt:lpstr>
      <vt:lpstr>Wingdings</vt:lpstr>
      <vt:lpstr>Office Theme</vt:lpstr>
      <vt:lpstr>Custom Design</vt:lpstr>
      <vt:lpstr>PowerPoint Presentation</vt:lpstr>
      <vt:lpstr>MITM against Diffie-Hellman</vt:lpstr>
      <vt:lpstr>MITM in PKC</vt:lpstr>
      <vt:lpstr>Public-Key Certificates</vt:lpstr>
      <vt:lpstr>Public-Key Certificate</vt:lpstr>
      <vt:lpstr>Public-Key Certificate</vt:lpstr>
      <vt:lpstr>X.509 Identity Certificates</vt:lpstr>
      <vt:lpstr>Public Key Infrastructure (PKI)</vt:lpstr>
      <vt:lpstr>Certificate Authority</vt:lpstr>
      <vt:lpstr>Certificate Issuance Process</vt:lpstr>
      <vt:lpstr>Registration Authority</vt:lpstr>
      <vt:lpstr>Trusted CAs</vt:lpstr>
      <vt:lpstr>Trusted CAs – Check your PC</vt:lpstr>
      <vt:lpstr>Chain of Trust</vt:lpstr>
      <vt:lpstr>Chain of Trust</vt:lpstr>
      <vt:lpstr>Certificate Revocation List (CRL)</vt:lpstr>
      <vt:lpstr>Certificate Revocation Timeline</vt:lpstr>
      <vt:lpstr>CRL Drawbacks</vt:lpstr>
      <vt:lpstr>OCSP</vt:lpstr>
      <vt:lpstr>OCSP Usage</vt:lpstr>
      <vt:lpstr>OCSP Usage</vt:lpstr>
      <vt:lpstr>OCSP Usage</vt:lpstr>
      <vt:lpstr>OCSP Usage</vt:lpstr>
      <vt:lpstr>OCSP Usage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Ammar Haider</cp:lastModifiedBy>
  <cp:revision>187</cp:revision>
  <dcterms:created xsi:type="dcterms:W3CDTF">2014-04-01T16:35:38Z</dcterms:created>
  <dcterms:modified xsi:type="dcterms:W3CDTF">2024-10-11T04:33:12Z</dcterms:modified>
</cp:coreProperties>
</file>