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3"/>
  </p:notesMasterIdLst>
  <p:sldIdLst>
    <p:sldId id="404" r:id="rId3"/>
    <p:sldId id="405" r:id="rId4"/>
    <p:sldId id="406" r:id="rId5"/>
    <p:sldId id="407" r:id="rId6"/>
    <p:sldId id="427" r:id="rId7"/>
    <p:sldId id="408" r:id="rId8"/>
    <p:sldId id="409" r:id="rId9"/>
    <p:sldId id="410" r:id="rId10"/>
    <p:sldId id="416" r:id="rId11"/>
    <p:sldId id="411" r:id="rId12"/>
    <p:sldId id="413" r:id="rId13"/>
    <p:sldId id="432" r:id="rId14"/>
    <p:sldId id="412" r:id="rId15"/>
    <p:sldId id="430" r:id="rId16"/>
    <p:sldId id="428" r:id="rId17"/>
    <p:sldId id="433" r:id="rId18"/>
    <p:sldId id="417" r:id="rId19"/>
    <p:sldId id="418" r:id="rId20"/>
    <p:sldId id="419" r:id="rId21"/>
    <p:sldId id="420" r:id="rId22"/>
    <p:sldId id="421" r:id="rId23"/>
    <p:sldId id="429" r:id="rId24"/>
    <p:sldId id="422" r:id="rId25"/>
    <p:sldId id="423" r:id="rId26"/>
    <p:sldId id="425" r:id="rId27"/>
    <p:sldId id="426" r:id="rId28"/>
    <p:sldId id="431" r:id="rId29"/>
    <p:sldId id="424" r:id="rId30"/>
    <p:sldId id="434" r:id="rId31"/>
    <p:sldId id="414" r:id="rId32"/>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792" autoAdjust="0"/>
  </p:normalViewPr>
  <p:slideViewPr>
    <p:cSldViewPr>
      <p:cViewPr varScale="1">
        <p:scale>
          <a:sx n="62" d="100"/>
          <a:sy n="62" d="100"/>
        </p:scale>
        <p:origin x="1352" y="52"/>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varScale="1">
      <p:scale>
        <a:sx n="100" d="100"/>
        <a:sy n="100" d="100"/>
      </p:scale>
      <p:origin x="0" y="-212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0562BC-9070-424D-9FE6-C6EED01CB000}" type="doc">
      <dgm:prSet loTypeId="urn:microsoft.com/office/officeart/2005/8/layout/process5" loCatId="process" qsTypeId="urn:microsoft.com/office/officeart/2005/8/quickstyle/simple2" qsCatId="simple" csTypeId="urn:microsoft.com/office/officeart/2005/8/colors/colorful3" csCatId="colorful" phldr="1"/>
      <dgm:spPr/>
      <dgm:t>
        <a:bodyPr/>
        <a:lstStyle/>
        <a:p>
          <a:endParaRPr lang="en-US"/>
        </a:p>
      </dgm:t>
    </dgm:pt>
    <dgm:pt modelId="{99D79088-A8C4-47E7-A967-E6D0584281FA}">
      <dgm:prSet phldrT="[Text]" custT="1"/>
      <dgm:spPr/>
      <dgm:t>
        <a:bodyPr/>
        <a:lstStyle/>
        <a:p>
          <a:r>
            <a:rPr lang="en-US" sz="2000" dirty="0"/>
            <a:t>Gather information about the target</a:t>
          </a:r>
        </a:p>
      </dgm:t>
    </dgm:pt>
    <dgm:pt modelId="{C2A5295A-A054-43CB-907E-155732BE6463}" type="parTrans" cxnId="{49D82565-3E01-4F55-8D88-AE7378E51601}">
      <dgm:prSet/>
      <dgm:spPr/>
      <dgm:t>
        <a:bodyPr/>
        <a:lstStyle/>
        <a:p>
          <a:endParaRPr lang="en-US" sz="1800"/>
        </a:p>
      </dgm:t>
    </dgm:pt>
    <dgm:pt modelId="{BBA4991F-E57D-4342-BBF3-6346EFA8888A}" type="sibTrans" cxnId="{49D82565-3E01-4F55-8D88-AE7378E51601}">
      <dgm:prSet custT="1"/>
      <dgm:spPr/>
      <dgm:t>
        <a:bodyPr/>
        <a:lstStyle/>
        <a:p>
          <a:endParaRPr lang="en-US" sz="1800"/>
        </a:p>
      </dgm:t>
    </dgm:pt>
    <dgm:pt modelId="{3F67EF1D-8890-48CC-AAEB-A110F1DEB306}">
      <dgm:prSet phldrT="[Text]" custT="1"/>
      <dgm:spPr/>
      <dgm:t>
        <a:bodyPr/>
        <a:lstStyle/>
        <a:p>
          <a:r>
            <a:rPr lang="en-US" sz="2000" dirty="0"/>
            <a:t>Gain initial access to the system</a:t>
          </a:r>
        </a:p>
      </dgm:t>
    </dgm:pt>
    <dgm:pt modelId="{22AE7B72-CDC3-45C6-B2B9-F47C45DF47C5}" type="parTrans" cxnId="{2FB9790E-562C-4A68-AEAD-4F6BAA5F49B3}">
      <dgm:prSet/>
      <dgm:spPr/>
      <dgm:t>
        <a:bodyPr/>
        <a:lstStyle/>
        <a:p>
          <a:endParaRPr lang="en-US" sz="1800"/>
        </a:p>
      </dgm:t>
    </dgm:pt>
    <dgm:pt modelId="{4CCCEC10-B06C-4681-94D6-B37CC7F0BD33}" type="sibTrans" cxnId="{2FB9790E-562C-4A68-AEAD-4F6BAA5F49B3}">
      <dgm:prSet custT="1"/>
      <dgm:spPr/>
      <dgm:t>
        <a:bodyPr/>
        <a:lstStyle/>
        <a:p>
          <a:endParaRPr lang="en-US" sz="1800"/>
        </a:p>
      </dgm:t>
    </dgm:pt>
    <dgm:pt modelId="{502C9A15-0AEC-4631-8A8F-A87D18BC38FC}">
      <dgm:prSet phldrT="[Text]" custT="1"/>
      <dgm:spPr/>
      <dgm:t>
        <a:bodyPr/>
        <a:lstStyle/>
        <a:p>
          <a:r>
            <a:rPr lang="en-US" sz="2000" dirty="0"/>
            <a:t>Privilege escalation</a:t>
          </a:r>
        </a:p>
      </dgm:t>
    </dgm:pt>
    <dgm:pt modelId="{78CAD0F2-6824-4CA6-AB0A-744163DF947C}" type="parTrans" cxnId="{A22F7F3D-7CE1-42BD-826D-1C76A2578FAA}">
      <dgm:prSet/>
      <dgm:spPr/>
      <dgm:t>
        <a:bodyPr/>
        <a:lstStyle/>
        <a:p>
          <a:endParaRPr lang="en-US" sz="1800"/>
        </a:p>
      </dgm:t>
    </dgm:pt>
    <dgm:pt modelId="{C1350315-8550-48BB-AF7B-CBBB71BB30B7}" type="sibTrans" cxnId="{A22F7F3D-7CE1-42BD-826D-1C76A2578FAA}">
      <dgm:prSet custT="1"/>
      <dgm:spPr/>
      <dgm:t>
        <a:bodyPr/>
        <a:lstStyle/>
        <a:p>
          <a:endParaRPr lang="en-US" sz="1800"/>
        </a:p>
      </dgm:t>
    </dgm:pt>
    <dgm:pt modelId="{D360C552-9F1B-434E-92A0-3C725FF92F0F}">
      <dgm:prSet phldrT="[Text]" custT="1"/>
      <dgm:spPr/>
      <dgm:t>
        <a:bodyPr/>
        <a:lstStyle/>
        <a:p>
          <a:r>
            <a:rPr lang="en-US" sz="1600" dirty="0"/>
            <a:t>Do the damage e.g. steal or corrupt information, </a:t>
          </a:r>
          <a:br>
            <a:rPr lang="en-US" sz="1600" dirty="0"/>
          </a:br>
          <a:r>
            <a:rPr lang="en-US" sz="1600" dirty="0"/>
            <a:t>install malware</a:t>
          </a:r>
        </a:p>
      </dgm:t>
    </dgm:pt>
    <dgm:pt modelId="{833DC678-D8BE-499B-A200-F1A7DD1F40B9}" type="parTrans" cxnId="{64A6CC7C-A805-481F-BFFA-0E60C3B3AEDA}">
      <dgm:prSet/>
      <dgm:spPr/>
      <dgm:t>
        <a:bodyPr/>
        <a:lstStyle/>
        <a:p>
          <a:endParaRPr lang="en-US" sz="1800"/>
        </a:p>
      </dgm:t>
    </dgm:pt>
    <dgm:pt modelId="{353B90EB-B90E-4AEA-B26D-054DF1431C6C}" type="sibTrans" cxnId="{64A6CC7C-A805-481F-BFFA-0E60C3B3AEDA}">
      <dgm:prSet custT="1"/>
      <dgm:spPr/>
      <dgm:t>
        <a:bodyPr/>
        <a:lstStyle/>
        <a:p>
          <a:endParaRPr lang="en-US" sz="1800"/>
        </a:p>
      </dgm:t>
    </dgm:pt>
    <dgm:pt modelId="{C1E93869-9B5C-4C33-A9BA-A892FABBB1BC}">
      <dgm:prSet phldrT="[Text]" custT="1"/>
      <dgm:spPr/>
      <dgm:t>
        <a:bodyPr/>
        <a:lstStyle/>
        <a:p>
          <a:r>
            <a:rPr lang="en-US" sz="1600" dirty="0"/>
            <a:t>Maintain access e.g. create new accounts, install backdoors</a:t>
          </a:r>
        </a:p>
      </dgm:t>
    </dgm:pt>
    <dgm:pt modelId="{CC2EFEAA-747F-4ADD-9562-469E914C364C}" type="parTrans" cxnId="{BF9F5A8E-A470-404C-A73E-71396B1BA620}">
      <dgm:prSet/>
      <dgm:spPr/>
      <dgm:t>
        <a:bodyPr/>
        <a:lstStyle/>
        <a:p>
          <a:endParaRPr lang="en-US" sz="1800"/>
        </a:p>
      </dgm:t>
    </dgm:pt>
    <dgm:pt modelId="{1EA89F91-B8A5-4DBC-A44A-6472DA8E28DE}" type="sibTrans" cxnId="{BF9F5A8E-A470-404C-A73E-71396B1BA620}">
      <dgm:prSet custT="1"/>
      <dgm:spPr/>
      <dgm:t>
        <a:bodyPr/>
        <a:lstStyle/>
        <a:p>
          <a:endParaRPr lang="en-US" sz="1800"/>
        </a:p>
      </dgm:t>
    </dgm:pt>
    <dgm:pt modelId="{96D8FBE9-EEFE-4F4D-BDD2-153DFF90645B}">
      <dgm:prSet phldrT="[Text]" custT="1"/>
      <dgm:spPr/>
      <dgm:t>
        <a:bodyPr/>
        <a:lstStyle/>
        <a:p>
          <a:r>
            <a:rPr lang="en-US" sz="2000" dirty="0"/>
            <a:t>Cover tracks</a:t>
          </a:r>
        </a:p>
      </dgm:t>
    </dgm:pt>
    <dgm:pt modelId="{BDBAF6DE-3255-497A-885E-62BEAC8AE318}" type="parTrans" cxnId="{EF1C63D8-F6FF-486A-976C-989FDA7696F2}">
      <dgm:prSet/>
      <dgm:spPr/>
      <dgm:t>
        <a:bodyPr/>
        <a:lstStyle/>
        <a:p>
          <a:endParaRPr lang="en-US" sz="1800"/>
        </a:p>
      </dgm:t>
    </dgm:pt>
    <dgm:pt modelId="{ABB6EF3D-E631-4B71-91D8-121365485B4A}" type="sibTrans" cxnId="{EF1C63D8-F6FF-486A-976C-989FDA7696F2}">
      <dgm:prSet/>
      <dgm:spPr/>
      <dgm:t>
        <a:bodyPr/>
        <a:lstStyle/>
        <a:p>
          <a:endParaRPr lang="en-US" sz="1800"/>
        </a:p>
      </dgm:t>
    </dgm:pt>
    <dgm:pt modelId="{80E9543B-3E59-4130-ADC8-C1E33703B5AD}" type="pres">
      <dgm:prSet presAssocID="{0A0562BC-9070-424D-9FE6-C6EED01CB000}" presName="diagram" presStyleCnt="0">
        <dgm:presLayoutVars>
          <dgm:dir/>
          <dgm:resizeHandles val="exact"/>
        </dgm:presLayoutVars>
      </dgm:prSet>
      <dgm:spPr/>
    </dgm:pt>
    <dgm:pt modelId="{EED89ECF-C3A0-4900-9251-876CE8E1432F}" type="pres">
      <dgm:prSet presAssocID="{99D79088-A8C4-47E7-A967-E6D0584281FA}" presName="node" presStyleLbl="node1" presStyleIdx="0" presStyleCnt="6">
        <dgm:presLayoutVars>
          <dgm:bulletEnabled val="1"/>
        </dgm:presLayoutVars>
      </dgm:prSet>
      <dgm:spPr/>
    </dgm:pt>
    <dgm:pt modelId="{D581FC49-822F-4E1F-B8C5-172C0ED4E99E}" type="pres">
      <dgm:prSet presAssocID="{BBA4991F-E57D-4342-BBF3-6346EFA8888A}" presName="sibTrans" presStyleLbl="sibTrans2D1" presStyleIdx="0" presStyleCnt="5"/>
      <dgm:spPr/>
    </dgm:pt>
    <dgm:pt modelId="{7F8877F7-19CD-42F3-8581-E6902143AEC4}" type="pres">
      <dgm:prSet presAssocID="{BBA4991F-E57D-4342-BBF3-6346EFA8888A}" presName="connectorText" presStyleLbl="sibTrans2D1" presStyleIdx="0" presStyleCnt="5"/>
      <dgm:spPr/>
    </dgm:pt>
    <dgm:pt modelId="{4884B547-EF0C-4335-A17F-600353B1DE80}" type="pres">
      <dgm:prSet presAssocID="{3F67EF1D-8890-48CC-AAEB-A110F1DEB306}" presName="node" presStyleLbl="node1" presStyleIdx="1" presStyleCnt="6">
        <dgm:presLayoutVars>
          <dgm:bulletEnabled val="1"/>
        </dgm:presLayoutVars>
      </dgm:prSet>
      <dgm:spPr/>
    </dgm:pt>
    <dgm:pt modelId="{6B54B7DC-9FB6-4C97-8234-A64E60EE7AD4}" type="pres">
      <dgm:prSet presAssocID="{4CCCEC10-B06C-4681-94D6-B37CC7F0BD33}" presName="sibTrans" presStyleLbl="sibTrans2D1" presStyleIdx="1" presStyleCnt="5"/>
      <dgm:spPr/>
    </dgm:pt>
    <dgm:pt modelId="{6F774515-6BDD-413D-B1E4-264BFC8F11D7}" type="pres">
      <dgm:prSet presAssocID="{4CCCEC10-B06C-4681-94D6-B37CC7F0BD33}" presName="connectorText" presStyleLbl="sibTrans2D1" presStyleIdx="1" presStyleCnt="5"/>
      <dgm:spPr/>
    </dgm:pt>
    <dgm:pt modelId="{91AF52BD-8066-4B7D-81F8-FCA7488DE94F}" type="pres">
      <dgm:prSet presAssocID="{502C9A15-0AEC-4631-8A8F-A87D18BC38FC}" presName="node" presStyleLbl="node1" presStyleIdx="2" presStyleCnt="6">
        <dgm:presLayoutVars>
          <dgm:bulletEnabled val="1"/>
        </dgm:presLayoutVars>
      </dgm:prSet>
      <dgm:spPr/>
    </dgm:pt>
    <dgm:pt modelId="{FB277701-3487-42AC-B3A2-F9BF38B14C6F}" type="pres">
      <dgm:prSet presAssocID="{C1350315-8550-48BB-AF7B-CBBB71BB30B7}" presName="sibTrans" presStyleLbl="sibTrans2D1" presStyleIdx="2" presStyleCnt="5"/>
      <dgm:spPr/>
    </dgm:pt>
    <dgm:pt modelId="{ECBBADB3-B481-46E6-AF9A-3A18ED7CF745}" type="pres">
      <dgm:prSet presAssocID="{C1350315-8550-48BB-AF7B-CBBB71BB30B7}" presName="connectorText" presStyleLbl="sibTrans2D1" presStyleIdx="2" presStyleCnt="5"/>
      <dgm:spPr/>
    </dgm:pt>
    <dgm:pt modelId="{14F905B2-0186-4785-82A9-363CC1A7203C}" type="pres">
      <dgm:prSet presAssocID="{D360C552-9F1B-434E-92A0-3C725FF92F0F}" presName="node" presStyleLbl="node1" presStyleIdx="3" presStyleCnt="6">
        <dgm:presLayoutVars>
          <dgm:bulletEnabled val="1"/>
        </dgm:presLayoutVars>
      </dgm:prSet>
      <dgm:spPr/>
    </dgm:pt>
    <dgm:pt modelId="{6AD9BEBC-61A9-4683-8F85-6C8099768BEF}" type="pres">
      <dgm:prSet presAssocID="{353B90EB-B90E-4AEA-B26D-054DF1431C6C}" presName="sibTrans" presStyleLbl="sibTrans2D1" presStyleIdx="3" presStyleCnt="5"/>
      <dgm:spPr/>
    </dgm:pt>
    <dgm:pt modelId="{D573B606-78FB-44D4-A01B-21D8C11C7F98}" type="pres">
      <dgm:prSet presAssocID="{353B90EB-B90E-4AEA-B26D-054DF1431C6C}" presName="connectorText" presStyleLbl="sibTrans2D1" presStyleIdx="3" presStyleCnt="5"/>
      <dgm:spPr/>
    </dgm:pt>
    <dgm:pt modelId="{1F463553-4C34-4337-A811-F7C57924ECBA}" type="pres">
      <dgm:prSet presAssocID="{C1E93869-9B5C-4C33-A9BA-A892FABBB1BC}" presName="node" presStyleLbl="node1" presStyleIdx="4" presStyleCnt="6">
        <dgm:presLayoutVars>
          <dgm:bulletEnabled val="1"/>
        </dgm:presLayoutVars>
      </dgm:prSet>
      <dgm:spPr/>
    </dgm:pt>
    <dgm:pt modelId="{8A361ED3-6397-477C-B0F9-E08E30EA0D43}" type="pres">
      <dgm:prSet presAssocID="{1EA89F91-B8A5-4DBC-A44A-6472DA8E28DE}" presName="sibTrans" presStyleLbl="sibTrans2D1" presStyleIdx="4" presStyleCnt="5"/>
      <dgm:spPr/>
    </dgm:pt>
    <dgm:pt modelId="{B9F1FA48-EE02-494B-A35C-3A7DAB7DDA4C}" type="pres">
      <dgm:prSet presAssocID="{1EA89F91-B8A5-4DBC-A44A-6472DA8E28DE}" presName="connectorText" presStyleLbl="sibTrans2D1" presStyleIdx="4" presStyleCnt="5"/>
      <dgm:spPr/>
    </dgm:pt>
    <dgm:pt modelId="{45F4E649-1708-4315-8E3E-73CAB39F3A38}" type="pres">
      <dgm:prSet presAssocID="{96D8FBE9-EEFE-4F4D-BDD2-153DFF90645B}" presName="node" presStyleLbl="node1" presStyleIdx="5" presStyleCnt="6">
        <dgm:presLayoutVars>
          <dgm:bulletEnabled val="1"/>
        </dgm:presLayoutVars>
      </dgm:prSet>
      <dgm:spPr/>
    </dgm:pt>
  </dgm:ptLst>
  <dgm:cxnLst>
    <dgm:cxn modelId="{2FB9790E-562C-4A68-AEAD-4F6BAA5F49B3}" srcId="{0A0562BC-9070-424D-9FE6-C6EED01CB000}" destId="{3F67EF1D-8890-48CC-AAEB-A110F1DEB306}" srcOrd="1" destOrd="0" parTransId="{22AE7B72-CDC3-45C6-B2B9-F47C45DF47C5}" sibTransId="{4CCCEC10-B06C-4681-94D6-B37CC7F0BD33}"/>
    <dgm:cxn modelId="{61F1BD27-EF09-4047-ABC2-053D9BF545EE}" type="presOf" srcId="{353B90EB-B90E-4AEA-B26D-054DF1431C6C}" destId="{6AD9BEBC-61A9-4683-8F85-6C8099768BEF}" srcOrd="0" destOrd="0" presId="urn:microsoft.com/office/officeart/2005/8/layout/process5"/>
    <dgm:cxn modelId="{48F29D31-1F8F-4CC9-A6C6-B6532A4FC20F}" type="presOf" srcId="{BBA4991F-E57D-4342-BBF3-6346EFA8888A}" destId="{7F8877F7-19CD-42F3-8581-E6902143AEC4}" srcOrd="1" destOrd="0" presId="urn:microsoft.com/office/officeart/2005/8/layout/process5"/>
    <dgm:cxn modelId="{A22F7F3D-7CE1-42BD-826D-1C76A2578FAA}" srcId="{0A0562BC-9070-424D-9FE6-C6EED01CB000}" destId="{502C9A15-0AEC-4631-8A8F-A87D18BC38FC}" srcOrd="2" destOrd="0" parTransId="{78CAD0F2-6824-4CA6-AB0A-744163DF947C}" sibTransId="{C1350315-8550-48BB-AF7B-CBBB71BB30B7}"/>
    <dgm:cxn modelId="{49D82565-3E01-4F55-8D88-AE7378E51601}" srcId="{0A0562BC-9070-424D-9FE6-C6EED01CB000}" destId="{99D79088-A8C4-47E7-A967-E6D0584281FA}" srcOrd="0" destOrd="0" parTransId="{C2A5295A-A054-43CB-907E-155732BE6463}" sibTransId="{BBA4991F-E57D-4342-BBF3-6346EFA8888A}"/>
    <dgm:cxn modelId="{52342E71-05CD-44C9-BE5F-D6E510628C0B}" type="presOf" srcId="{1EA89F91-B8A5-4DBC-A44A-6472DA8E28DE}" destId="{8A361ED3-6397-477C-B0F9-E08E30EA0D43}" srcOrd="0" destOrd="0" presId="urn:microsoft.com/office/officeart/2005/8/layout/process5"/>
    <dgm:cxn modelId="{D2C21973-DA64-4D68-876D-C96E025DC7E0}" type="presOf" srcId="{4CCCEC10-B06C-4681-94D6-B37CC7F0BD33}" destId="{6B54B7DC-9FB6-4C97-8234-A64E60EE7AD4}" srcOrd="0" destOrd="0" presId="urn:microsoft.com/office/officeart/2005/8/layout/process5"/>
    <dgm:cxn modelId="{80B1F974-A024-4552-970A-3740748C495D}" type="presOf" srcId="{C1350315-8550-48BB-AF7B-CBBB71BB30B7}" destId="{FB277701-3487-42AC-B3A2-F9BF38B14C6F}" srcOrd="0" destOrd="0" presId="urn:microsoft.com/office/officeart/2005/8/layout/process5"/>
    <dgm:cxn modelId="{25C84776-EB05-4DB5-8E73-D07FEEA25D07}" type="presOf" srcId="{99D79088-A8C4-47E7-A967-E6D0584281FA}" destId="{EED89ECF-C3A0-4900-9251-876CE8E1432F}" srcOrd="0" destOrd="0" presId="urn:microsoft.com/office/officeart/2005/8/layout/process5"/>
    <dgm:cxn modelId="{64A6CC7C-A805-481F-BFFA-0E60C3B3AEDA}" srcId="{0A0562BC-9070-424D-9FE6-C6EED01CB000}" destId="{D360C552-9F1B-434E-92A0-3C725FF92F0F}" srcOrd="3" destOrd="0" parTransId="{833DC678-D8BE-499B-A200-F1A7DD1F40B9}" sibTransId="{353B90EB-B90E-4AEA-B26D-054DF1431C6C}"/>
    <dgm:cxn modelId="{BF9F5A8E-A470-404C-A73E-71396B1BA620}" srcId="{0A0562BC-9070-424D-9FE6-C6EED01CB000}" destId="{C1E93869-9B5C-4C33-A9BA-A892FABBB1BC}" srcOrd="4" destOrd="0" parTransId="{CC2EFEAA-747F-4ADD-9562-469E914C364C}" sibTransId="{1EA89F91-B8A5-4DBC-A44A-6472DA8E28DE}"/>
    <dgm:cxn modelId="{37A41CA6-B90F-4AA6-B36F-BC47E0D2F49E}" type="presOf" srcId="{502C9A15-0AEC-4631-8A8F-A87D18BC38FC}" destId="{91AF52BD-8066-4B7D-81F8-FCA7488DE94F}" srcOrd="0" destOrd="0" presId="urn:microsoft.com/office/officeart/2005/8/layout/process5"/>
    <dgm:cxn modelId="{98F8A8B3-6742-4F49-9BF4-F274FC2B37FC}" type="presOf" srcId="{353B90EB-B90E-4AEA-B26D-054DF1431C6C}" destId="{D573B606-78FB-44D4-A01B-21D8C11C7F98}" srcOrd="1" destOrd="0" presId="urn:microsoft.com/office/officeart/2005/8/layout/process5"/>
    <dgm:cxn modelId="{491A9ABD-1B4D-4076-BE21-AE43919AEBBC}" type="presOf" srcId="{0A0562BC-9070-424D-9FE6-C6EED01CB000}" destId="{80E9543B-3E59-4130-ADC8-C1E33703B5AD}" srcOrd="0" destOrd="0" presId="urn:microsoft.com/office/officeart/2005/8/layout/process5"/>
    <dgm:cxn modelId="{423301BF-1289-4F0D-8423-9BC6C092B417}" type="presOf" srcId="{4CCCEC10-B06C-4681-94D6-B37CC7F0BD33}" destId="{6F774515-6BDD-413D-B1E4-264BFC8F11D7}" srcOrd="1" destOrd="0" presId="urn:microsoft.com/office/officeart/2005/8/layout/process5"/>
    <dgm:cxn modelId="{5D90ABBF-A0FD-4E95-8815-82A5AFEABA3F}" type="presOf" srcId="{C1E93869-9B5C-4C33-A9BA-A892FABBB1BC}" destId="{1F463553-4C34-4337-A811-F7C57924ECBA}" srcOrd="0" destOrd="0" presId="urn:microsoft.com/office/officeart/2005/8/layout/process5"/>
    <dgm:cxn modelId="{221F8ECA-0C71-4CFD-8415-07B1916F5C80}" type="presOf" srcId="{96D8FBE9-EEFE-4F4D-BDD2-153DFF90645B}" destId="{45F4E649-1708-4315-8E3E-73CAB39F3A38}" srcOrd="0" destOrd="0" presId="urn:microsoft.com/office/officeart/2005/8/layout/process5"/>
    <dgm:cxn modelId="{269496D0-7488-454E-B258-E626CC4B1B55}" type="presOf" srcId="{1EA89F91-B8A5-4DBC-A44A-6472DA8E28DE}" destId="{B9F1FA48-EE02-494B-A35C-3A7DAB7DDA4C}" srcOrd="1" destOrd="0" presId="urn:microsoft.com/office/officeart/2005/8/layout/process5"/>
    <dgm:cxn modelId="{EF1C63D8-F6FF-486A-976C-989FDA7696F2}" srcId="{0A0562BC-9070-424D-9FE6-C6EED01CB000}" destId="{96D8FBE9-EEFE-4F4D-BDD2-153DFF90645B}" srcOrd="5" destOrd="0" parTransId="{BDBAF6DE-3255-497A-885E-62BEAC8AE318}" sibTransId="{ABB6EF3D-E631-4B71-91D8-121365485B4A}"/>
    <dgm:cxn modelId="{117781DB-D97C-49E1-A66F-C35FE4DE819E}" type="presOf" srcId="{3F67EF1D-8890-48CC-AAEB-A110F1DEB306}" destId="{4884B547-EF0C-4335-A17F-600353B1DE80}" srcOrd="0" destOrd="0" presId="urn:microsoft.com/office/officeart/2005/8/layout/process5"/>
    <dgm:cxn modelId="{60E4D6DE-31ED-4A66-BDCE-A2B608A05548}" type="presOf" srcId="{C1350315-8550-48BB-AF7B-CBBB71BB30B7}" destId="{ECBBADB3-B481-46E6-AF9A-3A18ED7CF745}" srcOrd="1" destOrd="0" presId="urn:microsoft.com/office/officeart/2005/8/layout/process5"/>
    <dgm:cxn modelId="{99EDD7DE-9D11-45BD-AA14-D30D2987CAC1}" type="presOf" srcId="{D360C552-9F1B-434E-92A0-3C725FF92F0F}" destId="{14F905B2-0186-4785-82A9-363CC1A7203C}" srcOrd="0" destOrd="0" presId="urn:microsoft.com/office/officeart/2005/8/layout/process5"/>
    <dgm:cxn modelId="{563D3DE1-BDED-4ED8-A720-B3B493DB4B3B}" type="presOf" srcId="{BBA4991F-E57D-4342-BBF3-6346EFA8888A}" destId="{D581FC49-822F-4E1F-B8C5-172C0ED4E99E}" srcOrd="0" destOrd="0" presId="urn:microsoft.com/office/officeart/2005/8/layout/process5"/>
    <dgm:cxn modelId="{49505C07-AB2E-48C9-B359-787E1FB3A294}" type="presParOf" srcId="{80E9543B-3E59-4130-ADC8-C1E33703B5AD}" destId="{EED89ECF-C3A0-4900-9251-876CE8E1432F}" srcOrd="0" destOrd="0" presId="urn:microsoft.com/office/officeart/2005/8/layout/process5"/>
    <dgm:cxn modelId="{1B8593F8-221D-4E0B-8D8D-BD39A504FD9A}" type="presParOf" srcId="{80E9543B-3E59-4130-ADC8-C1E33703B5AD}" destId="{D581FC49-822F-4E1F-B8C5-172C0ED4E99E}" srcOrd="1" destOrd="0" presId="urn:microsoft.com/office/officeart/2005/8/layout/process5"/>
    <dgm:cxn modelId="{50C19D12-9F76-49B4-AB35-DB5C686FEC85}" type="presParOf" srcId="{D581FC49-822F-4E1F-B8C5-172C0ED4E99E}" destId="{7F8877F7-19CD-42F3-8581-E6902143AEC4}" srcOrd="0" destOrd="0" presId="urn:microsoft.com/office/officeart/2005/8/layout/process5"/>
    <dgm:cxn modelId="{6B2C1807-D6CE-491E-A6AE-E49BA98DD1F9}" type="presParOf" srcId="{80E9543B-3E59-4130-ADC8-C1E33703B5AD}" destId="{4884B547-EF0C-4335-A17F-600353B1DE80}" srcOrd="2" destOrd="0" presId="urn:microsoft.com/office/officeart/2005/8/layout/process5"/>
    <dgm:cxn modelId="{8A93F78A-7009-408B-AA8B-B22897137F20}" type="presParOf" srcId="{80E9543B-3E59-4130-ADC8-C1E33703B5AD}" destId="{6B54B7DC-9FB6-4C97-8234-A64E60EE7AD4}" srcOrd="3" destOrd="0" presId="urn:microsoft.com/office/officeart/2005/8/layout/process5"/>
    <dgm:cxn modelId="{7988E186-B0BD-4DD9-9CB2-66CC9746CBCF}" type="presParOf" srcId="{6B54B7DC-9FB6-4C97-8234-A64E60EE7AD4}" destId="{6F774515-6BDD-413D-B1E4-264BFC8F11D7}" srcOrd="0" destOrd="0" presId="urn:microsoft.com/office/officeart/2005/8/layout/process5"/>
    <dgm:cxn modelId="{962584C7-9359-40D7-815A-0837AC700A09}" type="presParOf" srcId="{80E9543B-3E59-4130-ADC8-C1E33703B5AD}" destId="{91AF52BD-8066-4B7D-81F8-FCA7488DE94F}" srcOrd="4" destOrd="0" presId="urn:microsoft.com/office/officeart/2005/8/layout/process5"/>
    <dgm:cxn modelId="{A47116ED-5BB2-49CC-B0C7-A5557A5A47C7}" type="presParOf" srcId="{80E9543B-3E59-4130-ADC8-C1E33703B5AD}" destId="{FB277701-3487-42AC-B3A2-F9BF38B14C6F}" srcOrd="5" destOrd="0" presId="urn:microsoft.com/office/officeart/2005/8/layout/process5"/>
    <dgm:cxn modelId="{C691DBBE-996D-4EB2-810C-26A72A07B48A}" type="presParOf" srcId="{FB277701-3487-42AC-B3A2-F9BF38B14C6F}" destId="{ECBBADB3-B481-46E6-AF9A-3A18ED7CF745}" srcOrd="0" destOrd="0" presId="urn:microsoft.com/office/officeart/2005/8/layout/process5"/>
    <dgm:cxn modelId="{F9490816-91F8-406D-AA0F-CAF2CABB9D02}" type="presParOf" srcId="{80E9543B-3E59-4130-ADC8-C1E33703B5AD}" destId="{14F905B2-0186-4785-82A9-363CC1A7203C}" srcOrd="6" destOrd="0" presId="urn:microsoft.com/office/officeart/2005/8/layout/process5"/>
    <dgm:cxn modelId="{A4A971BA-6738-4C05-82D0-FD6813076CA7}" type="presParOf" srcId="{80E9543B-3E59-4130-ADC8-C1E33703B5AD}" destId="{6AD9BEBC-61A9-4683-8F85-6C8099768BEF}" srcOrd="7" destOrd="0" presId="urn:microsoft.com/office/officeart/2005/8/layout/process5"/>
    <dgm:cxn modelId="{77010E23-BE49-43C4-A250-1C32E76B1DDD}" type="presParOf" srcId="{6AD9BEBC-61A9-4683-8F85-6C8099768BEF}" destId="{D573B606-78FB-44D4-A01B-21D8C11C7F98}" srcOrd="0" destOrd="0" presId="urn:microsoft.com/office/officeart/2005/8/layout/process5"/>
    <dgm:cxn modelId="{B64BB6E5-C879-4A48-BA28-DC532599667A}" type="presParOf" srcId="{80E9543B-3E59-4130-ADC8-C1E33703B5AD}" destId="{1F463553-4C34-4337-A811-F7C57924ECBA}" srcOrd="8" destOrd="0" presId="urn:microsoft.com/office/officeart/2005/8/layout/process5"/>
    <dgm:cxn modelId="{A1EBF193-BB53-4D4A-A5A5-014F405692D3}" type="presParOf" srcId="{80E9543B-3E59-4130-ADC8-C1E33703B5AD}" destId="{8A361ED3-6397-477C-B0F9-E08E30EA0D43}" srcOrd="9" destOrd="0" presId="urn:microsoft.com/office/officeart/2005/8/layout/process5"/>
    <dgm:cxn modelId="{F355E282-1452-47C1-99D6-5C2AC98CDE2B}" type="presParOf" srcId="{8A361ED3-6397-477C-B0F9-E08E30EA0D43}" destId="{B9F1FA48-EE02-494B-A35C-3A7DAB7DDA4C}" srcOrd="0" destOrd="0" presId="urn:microsoft.com/office/officeart/2005/8/layout/process5"/>
    <dgm:cxn modelId="{F3298357-6777-453D-9041-228873B2AD2B}" type="presParOf" srcId="{80E9543B-3E59-4130-ADC8-C1E33703B5AD}" destId="{45F4E649-1708-4315-8E3E-73CAB39F3A38}" srcOrd="1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C32EA7-970A-4890-8851-FA96F1134028}" type="doc">
      <dgm:prSet loTypeId="urn:microsoft.com/office/officeart/2005/8/layout/venn1" loCatId="relationship" qsTypeId="urn:microsoft.com/office/officeart/2005/8/quickstyle/simple5" qsCatId="simple" csTypeId="urn:microsoft.com/office/officeart/2005/8/colors/colorful1" csCatId="colorful" phldr="1"/>
      <dgm:spPr/>
    </dgm:pt>
    <dgm:pt modelId="{D387BFE4-D17D-4FF6-B287-C718D3CFD494}">
      <dgm:prSet phldrT="[Text]"/>
      <dgm:spPr/>
      <dgm:t>
        <a:bodyPr/>
        <a:lstStyle/>
        <a:p>
          <a:r>
            <a:rPr lang="en-US" dirty="0"/>
            <a:t>Intruder Behavior</a:t>
          </a:r>
        </a:p>
      </dgm:t>
    </dgm:pt>
    <dgm:pt modelId="{D85CD7BF-94D6-4E9A-BEFB-222321A4D1DC}" type="parTrans" cxnId="{2F27F309-A204-4300-80B6-543F5C9B349D}">
      <dgm:prSet/>
      <dgm:spPr/>
      <dgm:t>
        <a:bodyPr/>
        <a:lstStyle/>
        <a:p>
          <a:endParaRPr lang="en-US"/>
        </a:p>
      </dgm:t>
    </dgm:pt>
    <dgm:pt modelId="{09D0277C-8DCC-46C5-BB69-7ECC3F5F6E8E}" type="sibTrans" cxnId="{2F27F309-A204-4300-80B6-543F5C9B349D}">
      <dgm:prSet/>
      <dgm:spPr/>
      <dgm:t>
        <a:bodyPr/>
        <a:lstStyle/>
        <a:p>
          <a:endParaRPr lang="en-US"/>
        </a:p>
      </dgm:t>
    </dgm:pt>
    <dgm:pt modelId="{E9BA941F-2D69-4D25-98D1-5EA8CEED110A}">
      <dgm:prSet phldrT="[Text]"/>
      <dgm:spPr/>
      <dgm:t>
        <a:bodyPr/>
        <a:lstStyle/>
        <a:p>
          <a:r>
            <a:rPr lang="en-US" dirty="0"/>
            <a:t>Authorized User Behavior</a:t>
          </a:r>
        </a:p>
      </dgm:t>
    </dgm:pt>
    <dgm:pt modelId="{4B6F4275-38E2-4BAC-888A-FBD77D0E58A8}" type="parTrans" cxnId="{EDE1065F-020A-481C-87A2-39A4BE14B362}">
      <dgm:prSet/>
      <dgm:spPr/>
      <dgm:t>
        <a:bodyPr/>
        <a:lstStyle/>
        <a:p>
          <a:endParaRPr lang="en-US"/>
        </a:p>
      </dgm:t>
    </dgm:pt>
    <dgm:pt modelId="{7D9D5693-4E4F-4C11-990F-979755882132}" type="sibTrans" cxnId="{EDE1065F-020A-481C-87A2-39A4BE14B362}">
      <dgm:prSet/>
      <dgm:spPr/>
      <dgm:t>
        <a:bodyPr/>
        <a:lstStyle/>
        <a:p>
          <a:endParaRPr lang="en-US"/>
        </a:p>
      </dgm:t>
    </dgm:pt>
    <dgm:pt modelId="{CD3A9DE6-B6A7-4B5E-A00D-C5D1A7C986F7}" type="pres">
      <dgm:prSet presAssocID="{FFC32EA7-970A-4890-8851-FA96F1134028}" presName="compositeShape" presStyleCnt="0">
        <dgm:presLayoutVars>
          <dgm:chMax val="7"/>
          <dgm:dir/>
          <dgm:resizeHandles val="exact"/>
        </dgm:presLayoutVars>
      </dgm:prSet>
      <dgm:spPr/>
    </dgm:pt>
    <dgm:pt modelId="{828E46B1-3FF4-4077-873E-E331D968AB51}" type="pres">
      <dgm:prSet presAssocID="{D387BFE4-D17D-4FF6-B287-C718D3CFD494}" presName="circ1" presStyleLbl="vennNode1" presStyleIdx="0" presStyleCnt="2"/>
      <dgm:spPr/>
    </dgm:pt>
    <dgm:pt modelId="{FE2E7E1C-92CF-49A9-9B7B-080C84D9D508}" type="pres">
      <dgm:prSet presAssocID="{D387BFE4-D17D-4FF6-B287-C718D3CFD494}" presName="circ1Tx" presStyleLbl="revTx" presStyleIdx="0" presStyleCnt="0">
        <dgm:presLayoutVars>
          <dgm:chMax val="0"/>
          <dgm:chPref val="0"/>
          <dgm:bulletEnabled val="1"/>
        </dgm:presLayoutVars>
      </dgm:prSet>
      <dgm:spPr/>
    </dgm:pt>
    <dgm:pt modelId="{9B098F3B-33E1-4EAF-8606-E367DC5A8707}" type="pres">
      <dgm:prSet presAssocID="{E9BA941F-2D69-4D25-98D1-5EA8CEED110A}" presName="circ2" presStyleLbl="vennNode1" presStyleIdx="1" presStyleCnt="2"/>
      <dgm:spPr/>
    </dgm:pt>
    <dgm:pt modelId="{AADC881C-60B3-488B-BE00-5DC5E3AFD27C}" type="pres">
      <dgm:prSet presAssocID="{E9BA941F-2D69-4D25-98D1-5EA8CEED110A}" presName="circ2Tx" presStyleLbl="revTx" presStyleIdx="0" presStyleCnt="0">
        <dgm:presLayoutVars>
          <dgm:chMax val="0"/>
          <dgm:chPref val="0"/>
          <dgm:bulletEnabled val="1"/>
        </dgm:presLayoutVars>
      </dgm:prSet>
      <dgm:spPr/>
    </dgm:pt>
  </dgm:ptLst>
  <dgm:cxnLst>
    <dgm:cxn modelId="{2F27F309-A204-4300-80B6-543F5C9B349D}" srcId="{FFC32EA7-970A-4890-8851-FA96F1134028}" destId="{D387BFE4-D17D-4FF6-B287-C718D3CFD494}" srcOrd="0" destOrd="0" parTransId="{D85CD7BF-94D6-4E9A-BEFB-222321A4D1DC}" sibTransId="{09D0277C-8DCC-46C5-BB69-7ECC3F5F6E8E}"/>
    <dgm:cxn modelId="{5988B60F-BA18-48F1-A4C6-1AFF265CCB4D}" type="presOf" srcId="{D387BFE4-D17D-4FF6-B287-C718D3CFD494}" destId="{FE2E7E1C-92CF-49A9-9B7B-080C84D9D508}" srcOrd="1" destOrd="0" presId="urn:microsoft.com/office/officeart/2005/8/layout/venn1"/>
    <dgm:cxn modelId="{EDE1065F-020A-481C-87A2-39A4BE14B362}" srcId="{FFC32EA7-970A-4890-8851-FA96F1134028}" destId="{E9BA941F-2D69-4D25-98D1-5EA8CEED110A}" srcOrd="1" destOrd="0" parTransId="{4B6F4275-38E2-4BAC-888A-FBD77D0E58A8}" sibTransId="{7D9D5693-4E4F-4C11-990F-979755882132}"/>
    <dgm:cxn modelId="{3B8D1FB7-4B15-4B2C-9830-65CAFB24BFEC}" type="presOf" srcId="{D387BFE4-D17D-4FF6-B287-C718D3CFD494}" destId="{828E46B1-3FF4-4077-873E-E331D968AB51}" srcOrd="0" destOrd="0" presId="urn:microsoft.com/office/officeart/2005/8/layout/venn1"/>
    <dgm:cxn modelId="{6C1FB8D3-6EF1-4F01-A613-D31773DF459E}" type="presOf" srcId="{E9BA941F-2D69-4D25-98D1-5EA8CEED110A}" destId="{9B098F3B-33E1-4EAF-8606-E367DC5A8707}" srcOrd="0" destOrd="0" presId="urn:microsoft.com/office/officeart/2005/8/layout/venn1"/>
    <dgm:cxn modelId="{6DAB43E3-E8DF-4DA4-AED0-33D65436EE50}" type="presOf" srcId="{E9BA941F-2D69-4D25-98D1-5EA8CEED110A}" destId="{AADC881C-60B3-488B-BE00-5DC5E3AFD27C}" srcOrd="1" destOrd="0" presId="urn:microsoft.com/office/officeart/2005/8/layout/venn1"/>
    <dgm:cxn modelId="{772DB9E7-BDE0-468D-9710-C733B9106DB5}" type="presOf" srcId="{FFC32EA7-970A-4890-8851-FA96F1134028}" destId="{CD3A9DE6-B6A7-4B5E-A00D-C5D1A7C986F7}" srcOrd="0" destOrd="0" presId="urn:microsoft.com/office/officeart/2005/8/layout/venn1"/>
    <dgm:cxn modelId="{60CC78B8-C615-4798-99B6-679609A54B0D}" type="presParOf" srcId="{CD3A9DE6-B6A7-4B5E-A00D-C5D1A7C986F7}" destId="{828E46B1-3FF4-4077-873E-E331D968AB51}" srcOrd="0" destOrd="0" presId="urn:microsoft.com/office/officeart/2005/8/layout/venn1"/>
    <dgm:cxn modelId="{D1EE2500-7F9E-4177-A38D-AF87243D71EF}" type="presParOf" srcId="{CD3A9DE6-B6A7-4B5E-A00D-C5D1A7C986F7}" destId="{FE2E7E1C-92CF-49A9-9B7B-080C84D9D508}" srcOrd="1" destOrd="0" presId="urn:microsoft.com/office/officeart/2005/8/layout/venn1"/>
    <dgm:cxn modelId="{8D945F88-6801-45FF-A189-C752F6DD48BB}" type="presParOf" srcId="{CD3A9DE6-B6A7-4B5E-A00D-C5D1A7C986F7}" destId="{9B098F3B-33E1-4EAF-8606-E367DC5A8707}" srcOrd="2" destOrd="0" presId="urn:microsoft.com/office/officeart/2005/8/layout/venn1"/>
    <dgm:cxn modelId="{6FF4AED0-55DD-4C43-B646-0556C744493E}" type="presParOf" srcId="{CD3A9DE6-B6A7-4B5E-A00D-C5D1A7C986F7}" destId="{AADC881C-60B3-488B-BE00-5DC5E3AFD27C}"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D89ECF-C3A0-4900-9251-876CE8E1432F}">
      <dsp:nvSpPr>
        <dsp:cNvPr id="0" name=""/>
        <dsp:cNvSpPr/>
      </dsp:nvSpPr>
      <dsp:spPr>
        <a:xfrm>
          <a:off x="7233" y="608885"/>
          <a:ext cx="2161877" cy="1297126"/>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Gather information about the target</a:t>
          </a:r>
        </a:p>
      </dsp:txBody>
      <dsp:txXfrm>
        <a:off x="45225" y="646877"/>
        <a:ext cx="2085893" cy="1221142"/>
      </dsp:txXfrm>
    </dsp:sp>
    <dsp:sp modelId="{D581FC49-822F-4E1F-B8C5-172C0ED4E99E}">
      <dsp:nvSpPr>
        <dsp:cNvPr id="0" name=""/>
        <dsp:cNvSpPr/>
      </dsp:nvSpPr>
      <dsp:spPr>
        <a:xfrm>
          <a:off x="2359355" y="989376"/>
          <a:ext cx="458317" cy="536145"/>
        </a:xfrm>
        <a:prstGeom prst="rightArrow">
          <a:avLst>
            <a:gd name="adj1" fmla="val 60000"/>
            <a:gd name="adj2" fmla="val 50000"/>
          </a:avLst>
        </a:prstGeom>
        <a:solidFill>
          <a:schemeClr val="accent3">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359355" y="1096605"/>
        <a:ext cx="320822" cy="321687"/>
      </dsp:txXfrm>
    </dsp:sp>
    <dsp:sp modelId="{4884B547-EF0C-4335-A17F-600353B1DE80}">
      <dsp:nvSpPr>
        <dsp:cNvPr id="0" name=""/>
        <dsp:cNvSpPr/>
      </dsp:nvSpPr>
      <dsp:spPr>
        <a:xfrm>
          <a:off x="3033861" y="608885"/>
          <a:ext cx="2161877" cy="1297126"/>
        </a:xfrm>
        <a:prstGeom prst="roundRect">
          <a:avLst>
            <a:gd name="adj" fmla="val 10000"/>
          </a:avLst>
        </a:prstGeom>
        <a:solidFill>
          <a:schemeClr val="accent3">
            <a:hueOff val="2250053"/>
            <a:satOff val="-3376"/>
            <a:lumOff val="-54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Gain initial access to the system</a:t>
          </a:r>
        </a:p>
      </dsp:txBody>
      <dsp:txXfrm>
        <a:off x="3071853" y="646877"/>
        <a:ext cx="2085893" cy="1221142"/>
      </dsp:txXfrm>
    </dsp:sp>
    <dsp:sp modelId="{6B54B7DC-9FB6-4C97-8234-A64E60EE7AD4}">
      <dsp:nvSpPr>
        <dsp:cNvPr id="0" name=""/>
        <dsp:cNvSpPr/>
      </dsp:nvSpPr>
      <dsp:spPr>
        <a:xfrm>
          <a:off x="5385983" y="989376"/>
          <a:ext cx="458317" cy="536145"/>
        </a:xfrm>
        <a:prstGeom prst="rightArrow">
          <a:avLst>
            <a:gd name="adj1" fmla="val 60000"/>
            <a:gd name="adj2" fmla="val 50000"/>
          </a:avLst>
        </a:prstGeom>
        <a:solidFill>
          <a:schemeClr val="accent3">
            <a:hueOff val="2812566"/>
            <a:satOff val="-4220"/>
            <a:lumOff val="-686"/>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5385983" y="1096605"/>
        <a:ext cx="320822" cy="321687"/>
      </dsp:txXfrm>
    </dsp:sp>
    <dsp:sp modelId="{91AF52BD-8066-4B7D-81F8-FCA7488DE94F}">
      <dsp:nvSpPr>
        <dsp:cNvPr id="0" name=""/>
        <dsp:cNvSpPr/>
      </dsp:nvSpPr>
      <dsp:spPr>
        <a:xfrm>
          <a:off x="6060489" y="608885"/>
          <a:ext cx="2161877" cy="1297126"/>
        </a:xfrm>
        <a:prstGeom prst="roundRect">
          <a:avLst>
            <a:gd name="adj" fmla="val 10000"/>
          </a:avLst>
        </a:prstGeom>
        <a:solidFill>
          <a:schemeClr val="accent3">
            <a:hueOff val="4500106"/>
            <a:satOff val="-6752"/>
            <a:lumOff val="-109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Privilege escalation</a:t>
          </a:r>
        </a:p>
      </dsp:txBody>
      <dsp:txXfrm>
        <a:off x="6098481" y="646877"/>
        <a:ext cx="2085893" cy="1221142"/>
      </dsp:txXfrm>
    </dsp:sp>
    <dsp:sp modelId="{FB277701-3487-42AC-B3A2-F9BF38B14C6F}">
      <dsp:nvSpPr>
        <dsp:cNvPr id="0" name=""/>
        <dsp:cNvSpPr/>
      </dsp:nvSpPr>
      <dsp:spPr>
        <a:xfrm rot="5400000">
          <a:off x="6912269" y="2057343"/>
          <a:ext cx="458317" cy="536145"/>
        </a:xfrm>
        <a:prstGeom prst="rightArrow">
          <a:avLst>
            <a:gd name="adj1" fmla="val 60000"/>
            <a:gd name="adj2" fmla="val 50000"/>
          </a:avLst>
        </a:prstGeom>
        <a:solidFill>
          <a:schemeClr val="accent3">
            <a:hueOff val="5625132"/>
            <a:satOff val="-8440"/>
            <a:lumOff val="-1373"/>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5400000">
        <a:off x="6980585" y="2096257"/>
        <a:ext cx="321687" cy="320822"/>
      </dsp:txXfrm>
    </dsp:sp>
    <dsp:sp modelId="{14F905B2-0186-4785-82A9-363CC1A7203C}">
      <dsp:nvSpPr>
        <dsp:cNvPr id="0" name=""/>
        <dsp:cNvSpPr/>
      </dsp:nvSpPr>
      <dsp:spPr>
        <a:xfrm>
          <a:off x="6060489" y="2770762"/>
          <a:ext cx="2161877" cy="1297126"/>
        </a:xfrm>
        <a:prstGeom prst="roundRect">
          <a:avLst>
            <a:gd name="adj" fmla="val 10000"/>
          </a:avLst>
        </a:prstGeom>
        <a:solidFill>
          <a:schemeClr val="accent3">
            <a:hueOff val="6750158"/>
            <a:satOff val="-10128"/>
            <a:lumOff val="-164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Do the damage e.g. steal or corrupt information, </a:t>
          </a:r>
          <a:br>
            <a:rPr lang="en-US" sz="1600" kern="1200" dirty="0"/>
          </a:br>
          <a:r>
            <a:rPr lang="en-US" sz="1600" kern="1200" dirty="0"/>
            <a:t>install malware</a:t>
          </a:r>
        </a:p>
      </dsp:txBody>
      <dsp:txXfrm>
        <a:off x="6098481" y="2808754"/>
        <a:ext cx="2085893" cy="1221142"/>
      </dsp:txXfrm>
    </dsp:sp>
    <dsp:sp modelId="{6AD9BEBC-61A9-4683-8F85-6C8099768BEF}">
      <dsp:nvSpPr>
        <dsp:cNvPr id="0" name=""/>
        <dsp:cNvSpPr/>
      </dsp:nvSpPr>
      <dsp:spPr>
        <a:xfrm rot="10800000">
          <a:off x="5411926" y="3151253"/>
          <a:ext cx="458317" cy="536145"/>
        </a:xfrm>
        <a:prstGeom prst="rightArrow">
          <a:avLst>
            <a:gd name="adj1" fmla="val 60000"/>
            <a:gd name="adj2" fmla="val 50000"/>
          </a:avLst>
        </a:prstGeom>
        <a:solidFill>
          <a:schemeClr val="accent3">
            <a:hueOff val="8437698"/>
            <a:satOff val="-12660"/>
            <a:lumOff val="-2059"/>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5549421" y="3258482"/>
        <a:ext cx="320822" cy="321687"/>
      </dsp:txXfrm>
    </dsp:sp>
    <dsp:sp modelId="{1F463553-4C34-4337-A811-F7C57924ECBA}">
      <dsp:nvSpPr>
        <dsp:cNvPr id="0" name=""/>
        <dsp:cNvSpPr/>
      </dsp:nvSpPr>
      <dsp:spPr>
        <a:xfrm>
          <a:off x="3033861" y="2770762"/>
          <a:ext cx="2161877" cy="1297126"/>
        </a:xfrm>
        <a:prstGeom prst="roundRect">
          <a:avLst>
            <a:gd name="adj" fmla="val 10000"/>
          </a:avLst>
        </a:prstGeom>
        <a:solidFill>
          <a:schemeClr val="accent3">
            <a:hueOff val="9000211"/>
            <a:satOff val="-13504"/>
            <a:lumOff val="-2196"/>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Maintain access e.g. create new accounts, install backdoors</a:t>
          </a:r>
        </a:p>
      </dsp:txBody>
      <dsp:txXfrm>
        <a:off x="3071853" y="2808754"/>
        <a:ext cx="2085893" cy="1221142"/>
      </dsp:txXfrm>
    </dsp:sp>
    <dsp:sp modelId="{8A361ED3-6397-477C-B0F9-E08E30EA0D43}">
      <dsp:nvSpPr>
        <dsp:cNvPr id="0" name=""/>
        <dsp:cNvSpPr/>
      </dsp:nvSpPr>
      <dsp:spPr>
        <a:xfrm rot="10800000">
          <a:off x="2385298" y="3151253"/>
          <a:ext cx="458317" cy="536145"/>
        </a:xfrm>
        <a:prstGeom prst="rightArrow">
          <a:avLst>
            <a:gd name="adj1" fmla="val 60000"/>
            <a:gd name="adj2" fmla="val 50000"/>
          </a:avLst>
        </a:prstGeom>
        <a:solidFill>
          <a:schemeClr val="accent3">
            <a:hueOff val="11250264"/>
            <a:satOff val="-16880"/>
            <a:lumOff val="-2745"/>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2522793" y="3258482"/>
        <a:ext cx="320822" cy="321687"/>
      </dsp:txXfrm>
    </dsp:sp>
    <dsp:sp modelId="{45F4E649-1708-4315-8E3E-73CAB39F3A38}">
      <dsp:nvSpPr>
        <dsp:cNvPr id="0" name=""/>
        <dsp:cNvSpPr/>
      </dsp:nvSpPr>
      <dsp:spPr>
        <a:xfrm>
          <a:off x="7233" y="2770762"/>
          <a:ext cx="2161877" cy="1297126"/>
        </a:xfrm>
        <a:prstGeom prst="roundRect">
          <a:avLst>
            <a:gd name="adj" fmla="val 10000"/>
          </a:avLst>
        </a:prstGeom>
        <a:solidFill>
          <a:schemeClr val="accent3">
            <a:hueOff val="11250264"/>
            <a:satOff val="-16880"/>
            <a:lumOff val="-274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Cover tracks</a:t>
          </a:r>
        </a:p>
      </dsp:txBody>
      <dsp:txXfrm>
        <a:off x="45225" y="2808754"/>
        <a:ext cx="2085893" cy="12211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8E46B1-3FF4-4077-873E-E331D968AB51}">
      <dsp:nvSpPr>
        <dsp:cNvPr id="0" name=""/>
        <dsp:cNvSpPr/>
      </dsp:nvSpPr>
      <dsp:spPr>
        <a:xfrm>
          <a:off x="230989" y="4815"/>
          <a:ext cx="1760832" cy="1760832"/>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Intruder Behavior</a:t>
          </a:r>
        </a:p>
      </dsp:txBody>
      <dsp:txXfrm>
        <a:off x="476871" y="212455"/>
        <a:ext cx="1015254" cy="1345552"/>
      </dsp:txXfrm>
    </dsp:sp>
    <dsp:sp modelId="{9B098F3B-33E1-4EAF-8606-E367DC5A8707}">
      <dsp:nvSpPr>
        <dsp:cNvPr id="0" name=""/>
        <dsp:cNvSpPr/>
      </dsp:nvSpPr>
      <dsp:spPr>
        <a:xfrm>
          <a:off x="1500057" y="4815"/>
          <a:ext cx="1760832" cy="1760832"/>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Authorized User Behavior</a:t>
          </a:r>
        </a:p>
      </dsp:txBody>
      <dsp:txXfrm>
        <a:off x="1999753" y="212455"/>
        <a:ext cx="1015254" cy="1345552"/>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25/11/2025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5" r:id="rId6"/>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11/25/2025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221088"/>
            <a:ext cx="4788024" cy="1200329"/>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Intrusion Detection Systems</a:t>
            </a:r>
          </a:p>
        </p:txBody>
      </p:sp>
      <p:pic>
        <p:nvPicPr>
          <p:cNvPr id="11" name="Picture 10" descr="Logo&#10;&#10;Description automatically generated">
            <a:extLst>
              <a:ext uri="{FF2B5EF4-FFF2-40B4-BE49-F238E27FC236}">
                <a16:creationId xmlns:a16="http://schemas.microsoft.com/office/drawing/2014/main"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id="{A287E9B7-196F-5413-1EE2-727331E78929}"/>
              </a:ext>
            </a:extLst>
          </p:cNvPr>
          <p:cNvSpPr txBox="1"/>
          <p:nvPr/>
        </p:nvSpPr>
        <p:spPr>
          <a:xfrm>
            <a:off x="2045070" y="1916832"/>
            <a:ext cx="5053861"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Tree>
    <p:extLst>
      <p:ext uri="{BB962C8B-B14F-4D97-AF65-F5344CB8AC3E}">
        <p14:creationId xmlns:p14="http://schemas.microsoft.com/office/powerpoint/2010/main" val="3004707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Intrusion</a:t>
            </a:r>
          </a:p>
        </p:txBody>
      </p:sp>
      <p:sp>
        <p:nvSpPr>
          <p:cNvPr id="3" name="Content Placeholder 2"/>
          <p:cNvSpPr>
            <a:spLocks noGrp="1"/>
          </p:cNvSpPr>
          <p:nvPr>
            <p:ph sz="quarter" idx="11"/>
          </p:nvPr>
        </p:nvSpPr>
        <p:spPr/>
        <p:txBody>
          <a:bodyPr/>
          <a:lstStyle/>
          <a:p>
            <a:r>
              <a:rPr lang="en-US" sz="2800" dirty="0"/>
              <a:t>Intrusion is defined as attempt to break into or misuse an information system</a:t>
            </a:r>
          </a:p>
          <a:p>
            <a:r>
              <a:rPr lang="en-US" sz="2800" dirty="0"/>
              <a:t>Intruders may be from outside the network or from legitimate users of the network</a:t>
            </a:r>
          </a:p>
          <a:p>
            <a:r>
              <a:rPr lang="en-US" sz="2800" dirty="0"/>
              <a:t>From the perspective of IT security team, every intrusion event is an ‘incident’ </a:t>
            </a:r>
          </a:p>
          <a:p>
            <a:endParaRPr lang="en-US" sz="2800" dirty="0"/>
          </a:p>
        </p:txBody>
      </p:sp>
    </p:spTree>
    <p:extLst>
      <p:ext uri="{BB962C8B-B14F-4D97-AF65-F5344CB8AC3E}">
        <p14:creationId xmlns:p14="http://schemas.microsoft.com/office/powerpoint/2010/main" val="2032935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Intruders</a:t>
            </a:r>
          </a:p>
        </p:txBody>
      </p:sp>
      <p:sp>
        <p:nvSpPr>
          <p:cNvPr id="3" name="Content Placeholder 2"/>
          <p:cNvSpPr>
            <a:spLocks noGrp="1"/>
          </p:cNvSpPr>
          <p:nvPr>
            <p:ph sz="quarter" idx="11"/>
          </p:nvPr>
        </p:nvSpPr>
        <p:spPr/>
        <p:txBody>
          <a:bodyPr/>
          <a:lstStyle/>
          <a:p>
            <a:r>
              <a:rPr lang="en-US" sz="2600" dirty="0"/>
              <a:t>Intruder could be outsider who is not authorized to use the computer and who penetrates a system’s access controls to exploit a legitimate user’s account.</a:t>
            </a:r>
          </a:p>
          <a:p>
            <a:r>
              <a:rPr lang="en-US" sz="2600" dirty="0"/>
              <a:t>Intruder could also be a legitimate user (usually insider) who access data, program, or resources for which such access is not authorized, or who is authorized for such access but misuses them. </a:t>
            </a:r>
          </a:p>
          <a:p>
            <a:r>
              <a:rPr lang="en-US" sz="2600" dirty="0"/>
              <a:t>In some cases, intruder seizes supervisory control of the system and uses it to evade auditing and access controls or to suppress audit collection.</a:t>
            </a:r>
          </a:p>
        </p:txBody>
      </p:sp>
    </p:spTree>
    <p:extLst>
      <p:ext uri="{BB962C8B-B14F-4D97-AF65-F5344CB8AC3E}">
        <p14:creationId xmlns:p14="http://schemas.microsoft.com/office/powerpoint/2010/main" val="112050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Intrusion Attacks</a:t>
            </a:r>
          </a:p>
        </p:txBody>
      </p:sp>
      <p:sp>
        <p:nvSpPr>
          <p:cNvPr id="3" name="Content Placeholder 2"/>
          <p:cNvSpPr>
            <a:spLocks noGrp="1"/>
          </p:cNvSpPr>
          <p:nvPr>
            <p:ph sz="quarter" idx="11"/>
          </p:nvPr>
        </p:nvSpPr>
        <p:spPr/>
        <p:txBody>
          <a:bodyPr/>
          <a:lstStyle/>
          <a:p>
            <a:r>
              <a:rPr lang="en-US" sz="2400" dirty="0"/>
              <a:t>Performing a remote root compromise of an e-mail server</a:t>
            </a:r>
          </a:p>
          <a:p>
            <a:r>
              <a:rPr lang="en-US" sz="2400" dirty="0"/>
              <a:t>Defacing a web server</a:t>
            </a:r>
          </a:p>
          <a:p>
            <a:r>
              <a:rPr lang="en-US" sz="2400" dirty="0"/>
              <a:t>Guessing and cracking passwords</a:t>
            </a:r>
          </a:p>
          <a:p>
            <a:r>
              <a:rPr lang="en-US" sz="2400" dirty="0"/>
              <a:t>Copying a database containing credit card numbers</a:t>
            </a:r>
          </a:p>
          <a:p>
            <a:r>
              <a:rPr lang="en-US" sz="2400" dirty="0"/>
              <a:t>Viewing sensitive data (e.g. payroll records and media) without authorization</a:t>
            </a:r>
          </a:p>
          <a:p>
            <a:r>
              <a:rPr lang="en-US" sz="2400" dirty="0"/>
              <a:t>Running a packet sniffer on a workstation to capture usernames and passwords</a:t>
            </a:r>
          </a:p>
          <a:p>
            <a:r>
              <a:rPr lang="en-US" sz="2400" dirty="0"/>
              <a:t>Using an unattended, logged-in workstation without permission</a:t>
            </a:r>
          </a:p>
          <a:p>
            <a:endParaRPr lang="en-US" sz="2400" dirty="0"/>
          </a:p>
        </p:txBody>
      </p:sp>
    </p:spTree>
    <p:extLst>
      <p:ext uri="{BB962C8B-B14F-4D97-AF65-F5344CB8AC3E}">
        <p14:creationId xmlns:p14="http://schemas.microsoft.com/office/powerpoint/2010/main" val="2098137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Intruder’s workflow</a:t>
            </a:r>
          </a:p>
        </p:txBody>
      </p:sp>
      <p:graphicFrame>
        <p:nvGraphicFramePr>
          <p:cNvPr id="4" name="Content Placeholder 3"/>
          <p:cNvGraphicFramePr>
            <a:graphicFrameLocks noGrp="1"/>
          </p:cNvGraphicFramePr>
          <p:nvPr>
            <p:ph sz="quarter" idx="11"/>
            <p:extLst>
              <p:ext uri="{D42A27DB-BD31-4B8C-83A1-F6EECF244321}">
                <p14:modId xmlns:p14="http://schemas.microsoft.com/office/powerpoint/2010/main" val="4098726910"/>
              </p:ext>
            </p:extLst>
          </p:nvPr>
        </p:nvGraphicFramePr>
        <p:xfrm>
          <a:off x="468313" y="1560513"/>
          <a:ext cx="8229600" cy="4676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029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Intrusion Detection System (IDS)</a:t>
            </a:r>
          </a:p>
        </p:txBody>
      </p:sp>
      <p:sp>
        <p:nvSpPr>
          <p:cNvPr id="3" name="Content Placeholder 2"/>
          <p:cNvSpPr>
            <a:spLocks noGrp="1"/>
          </p:cNvSpPr>
          <p:nvPr>
            <p:ph sz="quarter" idx="11"/>
          </p:nvPr>
        </p:nvSpPr>
        <p:spPr/>
        <p:txBody>
          <a:bodyPr/>
          <a:lstStyle/>
          <a:p>
            <a:r>
              <a:rPr lang="en-US" sz="2400" dirty="0"/>
              <a:t>A security service that monitors </a:t>
            </a:r>
            <a:r>
              <a:rPr lang="en-US" sz="2400" dirty="0">
                <a:solidFill>
                  <a:srgbClr val="C00000"/>
                </a:solidFill>
              </a:rPr>
              <a:t>system events</a:t>
            </a:r>
            <a:r>
              <a:rPr lang="en-US" sz="2400" dirty="0"/>
              <a:t> and analyzes them for the purpose of finding, and providing real-time or near real time warning of intrusion attempts.</a:t>
            </a:r>
          </a:p>
          <a:p>
            <a:r>
              <a:rPr lang="en-US" sz="2400" dirty="0"/>
              <a:t>Intrusion Detection Systems look for attack signatures — patterns that usually indicate malicious or suspicious intent</a:t>
            </a:r>
          </a:p>
          <a:p>
            <a:endParaRPr lang="en-US" sz="2400" dirty="0"/>
          </a:p>
        </p:txBody>
      </p:sp>
      <p:pic>
        <p:nvPicPr>
          <p:cNvPr id="4" name="Picture 2" descr="Image result for Intrusion detection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4069914"/>
            <a:ext cx="3632362" cy="2641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182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IDS Components</a:t>
            </a:r>
          </a:p>
        </p:txBody>
      </p:sp>
      <p:sp>
        <p:nvSpPr>
          <p:cNvPr id="3" name="Content Placeholder 2"/>
          <p:cNvSpPr>
            <a:spLocks noGrp="1"/>
          </p:cNvSpPr>
          <p:nvPr>
            <p:ph sz="quarter" idx="11"/>
          </p:nvPr>
        </p:nvSpPr>
        <p:spPr/>
        <p:txBody>
          <a:bodyPr/>
          <a:lstStyle/>
          <a:p>
            <a:r>
              <a:rPr lang="en-US" sz="2800" b="1" dirty="0"/>
              <a:t>Sensors</a:t>
            </a:r>
            <a:r>
              <a:rPr lang="en-US" sz="2800" dirty="0"/>
              <a:t>: responsible for collecting data (network packets, log files, and system call traces)</a:t>
            </a:r>
          </a:p>
          <a:p>
            <a:r>
              <a:rPr lang="en-US" sz="2800" b="1" dirty="0"/>
              <a:t>Analyzers</a:t>
            </a:r>
            <a:r>
              <a:rPr lang="en-US" sz="2800" dirty="0"/>
              <a:t>: receive inputs from one or more sensors or from other analyzers. The analyzer is responsible for determining if an intrusion has occurred.</a:t>
            </a:r>
          </a:p>
          <a:p>
            <a:r>
              <a:rPr lang="en-US" sz="2800" b="1" dirty="0"/>
              <a:t>User Interface</a:t>
            </a:r>
            <a:r>
              <a:rPr lang="en-US" sz="2800" dirty="0"/>
              <a:t>: enables a user to view output from the system or control behavior of the system. </a:t>
            </a:r>
          </a:p>
          <a:p>
            <a:endParaRPr lang="en-US" sz="2800" dirty="0"/>
          </a:p>
        </p:txBody>
      </p:sp>
    </p:spTree>
    <p:extLst>
      <p:ext uri="{BB962C8B-B14F-4D97-AF65-F5344CB8AC3E}">
        <p14:creationId xmlns:p14="http://schemas.microsoft.com/office/powerpoint/2010/main" val="2567057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IDS Benefits</a:t>
            </a:r>
          </a:p>
        </p:txBody>
      </p:sp>
      <p:sp>
        <p:nvSpPr>
          <p:cNvPr id="3" name="Content Placeholder 2"/>
          <p:cNvSpPr>
            <a:spLocks noGrp="1"/>
          </p:cNvSpPr>
          <p:nvPr>
            <p:ph sz="quarter" idx="11"/>
          </p:nvPr>
        </p:nvSpPr>
        <p:spPr/>
        <p:txBody>
          <a:bodyPr/>
          <a:lstStyle/>
          <a:p>
            <a:pPr marL="457200" indent="-457200">
              <a:buFont typeface="+mj-lt"/>
              <a:buAutoNum type="arabicPeriod"/>
            </a:pPr>
            <a:r>
              <a:rPr lang="en-US" sz="2400" dirty="0"/>
              <a:t>If an intruder is detected quickly enough, the intruder can be identified and ejected from the system before any damage. Even if the detection is not that quick, the sooner the intrusion is detected, </a:t>
            </a:r>
            <a:r>
              <a:rPr lang="en-US" sz="2400" dirty="0">
                <a:solidFill>
                  <a:srgbClr val="C00000"/>
                </a:solidFill>
              </a:rPr>
              <a:t>the less the amount of damage</a:t>
            </a:r>
            <a:r>
              <a:rPr lang="en-US" sz="2400" dirty="0"/>
              <a:t> and more quickly the recovery can be achieved.</a:t>
            </a:r>
          </a:p>
          <a:p>
            <a:pPr marL="457200" indent="-457200">
              <a:buFont typeface="+mj-lt"/>
              <a:buAutoNum type="arabicPeriod"/>
            </a:pPr>
            <a:r>
              <a:rPr lang="en-US" sz="2400" dirty="0"/>
              <a:t>An effective IDS can serve as a deterrent, thus acting to prevent intrusion. </a:t>
            </a:r>
          </a:p>
          <a:p>
            <a:pPr marL="457200" indent="-457200">
              <a:buFont typeface="+mj-lt"/>
              <a:buAutoNum type="arabicPeriod"/>
            </a:pPr>
            <a:r>
              <a:rPr lang="en-US" sz="2400" dirty="0"/>
              <a:t>Intrusion detection enables the collection of information about intrusion techniques that can be used to strengthen intrusion prevention measures.</a:t>
            </a:r>
          </a:p>
        </p:txBody>
      </p:sp>
    </p:spTree>
    <p:extLst>
      <p:ext uri="{BB962C8B-B14F-4D97-AF65-F5344CB8AC3E}">
        <p14:creationId xmlns:p14="http://schemas.microsoft.com/office/powerpoint/2010/main" val="2063258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Effectiveness of an IDS</a:t>
            </a:r>
          </a:p>
        </p:txBody>
      </p:sp>
      <p:sp>
        <p:nvSpPr>
          <p:cNvPr id="3" name="Content Placeholder 2"/>
          <p:cNvSpPr>
            <a:spLocks noGrp="1"/>
          </p:cNvSpPr>
          <p:nvPr>
            <p:ph sz="quarter" idx="11"/>
          </p:nvPr>
        </p:nvSpPr>
        <p:spPr>
          <a:xfrm>
            <a:off x="467544" y="1632620"/>
            <a:ext cx="8229600" cy="4676700"/>
          </a:xfrm>
        </p:spPr>
        <p:txBody>
          <a:bodyPr/>
          <a:lstStyle/>
          <a:p>
            <a:r>
              <a:rPr lang="en-US" sz="2800" dirty="0"/>
              <a:t>Practically an intrusion detection system needs to detect a substantial percentage of intrusions while keeping the false alarms rate at an acceptable level. </a:t>
            </a:r>
          </a:p>
          <a:p>
            <a:pPr lvl="1"/>
            <a:r>
              <a:rPr lang="en-US" sz="2400" dirty="0"/>
              <a:t>if too few intrusions detected → we get a false sense of security</a:t>
            </a:r>
          </a:p>
          <a:p>
            <a:pPr lvl="1"/>
            <a:r>
              <a:rPr lang="en-US" sz="2400" dirty="0"/>
              <a:t>if too many false alarms → staff ignore them, or waste time while analyzing the false alarm </a:t>
            </a:r>
          </a:p>
        </p:txBody>
      </p:sp>
      <p:graphicFrame>
        <p:nvGraphicFramePr>
          <p:cNvPr id="4" name="Content Placeholder 3"/>
          <p:cNvGraphicFramePr>
            <a:graphicFrameLocks/>
          </p:cNvGraphicFramePr>
          <p:nvPr>
            <p:extLst>
              <p:ext uri="{D42A27DB-BD31-4B8C-83A1-F6EECF244321}">
                <p14:modId xmlns:p14="http://schemas.microsoft.com/office/powerpoint/2010/main" val="4028346835"/>
              </p:ext>
            </p:extLst>
          </p:nvPr>
        </p:nvGraphicFramePr>
        <p:xfrm>
          <a:off x="5652120" y="4941168"/>
          <a:ext cx="3491880" cy="17704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3266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IDS Analysis Approaches</a:t>
            </a:r>
          </a:p>
        </p:txBody>
      </p:sp>
      <p:sp>
        <p:nvSpPr>
          <p:cNvPr id="3" name="Content Placeholder 2"/>
          <p:cNvSpPr>
            <a:spLocks noGrp="1"/>
          </p:cNvSpPr>
          <p:nvPr>
            <p:ph sz="quarter" idx="11"/>
          </p:nvPr>
        </p:nvSpPr>
        <p:spPr/>
        <p:txBody>
          <a:bodyPr/>
          <a:lstStyle/>
          <a:p>
            <a:pPr marL="0" indent="0">
              <a:buNone/>
            </a:pPr>
            <a:r>
              <a:rPr lang="en-US" sz="2800" dirty="0"/>
              <a:t>Two main approaches to analyze sensor data:</a:t>
            </a:r>
          </a:p>
          <a:p>
            <a:endParaRPr lang="en-US" sz="2800" dirty="0"/>
          </a:p>
        </p:txBody>
      </p:sp>
      <p:pic>
        <p:nvPicPr>
          <p:cNvPr id="5" name="Picture 4">
            <a:extLst>
              <a:ext uri="{FF2B5EF4-FFF2-40B4-BE49-F238E27FC236}">
                <a16:creationId xmlns:a16="http://schemas.microsoft.com/office/drawing/2014/main" id="{7BA82F5D-1C2E-0817-3CC3-A0900649E4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1404" y="2915800"/>
            <a:ext cx="7601192" cy="1624187"/>
          </a:xfrm>
          <a:prstGeom prst="rect">
            <a:avLst/>
          </a:prstGeom>
        </p:spPr>
      </p:pic>
      <p:sp>
        <p:nvSpPr>
          <p:cNvPr id="7" name="TextBox 6">
            <a:extLst>
              <a:ext uri="{FF2B5EF4-FFF2-40B4-BE49-F238E27FC236}">
                <a16:creationId xmlns:a16="http://schemas.microsoft.com/office/drawing/2014/main" id="{6C139C12-F737-6874-8843-4875E210A31F}"/>
              </a:ext>
            </a:extLst>
          </p:cNvPr>
          <p:cNvSpPr txBox="1"/>
          <p:nvPr/>
        </p:nvSpPr>
        <p:spPr>
          <a:xfrm>
            <a:off x="5580112" y="4797152"/>
            <a:ext cx="2880320" cy="954107"/>
          </a:xfrm>
          <a:prstGeom prst="rect">
            <a:avLst/>
          </a:prstGeom>
          <a:noFill/>
        </p:spPr>
        <p:txBody>
          <a:bodyPr wrap="square">
            <a:spAutoFit/>
          </a:bodyPr>
          <a:lstStyle/>
          <a:p>
            <a:pPr algn="ctr" latinLnBrk="0"/>
            <a:r>
              <a:rPr lang="en-US" sz="2800" dirty="0"/>
              <a:t>Anomaly based detection</a:t>
            </a:r>
          </a:p>
        </p:txBody>
      </p:sp>
      <p:sp>
        <p:nvSpPr>
          <p:cNvPr id="8" name="TextBox 7">
            <a:extLst>
              <a:ext uri="{FF2B5EF4-FFF2-40B4-BE49-F238E27FC236}">
                <a16:creationId xmlns:a16="http://schemas.microsoft.com/office/drawing/2014/main" id="{571A89DD-8676-7A4A-5E9F-F375CB7B4068}"/>
              </a:ext>
            </a:extLst>
          </p:cNvPr>
          <p:cNvSpPr txBox="1"/>
          <p:nvPr/>
        </p:nvSpPr>
        <p:spPr>
          <a:xfrm>
            <a:off x="755576" y="4797152"/>
            <a:ext cx="2880320" cy="954107"/>
          </a:xfrm>
          <a:prstGeom prst="rect">
            <a:avLst/>
          </a:prstGeom>
          <a:noFill/>
        </p:spPr>
        <p:txBody>
          <a:bodyPr wrap="square">
            <a:spAutoFit/>
          </a:bodyPr>
          <a:lstStyle/>
          <a:p>
            <a:pPr algn="ctr" latinLnBrk="0"/>
            <a:r>
              <a:rPr lang="en-US" sz="2800" dirty="0"/>
              <a:t>Signature based detection</a:t>
            </a:r>
          </a:p>
        </p:txBody>
      </p:sp>
      <p:cxnSp>
        <p:nvCxnSpPr>
          <p:cNvPr id="6" name="Straight Connector 5">
            <a:extLst>
              <a:ext uri="{FF2B5EF4-FFF2-40B4-BE49-F238E27FC236}">
                <a16:creationId xmlns:a16="http://schemas.microsoft.com/office/drawing/2014/main" id="{0E552D65-C0D9-D230-FA3B-81B1BB65F1E9}"/>
              </a:ext>
            </a:extLst>
          </p:cNvPr>
          <p:cNvCxnSpPr/>
          <p:nvPr/>
        </p:nvCxnSpPr>
        <p:spPr>
          <a:xfrm flipV="1">
            <a:off x="4644008" y="2492896"/>
            <a:ext cx="0" cy="3024336"/>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6882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Signature Based Detection</a:t>
            </a:r>
          </a:p>
        </p:txBody>
      </p:sp>
      <p:sp>
        <p:nvSpPr>
          <p:cNvPr id="3" name="Content Placeholder 2"/>
          <p:cNvSpPr>
            <a:spLocks noGrp="1"/>
          </p:cNvSpPr>
          <p:nvPr>
            <p:ph sz="quarter" idx="11"/>
          </p:nvPr>
        </p:nvSpPr>
        <p:spPr/>
        <p:txBody>
          <a:bodyPr/>
          <a:lstStyle/>
          <a:p>
            <a:r>
              <a:rPr lang="en-US" sz="2400" dirty="0"/>
              <a:t>Examine the sensor data, looking for already known intruder attack patterns (</a:t>
            </a:r>
            <a:r>
              <a:rPr lang="en-US" sz="2400" dirty="0">
                <a:solidFill>
                  <a:srgbClr val="C00000"/>
                </a:solidFill>
              </a:rPr>
              <a:t>signatures</a:t>
            </a:r>
            <a:r>
              <a:rPr lang="en-US" sz="2400" dirty="0"/>
              <a:t>).</a:t>
            </a:r>
          </a:p>
          <a:p>
            <a:r>
              <a:rPr lang="en-US" sz="2400" dirty="0"/>
              <a:t>The question of what information is relevant to an IDS depends upon what it is trying to detect.</a:t>
            </a:r>
          </a:p>
          <a:p>
            <a:pPr lvl="1"/>
            <a:r>
              <a:rPr lang="en-US" sz="2000" dirty="0"/>
              <a:t>e.g. attacks against DNS, FTP, IMAP etc.</a:t>
            </a:r>
          </a:p>
          <a:p>
            <a:endParaRPr lang="en-US" sz="2400" dirty="0"/>
          </a:p>
          <a:p>
            <a:r>
              <a:rPr lang="en-US" sz="2400" dirty="0"/>
              <a:t>New attack patterns must continually be added to the IDS’s database of signatures</a:t>
            </a:r>
          </a:p>
          <a:p>
            <a:r>
              <a:rPr lang="en-US" sz="2200" dirty="0"/>
              <a:t>Novel attacks (with previously unknown signatures) are </a:t>
            </a:r>
            <a:r>
              <a:rPr lang="en-US" sz="2200" dirty="0">
                <a:solidFill>
                  <a:srgbClr val="C00000"/>
                </a:solidFill>
              </a:rPr>
              <a:t>NOT</a:t>
            </a:r>
            <a:r>
              <a:rPr lang="en-US" sz="2200" dirty="0"/>
              <a:t> detected.</a:t>
            </a:r>
          </a:p>
          <a:p>
            <a:endParaRPr lang="en-US" sz="2400" dirty="0"/>
          </a:p>
        </p:txBody>
      </p:sp>
      <p:sp>
        <p:nvSpPr>
          <p:cNvPr id="4" name="TextBox 3"/>
          <p:cNvSpPr txBox="1"/>
          <p:nvPr/>
        </p:nvSpPr>
        <p:spPr>
          <a:xfrm>
            <a:off x="107504" y="6474822"/>
            <a:ext cx="5249514" cy="338554"/>
          </a:xfrm>
          <a:prstGeom prst="rect">
            <a:avLst/>
          </a:prstGeom>
          <a:noFill/>
        </p:spPr>
        <p:txBody>
          <a:bodyPr wrap="none" rtlCol="0">
            <a:spAutoFit/>
          </a:bodyPr>
          <a:lstStyle/>
          <a:p>
            <a:r>
              <a:rPr lang="en-US" sz="1600" dirty="0">
                <a:solidFill>
                  <a:schemeClr val="bg1">
                    <a:lumMod val="50000"/>
                  </a:schemeClr>
                </a:solidFill>
              </a:rPr>
              <a:t>Note: Do not confuse it with cryptographic signatures</a:t>
            </a:r>
          </a:p>
        </p:txBody>
      </p:sp>
    </p:spTree>
    <p:extLst>
      <p:ext uri="{BB962C8B-B14F-4D97-AF65-F5344CB8AC3E}">
        <p14:creationId xmlns:p14="http://schemas.microsoft.com/office/powerpoint/2010/main" val="1249032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EC916-FCC2-B700-D5BA-2D657C9D6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920ED-0212-1D71-74B0-613D2CFDE93C}"/>
              </a:ext>
            </a:extLst>
          </p:cNvPr>
          <p:cNvSpPr>
            <a:spLocks noGrp="1"/>
          </p:cNvSpPr>
          <p:nvPr>
            <p:ph type="title"/>
          </p:nvPr>
        </p:nvSpPr>
        <p:spPr/>
        <p:txBody>
          <a:bodyPr/>
          <a:lstStyle/>
          <a:p>
            <a:r>
              <a:rPr lang="en-US" dirty="0"/>
              <a:t>Signature examples</a:t>
            </a:r>
          </a:p>
        </p:txBody>
      </p:sp>
      <p:sp>
        <p:nvSpPr>
          <p:cNvPr id="3" name="Content Placeholder 2">
            <a:extLst>
              <a:ext uri="{FF2B5EF4-FFF2-40B4-BE49-F238E27FC236}">
                <a16:creationId xmlns:a16="http://schemas.microsoft.com/office/drawing/2014/main" id="{AAC8BCE5-ACEC-7A9B-14C2-923DE8B09B70}"/>
              </a:ext>
            </a:extLst>
          </p:cNvPr>
          <p:cNvSpPr>
            <a:spLocks noGrp="1"/>
          </p:cNvSpPr>
          <p:nvPr>
            <p:ph sz="quarter" idx="11"/>
          </p:nvPr>
        </p:nvSpPr>
        <p:spPr/>
        <p:txBody>
          <a:bodyPr/>
          <a:lstStyle/>
          <a:p>
            <a:r>
              <a:rPr lang="en-US" sz="2400" dirty="0"/>
              <a:t>MD5 hash of a malware file</a:t>
            </a:r>
          </a:p>
          <a:p>
            <a:r>
              <a:rPr lang="en-US" sz="2400" dirty="0"/>
              <a:t>Specific byte sequences in email attachment indicating it is an executable</a:t>
            </a:r>
          </a:p>
          <a:p>
            <a:r>
              <a:rPr lang="en-US" sz="2400" dirty="0"/>
              <a:t>Malicious commands executed by a process</a:t>
            </a:r>
          </a:p>
          <a:p>
            <a:pPr lvl="1"/>
            <a:r>
              <a:rPr lang="en-US" sz="2000" dirty="0"/>
              <a:t>e.g.</a:t>
            </a:r>
            <a:r>
              <a:rPr lang="en-US" sz="2000" dirty="0">
                <a:latin typeface="Consolas" panose="020B0609020204030204" pitchFamily="49" charset="0"/>
              </a:rPr>
              <a:t> rm –rf / </a:t>
            </a:r>
            <a:r>
              <a:rPr lang="en-US" sz="2000" dirty="0"/>
              <a:t>in Unix to delete all files</a:t>
            </a:r>
          </a:p>
          <a:p>
            <a:r>
              <a:rPr lang="en-US" sz="2400" dirty="0"/>
              <a:t>Protocol abnormalities in packets</a:t>
            </a:r>
          </a:p>
          <a:p>
            <a:pPr lvl="1"/>
            <a:r>
              <a:rPr lang="en-US" sz="2000" dirty="0"/>
              <a:t>e.g. TCP packets with both SYN and FIN flags set</a:t>
            </a:r>
          </a:p>
          <a:p>
            <a:r>
              <a:rPr lang="en-US" sz="2400" dirty="0"/>
              <a:t>Web packets going to URL of a known phishing sites, or accessing URL commonly associated with malwares</a:t>
            </a:r>
          </a:p>
          <a:p>
            <a:pPr lvl="1"/>
            <a:r>
              <a:rPr lang="en-US" sz="2000" dirty="0"/>
              <a:t>e.g. substring ‘</a:t>
            </a:r>
            <a:r>
              <a:rPr lang="en-US" sz="2000" dirty="0" err="1"/>
              <a:t>phf</a:t>
            </a:r>
            <a:r>
              <a:rPr lang="en-US" sz="2000" dirty="0"/>
              <a:t>’ in http request ‘GET /</a:t>
            </a:r>
            <a:r>
              <a:rPr lang="en-US" sz="2000" dirty="0" err="1"/>
              <a:t>cgi</a:t>
            </a:r>
            <a:r>
              <a:rPr lang="en-US" sz="2000" dirty="0"/>
              <a:t>-bin/</a:t>
            </a:r>
            <a:r>
              <a:rPr lang="en-US" sz="2000" dirty="0" err="1"/>
              <a:t>phf</a:t>
            </a:r>
            <a:r>
              <a:rPr lang="en-US" sz="2000" dirty="0"/>
              <a:t>?’, identifies those network packets as vehicles of an attack.</a:t>
            </a:r>
          </a:p>
          <a:p>
            <a:endParaRPr lang="en-US" sz="2400" dirty="0"/>
          </a:p>
        </p:txBody>
      </p:sp>
      <p:sp>
        <p:nvSpPr>
          <p:cNvPr id="4" name="TextBox 3">
            <a:extLst>
              <a:ext uri="{FF2B5EF4-FFF2-40B4-BE49-F238E27FC236}">
                <a16:creationId xmlns:a16="http://schemas.microsoft.com/office/drawing/2014/main" id="{7BE0E29A-298D-3A75-03DC-E9836909952A}"/>
              </a:ext>
            </a:extLst>
          </p:cNvPr>
          <p:cNvSpPr txBox="1"/>
          <p:nvPr/>
        </p:nvSpPr>
        <p:spPr>
          <a:xfrm>
            <a:off x="107504" y="6474822"/>
            <a:ext cx="5249514" cy="338554"/>
          </a:xfrm>
          <a:prstGeom prst="rect">
            <a:avLst/>
          </a:prstGeom>
          <a:noFill/>
        </p:spPr>
        <p:txBody>
          <a:bodyPr wrap="none" rtlCol="0">
            <a:spAutoFit/>
          </a:bodyPr>
          <a:lstStyle/>
          <a:p>
            <a:r>
              <a:rPr lang="en-US" sz="1600" dirty="0">
                <a:solidFill>
                  <a:schemeClr val="bg1">
                    <a:lumMod val="50000"/>
                  </a:schemeClr>
                </a:solidFill>
              </a:rPr>
              <a:t>Note: Do not confuse it with cryptographic signatures</a:t>
            </a:r>
          </a:p>
        </p:txBody>
      </p:sp>
    </p:spTree>
    <p:extLst>
      <p:ext uri="{BB962C8B-B14F-4D97-AF65-F5344CB8AC3E}">
        <p14:creationId xmlns:p14="http://schemas.microsoft.com/office/powerpoint/2010/main" val="1295781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Anomaly Based Detection</a:t>
            </a:r>
          </a:p>
        </p:txBody>
      </p:sp>
      <p:sp>
        <p:nvSpPr>
          <p:cNvPr id="3" name="Content Placeholder 2"/>
          <p:cNvSpPr>
            <a:spLocks noGrp="1"/>
          </p:cNvSpPr>
          <p:nvPr>
            <p:ph sz="quarter" idx="11"/>
          </p:nvPr>
        </p:nvSpPr>
        <p:spPr/>
        <p:txBody>
          <a:bodyPr/>
          <a:lstStyle/>
          <a:p>
            <a:r>
              <a:rPr lang="en-US" sz="2400" dirty="0"/>
              <a:t>Involves a collection of information about legitimate user’s behavior over a period of time. Then, </a:t>
            </a:r>
            <a:r>
              <a:rPr lang="en-US" sz="2400" dirty="0">
                <a:solidFill>
                  <a:srgbClr val="C00000"/>
                </a:solidFill>
              </a:rPr>
              <a:t>statistical tests</a:t>
            </a:r>
            <a:r>
              <a:rPr lang="en-US" sz="2400" dirty="0"/>
              <a:t> or </a:t>
            </a:r>
            <a:r>
              <a:rPr lang="en-US" sz="2400" dirty="0">
                <a:solidFill>
                  <a:srgbClr val="C00000"/>
                </a:solidFill>
              </a:rPr>
              <a:t>machine learning</a:t>
            </a:r>
            <a:r>
              <a:rPr lang="en-US" sz="2400" dirty="0"/>
              <a:t> techniques are applied to observe them.</a:t>
            </a:r>
          </a:p>
          <a:p>
            <a:r>
              <a:rPr lang="en-US" sz="2400" dirty="0"/>
              <a:t>Anything distinct from the usual behavior is assumed to be an intrusion activity.</a:t>
            </a:r>
          </a:p>
          <a:p>
            <a:pPr lvl="1"/>
            <a:r>
              <a:rPr lang="en-US" sz="2000" dirty="0"/>
              <a:t>e.g. flooding a host with lots of packet.</a:t>
            </a:r>
          </a:p>
          <a:p>
            <a:endParaRPr lang="en-US" sz="2400" dirty="0"/>
          </a:p>
          <a:p>
            <a:r>
              <a:rPr lang="en-US" sz="2400" dirty="0"/>
              <a:t>Primary strength of anomaly-based approach is its ability to recognize novel attacks.</a:t>
            </a:r>
          </a:p>
          <a:p>
            <a:r>
              <a:rPr lang="en-US" sz="2400" dirty="0"/>
              <a:t>But such </a:t>
            </a:r>
            <a:r>
              <a:rPr lang="en-US" sz="2400" dirty="0" err="1"/>
              <a:t>IDSes</a:t>
            </a:r>
            <a:r>
              <a:rPr lang="en-US" sz="2400" dirty="0"/>
              <a:t> can generate many </a:t>
            </a:r>
            <a:r>
              <a:rPr lang="en-US" sz="2400" dirty="0">
                <a:solidFill>
                  <a:srgbClr val="C00000"/>
                </a:solidFill>
              </a:rPr>
              <a:t>false alarms</a:t>
            </a:r>
            <a:r>
              <a:rPr lang="en-US" sz="2400" dirty="0"/>
              <a:t> and hence reduce their effectiveness.</a:t>
            </a:r>
          </a:p>
          <a:p>
            <a:endParaRPr lang="en-US" sz="2400" dirty="0"/>
          </a:p>
        </p:txBody>
      </p:sp>
    </p:spTree>
    <p:extLst>
      <p:ext uri="{BB962C8B-B14F-4D97-AF65-F5344CB8AC3E}">
        <p14:creationId xmlns:p14="http://schemas.microsoft.com/office/powerpoint/2010/main" val="4071623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Example metrics to observe</a:t>
            </a:r>
            <a:endParaRPr lang="en-US" dirty="0"/>
          </a:p>
        </p:txBody>
      </p:sp>
      <p:sp>
        <p:nvSpPr>
          <p:cNvPr id="3" name="Content Placeholder 2"/>
          <p:cNvSpPr>
            <a:spLocks noGrp="1"/>
          </p:cNvSpPr>
          <p:nvPr>
            <p:ph sz="quarter" idx="11"/>
          </p:nvPr>
        </p:nvSpPr>
        <p:spPr/>
        <p:txBody>
          <a:bodyPr/>
          <a:lstStyle/>
          <a:p>
            <a:r>
              <a:rPr lang="en-US" sz="2400" dirty="0"/>
              <a:t>Number of logins during an hour</a:t>
            </a:r>
          </a:p>
          <a:p>
            <a:r>
              <a:rPr lang="en-US" sz="2400" dirty="0"/>
              <a:t>Number of times a command executed</a:t>
            </a:r>
          </a:p>
          <a:p>
            <a:r>
              <a:rPr lang="en-US" sz="2400" dirty="0"/>
              <a:t>Number of outgoing messages</a:t>
            </a:r>
          </a:p>
          <a:p>
            <a:r>
              <a:rPr lang="en-US" sz="2400" dirty="0"/>
              <a:t>Length of time between two events e.g. successive logins</a:t>
            </a:r>
          </a:p>
          <a:p>
            <a:r>
              <a:rPr lang="en-US" sz="2400" dirty="0"/>
              <a:t>Quantity of resources (CPU, memory, printer etc.) used</a:t>
            </a:r>
          </a:p>
          <a:p>
            <a:endParaRPr lang="en-US" sz="2400" dirty="0"/>
          </a:p>
        </p:txBody>
      </p:sp>
    </p:spTree>
    <p:extLst>
      <p:ext uri="{BB962C8B-B14F-4D97-AF65-F5344CB8AC3E}">
        <p14:creationId xmlns:p14="http://schemas.microsoft.com/office/powerpoint/2010/main" val="3897154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sz="3600" dirty="0"/>
              <a:t>Rule-based heuristic identification</a:t>
            </a:r>
          </a:p>
        </p:txBody>
      </p:sp>
      <p:sp>
        <p:nvSpPr>
          <p:cNvPr id="3" name="Content Placeholder 2"/>
          <p:cNvSpPr>
            <a:spLocks noGrp="1"/>
          </p:cNvSpPr>
          <p:nvPr>
            <p:ph sz="quarter" idx="11"/>
          </p:nvPr>
        </p:nvSpPr>
        <p:spPr/>
        <p:txBody>
          <a:bodyPr/>
          <a:lstStyle/>
          <a:p>
            <a:pPr marL="0" indent="0">
              <a:buNone/>
            </a:pPr>
            <a:r>
              <a:rPr lang="en-US" sz="2600" dirty="0"/>
              <a:t>A third approach is also sometimes used</a:t>
            </a:r>
          </a:p>
          <a:p>
            <a:r>
              <a:rPr lang="en-US" sz="2600" dirty="0"/>
              <a:t>create rules for the normal usage pattern</a:t>
            </a:r>
          </a:p>
          <a:p>
            <a:r>
              <a:rPr lang="en-US" sz="2600" dirty="0"/>
              <a:t>rules can be made based on</a:t>
            </a:r>
          </a:p>
          <a:p>
            <a:pPr lvl="1"/>
            <a:r>
              <a:rPr lang="en-US" sz="2200" dirty="0"/>
              <a:t>expected behavior (ask system administrator)</a:t>
            </a:r>
          </a:p>
          <a:p>
            <a:pPr lvl="1"/>
            <a:r>
              <a:rPr lang="en-US" sz="2200" dirty="0"/>
              <a:t>experience (by analyzing historical audit records)</a:t>
            </a:r>
          </a:p>
          <a:p>
            <a:pPr lvl="1"/>
            <a:r>
              <a:rPr lang="en-US" sz="2200" dirty="0"/>
              <a:t>well known attacker </a:t>
            </a:r>
            <a:r>
              <a:rPr lang="en-US" sz="2200" dirty="0" err="1"/>
              <a:t>behaviours</a:t>
            </a:r>
            <a:r>
              <a:rPr lang="en-US" sz="2200" dirty="0"/>
              <a:t> (reported in research)</a:t>
            </a:r>
          </a:p>
          <a:p>
            <a:r>
              <a:rPr lang="en-US" sz="2600" dirty="0"/>
              <a:t>any deviation from the baseline is considered intrusion</a:t>
            </a:r>
          </a:p>
          <a:p>
            <a:r>
              <a:rPr lang="en-US" sz="2600" dirty="0"/>
              <a:t>like statistical anomaly detection, it does not require prior knowledge of security flaws</a:t>
            </a:r>
          </a:p>
          <a:p>
            <a:endParaRPr lang="en-US" sz="2400" dirty="0"/>
          </a:p>
        </p:txBody>
      </p:sp>
    </p:spTree>
    <p:extLst>
      <p:ext uri="{BB962C8B-B14F-4D97-AF65-F5344CB8AC3E}">
        <p14:creationId xmlns:p14="http://schemas.microsoft.com/office/powerpoint/2010/main" val="1833352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217B4-9927-63CD-3119-AF6761693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D5F19-5C3C-0BA4-EB59-CAA59C155ABB}"/>
              </a:ext>
            </a:extLst>
          </p:cNvPr>
          <p:cNvSpPr>
            <a:spLocks noGrp="1"/>
          </p:cNvSpPr>
          <p:nvPr>
            <p:ph type="title"/>
          </p:nvPr>
        </p:nvSpPr>
        <p:spPr/>
        <p:txBody>
          <a:bodyPr/>
          <a:lstStyle/>
          <a:p>
            <a:pPr marL="0" indent="0">
              <a:buNone/>
            </a:pPr>
            <a:r>
              <a:rPr lang="en-US" sz="3600" dirty="0"/>
              <a:t>Rule-based heuristic identification</a:t>
            </a:r>
          </a:p>
        </p:txBody>
      </p:sp>
      <p:sp>
        <p:nvSpPr>
          <p:cNvPr id="3" name="Content Placeholder 2">
            <a:extLst>
              <a:ext uri="{FF2B5EF4-FFF2-40B4-BE49-F238E27FC236}">
                <a16:creationId xmlns:a16="http://schemas.microsoft.com/office/drawing/2014/main" id="{B4B0068B-8B1E-5646-758F-AD60AD52F088}"/>
              </a:ext>
            </a:extLst>
          </p:cNvPr>
          <p:cNvSpPr>
            <a:spLocks noGrp="1"/>
          </p:cNvSpPr>
          <p:nvPr>
            <p:ph sz="quarter" idx="11"/>
          </p:nvPr>
        </p:nvSpPr>
        <p:spPr/>
        <p:txBody>
          <a:bodyPr/>
          <a:lstStyle/>
          <a:p>
            <a:r>
              <a:rPr lang="en-US" sz="2800" dirty="0"/>
              <a:t>it requires a large database of rules to be effective</a:t>
            </a:r>
          </a:p>
          <a:p>
            <a:pPr lvl="1"/>
            <a:r>
              <a:rPr lang="en-US" sz="2400" dirty="0"/>
              <a:t>rules are static, and need to be updated manually</a:t>
            </a:r>
          </a:p>
          <a:p>
            <a:r>
              <a:rPr lang="en-US" sz="2800" dirty="0"/>
              <a:t>unlike anomaly based detection, a training phase is not required</a:t>
            </a:r>
          </a:p>
          <a:p>
            <a:r>
              <a:rPr lang="en-US" sz="2800" dirty="0"/>
              <a:t>Examples rules:</a:t>
            </a:r>
          </a:p>
          <a:p>
            <a:pPr lvl="1"/>
            <a:r>
              <a:rPr lang="en-US" sz="2400" dirty="0"/>
              <a:t>Users should not be logged in more than one session</a:t>
            </a:r>
          </a:p>
          <a:p>
            <a:pPr lvl="1"/>
            <a:r>
              <a:rPr lang="en-US" sz="2400" dirty="0"/>
              <a:t>Users do not make copies of system, password files</a:t>
            </a:r>
          </a:p>
          <a:p>
            <a:pPr lvl="1"/>
            <a:r>
              <a:rPr lang="en-US" sz="2400" dirty="0"/>
              <a:t>Users who log in after hours should access the same files they used earlier</a:t>
            </a:r>
          </a:p>
          <a:p>
            <a:endParaRPr lang="en-US" sz="2800" dirty="0"/>
          </a:p>
        </p:txBody>
      </p:sp>
    </p:spTree>
    <p:extLst>
      <p:ext uri="{BB962C8B-B14F-4D97-AF65-F5344CB8AC3E}">
        <p14:creationId xmlns:p14="http://schemas.microsoft.com/office/powerpoint/2010/main" val="2980552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to install an IDS?</a:t>
            </a:r>
          </a:p>
        </p:txBody>
      </p:sp>
      <p:sp>
        <p:nvSpPr>
          <p:cNvPr id="3" name="Content Placeholder 2"/>
          <p:cNvSpPr>
            <a:spLocks noGrp="1"/>
          </p:cNvSpPr>
          <p:nvPr>
            <p:ph sz="quarter" idx="11"/>
          </p:nvPr>
        </p:nvSpPr>
        <p:spPr/>
        <p:txBody>
          <a:bodyPr/>
          <a:lstStyle/>
          <a:p>
            <a:pPr marL="0" indent="0">
              <a:buNone/>
            </a:pPr>
            <a:r>
              <a:rPr lang="en-US" sz="2800" b="1" dirty="0"/>
              <a:t>Host-based IDS</a:t>
            </a:r>
          </a:p>
          <a:p>
            <a:r>
              <a:rPr lang="en-US" sz="2800" dirty="0"/>
              <a:t>Monitors the characteristics of a single host and the events occurring within that host for suspicious activity. </a:t>
            </a:r>
          </a:p>
          <a:p>
            <a:endParaRPr lang="en-US" sz="2800" dirty="0"/>
          </a:p>
          <a:p>
            <a:pPr marL="0" indent="0">
              <a:buNone/>
            </a:pPr>
            <a:r>
              <a:rPr lang="en-US" sz="2800" b="1" dirty="0"/>
              <a:t>Network-based IDS (NIDS)</a:t>
            </a:r>
          </a:p>
          <a:p>
            <a:r>
              <a:rPr lang="en-US" sz="2800" dirty="0"/>
              <a:t>Monitors network traffic for particular network segments or devices and analyzes network, transport, and application protocols to identify suspicious activity. </a:t>
            </a:r>
          </a:p>
          <a:p>
            <a:endParaRPr lang="en-US" sz="2800" dirty="0"/>
          </a:p>
        </p:txBody>
      </p:sp>
    </p:spTree>
    <p:extLst>
      <p:ext uri="{BB962C8B-B14F-4D97-AF65-F5344CB8AC3E}">
        <p14:creationId xmlns:p14="http://schemas.microsoft.com/office/powerpoint/2010/main" val="3284211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Host/Applications based IDS</a:t>
            </a:r>
          </a:p>
        </p:txBody>
      </p:sp>
      <p:sp>
        <p:nvSpPr>
          <p:cNvPr id="3" name="Content Placeholder 2"/>
          <p:cNvSpPr>
            <a:spLocks noGrp="1"/>
          </p:cNvSpPr>
          <p:nvPr>
            <p:ph sz="quarter" idx="11"/>
          </p:nvPr>
        </p:nvSpPr>
        <p:spPr/>
        <p:txBody>
          <a:bodyPr/>
          <a:lstStyle/>
          <a:p>
            <a:r>
              <a:rPr lang="en-US" sz="2800" dirty="0"/>
              <a:t>Watch the host OS or the application logs in the audit information.</a:t>
            </a:r>
          </a:p>
          <a:p>
            <a:endParaRPr lang="en-US" sz="2800" dirty="0"/>
          </a:p>
          <a:p>
            <a:r>
              <a:rPr lang="en-US" sz="2800" dirty="0"/>
              <a:t>These audit information includes events like the use of identification and authentication mechanisms (logins etc.), file opens and program executions, admin activities etc.</a:t>
            </a:r>
          </a:p>
          <a:p>
            <a:endParaRPr lang="en-US" sz="2800" dirty="0"/>
          </a:p>
          <a:p>
            <a:r>
              <a:rPr lang="en-US" sz="2800" dirty="0"/>
              <a:t>This audit is then analyzed to detect trails of intrusion.</a:t>
            </a:r>
          </a:p>
          <a:p>
            <a:endParaRPr lang="en-US" sz="2800" dirty="0"/>
          </a:p>
        </p:txBody>
      </p:sp>
    </p:spTree>
    <p:extLst>
      <p:ext uri="{BB962C8B-B14F-4D97-AF65-F5344CB8AC3E}">
        <p14:creationId xmlns:p14="http://schemas.microsoft.com/office/powerpoint/2010/main" val="2231346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Host based IDS: Drawbacks</a:t>
            </a:r>
          </a:p>
        </p:txBody>
      </p:sp>
      <p:sp>
        <p:nvSpPr>
          <p:cNvPr id="3" name="Content Placeholder 2"/>
          <p:cNvSpPr>
            <a:spLocks noGrp="1"/>
          </p:cNvSpPr>
          <p:nvPr>
            <p:ph sz="quarter" idx="11"/>
          </p:nvPr>
        </p:nvSpPr>
        <p:spPr/>
        <p:txBody>
          <a:bodyPr/>
          <a:lstStyle/>
          <a:p>
            <a:r>
              <a:rPr lang="en-US" sz="2800" dirty="0"/>
              <a:t>The kind of information needed to be logged in is a matter of experience.</a:t>
            </a:r>
          </a:p>
          <a:p>
            <a:endParaRPr lang="en-US" sz="2800" dirty="0"/>
          </a:p>
          <a:p>
            <a:r>
              <a:rPr lang="en-US" sz="2800" dirty="0"/>
              <a:t>Unselective logging of messages may greatly increase the audit and analysis burdens.</a:t>
            </a:r>
          </a:p>
          <a:p>
            <a:r>
              <a:rPr lang="en-US" sz="2800" dirty="0"/>
              <a:t>Selective logging runs the risk that attack manifestations could be missed.</a:t>
            </a:r>
          </a:p>
          <a:p>
            <a:endParaRPr lang="en-US" sz="2800" dirty="0"/>
          </a:p>
        </p:txBody>
      </p:sp>
    </p:spTree>
    <p:extLst>
      <p:ext uri="{BB962C8B-B14F-4D97-AF65-F5344CB8AC3E}">
        <p14:creationId xmlns:p14="http://schemas.microsoft.com/office/powerpoint/2010/main" val="3664914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Host based IDS: Strengths</a:t>
            </a:r>
          </a:p>
        </p:txBody>
      </p:sp>
      <p:sp>
        <p:nvSpPr>
          <p:cNvPr id="3" name="Content Placeholder 2"/>
          <p:cNvSpPr>
            <a:spLocks noGrp="1"/>
          </p:cNvSpPr>
          <p:nvPr>
            <p:ph sz="quarter" idx="11"/>
          </p:nvPr>
        </p:nvSpPr>
        <p:spPr/>
        <p:txBody>
          <a:bodyPr/>
          <a:lstStyle/>
          <a:p>
            <a:r>
              <a:rPr lang="en-US" sz="2800" dirty="0"/>
              <a:t>Can determine exactly which processes and user accounts are involved in a particular attack</a:t>
            </a:r>
          </a:p>
          <a:p>
            <a:r>
              <a:rPr lang="en-US" sz="2800" dirty="0"/>
              <a:t>Can see the exact intended outcome of an attack attempt</a:t>
            </a:r>
          </a:p>
          <a:p>
            <a:r>
              <a:rPr lang="en-US" sz="2800" dirty="0"/>
              <a:t>Can detect both external and internal intrusions</a:t>
            </a:r>
          </a:p>
          <a:p>
            <a:r>
              <a:rPr lang="en-US" sz="2800" dirty="0"/>
              <a:t>Helps in monitoring key components</a:t>
            </a:r>
          </a:p>
          <a:p>
            <a:r>
              <a:rPr lang="en-US" sz="2800" dirty="0"/>
              <a:t>Near real-time detection and response</a:t>
            </a:r>
          </a:p>
          <a:p>
            <a:r>
              <a:rPr lang="en-US" sz="2800" dirty="0"/>
              <a:t>No additional hardware needed</a:t>
            </a:r>
          </a:p>
          <a:p>
            <a:endParaRPr lang="en-US" sz="2800" dirty="0"/>
          </a:p>
        </p:txBody>
      </p:sp>
    </p:spTree>
    <p:extLst>
      <p:ext uri="{BB962C8B-B14F-4D97-AF65-F5344CB8AC3E}">
        <p14:creationId xmlns:p14="http://schemas.microsoft.com/office/powerpoint/2010/main" val="924779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based IDS</a:t>
            </a:r>
          </a:p>
        </p:txBody>
      </p:sp>
      <p:sp>
        <p:nvSpPr>
          <p:cNvPr id="3" name="Content Placeholder 2"/>
          <p:cNvSpPr>
            <a:spLocks noGrp="1"/>
          </p:cNvSpPr>
          <p:nvPr>
            <p:ph sz="quarter" idx="11"/>
          </p:nvPr>
        </p:nvSpPr>
        <p:spPr/>
        <p:txBody>
          <a:bodyPr/>
          <a:lstStyle/>
          <a:p>
            <a:r>
              <a:rPr lang="en-US" sz="2800" dirty="0"/>
              <a:t>A network-based IDS monitors traffic at selected points on a network or interconnected set of networks. </a:t>
            </a:r>
          </a:p>
          <a:p>
            <a:r>
              <a:rPr lang="en-US" sz="2800" dirty="0"/>
              <a:t>It examines the traffic packet by packet in real time or close to real time in order to detect intrusion patterns.</a:t>
            </a:r>
          </a:p>
          <a:p>
            <a:r>
              <a:rPr lang="en-US" sz="2800" dirty="0"/>
              <a:t>A filter is usually applied to determine which traffic will be discarded or passed on to an attack recognition module. This helps to filter out known non-malicious traffic.</a:t>
            </a:r>
          </a:p>
          <a:p>
            <a:endParaRPr lang="en-US" sz="2800" dirty="0"/>
          </a:p>
        </p:txBody>
      </p:sp>
    </p:spTree>
    <p:extLst>
      <p:ext uri="{BB962C8B-B14F-4D97-AF65-F5344CB8AC3E}">
        <p14:creationId xmlns:p14="http://schemas.microsoft.com/office/powerpoint/2010/main" val="1518358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NIDS Sensor Placement</a:t>
            </a:r>
          </a:p>
        </p:txBody>
      </p:sp>
      <p:pic>
        <p:nvPicPr>
          <p:cNvPr id="8" name="Picture 7">
            <a:extLst>
              <a:ext uri="{FF2B5EF4-FFF2-40B4-BE49-F238E27FC236}">
                <a16:creationId xmlns:a16="http://schemas.microsoft.com/office/drawing/2014/main" id="{B971DB5C-1E4C-E4F1-D97D-DED394DF27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3568" y="1340768"/>
            <a:ext cx="8141511" cy="5040560"/>
          </a:xfrm>
          <a:prstGeom prst="rect">
            <a:avLst/>
          </a:prstGeom>
        </p:spPr>
      </p:pic>
    </p:spTree>
    <p:extLst>
      <p:ext uri="{BB962C8B-B14F-4D97-AF65-F5344CB8AC3E}">
        <p14:creationId xmlns:p14="http://schemas.microsoft.com/office/powerpoint/2010/main" val="1078869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based IDS: Strengths</a:t>
            </a:r>
          </a:p>
        </p:txBody>
      </p:sp>
      <p:sp>
        <p:nvSpPr>
          <p:cNvPr id="3" name="Content Placeholder 2"/>
          <p:cNvSpPr>
            <a:spLocks noGrp="1"/>
          </p:cNvSpPr>
          <p:nvPr>
            <p:ph sz="quarter" idx="11"/>
          </p:nvPr>
        </p:nvSpPr>
        <p:spPr/>
        <p:txBody>
          <a:bodyPr/>
          <a:lstStyle/>
          <a:p>
            <a:r>
              <a:rPr lang="en-US" sz="2800" dirty="0"/>
              <a:t>Cost of ownership reduced</a:t>
            </a:r>
          </a:p>
          <a:p>
            <a:pPr lvl="1"/>
            <a:r>
              <a:rPr lang="en-US" sz="2400" dirty="0"/>
              <a:t>no per-host license</a:t>
            </a:r>
          </a:p>
          <a:p>
            <a:r>
              <a:rPr lang="en-US" sz="2800" dirty="0"/>
              <a:t>Packet analysis</a:t>
            </a:r>
          </a:p>
          <a:p>
            <a:r>
              <a:rPr lang="en-US" sz="2800" dirty="0"/>
              <a:t>Real time detection and response</a:t>
            </a:r>
          </a:p>
          <a:p>
            <a:r>
              <a:rPr lang="en-US" sz="2800" dirty="0"/>
              <a:t>Malicious intent detection</a:t>
            </a:r>
          </a:p>
          <a:p>
            <a:r>
              <a:rPr lang="en-US" sz="2800" dirty="0"/>
              <a:t>Operating system independence</a:t>
            </a:r>
          </a:p>
          <a:p>
            <a:endParaRPr lang="en-US" sz="2800" dirty="0"/>
          </a:p>
        </p:txBody>
      </p:sp>
    </p:spTree>
    <p:extLst>
      <p:ext uri="{BB962C8B-B14F-4D97-AF65-F5344CB8AC3E}">
        <p14:creationId xmlns:p14="http://schemas.microsoft.com/office/powerpoint/2010/main" val="1662878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Honeypots</a:t>
            </a:r>
          </a:p>
        </p:txBody>
      </p:sp>
      <p:sp>
        <p:nvSpPr>
          <p:cNvPr id="3" name="Content Placeholder 2"/>
          <p:cNvSpPr>
            <a:spLocks noGrp="1"/>
          </p:cNvSpPr>
          <p:nvPr>
            <p:ph sz="quarter" idx="11"/>
          </p:nvPr>
        </p:nvSpPr>
        <p:spPr/>
        <p:txBody>
          <a:bodyPr/>
          <a:lstStyle/>
          <a:p>
            <a:r>
              <a:rPr lang="en-US" sz="2200" dirty="0">
                <a:solidFill>
                  <a:srgbClr val="C00000"/>
                </a:solidFill>
              </a:rPr>
              <a:t>Decoy systems</a:t>
            </a:r>
            <a:r>
              <a:rPr lang="en-US" sz="2200" dirty="0"/>
              <a:t> that designed to lure a potential attacker away from critical systems</a:t>
            </a:r>
          </a:p>
          <a:p>
            <a:pPr lvl="1"/>
            <a:r>
              <a:rPr lang="en-US" sz="1800" dirty="0"/>
              <a:t>An asset that solely exists to be attacked</a:t>
            </a:r>
          </a:p>
          <a:p>
            <a:r>
              <a:rPr lang="en-US" sz="2200" dirty="0"/>
              <a:t>It could be an individual item, a system or entire network</a:t>
            </a:r>
          </a:p>
          <a:p>
            <a:r>
              <a:rPr lang="en-US" sz="2200" dirty="0"/>
              <a:t>It could be a real system or emulated.</a:t>
            </a:r>
          </a:p>
          <a:p>
            <a:endParaRPr lang="en-US" sz="2200" dirty="0"/>
          </a:p>
          <a:p>
            <a:pPr marL="0" indent="0">
              <a:buNone/>
            </a:pPr>
            <a:r>
              <a:rPr lang="en-US" sz="2200" b="1" dirty="0"/>
              <a:t>Purpose</a:t>
            </a:r>
          </a:p>
          <a:p>
            <a:r>
              <a:rPr lang="en-US" sz="2200" dirty="0"/>
              <a:t>Divert an attacker from accessing critical systems</a:t>
            </a:r>
          </a:p>
          <a:p>
            <a:r>
              <a:rPr lang="en-US" sz="2200" dirty="0"/>
              <a:t>Collect information about the attacker’s activity</a:t>
            </a:r>
          </a:p>
          <a:p>
            <a:pPr lvl="1"/>
            <a:r>
              <a:rPr lang="en-US" sz="1800" dirty="0"/>
              <a:t>Helps in IDS learning about new threats</a:t>
            </a:r>
          </a:p>
          <a:p>
            <a:r>
              <a:rPr lang="en-US" sz="2200" dirty="0"/>
              <a:t>Engage the attacker to stay on the system long enough for administration to respond</a:t>
            </a:r>
          </a:p>
          <a:p>
            <a:endParaRPr lang="en-US" sz="2200" dirty="0"/>
          </a:p>
        </p:txBody>
      </p:sp>
    </p:spTree>
    <p:extLst>
      <p:ext uri="{BB962C8B-B14F-4D97-AF65-F5344CB8AC3E}">
        <p14:creationId xmlns:p14="http://schemas.microsoft.com/office/powerpoint/2010/main" val="978568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Honeypots</a:t>
            </a:r>
          </a:p>
        </p:txBody>
      </p:sp>
      <p:sp>
        <p:nvSpPr>
          <p:cNvPr id="3" name="Content Placeholder 2"/>
          <p:cNvSpPr>
            <a:spLocks noGrp="1"/>
          </p:cNvSpPr>
          <p:nvPr>
            <p:ph sz="quarter" idx="11"/>
          </p:nvPr>
        </p:nvSpPr>
        <p:spPr/>
        <p:txBody>
          <a:bodyPr/>
          <a:lstStyle/>
          <a:p>
            <a:pPr marL="0" indent="0">
              <a:buNone/>
            </a:pPr>
            <a:r>
              <a:rPr lang="en-US" sz="2200" dirty="0"/>
              <a:t>Decoy Files</a:t>
            </a:r>
          </a:p>
          <a:p>
            <a:r>
              <a:rPr lang="en-US" sz="2200" dirty="0"/>
              <a:t>Used as a “marker” </a:t>
            </a:r>
          </a:p>
          <a:p>
            <a:r>
              <a:rPr lang="en-US" sz="2200" dirty="0"/>
              <a:t>In case of an access, read, copy, or deletion, it serves as an alert to monitors </a:t>
            </a:r>
          </a:p>
          <a:p>
            <a:r>
              <a:rPr lang="en-US" sz="2200" dirty="0"/>
              <a:t>It could be anything: file, database, picture, email, account, etc.</a:t>
            </a:r>
          </a:p>
          <a:p>
            <a:r>
              <a:rPr lang="en-US" sz="2200" dirty="0"/>
              <a:t>Normally used to deliver bogus information to attackers</a:t>
            </a:r>
          </a:p>
          <a:p>
            <a:endParaRPr lang="en-US" sz="2200" dirty="0"/>
          </a:p>
          <a:p>
            <a:pPr marL="0" indent="0">
              <a:buNone/>
            </a:pPr>
            <a:r>
              <a:rPr lang="en-US" sz="2200" dirty="0"/>
              <a:t>Honey net</a:t>
            </a:r>
          </a:p>
          <a:p>
            <a:r>
              <a:rPr lang="en-US" sz="2200" dirty="0"/>
              <a:t>Collection of two or more honeypots/decoy devices </a:t>
            </a:r>
          </a:p>
          <a:p>
            <a:r>
              <a:rPr lang="en-US" sz="2200" dirty="0"/>
              <a:t>Could be at the same location or distributed</a:t>
            </a:r>
          </a:p>
          <a:p>
            <a:r>
              <a:rPr lang="en-US" sz="2200" dirty="0"/>
              <a:t>Managed by same entity </a:t>
            </a:r>
          </a:p>
          <a:p>
            <a:endParaRPr lang="en-US" sz="2200" dirty="0"/>
          </a:p>
        </p:txBody>
      </p:sp>
    </p:spTree>
    <p:extLst>
      <p:ext uri="{BB962C8B-B14F-4D97-AF65-F5344CB8AC3E}">
        <p14:creationId xmlns:p14="http://schemas.microsoft.com/office/powerpoint/2010/main" val="847554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Honeypot Interaction Level</a:t>
            </a:r>
          </a:p>
        </p:txBody>
      </p:sp>
      <p:sp>
        <p:nvSpPr>
          <p:cNvPr id="3" name="Content Placeholder 2"/>
          <p:cNvSpPr>
            <a:spLocks noGrp="1"/>
          </p:cNvSpPr>
          <p:nvPr>
            <p:ph sz="quarter" idx="11"/>
          </p:nvPr>
        </p:nvSpPr>
        <p:spPr/>
        <p:txBody>
          <a:bodyPr/>
          <a:lstStyle/>
          <a:p>
            <a:pPr marL="0" indent="0">
              <a:buNone/>
            </a:pPr>
            <a:r>
              <a:rPr lang="en-US" sz="2400" dirty="0"/>
              <a:t>It is the capability to mimic a real asset or object.</a:t>
            </a:r>
          </a:p>
          <a:p>
            <a:r>
              <a:rPr lang="en-US" sz="2400" dirty="0">
                <a:solidFill>
                  <a:srgbClr val="C00000"/>
                </a:solidFill>
              </a:rPr>
              <a:t>High</a:t>
            </a:r>
            <a:r>
              <a:rPr lang="en-US" sz="2400" dirty="0"/>
              <a:t> – More realistic that mimics real, legitimate computer or device with applications, activity, and changing content </a:t>
            </a:r>
          </a:p>
          <a:p>
            <a:pPr lvl="1"/>
            <a:r>
              <a:rPr lang="en-US" sz="1800" dirty="0"/>
              <a:t>Needed for more hacker interaction, intent, etc. </a:t>
            </a:r>
          </a:p>
          <a:p>
            <a:pPr lvl="1"/>
            <a:r>
              <a:rPr lang="en-US" sz="1800" dirty="0"/>
              <a:t>More involved setup and maintenance</a:t>
            </a:r>
            <a:endParaRPr lang="en-US" sz="2400" dirty="0"/>
          </a:p>
          <a:p>
            <a:r>
              <a:rPr lang="en-US" sz="2400" dirty="0">
                <a:solidFill>
                  <a:srgbClr val="C00000"/>
                </a:solidFill>
              </a:rPr>
              <a:t>Low</a:t>
            </a:r>
            <a:r>
              <a:rPr lang="en-US" sz="2400" dirty="0"/>
              <a:t> – Does very little to mimic real, legitimate device </a:t>
            </a:r>
          </a:p>
          <a:p>
            <a:pPr lvl="1"/>
            <a:r>
              <a:rPr lang="en-US" sz="1800" dirty="0"/>
              <a:t>Usually just TCP/IP port advertising or basic logon prompts </a:t>
            </a:r>
          </a:p>
          <a:p>
            <a:pPr lvl="1"/>
            <a:r>
              <a:rPr lang="en-US" sz="1800" dirty="0"/>
              <a:t>For early warning honeypots. Quicker setup, less ongoing maintenance, less risk</a:t>
            </a:r>
            <a:endParaRPr lang="en-US" sz="2400" dirty="0"/>
          </a:p>
          <a:p>
            <a:r>
              <a:rPr lang="en-US" sz="2400" dirty="0"/>
              <a:t>If you can actually logon to a decoy, then you’re at least at </a:t>
            </a:r>
            <a:r>
              <a:rPr lang="en-US" sz="2400" dirty="0">
                <a:solidFill>
                  <a:srgbClr val="C00000"/>
                </a:solidFill>
              </a:rPr>
              <a:t>Medium</a:t>
            </a:r>
            <a:r>
              <a:rPr lang="en-US" sz="2400" dirty="0"/>
              <a:t> interaction</a:t>
            </a:r>
          </a:p>
          <a:p>
            <a:endParaRPr lang="en-US" sz="2400" dirty="0"/>
          </a:p>
        </p:txBody>
      </p:sp>
    </p:spTree>
    <p:extLst>
      <p:ext uri="{BB962C8B-B14F-4D97-AF65-F5344CB8AC3E}">
        <p14:creationId xmlns:p14="http://schemas.microsoft.com/office/powerpoint/2010/main" val="529658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4B43B-F5B6-0E5E-77DC-D09AE4EBC650}"/>
              </a:ext>
            </a:extLst>
          </p:cNvPr>
          <p:cNvSpPr>
            <a:spLocks noGrp="1"/>
          </p:cNvSpPr>
          <p:nvPr>
            <p:ph type="title"/>
          </p:nvPr>
        </p:nvSpPr>
        <p:spPr>
          <a:xfrm>
            <a:off x="1691680" y="116632"/>
            <a:ext cx="4032448" cy="764704"/>
          </a:xfrm>
        </p:spPr>
        <p:txBody>
          <a:bodyPr/>
          <a:lstStyle/>
          <a:p>
            <a:r>
              <a:rPr lang="en-US" sz="2800" dirty="0"/>
              <a:t>Honeypot deployment example</a:t>
            </a:r>
          </a:p>
        </p:txBody>
      </p:sp>
      <p:pic>
        <p:nvPicPr>
          <p:cNvPr id="5" name="Content Placeholder 4">
            <a:extLst>
              <a:ext uri="{FF2B5EF4-FFF2-40B4-BE49-F238E27FC236}">
                <a16:creationId xmlns:a16="http://schemas.microsoft.com/office/drawing/2014/main" id="{49246804-5B08-E0F7-6504-EC3D197661BF}"/>
              </a:ext>
            </a:extLst>
          </p:cNvPr>
          <p:cNvPicPr>
            <a:picLocks noGrp="1" noChangeAspect="1"/>
          </p:cNvPicPr>
          <p:nvPr>
            <p:ph sz="quarter" idx="11"/>
          </p:nvPr>
        </p:nvPicPr>
        <p:blipFill>
          <a:blip r:embed="rId2" cstate="print">
            <a:extLst>
              <a:ext uri="{28A0092B-C50C-407E-A947-70E740481C1C}">
                <a14:useLocalDpi xmlns:a14="http://schemas.microsoft.com/office/drawing/2010/main" val="0"/>
              </a:ext>
            </a:extLst>
          </a:blip>
          <a:stretch>
            <a:fillRect/>
          </a:stretch>
        </p:blipFill>
        <p:spPr>
          <a:xfrm>
            <a:off x="2915816" y="91169"/>
            <a:ext cx="6093917" cy="6632635"/>
          </a:xfrm>
        </p:spPr>
      </p:pic>
    </p:spTree>
    <p:extLst>
      <p:ext uri="{BB962C8B-B14F-4D97-AF65-F5344CB8AC3E}">
        <p14:creationId xmlns:p14="http://schemas.microsoft.com/office/powerpoint/2010/main" val="2030711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Deception Technology</a:t>
            </a:r>
          </a:p>
        </p:txBody>
      </p:sp>
      <p:sp>
        <p:nvSpPr>
          <p:cNvPr id="3" name="Content Placeholder 2"/>
          <p:cNvSpPr>
            <a:spLocks noGrp="1"/>
          </p:cNvSpPr>
          <p:nvPr>
            <p:ph sz="quarter" idx="11"/>
          </p:nvPr>
        </p:nvSpPr>
        <p:spPr/>
        <p:txBody>
          <a:bodyPr/>
          <a:lstStyle/>
          <a:p>
            <a:r>
              <a:rPr lang="en-US" sz="2600" dirty="0"/>
              <a:t>Honeypots are limited in scope</a:t>
            </a:r>
          </a:p>
          <a:p>
            <a:pPr lvl="1"/>
            <a:r>
              <a:rPr lang="en-US" sz="2000" dirty="0"/>
              <a:t>It uses static decoys which adversary starts to understand</a:t>
            </a:r>
          </a:p>
          <a:p>
            <a:pPr lvl="1"/>
            <a:r>
              <a:rPr lang="en-US" sz="2000" dirty="0"/>
              <a:t>requires expensive resources to implement and maintain</a:t>
            </a:r>
          </a:p>
          <a:p>
            <a:r>
              <a:rPr lang="en-US" sz="2600" dirty="0"/>
              <a:t>Deception technology is a proactive cyber defense system through the use of decoys to lure, detect and defend, without the issues of scalability, skills and available resources.</a:t>
            </a:r>
          </a:p>
          <a:p>
            <a:pPr lvl="1"/>
            <a:r>
              <a:rPr lang="en-US" sz="2000" dirty="0"/>
              <a:t>Uses automated dynamic traps generated by AI</a:t>
            </a:r>
          </a:p>
          <a:p>
            <a:pPr lvl="1"/>
            <a:r>
              <a:rPr lang="en-US" sz="2000" dirty="0"/>
              <a:t>Immediate alerts with minimum false positive rates</a:t>
            </a:r>
          </a:p>
          <a:p>
            <a:pPr lvl="1"/>
            <a:r>
              <a:rPr lang="en-US" sz="2000" dirty="0"/>
              <a:t>Deploy traps according to the behavioral patterns of the hacker</a:t>
            </a:r>
          </a:p>
          <a:p>
            <a:pPr lvl="1"/>
            <a:r>
              <a:rPr lang="en-US" sz="2000" dirty="0"/>
              <a:t>Provide detailed reports for post cyber defense investigation</a:t>
            </a:r>
          </a:p>
          <a:p>
            <a:endParaRPr lang="en-US" sz="2400" dirty="0"/>
          </a:p>
        </p:txBody>
      </p:sp>
    </p:spTree>
    <p:extLst>
      <p:ext uri="{BB962C8B-B14F-4D97-AF65-F5344CB8AC3E}">
        <p14:creationId xmlns:p14="http://schemas.microsoft.com/office/powerpoint/2010/main" val="3737890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69DD-0B77-C71E-D219-F6F0D81005DA}"/>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D7AE67E-12AA-22F5-EA77-D8D42D52A3C0}"/>
              </a:ext>
            </a:extLst>
          </p:cNvPr>
          <p:cNvSpPr>
            <a:spLocks noGrp="1"/>
          </p:cNvSpPr>
          <p:nvPr>
            <p:ph sz="quarter" idx="11"/>
          </p:nvPr>
        </p:nvSpPr>
        <p:spPr/>
        <p:txBody>
          <a:bodyPr/>
          <a:lstStyle/>
          <a:p>
            <a:r>
              <a:rPr lang="en-US" sz="2800" dirty="0"/>
              <a:t>Stallings SPP chap 8</a:t>
            </a:r>
          </a:p>
        </p:txBody>
      </p:sp>
    </p:spTree>
    <p:extLst>
      <p:ext uri="{BB962C8B-B14F-4D97-AF65-F5344CB8AC3E}">
        <p14:creationId xmlns:p14="http://schemas.microsoft.com/office/powerpoint/2010/main" val="84637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Specification-based Detection</a:t>
            </a:r>
          </a:p>
        </p:txBody>
      </p:sp>
      <p:sp>
        <p:nvSpPr>
          <p:cNvPr id="3" name="Content Placeholder 2"/>
          <p:cNvSpPr>
            <a:spLocks noGrp="1"/>
          </p:cNvSpPr>
          <p:nvPr>
            <p:ph sz="quarter" idx="11"/>
          </p:nvPr>
        </p:nvSpPr>
        <p:spPr/>
        <p:txBody>
          <a:bodyPr/>
          <a:lstStyle/>
          <a:p>
            <a:r>
              <a:rPr lang="en-US" sz="2200" dirty="0"/>
              <a:t>The desirable behavior of a system is described through its functionalities and through the security policy. Any sequence of operations executed outside of the system’s specifications is considered to be a security violation </a:t>
            </a:r>
          </a:p>
          <a:p>
            <a:r>
              <a:rPr lang="en-US" sz="2200" dirty="0"/>
              <a:t>Use of manually specified program behavioral specifications is the basis to detect attacks</a:t>
            </a:r>
          </a:p>
          <a:p>
            <a:r>
              <a:rPr lang="en-US" sz="2200" dirty="0"/>
              <a:t>It has been proposed as a promising alternative that combine the strengths of misuse detection (accurate detection of known attacks) and anomaly detection (ability to detect novel attacks)</a:t>
            </a:r>
          </a:p>
          <a:p>
            <a:r>
              <a:rPr lang="en-US" sz="2200" dirty="0"/>
              <a:t>The development of the specifications is an expensive and tedious process and specifications are often very difficult to evaluate and verify.</a:t>
            </a:r>
          </a:p>
          <a:p>
            <a:endParaRPr lang="en-US" sz="2200" dirty="0"/>
          </a:p>
        </p:txBody>
      </p:sp>
    </p:spTree>
    <p:extLst>
      <p:ext uri="{BB962C8B-B14F-4D97-AF65-F5344CB8AC3E}">
        <p14:creationId xmlns:p14="http://schemas.microsoft.com/office/powerpoint/2010/main" val="25957553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4344</TotalTime>
  <Words>1768</Words>
  <Application>Microsoft Office PowerPoint</Application>
  <PresentationFormat>On-screen Show (4:3)</PresentationFormat>
  <Paragraphs>181</Paragraphs>
  <Slides>30</Slides>
  <Notes>0</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맑은 고딕</vt:lpstr>
      <vt:lpstr>Arial</vt:lpstr>
      <vt:lpstr>Calibri</vt:lpstr>
      <vt:lpstr>Consolas</vt:lpstr>
      <vt:lpstr>Courier New</vt:lpstr>
      <vt:lpstr>Wingdings</vt:lpstr>
      <vt:lpstr>Office Theme</vt:lpstr>
      <vt:lpstr>Custom Design</vt:lpstr>
      <vt:lpstr>PowerPoint Presentation</vt:lpstr>
      <vt:lpstr>Intrusion</vt:lpstr>
      <vt:lpstr>Types of Intruders</vt:lpstr>
      <vt:lpstr>Examples of Intrusion Attacks</vt:lpstr>
      <vt:lpstr>Intruder’s workflow</vt:lpstr>
      <vt:lpstr>Intrusion Detection System (IDS)</vt:lpstr>
      <vt:lpstr>IDS Components</vt:lpstr>
      <vt:lpstr>IDS Benefits</vt:lpstr>
      <vt:lpstr>Effectiveness of an IDS</vt:lpstr>
      <vt:lpstr>IDS Analysis Approaches</vt:lpstr>
      <vt:lpstr>Signature Based Detection</vt:lpstr>
      <vt:lpstr>Signature examples</vt:lpstr>
      <vt:lpstr>Anomaly Based Detection</vt:lpstr>
      <vt:lpstr>Example metrics to observe</vt:lpstr>
      <vt:lpstr>Rule-based heuristic identification</vt:lpstr>
      <vt:lpstr>Rule-based heuristic identification</vt:lpstr>
      <vt:lpstr>Where to install an IDS?</vt:lpstr>
      <vt:lpstr>Host/Applications based IDS</vt:lpstr>
      <vt:lpstr>Host based IDS: Drawbacks</vt:lpstr>
      <vt:lpstr>Host based IDS: Strengths</vt:lpstr>
      <vt:lpstr>Network based IDS</vt:lpstr>
      <vt:lpstr>NIDS Sensor Placement</vt:lpstr>
      <vt:lpstr>Network based IDS: Strengths</vt:lpstr>
      <vt:lpstr>Honeypots</vt:lpstr>
      <vt:lpstr>Honeypots</vt:lpstr>
      <vt:lpstr>Honeypot Interaction Level</vt:lpstr>
      <vt:lpstr>Honeypot deployment example</vt:lpstr>
      <vt:lpstr>Deception Technology</vt:lpstr>
      <vt:lpstr>References</vt:lpstr>
      <vt:lpstr>Specification-based Detection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muzahir saleem</cp:lastModifiedBy>
  <cp:revision>272</cp:revision>
  <dcterms:created xsi:type="dcterms:W3CDTF">2014-04-01T16:35:38Z</dcterms:created>
  <dcterms:modified xsi:type="dcterms:W3CDTF">2025-11-25T06:41:57Z</dcterms:modified>
</cp:coreProperties>
</file>