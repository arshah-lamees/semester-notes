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1"/>
  </p:notesMasterIdLst>
  <p:sldIdLst>
    <p:sldId id="404" r:id="rId3"/>
    <p:sldId id="405" r:id="rId4"/>
    <p:sldId id="406" r:id="rId5"/>
    <p:sldId id="407" r:id="rId6"/>
    <p:sldId id="433" r:id="rId7"/>
    <p:sldId id="410" r:id="rId8"/>
    <p:sldId id="411" r:id="rId9"/>
    <p:sldId id="412" r:id="rId10"/>
    <p:sldId id="434" r:id="rId11"/>
    <p:sldId id="414" r:id="rId12"/>
    <p:sldId id="431" r:id="rId13"/>
    <p:sldId id="413" r:id="rId14"/>
    <p:sldId id="416" r:id="rId15"/>
    <p:sldId id="417" r:id="rId16"/>
    <p:sldId id="432" r:id="rId17"/>
    <p:sldId id="419" r:id="rId18"/>
    <p:sldId id="430" r:id="rId19"/>
    <p:sldId id="418" r:id="rId20"/>
    <p:sldId id="429" r:id="rId21"/>
    <p:sldId id="420" r:id="rId22"/>
    <p:sldId id="421" r:id="rId23"/>
    <p:sldId id="422" r:id="rId24"/>
    <p:sldId id="408" r:id="rId25"/>
    <p:sldId id="409" r:id="rId26"/>
    <p:sldId id="435" r:id="rId27"/>
    <p:sldId id="436" r:id="rId28"/>
    <p:sldId id="437" r:id="rId29"/>
    <p:sldId id="438" r:id="rId3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3792" autoAdjust="0"/>
  </p:normalViewPr>
  <p:slideViewPr>
    <p:cSldViewPr>
      <p:cViewPr varScale="1">
        <p:scale>
          <a:sx n="108" d="100"/>
          <a:sy n="108" d="100"/>
        </p:scale>
        <p:origin x="162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1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FC1A7-F877-44DD-B2DD-60553F4FFAE6}" type="datetimeFigureOut">
              <a:rPr lang="en-AU" smtClean="0"/>
              <a:t>11/11/2025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33C15-5131-4101-B031-6627D1EB55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66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512" y="16778"/>
            <a:ext cx="8964488" cy="1069514"/>
          </a:xfrm>
          <a:prstGeom prst="rect">
            <a:avLst/>
          </a:prstGeom>
        </p:spPr>
        <p:txBody>
          <a:bodyPr anchor="ctr"/>
          <a:lstStyle>
            <a:lvl1pPr latinLnBrk="0"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ko-KR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EA4C87-1B6D-2CEA-39CA-59614D4530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8229600" cy="4676700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91680" y="0"/>
            <a:ext cx="7452320" cy="1069514"/>
          </a:xfrm>
          <a:prstGeom prst="rect">
            <a:avLst/>
          </a:prstGeom>
        </p:spPr>
        <p:txBody>
          <a:bodyPr anchor="ctr"/>
          <a:lstStyle>
            <a:lvl1pPr latinLnBrk="0"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ko-KR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ED14E-43B1-FAD8-93BB-3A0393784F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34072" y="1268760"/>
            <a:ext cx="6563072" cy="4923175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" y="27709"/>
            <a:ext cx="9052560" cy="1039091"/>
          </a:xfrm>
        </p:spPr>
        <p:txBody>
          <a:bodyPr>
            <a:normAutofit/>
          </a:bodyPr>
          <a:lstStyle>
            <a:lvl1pPr algn="ctr">
              <a:defRPr sz="3600">
                <a:latin typeface="Arial" pitchFamily="34" charset="0"/>
                <a:ea typeface="Verdana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64162"/>
              </a:buClr>
              <a:buSzPct val="100000"/>
              <a:defRPr/>
            </a:lvl1pPr>
            <a:lvl2pPr>
              <a:buClr>
                <a:srgbClr val="364162"/>
              </a:buClr>
              <a:defRPr/>
            </a:lvl2pPr>
            <a:lvl3pPr marL="1143000" indent="-228600">
              <a:buClr>
                <a:srgbClr val="364162"/>
              </a:buClr>
              <a:buFont typeface="Wingdings" pitchFamily="2" charset="2"/>
              <a:buChar char="§"/>
              <a:defRPr/>
            </a:lvl3pPr>
            <a:lvl4pPr marL="1600200" indent="-228600">
              <a:buClr>
                <a:srgbClr val="364162"/>
              </a:buClr>
              <a:buFont typeface="Courier New" pitchFamily="49" charset="0"/>
              <a:buChar char="o"/>
              <a:defRPr/>
            </a:lvl4pPr>
            <a:lvl5pPr>
              <a:buClr>
                <a:srgbClr val="364162"/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9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 Layout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9169" y="357626"/>
            <a:ext cx="8032638" cy="100401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white">
          <a:xfrm>
            <a:off x="-7937" y="6248400"/>
            <a:ext cx="9151937" cy="617539"/>
          </a:xfrm>
          <a:prstGeom prst="rect">
            <a:avLst/>
          </a:prstGeom>
          <a:solidFill>
            <a:srgbClr val="364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91331" y="5181600"/>
            <a:ext cx="8153400" cy="83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pyright" descr="Pearson: Copyright 2015, 2012, 2009"/>
          <p:cNvSpPr txBox="1">
            <a:spLocks noChangeArrowheads="1"/>
          </p:cNvSpPr>
          <p:nvPr userDrawn="1"/>
        </p:nvSpPr>
        <p:spPr bwMode="auto">
          <a:xfrm>
            <a:off x="1478450" y="6270381"/>
            <a:ext cx="7589350" cy="582256"/>
          </a:xfrm>
          <a:prstGeom prst="rect">
            <a:avLst/>
          </a:prstGeom>
          <a:solidFill>
            <a:srgbClr val="36416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sz="1200" dirty="0">
                <a:solidFill>
                  <a:prstClr val="white"/>
                </a:solidFill>
                <a:ea typeface="ＭＳ Ｐゴシック" charset="-128"/>
                <a:cs typeface="Arial" charset="0"/>
              </a:rPr>
              <a:t>Copyright </a:t>
            </a:r>
            <a:r>
              <a:rPr lang="en-US" sz="1200" dirty="0">
                <a:solidFill>
                  <a:prstClr val="white"/>
                </a:solidFill>
                <a:ea typeface="+mn-ea"/>
                <a:cs typeface="Arial" charset="0"/>
              </a:rPr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8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45959"/>
            <a:ext cx="1316182" cy="435841"/>
          </a:xfrm>
          <a:prstGeom prst="rect">
            <a:avLst/>
          </a:prstGeom>
          <a:solidFill>
            <a:srgbClr val="36416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682021"/>
      </p:ext>
    </p:extLst>
  </p:cSld>
  <p:clrMapOvr>
    <a:masterClrMapping/>
  </p:clrMapOvr>
  <p:transition spd="slow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72514571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4" r:id="rId5"/>
    <p:sldLayoutId id="2147483675" r:id="rId6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4067944" y="4221088"/>
            <a:ext cx="478802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Firewalls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A019416-A58F-DC7C-5590-0A3C5E236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1682"/>
            <a:ext cx="1428571" cy="1428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87E9B7-196F-5413-1EE2-727331E78929}"/>
              </a:ext>
            </a:extLst>
          </p:cNvPr>
          <p:cNvSpPr txBox="1"/>
          <p:nvPr/>
        </p:nvSpPr>
        <p:spPr>
          <a:xfrm>
            <a:off x="2045070" y="1916832"/>
            <a:ext cx="5053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sz="2800" b="1" dirty="0"/>
              <a:t>CS3002 Information Security</a:t>
            </a:r>
            <a:endParaRPr lang="en-AU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442DC-6D72-28EB-A755-796100BEAFBF}"/>
              </a:ext>
            </a:extLst>
          </p:cNvPr>
          <p:cNvSpPr txBox="1"/>
          <p:nvPr/>
        </p:nvSpPr>
        <p:spPr>
          <a:xfrm>
            <a:off x="6156176" y="111682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latinLnBrk="0"/>
            <a:r>
              <a:rPr lang="en-US" b="1" dirty="0"/>
              <a:t>Dr. Ammar Haider</a:t>
            </a:r>
          </a:p>
          <a:p>
            <a:pPr algn="r" latinLnBrk="0"/>
            <a:r>
              <a:rPr lang="en-US" dirty="0"/>
              <a:t>Assistant Professor</a:t>
            </a:r>
          </a:p>
          <a:p>
            <a:pPr algn="r" latinLnBrk="0"/>
            <a:r>
              <a:rPr lang="en-US" dirty="0"/>
              <a:t>School of Computing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470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000" dirty="0"/>
              <a:t>Internet connectivity is essential for organizations</a:t>
            </a:r>
          </a:p>
          <a:p>
            <a:pPr lvl="1"/>
            <a:r>
              <a:rPr lang="en-US" sz="1800" dirty="0"/>
              <a:t>However it creates a threat</a:t>
            </a:r>
          </a:p>
          <a:p>
            <a:r>
              <a:rPr lang="en-US" sz="2000" dirty="0"/>
              <a:t>Firewalls are effective means of protecting LANs</a:t>
            </a:r>
          </a:p>
          <a:p>
            <a:pPr lvl="1"/>
            <a:r>
              <a:rPr lang="en-US" sz="1800" dirty="0"/>
              <a:t>Protection at single point, rather on every computer within LAN</a:t>
            </a:r>
          </a:p>
          <a:p>
            <a:r>
              <a:rPr lang="en-US" sz="2000" dirty="0"/>
              <a:t>Inserted between the premises network and the Internet to establish a controlled link</a:t>
            </a:r>
          </a:p>
          <a:p>
            <a:r>
              <a:rPr lang="en-US" sz="2000" dirty="0"/>
              <a:t>Used as a </a:t>
            </a:r>
            <a:r>
              <a:rPr lang="en-US" sz="2000" dirty="0">
                <a:solidFill>
                  <a:srgbClr val="C00000"/>
                </a:solidFill>
              </a:rPr>
              <a:t>perimeter defense</a:t>
            </a:r>
          </a:p>
          <a:p>
            <a:pPr lvl="1"/>
            <a:r>
              <a:rPr lang="en-US" sz="1800" dirty="0"/>
              <a:t>Single choke point to impose security and auditing</a:t>
            </a:r>
          </a:p>
          <a:p>
            <a:pPr lvl="1"/>
            <a:r>
              <a:rPr lang="en-US" sz="1800" dirty="0"/>
              <a:t>Insulates the internal systems from external networks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869160"/>
            <a:ext cx="6048672" cy="155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3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 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All traffic inside to outside and opposite, must pass through the firewall</a:t>
            </a:r>
          </a:p>
          <a:p>
            <a:r>
              <a:rPr lang="en-US" sz="2800" dirty="0"/>
              <a:t>Only authorized traffic as defined by the local security policy will be allowed to pass</a:t>
            </a:r>
          </a:p>
          <a:p>
            <a:r>
              <a:rPr lang="en-US" sz="2800" dirty="0"/>
              <a:t>The firewall itself is immune to penetration</a:t>
            </a:r>
          </a:p>
        </p:txBody>
      </p:sp>
    </p:spTree>
    <p:extLst>
      <p:ext uri="{BB962C8B-B14F-4D97-AF65-F5344CB8AC3E}">
        <p14:creationId xmlns:p14="http://schemas.microsoft.com/office/powerpoint/2010/main" val="2895289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 Security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Service control</a:t>
            </a:r>
          </a:p>
          <a:p>
            <a:pPr lvl="1"/>
            <a:r>
              <a:rPr lang="en-US" sz="2400" dirty="0"/>
              <a:t>e.g. filter based on IP address, port number</a:t>
            </a:r>
          </a:p>
          <a:p>
            <a:r>
              <a:rPr lang="en-US" sz="2800" dirty="0"/>
              <a:t>Direction control</a:t>
            </a:r>
          </a:p>
          <a:p>
            <a:pPr lvl="1"/>
            <a:r>
              <a:rPr lang="en-US" sz="2400" dirty="0"/>
              <a:t>e.g. to internal LAN, to external Internet</a:t>
            </a:r>
          </a:p>
          <a:p>
            <a:r>
              <a:rPr lang="en-US" sz="2800" dirty="0"/>
              <a:t>User control</a:t>
            </a:r>
          </a:p>
          <a:p>
            <a:pPr lvl="1"/>
            <a:r>
              <a:rPr lang="en-US" sz="2400" dirty="0"/>
              <a:t>e.g. student vs faculty</a:t>
            </a:r>
          </a:p>
          <a:p>
            <a:r>
              <a:rPr lang="en-US" sz="2800" dirty="0" err="1"/>
              <a:t>Behaviour</a:t>
            </a:r>
            <a:r>
              <a:rPr lang="en-US" sz="2800" dirty="0"/>
              <a:t> control</a:t>
            </a:r>
          </a:p>
          <a:p>
            <a:pPr lvl="1"/>
            <a:r>
              <a:rPr lang="en-US" sz="2400" dirty="0"/>
              <a:t>e.g. filter too frequent requests, email with spam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8898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Firewall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58" y="2270493"/>
            <a:ext cx="6845651" cy="4173486"/>
          </a:xfrm>
          <a:prstGeom prst="rect">
            <a:avLst/>
          </a:prstGeom>
        </p:spPr>
      </p:pic>
      <p:sp>
        <p:nvSpPr>
          <p:cNvPr id="5" name="Rectangular Callout 4"/>
          <p:cNvSpPr/>
          <p:nvPr/>
        </p:nvSpPr>
        <p:spPr>
          <a:xfrm>
            <a:off x="6320506" y="1249254"/>
            <a:ext cx="1638584" cy="882869"/>
          </a:xfrm>
          <a:prstGeom prst="wedgeRectCallout">
            <a:avLst>
              <a:gd name="adj1" fmla="val -23719"/>
              <a:gd name="adj2" fmla="val 8035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/>
            <a:r>
              <a:rPr lang="en-US" sz="1600" dirty="0"/>
              <a:t>Accessible to external users</a:t>
            </a:r>
          </a:p>
        </p:txBody>
      </p:sp>
      <p:sp>
        <p:nvSpPr>
          <p:cNvPr id="6" name="Line Callout 1 5"/>
          <p:cNvSpPr/>
          <p:nvPr/>
        </p:nvSpPr>
        <p:spPr>
          <a:xfrm>
            <a:off x="7346730" y="4386838"/>
            <a:ext cx="1749972" cy="835573"/>
          </a:xfrm>
          <a:prstGeom prst="borderCallout1">
            <a:avLst>
              <a:gd name="adj1" fmla="val 25157"/>
              <a:gd name="adj2" fmla="val -328"/>
              <a:gd name="adj3" fmla="val -2594"/>
              <a:gd name="adj4" fmla="val -2842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/>
            <a:r>
              <a:rPr lang="en-US" sz="1600" dirty="0"/>
              <a:t>Only accessible within company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7353561" y="5415408"/>
            <a:ext cx="1749972" cy="835573"/>
          </a:xfrm>
          <a:prstGeom prst="borderCallout1">
            <a:avLst>
              <a:gd name="adj1" fmla="val 25157"/>
              <a:gd name="adj2" fmla="val -328"/>
              <a:gd name="adj3" fmla="val -2594"/>
              <a:gd name="adj4" fmla="val -2842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/>
            <a:r>
              <a:rPr lang="en-US" sz="1600" dirty="0"/>
              <a:t>Accessible to external users</a:t>
            </a:r>
          </a:p>
        </p:txBody>
      </p:sp>
    </p:spTree>
    <p:extLst>
      <p:ext uri="{BB962C8B-B14F-4D97-AF65-F5344CB8AC3E}">
        <p14:creationId xmlns:p14="http://schemas.microsoft.com/office/powerpoint/2010/main" val="156184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C00000"/>
                </a:solidFill>
              </a:rPr>
              <a:t>Packet Filtering:</a:t>
            </a:r>
            <a:r>
              <a:rPr lang="en-US" sz="2800" dirty="0">
                <a:solidFill>
                  <a:srgbClr val="5E7F9A"/>
                </a:solidFill>
              </a:rPr>
              <a:t> </a:t>
            </a:r>
            <a:r>
              <a:rPr lang="en-US" sz="2800" dirty="0"/>
              <a:t>accepts/rejects packets based on L3 &amp; L4 protocol headers</a:t>
            </a:r>
          </a:p>
          <a:p>
            <a:r>
              <a:rPr lang="en-US" sz="2800" dirty="0">
                <a:solidFill>
                  <a:srgbClr val="C00000"/>
                </a:solidFill>
              </a:rPr>
              <a:t>Stateful Packet Inspection:</a:t>
            </a:r>
            <a:r>
              <a:rPr lang="en-US" sz="2800" dirty="0">
                <a:solidFill>
                  <a:srgbClr val="5E7F9A"/>
                </a:solidFill>
              </a:rPr>
              <a:t> </a:t>
            </a:r>
            <a:r>
              <a:rPr lang="en-US" sz="2800" dirty="0"/>
              <a:t>like packet filtering firewall, but considers state information (what happened previously)</a:t>
            </a:r>
          </a:p>
          <a:p>
            <a:r>
              <a:rPr lang="en-US" sz="2800" dirty="0">
                <a:solidFill>
                  <a:srgbClr val="C00000"/>
                </a:solidFill>
              </a:rPr>
              <a:t>Circuit-level Proxy:</a:t>
            </a:r>
            <a:r>
              <a:rPr lang="en-US" sz="2800" dirty="0">
                <a:solidFill>
                  <a:srgbClr val="5E7F9A"/>
                </a:solidFill>
              </a:rPr>
              <a:t> </a:t>
            </a:r>
            <a:r>
              <a:rPr lang="en-US" sz="2800" dirty="0"/>
              <a:t>relay for transport layer connections</a:t>
            </a:r>
          </a:p>
          <a:p>
            <a:r>
              <a:rPr lang="en-US" sz="2800" dirty="0">
                <a:solidFill>
                  <a:srgbClr val="C00000"/>
                </a:solidFill>
              </a:rPr>
              <a:t>Application Proxy:</a:t>
            </a:r>
            <a:r>
              <a:rPr lang="en-US" sz="2800" dirty="0">
                <a:solidFill>
                  <a:srgbClr val="5E7F9A"/>
                </a:solidFill>
              </a:rPr>
              <a:t> </a:t>
            </a:r>
            <a:r>
              <a:rPr lang="en-US" sz="2800" dirty="0"/>
              <a:t>relay for application traffic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226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Filtering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Security policy implemented by set of rules</a:t>
            </a:r>
          </a:p>
          <a:p>
            <a:pPr lvl="1"/>
            <a:r>
              <a:rPr lang="en-US" sz="2400" dirty="0"/>
              <a:t>Rules define which packets can pass through the firewall</a:t>
            </a:r>
          </a:p>
          <a:p>
            <a:r>
              <a:rPr lang="en-US" sz="2800" dirty="0"/>
              <a:t>Firewall inspects each arriving packet (in all directions), compares against rule set, and takes action based on matching rule</a:t>
            </a:r>
          </a:p>
          <a:p>
            <a:r>
              <a:rPr lang="en-US" sz="2800" dirty="0"/>
              <a:t>Default policies: action for packets for which no rule matches</a:t>
            </a:r>
          </a:p>
          <a:p>
            <a:pPr lvl="1"/>
            <a:r>
              <a:rPr lang="en-US" sz="2400" dirty="0"/>
              <a:t>Accept (allow, forward)</a:t>
            </a:r>
          </a:p>
          <a:p>
            <a:pPr lvl="1"/>
            <a:r>
              <a:rPr lang="en-US" sz="2400" dirty="0"/>
              <a:t>Drop (reject, discard) - </a:t>
            </a:r>
            <a:r>
              <a:rPr lang="en-US" sz="2400" dirty="0">
                <a:solidFill>
                  <a:srgbClr val="C00000"/>
                </a:solidFill>
              </a:rPr>
              <a:t>recommended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8656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Filtering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Packet Information (parameters to consider)</a:t>
            </a:r>
          </a:p>
          <a:p>
            <a:r>
              <a:rPr lang="en-US" sz="2400" dirty="0"/>
              <a:t>IP address: identifies host or network</a:t>
            </a:r>
          </a:p>
          <a:p>
            <a:r>
              <a:rPr lang="en-US" sz="2400" dirty="0"/>
              <a:t>Port number: identifies applications, e.g. web (80), email (25)</a:t>
            </a:r>
          </a:p>
          <a:p>
            <a:r>
              <a:rPr lang="en-US" sz="2400" dirty="0"/>
              <a:t>Protocol number: identifies transport protocol, e.g. TCP or UDP</a:t>
            </a:r>
          </a:p>
          <a:p>
            <a:r>
              <a:rPr lang="en-US" sz="2400" dirty="0"/>
              <a:t>Direction (or firewall interface): which way packet is coming in, which way going out</a:t>
            </a:r>
          </a:p>
          <a:p>
            <a:r>
              <a:rPr lang="en-US" sz="2400" dirty="0"/>
              <a:t>Other transport, network, data link packet header fields (e.g. ICMP data types)</a:t>
            </a:r>
          </a:p>
        </p:txBody>
      </p:sp>
    </p:spTree>
    <p:extLst>
      <p:ext uri="{BB962C8B-B14F-4D97-AF65-F5344CB8AC3E}">
        <p14:creationId xmlns:p14="http://schemas.microsoft.com/office/powerpoint/2010/main" val="2700068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D93D7-A98A-D0D1-DC99-84D68AF2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3F57-5EDC-224C-646D-B087A40E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Filtering Rules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B1688-C091-F64A-A1F9-B7CD2B8DE90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 latinLnBrk="0">
              <a:buNone/>
            </a:pPr>
            <a:r>
              <a:rPr lang="en-US" sz="2800" dirty="0">
                <a:solidFill>
                  <a:srgbClr val="C00000"/>
                </a:solidFill>
              </a:rPr>
              <a:t>Rules</a:t>
            </a:r>
          </a:p>
          <a:p>
            <a:pPr marL="342900" indent="-342900" latinLnBrk="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Conditions defined using packet information, direction</a:t>
            </a:r>
          </a:p>
          <a:p>
            <a:pPr marL="342900" indent="-342900" latinLnBrk="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Wildcards (*) support to match multiple values</a:t>
            </a:r>
          </a:p>
          <a:p>
            <a:pPr marL="342900" indent="-342900" latinLnBrk="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Actions typically accept or drop</a:t>
            </a:r>
          </a:p>
          <a:p>
            <a:pPr marL="342900" indent="-342900" latinLnBrk="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/>
              <a:t>List of rules processed in order</a:t>
            </a:r>
          </a:p>
          <a:p>
            <a:endParaRPr lang="en-AU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BB89CD-AFCC-A603-E4D6-0F4126725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60469"/>
            <a:ext cx="4572000" cy="345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4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Filtering: Example Rules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309039" y="4941168"/>
            <a:ext cx="6705433" cy="1728192"/>
            <a:chOff x="1637419" y="4869160"/>
            <a:chExt cx="6705433" cy="172819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7419" y="4869160"/>
              <a:ext cx="6705433" cy="1728192"/>
            </a:xfrm>
            <a:prstGeom prst="rect">
              <a:avLst/>
            </a:prstGeom>
          </p:spPr>
        </p:pic>
        <p:sp>
          <p:nvSpPr>
            <p:cNvPr id="7" name="Oval 6"/>
            <p:cNvSpPr/>
            <p:nvPr/>
          </p:nvSpPr>
          <p:spPr>
            <a:xfrm>
              <a:off x="2198173" y="5803871"/>
              <a:ext cx="72008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287432" y="5703534"/>
              <a:ext cx="97654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SMTP server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198173" y="6084696"/>
              <a:ext cx="72008" cy="72008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87432" y="5989895"/>
              <a:ext cx="89960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DNS server</a:t>
              </a:r>
            </a:p>
            <a:p>
              <a:r>
                <a:rPr lang="en-US" sz="1100" dirty="0"/>
                <a:t>192.168.5.7</a:t>
              </a: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47C789-B46E-0EA4-4716-F8083587E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068260"/>
              </p:ext>
            </p:extLst>
          </p:nvPr>
        </p:nvGraphicFramePr>
        <p:xfrm>
          <a:off x="421196" y="1557351"/>
          <a:ext cx="8301608" cy="3175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4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 err="1"/>
                        <a:t>Src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Addr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 err="1"/>
                        <a:t>Dest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Addr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Protocol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 err="1"/>
                        <a:t>Src</a:t>
                      </a:r>
                      <a:r>
                        <a:rPr lang="en-US" sz="1600" dirty="0"/>
                        <a:t>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 err="1"/>
                        <a:t>Dest</a:t>
                      </a:r>
                      <a:r>
                        <a:rPr lang="en-US" sz="1600" dirty="0"/>
                        <a:t>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SMTP-server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SMTP-server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192.168.5.7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192.168.5.7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Either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DROP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24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Filtering: Example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06790" y="5013176"/>
            <a:ext cx="8413682" cy="1580356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Rules 1-2: Allow incoming emails (port 25 = SMTP) and associated TCP ACKs</a:t>
            </a:r>
          </a:p>
          <a:p>
            <a:pPr marL="0" indent="0">
              <a:buNone/>
            </a:pPr>
            <a:r>
              <a:rPr lang="en-US" sz="1800" dirty="0"/>
              <a:t>Rules 3-4: Allow outgoing emails and associated TCP ACKs</a:t>
            </a:r>
          </a:p>
          <a:p>
            <a:pPr marL="0" indent="0">
              <a:buNone/>
            </a:pPr>
            <a:r>
              <a:rPr lang="en-US" sz="1800" dirty="0"/>
              <a:t>Rules 5-6: Allow DNS requests (inbound) and responses (outbound)</a:t>
            </a:r>
          </a:p>
          <a:p>
            <a:pPr marL="0" indent="0">
              <a:buNone/>
            </a:pPr>
            <a:r>
              <a:rPr lang="en-US" sz="1800" dirty="0"/>
              <a:t>Rule 7: Default rule when no other rule matches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2F710-6358-4E4B-53F0-4297BC11EAC5}"/>
              </a:ext>
            </a:extLst>
          </p:cNvPr>
          <p:cNvSpPr txBox="1"/>
          <p:nvPr/>
        </p:nvSpPr>
        <p:spPr>
          <a:xfrm>
            <a:off x="1033262" y="6424255"/>
            <a:ext cx="718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Reminder: port numbers 1024 and greater are used by client applications.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DD7146-8897-6EC0-C618-1BB3AF9F1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906919"/>
              </p:ext>
            </p:extLst>
          </p:nvPr>
        </p:nvGraphicFramePr>
        <p:xfrm>
          <a:off x="421196" y="1557351"/>
          <a:ext cx="8301608" cy="3175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2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40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200" dirty="0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 err="1"/>
                        <a:t>Src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Addr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 err="1"/>
                        <a:t>Dest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Addr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Protocol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 err="1"/>
                        <a:t>Src</a:t>
                      </a:r>
                      <a:r>
                        <a:rPr lang="en-US" sz="1600" dirty="0"/>
                        <a:t>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 err="1"/>
                        <a:t>Dest</a:t>
                      </a:r>
                      <a:r>
                        <a:rPr lang="en-US" sz="1600" dirty="0"/>
                        <a:t>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SMTP-server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SMTP-server 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192.168.5.7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192.168.5.7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Either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DROP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74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Filtering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Advantages</a:t>
            </a:r>
          </a:p>
          <a:p>
            <a:r>
              <a:rPr lang="en-US" sz="2400" dirty="0"/>
              <a:t>Simplicity and speed</a:t>
            </a:r>
          </a:p>
          <a:p>
            <a:r>
              <a:rPr lang="en-US" sz="2400" dirty="0"/>
              <a:t>Transparent to users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Disadvantages</a:t>
            </a:r>
          </a:p>
          <a:p>
            <a:r>
              <a:rPr lang="en-US" sz="2400" dirty="0"/>
              <a:t>Cannot prevent attacks that employ application specific vulnerabilities or functions</a:t>
            </a:r>
          </a:p>
          <a:p>
            <a:r>
              <a:rPr lang="en-US" sz="2400" dirty="0"/>
              <a:t>Limited logging functionality</a:t>
            </a:r>
          </a:p>
          <a:p>
            <a:r>
              <a:rPr lang="en-US" sz="2400" dirty="0"/>
              <a:t>Do not support advanced user authentication</a:t>
            </a:r>
          </a:p>
          <a:p>
            <a:r>
              <a:rPr lang="en-US" sz="2400" dirty="0"/>
              <a:t>Can’t prevent attacks using IP spoofing</a:t>
            </a:r>
          </a:p>
          <a:p>
            <a:r>
              <a:rPr lang="en-US" sz="2400" dirty="0"/>
              <a:t>Improper configuration can lead to breaches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7528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Stateful</a:t>
            </a:r>
            <a:r>
              <a:rPr lang="en-US" dirty="0"/>
              <a:t> Packet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Traditional packet filtering firewall makes decisions based on individual packets; without considering past packets (stateless)</a:t>
            </a:r>
          </a:p>
          <a:p>
            <a:r>
              <a:rPr lang="en-US" sz="2400" dirty="0"/>
              <a:t>Many applications establish a connection between client/server; so a group of consecutive packets belong to same connection</a:t>
            </a:r>
          </a:p>
          <a:p>
            <a:r>
              <a:rPr lang="en-US" sz="2400" dirty="0"/>
              <a:t>Often easier to define rules for connections, rather than individual packets</a:t>
            </a:r>
          </a:p>
          <a:p>
            <a:r>
              <a:rPr lang="en-US" sz="2400" dirty="0"/>
              <a:t>Need to store information about past behavior (state)</a:t>
            </a:r>
          </a:p>
          <a:p>
            <a:r>
              <a:rPr lang="en-US" sz="2400" dirty="0" err="1"/>
              <a:t>Stateful</a:t>
            </a:r>
            <a:r>
              <a:rPr lang="en-US" sz="2400" dirty="0"/>
              <a:t> Packet Inspection (SPI) is extension of traditional packet filtering firewalls</a:t>
            </a:r>
          </a:p>
          <a:p>
            <a:pPr lvl="1"/>
            <a:r>
              <a:rPr lang="en-US" sz="2000" dirty="0"/>
              <a:t>extra overhead required for maintaining state information</a:t>
            </a:r>
          </a:p>
          <a:p>
            <a:pPr lvl="1"/>
            <a:r>
              <a:rPr lang="en-US" sz="2000" dirty="0"/>
              <a:t>but faster processing of most packets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8668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Stateful</a:t>
            </a:r>
            <a:r>
              <a:rPr lang="en-US" dirty="0"/>
              <a:t> Packet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For packets accepted by packet filtering firewall, record connection information</a:t>
            </a:r>
          </a:p>
          <a:p>
            <a:pPr lvl="1"/>
            <a:r>
              <a:rPr lang="en-US" sz="2000" dirty="0" err="1"/>
              <a:t>src</a:t>
            </a:r>
            <a:r>
              <a:rPr lang="en-US" sz="2000" dirty="0"/>
              <a:t>/</a:t>
            </a:r>
            <a:r>
              <a:rPr lang="en-US" sz="2000" dirty="0" err="1"/>
              <a:t>dest</a:t>
            </a:r>
            <a:r>
              <a:rPr lang="en-US" sz="2000" dirty="0"/>
              <a:t> IP address, </a:t>
            </a:r>
            <a:r>
              <a:rPr lang="en-US" sz="2000" dirty="0" err="1"/>
              <a:t>src</a:t>
            </a:r>
            <a:r>
              <a:rPr lang="en-US" sz="2000" dirty="0"/>
              <a:t>/</a:t>
            </a:r>
            <a:r>
              <a:rPr lang="en-US" sz="2000" dirty="0" err="1"/>
              <a:t>dest</a:t>
            </a:r>
            <a:r>
              <a:rPr lang="en-US" sz="2000" dirty="0"/>
              <a:t> port, sequence numbers, connection state (e.g. new, established, closing)</a:t>
            </a:r>
          </a:p>
          <a:p>
            <a:r>
              <a:rPr lang="en-US" sz="2400" dirty="0"/>
              <a:t>Packets arriving that belong to existing connections can be accepted without further processing by firewall rules</a:t>
            </a: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E7F5D6-8EB7-9818-2487-EA11D5B1C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933055"/>
            <a:ext cx="3672408" cy="274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29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Stateful</a:t>
            </a:r>
            <a:r>
              <a:rPr lang="en-US" dirty="0"/>
              <a:t> Packet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Simplifies the rule set by being more permissive on existing connections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539983"/>
              </p:ext>
            </p:extLst>
          </p:nvPr>
        </p:nvGraphicFramePr>
        <p:xfrm>
          <a:off x="515934" y="3429000"/>
          <a:ext cx="818121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0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4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Addr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err="1"/>
                        <a:t>Dest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Addr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/>
                        <a:t>Protocol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 err="1"/>
                        <a:t>Dest</a:t>
                      </a:r>
                      <a:r>
                        <a:rPr lang="en-US" sz="1400" dirty="0"/>
                        <a:t> 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/>
                        <a:t>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400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Either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Established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SMTP-IP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New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32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Internal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≥1024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New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Permit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03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Either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sz="1600" dirty="0"/>
                        <a:t>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DROP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366858"/>
                  </a:ext>
                </a:extLst>
              </a:tr>
            </a:tbl>
          </a:graphicData>
        </a:graphic>
      </p:graphicFrame>
      <p:sp>
        <p:nvSpPr>
          <p:cNvPr id="6" name="Down Arrow 5"/>
          <p:cNvSpPr/>
          <p:nvPr/>
        </p:nvSpPr>
        <p:spPr>
          <a:xfrm>
            <a:off x="6876256" y="2492896"/>
            <a:ext cx="504056" cy="79208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 w="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Circuit-level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000" dirty="0"/>
              <a:t>Also called Circuit-level Gateway</a:t>
            </a:r>
          </a:p>
          <a:p>
            <a:r>
              <a:rPr lang="en-US" sz="2000" dirty="0"/>
              <a:t>Sets up two TCP connections, one between itself and a TCP user on an inner host and one on an outside host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For incoming data</a:t>
            </a:r>
          </a:p>
          <a:p>
            <a:pPr lvl="2"/>
            <a:r>
              <a:rPr lang="en-US" sz="1600" dirty="0">
                <a:ea typeface="ＭＳ Ｐゴシック" pitchFamily="34" charset="-128"/>
              </a:rPr>
              <a:t>Proxy is server to internal network clients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For outgoing data</a:t>
            </a:r>
          </a:p>
          <a:p>
            <a:pPr lvl="2"/>
            <a:r>
              <a:rPr lang="en-US" sz="1600" dirty="0">
                <a:ea typeface="ＭＳ Ｐゴシック" pitchFamily="34" charset="-128"/>
              </a:rPr>
              <a:t>Proxy is client sending out data to the internet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35052"/>
          <a:stretch/>
        </p:blipFill>
        <p:spPr>
          <a:xfrm>
            <a:off x="156981" y="4005064"/>
            <a:ext cx="4536504" cy="18002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61037" y="4869160"/>
            <a:ext cx="72008" cy="7200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33045" y="4695527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Client A</a:t>
            </a:r>
          </a:p>
          <a:p>
            <a:r>
              <a:rPr lang="en-US" sz="1200" dirty="0">
                <a:solidFill>
                  <a:srgbClr val="FF0000"/>
                </a:solidFill>
              </a:rPr>
              <a:t>192.168.5.6</a:t>
            </a:r>
          </a:p>
        </p:txBody>
      </p:sp>
      <p:sp>
        <p:nvSpPr>
          <p:cNvPr id="9" name="Oval 8"/>
          <p:cNvSpPr/>
          <p:nvPr/>
        </p:nvSpPr>
        <p:spPr>
          <a:xfrm>
            <a:off x="1259632" y="5599963"/>
            <a:ext cx="72008" cy="7200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43608" y="5157192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Client B</a:t>
            </a:r>
          </a:p>
          <a:p>
            <a:r>
              <a:rPr lang="en-US" sz="1200" dirty="0">
                <a:solidFill>
                  <a:srgbClr val="FF0000"/>
                </a:solidFill>
              </a:rPr>
              <a:t>192.168.5.15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573" y="5393884"/>
            <a:ext cx="97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External IP</a:t>
            </a:r>
          </a:p>
          <a:p>
            <a:r>
              <a:rPr lang="en-US" sz="1200" b="1" dirty="0">
                <a:solidFill>
                  <a:schemeClr val="accent3">
                    <a:lumMod val="75000"/>
                  </a:schemeClr>
                </a:solidFill>
              </a:rPr>
              <a:t>10.65.5.7</a:t>
            </a:r>
          </a:p>
        </p:txBody>
      </p:sp>
      <p:sp>
        <p:nvSpPr>
          <p:cNvPr id="12" name="Line Callout 1 11"/>
          <p:cNvSpPr/>
          <p:nvPr/>
        </p:nvSpPr>
        <p:spPr>
          <a:xfrm>
            <a:off x="3679998" y="5989389"/>
            <a:ext cx="1900114" cy="776445"/>
          </a:xfrm>
          <a:prstGeom prst="borderCallout1">
            <a:avLst>
              <a:gd name="adj1" fmla="val -945"/>
              <a:gd name="adj2" fmla="val 72208"/>
              <a:gd name="adj3" fmla="val -28393"/>
              <a:gd name="adj4" fmla="val 4074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sz="1600" dirty="0"/>
              <a:t>External users see this IP as source of all traffic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44C8A0-002A-D55C-76EB-9867E025A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06" y="3922883"/>
            <a:ext cx="3909346" cy="28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24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Circuit-level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Relays TCP segments from one connection to the other without examining contents</a:t>
            </a:r>
          </a:p>
          <a:p>
            <a:r>
              <a:rPr lang="en-US" sz="2800" dirty="0"/>
              <a:t>Security function consists of determining which connections will be allowed</a:t>
            </a:r>
          </a:p>
          <a:p>
            <a:r>
              <a:rPr lang="en-US" sz="2800" dirty="0"/>
              <a:t>Does not examine application layer payload</a:t>
            </a:r>
          </a:p>
          <a:p>
            <a:r>
              <a:rPr lang="en-US" sz="2800" dirty="0"/>
              <a:t>Typically used for outbound connections when inside users are trusted</a:t>
            </a:r>
          </a:p>
          <a:p>
            <a:pPr lvl="1"/>
            <a:r>
              <a:rPr lang="en-US" sz="2400" dirty="0"/>
              <a:t>Any (external) data that is requested by internal users is allowed in.</a:t>
            </a:r>
          </a:p>
          <a:p>
            <a:pPr lvl="1"/>
            <a:r>
              <a:rPr lang="en-US" sz="2400" dirty="0"/>
              <a:t>Incoming data that was never requested is blocked.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7049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Application-level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>
                <a:ea typeface="ＭＳ Ｐゴシック" pitchFamily="34" charset="-128"/>
              </a:rPr>
              <a:t>Inspects the application level operations (e.g. HTTP response contents, email contents) and allows/denies them based on predefined rules.</a:t>
            </a:r>
          </a:p>
          <a:p>
            <a:r>
              <a:rPr lang="en-US" sz="2400" dirty="0">
                <a:ea typeface="ＭＳ Ｐゴシック" pitchFamily="34" charset="-128"/>
              </a:rPr>
              <a:t>Also logs attempted-access and allowed-access events</a:t>
            </a:r>
          </a:p>
          <a:p>
            <a:r>
              <a:rPr lang="en-US" sz="2400" dirty="0"/>
              <a:t>Mostly implemented as a proxy, i.e. like a circuit-level gateway it maintains separate connections</a:t>
            </a:r>
          </a:p>
          <a:p>
            <a:pPr lvl="1"/>
            <a:r>
              <a:rPr lang="en-US" sz="2000" dirty="0"/>
              <a:t>client ↔ proxy, proxy ↔ server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0CA9EB-97A8-9608-830B-EFCDE72674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31" b="45732"/>
          <a:stretch/>
        </p:blipFill>
        <p:spPr>
          <a:xfrm>
            <a:off x="1979712" y="4509120"/>
            <a:ext cx="5392425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32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Application-level Gateway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Advantage</a:t>
            </a:r>
          </a:p>
          <a:p>
            <a:pPr lvl="1"/>
            <a:r>
              <a:rPr lang="en-US" sz="2400" dirty="0"/>
              <a:t>Much more secure than packet filters: can block packets with malicious content</a:t>
            </a:r>
          </a:p>
          <a:p>
            <a:endParaRPr lang="en-US" sz="2800" dirty="0"/>
          </a:p>
          <a:p>
            <a:r>
              <a:rPr lang="en-US" sz="2800" dirty="0"/>
              <a:t>Disadvantages</a:t>
            </a:r>
          </a:p>
          <a:p>
            <a:pPr lvl="1"/>
            <a:r>
              <a:rPr lang="en-US" sz="2400" dirty="0"/>
              <a:t>additional processing overhead on each connection</a:t>
            </a:r>
          </a:p>
          <a:p>
            <a:pPr lvl="1"/>
            <a:r>
              <a:rPr lang="en-US" sz="2400" dirty="0"/>
              <a:t>can become a bottleneck</a:t>
            </a:r>
          </a:p>
          <a:p>
            <a:pPr lvl="1"/>
            <a:r>
              <a:rPr lang="en-US" sz="2400" dirty="0"/>
              <a:t>breaks end-to-end encryption due to MITM like behavior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7210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Firewalls can be installed on hosts: end-users computers and servers</a:t>
            </a:r>
          </a:p>
          <a:p>
            <a:r>
              <a:rPr lang="en-US" sz="2400" dirty="0"/>
              <a:t>With large number of users, firewalls are placed on network devices that interconnect internal and external networks</a:t>
            </a:r>
          </a:p>
          <a:p>
            <a:endParaRPr lang="en-US" sz="2400" dirty="0"/>
          </a:p>
          <a:p>
            <a:r>
              <a:rPr lang="en-US" sz="2400" dirty="0"/>
              <a:t>Common to separate internal network into two zones: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000" dirty="0"/>
              <a:t>Public-facing servers, e.g. web, email, DNS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000" dirty="0"/>
              <a:t>End-user computers and internal servers, e.g. databases, development web servers</a:t>
            </a:r>
          </a:p>
          <a:p>
            <a:r>
              <a:rPr lang="en-US" sz="2400" dirty="0"/>
              <a:t>Public-facing servers put in De-Militarized Zone (DMZ)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6739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DMZ with one firewall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6B49B1-3088-9F5C-2759-BB75D539C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060848"/>
            <a:ext cx="5669760" cy="344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33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AC52D4-C342-4449-36D5-58A36C091D5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109938"/>
            <a:ext cx="5184576" cy="6642372"/>
          </a:xfr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DF855FF0-2ADD-10C8-4097-F5FE275F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0"/>
            <a:ext cx="7452320" cy="1069514"/>
          </a:xfrm>
        </p:spPr>
        <p:txBody>
          <a:bodyPr/>
          <a:lstStyle/>
          <a:p>
            <a:r>
              <a:rPr lang="en-US" sz="3600" dirty="0"/>
              <a:t>DMZ with two firewalls</a:t>
            </a:r>
          </a:p>
        </p:txBody>
      </p:sp>
    </p:spTree>
    <p:extLst>
      <p:ext uri="{BB962C8B-B14F-4D97-AF65-F5344CB8AC3E}">
        <p14:creationId xmlns:p14="http://schemas.microsoft.com/office/powerpoint/2010/main" val="1271215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Firewall: Additional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dirty="0"/>
              <a:t>Normally a firewall is implemented on the gateway router. Since it is a single choke point, it can also offer additional features:</a:t>
            </a:r>
          </a:p>
          <a:p>
            <a:r>
              <a:rPr lang="en-US" sz="2600" dirty="0"/>
              <a:t>Provides a location for monitoring security events</a:t>
            </a:r>
          </a:p>
          <a:p>
            <a:r>
              <a:rPr lang="en-US" sz="2600" dirty="0"/>
              <a:t>Convenient platform for several Internet functions that are not security related, e.g. accounting, address and port translation (NAT)</a:t>
            </a:r>
          </a:p>
          <a:p>
            <a:r>
              <a:rPr lang="en-US" sz="2600" dirty="0"/>
              <a:t>Can serve as platform for VPN endpoint</a:t>
            </a:r>
          </a:p>
          <a:p>
            <a:endParaRPr lang="en-US" sz="2600" dirty="0"/>
          </a:p>
          <a:p>
            <a:endParaRPr 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6" b="17644"/>
          <a:stretch/>
        </p:blipFill>
        <p:spPr>
          <a:xfrm>
            <a:off x="4860032" y="5127455"/>
            <a:ext cx="3600000" cy="15841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88" y="5127455"/>
            <a:ext cx="3672000" cy="157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7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Cannot protect against attacks bypassing firewall</a:t>
            </a:r>
          </a:p>
          <a:p>
            <a:pPr lvl="1"/>
            <a:r>
              <a:rPr lang="en-US" sz="2000" dirty="0"/>
              <a:t>Like mobile data connections, direct connections to peer organizations</a:t>
            </a:r>
          </a:p>
          <a:p>
            <a:pPr lvl="1"/>
            <a:r>
              <a:rPr lang="en-US" sz="2000" dirty="0"/>
              <a:t>Laptop, phone, or USB drive may be infected outside the corporate network then used internally</a:t>
            </a:r>
          </a:p>
          <a:p>
            <a:r>
              <a:rPr lang="en-US" sz="2400" dirty="0"/>
              <a:t>May not protect fully against internal threats (e.g. rogue employees)</a:t>
            </a:r>
          </a:p>
          <a:p>
            <a:r>
              <a:rPr lang="en-US" sz="2400" dirty="0"/>
              <a:t>Complexity and human error: writing firewall rules that implement the security policy is difficult for large networks</a:t>
            </a:r>
          </a:p>
          <a:p>
            <a:r>
              <a:rPr lang="en-US" sz="2400" dirty="0"/>
              <a:t>Cannot inspect (encrypted) tunneled packets</a:t>
            </a:r>
          </a:p>
        </p:txBody>
      </p:sp>
    </p:spTree>
    <p:extLst>
      <p:ext uri="{BB962C8B-B14F-4D97-AF65-F5344CB8AC3E}">
        <p14:creationId xmlns:p14="http://schemas.microsoft.com/office/powerpoint/2010/main" val="818628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5BE24-B6FD-3EF9-4E2F-82BA7EE3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Security Products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0C80D-82AB-0FB5-FA52-35C05960D94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An organization typically needs several layers of defense, like:</a:t>
            </a:r>
          </a:p>
          <a:p>
            <a:pPr lvl="1"/>
            <a:r>
              <a:rPr lang="en-US" sz="2400" dirty="0"/>
              <a:t>Anti-malware service</a:t>
            </a:r>
          </a:p>
          <a:p>
            <a:pPr lvl="1"/>
            <a:r>
              <a:rPr lang="en-US" sz="2400" dirty="0"/>
              <a:t>Intrusion detection &amp; prevention system</a:t>
            </a:r>
          </a:p>
          <a:p>
            <a:pPr lvl="1"/>
            <a:r>
              <a:rPr lang="en-US" sz="2400" dirty="0"/>
              <a:t>VPN server</a:t>
            </a:r>
          </a:p>
          <a:p>
            <a:pPr lvl="1"/>
            <a:r>
              <a:rPr lang="en-US" sz="2400" dirty="0"/>
              <a:t>Firewall</a:t>
            </a:r>
          </a:p>
          <a:p>
            <a:pPr lvl="1"/>
            <a:r>
              <a:rPr lang="en-US" sz="2400" dirty="0"/>
              <a:t>Anti spam</a:t>
            </a:r>
          </a:p>
          <a:p>
            <a:r>
              <a:rPr lang="en-US" sz="2800" dirty="0"/>
              <a:t>Configuring, managing and deploying several different security </a:t>
            </a:r>
            <a:r>
              <a:rPr lang="en-US" sz="2800" dirty="0" err="1"/>
              <a:t>softwares</a:t>
            </a:r>
            <a:r>
              <a:rPr lang="en-US" sz="2800" dirty="0"/>
              <a:t> can become a chore, not to mention performance degradation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554520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FB59-141A-1BA1-D5FF-563D8D38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Security Products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C69C-793A-57E0-E4E4-8711644571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To reduce this administrative &amp; performance burden, several vendors now supply all-in-one products.</a:t>
            </a:r>
          </a:p>
          <a:p>
            <a:r>
              <a:rPr lang="en-US" sz="2800" dirty="0"/>
              <a:t>Typically, these are called </a:t>
            </a:r>
            <a:r>
              <a:rPr lang="en-US" sz="2800" dirty="0">
                <a:solidFill>
                  <a:srgbClr val="C00000"/>
                </a:solidFill>
              </a:rPr>
              <a:t>Unified Threat Management (UTM)</a:t>
            </a:r>
            <a:r>
              <a:rPr lang="en-US" sz="2800" dirty="0"/>
              <a:t> appliances.</a:t>
            </a:r>
          </a:p>
          <a:p>
            <a:r>
              <a:rPr lang="en-US" sz="2800" dirty="0"/>
              <a:t>A UTM product will perform (at least)</a:t>
            </a:r>
          </a:p>
          <a:p>
            <a:pPr lvl="1"/>
            <a:r>
              <a:rPr lang="en-US" sz="2400" dirty="0"/>
              <a:t>network firewalling</a:t>
            </a:r>
          </a:p>
          <a:p>
            <a:pPr lvl="1"/>
            <a:r>
              <a:rPr lang="en-US" sz="2400" dirty="0"/>
              <a:t>network intrusion detection &amp; prevention </a:t>
            </a:r>
          </a:p>
          <a:p>
            <a:pPr lvl="1"/>
            <a:r>
              <a:rPr lang="en-US" sz="2400" dirty="0"/>
              <a:t>gateway anti-virus job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75353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id="{FA7E96E2-00F0-B3C9-E6A5-2FE5093CC3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55065"/>
            <a:ext cx="5688632" cy="674787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5BB171-B940-AC1F-1248-07277B6ACFFB}"/>
              </a:ext>
            </a:extLst>
          </p:cNvPr>
          <p:cNvSpPr txBox="1"/>
          <p:nvPr/>
        </p:nvSpPr>
        <p:spPr>
          <a:xfrm>
            <a:off x="7452319" y="2204864"/>
            <a:ext cx="16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2000" b="1" dirty="0"/>
              <a:t>UTM Architecture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1944853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4749E0-2A02-4E94-59BE-B0E9726B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266E46-9F25-9637-FF45-0330E3B94FF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Stallings SPP chap 9</a:t>
            </a:r>
          </a:p>
        </p:txBody>
      </p:sp>
    </p:spTree>
    <p:extLst>
      <p:ext uri="{BB962C8B-B14F-4D97-AF65-F5344CB8AC3E}">
        <p14:creationId xmlns:p14="http://schemas.microsoft.com/office/powerpoint/2010/main" val="1335775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4692</TotalTime>
  <Words>1452</Words>
  <Application>Microsoft Office PowerPoint</Application>
  <PresentationFormat>On-screen Show (4:3)</PresentationFormat>
  <Paragraphs>338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ＭＳ Ｐゴシック</vt:lpstr>
      <vt:lpstr>Arial</vt:lpstr>
      <vt:lpstr>Calibri</vt:lpstr>
      <vt:lpstr>Courier New</vt:lpstr>
      <vt:lpstr>Wingdings</vt:lpstr>
      <vt:lpstr>Office Theme</vt:lpstr>
      <vt:lpstr>Custom Design</vt:lpstr>
      <vt:lpstr>PowerPoint Presentation</vt:lpstr>
      <vt:lpstr>Firewalls</vt:lpstr>
      <vt:lpstr>Firewall Design Goals</vt:lpstr>
      <vt:lpstr>Firewall Security Policies</vt:lpstr>
      <vt:lpstr>Example Firewall Jobs</vt:lpstr>
      <vt:lpstr>Firewall Types</vt:lpstr>
      <vt:lpstr>Packet Filtering Firewall</vt:lpstr>
      <vt:lpstr>Packet Filtering Rules</vt:lpstr>
      <vt:lpstr>Packet Filtering Rules</vt:lpstr>
      <vt:lpstr>Packet Filtering: Example Rules</vt:lpstr>
      <vt:lpstr>Packet Filtering: Example Rules</vt:lpstr>
      <vt:lpstr>Packet Filtering Firewall</vt:lpstr>
      <vt:lpstr>Stateful Packet Inspection</vt:lpstr>
      <vt:lpstr>Stateful Packet Inspection</vt:lpstr>
      <vt:lpstr>Stateful Packet Inspection</vt:lpstr>
      <vt:lpstr>Circuit-level Proxy</vt:lpstr>
      <vt:lpstr>Circuit-level Proxy</vt:lpstr>
      <vt:lpstr>Application-level Gateway</vt:lpstr>
      <vt:lpstr>Application-level Gateway</vt:lpstr>
      <vt:lpstr>Firewall Location</vt:lpstr>
      <vt:lpstr>DMZ with one firewall</vt:lpstr>
      <vt:lpstr>DMZ with two firewalls</vt:lpstr>
      <vt:lpstr>Firewall: Additional Capabilities</vt:lpstr>
      <vt:lpstr>Firewall Limitations</vt:lpstr>
      <vt:lpstr>Integrated Security Products</vt:lpstr>
      <vt:lpstr>Integrated Security Products</vt:lpstr>
      <vt:lpstr>PowerPoint Presentation</vt:lpstr>
      <vt:lpstr>References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Ammar Haider</cp:lastModifiedBy>
  <cp:revision>292</cp:revision>
  <dcterms:created xsi:type="dcterms:W3CDTF">2014-04-01T16:35:38Z</dcterms:created>
  <dcterms:modified xsi:type="dcterms:W3CDTF">2025-11-11T10:54:05Z</dcterms:modified>
</cp:coreProperties>
</file>