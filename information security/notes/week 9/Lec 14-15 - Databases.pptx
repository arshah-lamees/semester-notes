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67"/>
  </p:notesMasterIdLst>
  <p:sldIdLst>
    <p:sldId id="429" r:id="rId3"/>
    <p:sldId id="430" r:id="rId4"/>
    <p:sldId id="431" r:id="rId5"/>
    <p:sldId id="432" r:id="rId6"/>
    <p:sldId id="433" r:id="rId7"/>
    <p:sldId id="434" r:id="rId8"/>
    <p:sldId id="435" r:id="rId9"/>
    <p:sldId id="436" r:id="rId10"/>
    <p:sldId id="438" r:id="rId11"/>
    <p:sldId id="437" r:id="rId12"/>
    <p:sldId id="439" r:id="rId13"/>
    <p:sldId id="440" r:id="rId14"/>
    <p:sldId id="441" r:id="rId15"/>
    <p:sldId id="442" r:id="rId16"/>
    <p:sldId id="443" r:id="rId17"/>
    <p:sldId id="444" r:id="rId18"/>
    <p:sldId id="484" r:id="rId19"/>
    <p:sldId id="445" r:id="rId20"/>
    <p:sldId id="446" r:id="rId21"/>
    <p:sldId id="486" r:id="rId22"/>
    <p:sldId id="485" r:id="rId23"/>
    <p:sldId id="481" r:id="rId24"/>
    <p:sldId id="479" r:id="rId25"/>
    <p:sldId id="478" r:id="rId26"/>
    <p:sldId id="447" r:id="rId27"/>
    <p:sldId id="483" r:id="rId28"/>
    <p:sldId id="492" r:id="rId29"/>
    <p:sldId id="491" r:id="rId30"/>
    <p:sldId id="490" r:id="rId31"/>
    <p:sldId id="493" r:id="rId32"/>
    <p:sldId id="487" r:id="rId33"/>
    <p:sldId id="477" r:id="rId34"/>
    <p:sldId id="482" r:id="rId35"/>
    <p:sldId id="448" r:id="rId36"/>
    <p:sldId id="449" r:id="rId37"/>
    <p:sldId id="450" r:id="rId38"/>
    <p:sldId id="471" r:id="rId39"/>
    <p:sldId id="472" r:id="rId40"/>
    <p:sldId id="473" r:id="rId41"/>
    <p:sldId id="474" r:id="rId42"/>
    <p:sldId id="452" r:id="rId43"/>
    <p:sldId id="489" r:id="rId44"/>
    <p:sldId id="475" r:id="rId45"/>
    <p:sldId id="453" r:id="rId46"/>
    <p:sldId id="454" r:id="rId47"/>
    <p:sldId id="456" r:id="rId48"/>
    <p:sldId id="455" r:id="rId49"/>
    <p:sldId id="457" r:id="rId50"/>
    <p:sldId id="458" r:id="rId51"/>
    <p:sldId id="459" r:id="rId52"/>
    <p:sldId id="460" r:id="rId53"/>
    <p:sldId id="461" r:id="rId54"/>
    <p:sldId id="462" r:id="rId55"/>
    <p:sldId id="463" r:id="rId56"/>
    <p:sldId id="464" r:id="rId57"/>
    <p:sldId id="476" r:id="rId58"/>
    <p:sldId id="465" r:id="rId59"/>
    <p:sldId id="488" r:id="rId60"/>
    <p:sldId id="466" r:id="rId61"/>
    <p:sldId id="467" r:id="rId62"/>
    <p:sldId id="468" r:id="rId63"/>
    <p:sldId id="469" r:id="rId64"/>
    <p:sldId id="470" r:id="rId65"/>
    <p:sldId id="494" r:id="rId6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887447"/>
    <a:srgbClr val="FF8989"/>
    <a:srgbClr val="00B05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3792" autoAdjust="0"/>
  </p:normalViewPr>
  <p:slideViewPr>
    <p:cSldViewPr>
      <p:cViewPr varScale="1">
        <p:scale>
          <a:sx n="108" d="100"/>
          <a:sy n="108" d="100"/>
        </p:scale>
        <p:origin x="162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5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FC1A7-F877-44DD-B2DD-60553F4FFAE6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33C15-5131-4101-B031-6627D1EB55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66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512" y="16778"/>
            <a:ext cx="8964488" cy="1069514"/>
          </a:xfrm>
          <a:prstGeom prst="rect">
            <a:avLst/>
          </a:prstGeom>
        </p:spPr>
        <p:txBody>
          <a:bodyPr anchor="ctr"/>
          <a:lstStyle>
            <a:lvl1pPr latinLnBrk="0"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ko-KR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EA4C87-1B6D-2CEA-39CA-59614D4530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8229600" cy="4676700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91680" y="0"/>
            <a:ext cx="7452320" cy="1069514"/>
          </a:xfrm>
          <a:prstGeom prst="rect">
            <a:avLst/>
          </a:prstGeom>
        </p:spPr>
        <p:txBody>
          <a:bodyPr anchor="ctr"/>
          <a:lstStyle>
            <a:lvl1pPr latinLnBrk="0"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ko-KR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ED14E-43B1-FAD8-93BB-3A0393784F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34072" y="1268760"/>
            <a:ext cx="6563072" cy="4923175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" y="27709"/>
            <a:ext cx="9052560" cy="1039091"/>
          </a:xfrm>
        </p:spPr>
        <p:txBody>
          <a:bodyPr>
            <a:normAutofit/>
          </a:bodyPr>
          <a:lstStyle>
            <a:lvl1pPr algn="ctr">
              <a:defRPr sz="3600">
                <a:latin typeface="Arial" pitchFamily="34" charset="0"/>
                <a:ea typeface="Verdana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64162"/>
              </a:buClr>
              <a:buSzPct val="100000"/>
              <a:defRPr/>
            </a:lvl1pPr>
            <a:lvl2pPr>
              <a:buClr>
                <a:srgbClr val="364162"/>
              </a:buClr>
              <a:defRPr/>
            </a:lvl2pPr>
            <a:lvl3pPr marL="1143000" indent="-228600">
              <a:buClr>
                <a:srgbClr val="364162"/>
              </a:buClr>
              <a:buFont typeface="Wingdings" pitchFamily="2" charset="2"/>
              <a:buChar char="§"/>
              <a:defRPr/>
            </a:lvl3pPr>
            <a:lvl4pPr marL="1600200" indent="-228600">
              <a:buClr>
                <a:srgbClr val="364162"/>
              </a:buClr>
              <a:buFont typeface="Courier New" pitchFamily="49" charset="0"/>
              <a:buChar char="o"/>
              <a:defRPr/>
            </a:lvl4pPr>
            <a:lvl5pPr>
              <a:buClr>
                <a:srgbClr val="364162"/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9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 Layout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9169" y="357626"/>
            <a:ext cx="8032638" cy="100401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white">
          <a:xfrm>
            <a:off x="-7937" y="6248400"/>
            <a:ext cx="9151937" cy="617539"/>
          </a:xfrm>
          <a:prstGeom prst="rect">
            <a:avLst/>
          </a:prstGeom>
          <a:solidFill>
            <a:srgbClr val="364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91331" y="5181600"/>
            <a:ext cx="8153400" cy="83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pyright" descr="Pearson: Copyright 2015, 2012, 2009"/>
          <p:cNvSpPr txBox="1">
            <a:spLocks noChangeArrowheads="1"/>
          </p:cNvSpPr>
          <p:nvPr userDrawn="1"/>
        </p:nvSpPr>
        <p:spPr bwMode="auto">
          <a:xfrm>
            <a:off x="1478450" y="6270381"/>
            <a:ext cx="7589350" cy="582256"/>
          </a:xfrm>
          <a:prstGeom prst="rect">
            <a:avLst/>
          </a:prstGeom>
          <a:solidFill>
            <a:srgbClr val="36416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sz="1200" dirty="0">
                <a:solidFill>
                  <a:prstClr val="white"/>
                </a:solidFill>
                <a:ea typeface="ＭＳ Ｐゴシック" charset="-128"/>
                <a:cs typeface="Arial" charset="0"/>
              </a:rPr>
              <a:t>Copyright </a:t>
            </a:r>
            <a:r>
              <a:rPr lang="en-US" sz="1200" dirty="0">
                <a:solidFill>
                  <a:prstClr val="white"/>
                </a:solidFill>
                <a:ea typeface="+mn-ea"/>
                <a:cs typeface="Arial" charset="0"/>
              </a:rPr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8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45959"/>
            <a:ext cx="1316182" cy="435841"/>
          </a:xfrm>
          <a:prstGeom prst="rect">
            <a:avLst/>
          </a:prstGeom>
          <a:solidFill>
            <a:srgbClr val="36416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682021"/>
      </p:ext>
    </p:extLst>
  </p:cSld>
  <p:clrMapOvr>
    <a:masterClrMapping/>
  </p:clrMapOvr>
  <p:transition spd="slow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72514571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4" r:id="rId5"/>
    <p:sldLayoutId id="2147483675" r:id="rId6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ee101/hidden-form-on-the-interne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sql-injection-myths-and-fallacies/3729931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sql-injection-myths-and-fallacies/3729931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sql-injection-myths-and-fallacies/3729931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sql-injection-myths-and-fallacies/3729931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a/43235265/1427771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ainxkcd.com/wiki/index.php/327:_Exploits_of_a_Mom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4067944" y="4221088"/>
            <a:ext cx="478802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Database Security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A019416-A58F-DC7C-5590-0A3C5E236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1682"/>
            <a:ext cx="1428571" cy="1428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87E9B7-196F-5413-1EE2-727331E78929}"/>
              </a:ext>
            </a:extLst>
          </p:cNvPr>
          <p:cNvSpPr txBox="1"/>
          <p:nvPr/>
        </p:nvSpPr>
        <p:spPr>
          <a:xfrm>
            <a:off x="2045070" y="1916832"/>
            <a:ext cx="5053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sz="2800" b="1" dirty="0"/>
              <a:t>CS3002 Information Security</a:t>
            </a:r>
            <a:endParaRPr lang="en-AU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442DC-6D72-28EB-A755-796100BEAFBF}"/>
              </a:ext>
            </a:extLst>
          </p:cNvPr>
          <p:cNvSpPr txBox="1"/>
          <p:nvPr/>
        </p:nvSpPr>
        <p:spPr>
          <a:xfrm>
            <a:off x="6156176" y="111682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latinLnBrk="0"/>
            <a:r>
              <a:rPr lang="en-US" b="1" dirty="0"/>
              <a:t>Dr. Ammar Haider</a:t>
            </a:r>
          </a:p>
          <a:p>
            <a:pPr algn="r" latinLnBrk="0"/>
            <a:r>
              <a:rPr lang="en-US" dirty="0"/>
              <a:t>Assistant Professor</a:t>
            </a:r>
          </a:p>
          <a:p>
            <a:pPr algn="r" latinLnBrk="0"/>
            <a:r>
              <a:rPr lang="en-US" dirty="0"/>
              <a:t>School of Computing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566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Collection of data stored for use by one or more applications</a:t>
            </a:r>
          </a:p>
          <a:p>
            <a:r>
              <a:rPr lang="en-US" sz="2800" dirty="0"/>
              <a:t>Contains the relationships between data items and groups of data items</a:t>
            </a:r>
          </a:p>
          <a:p>
            <a:r>
              <a:rPr lang="en-US" sz="2800" dirty="0"/>
              <a:t>Mostly contain sensitive data that needs to be secured</a:t>
            </a:r>
          </a:p>
          <a:p>
            <a:r>
              <a:rPr lang="en-US" sz="2800" dirty="0"/>
              <a:t>Query language: Provides a uniform interface to the database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398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l="10371" t="17896" r="13286" b="27717"/>
          <a:stretch/>
        </p:blipFill>
        <p:spPr bwMode="auto">
          <a:xfrm>
            <a:off x="2457996" y="1080678"/>
            <a:ext cx="6061134" cy="5588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610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Table of data consisting of rows and columns</a:t>
            </a:r>
          </a:p>
          <a:p>
            <a:r>
              <a:rPr lang="en-US" sz="2400" dirty="0"/>
              <a:t>Each column holds a particular type of data</a:t>
            </a:r>
          </a:p>
          <a:p>
            <a:r>
              <a:rPr lang="en-US" sz="2400" dirty="0"/>
              <a:t>Each row contains a specific value for each column</a:t>
            </a:r>
          </a:p>
          <a:p>
            <a:r>
              <a:rPr lang="en-US" sz="2400" dirty="0"/>
              <a:t>Ideally has one column where all values are unique, forming an identifier/key for that row</a:t>
            </a:r>
          </a:p>
          <a:p>
            <a:pPr lvl="1"/>
            <a:r>
              <a:rPr lang="en-US" sz="2000" dirty="0"/>
              <a:t>Enables the creation of multiple tables linked together by a unique identifier that is present in all tables</a:t>
            </a:r>
          </a:p>
          <a:p>
            <a:endParaRPr lang="en-US" sz="2400" dirty="0"/>
          </a:p>
          <a:p>
            <a:r>
              <a:rPr lang="en-US" sz="2400" dirty="0"/>
              <a:t>Use a relational query language to access the database</a:t>
            </a:r>
          </a:p>
          <a:p>
            <a:pPr lvl="1"/>
            <a:r>
              <a:rPr lang="en-US" sz="2000" dirty="0"/>
              <a:t>Allows the user to request data that fit a given set of criteria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8835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 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 t="7159" b="28636"/>
          <a:stretch>
            <a:fillRect/>
          </a:stretch>
        </p:blipFill>
        <p:spPr bwMode="auto">
          <a:xfrm>
            <a:off x="2195736" y="1252984"/>
            <a:ext cx="6254352" cy="5196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1670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 Elements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l="51917" t="7288" r="14055" b="59986"/>
          <a:stretch/>
        </p:blipFill>
        <p:spPr bwMode="auto">
          <a:xfrm>
            <a:off x="1782998" y="4115544"/>
            <a:ext cx="3311001" cy="2465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2"/>
          <a:srcRect l="34917" t="49732" r="32852" b="23668"/>
          <a:stretch/>
        </p:blipFill>
        <p:spPr bwMode="auto">
          <a:xfrm>
            <a:off x="5508104" y="2708920"/>
            <a:ext cx="3332856" cy="212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 rotWithShape="1">
          <a:blip r:embed="rId2"/>
          <a:srcRect l="15042" t="7266" r="58040" b="66252"/>
          <a:stretch/>
        </p:blipFill>
        <p:spPr bwMode="auto">
          <a:xfrm>
            <a:off x="1786198" y="1888462"/>
            <a:ext cx="2808311" cy="2138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782998" y="1323777"/>
            <a:ext cx="2345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Two tables in a </a:t>
            </a:r>
            <a:r>
              <a:rPr lang="en-US" sz="2000" dirty="0" err="1"/>
              <a:t>db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300897" y="2192419"/>
            <a:ext cx="3843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 view derived from two tables</a:t>
            </a:r>
          </a:p>
        </p:txBody>
      </p:sp>
    </p:spTree>
    <p:extLst>
      <p:ext uri="{BB962C8B-B14F-4D97-AF65-F5344CB8AC3E}">
        <p14:creationId xmlns:p14="http://schemas.microsoft.com/office/powerpoint/2010/main" val="288344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Structured Query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SQL: originally developed by IBM in the mid-1970s</a:t>
            </a:r>
          </a:p>
          <a:p>
            <a:r>
              <a:rPr lang="en-US" sz="2800" dirty="0"/>
              <a:t>standardized language to define, manipulate, and query data in a relational database</a:t>
            </a:r>
          </a:p>
          <a:p>
            <a:r>
              <a:rPr lang="en-US" sz="2800" dirty="0"/>
              <a:t>several similar versions of ANSI/ISO standard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1113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Examples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07704" y="1340768"/>
            <a:ext cx="6768752" cy="4856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CREATE TABLE department (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Did INTEGER PRIMARY KEY,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Dname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CHAR (30),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Dacctno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CHAR (6) )</a:t>
            </a:r>
          </a:p>
          <a:p>
            <a:pPr eaLnBrk="1" hangingPunct="1">
              <a:spcBef>
                <a:spcPct val="30000"/>
              </a:spcBef>
            </a:pP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CREATE TABLE employee (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Ename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CHAR (30),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Did INTEGER,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SalaryCode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INTEGER,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Eid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INTEGER PRIMARY KEY,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Ephone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CHAR (10),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   FOREIGN KEY (Did) REFERENCES department (Did) )</a:t>
            </a:r>
          </a:p>
          <a:p>
            <a:pPr eaLnBrk="1" hangingPunct="1">
              <a:spcBef>
                <a:spcPct val="30000"/>
              </a:spcBef>
            </a:pPr>
            <a:endParaRPr lang="en-US" alt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CREATE VIEW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newtable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(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Dname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Ename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Eid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Ephone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AS SELECT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D.Dname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E.Ename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E.Eid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E.Ephone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b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FROM Department D JOIN Employee E ON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E.Did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altLang="en-US" sz="1800" dirty="0" err="1">
                <a:latin typeface="Consolas" panose="020B0609020204030204" pitchFamily="49" charset="0"/>
                <a:cs typeface="Calibri" pitchFamily="34" charset="0"/>
              </a:rPr>
              <a:t>D.Did</a:t>
            </a:r>
            <a:r>
              <a:rPr lang="en-US" alt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581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2780928"/>
            <a:ext cx="6552728" cy="1069514"/>
          </a:xfrm>
        </p:spPr>
        <p:txBody>
          <a:bodyPr/>
          <a:lstStyle/>
          <a:p>
            <a:r>
              <a:rPr lang="en-US" sz="4800" dirty="0"/>
              <a:t>SQL Injection Attacks</a:t>
            </a:r>
          </a:p>
        </p:txBody>
      </p:sp>
    </p:spTree>
    <p:extLst>
      <p:ext uri="{BB962C8B-B14F-4D97-AF65-F5344CB8AC3E}">
        <p14:creationId xmlns:p14="http://schemas.microsoft.com/office/powerpoint/2010/main" val="3429856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Attacks (</a:t>
            </a:r>
            <a:r>
              <a:rPr lang="en-US" dirty="0" err="1"/>
              <a:t>SQLi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One of the most prevalent and dangerous network-based security threats</a:t>
            </a:r>
          </a:p>
          <a:p>
            <a:endParaRPr lang="en-US" sz="2400" dirty="0"/>
          </a:p>
          <a:p>
            <a:r>
              <a:rPr lang="en-US" sz="2400" dirty="0"/>
              <a:t>Attacker sends malicious requests — containing SQL commands — to web (or application) server, which forward the commands to the database server</a:t>
            </a:r>
          </a:p>
          <a:p>
            <a:endParaRPr lang="en-US" sz="2400" dirty="0"/>
          </a:p>
          <a:p>
            <a:r>
              <a:rPr lang="en-US" sz="2400" dirty="0"/>
              <a:t>SQL injection can be exploited to: </a:t>
            </a:r>
          </a:p>
          <a:p>
            <a:pPr lvl="1"/>
            <a:r>
              <a:rPr lang="en-US" sz="2000" dirty="0"/>
              <a:t>Steal data in bulk</a:t>
            </a:r>
          </a:p>
          <a:p>
            <a:pPr lvl="1"/>
            <a:r>
              <a:rPr lang="en-US" sz="2000" dirty="0"/>
              <a:t>Modify or delete data</a:t>
            </a:r>
          </a:p>
          <a:p>
            <a:pPr lvl="1"/>
            <a:r>
              <a:rPr lang="en-US" sz="2000" dirty="0"/>
              <a:t>Execute arbitrary operating system commands</a:t>
            </a:r>
          </a:p>
          <a:p>
            <a:pPr lvl="1"/>
            <a:r>
              <a:rPr lang="en-US" sz="2000" dirty="0"/>
              <a:t>Launch denial-of-service (</a:t>
            </a:r>
            <a:r>
              <a:rPr lang="en-US" sz="2000" dirty="0" err="1"/>
              <a:t>DoS</a:t>
            </a:r>
            <a:r>
              <a:rPr lang="en-US" sz="2000" dirty="0"/>
              <a:t>) attacks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307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injection attack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79228E-D6FE-C21A-82D5-0100B57C25F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141175"/>
            <a:ext cx="5242012" cy="5384169"/>
          </a:xfrm>
        </p:spPr>
      </p:pic>
    </p:spTree>
    <p:extLst>
      <p:ext uri="{BB962C8B-B14F-4D97-AF65-F5344CB8AC3E}">
        <p14:creationId xmlns:p14="http://schemas.microsoft.com/office/powerpoint/2010/main" val="352480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 sequence of events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Hacker finds a vulnerability in a custom Web application and injects a SQL command to a database by sending the command to the Web server. The command is injected into traffic that will be accepted by the firewall.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Web server receives the malicious code and sends it to the Web application server.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Web application server receives the malicious code from the Web server and sends it to the database server.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database server executes the malicious code on the database. The database returns data from (e.g.) credit cards table.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Web application server dynamically generates a page with data including credit card details from the database.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Web server sends the credit card details to the hacker</a:t>
            </a:r>
          </a:p>
        </p:txBody>
      </p:sp>
    </p:spTree>
    <p:extLst>
      <p:ext uri="{BB962C8B-B14F-4D97-AF65-F5344CB8AC3E}">
        <p14:creationId xmlns:p14="http://schemas.microsoft.com/office/powerpoint/2010/main" val="3524726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Injection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The </a:t>
            </a:r>
            <a:r>
              <a:rPr lang="en-US" sz="2400" dirty="0" err="1"/>
              <a:t>SQLi</a:t>
            </a:r>
            <a:r>
              <a:rPr lang="en-US" sz="2400" dirty="0"/>
              <a:t> attack typically works by prematurely terminating a text string and appending a new command.</a:t>
            </a:r>
          </a:p>
          <a:p>
            <a:pPr lvl="1"/>
            <a:r>
              <a:rPr lang="en-US" sz="2000" dirty="0"/>
              <a:t>Injected string is terminated with SQL comment mark (--)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fname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lname</a:t>
            </a:r>
            <a:r>
              <a:rPr lang="en-US" sz="2400" dirty="0">
                <a:latin typeface="Consolas" panose="020B0609020204030204" pitchFamily="49" charset="0"/>
              </a:rPr>
              <a:t>, phone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FROM student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fname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 err="1">
                <a:latin typeface="Consolas" panose="020B0609020204030204" pitchFamily="49" charset="0"/>
              </a:rPr>
              <a:t>user_input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What if user types the following input?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John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>
                <a:latin typeface="Consolas" panose="020B0609020204030204" pitchFamily="49" charset="0"/>
              </a:rPr>
              <a:t>; DROP TABLE course; --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1889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Server-side C# code to get data from a web form</a:t>
            </a:r>
            <a:br>
              <a:rPr lang="en-US" sz="2000" dirty="0">
                <a:latin typeface="Consolas" panose="020B0609020204030204" pitchFamily="49" charset="0"/>
              </a:rPr>
            </a:b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var </a:t>
            </a:r>
            <a:r>
              <a:rPr lang="en-US" sz="2000" dirty="0" err="1">
                <a:latin typeface="Consolas" panose="020B0609020204030204" pitchFamily="49" charset="0"/>
              </a:rPr>
              <a:t>ShipCity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Request.form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ShipCity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var </a:t>
            </a:r>
            <a:r>
              <a:rPr lang="en-US" sz="2000" dirty="0" err="1">
                <a:latin typeface="Consolas" panose="020B0609020204030204" pitchFamily="49" charset="0"/>
              </a:rPr>
              <a:t>sql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"SELECT * FROM Orders WHERE 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ShipCity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 = '"</a:t>
            </a:r>
            <a:b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   + </a:t>
            </a:r>
            <a:r>
              <a:rPr lang="en-US" sz="2000" dirty="0" err="1">
                <a:latin typeface="Consolas" panose="020B0609020204030204" pitchFamily="49" charset="0"/>
              </a:rPr>
              <a:t>ShipCity</a:t>
            </a:r>
            <a:r>
              <a:rPr lang="en-US" sz="2000" dirty="0">
                <a:latin typeface="Consolas" panose="020B0609020204030204" pitchFamily="49" charset="0"/>
              </a:rPr>
              <a:t> +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"';"</a:t>
            </a:r>
            <a:r>
              <a:rPr lang="en-US" sz="2000" dirty="0">
                <a:latin typeface="Consolas" panose="020B0609020204030204" pitchFamily="49" charset="0"/>
              </a:rPr>
              <a:t>; 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user enters </a:t>
            </a:r>
            <a:r>
              <a:rPr lang="en-US" sz="2000" b="1" dirty="0"/>
              <a:t>Redmond</a:t>
            </a:r>
            <a:r>
              <a:rPr lang="en-US" sz="2000" dirty="0"/>
              <a:t> in the form, query becomes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SELECT * FROM Orders WHERE </a:t>
            </a:r>
            <a:r>
              <a:rPr lang="en-US" sz="2000" dirty="0" err="1">
                <a:latin typeface="Consolas" panose="020B0609020204030204" pitchFamily="49" charset="0"/>
              </a:rPr>
              <a:t>ShipCity</a:t>
            </a:r>
            <a:r>
              <a:rPr lang="en-US" sz="2000" dirty="0">
                <a:latin typeface="Consolas" panose="020B0609020204030204" pitchFamily="49" charset="0"/>
              </a:rPr>
              <a:t> = 'Redmond';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Suppose, however, the user enters the following in the form:</a:t>
            </a:r>
            <a:br>
              <a:rPr lang="en-US" sz="2000" dirty="0"/>
            </a:b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Redmond'; DROP table Orders; --</a:t>
            </a:r>
          </a:p>
          <a:p>
            <a:pPr marL="0" indent="0">
              <a:buNone/>
            </a:pPr>
            <a:r>
              <a:rPr lang="en-US" sz="2000" dirty="0"/>
              <a:t>This results in the following SQL query:</a:t>
            </a: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SELECT * FROM Orders WHERE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ShipCity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= 'Redmond'; DROP table Orders; </a:t>
            </a:r>
            <a:r>
              <a:rPr lang="en-US" sz="2000" dirty="0">
                <a:solidFill>
                  <a:srgbClr val="FF8989"/>
                </a:solidFill>
                <a:latin typeface="Consolas" panose="020B0609020204030204" pitchFamily="49" charset="0"/>
              </a:rPr>
              <a:t>--';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D226C-5AED-EE04-4773-2B6BB9A6ABE0}"/>
              </a:ext>
            </a:extLst>
          </p:cNvPr>
          <p:cNvSpPr txBox="1"/>
          <p:nvPr/>
        </p:nvSpPr>
        <p:spPr>
          <a:xfrm>
            <a:off x="2195736" y="6453336"/>
            <a:ext cx="6911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Request.form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returns the data submitted by user in HTTP POST request body.</a:t>
            </a:r>
          </a:p>
        </p:txBody>
      </p:sp>
    </p:spTree>
    <p:extLst>
      <p:ext uri="{BB962C8B-B14F-4D97-AF65-F5344CB8AC3E}">
        <p14:creationId xmlns:p14="http://schemas.microsoft.com/office/powerpoint/2010/main" val="354781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In-band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In-band:</a:t>
            </a:r>
            <a:r>
              <a:rPr lang="en-US" sz="2400" dirty="0"/>
              <a:t> same channel used for injecting SQL code and retrieving results. Such attacks can include one or more of the following elements: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Tautology:</a:t>
            </a:r>
            <a:r>
              <a:rPr lang="en-US" sz="2400" dirty="0"/>
              <a:t> This form of attack injects code in one or more conditional statements so that they always evaluate to true</a:t>
            </a:r>
          </a:p>
          <a:p>
            <a:r>
              <a:rPr lang="en-US" sz="2400" dirty="0">
                <a:solidFill>
                  <a:srgbClr val="C00000"/>
                </a:solidFill>
              </a:rPr>
              <a:t>End-of-line comment:</a:t>
            </a:r>
            <a:r>
              <a:rPr lang="en-US" sz="2400" dirty="0"/>
              <a:t> After injecting code into a particular field, legitimate code that follows are nullified through usage of end of line comments</a:t>
            </a:r>
          </a:p>
          <a:p>
            <a:r>
              <a:rPr lang="en-US" sz="2400" dirty="0">
                <a:solidFill>
                  <a:srgbClr val="C00000"/>
                </a:solidFill>
              </a:rPr>
              <a:t>Piggybacked queries:</a:t>
            </a:r>
            <a:r>
              <a:rPr lang="en-US" sz="2400" dirty="0"/>
              <a:t> The attacker adds additional queries beyond the intended query, piggy-backing the attack on top of a legitimate request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68603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Tautology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Server side PHP script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$query=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"SELECT info FROM user WHERE name = </a:t>
            </a:r>
            <a:b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>
                <a:latin typeface="Consolas" panose="020B0609020204030204" pitchFamily="49" charset="0"/>
              </a:rPr>
              <a:t>`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$_GET["name"]</a:t>
            </a:r>
            <a:r>
              <a:rPr lang="en-US" sz="2400" dirty="0">
                <a:latin typeface="Consolas" panose="020B0609020204030204" pitchFamily="49" charset="0"/>
              </a:rPr>
              <a:t>`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' AND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pwd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= '</a:t>
            </a:r>
            <a:r>
              <a:rPr lang="en-US" sz="2400" dirty="0">
                <a:latin typeface="Consolas" panose="020B0609020204030204" pitchFamily="49" charset="0"/>
              </a:rPr>
              <a:t>`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$_GET["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pwd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"]</a:t>
            </a:r>
            <a:r>
              <a:rPr lang="en-US" sz="2400" dirty="0">
                <a:latin typeface="Consolas" panose="020B0609020204030204" pitchFamily="49" charset="0"/>
              </a:rPr>
              <a:t>`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'"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altLang="en-US" sz="2400" dirty="0"/>
              <a:t>Attacker submits following for the </a:t>
            </a:r>
            <a:r>
              <a:rPr lang="en-US" altLang="en-US" sz="2400" b="1" dirty="0"/>
              <a:t>name</a:t>
            </a:r>
            <a:r>
              <a:rPr lang="en-US" altLang="en-US" sz="2400" dirty="0"/>
              <a:t> field: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' OR 1=1 --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Query becomes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SELECT info FROM users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WHERE name = 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''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OR 1=1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-- AND </a:t>
            </a: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pwd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= ''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65292-A046-8D64-6A8F-DA08F117030F}"/>
              </a:ext>
            </a:extLst>
          </p:cNvPr>
          <p:cNvSpPr txBox="1"/>
          <p:nvPr/>
        </p:nvSpPr>
        <p:spPr>
          <a:xfrm>
            <a:off x="1728504" y="6453336"/>
            <a:ext cx="73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$_GET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provides the data submitted by user in HTTP GET request URL (aka query string).</a:t>
            </a:r>
          </a:p>
        </p:txBody>
      </p:sp>
    </p:spTree>
    <p:extLst>
      <p:ext uri="{BB962C8B-B14F-4D97-AF65-F5344CB8AC3E}">
        <p14:creationId xmlns:p14="http://schemas.microsoft.com/office/powerpoint/2010/main" val="1525651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7D8A-354E-D429-D353-0DA3BC5CC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UNIONs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72ADE-2956-99C2-42D4-8FBE6128A9F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100" dirty="0"/>
              <a:t>With the help of UNION operator, an attacker can retrieve data from other tables.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/>
              <a:t>For example, if an application executes the following query (where </a:t>
            </a:r>
            <a:r>
              <a:rPr lang="en-US" sz="2100" dirty="0">
                <a:solidFill>
                  <a:srgbClr val="C00000"/>
                </a:solidFill>
                <a:latin typeface="Consolas" panose="020B0609020204030204" pitchFamily="49" charset="0"/>
              </a:rPr>
              <a:t>shirts</a:t>
            </a:r>
            <a:r>
              <a:rPr lang="en-US" sz="2100" dirty="0"/>
              <a:t> value is coming from client side)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1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SELECT</a:t>
            </a:r>
            <a:r>
              <a:rPr lang="en-US" sz="21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2100" b="0" dirty="0"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name, description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1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FROM</a:t>
            </a:r>
            <a:r>
              <a:rPr lang="en-US" sz="21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products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1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WHERE</a:t>
            </a:r>
            <a:r>
              <a:rPr lang="en-US" sz="21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category = </a:t>
            </a:r>
            <a:r>
              <a:rPr lang="en-US" sz="21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'shirts</a:t>
            </a:r>
            <a:r>
              <a:rPr lang="en-US" sz="2100" dirty="0">
                <a:solidFill>
                  <a:srgbClr val="A31515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'</a:t>
            </a:r>
            <a:r>
              <a:rPr lang="en-US" sz="2100" b="0" dirty="0"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/>
              <a:t>An attacker can submit the input:</a:t>
            </a:r>
          </a:p>
          <a:p>
            <a:pPr marL="0" indent="0">
              <a:buNone/>
            </a:pPr>
            <a:r>
              <a:rPr lang="en-US" sz="21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shirts' UNION SELECT username, password FROM users; --</a:t>
            </a:r>
            <a:endParaRPr lang="en-US" sz="2100" b="0" dirty="0">
              <a:solidFill>
                <a:srgbClr val="000000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/>
              <a:t>which will make the server return all usernames and passwords along with the names and descriptions of products.</a:t>
            </a:r>
          </a:p>
        </p:txBody>
      </p:sp>
    </p:spTree>
    <p:extLst>
      <p:ext uri="{BB962C8B-B14F-4D97-AF65-F5344CB8AC3E}">
        <p14:creationId xmlns:p14="http://schemas.microsoft.com/office/powerpoint/2010/main" val="2051220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Inferential Attack </a:t>
            </a:r>
            <a:r>
              <a:rPr lang="en-US" sz="3600" dirty="0"/>
              <a:t>(gathering info)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There is no actual transfer of data, but the attacker is able to reconstruct the information by sending particular requests and observing the resulting behavior of the website/database server</a:t>
            </a:r>
          </a:p>
          <a:p>
            <a:pPr marL="0" indent="0">
              <a:buNone/>
            </a:pPr>
            <a:r>
              <a:rPr lang="en-US" sz="2400" b="1" dirty="0"/>
              <a:t>a) illegal/logically incorrect queries</a:t>
            </a:r>
          </a:p>
          <a:p>
            <a:r>
              <a:rPr lang="en-US" sz="2400" dirty="0"/>
              <a:t>lets an attacker gather important information about the type and structure of the backend database of a Web application</a:t>
            </a:r>
          </a:p>
          <a:p>
            <a:r>
              <a:rPr lang="en-US" sz="2400" dirty="0"/>
              <a:t>Considered as a preliminary step for further attacks.</a:t>
            </a:r>
          </a:p>
          <a:p>
            <a:pPr lvl="1"/>
            <a:r>
              <a:rPr lang="en-US" sz="2000" dirty="0"/>
              <a:t>The vulnerability leveraged by this attack is that the</a:t>
            </a:r>
            <a:br>
              <a:rPr lang="en-US" sz="2000" dirty="0"/>
            </a:br>
            <a:r>
              <a:rPr lang="en-US" sz="2000" dirty="0"/>
              <a:t>default error page returned by application servers is often overly descriptive.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3265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Inferential Attack </a:t>
            </a:r>
            <a:r>
              <a:rPr lang="en-US" sz="3600" dirty="0"/>
              <a:t>(gathering info)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Example illegal query (missing whitespaces)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</a:rPr>
              <a:t>SELECT*FROM </a:t>
            </a:r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</a:rPr>
              <a:t>table_nameWHERE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</a:rPr>
              <a:t> id=@id"</a:t>
            </a:r>
          </a:p>
          <a:p>
            <a:pPr marL="0" indent="0">
              <a:buNone/>
            </a:pPr>
            <a:r>
              <a:rPr lang="en-US" sz="2000" dirty="0"/>
              <a:t>Possible web response, which reveals the server side script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17F3C2-CDF7-A3E6-B1BF-56F592917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54" y="2708920"/>
            <a:ext cx="6675692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185A6E-077E-89A7-38DD-D960A306A79E}"/>
              </a:ext>
            </a:extLst>
          </p:cNvPr>
          <p:cNvSpPr txBox="1"/>
          <p:nvPr/>
        </p:nvSpPr>
        <p:spPr>
          <a:xfrm>
            <a:off x="179512" y="6623871"/>
            <a:ext cx="313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https://notsosecure.com/anatomy-hack-sqli-crypto</a:t>
            </a:r>
          </a:p>
        </p:txBody>
      </p:sp>
    </p:spTree>
    <p:extLst>
      <p:ext uri="{BB962C8B-B14F-4D97-AF65-F5344CB8AC3E}">
        <p14:creationId xmlns:p14="http://schemas.microsoft.com/office/powerpoint/2010/main" val="3380780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7EAC-BCC0-7E09-3CDE-0F71201A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6E1C-C5A5-2993-994B-F85F346E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Inferential Attack </a:t>
            </a:r>
            <a:r>
              <a:rPr lang="en-US" sz="3600" dirty="0"/>
              <a:t>(gathering info)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BAC2-D155-D181-968E-1077E68968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8676456" cy="46767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In other cases, database table and/or column names might be revealed.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9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766E73A-5B7D-A5B9-7E83-C3E64E7AEF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714"/>
          <a:stretch/>
        </p:blipFill>
        <p:spPr bwMode="auto">
          <a:xfrm>
            <a:off x="616658" y="2060848"/>
            <a:ext cx="8059798" cy="44644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03B572-EF7F-6E56-9FEF-29877AF8EB1A}"/>
              </a:ext>
            </a:extLst>
          </p:cNvPr>
          <p:cNvSpPr txBox="1"/>
          <p:nvPr/>
        </p:nvSpPr>
        <p:spPr>
          <a:xfrm>
            <a:off x="179512" y="6623871"/>
            <a:ext cx="619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https://infosecwriteups.com/exploiting-error-based-sql-injections-bypassing-restrictions-ed099623cd94</a:t>
            </a:r>
          </a:p>
        </p:txBody>
      </p:sp>
    </p:spTree>
    <p:extLst>
      <p:ext uri="{BB962C8B-B14F-4D97-AF65-F5344CB8AC3E}">
        <p14:creationId xmlns:p14="http://schemas.microsoft.com/office/powerpoint/2010/main" val="1881760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EF24A-81FE-A705-A01F-91528A20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FBD9-833E-94F5-17C6-A811A361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Inferential Attack </a:t>
            </a:r>
            <a:r>
              <a:rPr lang="en-US" sz="3600" dirty="0"/>
              <a:t>(gathering info)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6AC36-8B22-89A7-8564-422F605E9F1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b) Blind SQL injection</a:t>
            </a:r>
          </a:p>
          <a:p>
            <a:r>
              <a:rPr lang="en-US" sz="2400" dirty="0"/>
              <a:t>Most systems have sufficient security in place to not display any erroneous information back to the attacker. </a:t>
            </a:r>
          </a:p>
          <a:p>
            <a:pPr lvl="1"/>
            <a:r>
              <a:rPr lang="en-US" sz="2000" dirty="0"/>
              <a:t>They could display a generic “404 Not Found” or “500  Internal Server Error” error page without revealing the exact database error message.</a:t>
            </a:r>
          </a:p>
          <a:p>
            <a:r>
              <a:rPr lang="en-US" sz="2400" dirty="0"/>
              <a:t>Blind injection is used in such cases. It allows attackers to </a:t>
            </a:r>
            <a:r>
              <a:rPr lang="en-US" sz="2400" b="1" dirty="0"/>
              <a:t>infer</a:t>
            </a:r>
            <a:r>
              <a:rPr lang="en-US" sz="2400" dirty="0"/>
              <a:t> the data present in a database system.</a:t>
            </a:r>
          </a:p>
          <a:p>
            <a:r>
              <a:rPr lang="en-US" sz="2400" dirty="0"/>
              <a:t>For example, the attacker asks the server true/false questions to observe the functionality in each case.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602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868D4-8582-1664-0728-95117851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214F-49D6-624D-2712-B8FE106B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Inferential Attack </a:t>
            </a:r>
            <a:r>
              <a:rPr lang="en-US" sz="3600" dirty="0"/>
              <a:t>(gathering info)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A1024-D565-1BCD-7D5C-95AD47F7504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544" y="1848644"/>
            <a:ext cx="8229600" cy="4676700"/>
          </a:xfrm>
        </p:spPr>
        <p:txBody>
          <a:bodyPr/>
          <a:lstStyle/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dirty="0"/>
              <a:t>Suppose the URL </a:t>
            </a:r>
            <a:r>
              <a:rPr lang="en-US" sz="2000" dirty="0">
                <a:solidFill>
                  <a:srgbClr val="0070C0"/>
                </a:solidFill>
              </a:rPr>
              <a:t>http://newspaper.com/items.php?id=2</a:t>
            </a:r>
            <a:r>
              <a:rPr lang="en-US" sz="2000" dirty="0"/>
              <a:t> sends the following query to the database:</a:t>
            </a:r>
          </a:p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SELECT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title,</a:t>
            </a:r>
            <a:r>
              <a:rPr lang="en-US" sz="2000" b="0" dirty="0"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descr</a:t>
            </a:r>
            <a:r>
              <a:rPr lang="en-US" sz="2000" b="0" dirty="0"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body </a:t>
            </a:r>
            <a:r>
              <a:rPr lang="en-US" sz="2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items </a:t>
            </a:r>
            <a:r>
              <a:rPr lang="en-US" sz="2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WHERE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ID = 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2</a:t>
            </a:r>
            <a:endParaRPr lang="en-US" sz="2000" b="0" dirty="0">
              <a:solidFill>
                <a:srgbClr val="000000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dirty="0"/>
              <a:t>The attacker may then try to inject a query that returns ‘false’:</a:t>
            </a:r>
          </a:p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70C0"/>
                </a:solidFill>
              </a:rPr>
              <a:t>http://newspaper.com/items.php?id=</a:t>
            </a:r>
            <a:r>
              <a:rPr lang="en-US" sz="2000" dirty="0">
                <a:solidFill>
                  <a:srgbClr val="C00000"/>
                </a:solidFill>
              </a:rPr>
              <a:t>2 and 1=2</a:t>
            </a:r>
          </a:p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dirty="0"/>
              <a:t>Now the SQL query should looks like this:</a:t>
            </a:r>
          </a:p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SELECT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title, </a:t>
            </a:r>
            <a:r>
              <a:rPr lang="en-US" sz="2000" b="0" dirty="0" err="1"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descr</a:t>
            </a:r>
            <a:r>
              <a:rPr lang="en-US" sz="2000" b="0" dirty="0"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body </a:t>
            </a:r>
            <a:r>
              <a:rPr lang="en-US" sz="2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items </a:t>
            </a:r>
            <a:r>
              <a:rPr lang="en-US" sz="2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WHERE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ID = 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and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2</a:t>
            </a:r>
            <a:endParaRPr lang="en-US" sz="2000" b="0" dirty="0">
              <a:solidFill>
                <a:srgbClr val="000000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dirty="0"/>
              <a:t>If the web application is vulnerable to SQLi, then it probably will not return anything (because WHERE clause is false). To make sure, the attacker will inject a query that will return ‘true’:</a:t>
            </a:r>
          </a:p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70C0"/>
                </a:solidFill>
              </a:rPr>
              <a:t>http://newspaper.com/items.php?id=2 and 1=1</a:t>
            </a:r>
          </a:p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dirty="0"/>
              <a:t>If the content of this page is different from the previous one, then the attacker is able to verify that injection is working.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F1547-F620-BEA0-85BF-D22538DC02A1}"/>
              </a:ext>
            </a:extLst>
          </p:cNvPr>
          <p:cNvSpPr txBox="1"/>
          <p:nvPr/>
        </p:nvSpPr>
        <p:spPr>
          <a:xfrm>
            <a:off x="4858536" y="6566408"/>
            <a:ext cx="3960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https://owasp.org/www-community/attacks/Blind_SQL_Injection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ADF00-BB3E-4CBB-F58B-38083075E78F}"/>
              </a:ext>
            </a:extLst>
          </p:cNvPr>
          <p:cNvSpPr txBox="1"/>
          <p:nvPr/>
        </p:nvSpPr>
        <p:spPr>
          <a:xfrm>
            <a:off x="2195736" y="1427274"/>
            <a:ext cx="4643020" cy="417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000" b="1" dirty="0"/>
              <a:t>Blind SQL injection Example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2211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B2AF-2235-0D3C-AC87-F8FE2A071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Denial-of-Service using 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5B62A-D506-3854-9886-4E1AD12E44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Attackers can also inject queries that cause DBMS to perform long useless calculations, draining all CPU resources. e.g.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000" dirty="0"/>
              <a:t>Note: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87447"/>
                </a:solidFill>
                <a:latin typeface="Consolas" panose="020B0609020204030204" pitchFamily="49" charset="0"/>
              </a:rPr>
              <a:t>ENCODE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ptext</a:t>
            </a:r>
            <a:r>
              <a:rPr lang="en-US" sz="2000" dirty="0">
                <a:latin typeface="Consolas" panose="020B0609020204030204" pitchFamily="49" charset="0"/>
              </a:rPr>
              <a:t>, p) </a:t>
            </a:r>
            <a:r>
              <a:rPr lang="en-US" sz="2000" dirty="0"/>
              <a:t>encrypts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ptext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/>
              <a:t>with password</a:t>
            </a:r>
            <a:r>
              <a:rPr lang="en-US" sz="2000" dirty="0">
                <a:latin typeface="Consolas" panose="020B0609020204030204" pitchFamily="49" charset="0"/>
              </a:rPr>
              <a:t> p</a:t>
            </a:r>
            <a:r>
              <a:rPr lang="en-US" sz="2000" dirty="0"/>
              <a:t>.</a:t>
            </a:r>
            <a:r>
              <a:rPr lang="en-US" sz="2000" dirty="0">
                <a:solidFill>
                  <a:srgbClr val="887447"/>
                </a:solidFill>
                <a:latin typeface="Consolas" panose="020B0609020204030204" pitchFamily="49" charset="0"/>
              </a:rPr>
              <a:t> DECODE</a:t>
            </a:r>
            <a:r>
              <a:rPr lang="en-US" sz="2000" dirty="0"/>
              <a:t> performs decryption.</a:t>
            </a:r>
          </a:p>
          <a:p>
            <a:pPr marL="0" indent="0">
              <a:buNone/>
            </a:pPr>
            <a:r>
              <a:rPr lang="en-US" sz="2000" dirty="0"/>
              <a:t>Imagine running above query on a database containing thousands of </a:t>
            </a:r>
            <a:r>
              <a:rPr lang="en-US" sz="2000" dirty="0">
                <a:solidFill>
                  <a:srgbClr val="C00000"/>
                </a:solidFill>
              </a:rPr>
              <a:t>post</a:t>
            </a:r>
            <a:r>
              <a:rPr lang="en-US" sz="2000" dirty="0"/>
              <a:t> entries.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BF57D-F327-3ED7-FFB9-E86751CDA741}"/>
              </a:ext>
            </a:extLst>
          </p:cNvPr>
          <p:cNvSpPr txBox="1"/>
          <p:nvPr/>
        </p:nvSpPr>
        <p:spPr>
          <a:xfrm>
            <a:off x="3131840" y="6595001"/>
            <a:ext cx="56886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https://www.securityidiots.com/Web-Pentest/SQL-Injection/ddos-website-with-sqli-siddos.html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27F01-BC50-E68D-C68F-8956596202F3}"/>
              </a:ext>
            </a:extLst>
          </p:cNvPr>
          <p:cNvSpPr txBox="1"/>
          <p:nvPr/>
        </p:nvSpPr>
        <p:spPr>
          <a:xfrm>
            <a:off x="629562" y="2366878"/>
            <a:ext cx="7398822" cy="255454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DECODE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ENCODE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CONVERT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COMPRESS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(post)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latin1),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(post, post, post, post)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),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SHA1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(post, post, post, post))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)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column1</a:t>
            </a: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table_1;</a:t>
            </a:r>
          </a:p>
        </p:txBody>
      </p:sp>
    </p:spTree>
    <p:extLst>
      <p:ext uri="{BB962C8B-B14F-4D97-AF65-F5344CB8AC3E}">
        <p14:creationId xmlns:p14="http://schemas.microsoft.com/office/powerpoint/2010/main" val="952954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1BCC2-8D0E-561E-05B7-C5A4E4BB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 attempts – Real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62711-FD4F-D1F0-EFC9-1F74060F4EC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Lee </a:t>
            </a:r>
            <a:r>
              <a:rPr lang="en-US" sz="2400" dirty="0" err="1"/>
              <a:t>Penkman</a:t>
            </a:r>
            <a:r>
              <a:rPr lang="en-US" sz="2400" dirty="0"/>
              <a:t> created a form on his website. It was hidden, so actual users could not see it, only bots (scanning for vulnerabilities) could see and submit it.</a:t>
            </a:r>
          </a:p>
          <a:p>
            <a:pPr marL="0" indent="0">
              <a:buNone/>
            </a:pPr>
            <a:r>
              <a:rPr lang="en-US" sz="2400" dirty="0"/>
              <a:t>Here are some of the things submitted: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1 UNION ALL SELECT NULL#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-1 OR 2+456-456-1=0+0+0+1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wrBEIRqX</a:t>
            </a:r>
            <a:r>
              <a:rPr lang="en-US" sz="2000" dirty="0">
                <a:latin typeface="Consolas" panose="020B0609020204030204" pitchFamily="49" charset="0"/>
              </a:rPr>
              <a:t>'||DBMS_PIPE.RECEIVE_MESSAGE(CHR(98)||CHR(98)||CHR(98),15)||'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1;WAITFOR DELAY '0:0:5'—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(SELECT (CASE WHEN (2646=4989) THEN 2646 ELSE 2646*(SELECT 2646 FROM INFORMATION_SCHEMA.CHARACTER_SETS) END))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39B98-14CB-AF5A-AD2F-084EDD3CF638}"/>
              </a:ext>
            </a:extLst>
          </p:cNvPr>
          <p:cNvSpPr txBox="1"/>
          <p:nvPr/>
        </p:nvSpPr>
        <p:spPr>
          <a:xfrm>
            <a:off x="1547664" y="6052646"/>
            <a:ext cx="6048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https://github.com/lee101/hidden-form-on-the-internet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36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SQLi countermeasures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(1) Using prepared statements</a:t>
            </a:r>
            <a:r>
              <a:rPr lang="en-US" sz="2400" dirty="0"/>
              <a:t> (parameterized queries)</a:t>
            </a:r>
          </a:p>
          <a:p>
            <a:r>
              <a:rPr lang="en-US" sz="2400" dirty="0"/>
              <a:t>All database engines support this feature, to distinguish between SQL code and data.</a:t>
            </a:r>
          </a:p>
          <a:p>
            <a:r>
              <a:rPr lang="en-US" sz="2400" dirty="0"/>
              <a:t>Usage steps:</a:t>
            </a:r>
          </a:p>
          <a:p>
            <a:pPr marL="896938" indent="-355600">
              <a:buFont typeface="+mj-lt"/>
              <a:buAutoNum type="alphaLcPeriod"/>
            </a:pPr>
            <a:r>
              <a:rPr lang="en-US" sz="2000" dirty="0"/>
              <a:t>write the full SQL query, inserting placeholders (typically ‘?’) for the parameter values. We may call it a parametrized statement.</a:t>
            </a:r>
          </a:p>
          <a:p>
            <a:pPr marL="896938" indent="-355600">
              <a:buFont typeface="+mj-lt"/>
              <a:buAutoNum type="alphaLcPeriod"/>
            </a:pPr>
            <a:r>
              <a:rPr lang="en-US" sz="2000" dirty="0"/>
              <a:t>call </a:t>
            </a:r>
            <a:r>
              <a:rPr lang="en-US" sz="2000" dirty="0">
                <a:solidFill>
                  <a:srgbClr val="C00000"/>
                </a:solidFill>
              </a:rPr>
              <a:t>prepare</a:t>
            </a:r>
            <a:r>
              <a:rPr lang="en-US" sz="2000" dirty="0"/>
              <a:t> function of database engine. It will parse the statement into a query.</a:t>
            </a:r>
          </a:p>
          <a:p>
            <a:pPr marL="896938" indent="-355600">
              <a:buFont typeface="+mj-lt"/>
              <a:buAutoNum type="alphaLcPeriod"/>
            </a:pPr>
            <a:r>
              <a:rPr lang="en-US" sz="2000" dirty="0"/>
              <a:t>finally, </a:t>
            </a:r>
            <a:r>
              <a:rPr lang="en-US" sz="2000" dirty="0">
                <a:solidFill>
                  <a:srgbClr val="C00000"/>
                </a:solidFill>
              </a:rPr>
              <a:t>bind</a:t>
            </a:r>
            <a:r>
              <a:rPr lang="en-US" sz="2000" dirty="0"/>
              <a:t> the parameters to query. This way, bound values will always be interpreted as data, even if they contain any malicious </a:t>
            </a:r>
            <a:r>
              <a:rPr lang="en-US" sz="2000" dirty="0" err="1"/>
              <a:t>sql</a:t>
            </a:r>
            <a:r>
              <a:rPr lang="en-US" sz="2000" dirty="0"/>
              <a:t>.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9728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9A69-8259-6C78-0A24-0EDE77FB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49EB-7C8A-61C2-DA47-054DB3DE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SQLi countermeasures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FC6C7-1EB7-59E4-A0A5-0F0D81528A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8229600" cy="500236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dirty="0"/>
              <a:t>Prepared statements Java example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350D5-D97A-38D9-FC08-55229897FD14}"/>
              </a:ext>
            </a:extLst>
          </p:cNvPr>
          <p:cNvSpPr txBox="1"/>
          <p:nvPr/>
        </p:nvSpPr>
        <p:spPr>
          <a:xfrm>
            <a:off x="251520" y="2204864"/>
            <a:ext cx="8712968" cy="37856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latinLnBrk="0"/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 latinLnBrk="0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"INSERT INTO products (name, price) VALUES (?, ?)"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atinLnBrk="0"/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PreparedStatement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prepareStatement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(query);</a:t>
            </a:r>
          </a:p>
          <a:p>
            <a:pPr latinLnBrk="0"/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getParameter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atinLnBrk="0"/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getParameter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atinLnBrk="0"/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(input validation code goes here)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atinLnBrk="0"/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name);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1st parameter to its value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atinLnBrk="0"/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Double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(price));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bind 2nd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atinLnBrk="0"/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executeQuery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502839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229D-FB40-503D-9C92-CDD9C1049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8348-4FC2-4284-31BA-B2B53292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prepared statements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3843-54EB-D798-2EB9-18F70DD71CB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9512" y="1340768"/>
            <a:ext cx="8435280" cy="79208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Consider the query </a:t>
            </a:r>
            <a:r>
              <a:rPr lang="en-US" sz="2000" dirty="0">
                <a:solidFill>
                  <a:srgbClr val="C00000"/>
                </a:solidFill>
              </a:rPr>
              <a:t>SELECT * FROM BUGS WHERE </a:t>
            </a:r>
            <a:r>
              <a:rPr lang="en-US" sz="2000" dirty="0" err="1">
                <a:solidFill>
                  <a:srgbClr val="C00000"/>
                </a:solidFill>
              </a:rPr>
              <a:t>bug_id</a:t>
            </a:r>
            <a:r>
              <a:rPr lang="en-US" sz="2000" dirty="0">
                <a:solidFill>
                  <a:srgbClr val="C00000"/>
                </a:solidFill>
              </a:rPr>
              <a:t> = ?</a:t>
            </a:r>
          </a:p>
          <a:p>
            <a:pPr marL="0" indent="0">
              <a:buNone/>
            </a:pPr>
            <a:r>
              <a:rPr lang="en-US" sz="2000" dirty="0"/>
              <a:t>Database engine parses (compiles) the query as below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70C01-5FFE-67ED-7A63-C58CA3E01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5278"/>
            <a:ext cx="9144000" cy="47441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21C9A0-ABA9-CBEC-B89C-73EDA676C7E8}"/>
              </a:ext>
            </a:extLst>
          </p:cNvPr>
          <p:cNvSpPr txBox="1"/>
          <p:nvPr/>
        </p:nvSpPr>
        <p:spPr>
          <a:xfrm>
            <a:off x="35632" y="6567155"/>
            <a:ext cx="122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>
                <a:hlinkClick r:id="rId3"/>
              </a:rPr>
              <a:t>slideshare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5144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1E7B5-B2D9-AD18-3AE0-8EF595F5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F2E19-6424-011F-E6B9-8BE7DDAF2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prepared statements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D3C00-5B05-80F5-5690-DBD8981E5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5278"/>
            <a:ext cx="9144000" cy="474412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598E04-695E-86C3-632D-6DF5D857FD07}"/>
              </a:ext>
            </a:extLst>
          </p:cNvPr>
          <p:cNvSpPr txBox="1">
            <a:spLocks/>
          </p:cNvSpPr>
          <p:nvPr/>
        </p:nvSpPr>
        <p:spPr>
          <a:xfrm>
            <a:off x="179512" y="1340768"/>
            <a:ext cx="8435280" cy="7920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dirty="0"/>
              <a:t>Example of normal usage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AE320-F811-9DE3-0E70-6CEE64804E8B}"/>
              </a:ext>
            </a:extLst>
          </p:cNvPr>
          <p:cNvSpPr txBox="1"/>
          <p:nvPr/>
        </p:nvSpPr>
        <p:spPr>
          <a:xfrm>
            <a:off x="35632" y="6567155"/>
            <a:ext cx="122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>
                <a:hlinkClick r:id="rId3"/>
              </a:rPr>
              <a:t>slideshare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25862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A38E-FA26-493E-E124-BED3256A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7101CFD-7CDA-47EF-34F2-E03E2C934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5278"/>
            <a:ext cx="9144000" cy="47441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CC06DB-A0F2-A02A-F9ED-9ADAEB974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prepared statements work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249A3B4-8BDD-D6B5-B99D-E1FC57573F39}"/>
              </a:ext>
            </a:extLst>
          </p:cNvPr>
          <p:cNvSpPr txBox="1">
            <a:spLocks/>
          </p:cNvSpPr>
          <p:nvPr/>
        </p:nvSpPr>
        <p:spPr>
          <a:xfrm>
            <a:off x="179512" y="1340768"/>
            <a:ext cx="8435280" cy="7920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dirty="0"/>
              <a:t>When a malicious input is passed in, like </a:t>
            </a:r>
            <a:r>
              <a:rPr lang="en-US" sz="2000" dirty="0">
                <a:solidFill>
                  <a:srgbClr val="C00000"/>
                </a:solidFill>
              </a:rPr>
              <a:t>1234 OR True</a:t>
            </a:r>
            <a:r>
              <a:rPr lang="en-US" sz="2000" dirty="0"/>
              <a:t>, and query is being prepared with interpolation (or concatenation), it becomes: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AF7208-00E6-5EB1-F076-3D7691ED181C}"/>
              </a:ext>
            </a:extLst>
          </p:cNvPr>
          <p:cNvSpPr txBox="1"/>
          <p:nvPr/>
        </p:nvSpPr>
        <p:spPr>
          <a:xfrm>
            <a:off x="35632" y="6567155"/>
            <a:ext cx="122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>
                <a:hlinkClick r:id="rId3"/>
              </a:rPr>
              <a:t>slideshare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73751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3D42-7E36-31F7-87FF-56433E2F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54A015-42BE-0647-54F3-057395302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5278"/>
            <a:ext cx="9144000" cy="47441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976ECA-ED49-34C8-1DBE-D61FFD47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prepared statements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A16DEB-D4CE-B61C-2EE3-7B8B43BA6EF0}"/>
              </a:ext>
            </a:extLst>
          </p:cNvPr>
          <p:cNvSpPr txBox="1"/>
          <p:nvPr/>
        </p:nvSpPr>
        <p:spPr>
          <a:xfrm>
            <a:off x="35632" y="6567155"/>
            <a:ext cx="122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>
                <a:hlinkClick r:id="rId3"/>
              </a:rPr>
              <a:t>slideshare</a:t>
            </a:r>
            <a:endParaRPr lang="en-US" sz="1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0F5C94-C1C2-1159-8E56-AF7E832F1E4F}"/>
              </a:ext>
            </a:extLst>
          </p:cNvPr>
          <p:cNvSpPr txBox="1">
            <a:spLocks/>
          </p:cNvSpPr>
          <p:nvPr/>
        </p:nvSpPr>
        <p:spPr>
          <a:xfrm>
            <a:off x="179512" y="1340768"/>
            <a:ext cx="8435280" cy="7920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dirty="0"/>
              <a:t>With prepared statements, every input is treated as data, not code. So the </a:t>
            </a:r>
            <a:r>
              <a:rPr lang="en-US" sz="2000" b="1" dirty="0">
                <a:solidFill>
                  <a:srgbClr val="00B050"/>
                </a:solidFill>
              </a:rPr>
              <a:t>parse tree can not change</a:t>
            </a:r>
            <a:r>
              <a:rPr lang="en-US" sz="2000" dirty="0"/>
              <a:t>.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74960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SQLi countermeasures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(2) Stronger data validation</a:t>
            </a:r>
            <a:endParaRPr lang="en-US" sz="2400" dirty="0"/>
          </a:p>
          <a:p>
            <a:r>
              <a:rPr lang="en-US" sz="2400" dirty="0"/>
              <a:t>type checking, e.g. to check that inputs that are supposed to be numeric contain no characters other than digits</a:t>
            </a:r>
          </a:p>
          <a:p>
            <a:r>
              <a:rPr lang="en-US" sz="2400" dirty="0"/>
              <a:t>pattern matching to distinguish normal input from abnormal</a:t>
            </a:r>
          </a:p>
          <a:p>
            <a:pPr marL="0" indent="0">
              <a:buNone/>
            </a:pPr>
            <a:r>
              <a:rPr lang="en-US" sz="2400" b="1" dirty="0"/>
              <a:t>(3) Sanitizing inputs</a:t>
            </a:r>
            <a:endParaRPr lang="en-US" sz="2400" dirty="0"/>
          </a:p>
          <a:p>
            <a:r>
              <a:rPr lang="en-US" sz="2400" dirty="0"/>
              <a:t>Escape all special characters (quotes, semicolons, hyphens etc.) to sanitize (clean) all inputs from user</a:t>
            </a:r>
          </a:p>
          <a:p>
            <a:pPr lvl="1"/>
            <a:r>
              <a:rPr lang="en-US" sz="2000" dirty="0"/>
              <a:t>e.g. to use a literal single quote in string, include it twice, i.e. 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it''s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 me'</a:t>
            </a:r>
            <a:r>
              <a:rPr lang="en-US" sz="2000" dirty="0"/>
              <a:t> is interpreted as </a:t>
            </a: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</a:rPr>
              <a:t>it's me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0DBB1-6348-417C-D7D7-DAC049471A29}"/>
              </a:ext>
            </a:extLst>
          </p:cNvPr>
          <p:cNvSpPr txBox="1"/>
          <p:nvPr/>
        </p:nvSpPr>
        <p:spPr>
          <a:xfrm>
            <a:off x="35496" y="6351711"/>
            <a:ext cx="6713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Further reading:</a:t>
            </a:r>
          </a:p>
          <a:p>
            <a:r>
              <a:rPr lang="en-US" sz="1200" dirty="0"/>
              <a:t>Prepared statements can’t help in every case: </a:t>
            </a:r>
            <a:r>
              <a:rPr lang="en-US" sz="1200" dirty="0">
                <a:hlinkClick r:id="rId2"/>
              </a:rPr>
              <a:t>https://stackoverflow.com/a/43235265/1427771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5994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813C-9FD9-EAE9-368D-AD455504C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SQLi countermeasures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C05BDA-4318-2BE4-7D40-277BF5E35C0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2632333"/>
            <a:ext cx="8229600" cy="253313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62B5E8-9D01-8169-B084-D4853112D96D}"/>
              </a:ext>
            </a:extLst>
          </p:cNvPr>
          <p:cNvSpPr txBox="1"/>
          <p:nvPr/>
        </p:nvSpPr>
        <p:spPr>
          <a:xfrm>
            <a:off x="925477" y="5661248"/>
            <a:ext cx="7472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https://www.explainxkcd.com/wiki/index.php/327:_Exploits_of_a_Mom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041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0342-81C3-C353-8B75-C78EB38B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SQLi countermeasures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4CD13-8D9A-3632-CD1E-29EBD71B564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b="1" dirty="0"/>
              <a:t>Detection</a:t>
            </a:r>
          </a:p>
          <a:p>
            <a:pPr lvl="1"/>
            <a:r>
              <a:rPr lang="en-US" sz="2000" dirty="0"/>
              <a:t>Signature based</a:t>
            </a:r>
          </a:p>
          <a:p>
            <a:pPr lvl="1"/>
            <a:r>
              <a:rPr lang="en-US" sz="2000" dirty="0"/>
              <a:t>Anomaly based</a:t>
            </a:r>
          </a:p>
          <a:p>
            <a:pPr lvl="1"/>
            <a:r>
              <a:rPr lang="en-US" sz="2000" dirty="0"/>
              <a:t>Code analysis</a:t>
            </a:r>
          </a:p>
          <a:p>
            <a:r>
              <a:rPr lang="en-US" sz="2400" b="1" dirty="0"/>
              <a:t>Runtime prevention:</a:t>
            </a:r>
            <a:r>
              <a:rPr lang="en-US" sz="2400" dirty="0"/>
              <a:t> Check queries at runtime to see if they conform to a model of expected queries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208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120" y="2780928"/>
            <a:ext cx="7524328" cy="1069514"/>
          </a:xfrm>
        </p:spPr>
        <p:txBody>
          <a:bodyPr/>
          <a:lstStyle/>
          <a:p>
            <a:pPr algn="ctr"/>
            <a:r>
              <a:rPr lang="en-US" sz="4400" dirty="0"/>
              <a:t>Database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643099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67544" y="1556792"/>
            <a:ext cx="8229600" cy="4676700"/>
          </a:xfrm>
        </p:spPr>
        <p:txBody>
          <a:bodyPr/>
          <a:lstStyle/>
          <a:p>
            <a:r>
              <a:rPr lang="en-US" sz="2800" dirty="0"/>
              <a:t>DBMS can provide specific access rights to portions of the database</a:t>
            </a:r>
          </a:p>
          <a:p>
            <a:pPr lvl="1"/>
            <a:r>
              <a:rPr lang="en-US" sz="2400" dirty="0"/>
              <a:t>e.g. create, insert, delete, update, read, write</a:t>
            </a:r>
          </a:p>
          <a:p>
            <a:pPr lvl="1"/>
            <a:r>
              <a:rPr lang="en-US" sz="2400" dirty="0"/>
              <a:t>to entire database, tables, selected rows or columns</a:t>
            </a:r>
          </a:p>
          <a:p>
            <a:pPr lvl="1"/>
            <a:r>
              <a:rPr lang="en-US" sz="2400" dirty="0"/>
              <a:t>possibly dependent on contents of a table entry</a:t>
            </a:r>
          </a:p>
          <a:p>
            <a:pPr lvl="2"/>
            <a:r>
              <a:rPr lang="en-US" sz="1800" dirty="0"/>
              <a:t>e.g. A teacher can view marks of their own students only</a:t>
            </a:r>
            <a:endParaRPr lang="en-US" dirty="0"/>
          </a:p>
          <a:p>
            <a:r>
              <a:rPr lang="en-US" sz="2800" dirty="0"/>
              <a:t>can support a range of policies:</a:t>
            </a:r>
          </a:p>
          <a:p>
            <a:pPr lvl="1"/>
            <a:r>
              <a:rPr lang="en-US" sz="2400" dirty="0"/>
              <a:t>centralized administration</a:t>
            </a:r>
          </a:p>
          <a:p>
            <a:pPr lvl="1"/>
            <a:r>
              <a:rPr lang="en-US" sz="2400" dirty="0"/>
              <a:t>ownership-based administration</a:t>
            </a:r>
          </a:p>
          <a:p>
            <a:pPr lvl="1"/>
            <a:r>
              <a:rPr lang="en-US" sz="2400" dirty="0"/>
              <a:t>decentralized administration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8937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Access Control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200" dirty="0"/>
              <a:t>To define if a user has access to the entire database or just portions of it, there are two commands: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GRANT {privileges} [ON table] TO {user | PUBLIC} [IDENTIFIED BY password] [WITH GRANT OPTION]</a:t>
            </a:r>
          </a:p>
          <a:p>
            <a:pPr lvl="1"/>
            <a:r>
              <a:rPr lang="en-US" sz="2000" dirty="0"/>
              <a:t>e.g.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GRANT SELECT, INSERT ON ANY TABLE TO john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REVOKE {privileges} [ON table] FROM {user | PUBLIC}</a:t>
            </a:r>
          </a:p>
          <a:p>
            <a:pPr lvl="1"/>
            <a:r>
              <a:rPr lang="en-US" sz="2000" dirty="0"/>
              <a:t>e.g.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REVOKE SELECT ON ANY TABLE FROM john</a:t>
            </a:r>
          </a:p>
          <a:p>
            <a:r>
              <a:rPr lang="en-US" sz="2200" dirty="0"/>
              <a:t>Typical access rights (privileges) are: SELECT, INSERT, UPDATE, DELETE, REFERENCES. Column restriction can also be specified where applicable,</a:t>
            </a:r>
          </a:p>
          <a:p>
            <a:pPr lvl="1"/>
            <a:r>
              <a:rPr lang="en-US" sz="2000" dirty="0"/>
              <a:t>e.g.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GRANT UPDATE (col1, col2) ...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0859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Authorizations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>
                <a:latin typeface="Consolas" panose="020B0609020204030204" pitchFamily="49" charset="0"/>
              </a:rPr>
              <a:t>WITH GRANT OPTION</a:t>
            </a:r>
            <a:r>
              <a:rPr lang="en-US" sz="2400" dirty="0"/>
              <a:t>: whether grantee can authorize (</a:t>
            </a:r>
            <a:r>
              <a:rPr lang="en-US" sz="2400" dirty="0">
                <a:latin typeface="Consolas" panose="020B0609020204030204" pitchFamily="49" charset="0"/>
              </a:rPr>
              <a:t>GRANT</a:t>
            </a:r>
            <a:r>
              <a:rPr lang="en-US" sz="2400" dirty="0"/>
              <a:t>) other users with the same privileges</a:t>
            </a:r>
          </a:p>
          <a:p>
            <a:r>
              <a:rPr lang="en-US" sz="2400" dirty="0"/>
              <a:t>When this option is included, access right will cascade through.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60" y="3429000"/>
            <a:ext cx="7809524" cy="1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19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Authorizations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It works the same way with </a:t>
            </a:r>
            <a:r>
              <a:rPr lang="en-US" sz="2400" b="1" dirty="0"/>
              <a:t>revocations</a:t>
            </a:r>
            <a:r>
              <a:rPr lang="en-US" sz="2400" dirty="0"/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60" y="3429000"/>
            <a:ext cx="7809524" cy="1990476"/>
          </a:xfrm>
          <a:prstGeom prst="rect">
            <a:avLst/>
          </a:prstGeom>
        </p:spPr>
      </p:pic>
      <p:sp>
        <p:nvSpPr>
          <p:cNvPr id="3" name="Multiply 2"/>
          <p:cNvSpPr/>
          <p:nvPr/>
        </p:nvSpPr>
        <p:spPr>
          <a:xfrm>
            <a:off x="1475656" y="3827379"/>
            <a:ext cx="576064" cy="576064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ultiply 5"/>
          <p:cNvSpPr/>
          <p:nvPr/>
        </p:nvSpPr>
        <p:spPr>
          <a:xfrm>
            <a:off x="1521574" y="4424238"/>
            <a:ext cx="576064" cy="576064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ine Callout 1 3"/>
          <p:cNvSpPr/>
          <p:nvPr/>
        </p:nvSpPr>
        <p:spPr>
          <a:xfrm>
            <a:off x="683568" y="5622626"/>
            <a:ext cx="2160240" cy="902718"/>
          </a:xfrm>
          <a:prstGeom prst="borderCallout1">
            <a:avLst>
              <a:gd name="adj1" fmla="val 2717"/>
              <a:gd name="adj2" fmla="val 44696"/>
              <a:gd name="adj3" fmla="val -58597"/>
              <a:gd name="adj4" fmla="val 48053"/>
            </a:avLst>
          </a:prstGeom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dirty="0"/>
              <a:t>If Ann revokes Bob’s and Chris’ access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50816" y="5798097"/>
            <a:ext cx="720080" cy="4654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44529" y="3185139"/>
            <a:ext cx="5452780" cy="2062484"/>
          </a:xfrm>
          <a:prstGeom prst="ellipse">
            <a:avLst/>
          </a:prstGeom>
          <a:blipFill dpi="0" rotWithShape="1">
            <a:blip r:embed="rId3">
              <a:alphaModFix amt="5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860032" y="5692556"/>
            <a:ext cx="2664296" cy="646331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ctr" latinLnBrk="0"/>
            <a:r>
              <a:rPr lang="en-US" dirty="0">
                <a:solidFill>
                  <a:schemeClr val="bg1"/>
                </a:solidFill>
              </a:rPr>
              <a:t>All cascaded access should also be revoked</a:t>
            </a:r>
          </a:p>
        </p:txBody>
      </p:sp>
    </p:spTree>
    <p:extLst>
      <p:ext uri="{BB962C8B-B14F-4D97-AF65-F5344CB8AC3E}">
        <p14:creationId xmlns:p14="http://schemas.microsoft.com/office/powerpoint/2010/main" val="85558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 animBg="1"/>
      <p:bldP spid="5" grpId="0" animBg="1"/>
      <p:bldP spid="8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Authorizations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Complications can arise in some cases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60" y="3429000"/>
            <a:ext cx="7809524" cy="1990476"/>
          </a:xfrm>
          <a:prstGeom prst="rect">
            <a:avLst/>
          </a:prstGeom>
        </p:spPr>
      </p:pic>
      <p:sp>
        <p:nvSpPr>
          <p:cNvPr id="4" name="Line Callout 1 3"/>
          <p:cNvSpPr/>
          <p:nvPr/>
        </p:nvSpPr>
        <p:spPr>
          <a:xfrm>
            <a:off x="1403648" y="2255525"/>
            <a:ext cx="1708364" cy="842960"/>
          </a:xfrm>
          <a:prstGeom prst="borderCallout1">
            <a:avLst>
              <a:gd name="adj1" fmla="val 99648"/>
              <a:gd name="adj2" fmla="val 82857"/>
              <a:gd name="adj3" fmla="val 155960"/>
              <a:gd name="adj4" fmla="val 104398"/>
            </a:avLst>
          </a:prstGeom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dirty="0"/>
              <a:t>Bob revokes David’s access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70672" y="5721952"/>
            <a:ext cx="720080" cy="4654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88024" y="3218025"/>
            <a:ext cx="3816424" cy="20624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211960" y="5631504"/>
            <a:ext cx="4751052" cy="646331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ctr" latinLnBrk="0"/>
            <a:r>
              <a:rPr lang="en-US" dirty="0">
                <a:solidFill>
                  <a:schemeClr val="bg1"/>
                </a:solidFill>
              </a:rPr>
              <a:t>What to do with child accesses?</a:t>
            </a:r>
          </a:p>
          <a:p>
            <a:pPr algn="ctr" latinLnBrk="0"/>
            <a:r>
              <a:rPr lang="en-US" i="1" dirty="0">
                <a:solidFill>
                  <a:schemeClr val="bg1"/>
                </a:solidFill>
              </a:rPr>
              <a:t>David’s access was also granted by Chris</a:t>
            </a:r>
          </a:p>
        </p:txBody>
      </p:sp>
      <p:sp>
        <p:nvSpPr>
          <p:cNvPr id="13" name="Multiply 12"/>
          <p:cNvSpPr/>
          <p:nvPr/>
        </p:nvSpPr>
        <p:spPr>
          <a:xfrm>
            <a:off x="3025139" y="3610930"/>
            <a:ext cx="576064" cy="576064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Authorizations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72816"/>
            <a:ext cx="7809524" cy="199047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497064" y="2171195"/>
            <a:ext cx="446195" cy="427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67544" y="1267140"/>
            <a:ext cx="49320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>
                <a:solidFill>
                  <a:schemeClr val="bg1"/>
                </a:solidFill>
              </a:rPr>
              <a:t>One option: Consider the access grant times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3" name="Multiply 12"/>
          <p:cNvSpPr/>
          <p:nvPr/>
        </p:nvSpPr>
        <p:spPr>
          <a:xfrm>
            <a:off x="2921000" y="1895925"/>
            <a:ext cx="576064" cy="576064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273966" y="2858476"/>
            <a:ext cx="446195" cy="427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002648" y="2059522"/>
            <a:ext cx="446195" cy="427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160321" y="2533547"/>
            <a:ext cx="446195" cy="427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t="4398" b="12230"/>
          <a:stretch/>
        </p:blipFill>
        <p:spPr>
          <a:xfrm>
            <a:off x="2339752" y="4581128"/>
            <a:ext cx="6651232" cy="1935384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 rot="3847396">
            <a:off x="4668235" y="3931736"/>
            <a:ext cx="720080" cy="4654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6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Role-Based Access Control (RBAC)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Role-based access control work well for DBMS</a:t>
            </a:r>
          </a:p>
          <a:p>
            <a:pPr lvl="1"/>
            <a:r>
              <a:rPr lang="en-US" sz="2000" dirty="0"/>
              <a:t>eases admin burden, improves security</a:t>
            </a:r>
          </a:p>
          <a:p>
            <a:r>
              <a:rPr lang="en-US" sz="2400" dirty="0"/>
              <a:t>Categories of database users:</a:t>
            </a:r>
          </a:p>
          <a:p>
            <a:pPr lvl="1"/>
            <a:r>
              <a:rPr lang="en-US" sz="2000" dirty="0"/>
              <a:t>application owner</a:t>
            </a:r>
          </a:p>
          <a:p>
            <a:pPr lvl="1"/>
            <a:r>
              <a:rPr lang="en-US" sz="2000" dirty="0"/>
              <a:t>end user</a:t>
            </a:r>
          </a:p>
          <a:p>
            <a:pPr lvl="1"/>
            <a:r>
              <a:rPr lang="en-US" sz="2000" dirty="0"/>
              <a:t>administrator</a:t>
            </a:r>
          </a:p>
          <a:p>
            <a:r>
              <a:rPr lang="en-US" sz="2400" dirty="0"/>
              <a:t>Administrators are responsible for managing database as a whole (installation, upgrades, security, defining applications etc.)</a:t>
            </a:r>
          </a:p>
          <a:p>
            <a:r>
              <a:rPr lang="en-US" sz="2400" dirty="0"/>
              <a:t>An application owner must assign roles to end users, e.g. software-engineer, marketing, finance, </a:t>
            </a:r>
            <a:r>
              <a:rPr lang="en-US" sz="2400" dirty="0" err="1"/>
              <a:t>hr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7096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E9A7-8FA6-6D34-D181-E8CD62E3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commands for RBAC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03C1A-E621-2038-4E2E-268D480F507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SQL GRANT and REVOKE commands can also be used for role assignments</a:t>
            </a:r>
          </a:p>
          <a:p>
            <a:pPr marL="0" indent="0">
              <a:buNone/>
            </a:pPr>
            <a:r>
              <a:rPr lang="en-US" sz="2400" u="sng" dirty="0"/>
              <a:t>Syntax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GRANT {role} TO {user}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REVOKE {role} FROM {user}</a:t>
            </a:r>
          </a:p>
          <a:p>
            <a:pPr marL="0" indent="0">
              <a:buNone/>
            </a:pPr>
            <a:r>
              <a:rPr lang="en-AU" sz="2400" u="sng" dirty="0"/>
              <a:t>Examples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GRANT manager TO sarah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  (role assignment)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GRANT INSERT, SELECT(col3) ON table4 TO manager</a:t>
            </a:r>
            <a:r>
              <a:rPr lang="en-US" sz="2400" dirty="0"/>
              <a:t> (privilege assignment to role)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REVOKE manager FROM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sarah</a:t>
            </a:r>
            <a:r>
              <a:rPr lang="en-US" sz="2400" dirty="0"/>
              <a:t> (role removal)</a:t>
            </a:r>
            <a:endParaRPr lang="en-AU" sz="24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70551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120" y="2780928"/>
            <a:ext cx="7524328" cy="1069514"/>
          </a:xfrm>
        </p:spPr>
        <p:txBody>
          <a:bodyPr/>
          <a:lstStyle/>
          <a:p>
            <a:pPr algn="ctr"/>
            <a:r>
              <a:rPr lang="en-US" sz="4400" dirty="0"/>
              <a:t>Database Inference</a:t>
            </a:r>
          </a:p>
        </p:txBody>
      </p:sp>
    </p:spTree>
    <p:extLst>
      <p:ext uri="{BB962C8B-B14F-4D97-AF65-F5344CB8AC3E}">
        <p14:creationId xmlns:p14="http://schemas.microsoft.com/office/powerpoint/2010/main" val="8222254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200" dirty="0"/>
              <a:t>The process of performing authorized queries and deducing unauthorized information from the legitimate responses received </a:t>
            </a:r>
          </a:p>
          <a:p>
            <a:r>
              <a:rPr lang="en-US" sz="2200" dirty="0"/>
              <a:t>A combination of data items can be used to infer data of a higher sensitivity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49BE4-EF75-3711-4CD9-CE75AA34D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212976"/>
            <a:ext cx="4331785" cy="334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612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Example</a:t>
            </a:r>
          </a:p>
        </p:txBody>
      </p:sp>
      <p:sp>
        <p:nvSpPr>
          <p:cNvPr id="2" name="Line Callout 2 1"/>
          <p:cNvSpPr/>
          <p:nvPr/>
        </p:nvSpPr>
        <p:spPr>
          <a:xfrm>
            <a:off x="6588224" y="5229200"/>
            <a:ext cx="2520280" cy="1440161"/>
          </a:xfrm>
          <a:prstGeom prst="borderCallout2">
            <a:avLst>
              <a:gd name="adj1" fmla="val 18751"/>
              <a:gd name="adj2" fmla="val 485"/>
              <a:gd name="adj3" fmla="val 26589"/>
              <a:gd name="adj4" fmla="val -9612"/>
              <a:gd name="adj5" fmla="val 32498"/>
              <a:gd name="adj6" fmla="val -165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dirty="0"/>
              <a:t>User can still derive the confidential information, because of same data ordering in two views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6444208" y="3262879"/>
            <a:ext cx="2520280" cy="1656184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Suppose a user is not allowed to see the salary of a specific employee, </a:t>
            </a:r>
          </a:p>
          <a:p>
            <a:pPr marL="0" indent="0">
              <a:buNone/>
            </a:pPr>
            <a:r>
              <a:rPr lang="en-US" sz="1600" dirty="0"/>
              <a:t>i.e. </a:t>
            </a:r>
            <a:r>
              <a:rPr lang="en-US" sz="1600" dirty="0">
                <a:solidFill>
                  <a:srgbClr val="FF0000"/>
                </a:solidFill>
              </a:rPr>
              <a:t>(Name, Salary)</a:t>
            </a:r>
            <a:r>
              <a:rPr lang="en-US" sz="1600" dirty="0"/>
              <a:t> combination can not be in a query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C25107-6402-5D43-8801-54BB2AB21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89155"/>
            <a:ext cx="6461945" cy="551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8170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countermeasures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Inference prevention during database design</a:t>
            </a:r>
          </a:p>
          <a:p>
            <a:pPr lvl="1"/>
            <a:r>
              <a:rPr lang="en-US" sz="2400" dirty="0"/>
              <a:t>Alter database structure or access controls</a:t>
            </a:r>
          </a:p>
          <a:p>
            <a:pPr lvl="1"/>
            <a:r>
              <a:rPr lang="en-US" sz="2400" dirty="0"/>
              <a:t>Splitting a table into multiple tables</a:t>
            </a:r>
          </a:p>
          <a:p>
            <a:pPr lvl="1"/>
            <a:r>
              <a:rPr lang="en-US" sz="2400" dirty="0"/>
              <a:t>More fine-grained access control roles</a:t>
            </a:r>
          </a:p>
          <a:p>
            <a:endParaRPr lang="en-US" sz="2800" dirty="0"/>
          </a:p>
          <a:p>
            <a:r>
              <a:rPr lang="en-US" sz="2800" dirty="0"/>
              <a:t>Inference detection at query time</a:t>
            </a:r>
          </a:p>
          <a:p>
            <a:pPr lvl="1"/>
            <a:r>
              <a:rPr lang="en-US" sz="2400" dirty="0"/>
              <a:t>by monitoring and altering or rejecting queries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9304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664" y="0"/>
            <a:ext cx="7560840" cy="692696"/>
          </a:xfrm>
        </p:spPr>
        <p:txBody>
          <a:bodyPr/>
          <a:lstStyle/>
          <a:p>
            <a:pPr algn="ctr"/>
            <a:r>
              <a:rPr lang="en-US" sz="2700" dirty="0"/>
              <a:t>Inference prevention during database design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1763688" y="692696"/>
            <a:ext cx="7272808" cy="6021288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To protect (Name, Salary) pair information, we can distribute data in three tables: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Employees (Emp#, Name, Department)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Salaries (S#, Salary)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Emp-Salary (Emp#, S#) 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200" dirty="0"/>
              <a:t>Now suppose we want to add a column of employee start dates. Which option is better for preventing inference?</a:t>
            </a:r>
          </a:p>
          <a:p>
            <a:pPr marL="0" indent="0"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Employees (Emp#, Name, Department)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Salaries (S#, Salary,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Start-Date</a:t>
            </a:r>
            <a:r>
              <a:rPr lang="en-US" sz="2200" dirty="0">
                <a:latin typeface="Consolas" panose="020B0609020204030204" pitchFamily="49" charset="0"/>
              </a:rPr>
              <a:t>)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Emp-Salary (Emp#, S#) </a:t>
            </a:r>
          </a:p>
          <a:p>
            <a:pPr marL="0" indent="0">
              <a:buNone/>
            </a:pPr>
            <a:r>
              <a:rPr lang="en-US" sz="2200" dirty="0"/>
              <a:t>           OR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Employees (Emp#, Name, Department,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Start-Date</a:t>
            </a:r>
            <a:r>
              <a:rPr lang="en-US" sz="2200" dirty="0">
                <a:latin typeface="Consolas" panose="020B0609020204030204" pitchFamily="49" charset="0"/>
              </a:rPr>
              <a:t>)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Salaries (S#, Salary)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Emp-Salary (Emp#, S#)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8" name="Line Callout 1 7"/>
          <p:cNvSpPr/>
          <p:nvPr/>
        </p:nvSpPr>
        <p:spPr>
          <a:xfrm>
            <a:off x="6876256" y="2132856"/>
            <a:ext cx="1800200" cy="432048"/>
          </a:xfrm>
          <a:prstGeom prst="borderCallout1">
            <a:avLst>
              <a:gd name="adj1" fmla="val 26588"/>
              <a:gd name="adj2" fmla="val -494"/>
              <a:gd name="adj3" fmla="val 83105"/>
              <a:gd name="adj4" fmla="val -968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Protected Table</a:t>
            </a:r>
          </a:p>
        </p:txBody>
      </p:sp>
    </p:spTree>
    <p:extLst>
      <p:ext uri="{BB962C8B-B14F-4D97-AF65-F5344CB8AC3E}">
        <p14:creationId xmlns:p14="http://schemas.microsoft.com/office/powerpoint/2010/main" val="9542037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Specialized databased that only provide data of aggregate/summary or statistical nature</a:t>
            </a:r>
          </a:p>
          <a:p>
            <a:pPr lvl="1"/>
            <a:r>
              <a:rPr lang="en-US" sz="2400" dirty="0"/>
              <a:t>e.g. sum, counts, averages</a:t>
            </a:r>
          </a:p>
          <a:p>
            <a:pPr lvl="1"/>
            <a:r>
              <a:rPr lang="en-US" sz="2400" dirty="0"/>
              <a:t>So that privacy of individuals is maintained</a:t>
            </a:r>
            <a:endParaRPr lang="en-US" sz="2800" dirty="0"/>
          </a:p>
          <a:p>
            <a:r>
              <a:rPr lang="en-US" sz="2800" dirty="0"/>
              <a:t>Two types:</a:t>
            </a:r>
          </a:p>
          <a:p>
            <a:pPr lvl="1"/>
            <a:r>
              <a:rPr lang="en-US" sz="2400" dirty="0"/>
              <a:t>pure statistical database</a:t>
            </a:r>
          </a:p>
          <a:p>
            <a:pPr lvl="1"/>
            <a:r>
              <a:rPr lang="en-US" sz="2400" dirty="0"/>
              <a:t>ordinary database with statistical access: some users have normal access, others statistical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Security problem is one of inference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3595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Example 1</a:t>
            </a:r>
          </a:p>
          <a:p>
            <a:r>
              <a:rPr lang="en-US" sz="2400" dirty="0"/>
              <a:t>Count (MS.2024.EE.female) = 1</a:t>
            </a:r>
          </a:p>
          <a:p>
            <a:r>
              <a:rPr lang="en-US" sz="2400" dirty="0"/>
              <a:t>Sum (MS.2024.EE.female, GPA) = 2.7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2400" b="1" dirty="0"/>
              <a:t>Example 2</a:t>
            </a:r>
          </a:p>
          <a:p>
            <a:r>
              <a:rPr lang="en-US" sz="2400" dirty="0"/>
              <a:t>Non secret information:</a:t>
            </a:r>
          </a:p>
          <a:p>
            <a:pPr lvl="1"/>
            <a:r>
              <a:rPr lang="en-US" sz="2000" dirty="0"/>
              <a:t>Salary range for system analyst with BS: (50K, 60K)</a:t>
            </a:r>
          </a:p>
          <a:p>
            <a:pPr lvl="1"/>
            <a:r>
              <a:rPr lang="en-US" sz="2000" dirty="0"/>
              <a:t>Salary range for system analyst with MS: (65K, 70K)</a:t>
            </a:r>
          </a:p>
          <a:p>
            <a:r>
              <a:rPr lang="en-US" sz="2400" dirty="0"/>
              <a:t>An attacker obtains the sum of all employee salaries</a:t>
            </a:r>
          </a:p>
          <a:p>
            <a:r>
              <a:rPr lang="en-US" sz="2400" dirty="0"/>
              <a:t>After a new employee joins, same query is run again.</a:t>
            </a:r>
          </a:p>
          <a:p>
            <a:r>
              <a:rPr lang="en-US" sz="2400" dirty="0"/>
              <a:t>The difference will reveal the new employee’s salary and qualification</a:t>
            </a:r>
          </a:p>
          <a:p>
            <a:endParaRPr lang="en-US" sz="2400" dirty="0"/>
          </a:p>
        </p:txBody>
      </p:sp>
      <p:sp>
        <p:nvSpPr>
          <p:cNvPr id="4" name="Line Callout 2 3"/>
          <p:cNvSpPr/>
          <p:nvPr/>
        </p:nvSpPr>
        <p:spPr>
          <a:xfrm>
            <a:off x="6444208" y="1844824"/>
            <a:ext cx="2592288" cy="936104"/>
          </a:xfrm>
          <a:prstGeom prst="borderCallout2">
            <a:avLst>
              <a:gd name="adj1" fmla="val 18751"/>
              <a:gd name="adj2" fmla="val 159"/>
              <a:gd name="adj3" fmla="val 18750"/>
              <a:gd name="adj4" fmla="val -16667"/>
              <a:gd name="adj5" fmla="val 66031"/>
              <a:gd name="adj6" fmla="val -245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dirty="0"/>
              <a:t>Privacy compromised (only one student in group)</a:t>
            </a:r>
          </a:p>
        </p:txBody>
      </p:sp>
    </p:spTree>
    <p:extLst>
      <p:ext uri="{BB962C8B-B14F-4D97-AF65-F5344CB8AC3E}">
        <p14:creationId xmlns:p14="http://schemas.microsoft.com/office/powerpoint/2010/main" val="34739475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Protecting against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Query restriction</a:t>
            </a:r>
          </a:p>
          <a:p>
            <a:pPr lvl="1"/>
            <a:r>
              <a:rPr lang="en-US" sz="2000" dirty="0"/>
              <a:t>Rejects a query that can lead to a compromise.</a:t>
            </a:r>
          </a:p>
          <a:p>
            <a:pPr lvl="1"/>
            <a:r>
              <a:rPr lang="en-US" sz="2000" dirty="0"/>
              <a:t>The answers provided are accurate. </a:t>
            </a:r>
          </a:p>
          <a:p>
            <a:r>
              <a:rPr lang="en-US" sz="2400" dirty="0"/>
              <a:t>The simplest is query size restriction. </a:t>
            </a:r>
          </a:p>
          <a:p>
            <a:pPr lvl="1"/>
            <a:r>
              <a:rPr lang="en-US" sz="2000" dirty="0"/>
              <a:t>A query is permitted only if the number of records that match the query condition are more than a threshold, k (where k&gt;1).</a:t>
            </a:r>
          </a:p>
          <a:p>
            <a:pPr lvl="1"/>
            <a:r>
              <a:rPr lang="en-US" sz="2000" dirty="0"/>
              <a:t>In practice, queries over the whole table are allowed, enabling users to easily access statistics calculated on the entire tables. 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/>
          <a:srcRect t="5061" b="15560"/>
          <a:stretch/>
        </p:blipFill>
        <p:spPr bwMode="auto">
          <a:xfrm>
            <a:off x="2267607" y="4797152"/>
            <a:ext cx="4788297" cy="1426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61219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Protecting against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Perturbation</a:t>
            </a:r>
          </a:p>
          <a:p>
            <a:pPr lvl="1"/>
            <a:r>
              <a:rPr lang="en-US" sz="2400" dirty="0"/>
              <a:t>Add noise to statistics generated from data</a:t>
            </a:r>
          </a:p>
          <a:p>
            <a:pPr lvl="1"/>
            <a:r>
              <a:rPr lang="en-US" sz="2400" dirty="0"/>
              <a:t>will result in differences in statistics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Data perturbation</a:t>
            </a:r>
          </a:p>
          <a:p>
            <a:pPr lvl="1"/>
            <a:r>
              <a:rPr lang="en-US" sz="2400" dirty="0"/>
              <a:t>Swap attribute data between rows so that individual records are not accurate, but overall statistics remain similar</a:t>
            </a:r>
          </a:p>
          <a:p>
            <a:endParaRPr 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/>
          <a:srcRect b="16490"/>
          <a:stretch/>
        </p:blipFill>
        <p:spPr bwMode="auto">
          <a:xfrm>
            <a:off x="2051720" y="4849440"/>
            <a:ext cx="5467350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142398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Protecting against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dirty="0"/>
              <a:t>Output perturbation</a:t>
            </a:r>
          </a:p>
          <a:p>
            <a:pPr lvl="1"/>
            <a:r>
              <a:rPr lang="en-US" sz="2400" b="1" dirty="0"/>
              <a:t>Random-sample query</a:t>
            </a:r>
            <a:r>
              <a:rPr lang="en-US" sz="2400" dirty="0"/>
              <a:t>: Calculate the statistics on a properly selected sampled query subset</a:t>
            </a:r>
          </a:p>
          <a:p>
            <a:pPr lvl="1"/>
            <a:r>
              <a:rPr lang="en-US" sz="2400" b="1" dirty="0"/>
              <a:t>Statistic adjustment</a:t>
            </a:r>
            <a:r>
              <a:rPr lang="en-US" sz="2400" dirty="0"/>
              <a:t>: Adjusting the answer up or down by a given amount in some systematic fashion</a:t>
            </a:r>
          </a:p>
          <a:p>
            <a:pPr lvl="1"/>
            <a:r>
              <a:rPr lang="en-US" sz="2400" dirty="0"/>
              <a:t>Must minimize loss of accuracy in results</a:t>
            </a:r>
          </a:p>
          <a:p>
            <a:pPr lvl="1"/>
            <a:endParaRPr lang="en-US" sz="2400" dirty="0"/>
          </a:p>
          <a:p>
            <a:endParaRPr lang="en-US" sz="2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/>
          <a:srcRect b="17378"/>
          <a:stretch/>
        </p:blipFill>
        <p:spPr bwMode="auto">
          <a:xfrm>
            <a:off x="2462212" y="4797152"/>
            <a:ext cx="4219575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654709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2780928"/>
            <a:ext cx="6552728" cy="1069514"/>
          </a:xfrm>
        </p:spPr>
        <p:txBody>
          <a:bodyPr/>
          <a:lstStyle/>
          <a:p>
            <a:r>
              <a:rPr lang="en-US" sz="4800" dirty="0"/>
              <a:t>Database Encryption</a:t>
            </a:r>
          </a:p>
        </p:txBody>
      </p:sp>
    </p:spTree>
    <p:extLst>
      <p:ext uri="{BB962C8B-B14F-4D97-AF65-F5344CB8AC3E}">
        <p14:creationId xmlns:p14="http://schemas.microsoft.com/office/powerpoint/2010/main" val="14164212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Databases typically a valuable info resource</a:t>
            </a:r>
          </a:p>
          <a:p>
            <a:pPr lvl="1"/>
            <a:r>
              <a:rPr lang="en-US" sz="2400" dirty="0"/>
              <a:t>protected by multiple layers of security: firewalls, authentication, OS access control systems, DB access control systems</a:t>
            </a:r>
          </a:p>
          <a:p>
            <a:r>
              <a:rPr lang="en-US" sz="2800" dirty="0"/>
              <a:t>For particularly sensitive data, DB encryption is the last line of defense </a:t>
            </a:r>
          </a:p>
          <a:p>
            <a:r>
              <a:rPr lang="en-US" sz="2800" dirty="0"/>
              <a:t>DB Encryption creates challenges</a:t>
            </a:r>
          </a:p>
          <a:p>
            <a:pPr lvl="1"/>
            <a:r>
              <a:rPr lang="en-US" sz="2400" dirty="0"/>
              <a:t>How to distribute decryption keys</a:t>
            </a:r>
          </a:p>
          <a:p>
            <a:pPr lvl="1"/>
            <a:r>
              <a:rPr lang="en-US" sz="2400" dirty="0"/>
              <a:t>How to execute queries, i.e. search for records</a:t>
            </a:r>
          </a:p>
        </p:txBody>
      </p:sp>
    </p:spTree>
    <p:extLst>
      <p:ext uri="{BB962C8B-B14F-4D97-AF65-F5344CB8AC3E}">
        <p14:creationId xmlns:p14="http://schemas.microsoft.com/office/powerpoint/2010/main" val="13496585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an Encrypted DB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99DF6C-5E81-3B3C-5CEB-9FC7725F0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976" y="1700808"/>
            <a:ext cx="7328512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979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Encrypt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Can encrypt</a:t>
            </a:r>
          </a:p>
          <a:p>
            <a:pPr lvl="1"/>
            <a:r>
              <a:rPr lang="en-US" sz="2400" dirty="0"/>
              <a:t>entire database (tables) </a:t>
            </a:r>
          </a:p>
          <a:p>
            <a:pPr lvl="2"/>
            <a:r>
              <a:rPr lang="en-US" sz="2000" dirty="0"/>
              <a:t>very inflexible and inefficient (how to execute queries?)</a:t>
            </a:r>
          </a:p>
          <a:p>
            <a:pPr lvl="1"/>
            <a:r>
              <a:rPr lang="en-US" sz="2400" dirty="0"/>
              <a:t>individual fields</a:t>
            </a:r>
          </a:p>
          <a:p>
            <a:pPr lvl="2"/>
            <a:r>
              <a:rPr lang="en-US" sz="2000" dirty="0"/>
              <a:t>simpler but still inflexible </a:t>
            </a:r>
          </a:p>
          <a:p>
            <a:pPr lvl="1"/>
            <a:r>
              <a:rPr lang="en-US" sz="2400" dirty="0"/>
              <a:t>records (rows)</a:t>
            </a:r>
          </a:p>
          <a:p>
            <a:pPr lvl="2"/>
            <a:r>
              <a:rPr lang="en-US" sz="1800" dirty="0"/>
              <a:t>best if attribute indexes are created to help data retrieval</a:t>
            </a:r>
            <a:endParaRPr lang="en-US" sz="2800" dirty="0"/>
          </a:p>
          <a:p>
            <a:r>
              <a:rPr lang="en-US" sz="2800" dirty="0"/>
              <a:t>Varying trade-offs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25102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Level Encryption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Suppose that each individual item in the database is encrypted separately. </a:t>
            </a:r>
          </a:p>
          <a:p>
            <a:r>
              <a:rPr lang="en-US" sz="2400" dirty="0"/>
              <a:t>The encrypted database is stored at the server, but the server does not have the key, so that the data is secure at the server. The client system does have a copy of the encryption key. </a:t>
            </a:r>
          </a:p>
          <a:p>
            <a:endParaRPr lang="en-US" sz="2400" dirty="0"/>
          </a:p>
          <a:p>
            <a:r>
              <a:rPr lang="en-US" sz="2400" dirty="0"/>
              <a:t>A user at the client can retrieve a record from the database with the following sequence: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user issues SQL query for fields from one or more records with a specific value of the attribute.</a:t>
            </a:r>
          </a:p>
        </p:txBody>
      </p:sp>
    </p:spTree>
    <p:extLst>
      <p:ext uri="{BB962C8B-B14F-4D97-AF65-F5344CB8AC3E}">
        <p14:creationId xmlns:p14="http://schemas.microsoft.com/office/powerpoint/2010/main" val="7365598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Level Encryption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The query processor at the client encrypts the attribute parameters, modifies the SQL query accordingly, and transmits the query to the server.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The server processes the query using the encrypted value of the attributes and returns the (encrypted) records.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The query processor decrypts the data and returns the results to user.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30088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Level Encryption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Example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SELECT </a:t>
            </a:r>
            <a:r>
              <a:rPr lang="en-US" sz="2000" dirty="0" err="1">
                <a:latin typeface="Consolas" panose="020B0609020204030204" pitchFamily="49" charset="0"/>
              </a:rPr>
              <a:t>Ename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Eid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Ephone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FROM Employee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WHERE Did = 15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Assume that the encryption key </a:t>
            </a:r>
            <a:r>
              <a:rPr lang="en-US" sz="2000" b="1" dirty="0"/>
              <a:t>k</a:t>
            </a:r>
            <a:r>
              <a:rPr lang="en-US" sz="2000" dirty="0"/>
              <a:t> is used and that the encrypted value of the department id 15 is E(k, 15) = 1000110111001110. 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query processor at the client could transform the preceding query into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latin typeface="Consolas" panose="020B0609020204030204" pitchFamily="49" charset="0"/>
              </a:rPr>
              <a:t>SELECT </a:t>
            </a:r>
            <a:r>
              <a:rPr lang="en-US" sz="2000" dirty="0" err="1">
                <a:latin typeface="Consolas" panose="020B0609020204030204" pitchFamily="49" charset="0"/>
              </a:rPr>
              <a:t>Ename</a:t>
            </a:r>
            <a:r>
              <a:rPr lang="en-US" sz="2000" dirty="0">
                <a:latin typeface="Consolas" panose="020B0609020204030204" pitchFamily="49" charset="0"/>
              </a:rPr>
              <a:t>, Eid, </a:t>
            </a:r>
            <a:r>
              <a:rPr lang="en-US" sz="2000" dirty="0" err="1">
                <a:latin typeface="Consolas" panose="020B0609020204030204" pitchFamily="49" charset="0"/>
              </a:rPr>
              <a:t>Ephone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FROM Employee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WHERE Did = 1000110111001110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1925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Level Encryption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Issues</a:t>
            </a:r>
          </a:p>
          <a:p>
            <a:r>
              <a:rPr lang="en-US" sz="2400" dirty="0"/>
              <a:t>This method is certainly straightforward but lacks flexibility.</a:t>
            </a:r>
          </a:p>
          <a:p>
            <a:r>
              <a:rPr lang="en-US" sz="2400" dirty="0"/>
              <a:t>For example, suppose the Employee table contains a salary attribute and the user wishes to retrieve all records for salaries less than 70K. </a:t>
            </a:r>
          </a:p>
          <a:p>
            <a:pPr lvl="1"/>
            <a:r>
              <a:rPr lang="en-US" sz="2000" dirty="0"/>
              <a:t>There is no obvious way to do this, because the attribute value for salary in each record is encrypted.</a:t>
            </a:r>
          </a:p>
          <a:p>
            <a:pPr lvl="1"/>
            <a:r>
              <a:rPr lang="en-US" sz="2000" dirty="0"/>
              <a:t>The set of encrypted values do not preserve the ordering of values in the original attribute.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02729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Level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Each record (row) of a table in the database is encrypted as a whole, and treated as a contiguous block.</a:t>
            </a:r>
          </a:p>
          <a:p>
            <a:r>
              <a:rPr lang="en-US" sz="2400" dirty="0"/>
              <a:t>For each row in the original database, there is one row in the encrypted database. </a:t>
            </a:r>
          </a:p>
          <a:p>
            <a:r>
              <a:rPr lang="en-US" sz="2400" dirty="0"/>
              <a:t>To assist in data retrieval, </a:t>
            </a:r>
            <a:r>
              <a:rPr lang="en-US" sz="2400" b="1" dirty="0"/>
              <a:t>attribute indexes</a:t>
            </a:r>
            <a:r>
              <a:rPr lang="en-US" sz="2400" dirty="0"/>
              <a:t> are associated with each table. For some or all of the attributes an index value is created.</a:t>
            </a:r>
          </a:p>
          <a:p>
            <a:pPr lvl="1"/>
            <a:r>
              <a:rPr lang="en-US" sz="2000" dirty="0"/>
              <a:t>For any attribute, the range of attribute values is divided into a set of non-overlapping partitions that encompass all possible values, and an index value is assigned to each partition.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42644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Level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Example</a:t>
            </a:r>
          </a:p>
          <a:p>
            <a:r>
              <a:rPr lang="en-US" sz="2400" dirty="0"/>
              <a:t>Suppose that employee ID (</a:t>
            </a:r>
            <a:r>
              <a:rPr lang="en-US" sz="2400" dirty="0" err="1"/>
              <a:t>eid</a:t>
            </a:r>
            <a:r>
              <a:rPr lang="en-US" sz="2400" dirty="0"/>
              <a:t>) values lie in the range [1, 1000]. We can divide these values into five partitions: [1, 200], [201, 400], [401, 600], [601, 800], and [801, 1000]; and then assign index values 1, 2, 3, 4, and 5, respectively.</a:t>
            </a:r>
          </a:p>
          <a:p>
            <a:r>
              <a:rPr lang="en-US" sz="2400" dirty="0"/>
              <a:t>For a text field, we can derive an index from the first letter of the attribute value. For the attribute </a:t>
            </a:r>
            <a:r>
              <a:rPr lang="en-US" sz="2400" dirty="0" err="1"/>
              <a:t>ename</a:t>
            </a:r>
            <a:r>
              <a:rPr lang="en-US" sz="2400" dirty="0"/>
              <a:t>, let us assign index 1 to values starting with A or B, index 2 to values starting with C or D, and so on.</a:t>
            </a:r>
          </a:p>
          <a:p>
            <a:r>
              <a:rPr lang="en-US" sz="2400" dirty="0"/>
              <a:t>Similar partitioning schemes can be used for each of the attributes. 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55964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Level Encryption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7B3AD-B04B-31C1-4A28-661B6B5D92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03" y="1153563"/>
            <a:ext cx="4568257" cy="1987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C71F40-5130-47E5-6B5B-82F4056900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28" y="3140968"/>
            <a:ext cx="8159584" cy="20445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E97F81-3873-26EB-2B1C-7E7F4D5098F2}"/>
              </a:ext>
            </a:extLst>
          </p:cNvPr>
          <p:cNvSpPr txBox="1"/>
          <p:nvPr/>
        </p:nvSpPr>
        <p:spPr>
          <a:xfrm>
            <a:off x="6156177" y="5199149"/>
            <a:ext cx="2585036" cy="139820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dirty="0"/>
              <a:t>The clause</a:t>
            </a:r>
          </a:p>
          <a:p>
            <a:pPr latinLnBrk="0">
              <a:lnSpc>
                <a:spcPct val="120000"/>
              </a:lnSpc>
            </a:pPr>
            <a:r>
              <a:rPr lang="en-US" dirty="0">
                <a:latin typeface="Consolas" panose="020B0609020204030204" pitchFamily="49" charset="0"/>
              </a:rPr>
              <a:t>WHERE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salary &gt; 60K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gets transformed to </a:t>
            </a:r>
          </a:p>
          <a:p>
            <a:pPr latinLnBrk="0">
              <a:lnSpc>
                <a:spcPct val="120000"/>
              </a:lnSpc>
            </a:pPr>
            <a:r>
              <a:rPr lang="en-US" dirty="0">
                <a:latin typeface="Consolas" panose="020B0609020204030204" pitchFamily="49" charset="0"/>
              </a:rPr>
              <a:t>WHERE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I(salary) ≥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8F3FE-CDF5-6F4D-730B-04D19A735EBD}"/>
              </a:ext>
            </a:extLst>
          </p:cNvPr>
          <p:cNvSpPr txBox="1"/>
          <p:nvPr/>
        </p:nvSpPr>
        <p:spPr>
          <a:xfrm>
            <a:off x="2195736" y="5313982"/>
            <a:ext cx="2557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45K ≤ salary &lt; 55K: 1</a:t>
            </a:r>
          </a:p>
          <a:p>
            <a:r>
              <a:rPr lang="en-US" dirty="0"/>
              <a:t>55K ≤ salary &lt; 65K: 2</a:t>
            </a:r>
          </a:p>
          <a:p>
            <a:r>
              <a:rPr lang="en-US" dirty="0"/>
              <a:t>65K ≤ salary &lt; 75K: 3</a:t>
            </a:r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57810635-8AEE-01D4-902F-57051258631A}"/>
              </a:ext>
            </a:extLst>
          </p:cNvPr>
          <p:cNvSpPr/>
          <p:nvPr/>
        </p:nvSpPr>
        <p:spPr>
          <a:xfrm>
            <a:off x="4716016" y="5157192"/>
            <a:ext cx="1224136" cy="578031"/>
          </a:xfrm>
          <a:prstGeom prst="bentUpArrow">
            <a:avLst>
              <a:gd name="adj1" fmla="val 17321"/>
              <a:gd name="adj2" fmla="val 25000"/>
              <a:gd name="adj3" fmla="val 25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899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57BB-8516-3352-8475-397841A0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3830-5BF9-3FA8-5685-02219028B1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Stallings SPP chap 5</a:t>
            </a:r>
          </a:p>
        </p:txBody>
      </p:sp>
    </p:spTree>
    <p:extLst>
      <p:ext uri="{BB962C8B-B14F-4D97-AF65-F5344CB8AC3E}">
        <p14:creationId xmlns:p14="http://schemas.microsoft.com/office/powerpoint/2010/main" val="217573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5743</TotalTime>
  <Words>3817</Words>
  <Application>Microsoft Office PowerPoint</Application>
  <PresentationFormat>On-screen Show (4:3)</PresentationFormat>
  <Paragraphs>392</Paragraphs>
  <Slides>64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ＭＳ Ｐゴシック</vt:lpstr>
      <vt:lpstr>Arial</vt:lpstr>
      <vt:lpstr>Calibri</vt:lpstr>
      <vt:lpstr>Consolas</vt:lpstr>
      <vt:lpstr>Courier New</vt:lpstr>
      <vt:lpstr>Wingdings</vt:lpstr>
      <vt:lpstr>Office Theme</vt:lpstr>
      <vt:lpstr>Custom Design</vt:lpstr>
      <vt:lpstr>PowerPoint Presentation</vt:lpstr>
      <vt:lpstr>Database Systems</vt:lpstr>
      <vt:lpstr>Database Architecture</vt:lpstr>
      <vt:lpstr>Relational Databases</vt:lpstr>
      <vt:lpstr>Relational Database Example</vt:lpstr>
      <vt:lpstr>Relational Database Elements</vt:lpstr>
      <vt:lpstr>Structured Query Language</vt:lpstr>
      <vt:lpstr>SQL Examples</vt:lpstr>
      <vt:lpstr>SQL Injection Attacks</vt:lpstr>
      <vt:lpstr>SQL Injection Attacks (SQLi)</vt:lpstr>
      <vt:lpstr>A typical injection attack</vt:lpstr>
      <vt:lpstr>SQLi sequence of events</vt:lpstr>
      <vt:lpstr>Injection Technique</vt:lpstr>
      <vt:lpstr>Example SQL injection</vt:lpstr>
      <vt:lpstr>In-band attacks</vt:lpstr>
      <vt:lpstr>Tautology Example</vt:lpstr>
      <vt:lpstr>Using UNIONs</vt:lpstr>
      <vt:lpstr>Inferential Attack (gathering info)</vt:lpstr>
      <vt:lpstr>Inferential Attack (gathering info)</vt:lpstr>
      <vt:lpstr>Inferential Attack (gathering info)</vt:lpstr>
      <vt:lpstr>Inferential Attack (gathering info)</vt:lpstr>
      <vt:lpstr>Inferential Attack (gathering info)</vt:lpstr>
      <vt:lpstr>Denial-of-Service using SQLi</vt:lpstr>
      <vt:lpstr>SQLi attempts – Real example</vt:lpstr>
      <vt:lpstr>SQLi countermeasures</vt:lpstr>
      <vt:lpstr>SQLi countermeasures</vt:lpstr>
      <vt:lpstr>How prepared statements work</vt:lpstr>
      <vt:lpstr>How prepared statements work</vt:lpstr>
      <vt:lpstr>How prepared statements work</vt:lpstr>
      <vt:lpstr>How prepared statements work</vt:lpstr>
      <vt:lpstr>SQLi countermeasures</vt:lpstr>
      <vt:lpstr>SQLi countermeasures</vt:lpstr>
      <vt:lpstr>SQLi countermeasures</vt:lpstr>
      <vt:lpstr>Database Access Control</vt:lpstr>
      <vt:lpstr>Database Access Control</vt:lpstr>
      <vt:lpstr>SQL Access Control Commands</vt:lpstr>
      <vt:lpstr>Cascading Authorizations</vt:lpstr>
      <vt:lpstr>Cascading Authorizations</vt:lpstr>
      <vt:lpstr>Cascading Authorizations</vt:lpstr>
      <vt:lpstr>Cascading Authorizations</vt:lpstr>
      <vt:lpstr>Role-Based Access Control (RBAC)</vt:lpstr>
      <vt:lpstr>SQL commands for RBAC</vt:lpstr>
      <vt:lpstr>Database Inference</vt:lpstr>
      <vt:lpstr>Inference</vt:lpstr>
      <vt:lpstr>Inference Example</vt:lpstr>
      <vt:lpstr>Inference countermeasures</vt:lpstr>
      <vt:lpstr>Inference prevention during database design</vt:lpstr>
      <vt:lpstr>Statistical Databases</vt:lpstr>
      <vt:lpstr>Statistical Inference Examples</vt:lpstr>
      <vt:lpstr>Protecting against Inference</vt:lpstr>
      <vt:lpstr>Protecting against Inference</vt:lpstr>
      <vt:lpstr>Protecting against Inference</vt:lpstr>
      <vt:lpstr>Database Encryption</vt:lpstr>
      <vt:lpstr>Database Encryption</vt:lpstr>
      <vt:lpstr>Querying an Encrypted DB</vt:lpstr>
      <vt:lpstr>How to Encrypt</vt:lpstr>
      <vt:lpstr>Field Level Encryption</vt:lpstr>
      <vt:lpstr>Field Level Encryption</vt:lpstr>
      <vt:lpstr>Field Level Encryption</vt:lpstr>
      <vt:lpstr>Field Level Encryption</vt:lpstr>
      <vt:lpstr>Record Level Encryption</vt:lpstr>
      <vt:lpstr>Record Level Encryption</vt:lpstr>
      <vt:lpstr>Record Level Encryption</vt:lpstr>
      <vt:lpstr>References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Ammar Haider</cp:lastModifiedBy>
  <cp:revision>389</cp:revision>
  <dcterms:created xsi:type="dcterms:W3CDTF">2014-04-01T16:35:38Z</dcterms:created>
  <dcterms:modified xsi:type="dcterms:W3CDTF">2025-10-03T04:17:09Z</dcterms:modified>
</cp:coreProperties>
</file>