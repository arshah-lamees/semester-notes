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3"/>
  </p:notesMasterIdLst>
  <p:sldIdLst>
    <p:sldId id="404" r:id="rId3"/>
    <p:sldId id="441" r:id="rId4"/>
    <p:sldId id="406" r:id="rId5"/>
    <p:sldId id="405" r:id="rId6"/>
    <p:sldId id="407" r:id="rId7"/>
    <p:sldId id="408" r:id="rId8"/>
    <p:sldId id="442" r:id="rId9"/>
    <p:sldId id="440" r:id="rId10"/>
    <p:sldId id="409" r:id="rId11"/>
    <p:sldId id="410" r:id="rId12"/>
    <p:sldId id="415" r:id="rId13"/>
    <p:sldId id="411" r:id="rId14"/>
    <p:sldId id="446" r:id="rId15"/>
    <p:sldId id="413" r:id="rId16"/>
    <p:sldId id="444" r:id="rId17"/>
    <p:sldId id="414" r:id="rId18"/>
    <p:sldId id="470" r:id="rId19"/>
    <p:sldId id="469" r:id="rId20"/>
    <p:sldId id="416" r:id="rId21"/>
    <p:sldId id="417" r:id="rId22"/>
    <p:sldId id="418" r:id="rId23"/>
    <p:sldId id="419" r:id="rId24"/>
    <p:sldId id="447" r:id="rId25"/>
    <p:sldId id="448" r:id="rId26"/>
    <p:sldId id="449" r:id="rId27"/>
    <p:sldId id="453" r:id="rId28"/>
    <p:sldId id="454" r:id="rId29"/>
    <p:sldId id="450" r:id="rId30"/>
    <p:sldId id="451" r:id="rId31"/>
    <p:sldId id="452" r:id="rId32"/>
    <p:sldId id="455" r:id="rId33"/>
    <p:sldId id="456" r:id="rId34"/>
    <p:sldId id="284" r:id="rId35"/>
    <p:sldId id="285" r:id="rId36"/>
    <p:sldId id="286" r:id="rId37"/>
    <p:sldId id="287" r:id="rId38"/>
    <p:sldId id="457" r:id="rId39"/>
    <p:sldId id="458" r:id="rId40"/>
    <p:sldId id="459" r:id="rId41"/>
    <p:sldId id="460" r:id="rId42"/>
    <p:sldId id="461" r:id="rId43"/>
    <p:sldId id="462" r:id="rId44"/>
    <p:sldId id="463" r:id="rId45"/>
    <p:sldId id="465" r:id="rId46"/>
    <p:sldId id="466" r:id="rId47"/>
    <p:sldId id="464" r:id="rId48"/>
    <p:sldId id="467" r:id="rId49"/>
    <p:sldId id="300" r:id="rId50"/>
    <p:sldId id="468" r:id="rId51"/>
    <p:sldId id="471" r:id="rId52"/>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875" autoAdjust="0"/>
  </p:normalViewPr>
  <p:slideViewPr>
    <p:cSldViewPr>
      <p:cViewPr varScale="1">
        <p:scale>
          <a:sx n="48" d="100"/>
          <a:sy n="48" d="100"/>
        </p:scale>
        <p:origin x="1752" y="64"/>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varScale="1">
      <p:scale>
        <a:sx n="100" d="100"/>
        <a:sy n="100" d="100"/>
      </p:scale>
      <p:origin x="0" y="-210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11/11/2025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en.wikipedia.org/wiki/Internet_Security_Association_and_Key_Management_Protocol"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0A0A0A"/>
                </a:solidFill>
                <a:effectLst/>
                <a:latin typeface="Google Sans"/>
              </a:rPr>
              <a:t>I am done with the unencrypted setup phase, and all my future messages will be encrypted using the new secret keys we just agreed upon</a:t>
            </a:r>
            <a:endParaRPr lang="en-US" dirty="0"/>
          </a:p>
        </p:txBody>
      </p:sp>
      <p:sp>
        <p:nvSpPr>
          <p:cNvPr id="4" name="Slide Number Placeholder 3"/>
          <p:cNvSpPr>
            <a:spLocks noGrp="1"/>
          </p:cNvSpPr>
          <p:nvPr>
            <p:ph type="sldNum" sz="quarter" idx="5"/>
          </p:nvPr>
        </p:nvSpPr>
        <p:spPr/>
        <p:txBody>
          <a:bodyPr/>
          <a:lstStyle/>
          <a:p>
            <a:fld id="{85C33C15-5131-4101-B031-6627D1EB5562}" type="slidenum">
              <a:rPr lang="en-AU" smtClean="0"/>
              <a:t>11</a:t>
            </a:fld>
            <a:endParaRPr lang="en-AU"/>
          </a:p>
        </p:txBody>
      </p:sp>
    </p:spTree>
    <p:extLst>
      <p:ext uri="{BB962C8B-B14F-4D97-AF65-F5344CB8AC3E}">
        <p14:creationId xmlns:p14="http://schemas.microsoft.com/office/powerpoint/2010/main" val="3150985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SNI(Server Name indication</a:t>
            </a:r>
          </a:p>
        </p:txBody>
      </p:sp>
      <p:sp>
        <p:nvSpPr>
          <p:cNvPr id="4" name="Slide Number Placeholder 3"/>
          <p:cNvSpPr>
            <a:spLocks noGrp="1"/>
          </p:cNvSpPr>
          <p:nvPr>
            <p:ph type="sldNum" sz="quarter" idx="5"/>
          </p:nvPr>
        </p:nvSpPr>
        <p:spPr/>
        <p:txBody>
          <a:bodyPr/>
          <a:lstStyle/>
          <a:p>
            <a:fld id="{85C33C15-5131-4101-B031-6627D1EB5562}" type="slidenum">
              <a:rPr lang="en-AU" smtClean="0"/>
              <a:t>14</a:t>
            </a:fld>
            <a:endParaRPr lang="en-AU"/>
          </a:p>
        </p:txBody>
      </p:sp>
    </p:spTree>
    <p:extLst>
      <p:ext uri="{BB962C8B-B14F-4D97-AF65-F5344CB8AC3E}">
        <p14:creationId xmlns:p14="http://schemas.microsoft.com/office/powerpoint/2010/main" val="1927395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Fragment: the application data or any record type data that you want to send</a:t>
            </a:r>
          </a:p>
        </p:txBody>
      </p:sp>
      <p:sp>
        <p:nvSpPr>
          <p:cNvPr id="4" name="Slide Number Placeholder 3"/>
          <p:cNvSpPr>
            <a:spLocks noGrp="1"/>
          </p:cNvSpPr>
          <p:nvPr>
            <p:ph type="sldNum" sz="quarter" idx="10"/>
          </p:nvPr>
        </p:nvSpPr>
        <p:spPr/>
        <p:txBody>
          <a:bodyPr/>
          <a:lstStyle/>
          <a:p>
            <a:fld id="{623892AA-4023-463E-9C0F-393DE688F7EB}" type="slidenum">
              <a:rPr lang="en-US" smtClean="0"/>
              <a:t>20</a:t>
            </a:fld>
            <a:endParaRPr lang="en-US"/>
          </a:p>
        </p:txBody>
      </p:sp>
    </p:spTree>
    <p:extLst>
      <p:ext uri="{BB962C8B-B14F-4D97-AF65-F5344CB8AC3E}">
        <p14:creationId xmlns:p14="http://schemas.microsoft.com/office/powerpoint/2010/main" val="978078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Done before encryption: means compression</a:t>
            </a:r>
            <a:r>
              <a:rPr lang="en-US" baseline="0" dirty="0"/>
              <a:t> is done before encryption. Doing compression after encryption is useless because encryption makes data completely random.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623892AA-4023-463E-9C0F-393DE688F7EB}" type="slidenum">
              <a:rPr lang="en-US" smtClean="0"/>
              <a:t>22</a:t>
            </a:fld>
            <a:endParaRPr lang="en-US"/>
          </a:p>
        </p:txBody>
      </p:sp>
    </p:spTree>
    <p:extLst>
      <p:ext uri="{BB962C8B-B14F-4D97-AF65-F5344CB8AC3E}">
        <p14:creationId xmlns:p14="http://schemas.microsoft.com/office/powerpoint/2010/main" val="2206264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 encrypt and/or authenticate all traffic at the IP level. Thus, all distributed applications, including remote logon, client/server, e-mail, file transfer, Web access, and so on, can be secured</a:t>
            </a:r>
          </a:p>
        </p:txBody>
      </p:sp>
      <p:sp>
        <p:nvSpPr>
          <p:cNvPr id="4" name="Slide Number Placeholder 3"/>
          <p:cNvSpPr>
            <a:spLocks noGrp="1"/>
          </p:cNvSpPr>
          <p:nvPr>
            <p:ph type="sldNum" sz="quarter" idx="5"/>
          </p:nvPr>
        </p:nvSpPr>
        <p:spPr/>
        <p:txBody>
          <a:bodyPr/>
          <a:lstStyle/>
          <a:p>
            <a:fld id="{85C33C15-5131-4101-B031-6627D1EB5562}" type="slidenum">
              <a:rPr lang="en-AU" smtClean="0"/>
              <a:t>27</a:t>
            </a:fld>
            <a:endParaRPr lang="en-AU"/>
          </a:p>
        </p:txBody>
      </p:sp>
    </p:spTree>
    <p:extLst>
      <p:ext uri="{BB962C8B-B14F-4D97-AF65-F5344CB8AC3E}">
        <p14:creationId xmlns:p14="http://schemas.microsoft.com/office/powerpoint/2010/main" val="2848189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this is the original IP header</a:t>
            </a:r>
          </a:p>
        </p:txBody>
      </p:sp>
      <p:sp>
        <p:nvSpPr>
          <p:cNvPr id="4" name="Slide Number Placeholder 3"/>
          <p:cNvSpPr>
            <a:spLocks noGrp="1"/>
          </p:cNvSpPr>
          <p:nvPr>
            <p:ph type="sldNum" sz="quarter" idx="10"/>
          </p:nvPr>
        </p:nvSpPr>
        <p:spPr/>
        <p:txBody>
          <a:bodyPr/>
          <a:lstStyle/>
          <a:p>
            <a:fld id="{683E756D-78F1-43B7-A0F9-82E4F96953E0}" type="slidenum">
              <a:rPr lang="en-US" smtClean="0"/>
              <a:t>30</a:t>
            </a:fld>
            <a:endParaRPr lang="en-US"/>
          </a:p>
        </p:txBody>
      </p:sp>
    </p:spTree>
    <p:extLst>
      <p:ext uri="{BB962C8B-B14F-4D97-AF65-F5344CB8AC3E}">
        <p14:creationId xmlns:p14="http://schemas.microsoft.com/office/powerpoint/2010/main" val="1639910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IPSec</a:t>
            </a:r>
            <a:r>
              <a:rPr lang="en-US" dirty="0"/>
              <a:t> is not preinstalled on the operating systems. Source</a:t>
            </a:r>
            <a:r>
              <a:rPr lang="en-US" baseline="0" dirty="0"/>
              <a:t> code of OS must be changed to implement it. See Wikipedia page for details.</a:t>
            </a:r>
            <a:endParaRPr lang="en-US" dirty="0"/>
          </a:p>
        </p:txBody>
      </p:sp>
      <p:sp>
        <p:nvSpPr>
          <p:cNvPr id="4" name="Slide Number Placeholder 3"/>
          <p:cNvSpPr>
            <a:spLocks noGrp="1"/>
          </p:cNvSpPr>
          <p:nvPr>
            <p:ph type="sldNum" sz="quarter" idx="10"/>
          </p:nvPr>
        </p:nvSpPr>
        <p:spPr/>
        <p:txBody>
          <a:bodyPr/>
          <a:lstStyle/>
          <a:p>
            <a:fld id="{683E756D-78F1-43B7-A0F9-82E4F96953E0}" type="slidenum">
              <a:rPr lang="en-US" smtClean="0"/>
              <a:t>31</a:t>
            </a:fld>
            <a:endParaRPr lang="en-US"/>
          </a:p>
        </p:txBody>
      </p:sp>
    </p:spTree>
    <p:extLst>
      <p:ext uri="{BB962C8B-B14F-4D97-AF65-F5344CB8AC3E}">
        <p14:creationId xmlns:p14="http://schemas.microsoft.com/office/powerpoint/2010/main" val="1306249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C33C15-5131-4101-B031-6627D1EB5562}" type="slidenum">
              <a:rPr lang="en-AU" smtClean="0"/>
              <a:t>34</a:t>
            </a:fld>
            <a:endParaRPr lang="en-AU"/>
          </a:p>
        </p:txBody>
      </p:sp>
    </p:spTree>
    <p:extLst>
      <p:ext uri="{BB962C8B-B14F-4D97-AF65-F5344CB8AC3E}">
        <p14:creationId xmlns:p14="http://schemas.microsoft.com/office/powerpoint/2010/main" val="3204551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"Security Association" is the big name for whatever a machine A needs to know in order to send </a:t>
            </a:r>
            <a:r>
              <a:rPr lang="en-US" sz="1200" b="0" i="0" kern="1200" dirty="0" err="1">
                <a:solidFill>
                  <a:schemeClr val="tx1"/>
                </a:solidFill>
                <a:effectLst/>
                <a:latin typeface="+mn-lt"/>
                <a:ea typeface="+mn-ea"/>
                <a:cs typeface="+mn-cs"/>
              </a:rPr>
              <a:t>IPSec</a:t>
            </a:r>
            <a:r>
              <a:rPr lang="en-US" sz="1200" b="0" i="0" kern="1200" dirty="0">
                <a:solidFill>
                  <a:schemeClr val="tx1"/>
                </a:solidFill>
                <a:effectLst/>
                <a:latin typeface="+mn-lt"/>
                <a:ea typeface="+mn-ea"/>
                <a:cs typeface="+mn-cs"/>
              </a:rPr>
              <a:t>-protected packets to a machine B. Within the memory of A is the information: "</a:t>
            </a:r>
            <a:r>
              <a:rPr lang="en-US" sz="1200" b="0" i="1" kern="1200" dirty="0">
                <a:solidFill>
                  <a:schemeClr val="tx1"/>
                </a:solidFill>
                <a:effectLst/>
                <a:latin typeface="+mn-lt"/>
                <a:ea typeface="+mn-ea"/>
                <a:cs typeface="+mn-cs"/>
              </a:rPr>
              <a:t>with B, packets must use this type of </a:t>
            </a:r>
            <a:r>
              <a:rPr lang="en-US" sz="1200" b="0" i="1" kern="1200" dirty="0" err="1">
                <a:solidFill>
                  <a:schemeClr val="tx1"/>
                </a:solidFill>
                <a:effectLst/>
                <a:latin typeface="+mn-lt"/>
                <a:ea typeface="+mn-ea"/>
                <a:cs typeface="+mn-cs"/>
              </a:rPr>
              <a:t>IPSec</a:t>
            </a:r>
            <a:r>
              <a:rPr lang="en-US" sz="1200" b="0" i="1" kern="1200" dirty="0">
                <a:solidFill>
                  <a:schemeClr val="tx1"/>
                </a:solidFill>
                <a:effectLst/>
                <a:latin typeface="+mn-lt"/>
                <a:ea typeface="+mn-ea"/>
                <a:cs typeface="+mn-cs"/>
              </a:rPr>
              <a:t> header (AH or ESP) with these cryptographic algorithms and that specific key</a:t>
            </a:r>
            <a:r>
              <a:rPr lang="en-US" sz="1200" b="0" i="0" kern="1200" dirty="0">
                <a:solidFill>
                  <a:schemeClr val="tx1"/>
                </a:solidFill>
                <a:effectLst/>
                <a:latin typeface="+mn-lt"/>
                <a:ea typeface="+mn-ea"/>
                <a:cs typeface="+mn-cs"/>
              </a:rPr>
              <a:t>". By definition, when machine A talks to machine B and uses </a:t>
            </a:r>
            <a:r>
              <a:rPr lang="en-US" sz="1200" b="0" i="0" kern="1200" dirty="0" err="1">
                <a:solidFill>
                  <a:schemeClr val="tx1"/>
                </a:solidFill>
                <a:effectLst/>
                <a:latin typeface="+mn-lt"/>
                <a:ea typeface="+mn-ea"/>
                <a:cs typeface="+mn-cs"/>
              </a:rPr>
              <a:t>IPSec</a:t>
            </a:r>
            <a:r>
              <a:rPr lang="en-US" sz="1200" b="0" i="0" kern="1200" dirty="0">
                <a:solidFill>
                  <a:schemeClr val="tx1"/>
                </a:solidFill>
                <a:effectLst/>
                <a:latin typeface="+mn-lt"/>
                <a:ea typeface="+mn-ea"/>
                <a:cs typeface="+mn-cs"/>
              </a:rPr>
              <a:t> for such communication, then there must be some convention between A and B about how this will be done. "Security Association" is the defined terminology to describe that convention. </a:t>
            </a:r>
            <a:r>
              <a:rPr lang="en-US" sz="1200" b="0" i="1"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a security association is established is another matter -- it can be manual configuration by sysadmins on both machines, or done dynamically with a protocol such as </a:t>
            </a:r>
            <a:r>
              <a:rPr lang="en-US" sz="1200" b="0" i="0" u="none" strike="noStrike" kern="1200" dirty="0">
                <a:solidFill>
                  <a:schemeClr val="tx1"/>
                </a:solidFill>
                <a:effectLst/>
                <a:latin typeface="+mn-lt"/>
                <a:ea typeface="+mn-ea"/>
                <a:cs typeface="+mn-cs"/>
                <a:hlinkClick r:id="rId3"/>
              </a:rPr>
              <a:t>ISAKMP</a:t>
            </a:r>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SPI: Uniquely identifies the SA between two parties.</a:t>
            </a:r>
          </a:p>
          <a:p>
            <a:r>
              <a:rPr lang="en-US" dirty="0"/>
              <a:t>Security protocol identifier: This indicates whether the association is an AH or ESP security association.</a:t>
            </a:r>
          </a:p>
        </p:txBody>
      </p:sp>
      <p:sp>
        <p:nvSpPr>
          <p:cNvPr id="4" name="Slide Number Placeholder 3"/>
          <p:cNvSpPr>
            <a:spLocks noGrp="1"/>
          </p:cNvSpPr>
          <p:nvPr>
            <p:ph type="sldNum" sz="quarter" idx="10"/>
          </p:nvPr>
        </p:nvSpPr>
        <p:spPr/>
        <p:txBody>
          <a:bodyPr/>
          <a:lstStyle/>
          <a:p>
            <a:fld id="{683E756D-78F1-43B7-A0F9-82E4F96953E0}" type="slidenum">
              <a:rPr lang="en-US" smtClean="0"/>
              <a:t>37</a:t>
            </a:fld>
            <a:endParaRPr lang="en-US"/>
          </a:p>
        </p:txBody>
      </p:sp>
    </p:spTree>
    <p:extLst>
      <p:ext uri="{BB962C8B-B14F-4D97-AF65-F5344CB8AC3E}">
        <p14:creationId xmlns:p14="http://schemas.microsoft.com/office/powerpoint/2010/main" val="1227370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a:t>
            </a:r>
            <a:r>
              <a:rPr lang="en-US" baseline="0" dirty="0"/>
              <a:t> configuration by sysadmins on both pcs that are communicating using </a:t>
            </a:r>
            <a:r>
              <a:rPr lang="en-US" baseline="0" dirty="0" err="1"/>
              <a:t>IPSec</a:t>
            </a:r>
            <a:r>
              <a:rPr lang="en-US" baseline="0" dirty="0"/>
              <a:t>.</a:t>
            </a:r>
          </a:p>
          <a:p>
            <a:r>
              <a:rPr lang="en-US" sz="1200" b="0" i="0" kern="1200" dirty="0">
                <a:solidFill>
                  <a:schemeClr val="tx1"/>
                </a:solidFill>
                <a:effectLst/>
                <a:latin typeface="+mn-lt"/>
                <a:ea typeface="+mn-ea"/>
                <a:cs typeface="+mn-cs"/>
              </a:rPr>
              <a:t>A security policy is used by the SAD to indicate what the router should do with the packet. Three examples include dropping the packet altogether, dropping only the SA, or substituting a different SA. All of the security policies in use are stored in a security policy database</a:t>
            </a:r>
            <a:endParaRPr lang="en-US" dirty="0"/>
          </a:p>
        </p:txBody>
      </p:sp>
      <p:sp>
        <p:nvSpPr>
          <p:cNvPr id="4" name="Slide Number Placeholder 3"/>
          <p:cNvSpPr>
            <a:spLocks noGrp="1"/>
          </p:cNvSpPr>
          <p:nvPr>
            <p:ph type="sldNum" sz="quarter" idx="10"/>
          </p:nvPr>
        </p:nvSpPr>
        <p:spPr/>
        <p:txBody>
          <a:bodyPr/>
          <a:lstStyle/>
          <a:p>
            <a:fld id="{683E756D-78F1-43B7-A0F9-82E4F96953E0}" type="slidenum">
              <a:rPr lang="en-US" smtClean="0"/>
              <a:t>38</a:t>
            </a:fld>
            <a:endParaRPr lang="en-US"/>
          </a:p>
        </p:txBody>
      </p:sp>
    </p:spTree>
    <p:extLst>
      <p:ext uri="{BB962C8B-B14F-4D97-AF65-F5344CB8AC3E}">
        <p14:creationId xmlns:p14="http://schemas.microsoft.com/office/powerpoint/2010/main" val="3016514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A0A0A"/>
                </a:solidFill>
                <a:effectLst/>
                <a:latin typeface="Google Sans"/>
              </a:rPr>
              <a:t>By "normalizing" these fields, AH ensures that the integrity check only fails if the protected parts of the packet (source/destination IPs, payload, etc.) have been tampered with, and not because of standard network operations. </a:t>
            </a:r>
            <a:endParaRPr lang="en-US" dirty="0"/>
          </a:p>
          <a:p>
            <a:endParaRPr lang="en-US" dirty="0"/>
          </a:p>
          <a:p>
            <a:r>
              <a:rPr lang="en-US" dirty="0"/>
              <a:t>Traffic</a:t>
            </a:r>
            <a:r>
              <a:rPr lang="en-US" baseline="0" dirty="0"/>
              <a:t> normalizer: normalizes traffic in such a way that Network Intrusion Detection Systems(NIDS) are able to avoid penetrations by attackers by exploiting the ambiguities </a:t>
            </a:r>
            <a:r>
              <a:rPr lang="en-US" dirty="0"/>
              <a:t>in the traffic stream as seen by the monitor. </a:t>
            </a:r>
            <a:r>
              <a:rPr lang="en-US" dirty="0" err="1"/>
              <a:t>E.g</a:t>
            </a:r>
            <a:r>
              <a:rPr lang="en-US" dirty="0"/>
              <a:t>:</a:t>
            </a:r>
            <a:r>
              <a:rPr lang="en-US" baseline="0" dirty="0"/>
              <a:t> packet maybe fragmented by the attacker so that its reassembled at the user end by evading through the NIDS.</a:t>
            </a:r>
          </a:p>
          <a:p>
            <a:endParaRPr lang="en-US" baseline="0" dirty="0"/>
          </a:p>
          <a:p>
            <a:r>
              <a:rPr lang="en-US" dirty="0"/>
              <a:t>https://users.ece.cmu.edu/~vsekar/Teaching/Spring18/18731/reading/NIDS_Handley.pdf</a:t>
            </a:r>
          </a:p>
          <a:p>
            <a:r>
              <a:rPr lang="en-US" dirty="0"/>
              <a:t>Network Intrusion Detection: Evasion, Traffic Normalization, and End-to-End Protocol Semantics Mark Handley and Vern </a:t>
            </a:r>
            <a:r>
              <a:rPr lang="en-US" dirty="0" err="1"/>
              <a:t>Paxson</a:t>
            </a:r>
            <a:endParaRPr lang="en-US" dirty="0"/>
          </a:p>
        </p:txBody>
      </p:sp>
      <p:sp>
        <p:nvSpPr>
          <p:cNvPr id="4" name="Slide Number Placeholder 3"/>
          <p:cNvSpPr>
            <a:spLocks noGrp="1"/>
          </p:cNvSpPr>
          <p:nvPr>
            <p:ph type="sldNum" sz="quarter" idx="10"/>
          </p:nvPr>
        </p:nvSpPr>
        <p:spPr/>
        <p:txBody>
          <a:bodyPr/>
          <a:lstStyle/>
          <a:p>
            <a:fld id="{683E756D-78F1-43B7-A0F9-82E4F96953E0}" type="slidenum">
              <a:rPr lang="en-US" smtClean="0"/>
              <a:t>42</a:t>
            </a:fld>
            <a:endParaRPr lang="en-US"/>
          </a:p>
        </p:txBody>
      </p:sp>
    </p:spTree>
    <p:extLst>
      <p:ext uri="{BB962C8B-B14F-4D97-AF65-F5344CB8AC3E}">
        <p14:creationId xmlns:p14="http://schemas.microsoft.com/office/powerpoint/2010/main" val="5393836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06ED44-7523-4C1C-8FCB-7B398CBF7B95}" type="datetimeFigureOut">
              <a:rPr lang="en-US" smtClean="0"/>
              <a:pPr/>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340C13-C7D4-4663-AC77-414177837D18}" type="slidenum">
              <a:rPr lang="en-US" smtClean="0"/>
              <a:pPr/>
              <a:t>‹#›</a:t>
            </a:fld>
            <a:endParaRPr lang="en-US"/>
          </a:p>
        </p:txBody>
      </p:sp>
    </p:spTree>
    <p:extLst>
      <p:ext uri="{BB962C8B-B14F-4D97-AF65-F5344CB8AC3E}">
        <p14:creationId xmlns:p14="http://schemas.microsoft.com/office/powerpoint/2010/main" val="933743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5" r:id="rId6"/>
    <p:sldLayoutId id="2147483676" r:id="rId7"/>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11/11/2025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security.stackexchange.com/q/218491/245722"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howhttps.works/the-handshake/" TargetMode="External"/><Relationship Id="rId7" Type="http://schemas.openxmlformats.org/officeDocument/2006/relationships/hyperlink" Target="https://www.ibm.com/docs/en/zos/3.1.0?topic=ipsec-ah-esp-protocols" TargetMode="External"/><Relationship Id="rId2" Type="http://schemas.openxmlformats.org/officeDocument/2006/relationships/hyperlink" Target="https://www.youtube.com/watch?v=MQg48n9lV0s" TargetMode="External"/><Relationship Id="rId1" Type="http://schemas.openxmlformats.org/officeDocument/2006/relationships/slideLayout" Target="../slideLayouts/slideLayout2.xml"/><Relationship Id="rId6" Type="http://schemas.openxmlformats.org/officeDocument/2006/relationships/hyperlink" Target="https://www.cs.fsu.edu/~duan/classes/cnt5412/lectures/lecture14_ipsec_esp_ah.pdf" TargetMode="External"/><Relationship Id="rId5" Type="http://schemas.openxmlformats.org/officeDocument/2006/relationships/hyperlink" Target="https://tls13.xargs.org/" TargetMode="External"/><Relationship Id="rId4" Type="http://schemas.openxmlformats.org/officeDocument/2006/relationships/hyperlink" Target="https://tls12.xargs.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221088"/>
            <a:ext cx="4788024" cy="646331"/>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Security in TCP/IP</a:t>
            </a:r>
          </a:p>
        </p:txBody>
      </p:sp>
      <p:pic>
        <p:nvPicPr>
          <p:cNvPr id="11" name="Picture 10" descr="Logo&#10;&#10;Description automatically generated">
            <a:extLst>
              <a:ext uri="{FF2B5EF4-FFF2-40B4-BE49-F238E27FC236}">
                <a16:creationId xmlns:a16="http://schemas.microsoft.com/office/drawing/2014/main"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id="{A287E9B7-196F-5413-1EE2-727331E78929}"/>
              </a:ext>
            </a:extLst>
          </p:cNvPr>
          <p:cNvSpPr txBox="1"/>
          <p:nvPr/>
        </p:nvSpPr>
        <p:spPr>
          <a:xfrm>
            <a:off x="2045070" y="1916832"/>
            <a:ext cx="5053861"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Tree>
    <p:extLst>
      <p:ext uri="{BB962C8B-B14F-4D97-AF65-F5344CB8AC3E}">
        <p14:creationId xmlns:p14="http://schemas.microsoft.com/office/powerpoint/2010/main" val="3004707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Implementation options</a:t>
            </a:r>
          </a:p>
        </p:txBody>
      </p:sp>
      <p:sp>
        <p:nvSpPr>
          <p:cNvPr id="3" name="Content Placeholder 2"/>
          <p:cNvSpPr>
            <a:spLocks noGrp="1"/>
          </p:cNvSpPr>
          <p:nvPr>
            <p:ph sz="quarter" idx="11"/>
          </p:nvPr>
        </p:nvSpPr>
        <p:spPr/>
        <p:txBody>
          <a:bodyPr/>
          <a:lstStyle/>
          <a:p>
            <a:pPr marL="0" indent="0">
              <a:buNone/>
            </a:pPr>
            <a:endParaRPr lang="en-US" dirty="0"/>
          </a:p>
          <a:p>
            <a:r>
              <a:rPr lang="en-US" dirty="0"/>
              <a:t>Channel Security</a:t>
            </a:r>
          </a:p>
          <a:p>
            <a:r>
              <a:rPr lang="en-US" dirty="0"/>
              <a:t>Message/Data Security</a:t>
            </a:r>
          </a:p>
          <a:p>
            <a:pPr lvl="1"/>
            <a:r>
              <a:rPr lang="en-US" dirty="0"/>
              <a:t>Security internal to applications</a:t>
            </a:r>
          </a:p>
          <a:p>
            <a:pPr lvl="1"/>
            <a:r>
              <a:rPr lang="en-US" dirty="0"/>
              <a:t>Security external to applications</a:t>
            </a:r>
          </a:p>
          <a:p>
            <a:endParaRPr lang="en-US" dirty="0"/>
          </a:p>
        </p:txBody>
      </p:sp>
    </p:spTree>
    <p:extLst>
      <p:ext uri="{BB962C8B-B14F-4D97-AF65-F5344CB8AC3E}">
        <p14:creationId xmlns:p14="http://schemas.microsoft.com/office/powerpoint/2010/main" val="2499564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Channel Security</a:t>
            </a:r>
          </a:p>
        </p:txBody>
      </p:sp>
      <p:sp>
        <p:nvSpPr>
          <p:cNvPr id="3" name="Content Placeholder 2"/>
          <p:cNvSpPr>
            <a:spLocks noGrp="1"/>
          </p:cNvSpPr>
          <p:nvPr>
            <p:ph sz="quarter" idx="11"/>
          </p:nvPr>
        </p:nvSpPr>
        <p:spPr/>
        <p:txBody>
          <a:bodyPr/>
          <a:lstStyle/>
          <a:p>
            <a:r>
              <a:rPr lang="en-US" sz="2800" dirty="0"/>
              <a:t>authentication, integrity and secrecy only during the transit inside the communication channel</a:t>
            </a:r>
          </a:p>
          <a:p>
            <a:r>
              <a:rPr lang="en-US" sz="2800" dirty="0"/>
              <a:t>requires no (or small) modification of applications</a:t>
            </a:r>
          </a:p>
          <a:p>
            <a:endParaRPr lang="en-US" sz="2800" dirty="0"/>
          </a:p>
          <a:p>
            <a:endParaRPr lang="en-US" sz="2800" dirty="0"/>
          </a:p>
        </p:txBody>
      </p:sp>
      <p:pic>
        <p:nvPicPr>
          <p:cNvPr id="5" name="Picture 2">
            <a:extLst>
              <a:ext uri="{FF2B5EF4-FFF2-40B4-BE49-F238E27FC236}">
                <a16:creationId xmlns:a16="http://schemas.microsoft.com/office/drawing/2014/main" id="{60BC800D-B32B-8C4F-CC51-3EC035DBF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7295" y="4221088"/>
            <a:ext cx="5349410" cy="1825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850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Message/data security</a:t>
            </a:r>
          </a:p>
        </p:txBody>
      </p:sp>
      <p:sp>
        <p:nvSpPr>
          <p:cNvPr id="3" name="Content Placeholder 2"/>
          <p:cNvSpPr>
            <a:spLocks noGrp="1"/>
          </p:cNvSpPr>
          <p:nvPr>
            <p:ph sz="quarter" idx="11"/>
          </p:nvPr>
        </p:nvSpPr>
        <p:spPr/>
        <p:txBody>
          <a:bodyPr/>
          <a:lstStyle/>
          <a:p>
            <a:r>
              <a:rPr lang="en-US" sz="2800" dirty="0"/>
              <a:t>authentication, integrity and secrecy self contained in the message</a:t>
            </a:r>
          </a:p>
          <a:p>
            <a:r>
              <a:rPr lang="en-US" sz="2800" dirty="0"/>
              <a:t>requires modification of applications</a:t>
            </a:r>
          </a:p>
          <a:p>
            <a:endParaRPr lang="en-US" sz="2800" dirty="0"/>
          </a:p>
          <a:p>
            <a:endParaRPr lang="en-US" sz="2800" dirty="0"/>
          </a:p>
        </p:txBody>
      </p:sp>
      <p:pic>
        <p:nvPicPr>
          <p:cNvPr id="4" name="Picture 2">
            <a:extLst>
              <a:ext uri="{FF2B5EF4-FFF2-40B4-BE49-F238E27FC236}">
                <a16:creationId xmlns:a16="http://schemas.microsoft.com/office/drawing/2014/main" id="{6400338A-3C6F-A0EB-466D-DD02B1E9CA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5057" y="3645024"/>
            <a:ext cx="5353397"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2472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Security internal to applications</a:t>
            </a:r>
            <a:endParaRPr lang="en-US" dirty="0"/>
          </a:p>
        </p:txBody>
      </p:sp>
      <p:sp>
        <p:nvSpPr>
          <p:cNvPr id="3" name="Content Placeholder 2"/>
          <p:cNvSpPr>
            <a:spLocks noGrp="1"/>
          </p:cNvSpPr>
          <p:nvPr>
            <p:ph sz="quarter" idx="11"/>
          </p:nvPr>
        </p:nvSpPr>
        <p:spPr>
          <a:xfrm>
            <a:off x="467544" y="1560612"/>
            <a:ext cx="6264696" cy="4676700"/>
          </a:xfrm>
        </p:spPr>
        <p:txBody>
          <a:bodyPr/>
          <a:lstStyle/>
          <a:p>
            <a:r>
              <a:rPr lang="en-US" sz="2800" dirty="0"/>
              <a:t>each application implements security internally</a:t>
            </a:r>
          </a:p>
          <a:p>
            <a:r>
              <a:rPr lang="en-US" sz="2800" dirty="0"/>
              <a:t>the common part is limited to the communication channels (socket)</a:t>
            </a:r>
          </a:p>
          <a:p>
            <a:r>
              <a:rPr lang="en-US" sz="2800" dirty="0"/>
              <a:t>possible implementation errors (inventing security protocols is not simple!)</a:t>
            </a:r>
          </a:p>
          <a:p>
            <a:r>
              <a:rPr lang="en-US" sz="2800" dirty="0"/>
              <a:t>does not guarantee interoperability</a:t>
            </a:r>
          </a:p>
          <a:p>
            <a:endParaRPr lang="en-US" sz="2800" dirty="0"/>
          </a:p>
          <a:p>
            <a:endParaRPr lang="en-US" sz="2800" dirty="0"/>
          </a:p>
        </p:txBody>
      </p:sp>
      <p:pic>
        <p:nvPicPr>
          <p:cNvPr id="4" name="Picture 2">
            <a:extLst>
              <a:ext uri="{FF2B5EF4-FFF2-40B4-BE49-F238E27FC236}">
                <a16:creationId xmlns:a16="http://schemas.microsoft.com/office/drawing/2014/main" id="{D1165481-C0F8-A837-9604-CAEFE975DD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6603" y="1412776"/>
            <a:ext cx="2431901" cy="314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3001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Security external to applications</a:t>
            </a:r>
            <a:endParaRPr lang="en-US" dirty="0"/>
          </a:p>
        </p:txBody>
      </p:sp>
      <p:sp>
        <p:nvSpPr>
          <p:cNvPr id="3" name="Content Placeholder 2"/>
          <p:cNvSpPr>
            <a:spLocks noGrp="1"/>
          </p:cNvSpPr>
          <p:nvPr>
            <p:ph sz="quarter" idx="11"/>
          </p:nvPr>
        </p:nvSpPr>
        <p:spPr>
          <a:xfrm>
            <a:off x="467544" y="1560612"/>
            <a:ext cx="8136904" cy="4676700"/>
          </a:xfrm>
        </p:spPr>
        <p:txBody>
          <a:bodyPr/>
          <a:lstStyle/>
          <a:p>
            <a:r>
              <a:rPr lang="en-US" sz="2800" dirty="0"/>
              <a:t>the session level would be the ideal one to be used to implement many security functions </a:t>
            </a:r>
          </a:p>
          <a:p>
            <a:r>
              <a:rPr lang="en-US" sz="2800" dirty="0"/>
              <a:t>… but it does not exist in TCP/IP!</a:t>
            </a:r>
          </a:p>
          <a:p>
            <a:r>
              <a:rPr lang="en-US" sz="2800" dirty="0"/>
              <a:t>a “secure session” level was proposed:</a:t>
            </a:r>
          </a:p>
          <a:p>
            <a:pPr lvl="1"/>
            <a:r>
              <a:rPr lang="en-US" sz="2400" dirty="0"/>
              <a:t>it simplifies the work of application developers</a:t>
            </a:r>
          </a:p>
          <a:p>
            <a:pPr lvl="1"/>
            <a:r>
              <a:rPr lang="en-US" sz="2400" dirty="0"/>
              <a:t>it avoids implementation errors</a:t>
            </a:r>
          </a:p>
          <a:p>
            <a:pPr lvl="1"/>
            <a:r>
              <a:rPr lang="en-US" sz="2400" dirty="0"/>
              <a:t>it is up to the application to use it</a:t>
            </a:r>
            <a:br>
              <a:rPr lang="en-US" sz="2400" dirty="0"/>
            </a:br>
            <a:r>
              <a:rPr lang="en-US" sz="2400" dirty="0"/>
              <a:t>(or not)</a:t>
            </a:r>
          </a:p>
          <a:p>
            <a:endParaRPr lang="en-US" sz="2400" dirty="0"/>
          </a:p>
          <a:p>
            <a:endParaRPr lang="en-US" sz="2400" dirty="0"/>
          </a:p>
        </p:txBody>
      </p:sp>
      <p:pic>
        <p:nvPicPr>
          <p:cNvPr id="5" name="Picture 2">
            <a:extLst>
              <a:ext uri="{FF2B5EF4-FFF2-40B4-BE49-F238E27FC236}">
                <a16:creationId xmlns:a16="http://schemas.microsoft.com/office/drawing/2014/main" id="{7718411E-4A56-B247-4C2C-294B280C9F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4288" y="4082732"/>
            <a:ext cx="1816885"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1805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p:txBody>
          <a:bodyPr anchor="t"/>
          <a:lstStyle/>
          <a:p>
            <a:pPr marL="0" indent="0">
              <a:buNone/>
            </a:pPr>
            <a:r>
              <a:rPr lang="en-US" sz="4800" b="1" dirty="0"/>
              <a:t>Transport Layer Security (TLS)</a:t>
            </a:r>
          </a:p>
          <a:p>
            <a:pPr marL="0" indent="0">
              <a:buNone/>
            </a:pPr>
            <a:endParaRPr lang="en-US" sz="4000" b="1" dirty="0"/>
          </a:p>
          <a:p>
            <a:pPr marL="0" indent="0">
              <a:buNone/>
            </a:pPr>
            <a:r>
              <a:rPr lang="en-US" sz="2400" dirty="0"/>
              <a:t>formerly called</a:t>
            </a:r>
          </a:p>
          <a:p>
            <a:pPr marL="0" indent="0">
              <a:buNone/>
            </a:pPr>
            <a:r>
              <a:rPr lang="en-US" b="1" dirty="0"/>
              <a:t>Secure Sockets Layer (SSL)</a:t>
            </a:r>
          </a:p>
          <a:p>
            <a:pPr marL="0" indent="0">
              <a:buNone/>
            </a:pPr>
            <a:endParaRPr lang="en-US" sz="4000" b="1" dirty="0"/>
          </a:p>
          <a:p>
            <a:endParaRPr lang="en-US" sz="4000" b="1" dirty="0"/>
          </a:p>
        </p:txBody>
      </p:sp>
    </p:spTree>
    <p:extLst>
      <p:ext uri="{BB962C8B-B14F-4D97-AF65-F5344CB8AC3E}">
        <p14:creationId xmlns:p14="http://schemas.microsoft.com/office/powerpoint/2010/main" val="2459185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SSL/TLS Timeline</a:t>
            </a:r>
          </a:p>
        </p:txBody>
      </p:sp>
      <p:graphicFrame>
        <p:nvGraphicFramePr>
          <p:cNvPr id="4" name="Content Placeholder 3"/>
          <p:cNvGraphicFramePr>
            <a:graphicFrameLocks noGrp="1"/>
          </p:cNvGraphicFramePr>
          <p:nvPr>
            <p:ph sz="quarter" idx="11"/>
            <p:extLst>
              <p:ext uri="{D42A27DB-BD31-4B8C-83A1-F6EECF244321}">
                <p14:modId xmlns:p14="http://schemas.microsoft.com/office/powerpoint/2010/main" val="2319424844"/>
              </p:ext>
            </p:extLst>
          </p:nvPr>
        </p:nvGraphicFramePr>
        <p:xfrm>
          <a:off x="1043609" y="2708920"/>
          <a:ext cx="4176464" cy="3744000"/>
        </p:xfrm>
        <a:graphic>
          <a:graphicData uri="http://schemas.openxmlformats.org/drawingml/2006/table">
            <a:tbl>
              <a:tblPr firstRow="1" bandRow="1">
                <a:tableStyleId>{5C22544A-7EE6-4342-B048-85BDC9FD1C3A}</a:tableStyleId>
              </a:tblPr>
              <a:tblGrid>
                <a:gridCol w="1092735">
                  <a:extLst>
                    <a:ext uri="{9D8B030D-6E8A-4147-A177-3AD203B41FA5}">
                      <a16:colId xmlns:a16="http://schemas.microsoft.com/office/drawing/2014/main" val="20000"/>
                    </a:ext>
                  </a:extLst>
                </a:gridCol>
                <a:gridCol w="1376331">
                  <a:extLst>
                    <a:ext uri="{9D8B030D-6E8A-4147-A177-3AD203B41FA5}">
                      <a16:colId xmlns:a16="http://schemas.microsoft.com/office/drawing/2014/main" val="20001"/>
                    </a:ext>
                  </a:extLst>
                </a:gridCol>
                <a:gridCol w="1707398">
                  <a:extLst>
                    <a:ext uri="{9D8B030D-6E8A-4147-A177-3AD203B41FA5}">
                      <a16:colId xmlns:a16="http://schemas.microsoft.com/office/drawing/2014/main" val="20002"/>
                    </a:ext>
                  </a:extLst>
                </a:gridCol>
              </a:tblGrid>
              <a:tr h="468000">
                <a:tc>
                  <a:txBody>
                    <a:bodyPr/>
                    <a:lstStyle/>
                    <a:p>
                      <a:r>
                        <a:rPr lang="en-US" sz="2000" dirty="0"/>
                        <a:t>Version</a:t>
                      </a:r>
                    </a:p>
                  </a:txBody>
                  <a:tcPr anchor="ctr"/>
                </a:tc>
                <a:tc>
                  <a:txBody>
                    <a:bodyPr/>
                    <a:lstStyle/>
                    <a:p>
                      <a:r>
                        <a:rPr lang="en-US" sz="2000" dirty="0"/>
                        <a:t>Published</a:t>
                      </a:r>
                    </a:p>
                  </a:txBody>
                  <a:tcPr anchor="ctr"/>
                </a:tc>
                <a:tc>
                  <a:txBody>
                    <a:bodyPr/>
                    <a:lstStyle/>
                    <a:p>
                      <a:r>
                        <a:rPr lang="en-US" sz="2000" dirty="0"/>
                        <a:t>Deprecated</a:t>
                      </a:r>
                    </a:p>
                  </a:txBody>
                  <a:tcPr anchor="ctr"/>
                </a:tc>
                <a:extLst>
                  <a:ext uri="{0D108BD9-81ED-4DB2-BD59-A6C34878D82A}">
                    <a16:rowId xmlns:a16="http://schemas.microsoft.com/office/drawing/2014/main" val="10000"/>
                  </a:ext>
                </a:extLst>
              </a:tr>
              <a:tr h="468000">
                <a:tc>
                  <a:txBody>
                    <a:bodyPr/>
                    <a:lstStyle/>
                    <a:p>
                      <a:r>
                        <a:rPr lang="en-US" sz="2000" dirty="0">
                          <a:solidFill>
                            <a:srgbClr val="FF0000"/>
                          </a:solidFill>
                        </a:rPr>
                        <a:t>SSL</a:t>
                      </a:r>
                      <a:r>
                        <a:rPr lang="en-US" sz="2000" baseline="0" dirty="0">
                          <a:solidFill>
                            <a:srgbClr val="FF0000"/>
                          </a:solidFill>
                        </a:rPr>
                        <a:t> 1.0</a:t>
                      </a:r>
                      <a:endParaRPr lang="en-US" sz="2000" dirty="0">
                        <a:solidFill>
                          <a:srgbClr val="FF0000"/>
                        </a:solidFill>
                      </a:endParaRPr>
                    </a:p>
                  </a:txBody>
                  <a:tcPr anchor="ctr"/>
                </a:tc>
                <a:tc gridSpan="2">
                  <a:txBody>
                    <a:bodyPr/>
                    <a:lstStyle/>
                    <a:p>
                      <a:pPr algn="ctr"/>
                      <a:r>
                        <a:rPr lang="en-US" sz="2000" dirty="0"/>
                        <a:t>Never published</a:t>
                      </a:r>
                    </a:p>
                  </a:txBody>
                  <a:tcPr anchor="ctr"/>
                </a:tc>
                <a:tc hMerge="1">
                  <a:txBody>
                    <a:bodyPr/>
                    <a:lstStyle/>
                    <a:p>
                      <a:endParaRPr lang="en-US"/>
                    </a:p>
                  </a:txBody>
                  <a:tcPr/>
                </a:tc>
                <a:extLst>
                  <a:ext uri="{0D108BD9-81ED-4DB2-BD59-A6C34878D82A}">
                    <a16:rowId xmlns:a16="http://schemas.microsoft.com/office/drawing/2014/main" val="10001"/>
                  </a:ext>
                </a:extLst>
              </a:tr>
              <a:tr h="468000">
                <a:tc>
                  <a:txBody>
                    <a:bodyPr/>
                    <a:lstStyle/>
                    <a:p>
                      <a:r>
                        <a:rPr lang="en-US" sz="2000" dirty="0">
                          <a:solidFill>
                            <a:srgbClr val="FF0000"/>
                          </a:solidFill>
                        </a:rPr>
                        <a:t>SSL 2.0</a:t>
                      </a:r>
                    </a:p>
                  </a:txBody>
                  <a:tcPr anchor="ctr"/>
                </a:tc>
                <a:tc>
                  <a:txBody>
                    <a:bodyPr/>
                    <a:lstStyle/>
                    <a:p>
                      <a:pPr algn="ctr"/>
                      <a:r>
                        <a:rPr lang="en-US" sz="2000" dirty="0"/>
                        <a:t>1995</a:t>
                      </a:r>
                    </a:p>
                  </a:txBody>
                  <a:tcPr anchor="ctr"/>
                </a:tc>
                <a:tc>
                  <a:txBody>
                    <a:bodyPr/>
                    <a:lstStyle/>
                    <a:p>
                      <a:pPr algn="ctr"/>
                      <a:r>
                        <a:rPr lang="en-US" sz="2000" dirty="0">
                          <a:solidFill>
                            <a:srgbClr val="FF0000"/>
                          </a:solidFill>
                        </a:rPr>
                        <a:t>2011</a:t>
                      </a:r>
                    </a:p>
                  </a:txBody>
                  <a:tcPr anchor="ctr"/>
                </a:tc>
                <a:extLst>
                  <a:ext uri="{0D108BD9-81ED-4DB2-BD59-A6C34878D82A}">
                    <a16:rowId xmlns:a16="http://schemas.microsoft.com/office/drawing/2014/main" val="10002"/>
                  </a:ext>
                </a:extLst>
              </a:tr>
              <a:tr h="468000">
                <a:tc>
                  <a:txBody>
                    <a:bodyPr/>
                    <a:lstStyle/>
                    <a:p>
                      <a:r>
                        <a:rPr lang="en-US" sz="2000" dirty="0">
                          <a:solidFill>
                            <a:srgbClr val="FF0000"/>
                          </a:solidFill>
                        </a:rPr>
                        <a:t>SSL 3.0</a:t>
                      </a:r>
                    </a:p>
                  </a:txBody>
                  <a:tcPr anchor="ctr"/>
                </a:tc>
                <a:tc>
                  <a:txBody>
                    <a:bodyPr/>
                    <a:lstStyle/>
                    <a:p>
                      <a:pPr algn="ctr"/>
                      <a:r>
                        <a:rPr lang="en-US" sz="2000" dirty="0"/>
                        <a:t>1996</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2000" dirty="0">
                          <a:solidFill>
                            <a:srgbClr val="FF0000"/>
                          </a:solidFill>
                        </a:rPr>
                        <a:t>2015</a:t>
                      </a:r>
                    </a:p>
                  </a:txBody>
                  <a:tcPr anchor="ctr"/>
                </a:tc>
                <a:extLst>
                  <a:ext uri="{0D108BD9-81ED-4DB2-BD59-A6C34878D82A}">
                    <a16:rowId xmlns:a16="http://schemas.microsoft.com/office/drawing/2014/main" val="10003"/>
                  </a:ext>
                </a:extLst>
              </a:tr>
              <a:tr h="468000">
                <a:tc>
                  <a:txBody>
                    <a:bodyPr/>
                    <a:lstStyle/>
                    <a:p>
                      <a:r>
                        <a:rPr lang="en-US" sz="2000" dirty="0">
                          <a:solidFill>
                            <a:srgbClr val="FF0000"/>
                          </a:solidFill>
                        </a:rPr>
                        <a:t>TLS 1.0</a:t>
                      </a:r>
                    </a:p>
                  </a:txBody>
                  <a:tcPr anchor="ctr"/>
                </a:tc>
                <a:tc>
                  <a:txBody>
                    <a:bodyPr/>
                    <a:lstStyle/>
                    <a:p>
                      <a:pPr algn="ctr"/>
                      <a:r>
                        <a:rPr lang="en-US" sz="2000" dirty="0"/>
                        <a:t>1999</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2000" dirty="0">
                          <a:solidFill>
                            <a:srgbClr val="FF0000"/>
                          </a:solidFill>
                        </a:rPr>
                        <a:t>2021</a:t>
                      </a:r>
                    </a:p>
                  </a:txBody>
                  <a:tcPr anchor="ctr"/>
                </a:tc>
                <a:extLst>
                  <a:ext uri="{0D108BD9-81ED-4DB2-BD59-A6C34878D82A}">
                    <a16:rowId xmlns:a16="http://schemas.microsoft.com/office/drawing/2014/main" val="10004"/>
                  </a:ext>
                </a:extLst>
              </a:tr>
              <a:tr h="468000">
                <a:tc>
                  <a:txBody>
                    <a:bodyPr/>
                    <a:lstStyle/>
                    <a:p>
                      <a:r>
                        <a:rPr lang="en-US" sz="2000" dirty="0">
                          <a:solidFill>
                            <a:srgbClr val="FF0000"/>
                          </a:solidFill>
                        </a:rPr>
                        <a:t>TLS 1.1</a:t>
                      </a:r>
                    </a:p>
                  </a:txBody>
                  <a:tcPr anchor="ctr"/>
                </a:tc>
                <a:tc>
                  <a:txBody>
                    <a:bodyPr/>
                    <a:lstStyle/>
                    <a:p>
                      <a:pPr algn="ctr"/>
                      <a:r>
                        <a:rPr lang="en-US" sz="2000" dirty="0"/>
                        <a:t>2006</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2000" dirty="0">
                          <a:solidFill>
                            <a:srgbClr val="FF0000"/>
                          </a:solidFill>
                        </a:rPr>
                        <a:t>2021</a:t>
                      </a:r>
                    </a:p>
                  </a:txBody>
                  <a:tcPr anchor="ctr"/>
                </a:tc>
                <a:extLst>
                  <a:ext uri="{0D108BD9-81ED-4DB2-BD59-A6C34878D82A}">
                    <a16:rowId xmlns:a16="http://schemas.microsoft.com/office/drawing/2014/main" val="10005"/>
                  </a:ext>
                </a:extLst>
              </a:tr>
              <a:tr h="468000">
                <a:tc>
                  <a:txBody>
                    <a:bodyPr/>
                    <a:lstStyle/>
                    <a:p>
                      <a:r>
                        <a:rPr lang="en-US" sz="2000" dirty="0">
                          <a:solidFill>
                            <a:srgbClr val="00B050"/>
                          </a:solidFill>
                        </a:rPr>
                        <a:t>TLS 1.2</a:t>
                      </a:r>
                    </a:p>
                  </a:txBody>
                  <a:tcPr anchor="ctr"/>
                </a:tc>
                <a:tc>
                  <a:txBody>
                    <a:bodyPr/>
                    <a:lstStyle/>
                    <a:p>
                      <a:pPr algn="ctr"/>
                      <a:r>
                        <a:rPr lang="en-US" sz="2000" dirty="0"/>
                        <a:t>2008</a:t>
                      </a:r>
                    </a:p>
                  </a:txBody>
                  <a:tcPr anchor="ctr"/>
                </a:tc>
                <a:tc>
                  <a:txBody>
                    <a:bodyPr/>
                    <a:lstStyle/>
                    <a:p>
                      <a:pPr algn="ctr"/>
                      <a:r>
                        <a:rPr lang="en-US" sz="2000" dirty="0">
                          <a:solidFill>
                            <a:srgbClr val="00B050"/>
                          </a:solidFill>
                        </a:rPr>
                        <a:t>in use</a:t>
                      </a:r>
                    </a:p>
                  </a:txBody>
                  <a:tcPr anchor="ctr"/>
                </a:tc>
                <a:extLst>
                  <a:ext uri="{0D108BD9-81ED-4DB2-BD59-A6C34878D82A}">
                    <a16:rowId xmlns:a16="http://schemas.microsoft.com/office/drawing/2014/main" val="10006"/>
                  </a:ext>
                </a:extLst>
              </a:tr>
              <a:tr h="468000">
                <a:tc>
                  <a:txBody>
                    <a:bodyPr/>
                    <a:lstStyle/>
                    <a:p>
                      <a:r>
                        <a:rPr lang="en-US" sz="2000" dirty="0">
                          <a:solidFill>
                            <a:srgbClr val="00B050"/>
                          </a:solidFill>
                        </a:rPr>
                        <a:t>TLS 1.3</a:t>
                      </a:r>
                    </a:p>
                  </a:txBody>
                  <a:tcPr anchor="ctr"/>
                </a:tc>
                <a:tc>
                  <a:txBody>
                    <a:bodyPr/>
                    <a:lstStyle/>
                    <a:p>
                      <a:pPr algn="ctr"/>
                      <a:r>
                        <a:rPr lang="en-US" sz="2000" dirty="0"/>
                        <a:t>2018</a:t>
                      </a:r>
                    </a:p>
                  </a:txBody>
                  <a:tcPr anchor="ctr"/>
                </a:tc>
                <a:tc>
                  <a:txBody>
                    <a:bodyPr/>
                    <a:lstStyle/>
                    <a:p>
                      <a:pPr algn="ctr"/>
                      <a:r>
                        <a:rPr lang="en-US" sz="2000" dirty="0">
                          <a:solidFill>
                            <a:srgbClr val="00B050"/>
                          </a:solidFill>
                        </a:rPr>
                        <a:t>in use</a:t>
                      </a:r>
                    </a:p>
                  </a:txBody>
                  <a:tcPr anchor="ctr"/>
                </a:tc>
                <a:extLst>
                  <a:ext uri="{0D108BD9-81ED-4DB2-BD59-A6C34878D82A}">
                    <a16:rowId xmlns:a16="http://schemas.microsoft.com/office/drawing/2014/main" val="10007"/>
                  </a:ext>
                </a:extLst>
              </a:tr>
            </a:tbl>
          </a:graphicData>
        </a:graphic>
      </p:graphicFrame>
      <p:sp>
        <p:nvSpPr>
          <p:cNvPr id="3" name="TextBox 2"/>
          <p:cNvSpPr txBox="1"/>
          <p:nvPr/>
        </p:nvSpPr>
        <p:spPr>
          <a:xfrm>
            <a:off x="467544" y="1556792"/>
            <a:ext cx="7488832" cy="830997"/>
          </a:xfrm>
          <a:prstGeom prst="rect">
            <a:avLst/>
          </a:prstGeom>
          <a:noFill/>
        </p:spPr>
        <p:txBody>
          <a:bodyPr wrap="square" rtlCol="0">
            <a:spAutoFit/>
          </a:bodyPr>
          <a:lstStyle/>
          <a:p>
            <a:pPr latinLnBrk="0"/>
            <a:r>
              <a:rPr lang="en-US" sz="2400" dirty="0"/>
              <a:t>SSL was a commercial protocol, it evolved into TLS, an IETF standard.</a:t>
            </a:r>
          </a:p>
        </p:txBody>
      </p:sp>
      <p:sp>
        <p:nvSpPr>
          <p:cNvPr id="6" name="Right Brace 5"/>
          <p:cNvSpPr/>
          <p:nvPr/>
        </p:nvSpPr>
        <p:spPr>
          <a:xfrm>
            <a:off x="5364088" y="3717032"/>
            <a:ext cx="144016" cy="1728192"/>
          </a:xfrm>
          <a:prstGeom prst="rightBrace">
            <a:avLst/>
          </a:prstGeom>
          <a:ln w="222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5632625" y="4303921"/>
            <a:ext cx="2952327" cy="553998"/>
          </a:xfrm>
          <a:prstGeom prst="rect">
            <a:avLst/>
          </a:prstGeom>
          <a:noFill/>
        </p:spPr>
        <p:txBody>
          <a:bodyPr wrap="square" rtlCol="0">
            <a:spAutoFit/>
          </a:bodyPr>
          <a:lstStyle/>
          <a:p>
            <a:pPr>
              <a:lnSpc>
                <a:spcPts val="1800"/>
              </a:lnSpc>
            </a:pPr>
            <a:r>
              <a:rPr lang="en-US" dirty="0">
                <a:solidFill>
                  <a:srgbClr val="FF0000"/>
                </a:solidFill>
              </a:rPr>
              <a:t>now considered insecure, should no longer be used</a:t>
            </a:r>
          </a:p>
        </p:txBody>
      </p:sp>
    </p:spTree>
    <p:extLst>
      <p:ext uri="{BB962C8B-B14F-4D97-AF65-F5344CB8AC3E}">
        <p14:creationId xmlns:p14="http://schemas.microsoft.com/office/powerpoint/2010/main" val="1356721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SSL: what is it?</a:t>
            </a:r>
          </a:p>
        </p:txBody>
      </p:sp>
      <p:sp>
        <p:nvSpPr>
          <p:cNvPr id="3" name="Content Placeholder 2"/>
          <p:cNvSpPr>
            <a:spLocks noGrp="1"/>
          </p:cNvSpPr>
          <p:nvPr>
            <p:ph sz="quarter" idx="11"/>
          </p:nvPr>
        </p:nvSpPr>
        <p:spPr>
          <a:xfrm>
            <a:off x="467544" y="1560612"/>
            <a:ext cx="8208912" cy="4676700"/>
          </a:xfrm>
        </p:spPr>
        <p:txBody>
          <a:bodyPr/>
          <a:lstStyle/>
          <a:p>
            <a:r>
              <a:rPr lang="en-US" sz="2800" b="1" dirty="0"/>
              <a:t>S</a:t>
            </a:r>
            <a:r>
              <a:rPr lang="en-US" sz="2800" dirty="0"/>
              <a:t>ecure </a:t>
            </a:r>
            <a:r>
              <a:rPr lang="en-US" sz="2800" b="1" dirty="0"/>
              <a:t>S</a:t>
            </a:r>
            <a:r>
              <a:rPr lang="en-US" sz="2800" dirty="0"/>
              <a:t>ockets </a:t>
            </a:r>
            <a:r>
              <a:rPr lang="en-US" sz="2800" b="1" dirty="0"/>
              <a:t>L</a:t>
            </a:r>
            <a:r>
              <a:rPr lang="en-US" sz="2800" dirty="0"/>
              <a:t>ayer: Security between layer 4 (transport) and layer 5</a:t>
            </a:r>
          </a:p>
          <a:p>
            <a:r>
              <a:rPr lang="en-US" sz="2800" dirty="0"/>
              <a:t>Provides a secure transport channel for:</a:t>
            </a:r>
          </a:p>
          <a:p>
            <a:pPr lvl="1"/>
            <a:r>
              <a:rPr lang="en-US" sz="2400" dirty="0"/>
              <a:t>peer authentication (server only, or server + client)</a:t>
            </a:r>
          </a:p>
          <a:p>
            <a:pPr lvl="1"/>
            <a:r>
              <a:rPr lang="en-US" sz="2400" dirty="0"/>
              <a:t>message confidentiality</a:t>
            </a:r>
          </a:p>
          <a:p>
            <a:pPr lvl="1"/>
            <a:r>
              <a:rPr lang="en-US" sz="2400" dirty="0"/>
              <a:t>message authentication and integrity</a:t>
            </a:r>
          </a:p>
          <a:p>
            <a:pPr lvl="1"/>
            <a:r>
              <a:rPr lang="en-US" sz="2400" dirty="0"/>
              <a:t>protection against replay attacks</a:t>
            </a:r>
          </a:p>
          <a:p>
            <a:r>
              <a:rPr lang="en-US" sz="2800" dirty="0"/>
              <a:t>Easily applicable to all protocols based on TCP</a:t>
            </a:r>
          </a:p>
          <a:p>
            <a:pPr lvl="1"/>
            <a:r>
              <a:rPr lang="en-US" sz="2400" dirty="0"/>
              <a:t>HTTP, SMTP, FTP, Telnet, ...</a:t>
            </a:r>
          </a:p>
          <a:p>
            <a:pPr lvl="1"/>
            <a:r>
              <a:rPr lang="en-US" sz="2400" dirty="0"/>
              <a:t>e.g. the famous secure HTTP (https://....) = 443/TCP</a:t>
            </a:r>
            <a:endParaRPr lang="en-US" sz="2000" dirty="0"/>
          </a:p>
          <a:p>
            <a:endParaRPr lang="en-US" sz="2000" dirty="0"/>
          </a:p>
        </p:txBody>
      </p:sp>
    </p:spTree>
    <p:extLst>
      <p:ext uri="{BB962C8B-B14F-4D97-AF65-F5344CB8AC3E}">
        <p14:creationId xmlns:p14="http://schemas.microsoft.com/office/powerpoint/2010/main" val="4016253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SSL: what is it?</a:t>
            </a:r>
          </a:p>
        </p:txBody>
      </p:sp>
      <p:sp>
        <p:nvSpPr>
          <p:cNvPr id="3" name="Content Placeholder 2"/>
          <p:cNvSpPr>
            <a:spLocks noGrp="1"/>
          </p:cNvSpPr>
          <p:nvPr>
            <p:ph sz="quarter" idx="11"/>
          </p:nvPr>
        </p:nvSpPr>
        <p:spPr>
          <a:xfrm>
            <a:off x="467544" y="1560612"/>
            <a:ext cx="8229600" cy="4676700"/>
          </a:xfrm>
        </p:spPr>
        <p:txBody>
          <a:bodyPr/>
          <a:lstStyle/>
          <a:p>
            <a:r>
              <a:rPr lang="en-US" sz="2800" dirty="0"/>
              <a:t>Philosophy: Easier to deploy something if no changes in OS required</a:t>
            </a:r>
          </a:p>
          <a:p>
            <a:r>
              <a:rPr lang="en-US" sz="2800" dirty="0"/>
              <a:t>Socket API provide an interface for SSL</a:t>
            </a:r>
          </a:p>
          <a:p>
            <a:pPr lvl="1"/>
            <a:r>
              <a:rPr lang="en-US" sz="2400" dirty="0"/>
              <a:t>hence called secure socket layer</a:t>
            </a:r>
          </a:p>
          <a:p>
            <a:r>
              <a:rPr lang="en-US" sz="2800" dirty="0"/>
              <a:t>SSL sockets API is the superset of plain TCP sockets API</a:t>
            </a:r>
          </a:p>
          <a:p>
            <a:r>
              <a:rPr lang="en-US" sz="2800" dirty="0"/>
              <a:t>SSL/TLS operate above TCP. </a:t>
            </a:r>
          </a:p>
          <a:p>
            <a:r>
              <a:rPr lang="en-US" sz="2800" dirty="0"/>
              <a:t>OS doesn’t change,</a:t>
            </a:r>
            <a:br>
              <a:rPr lang="en-US" sz="2800" dirty="0"/>
            </a:br>
            <a:r>
              <a:rPr lang="en-US" sz="2800" dirty="0"/>
              <a:t>applications do!</a:t>
            </a:r>
          </a:p>
        </p:txBody>
      </p:sp>
      <p:pic>
        <p:nvPicPr>
          <p:cNvPr id="1026" name="Picture 2" descr="Image result for ipsec vs ssl osi layer"/>
          <p:cNvPicPr>
            <a:picLocks noChangeAspect="1" noChangeArrowheads="1"/>
          </p:cNvPicPr>
          <p:nvPr/>
        </p:nvPicPr>
        <p:blipFill rotWithShape="1">
          <a:blip r:embed="rId2">
            <a:extLst>
              <a:ext uri="{28A0092B-C50C-407E-A947-70E740481C1C}">
                <a14:useLocalDpi xmlns:a14="http://schemas.microsoft.com/office/drawing/2010/main" val="0"/>
              </a:ext>
            </a:extLst>
          </a:blip>
          <a:srcRect r="61951"/>
          <a:stretch/>
        </p:blipFill>
        <p:spPr bwMode="auto">
          <a:xfrm>
            <a:off x="6156176" y="4218780"/>
            <a:ext cx="2736303" cy="2157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74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SSL/TLS Protocol Stack</a:t>
            </a:r>
          </a:p>
        </p:txBody>
      </p:sp>
      <p:sp>
        <p:nvSpPr>
          <p:cNvPr id="3" name="Content Placeholder 2"/>
          <p:cNvSpPr>
            <a:spLocks noGrp="1"/>
          </p:cNvSpPr>
          <p:nvPr>
            <p:ph sz="quarter" idx="11"/>
          </p:nvPr>
        </p:nvSpPr>
        <p:spPr>
          <a:xfrm>
            <a:off x="467544" y="3356992"/>
            <a:ext cx="8229600" cy="3024336"/>
          </a:xfrm>
        </p:spPr>
        <p:txBody>
          <a:bodyPr>
            <a:noAutofit/>
          </a:bodyPr>
          <a:lstStyle/>
          <a:p>
            <a:r>
              <a:rPr lang="en-US" sz="2200" dirty="0"/>
              <a:t>Handshake: enables the client and server to negotiate cipher algorithms and establish the secret keys with which they will communicate</a:t>
            </a:r>
          </a:p>
          <a:p>
            <a:r>
              <a:rPr lang="en-US" sz="2200" dirty="0"/>
              <a:t>Change-cipher-spec: indicates the confirmation of secret key usage for data communication</a:t>
            </a:r>
          </a:p>
          <a:p>
            <a:r>
              <a:rPr lang="en-US" sz="2200" dirty="0"/>
              <a:t>Alert: signal problems with SSL connection, give current status</a:t>
            </a:r>
          </a:p>
          <a:p>
            <a:r>
              <a:rPr lang="en-US" sz="2200" dirty="0"/>
              <a:t>Record protocol: securely carries the data of higher layers</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119" y="1277542"/>
            <a:ext cx="4879273" cy="1917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2007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SSL/TLS Handshake</a:t>
            </a:r>
          </a:p>
        </p:txBody>
      </p:sp>
      <p:sp>
        <p:nvSpPr>
          <p:cNvPr id="3" name="Content Placeholder 2"/>
          <p:cNvSpPr>
            <a:spLocks noGrp="1"/>
          </p:cNvSpPr>
          <p:nvPr>
            <p:ph sz="quarter" idx="11"/>
          </p:nvPr>
        </p:nvSpPr>
        <p:spPr/>
        <p:txBody>
          <a:bodyPr/>
          <a:lstStyle/>
          <a:p>
            <a:r>
              <a:rPr lang="en-US" sz="2800" dirty="0"/>
              <a:t>agree on a set of algorithms for confidentiality, integrity and authentication</a:t>
            </a:r>
          </a:p>
          <a:p>
            <a:r>
              <a:rPr lang="en-US" sz="2800" dirty="0"/>
              <a:t>exchange random numbers between the client and the server to be used for the subsequent generation of the keys</a:t>
            </a:r>
          </a:p>
          <a:p>
            <a:r>
              <a:rPr lang="en-US" sz="2800" dirty="0"/>
              <a:t>establish a symmetric key by means of public key (asymmetric crypto) operations, e.g. RSA, </a:t>
            </a:r>
            <a:r>
              <a:rPr lang="en-US" sz="2800" dirty="0" err="1"/>
              <a:t>Diffie</a:t>
            </a:r>
            <a:r>
              <a:rPr lang="en-US" sz="2800" dirty="0"/>
              <a:t> Hellman</a:t>
            </a:r>
          </a:p>
          <a:p>
            <a:r>
              <a:rPr lang="en-US" sz="2800" dirty="0"/>
              <a:t>negotiate the session-id</a:t>
            </a:r>
          </a:p>
          <a:p>
            <a:r>
              <a:rPr lang="en-US" sz="2800" dirty="0"/>
              <a:t>exchange the necessary certificates</a:t>
            </a:r>
          </a:p>
        </p:txBody>
      </p:sp>
    </p:spTree>
    <p:extLst>
      <p:ext uri="{BB962C8B-B14F-4D97-AF65-F5344CB8AC3E}">
        <p14:creationId xmlns:p14="http://schemas.microsoft.com/office/powerpoint/2010/main" val="752091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Handshake in brief</a:t>
            </a:r>
          </a:p>
        </p:txBody>
      </p:sp>
      <p:sp>
        <p:nvSpPr>
          <p:cNvPr id="3" name="Content Placeholder 2"/>
          <p:cNvSpPr>
            <a:spLocks noGrp="1"/>
          </p:cNvSpPr>
          <p:nvPr>
            <p:ph sz="quarter" idx="11"/>
          </p:nvPr>
        </p:nvSpPr>
        <p:spPr>
          <a:xfrm>
            <a:off x="467544" y="5672026"/>
            <a:ext cx="8229600" cy="853318"/>
          </a:xfrm>
        </p:spPr>
        <p:txBody>
          <a:bodyPr>
            <a:normAutofit/>
          </a:bodyPr>
          <a:lstStyle/>
          <a:p>
            <a:pPr>
              <a:lnSpc>
                <a:spcPct val="110000"/>
              </a:lnSpc>
            </a:pPr>
            <a:r>
              <a:rPr lang="en-US" sz="2000" dirty="0"/>
              <a:t>Secrets are: Pre-master secret S, Master Key K</a:t>
            </a:r>
          </a:p>
          <a:p>
            <a:pPr>
              <a:lnSpc>
                <a:spcPct val="110000"/>
              </a:lnSpc>
            </a:pPr>
            <a:r>
              <a:rPr lang="en-US" sz="2000" dirty="0"/>
              <a:t>Server authentication via certificate, client authentication optional</a:t>
            </a:r>
          </a:p>
        </p:txBody>
      </p:sp>
      <p:pic>
        <p:nvPicPr>
          <p:cNvPr id="5"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69786" y="1145609"/>
            <a:ext cx="426979" cy="662554"/>
          </a:xfrm>
          <a:prstGeom prst="rect">
            <a:avLst/>
          </a:prstGeom>
        </p:spPr>
      </p:pic>
      <p:cxnSp>
        <p:nvCxnSpPr>
          <p:cNvPr id="12" name="Straight Connector 11"/>
          <p:cNvCxnSpPr>
            <a:cxnSpLocks/>
          </p:cNvCxnSpPr>
          <p:nvPr/>
        </p:nvCxnSpPr>
        <p:spPr>
          <a:xfrm>
            <a:off x="2671029" y="1861279"/>
            <a:ext cx="7189" cy="3609740"/>
          </a:xfrm>
          <a:prstGeom prst="line">
            <a:avLst/>
          </a:prstGeom>
          <a:ln w="2222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cxnSpLocks/>
          </p:cNvCxnSpPr>
          <p:nvPr/>
        </p:nvCxnSpPr>
        <p:spPr>
          <a:xfrm flipH="1">
            <a:off x="6297656" y="1861279"/>
            <a:ext cx="1" cy="3609740"/>
          </a:xfrm>
          <a:prstGeom prst="line">
            <a:avLst/>
          </a:prstGeom>
          <a:ln w="2222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671029" y="2204864"/>
            <a:ext cx="3626629" cy="0"/>
          </a:xfrm>
          <a:prstGeom prst="straightConnector1">
            <a:avLst/>
          </a:prstGeom>
          <a:ln w="15875">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009098" y="1897087"/>
            <a:ext cx="2944011" cy="338554"/>
          </a:xfrm>
          <a:prstGeom prst="rect">
            <a:avLst/>
          </a:prstGeom>
          <a:noFill/>
        </p:spPr>
        <p:txBody>
          <a:bodyPr wrap="none" rtlCol="0">
            <a:spAutoFit/>
          </a:bodyPr>
          <a:lstStyle/>
          <a:p>
            <a:pPr algn="ctr"/>
            <a:r>
              <a:rPr lang="en-US" sz="1600" dirty="0"/>
              <a:t>Hello: ciphers I support, </a:t>
            </a:r>
            <a:r>
              <a:rPr lang="en-US" sz="1600" dirty="0" err="1"/>
              <a:t>R</a:t>
            </a:r>
            <a:r>
              <a:rPr lang="en-US" sz="1600" baseline="-25000" dirty="0" err="1"/>
              <a:t>client</a:t>
            </a:r>
            <a:endParaRPr lang="en-US" sz="1600" baseline="-25000" dirty="0"/>
          </a:p>
        </p:txBody>
      </p:sp>
      <p:cxnSp>
        <p:nvCxnSpPr>
          <p:cNvPr id="20" name="Straight Arrow Connector 19"/>
          <p:cNvCxnSpPr/>
          <p:nvPr/>
        </p:nvCxnSpPr>
        <p:spPr>
          <a:xfrm flipH="1">
            <a:off x="2685410" y="2754905"/>
            <a:ext cx="3612247" cy="14482"/>
          </a:xfrm>
          <a:prstGeom prst="straightConnector1">
            <a:avLst/>
          </a:prstGeom>
          <a:ln w="15875">
            <a:solidFill>
              <a:schemeClr val="accent4">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618863" y="2420888"/>
            <a:ext cx="3868496" cy="338554"/>
          </a:xfrm>
          <a:prstGeom prst="rect">
            <a:avLst/>
          </a:prstGeom>
          <a:noFill/>
        </p:spPr>
        <p:txBody>
          <a:bodyPr wrap="none" rtlCol="0">
            <a:spAutoFit/>
          </a:bodyPr>
          <a:lstStyle/>
          <a:p>
            <a:pPr algn="ctr"/>
            <a:r>
              <a:rPr lang="en-US" sz="1600" dirty="0"/>
              <a:t>Hello: certificate, cipher I choose, </a:t>
            </a:r>
            <a:r>
              <a:rPr lang="en-US" sz="1600" dirty="0" err="1"/>
              <a:t>R</a:t>
            </a:r>
            <a:r>
              <a:rPr lang="en-US" sz="1600" baseline="-25000" dirty="0" err="1"/>
              <a:t>server</a:t>
            </a:r>
            <a:endParaRPr lang="en-US" sz="1600" baseline="-25000" dirty="0"/>
          </a:p>
        </p:txBody>
      </p:sp>
      <p:cxnSp>
        <p:nvCxnSpPr>
          <p:cNvPr id="26" name="Straight Arrow Connector 25"/>
          <p:cNvCxnSpPr/>
          <p:nvPr/>
        </p:nvCxnSpPr>
        <p:spPr>
          <a:xfrm flipH="1">
            <a:off x="2687945" y="3207205"/>
            <a:ext cx="3612247" cy="14482"/>
          </a:xfrm>
          <a:prstGeom prst="straightConnector1">
            <a:avLst/>
          </a:prstGeom>
          <a:ln w="15875">
            <a:solidFill>
              <a:schemeClr val="accent5">
                <a:lumMod val="7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059832" y="2924944"/>
            <a:ext cx="2880000" cy="576000"/>
          </a:xfrm>
          <a:prstGeom prst="rect">
            <a:avLst/>
          </a:prstGeom>
          <a:noFill/>
        </p:spPr>
        <p:txBody>
          <a:bodyPr wrap="square" rtlCol="0">
            <a:spAutoFit/>
          </a:bodyPr>
          <a:lstStyle/>
          <a:p>
            <a:pPr algn="ctr" latinLnBrk="0"/>
            <a:r>
              <a:rPr lang="en-US" sz="1600" dirty="0"/>
              <a:t>Securely exchange, or establish pre-master secret S</a:t>
            </a:r>
            <a:endParaRPr lang="en-US" sz="1600" baseline="-25000" dirty="0"/>
          </a:p>
        </p:txBody>
      </p:sp>
      <p:cxnSp>
        <p:nvCxnSpPr>
          <p:cNvPr id="28" name="Straight Connector 27"/>
          <p:cNvCxnSpPr>
            <a:cxnSpLocks/>
            <a:stCxn id="29" idx="3"/>
          </p:cNvCxnSpPr>
          <p:nvPr/>
        </p:nvCxnSpPr>
        <p:spPr>
          <a:xfrm>
            <a:off x="2421296" y="3649380"/>
            <a:ext cx="344548"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67180" y="3356992"/>
            <a:ext cx="2154116" cy="584775"/>
          </a:xfrm>
          <a:prstGeom prst="rect">
            <a:avLst/>
          </a:prstGeom>
          <a:noFill/>
        </p:spPr>
        <p:txBody>
          <a:bodyPr wrap="none" rtlCol="0">
            <a:spAutoFit/>
          </a:bodyPr>
          <a:lstStyle/>
          <a:p>
            <a:pPr algn="r"/>
            <a:r>
              <a:rPr lang="en-US" sz="1600" dirty="0"/>
              <a:t>Derive master key</a:t>
            </a:r>
          </a:p>
          <a:p>
            <a:pPr algn="r"/>
            <a:r>
              <a:rPr lang="en-US" sz="1600" dirty="0"/>
              <a:t>K = f (S, </a:t>
            </a:r>
            <a:r>
              <a:rPr lang="en-US" sz="1600" dirty="0" err="1"/>
              <a:t>R</a:t>
            </a:r>
            <a:r>
              <a:rPr lang="en-US" sz="1600" baseline="-25000" dirty="0" err="1"/>
              <a:t>client</a:t>
            </a:r>
            <a:r>
              <a:rPr lang="en-US" sz="1600" dirty="0"/>
              <a:t>, </a:t>
            </a:r>
            <a:r>
              <a:rPr lang="en-US" sz="1600" dirty="0" err="1"/>
              <a:t>R</a:t>
            </a:r>
            <a:r>
              <a:rPr lang="en-US" sz="1600" baseline="-25000" dirty="0" err="1"/>
              <a:t>server</a:t>
            </a:r>
            <a:r>
              <a:rPr lang="en-US" sz="1600" dirty="0"/>
              <a:t>)</a:t>
            </a:r>
          </a:p>
        </p:txBody>
      </p:sp>
      <p:sp>
        <p:nvSpPr>
          <p:cNvPr id="33" name="TextBox 32"/>
          <p:cNvSpPr txBox="1"/>
          <p:nvPr/>
        </p:nvSpPr>
        <p:spPr>
          <a:xfrm>
            <a:off x="6641665" y="3356992"/>
            <a:ext cx="2154116" cy="584775"/>
          </a:xfrm>
          <a:prstGeom prst="rect">
            <a:avLst/>
          </a:prstGeom>
          <a:noFill/>
        </p:spPr>
        <p:txBody>
          <a:bodyPr wrap="none" rtlCol="0">
            <a:spAutoFit/>
          </a:bodyPr>
          <a:lstStyle/>
          <a:p>
            <a:r>
              <a:rPr lang="en-US" sz="1600" dirty="0"/>
              <a:t>Derive master key</a:t>
            </a:r>
          </a:p>
          <a:p>
            <a:r>
              <a:rPr lang="en-US" sz="1600" dirty="0"/>
              <a:t>K = f (S, </a:t>
            </a:r>
            <a:r>
              <a:rPr lang="en-US" sz="1600" dirty="0" err="1"/>
              <a:t>R</a:t>
            </a:r>
            <a:r>
              <a:rPr lang="en-US" sz="1600" baseline="-25000" dirty="0" err="1"/>
              <a:t>client</a:t>
            </a:r>
            <a:r>
              <a:rPr lang="en-US" sz="1600" dirty="0"/>
              <a:t>, </a:t>
            </a:r>
            <a:r>
              <a:rPr lang="en-US" sz="1600" dirty="0" err="1"/>
              <a:t>R</a:t>
            </a:r>
            <a:r>
              <a:rPr lang="en-US" sz="1600" baseline="-25000" dirty="0" err="1"/>
              <a:t>server</a:t>
            </a:r>
            <a:r>
              <a:rPr lang="en-US" sz="1600" dirty="0"/>
              <a:t>)</a:t>
            </a:r>
          </a:p>
        </p:txBody>
      </p:sp>
      <p:cxnSp>
        <p:nvCxnSpPr>
          <p:cNvPr id="34" name="Straight Connector 33"/>
          <p:cNvCxnSpPr/>
          <p:nvPr/>
        </p:nvCxnSpPr>
        <p:spPr>
          <a:xfrm>
            <a:off x="6198922" y="3618602"/>
            <a:ext cx="389302"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2685410" y="4158160"/>
            <a:ext cx="3626629" cy="0"/>
          </a:xfrm>
          <a:prstGeom prst="straightConnector1">
            <a:avLst/>
          </a:prstGeom>
          <a:ln w="15875">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2671029" y="4535031"/>
            <a:ext cx="3612247" cy="14482"/>
          </a:xfrm>
          <a:prstGeom prst="straightConnector1">
            <a:avLst/>
          </a:prstGeom>
          <a:ln w="15875">
            <a:solidFill>
              <a:schemeClr val="accent4">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030456" y="3861048"/>
            <a:ext cx="2901308" cy="338554"/>
          </a:xfrm>
          <a:prstGeom prst="rect">
            <a:avLst/>
          </a:prstGeom>
          <a:noFill/>
        </p:spPr>
        <p:txBody>
          <a:bodyPr wrap="none" rtlCol="0">
            <a:spAutoFit/>
          </a:bodyPr>
          <a:lstStyle/>
          <a:p>
            <a:pPr algn="ctr"/>
            <a:r>
              <a:rPr lang="en-US" sz="1600" dirty="0"/>
              <a:t>Verify master key and Finish</a:t>
            </a:r>
            <a:endParaRPr lang="en-US" sz="1600" baseline="-25000" dirty="0"/>
          </a:p>
        </p:txBody>
      </p:sp>
      <p:sp>
        <p:nvSpPr>
          <p:cNvPr id="44" name="TextBox 43"/>
          <p:cNvSpPr txBox="1"/>
          <p:nvPr/>
        </p:nvSpPr>
        <p:spPr>
          <a:xfrm>
            <a:off x="3074537" y="4254040"/>
            <a:ext cx="2813142" cy="338554"/>
          </a:xfrm>
          <a:prstGeom prst="rect">
            <a:avLst/>
          </a:prstGeom>
          <a:noFill/>
        </p:spPr>
        <p:txBody>
          <a:bodyPr wrap="none" rtlCol="0">
            <a:spAutoFit/>
          </a:bodyPr>
          <a:lstStyle/>
          <a:p>
            <a:pPr algn="ctr"/>
            <a:r>
              <a:rPr lang="en-US" sz="1600" dirty="0"/>
              <a:t>Verify master key and Finish</a:t>
            </a:r>
            <a:endParaRPr lang="en-US" sz="1600" baseline="-25000" dirty="0"/>
          </a:p>
        </p:txBody>
      </p:sp>
      <p:cxnSp>
        <p:nvCxnSpPr>
          <p:cNvPr id="45" name="Straight Arrow Connector 44"/>
          <p:cNvCxnSpPr/>
          <p:nvPr/>
        </p:nvCxnSpPr>
        <p:spPr>
          <a:xfrm flipH="1">
            <a:off x="2677212" y="5209455"/>
            <a:ext cx="3612247" cy="14482"/>
          </a:xfrm>
          <a:prstGeom prst="straightConnector1">
            <a:avLst/>
          </a:prstGeom>
          <a:ln w="15875">
            <a:solidFill>
              <a:schemeClr val="bg1">
                <a:lumMod val="50000"/>
              </a:schemeClr>
            </a:solidFill>
            <a:prstDash val="solid"/>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3635896" y="4905823"/>
            <a:ext cx="2093413" cy="584775"/>
          </a:xfrm>
          <a:prstGeom prst="rect">
            <a:avLst/>
          </a:prstGeom>
          <a:noFill/>
        </p:spPr>
        <p:txBody>
          <a:bodyPr wrap="square" rtlCol="0">
            <a:spAutoFit/>
          </a:bodyPr>
          <a:lstStyle/>
          <a:p>
            <a:pPr algn="ctr" latinLnBrk="0"/>
            <a:r>
              <a:rPr lang="en-US" sz="1600" dirty="0"/>
              <a:t>Data protected by keys derived from K</a:t>
            </a:r>
            <a:endParaRPr lang="en-US" sz="1600" baseline="-250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0072" y="1194340"/>
            <a:ext cx="556293" cy="556293"/>
          </a:xfrm>
          <a:prstGeom prst="rect">
            <a:avLst/>
          </a:prstGeom>
        </p:spPr>
      </p:pic>
      <p:cxnSp>
        <p:nvCxnSpPr>
          <p:cNvPr id="7" name="Straight Connector 6">
            <a:extLst>
              <a:ext uri="{FF2B5EF4-FFF2-40B4-BE49-F238E27FC236}">
                <a16:creationId xmlns:a16="http://schemas.microsoft.com/office/drawing/2014/main" id="{90F89700-5CBF-F4E1-7E92-DE0E681E7153}"/>
              </a:ext>
            </a:extLst>
          </p:cNvPr>
          <p:cNvCxnSpPr/>
          <p:nvPr/>
        </p:nvCxnSpPr>
        <p:spPr>
          <a:xfrm>
            <a:off x="1763688" y="4788274"/>
            <a:ext cx="576064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0C1C3DC-6BAF-6B13-3532-89D5064262F6}"/>
              </a:ext>
            </a:extLst>
          </p:cNvPr>
          <p:cNvPicPr>
            <a:picLocks noChangeAspect="1"/>
          </p:cNvPicPr>
          <p:nvPr/>
        </p:nvPicPr>
        <p:blipFill>
          <a:blip r:embed="rId4" cstate="print">
            <a:alphaModFix amt="70000"/>
            <a:extLst>
              <a:ext uri="{28A0092B-C50C-407E-A947-70E740481C1C}">
                <a14:useLocalDpi xmlns:a14="http://schemas.microsoft.com/office/drawing/2010/main" val="0"/>
              </a:ext>
            </a:extLst>
          </a:blip>
          <a:stretch>
            <a:fillRect/>
          </a:stretch>
        </p:blipFill>
        <p:spPr>
          <a:xfrm>
            <a:off x="3036093" y="4886347"/>
            <a:ext cx="554538" cy="554538"/>
          </a:xfrm>
          <a:prstGeom prst="rect">
            <a:avLst/>
          </a:prstGeom>
        </p:spPr>
      </p:pic>
    </p:spTree>
    <p:extLst>
      <p:ext uri="{BB962C8B-B14F-4D97-AF65-F5344CB8AC3E}">
        <p14:creationId xmlns:p14="http://schemas.microsoft.com/office/powerpoint/2010/main" val="1440518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Handshake in detail</a:t>
            </a:r>
          </a:p>
        </p:txBody>
      </p:sp>
      <p:pic>
        <p:nvPicPr>
          <p:cNvPr id="5" name="Content Placeholder 4"/>
          <p:cNvPicPr>
            <a:picLocks noGrp="1" noChangeAspect="1"/>
          </p:cNvPicPr>
          <p:nvPr>
            <p:ph sz="quarter" idx="11"/>
          </p:nvPr>
        </p:nvPicPr>
        <p:blipFill rotWithShape="1">
          <a:blip r:embed="rId3">
            <a:extLst>
              <a:ext uri="{28A0092B-C50C-407E-A947-70E740481C1C}">
                <a14:useLocalDpi xmlns:a14="http://schemas.microsoft.com/office/drawing/2010/main" val="0"/>
              </a:ext>
            </a:extLst>
          </a:blip>
          <a:srcRect t="-1" b="40727"/>
          <a:stretch/>
        </p:blipFill>
        <p:spPr>
          <a:xfrm>
            <a:off x="611560" y="1340768"/>
            <a:ext cx="7776864" cy="5184576"/>
          </a:xfrm>
        </p:spPr>
      </p:pic>
    </p:spTree>
    <p:extLst>
      <p:ext uri="{BB962C8B-B14F-4D97-AF65-F5344CB8AC3E}">
        <p14:creationId xmlns:p14="http://schemas.microsoft.com/office/powerpoint/2010/main" val="2496933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Handshake in detail</a:t>
            </a:r>
          </a:p>
        </p:txBody>
      </p:sp>
      <p:pic>
        <p:nvPicPr>
          <p:cNvPr id="5" name="Content Placeholder 4"/>
          <p:cNvPicPr>
            <a:picLocks noGrp="1" noChangeAspect="1"/>
          </p:cNvPicPr>
          <p:nvPr>
            <p:ph sz="quarter" idx="11"/>
          </p:nvPr>
        </p:nvPicPr>
        <p:blipFill rotWithShape="1">
          <a:blip r:embed="rId2">
            <a:extLst>
              <a:ext uri="{28A0092B-C50C-407E-A947-70E740481C1C}">
                <a14:useLocalDpi xmlns:a14="http://schemas.microsoft.com/office/drawing/2010/main" val="0"/>
              </a:ext>
            </a:extLst>
          </a:blip>
          <a:srcRect t="48571" b="-437"/>
          <a:stretch/>
        </p:blipFill>
        <p:spPr>
          <a:xfrm>
            <a:off x="611560" y="1916832"/>
            <a:ext cx="7776864" cy="4536504"/>
          </a:xfrm>
        </p:spPr>
      </p:pic>
    </p:spTree>
    <p:extLst>
      <p:ext uri="{BB962C8B-B14F-4D97-AF65-F5344CB8AC3E}">
        <p14:creationId xmlns:p14="http://schemas.microsoft.com/office/powerpoint/2010/main" val="3405760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Handshake Terms</a:t>
            </a:r>
          </a:p>
        </p:txBody>
      </p:sp>
      <p:sp>
        <p:nvSpPr>
          <p:cNvPr id="3" name="Content Placeholder 2"/>
          <p:cNvSpPr>
            <a:spLocks noGrp="1"/>
          </p:cNvSpPr>
          <p:nvPr>
            <p:ph sz="quarter" idx="11"/>
          </p:nvPr>
        </p:nvSpPr>
        <p:spPr/>
        <p:txBody>
          <a:bodyPr>
            <a:noAutofit/>
          </a:bodyPr>
          <a:lstStyle/>
          <a:p>
            <a:r>
              <a:rPr lang="en-US" sz="2400" dirty="0"/>
              <a:t>HELLO Extensions: request extended functionality by sending data in the extensions field.</a:t>
            </a:r>
          </a:p>
          <a:p>
            <a:pPr lvl="1"/>
            <a:r>
              <a:rPr lang="en-US" sz="2000" dirty="0"/>
              <a:t>e.g. </a:t>
            </a:r>
            <a:r>
              <a:rPr lang="en-US" sz="2000" dirty="0" err="1"/>
              <a:t>max_fragment_length</a:t>
            </a:r>
            <a:r>
              <a:rPr lang="en-US" sz="2000" dirty="0"/>
              <a:t>, status request</a:t>
            </a:r>
          </a:p>
          <a:p>
            <a:pPr lvl="1"/>
            <a:r>
              <a:rPr lang="en-US" sz="2000" dirty="0"/>
              <a:t>The server may not oblige</a:t>
            </a:r>
          </a:p>
          <a:p>
            <a:pPr lvl="1"/>
            <a:r>
              <a:rPr lang="en-US" sz="2000" dirty="0"/>
              <a:t>Client may abort the handshake</a:t>
            </a:r>
          </a:p>
          <a:p>
            <a:r>
              <a:rPr lang="en-US" sz="2400" dirty="0"/>
              <a:t>Pre-master secret, S:</a:t>
            </a:r>
          </a:p>
          <a:p>
            <a:pPr lvl="1"/>
            <a:r>
              <a:rPr lang="en-US" sz="2000" dirty="0"/>
              <a:t>EITHER generated by client and sent to server using RSA encryption</a:t>
            </a:r>
          </a:p>
          <a:p>
            <a:pPr lvl="1"/>
            <a:r>
              <a:rPr lang="en-US" sz="2000" dirty="0"/>
              <a:t>OR derived via a key exchange algorithm e.g. Diffie Hellman (g</a:t>
            </a:r>
            <a:r>
              <a:rPr lang="en-US" sz="2000" baseline="30000" dirty="0"/>
              <a:t>ab</a:t>
            </a:r>
            <a:r>
              <a:rPr lang="en-US" sz="2000" dirty="0"/>
              <a:t> mod p) </a:t>
            </a:r>
          </a:p>
        </p:txBody>
      </p:sp>
    </p:spTree>
    <p:extLst>
      <p:ext uri="{BB962C8B-B14F-4D97-AF65-F5344CB8AC3E}">
        <p14:creationId xmlns:p14="http://schemas.microsoft.com/office/powerpoint/2010/main" val="3645402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BB66D-E5EA-10CA-C882-792AB4007F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BCE26-8093-A03A-DB66-D6FC3449B450}"/>
              </a:ext>
            </a:extLst>
          </p:cNvPr>
          <p:cNvSpPr>
            <a:spLocks noGrp="1"/>
          </p:cNvSpPr>
          <p:nvPr>
            <p:ph type="title"/>
          </p:nvPr>
        </p:nvSpPr>
        <p:spPr/>
        <p:txBody>
          <a:bodyPr/>
          <a:lstStyle/>
          <a:p>
            <a:r>
              <a:rPr lang="en-US" dirty="0"/>
              <a:t>Key Handshake Terms</a:t>
            </a:r>
          </a:p>
        </p:txBody>
      </p:sp>
      <p:sp>
        <p:nvSpPr>
          <p:cNvPr id="3" name="Content Placeholder 2">
            <a:extLst>
              <a:ext uri="{FF2B5EF4-FFF2-40B4-BE49-F238E27FC236}">
                <a16:creationId xmlns:a16="http://schemas.microsoft.com/office/drawing/2014/main" id="{BF2E6522-BCE1-CA91-A20A-9046A108360B}"/>
              </a:ext>
            </a:extLst>
          </p:cNvPr>
          <p:cNvSpPr>
            <a:spLocks noGrp="1"/>
          </p:cNvSpPr>
          <p:nvPr>
            <p:ph sz="quarter" idx="11"/>
          </p:nvPr>
        </p:nvSpPr>
        <p:spPr/>
        <p:txBody>
          <a:bodyPr>
            <a:noAutofit/>
          </a:bodyPr>
          <a:lstStyle/>
          <a:p>
            <a:r>
              <a:rPr lang="en-US" sz="2400" dirty="0"/>
              <a:t>Master key:</a:t>
            </a:r>
            <a:br>
              <a:rPr lang="en-US" sz="2400" dirty="0"/>
            </a:br>
            <a:r>
              <a:rPr lang="en-US" sz="2400" dirty="0"/>
              <a:t>generated by applying a Pseudo-Random Function (PRF).</a:t>
            </a:r>
          </a:p>
          <a:p>
            <a:pPr marL="0" indent="0" algn="ctr">
              <a:buNone/>
            </a:pPr>
            <a:r>
              <a:rPr lang="en-US" sz="2400" dirty="0"/>
              <a:t>Master key = PRF(S, </a:t>
            </a:r>
            <a:r>
              <a:rPr lang="en-US" sz="2400" dirty="0" err="1"/>
              <a:t>R</a:t>
            </a:r>
            <a:r>
              <a:rPr lang="en-US" sz="2400" baseline="-25000" dirty="0" err="1"/>
              <a:t>client</a:t>
            </a:r>
            <a:r>
              <a:rPr lang="en-US" sz="2400" dirty="0"/>
              <a:t>, </a:t>
            </a:r>
            <a:r>
              <a:rPr lang="en-US" sz="2400" dirty="0" err="1"/>
              <a:t>R</a:t>
            </a:r>
            <a:r>
              <a:rPr lang="en-US" sz="2400" baseline="-25000" dirty="0" err="1"/>
              <a:t>server</a:t>
            </a:r>
            <a:r>
              <a:rPr lang="en-US" sz="2400" dirty="0"/>
              <a:t>)</a:t>
            </a:r>
          </a:p>
          <a:p>
            <a:endParaRPr lang="en-US" sz="2400" dirty="0"/>
          </a:p>
          <a:p>
            <a:r>
              <a:rPr lang="en-US" sz="2400" dirty="0"/>
              <a:t>Master key may also be the called the </a:t>
            </a:r>
            <a:r>
              <a:rPr lang="en-US" sz="2400" dirty="0">
                <a:solidFill>
                  <a:srgbClr val="C00000"/>
                </a:solidFill>
              </a:rPr>
              <a:t>session key</a:t>
            </a:r>
            <a:r>
              <a:rPr lang="en-US" sz="2400" dirty="0"/>
              <a:t>.</a:t>
            </a:r>
          </a:p>
          <a:p>
            <a:r>
              <a:rPr lang="en-US" sz="2400" dirty="0"/>
              <a:t>Subsequently, multiple cryptographic operations (like encryption and MAC calculation) will be applied on the application data. Keys for all these operations are derived from the session key.</a:t>
            </a:r>
          </a:p>
        </p:txBody>
      </p:sp>
    </p:spTree>
    <p:extLst>
      <p:ext uri="{BB962C8B-B14F-4D97-AF65-F5344CB8AC3E}">
        <p14:creationId xmlns:p14="http://schemas.microsoft.com/office/powerpoint/2010/main" val="2178661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0DFFD-12E2-EB2D-D453-33E442A3E17B}"/>
              </a:ext>
            </a:extLst>
          </p:cNvPr>
          <p:cNvSpPr>
            <a:spLocks noGrp="1"/>
          </p:cNvSpPr>
          <p:nvPr>
            <p:ph type="title"/>
          </p:nvPr>
        </p:nvSpPr>
        <p:spPr/>
        <p:txBody>
          <a:bodyPr/>
          <a:lstStyle/>
          <a:p>
            <a:r>
              <a:rPr lang="en-US" dirty="0"/>
              <a:t>Pre-Master vs Master</a:t>
            </a:r>
          </a:p>
        </p:txBody>
      </p:sp>
      <p:sp>
        <p:nvSpPr>
          <p:cNvPr id="3" name="Content Placeholder 2">
            <a:extLst>
              <a:ext uri="{FF2B5EF4-FFF2-40B4-BE49-F238E27FC236}">
                <a16:creationId xmlns:a16="http://schemas.microsoft.com/office/drawing/2014/main" id="{AEFF2EE8-421B-1B1C-468F-FC5861DFD053}"/>
              </a:ext>
            </a:extLst>
          </p:cNvPr>
          <p:cNvSpPr>
            <a:spLocks noGrp="1"/>
          </p:cNvSpPr>
          <p:nvPr>
            <p:ph sz="quarter" idx="11"/>
          </p:nvPr>
        </p:nvSpPr>
        <p:spPr/>
        <p:txBody>
          <a:bodyPr/>
          <a:lstStyle/>
          <a:p>
            <a:pPr marL="0" indent="0">
              <a:buNone/>
            </a:pPr>
            <a:r>
              <a:rPr lang="en-US" sz="2400" b="1" dirty="0"/>
              <a:t>Why not use pre-master secret (S) as the session key? </a:t>
            </a:r>
          </a:p>
          <a:p>
            <a:r>
              <a:rPr lang="en-US" sz="2400" dirty="0"/>
              <a:t>There are various reasons, but most importantly, it is for prevention of </a:t>
            </a:r>
            <a:r>
              <a:rPr lang="en-US" sz="2400" dirty="0">
                <a:solidFill>
                  <a:srgbClr val="C00000"/>
                </a:solidFill>
              </a:rPr>
              <a:t>replay attacks</a:t>
            </a:r>
            <a:r>
              <a:rPr lang="en-US" sz="2400" dirty="0"/>
              <a:t>.</a:t>
            </a:r>
          </a:p>
          <a:p>
            <a:r>
              <a:rPr lang="en-US" sz="2400" dirty="0"/>
              <a:t>An attacker could intercept client’s packets, record them, and send to server again at a later time.</a:t>
            </a:r>
          </a:p>
          <a:p>
            <a:pPr lvl="1"/>
            <a:r>
              <a:rPr lang="en-US" sz="2000" dirty="0"/>
              <a:t>Server needs to be able to detect such attempts.</a:t>
            </a:r>
          </a:p>
          <a:p>
            <a:r>
              <a:rPr lang="en-US" sz="2400" dirty="0"/>
              <a:t>Including unique random values from both parties (</a:t>
            </a:r>
            <a:r>
              <a:rPr lang="en-US" sz="2400" dirty="0" err="1"/>
              <a:t>R</a:t>
            </a:r>
            <a:r>
              <a:rPr lang="en-US" sz="2400" baseline="-25000" dirty="0" err="1"/>
              <a:t>client</a:t>
            </a:r>
            <a:r>
              <a:rPr lang="en-US" sz="2400" dirty="0"/>
              <a:t>, </a:t>
            </a:r>
            <a:r>
              <a:rPr lang="en-US" sz="2400" dirty="0" err="1"/>
              <a:t>R</a:t>
            </a:r>
            <a:r>
              <a:rPr lang="en-US" sz="2400" baseline="-25000" dirty="0" err="1"/>
              <a:t>server</a:t>
            </a:r>
            <a:r>
              <a:rPr lang="en-US" sz="2400" dirty="0"/>
              <a:t>) helps prevent these attacks.</a:t>
            </a:r>
          </a:p>
          <a:p>
            <a:pPr lvl="1"/>
            <a:r>
              <a:rPr lang="en-US" sz="2000" dirty="0"/>
              <a:t>Even if an attacker intercepts and tries to reuse a valid handshake request, the server’s random values in a new session would be different.</a:t>
            </a:r>
          </a:p>
          <a:p>
            <a:endParaRPr lang="en-US" sz="2400" dirty="0"/>
          </a:p>
        </p:txBody>
      </p:sp>
      <p:sp>
        <p:nvSpPr>
          <p:cNvPr id="5" name="TextBox 4">
            <a:extLst>
              <a:ext uri="{FF2B5EF4-FFF2-40B4-BE49-F238E27FC236}">
                <a16:creationId xmlns:a16="http://schemas.microsoft.com/office/drawing/2014/main" id="{4CAA5EE2-FA3F-F42F-F50C-9BE9E7609B2B}"/>
              </a:ext>
            </a:extLst>
          </p:cNvPr>
          <p:cNvSpPr txBox="1"/>
          <p:nvPr/>
        </p:nvSpPr>
        <p:spPr>
          <a:xfrm>
            <a:off x="1781436" y="6021288"/>
            <a:ext cx="5760640" cy="338554"/>
          </a:xfrm>
          <a:prstGeom prst="rect">
            <a:avLst/>
          </a:prstGeom>
          <a:noFill/>
        </p:spPr>
        <p:txBody>
          <a:bodyPr wrap="square">
            <a:spAutoFit/>
          </a:bodyPr>
          <a:lstStyle/>
          <a:p>
            <a:pPr algn="ctr"/>
            <a:r>
              <a:rPr lang="en-US" sz="1600" dirty="0">
                <a:hlinkClick r:id="rId2"/>
              </a:rPr>
              <a:t>https://security.stackexchange.com/q/218491/245722</a:t>
            </a:r>
            <a:endParaRPr lang="en-US" sz="1600" dirty="0"/>
          </a:p>
        </p:txBody>
      </p:sp>
    </p:spTree>
    <p:extLst>
      <p:ext uri="{BB962C8B-B14F-4D97-AF65-F5344CB8AC3E}">
        <p14:creationId xmlns:p14="http://schemas.microsoft.com/office/powerpoint/2010/main" val="794518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SSL/TLS record protocol</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556792"/>
            <a:ext cx="7189973" cy="4548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0343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 computation</a:t>
            </a:r>
          </a:p>
        </p:txBody>
      </p:sp>
      <p:sp>
        <p:nvSpPr>
          <p:cNvPr id="3" name="Content Placeholder 2"/>
          <p:cNvSpPr>
            <a:spLocks noGrp="1"/>
          </p:cNvSpPr>
          <p:nvPr>
            <p:ph sz="quarter" idx="11"/>
          </p:nvPr>
        </p:nvSpPr>
        <p:spPr/>
        <p:txBody>
          <a:bodyPr>
            <a:normAutofit/>
          </a:bodyPr>
          <a:lstStyle/>
          <a:p>
            <a:r>
              <a:rPr lang="en-US" sz="2400" dirty="0"/>
              <a:t>MAC = </a:t>
            </a:r>
            <a:r>
              <a:rPr lang="en-US" sz="2400" dirty="0" err="1"/>
              <a:t>message_digest</a:t>
            </a:r>
            <a:r>
              <a:rPr lang="en-US" sz="2400" dirty="0"/>
              <a:t> ( </a:t>
            </a:r>
            <a:r>
              <a:rPr lang="en-US" sz="2400" dirty="0">
                <a:solidFill>
                  <a:srgbClr val="FF0000"/>
                </a:solidFill>
              </a:rPr>
              <a:t>key</a:t>
            </a:r>
            <a:r>
              <a:rPr lang="en-US" sz="2400" dirty="0"/>
              <a:t>, </a:t>
            </a:r>
            <a:r>
              <a:rPr lang="en-US" sz="2400" dirty="0" err="1">
                <a:solidFill>
                  <a:srgbClr val="00B0F0"/>
                </a:solidFill>
              </a:rPr>
              <a:t>seq_number</a:t>
            </a:r>
            <a:r>
              <a:rPr lang="en-US" sz="2400" dirty="0"/>
              <a:t> | </a:t>
            </a:r>
            <a:r>
              <a:rPr lang="en-US" sz="2400" dirty="0">
                <a:solidFill>
                  <a:srgbClr val="7030A0"/>
                </a:solidFill>
              </a:rPr>
              <a:t>type</a:t>
            </a:r>
            <a:r>
              <a:rPr lang="en-US" sz="2400" dirty="0"/>
              <a:t> | version | </a:t>
            </a:r>
            <a:r>
              <a:rPr lang="en-US" sz="2400" dirty="0">
                <a:solidFill>
                  <a:schemeClr val="accent6">
                    <a:lumMod val="75000"/>
                  </a:schemeClr>
                </a:solidFill>
              </a:rPr>
              <a:t>length</a:t>
            </a:r>
            <a:r>
              <a:rPr lang="en-US" sz="2400" dirty="0"/>
              <a:t> | fragment )</a:t>
            </a:r>
          </a:p>
          <a:p>
            <a:r>
              <a:rPr lang="en-US" sz="2400" dirty="0" err="1"/>
              <a:t>message_digest</a:t>
            </a:r>
            <a:r>
              <a:rPr lang="en-US" sz="2400" dirty="0"/>
              <a:t>: the chosen hash algorithm</a:t>
            </a:r>
          </a:p>
          <a:p>
            <a:r>
              <a:rPr lang="en-US" sz="2400" dirty="0">
                <a:solidFill>
                  <a:srgbClr val="FF0000"/>
                </a:solidFill>
              </a:rPr>
              <a:t>key</a:t>
            </a:r>
            <a:r>
              <a:rPr lang="en-US" sz="2400" dirty="0"/>
              <a:t>: sender-write-key or receiver-read-key</a:t>
            </a:r>
          </a:p>
          <a:p>
            <a:r>
              <a:rPr lang="en-US" sz="2400" dirty="0" err="1">
                <a:solidFill>
                  <a:srgbClr val="00B0F0"/>
                </a:solidFill>
              </a:rPr>
              <a:t>seq_number</a:t>
            </a:r>
            <a:r>
              <a:rPr lang="en-US" sz="2400" dirty="0"/>
              <a:t>: 32-bit integer</a:t>
            </a:r>
          </a:p>
          <a:p>
            <a:r>
              <a:rPr lang="en-US" sz="2400" dirty="0">
                <a:solidFill>
                  <a:srgbClr val="7030A0"/>
                </a:solidFill>
              </a:rPr>
              <a:t>type</a:t>
            </a:r>
            <a:r>
              <a:rPr lang="en-US" sz="2400" dirty="0"/>
              <a:t>: type of record </a:t>
            </a:r>
          </a:p>
          <a:p>
            <a:pPr lvl="1"/>
            <a:r>
              <a:rPr lang="en-US" sz="2000" dirty="0"/>
              <a:t>change cipher spec (20)</a:t>
            </a:r>
          </a:p>
          <a:p>
            <a:pPr lvl="1"/>
            <a:r>
              <a:rPr lang="en-US" sz="2000" dirty="0"/>
              <a:t>alert (21)</a:t>
            </a:r>
          </a:p>
          <a:p>
            <a:pPr lvl="1"/>
            <a:r>
              <a:rPr lang="en-US" sz="2000" dirty="0"/>
              <a:t>handshake (22)</a:t>
            </a:r>
          </a:p>
          <a:p>
            <a:pPr lvl="1"/>
            <a:r>
              <a:rPr lang="en-US" sz="2000" dirty="0"/>
              <a:t>application data (23)</a:t>
            </a:r>
          </a:p>
          <a:p>
            <a:r>
              <a:rPr lang="en-US" sz="2400" dirty="0">
                <a:solidFill>
                  <a:schemeClr val="accent6">
                    <a:lumMod val="75000"/>
                  </a:schemeClr>
                </a:solidFill>
              </a:rPr>
              <a:t>length</a:t>
            </a:r>
            <a:r>
              <a:rPr lang="en-US" sz="2400" dirty="0"/>
              <a:t>: length of the fragment/plaintext</a:t>
            </a:r>
          </a:p>
        </p:txBody>
      </p:sp>
    </p:spTree>
    <p:extLst>
      <p:ext uri="{BB962C8B-B14F-4D97-AF65-F5344CB8AC3E}">
        <p14:creationId xmlns:p14="http://schemas.microsoft.com/office/powerpoint/2010/main" val="3699116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Record Protocol Workflow</a:t>
            </a:r>
          </a:p>
        </p:txBody>
      </p:sp>
      <p:sp>
        <p:nvSpPr>
          <p:cNvPr id="3" name="Content Placeholder 2"/>
          <p:cNvSpPr>
            <a:spLocks noGrp="1"/>
          </p:cNvSpPr>
          <p:nvPr>
            <p:ph sz="quarter" idx="11"/>
          </p:nvPr>
        </p:nvSpPr>
        <p:spPr/>
        <p:txBody>
          <a:bodyPr/>
          <a:lstStyle/>
          <a:p>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556274"/>
            <a:ext cx="7372013" cy="4662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1374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TLS 1.3 important changes</a:t>
            </a:r>
          </a:p>
        </p:txBody>
      </p:sp>
      <p:sp>
        <p:nvSpPr>
          <p:cNvPr id="3" name="Content Placeholder 2"/>
          <p:cNvSpPr>
            <a:spLocks noGrp="1"/>
          </p:cNvSpPr>
          <p:nvPr>
            <p:ph sz="quarter" idx="11"/>
          </p:nvPr>
        </p:nvSpPr>
        <p:spPr/>
        <p:txBody>
          <a:bodyPr/>
          <a:lstStyle/>
          <a:p>
            <a:r>
              <a:rPr lang="en-US" sz="2400" dirty="0"/>
              <a:t>Removed unnecessary features like compression</a:t>
            </a:r>
          </a:p>
          <a:p>
            <a:r>
              <a:rPr lang="en-US" sz="2400" dirty="0"/>
              <a:t>Removed ability to ‘renegotiate’ cipher specs</a:t>
            </a:r>
          </a:p>
          <a:p>
            <a:r>
              <a:rPr lang="en-US" sz="2400" dirty="0"/>
              <a:t>Removed broken hash functions like MD5 and SHA‑224</a:t>
            </a:r>
          </a:p>
          <a:p>
            <a:r>
              <a:rPr lang="en-US" sz="2400" dirty="0"/>
              <a:t>Mandated </a:t>
            </a:r>
            <a:r>
              <a:rPr lang="en-US" sz="2400" dirty="0" err="1"/>
              <a:t>Diffie</a:t>
            </a:r>
            <a:r>
              <a:rPr lang="en-US" sz="2400" dirty="0"/>
              <a:t>-Hellman for key exchange (replacing RSA) in order to ensure forward secrecy</a:t>
            </a:r>
          </a:p>
          <a:p>
            <a:r>
              <a:rPr lang="en-US" sz="2400" dirty="0"/>
              <a:t>Reordered and merged handshake messages for a faster negotiation. </a:t>
            </a:r>
          </a:p>
          <a:p>
            <a:pPr lvl="1"/>
            <a:r>
              <a:rPr lang="en-US" sz="2000" dirty="0"/>
              <a:t>Whole handshake can be completed in 1 round trip.</a:t>
            </a:r>
          </a:p>
        </p:txBody>
      </p:sp>
    </p:spTree>
    <p:extLst>
      <p:ext uri="{BB962C8B-B14F-4D97-AF65-F5344CB8AC3E}">
        <p14:creationId xmlns:p14="http://schemas.microsoft.com/office/powerpoint/2010/main" val="1340462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a:xfrm>
            <a:off x="2134072" y="2420887"/>
            <a:ext cx="6563072" cy="1872209"/>
          </a:xfrm>
        </p:spPr>
        <p:txBody>
          <a:bodyPr anchor="t"/>
          <a:lstStyle/>
          <a:p>
            <a:pPr marL="0" indent="0">
              <a:buNone/>
            </a:pPr>
            <a:r>
              <a:rPr lang="en-US" sz="4800" b="1" dirty="0"/>
              <a:t>Internet Protocol Security (IPsec)</a:t>
            </a:r>
          </a:p>
        </p:txBody>
      </p:sp>
    </p:spTree>
    <p:extLst>
      <p:ext uri="{BB962C8B-B14F-4D97-AF65-F5344CB8AC3E}">
        <p14:creationId xmlns:p14="http://schemas.microsoft.com/office/powerpoint/2010/main" val="1854560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IPsec</a:t>
            </a:r>
          </a:p>
        </p:txBody>
      </p:sp>
      <p:sp>
        <p:nvSpPr>
          <p:cNvPr id="3" name="Content Placeholder 2"/>
          <p:cNvSpPr>
            <a:spLocks noGrp="1"/>
          </p:cNvSpPr>
          <p:nvPr>
            <p:ph sz="quarter" idx="11"/>
          </p:nvPr>
        </p:nvSpPr>
        <p:spPr/>
        <p:txBody>
          <a:bodyPr>
            <a:noAutofit/>
          </a:bodyPr>
          <a:lstStyle/>
          <a:p>
            <a:r>
              <a:rPr lang="en-US" sz="2800" dirty="0"/>
              <a:t>Security at layer 3</a:t>
            </a:r>
          </a:p>
          <a:p>
            <a:r>
              <a:rPr lang="en-US" sz="2800" dirty="0"/>
              <a:t>IPsec ensures:</a:t>
            </a:r>
          </a:p>
          <a:p>
            <a:pPr lvl="1"/>
            <a:r>
              <a:rPr lang="en-US" sz="2400" dirty="0"/>
              <a:t>confidentiality, integrity, and authenticity</a:t>
            </a:r>
          </a:p>
          <a:p>
            <a:r>
              <a:rPr lang="en-US" sz="2800" dirty="0"/>
              <a:t>Allows secure communication on the Internet</a:t>
            </a:r>
          </a:p>
          <a:p>
            <a:r>
              <a:rPr lang="en-US" sz="2800" dirty="0"/>
              <a:t>Independent from the application or higher protocols</a:t>
            </a:r>
          </a:p>
          <a:p>
            <a:r>
              <a:rPr lang="en-US" sz="2800" dirty="0"/>
              <a:t>Network-layer security instead of application-layer security</a:t>
            </a:r>
          </a:p>
          <a:p>
            <a:pPr lvl="1"/>
            <a:r>
              <a:rPr lang="en-US" sz="2400" dirty="0"/>
              <a:t>Compatible with schemes providing security at the application layer (can be applied simultaneously)</a:t>
            </a:r>
          </a:p>
          <a:p>
            <a:endParaRPr lang="en-US" sz="1800" dirty="0"/>
          </a:p>
        </p:txBody>
      </p:sp>
    </p:spTree>
    <p:extLst>
      <p:ext uri="{BB962C8B-B14F-4D97-AF65-F5344CB8AC3E}">
        <p14:creationId xmlns:p14="http://schemas.microsoft.com/office/powerpoint/2010/main" val="61015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IPsec</a:t>
            </a:r>
          </a:p>
        </p:txBody>
      </p:sp>
      <p:sp>
        <p:nvSpPr>
          <p:cNvPr id="3" name="Content Placeholder 2"/>
          <p:cNvSpPr>
            <a:spLocks noGrp="1"/>
          </p:cNvSpPr>
          <p:nvPr>
            <p:ph sz="quarter" idx="11"/>
          </p:nvPr>
        </p:nvSpPr>
        <p:spPr/>
        <p:txBody>
          <a:bodyPr/>
          <a:lstStyle/>
          <a:p>
            <a:r>
              <a:rPr lang="en-US" sz="2800" dirty="0"/>
              <a:t>Philosophy: implementing security within the operating systems automatically causes all applications to be protected without changing applications</a:t>
            </a:r>
          </a:p>
          <a:p>
            <a:r>
              <a:rPr lang="en-US" sz="2800" dirty="0"/>
              <a:t>IPsec is within the OS.</a:t>
            </a:r>
          </a:p>
          <a:p>
            <a:pPr lvl="1"/>
            <a:r>
              <a:rPr lang="en-US" sz="2400" dirty="0"/>
              <a:t>OS changes, applications and API to TCP don’t.</a:t>
            </a:r>
          </a:p>
        </p:txBody>
      </p:sp>
      <p:pic>
        <p:nvPicPr>
          <p:cNvPr id="4" name="Picture 2" descr="Image result for ipsec vs ssl osi layer"/>
          <p:cNvPicPr>
            <a:picLocks noChangeAspect="1" noChangeArrowheads="1"/>
          </p:cNvPicPr>
          <p:nvPr/>
        </p:nvPicPr>
        <p:blipFill rotWithShape="1">
          <a:blip r:embed="rId2">
            <a:extLst>
              <a:ext uri="{28A0092B-C50C-407E-A947-70E740481C1C}">
                <a14:useLocalDpi xmlns:a14="http://schemas.microsoft.com/office/drawing/2010/main" val="0"/>
              </a:ext>
            </a:extLst>
          </a:blip>
          <a:srcRect l="61604"/>
          <a:stretch/>
        </p:blipFill>
        <p:spPr bwMode="auto">
          <a:xfrm>
            <a:off x="3707904" y="4581128"/>
            <a:ext cx="2580505" cy="2016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728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IPsec</a:t>
            </a:r>
          </a:p>
        </p:txBody>
      </p:sp>
      <p:sp>
        <p:nvSpPr>
          <p:cNvPr id="3" name="Content Placeholder 2"/>
          <p:cNvSpPr>
            <a:spLocks noGrp="1"/>
          </p:cNvSpPr>
          <p:nvPr>
            <p:ph sz="quarter" idx="11"/>
          </p:nvPr>
        </p:nvSpPr>
        <p:spPr/>
        <p:txBody>
          <a:bodyPr/>
          <a:lstStyle/>
          <a:p>
            <a:r>
              <a:rPr lang="en-US" sz="2800" dirty="0"/>
              <a:t>Further advantages:</a:t>
            </a:r>
          </a:p>
          <a:p>
            <a:pPr lvl="1"/>
            <a:r>
              <a:rPr lang="en-US" sz="2400" dirty="0"/>
              <a:t>Can be applied to all network traffic</a:t>
            </a:r>
          </a:p>
          <a:p>
            <a:pPr lvl="1"/>
            <a:r>
              <a:rPr lang="en-US" sz="2400" dirty="0"/>
              <a:t>Routers/firewalls vendors can implement it (can't implement SSL)</a:t>
            </a:r>
          </a:p>
          <a:p>
            <a:pPr lvl="1"/>
            <a:r>
              <a:rPr lang="en-US" sz="2400" dirty="0"/>
              <a:t>Transparent to the applications</a:t>
            </a:r>
          </a:p>
          <a:p>
            <a:pPr lvl="1"/>
            <a:r>
              <a:rPr lang="en-US" sz="2400" dirty="0"/>
              <a:t>Transparent to the users</a:t>
            </a:r>
          </a:p>
          <a:p>
            <a:pPr lvl="1"/>
            <a:endParaRPr lang="en-US" sz="2400" dirty="0"/>
          </a:p>
          <a:p>
            <a:r>
              <a:rPr lang="en-US" sz="2800" dirty="0"/>
              <a:t>Limitations:</a:t>
            </a:r>
          </a:p>
          <a:p>
            <a:pPr lvl="1"/>
            <a:r>
              <a:rPr lang="en-US" sz="2400" dirty="0"/>
              <a:t>Limited to IP addresses</a:t>
            </a:r>
          </a:p>
          <a:p>
            <a:pPr lvl="1"/>
            <a:r>
              <a:rPr lang="en-US" sz="2400" dirty="0"/>
              <a:t>Has no concept of application users</a:t>
            </a:r>
          </a:p>
        </p:txBody>
      </p:sp>
    </p:spTree>
    <p:extLst>
      <p:ext uri="{BB962C8B-B14F-4D97-AF65-F5344CB8AC3E}">
        <p14:creationId xmlns:p14="http://schemas.microsoft.com/office/powerpoint/2010/main" val="2235263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IPsec </a:t>
            </a:r>
          </a:p>
        </p:txBody>
      </p:sp>
      <p:sp>
        <p:nvSpPr>
          <p:cNvPr id="3" name="Content Placeholder 2"/>
          <p:cNvSpPr>
            <a:spLocks noGrp="1"/>
          </p:cNvSpPr>
          <p:nvPr>
            <p:ph sz="quarter" idx="11"/>
          </p:nvPr>
        </p:nvSpPr>
        <p:spPr/>
        <p:txBody>
          <a:bodyPr/>
          <a:lstStyle/>
          <a:p>
            <a:r>
              <a:rPr lang="en-US" sz="2800" dirty="0"/>
              <a:t>Secure connection among different branches of the same company</a:t>
            </a:r>
          </a:p>
          <a:p>
            <a:pPr lvl="1"/>
            <a:r>
              <a:rPr lang="en-US" sz="2400" dirty="0"/>
              <a:t>Virtual Private Network (VPN)</a:t>
            </a:r>
          </a:p>
          <a:p>
            <a:r>
              <a:rPr lang="en-US" sz="2800" dirty="0"/>
              <a:t>Secure remote access to an Intranet through the (insecure) Internet</a:t>
            </a:r>
          </a:p>
          <a:p>
            <a:pPr lvl="1"/>
            <a:r>
              <a:rPr lang="en-US" sz="2400" dirty="0"/>
              <a:t>Allows secure remote workers</a:t>
            </a:r>
          </a:p>
          <a:p>
            <a:r>
              <a:rPr lang="en-US" sz="2800" dirty="0"/>
              <a:t>Secure communication between peers</a:t>
            </a:r>
          </a:p>
          <a:p>
            <a:r>
              <a:rPr lang="en-US" sz="2800" dirty="0"/>
              <a:t>Secure inter-organizational communication</a:t>
            </a:r>
          </a:p>
          <a:p>
            <a:pPr lvl="1"/>
            <a:r>
              <a:rPr lang="en-US" sz="2400" dirty="0"/>
              <a:t>such as between customers and vendors/suppliers</a:t>
            </a:r>
          </a:p>
        </p:txBody>
      </p:sp>
    </p:spTree>
    <p:extLst>
      <p:ext uri="{BB962C8B-B14F-4D97-AF65-F5344CB8AC3E}">
        <p14:creationId xmlns:p14="http://schemas.microsoft.com/office/powerpoint/2010/main" val="27647679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IPsec operating modes</a:t>
            </a:r>
          </a:p>
        </p:txBody>
      </p:sp>
      <p:pic>
        <p:nvPicPr>
          <p:cNvPr id="4" name="Picture 3">
            <a:extLst>
              <a:ext uri="{FF2B5EF4-FFF2-40B4-BE49-F238E27FC236}">
                <a16:creationId xmlns:a16="http://schemas.microsoft.com/office/drawing/2014/main" id="{ADC3A40E-7227-7570-7FEB-68BF45D67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1226" y="1844824"/>
            <a:ext cx="6601547" cy="3888432"/>
          </a:xfrm>
          <a:prstGeom prst="rect">
            <a:avLst/>
          </a:prstGeom>
        </p:spPr>
      </p:pic>
    </p:spTree>
    <p:extLst>
      <p:ext uri="{BB962C8B-B14F-4D97-AF65-F5344CB8AC3E}">
        <p14:creationId xmlns:p14="http://schemas.microsoft.com/office/powerpoint/2010/main" val="4209875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 mode</a:t>
            </a:r>
          </a:p>
        </p:txBody>
      </p:sp>
      <p:sp>
        <p:nvSpPr>
          <p:cNvPr id="3" name="Content Placeholder 2"/>
          <p:cNvSpPr>
            <a:spLocks noGrp="1"/>
          </p:cNvSpPr>
          <p:nvPr>
            <p:ph sz="quarter" idx="11"/>
          </p:nvPr>
        </p:nvSpPr>
        <p:spPr/>
        <p:txBody>
          <a:bodyPr/>
          <a:lstStyle/>
          <a:p>
            <a:r>
              <a:rPr lang="en-US" sz="2800" dirty="0"/>
              <a:t>used for end-to-end security, that is used by hosts, not gateways </a:t>
            </a:r>
          </a:p>
          <a:p>
            <a:pPr lvl="1"/>
            <a:r>
              <a:rPr lang="en-US" sz="2400" dirty="0"/>
              <a:t>exception: traffic for the gateway itself e.g. SNMP, ICMP</a:t>
            </a:r>
          </a:p>
          <a:p>
            <a:endParaRPr lang="en-US" sz="2800" dirty="0"/>
          </a:p>
          <a:p>
            <a:r>
              <a:rPr lang="en-US" sz="2800" dirty="0"/>
              <a:t>pro: computationally light</a:t>
            </a:r>
          </a:p>
          <a:p>
            <a:r>
              <a:rPr lang="en-US" sz="2800" dirty="0"/>
              <a:t>con: no protection of header fields</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7639" y="4923006"/>
            <a:ext cx="4208233" cy="1321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a:extLst>
              <a:ext uri="{FF2B5EF4-FFF2-40B4-BE49-F238E27FC236}">
                <a16:creationId xmlns:a16="http://schemas.microsoft.com/office/drawing/2014/main" id="{B088A246-FB57-3B1F-7F81-79ADB79D9108}"/>
              </a:ext>
            </a:extLst>
          </p:cNvPr>
          <p:cNvSpPr/>
          <p:nvPr/>
        </p:nvSpPr>
        <p:spPr>
          <a:xfrm>
            <a:off x="4219911" y="5665505"/>
            <a:ext cx="2392307" cy="499799"/>
          </a:xfrm>
          <a:prstGeom prst="rect">
            <a:avLst/>
          </a:prstGeom>
          <a:blipFill dpi="0" rotWithShape="1">
            <a:blip r:embed="rId3">
              <a:alphaModFix amt="67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5633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Tunnel Mode</a:t>
            </a:r>
          </a:p>
        </p:txBody>
      </p:sp>
      <p:sp>
        <p:nvSpPr>
          <p:cNvPr id="3" name="Content Placeholder 2"/>
          <p:cNvSpPr>
            <a:spLocks noGrp="1"/>
          </p:cNvSpPr>
          <p:nvPr>
            <p:ph sz="quarter" idx="11"/>
          </p:nvPr>
        </p:nvSpPr>
        <p:spPr/>
        <p:txBody>
          <a:bodyPr/>
          <a:lstStyle/>
          <a:p>
            <a:r>
              <a:rPr lang="en-US" sz="2800" dirty="0"/>
              <a:t>used to create a VPN, usually by gateways</a:t>
            </a:r>
          </a:p>
          <a:p>
            <a:pPr lvl="1"/>
            <a:r>
              <a:rPr lang="en-US" sz="2400" dirty="0"/>
              <a:t>gateway-to-gateway mode</a:t>
            </a:r>
          </a:p>
          <a:p>
            <a:endParaRPr lang="en-US" sz="2800" dirty="0"/>
          </a:p>
          <a:p>
            <a:r>
              <a:rPr lang="en-US" sz="2800" dirty="0"/>
              <a:t>pro: protection of header variable fields</a:t>
            </a:r>
          </a:p>
          <a:p>
            <a:r>
              <a:rPr lang="en-US" sz="2800" dirty="0"/>
              <a:t>con: computationally heavy</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3444" y="4653136"/>
            <a:ext cx="5257800" cy="1856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849707" y="6021288"/>
            <a:ext cx="3330624" cy="432048"/>
          </a:xfrm>
          <a:prstGeom prst="rect">
            <a:avLst/>
          </a:prstGeom>
          <a:blipFill dpi="0" rotWithShape="1">
            <a:blip r:embed="rId4">
              <a:alphaModFix amt="67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81D1C0A-CECB-7AA8-0BC3-DA92ABD3D044}"/>
              </a:ext>
            </a:extLst>
          </p:cNvPr>
          <p:cNvSpPr/>
          <p:nvPr/>
        </p:nvSpPr>
        <p:spPr>
          <a:xfrm>
            <a:off x="3856767" y="5389118"/>
            <a:ext cx="3330624" cy="432048"/>
          </a:xfrm>
          <a:prstGeom prst="rect">
            <a:avLst/>
          </a:prstGeom>
          <a:blipFill dpi="0" rotWithShape="1">
            <a:blip r:embed="rId4">
              <a:alphaModFix amt="67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4773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IPsec protocol suite</a:t>
            </a:r>
          </a:p>
        </p:txBody>
      </p:sp>
      <p:sp>
        <p:nvSpPr>
          <p:cNvPr id="3" name="Content Placeholder 2"/>
          <p:cNvSpPr>
            <a:spLocks noGrp="1"/>
          </p:cNvSpPr>
          <p:nvPr>
            <p:ph sz="quarter" idx="11"/>
          </p:nvPr>
        </p:nvSpPr>
        <p:spPr/>
        <p:txBody>
          <a:bodyPr/>
          <a:lstStyle/>
          <a:p>
            <a:pPr marL="0" indent="0">
              <a:buNone/>
            </a:pPr>
            <a:r>
              <a:rPr lang="en-US" sz="2800" dirty="0"/>
              <a:t>IPsec standard defines three distinct protocols:</a:t>
            </a:r>
          </a:p>
          <a:p>
            <a:r>
              <a:rPr lang="en-US" sz="2800" dirty="0"/>
              <a:t>definition of two specific packet types:</a:t>
            </a:r>
          </a:p>
          <a:p>
            <a:pPr lvl="1"/>
            <a:r>
              <a:rPr lang="en-US" sz="2400" dirty="0"/>
              <a:t>Authentication Header (AH)</a:t>
            </a:r>
          </a:p>
          <a:p>
            <a:pPr lvl="2"/>
            <a:r>
              <a:rPr lang="en-US" sz="2000" dirty="0"/>
              <a:t>for integrity, authentication and anti-replay</a:t>
            </a:r>
          </a:p>
          <a:p>
            <a:pPr lvl="1"/>
            <a:r>
              <a:rPr lang="en-US" sz="2400" dirty="0"/>
              <a:t>Encapsulating Security Payload (ESP)</a:t>
            </a:r>
          </a:p>
          <a:p>
            <a:pPr lvl="2"/>
            <a:r>
              <a:rPr lang="en-US" sz="2000" dirty="0"/>
              <a:t>for confidentiality, integrity, authentication &amp; anti-replay</a:t>
            </a:r>
          </a:p>
          <a:p>
            <a:r>
              <a:rPr lang="en-US" sz="2800" dirty="0"/>
              <a:t>protocol for key exchange:</a:t>
            </a:r>
          </a:p>
          <a:p>
            <a:pPr lvl="1"/>
            <a:r>
              <a:rPr lang="en-US" sz="2400" dirty="0"/>
              <a:t>Internet Key Exchange (IKE)</a:t>
            </a:r>
          </a:p>
          <a:p>
            <a:pPr lvl="1"/>
            <a:r>
              <a:rPr lang="en-US" sz="2400" dirty="0"/>
              <a:t>manages secure key exchange using public key algorithms and digital certificates</a:t>
            </a:r>
          </a:p>
        </p:txBody>
      </p:sp>
    </p:spTree>
    <p:extLst>
      <p:ext uri="{BB962C8B-B14F-4D97-AF65-F5344CB8AC3E}">
        <p14:creationId xmlns:p14="http://schemas.microsoft.com/office/powerpoint/2010/main" val="2962929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Policies</a:t>
            </a:r>
          </a:p>
        </p:txBody>
      </p:sp>
      <p:sp>
        <p:nvSpPr>
          <p:cNvPr id="3" name="Content Placeholder 2"/>
          <p:cNvSpPr>
            <a:spLocks noGrp="1"/>
          </p:cNvSpPr>
          <p:nvPr>
            <p:ph sz="quarter" idx="11"/>
          </p:nvPr>
        </p:nvSpPr>
        <p:spPr/>
        <p:txBody>
          <a:bodyPr/>
          <a:lstStyle/>
          <a:p>
            <a:r>
              <a:rPr lang="en-US" sz="2400" dirty="0"/>
              <a:t>Rules to decide if an IP packet needs to be processed and how.</a:t>
            </a:r>
          </a:p>
          <a:p>
            <a:endParaRPr lang="en-US" sz="2400" dirty="0"/>
          </a:p>
          <a:p>
            <a:pPr marL="0" indent="0">
              <a:buNone/>
            </a:pPr>
            <a:r>
              <a:rPr lang="en-US" sz="2400" dirty="0"/>
              <a:t>A policy defines</a:t>
            </a:r>
          </a:p>
          <a:p>
            <a:pPr marL="457200" indent="-457200">
              <a:buFont typeface="+mj-lt"/>
              <a:buAutoNum type="alphaLcParenR"/>
            </a:pPr>
            <a:r>
              <a:rPr lang="en-US" sz="2400" dirty="0"/>
              <a:t>packet selection rules like source, destination</a:t>
            </a:r>
          </a:p>
          <a:p>
            <a:pPr marL="457200" indent="-457200">
              <a:buFont typeface="+mj-lt"/>
              <a:buAutoNum type="alphaLcParenR"/>
            </a:pPr>
            <a:r>
              <a:rPr lang="en-US" sz="2400" dirty="0"/>
              <a:t>action to take (encrypt, authenticate, block)</a:t>
            </a:r>
          </a:p>
          <a:p>
            <a:pPr marL="457200" indent="-457200">
              <a:buFont typeface="+mj-lt"/>
              <a:buAutoNum type="alphaLcParenR"/>
            </a:pPr>
            <a:r>
              <a:rPr lang="en-US" sz="2400" dirty="0"/>
              <a:t>IPsec protocol (ESP/AH) and mode (transport/tunnel)</a:t>
            </a:r>
          </a:p>
          <a:p>
            <a:pPr lvl="1"/>
            <a:r>
              <a:rPr lang="en-US" sz="2000" dirty="0"/>
              <a:t>e.g. all outbound packets from database server (say 192.168.5.1) to clients subnet (e.g. 192.168.12.0/24) should be authenticated by AH in transport mode</a:t>
            </a:r>
          </a:p>
          <a:p>
            <a:pPr lvl="1"/>
            <a:r>
              <a:rPr lang="en-US" sz="2000" dirty="0"/>
              <a:t>all traffic going to remote gateway (say 170.34.12.6) should be encrypted with ESP in tunnel mode</a:t>
            </a:r>
          </a:p>
          <a:p>
            <a:endParaRPr lang="en-US" sz="2400" dirty="0"/>
          </a:p>
        </p:txBody>
      </p:sp>
    </p:spTree>
    <p:extLst>
      <p:ext uri="{BB962C8B-B14F-4D97-AF65-F5344CB8AC3E}">
        <p14:creationId xmlns:p14="http://schemas.microsoft.com/office/powerpoint/2010/main" val="461108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1"/>
          </p:nvPr>
        </p:nvSpPr>
        <p:spPr bwMode="auto">
          <a:xfrm>
            <a:off x="3124200" y="6356350"/>
            <a:ext cx="2895600" cy="365125"/>
          </a:xfrm>
          <a:prstGeom prst="rect">
            <a:avLst/>
          </a:prstGeom>
          <a:noFill/>
          <a:ln>
            <a:miter lim="800000"/>
            <a:headEnd/>
            <a:tailEnd/>
          </a:ln>
        </p:spPr>
        <p:txBody>
          <a:bodyPr vert="horz" wrap="square" lIns="91440" tIns="45720" rIns="91440" bIns="45720" numCol="1" rtlCol="0" anchor="ctr" anchorCtr="0" compatLnSpc="1">
            <a:prstTxWarp prst="textNoShape">
              <a:avLst/>
            </a:prstTxWarp>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en-US"/>
          </a:p>
        </p:txBody>
      </p:sp>
      <p:sp>
        <p:nvSpPr>
          <p:cNvPr id="5" name="Title 4"/>
          <p:cNvSpPr>
            <a:spLocks noGrp="1"/>
          </p:cNvSpPr>
          <p:nvPr>
            <p:ph type="title"/>
          </p:nvPr>
        </p:nvSpPr>
        <p:spPr>
          <a:xfrm>
            <a:off x="304800" y="152400"/>
            <a:ext cx="8229600" cy="715962"/>
          </a:xfrm>
        </p:spPr>
        <p:txBody>
          <a:bodyPr/>
          <a:lstStyle/>
          <a:p>
            <a:pPr fontAlgn="auto">
              <a:spcAft>
                <a:spcPts val="0"/>
              </a:spcAft>
              <a:defRPr/>
            </a:pPr>
            <a:r>
              <a:rPr lang="en-US" sz="2400" dirty="0" err="1"/>
              <a:t>IPsec</a:t>
            </a:r>
            <a:r>
              <a:rPr lang="en-US" sz="2400" dirty="0"/>
              <a:t> Security Associations</a:t>
            </a:r>
          </a:p>
        </p:txBody>
      </p:sp>
      <p:pic>
        <p:nvPicPr>
          <p:cNvPr id="29700" name="Picture 1" descr="S2C05F08 IPsec SAs"/>
          <p:cNvPicPr>
            <a:picLocks noChangeAspect="1" noChangeArrowheads="1"/>
          </p:cNvPicPr>
          <p:nvPr/>
        </p:nvPicPr>
        <p:blipFill>
          <a:blip r:embed="rId2" cstate="print"/>
          <a:srcRect r="4202"/>
          <a:stretch>
            <a:fillRect/>
          </a:stretch>
        </p:blipFill>
        <p:spPr bwMode="auto">
          <a:xfrm>
            <a:off x="76200" y="914400"/>
            <a:ext cx="8931275" cy="5568950"/>
          </a:xfrm>
          <a:prstGeom prst="rect">
            <a:avLst/>
          </a:prstGeom>
          <a:noFill/>
          <a:ln w="9525">
            <a:noFill/>
            <a:miter lim="800000"/>
            <a:headEnd/>
            <a:tailEnd/>
          </a:ln>
        </p:spPr>
      </p:pic>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3400" y="620688"/>
            <a:ext cx="8229600" cy="3124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When a device receives a packet via the IPSec protocol, it is the SA that tells the device what to do with the packet. So if device B receives a packet from device C via IPSec, device B will look to the corresponding SA to tell it how to decrypt the packet, how to properly authenticate the source of the packet, which key to use, and how to reply to the message if necessary.</a:t>
            </a:r>
          </a:p>
        </p:txBody>
      </p:sp>
      <p:sp>
        <p:nvSpPr>
          <p:cNvPr id="5" name="Rounded Rectangle 4"/>
          <p:cNvSpPr/>
          <p:nvPr/>
        </p:nvSpPr>
        <p:spPr>
          <a:xfrm>
            <a:off x="218931" y="3899520"/>
            <a:ext cx="8706138" cy="2802632"/>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SAs are directional, so a device will have one SA for outbound traffic and a different SA for inbound traffic for each individual communication channel. If a device is connecting to three devices, it will have at least six SAs, one for each inbound and outbound connection per remote device. </a:t>
            </a:r>
          </a:p>
        </p:txBody>
      </p:sp>
      <p:sp>
        <p:nvSpPr>
          <p:cNvPr id="6" name="Title 1"/>
          <p:cNvSpPr>
            <a:spLocks noGrp="1"/>
          </p:cNvSpPr>
          <p:nvPr>
            <p:ph type="title"/>
          </p:nvPr>
        </p:nvSpPr>
        <p:spPr>
          <a:xfrm>
            <a:off x="457200" y="-76200"/>
            <a:ext cx="8686800" cy="1143000"/>
          </a:xfrm>
        </p:spPr>
        <p:txBody>
          <a:bodyPr/>
          <a:lstStyle/>
          <a:p>
            <a:r>
              <a:rPr lang="en-US" dirty="0"/>
              <a:t>IPSEC (Internet Protocol Security)</a:t>
            </a: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3400" y="1600200"/>
            <a:ext cx="8229600" cy="251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So how can a device keep all of these SAs organized and ensure that the right SA is invoked for the right connection? With the mighty security parameter index (SPI), that’s how.</a:t>
            </a:r>
          </a:p>
        </p:txBody>
      </p:sp>
      <p:sp>
        <p:nvSpPr>
          <p:cNvPr id="5" name="Rounded Rectangle 4"/>
          <p:cNvSpPr/>
          <p:nvPr/>
        </p:nvSpPr>
        <p:spPr>
          <a:xfrm>
            <a:off x="609600" y="4343400"/>
            <a:ext cx="8153400" cy="22098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Each device has an SPI that keeps track of the different SAs and tells the device which one is appropriate to invoke for the different packets it receives. The SPI value is in the header of an IPSec packet, and the device reads this value to tell it which SA to consult, as depicted in the Figure.</a:t>
            </a:r>
          </a:p>
        </p:txBody>
      </p:sp>
      <p:sp>
        <p:nvSpPr>
          <p:cNvPr id="6" name="Title 1"/>
          <p:cNvSpPr>
            <a:spLocks noGrp="1"/>
          </p:cNvSpPr>
          <p:nvPr>
            <p:ph type="title"/>
          </p:nvPr>
        </p:nvSpPr>
        <p:spPr>
          <a:xfrm>
            <a:off x="457200" y="228600"/>
            <a:ext cx="8507288" cy="1143000"/>
          </a:xfrm>
        </p:spPr>
        <p:txBody>
          <a:bodyPr/>
          <a:lstStyle/>
          <a:p>
            <a:r>
              <a:rPr lang="en-US" dirty="0"/>
              <a:t>IPSEC (Internet Protocol Security)</a:t>
            </a:r>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0" y="402240"/>
            <a:ext cx="9060983" cy="599856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Associations</a:t>
            </a:r>
          </a:p>
        </p:txBody>
      </p:sp>
      <p:sp>
        <p:nvSpPr>
          <p:cNvPr id="3" name="Content Placeholder 2"/>
          <p:cNvSpPr>
            <a:spLocks noGrp="1"/>
          </p:cNvSpPr>
          <p:nvPr>
            <p:ph sz="quarter" idx="11"/>
          </p:nvPr>
        </p:nvSpPr>
        <p:spPr>
          <a:xfrm>
            <a:off x="467544" y="1560612"/>
            <a:ext cx="8229600" cy="4820716"/>
          </a:xfrm>
        </p:spPr>
        <p:txBody>
          <a:bodyPr>
            <a:noAutofit/>
          </a:bodyPr>
          <a:lstStyle/>
          <a:p>
            <a:r>
              <a:rPr lang="en-US" sz="2400" dirty="0"/>
              <a:t>A contract between two peers on security parameters (like keys, cipher algorithms, key expiry)</a:t>
            </a:r>
          </a:p>
          <a:p>
            <a:r>
              <a:rPr lang="en-US" sz="2400" dirty="0"/>
              <a:t>Separate associations in each direction</a:t>
            </a:r>
          </a:p>
          <a:p>
            <a:pPr lvl="1"/>
            <a:r>
              <a:rPr lang="en-US" sz="2000" dirty="0"/>
              <a:t>two SA are needed to get complete protection of a bidirectional packet flow in IPsec</a:t>
            </a:r>
          </a:p>
          <a:p>
            <a:pPr lvl="1"/>
            <a:endParaRPr lang="en-US" sz="2000" dirty="0"/>
          </a:p>
          <a:p>
            <a:pPr lvl="1"/>
            <a:endParaRPr lang="en-US" sz="2000" dirty="0"/>
          </a:p>
          <a:p>
            <a:pPr lvl="1"/>
            <a:endParaRPr lang="en-US" sz="2000" dirty="0"/>
          </a:p>
          <a:p>
            <a:r>
              <a:rPr lang="en-US" sz="2400" dirty="0"/>
              <a:t>Three SA identification parameters</a:t>
            </a:r>
          </a:p>
          <a:p>
            <a:pPr lvl="1"/>
            <a:r>
              <a:rPr lang="en-US" sz="2000" dirty="0"/>
              <a:t>Security parameter index (SPI)</a:t>
            </a:r>
          </a:p>
          <a:p>
            <a:pPr lvl="1"/>
            <a:r>
              <a:rPr lang="en-US" sz="2000" dirty="0"/>
              <a:t>IP destination address</a:t>
            </a:r>
          </a:p>
          <a:p>
            <a:pPr lvl="1"/>
            <a:r>
              <a:rPr lang="en-US" sz="2000" dirty="0"/>
              <a:t>IPsec protocol (AH or ESP)</a:t>
            </a:r>
            <a:endParaRPr lang="en-US" sz="2400" dirty="0"/>
          </a:p>
          <a:p>
            <a:pPr lvl="1"/>
            <a:endParaRPr lang="en-US" sz="2000"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3573016"/>
            <a:ext cx="4320480" cy="89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1884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IPsec local databases</a:t>
            </a:r>
          </a:p>
        </p:txBody>
      </p:sp>
      <p:sp>
        <p:nvSpPr>
          <p:cNvPr id="3" name="Content Placeholder 2"/>
          <p:cNvSpPr>
            <a:spLocks noGrp="1"/>
          </p:cNvSpPr>
          <p:nvPr>
            <p:ph sz="quarter" idx="11"/>
          </p:nvPr>
        </p:nvSpPr>
        <p:spPr/>
        <p:txBody>
          <a:bodyPr>
            <a:normAutofit/>
          </a:bodyPr>
          <a:lstStyle/>
          <a:p>
            <a:r>
              <a:rPr lang="en-US" sz="2800" dirty="0"/>
              <a:t>SAD (SA Database)</a:t>
            </a:r>
          </a:p>
          <a:p>
            <a:pPr lvl="1"/>
            <a:r>
              <a:rPr lang="en-US" sz="2400" dirty="0"/>
              <a:t>list of active SA and their characteristics</a:t>
            </a:r>
          </a:p>
          <a:p>
            <a:pPr lvl="1"/>
            <a:r>
              <a:rPr lang="en-US" sz="2400" dirty="0"/>
              <a:t>maintained by user-processes</a:t>
            </a:r>
          </a:p>
          <a:p>
            <a:pPr lvl="1"/>
            <a:endParaRPr lang="en-US" sz="2400" dirty="0"/>
          </a:p>
          <a:p>
            <a:r>
              <a:rPr lang="en-US" sz="2800" dirty="0"/>
              <a:t>SPD (Security Policy Database)</a:t>
            </a:r>
          </a:p>
          <a:p>
            <a:pPr lvl="1"/>
            <a:r>
              <a:rPr lang="en-US" sz="2400" dirty="0"/>
              <a:t>list of security policies to apply to the different packet flows</a:t>
            </a:r>
          </a:p>
          <a:p>
            <a:pPr lvl="1"/>
            <a:r>
              <a:rPr lang="en-US" sz="2400" dirty="0"/>
              <a:t>a-priori configured (e.g. manually) or connected to an automatic system (e.g. ISPS: Internet Security Policy System)</a:t>
            </a:r>
          </a:p>
        </p:txBody>
      </p:sp>
    </p:spTree>
    <p:extLst>
      <p:ext uri="{BB962C8B-B14F-4D97-AF65-F5344CB8AC3E}">
        <p14:creationId xmlns:p14="http://schemas.microsoft.com/office/powerpoint/2010/main" val="40744452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IPsec works (sending)</a:t>
            </a:r>
          </a:p>
        </p:txBody>
      </p:sp>
      <p:pic>
        <p:nvPicPr>
          <p:cNvPr id="4" name="Picture 3">
            <a:extLst>
              <a:ext uri="{FF2B5EF4-FFF2-40B4-BE49-F238E27FC236}">
                <a16:creationId xmlns:a16="http://schemas.microsoft.com/office/drawing/2014/main" id="{0D3809D0-9597-F63C-9409-F7B65EF3F1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8478" y="2204864"/>
            <a:ext cx="5507043" cy="3671362"/>
          </a:xfrm>
          <a:prstGeom prst="rect">
            <a:avLst/>
          </a:prstGeom>
        </p:spPr>
      </p:pic>
    </p:spTree>
    <p:extLst>
      <p:ext uri="{BB962C8B-B14F-4D97-AF65-F5344CB8AC3E}">
        <p14:creationId xmlns:p14="http://schemas.microsoft.com/office/powerpoint/2010/main" val="30563862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Authentication Header (AH)</a:t>
            </a:r>
          </a:p>
        </p:txBody>
      </p:sp>
      <p:sp>
        <p:nvSpPr>
          <p:cNvPr id="3" name="Content Placeholder 2"/>
          <p:cNvSpPr>
            <a:spLocks noGrp="1"/>
          </p:cNvSpPr>
          <p:nvPr>
            <p:ph sz="quarter" idx="11"/>
          </p:nvPr>
        </p:nvSpPr>
        <p:spPr/>
        <p:txBody>
          <a:bodyPr>
            <a:noAutofit/>
          </a:bodyPr>
          <a:lstStyle/>
          <a:p>
            <a:r>
              <a:rPr lang="en-US" sz="2800" dirty="0"/>
              <a:t>first version mechanism (RFC-1826):</a:t>
            </a:r>
          </a:p>
          <a:p>
            <a:pPr lvl="1"/>
            <a:r>
              <a:rPr lang="en-US" sz="2400" dirty="0"/>
              <a:t>data integrity and sender authentication</a:t>
            </a:r>
          </a:p>
          <a:p>
            <a:pPr lvl="1"/>
            <a:r>
              <a:rPr lang="en-US" sz="2400" dirty="0"/>
              <a:t>compulsory support of keyed-MD5 (RFC-1828)</a:t>
            </a:r>
          </a:p>
          <a:p>
            <a:pPr lvl="1"/>
            <a:r>
              <a:rPr lang="en-US" sz="2400" dirty="0"/>
              <a:t>optional support of keyed-SHA1 (RFC-1852)</a:t>
            </a:r>
          </a:p>
          <a:p>
            <a:pPr lvl="1"/>
            <a:endParaRPr lang="en-US" sz="2400" dirty="0"/>
          </a:p>
          <a:p>
            <a:r>
              <a:rPr lang="en-US" sz="2800" dirty="0"/>
              <a:t>second version mechanism (RFC-2402):</a:t>
            </a:r>
          </a:p>
          <a:p>
            <a:pPr lvl="1"/>
            <a:r>
              <a:rPr lang="en-US" sz="2400" dirty="0"/>
              <a:t>data integrity, sender authentication and protection from replay attack</a:t>
            </a:r>
          </a:p>
          <a:p>
            <a:pPr lvl="1"/>
            <a:r>
              <a:rPr lang="en-US" sz="2400" dirty="0"/>
              <a:t>HMAC-MD5</a:t>
            </a:r>
          </a:p>
          <a:p>
            <a:pPr lvl="1"/>
            <a:r>
              <a:rPr lang="en-US" sz="2400" dirty="0"/>
              <a:t>HMAC-SHA-1</a:t>
            </a:r>
          </a:p>
        </p:txBody>
      </p:sp>
    </p:spTree>
    <p:extLst>
      <p:ext uri="{BB962C8B-B14F-4D97-AF65-F5344CB8AC3E}">
        <p14:creationId xmlns:p14="http://schemas.microsoft.com/office/powerpoint/2010/main" val="15769047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AH packet: header structure</a:t>
            </a:r>
          </a:p>
        </p:txBody>
      </p:sp>
      <p:sp>
        <p:nvSpPr>
          <p:cNvPr id="3" name="Content Placeholder 2"/>
          <p:cNvSpPr>
            <a:spLocks noGrp="1"/>
          </p:cNvSpPr>
          <p:nvPr>
            <p:ph sz="quarter" idx="11"/>
          </p:nvPr>
        </p:nvSpPr>
        <p:spPr>
          <a:xfrm>
            <a:off x="467544" y="3429000"/>
            <a:ext cx="8229600" cy="3024336"/>
          </a:xfrm>
        </p:spPr>
        <p:txBody>
          <a:bodyPr>
            <a:noAutofit/>
          </a:bodyPr>
          <a:lstStyle/>
          <a:p>
            <a:r>
              <a:rPr lang="en-US" sz="2000" dirty="0"/>
              <a:t>Next header: identifies the nature of the payload (TCP/UDP)</a:t>
            </a:r>
          </a:p>
          <a:p>
            <a:r>
              <a:rPr lang="en-US" sz="2000" dirty="0"/>
              <a:t>Length: Indicates the length of the AH header</a:t>
            </a:r>
          </a:p>
          <a:p>
            <a:r>
              <a:rPr lang="en-US" sz="2000" dirty="0"/>
              <a:t>SPI: Identifies the correct security association for the communication</a:t>
            </a:r>
          </a:p>
          <a:p>
            <a:r>
              <a:rPr lang="en-US" sz="2000" dirty="0"/>
              <a:t>Sequence Number: Provides anti-replay protection for the SA</a:t>
            </a:r>
          </a:p>
          <a:p>
            <a:r>
              <a:rPr lang="en-US" sz="2000" dirty="0"/>
              <a:t>Auth. Data: contains the Integrity Check Value (ICV) that is used to verify the integrity of the message. The receiver calculates the hash value and checks it against this value (calculated by the sender) to verify integrity.</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8299" y="1460376"/>
            <a:ext cx="7046914"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80816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AH verification (receiving)</a:t>
            </a:r>
          </a:p>
        </p:txBody>
      </p:sp>
      <p:sp>
        <p:nvSpPr>
          <p:cNvPr id="7" name="Rectangle 6">
            <a:extLst>
              <a:ext uri="{FF2B5EF4-FFF2-40B4-BE49-F238E27FC236}">
                <a16:creationId xmlns:a16="http://schemas.microsoft.com/office/drawing/2014/main" id="{4E12450F-E920-FFE8-449D-3AD6F7485738}"/>
              </a:ext>
            </a:extLst>
          </p:cNvPr>
          <p:cNvSpPr/>
          <p:nvPr/>
        </p:nvSpPr>
        <p:spPr>
          <a:xfrm>
            <a:off x="1619672" y="6165304"/>
            <a:ext cx="1656184" cy="4320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C8DA371-AAD1-A3CB-89A6-D378EDDDC6E0}"/>
              </a:ext>
            </a:extLst>
          </p:cNvPr>
          <p:cNvSpPr/>
          <p:nvPr/>
        </p:nvSpPr>
        <p:spPr>
          <a:xfrm>
            <a:off x="6146313" y="6093296"/>
            <a:ext cx="1656184" cy="4320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2D0B8DB-DE99-2E86-3A07-79B3F76B7D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1150" y="1196752"/>
            <a:ext cx="6761700" cy="5439052"/>
          </a:xfrm>
          <a:prstGeom prst="rect">
            <a:avLst/>
          </a:prstGeom>
        </p:spPr>
      </p:pic>
    </p:spTree>
    <p:extLst>
      <p:ext uri="{BB962C8B-B14F-4D97-AF65-F5344CB8AC3E}">
        <p14:creationId xmlns:p14="http://schemas.microsoft.com/office/powerpoint/2010/main" val="30886693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Encapsulating Security Payload (ESP)</a:t>
            </a:r>
          </a:p>
        </p:txBody>
      </p:sp>
      <p:sp>
        <p:nvSpPr>
          <p:cNvPr id="3" name="Content Placeholder 2"/>
          <p:cNvSpPr>
            <a:spLocks noGrp="1"/>
          </p:cNvSpPr>
          <p:nvPr>
            <p:ph sz="quarter" idx="11"/>
          </p:nvPr>
        </p:nvSpPr>
        <p:spPr/>
        <p:txBody>
          <a:bodyPr/>
          <a:lstStyle/>
          <a:p>
            <a:r>
              <a:rPr lang="en-US" sz="2800" dirty="0"/>
              <a:t>first version (RFC-1827) included confidentiality only</a:t>
            </a:r>
          </a:p>
          <a:p>
            <a:pPr lvl="1"/>
            <a:r>
              <a:rPr lang="en-US" sz="2400" dirty="0"/>
              <a:t>base mechanism: DES-CBC (RFC-1829)</a:t>
            </a:r>
          </a:p>
          <a:p>
            <a:pPr lvl="1"/>
            <a:endParaRPr lang="en-US" sz="2400" dirty="0"/>
          </a:p>
          <a:p>
            <a:r>
              <a:rPr lang="en-US" sz="2800" dirty="0"/>
              <a:t>second version (RFC-2406)</a:t>
            </a:r>
          </a:p>
          <a:p>
            <a:pPr lvl="1"/>
            <a:r>
              <a:rPr lang="en-US" sz="2400" dirty="0"/>
              <a:t>provides confidentiality &amp; authentication (but not the IP header, so the coverage is not equivalent to that of AH)</a:t>
            </a:r>
          </a:p>
        </p:txBody>
      </p:sp>
    </p:spTree>
    <p:extLst>
      <p:ext uri="{BB962C8B-B14F-4D97-AF65-F5344CB8AC3E}">
        <p14:creationId xmlns:p14="http://schemas.microsoft.com/office/powerpoint/2010/main" val="2429077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ESP header structure</a:t>
            </a:r>
          </a:p>
        </p:txBody>
      </p:sp>
      <p:sp>
        <p:nvSpPr>
          <p:cNvPr id="3" name="Content Placeholder 2"/>
          <p:cNvSpPr>
            <a:spLocks noGrp="1"/>
          </p:cNvSpPr>
          <p:nvPr>
            <p:ph sz="quarter" idx="11"/>
          </p:nvPr>
        </p:nvSpPr>
        <p:spPr>
          <a:xfrm>
            <a:off x="467544" y="2966844"/>
            <a:ext cx="8229600" cy="3384376"/>
          </a:xfrm>
        </p:spPr>
        <p:txBody>
          <a:bodyPr>
            <a:noAutofit/>
          </a:bodyPr>
          <a:lstStyle/>
          <a:p>
            <a:r>
              <a:rPr lang="en-US" sz="2000" dirty="0"/>
              <a:t>SPI, Sequence number, Next header: same fields as in AH</a:t>
            </a:r>
          </a:p>
          <a:p>
            <a:endParaRPr lang="en-US" sz="2000" dirty="0"/>
          </a:p>
          <a:p>
            <a:r>
              <a:rPr lang="en-US" sz="2000" dirty="0"/>
              <a:t>Auth. Data: Contains the Integrity Check Value (ICV), which is a message authentication code used to verify the sender's identity and message integrity. The ICV is calculated over the ESP header, the payload data and the ESP trailer</a:t>
            </a:r>
          </a:p>
          <a:p>
            <a:r>
              <a:rPr lang="en-US" sz="2000" dirty="0"/>
              <a:t>Initialization Vector (IV): optional. After the sequence number</a:t>
            </a:r>
          </a:p>
        </p:txBody>
      </p:sp>
      <p:pic>
        <p:nvPicPr>
          <p:cNvPr id="1026" name="Picture 2" descr="https://i-technet.sec.s-msft.com/dynimg/IC213368.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035" y="1412776"/>
            <a:ext cx="7029441"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5344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ESP Packet: Encryption &amp; Authentication</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734890"/>
            <a:ext cx="7357747" cy="417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a:cxnSpLocks/>
          </p:cNvCxnSpPr>
          <p:nvPr/>
        </p:nvCxnSpPr>
        <p:spPr>
          <a:xfrm>
            <a:off x="7020272" y="4725144"/>
            <a:ext cx="504056" cy="1512168"/>
          </a:xfrm>
          <a:prstGeom prst="straightConnector1">
            <a:avLst/>
          </a:prstGeom>
          <a:ln w="28575">
            <a:solidFill>
              <a:schemeClr val="accent2">
                <a:lumMod val="75000"/>
              </a:schemeClr>
            </a:solidFill>
            <a:prstDash val="lgDash"/>
            <a:headEnd type="none"/>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876256" y="6237312"/>
            <a:ext cx="2103461" cy="400110"/>
          </a:xfrm>
          <a:prstGeom prst="rect">
            <a:avLst/>
          </a:prstGeom>
        </p:spPr>
        <p:txBody>
          <a:bodyPr wrap="none">
            <a:spAutoFit/>
          </a:bodyPr>
          <a:lstStyle/>
          <a:p>
            <a:r>
              <a:rPr lang="en-US" sz="2000" dirty="0"/>
              <a:t>aka Next header</a:t>
            </a:r>
          </a:p>
        </p:txBody>
      </p:sp>
    </p:spTree>
    <p:extLst>
      <p:ext uri="{BB962C8B-B14F-4D97-AF65-F5344CB8AC3E}">
        <p14:creationId xmlns:p14="http://schemas.microsoft.com/office/powerpoint/2010/main" val="1730020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ESP in transport mode</a:t>
            </a:r>
          </a:p>
        </p:txBody>
      </p:sp>
      <p:sp>
        <p:nvSpPr>
          <p:cNvPr id="3" name="Content Placeholder 2"/>
          <p:cNvSpPr>
            <a:spLocks noGrp="1"/>
          </p:cNvSpPr>
          <p:nvPr>
            <p:ph sz="quarter" idx="11"/>
          </p:nvPr>
        </p:nvSpPr>
        <p:spPr/>
        <p:txBody>
          <a:bodyPr/>
          <a:lstStyle/>
          <a:p>
            <a:r>
              <a:rPr lang="en-US" sz="2800" dirty="0"/>
              <a:t>the payload is hidden (including info needed for QoS or intrusion detection)</a:t>
            </a:r>
          </a:p>
          <a:p>
            <a:r>
              <a:rPr lang="en-US" sz="2800" dirty="0"/>
              <a:t>the header remains in clear</a:t>
            </a:r>
          </a:p>
        </p:txBody>
      </p:sp>
      <p:grpSp>
        <p:nvGrpSpPr>
          <p:cNvPr id="7" name="Group 6"/>
          <p:cNvGrpSpPr/>
          <p:nvPr/>
        </p:nvGrpSpPr>
        <p:grpSpPr>
          <a:xfrm>
            <a:off x="976941" y="3717032"/>
            <a:ext cx="7210806" cy="2209799"/>
            <a:chOff x="1752600" y="3433572"/>
            <a:chExt cx="7696200" cy="2129028"/>
          </a:xfrm>
        </p:grpSpPr>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5398" r="-5398" b="77679"/>
            <a:stretch/>
          </p:blipFill>
          <p:spPr>
            <a:xfrm>
              <a:off x="1752600" y="3433572"/>
              <a:ext cx="7663543" cy="838200"/>
            </a:xfrm>
            <a:prstGeom prst="rect">
              <a:avLst/>
            </a:prstGeom>
          </p:spPr>
        </p:pic>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l="5398" t="28409" r="-5398" b="37094"/>
            <a:stretch/>
          </p:blipFill>
          <p:spPr>
            <a:xfrm>
              <a:off x="1785257" y="4267200"/>
              <a:ext cx="7663543" cy="1295400"/>
            </a:xfrm>
            <a:prstGeom prst="rect">
              <a:avLst/>
            </a:prstGeom>
          </p:spPr>
        </p:pic>
      </p:grpSp>
    </p:spTree>
    <p:extLst>
      <p:ext uri="{BB962C8B-B14F-4D97-AF65-F5344CB8AC3E}">
        <p14:creationId xmlns:p14="http://schemas.microsoft.com/office/powerpoint/2010/main" val="41524825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ESP in tunnel mode</a:t>
            </a:r>
          </a:p>
        </p:txBody>
      </p:sp>
      <p:sp>
        <p:nvSpPr>
          <p:cNvPr id="3" name="Content Placeholder 2"/>
          <p:cNvSpPr>
            <a:spLocks noGrp="1"/>
          </p:cNvSpPr>
          <p:nvPr>
            <p:ph sz="quarter" idx="11"/>
          </p:nvPr>
        </p:nvSpPr>
        <p:spPr>
          <a:xfrm>
            <a:off x="467544" y="1560612"/>
            <a:ext cx="8229600" cy="1542203"/>
          </a:xfrm>
        </p:spPr>
        <p:txBody>
          <a:bodyPr/>
          <a:lstStyle/>
          <a:p>
            <a:r>
              <a:rPr lang="en-US" sz="2800" dirty="0"/>
              <a:t>hides both the payload and (original) header</a:t>
            </a:r>
          </a:p>
          <a:p>
            <a:r>
              <a:rPr lang="en-US" sz="2800" dirty="0"/>
              <a:t>con: larger packet size</a:t>
            </a: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l="26148" r="15674" b="78628"/>
          <a:stretch/>
        </p:blipFill>
        <p:spPr>
          <a:xfrm>
            <a:off x="2834284" y="3571074"/>
            <a:ext cx="4421181" cy="902788"/>
          </a:xfrm>
          <a:prstGeom prst="rect">
            <a:avLst/>
          </a:prstGeom>
        </p:spPr>
      </p:pic>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t="63491"/>
          <a:stretch/>
        </p:blipFill>
        <p:spPr>
          <a:xfrm>
            <a:off x="772344" y="4695109"/>
            <a:ext cx="7599312" cy="1542203"/>
          </a:xfrm>
          <a:prstGeom prst="rect">
            <a:avLst/>
          </a:prstGeom>
        </p:spPr>
      </p:pic>
    </p:spTree>
    <p:extLst>
      <p:ext uri="{BB962C8B-B14F-4D97-AF65-F5344CB8AC3E}">
        <p14:creationId xmlns:p14="http://schemas.microsoft.com/office/powerpoint/2010/main" val="29446120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3200400" y="90753"/>
            <a:ext cx="5029200" cy="6843447"/>
          </a:xfrm>
          <a:prstGeom prst="rect">
            <a:avLst/>
          </a:prstGeom>
          <a:noFill/>
          <a:ln w="9525">
            <a:noFill/>
            <a:miter lim="800000"/>
            <a:headEnd/>
            <a:tailEnd/>
          </a:ln>
          <a:effectLst/>
        </p:spPr>
      </p:pic>
      <p:sp>
        <p:nvSpPr>
          <p:cNvPr id="6" name="Rounded Rectangle 5"/>
          <p:cNvSpPr/>
          <p:nvPr/>
        </p:nvSpPr>
        <p:spPr>
          <a:xfrm>
            <a:off x="457200" y="914400"/>
            <a:ext cx="2530624" cy="411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AH and ESP use</a:t>
            </a:r>
          </a:p>
          <a:p>
            <a:r>
              <a:rPr lang="en-US" dirty="0"/>
              <a:t>different portions</a:t>
            </a:r>
          </a:p>
          <a:p>
            <a:r>
              <a:rPr lang="en-US" dirty="0"/>
              <a:t>of the packet to</a:t>
            </a:r>
          </a:p>
          <a:p>
            <a:r>
              <a:rPr lang="en-US" dirty="0"/>
              <a:t>calculate the ICVs.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Comparing AH &amp; ESP coverage</a:t>
            </a:r>
          </a:p>
        </p:txBody>
      </p:sp>
      <p:pic>
        <p:nvPicPr>
          <p:cNvPr id="9" name="Picture 8">
            <a:extLst>
              <a:ext uri="{FF2B5EF4-FFF2-40B4-BE49-F238E27FC236}">
                <a16:creationId xmlns:a16="http://schemas.microsoft.com/office/drawing/2014/main" id="{E5CCC21C-51F5-CA97-6337-CFCD4F6849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037" y="2276872"/>
            <a:ext cx="7781925" cy="3495675"/>
          </a:xfrm>
          <a:prstGeom prst="rect">
            <a:avLst/>
          </a:prstGeom>
        </p:spPr>
      </p:pic>
    </p:spTree>
    <p:extLst>
      <p:ext uri="{BB962C8B-B14F-4D97-AF65-F5344CB8AC3E}">
        <p14:creationId xmlns:p14="http://schemas.microsoft.com/office/powerpoint/2010/main" val="2523000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CBA90-95F4-15C4-8838-4399EC8A3CB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A050A85-3A95-4422-A1B1-38302E79C4C5}"/>
              </a:ext>
            </a:extLst>
          </p:cNvPr>
          <p:cNvSpPr>
            <a:spLocks noGrp="1"/>
          </p:cNvSpPr>
          <p:nvPr>
            <p:ph sz="quarter" idx="11"/>
          </p:nvPr>
        </p:nvSpPr>
        <p:spPr/>
        <p:txBody>
          <a:bodyPr/>
          <a:lstStyle/>
          <a:p>
            <a:r>
              <a:rPr lang="en-US" sz="2400" dirty="0"/>
              <a:t>Stallings SPP chap 22</a:t>
            </a:r>
          </a:p>
          <a:p>
            <a:r>
              <a:rPr lang="en-US" sz="2400" dirty="0"/>
              <a:t>TLS Handshake analysis in Wireshark: </a:t>
            </a:r>
            <a:r>
              <a:rPr lang="en-US" sz="2400" dirty="0">
                <a:hlinkClick r:id="rId2"/>
              </a:rPr>
              <a:t>https://www.youtube.com/watch?v=MQg48n9lV0s</a:t>
            </a:r>
            <a:endParaRPr lang="en-US" sz="2400" dirty="0"/>
          </a:p>
          <a:p>
            <a:r>
              <a:rPr lang="en-US" sz="2400" dirty="0"/>
              <a:t>Comic Explanation of TLS Handshake: </a:t>
            </a:r>
            <a:r>
              <a:rPr lang="en-US" sz="2400" dirty="0">
                <a:hlinkClick r:id="rId3"/>
              </a:rPr>
              <a:t>https://howhttps.works/the-handshake/</a:t>
            </a:r>
            <a:endParaRPr lang="en-US" sz="2400" dirty="0"/>
          </a:p>
          <a:p>
            <a:r>
              <a:rPr lang="en-US" sz="2400" dirty="0"/>
              <a:t>illustrated TLS connection – every byte explained and reproduced: </a:t>
            </a:r>
            <a:r>
              <a:rPr lang="en-US" sz="2400" dirty="0">
                <a:hlinkClick r:id="rId4"/>
              </a:rPr>
              <a:t>TLS 1.2</a:t>
            </a:r>
            <a:r>
              <a:rPr lang="en-US" sz="2400" dirty="0"/>
              <a:t> and </a:t>
            </a:r>
            <a:r>
              <a:rPr lang="en-US" sz="2400" dirty="0">
                <a:hlinkClick r:id="rId5"/>
              </a:rPr>
              <a:t>TLS 1.3</a:t>
            </a:r>
            <a:endParaRPr lang="en-US" sz="2400" dirty="0"/>
          </a:p>
          <a:p>
            <a:endParaRPr lang="en-US" sz="2400" dirty="0"/>
          </a:p>
          <a:p>
            <a:r>
              <a:rPr lang="en-US" sz="2400" dirty="0"/>
              <a:t>IPsec lecture by </a:t>
            </a:r>
            <a:r>
              <a:rPr lang="en-US" sz="2400" dirty="0">
                <a:hlinkClick r:id="rId6"/>
              </a:rPr>
              <a:t>Forida State Uni</a:t>
            </a:r>
            <a:endParaRPr lang="en-US" sz="2400" dirty="0"/>
          </a:p>
          <a:p>
            <a:r>
              <a:rPr lang="en-US" sz="2400" dirty="0"/>
              <a:t>IBM reference for </a:t>
            </a:r>
            <a:r>
              <a:rPr lang="en-US" sz="2400" dirty="0">
                <a:hlinkClick r:id="rId7"/>
              </a:rPr>
              <a:t>IPsec AH and ESP protocols</a:t>
            </a:r>
            <a:endParaRPr lang="en-US" sz="2400" dirty="0"/>
          </a:p>
          <a:p>
            <a:endParaRPr lang="en-US" sz="2400" dirty="0"/>
          </a:p>
          <a:p>
            <a:endParaRPr lang="en-AU" sz="2400" dirty="0"/>
          </a:p>
          <a:p>
            <a:endParaRPr lang="en-US" sz="2400" dirty="0"/>
          </a:p>
        </p:txBody>
      </p:sp>
    </p:spTree>
    <p:extLst>
      <p:ext uri="{BB962C8B-B14F-4D97-AF65-F5344CB8AC3E}">
        <p14:creationId xmlns:p14="http://schemas.microsoft.com/office/powerpoint/2010/main" val="1722998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3983</TotalTime>
  <Words>2733</Words>
  <Application>Microsoft Office PowerPoint</Application>
  <PresentationFormat>On-screen Show (4:3)</PresentationFormat>
  <Paragraphs>313</Paragraphs>
  <Slides>50</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50</vt:i4>
      </vt:variant>
    </vt:vector>
  </HeadingPairs>
  <TitlesOfParts>
    <vt:vector size="58" baseType="lpstr">
      <vt:lpstr>맑은 고딕</vt:lpstr>
      <vt:lpstr>Arial</vt:lpstr>
      <vt:lpstr>Calibri</vt:lpstr>
      <vt:lpstr>Courier New</vt:lpstr>
      <vt:lpstr>Google Sans</vt:lpstr>
      <vt:lpstr>Wingdings</vt:lpstr>
      <vt:lpstr>Office Theme</vt:lpstr>
      <vt:lpstr>Custom Design</vt:lpstr>
      <vt:lpstr>PowerPoint Presentation</vt:lpstr>
      <vt:lpstr>Implementation options</vt:lpstr>
      <vt:lpstr>Channel Security</vt:lpstr>
      <vt:lpstr>Message/data security</vt:lpstr>
      <vt:lpstr>Security internal to applications</vt:lpstr>
      <vt:lpstr>Security external to applications</vt:lpstr>
      <vt:lpstr>PowerPoint Presentation</vt:lpstr>
      <vt:lpstr>SSL/TLS Timeline</vt:lpstr>
      <vt:lpstr>SSL: what is it?</vt:lpstr>
      <vt:lpstr>SSL: what is it?</vt:lpstr>
      <vt:lpstr>SSL/TLS Protocol Stack</vt:lpstr>
      <vt:lpstr>SSL/TLS Handshake</vt:lpstr>
      <vt:lpstr>Handshake in brief</vt:lpstr>
      <vt:lpstr>Handshake in detail</vt:lpstr>
      <vt:lpstr>Handshake in detail</vt:lpstr>
      <vt:lpstr>Key Handshake Terms</vt:lpstr>
      <vt:lpstr>Key Handshake Terms</vt:lpstr>
      <vt:lpstr>Pre-Master vs Master</vt:lpstr>
      <vt:lpstr>SSL/TLS record protocol</vt:lpstr>
      <vt:lpstr>MAC computation</vt:lpstr>
      <vt:lpstr>Record Protocol Workflow</vt:lpstr>
      <vt:lpstr>TLS 1.3 important changes</vt:lpstr>
      <vt:lpstr>PowerPoint Presentation</vt:lpstr>
      <vt:lpstr>IPsec</vt:lpstr>
      <vt:lpstr>IPsec</vt:lpstr>
      <vt:lpstr>IPsec</vt:lpstr>
      <vt:lpstr>Applications of IPsec </vt:lpstr>
      <vt:lpstr>IPsec operating modes</vt:lpstr>
      <vt:lpstr>Transport mode</vt:lpstr>
      <vt:lpstr>Tunnel Mode</vt:lpstr>
      <vt:lpstr>IPsec protocol suite</vt:lpstr>
      <vt:lpstr>Security Policies</vt:lpstr>
      <vt:lpstr>IPsec Security Associations</vt:lpstr>
      <vt:lpstr>IPSEC (Internet Protocol Security)</vt:lpstr>
      <vt:lpstr>IPSEC (Internet Protocol Security)</vt:lpstr>
      <vt:lpstr>PowerPoint Presentation</vt:lpstr>
      <vt:lpstr>Security Associations</vt:lpstr>
      <vt:lpstr>IPsec local databases</vt:lpstr>
      <vt:lpstr>How IPsec works (sending)</vt:lpstr>
      <vt:lpstr>Authentication Header (AH)</vt:lpstr>
      <vt:lpstr>AH packet: header structure</vt:lpstr>
      <vt:lpstr>AH verification (receiving)</vt:lpstr>
      <vt:lpstr>Encapsulating Security Payload (ESP)</vt:lpstr>
      <vt:lpstr>ESP header structure</vt:lpstr>
      <vt:lpstr>ESP Packet: Encryption &amp; Authentication</vt:lpstr>
      <vt:lpstr>ESP in transport mode</vt:lpstr>
      <vt:lpstr>ESP in tunnel mode</vt:lpstr>
      <vt:lpstr>PowerPoint Presentation</vt:lpstr>
      <vt:lpstr>Comparing AH &amp; ESP coverage</vt:lpstr>
      <vt:lpstr>References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muzahir saleem</cp:lastModifiedBy>
  <cp:revision>251</cp:revision>
  <dcterms:created xsi:type="dcterms:W3CDTF">2014-04-01T16:35:38Z</dcterms:created>
  <dcterms:modified xsi:type="dcterms:W3CDTF">2025-11-11T06:32:26Z</dcterms:modified>
</cp:coreProperties>
</file>