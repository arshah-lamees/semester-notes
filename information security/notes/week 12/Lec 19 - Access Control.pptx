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53"/>
  </p:notesMasterIdLst>
  <p:sldIdLst>
    <p:sldId id="429" r:id="rId3"/>
    <p:sldId id="336" r:id="rId4"/>
    <p:sldId id="434" r:id="rId5"/>
    <p:sldId id="487" r:id="rId6"/>
    <p:sldId id="485" r:id="rId7"/>
    <p:sldId id="488" r:id="rId8"/>
    <p:sldId id="486" r:id="rId9"/>
    <p:sldId id="523" r:id="rId10"/>
    <p:sldId id="524" r:id="rId11"/>
    <p:sldId id="436" r:id="rId12"/>
    <p:sldId id="491" r:id="rId13"/>
    <p:sldId id="490" r:id="rId14"/>
    <p:sldId id="492" r:id="rId15"/>
    <p:sldId id="507" r:id="rId16"/>
    <p:sldId id="493" r:id="rId17"/>
    <p:sldId id="514" r:id="rId18"/>
    <p:sldId id="513" r:id="rId19"/>
    <p:sldId id="495" r:id="rId20"/>
    <p:sldId id="496" r:id="rId21"/>
    <p:sldId id="497" r:id="rId22"/>
    <p:sldId id="439" r:id="rId23"/>
    <p:sldId id="515" r:id="rId24"/>
    <p:sldId id="498" r:id="rId25"/>
    <p:sldId id="452" r:id="rId26"/>
    <p:sldId id="529" r:id="rId27"/>
    <p:sldId id="521" r:id="rId28"/>
    <p:sldId id="522" r:id="rId29"/>
    <p:sldId id="519" r:id="rId30"/>
    <p:sldId id="525" r:id="rId31"/>
    <p:sldId id="500" r:id="rId32"/>
    <p:sldId id="501" r:id="rId33"/>
    <p:sldId id="516" r:id="rId34"/>
    <p:sldId id="508" r:id="rId35"/>
    <p:sldId id="520" r:id="rId36"/>
    <p:sldId id="517" r:id="rId37"/>
    <p:sldId id="518" r:id="rId38"/>
    <p:sldId id="459" r:id="rId39"/>
    <p:sldId id="460" r:id="rId40"/>
    <p:sldId id="528" r:id="rId41"/>
    <p:sldId id="462" r:id="rId42"/>
    <p:sldId id="461" r:id="rId43"/>
    <p:sldId id="464" r:id="rId44"/>
    <p:sldId id="504" r:id="rId45"/>
    <p:sldId id="505" r:id="rId46"/>
    <p:sldId id="506" r:id="rId47"/>
    <p:sldId id="510" r:id="rId48"/>
    <p:sldId id="526" r:id="rId49"/>
    <p:sldId id="512" r:id="rId50"/>
    <p:sldId id="502" r:id="rId51"/>
    <p:sldId id="530" r:id="rId52"/>
  </p:sldIdLst>
  <p:sldSz cx="9144000" cy="6858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3792" autoAdjust="0"/>
  </p:normalViewPr>
  <p:slideViewPr>
    <p:cSldViewPr>
      <p:cViewPr varScale="1">
        <p:scale>
          <a:sx n="108" d="100"/>
          <a:sy n="108" d="100"/>
        </p:scale>
        <p:origin x="1626" y="102"/>
      </p:cViewPr>
      <p:guideLst>
        <p:guide orient="horz" pos="2160"/>
        <p:guide pos="2880"/>
      </p:guideLst>
    </p:cSldViewPr>
  </p:slideViewPr>
  <p:outlineViewPr>
    <p:cViewPr>
      <p:scale>
        <a:sx n="33" d="100"/>
        <a:sy n="33" d="100"/>
      </p:scale>
      <p:origin x="0" y="-14456"/>
    </p:cViewPr>
  </p:outlineViewPr>
  <p:notesTextViewPr>
    <p:cViewPr>
      <p:scale>
        <a:sx n="1" d="1"/>
        <a:sy n="1" d="1"/>
      </p:scale>
      <p:origin x="0" y="0"/>
    </p:cViewPr>
  </p:notesTextViewPr>
  <p:sorterViewPr>
    <p:cViewPr varScale="1">
      <p:scale>
        <a:sx n="100" d="100"/>
        <a:sy n="100" d="100"/>
      </p:scale>
      <p:origin x="0" y="-139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notesMaster" Target="notesMasters/notesMaster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9FC1A7-F877-44DD-B2DD-60553F4FFAE6}" type="datetimeFigureOut">
              <a:rPr lang="en-AU" smtClean="0"/>
              <a:t>16/10/2025</a:t>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C33C15-5131-4101-B031-6627D1EB5562}" type="slidenum">
              <a:rPr lang="en-AU" smtClean="0"/>
              <a:t>‹#›</a:t>
            </a:fld>
            <a:endParaRPr lang="en-AU"/>
          </a:p>
        </p:txBody>
      </p:sp>
    </p:spTree>
    <p:extLst>
      <p:ext uri="{BB962C8B-B14F-4D97-AF65-F5344CB8AC3E}">
        <p14:creationId xmlns:p14="http://schemas.microsoft.com/office/powerpoint/2010/main" val="21926644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itchFamily="-110" charset="0"/>
                <a:ea typeface="ＭＳ Ｐゴシック" pitchFamily="-110" charset="-128"/>
                <a:cs typeface="ＭＳ Ｐゴシック" pitchFamily="-110" charset="-128"/>
              </a:rPr>
              <a:t>Two definitions of access control are useful in understanding its scope.</a:t>
            </a:r>
          </a:p>
          <a:p>
            <a:endParaRPr lang="en-US" sz="1200" kern="1200" dirty="0">
              <a:solidFill>
                <a:schemeClr val="tx1"/>
              </a:solidFill>
              <a:effectLst/>
              <a:latin typeface="Arial" pitchFamily="-110" charset="0"/>
              <a:ea typeface="ＭＳ Ｐゴシック" pitchFamily="-110" charset="-128"/>
              <a:cs typeface="ＭＳ Ｐゴシック" pitchFamily="-110"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1.  NISTIR 7298 (</a:t>
            </a:r>
            <a:r>
              <a:rPr lang="en-US" sz="1200" i="1" kern="1200" dirty="0">
                <a:solidFill>
                  <a:schemeClr val="tx1"/>
                </a:solidFill>
                <a:effectLst/>
                <a:latin typeface="Arial" pitchFamily="-110" charset="0"/>
                <a:ea typeface="ＭＳ Ｐゴシック" pitchFamily="-110" charset="-128"/>
                <a:cs typeface="ＭＳ Ｐゴシック" pitchFamily="-110" charset="-128"/>
              </a:rPr>
              <a:t>Glossary of Key Information Security Terms </a:t>
            </a:r>
            <a:r>
              <a:rPr lang="en-US" sz="1200" kern="1200" dirty="0">
                <a:solidFill>
                  <a:schemeClr val="tx1"/>
                </a:solidFill>
                <a:effectLst/>
                <a:latin typeface="Arial" pitchFamily="-110" charset="0"/>
                <a:ea typeface="ＭＳ Ｐゴシック" pitchFamily="-110" charset="-128"/>
                <a:cs typeface="ＭＳ Ｐゴシック" pitchFamily="-110" charset="-128"/>
              </a:rPr>
              <a:t>, May 2013), defines access control as the process of granting or denying specific requests to: (1) obtain and use information and related information processing services; and (2) enter specific physical facilities.</a:t>
            </a:r>
          </a:p>
          <a:p>
            <a:endParaRPr lang="en-US" sz="1200" kern="1200" dirty="0">
              <a:solidFill>
                <a:schemeClr val="tx1"/>
              </a:solidFill>
              <a:effectLst/>
              <a:latin typeface="Arial" pitchFamily="-110" charset="0"/>
              <a:ea typeface="ＭＳ Ｐゴシック" pitchFamily="-110" charset="-128"/>
              <a:cs typeface="ＭＳ Ｐゴシック" pitchFamily="-110" charset="-128"/>
            </a:endParaRPr>
          </a:p>
          <a:p>
            <a:pPr eaLnBrk="1" hangingPunct="1"/>
            <a:endParaRPr lang="en-US" dirty="0">
              <a:latin typeface="Times New Roman" pitchFamily="-110"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609795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b="0" dirty="0"/>
              <a:t>Figure 4.1 shows a broader context of access control. In addition to access control, this context involves the following entities and functions:</a:t>
            </a:r>
          </a:p>
          <a:p>
            <a:pPr eaLnBrk="1" hangingPunct="1"/>
            <a:endParaRPr lang="en-US" b="0" dirty="0"/>
          </a:p>
          <a:p>
            <a:pPr eaLnBrk="1" hangingPunct="1"/>
            <a:r>
              <a:rPr lang="en-US" b="1" dirty="0"/>
              <a:t>• Authentication:</a:t>
            </a:r>
            <a:r>
              <a:rPr lang="en-US" b="0" dirty="0"/>
              <a:t> Verification that the credentials of a user or other system entity are valid.</a:t>
            </a:r>
          </a:p>
          <a:p>
            <a:pPr eaLnBrk="1" hangingPunct="1"/>
            <a:endParaRPr lang="en-US" b="0" dirty="0"/>
          </a:p>
          <a:p>
            <a:pPr eaLnBrk="1" hangingPunct="1"/>
            <a:r>
              <a:rPr lang="en-US" b="1" dirty="0"/>
              <a:t>• Authorization: </a:t>
            </a:r>
            <a:r>
              <a:rPr lang="en-US" b="0" dirty="0"/>
              <a:t>The granting of a right or permission to a system entity to access a system resource. This function determines who is trusted for a given purpose.</a:t>
            </a:r>
          </a:p>
          <a:p>
            <a:pPr eaLnBrk="1" hangingPunct="1"/>
            <a:endParaRPr lang="en-US" b="0" dirty="0"/>
          </a:p>
          <a:p>
            <a:pPr eaLnBrk="1" hangingPunct="1"/>
            <a:r>
              <a:rPr lang="en-US" b="1" dirty="0"/>
              <a:t>• Audit: </a:t>
            </a:r>
            <a:r>
              <a:rPr lang="en-US" b="0" dirty="0"/>
              <a:t>An independent review and examination of system records and activities in order to test for adequacy of system controls, to ensure compliance with established policy and operational procedures, to detect breaches in security, and to recommend any indicated changes in control, policy and procedures.</a:t>
            </a:r>
          </a:p>
          <a:p>
            <a:pPr eaLnBrk="1" hangingPunct="1"/>
            <a:endParaRPr lang="en-US" b="0" dirty="0"/>
          </a:p>
          <a:p>
            <a:pPr eaLnBrk="1" hangingPunct="1"/>
            <a:r>
              <a:rPr lang="en-US" b="0" dirty="0"/>
              <a:t>An access control mechanism mediates between a user (or a process executing on behalf of a user) and system resources, such as applications, operating systems, firewalls, routers, files, and databases. The system must first authenticate an entity seeking access. Typically, the authentication function determines whether the user is permitted to access the system at all. Then the access control function determines</a:t>
            </a:r>
          </a:p>
          <a:p>
            <a:pPr eaLnBrk="1" hangingPunct="1"/>
            <a:r>
              <a:rPr lang="en-US" b="0" dirty="0"/>
              <a:t>if the specific requested access by this user is permitted. A security administrator maintains an authorization database that specifies what type of access to which resources is allowed for this user. The access control function consults this database to determine whether to grant access. An auditing function monitors and keeps a record of user accesses to system resources.</a:t>
            </a:r>
          </a:p>
          <a:p>
            <a:pPr eaLnBrk="1" hangingPunct="1"/>
            <a:endParaRPr lang="en-US" b="0" dirty="0"/>
          </a:p>
          <a:p>
            <a:pPr eaLnBrk="1" hangingPunct="1"/>
            <a:r>
              <a:rPr lang="en-US" b="0" dirty="0"/>
              <a:t>In the simple model of Figure 4.1, the access control function is shown as a single logical module. In practice, a number of components may cooperatively share the access control function. All operating systems have at least a rudimentary, and in many cases a quite robust, access control component. Add-on security packages can supplement the native access control capabilities of the OS. Particular applications or utilities, such as a database management system, also incorporate access control functions. External devices, such as firewalls, can also provide access control services.</a:t>
            </a:r>
          </a:p>
          <a:p>
            <a:pPr eaLnBrk="1" hangingPunct="1"/>
            <a:r>
              <a:rPr lang="en-US" b="0" dirty="0"/>
              <a:t>
The security administrator creates and maintains the authorization database. The user accesses the systems resources after being authenticated by the authentication function. The access is controlled via access control function. A data exchange occurs between access control function and authorization database. Audit consists of an independent review and examination of system records and activities.</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031755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E9ABD-4EFC-69A0-FE04-05475128A6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4D5ABE-5AB6-888B-6C4D-9F2A9B9C78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5A6D98-1DFE-4983-F6EB-3CDC293133AC}"/>
              </a:ext>
            </a:extLst>
          </p:cNvPr>
          <p:cNvSpPr>
            <a:spLocks noGrp="1"/>
          </p:cNvSpPr>
          <p:nvPr>
            <p:ph type="body" idx="1"/>
          </p:nvPr>
        </p:nvSpPr>
        <p:spPr/>
        <p:txBody>
          <a:bodyPr/>
          <a:lstStyle/>
          <a:p>
            <a:pPr eaLnBrk="1" hangingPunct="1"/>
            <a:r>
              <a:rPr lang="en-US" b="0" dirty="0"/>
              <a:t>Figure 4.1 shows a broader context of access control. In addition to access control, this context involves the following entities and functions:</a:t>
            </a:r>
          </a:p>
          <a:p>
            <a:pPr eaLnBrk="1" hangingPunct="1"/>
            <a:endParaRPr lang="en-US" b="0" dirty="0"/>
          </a:p>
          <a:p>
            <a:pPr eaLnBrk="1" hangingPunct="1"/>
            <a:r>
              <a:rPr lang="en-US" b="1" dirty="0"/>
              <a:t>• Authentication:</a:t>
            </a:r>
            <a:r>
              <a:rPr lang="en-US" b="0" dirty="0"/>
              <a:t> Verification that the credentials of a user or other system entity are valid.</a:t>
            </a:r>
          </a:p>
          <a:p>
            <a:pPr eaLnBrk="1" hangingPunct="1"/>
            <a:endParaRPr lang="en-US" b="0" dirty="0"/>
          </a:p>
          <a:p>
            <a:pPr eaLnBrk="1" hangingPunct="1"/>
            <a:r>
              <a:rPr lang="en-US" b="1" dirty="0"/>
              <a:t>• Authorization: </a:t>
            </a:r>
            <a:r>
              <a:rPr lang="en-US" b="0" dirty="0"/>
              <a:t>The granting of a right or permission to a system entity to access a system resource. This function determines who is trusted for a given purpose.</a:t>
            </a:r>
          </a:p>
          <a:p>
            <a:pPr eaLnBrk="1" hangingPunct="1"/>
            <a:endParaRPr lang="en-US" b="0" dirty="0"/>
          </a:p>
          <a:p>
            <a:pPr eaLnBrk="1" hangingPunct="1"/>
            <a:r>
              <a:rPr lang="en-US" b="1" dirty="0"/>
              <a:t>• Audit: </a:t>
            </a:r>
            <a:r>
              <a:rPr lang="en-US" b="0" dirty="0"/>
              <a:t>An independent review and examination of system records and activities in order to test for adequacy of system controls, to ensure compliance with established policy and operational procedures, to detect breaches in security, and to recommend any indicated changes in control, policy and procedures.</a:t>
            </a:r>
          </a:p>
          <a:p>
            <a:pPr eaLnBrk="1" hangingPunct="1"/>
            <a:endParaRPr lang="en-US" b="0" dirty="0"/>
          </a:p>
          <a:p>
            <a:pPr eaLnBrk="1" hangingPunct="1"/>
            <a:r>
              <a:rPr lang="en-US" b="0" dirty="0"/>
              <a:t>An access control mechanism mediates between a user (or a process executing on behalf of a user) and system resources, such as applications, operating systems, firewalls, routers, files, and databases. The system must first authenticate an entity seeking access. Typically, the authentication function determines whether the user is permitted to access the system at all. Then the access control function determines</a:t>
            </a:r>
          </a:p>
          <a:p>
            <a:pPr eaLnBrk="1" hangingPunct="1"/>
            <a:r>
              <a:rPr lang="en-US" b="0" dirty="0"/>
              <a:t>if the specific requested access by this user is permitted. A security administrator maintains an authorization database that specifies what type of access to which resources is allowed for this user. The access control function consults this database to determine whether to grant access. An auditing function monitors and keeps a record of user accesses to system resources.</a:t>
            </a:r>
          </a:p>
          <a:p>
            <a:pPr eaLnBrk="1" hangingPunct="1"/>
            <a:endParaRPr lang="en-US" b="0" dirty="0"/>
          </a:p>
          <a:p>
            <a:pPr eaLnBrk="1" hangingPunct="1"/>
            <a:r>
              <a:rPr lang="en-US" b="0" dirty="0"/>
              <a:t>In the simple model of Figure 4.1, the access control function is shown as a single logical module. In practice, a number of components may cooperatively share the access control function. All operating systems have at least a rudimentary, and in many cases a quite robust, access control component. Add-on security packages can supplement the native access control capabilities of the OS. Particular applications or utilities, such as a database management system, also incorporate access control functions. External devices, such as firewalls, can also provide access control services.</a:t>
            </a:r>
          </a:p>
          <a:p>
            <a:pPr eaLnBrk="1" hangingPunct="1"/>
            <a:r>
              <a:rPr lang="en-US" b="0" dirty="0"/>
              <a:t>
The security administrator creates and maintains the authorization database. The user accesses the systems resources after being authenticated by the authentication function. The access is controlled via access control function. A data exchange occurs between access control function and authorization database. Audit consists of an independent review and examination of system records and activities.</a:t>
            </a:r>
            <a:endParaRPr lang="en-IN" dirty="0"/>
          </a:p>
        </p:txBody>
      </p:sp>
      <p:sp>
        <p:nvSpPr>
          <p:cNvPr id="4" name="Slide Number Placeholder 3">
            <a:extLst>
              <a:ext uri="{FF2B5EF4-FFF2-40B4-BE49-F238E27FC236}">
                <a16:creationId xmlns:a16="http://schemas.microsoft.com/office/drawing/2014/main" id="{71E46748-FD92-19C1-9BC5-B60EFD976C23}"/>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7726915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2A74A-FCFF-084F-9935-E9FCE7DA32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0AF5E7-39EB-7EA2-E5FE-69188E94B7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326022-C3B5-5178-1B54-25AAA858D28F}"/>
              </a:ext>
            </a:extLst>
          </p:cNvPr>
          <p:cNvSpPr>
            <a:spLocks noGrp="1"/>
          </p:cNvSpPr>
          <p:nvPr>
            <p:ph type="body" idx="1"/>
          </p:nvPr>
        </p:nvSpPr>
        <p:spPr/>
        <p:txBody>
          <a:bodyPr/>
          <a:lstStyle/>
          <a:p>
            <a:pPr eaLnBrk="1" hangingPunct="1"/>
            <a:r>
              <a:rPr lang="en-US" b="0" dirty="0"/>
              <a:t>Figure 4.1 shows a broader context of access control. In addition to access control, this context involves the following entities and functions:</a:t>
            </a:r>
          </a:p>
          <a:p>
            <a:pPr eaLnBrk="1" hangingPunct="1"/>
            <a:endParaRPr lang="en-US" b="0" dirty="0"/>
          </a:p>
          <a:p>
            <a:pPr eaLnBrk="1" hangingPunct="1"/>
            <a:r>
              <a:rPr lang="en-US" b="1" dirty="0"/>
              <a:t>• Authentication:</a:t>
            </a:r>
            <a:r>
              <a:rPr lang="en-US" b="0" dirty="0"/>
              <a:t> Verification that the credentials of a user or other system entity are valid.</a:t>
            </a:r>
          </a:p>
          <a:p>
            <a:pPr eaLnBrk="1" hangingPunct="1"/>
            <a:endParaRPr lang="en-US" b="0" dirty="0"/>
          </a:p>
          <a:p>
            <a:pPr eaLnBrk="1" hangingPunct="1"/>
            <a:r>
              <a:rPr lang="en-US" b="1" dirty="0"/>
              <a:t>• Authorization: </a:t>
            </a:r>
            <a:r>
              <a:rPr lang="en-US" b="0" dirty="0"/>
              <a:t>The granting of a right or permission to a system entity to access a system resource. This function determines who is trusted for a given purpose.</a:t>
            </a:r>
          </a:p>
          <a:p>
            <a:pPr eaLnBrk="1" hangingPunct="1"/>
            <a:endParaRPr lang="en-US" b="0" dirty="0"/>
          </a:p>
          <a:p>
            <a:pPr eaLnBrk="1" hangingPunct="1"/>
            <a:r>
              <a:rPr lang="en-US" b="1" dirty="0"/>
              <a:t>• Audit: </a:t>
            </a:r>
            <a:r>
              <a:rPr lang="en-US" b="0" dirty="0"/>
              <a:t>An independent review and examination of system records and activities in order to test for adequacy of system controls, to ensure compliance with established policy and operational procedures, to detect breaches in security, and to recommend any indicated changes in control, policy and procedures.</a:t>
            </a:r>
          </a:p>
          <a:p>
            <a:pPr eaLnBrk="1" hangingPunct="1"/>
            <a:endParaRPr lang="en-US" b="0" dirty="0"/>
          </a:p>
          <a:p>
            <a:pPr eaLnBrk="1" hangingPunct="1"/>
            <a:r>
              <a:rPr lang="en-US" b="0" dirty="0"/>
              <a:t>An access control mechanism mediates between a user (or a process executing on behalf of a user) and system resources, such as applications, operating systems, firewalls, routers, files, and databases. The system must first authenticate an entity seeking access. Typically, the authentication function determines whether the user is permitted to access the system at all. Then the access control function determines</a:t>
            </a:r>
          </a:p>
          <a:p>
            <a:pPr eaLnBrk="1" hangingPunct="1"/>
            <a:r>
              <a:rPr lang="en-US" b="0" dirty="0"/>
              <a:t>if the specific requested access by this user is permitted. A security administrator maintains an authorization database that specifies what type of access to which resources is allowed for this user. The access control function consults this database to determine whether to grant access. An auditing function monitors and keeps a record of user accesses to system resources.</a:t>
            </a:r>
          </a:p>
          <a:p>
            <a:pPr eaLnBrk="1" hangingPunct="1"/>
            <a:endParaRPr lang="en-US" b="0" dirty="0"/>
          </a:p>
          <a:p>
            <a:pPr eaLnBrk="1" hangingPunct="1"/>
            <a:r>
              <a:rPr lang="en-US" b="0" dirty="0"/>
              <a:t>In the simple model of Figure 4.1, the access control function is shown as a single logical module. In practice, a number of components may cooperatively share the access control function. All operating systems have at least a rudimentary, and in many cases a quite robust, access control component. Add-on security packages can supplement the native access control capabilities of the OS. Particular applications or utilities, such as a database management system, also incorporate access control functions. External devices, such as firewalls, can also provide access control services.</a:t>
            </a:r>
          </a:p>
          <a:p>
            <a:pPr eaLnBrk="1" hangingPunct="1"/>
            <a:r>
              <a:rPr lang="en-US" b="0" dirty="0"/>
              <a:t>
The security administrator creates and maintains the authorization database. The user accesses the systems resources after being authenticated by the authentication function. The access is controlled via access control function. A data exchange occurs between access control function and authorization database. Audit consists of an independent review and examination of system records and activities.</a:t>
            </a:r>
            <a:endParaRPr lang="en-IN" dirty="0"/>
          </a:p>
        </p:txBody>
      </p:sp>
      <p:sp>
        <p:nvSpPr>
          <p:cNvPr id="4" name="Slide Number Placeholder 3">
            <a:extLst>
              <a:ext uri="{FF2B5EF4-FFF2-40B4-BE49-F238E27FC236}">
                <a16:creationId xmlns:a16="http://schemas.microsoft.com/office/drawing/2014/main" id="{07D07269-3930-4180-F5BD-C075D19374EE}"/>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004975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92097-BEBD-5D2F-F906-CA4B1BC618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B6B15D-EE5D-9271-7FEA-B97D3833D1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BEDA24-0E06-97DF-B006-ED02A06C3510}"/>
              </a:ext>
            </a:extLst>
          </p:cNvPr>
          <p:cNvSpPr>
            <a:spLocks noGrp="1"/>
          </p:cNvSpPr>
          <p:nvPr>
            <p:ph type="body" idx="1"/>
          </p:nvPr>
        </p:nvSpPr>
        <p:spPr/>
        <p:txBody>
          <a:bodyPr/>
          <a:lstStyle/>
          <a:p>
            <a:pPr eaLnBrk="1" hangingPunct="1"/>
            <a:r>
              <a:rPr lang="en-US" b="0" dirty="0"/>
              <a:t>Figure 4.1 shows a broader context of access control. In addition to access control, this context involves the following entities and functions:</a:t>
            </a:r>
          </a:p>
          <a:p>
            <a:pPr eaLnBrk="1" hangingPunct="1"/>
            <a:endParaRPr lang="en-US" b="0" dirty="0"/>
          </a:p>
          <a:p>
            <a:pPr eaLnBrk="1" hangingPunct="1"/>
            <a:r>
              <a:rPr lang="en-US" b="1" dirty="0"/>
              <a:t>• Authentication:</a:t>
            </a:r>
            <a:r>
              <a:rPr lang="en-US" b="0" dirty="0"/>
              <a:t> Verification that the credentials of a user or other system entity are valid.</a:t>
            </a:r>
          </a:p>
          <a:p>
            <a:pPr eaLnBrk="1" hangingPunct="1"/>
            <a:endParaRPr lang="en-US" b="0" dirty="0"/>
          </a:p>
          <a:p>
            <a:pPr eaLnBrk="1" hangingPunct="1"/>
            <a:r>
              <a:rPr lang="en-US" b="1" dirty="0"/>
              <a:t>• Authorization: </a:t>
            </a:r>
            <a:r>
              <a:rPr lang="en-US" b="0" dirty="0"/>
              <a:t>The granting of a right or permission to a system entity to access a system resource. This function determines who is trusted for a given purpose.</a:t>
            </a:r>
          </a:p>
          <a:p>
            <a:pPr eaLnBrk="1" hangingPunct="1"/>
            <a:endParaRPr lang="en-US" b="0" dirty="0"/>
          </a:p>
          <a:p>
            <a:pPr eaLnBrk="1" hangingPunct="1"/>
            <a:r>
              <a:rPr lang="en-US" b="1" dirty="0"/>
              <a:t>• Audit: </a:t>
            </a:r>
            <a:r>
              <a:rPr lang="en-US" b="0" dirty="0"/>
              <a:t>An independent review and examination of system records and activities in order to test for adequacy of system controls, to ensure compliance with established policy and operational procedures, to detect breaches in security, and to recommend any indicated changes in control, policy and procedures.</a:t>
            </a:r>
          </a:p>
          <a:p>
            <a:pPr eaLnBrk="1" hangingPunct="1"/>
            <a:endParaRPr lang="en-US" b="0" dirty="0"/>
          </a:p>
          <a:p>
            <a:pPr eaLnBrk="1" hangingPunct="1"/>
            <a:r>
              <a:rPr lang="en-US" b="0" dirty="0"/>
              <a:t>An access control mechanism mediates between a user (or a process executing on behalf of a user) and system resources, such as applications, operating systems, firewalls, routers, files, and databases. The system must first authenticate an entity seeking access. Typically, the authentication function determines whether the user is permitted to access the system at all. Then the access control function determines</a:t>
            </a:r>
          </a:p>
          <a:p>
            <a:pPr eaLnBrk="1" hangingPunct="1"/>
            <a:r>
              <a:rPr lang="en-US" b="0" dirty="0"/>
              <a:t>if the specific requested access by this user is permitted. A security administrator maintains an authorization database that specifies what type of access to which resources is allowed for this user. The access control function consults this database to determine whether to grant access. An auditing function monitors and keeps a record of user accesses to system resources.</a:t>
            </a:r>
          </a:p>
          <a:p>
            <a:pPr eaLnBrk="1" hangingPunct="1"/>
            <a:endParaRPr lang="en-US" b="0" dirty="0"/>
          </a:p>
          <a:p>
            <a:pPr eaLnBrk="1" hangingPunct="1"/>
            <a:r>
              <a:rPr lang="en-US" b="0" dirty="0"/>
              <a:t>In the simple model of Figure 4.1, the access control function is shown as a single logical module. In practice, a number of components may cooperatively share the access control function. All operating systems have at least a rudimentary, and in many cases a quite robust, access control component. Add-on security packages can supplement the native access control capabilities of the OS. Particular applications or utilities, such as a database management system, also incorporate access control functions. External devices, such as firewalls, can also provide access control services.</a:t>
            </a:r>
          </a:p>
          <a:p>
            <a:pPr eaLnBrk="1" hangingPunct="1"/>
            <a:r>
              <a:rPr lang="en-US" b="0" dirty="0"/>
              <a:t>
The security administrator creates and maintains the authorization database. The user accesses the systems resources after being authenticated by the authentication function. The access is controlled via access control function. A data exchange occurs between access control function and authorization database. Audit consists of an independent review and examination of system records and activities.</a:t>
            </a:r>
            <a:endParaRPr lang="en-IN" dirty="0"/>
          </a:p>
        </p:txBody>
      </p:sp>
      <p:sp>
        <p:nvSpPr>
          <p:cNvPr id="4" name="Slide Number Placeholder 3">
            <a:extLst>
              <a:ext uri="{FF2B5EF4-FFF2-40B4-BE49-F238E27FC236}">
                <a16:creationId xmlns:a16="http://schemas.microsoft.com/office/drawing/2014/main" id="{09A35C33-7581-9B05-5156-990C258D517D}"/>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06324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64954-8B06-DA5D-2AA3-AA0D24FC30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AA10C8-3449-8867-4D94-66A01CEBAE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A608AB-68E3-7469-FE4D-6BBB36B629B9}"/>
              </a:ext>
            </a:extLst>
          </p:cNvPr>
          <p:cNvSpPr>
            <a:spLocks noGrp="1"/>
          </p:cNvSpPr>
          <p:nvPr>
            <p:ph type="body" idx="1"/>
          </p:nvPr>
        </p:nvSpPr>
        <p:spPr/>
        <p:txBody>
          <a:bodyPr/>
          <a:lstStyle/>
          <a:p>
            <a:pPr eaLnBrk="1" hangingPunct="1"/>
            <a:r>
              <a:rPr lang="en-US" b="0" dirty="0"/>
              <a:t>Figure 4.1 shows a broader context of access control. In addition to access control, this context involves the following entities and functions:</a:t>
            </a:r>
          </a:p>
          <a:p>
            <a:pPr eaLnBrk="1" hangingPunct="1"/>
            <a:endParaRPr lang="en-US" b="0" dirty="0"/>
          </a:p>
          <a:p>
            <a:pPr eaLnBrk="1" hangingPunct="1"/>
            <a:r>
              <a:rPr lang="en-US" b="1" dirty="0"/>
              <a:t>• Authentication:</a:t>
            </a:r>
            <a:r>
              <a:rPr lang="en-US" b="0" dirty="0"/>
              <a:t> Verification that the credentials of a user or other system entity are valid.</a:t>
            </a:r>
          </a:p>
          <a:p>
            <a:pPr eaLnBrk="1" hangingPunct="1"/>
            <a:endParaRPr lang="en-US" b="0" dirty="0"/>
          </a:p>
          <a:p>
            <a:pPr eaLnBrk="1" hangingPunct="1"/>
            <a:r>
              <a:rPr lang="en-US" b="1" dirty="0"/>
              <a:t>• Authorization: </a:t>
            </a:r>
            <a:r>
              <a:rPr lang="en-US" b="0" dirty="0"/>
              <a:t>The granting of a right or permission to a system entity to access a system resource. This function determines who is trusted for a given purpose.</a:t>
            </a:r>
          </a:p>
          <a:p>
            <a:pPr eaLnBrk="1" hangingPunct="1"/>
            <a:endParaRPr lang="en-US" b="0" dirty="0"/>
          </a:p>
          <a:p>
            <a:pPr eaLnBrk="1" hangingPunct="1"/>
            <a:r>
              <a:rPr lang="en-US" b="1" dirty="0"/>
              <a:t>• Audit: </a:t>
            </a:r>
            <a:r>
              <a:rPr lang="en-US" b="0" dirty="0"/>
              <a:t>An independent review and examination of system records and activities in order to test for adequacy of system controls, to ensure compliance with established policy and operational procedures, to detect breaches in security, and to recommend any indicated changes in control, policy and procedures.</a:t>
            </a:r>
          </a:p>
          <a:p>
            <a:pPr eaLnBrk="1" hangingPunct="1"/>
            <a:endParaRPr lang="en-US" b="0" dirty="0"/>
          </a:p>
          <a:p>
            <a:pPr eaLnBrk="1" hangingPunct="1"/>
            <a:r>
              <a:rPr lang="en-US" b="0" dirty="0"/>
              <a:t>An access control mechanism mediates between a user (or a process executing on behalf of a user) and system resources, such as applications, operating systems, firewalls, routers, files, and databases. The system must first authenticate an entity seeking access. Typically, the authentication function determines whether the user is permitted to access the system at all. Then the access control function determines</a:t>
            </a:r>
          </a:p>
          <a:p>
            <a:pPr eaLnBrk="1" hangingPunct="1"/>
            <a:r>
              <a:rPr lang="en-US" b="0" dirty="0"/>
              <a:t>if the specific requested access by this user is permitted. A security administrator maintains an authorization database that specifies what type of access to which resources is allowed for this user. The access control function consults this database to determine whether to grant access. An auditing function monitors and keeps a record of user accesses to system resources.</a:t>
            </a:r>
          </a:p>
          <a:p>
            <a:pPr eaLnBrk="1" hangingPunct="1"/>
            <a:endParaRPr lang="en-US" b="0" dirty="0"/>
          </a:p>
          <a:p>
            <a:pPr eaLnBrk="1" hangingPunct="1"/>
            <a:r>
              <a:rPr lang="en-US" b="0" dirty="0"/>
              <a:t>In the simple model of Figure 4.1, the access control function is shown as a single logical module. In practice, a number of components may cooperatively share the access control function. All operating systems have at least a rudimentary, and in many cases a quite robust, access control component. Add-on security packages can supplement the native access control capabilities of the OS. Particular applications or utilities, such as a database management system, also incorporate access control functions. External devices, such as firewalls, can also provide access control services.</a:t>
            </a:r>
          </a:p>
          <a:p>
            <a:pPr eaLnBrk="1" hangingPunct="1"/>
            <a:r>
              <a:rPr lang="en-US" b="0" dirty="0"/>
              <a:t>
The security administrator creates and maintains the authorization database. The user accesses the systems resources after being authenticated by the authentication function. The access is controlled via access control function. A data exchange occurs between access control function and authorization database. Audit consists of an independent review and examination of system records and activities.</a:t>
            </a:r>
            <a:endParaRPr lang="en-IN" dirty="0"/>
          </a:p>
        </p:txBody>
      </p:sp>
      <p:sp>
        <p:nvSpPr>
          <p:cNvPr id="4" name="Slide Number Placeholder 3">
            <a:extLst>
              <a:ext uri="{FF2B5EF4-FFF2-40B4-BE49-F238E27FC236}">
                <a16:creationId xmlns:a16="http://schemas.microsoft.com/office/drawing/2014/main" id="{F4B5D8D1-16A9-9B5E-8D6D-376CB1D4C55F}"/>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456214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D0BA1-7474-5E18-5A2C-C788F66EEB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1BC0AB-722B-9E71-F2D6-D24EC46957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DF6E28-F742-7082-402F-51F6298691F7}"/>
              </a:ext>
            </a:extLst>
          </p:cNvPr>
          <p:cNvSpPr>
            <a:spLocks noGrp="1"/>
          </p:cNvSpPr>
          <p:nvPr>
            <p:ph type="body" idx="1"/>
          </p:nvPr>
        </p:nvSpPr>
        <p:spPr/>
        <p:txBody>
          <a:bodyPr/>
          <a:lstStyle/>
          <a:p>
            <a:pPr eaLnBrk="1" hangingPunct="1"/>
            <a:r>
              <a:rPr lang="en-US" b="0" dirty="0"/>
              <a:t>Figure 4.1 shows a broader context of access control. In addition to access control, this context involves the following entities and functions:</a:t>
            </a:r>
          </a:p>
          <a:p>
            <a:pPr eaLnBrk="1" hangingPunct="1"/>
            <a:endParaRPr lang="en-US" b="0" dirty="0"/>
          </a:p>
          <a:p>
            <a:pPr eaLnBrk="1" hangingPunct="1"/>
            <a:r>
              <a:rPr lang="en-US" b="1" dirty="0"/>
              <a:t>• Authentication:</a:t>
            </a:r>
            <a:r>
              <a:rPr lang="en-US" b="0" dirty="0"/>
              <a:t> Verification that the credentials of a user or other system entity are valid.</a:t>
            </a:r>
          </a:p>
          <a:p>
            <a:pPr eaLnBrk="1" hangingPunct="1"/>
            <a:endParaRPr lang="en-US" b="0" dirty="0"/>
          </a:p>
          <a:p>
            <a:pPr eaLnBrk="1" hangingPunct="1"/>
            <a:r>
              <a:rPr lang="en-US" b="1" dirty="0"/>
              <a:t>• Authorization: </a:t>
            </a:r>
            <a:r>
              <a:rPr lang="en-US" b="0" dirty="0"/>
              <a:t>The granting of a right or permission to a system entity to access a system resource. This function determines who is trusted for a given purpose.</a:t>
            </a:r>
          </a:p>
          <a:p>
            <a:pPr eaLnBrk="1" hangingPunct="1"/>
            <a:endParaRPr lang="en-US" b="0" dirty="0"/>
          </a:p>
          <a:p>
            <a:pPr eaLnBrk="1" hangingPunct="1"/>
            <a:r>
              <a:rPr lang="en-US" b="1" dirty="0"/>
              <a:t>• Audit: </a:t>
            </a:r>
            <a:r>
              <a:rPr lang="en-US" b="0" dirty="0"/>
              <a:t>An independent review and examination of system records and activities in order to test for adequacy of system controls, to ensure compliance with established policy and operational procedures, to detect breaches in security, and to recommend any indicated changes in control, policy and procedures.</a:t>
            </a:r>
          </a:p>
          <a:p>
            <a:pPr eaLnBrk="1" hangingPunct="1"/>
            <a:endParaRPr lang="en-US" b="0" dirty="0"/>
          </a:p>
          <a:p>
            <a:pPr eaLnBrk="1" hangingPunct="1"/>
            <a:r>
              <a:rPr lang="en-US" b="0" dirty="0"/>
              <a:t>An access control mechanism mediates between a user (or a process executing on behalf of a user) and system resources, such as applications, operating systems, firewalls, routers, files, and databases. The system must first authenticate an entity seeking access. Typically, the authentication function determines whether the user is permitted to access the system at all. Then the access control function determines</a:t>
            </a:r>
          </a:p>
          <a:p>
            <a:pPr eaLnBrk="1" hangingPunct="1"/>
            <a:r>
              <a:rPr lang="en-US" b="0" dirty="0"/>
              <a:t>if the specific requested access by this user is permitted. A security administrator maintains an authorization database that specifies what type of access to which resources is allowed for this user. The access control function consults this database to determine whether to grant access. An auditing function monitors and keeps a record of user accesses to system resources.</a:t>
            </a:r>
          </a:p>
          <a:p>
            <a:pPr eaLnBrk="1" hangingPunct="1"/>
            <a:endParaRPr lang="en-US" b="0" dirty="0"/>
          </a:p>
          <a:p>
            <a:pPr eaLnBrk="1" hangingPunct="1"/>
            <a:r>
              <a:rPr lang="en-US" b="0" dirty="0"/>
              <a:t>In the simple model of Figure 4.1, the access control function is shown as a single logical module. In practice, a number of components may cooperatively share the access control function. All operating systems have at least a rudimentary, and in many cases a quite robust, access control component. Add-on security packages can supplement the native access control capabilities of the OS. Particular applications or utilities, such as a database management system, also incorporate access control functions. External devices, such as firewalls, can also provide access control services.</a:t>
            </a:r>
          </a:p>
          <a:p>
            <a:pPr eaLnBrk="1" hangingPunct="1"/>
            <a:r>
              <a:rPr lang="en-US" b="0" dirty="0"/>
              <a:t>
The security administrator creates and maintains the authorization database. The user accesses the systems resources after being authenticated by the authentication function. The access is controlled via access control function. A data exchange occurs between access control function and authorization database. Audit consists of an independent review and examination of system records and activities.</a:t>
            </a:r>
            <a:endParaRPr lang="en-IN" dirty="0"/>
          </a:p>
        </p:txBody>
      </p:sp>
      <p:sp>
        <p:nvSpPr>
          <p:cNvPr id="4" name="Slide Number Placeholder 3">
            <a:extLst>
              <a:ext uri="{FF2B5EF4-FFF2-40B4-BE49-F238E27FC236}">
                <a16:creationId xmlns:a16="http://schemas.microsoft.com/office/drawing/2014/main" id="{FC58FB74-2B73-D5D2-CF6F-05E80DD9F27E}"/>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290944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9B713-7E2D-928C-690F-6EEC2FA4AD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7D0993-29A5-5069-49FB-A55786A234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133985-5E60-7A6A-3BE7-D945B97DA5E4}"/>
              </a:ext>
            </a:extLst>
          </p:cNvPr>
          <p:cNvSpPr>
            <a:spLocks noGrp="1"/>
          </p:cNvSpPr>
          <p:nvPr>
            <p:ph type="body" idx="1"/>
          </p:nvPr>
        </p:nvSpPr>
        <p:spPr/>
        <p:txBody>
          <a:bodyPr/>
          <a:lstStyle/>
          <a:p>
            <a:pPr eaLnBrk="1" hangingPunct="1"/>
            <a:r>
              <a:rPr lang="en-US" b="0" dirty="0"/>
              <a:t>Figure 4.1 shows a broader context of access control. In addition to access control, this context involves the following entities and functions:</a:t>
            </a:r>
          </a:p>
          <a:p>
            <a:pPr eaLnBrk="1" hangingPunct="1"/>
            <a:endParaRPr lang="en-US" b="0" dirty="0"/>
          </a:p>
          <a:p>
            <a:pPr eaLnBrk="1" hangingPunct="1"/>
            <a:r>
              <a:rPr lang="en-US" b="1" dirty="0"/>
              <a:t>• Authentication:</a:t>
            </a:r>
            <a:r>
              <a:rPr lang="en-US" b="0" dirty="0"/>
              <a:t> Verification that the credentials of a user or other system entity are valid.</a:t>
            </a:r>
          </a:p>
          <a:p>
            <a:pPr eaLnBrk="1" hangingPunct="1"/>
            <a:endParaRPr lang="en-US" b="0" dirty="0"/>
          </a:p>
          <a:p>
            <a:pPr eaLnBrk="1" hangingPunct="1"/>
            <a:r>
              <a:rPr lang="en-US" b="1" dirty="0"/>
              <a:t>• Authorization: </a:t>
            </a:r>
            <a:r>
              <a:rPr lang="en-US" b="0" dirty="0"/>
              <a:t>The granting of a right or permission to a system entity to access a system resource. This function determines who is trusted for a given purpose.</a:t>
            </a:r>
          </a:p>
          <a:p>
            <a:pPr eaLnBrk="1" hangingPunct="1"/>
            <a:endParaRPr lang="en-US" b="0" dirty="0"/>
          </a:p>
          <a:p>
            <a:pPr eaLnBrk="1" hangingPunct="1"/>
            <a:r>
              <a:rPr lang="en-US" b="1" dirty="0"/>
              <a:t>• Audit: </a:t>
            </a:r>
            <a:r>
              <a:rPr lang="en-US" b="0" dirty="0"/>
              <a:t>An independent review and examination of system records and activities in order to test for adequacy of system controls, to ensure compliance with established policy and operational procedures, to detect breaches in security, and to recommend any indicated changes in control, policy and procedures.</a:t>
            </a:r>
          </a:p>
          <a:p>
            <a:pPr eaLnBrk="1" hangingPunct="1"/>
            <a:endParaRPr lang="en-US" b="0" dirty="0"/>
          </a:p>
          <a:p>
            <a:pPr eaLnBrk="1" hangingPunct="1"/>
            <a:r>
              <a:rPr lang="en-US" b="0" dirty="0"/>
              <a:t>An access control mechanism mediates between a user (or a process executing on behalf of a user) and system resources, such as applications, operating systems, firewalls, routers, files, and databases. The system must first authenticate an entity seeking access. Typically, the authentication function determines whether the user is permitted to access the system at all. Then the access control function determines</a:t>
            </a:r>
          </a:p>
          <a:p>
            <a:pPr eaLnBrk="1" hangingPunct="1"/>
            <a:r>
              <a:rPr lang="en-US" b="0" dirty="0"/>
              <a:t>if the specific requested access by this user is permitted. A security administrator maintains an authorization database that specifies what type of access to which resources is allowed for this user. The access control function consults this database to determine whether to grant access. An auditing function monitors and keeps a record of user accesses to system resources.</a:t>
            </a:r>
          </a:p>
          <a:p>
            <a:pPr eaLnBrk="1" hangingPunct="1"/>
            <a:endParaRPr lang="en-US" b="0" dirty="0"/>
          </a:p>
          <a:p>
            <a:pPr eaLnBrk="1" hangingPunct="1"/>
            <a:r>
              <a:rPr lang="en-US" b="0" dirty="0"/>
              <a:t>In the simple model of Figure 4.1, the access control function is shown as a single logical module. In practice, a number of components may cooperatively share the access control function. All operating systems have at least a rudimentary, and in many cases a quite robust, access control component. Add-on security packages can supplement the native access control capabilities of the OS. Particular applications or utilities, such as a database management system, also incorporate access control functions. External devices, such as firewalls, can also provide access control services.</a:t>
            </a:r>
          </a:p>
          <a:p>
            <a:pPr eaLnBrk="1" hangingPunct="1"/>
            <a:r>
              <a:rPr lang="en-US" b="0" dirty="0"/>
              <a:t>
The security administrator creates and maintains the authorization database. The user accesses the systems resources after being authenticated by the authentication function. The access is controlled via access control function. A data exchange occurs between access control function and authorization database. Audit consists of an independent review and examination of system records and activities.</a:t>
            </a:r>
            <a:endParaRPr lang="en-IN" dirty="0"/>
          </a:p>
        </p:txBody>
      </p:sp>
      <p:sp>
        <p:nvSpPr>
          <p:cNvPr id="4" name="Slide Number Placeholder 3">
            <a:extLst>
              <a:ext uri="{FF2B5EF4-FFF2-40B4-BE49-F238E27FC236}">
                <a16:creationId xmlns:a16="http://schemas.microsoft.com/office/drawing/2014/main" id="{B44B24DC-6EBC-A9A9-B296-1FC4940EDC6B}"/>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786760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b="0" dirty="0"/>
              <a:t>The basic elements of access control are: subject, object, and access right.</a:t>
            </a:r>
          </a:p>
          <a:p>
            <a:pPr eaLnBrk="1" hangingPunct="1"/>
            <a:endParaRPr lang="en-US" b="0" dirty="0"/>
          </a:p>
          <a:p>
            <a:pPr eaLnBrk="1" hangingPunct="1"/>
            <a:r>
              <a:rPr lang="en-US" b="0" dirty="0"/>
              <a:t>A </a:t>
            </a:r>
            <a:r>
              <a:rPr lang="en-US" b="1" dirty="0"/>
              <a:t>subject</a:t>
            </a:r>
            <a:r>
              <a:rPr lang="en-US" b="0" dirty="0"/>
              <a:t> is an entity capable of accessing objects. Generally, the concept of subject equates with that of process. Any user or application actually gains access to an object by means of a process that represents that user or application. The process takes on the attributes of the user, such as access rights.</a:t>
            </a:r>
          </a:p>
          <a:p>
            <a:pPr eaLnBrk="1" hangingPunct="1"/>
            <a:endParaRPr lang="en-US" b="0" dirty="0"/>
          </a:p>
          <a:p>
            <a:pPr eaLnBrk="1" hangingPunct="1"/>
            <a:r>
              <a:rPr lang="en-US" b="0" dirty="0"/>
              <a:t>A subject is typically held accountable for the actions they have initiated, and an audit trail may be used to record the association of a subject with security relevant actions performed on an object by the subject.</a:t>
            </a:r>
          </a:p>
          <a:p>
            <a:pPr eaLnBrk="1" hangingPunct="1"/>
            <a:endParaRPr lang="en-US" b="0" dirty="0"/>
          </a:p>
          <a:p>
            <a:pPr eaLnBrk="1" hangingPunct="1"/>
            <a:r>
              <a:rPr lang="en-US" b="0" dirty="0"/>
              <a:t>Basic access control systems typically define three classes of subject, with different access rights for each class:</a:t>
            </a:r>
          </a:p>
          <a:p>
            <a:pPr eaLnBrk="1" hangingPunct="1"/>
            <a:endParaRPr lang="en-US" b="0" dirty="0"/>
          </a:p>
          <a:p>
            <a:pPr eaLnBrk="1" hangingPunct="1"/>
            <a:r>
              <a:rPr lang="en-US" b="0" dirty="0"/>
              <a:t>• </a:t>
            </a:r>
            <a:r>
              <a:rPr lang="en-US" b="1" dirty="0"/>
              <a:t>Owner</a:t>
            </a:r>
            <a:r>
              <a:rPr lang="en-US" b="0" dirty="0"/>
              <a:t>: This may be the creator of a resource, such as a file. For system resources, ownership may belong to a system administrator. For project resources, a project administrator or leader may be assigned ownership.</a:t>
            </a:r>
          </a:p>
          <a:p>
            <a:pPr eaLnBrk="1" hangingPunct="1"/>
            <a:endParaRPr lang="en-US" b="0" dirty="0"/>
          </a:p>
          <a:p>
            <a:pPr eaLnBrk="1" hangingPunct="1"/>
            <a:r>
              <a:rPr lang="en-US" b="0" dirty="0"/>
              <a:t>• </a:t>
            </a:r>
            <a:r>
              <a:rPr lang="en-US" b="1" dirty="0"/>
              <a:t>Group:</a:t>
            </a:r>
            <a:r>
              <a:rPr lang="en-US" b="0" dirty="0"/>
              <a:t> In addition to the privileges assigned to an owner, a named group of users may also be granted access rights, such that membership in the group is sufficient to exercise these access rights. In most schemes, a user may belong to multiple groups.</a:t>
            </a:r>
          </a:p>
          <a:p>
            <a:pPr eaLnBrk="1" hangingPunct="1"/>
            <a:endParaRPr lang="en-US" b="0" dirty="0"/>
          </a:p>
          <a:p>
            <a:pPr eaLnBrk="1" hangingPunct="1"/>
            <a:r>
              <a:rPr lang="en-US" b="0" dirty="0"/>
              <a:t>• </a:t>
            </a:r>
            <a:r>
              <a:rPr lang="en-US" b="1" dirty="0"/>
              <a:t>World:</a:t>
            </a:r>
            <a:r>
              <a:rPr lang="en-US" b="0" dirty="0"/>
              <a:t> The least amount of access is granted to users who are able to access the system but are not included in the categories owner and group for this resource.</a:t>
            </a:r>
          </a:p>
          <a:p>
            <a:pPr eaLnBrk="1" hangingPunct="1"/>
            <a:endParaRPr lang="en-US" b="0" dirty="0"/>
          </a:p>
          <a:p>
            <a:pPr eaLnBrk="1" hangingPunct="1"/>
            <a:r>
              <a:rPr lang="en-US" b="0" dirty="0"/>
              <a:t>An </a:t>
            </a:r>
            <a:r>
              <a:rPr lang="en-US" b="1" dirty="0"/>
              <a:t>object </a:t>
            </a:r>
            <a:r>
              <a:rPr lang="en-US" b="0" dirty="0"/>
              <a:t>is a resource to which access is controlled. In general, an object is an entity used to contain and/or receive information. Examples include records, blocks, pages, segments, files, portions of files, directories, directory trees, mailboxes, messages, and programs. Some access control systems also encompass, bits, bytes, words, processors, communication ports, clocks, and network nodes.</a:t>
            </a:r>
          </a:p>
          <a:p>
            <a:pPr eaLnBrk="1" hangingPunct="1"/>
            <a:endParaRPr lang="en-US" b="0" dirty="0"/>
          </a:p>
          <a:p>
            <a:pPr eaLnBrk="1" hangingPunct="1"/>
            <a:r>
              <a:rPr lang="en-US" b="0" dirty="0"/>
              <a:t>The number and types of objects to be protected by an access control system depends on the environment in which access control operates and the desired tradeoff between security on the one hand and complexity, processing burden, and ease of use on the other hand.</a:t>
            </a:r>
          </a:p>
          <a:p>
            <a:pPr eaLnBrk="1" hangingPunct="1"/>
            <a:endParaRPr lang="en-US" b="0" dirty="0"/>
          </a:p>
          <a:p>
            <a:pPr eaLnBrk="1" hangingPunct="1"/>
            <a:r>
              <a:rPr lang="en-US" b="0" dirty="0"/>
              <a:t>An </a:t>
            </a:r>
            <a:r>
              <a:rPr lang="en-US" b="1" dirty="0"/>
              <a:t>access right </a:t>
            </a:r>
            <a:r>
              <a:rPr lang="en-US" b="0" dirty="0"/>
              <a:t>describes the way in which a subject may access an object. Access rights could include the following:</a:t>
            </a:r>
          </a:p>
          <a:p>
            <a:pPr eaLnBrk="1" hangingPunct="1"/>
            <a:endParaRPr lang="en-US" b="0" dirty="0"/>
          </a:p>
          <a:p>
            <a:pPr eaLnBrk="1" hangingPunct="1"/>
            <a:r>
              <a:rPr lang="en-US" b="0" dirty="0"/>
              <a:t>• </a:t>
            </a:r>
            <a:r>
              <a:rPr lang="en-US" b="1" dirty="0"/>
              <a:t>Read:</a:t>
            </a:r>
            <a:r>
              <a:rPr lang="en-US" b="0" dirty="0"/>
              <a:t> User may view information in a system resource (e.g., a file, selected records in a file, selected fields within a record, or some combination). Read access includes the ability to copy or print.</a:t>
            </a:r>
          </a:p>
          <a:p>
            <a:pPr eaLnBrk="1" hangingPunct="1"/>
            <a:endParaRPr lang="en-US" b="0" dirty="0"/>
          </a:p>
          <a:p>
            <a:pPr eaLnBrk="1" hangingPunct="1"/>
            <a:r>
              <a:rPr lang="en-US" b="0" dirty="0"/>
              <a:t>• </a:t>
            </a:r>
            <a:r>
              <a:rPr lang="en-US" b="1" dirty="0"/>
              <a:t>Write</a:t>
            </a:r>
            <a:r>
              <a:rPr lang="en-US" b="0" dirty="0"/>
              <a:t>: User may add, modify, or delete data in system resource (e.g., files, records, programs). Write access includes read access.</a:t>
            </a:r>
          </a:p>
          <a:p>
            <a:pPr eaLnBrk="1" hangingPunct="1"/>
            <a:endParaRPr lang="en-US" b="0" dirty="0"/>
          </a:p>
          <a:p>
            <a:pPr eaLnBrk="1" hangingPunct="1"/>
            <a:r>
              <a:rPr lang="en-US" b="0" dirty="0"/>
              <a:t>• </a:t>
            </a:r>
            <a:r>
              <a:rPr lang="en-US" b="1" dirty="0"/>
              <a:t>Execute</a:t>
            </a:r>
            <a:r>
              <a:rPr lang="en-US" b="0" dirty="0"/>
              <a:t>: User may execute specified programs.</a:t>
            </a:r>
          </a:p>
          <a:p>
            <a:pPr eaLnBrk="1" hangingPunct="1"/>
            <a:endParaRPr lang="en-US" b="0" dirty="0"/>
          </a:p>
          <a:p>
            <a:pPr eaLnBrk="1" hangingPunct="1"/>
            <a:r>
              <a:rPr lang="en-US" b="0" dirty="0"/>
              <a:t>• </a:t>
            </a:r>
            <a:r>
              <a:rPr lang="en-US" b="1" dirty="0"/>
              <a:t>Delete:</a:t>
            </a:r>
            <a:r>
              <a:rPr lang="en-US" b="0" dirty="0"/>
              <a:t> User may delete certain system resources, such as files or records.</a:t>
            </a:r>
          </a:p>
          <a:p>
            <a:pPr eaLnBrk="1" hangingPunct="1"/>
            <a:endParaRPr lang="en-US" b="0" dirty="0"/>
          </a:p>
          <a:p>
            <a:pPr eaLnBrk="1" hangingPunct="1"/>
            <a:r>
              <a:rPr lang="en-US" b="0" dirty="0"/>
              <a:t>• </a:t>
            </a:r>
            <a:r>
              <a:rPr lang="en-US" b="1" dirty="0"/>
              <a:t>Create:</a:t>
            </a:r>
            <a:r>
              <a:rPr lang="en-US" b="0" dirty="0"/>
              <a:t> User may create new files, records, or fields.</a:t>
            </a:r>
          </a:p>
          <a:p>
            <a:pPr eaLnBrk="1" hangingPunct="1"/>
            <a:endParaRPr lang="en-US" b="0" dirty="0"/>
          </a:p>
          <a:p>
            <a:pPr eaLnBrk="1" hangingPunct="1"/>
            <a:r>
              <a:rPr lang="en-US" b="0" dirty="0"/>
              <a:t>• </a:t>
            </a:r>
            <a:r>
              <a:rPr lang="en-US" b="1" dirty="0"/>
              <a:t>Search:</a:t>
            </a:r>
            <a:r>
              <a:rPr lang="en-US" b="0" dirty="0"/>
              <a:t> User may list the files in a directory or otherwise search the directory.</a:t>
            </a:r>
            <a:endParaRPr lang="en-US" b="0" dirty="0">
              <a:latin typeface="Times New Roman" pitchFamily="-110" charset="0"/>
            </a:endParaRP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603454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2BCA9-6A0B-D3B5-506E-238476B219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2DA176-34D3-2BE0-2992-60ECDC1965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380497-5142-B187-BBE1-10D65C0EF6BF}"/>
              </a:ext>
            </a:extLst>
          </p:cNvPr>
          <p:cNvSpPr>
            <a:spLocks noGrp="1"/>
          </p:cNvSpPr>
          <p:nvPr>
            <p:ph type="body" idx="1"/>
          </p:nvPr>
        </p:nvSpPr>
        <p:spPr/>
        <p:txBody>
          <a:bodyPr/>
          <a:lstStyle/>
          <a:p>
            <a:pPr eaLnBrk="1" hangingPunct="1"/>
            <a:r>
              <a:rPr lang="en-US" b="0" dirty="0"/>
              <a:t>The basic elements of access control are: subject, object, and access right.</a:t>
            </a:r>
          </a:p>
          <a:p>
            <a:pPr eaLnBrk="1" hangingPunct="1"/>
            <a:endParaRPr lang="en-US" b="0" dirty="0"/>
          </a:p>
          <a:p>
            <a:pPr eaLnBrk="1" hangingPunct="1"/>
            <a:r>
              <a:rPr lang="en-US" b="0" dirty="0"/>
              <a:t>A </a:t>
            </a:r>
            <a:r>
              <a:rPr lang="en-US" b="1" dirty="0"/>
              <a:t>subject</a:t>
            </a:r>
            <a:r>
              <a:rPr lang="en-US" b="0" dirty="0"/>
              <a:t> is an entity capable of accessing objects. Generally, the concept of subject equates with that of process. Any user or application actually gains access to an object by means of a process that represents that user or application. The process takes on the attributes of the user, such as access rights.</a:t>
            </a:r>
          </a:p>
          <a:p>
            <a:pPr eaLnBrk="1" hangingPunct="1"/>
            <a:endParaRPr lang="en-US" b="0" dirty="0"/>
          </a:p>
          <a:p>
            <a:pPr eaLnBrk="1" hangingPunct="1"/>
            <a:r>
              <a:rPr lang="en-US" b="0" dirty="0"/>
              <a:t>A subject is typically held accountable for the actions they have initiated, and an audit trail may be used to record the association of a subject with security relevant actions performed on an object by the subject.</a:t>
            </a:r>
          </a:p>
          <a:p>
            <a:pPr eaLnBrk="1" hangingPunct="1"/>
            <a:endParaRPr lang="en-US" b="0" dirty="0"/>
          </a:p>
          <a:p>
            <a:pPr eaLnBrk="1" hangingPunct="1"/>
            <a:r>
              <a:rPr lang="en-US" b="0" dirty="0"/>
              <a:t>Basic access control systems typically define three classes of subject, with different access rights for each class:</a:t>
            </a:r>
          </a:p>
          <a:p>
            <a:pPr eaLnBrk="1" hangingPunct="1"/>
            <a:endParaRPr lang="en-US" b="0" dirty="0"/>
          </a:p>
          <a:p>
            <a:pPr eaLnBrk="1" hangingPunct="1"/>
            <a:r>
              <a:rPr lang="en-US" b="0" dirty="0"/>
              <a:t>• </a:t>
            </a:r>
            <a:r>
              <a:rPr lang="en-US" b="1" dirty="0"/>
              <a:t>Owner</a:t>
            </a:r>
            <a:r>
              <a:rPr lang="en-US" b="0" dirty="0"/>
              <a:t>: This may be the creator of a resource, such as a file. For system resources, ownership may belong to a system administrator. For project resources, a project administrator or leader may be assigned ownership.</a:t>
            </a:r>
          </a:p>
          <a:p>
            <a:pPr eaLnBrk="1" hangingPunct="1"/>
            <a:endParaRPr lang="en-US" b="0" dirty="0"/>
          </a:p>
          <a:p>
            <a:pPr eaLnBrk="1" hangingPunct="1"/>
            <a:r>
              <a:rPr lang="en-US" b="0" dirty="0"/>
              <a:t>• </a:t>
            </a:r>
            <a:r>
              <a:rPr lang="en-US" b="1" dirty="0"/>
              <a:t>Group:</a:t>
            </a:r>
            <a:r>
              <a:rPr lang="en-US" b="0" dirty="0"/>
              <a:t> In addition to the privileges assigned to an owner, a named group of users may also be granted access rights, such that membership in the group is sufficient to exercise these access rights. In most schemes, a user may belong to multiple groups.</a:t>
            </a:r>
          </a:p>
          <a:p>
            <a:pPr eaLnBrk="1" hangingPunct="1"/>
            <a:endParaRPr lang="en-US" b="0" dirty="0"/>
          </a:p>
          <a:p>
            <a:pPr eaLnBrk="1" hangingPunct="1"/>
            <a:r>
              <a:rPr lang="en-US" b="0" dirty="0"/>
              <a:t>• </a:t>
            </a:r>
            <a:r>
              <a:rPr lang="en-US" b="1" dirty="0"/>
              <a:t>World:</a:t>
            </a:r>
            <a:r>
              <a:rPr lang="en-US" b="0" dirty="0"/>
              <a:t> The least amount of access is granted to users who are able to access the system but are not included in the categories owner and group for this resource.</a:t>
            </a:r>
          </a:p>
          <a:p>
            <a:pPr eaLnBrk="1" hangingPunct="1"/>
            <a:endParaRPr lang="en-US" b="0" dirty="0"/>
          </a:p>
          <a:p>
            <a:pPr eaLnBrk="1" hangingPunct="1"/>
            <a:r>
              <a:rPr lang="en-US" b="0" dirty="0"/>
              <a:t>An </a:t>
            </a:r>
            <a:r>
              <a:rPr lang="en-US" b="1" dirty="0"/>
              <a:t>object </a:t>
            </a:r>
            <a:r>
              <a:rPr lang="en-US" b="0" dirty="0"/>
              <a:t>is a resource to which access is controlled. In general, an object is an entity used to contain and/or receive information. Examples include records, blocks, pages, segments, files, portions of files, directories, directory trees, mailboxes, messages, and programs. Some access control systems also encompass, bits, bytes, words, processors, communication ports, clocks, and network nodes.</a:t>
            </a:r>
          </a:p>
          <a:p>
            <a:pPr eaLnBrk="1" hangingPunct="1"/>
            <a:endParaRPr lang="en-US" b="0" dirty="0"/>
          </a:p>
          <a:p>
            <a:pPr eaLnBrk="1" hangingPunct="1"/>
            <a:r>
              <a:rPr lang="en-US" b="0" dirty="0"/>
              <a:t>The number and types of objects to be protected by an access control system depends on the environment in which access control operates and the desired tradeoff between security on the one hand and complexity, processing burden, and ease of use on the other hand.</a:t>
            </a:r>
          </a:p>
          <a:p>
            <a:pPr eaLnBrk="1" hangingPunct="1"/>
            <a:endParaRPr lang="en-US" b="0" dirty="0"/>
          </a:p>
          <a:p>
            <a:pPr eaLnBrk="1" hangingPunct="1"/>
            <a:r>
              <a:rPr lang="en-US" b="0" dirty="0"/>
              <a:t>An </a:t>
            </a:r>
            <a:r>
              <a:rPr lang="en-US" b="1" dirty="0"/>
              <a:t>access right </a:t>
            </a:r>
            <a:r>
              <a:rPr lang="en-US" b="0" dirty="0"/>
              <a:t>describes the way in which a subject may access an object. Access rights could include the following:</a:t>
            </a:r>
          </a:p>
          <a:p>
            <a:pPr eaLnBrk="1" hangingPunct="1"/>
            <a:endParaRPr lang="en-US" b="0" dirty="0"/>
          </a:p>
          <a:p>
            <a:pPr eaLnBrk="1" hangingPunct="1"/>
            <a:r>
              <a:rPr lang="en-US" b="0" dirty="0"/>
              <a:t>• </a:t>
            </a:r>
            <a:r>
              <a:rPr lang="en-US" b="1" dirty="0"/>
              <a:t>Read:</a:t>
            </a:r>
            <a:r>
              <a:rPr lang="en-US" b="0" dirty="0"/>
              <a:t> User may view information in a system resource (e.g., a file, selected records in a file, selected fields within a record, or some combination). Read access includes the ability to copy or print.</a:t>
            </a:r>
          </a:p>
          <a:p>
            <a:pPr eaLnBrk="1" hangingPunct="1"/>
            <a:endParaRPr lang="en-US" b="0" dirty="0"/>
          </a:p>
          <a:p>
            <a:pPr eaLnBrk="1" hangingPunct="1"/>
            <a:r>
              <a:rPr lang="en-US" b="0" dirty="0"/>
              <a:t>• </a:t>
            </a:r>
            <a:r>
              <a:rPr lang="en-US" b="1" dirty="0"/>
              <a:t>Write</a:t>
            </a:r>
            <a:r>
              <a:rPr lang="en-US" b="0" dirty="0"/>
              <a:t>: User may add, modify, or delete data in system resource (e.g., files, records, programs). Write access includes read access.</a:t>
            </a:r>
          </a:p>
          <a:p>
            <a:pPr eaLnBrk="1" hangingPunct="1"/>
            <a:endParaRPr lang="en-US" b="0" dirty="0"/>
          </a:p>
          <a:p>
            <a:pPr eaLnBrk="1" hangingPunct="1"/>
            <a:r>
              <a:rPr lang="en-US" b="0" dirty="0"/>
              <a:t>• </a:t>
            </a:r>
            <a:r>
              <a:rPr lang="en-US" b="1" dirty="0"/>
              <a:t>Execute</a:t>
            </a:r>
            <a:r>
              <a:rPr lang="en-US" b="0" dirty="0"/>
              <a:t>: User may execute specified programs.</a:t>
            </a:r>
          </a:p>
          <a:p>
            <a:pPr eaLnBrk="1" hangingPunct="1"/>
            <a:endParaRPr lang="en-US" b="0" dirty="0"/>
          </a:p>
          <a:p>
            <a:pPr eaLnBrk="1" hangingPunct="1"/>
            <a:r>
              <a:rPr lang="en-US" b="0" dirty="0"/>
              <a:t>• </a:t>
            </a:r>
            <a:r>
              <a:rPr lang="en-US" b="1" dirty="0"/>
              <a:t>Delete:</a:t>
            </a:r>
            <a:r>
              <a:rPr lang="en-US" b="0" dirty="0"/>
              <a:t> User may delete certain system resources, such as files or records.</a:t>
            </a:r>
          </a:p>
          <a:p>
            <a:pPr eaLnBrk="1" hangingPunct="1"/>
            <a:endParaRPr lang="en-US" b="0" dirty="0"/>
          </a:p>
          <a:p>
            <a:pPr eaLnBrk="1" hangingPunct="1"/>
            <a:r>
              <a:rPr lang="en-US" b="0" dirty="0"/>
              <a:t>• </a:t>
            </a:r>
            <a:r>
              <a:rPr lang="en-US" b="1" dirty="0"/>
              <a:t>Create:</a:t>
            </a:r>
            <a:r>
              <a:rPr lang="en-US" b="0" dirty="0"/>
              <a:t> User may create new files, records, or fields.</a:t>
            </a:r>
          </a:p>
          <a:p>
            <a:pPr eaLnBrk="1" hangingPunct="1"/>
            <a:endParaRPr lang="en-US" b="0" dirty="0"/>
          </a:p>
          <a:p>
            <a:pPr eaLnBrk="1" hangingPunct="1"/>
            <a:r>
              <a:rPr lang="en-US" b="0" dirty="0"/>
              <a:t>• </a:t>
            </a:r>
            <a:r>
              <a:rPr lang="en-US" b="1" dirty="0"/>
              <a:t>Search:</a:t>
            </a:r>
            <a:r>
              <a:rPr lang="en-US" b="0" dirty="0"/>
              <a:t> User may list the files in a directory or otherwise search the directory.</a:t>
            </a:r>
            <a:endParaRPr lang="en-US" b="0" dirty="0">
              <a:latin typeface="Times New Roman" pitchFamily="-110" charset="0"/>
            </a:endParaRPr>
          </a:p>
          <a:p>
            <a:endParaRPr lang="en-IN" dirty="0"/>
          </a:p>
        </p:txBody>
      </p:sp>
      <p:sp>
        <p:nvSpPr>
          <p:cNvPr id="4" name="Slide Number Placeholder 3">
            <a:extLst>
              <a:ext uri="{FF2B5EF4-FFF2-40B4-BE49-F238E27FC236}">
                <a16:creationId xmlns:a16="http://schemas.microsoft.com/office/drawing/2014/main" id="{AD5AA616-1581-39F8-C3EA-C7D1B2C928F5}"/>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788557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EF785-DA42-0D0B-FC7D-DA8C3FD6B7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58CF54-8F2D-6477-F0C5-04F5B90FF7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06F555-9BD3-B356-2ABA-F8EF606AB5ED}"/>
              </a:ext>
            </a:extLst>
          </p:cNvPr>
          <p:cNvSpPr>
            <a:spLocks noGrp="1"/>
          </p:cNvSpPr>
          <p:nvPr>
            <p:ph type="body" idx="1"/>
          </p:nvPr>
        </p:nvSpPr>
        <p:spPr/>
        <p:txBody>
          <a:bodyPr/>
          <a:lstStyle/>
          <a:p>
            <a:pPr eaLnBrk="1" hangingPunct="1"/>
            <a:r>
              <a:rPr lang="en-US" b="0" dirty="0"/>
              <a:t>The basic elements of access control are: subject, object, and access right.</a:t>
            </a:r>
          </a:p>
          <a:p>
            <a:pPr eaLnBrk="1" hangingPunct="1"/>
            <a:endParaRPr lang="en-US" b="0" dirty="0"/>
          </a:p>
          <a:p>
            <a:pPr eaLnBrk="1" hangingPunct="1"/>
            <a:r>
              <a:rPr lang="en-US" b="0" dirty="0"/>
              <a:t>A </a:t>
            </a:r>
            <a:r>
              <a:rPr lang="en-US" b="1" dirty="0"/>
              <a:t>subject</a:t>
            </a:r>
            <a:r>
              <a:rPr lang="en-US" b="0" dirty="0"/>
              <a:t> is an entity capable of accessing objects. Generally, the concept of subject equates with that of process. Any user or application actually gains access to an object by means of a process that represents that user or application. The process takes on the attributes of the user, such as access rights.</a:t>
            </a:r>
          </a:p>
          <a:p>
            <a:pPr eaLnBrk="1" hangingPunct="1"/>
            <a:endParaRPr lang="en-US" b="0" dirty="0"/>
          </a:p>
          <a:p>
            <a:pPr eaLnBrk="1" hangingPunct="1"/>
            <a:r>
              <a:rPr lang="en-US" b="0" dirty="0"/>
              <a:t>A subject is typically held accountable for the actions they have initiated, and an audit trail may be used to record the association of a subject with security relevant actions performed on an object by the subject.</a:t>
            </a:r>
          </a:p>
          <a:p>
            <a:pPr eaLnBrk="1" hangingPunct="1"/>
            <a:endParaRPr lang="en-US" b="0" dirty="0"/>
          </a:p>
          <a:p>
            <a:pPr eaLnBrk="1" hangingPunct="1"/>
            <a:r>
              <a:rPr lang="en-US" b="0" dirty="0"/>
              <a:t>Basic access control systems typically define three classes of subject, with different access rights for each class:</a:t>
            </a:r>
          </a:p>
          <a:p>
            <a:pPr eaLnBrk="1" hangingPunct="1"/>
            <a:endParaRPr lang="en-US" b="0" dirty="0"/>
          </a:p>
          <a:p>
            <a:pPr eaLnBrk="1" hangingPunct="1"/>
            <a:r>
              <a:rPr lang="en-US" b="0" dirty="0"/>
              <a:t>• </a:t>
            </a:r>
            <a:r>
              <a:rPr lang="en-US" b="1" dirty="0"/>
              <a:t>Owner</a:t>
            </a:r>
            <a:r>
              <a:rPr lang="en-US" b="0" dirty="0"/>
              <a:t>: This may be the creator of a resource, such as a file. For system resources, ownership may belong to a system administrator. For project resources, a project administrator or leader may be assigned ownership.</a:t>
            </a:r>
          </a:p>
          <a:p>
            <a:pPr eaLnBrk="1" hangingPunct="1"/>
            <a:endParaRPr lang="en-US" b="0" dirty="0"/>
          </a:p>
          <a:p>
            <a:pPr eaLnBrk="1" hangingPunct="1"/>
            <a:r>
              <a:rPr lang="en-US" b="0" dirty="0"/>
              <a:t>• </a:t>
            </a:r>
            <a:r>
              <a:rPr lang="en-US" b="1" dirty="0"/>
              <a:t>Group:</a:t>
            </a:r>
            <a:r>
              <a:rPr lang="en-US" b="0" dirty="0"/>
              <a:t> In addition to the privileges assigned to an owner, a named group of users may also be granted access rights, such that membership in the group is sufficient to exercise these access rights. In most schemes, a user may belong to multiple groups.</a:t>
            </a:r>
          </a:p>
          <a:p>
            <a:pPr eaLnBrk="1" hangingPunct="1"/>
            <a:endParaRPr lang="en-US" b="0" dirty="0"/>
          </a:p>
          <a:p>
            <a:pPr eaLnBrk="1" hangingPunct="1"/>
            <a:r>
              <a:rPr lang="en-US" b="0" dirty="0"/>
              <a:t>• </a:t>
            </a:r>
            <a:r>
              <a:rPr lang="en-US" b="1" dirty="0"/>
              <a:t>World:</a:t>
            </a:r>
            <a:r>
              <a:rPr lang="en-US" b="0" dirty="0"/>
              <a:t> The least amount of access is granted to users who are able to access the system but are not included in the categories owner and group for this resource.</a:t>
            </a:r>
          </a:p>
          <a:p>
            <a:pPr eaLnBrk="1" hangingPunct="1"/>
            <a:endParaRPr lang="en-US" b="0" dirty="0"/>
          </a:p>
          <a:p>
            <a:pPr eaLnBrk="1" hangingPunct="1"/>
            <a:r>
              <a:rPr lang="en-US" b="0" dirty="0"/>
              <a:t>An </a:t>
            </a:r>
            <a:r>
              <a:rPr lang="en-US" b="1" dirty="0"/>
              <a:t>object </a:t>
            </a:r>
            <a:r>
              <a:rPr lang="en-US" b="0" dirty="0"/>
              <a:t>is a resource to which access is controlled. In general, an object is an entity used to contain and/or receive information. Examples include records, blocks, pages, segments, files, portions of files, directories, directory trees, mailboxes, messages, and programs. Some access control systems also encompass, bits, bytes, words, processors, communication ports, clocks, and network nodes.</a:t>
            </a:r>
          </a:p>
          <a:p>
            <a:pPr eaLnBrk="1" hangingPunct="1"/>
            <a:endParaRPr lang="en-US" b="0" dirty="0"/>
          </a:p>
          <a:p>
            <a:pPr eaLnBrk="1" hangingPunct="1"/>
            <a:r>
              <a:rPr lang="en-US" b="0" dirty="0"/>
              <a:t>The number and types of objects to be protected by an access control system depends on the environment in which access control operates and the desired tradeoff between security on the one hand and complexity, processing burden, and ease of use on the other hand.</a:t>
            </a:r>
          </a:p>
          <a:p>
            <a:pPr eaLnBrk="1" hangingPunct="1"/>
            <a:endParaRPr lang="en-US" b="0" dirty="0"/>
          </a:p>
          <a:p>
            <a:pPr eaLnBrk="1" hangingPunct="1"/>
            <a:r>
              <a:rPr lang="en-US" b="0" dirty="0"/>
              <a:t>An </a:t>
            </a:r>
            <a:r>
              <a:rPr lang="en-US" b="1" dirty="0"/>
              <a:t>access right </a:t>
            </a:r>
            <a:r>
              <a:rPr lang="en-US" b="0" dirty="0"/>
              <a:t>describes the way in which a subject may access an object. Access rights could include the following:</a:t>
            </a:r>
          </a:p>
          <a:p>
            <a:pPr eaLnBrk="1" hangingPunct="1"/>
            <a:endParaRPr lang="en-US" b="0" dirty="0"/>
          </a:p>
          <a:p>
            <a:pPr eaLnBrk="1" hangingPunct="1"/>
            <a:r>
              <a:rPr lang="en-US" b="0" dirty="0"/>
              <a:t>• </a:t>
            </a:r>
            <a:r>
              <a:rPr lang="en-US" b="1" dirty="0"/>
              <a:t>Read:</a:t>
            </a:r>
            <a:r>
              <a:rPr lang="en-US" b="0" dirty="0"/>
              <a:t> User may view information in a system resource (e.g., a file, selected records in a file, selected fields within a record, or some combination). Read access includes the ability to copy or print.</a:t>
            </a:r>
          </a:p>
          <a:p>
            <a:pPr eaLnBrk="1" hangingPunct="1"/>
            <a:endParaRPr lang="en-US" b="0" dirty="0"/>
          </a:p>
          <a:p>
            <a:pPr eaLnBrk="1" hangingPunct="1"/>
            <a:r>
              <a:rPr lang="en-US" b="0" dirty="0"/>
              <a:t>• </a:t>
            </a:r>
            <a:r>
              <a:rPr lang="en-US" b="1" dirty="0"/>
              <a:t>Write</a:t>
            </a:r>
            <a:r>
              <a:rPr lang="en-US" b="0" dirty="0"/>
              <a:t>: User may add, modify, or delete data in system resource (e.g., files, records, programs). Write access includes read access.</a:t>
            </a:r>
          </a:p>
          <a:p>
            <a:pPr eaLnBrk="1" hangingPunct="1"/>
            <a:endParaRPr lang="en-US" b="0" dirty="0"/>
          </a:p>
          <a:p>
            <a:pPr eaLnBrk="1" hangingPunct="1"/>
            <a:r>
              <a:rPr lang="en-US" b="0" dirty="0"/>
              <a:t>• </a:t>
            </a:r>
            <a:r>
              <a:rPr lang="en-US" b="1" dirty="0"/>
              <a:t>Execute</a:t>
            </a:r>
            <a:r>
              <a:rPr lang="en-US" b="0" dirty="0"/>
              <a:t>: User may execute specified programs.</a:t>
            </a:r>
          </a:p>
          <a:p>
            <a:pPr eaLnBrk="1" hangingPunct="1"/>
            <a:endParaRPr lang="en-US" b="0" dirty="0"/>
          </a:p>
          <a:p>
            <a:pPr eaLnBrk="1" hangingPunct="1"/>
            <a:r>
              <a:rPr lang="en-US" b="0" dirty="0"/>
              <a:t>• </a:t>
            </a:r>
            <a:r>
              <a:rPr lang="en-US" b="1" dirty="0"/>
              <a:t>Delete:</a:t>
            </a:r>
            <a:r>
              <a:rPr lang="en-US" b="0" dirty="0"/>
              <a:t> User may delete certain system resources, such as files or records.</a:t>
            </a:r>
          </a:p>
          <a:p>
            <a:pPr eaLnBrk="1" hangingPunct="1"/>
            <a:endParaRPr lang="en-US" b="0" dirty="0"/>
          </a:p>
          <a:p>
            <a:pPr eaLnBrk="1" hangingPunct="1"/>
            <a:r>
              <a:rPr lang="en-US" b="0" dirty="0"/>
              <a:t>• </a:t>
            </a:r>
            <a:r>
              <a:rPr lang="en-US" b="1" dirty="0"/>
              <a:t>Create:</a:t>
            </a:r>
            <a:r>
              <a:rPr lang="en-US" b="0" dirty="0"/>
              <a:t> User may create new files, records, or fields.</a:t>
            </a:r>
          </a:p>
          <a:p>
            <a:pPr eaLnBrk="1" hangingPunct="1"/>
            <a:endParaRPr lang="en-US" b="0" dirty="0"/>
          </a:p>
          <a:p>
            <a:pPr eaLnBrk="1" hangingPunct="1"/>
            <a:r>
              <a:rPr lang="en-US" b="0" dirty="0"/>
              <a:t>• </a:t>
            </a:r>
            <a:r>
              <a:rPr lang="en-US" b="1" dirty="0"/>
              <a:t>Search:</a:t>
            </a:r>
            <a:r>
              <a:rPr lang="en-US" b="0" dirty="0"/>
              <a:t> User may list the files in a directory or otherwise search the directory.</a:t>
            </a:r>
            <a:endParaRPr lang="en-US" b="0" dirty="0">
              <a:latin typeface="Times New Roman" pitchFamily="-110" charset="0"/>
            </a:endParaRPr>
          </a:p>
          <a:p>
            <a:endParaRPr lang="en-IN" dirty="0"/>
          </a:p>
        </p:txBody>
      </p:sp>
      <p:sp>
        <p:nvSpPr>
          <p:cNvPr id="4" name="Slide Number Placeholder 3">
            <a:extLst>
              <a:ext uri="{FF2B5EF4-FFF2-40B4-BE49-F238E27FC236}">
                <a16:creationId xmlns:a16="http://schemas.microsoft.com/office/drawing/2014/main" id="{67EADCF2-0459-CCB8-D8D8-0638CEADCCA7}"/>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060896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D9B96-B8F8-6853-C8C0-A817D06152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84EF9F-9A35-4516-D903-4CFF183E73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512EE5-A2DE-C8E7-3278-F29694D73CB9}"/>
              </a:ext>
            </a:extLst>
          </p:cNvPr>
          <p:cNvSpPr>
            <a:spLocks noGrp="1"/>
          </p:cNvSpPr>
          <p:nvPr>
            <p:ph type="body" idx="1"/>
          </p:nvPr>
        </p:nvSpPr>
        <p:spPr/>
        <p:txBody>
          <a:bodyPr/>
          <a:lstStyle/>
          <a:p>
            <a:pPr eaLnBrk="1" hangingPunct="1"/>
            <a:r>
              <a:rPr lang="en-US" b="0" dirty="0"/>
              <a:t>An access control policy, which can be embodied in an authorization database, dictates what types of access are permitted, under what circumstances, and by whom. Access control policies are generally grouped into the following categories:</a:t>
            </a:r>
          </a:p>
          <a:p>
            <a:pPr eaLnBrk="1" hangingPunct="1"/>
            <a:endParaRPr lang="en-US" b="0" dirty="0"/>
          </a:p>
          <a:p>
            <a:pPr eaLnBrk="1" hangingPunct="1"/>
            <a:r>
              <a:rPr lang="en-US" b="0" dirty="0"/>
              <a:t>• </a:t>
            </a:r>
            <a:r>
              <a:rPr lang="en-US" b="1" dirty="0"/>
              <a:t>Discretionary access control </a:t>
            </a:r>
            <a:r>
              <a:rPr lang="en-US" b="0" dirty="0"/>
              <a:t>(DAC): Controls access based on the identity of the requestor and on access rules (authorizations) stating what requestors are (or are not) allowed to do. This policy is termed </a:t>
            </a:r>
            <a:r>
              <a:rPr lang="en-US" b="0" i="1" dirty="0"/>
              <a:t>discretionary because an </a:t>
            </a:r>
            <a:r>
              <a:rPr lang="en-US" b="0" dirty="0"/>
              <a:t>entity might have access rights that permit the entity, by its own volition, to enable another entity to access some resource.</a:t>
            </a:r>
          </a:p>
          <a:p>
            <a:pPr eaLnBrk="1" hangingPunct="1"/>
            <a:endParaRPr lang="en-US" b="0" dirty="0"/>
          </a:p>
          <a:p>
            <a:pPr eaLnBrk="1" hangingPunct="1"/>
            <a:r>
              <a:rPr lang="en-US" b="0" dirty="0"/>
              <a:t>• </a:t>
            </a:r>
            <a:r>
              <a:rPr lang="en-US" b="1" dirty="0"/>
              <a:t>Mandatory access control </a:t>
            </a:r>
            <a:r>
              <a:rPr lang="en-US" b="0" dirty="0"/>
              <a:t>(MAC): Controls access based on comparing security labels (which indicate how sensitive or critical system resources are) with security clearances (which indicate system entities are eligible to access certain resources). This policy is termed </a:t>
            </a:r>
            <a:r>
              <a:rPr lang="en-US" b="0" i="1" dirty="0"/>
              <a:t>mandatory because an entity that has </a:t>
            </a:r>
            <a:r>
              <a:rPr lang="en-US" b="0" dirty="0"/>
              <a:t>clearance to access a resource may not, just by its own volition, enable another entity to access that resource.</a:t>
            </a:r>
          </a:p>
          <a:p>
            <a:pPr eaLnBrk="1" hangingPunct="1"/>
            <a:endParaRPr lang="en-US" b="0" dirty="0"/>
          </a:p>
          <a:p>
            <a:pPr eaLnBrk="1" hangingPunct="1"/>
            <a:r>
              <a:rPr lang="en-US" b="0" dirty="0"/>
              <a:t>• </a:t>
            </a:r>
            <a:r>
              <a:rPr lang="en-US" b="1" dirty="0"/>
              <a:t>Role-based access control (</a:t>
            </a:r>
            <a:r>
              <a:rPr lang="en-US" b="0" dirty="0"/>
              <a:t>RBAC): Controls access based on the roles that users have within the system and on rules stating what accesses are allowed to users in given roles.</a:t>
            </a:r>
          </a:p>
          <a:p>
            <a:pPr eaLnBrk="1" hangingPunct="1"/>
            <a:endParaRPr lang="en-US" b="0" dirty="0"/>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t>
            </a:r>
            <a:r>
              <a:rPr lang="en-US" sz="1200" b="1" i="0" u="none" strike="noStrike" kern="1200" baseline="0" dirty="0">
                <a:solidFill>
                  <a:schemeClr val="tx1"/>
                </a:solidFill>
                <a:latin typeface="Arial" pitchFamily="-110" charset="0"/>
                <a:ea typeface="ＭＳ Ｐゴシック" pitchFamily="-110" charset="-128"/>
                <a:cs typeface="ＭＳ Ｐゴシック" pitchFamily="-110" charset="-128"/>
              </a:rPr>
              <a:t>Attribute-based access control </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(ABAC): Controls access based on attributes of the user, the resource to be accessed, and current environmental conditions.</a:t>
            </a: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DAC is the traditional method of implementing access control, and is examined in Sections 4.3 and 4.4. MAC is a concept that evolved out of requirements for military information security and is best covered in the context of trusted systems, which we deal with in Chapter 27. Both RBAC and ABAC have become increasingly popular, and are examined in Sections 4.5 and 4.6, respectively.</a:t>
            </a: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These four policies are not mutually exclusive. An access control mechanism can employ two or even all three of these policies to cover different classes of system resources.</a:t>
            </a:r>
            <a:endParaRPr lang="en-US" b="0" dirty="0">
              <a:latin typeface="Times New Roman" pitchFamily="-110" charset="0"/>
            </a:endParaRPr>
          </a:p>
          <a:p>
            <a:endParaRPr lang="en-IN" dirty="0"/>
          </a:p>
        </p:txBody>
      </p:sp>
      <p:sp>
        <p:nvSpPr>
          <p:cNvPr id="4" name="Slide Number Placeholder 3">
            <a:extLst>
              <a:ext uri="{FF2B5EF4-FFF2-40B4-BE49-F238E27FC236}">
                <a16:creationId xmlns:a16="http://schemas.microsoft.com/office/drawing/2014/main" id="{DCF91F26-27DA-2CA3-B420-912B4B801F4E}"/>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012237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ECF94-63B5-5FA5-74C6-2CF286F6F9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53971-A257-84B9-1A4C-03E073F1A4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8A3617-A54D-63A7-A799-F639FF50BC36}"/>
              </a:ext>
            </a:extLst>
          </p:cNvPr>
          <p:cNvSpPr>
            <a:spLocks noGrp="1"/>
          </p:cNvSpPr>
          <p:nvPr>
            <p:ph type="body" idx="1"/>
          </p:nvPr>
        </p:nvSpPr>
        <p:spPr/>
        <p:txBody>
          <a:bodyPr/>
          <a:lstStyle/>
          <a:p>
            <a:pPr eaLnBrk="1" hangingPunct="1"/>
            <a:r>
              <a:rPr lang="en-US" dirty="0"/>
              <a:t>Figure 4.2a, based on a figure in [SAND94], is a simple example of an access matrix. Thus, user A owns files 1 and 3 and has read and write access rights to those files. User B has read access rights to file 1, and so on.</a:t>
            </a:r>
          </a:p>
          <a:p>
            <a:pPr eaLnBrk="1" hangingPunct="1"/>
            <a:endParaRPr lang="en-US" dirty="0"/>
          </a:p>
          <a:p>
            <a:pPr eaLnBrk="1" hangingPunct="1"/>
            <a:r>
              <a:rPr lang="en-US" dirty="0"/>
              <a:t>
The columns have the following headings from left to right. Subjects, Objects, file 1, Objects File 2, Objects, file 3, Objects, file 4, . The row entries are as follows. Row 1. User A, own read write, Blank, Own, read, write, Blank. Row 2. User B, Read, Own, read, write, Write, Read. Row 3. </a:t>
            </a:r>
            <a:r>
              <a:rPr lang="en-US"/>
              <a:t>User C, Read write, Read, Blank, Own read  write.</a:t>
            </a:r>
            <a:endParaRPr lang="en-IN" dirty="0"/>
          </a:p>
        </p:txBody>
      </p:sp>
      <p:sp>
        <p:nvSpPr>
          <p:cNvPr id="4" name="Slide Number Placeholder 3">
            <a:extLst>
              <a:ext uri="{FF2B5EF4-FFF2-40B4-BE49-F238E27FC236}">
                <a16:creationId xmlns:a16="http://schemas.microsoft.com/office/drawing/2014/main" id="{C36D8BF7-C5AE-3D14-5844-3F617A44AB7B}"/>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458356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F9F3C-5333-790B-CED3-D0F94B4E7F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C1D921-F536-CEAF-902F-85AC43E079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074693-69AB-84F2-94EC-C02887AA1F7C}"/>
              </a:ext>
            </a:extLst>
          </p:cNvPr>
          <p:cNvSpPr>
            <a:spLocks noGrp="1"/>
          </p:cNvSpPr>
          <p:nvPr>
            <p:ph type="body" idx="1"/>
          </p:nvPr>
        </p:nvSpPr>
        <p:spPr/>
        <p:txBody>
          <a:bodyPr/>
          <a:lstStyle/>
          <a:p>
            <a:pPr eaLnBrk="1" hangingPunct="1"/>
            <a:r>
              <a:rPr lang="en-US" dirty="0"/>
              <a:t>Figure 4.2a, based on a figure in [SAND94], is a simple example of an access matrix. Thus, user A owns files 1 and 3 and has read and write access rights to those files. User B has read access rights to file 1, and so on.</a:t>
            </a:r>
          </a:p>
          <a:p>
            <a:pPr eaLnBrk="1" hangingPunct="1"/>
            <a:endParaRPr lang="en-US" dirty="0"/>
          </a:p>
          <a:p>
            <a:pPr eaLnBrk="1" hangingPunct="1"/>
            <a:r>
              <a:rPr lang="en-US" dirty="0"/>
              <a:t>
The columns have the following headings from left to right. Subjects, Objects, file 1, Objects File 2, Objects, file 3, Objects, file 4, . The row entries are as follows. Row 1. User A, own read write, Blank, Own, read, write, Blank. Row 2. User B, Read, Own, read, write, Write, Read. Row 3. </a:t>
            </a:r>
            <a:r>
              <a:rPr lang="en-US"/>
              <a:t>User C, Read write, Read, Blank, Own read  write.</a:t>
            </a:r>
            <a:endParaRPr lang="en-IN" dirty="0"/>
          </a:p>
        </p:txBody>
      </p:sp>
      <p:sp>
        <p:nvSpPr>
          <p:cNvPr id="4" name="Slide Number Placeholder 3">
            <a:extLst>
              <a:ext uri="{FF2B5EF4-FFF2-40B4-BE49-F238E27FC236}">
                <a16:creationId xmlns:a16="http://schemas.microsoft.com/office/drawing/2014/main" id="{6DE89225-F83D-7220-AB65-DE0F0112C671}"/>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066565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0ABF4-3CF5-17B1-2278-7E24985279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7704A8-D333-53C0-AB7B-15BFFD2593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9C8A5C-5D96-AC37-1660-4EB14879AA20}"/>
              </a:ext>
            </a:extLst>
          </p:cNvPr>
          <p:cNvSpPr>
            <a:spLocks noGrp="1"/>
          </p:cNvSpPr>
          <p:nvPr>
            <p:ph type="body" idx="1"/>
          </p:nvPr>
        </p:nvSpPr>
        <p:spPr/>
        <p:txBody>
          <a:bodyPr/>
          <a:lstStyle/>
          <a:p>
            <a:pPr eaLnBrk="1" hangingPunct="1"/>
            <a:r>
              <a:rPr lang="en-US" dirty="0"/>
              <a:t>Figure 4.2a, based on a figure in [SAND94], is a simple example of an access matrix. Thus, user A owns files 1 and 3 and has read and write access rights to those files. User B has read access rights to file 1, and so on.</a:t>
            </a:r>
          </a:p>
          <a:p>
            <a:pPr eaLnBrk="1" hangingPunct="1"/>
            <a:endParaRPr lang="en-US" dirty="0"/>
          </a:p>
          <a:p>
            <a:pPr eaLnBrk="1" hangingPunct="1"/>
            <a:r>
              <a:rPr lang="en-US" dirty="0"/>
              <a:t>
The columns have the following headings from left to right. Subjects, Objects, file 1, Objects File 2, Objects, file 3, Objects, file 4, . The row entries are as follows. Row 1. User A, own read write, Blank, Own, read, write, Blank. Row 2. User B, Read, Own, read, write, Write, Read. Row 3. </a:t>
            </a:r>
            <a:r>
              <a:rPr lang="en-US"/>
              <a:t>User C, Read write, Read, Blank, Own read  write.</a:t>
            </a:r>
            <a:endParaRPr lang="en-IN" dirty="0"/>
          </a:p>
        </p:txBody>
      </p:sp>
      <p:sp>
        <p:nvSpPr>
          <p:cNvPr id="4" name="Slide Number Placeholder 3">
            <a:extLst>
              <a:ext uri="{FF2B5EF4-FFF2-40B4-BE49-F238E27FC236}">
                <a16:creationId xmlns:a16="http://schemas.microsoft.com/office/drawing/2014/main" id="{A8223BBD-C6FA-BC6E-AD21-8B19D2115F4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969585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32AAC-13AF-58EF-1755-C7A0D4068F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47DD4C-CAF2-92E9-77F1-00755E106C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A17C39-4CED-B04A-22B0-6059E5FEA372}"/>
              </a:ext>
            </a:extLst>
          </p:cNvPr>
          <p:cNvSpPr>
            <a:spLocks noGrp="1"/>
          </p:cNvSpPr>
          <p:nvPr>
            <p:ph type="body" idx="1"/>
          </p:nvPr>
        </p:nvSpPr>
        <p:spPr/>
        <p:txBody>
          <a:bodyPr/>
          <a:lstStyle/>
          <a:p>
            <a:pPr eaLnBrk="1" hangingPunct="1"/>
            <a:r>
              <a:rPr lang="en-US" dirty="0"/>
              <a:t>Figure 4.2a, based on a figure in [SAND94], is a simple example of an access matrix. Thus, user A owns files 1 and 3 and has read and write access rights to those files. User B has read access rights to file 1, and so on.</a:t>
            </a:r>
          </a:p>
          <a:p>
            <a:pPr eaLnBrk="1" hangingPunct="1"/>
            <a:endParaRPr lang="en-US" dirty="0"/>
          </a:p>
          <a:p>
            <a:pPr eaLnBrk="1" hangingPunct="1"/>
            <a:r>
              <a:rPr lang="en-US" dirty="0"/>
              <a:t>
The columns have the following headings from left to right. Subjects, Objects, file 1, Objects File 2, Objects, file 3, Objects, file 4, . The row entries are as follows. Row 1. User A, own read write, Blank, Own, read, write, Blank. Row 2. User B, Read, Own, read, write, Write, Read. Row 3. </a:t>
            </a:r>
            <a:r>
              <a:rPr lang="en-US"/>
              <a:t>User C, Read write, Read, Blank, Own read  write.</a:t>
            </a:r>
            <a:endParaRPr lang="en-IN" dirty="0"/>
          </a:p>
        </p:txBody>
      </p:sp>
      <p:sp>
        <p:nvSpPr>
          <p:cNvPr id="4" name="Slide Number Placeholder 3">
            <a:extLst>
              <a:ext uri="{FF2B5EF4-FFF2-40B4-BE49-F238E27FC236}">
                <a16:creationId xmlns:a16="http://schemas.microsoft.com/office/drawing/2014/main" id="{EE620185-9547-B3F2-41EB-797B5C7776BB}"/>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798782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437D5-D629-F590-A70C-7A8BE48E6C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1265A7-0679-FBA2-7AD4-4A2A0ED809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D53DC3-0518-C3F2-1EAF-A20DA373C883}"/>
              </a:ext>
            </a:extLst>
          </p:cNvPr>
          <p:cNvSpPr>
            <a:spLocks noGrp="1"/>
          </p:cNvSpPr>
          <p:nvPr>
            <p:ph type="body" idx="1"/>
          </p:nvPr>
        </p:nvSpPr>
        <p:spPr/>
        <p:txBody>
          <a:bodyPr/>
          <a:lstStyle/>
          <a:p>
            <a:pPr eaLnBrk="1" hangingPunct="1"/>
            <a:r>
              <a:rPr lang="en-US" dirty="0"/>
              <a:t>Figure 4.2a, based on a figure in [SAND94], is a simple example of an access matrix. Thus, user A owns files 1 and 3 and has read and write access rights to those files. User B has read access rights to file 1, and so on.</a:t>
            </a:r>
          </a:p>
          <a:p>
            <a:pPr eaLnBrk="1" hangingPunct="1"/>
            <a:endParaRPr lang="en-US" dirty="0"/>
          </a:p>
          <a:p>
            <a:pPr eaLnBrk="1" hangingPunct="1"/>
            <a:r>
              <a:rPr lang="en-US" dirty="0"/>
              <a:t>
The columns have the following headings from left to right. Subjects, Objects, file 1, Objects File 2, Objects, file 3, Objects, file 4, . The row entries are as follows. Row 1. User A, own read write, Blank, Own, read, write, Blank. Row 2. User B, Read, Own, read, write, Write, Read. Row 3. </a:t>
            </a:r>
            <a:r>
              <a:rPr lang="en-US"/>
              <a:t>User C, Read write, Read, Blank, Own read  write.</a:t>
            </a:r>
            <a:endParaRPr lang="en-IN" dirty="0"/>
          </a:p>
        </p:txBody>
      </p:sp>
      <p:sp>
        <p:nvSpPr>
          <p:cNvPr id="4" name="Slide Number Placeholder 3">
            <a:extLst>
              <a:ext uri="{FF2B5EF4-FFF2-40B4-BE49-F238E27FC236}">
                <a16:creationId xmlns:a16="http://schemas.microsoft.com/office/drawing/2014/main" id="{3A02BB37-3B3E-8D73-1DAE-B02D29347E8E}"/>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119702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5B571-F919-33AE-4A20-03B1011C10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892CB5-4B6A-63C8-C0E1-2A3ABDFD44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F0AA67-F3BF-3D20-9B0C-80B605320906}"/>
              </a:ext>
            </a:extLst>
          </p:cNvPr>
          <p:cNvSpPr>
            <a:spLocks noGrp="1"/>
          </p:cNvSpPr>
          <p:nvPr>
            <p:ph type="body" idx="1"/>
          </p:nvPr>
        </p:nvSpPr>
        <p:spPr/>
        <p:txBody>
          <a:bodyPr/>
          <a:lstStyle/>
          <a:p>
            <a:pPr eaLnBrk="1" hangingPunct="1"/>
            <a:r>
              <a:rPr lang="en-US" dirty="0"/>
              <a:t>Figure 4.2a, based on a figure in [SAND94], is a simple example of an access matrix. Thus, user A owns files 1 and 3 and has read and write access rights to those files. User B has read access rights to file 1, and so on.</a:t>
            </a:r>
          </a:p>
          <a:p>
            <a:pPr eaLnBrk="1" hangingPunct="1"/>
            <a:endParaRPr lang="en-US" dirty="0"/>
          </a:p>
          <a:p>
            <a:pPr eaLnBrk="1" hangingPunct="1"/>
            <a:r>
              <a:rPr lang="en-US" dirty="0"/>
              <a:t>
The columns have the following headings from left to right. Subjects, Objects, file 1, Objects File 2, Objects, file 3, Objects, file 4, . The row entries are as follows. Row 1. User A, own read write, Blank, Own, read, write, Blank. Row 2. User B, Read, Own, read, write, Write, Read. Row 3. </a:t>
            </a:r>
            <a:r>
              <a:rPr lang="en-US"/>
              <a:t>User C, Read write, Read, Blank, Own read  write.</a:t>
            </a:r>
            <a:endParaRPr lang="en-IN" dirty="0"/>
          </a:p>
        </p:txBody>
      </p:sp>
      <p:sp>
        <p:nvSpPr>
          <p:cNvPr id="4" name="Slide Number Placeholder 3">
            <a:extLst>
              <a:ext uri="{FF2B5EF4-FFF2-40B4-BE49-F238E27FC236}">
                <a16:creationId xmlns:a16="http://schemas.microsoft.com/office/drawing/2014/main" id="{C15BE4B5-1936-E41F-EDD6-76F848DD5899}"/>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647730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In practice, an access matrix is usually sparse and is implemented by decomposition in one of two ways. The matrix may be decomposed by columns, yielding access control lists (ACLs); see Figure 4.2b. For each object, an ACL lists users and their permitted access rights. The ACL may contain a default, or public, entry. This allows users that are not explicitly listed as having special rights to have a default set of rights. The default set of rights should always follow the rule of least privilege or read-only access, whichever is applicable. Elements of the list may include individual users as well as groups of users.</a:t>
            </a:r>
          </a:p>
          <a:p>
            <a:endParaRPr lang="en-US" b="0" dirty="0"/>
          </a:p>
          <a:p>
            <a:r>
              <a:rPr lang="en-US" b="0" dirty="0"/>
              <a:t>When it is desired to determine which subjects have which access rights to a particular resource, ACLs are convenient, because each ACL provides the information for a given resource. However, this data structure is not convenient for determining the access rights available to a specific user.</a:t>
            </a:r>
          </a:p>
          <a:p>
            <a:endParaRPr lang="en-US" b="0" dirty="0"/>
          </a:p>
          <a:p>
            <a:r>
              <a:rPr lang="en-US" b="0" dirty="0"/>
              <a:t>Decomposition by rows yields </a:t>
            </a:r>
            <a:r>
              <a:rPr lang="en-US" b="1" dirty="0"/>
              <a:t>capability tickets  </a:t>
            </a:r>
            <a:r>
              <a:rPr lang="en-US" b="0" dirty="0"/>
              <a:t>(Figure 4.2c). A capability ticket specifies authorized objects and operations for a particular user. Each user has a number of tickets and may be authorized to loan or give them to others. Because tickets may be dispersed around the system, they present a greater security problem than access control lists. The integrity of the ticket must be protected, and guaranteed (usually by the operating system). In particular, the ticket must be unforgeable. One way to accomplish this is to have the operating system hold all tickets on behalf of users. These tickets would have to be held in a region of memory inaccessible to users. Another alternative is to include an unforgeable token in the capability. This could be a large random password, or a cryptographic message authentication code. This value is verified by the relevant resource whenever access is requested. This form of capability ticket is appropriate for use in a distributed environment, when the security of its contents cannot be guaranteed.</a:t>
            </a:r>
          </a:p>
          <a:p>
            <a:endParaRPr lang="en-US" b="0" dirty="0"/>
          </a:p>
          <a:p>
            <a:r>
              <a:rPr lang="en-US" b="0" dirty="0"/>
              <a:t> The convenient and inconvenient aspects of capability tickets are the opposite of those for ACLs. It is easy to determine the set of access rights that a given user has, but more difficult to determine the list of users with specific access rights for a specific resource.
The diagram is as follows. b. Access control lists for files of part a. Control lists for four files, from 1 to 4, are presented. The control lists have three parts. The control lists for file 1 has lists for user A, user B, and user C. The user A has own, read, and write, access rights. A node connects to user B list. The user B has read access right, and a node connects to user C list. The user C has read and write access rights, and the loop is closed. The file 2 has two user list. User list B has own, read, and write access rights, and a node connects the user B list connects to user C list. The iser C list has read access right, and the loop is closed. The file 3 has two user list. User list A has own, read, and write access rights, and a node connects the user A list connects to user B list. The user B list has write access right, and the loop is closed. The file 4 has two user list. User list B has read access right, and a node connects the user B list connects to user C list. The user C list has own, read, and write, access right, and the loop is closed. C. Capability lists for files of part a. The capability lists are presented for User A, user B, and user C. The user A has two capability lists. The list for file 1 has own, read, and write, access rights, and a node connects to list file 3. The list for file 3 has own, read, and write, access rights, and the loop is closed. The user B has four capability lists. The list for file 1 has read access right, and a node connects to list file 2. The file 2 has own, read, and write, access rights, and a node connects to file 3 list. The file 3 list has write access right, and a node connects to file list 4. The file 4 list has read access right, and the loop is closed. The user C has three capability lists. The file 1 list has read and write access right, and the process moves to file 2 list. The file 2 list has read access right, and the process moves to file list 4. The file list has own, read, and write, access right.</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82865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DAC systems define the access rights of individual users and groups of users. In contrast, RBAC is based on the roles that users assume in a system rather than the user’s identity. Typically, RBAC models define a role as a job function within an organization. RBAC systems assign access rights to roles instead of individual users. In turn, users are assigned to different roles, either statically or dynamically, according to their responsibilities.</a:t>
            </a:r>
          </a:p>
          <a:p>
            <a:endParaRPr lang="en-US" dirty="0"/>
          </a:p>
          <a:p>
            <a:r>
              <a:rPr lang="en-US" dirty="0"/>
              <a:t>RBAC now enjoys widespread commercial use and remains an area of active research. The National Institute of Standards and Technology (NIST) has issued a standard, FIPS PUB 140-3, (Security Requirements for Cryptographic Modules September 2009),  that requires support for access control and administration through roles.</a:t>
            </a:r>
          </a:p>
          <a:p>
            <a:endParaRPr lang="en-US" dirty="0"/>
          </a:p>
          <a:p>
            <a:r>
              <a:rPr lang="en-US" dirty="0"/>
              <a:t>The relationship of users to roles is many to many, as is the relationship of roles to resources, or system objects (Figure 4.6). The set of users changes, in some environments frequently, and the assignment of a user to one or more roles may also be dynamic. The set of roles in the system in most environments is relatively static, with only occasional additions or deletions. Each role will have specific access rights to one or more resources. The set of resources and the specific access rights associated with a particular role are also likely to change infrequently.</a:t>
            </a:r>
          </a:p>
          <a:p>
            <a:r>
              <a:rPr lang="en-US" dirty="0"/>
              <a:t>
The relationship of users to roles is many to many, as is the relationship of roles to resources, or system objects. The set of users changes, in some environments frequently, and the assignment of a user to one or more roles may also be dynamic. Each role will have specific access rights to one or more resources. The set of resources and the specific access rights associated with a particular role are also likely to change infrequently.</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533512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76836-2C36-373E-B302-5C8332B6F3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15F289-FD80-9EBA-6296-4258BF8E06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64B99F-FEC8-59BA-F1F7-6FB430177B54}"/>
              </a:ext>
            </a:extLst>
          </p:cNvPr>
          <p:cNvSpPr>
            <a:spLocks noGrp="1"/>
          </p:cNvSpPr>
          <p:nvPr>
            <p:ph type="body" idx="1"/>
          </p:nvPr>
        </p:nvSpPr>
        <p:spPr/>
        <p:txBody>
          <a:bodyPr/>
          <a:lstStyle/>
          <a:p>
            <a:r>
              <a:rPr lang="en-US" dirty="0"/>
              <a:t>Traditional DAC systems define the access rights of individual users and groups of users. In contrast, RBAC is based on the roles that users assume in a system rather than the user’s identity. Typically, RBAC models define a role as a job function within an organization. RBAC systems assign access rights to roles instead of individual users. In turn, users are assigned to different roles, either statically or dynamically, according to their responsibilities.</a:t>
            </a:r>
          </a:p>
          <a:p>
            <a:endParaRPr lang="en-US" dirty="0"/>
          </a:p>
          <a:p>
            <a:r>
              <a:rPr lang="en-US" dirty="0"/>
              <a:t>RBAC now enjoys widespread commercial use and remains an area of active research. The National Institute of Standards and Technology (NIST) has issued a standard, FIPS PUB 140-3, (Security Requirements for Cryptographic Modules September 2009),  that requires support for access control and administration through roles.</a:t>
            </a:r>
          </a:p>
          <a:p>
            <a:endParaRPr lang="en-US" dirty="0"/>
          </a:p>
          <a:p>
            <a:r>
              <a:rPr lang="en-US" dirty="0"/>
              <a:t>The relationship of users to roles is many to many, as is the relationship of roles to resources, or system objects (Figure 4.6). The set of users changes, in some environments frequently, and the assignment of a user to one or more roles may also be dynamic. The set of roles in the system in most environments is relatively static, with only occasional additions or deletions. Each role will have specific access rights to one or more resources. The set of resources and the specific access rights associated with a particular role are also likely to change infrequently.</a:t>
            </a:r>
          </a:p>
          <a:p>
            <a:r>
              <a:rPr lang="en-US" dirty="0"/>
              <a:t>
The relationship of users to roles is many to many, as is the relationship of roles to resources, or system objects. The set of users changes, in some environments frequently, and the assignment of a user to one or more roles may also be dynamic. Each role will have specific access rights to one or more resources. The set of resources and the specific access rights associated with a particular role are also likely to change infrequently.</a:t>
            </a:r>
            <a:endParaRPr lang="en-IN" dirty="0"/>
          </a:p>
        </p:txBody>
      </p:sp>
      <p:sp>
        <p:nvSpPr>
          <p:cNvPr id="4" name="Slide Number Placeholder 3">
            <a:extLst>
              <a:ext uri="{FF2B5EF4-FFF2-40B4-BE49-F238E27FC236}">
                <a16:creationId xmlns:a16="http://schemas.microsoft.com/office/drawing/2014/main" id="{25E16E79-A975-E03F-E662-72FEFEA50289}"/>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126730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F1A2C-D692-1509-BDB4-DFB85DDA36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398164-CCBA-6A52-059D-1BD1C6B5B2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CAB7A5-2E8A-754F-8FA6-36A2F2124BC9}"/>
              </a:ext>
            </a:extLst>
          </p:cNvPr>
          <p:cNvSpPr>
            <a:spLocks noGrp="1"/>
          </p:cNvSpPr>
          <p:nvPr>
            <p:ph type="body" idx="1"/>
          </p:nvPr>
        </p:nvSpPr>
        <p:spPr/>
        <p:txBody>
          <a:bodyPr/>
          <a:lstStyle/>
          <a:p>
            <a:r>
              <a:rPr lang="en-US" dirty="0"/>
              <a:t>Traditional DAC systems define the access rights of individual users and groups of users. In contrast, RBAC is based on the roles that users assume in a system rather than the user’s identity. Typically, RBAC models define a role as a job function within an organization. RBAC systems assign access rights to roles instead of individual users. In turn, users are assigned to different roles, either statically or dynamically, according to their responsibilities.</a:t>
            </a:r>
          </a:p>
          <a:p>
            <a:endParaRPr lang="en-US" dirty="0"/>
          </a:p>
          <a:p>
            <a:r>
              <a:rPr lang="en-US" dirty="0"/>
              <a:t>RBAC now enjoys widespread commercial use and remains an area of active research. The National Institute of Standards and Technology (NIST) has issued a standard, FIPS PUB 140-3, (Security Requirements for Cryptographic Modules September 2009),  that requires support for access control and administration through roles.</a:t>
            </a:r>
          </a:p>
          <a:p>
            <a:endParaRPr lang="en-US" dirty="0"/>
          </a:p>
          <a:p>
            <a:r>
              <a:rPr lang="en-US" dirty="0"/>
              <a:t>The relationship of users to roles is many to many, as is the relationship of roles to resources, or system objects (Figure 4.6). The set of users changes, in some environments frequently, and the assignment of a user to one or more roles may also be dynamic. The set of roles in the system in most environments is relatively static, with only occasional additions or deletions. Each role will have specific access rights to one or more resources. The set of resources and the specific access rights associated with a particular role are also likely to change infrequently.</a:t>
            </a:r>
          </a:p>
          <a:p>
            <a:r>
              <a:rPr lang="en-US" dirty="0"/>
              <a:t>
The relationship of users to roles is many to many, as is the relationship of roles to resources, or system objects. The set of users changes, in some environments frequently, and the assignment of a user to one or more roles may also be dynamic. Each role will have specific access rights to one or more resources. The set of resources and the specific access rights associated with a particular role are also likely to change infrequently.</a:t>
            </a:r>
            <a:endParaRPr lang="en-IN" dirty="0"/>
          </a:p>
        </p:txBody>
      </p:sp>
      <p:sp>
        <p:nvSpPr>
          <p:cNvPr id="4" name="Slide Number Placeholder 3">
            <a:extLst>
              <a:ext uri="{FF2B5EF4-FFF2-40B4-BE49-F238E27FC236}">
                <a16:creationId xmlns:a16="http://schemas.microsoft.com/office/drawing/2014/main" id="{A1288FFB-CBE6-FFBD-EBD2-7F719AE965F6}"/>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067848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4B83C-475E-8EEA-A749-B8972AEE25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B3A04A-5A0A-ACC0-C2F6-6CD0ECAB6A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53C6F4-5BD9-544B-2A31-1E34ADED9283}"/>
              </a:ext>
            </a:extLst>
          </p:cNvPr>
          <p:cNvSpPr>
            <a:spLocks noGrp="1"/>
          </p:cNvSpPr>
          <p:nvPr>
            <p:ph type="body" idx="1"/>
          </p:nvPr>
        </p:nvSpPr>
        <p:spPr/>
        <p:txBody>
          <a:bodyPr/>
          <a:lstStyle/>
          <a:p>
            <a:r>
              <a:rPr lang="en-US" dirty="0"/>
              <a:t>Traditional DAC systems define the access rights of individual users and groups of users. In contrast, RBAC is based on the roles that users assume in a system rather than the user’s identity. Typically, RBAC models define a role as a job function within an organization. RBAC systems assign access rights to roles instead of individual users. In turn, users are assigned to different roles, either statically or dynamically, according to their responsibilities.</a:t>
            </a:r>
          </a:p>
          <a:p>
            <a:endParaRPr lang="en-US" dirty="0"/>
          </a:p>
          <a:p>
            <a:r>
              <a:rPr lang="en-US" dirty="0"/>
              <a:t>RBAC now enjoys widespread commercial use and remains an area of active research. The National Institute of Standards and Technology (NIST) has issued a standard, FIPS PUB 140-3, (Security Requirements for Cryptographic Modules September 2009),  that requires support for access control and administration through roles.</a:t>
            </a:r>
          </a:p>
          <a:p>
            <a:endParaRPr lang="en-US" dirty="0"/>
          </a:p>
          <a:p>
            <a:r>
              <a:rPr lang="en-US" dirty="0"/>
              <a:t>The relationship of users to roles is many to many, as is the relationship of roles to resources, or system objects (Figure 4.6). The set of users changes, in some environments frequently, and the assignment of a user to one or more roles may also be dynamic. The set of roles in the system in most environments is relatively static, with only occasional additions or deletions. Each role will have specific access rights to one or more resources. The set of resources and the specific access rights associated with a particular role are also likely to change infrequently.</a:t>
            </a:r>
          </a:p>
          <a:p>
            <a:r>
              <a:rPr lang="en-US" dirty="0"/>
              <a:t>
The relationship of users to roles is many to many, as is the relationship of roles to resources, or system objects. The set of users changes, in some environments frequently, and the assignment of a user to one or more roles may also be dynamic. Each role will have specific access rights to one or more resources. The set of resources and the specific access rights associated with a particular role are also likely to change infrequently.</a:t>
            </a:r>
            <a:endParaRPr lang="en-IN" dirty="0"/>
          </a:p>
        </p:txBody>
      </p:sp>
      <p:sp>
        <p:nvSpPr>
          <p:cNvPr id="4" name="Slide Number Placeholder 3">
            <a:extLst>
              <a:ext uri="{FF2B5EF4-FFF2-40B4-BE49-F238E27FC236}">
                <a16:creationId xmlns:a16="http://schemas.microsoft.com/office/drawing/2014/main" id="{EBDC21DA-A5EC-E809-CD96-48219927159B}"/>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410028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 relatively recent development in access control technology is the attribute-based access control (ABAC) model. An ABAC model can define authorizations that express conditions on properties of both the resource and the subject. For example, consider a configuration in which each resource has an attribute that identifies the subject that created the resource. Then, a single access rule can specify the ownership privilege for all the creators of every resource. The strength of the ABAC approach is its flexibility and expressive power. [PLAT13] points out that the main obstacle to its adoption in real systems has been concern about the performance  impact of evaluating predicates on both resource and user properties for each access. However, for applications such as cooperating Web services and cloud computing, this increased performance cost is less noticeable because there is already a relatively high performance cost for each access. Thus, Web services have been pioneering technologies for implementing ABAC models, especially through the introduction of the eXtensible Access Control Markup Language (XAMCL) [BEUC13], and there is considerable interest in applying the ABAC model to cloud services [IQBA12, YANG12].</a:t>
            </a: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There are three key elements to an ABAC model: attributes, which are defined for entities in a configuration; a policy model, which defines the ABAC policies; and the architecture model, which applies to policies that enforce access control. We examine these elements in turn.</a:t>
            </a:r>
            <a:endParaRPr lang="en-US" dirty="0"/>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04881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Attributes are characteristics that define specific aspects of the subject, object, environment conditions, and/or requested operations that are predefined and preassigned by an authority. Attributes contain information that indicates the class of information given by the attribute, a name, and a value (e.g., Class=HospitalRecordsAccess, Name=PatientInformationAccess, Value=MFBusinessHoursOnly).</a:t>
            </a: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The following are the three types of attributes in the ABAC model:</a:t>
            </a: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t>
            </a:r>
            <a:r>
              <a:rPr lang="en-US" sz="1200" b="1" i="0" u="none" strike="noStrike" kern="1200" baseline="0" dirty="0">
                <a:solidFill>
                  <a:schemeClr val="tx1"/>
                </a:solidFill>
                <a:latin typeface="Arial" pitchFamily="-110" charset="0"/>
                <a:ea typeface="ＭＳ Ｐゴシック" pitchFamily="-110" charset="-128"/>
                <a:cs typeface="ＭＳ Ｐゴシック" pitchFamily="-110" charset="-128"/>
              </a:rPr>
              <a:t>Subject attributes</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 subject is an active entity (e.g., a user, an application, a process, or a device) that causes information to flow among objects or changes the system state. Each subject has associated attributes that define the identity and characteristics of the subject. Such attributes may include the subject’s identifier, name, organization, job title, and so on. A subject’s role can also be viewed as an attribute.</a:t>
            </a: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t>
            </a:r>
            <a:r>
              <a:rPr lang="en-US" sz="1200" b="1" i="0" u="none" strike="noStrike" kern="1200" baseline="0" dirty="0">
                <a:solidFill>
                  <a:schemeClr val="tx1"/>
                </a:solidFill>
                <a:latin typeface="Arial" pitchFamily="-110" charset="0"/>
                <a:ea typeface="ＭＳ Ｐゴシック" pitchFamily="-110" charset="-128"/>
                <a:cs typeface="ＭＳ Ｐゴシック" pitchFamily="-110" charset="-128"/>
              </a:rPr>
              <a:t>Object attributes</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An object, also referred to as a resource , is a passive (in the context of the given request) information system-related entity (e.g., devices, files, records, tables, processes, programs, networks, domains) containing or receiving information. As with subjects, objects have attributes that can be leveraged to make access control decisions. A Microsoft Word document, for example, may have attributes such as title, subject, date, and author. Object attributes can often be extracted from the metadata of the object. In particular, a variety of Web service metadata attributes may be relevant for access control purposes, such as ownership, service taxonomy, or even Quality of Service (QoS) attributes.</a:t>
            </a: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t>
            </a:r>
            <a:r>
              <a:rPr lang="en-US" sz="1200" b="1" i="0" u="none" strike="noStrike" kern="1200" baseline="0" dirty="0">
                <a:solidFill>
                  <a:schemeClr val="tx1"/>
                </a:solidFill>
                <a:latin typeface="Arial" pitchFamily="-110" charset="0"/>
                <a:ea typeface="ＭＳ Ｐゴシック" pitchFamily="-110" charset="-128"/>
                <a:cs typeface="ＭＳ Ｐゴシック" pitchFamily="-110" charset="-128"/>
              </a:rPr>
              <a:t>Environment attributes</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These attributes have so far been largely ignored in most access control policies. They describe the operational, technical, and even situational environment or context in which the information access occurs. For example, attributes, such as current date and time, the current virus/hacker activities, and the network’s security level (e.g., Internet vs. intranet), are not associated with a particular subject nor a resource, but may nonetheless be relevant in applying an access control policy.</a:t>
            </a: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endParaRPr lang="en-US" dirty="0"/>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577040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Figure 4.10 illustrates in a logical architecture the essential components of an ABAC system. An access by a subject to an object proceeds according to the following steps:</a:t>
            </a: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1.  A subject requests access to an object. This request is routed to an access control mechanism.</a:t>
            </a: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2.  The access control mechanism is governed by a set of rules (2a) that are defined by a preconfigured access control policy. Based on these rules, the access control mechanism assesses the attributes of the subject (2b), object (2c), and current environmental conditions (2d) to determine authorization.</a:t>
            </a: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3. The access control mechanism grants the subject access to the object if access is authorized and denies access if it is not authorized.</a:t>
            </a: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It is clear from the logical architecture that there are four independent sources of information used for the access control decision. The system designer can decide which attributes are important for access control with respect to subjects, objects, and environmental conditions. The system designer or other authority can then define access control policies, in the form of rules, for any desired combination of attributes of subject, object, and environmental conditions. It should be evident that this approach is very powerful and flexible. However, the cost, both in terms of the complexity of the design and implementation and in terms of the performance impact, is likely to exceed that of other access control approaches. This is a tradeoff that the system authority must make.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The diagram is as follows. 1. The subject or user intiates command to the access control mechanism. 2 a. Access control mechanism acts as per predetermined access control policies. Data from the following is provided to the access control mechanism. 2 b. Subject attributes like name, clearance, affiliation, et cetra. 2 c. Object attributes, owner, type, classification, et cetera. 2 d. Environmental attributes, time, temperature, security, et cetera. 3. Permit or deny.</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206372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ABAC is a logical access control model that is distinguishable because it controls access to objects by evaluating rules against the attributes of entities (subject and object), operations, and the environment relevant to a request. ABAC relies upon the evaluation of attributes of the subject, attributes of the object, and a formal relationship or access control rule defining the allowable operations for subject-object attribute combinations in a given environment. All ABAC solutions contain these basic core capabilities to evaluate attributes and enforce rules or relationships between those attributes. ABAC systems are capable of enforcing DAC, RBAC, and MAC concepts. ABAC enables fine-grained access control, which allows for a higher number of discrete inputs into an access control decision, providing a bigger set of possible combinations of those variables to reflect a larger and more definitive set of possible rules, policies, or restrictions on access. Thus, ABAC allows an unlimited number of attributes to be combined to satisfy any access control rule. Moreover, ABAC systems can be implemented to satisfy a wide array of requirements from basic access control lists through advanced expressive policy models that fully leverage the flexibility of ABAC.</a:t>
            </a:r>
            <a:endParaRPr lang="en-US" dirty="0"/>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555940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 </a:t>
            </a:r>
            <a:r>
              <a:rPr lang="en-US" sz="1200" b="1" i="0" u="none" strike="noStrike" kern="1200" baseline="0" dirty="0">
                <a:solidFill>
                  <a:schemeClr val="tx1"/>
                </a:solidFill>
                <a:latin typeface="Arial" pitchFamily="-110" charset="0"/>
                <a:ea typeface="ＭＳ Ｐゴシック" pitchFamily="-110" charset="-128"/>
                <a:cs typeface="ＭＳ Ｐゴシック" pitchFamily="-110" charset="-128"/>
              </a:rPr>
              <a:t>policy</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is a set of rules and relationships that govern allowable behavior within an organization, based on the privileges of subjects and how resources or objects are to be protected under which environment conditions. In turn, </a:t>
            </a:r>
            <a:r>
              <a:rPr lang="en-US" sz="1200" b="1" i="0" u="none" strike="noStrike" kern="1200" baseline="0" dirty="0">
                <a:solidFill>
                  <a:schemeClr val="tx1"/>
                </a:solidFill>
                <a:latin typeface="Arial" pitchFamily="-110" charset="0"/>
                <a:ea typeface="ＭＳ Ｐゴシック" pitchFamily="-110" charset="-128"/>
                <a:cs typeface="ＭＳ Ｐゴシック" pitchFamily="-110" charset="-128"/>
              </a:rPr>
              <a:t>privileges</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represent the authorized behavior of a subject; they are defined by an authority and embodied in a policy. Other terms that are commonly used instead of privileges are </a:t>
            </a:r>
            <a:r>
              <a:rPr lang="en-US" sz="1200" b="1" i="0" u="none" strike="noStrike" kern="1200" baseline="0" dirty="0">
                <a:solidFill>
                  <a:schemeClr val="tx1"/>
                </a:solidFill>
                <a:latin typeface="Arial" pitchFamily="-110" charset="0"/>
                <a:ea typeface="ＭＳ Ｐゴシック" pitchFamily="-110" charset="-128"/>
                <a:cs typeface="ＭＳ Ｐゴシック" pitchFamily="-110" charset="-128"/>
              </a:rPr>
              <a:t>rights, authorizations</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and </a:t>
            </a:r>
            <a:r>
              <a:rPr lang="en-US" sz="1200" b="1" i="0" u="none" strike="noStrike" kern="1200" baseline="0" dirty="0">
                <a:solidFill>
                  <a:schemeClr val="tx1"/>
                </a:solidFill>
                <a:latin typeface="Arial" pitchFamily="-110" charset="0"/>
                <a:ea typeface="ＭＳ Ｐゴシック" pitchFamily="-110" charset="-128"/>
                <a:cs typeface="ＭＳ Ｐゴシック" pitchFamily="-110" charset="-128"/>
              </a:rPr>
              <a:t>entitlements</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 Policy is typically written from the perspective of the object that needs protecting and the privileges available to subjects.</a:t>
            </a:r>
            <a:endParaRPr lang="en-US" dirty="0"/>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544699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2416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9512" y="16778"/>
            <a:ext cx="8964488" cy="1069514"/>
          </a:xfrm>
          <a:prstGeom prst="rect">
            <a:avLst/>
          </a:prstGeom>
        </p:spPr>
        <p:txBody>
          <a:bodyPr anchor="ctr"/>
          <a:lstStyle>
            <a:lvl1pPr latinLnBrk="0">
              <a:defRPr b="1" baseline="0">
                <a:solidFill>
                  <a:schemeClr val="bg1"/>
                </a:solidFill>
                <a:latin typeface="Arial" pitchFamily="34" charset="0"/>
                <a:cs typeface="Arial" pitchFamily="34" charset="0"/>
              </a:defRPr>
            </a:lvl1pPr>
          </a:lstStyle>
          <a:p>
            <a:r>
              <a:rPr lang="en-US" altLang="ko-KR" dirty="0"/>
              <a:t>Click to add title</a:t>
            </a:r>
            <a:endParaRPr lang="ko-KR" altLang="en-US" dirty="0"/>
          </a:p>
        </p:txBody>
      </p:sp>
      <p:sp>
        <p:nvSpPr>
          <p:cNvPr id="7" name="Content Placeholder 6">
            <a:extLst>
              <a:ext uri="{FF2B5EF4-FFF2-40B4-BE49-F238E27FC236}">
                <a16:creationId xmlns:a16="http://schemas.microsoft.com/office/drawing/2014/main" id="{25EA4C87-1B6D-2CEA-39CA-59614D453096}"/>
              </a:ext>
            </a:extLst>
          </p:cNvPr>
          <p:cNvSpPr>
            <a:spLocks noGrp="1"/>
          </p:cNvSpPr>
          <p:nvPr>
            <p:ph sz="quarter" idx="11"/>
          </p:nvPr>
        </p:nvSpPr>
        <p:spPr>
          <a:xfrm>
            <a:off x="467544" y="1560612"/>
            <a:ext cx="8229600" cy="4676700"/>
          </a:xfrm>
          <a:prstGeom prst="rect">
            <a:avLst/>
          </a:prstGeom>
        </p:spPr>
        <p:txBody>
          <a:bodyPr/>
          <a:lstStyle>
            <a:lvl1pPr latinLnBrk="0">
              <a:defRPr/>
            </a:lvl1pPr>
            <a:lvl2pPr latinLnBrk="0">
              <a:defRPr/>
            </a:lvl2pPr>
            <a:lvl3pPr latinLnBrk="0">
              <a:defRPr/>
            </a:lvl3pPr>
            <a:lvl4pPr latinLnBrk="0">
              <a:defRPr/>
            </a:lvl4pPr>
            <a:lvl5pPr latinLnBrk="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extLst>
      <p:ext uri="{BB962C8B-B14F-4D97-AF65-F5344CB8AC3E}">
        <p14:creationId xmlns:p14="http://schemas.microsoft.com/office/powerpoint/2010/main" val="3694015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91680" y="0"/>
            <a:ext cx="7452320" cy="1069514"/>
          </a:xfrm>
          <a:prstGeom prst="rect">
            <a:avLst/>
          </a:prstGeom>
        </p:spPr>
        <p:txBody>
          <a:bodyPr anchor="ctr"/>
          <a:lstStyle>
            <a:lvl1pPr latinLnBrk="0">
              <a:defRPr b="1" baseline="0">
                <a:solidFill>
                  <a:schemeClr val="tx1">
                    <a:lumMod val="75000"/>
                    <a:lumOff val="25000"/>
                  </a:schemeClr>
                </a:solidFill>
                <a:latin typeface="Arial" pitchFamily="34" charset="0"/>
                <a:cs typeface="Arial" pitchFamily="34" charset="0"/>
              </a:defRPr>
            </a:lvl1pPr>
          </a:lstStyle>
          <a:p>
            <a:r>
              <a:rPr lang="en-US" altLang="ko-KR" dirty="0"/>
              <a:t>Click to add title</a:t>
            </a:r>
            <a:endParaRPr lang="ko-KR" altLang="en-US" dirty="0"/>
          </a:p>
        </p:txBody>
      </p:sp>
      <p:sp>
        <p:nvSpPr>
          <p:cNvPr id="6" name="Content Placeholder 5">
            <a:extLst>
              <a:ext uri="{FF2B5EF4-FFF2-40B4-BE49-F238E27FC236}">
                <a16:creationId xmlns:a16="http://schemas.microsoft.com/office/drawing/2014/main" id="{E85ED14E-43B1-FAD8-93BB-3A0393784FEF}"/>
              </a:ext>
            </a:extLst>
          </p:cNvPr>
          <p:cNvSpPr>
            <a:spLocks noGrp="1"/>
          </p:cNvSpPr>
          <p:nvPr>
            <p:ph sz="quarter" idx="11"/>
          </p:nvPr>
        </p:nvSpPr>
        <p:spPr>
          <a:xfrm>
            <a:off x="2134072" y="1268760"/>
            <a:ext cx="6563072" cy="4923175"/>
          </a:xfrm>
          <a:prstGeom prst="rect">
            <a:avLst/>
          </a:prstGeom>
        </p:spPr>
        <p:txBody>
          <a:bodyPr/>
          <a:lstStyle>
            <a:lvl1pPr latinLnBrk="0">
              <a:defRPr/>
            </a:lvl1pPr>
            <a:lvl2pPr latinLnBrk="0">
              <a:defRPr/>
            </a:lvl2pPr>
            <a:lvl3pPr latinLnBrk="0">
              <a:defRPr/>
            </a:lvl3pPr>
            <a:lvl4pPr latinLnBrk="0">
              <a:defRPr/>
            </a:lvl4pPr>
            <a:lvl5pPr latinLnBrk="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326818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15891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Figure + Caption Layout">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10" name="Title 1"/>
          <p:cNvSpPr>
            <a:spLocks noGrp="1"/>
          </p:cNvSpPr>
          <p:nvPr>
            <p:ph type="title"/>
          </p:nvPr>
        </p:nvSpPr>
        <p:spPr>
          <a:xfrm>
            <a:off x="519169" y="357626"/>
            <a:ext cx="8032638" cy="1004011"/>
          </a:xfrm>
        </p:spPr>
        <p:txBody>
          <a:bodyPr>
            <a:normAutofit/>
          </a:bodyPr>
          <a:lstStyle>
            <a:lvl1pPr algn="ctr">
              <a:defRPr sz="3600" b="0">
                <a:solidFill>
                  <a:schemeClr val="tx1"/>
                </a:solidFill>
              </a:defRPr>
            </a:lvl1pPr>
          </a:lstStyle>
          <a:p>
            <a:r>
              <a:rPr lang="en-US"/>
              <a:t>Click to edit Master title style</a:t>
            </a:r>
            <a:endParaRPr lang="en-US" dirty="0"/>
          </a:p>
        </p:txBody>
      </p:sp>
      <p:sp>
        <p:nvSpPr>
          <p:cNvPr id="6" name="Rectangle 5"/>
          <p:cNvSpPr/>
          <p:nvPr/>
        </p:nvSpPr>
        <p:spPr bwMode="white">
          <a:xfrm>
            <a:off x="-7937" y="6248400"/>
            <a:ext cx="9151937" cy="617539"/>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solidFill>
                <a:prstClr val="white"/>
              </a:solidFill>
            </a:endParaRPr>
          </a:p>
        </p:txBody>
      </p:sp>
      <p:sp>
        <p:nvSpPr>
          <p:cNvPr id="4" name="Content Placeholder 3"/>
          <p:cNvSpPr>
            <a:spLocks noGrp="1"/>
          </p:cNvSpPr>
          <p:nvPr>
            <p:ph sz="quarter" idx="10"/>
          </p:nvPr>
        </p:nvSpPr>
        <p:spPr>
          <a:xfrm>
            <a:off x="491331" y="5181600"/>
            <a:ext cx="8153400" cy="83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pyright" descr="Pearson: Copyright 2015, 2012, 2009"/>
          <p:cNvSpPr txBox="1">
            <a:spLocks noChangeArrowheads="1"/>
          </p:cNvSpPr>
          <p:nvPr userDrawn="1"/>
        </p:nvSpPr>
        <p:spPr bwMode="auto">
          <a:xfrm>
            <a:off x="1478450" y="6270381"/>
            <a:ext cx="7589350" cy="582256"/>
          </a:xfrm>
          <a:prstGeom prst="rect">
            <a:avLst/>
          </a:prstGeom>
          <a:solidFill>
            <a:srgbClr val="364162"/>
          </a:solid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ctr">
              <a:defRPr/>
            </a:pPr>
            <a:r>
              <a:rPr lang="en-US" sz="1200" dirty="0">
                <a:solidFill>
                  <a:prstClr val="white"/>
                </a:solidFill>
                <a:ea typeface="ＭＳ Ｐゴシック" charset="-128"/>
                <a:cs typeface="Arial" charset="0"/>
              </a:rPr>
              <a:t>Copyright </a:t>
            </a:r>
            <a:r>
              <a:rPr lang="en-US" sz="1200" dirty="0">
                <a:solidFill>
                  <a:prstClr val="white"/>
                </a:solidFill>
                <a:ea typeface="+mn-ea"/>
                <a:cs typeface="Arial" charset="0"/>
              </a:rPr>
              <a:t>© 2018 Cengage. May not be copied, scanned, or duplicated, in whole or in part, except for use as permitted in a license distributed with a certain product or service or otherwise on a password-protected website for classroom use.</a:t>
            </a:r>
          </a:p>
        </p:txBody>
      </p:sp>
      <p:pic>
        <p:nvPicPr>
          <p:cNvPr id="8" name="Picture 4"/>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6345959"/>
            <a:ext cx="1316182" cy="435841"/>
          </a:xfrm>
          <a:prstGeom prst="rect">
            <a:avLst/>
          </a:prstGeom>
          <a:solidFill>
            <a:srgbClr val="364162"/>
          </a:solidFill>
          <a:ln>
            <a:noFill/>
          </a:ln>
        </p:spPr>
      </p:pic>
    </p:spTree>
    <p:extLst>
      <p:ext uri="{BB962C8B-B14F-4D97-AF65-F5344CB8AC3E}">
        <p14:creationId xmlns:p14="http://schemas.microsoft.com/office/powerpoint/2010/main" val="2950682021"/>
      </p:ext>
    </p:extLst>
  </p:cSld>
  <p:clrMapOvr>
    <a:masterClrMapping/>
  </p:clrMapOvr>
  <p:transition spd="slow"/>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it-IT"/>
              <a:t>Fare clic per modificare lo stile del titolo</a:t>
            </a:r>
            <a:endParaRPr lang="de-DE" dirty="0"/>
          </a:p>
        </p:txBody>
      </p:sp>
      <p:sp>
        <p:nvSpPr>
          <p:cNvPr id="3" name="Inhaltsplatzhalter 2"/>
          <p:cNvSpPr>
            <a:spLocks noGrp="1"/>
          </p:cNvSpPr>
          <p:nvPr>
            <p:ph idx="1"/>
          </p:nvPr>
        </p:nvSpPr>
        <p:spPr/>
        <p:txBody>
          <a:bodyPr/>
          <a:lstStyle>
            <a:lvl4pPr>
              <a:buFont typeface="Wingdings" pitchFamily="2" charset="2"/>
              <a:buChar char="§"/>
              <a:defRPr sz="1600"/>
            </a:lvl4pPr>
            <a:lvl5pPr>
              <a:buFont typeface="Wingdings" pitchFamily="2" charset="2"/>
              <a:buChar char="§"/>
              <a:defRPr sz="1600"/>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972514571"/>
      </p:ext>
    </p:extLst>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Title and one Content">
    <p:bg>
      <p:bgPr>
        <a:solidFill>
          <a:schemeClr val="lt1"/>
        </a:solidFill>
        <a:effectLst/>
      </p:bgPr>
    </p:bg>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7091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255500" marR="0" indent="-3429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95763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5301974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947538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8DCCD61-643D-44A5-A450-3A42A50CBC1E}" type="datetimeFigureOut">
              <a:rPr lang="en-US" smtClean="0"/>
              <a:t>16/10/2025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6560869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16/10/2025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9242866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DCCD61-643D-44A5-A450-3A42A50CBC1E}" type="datetimeFigureOut">
              <a:rPr lang="en-US" smtClean="0"/>
              <a:t>16/10/2025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32779332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DCCD61-643D-44A5-A450-3A42A50CBC1E}" type="datetimeFigureOut">
              <a:rPr lang="en-US" smtClean="0"/>
              <a:t>16/10/2025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7787904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DCCD61-643D-44A5-A450-3A42A50CBC1E}" type="datetimeFigureOut">
              <a:rPr lang="en-US" smtClean="0"/>
              <a:t>16/10/2025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29198114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8DCCD61-643D-44A5-A450-3A42A50CBC1E}" type="datetimeFigureOut">
              <a:rPr lang="en-US" smtClean="0"/>
              <a:t>16/10/2025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8181198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DCCD61-643D-44A5-A450-3A42A50CBC1E}" type="datetimeFigureOut">
              <a:rPr lang="en-US" smtClean="0"/>
              <a:t>16/10/2025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962918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t>16/10/2025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296884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t>16/10/2025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29870350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16/10/2025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792374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16/10/2025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39628572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73382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73" r:id="rId4"/>
    <p:sldLayoutId id="2147483674" r:id="rId5"/>
    <p:sldLayoutId id="2147483675" r:id="rId6"/>
    <p:sldLayoutId id="2147483676" r:id="rId7"/>
    <p:sldLayoutId id="2147483677" r:id="rId8"/>
    <p:sldLayoutId id="2147483678" r:id="rId9"/>
    <p:sldLayoutId id="2147483679" r:id="rId10"/>
  </p:sldLayoutIdLst>
  <p:txStyles>
    <p:titleStyle>
      <a:lvl1pPr algn="l" defTabSz="914400" rtl="0" eaLnBrk="1" latinLnBrk="1" hangingPunct="1">
        <a:spcBef>
          <a:spcPct val="0"/>
        </a:spcBef>
        <a:buNone/>
        <a:defRPr sz="4000" b="1" kern="1200">
          <a:solidFill>
            <a:schemeClr val="tx1"/>
          </a:solidFill>
          <a:latin typeface="Arial" pitchFamily="34" charset="0"/>
          <a:ea typeface="+mj-ea"/>
          <a:cs typeface="Arial" pitchFamily="34" charset="0"/>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DCCD61-643D-44A5-A450-3A42A50CBC1E}" type="datetimeFigureOut">
              <a:rPr lang="en-US" smtClean="0"/>
              <a:t>16/10/2025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2F0832-F084-422D-97D1-AF848F4F2C34}" type="slidenum">
              <a:rPr lang="en-US" smtClean="0"/>
              <a:t>‹#›</a:t>
            </a:fld>
            <a:endParaRPr lang="en-US"/>
          </a:p>
        </p:txBody>
      </p:sp>
    </p:spTree>
    <p:extLst>
      <p:ext uri="{BB962C8B-B14F-4D97-AF65-F5344CB8AC3E}">
        <p14:creationId xmlns:p14="http://schemas.microsoft.com/office/powerpoint/2010/main" val="328635735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a:spLocks noChangeArrowheads="1"/>
          </p:cNvSpPr>
          <p:nvPr/>
        </p:nvSpPr>
        <p:spPr bwMode="auto">
          <a:xfrm>
            <a:off x="4067944" y="4221088"/>
            <a:ext cx="4788024" cy="646331"/>
          </a:xfrm>
          <a:prstGeom prst="rect">
            <a:avLst/>
          </a:prstGeom>
          <a:noFill/>
          <a:ln w="9525">
            <a:noFill/>
            <a:miter lim="800000"/>
            <a:headEnd/>
            <a:tailEnd/>
          </a:ln>
        </p:spPr>
        <p:txBody>
          <a:bodyPr wrap="square">
            <a:spAutoFit/>
          </a:bodyPr>
          <a:lstStyle/>
          <a:p>
            <a:pPr algn="r"/>
            <a:r>
              <a:rPr lang="en-US" altLang="ko-KR" sz="3600" b="1" dirty="0">
                <a:solidFill>
                  <a:schemeClr val="bg1">
                    <a:lumMod val="95000"/>
                  </a:schemeClr>
                </a:solidFill>
                <a:latin typeface="Arial" pitchFamily="34" charset="0"/>
                <a:ea typeface="맑은 고딕" pitchFamily="50" charset="-127"/>
                <a:cs typeface="Arial" pitchFamily="34" charset="0"/>
              </a:rPr>
              <a:t>Access Control</a:t>
            </a:r>
          </a:p>
        </p:txBody>
      </p:sp>
      <p:pic>
        <p:nvPicPr>
          <p:cNvPr id="11" name="Picture 10" descr="Logo&#10;&#10;Description automatically generated">
            <a:extLst>
              <a:ext uri="{FF2B5EF4-FFF2-40B4-BE49-F238E27FC236}">
                <a16:creationId xmlns:a16="http://schemas.microsoft.com/office/drawing/2014/main" id="{DA019416-A58F-DC7C-5590-0A3C5E236B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111682"/>
            <a:ext cx="1428571" cy="1428571"/>
          </a:xfrm>
          <a:prstGeom prst="rect">
            <a:avLst/>
          </a:prstGeom>
        </p:spPr>
      </p:pic>
      <p:sp>
        <p:nvSpPr>
          <p:cNvPr id="12" name="TextBox 11">
            <a:extLst>
              <a:ext uri="{FF2B5EF4-FFF2-40B4-BE49-F238E27FC236}">
                <a16:creationId xmlns:a16="http://schemas.microsoft.com/office/drawing/2014/main" id="{A287E9B7-196F-5413-1EE2-727331E78929}"/>
              </a:ext>
            </a:extLst>
          </p:cNvPr>
          <p:cNvSpPr txBox="1"/>
          <p:nvPr/>
        </p:nvSpPr>
        <p:spPr>
          <a:xfrm>
            <a:off x="2045070" y="1916832"/>
            <a:ext cx="5053861" cy="523220"/>
          </a:xfrm>
          <a:prstGeom prst="rect">
            <a:avLst/>
          </a:prstGeom>
          <a:noFill/>
        </p:spPr>
        <p:txBody>
          <a:bodyPr wrap="square" rtlCol="0">
            <a:spAutoFit/>
          </a:bodyPr>
          <a:lstStyle/>
          <a:p>
            <a:pPr algn="ctr" latinLnBrk="0"/>
            <a:r>
              <a:rPr lang="en-US" sz="2800" b="1" dirty="0"/>
              <a:t>CS3002 Information Security</a:t>
            </a:r>
            <a:endParaRPr lang="en-AU" sz="2800" b="1" dirty="0"/>
          </a:p>
        </p:txBody>
      </p:sp>
      <p:sp>
        <p:nvSpPr>
          <p:cNvPr id="13" name="TextBox 12">
            <a:extLst>
              <a:ext uri="{FF2B5EF4-FFF2-40B4-BE49-F238E27FC236}">
                <a16:creationId xmlns:a16="http://schemas.microsoft.com/office/drawing/2014/main" id="{2C6442DC-6D72-28EB-A755-796100BEAFBF}"/>
              </a:ext>
            </a:extLst>
          </p:cNvPr>
          <p:cNvSpPr txBox="1"/>
          <p:nvPr/>
        </p:nvSpPr>
        <p:spPr>
          <a:xfrm>
            <a:off x="6156176" y="111682"/>
            <a:ext cx="2880320" cy="923330"/>
          </a:xfrm>
          <a:prstGeom prst="rect">
            <a:avLst/>
          </a:prstGeom>
          <a:noFill/>
        </p:spPr>
        <p:txBody>
          <a:bodyPr wrap="square" rtlCol="0">
            <a:spAutoFit/>
          </a:bodyPr>
          <a:lstStyle/>
          <a:p>
            <a:pPr algn="r" latinLnBrk="0"/>
            <a:r>
              <a:rPr lang="en-US" b="1" dirty="0"/>
              <a:t>Dr. Ammar Haider</a:t>
            </a:r>
          </a:p>
          <a:p>
            <a:pPr algn="r" latinLnBrk="0"/>
            <a:r>
              <a:rPr lang="en-US" dirty="0"/>
              <a:t>Assistant Professor</a:t>
            </a:r>
          </a:p>
          <a:p>
            <a:pPr algn="r" latinLnBrk="0"/>
            <a:r>
              <a:rPr lang="en-US" dirty="0"/>
              <a:t>School of Computing</a:t>
            </a:r>
            <a:endParaRPr lang="en-AU" dirty="0"/>
          </a:p>
        </p:txBody>
      </p:sp>
    </p:spTree>
    <p:extLst>
      <p:ext uri="{BB962C8B-B14F-4D97-AF65-F5344CB8AC3E}">
        <p14:creationId xmlns:p14="http://schemas.microsoft.com/office/powerpoint/2010/main" val="1785668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E8C06-C138-4637-8BFB-2EC99E273295}"/>
              </a:ext>
            </a:extLst>
          </p:cNvPr>
          <p:cNvSpPr>
            <a:spLocks noGrp="1"/>
          </p:cNvSpPr>
          <p:nvPr>
            <p:ph type="title"/>
          </p:nvPr>
        </p:nvSpPr>
        <p:spPr/>
        <p:txBody>
          <a:bodyPr/>
          <a:lstStyle/>
          <a:p>
            <a:r>
              <a:rPr lang="en-US" dirty="0"/>
              <a:t>Access Control</a:t>
            </a:r>
            <a:endParaRPr lang="en-IN" sz="2000" b="0" dirty="0"/>
          </a:p>
        </p:txBody>
      </p:sp>
      <p:sp>
        <p:nvSpPr>
          <p:cNvPr id="3" name="Content Placeholder 2">
            <a:extLst>
              <a:ext uri="{FF2B5EF4-FFF2-40B4-BE49-F238E27FC236}">
                <a16:creationId xmlns:a16="http://schemas.microsoft.com/office/drawing/2014/main" id="{03402491-3191-4920-A741-16A10A21D1AC}"/>
              </a:ext>
            </a:extLst>
          </p:cNvPr>
          <p:cNvSpPr>
            <a:spLocks noGrp="1"/>
          </p:cNvSpPr>
          <p:nvPr>
            <p:ph sz="quarter" idx="11"/>
          </p:nvPr>
        </p:nvSpPr>
        <p:spPr/>
        <p:txBody>
          <a:bodyPr/>
          <a:lstStyle/>
          <a:p>
            <a:pPr marL="432" indent="0">
              <a:buNone/>
            </a:pPr>
            <a:r>
              <a:rPr lang="en-US" sz="2600" dirty="0"/>
              <a:t>Access control implements a security policy that specifies who may have access to each specific system resource, and the type of access that is permitted in each instance.</a:t>
            </a:r>
          </a:p>
          <a:p>
            <a:pPr marL="432" indent="0">
              <a:buNone/>
            </a:pPr>
            <a:r>
              <a:rPr lang="en-US" sz="2600" dirty="0"/>
              <a:t>It is the process of ensuring authenticated users have access to the resources they are authorized to use and don’t have access to any other resources.</a:t>
            </a:r>
          </a:p>
          <a:p>
            <a:pPr marL="432" indent="0">
              <a:buNone/>
            </a:pPr>
            <a:endParaRPr lang="en-US" sz="2600" dirty="0"/>
          </a:p>
          <a:p>
            <a:pPr marL="432" indent="0">
              <a:buNone/>
            </a:pPr>
            <a:r>
              <a:rPr lang="en-US" sz="2600" dirty="0"/>
              <a:t>In a broad sense, all of computer security is concerned with access control.</a:t>
            </a:r>
          </a:p>
        </p:txBody>
      </p:sp>
    </p:spTree>
    <p:extLst>
      <p:ext uri="{BB962C8B-B14F-4D97-AF65-F5344CB8AC3E}">
        <p14:creationId xmlns:p14="http://schemas.microsoft.com/office/powerpoint/2010/main" val="4212305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D502E-B2B1-4415-82AB-D7AEAEB48BAD}"/>
              </a:ext>
            </a:extLst>
          </p:cNvPr>
          <p:cNvSpPr>
            <a:spLocks noGrp="1"/>
          </p:cNvSpPr>
          <p:nvPr>
            <p:ph type="title"/>
          </p:nvPr>
        </p:nvSpPr>
        <p:spPr/>
        <p:txBody>
          <a:bodyPr/>
          <a:lstStyle/>
          <a:p>
            <a:r>
              <a:rPr lang="en-US" dirty="0"/>
              <a:t>Context of Access Control</a:t>
            </a:r>
          </a:p>
        </p:txBody>
      </p:sp>
      <p:pic>
        <p:nvPicPr>
          <p:cNvPr id="9" name="Picture 8">
            <a:extLst>
              <a:ext uri="{FF2B5EF4-FFF2-40B4-BE49-F238E27FC236}">
                <a16:creationId xmlns:a16="http://schemas.microsoft.com/office/drawing/2014/main" id="{66410871-BDD6-E22A-F80C-9EA1F7AE70B1}"/>
              </a:ext>
            </a:extLst>
          </p:cNvPr>
          <p:cNvPicPr>
            <a:picLocks noChangeAspect="1"/>
          </p:cNvPicPr>
          <p:nvPr/>
        </p:nvPicPr>
        <p:blipFill>
          <a:blip r:embed="rId3"/>
          <a:stretch>
            <a:fillRect/>
          </a:stretch>
        </p:blipFill>
        <p:spPr>
          <a:xfrm>
            <a:off x="1468238" y="1585637"/>
            <a:ext cx="6527118" cy="4933734"/>
          </a:xfrm>
          <a:prstGeom prst="rect">
            <a:avLst/>
          </a:prstGeom>
        </p:spPr>
      </p:pic>
    </p:spTree>
    <p:extLst>
      <p:ext uri="{BB962C8B-B14F-4D97-AF65-F5344CB8AC3E}">
        <p14:creationId xmlns:p14="http://schemas.microsoft.com/office/powerpoint/2010/main" val="2341122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60C09-DEC8-E2A5-3478-200B668577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E046DA-3B0F-069A-F746-B42B1F277568}"/>
              </a:ext>
            </a:extLst>
          </p:cNvPr>
          <p:cNvSpPr>
            <a:spLocks noGrp="1"/>
          </p:cNvSpPr>
          <p:nvPr>
            <p:ph type="title"/>
          </p:nvPr>
        </p:nvSpPr>
        <p:spPr/>
        <p:txBody>
          <a:bodyPr/>
          <a:lstStyle/>
          <a:p>
            <a:r>
              <a:rPr lang="en-US" dirty="0"/>
              <a:t>Context of Access Control</a:t>
            </a:r>
          </a:p>
        </p:txBody>
      </p:sp>
      <p:sp>
        <p:nvSpPr>
          <p:cNvPr id="3" name="Rectangle 2">
            <a:extLst>
              <a:ext uri="{FF2B5EF4-FFF2-40B4-BE49-F238E27FC236}">
                <a16:creationId xmlns:a16="http://schemas.microsoft.com/office/drawing/2014/main" id="{9A8BDED6-2375-E0AE-5C0B-F37FF608C492}"/>
              </a:ext>
            </a:extLst>
          </p:cNvPr>
          <p:cNvSpPr/>
          <p:nvPr/>
        </p:nvSpPr>
        <p:spPr>
          <a:xfrm>
            <a:off x="3347864" y="3429000"/>
            <a:ext cx="1080120" cy="949370"/>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88D35926-3A01-DF1A-108E-1DD0B9C1A967}"/>
              </a:ext>
            </a:extLst>
          </p:cNvPr>
          <p:cNvPicPr>
            <a:picLocks noChangeAspect="1"/>
          </p:cNvPicPr>
          <p:nvPr/>
        </p:nvPicPr>
        <p:blipFill>
          <a:blip r:embed="rId3"/>
          <a:stretch>
            <a:fillRect/>
          </a:stretch>
        </p:blipFill>
        <p:spPr>
          <a:xfrm>
            <a:off x="1468238" y="1585637"/>
            <a:ext cx="6527118" cy="4933734"/>
          </a:xfrm>
          <a:prstGeom prst="rect">
            <a:avLst/>
          </a:prstGeom>
        </p:spPr>
      </p:pic>
      <p:sp>
        <p:nvSpPr>
          <p:cNvPr id="7" name="Callout: Line 6">
            <a:extLst>
              <a:ext uri="{FF2B5EF4-FFF2-40B4-BE49-F238E27FC236}">
                <a16:creationId xmlns:a16="http://schemas.microsoft.com/office/drawing/2014/main" id="{BEEECB8E-E614-F85D-2B59-F6D22921B613}"/>
              </a:ext>
            </a:extLst>
          </p:cNvPr>
          <p:cNvSpPr/>
          <p:nvPr/>
        </p:nvSpPr>
        <p:spPr>
          <a:xfrm>
            <a:off x="1597981" y="5131835"/>
            <a:ext cx="1917577" cy="949370"/>
          </a:xfrm>
          <a:prstGeom prst="borderCallout1">
            <a:avLst>
              <a:gd name="adj1" fmla="val 1150"/>
              <a:gd name="adj2" fmla="val 73441"/>
              <a:gd name="adj3" fmla="val -72300"/>
              <a:gd name="adj4" fmla="val 95657"/>
            </a:avLst>
          </a:prstGeom>
          <a:solidFill>
            <a:schemeClr val="accent2">
              <a:lumMod val="75000"/>
            </a:schemeClr>
          </a:solidFill>
          <a:ln>
            <a:solidFill>
              <a:schemeClr val="accent2">
                <a:lumMod val="75000"/>
              </a:schemeClr>
            </a:solidFill>
            <a:prstDash val="sys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latinLnBrk="0"/>
            <a:r>
              <a:rPr lang="en-US" sz="1800" dirty="0"/>
              <a:t>Verification of credentials of a user (or process)</a:t>
            </a:r>
          </a:p>
        </p:txBody>
      </p:sp>
    </p:spTree>
    <p:extLst>
      <p:ext uri="{BB962C8B-B14F-4D97-AF65-F5344CB8AC3E}">
        <p14:creationId xmlns:p14="http://schemas.microsoft.com/office/powerpoint/2010/main" val="1915584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6A675-FF1D-BDEB-35B0-57E23CF440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CB3E00-5B76-2133-84F7-4163AE06C7EB}"/>
              </a:ext>
            </a:extLst>
          </p:cNvPr>
          <p:cNvSpPr>
            <a:spLocks noGrp="1"/>
          </p:cNvSpPr>
          <p:nvPr>
            <p:ph type="title"/>
          </p:nvPr>
        </p:nvSpPr>
        <p:spPr/>
        <p:txBody>
          <a:bodyPr/>
          <a:lstStyle/>
          <a:p>
            <a:r>
              <a:rPr lang="en-US" dirty="0"/>
              <a:t>Context of Access Control</a:t>
            </a:r>
          </a:p>
        </p:txBody>
      </p:sp>
      <p:sp>
        <p:nvSpPr>
          <p:cNvPr id="3" name="Rectangle 2">
            <a:extLst>
              <a:ext uri="{FF2B5EF4-FFF2-40B4-BE49-F238E27FC236}">
                <a16:creationId xmlns:a16="http://schemas.microsoft.com/office/drawing/2014/main" id="{344FBB28-4FB5-6F1F-0D8D-23330248FFB2}"/>
              </a:ext>
            </a:extLst>
          </p:cNvPr>
          <p:cNvSpPr/>
          <p:nvPr/>
        </p:nvSpPr>
        <p:spPr>
          <a:xfrm>
            <a:off x="4932040" y="1759550"/>
            <a:ext cx="1080120" cy="843088"/>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8BF1A505-0A87-1B27-ED87-82C909137F7B}"/>
              </a:ext>
            </a:extLst>
          </p:cNvPr>
          <p:cNvPicPr>
            <a:picLocks noChangeAspect="1"/>
          </p:cNvPicPr>
          <p:nvPr/>
        </p:nvPicPr>
        <p:blipFill>
          <a:blip r:embed="rId3"/>
          <a:stretch>
            <a:fillRect/>
          </a:stretch>
        </p:blipFill>
        <p:spPr>
          <a:xfrm>
            <a:off x="1468238" y="1585637"/>
            <a:ext cx="6527118" cy="4933734"/>
          </a:xfrm>
          <a:prstGeom prst="rect">
            <a:avLst/>
          </a:prstGeom>
        </p:spPr>
      </p:pic>
      <p:sp>
        <p:nvSpPr>
          <p:cNvPr id="12" name="Callout: Line 11">
            <a:extLst>
              <a:ext uri="{FF2B5EF4-FFF2-40B4-BE49-F238E27FC236}">
                <a16:creationId xmlns:a16="http://schemas.microsoft.com/office/drawing/2014/main" id="{2810ECF4-CA66-1D9A-23C9-A61091438C0A}"/>
              </a:ext>
            </a:extLst>
          </p:cNvPr>
          <p:cNvSpPr/>
          <p:nvPr/>
        </p:nvSpPr>
        <p:spPr>
          <a:xfrm>
            <a:off x="6968971" y="1653268"/>
            <a:ext cx="2042879" cy="949370"/>
          </a:xfrm>
          <a:prstGeom prst="borderCallout1">
            <a:avLst>
              <a:gd name="adj1" fmla="val 23593"/>
              <a:gd name="adj2" fmla="val 434"/>
              <a:gd name="adj3" fmla="val 48330"/>
              <a:gd name="adj4" fmla="val -48619"/>
            </a:avLst>
          </a:prstGeom>
          <a:solidFill>
            <a:schemeClr val="accent2">
              <a:lumMod val="75000"/>
            </a:schemeClr>
          </a:solidFill>
          <a:ln>
            <a:solidFill>
              <a:schemeClr val="accent2">
                <a:lumMod val="75000"/>
              </a:schemeClr>
            </a:solidFill>
            <a:prstDash val="sys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latinLnBrk="0"/>
            <a:r>
              <a:rPr lang="en-US" sz="1800" dirty="0"/>
              <a:t>What permissions a user has for each resource</a:t>
            </a:r>
          </a:p>
        </p:txBody>
      </p:sp>
    </p:spTree>
    <p:extLst>
      <p:ext uri="{BB962C8B-B14F-4D97-AF65-F5344CB8AC3E}">
        <p14:creationId xmlns:p14="http://schemas.microsoft.com/office/powerpoint/2010/main" val="14694968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39A7D-C7C6-B7BD-C747-429C095938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A941DC-29C5-700C-292B-B013F4FF1B03}"/>
              </a:ext>
            </a:extLst>
          </p:cNvPr>
          <p:cNvSpPr>
            <a:spLocks noGrp="1"/>
          </p:cNvSpPr>
          <p:nvPr>
            <p:ph type="title"/>
          </p:nvPr>
        </p:nvSpPr>
        <p:spPr/>
        <p:txBody>
          <a:bodyPr/>
          <a:lstStyle/>
          <a:p>
            <a:r>
              <a:rPr lang="en-US" dirty="0"/>
              <a:t>Context of Access Control</a:t>
            </a:r>
          </a:p>
        </p:txBody>
      </p:sp>
      <p:sp>
        <p:nvSpPr>
          <p:cNvPr id="3" name="Rectangle 2">
            <a:extLst>
              <a:ext uri="{FF2B5EF4-FFF2-40B4-BE49-F238E27FC236}">
                <a16:creationId xmlns:a16="http://schemas.microsoft.com/office/drawing/2014/main" id="{C1012D81-EE76-33E6-E693-F895F9BD1779}"/>
              </a:ext>
            </a:extLst>
          </p:cNvPr>
          <p:cNvSpPr/>
          <p:nvPr/>
        </p:nvSpPr>
        <p:spPr>
          <a:xfrm>
            <a:off x="4958674" y="3501008"/>
            <a:ext cx="1080120" cy="843088"/>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8A4AFF1-E3B5-14EB-29B1-7E9DA8DA24ED}"/>
              </a:ext>
            </a:extLst>
          </p:cNvPr>
          <p:cNvPicPr>
            <a:picLocks noChangeAspect="1"/>
          </p:cNvPicPr>
          <p:nvPr/>
        </p:nvPicPr>
        <p:blipFill>
          <a:blip r:embed="rId3"/>
          <a:stretch>
            <a:fillRect/>
          </a:stretch>
        </p:blipFill>
        <p:spPr>
          <a:xfrm>
            <a:off x="1468238" y="1585637"/>
            <a:ext cx="6527118" cy="4933734"/>
          </a:xfrm>
          <a:prstGeom prst="rect">
            <a:avLst/>
          </a:prstGeom>
        </p:spPr>
      </p:pic>
      <p:sp>
        <p:nvSpPr>
          <p:cNvPr id="12" name="Callout: Line 11">
            <a:extLst>
              <a:ext uri="{FF2B5EF4-FFF2-40B4-BE49-F238E27FC236}">
                <a16:creationId xmlns:a16="http://schemas.microsoft.com/office/drawing/2014/main" id="{CC83CB11-A9BD-6103-071E-F1CD0D884E3B}"/>
              </a:ext>
            </a:extLst>
          </p:cNvPr>
          <p:cNvSpPr/>
          <p:nvPr/>
        </p:nvSpPr>
        <p:spPr>
          <a:xfrm>
            <a:off x="6382843" y="5094394"/>
            <a:ext cx="2144473" cy="827938"/>
          </a:xfrm>
          <a:prstGeom prst="borderCallout1">
            <a:avLst>
              <a:gd name="adj1" fmla="val 23593"/>
              <a:gd name="adj2" fmla="val 434"/>
              <a:gd name="adj3" fmla="val -84456"/>
              <a:gd name="adj4" fmla="val -37320"/>
            </a:avLst>
          </a:prstGeom>
          <a:solidFill>
            <a:schemeClr val="accent2">
              <a:lumMod val="75000"/>
            </a:schemeClr>
          </a:solidFill>
          <a:ln>
            <a:solidFill>
              <a:schemeClr val="accent2">
                <a:lumMod val="75000"/>
              </a:schemeClr>
            </a:solidFill>
            <a:prstDash val="sys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latinLnBrk="0"/>
            <a:r>
              <a:rPr lang="en-US" sz="1800" dirty="0"/>
              <a:t>Enforcement of all authorization rules</a:t>
            </a:r>
          </a:p>
        </p:txBody>
      </p:sp>
    </p:spTree>
    <p:extLst>
      <p:ext uri="{BB962C8B-B14F-4D97-AF65-F5344CB8AC3E}">
        <p14:creationId xmlns:p14="http://schemas.microsoft.com/office/powerpoint/2010/main" val="3897656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CD42E-1C91-4DAE-D2DA-E56FE173AB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9CE78B-DDC5-1F44-B3B0-406AA68793DD}"/>
              </a:ext>
            </a:extLst>
          </p:cNvPr>
          <p:cNvSpPr>
            <a:spLocks noGrp="1"/>
          </p:cNvSpPr>
          <p:nvPr>
            <p:ph type="title"/>
          </p:nvPr>
        </p:nvSpPr>
        <p:spPr/>
        <p:txBody>
          <a:bodyPr/>
          <a:lstStyle/>
          <a:p>
            <a:r>
              <a:rPr lang="en-US" dirty="0"/>
              <a:t>Context of Access Control</a:t>
            </a:r>
          </a:p>
        </p:txBody>
      </p:sp>
      <p:sp>
        <p:nvSpPr>
          <p:cNvPr id="4" name="Rectangle: Rounded Corners 3">
            <a:extLst>
              <a:ext uri="{FF2B5EF4-FFF2-40B4-BE49-F238E27FC236}">
                <a16:creationId xmlns:a16="http://schemas.microsoft.com/office/drawing/2014/main" id="{5A847ACB-94AF-2807-E0A2-F8019201167D}"/>
              </a:ext>
            </a:extLst>
          </p:cNvPr>
          <p:cNvSpPr/>
          <p:nvPr/>
        </p:nvSpPr>
        <p:spPr>
          <a:xfrm>
            <a:off x="4258944" y="5661248"/>
            <a:ext cx="1609200" cy="936104"/>
          </a:xfrm>
          <a:prstGeom prst="round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0A92BD6D-1CBD-0CE7-7564-4EDA5A56B5AC}"/>
              </a:ext>
            </a:extLst>
          </p:cNvPr>
          <p:cNvPicPr>
            <a:picLocks noChangeAspect="1"/>
          </p:cNvPicPr>
          <p:nvPr/>
        </p:nvPicPr>
        <p:blipFill>
          <a:blip r:embed="rId3"/>
          <a:stretch>
            <a:fillRect/>
          </a:stretch>
        </p:blipFill>
        <p:spPr>
          <a:xfrm>
            <a:off x="1468238" y="1585637"/>
            <a:ext cx="6527118" cy="4933734"/>
          </a:xfrm>
          <a:prstGeom prst="rect">
            <a:avLst/>
          </a:prstGeom>
        </p:spPr>
      </p:pic>
      <p:sp>
        <p:nvSpPr>
          <p:cNvPr id="13" name="Callout: Line 12">
            <a:extLst>
              <a:ext uri="{FF2B5EF4-FFF2-40B4-BE49-F238E27FC236}">
                <a16:creationId xmlns:a16="http://schemas.microsoft.com/office/drawing/2014/main" id="{38F2F90D-6419-0049-C35B-55C2621F2ADA}"/>
              </a:ext>
            </a:extLst>
          </p:cNvPr>
          <p:cNvSpPr/>
          <p:nvPr/>
        </p:nvSpPr>
        <p:spPr>
          <a:xfrm>
            <a:off x="297712" y="5157192"/>
            <a:ext cx="3050152" cy="1485437"/>
          </a:xfrm>
          <a:prstGeom prst="borderCallout1">
            <a:avLst>
              <a:gd name="adj1" fmla="val 84071"/>
              <a:gd name="adj2" fmla="val 100981"/>
              <a:gd name="adj3" fmla="val 72597"/>
              <a:gd name="adj4" fmla="val 131662"/>
            </a:avLst>
          </a:prstGeom>
          <a:solidFill>
            <a:schemeClr val="accent2">
              <a:lumMod val="75000"/>
            </a:schemeClr>
          </a:solidFill>
          <a:ln>
            <a:solidFill>
              <a:schemeClr val="accent2">
                <a:lumMod val="75000"/>
              </a:schemeClr>
            </a:solidFill>
            <a:prstDash val="sys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latinLnBrk="0"/>
            <a:r>
              <a:rPr lang="en-US" sz="1800" dirty="0"/>
              <a:t>An independent review and examination of system records and activities to ensure compliance with the policy.</a:t>
            </a:r>
          </a:p>
        </p:txBody>
      </p:sp>
    </p:spTree>
    <p:extLst>
      <p:ext uri="{BB962C8B-B14F-4D97-AF65-F5344CB8AC3E}">
        <p14:creationId xmlns:p14="http://schemas.microsoft.com/office/powerpoint/2010/main" val="561890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5F5DD-05EA-584F-4BC3-E16280E2B7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4D030E-2B7C-83CC-762B-29319601FB90}"/>
              </a:ext>
            </a:extLst>
          </p:cNvPr>
          <p:cNvSpPr>
            <a:spLocks noGrp="1"/>
          </p:cNvSpPr>
          <p:nvPr>
            <p:ph type="title"/>
          </p:nvPr>
        </p:nvSpPr>
        <p:spPr/>
        <p:txBody>
          <a:bodyPr/>
          <a:lstStyle/>
          <a:p>
            <a:r>
              <a:rPr lang="en-US" dirty="0"/>
              <a:t>Context of Access Control</a:t>
            </a:r>
          </a:p>
        </p:txBody>
      </p:sp>
      <p:pic>
        <p:nvPicPr>
          <p:cNvPr id="9" name="Picture 8">
            <a:extLst>
              <a:ext uri="{FF2B5EF4-FFF2-40B4-BE49-F238E27FC236}">
                <a16:creationId xmlns:a16="http://schemas.microsoft.com/office/drawing/2014/main" id="{4C1CCF48-881F-C44D-26AC-7FBBDC9D1CC7}"/>
              </a:ext>
            </a:extLst>
          </p:cNvPr>
          <p:cNvPicPr>
            <a:picLocks noChangeAspect="1"/>
          </p:cNvPicPr>
          <p:nvPr/>
        </p:nvPicPr>
        <p:blipFill>
          <a:blip r:embed="rId3"/>
          <a:stretch>
            <a:fillRect/>
          </a:stretch>
        </p:blipFill>
        <p:spPr>
          <a:xfrm>
            <a:off x="1468238" y="1585637"/>
            <a:ext cx="6527118" cy="4933734"/>
          </a:xfrm>
          <a:prstGeom prst="rect">
            <a:avLst/>
          </a:prstGeom>
        </p:spPr>
      </p:pic>
      <p:sp>
        <p:nvSpPr>
          <p:cNvPr id="7" name="Callout: Line 6">
            <a:extLst>
              <a:ext uri="{FF2B5EF4-FFF2-40B4-BE49-F238E27FC236}">
                <a16:creationId xmlns:a16="http://schemas.microsoft.com/office/drawing/2014/main" id="{FA7831E2-5FD7-FEBC-A8CD-E8AC7AB44134}"/>
              </a:ext>
            </a:extLst>
          </p:cNvPr>
          <p:cNvSpPr/>
          <p:nvPr/>
        </p:nvSpPr>
        <p:spPr>
          <a:xfrm>
            <a:off x="798991" y="5131834"/>
            <a:ext cx="2716568" cy="1020391"/>
          </a:xfrm>
          <a:prstGeom prst="borderCallout1">
            <a:avLst>
              <a:gd name="adj1" fmla="val 1150"/>
              <a:gd name="adj2" fmla="val 73441"/>
              <a:gd name="adj3" fmla="val -72300"/>
              <a:gd name="adj4" fmla="val 95657"/>
            </a:avLst>
          </a:prstGeom>
          <a:solidFill>
            <a:srgbClr val="0070C0"/>
          </a:solidFill>
          <a:ln>
            <a:solidFill>
              <a:schemeClr val="accent2">
                <a:lumMod val="75000"/>
              </a:schemeClr>
            </a:solidFill>
            <a:prstDash val="sys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latinLnBrk="0"/>
            <a:r>
              <a:rPr lang="en-US" sz="1800" dirty="0"/>
              <a:t>Authentication is a less frequent activity (one login per session)</a:t>
            </a:r>
          </a:p>
        </p:txBody>
      </p:sp>
    </p:spTree>
    <p:extLst>
      <p:ext uri="{BB962C8B-B14F-4D97-AF65-F5344CB8AC3E}">
        <p14:creationId xmlns:p14="http://schemas.microsoft.com/office/powerpoint/2010/main" val="3121038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B3CCF-C360-A038-1563-61C262C56D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7E5565-8571-CD12-09B0-EF810E2F7299}"/>
              </a:ext>
            </a:extLst>
          </p:cNvPr>
          <p:cNvSpPr>
            <a:spLocks noGrp="1"/>
          </p:cNvSpPr>
          <p:nvPr>
            <p:ph type="title"/>
          </p:nvPr>
        </p:nvSpPr>
        <p:spPr/>
        <p:txBody>
          <a:bodyPr/>
          <a:lstStyle/>
          <a:p>
            <a:r>
              <a:rPr lang="en-US" dirty="0"/>
              <a:t>Context of Access Control</a:t>
            </a:r>
          </a:p>
        </p:txBody>
      </p:sp>
      <p:pic>
        <p:nvPicPr>
          <p:cNvPr id="9" name="Picture 8">
            <a:extLst>
              <a:ext uri="{FF2B5EF4-FFF2-40B4-BE49-F238E27FC236}">
                <a16:creationId xmlns:a16="http://schemas.microsoft.com/office/drawing/2014/main" id="{F34CE844-DD3A-7DE8-96A5-1BDF73C2C589}"/>
              </a:ext>
            </a:extLst>
          </p:cNvPr>
          <p:cNvPicPr>
            <a:picLocks noChangeAspect="1"/>
          </p:cNvPicPr>
          <p:nvPr/>
        </p:nvPicPr>
        <p:blipFill>
          <a:blip r:embed="rId3"/>
          <a:stretch>
            <a:fillRect/>
          </a:stretch>
        </p:blipFill>
        <p:spPr>
          <a:xfrm>
            <a:off x="1468238" y="1585637"/>
            <a:ext cx="6527118" cy="4933734"/>
          </a:xfrm>
          <a:prstGeom prst="rect">
            <a:avLst/>
          </a:prstGeom>
        </p:spPr>
      </p:pic>
      <p:sp>
        <p:nvSpPr>
          <p:cNvPr id="7" name="Callout: Line 6">
            <a:extLst>
              <a:ext uri="{FF2B5EF4-FFF2-40B4-BE49-F238E27FC236}">
                <a16:creationId xmlns:a16="http://schemas.microsoft.com/office/drawing/2014/main" id="{C2FBE5C0-AB62-A958-9E85-7467BF0CA1E9}"/>
              </a:ext>
            </a:extLst>
          </p:cNvPr>
          <p:cNvSpPr/>
          <p:nvPr/>
        </p:nvSpPr>
        <p:spPr>
          <a:xfrm>
            <a:off x="359546" y="4796075"/>
            <a:ext cx="3724183" cy="1828800"/>
          </a:xfrm>
          <a:prstGeom prst="borderCallout1">
            <a:avLst>
              <a:gd name="adj1" fmla="val 1150"/>
              <a:gd name="adj2" fmla="val 73441"/>
              <a:gd name="adj3" fmla="val -32332"/>
              <a:gd name="adj4" fmla="val 122511"/>
            </a:avLst>
          </a:prstGeom>
          <a:solidFill>
            <a:srgbClr val="0070C0"/>
          </a:solidFill>
          <a:ln>
            <a:solidFill>
              <a:schemeClr val="accent2">
                <a:lumMod val="75000"/>
              </a:schemeClr>
            </a:solidFill>
            <a:prstDash val="sys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latinLnBrk="0"/>
            <a:r>
              <a:rPr lang="en-US" sz="1800" dirty="0"/>
              <a:t>But access control mechanism is continuous. It </a:t>
            </a:r>
            <a:r>
              <a:rPr lang="en-US" sz="1800" b="1" dirty="0">
                <a:solidFill>
                  <a:srgbClr val="FFC000"/>
                </a:solidFill>
              </a:rPr>
              <a:t>mediates</a:t>
            </a:r>
            <a:r>
              <a:rPr lang="en-US" sz="1800" dirty="0"/>
              <a:t> between a user (or a process) and system resources, such as applications, operating systems, routers, files, and databases.</a:t>
            </a:r>
          </a:p>
        </p:txBody>
      </p:sp>
    </p:spTree>
    <p:extLst>
      <p:ext uri="{BB962C8B-B14F-4D97-AF65-F5344CB8AC3E}">
        <p14:creationId xmlns:p14="http://schemas.microsoft.com/office/powerpoint/2010/main" val="2448662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D12308F-852A-46C2-A3B9-2666429FFAAA}"/>
              </a:ext>
            </a:extLst>
          </p:cNvPr>
          <p:cNvSpPr>
            <a:spLocks noGrp="1"/>
          </p:cNvSpPr>
          <p:nvPr>
            <p:ph type="title"/>
          </p:nvPr>
        </p:nvSpPr>
        <p:spPr/>
        <p:txBody>
          <a:bodyPr/>
          <a:lstStyle/>
          <a:p>
            <a:r>
              <a:rPr lang="en-US" dirty="0"/>
              <a:t>Terminology: </a:t>
            </a:r>
            <a:r>
              <a:rPr lang="en-US" sz="3600" b="1" dirty="0"/>
              <a:t>Subject</a:t>
            </a:r>
            <a:endParaRPr lang="en-IN" dirty="0"/>
          </a:p>
        </p:txBody>
      </p:sp>
      <p:sp>
        <p:nvSpPr>
          <p:cNvPr id="5" name="Content Placeholder 4">
            <a:extLst>
              <a:ext uri="{FF2B5EF4-FFF2-40B4-BE49-F238E27FC236}">
                <a16:creationId xmlns:a16="http://schemas.microsoft.com/office/drawing/2014/main" id="{5B168C6F-C8DC-4686-B76E-074F8EDD7C6A}"/>
              </a:ext>
            </a:extLst>
          </p:cNvPr>
          <p:cNvSpPr>
            <a:spLocks noGrp="1"/>
          </p:cNvSpPr>
          <p:nvPr>
            <p:ph sz="quarter" idx="11"/>
          </p:nvPr>
        </p:nvSpPr>
        <p:spPr/>
        <p:txBody>
          <a:bodyPr/>
          <a:lstStyle/>
          <a:p>
            <a:pPr marL="432" indent="0">
              <a:buNone/>
            </a:pPr>
            <a:r>
              <a:rPr lang="en-US" sz="2800" dirty="0"/>
              <a:t>Subject is an entity capable of accessing objects.</a:t>
            </a:r>
          </a:p>
          <a:p>
            <a:r>
              <a:rPr lang="en-US" sz="2800" dirty="0"/>
              <a:t>Three classes</a:t>
            </a:r>
          </a:p>
          <a:p>
            <a:pPr lvl="1"/>
            <a:r>
              <a:rPr lang="en-US" sz="2400" dirty="0"/>
              <a:t>Owner</a:t>
            </a:r>
          </a:p>
          <a:p>
            <a:pPr lvl="1"/>
            <a:r>
              <a:rPr lang="en-US" sz="2400" dirty="0"/>
              <a:t>Group</a:t>
            </a:r>
          </a:p>
          <a:p>
            <a:pPr lvl="1"/>
            <a:r>
              <a:rPr lang="en-US" sz="2400" dirty="0"/>
              <a:t>World</a:t>
            </a:r>
          </a:p>
          <a:p>
            <a:r>
              <a:rPr lang="en-US" sz="2800" dirty="0"/>
              <a:t>A user might be </a:t>
            </a:r>
            <a:r>
              <a:rPr lang="en-US" sz="2800" b="1" dirty="0"/>
              <a:t>owner</a:t>
            </a:r>
            <a:r>
              <a:rPr lang="en-US" sz="2800" dirty="0"/>
              <a:t> of a resource, or might be included in the </a:t>
            </a:r>
            <a:r>
              <a:rPr lang="en-US" sz="2800" b="1" dirty="0"/>
              <a:t>group</a:t>
            </a:r>
            <a:r>
              <a:rPr lang="en-US" sz="2800" dirty="0"/>
              <a:t> who has higher access to resource. If neither is true, that user is said to be included in (rest of the) </a:t>
            </a:r>
            <a:r>
              <a:rPr lang="en-US" sz="2800" b="1" dirty="0"/>
              <a:t>world</a:t>
            </a:r>
            <a:r>
              <a:rPr lang="en-US" sz="2800" dirty="0"/>
              <a:t>.</a:t>
            </a:r>
          </a:p>
        </p:txBody>
      </p:sp>
    </p:spTree>
    <p:extLst>
      <p:ext uri="{BB962C8B-B14F-4D97-AF65-F5344CB8AC3E}">
        <p14:creationId xmlns:p14="http://schemas.microsoft.com/office/powerpoint/2010/main" val="2246826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8108C-FD64-5800-5C07-D0D912E1EF3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DCFAA12-04CA-9C6E-B1D9-5FA5657551B8}"/>
              </a:ext>
            </a:extLst>
          </p:cNvPr>
          <p:cNvSpPr>
            <a:spLocks noGrp="1"/>
          </p:cNvSpPr>
          <p:nvPr>
            <p:ph type="title"/>
          </p:nvPr>
        </p:nvSpPr>
        <p:spPr/>
        <p:txBody>
          <a:bodyPr/>
          <a:lstStyle/>
          <a:p>
            <a:r>
              <a:rPr lang="en-US" dirty="0"/>
              <a:t>Terminology: Object</a:t>
            </a:r>
            <a:endParaRPr lang="en-IN" dirty="0"/>
          </a:p>
        </p:txBody>
      </p:sp>
      <p:sp>
        <p:nvSpPr>
          <p:cNvPr id="6" name="Content Placeholder 5">
            <a:extLst>
              <a:ext uri="{FF2B5EF4-FFF2-40B4-BE49-F238E27FC236}">
                <a16:creationId xmlns:a16="http://schemas.microsoft.com/office/drawing/2014/main" id="{8FF34576-AF9B-2AD4-8B4D-7D91D9028299}"/>
              </a:ext>
            </a:extLst>
          </p:cNvPr>
          <p:cNvSpPr>
            <a:spLocks noGrp="1"/>
          </p:cNvSpPr>
          <p:nvPr>
            <p:ph sz="quarter" idx="11"/>
          </p:nvPr>
        </p:nvSpPr>
        <p:spPr/>
        <p:txBody>
          <a:bodyPr/>
          <a:lstStyle/>
          <a:p>
            <a:pPr marL="432" indent="0">
              <a:buNone/>
            </a:pPr>
            <a:r>
              <a:rPr lang="en-US" sz="2400" dirty="0"/>
              <a:t>An object is a resource to which access is controlled.</a:t>
            </a:r>
            <a:br>
              <a:rPr lang="en-US" sz="2400" dirty="0"/>
            </a:br>
            <a:r>
              <a:rPr lang="en-US" sz="2400" dirty="0"/>
              <a:t>Examples include:</a:t>
            </a:r>
          </a:p>
          <a:p>
            <a:r>
              <a:rPr lang="en-US" sz="2400" dirty="0"/>
              <a:t>Records</a:t>
            </a:r>
          </a:p>
          <a:p>
            <a:r>
              <a:rPr lang="en-US" sz="2400" dirty="0"/>
              <a:t>Files, portion of files</a:t>
            </a:r>
          </a:p>
          <a:p>
            <a:r>
              <a:rPr lang="en-US" sz="2400" dirty="0"/>
              <a:t>Directories, directory-trees</a:t>
            </a:r>
          </a:p>
          <a:p>
            <a:r>
              <a:rPr lang="en-US" sz="2400" dirty="0"/>
              <a:t>Messages</a:t>
            </a:r>
          </a:p>
          <a:p>
            <a:r>
              <a:rPr lang="en-US" sz="2400" dirty="0"/>
              <a:t>Programs</a:t>
            </a:r>
          </a:p>
          <a:p>
            <a:pPr marL="432" indent="0">
              <a:buNone/>
            </a:pPr>
            <a:endParaRPr lang="en-US" sz="2400" dirty="0"/>
          </a:p>
          <a:p>
            <a:pPr marL="432" indent="0">
              <a:buNone/>
            </a:pPr>
            <a:r>
              <a:rPr lang="en-US" sz="2000" dirty="0"/>
              <a:t>The number and types of objects to be protected depends on the system environment and the desired tradeoff between security on one hand, and complexity, processing burden, and ease of use on the other hand.</a:t>
            </a:r>
          </a:p>
        </p:txBody>
      </p:sp>
      <p:sp>
        <p:nvSpPr>
          <p:cNvPr id="7" name="Content Placeholder 6">
            <a:extLst>
              <a:ext uri="{FF2B5EF4-FFF2-40B4-BE49-F238E27FC236}">
                <a16:creationId xmlns:a16="http://schemas.microsoft.com/office/drawing/2014/main" id="{15484615-DCAD-CABC-CCEE-4B5BC471C35A}"/>
              </a:ext>
            </a:extLst>
          </p:cNvPr>
          <p:cNvSpPr>
            <a:spLocks noGrp="1"/>
          </p:cNvSpPr>
          <p:nvPr>
            <p:ph sz="quarter" idx="4294967295"/>
          </p:nvPr>
        </p:nvSpPr>
        <p:spPr>
          <a:xfrm>
            <a:off x="4716016" y="2405063"/>
            <a:ext cx="3992562" cy="2320081"/>
          </a:xfrm>
        </p:spPr>
        <p:txBody>
          <a:bodyPr/>
          <a:lstStyle/>
          <a:p>
            <a:r>
              <a:rPr lang="en-US" sz="2400" dirty="0"/>
              <a:t>Processors</a:t>
            </a:r>
          </a:p>
          <a:p>
            <a:r>
              <a:rPr lang="en-US" sz="2400" dirty="0"/>
              <a:t>Communication ports</a:t>
            </a:r>
          </a:p>
          <a:p>
            <a:r>
              <a:rPr lang="en-US" sz="2400" dirty="0"/>
              <a:t>Network nodes</a:t>
            </a:r>
          </a:p>
          <a:p>
            <a:r>
              <a:rPr lang="en-US" sz="2400" dirty="0"/>
              <a:t>Memory segments</a:t>
            </a:r>
          </a:p>
          <a:p>
            <a:r>
              <a:rPr lang="en-US" sz="2400" dirty="0"/>
              <a:t>Bits, bytes, words</a:t>
            </a:r>
          </a:p>
        </p:txBody>
      </p:sp>
    </p:spTree>
    <p:extLst>
      <p:ext uri="{BB962C8B-B14F-4D97-AF65-F5344CB8AC3E}">
        <p14:creationId xmlns:p14="http://schemas.microsoft.com/office/powerpoint/2010/main" val="34435547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42F2A-BCFD-E6F1-0780-B5E3CB36921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B6A39AB-6B85-3F61-2C5C-B551EF6BF365}"/>
              </a:ext>
            </a:extLst>
          </p:cNvPr>
          <p:cNvSpPr>
            <a:spLocks noGrp="1"/>
          </p:cNvSpPr>
          <p:nvPr>
            <p:ph type="title"/>
          </p:nvPr>
        </p:nvSpPr>
        <p:spPr/>
        <p:txBody>
          <a:bodyPr/>
          <a:lstStyle/>
          <a:p>
            <a:r>
              <a:rPr lang="en-US" dirty="0"/>
              <a:t>Terminology: Access Right</a:t>
            </a:r>
            <a:endParaRPr lang="en-IN" dirty="0"/>
          </a:p>
        </p:txBody>
      </p:sp>
      <p:sp>
        <p:nvSpPr>
          <p:cNvPr id="7" name="Content Placeholder 6">
            <a:extLst>
              <a:ext uri="{FF2B5EF4-FFF2-40B4-BE49-F238E27FC236}">
                <a16:creationId xmlns:a16="http://schemas.microsoft.com/office/drawing/2014/main" id="{9A6AC37C-D95F-0E99-C8E5-1191DFBDF87C}"/>
              </a:ext>
            </a:extLst>
          </p:cNvPr>
          <p:cNvSpPr>
            <a:spLocks noGrp="1"/>
          </p:cNvSpPr>
          <p:nvPr>
            <p:ph sz="quarter" idx="11"/>
          </p:nvPr>
        </p:nvSpPr>
        <p:spPr/>
        <p:txBody>
          <a:bodyPr/>
          <a:lstStyle/>
          <a:p>
            <a:pPr marL="432" indent="0">
              <a:buNone/>
            </a:pPr>
            <a:r>
              <a:rPr lang="en-US" sz="2800" dirty="0"/>
              <a:t>An access right describes the way in which a subject may access an object</a:t>
            </a:r>
          </a:p>
          <a:p>
            <a:r>
              <a:rPr lang="en-US" sz="2800" dirty="0"/>
              <a:t>Could include:</a:t>
            </a:r>
          </a:p>
          <a:p>
            <a:pPr lvl="1"/>
            <a:r>
              <a:rPr lang="en-US" sz="2400" dirty="0"/>
              <a:t>Read: view, copy, print</a:t>
            </a:r>
          </a:p>
          <a:p>
            <a:pPr lvl="1"/>
            <a:r>
              <a:rPr lang="en-US" sz="2400" dirty="0"/>
              <a:t>Write: add, modify, delete. Read access is included!</a:t>
            </a:r>
          </a:p>
          <a:p>
            <a:pPr lvl="1"/>
            <a:r>
              <a:rPr lang="en-US" sz="2400" dirty="0"/>
              <a:t>Execute</a:t>
            </a:r>
          </a:p>
          <a:p>
            <a:pPr lvl="1"/>
            <a:r>
              <a:rPr lang="en-US" sz="2400" dirty="0"/>
              <a:t>Delete</a:t>
            </a:r>
          </a:p>
          <a:p>
            <a:pPr lvl="1"/>
            <a:r>
              <a:rPr lang="en-US" sz="2400" dirty="0"/>
              <a:t>Create</a:t>
            </a:r>
          </a:p>
          <a:p>
            <a:pPr lvl="1"/>
            <a:r>
              <a:rPr lang="en-US" sz="2400" dirty="0"/>
              <a:t>Search</a:t>
            </a:r>
          </a:p>
        </p:txBody>
      </p:sp>
    </p:spTree>
    <p:extLst>
      <p:ext uri="{BB962C8B-B14F-4D97-AF65-F5344CB8AC3E}">
        <p14:creationId xmlns:p14="http://schemas.microsoft.com/office/powerpoint/2010/main" val="32897761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6578C-B782-DDC4-B903-F23BD7C664B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FA623D4-422D-33B9-5BA3-C30B9D8EE967}"/>
              </a:ext>
            </a:extLst>
          </p:cNvPr>
          <p:cNvSpPr>
            <a:spLocks noGrp="1"/>
          </p:cNvSpPr>
          <p:nvPr>
            <p:ph type="title"/>
          </p:nvPr>
        </p:nvSpPr>
        <p:spPr/>
        <p:txBody>
          <a:bodyPr/>
          <a:lstStyle/>
          <a:p>
            <a:r>
              <a:rPr lang="en-US" dirty="0"/>
              <a:t> Access Control Models</a:t>
            </a:r>
          </a:p>
        </p:txBody>
      </p:sp>
      <p:sp>
        <p:nvSpPr>
          <p:cNvPr id="6" name="Content Placeholder 5">
            <a:extLst>
              <a:ext uri="{FF2B5EF4-FFF2-40B4-BE49-F238E27FC236}">
                <a16:creationId xmlns:a16="http://schemas.microsoft.com/office/drawing/2014/main" id="{9FB8BF61-D253-D85B-0648-438B72F953D9}"/>
              </a:ext>
            </a:extLst>
          </p:cNvPr>
          <p:cNvSpPr>
            <a:spLocks noGrp="1"/>
          </p:cNvSpPr>
          <p:nvPr>
            <p:ph sz="quarter" idx="11"/>
          </p:nvPr>
        </p:nvSpPr>
        <p:spPr/>
        <p:txBody>
          <a:bodyPr/>
          <a:lstStyle/>
          <a:p>
            <a:pPr marL="432" indent="0">
              <a:buNone/>
            </a:pPr>
            <a:r>
              <a:rPr lang="en-US" sz="2400" dirty="0"/>
              <a:t>An access control model (i.e. methodology) dictates what types of access are permitted, under what circumstances, and by whom.</a:t>
            </a:r>
          </a:p>
          <a:p>
            <a:pPr marL="432" indent="0">
              <a:buNone/>
            </a:pPr>
            <a:endParaRPr lang="en-US" sz="2400" dirty="0"/>
          </a:p>
          <a:p>
            <a:pPr marL="432" indent="0">
              <a:buNone/>
            </a:pPr>
            <a:r>
              <a:rPr lang="en-US" sz="2400" dirty="0"/>
              <a:t>Some well-known ones are:</a:t>
            </a:r>
          </a:p>
          <a:p>
            <a:pPr marL="343332"/>
            <a:r>
              <a:rPr lang="en-US" sz="2400" b="1" dirty="0"/>
              <a:t>Discretionary</a:t>
            </a:r>
            <a:r>
              <a:rPr lang="en-US" sz="2400" dirty="0"/>
              <a:t> Access Control (DAC)</a:t>
            </a:r>
          </a:p>
          <a:p>
            <a:pPr marL="343332"/>
            <a:r>
              <a:rPr lang="en-US" sz="2400" b="1" dirty="0"/>
              <a:t>Non-discretionary</a:t>
            </a:r>
            <a:endParaRPr lang="en-AU" sz="2400" dirty="0"/>
          </a:p>
          <a:p>
            <a:pPr marL="743382" lvl="1"/>
            <a:r>
              <a:rPr lang="en-US" sz="2000" dirty="0"/>
              <a:t>Mandatory Access Control (MAC)</a:t>
            </a:r>
          </a:p>
          <a:p>
            <a:pPr marL="743382" lvl="1"/>
            <a:r>
              <a:rPr lang="en-US" sz="2000" dirty="0"/>
              <a:t>Role-Based Access Control (RBAC)</a:t>
            </a:r>
          </a:p>
          <a:p>
            <a:pPr marL="743382" lvl="1"/>
            <a:r>
              <a:rPr lang="en-US" sz="2000" dirty="0"/>
              <a:t>Rule-based access control</a:t>
            </a:r>
          </a:p>
          <a:p>
            <a:pPr marL="743382" lvl="1"/>
            <a:r>
              <a:rPr lang="en-US" sz="2000" dirty="0"/>
              <a:t>Attribute-Based Access Control (ABAC)</a:t>
            </a:r>
          </a:p>
          <a:p>
            <a:pPr marL="743382" lvl="1"/>
            <a:r>
              <a:rPr lang="en-US" sz="2000" dirty="0"/>
              <a:t>Risk-based access control</a:t>
            </a:r>
          </a:p>
        </p:txBody>
      </p:sp>
      <p:sp>
        <p:nvSpPr>
          <p:cNvPr id="2" name="Right Brace 1">
            <a:extLst>
              <a:ext uri="{FF2B5EF4-FFF2-40B4-BE49-F238E27FC236}">
                <a16:creationId xmlns:a16="http://schemas.microsoft.com/office/drawing/2014/main" id="{955A99B6-A745-F20C-D202-E2B288B29DF1}"/>
              </a:ext>
            </a:extLst>
          </p:cNvPr>
          <p:cNvSpPr/>
          <p:nvPr/>
        </p:nvSpPr>
        <p:spPr>
          <a:xfrm>
            <a:off x="3779912" y="4149080"/>
            <a:ext cx="3096344" cy="2232248"/>
          </a:xfrm>
          <a:prstGeom prst="rightBrace">
            <a:avLst>
              <a:gd name="adj1" fmla="val 5736"/>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262C7AE8-DB2C-8EF8-27A4-9E6E27E60DB6}"/>
              </a:ext>
            </a:extLst>
          </p:cNvPr>
          <p:cNvSpPr txBox="1"/>
          <p:nvPr/>
        </p:nvSpPr>
        <p:spPr>
          <a:xfrm>
            <a:off x="6686852" y="4875257"/>
            <a:ext cx="1941246" cy="707886"/>
          </a:xfrm>
          <a:prstGeom prst="rect">
            <a:avLst/>
          </a:prstGeom>
          <a:noFill/>
        </p:spPr>
        <p:txBody>
          <a:bodyPr wrap="square">
            <a:spAutoFit/>
          </a:bodyPr>
          <a:lstStyle/>
          <a:p>
            <a:pPr algn="ctr" latinLnBrk="0"/>
            <a:r>
              <a:rPr lang="en-US" sz="2000" dirty="0"/>
              <a:t>centralized administration</a:t>
            </a:r>
          </a:p>
        </p:txBody>
      </p:sp>
    </p:spTree>
    <p:extLst>
      <p:ext uri="{BB962C8B-B14F-4D97-AF65-F5344CB8AC3E}">
        <p14:creationId xmlns:p14="http://schemas.microsoft.com/office/powerpoint/2010/main" val="2018351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24187-A0E0-5391-2893-22AEDEFAECDA}"/>
              </a:ext>
            </a:extLst>
          </p:cNvPr>
          <p:cNvSpPr>
            <a:spLocks noGrp="1"/>
          </p:cNvSpPr>
          <p:nvPr>
            <p:ph type="title"/>
          </p:nvPr>
        </p:nvSpPr>
        <p:spPr/>
        <p:txBody>
          <a:bodyPr/>
          <a:lstStyle/>
          <a:p>
            <a:r>
              <a:rPr lang="en-US" sz="3600" dirty="0"/>
              <a:t>Discretionary Access Control (DAC)</a:t>
            </a:r>
          </a:p>
        </p:txBody>
      </p:sp>
      <p:sp>
        <p:nvSpPr>
          <p:cNvPr id="3" name="Content Placeholder 2">
            <a:extLst>
              <a:ext uri="{FF2B5EF4-FFF2-40B4-BE49-F238E27FC236}">
                <a16:creationId xmlns:a16="http://schemas.microsoft.com/office/drawing/2014/main" id="{50B4B127-AB64-8CFB-52A0-D36296B53ED4}"/>
              </a:ext>
            </a:extLst>
          </p:cNvPr>
          <p:cNvSpPr>
            <a:spLocks noGrp="1"/>
          </p:cNvSpPr>
          <p:nvPr>
            <p:ph sz="quarter" idx="11"/>
          </p:nvPr>
        </p:nvSpPr>
        <p:spPr/>
        <p:txBody>
          <a:bodyPr/>
          <a:lstStyle/>
          <a:p>
            <a:r>
              <a:rPr lang="en-US" sz="2800" dirty="0"/>
              <a:t>Controls access based on the identity of the requestor and on access rules (authorizations) stating what requestors are (or are not) allowed to do</a:t>
            </a:r>
          </a:p>
          <a:p>
            <a:r>
              <a:rPr lang="en-US" sz="2800" dirty="0"/>
              <a:t>An entity might have access rights that permit it to </a:t>
            </a:r>
            <a:r>
              <a:rPr lang="en-US" sz="2800" b="1" dirty="0"/>
              <a:t>grant another entity</a:t>
            </a:r>
            <a:r>
              <a:rPr lang="en-US" sz="2800" dirty="0"/>
              <a:t> access to some resource. That’s why this policy is called </a:t>
            </a:r>
            <a:r>
              <a:rPr lang="en-US" sz="2800" dirty="0">
                <a:solidFill>
                  <a:srgbClr val="0070C0"/>
                </a:solidFill>
              </a:rPr>
              <a:t>discretionary.</a:t>
            </a:r>
          </a:p>
          <a:p>
            <a:r>
              <a:rPr lang="en-US" sz="2800" dirty="0"/>
              <a:t>In most implementations, granting access rights is at the discretion of the </a:t>
            </a:r>
            <a:r>
              <a:rPr lang="en-US" sz="2800" b="1" dirty="0"/>
              <a:t>owner</a:t>
            </a:r>
            <a:r>
              <a:rPr lang="en-US" sz="2800" dirty="0"/>
              <a:t>.</a:t>
            </a:r>
          </a:p>
          <a:p>
            <a:endParaRPr lang="en-US" sz="2800" dirty="0"/>
          </a:p>
        </p:txBody>
      </p:sp>
    </p:spTree>
    <p:extLst>
      <p:ext uri="{BB962C8B-B14F-4D97-AF65-F5344CB8AC3E}">
        <p14:creationId xmlns:p14="http://schemas.microsoft.com/office/powerpoint/2010/main" val="1703253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7B471-379B-3D64-8D85-59044E328E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E950C1-9E44-A990-FD41-71084CA847BA}"/>
              </a:ext>
            </a:extLst>
          </p:cNvPr>
          <p:cNvSpPr>
            <a:spLocks noGrp="1"/>
          </p:cNvSpPr>
          <p:nvPr>
            <p:ph type="title"/>
          </p:nvPr>
        </p:nvSpPr>
        <p:spPr/>
        <p:txBody>
          <a:bodyPr/>
          <a:lstStyle/>
          <a:p>
            <a:r>
              <a:rPr lang="en-US" dirty="0"/>
              <a:t>DAC: Access Control Matrix</a:t>
            </a:r>
            <a:endParaRPr lang="en-IN" b="0" dirty="0"/>
          </a:p>
        </p:txBody>
      </p:sp>
      <p:sp>
        <p:nvSpPr>
          <p:cNvPr id="9" name="TextBox 8">
            <a:extLst>
              <a:ext uri="{FF2B5EF4-FFF2-40B4-BE49-F238E27FC236}">
                <a16:creationId xmlns:a16="http://schemas.microsoft.com/office/drawing/2014/main" id="{6DDA6DD6-76A3-BBC2-C3FD-0063388B3013}"/>
              </a:ext>
            </a:extLst>
          </p:cNvPr>
          <p:cNvSpPr txBox="1"/>
          <p:nvPr/>
        </p:nvSpPr>
        <p:spPr>
          <a:xfrm>
            <a:off x="782135" y="1606516"/>
            <a:ext cx="7902924" cy="707886"/>
          </a:xfrm>
          <a:prstGeom prst="rect">
            <a:avLst/>
          </a:prstGeom>
          <a:noFill/>
        </p:spPr>
        <p:txBody>
          <a:bodyPr wrap="square">
            <a:spAutoFit/>
          </a:bodyPr>
          <a:lstStyle/>
          <a:p>
            <a:r>
              <a:rPr lang="en-US" sz="2000" dirty="0"/>
              <a:t>In general, all authorization rules of a system can be put together in a matrix format</a:t>
            </a:r>
          </a:p>
        </p:txBody>
      </p:sp>
      <p:pic>
        <p:nvPicPr>
          <p:cNvPr id="3" name="Content Placeholder 9">
            <a:extLst>
              <a:ext uri="{FF2B5EF4-FFF2-40B4-BE49-F238E27FC236}">
                <a16:creationId xmlns:a16="http://schemas.microsoft.com/office/drawing/2014/main" id="{60FB9E97-AD13-291F-217C-76C87E9EA3DF}"/>
              </a:ext>
            </a:extLst>
          </p:cNvPr>
          <p:cNvPicPr>
            <a:picLocks noChangeAspect="1"/>
          </p:cNvPicPr>
          <p:nvPr/>
        </p:nvPicPr>
        <p:blipFill>
          <a:blip r:embed="rId3"/>
          <a:srcRect t="7688"/>
          <a:stretch/>
        </p:blipFill>
        <p:spPr>
          <a:xfrm>
            <a:off x="1532247" y="2982892"/>
            <a:ext cx="6132773" cy="3488924"/>
          </a:xfrm>
          <a:prstGeom prst="rect">
            <a:avLst/>
          </a:prstGeom>
        </p:spPr>
      </p:pic>
      <p:sp>
        <p:nvSpPr>
          <p:cNvPr id="4" name="TextBox 3">
            <a:extLst>
              <a:ext uri="{FF2B5EF4-FFF2-40B4-BE49-F238E27FC236}">
                <a16:creationId xmlns:a16="http://schemas.microsoft.com/office/drawing/2014/main" id="{947DCE8E-56CD-683F-8F52-31AAA7EB1063}"/>
              </a:ext>
            </a:extLst>
          </p:cNvPr>
          <p:cNvSpPr txBox="1"/>
          <p:nvPr/>
        </p:nvSpPr>
        <p:spPr>
          <a:xfrm>
            <a:off x="4296792" y="2352577"/>
            <a:ext cx="1124026" cy="400110"/>
          </a:xfrm>
          <a:prstGeom prst="rect">
            <a:avLst/>
          </a:prstGeom>
          <a:noFill/>
        </p:spPr>
        <p:txBody>
          <a:bodyPr wrap="none" rtlCol="0">
            <a:spAutoFit/>
          </a:bodyPr>
          <a:lstStyle/>
          <a:p>
            <a:r>
              <a:rPr lang="en-US" sz="2000" b="1" dirty="0"/>
              <a:t>Objects</a:t>
            </a:r>
          </a:p>
        </p:txBody>
      </p:sp>
      <p:sp>
        <p:nvSpPr>
          <p:cNvPr id="10" name="TextBox 9">
            <a:extLst>
              <a:ext uri="{FF2B5EF4-FFF2-40B4-BE49-F238E27FC236}">
                <a16:creationId xmlns:a16="http://schemas.microsoft.com/office/drawing/2014/main" id="{0A7A8487-1F45-A328-F32F-6D0965BB6043}"/>
              </a:ext>
            </a:extLst>
          </p:cNvPr>
          <p:cNvSpPr txBox="1"/>
          <p:nvPr/>
        </p:nvSpPr>
        <p:spPr>
          <a:xfrm rot="16200000">
            <a:off x="467249" y="4786539"/>
            <a:ext cx="1253869" cy="400110"/>
          </a:xfrm>
          <a:prstGeom prst="rect">
            <a:avLst/>
          </a:prstGeom>
          <a:noFill/>
        </p:spPr>
        <p:txBody>
          <a:bodyPr wrap="none" rtlCol="0">
            <a:spAutoFit/>
          </a:bodyPr>
          <a:lstStyle/>
          <a:p>
            <a:r>
              <a:rPr lang="en-US" sz="2000" b="1" dirty="0"/>
              <a:t>Subjects</a:t>
            </a:r>
          </a:p>
        </p:txBody>
      </p:sp>
      <p:sp>
        <p:nvSpPr>
          <p:cNvPr id="11" name="Right Bracket 10">
            <a:extLst>
              <a:ext uri="{FF2B5EF4-FFF2-40B4-BE49-F238E27FC236}">
                <a16:creationId xmlns:a16="http://schemas.microsoft.com/office/drawing/2014/main" id="{93746946-03E6-EF95-5F24-B049919C2497}"/>
              </a:ext>
            </a:extLst>
          </p:cNvPr>
          <p:cNvSpPr/>
          <p:nvPr/>
        </p:nvSpPr>
        <p:spPr>
          <a:xfrm flipH="1">
            <a:off x="1333342" y="3719735"/>
            <a:ext cx="88777" cy="2441359"/>
          </a:xfrm>
          <a:prstGeom prst="rightBracket">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ight Bracket 11">
            <a:extLst>
              <a:ext uri="{FF2B5EF4-FFF2-40B4-BE49-F238E27FC236}">
                <a16:creationId xmlns:a16="http://schemas.microsoft.com/office/drawing/2014/main" id="{1C82D802-6747-4B85-F1D5-6F72AA55F98C}"/>
              </a:ext>
            </a:extLst>
          </p:cNvPr>
          <p:cNvSpPr/>
          <p:nvPr/>
        </p:nvSpPr>
        <p:spPr>
          <a:xfrm rot="5400000" flipH="1">
            <a:off x="4921647" y="555400"/>
            <a:ext cx="88777" cy="4536000"/>
          </a:xfrm>
          <a:prstGeom prst="rightBracket">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4763247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63F7E-CFA5-E256-329C-95F9337D67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EAD2A1-FEC6-781B-F7C7-8985D7C412C7}"/>
              </a:ext>
            </a:extLst>
          </p:cNvPr>
          <p:cNvSpPr>
            <a:spLocks noGrp="1"/>
          </p:cNvSpPr>
          <p:nvPr>
            <p:ph type="title"/>
          </p:nvPr>
        </p:nvSpPr>
        <p:spPr/>
        <p:txBody>
          <a:bodyPr/>
          <a:lstStyle/>
          <a:p>
            <a:r>
              <a:rPr lang="en-US" dirty="0"/>
              <a:t>DAC: Access Control Matrix</a:t>
            </a:r>
            <a:endParaRPr lang="en-IN" b="0" dirty="0"/>
          </a:p>
        </p:txBody>
      </p:sp>
      <p:pic>
        <p:nvPicPr>
          <p:cNvPr id="4" name="Content Placeholder 9">
            <a:extLst>
              <a:ext uri="{FF2B5EF4-FFF2-40B4-BE49-F238E27FC236}">
                <a16:creationId xmlns:a16="http://schemas.microsoft.com/office/drawing/2014/main" id="{20EDC829-0535-E85C-4933-B06D6303A327}"/>
              </a:ext>
            </a:extLst>
          </p:cNvPr>
          <p:cNvPicPr>
            <a:picLocks noChangeAspect="1"/>
          </p:cNvPicPr>
          <p:nvPr/>
        </p:nvPicPr>
        <p:blipFill>
          <a:blip r:embed="rId3"/>
          <a:srcRect t="7688"/>
          <a:stretch/>
        </p:blipFill>
        <p:spPr>
          <a:xfrm>
            <a:off x="1532247" y="2982892"/>
            <a:ext cx="6132773" cy="3488924"/>
          </a:xfrm>
          <a:prstGeom prst="rect">
            <a:avLst/>
          </a:prstGeom>
        </p:spPr>
      </p:pic>
      <p:sp>
        <p:nvSpPr>
          <p:cNvPr id="5" name="TextBox 4">
            <a:extLst>
              <a:ext uri="{FF2B5EF4-FFF2-40B4-BE49-F238E27FC236}">
                <a16:creationId xmlns:a16="http://schemas.microsoft.com/office/drawing/2014/main" id="{C65545C8-0628-1A08-853B-1A1C0AB5B5FE}"/>
              </a:ext>
            </a:extLst>
          </p:cNvPr>
          <p:cNvSpPr txBox="1"/>
          <p:nvPr/>
        </p:nvSpPr>
        <p:spPr>
          <a:xfrm>
            <a:off x="4296792" y="2352577"/>
            <a:ext cx="1124026" cy="400110"/>
          </a:xfrm>
          <a:prstGeom prst="rect">
            <a:avLst/>
          </a:prstGeom>
          <a:noFill/>
        </p:spPr>
        <p:txBody>
          <a:bodyPr wrap="none" rtlCol="0">
            <a:spAutoFit/>
          </a:bodyPr>
          <a:lstStyle/>
          <a:p>
            <a:r>
              <a:rPr lang="en-US" sz="2000" b="1" dirty="0"/>
              <a:t>Objects</a:t>
            </a:r>
          </a:p>
        </p:txBody>
      </p:sp>
      <p:sp>
        <p:nvSpPr>
          <p:cNvPr id="10" name="TextBox 9">
            <a:extLst>
              <a:ext uri="{FF2B5EF4-FFF2-40B4-BE49-F238E27FC236}">
                <a16:creationId xmlns:a16="http://schemas.microsoft.com/office/drawing/2014/main" id="{5EDDCF20-89D4-E6F9-BFF2-8AF5911AAA54}"/>
              </a:ext>
            </a:extLst>
          </p:cNvPr>
          <p:cNvSpPr txBox="1"/>
          <p:nvPr/>
        </p:nvSpPr>
        <p:spPr>
          <a:xfrm rot="16200000">
            <a:off x="467249" y="4786539"/>
            <a:ext cx="1253869" cy="400110"/>
          </a:xfrm>
          <a:prstGeom prst="rect">
            <a:avLst/>
          </a:prstGeom>
          <a:noFill/>
        </p:spPr>
        <p:txBody>
          <a:bodyPr wrap="none" rtlCol="0">
            <a:spAutoFit/>
          </a:bodyPr>
          <a:lstStyle/>
          <a:p>
            <a:r>
              <a:rPr lang="en-US" sz="2000" b="1" dirty="0"/>
              <a:t>Subjects</a:t>
            </a:r>
          </a:p>
        </p:txBody>
      </p:sp>
      <p:sp>
        <p:nvSpPr>
          <p:cNvPr id="11" name="Right Bracket 10">
            <a:extLst>
              <a:ext uri="{FF2B5EF4-FFF2-40B4-BE49-F238E27FC236}">
                <a16:creationId xmlns:a16="http://schemas.microsoft.com/office/drawing/2014/main" id="{9EEFF2CD-53B6-B697-AB4D-699FB5897CC2}"/>
              </a:ext>
            </a:extLst>
          </p:cNvPr>
          <p:cNvSpPr/>
          <p:nvPr/>
        </p:nvSpPr>
        <p:spPr>
          <a:xfrm flipH="1">
            <a:off x="1333342" y="3719735"/>
            <a:ext cx="88777" cy="2441359"/>
          </a:xfrm>
          <a:prstGeom prst="rightBracket">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ight Bracket 11">
            <a:extLst>
              <a:ext uri="{FF2B5EF4-FFF2-40B4-BE49-F238E27FC236}">
                <a16:creationId xmlns:a16="http://schemas.microsoft.com/office/drawing/2014/main" id="{6B3C655C-64AD-32D5-314D-A96BA1D5D00B}"/>
              </a:ext>
            </a:extLst>
          </p:cNvPr>
          <p:cNvSpPr/>
          <p:nvPr/>
        </p:nvSpPr>
        <p:spPr>
          <a:xfrm rot="5400000" flipH="1">
            <a:off x="4921647" y="555400"/>
            <a:ext cx="88777" cy="4536000"/>
          </a:xfrm>
          <a:prstGeom prst="rightBracket">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allout: Line 2">
            <a:extLst>
              <a:ext uri="{FF2B5EF4-FFF2-40B4-BE49-F238E27FC236}">
                <a16:creationId xmlns:a16="http://schemas.microsoft.com/office/drawing/2014/main" id="{442967B5-20BE-FC94-BC19-A6BF17373EFF}"/>
              </a:ext>
            </a:extLst>
          </p:cNvPr>
          <p:cNvSpPr/>
          <p:nvPr/>
        </p:nvSpPr>
        <p:spPr>
          <a:xfrm>
            <a:off x="156100" y="2651556"/>
            <a:ext cx="2443260" cy="933831"/>
          </a:xfrm>
          <a:prstGeom prst="borderCallout1">
            <a:avLst>
              <a:gd name="adj1" fmla="val 103160"/>
              <a:gd name="adj2" fmla="val 18922"/>
              <a:gd name="adj3" fmla="val 189729"/>
              <a:gd name="adj4" fmla="val 33585"/>
            </a:avLst>
          </a:prstGeom>
          <a:solidFill>
            <a:schemeClr val="accent2">
              <a:lumMod val="75000"/>
            </a:schemeClr>
          </a:solidFill>
          <a:ln>
            <a:solidFill>
              <a:schemeClr val="accent2">
                <a:lumMod val="75000"/>
              </a:schemeClr>
            </a:solidFill>
            <a:prstDash val="sys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latinLnBrk="0"/>
            <a:r>
              <a:rPr lang="en-US" sz="1800" dirty="0"/>
              <a:t>Here, subjects could be individual users or groups of users</a:t>
            </a:r>
          </a:p>
        </p:txBody>
      </p:sp>
      <p:sp>
        <p:nvSpPr>
          <p:cNvPr id="13" name="TextBox 12">
            <a:extLst>
              <a:ext uri="{FF2B5EF4-FFF2-40B4-BE49-F238E27FC236}">
                <a16:creationId xmlns:a16="http://schemas.microsoft.com/office/drawing/2014/main" id="{3926EDC2-2167-21ED-21DB-7AC2F8C5FD31}"/>
              </a:ext>
            </a:extLst>
          </p:cNvPr>
          <p:cNvSpPr txBox="1"/>
          <p:nvPr/>
        </p:nvSpPr>
        <p:spPr>
          <a:xfrm>
            <a:off x="782135" y="1606516"/>
            <a:ext cx="7902924" cy="707886"/>
          </a:xfrm>
          <a:prstGeom prst="rect">
            <a:avLst/>
          </a:prstGeom>
          <a:noFill/>
        </p:spPr>
        <p:txBody>
          <a:bodyPr wrap="square">
            <a:spAutoFit/>
          </a:bodyPr>
          <a:lstStyle/>
          <a:p>
            <a:r>
              <a:rPr lang="en-US" sz="2000" dirty="0"/>
              <a:t>In general, all authorization rules of a system can be put together in a matrix format</a:t>
            </a:r>
          </a:p>
        </p:txBody>
      </p:sp>
    </p:spTree>
    <p:extLst>
      <p:ext uri="{BB962C8B-B14F-4D97-AF65-F5344CB8AC3E}">
        <p14:creationId xmlns:p14="http://schemas.microsoft.com/office/powerpoint/2010/main" val="19383201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E522B-EC56-082A-260D-D0762214AF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00354E-6D9D-F205-B23C-00F1D6BB724A}"/>
              </a:ext>
            </a:extLst>
          </p:cNvPr>
          <p:cNvSpPr>
            <a:spLocks noGrp="1"/>
          </p:cNvSpPr>
          <p:nvPr>
            <p:ph type="title"/>
          </p:nvPr>
        </p:nvSpPr>
        <p:spPr/>
        <p:txBody>
          <a:bodyPr/>
          <a:lstStyle/>
          <a:p>
            <a:r>
              <a:rPr lang="en-US" dirty="0"/>
              <a:t>Access Control Lists (ACL)</a:t>
            </a:r>
            <a:endParaRPr lang="en-IN" b="0" dirty="0"/>
          </a:p>
        </p:txBody>
      </p:sp>
      <p:sp>
        <p:nvSpPr>
          <p:cNvPr id="9" name="TextBox 8">
            <a:extLst>
              <a:ext uri="{FF2B5EF4-FFF2-40B4-BE49-F238E27FC236}">
                <a16:creationId xmlns:a16="http://schemas.microsoft.com/office/drawing/2014/main" id="{F1E7322D-B7B2-C6BB-C3F0-0235B7A07CAB}"/>
              </a:ext>
            </a:extLst>
          </p:cNvPr>
          <p:cNvSpPr txBox="1"/>
          <p:nvPr/>
        </p:nvSpPr>
        <p:spPr>
          <a:xfrm>
            <a:off x="782135" y="1606516"/>
            <a:ext cx="7902924" cy="707886"/>
          </a:xfrm>
          <a:prstGeom prst="rect">
            <a:avLst/>
          </a:prstGeom>
          <a:noFill/>
        </p:spPr>
        <p:txBody>
          <a:bodyPr wrap="square">
            <a:spAutoFit/>
          </a:bodyPr>
          <a:lstStyle/>
          <a:p>
            <a:r>
              <a:rPr lang="en-US" sz="2000" dirty="0"/>
              <a:t>Columns in the access matrix represent ACL for each object: a list of users with their permitted access rights.</a:t>
            </a:r>
          </a:p>
        </p:txBody>
      </p:sp>
      <p:pic>
        <p:nvPicPr>
          <p:cNvPr id="15" name="Content Placeholder 9">
            <a:extLst>
              <a:ext uri="{FF2B5EF4-FFF2-40B4-BE49-F238E27FC236}">
                <a16:creationId xmlns:a16="http://schemas.microsoft.com/office/drawing/2014/main" id="{D4F48E47-09AE-9CB3-4B1F-2F2BE455BD37}"/>
              </a:ext>
            </a:extLst>
          </p:cNvPr>
          <p:cNvPicPr>
            <a:picLocks noChangeAspect="1"/>
          </p:cNvPicPr>
          <p:nvPr/>
        </p:nvPicPr>
        <p:blipFill>
          <a:blip r:embed="rId3"/>
          <a:srcRect t="7688"/>
          <a:stretch/>
        </p:blipFill>
        <p:spPr>
          <a:xfrm>
            <a:off x="1532247" y="2982892"/>
            <a:ext cx="6132773" cy="3488924"/>
          </a:xfrm>
          <a:prstGeom prst="rect">
            <a:avLst/>
          </a:prstGeom>
        </p:spPr>
      </p:pic>
      <p:sp>
        <p:nvSpPr>
          <p:cNvPr id="16" name="TextBox 15">
            <a:extLst>
              <a:ext uri="{FF2B5EF4-FFF2-40B4-BE49-F238E27FC236}">
                <a16:creationId xmlns:a16="http://schemas.microsoft.com/office/drawing/2014/main" id="{C1331991-65E1-5C1F-0DCB-0C00B8FF732C}"/>
              </a:ext>
            </a:extLst>
          </p:cNvPr>
          <p:cNvSpPr txBox="1"/>
          <p:nvPr/>
        </p:nvSpPr>
        <p:spPr>
          <a:xfrm>
            <a:off x="4296792" y="2352577"/>
            <a:ext cx="1124026" cy="400110"/>
          </a:xfrm>
          <a:prstGeom prst="rect">
            <a:avLst/>
          </a:prstGeom>
          <a:noFill/>
        </p:spPr>
        <p:txBody>
          <a:bodyPr wrap="none" rtlCol="0">
            <a:spAutoFit/>
          </a:bodyPr>
          <a:lstStyle/>
          <a:p>
            <a:r>
              <a:rPr lang="en-US" sz="2000" b="1" dirty="0"/>
              <a:t>Objects</a:t>
            </a:r>
          </a:p>
        </p:txBody>
      </p:sp>
      <p:sp>
        <p:nvSpPr>
          <p:cNvPr id="17" name="TextBox 16">
            <a:extLst>
              <a:ext uri="{FF2B5EF4-FFF2-40B4-BE49-F238E27FC236}">
                <a16:creationId xmlns:a16="http://schemas.microsoft.com/office/drawing/2014/main" id="{8FBB38CB-3C82-C2D8-F7C7-813BEBA388C7}"/>
              </a:ext>
            </a:extLst>
          </p:cNvPr>
          <p:cNvSpPr txBox="1"/>
          <p:nvPr/>
        </p:nvSpPr>
        <p:spPr>
          <a:xfrm rot="16200000">
            <a:off x="467249" y="4786539"/>
            <a:ext cx="1253869" cy="400110"/>
          </a:xfrm>
          <a:prstGeom prst="rect">
            <a:avLst/>
          </a:prstGeom>
          <a:noFill/>
        </p:spPr>
        <p:txBody>
          <a:bodyPr wrap="none" rtlCol="0">
            <a:spAutoFit/>
          </a:bodyPr>
          <a:lstStyle/>
          <a:p>
            <a:r>
              <a:rPr lang="en-US" sz="2000" b="1" dirty="0"/>
              <a:t>Subjects</a:t>
            </a:r>
          </a:p>
        </p:txBody>
      </p:sp>
      <p:sp>
        <p:nvSpPr>
          <p:cNvPr id="18" name="Right Bracket 17">
            <a:extLst>
              <a:ext uri="{FF2B5EF4-FFF2-40B4-BE49-F238E27FC236}">
                <a16:creationId xmlns:a16="http://schemas.microsoft.com/office/drawing/2014/main" id="{25CD103B-F04A-C71F-87A2-C8AB11EB4D5F}"/>
              </a:ext>
            </a:extLst>
          </p:cNvPr>
          <p:cNvSpPr/>
          <p:nvPr/>
        </p:nvSpPr>
        <p:spPr>
          <a:xfrm flipH="1">
            <a:off x="1333342" y="3719735"/>
            <a:ext cx="88777" cy="2441359"/>
          </a:xfrm>
          <a:prstGeom prst="rightBracket">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Right Bracket 18">
            <a:extLst>
              <a:ext uri="{FF2B5EF4-FFF2-40B4-BE49-F238E27FC236}">
                <a16:creationId xmlns:a16="http://schemas.microsoft.com/office/drawing/2014/main" id="{8FE466BB-2B29-615C-41DB-FB51A4B39DD5}"/>
              </a:ext>
            </a:extLst>
          </p:cNvPr>
          <p:cNvSpPr/>
          <p:nvPr/>
        </p:nvSpPr>
        <p:spPr>
          <a:xfrm rot="5400000" flipH="1">
            <a:off x="4921647" y="555400"/>
            <a:ext cx="88777" cy="4536000"/>
          </a:xfrm>
          <a:prstGeom prst="rightBracket">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ABF30ED5-B85A-180F-8888-A730FB40082A}"/>
              </a:ext>
            </a:extLst>
          </p:cNvPr>
          <p:cNvSpPr/>
          <p:nvPr/>
        </p:nvSpPr>
        <p:spPr>
          <a:xfrm>
            <a:off x="2659705" y="2947380"/>
            <a:ext cx="820342" cy="3577701"/>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0DC78326-1408-DAC6-7956-BF8B35B35440}"/>
              </a:ext>
            </a:extLst>
          </p:cNvPr>
          <p:cNvSpPr/>
          <p:nvPr/>
        </p:nvSpPr>
        <p:spPr>
          <a:xfrm>
            <a:off x="3913255" y="2938503"/>
            <a:ext cx="820342" cy="3577701"/>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12F51724-9E61-41AC-8CBF-057CE14869F0}"/>
              </a:ext>
            </a:extLst>
          </p:cNvPr>
          <p:cNvSpPr/>
          <p:nvPr/>
        </p:nvSpPr>
        <p:spPr>
          <a:xfrm>
            <a:off x="5193439" y="2929626"/>
            <a:ext cx="820342" cy="3577701"/>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76B1E4AA-1378-097F-C369-C99BEFBEF32B}"/>
              </a:ext>
            </a:extLst>
          </p:cNvPr>
          <p:cNvSpPr/>
          <p:nvPr/>
        </p:nvSpPr>
        <p:spPr>
          <a:xfrm>
            <a:off x="6491379" y="2920749"/>
            <a:ext cx="820342" cy="3577701"/>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4599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CED16-65C4-090E-5F0D-C5A47D6031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23CFC-DB79-CFA1-A209-1C73E2D44C31}"/>
              </a:ext>
            </a:extLst>
          </p:cNvPr>
          <p:cNvSpPr>
            <a:spLocks noGrp="1"/>
          </p:cNvSpPr>
          <p:nvPr>
            <p:ph type="title"/>
          </p:nvPr>
        </p:nvSpPr>
        <p:spPr/>
        <p:txBody>
          <a:bodyPr/>
          <a:lstStyle/>
          <a:p>
            <a:r>
              <a:rPr lang="en-US" dirty="0"/>
              <a:t>Access Control Lists (ACL)</a:t>
            </a:r>
            <a:endParaRPr lang="en-IN" b="0" dirty="0"/>
          </a:p>
        </p:txBody>
      </p:sp>
      <p:sp>
        <p:nvSpPr>
          <p:cNvPr id="9" name="TextBox 8">
            <a:extLst>
              <a:ext uri="{FF2B5EF4-FFF2-40B4-BE49-F238E27FC236}">
                <a16:creationId xmlns:a16="http://schemas.microsoft.com/office/drawing/2014/main" id="{F7E6CE9E-947A-C777-47ED-F643243E5CFB}"/>
              </a:ext>
            </a:extLst>
          </p:cNvPr>
          <p:cNvSpPr txBox="1"/>
          <p:nvPr/>
        </p:nvSpPr>
        <p:spPr>
          <a:xfrm>
            <a:off x="782135" y="1650906"/>
            <a:ext cx="7902924" cy="400110"/>
          </a:xfrm>
          <a:prstGeom prst="rect">
            <a:avLst/>
          </a:prstGeom>
          <a:noFill/>
        </p:spPr>
        <p:txBody>
          <a:bodyPr wrap="square">
            <a:spAutoFit/>
          </a:bodyPr>
          <a:lstStyle/>
          <a:p>
            <a:r>
              <a:rPr lang="en-US" sz="2000" dirty="0"/>
              <a:t>ACLs can be stored as a linked list (arrays would be very sparse).</a:t>
            </a:r>
          </a:p>
        </p:txBody>
      </p:sp>
      <p:pic>
        <p:nvPicPr>
          <p:cNvPr id="11" name="Content Placeholder 9">
            <a:extLst>
              <a:ext uri="{FF2B5EF4-FFF2-40B4-BE49-F238E27FC236}">
                <a16:creationId xmlns:a16="http://schemas.microsoft.com/office/drawing/2014/main" id="{15B37BF3-8DB4-5F6E-2613-ECF8F6E0542A}"/>
              </a:ext>
            </a:extLst>
          </p:cNvPr>
          <p:cNvPicPr>
            <a:picLocks noChangeAspect="1"/>
          </p:cNvPicPr>
          <p:nvPr/>
        </p:nvPicPr>
        <p:blipFill>
          <a:blip r:embed="rId3"/>
          <a:srcRect t="7688"/>
          <a:stretch/>
        </p:blipFill>
        <p:spPr>
          <a:xfrm>
            <a:off x="564582" y="2920746"/>
            <a:ext cx="4959131" cy="2821241"/>
          </a:xfrm>
          <a:prstGeom prst="rect">
            <a:avLst/>
          </a:prstGeom>
        </p:spPr>
      </p:pic>
      <p:sp>
        <p:nvSpPr>
          <p:cNvPr id="12" name="Rectangle: Rounded Corners 11">
            <a:extLst>
              <a:ext uri="{FF2B5EF4-FFF2-40B4-BE49-F238E27FC236}">
                <a16:creationId xmlns:a16="http://schemas.microsoft.com/office/drawing/2014/main" id="{1302A780-DAD7-8322-043B-2BCC9236DC9A}"/>
              </a:ext>
            </a:extLst>
          </p:cNvPr>
          <p:cNvSpPr/>
          <p:nvPr/>
        </p:nvSpPr>
        <p:spPr>
          <a:xfrm>
            <a:off x="1496729" y="2894115"/>
            <a:ext cx="663352" cy="284400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C74E96BA-765E-31F8-69E6-9D217DFA51D9}"/>
              </a:ext>
            </a:extLst>
          </p:cNvPr>
          <p:cNvSpPr/>
          <p:nvPr/>
        </p:nvSpPr>
        <p:spPr>
          <a:xfrm>
            <a:off x="2522419" y="2894115"/>
            <a:ext cx="663352" cy="284400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C38050CB-6FCA-7DF4-9F98-93BA358FE803}"/>
              </a:ext>
            </a:extLst>
          </p:cNvPr>
          <p:cNvSpPr/>
          <p:nvPr/>
        </p:nvSpPr>
        <p:spPr>
          <a:xfrm>
            <a:off x="3548109" y="2894115"/>
            <a:ext cx="663352" cy="284400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58599A9F-8AAA-342C-63B5-4D48F7D5E84B}"/>
              </a:ext>
            </a:extLst>
          </p:cNvPr>
          <p:cNvSpPr/>
          <p:nvPr/>
        </p:nvSpPr>
        <p:spPr>
          <a:xfrm>
            <a:off x="4573800" y="2894115"/>
            <a:ext cx="663352" cy="284400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Content Placeholder 15">
            <a:extLst>
              <a:ext uri="{FF2B5EF4-FFF2-40B4-BE49-F238E27FC236}">
                <a16:creationId xmlns:a16="http://schemas.microsoft.com/office/drawing/2014/main" id="{D928B75F-A70D-23F9-6E63-2B11112DE9CD}"/>
              </a:ext>
            </a:extLst>
          </p:cNvPr>
          <p:cNvPicPr>
            <a:picLocks noChangeAspect="1"/>
          </p:cNvPicPr>
          <p:nvPr/>
        </p:nvPicPr>
        <p:blipFill>
          <a:blip r:embed="rId4"/>
          <a:stretch>
            <a:fillRect/>
          </a:stretch>
        </p:blipFill>
        <p:spPr>
          <a:xfrm>
            <a:off x="5779363" y="2164805"/>
            <a:ext cx="3177652" cy="4548266"/>
          </a:xfrm>
          <a:prstGeom prst="rect">
            <a:avLst/>
          </a:prstGeom>
          <a:noFill/>
          <a:ln>
            <a:noFill/>
          </a:ln>
        </p:spPr>
      </p:pic>
    </p:spTree>
    <p:extLst>
      <p:ext uri="{BB962C8B-B14F-4D97-AF65-F5344CB8AC3E}">
        <p14:creationId xmlns:p14="http://schemas.microsoft.com/office/powerpoint/2010/main" val="13469081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D3930-38A4-6725-FFBB-DC90AE1110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5D56DB-593E-1364-A62D-74EC50BC719C}"/>
              </a:ext>
            </a:extLst>
          </p:cNvPr>
          <p:cNvSpPr>
            <a:spLocks noGrp="1"/>
          </p:cNvSpPr>
          <p:nvPr>
            <p:ph type="title"/>
          </p:nvPr>
        </p:nvSpPr>
        <p:spPr/>
        <p:txBody>
          <a:bodyPr/>
          <a:lstStyle/>
          <a:p>
            <a:r>
              <a:rPr lang="en-US" dirty="0"/>
              <a:t>Capability Tickets</a:t>
            </a:r>
            <a:endParaRPr lang="en-IN" b="0" dirty="0"/>
          </a:p>
        </p:txBody>
      </p:sp>
      <p:sp>
        <p:nvSpPr>
          <p:cNvPr id="9" name="TextBox 8">
            <a:extLst>
              <a:ext uri="{FF2B5EF4-FFF2-40B4-BE49-F238E27FC236}">
                <a16:creationId xmlns:a16="http://schemas.microsoft.com/office/drawing/2014/main" id="{0FBD626C-DC85-A0EF-E6B2-9C6DEB805443}"/>
              </a:ext>
            </a:extLst>
          </p:cNvPr>
          <p:cNvSpPr txBox="1"/>
          <p:nvPr/>
        </p:nvSpPr>
        <p:spPr>
          <a:xfrm>
            <a:off x="782135" y="1606516"/>
            <a:ext cx="7902924" cy="707886"/>
          </a:xfrm>
          <a:prstGeom prst="rect">
            <a:avLst/>
          </a:prstGeom>
          <a:noFill/>
        </p:spPr>
        <p:txBody>
          <a:bodyPr wrap="square">
            <a:spAutoFit/>
          </a:bodyPr>
          <a:lstStyle/>
          <a:p>
            <a:r>
              <a:rPr lang="en-US" sz="2000" dirty="0"/>
              <a:t>Rows in the access matrix represent the capability tickets of users.</a:t>
            </a:r>
          </a:p>
          <a:p>
            <a:r>
              <a:rPr lang="en-US" sz="2000" dirty="0"/>
              <a:t>A user’s ticket specifies their authorized objects and operations.</a:t>
            </a:r>
          </a:p>
        </p:txBody>
      </p:sp>
      <p:pic>
        <p:nvPicPr>
          <p:cNvPr id="8" name="Content Placeholder 9">
            <a:extLst>
              <a:ext uri="{FF2B5EF4-FFF2-40B4-BE49-F238E27FC236}">
                <a16:creationId xmlns:a16="http://schemas.microsoft.com/office/drawing/2014/main" id="{7BC77F3A-529E-C14C-FAA6-4238959944EA}"/>
              </a:ext>
            </a:extLst>
          </p:cNvPr>
          <p:cNvPicPr>
            <a:picLocks noChangeAspect="1"/>
          </p:cNvPicPr>
          <p:nvPr/>
        </p:nvPicPr>
        <p:blipFill>
          <a:blip r:embed="rId3"/>
          <a:srcRect t="7688"/>
          <a:stretch/>
        </p:blipFill>
        <p:spPr>
          <a:xfrm>
            <a:off x="1532247" y="2982892"/>
            <a:ext cx="6132773" cy="3488924"/>
          </a:xfrm>
          <a:prstGeom prst="rect">
            <a:avLst/>
          </a:prstGeom>
        </p:spPr>
      </p:pic>
      <p:sp>
        <p:nvSpPr>
          <p:cNvPr id="15" name="TextBox 14">
            <a:extLst>
              <a:ext uri="{FF2B5EF4-FFF2-40B4-BE49-F238E27FC236}">
                <a16:creationId xmlns:a16="http://schemas.microsoft.com/office/drawing/2014/main" id="{9A9AFE5B-2E88-4D88-4116-A29418D69C41}"/>
              </a:ext>
            </a:extLst>
          </p:cNvPr>
          <p:cNvSpPr txBox="1"/>
          <p:nvPr/>
        </p:nvSpPr>
        <p:spPr>
          <a:xfrm>
            <a:off x="4296792" y="2352577"/>
            <a:ext cx="1124026" cy="400110"/>
          </a:xfrm>
          <a:prstGeom prst="rect">
            <a:avLst/>
          </a:prstGeom>
          <a:noFill/>
        </p:spPr>
        <p:txBody>
          <a:bodyPr wrap="none" rtlCol="0">
            <a:spAutoFit/>
          </a:bodyPr>
          <a:lstStyle/>
          <a:p>
            <a:r>
              <a:rPr lang="en-US" sz="2000" b="1" dirty="0"/>
              <a:t>Objects</a:t>
            </a:r>
          </a:p>
        </p:txBody>
      </p:sp>
      <p:sp>
        <p:nvSpPr>
          <p:cNvPr id="16" name="TextBox 15">
            <a:extLst>
              <a:ext uri="{FF2B5EF4-FFF2-40B4-BE49-F238E27FC236}">
                <a16:creationId xmlns:a16="http://schemas.microsoft.com/office/drawing/2014/main" id="{72740F69-EC46-F297-EAF5-0103F06C1FD7}"/>
              </a:ext>
            </a:extLst>
          </p:cNvPr>
          <p:cNvSpPr txBox="1"/>
          <p:nvPr/>
        </p:nvSpPr>
        <p:spPr>
          <a:xfrm rot="16200000">
            <a:off x="467249" y="4786539"/>
            <a:ext cx="1253869" cy="400110"/>
          </a:xfrm>
          <a:prstGeom prst="rect">
            <a:avLst/>
          </a:prstGeom>
          <a:noFill/>
        </p:spPr>
        <p:txBody>
          <a:bodyPr wrap="none" rtlCol="0">
            <a:spAutoFit/>
          </a:bodyPr>
          <a:lstStyle/>
          <a:p>
            <a:r>
              <a:rPr lang="en-US" sz="2000" b="1" dirty="0"/>
              <a:t>Subjects</a:t>
            </a:r>
          </a:p>
        </p:txBody>
      </p:sp>
      <p:sp>
        <p:nvSpPr>
          <p:cNvPr id="17" name="Right Bracket 16">
            <a:extLst>
              <a:ext uri="{FF2B5EF4-FFF2-40B4-BE49-F238E27FC236}">
                <a16:creationId xmlns:a16="http://schemas.microsoft.com/office/drawing/2014/main" id="{11483C14-0467-2CDF-DBC7-C0A0E8FD8E1C}"/>
              </a:ext>
            </a:extLst>
          </p:cNvPr>
          <p:cNvSpPr/>
          <p:nvPr/>
        </p:nvSpPr>
        <p:spPr>
          <a:xfrm flipH="1">
            <a:off x="1333342" y="3719735"/>
            <a:ext cx="88777" cy="2441359"/>
          </a:xfrm>
          <a:prstGeom prst="rightBracket">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Right Bracket 17">
            <a:extLst>
              <a:ext uri="{FF2B5EF4-FFF2-40B4-BE49-F238E27FC236}">
                <a16:creationId xmlns:a16="http://schemas.microsoft.com/office/drawing/2014/main" id="{06BC5802-2B3F-2D89-E0DB-89E7321415BF}"/>
              </a:ext>
            </a:extLst>
          </p:cNvPr>
          <p:cNvSpPr/>
          <p:nvPr/>
        </p:nvSpPr>
        <p:spPr>
          <a:xfrm rot="5400000" flipH="1">
            <a:off x="4921647" y="555400"/>
            <a:ext cx="88777" cy="4536000"/>
          </a:xfrm>
          <a:prstGeom prst="rightBracket">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41AB9DBE-49D5-13DD-A87B-8662BE359756}"/>
              </a:ext>
            </a:extLst>
          </p:cNvPr>
          <p:cNvSpPr/>
          <p:nvPr/>
        </p:nvSpPr>
        <p:spPr>
          <a:xfrm>
            <a:off x="1541119" y="3489508"/>
            <a:ext cx="6192000" cy="82800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931E284C-2197-7AD1-600F-E96BFE289A93}"/>
              </a:ext>
            </a:extLst>
          </p:cNvPr>
          <p:cNvSpPr/>
          <p:nvPr/>
        </p:nvSpPr>
        <p:spPr>
          <a:xfrm>
            <a:off x="1541119" y="4492390"/>
            <a:ext cx="6192000" cy="82800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D1138EE6-3381-7268-4104-AE6DD9E2E6F7}"/>
              </a:ext>
            </a:extLst>
          </p:cNvPr>
          <p:cNvSpPr/>
          <p:nvPr/>
        </p:nvSpPr>
        <p:spPr>
          <a:xfrm>
            <a:off x="1541119" y="5495273"/>
            <a:ext cx="6192000" cy="82800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125195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F2D4E-D60C-2C9E-295E-13DF0D3578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B347DF-D39D-EAF8-FD82-3B0D923A212C}"/>
              </a:ext>
            </a:extLst>
          </p:cNvPr>
          <p:cNvSpPr>
            <a:spLocks noGrp="1"/>
          </p:cNvSpPr>
          <p:nvPr>
            <p:ph type="title"/>
          </p:nvPr>
        </p:nvSpPr>
        <p:spPr/>
        <p:txBody>
          <a:bodyPr/>
          <a:lstStyle/>
          <a:p>
            <a:r>
              <a:rPr lang="en-US" dirty="0"/>
              <a:t>Capability Tickets</a:t>
            </a:r>
            <a:endParaRPr lang="en-IN" b="0" dirty="0"/>
          </a:p>
        </p:txBody>
      </p:sp>
      <p:sp>
        <p:nvSpPr>
          <p:cNvPr id="9" name="TextBox 8">
            <a:extLst>
              <a:ext uri="{FF2B5EF4-FFF2-40B4-BE49-F238E27FC236}">
                <a16:creationId xmlns:a16="http://schemas.microsoft.com/office/drawing/2014/main" id="{080FED29-0993-E013-1FF7-3605C23CEDAD}"/>
              </a:ext>
            </a:extLst>
          </p:cNvPr>
          <p:cNvSpPr txBox="1"/>
          <p:nvPr/>
        </p:nvSpPr>
        <p:spPr>
          <a:xfrm>
            <a:off x="782135" y="1606516"/>
            <a:ext cx="7902924" cy="400110"/>
          </a:xfrm>
          <a:prstGeom prst="rect">
            <a:avLst/>
          </a:prstGeom>
          <a:noFill/>
        </p:spPr>
        <p:txBody>
          <a:bodyPr wrap="square">
            <a:spAutoFit/>
          </a:bodyPr>
          <a:lstStyle/>
          <a:p>
            <a:r>
              <a:rPr lang="en-US" sz="2000" dirty="0"/>
              <a:t>Tickets can also be maintained as linked lists.</a:t>
            </a:r>
          </a:p>
        </p:txBody>
      </p:sp>
      <p:pic>
        <p:nvPicPr>
          <p:cNvPr id="10" name="Content Placeholder 9">
            <a:extLst>
              <a:ext uri="{FF2B5EF4-FFF2-40B4-BE49-F238E27FC236}">
                <a16:creationId xmlns:a16="http://schemas.microsoft.com/office/drawing/2014/main" id="{31C8CE7E-F9B9-6D94-B6F2-A435267931D7}"/>
              </a:ext>
            </a:extLst>
          </p:cNvPr>
          <p:cNvPicPr>
            <a:picLocks noChangeAspect="1"/>
          </p:cNvPicPr>
          <p:nvPr/>
        </p:nvPicPr>
        <p:blipFill>
          <a:blip r:embed="rId3"/>
          <a:srcRect t="7688"/>
          <a:stretch/>
        </p:blipFill>
        <p:spPr>
          <a:xfrm>
            <a:off x="289374" y="3347467"/>
            <a:ext cx="4209048" cy="2394520"/>
          </a:xfrm>
          <a:prstGeom prst="rect">
            <a:avLst/>
          </a:prstGeom>
          <a:noFill/>
          <a:ln>
            <a:noFill/>
          </a:ln>
        </p:spPr>
      </p:pic>
      <p:sp>
        <p:nvSpPr>
          <p:cNvPr id="11" name="Rectangle: Rounded Corners 10">
            <a:extLst>
              <a:ext uri="{FF2B5EF4-FFF2-40B4-BE49-F238E27FC236}">
                <a16:creationId xmlns:a16="http://schemas.microsoft.com/office/drawing/2014/main" id="{490A5AD4-5745-CFF4-EB87-BC3AB7F5E28E}"/>
              </a:ext>
            </a:extLst>
          </p:cNvPr>
          <p:cNvSpPr/>
          <p:nvPr/>
        </p:nvSpPr>
        <p:spPr>
          <a:xfrm>
            <a:off x="280483" y="3711454"/>
            <a:ext cx="4212000" cy="50400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EC1D3417-BD1F-3A6A-62F4-002DCE3B89D3}"/>
              </a:ext>
            </a:extLst>
          </p:cNvPr>
          <p:cNvSpPr/>
          <p:nvPr/>
        </p:nvSpPr>
        <p:spPr>
          <a:xfrm>
            <a:off x="280483" y="4399178"/>
            <a:ext cx="4212000" cy="50400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7D447178-FCA2-200E-1E23-37F2E48A3C43}"/>
              </a:ext>
            </a:extLst>
          </p:cNvPr>
          <p:cNvSpPr/>
          <p:nvPr/>
        </p:nvSpPr>
        <p:spPr>
          <a:xfrm>
            <a:off x="280483" y="5086902"/>
            <a:ext cx="4212000" cy="50400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Content Placeholder 5">
            <a:extLst>
              <a:ext uri="{FF2B5EF4-FFF2-40B4-BE49-F238E27FC236}">
                <a16:creationId xmlns:a16="http://schemas.microsoft.com/office/drawing/2014/main" id="{DF53A9DE-6DD8-D35E-3D40-91A3BF8E194E}"/>
              </a:ext>
            </a:extLst>
          </p:cNvPr>
          <p:cNvPicPr>
            <a:picLocks noChangeAspect="1"/>
          </p:cNvPicPr>
          <p:nvPr/>
        </p:nvPicPr>
        <p:blipFill>
          <a:blip r:embed="rId4"/>
          <a:stretch>
            <a:fillRect/>
          </a:stretch>
        </p:blipFill>
        <p:spPr>
          <a:xfrm>
            <a:off x="4595155" y="2679292"/>
            <a:ext cx="4424560" cy="3607640"/>
          </a:xfrm>
          <a:prstGeom prst="rect">
            <a:avLst/>
          </a:prstGeom>
        </p:spPr>
      </p:pic>
    </p:spTree>
    <p:extLst>
      <p:ext uri="{BB962C8B-B14F-4D97-AF65-F5344CB8AC3E}">
        <p14:creationId xmlns:p14="http://schemas.microsoft.com/office/powerpoint/2010/main" val="10703071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90787-C2FD-4415-8659-D06B3EAED60C}"/>
              </a:ext>
            </a:extLst>
          </p:cNvPr>
          <p:cNvSpPr>
            <a:spLocks noGrp="1"/>
          </p:cNvSpPr>
          <p:nvPr>
            <p:ph type="title"/>
          </p:nvPr>
        </p:nvSpPr>
        <p:spPr/>
        <p:txBody>
          <a:bodyPr/>
          <a:lstStyle/>
          <a:p>
            <a:r>
              <a:rPr lang="en-US">
                <a:sym typeface="Times New Roman"/>
              </a:rPr>
              <a:t>Capability Tickets</a:t>
            </a:r>
            <a:endParaRPr lang="en-IN" dirty="0"/>
          </a:p>
        </p:txBody>
      </p:sp>
      <p:sp>
        <p:nvSpPr>
          <p:cNvPr id="9" name="Content Placeholder 8">
            <a:extLst>
              <a:ext uri="{FF2B5EF4-FFF2-40B4-BE49-F238E27FC236}">
                <a16:creationId xmlns:a16="http://schemas.microsoft.com/office/drawing/2014/main" id="{A7E020C3-71CE-4414-331D-E9BE855D5F00}"/>
              </a:ext>
            </a:extLst>
          </p:cNvPr>
          <p:cNvSpPr>
            <a:spLocks noGrp="1"/>
          </p:cNvSpPr>
          <p:nvPr>
            <p:ph sz="quarter" idx="11"/>
          </p:nvPr>
        </p:nvSpPr>
        <p:spPr/>
        <p:txBody>
          <a:bodyPr/>
          <a:lstStyle/>
          <a:p>
            <a:r>
              <a:rPr lang="en-US" sz="2400" dirty="0"/>
              <a:t>The integrity of the ticket must be protected and guaranteed.</a:t>
            </a:r>
          </a:p>
          <a:p>
            <a:pPr lvl="1"/>
            <a:r>
              <a:rPr lang="en-US" sz="2000" dirty="0"/>
              <a:t>In particular, the ticket must be unforgeable. </a:t>
            </a:r>
          </a:p>
          <a:p>
            <a:r>
              <a:rPr lang="en-US" sz="2400" dirty="0"/>
              <a:t>One way to accomplish this is to have the OS hold all tickets on behalf of users, storing them in a protected region of memory.</a:t>
            </a:r>
          </a:p>
          <a:p>
            <a:r>
              <a:rPr lang="en-US" sz="2400" dirty="0"/>
              <a:t>Alternatively, OS can include an unforgeable token in the ticket, such as a message authentication code (MAC).</a:t>
            </a:r>
          </a:p>
          <a:p>
            <a:pPr lvl="1"/>
            <a:r>
              <a:rPr lang="en-US" sz="2000" dirty="0"/>
              <a:t>Such tickets can be handed over to users – they present it whenever accessing a resource</a:t>
            </a:r>
          </a:p>
          <a:p>
            <a:pPr lvl="1"/>
            <a:r>
              <a:rPr lang="en-US" sz="2000" dirty="0"/>
              <a:t>MAC value is verified by the resource when access is requested.</a:t>
            </a:r>
          </a:p>
        </p:txBody>
      </p:sp>
    </p:spTree>
    <p:extLst>
      <p:ext uri="{BB962C8B-B14F-4D97-AF65-F5344CB8AC3E}">
        <p14:creationId xmlns:p14="http://schemas.microsoft.com/office/powerpoint/2010/main" val="38225480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EEEF6-327D-68D7-D706-A94836075ADF}"/>
              </a:ext>
            </a:extLst>
          </p:cNvPr>
          <p:cNvSpPr>
            <a:spLocks noGrp="1"/>
          </p:cNvSpPr>
          <p:nvPr>
            <p:ph type="title"/>
          </p:nvPr>
        </p:nvSpPr>
        <p:spPr/>
        <p:txBody>
          <a:bodyPr/>
          <a:lstStyle/>
          <a:p>
            <a:r>
              <a:rPr lang="en-US" sz="3600" dirty="0"/>
              <a:t>Example: Windows File/Folder ACLs</a:t>
            </a:r>
          </a:p>
        </p:txBody>
      </p:sp>
      <p:pic>
        <p:nvPicPr>
          <p:cNvPr id="1026" name="Picture 2">
            <a:extLst>
              <a:ext uri="{FF2B5EF4-FFF2-40B4-BE49-F238E27FC236}">
                <a16:creationId xmlns:a16="http://schemas.microsoft.com/office/drawing/2014/main" id="{D133EE1E-D36D-F6FE-819F-8270089BC6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5842" y="1556327"/>
            <a:ext cx="4454722" cy="487267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EBBC104-7CE1-82A6-642A-325FE771D1BA}"/>
              </a:ext>
            </a:extLst>
          </p:cNvPr>
          <p:cNvSpPr txBox="1"/>
          <p:nvPr/>
        </p:nvSpPr>
        <p:spPr>
          <a:xfrm>
            <a:off x="0" y="6595398"/>
            <a:ext cx="6621475" cy="215444"/>
          </a:xfrm>
          <a:prstGeom prst="rect">
            <a:avLst/>
          </a:prstGeom>
          <a:noFill/>
        </p:spPr>
        <p:txBody>
          <a:bodyPr wrap="square">
            <a:spAutoFit/>
          </a:bodyPr>
          <a:lstStyle/>
          <a:p>
            <a:r>
              <a:rPr lang="en-US" sz="800" dirty="0"/>
              <a:t>https://winaero.com/easier-way-to-set-copy-and-manage-ntfs-permissions-acls-on-files-and-folders-in-windows/</a:t>
            </a:r>
          </a:p>
        </p:txBody>
      </p:sp>
    </p:spTree>
    <p:extLst>
      <p:ext uri="{BB962C8B-B14F-4D97-AF65-F5344CB8AC3E}">
        <p14:creationId xmlns:p14="http://schemas.microsoft.com/office/powerpoint/2010/main" val="9835351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CDFB3-94DA-149B-EA06-04DD022F2101}"/>
              </a:ext>
            </a:extLst>
          </p:cNvPr>
          <p:cNvSpPr>
            <a:spLocks noGrp="1"/>
          </p:cNvSpPr>
          <p:nvPr>
            <p:ph type="title"/>
          </p:nvPr>
        </p:nvSpPr>
        <p:spPr/>
        <p:txBody>
          <a:bodyPr/>
          <a:lstStyle/>
          <a:p>
            <a:r>
              <a:rPr lang="en-US" sz="3600" dirty="0"/>
              <a:t>Role Based Access Control (RBAC)</a:t>
            </a:r>
            <a:endParaRPr lang="en-US" dirty="0"/>
          </a:p>
        </p:txBody>
      </p:sp>
      <p:sp>
        <p:nvSpPr>
          <p:cNvPr id="3" name="Content Placeholder 2">
            <a:extLst>
              <a:ext uri="{FF2B5EF4-FFF2-40B4-BE49-F238E27FC236}">
                <a16:creationId xmlns:a16="http://schemas.microsoft.com/office/drawing/2014/main" id="{86EBAB70-B9F6-FE95-FFB0-E172C789F1C0}"/>
              </a:ext>
            </a:extLst>
          </p:cNvPr>
          <p:cNvSpPr>
            <a:spLocks noGrp="1"/>
          </p:cNvSpPr>
          <p:nvPr>
            <p:ph sz="quarter" idx="11"/>
          </p:nvPr>
        </p:nvSpPr>
        <p:spPr/>
        <p:txBody>
          <a:bodyPr/>
          <a:lstStyle/>
          <a:p>
            <a:r>
              <a:rPr lang="en-US" sz="2800" dirty="0"/>
              <a:t>RBAC is based on the roles that users assume in a system rather than the user’s identity.</a:t>
            </a:r>
          </a:p>
          <a:p>
            <a:pPr lvl="1"/>
            <a:r>
              <a:rPr lang="en-US" sz="2400" dirty="0"/>
              <a:t>e.g. project manager, software engineer, team leader, surveyor, IT technician, cleaner </a:t>
            </a:r>
          </a:p>
          <a:p>
            <a:r>
              <a:rPr lang="en-US" sz="2800" dirty="0"/>
              <a:t>It assigns access rights to roles instead of individual users.</a:t>
            </a:r>
          </a:p>
          <a:p>
            <a:r>
              <a:rPr lang="en-US" sz="2800" dirty="0"/>
              <a:t>In turn, users are assigned to different roles, either statically or dynamically, according to their responsibilities.</a:t>
            </a:r>
          </a:p>
        </p:txBody>
      </p:sp>
    </p:spTree>
    <p:extLst>
      <p:ext uri="{BB962C8B-B14F-4D97-AF65-F5344CB8AC3E}">
        <p14:creationId xmlns:p14="http://schemas.microsoft.com/office/powerpoint/2010/main" val="19109108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3AD3F-1EAB-4ED8-93DC-01D81E0DE867}"/>
              </a:ext>
            </a:extLst>
          </p:cNvPr>
          <p:cNvSpPr>
            <a:spLocks noGrp="1"/>
          </p:cNvSpPr>
          <p:nvPr>
            <p:ph type="title"/>
          </p:nvPr>
        </p:nvSpPr>
        <p:spPr/>
        <p:txBody>
          <a:bodyPr/>
          <a:lstStyle/>
          <a:p>
            <a:r>
              <a:rPr lang="en-US" dirty="0"/>
              <a:t>Role Based Access Control</a:t>
            </a:r>
            <a:endParaRPr lang="en-IN" dirty="0"/>
          </a:p>
        </p:txBody>
      </p:sp>
      <p:sp>
        <p:nvSpPr>
          <p:cNvPr id="3" name="TextBox 2">
            <a:extLst>
              <a:ext uri="{FF2B5EF4-FFF2-40B4-BE49-F238E27FC236}">
                <a16:creationId xmlns:a16="http://schemas.microsoft.com/office/drawing/2014/main" id="{CB7E9F51-E3AE-7775-7E60-7B2CB98AFEC6}"/>
              </a:ext>
            </a:extLst>
          </p:cNvPr>
          <p:cNvSpPr txBox="1"/>
          <p:nvPr/>
        </p:nvSpPr>
        <p:spPr>
          <a:xfrm>
            <a:off x="710213" y="3228945"/>
            <a:ext cx="1253869" cy="400110"/>
          </a:xfrm>
          <a:prstGeom prst="rect">
            <a:avLst/>
          </a:prstGeom>
          <a:noFill/>
        </p:spPr>
        <p:txBody>
          <a:bodyPr wrap="none" rtlCol="0">
            <a:spAutoFit/>
          </a:bodyPr>
          <a:lstStyle/>
          <a:p>
            <a:r>
              <a:rPr lang="en-US" sz="2000" b="1" dirty="0">
                <a:solidFill>
                  <a:schemeClr val="accent5">
                    <a:lumMod val="75000"/>
                  </a:schemeClr>
                </a:solidFill>
              </a:rPr>
              <a:t>Subjects</a:t>
            </a:r>
          </a:p>
        </p:txBody>
      </p:sp>
      <p:sp>
        <p:nvSpPr>
          <p:cNvPr id="4" name="TextBox 3">
            <a:extLst>
              <a:ext uri="{FF2B5EF4-FFF2-40B4-BE49-F238E27FC236}">
                <a16:creationId xmlns:a16="http://schemas.microsoft.com/office/drawing/2014/main" id="{96EEB052-1162-22BB-EBEA-69B80BFD97B4}"/>
              </a:ext>
            </a:extLst>
          </p:cNvPr>
          <p:cNvSpPr txBox="1"/>
          <p:nvPr/>
        </p:nvSpPr>
        <p:spPr>
          <a:xfrm>
            <a:off x="7183514" y="3586574"/>
            <a:ext cx="1503286" cy="707886"/>
          </a:xfrm>
          <a:prstGeom prst="rect">
            <a:avLst/>
          </a:prstGeom>
          <a:noFill/>
        </p:spPr>
        <p:txBody>
          <a:bodyPr wrap="square" rtlCol="0">
            <a:spAutoFit/>
          </a:bodyPr>
          <a:lstStyle/>
          <a:p>
            <a:r>
              <a:rPr lang="en-US" sz="2000" b="1" dirty="0">
                <a:solidFill>
                  <a:schemeClr val="accent5">
                    <a:lumMod val="75000"/>
                  </a:schemeClr>
                </a:solidFill>
              </a:rPr>
              <a:t>Resources (Objects)</a:t>
            </a:r>
          </a:p>
        </p:txBody>
      </p:sp>
      <p:sp>
        <p:nvSpPr>
          <p:cNvPr id="6" name="TextBox 5">
            <a:extLst>
              <a:ext uri="{FF2B5EF4-FFF2-40B4-BE49-F238E27FC236}">
                <a16:creationId xmlns:a16="http://schemas.microsoft.com/office/drawing/2014/main" id="{87A3DAFF-3283-4238-C334-B287CDBD5212}"/>
              </a:ext>
            </a:extLst>
          </p:cNvPr>
          <p:cNvSpPr txBox="1"/>
          <p:nvPr/>
        </p:nvSpPr>
        <p:spPr>
          <a:xfrm>
            <a:off x="4231928" y="1647506"/>
            <a:ext cx="883575" cy="400110"/>
          </a:xfrm>
          <a:prstGeom prst="rect">
            <a:avLst/>
          </a:prstGeom>
          <a:noFill/>
        </p:spPr>
        <p:txBody>
          <a:bodyPr wrap="none" rtlCol="0">
            <a:spAutoFit/>
          </a:bodyPr>
          <a:lstStyle/>
          <a:p>
            <a:r>
              <a:rPr lang="en-US" sz="2000" b="1" dirty="0">
                <a:solidFill>
                  <a:schemeClr val="accent5">
                    <a:lumMod val="75000"/>
                  </a:schemeClr>
                </a:solidFill>
              </a:rPr>
              <a:t>Roles</a:t>
            </a:r>
          </a:p>
        </p:txBody>
      </p:sp>
      <p:pic>
        <p:nvPicPr>
          <p:cNvPr id="18" name="Picture 17">
            <a:extLst>
              <a:ext uri="{FF2B5EF4-FFF2-40B4-BE49-F238E27FC236}">
                <a16:creationId xmlns:a16="http://schemas.microsoft.com/office/drawing/2014/main" id="{2474779E-8F20-A3F9-361E-7F03F7CDBA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53853" y="1268760"/>
            <a:ext cx="4836294" cy="5462167"/>
          </a:xfrm>
          <a:prstGeom prst="rect">
            <a:avLst/>
          </a:prstGeom>
        </p:spPr>
      </p:pic>
    </p:spTree>
    <p:extLst>
      <p:ext uri="{BB962C8B-B14F-4D97-AF65-F5344CB8AC3E}">
        <p14:creationId xmlns:p14="http://schemas.microsoft.com/office/powerpoint/2010/main" val="6041394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7B3EE-60D7-F4C0-D00A-0B2F90664F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AC556F-E4BD-565F-B83C-30B9D267B936}"/>
              </a:ext>
            </a:extLst>
          </p:cNvPr>
          <p:cNvSpPr>
            <a:spLocks noGrp="1"/>
          </p:cNvSpPr>
          <p:nvPr>
            <p:ph type="title"/>
          </p:nvPr>
        </p:nvSpPr>
        <p:spPr/>
        <p:txBody>
          <a:bodyPr/>
          <a:lstStyle/>
          <a:p>
            <a:r>
              <a:rPr lang="en-US" dirty="0"/>
              <a:t>Role Based Access Control</a:t>
            </a:r>
            <a:endParaRPr lang="en-IN" dirty="0"/>
          </a:p>
        </p:txBody>
      </p:sp>
      <p:sp>
        <p:nvSpPr>
          <p:cNvPr id="3" name="TextBox 2">
            <a:extLst>
              <a:ext uri="{FF2B5EF4-FFF2-40B4-BE49-F238E27FC236}">
                <a16:creationId xmlns:a16="http://schemas.microsoft.com/office/drawing/2014/main" id="{9D06E460-1E2D-8C90-963E-99A30C438D7E}"/>
              </a:ext>
            </a:extLst>
          </p:cNvPr>
          <p:cNvSpPr txBox="1"/>
          <p:nvPr/>
        </p:nvSpPr>
        <p:spPr>
          <a:xfrm>
            <a:off x="710213" y="3228945"/>
            <a:ext cx="1253869" cy="400110"/>
          </a:xfrm>
          <a:prstGeom prst="rect">
            <a:avLst/>
          </a:prstGeom>
          <a:noFill/>
        </p:spPr>
        <p:txBody>
          <a:bodyPr wrap="none" rtlCol="0">
            <a:spAutoFit/>
          </a:bodyPr>
          <a:lstStyle/>
          <a:p>
            <a:r>
              <a:rPr lang="en-US" sz="2000" b="1" dirty="0">
                <a:solidFill>
                  <a:schemeClr val="accent5">
                    <a:lumMod val="75000"/>
                  </a:schemeClr>
                </a:solidFill>
              </a:rPr>
              <a:t>Subjects</a:t>
            </a:r>
          </a:p>
        </p:txBody>
      </p:sp>
      <p:sp>
        <p:nvSpPr>
          <p:cNvPr id="4" name="TextBox 3">
            <a:extLst>
              <a:ext uri="{FF2B5EF4-FFF2-40B4-BE49-F238E27FC236}">
                <a16:creationId xmlns:a16="http://schemas.microsoft.com/office/drawing/2014/main" id="{3B649228-1CE8-D708-A571-9772BD4DD6E2}"/>
              </a:ext>
            </a:extLst>
          </p:cNvPr>
          <p:cNvSpPr txBox="1"/>
          <p:nvPr/>
        </p:nvSpPr>
        <p:spPr>
          <a:xfrm>
            <a:off x="7183514" y="3586574"/>
            <a:ext cx="1503286" cy="707886"/>
          </a:xfrm>
          <a:prstGeom prst="rect">
            <a:avLst/>
          </a:prstGeom>
          <a:noFill/>
        </p:spPr>
        <p:txBody>
          <a:bodyPr wrap="square" rtlCol="0">
            <a:spAutoFit/>
          </a:bodyPr>
          <a:lstStyle/>
          <a:p>
            <a:r>
              <a:rPr lang="en-US" sz="2000" b="1" dirty="0">
                <a:solidFill>
                  <a:schemeClr val="accent5">
                    <a:lumMod val="75000"/>
                  </a:schemeClr>
                </a:solidFill>
              </a:rPr>
              <a:t>Resources (Objects)</a:t>
            </a:r>
          </a:p>
        </p:txBody>
      </p:sp>
      <p:sp>
        <p:nvSpPr>
          <p:cNvPr id="6" name="TextBox 5">
            <a:extLst>
              <a:ext uri="{FF2B5EF4-FFF2-40B4-BE49-F238E27FC236}">
                <a16:creationId xmlns:a16="http://schemas.microsoft.com/office/drawing/2014/main" id="{3BD8FD15-2786-A624-9C34-26ABA2E2B73F}"/>
              </a:ext>
            </a:extLst>
          </p:cNvPr>
          <p:cNvSpPr txBox="1"/>
          <p:nvPr/>
        </p:nvSpPr>
        <p:spPr>
          <a:xfrm>
            <a:off x="4231928" y="1647506"/>
            <a:ext cx="883575" cy="400110"/>
          </a:xfrm>
          <a:prstGeom prst="rect">
            <a:avLst/>
          </a:prstGeom>
          <a:noFill/>
        </p:spPr>
        <p:txBody>
          <a:bodyPr wrap="none" rtlCol="0">
            <a:spAutoFit/>
          </a:bodyPr>
          <a:lstStyle/>
          <a:p>
            <a:r>
              <a:rPr lang="en-US" sz="2000" b="1" dirty="0">
                <a:solidFill>
                  <a:schemeClr val="accent5">
                    <a:lumMod val="75000"/>
                  </a:schemeClr>
                </a:solidFill>
              </a:rPr>
              <a:t>Roles</a:t>
            </a:r>
          </a:p>
        </p:txBody>
      </p:sp>
      <p:pic>
        <p:nvPicPr>
          <p:cNvPr id="18" name="Picture 17">
            <a:extLst>
              <a:ext uri="{FF2B5EF4-FFF2-40B4-BE49-F238E27FC236}">
                <a16:creationId xmlns:a16="http://schemas.microsoft.com/office/drawing/2014/main" id="{6E327439-0F18-B3E4-6DC4-3741A926059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53853" y="1268760"/>
            <a:ext cx="4836294" cy="5462167"/>
          </a:xfrm>
          <a:prstGeom prst="rect">
            <a:avLst/>
          </a:prstGeom>
        </p:spPr>
      </p:pic>
      <p:sp>
        <p:nvSpPr>
          <p:cNvPr id="5" name="Rectangle: Rounded Corners 4">
            <a:extLst>
              <a:ext uri="{FF2B5EF4-FFF2-40B4-BE49-F238E27FC236}">
                <a16:creationId xmlns:a16="http://schemas.microsoft.com/office/drawing/2014/main" id="{D68C4F78-FAFF-BB52-AC94-FD6BD392859B}"/>
              </a:ext>
            </a:extLst>
          </p:cNvPr>
          <p:cNvSpPr/>
          <p:nvPr/>
        </p:nvSpPr>
        <p:spPr>
          <a:xfrm>
            <a:off x="107504" y="5373216"/>
            <a:ext cx="3384376" cy="1368543"/>
          </a:xfrm>
          <a:prstGeom prst="round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latinLnBrk="0"/>
            <a:r>
              <a:rPr lang="en-US" sz="2000" dirty="0"/>
              <a:t>The relationship of users to roles is </a:t>
            </a:r>
            <a:r>
              <a:rPr lang="en-US" sz="2000" b="1" dirty="0"/>
              <a:t>many to many</a:t>
            </a:r>
            <a:r>
              <a:rPr lang="en-US" sz="2000" dirty="0"/>
              <a:t>, as is the relationship of roles to objects.</a:t>
            </a:r>
          </a:p>
        </p:txBody>
      </p:sp>
    </p:spTree>
    <p:extLst>
      <p:ext uri="{BB962C8B-B14F-4D97-AF65-F5344CB8AC3E}">
        <p14:creationId xmlns:p14="http://schemas.microsoft.com/office/powerpoint/2010/main" val="40134135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D161E-47F3-F191-272D-596A71CD8D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F5E874-E47C-9C23-39E8-C2CCFA3D4EB0}"/>
              </a:ext>
            </a:extLst>
          </p:cNvPr>
          <p:cNvSpPr>
            <a:spLocks noGrp="1"/>
          </p:cNvSpPr>
          <p:nvPr>
            <p:ph type="title"/>
          </p:nvPr>
        </p:nvSpPr>
        <p:spPr/>
        <p:txBody>
          <a:bodyPr/>
          <a:lstStyle/>
          <a:p>
            <a:r>
              <a:rPr lang="en-US" dirty="0"/>
              <a:t>Role Based Access Control</a:t>
            </a:r>
            <a:endParaRPr lang="en-IN" dirty="0"/>
          </a:p>
        </p:txBody>
      </p:sp>
      <p:sp>
        <p:nvSpPr>
          <p:cNvPr id="3" name="TextBox 2">
            <a:extLst>
              <a:ext uri="{FF2B5EF4-FFF2-40B4-BE49-F238E27FC236}">
                <a16:creationId xmlns:a16="http://schemas.microsoft.com/office/drawing/2014/main" id="{16FA7379-B29F-2620-B58E-51052838EF94}"/>
              </a:ext>
            </a:extLst>
          </p:cNvPr>
          <p:cNvSpPr txBox="1"/>
          <p:nvPr/>
        </p:nvSpPr>
        <p:spPr>
          <a:xfrm>
            <a:off x="5076056" y="1615079"/>
            <a:ext cx="1039067" cy="338554"/>
          </a:xfrm>
          <a:prstGeom prst="rect">
            <a:avLst/>
          </a:prstGeom>
          <a:noFill/>
        </p:spPr>
        <p:txBody>
          <a:bodyPr wrap="none" rtlCol="0">
            <a:spAutoFit/>
          </a:bodyPr>
          <a:lstStyle/>
          <a:p>
            <a:r>
              <a:rPr lang="en-US" sz="1600" b="1" dirty="0">
                <a:solidFill>
                  <a:schemeClr val="accent5">
                    <a:lumMod val="75000"/>
                  </a:schemeClr>
                </a:solidFill>
              </a:rPr>
              <a:t>Subjects</a:t>
            </a:r>
          </a:p>
        </p:txBody>
      </p:sp>
      <p:sp>
        <p:nvSpPr>
          <p:cNvPr id="4" name="TextBox 3">
            <a:extLst>
              <a:ext uri="{FF2B5EF4-FFF2-40B4-BE49-F238E27FC236}">
                <a16:creationId xmlns:a16="http://schemas.microsoft.com/office/drawing/2014/main" id="{8D8C20D6-85FC-3245-6197-EA731AAE6406}"/>
              </a:ext>
            </a:extLst>
          </p:cNvPr>
          <p:cNvSpPr txBox="1"/>
          <p:nvPr/>
        </p:nvSpPr>
        <p:spPr>
          <a:xfrm>
            <a:off x="7866993" y="1615079"/>
            <a:ext cx="1229710" cy="338554"/>
          </a:xfrm>
          <a:prstGeom prst="rect">
            <a:avLst/>
          </a:prstGeom>
          <a:noFill/>
        </p:spPr>
        <p:txBody>
          <a:bodyPr wrap="square" rtlCol="0">
            <a:spAutoFit/>
          </a:bodyPr>
          <a:lstStyle/>
          <a:p>
            <a:pPr algn="ctr"/>
            <a:r>
              <a:rPr lang="en-US" sz="1600" b="1" dirty="0">
                <a:solidFill>
                  <a:schemeClr val="accent5">
                    <a:lumMod val="75000"/>
                  </a:schemeClr>
                </a:solidFill>
              </a:rPr>
              <a:t>Resources</a:t>
            </a:r>
          </a:p>
        </p:txBody>
      </p:sp>
      <p:sp>
        <p:nvSpPr>
          <p:cNvPr id="6" name="TextBox 5">
            <a:extLst>
              <a:ext uri="{FF2B5EF4-FFF2-40B4-BE49-F238E27FC236}">
                <a16:creationId xmlns:a16="http://schemas.microsoft.com/office/drawing/2014/main" id="{DFDB1FD2-7962-1360-26DF-635A85481C2F}"/>
              </a:ext>
            </a:extLst>
          </p:cNvPr>
          <p:cNvSpPr txBox="1"/>
          <p:nvPr/>
        </p:nvSpPr>
        <p:spPr>
          <a:xfrm>
            <a:off x="6588224" y="1615079"/>
            <a:ext cx="742511" cy="338554"/>
          </a:xfrm>
          <a:prstGeom prst="rect">
            <a:avLst/>
          </a:prstGeom>
          <a:noFill/>
        </p:spPr>
        <p:txBody>
          <a:bodyPr wrap="none" rtlCol="0">
            <a:spAutoFit/>
          </a:bodyPr>
          <a:lstStyle/>
          <a:p>
            <a:r>
              <a:rPr lang="en-US" sz="1600" b="1" dirty="0">
                <a:solidFill>
                  <a:schemeClr val="accent5">
                    <a:lumMod val="75000"/>
                  </a:schemeClr>
                </a:solidFill>
              </a:rPr>
              <a:t>Roles</a:t>
            </a:r>
          </a:p>
        </p:txBody>
      </p:sp>
      <p:sp>
        <p:nvSpPr>
          <p:cNvPr id="8" name="Rectangle: Rounded Corners 7">
            <a:extLst>
              <a:ext uri="{FF2B5EF4-FFF2-40B4-BE49-F238E27FC236}">
                <a16:creationId xmlns:a16="http://schemas.microsoft.com/office/drawing/2014/main" id="{9F1BD1EC-877B-0720-A01E-D382DDF107AA}"/>
              </a:ext>
            </a:extLst>
          </p:cNvPr>
          <p:cNvSpPr/>
          <p:nvPr/>
        </p:nvSpPr>
        <p:spPr>
          <a:xfrm>
            <a:off x="292962" y="2894121"/>
            <a:ext cx="4394448" cy="2006353"/>
          </a:xfrm>
          <a:prstGeom prst="roundRect">
            <a:avLst/>
          </a:prstGeom>
          <a:solidFill>
            <a:schemeClr val="accent2">
              <a:lumMod val="75000"/>
            </a:schemeClr>
          </a:solidFill>
          <a:ln>
            <a:noFill/>
            <a:prstDash val="sys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285750" indent="-285750" latinLnBrk="0">
              <a:buFont typeface="Arial" panose="020B0604020202020204" pitchFamily="34" charset="0"/>
              <a:buChar char="•"/>
            </a:pPr>
            <a:r>
              <a:rPr lang="en-US" sz="2400" dirty="0"/>
              <a:t>The set of users could change frequently.</a:t>
            </a:r>
          </a:p>
          <a:p>
            <a:pPr marL="285750" indent="-285750" latinLnBrk="0">
              <a:buFont typeface="Arial" panose="020B0604020202020204" pitchFamily="34" charset="0"/>
              <a:buChar char="•"/>
            </a:pPr>
            <a:r>
              <a:rPr lang="en-US" sz="2400" dirty="0"/>
              <a:t>Assignment of a user to one or more roles is also dynamic.</a:t>
            </a:r>
          </a:p>
        </p:txBody>
      </p:sp>
      <p:pic>
        <p:nvPicPr>
          <p:cNvPr id="11" name="Picture 10">
            <a:extLst>
              <a:ext uri="{FF2B5EF4-FFF2-40B4-BE49-F238E27FC236}">
                <a16:creationId xmlns:a16="http://schemas.microsoft.com/office/drawing/2014/main" id="{7A2AA213-653C-136D-94EA-BA929F5BBF4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18962" y="2043092"/>
            <a:ext cx="3761668" cy="4248472"/>
          </a:xfrm>
          <a:prstGeom prst="rect">
            <a:avLst/>
          </a:prstGeom>
        </p:spPr>
      </p:pic>
      <p:sp>
        <p:nvSpPr>
          <p:cNvPr id="7" name="Rectangle: Rounded Corners 6">
            <a:extLst>
              <a:ext uri="{FF2B5EF4-FFF2-40B4-BE49-F238E27FC236}">
                <a16:creationId xmlns:a16="http://schemas.microsoft.com/office/drawing/2014/main" id="{F48B28D2-8163-B1E4-41EF-C423EB2376DA}"/>
              </a:ext>
            </a:extLst>
          </p:cNvPr>
          <p:cNvSpPr/>
          <p:nvPr/>
        </p:nvSpPr>
        <p:spPr>
          <a:xfrm>
            <a:off x="4871545" y="1953633"/>
            <a:ext cx="1844565" cy="4399869"/>
          </a:xfrm>
          <a:prstGeom prst="round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987740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55ECC-4538-7930-D502-CABEFDF112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45CE53-0F81-36B6-EB08-D7C8670B1FA2}"/>
              </a:ext>
            </a:extLst>
          </p:cNvPr>
          <p:cNvSpPr>
            <a:spLocks noGrp="1"/>
          </p:cNvSpPr>
          <p:nvPr>
            <p:ph type="title"/>
          </p:nvPr>
        </p:nvSpPr>
        <p:spPr/>
        <p:txBody>
          <a:bodyPr/>
          <a:lstStyle/>
          <a:p>
            <a:r>
              <a:rPr lang="en-US" dirty="0"/>
              <a:t>Role Based Access Control</a:t>
            </a:r>
            <a:endParaRPr lang="en-IN" dirty="0"/>
          </a:p>
        </p:txBody>
      </p:sp>
      <p:sp>
        <p:nvSpPr>
          <p:cNvPr id="7" name="Rectangle: Rounded Corners 6">
            <a:extLst>
              <a:ext uri="{FF2B5EF4-FFF2-40B4-BE49-F238E27FC236}">
                <a16:creationId xmlns:a16="http://schemas.microsoft.com/office/drawing/2014/main" id="{4EC3B4AE-E4F9-DDB5-24B1-336EDEAD3A8A}"/>
              </a:ext>
            </a:extLst>
          </p:cNvPr>
          <p:cNvSpPr/>
          <p:nvPr/>
        </p:nvSpPr>
        <p:spPr>
          <a:xfrm>
            <a:off x="6482800" y="1953633"/>
            <a:ext cx="2204000" cy="4399869"/>
          </a:xfrm>
          <a:prstGeom prst="round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25990CF9-8C86-FD18-490A-AF98381AA93E}"/>
              </a:ext>
            </a:extLst>
          </p:cNvPr>
          <p:cNvSpPr/>
          <p:nvPr/>
        </p:nvSpPr>
        <p:spPr>
          <a:xfrm>
            <a:off x="292962" y="2564904"/>
            <a:ext cx="4395600" cy="3168352"/>
          </a:xfrm>
          <a:prstGeom prst="roundRect">
            <a:avLst/>
          </a:prstGeom>
          <a:solidFill>
            <a:schemeClr val="accent2">
              <a:lumMod val="75000"/>
            </a:schemeClr>
          </a:solidFill>
          <a:ln>
            <a:noFill/>
            <a:prstDash val="sys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285750" indent="-285750" latinLnBrk="0">
              <a:buFont typeface="Arial" panose="020B0604020202020204" pitchFamily="34" charset="0"/>
              <a:buChar char="•"/>
            </a:pPr>
            <a:r>
              <a:rPr lang="en-US" sz="2400" dirty="0"/>
              <a:t>The set of roles in the system in mostly static, with occasional updates.</a:t>
            </a:r>
          </a:p>
          <a:p>
            <a:pPr marL="285750" indent="-285750" latinLnBrk="0">
              <a:buFont typeface="Arial" panose="020B0604020202020204" pitchFamily="34" charset="0"/>
              <a:buChar char="•"/>
            </a:pPr>
            <a:r>
              <a:rPr lang="en-US" sz="2400" dirty="0"/>
              <a:t>The set of resources and the specific access rights associated with a particular role also change infrequently.</a:t>
            </a:r>
          </a:p>
        </p:txBody>
      </p:sp>
      <p:sp>
        <p:nvSpPr>
          <p:cNvPr id="11" name="TextBox 10">
            <a:extLst>
              <a:ext uri="{FF2B5EF4-FFF2-40B4-BE49-F238E27FC236}">
                <a16:creationId xmlns:a16="http://schemas.microsoft.com/office/drawing/2014/main" id="{1D1B514C-D2EA-DA58-60EB-AF22FDE43F0B}"/>
              </a:ext>
            </a:extLst>
          </p:cNvPr>
          <p:cNvSpPr txBox="1"/>
          <p:nvPr/>
        </p:nvSpPr>
        <p:spPr>
          <a:xfrm>
            <a:off x="5076056" y="1615079"/>
            <a:ext cx="1039067" cy="338554"/>
          </a:xfrm>
          <a:prstGeom prst="rect">
            <a:avLst/>
          </a:prstGeom>
          <a:noFill/>
        </p:spPr>
        <p:txBody>
          <a:bodyPr wrap="none" rtlCol="0">
            <a:spAutoFit/>
          </a:bodyPr>
          <a:lstStyle/>
          <a:p>
            <a:r>
              <a:rPr lang="en-US" sz="1600" b="1" dirty="0">
                <a:solidFill>
                  <a:schemeClr val="accent5">
                    <a:lumMod val="75000"/>
                  </a:schemeClr>
                </a:solidFill>
              </a:rPr>
              <a:t>Subjects</a:t>
            </a:r>
          </a:p>
        </p:txBody>
      </p:sp>
      <p:sp>
        <p:nvSpPr>
          <p:cNvPr id="12" name="TextBox 11">
            <a:extLst>
              <a:ext uri="{FF2B5EF4-FFF2-40B4-BE49-F238E27FC236}">
                <a16:creationId xmlns:a16="http://schemas.microsoft.com/office/drawing/2014/main" id="{D5289157-60B5-265A-2BAD-99D0A99F914C}"/>
              </a:ext>
            </a:extLst>
          </p:cNvPr>
          <p:cNvSpPr txBox="1"/>
          <p:nvPr/>
        </p:nvSpPr>
        <p:spPr>
          <a:xfrm>
            <a:off x="7866993" y="1615079"/>
            <a:ext cx="1229710" cy="338554"/>
          </a:xfrm>
          <a:prstGeom prst="rect">
            <a:avLst/>
          </a:prstGeom>
          <a:noFill/>
        </p:spPr>
        <p:txBody>
          <a:bodyPr wrap="square" rtlCol="0">
            <a:spAutoFit/>
          </a:bodyPr>
          <a:lstStyle/>
          <a:p>
            <a:pPr algn="ctr"/>
            <a:r>
              <a:rPr lang="en-US" sz="1600" b="1" dirty="0">
                <a:solidFill>
                  <a:schemeClr val="accent5">
                    <a:lumMod val="75000"/>
                  </a:schemeClr>
                </a:solidFill>
              </a:rPr>
              <a:t>Resources</a:t>
            </a:r>
          </a:p>
        </p:txBody>
      </p:sp>
      <p:sp>
        <p:nvSpPr>
          <p:cNvPr id="13" name="TextBox 12">
            <a:extLst>
              <a:ext uri="{FF2B5EF4-FFF2-40B4-BE49-F238E27FC236}">
                <a16:creationId xmlns:a16="http://schemas.microsoft.com/office/drawing/2014/main" id="{6DA8A150-F290-A57E-91EB-A1B2E7F8B27D}"/>
              </a:ext>
            </a:extLst>
          </p:cNvPr>
          <p:cNvSpPr txBox="1"/>
          <p:nvPr/>
        </p:nvSpPr>
        <p:spPr>
          <a:xfrm>
            <a:off x="6588224" y="1615079"/>
            <a:ext cx="742511" cy="338554"/>
          </a:xfrm>
          <a:prstGeom prst="rect">
            <a:avLst/>
          </a:prstGeom>
          <a:noFill/>
        </p:spPr>
        <p:txBody>
          <a:bodyPr wrap="none" rtlCol="0">
            <a:spAutoFit/>
          </a:bodyPr>
          <a:lstStyle/>
          <a:p>
            <a:r>
              <a:rPr lang="en-US" sz="1600" b="1" dirty="0">
                <a:solidFill>
                  <a:schemeClr val="accent5">
                    <a:lumMod val="75000"/>
                  </a:schemeClr>
                </a:solidFill>
              </a:rPr>
              <a:t>Roles</a:t>
            </a:r>
          </a:p>
        </p:txBody>
      </p:sp>
      <p:pic>
        <p:nvPicPr>
          <p:cNvPr id="14" name="Picture 13">
            <a:extLst>
              <a:ext uri="{FF2B5EF4-FFF2-40B4-BE49-F238E27FC236}">
                <a16:creationId xmlns:a16="http://schemas.microsoft.com/office/drawing/2014/main" id="{AD79B5BB-A532-25C3-F177-133D6EC9947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18962" y="2043092"/>
            <a:ext cx="3761668" cy="4248472"/>
          </a:xfrm>
          <a:prstGeom prst="rect">
            <a:avLst/>
          </a:prstGeom>
        </p:spPr>
      </p:pic>
    </p:spTree>
    <p:extLst>
      <p:ext uri="{BB962C8B-B14F-4D97-AF65-F5344CB8AC3E}">
        <p14:creationId xmlns:p14="http://schemas.microsoft.com/office/powerpoint/2010/main" val="9277006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56F73-0338-0B01-1670-4A190A8557DB}"/>
              </a:ext>
            </a:extLst>
          </p:cNvPr>
          <p:cNvSpPr>
            <a:spLocks noGrp="1"/>
          </p:cNvSpPr>
          <p:nvPr>
            <p:ph type="title"/>
          </p:nvPr>
        </p:nvSpPr>
        <p:spPr/>
        <p:txBody>
          <a:bodyPr/>
          <a:lstStyle/>
          <a:p>
            <a:r>
              <a:rPr lang="en-US" dirty="0"/>
              <a:t>Example: Role privilege matrix</a:t>
            </a:r>
            <a:endParaRPr lang="en-AU" dirty="0"/>
          </a:p>
        </p:txBody>
      </p:sp>
      <p:sp>
        <p:nvSpPr>
          <p:cNvPr id="3" name="Content Placeholder 2">
            <a:extLst>
              <a:ext uri="{FF2B5EF4-FFF2-40B4-BE49-F238E27FC236}">
                <a16:creationId xmlns:a16="http://schemas.microsoft.com/office/drawing/2014/main" id="{7E666B48-7652-1654-A1E1-9A5124454D48}"/>
              </a:ext>
            </a:extLst>
          </p:cNvPr>
          <p:cNvSpPr>
            <a:spLocks noGrp="1"/>
          </p:cNvSpPr>
          <p:nvPr>
            <p:ph sz="quarter" idx="11"/>
          </p:nvPr>
        </p:nvSpPr>
        <p:spPr/>
        <p:txBody>
          <a:bodyPr/>
          <a:lstStyle/>
          <a:p>
            <a:endParaRPr lang="en-US"/>
          </a:p>
        </p:txBody>
      </p:sp>
      <p:pic>
        <p:nvPicPr>
          <p:cNvPr id="1026" name="Picture 2" descr="RBAC matrix">
            <a:extLst>
              <a:ext uri="{FF2B5EF4-FFF2-40B4-BE49-F238E27FC236}">
                <a16:creationId xmlns:a16="http://schemas.microsoft.com/office/drawing/2014/main" id="{EEF7CC67-EBBE-ADD4-1838-EEEE3DB2F2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637" y="1355065"/>
            <a:ext cx="7892726" cy="508779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4758A17-025B-67BA-6F4E-659C2315EE26}"/>
              </a:ext>
            </a:extLst>
          </p:cNvPr>
          <p:cNvSpPr txBox="1"/>
          <p:nvPr/>
        </p:nvSpPr>
        <p:spPr>
          <a:xfrm>
            <a:off x="95693" y="6589964"/>
            <a:ext cx="5146158" cy="246221"/>
          </a:xfrm>
          <a:prstGeom prst="rect">
            <a:avLst/>
          </a:prstGeom>
          <a:noFill/>
        </p:spPr>
        <p:txBody>
          <a:bodyPr wrap="square">
            <a:spAutoFit/>
          </a:bodyPr>
          <a:lstStyle/>
          <a:p>
            <a:r>
              <a:rPr lang="en-AU" sz="1000" dirty="0"/>
              <a:t>https://www.cerbos.dev/blog/mapping-business-requirements-to-authorization-policy</a:t>
            </a:r>
          </a:p>
        </p:txBody>
      </p:sp>
    </p:spTree>
    <p:extLst>
      <p:ext uri="{BB962C8B-B14F-4D97-AF65-F5344CB8AC3E}">
        <p14:creationId xmlns:p14="http://schemas.microsoft.com/office/powerpoint/2010/main" val="31166426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4CCFB-D35D-BDEE-0C0C-CD4D0FB15236}"/>
              </a:ext>
            </a:extLst>
          </p:cNvPr>
          <p:cNvSpPr>
            <a:spLocks noGrp="1"/>
          </p:cNvSpPr>
          <p:nvPr>
            <p:ph type="title"/>
          </p:nvPr>
        </p:nvSpPr>
        <p:spPr/>
        <p:txBody>
          <a:bodyPr/>
          <a:lstStyle/>
          <a:p>
            <a:r>
              <a:rPr lang="en-US" dirty="0"/>
              <a:t>Example: Role assignments</a:t>
            </a:r>
          </a:p>
        </p:txBody>
      </p:sp>
      <p:graphicFrame>
        <p:nvGraphicFramePr>
          <p:cNvPr id="4" name="Content Placeholder 3">
            <a:extLst>
              <a:ext uri="{FF2B5EF4-FFF2-40B4-BE49-F238E27FC236}">
                <a16:creationId xmlns:a16="http://schemas.microsoft.com/office/drawing/2014/main" id="{A02B8F07-AFE5-9E28-B87F-E3BAEBA51235}"/>
              </a:ext>
            </a:extLst>
          </p:cNvPr>
          <p:cNvGraphicFramePr>
            <a:graphicFrameLocks noGrp="1"/>
          </p:cNvGraphicFramePr>
          <p:nvPr>
            <p:ph sz="quarter" idx="11"/>
            <p:extLst>
              <p:ext uri="{D42A27DB-BD31-4B8C-83A1-F6EECF244321}">
                <p14:modId xmlns:p14="http://schemas.microsoft.com/office/powerpoint/2010/main" val="2715551258"/>
              </p:ext>
            </p:extLst>
          </p:nvPr>
        </p:nvGraphicFramePr>
        <p:xfrm>
          <a:off x="1104885" y="2348880"/>
          <a:ext cx="6934229" cy="2926080"/>
        </p:xfrm>
        <a:graphic>
          <a:graphicData uri="http://schemas.openxmlformats.org/drawingml/2006/table">
            <a:tbl>
              <a:tblPr firstRow="1" firstCol="1" bandRow="1">
                <a:tableStyleId>{5DA37D80-6434-44D0-A028-1B22A696006F}</a:tableStyleId>
              </a:tblPr>
              <a:tblGrid>
                <a:gridCol w="936104">
                  <a:extLst>
                    <a:ext uri="{9D8B030D-6E8A-4147-A177-3AD203B41FA5}">
                      <a16:colId xmlns:a16="http://schemas.microsoft.com/office/drawing/2014/main" val="609377503"/>
                    </a:ext>
                  </a:extLst>
                </a:gridCol>
                <a:gridCol w="1199625">
                  <a:extLst>
                    <a:ext uri="{9D8B030D-6E8A-4147-A177-3AD203B41FA5}">
                      <a16:colId xmlns:a16="http://schemas.microsoft.com/office/drawing/2014/main" val="3123303803"/>
                    </a:ext>
                  </a:extLst>
                </a:gridCol>
                <a:gridCol w="1199625">
                  <a:extLst>
                    <a:ext uri="{9D8B030D-6E8A-4147-A177-3AD203B41FA5}">
                      <a16:colId xmlns:a16="http://schemas.microsoft.com/office/drawing/2014/main" val="3420995017"/>
                    </a:ext>
                  </a:extLst>
                </a:gridCol>
                <a:gridCol w="1199625">
                  <a:extLst>
                    <a:ext uri="{9D8B030D-6E8A-4147-A177-3AD203B41FA5}">
                      <a16:colId xmlns:a16="http://schemas.microsoft.com/office/drawing/2014/main" val="3223827101"/>
                    </a:ext>
                  </a:extLst>
                </a:gridCol>
                <a:gridCol w="1199625">
                  <a:extLst>
                    <a:ext uri="{9D8B030D-6E8A-4147-A177-3AD203B41FA5}">
                      <a16:colId xmlns:a16="http://schemas.microsoft.com/office/drawing/2014/main" val="1711559432"/>
                    </a:ext>
                  </a:extLst>
                </a:gridCol>
                <a:gridCol w="1199625">
                  <a:extLst>
                    <a:ext uri="{9D8B030D-6E8A-4147-A177-3AD203B41FA5}">
                      <a16:colId xmlns:a16="http://schemas.microsoft.com/office/drawing/2014/main" val="3637858879"/>
                    </a:ext>
                  </a:extLst>
                </a:gridCol>
              </a:tblGrid>
              <a:tr h="370840">
                <a:tc>
                  <a:txBody>
                    <a:bodyPr/>
                    <a:lstStyle/>
                    <a:p>
                      <a:pPr latinLnBrk="0"/>
                      <a:endParaRPr lang="en-US" sz="1800" dirty="0"/>
                    </a:p>
                  </a:txBody>
                  <a:tcPr anchor="ctr"/>
                </a:tc>
                <a:tc>
                  <a:txBody>
                    <a:bodyPr/>
                    <a:lstStyle/>
                    <a:p>
                      <a:pPr algn="ctr" latinLnBrk="0"/>
                      <a:r>
                        <a:rPr lang="en-US" sz="1800" dirty="0"/>
                        <a:t>IT Admin</a:t>
                      </a:r>
                    </a:p>
                  </a:txBody>
                  <a:tcPr anchor="ctr"/>
                </a:tc>
                <a:tc>
                  <a:txBody>
                    <a:bodyPr/>
                    <a:lstStyle/>
                    <a:p>
                      <a:pPr algn="ctr" latinLnBrk="0"/>
                      <a:r>
                        <a:rPr lang="en-US" sz="1800" dirty="0"/>
                        <a:t>Junior Manager</a:t>
                      </a:r>
                    </a:p>
                  </a:txBody>
                  <a:tcPr anchor="ctr"/>
                </a:tc>
                <a:tc>
                  <a:txBody>
                    <a:bodyPr/>
                    <a:lstStyle/>
                    <a:p>
                      <a:pPr algn="ctr" latinLnBrk="0"/>
                      <a:r>
                        <a:rPr lang="en-US" sz="1800" dirty="0"/>
                        <a:t>User</a:t>
                      </a:r>
                    </a:p>
                  </a:txBody>
                  <a:tcPr anchor="ctr"/>
                </a:tc>
                <a:tc>
                  <a:txBody>
                    <a:bodyPr/>
                    <a:lstStyle/>
                    <a:p>
                      <a:pPr algn="ctr" latinLnBrk="0"/>
                      <a:r>
                        <a:rPr lang="en-US" sz="1800" dirty="0"/>
                        <a:t>Accounts officer</a:t>
                      </a:r>
                    </a:p>
                  </a:txBody>
                  <a:tcPr anchor="ctr"/>
                </a:tc>
                <a:tc>
                  <a:txBody>
                    <a:bodyPr/>
                    <a:lstStyle/>
                    <a:p>
                      <a:pPr algn="ctr" latinLnBrk="0"/>
                      <a:r>
                        <a:rPr lang="en-US" sz="1800" dirty="0"/>
                        <a:t>CFO</a:t>
                      </a:r>
                    </a:p>
                  </a:txBody>
                  <a:tcPr anchor="ctr"/>
                </a:tc>
                <a:extLst>
                  <a:ext uri="{0D108BD9-81ED-4DB2-BD59-A6C34878D82A}">
                    <a16:rowId xmlns:a16="http://schemas.microsoft.com/office/drawing/2014/main" val="4098811821"/>
                  </a:ext>
                </a:extLst>
              </a:tr>
              <a:tr h="370840">
                <a:tc>
                  <a:txBody>
                    <a:bodyPr/>
                    <a:lstStyle/>
                    <a:p>
                      <a:pPr latinLnBrk="0"/>
                      <a:r>
                        <a:rPr lang="en-US" sz="1800" dirty="0"/>
                        <a:t>Ali</a:t>
                      </a:r>
                    </a:p>
                  </a:txBody>
                  <a:tcPr anchor="ctr"/>
                </a:tc>
                <a:tc>
                  <a:txBody>
                    <a:bodyPr/>
                    <a:lstStyle/>
                    <a:p>
                      <a:pPr algn="ctr" latinLnBrk="0"/>
                      <a:r>
                        <a:rPr lang="en-US" sz="2400"/>
                        <a:t>x</a:t>
                      </a:r>
                      <a:endParaRPr lang="en-US" sz="2400" dirty="0"/>
                    </a:p>
                  </a:txBody>
                  <a:tcPr anchor="ctr"/>
                </a:tc>
                <a:tc>
                  <a:txBody>
                    <a:bodyPr/>
                    <a:lstStyle/>
                    <a:p>
                      <a:pPr algn="ctr" latinLnBrk="0"/>
                      <a:endParaRPr lang="en-US" sz="2400" dirty="0"/>
                    </a:p>
                  </a:txBody>
                  <a:tcPr anchor="ctr"/>
                </a:tc>
                <a:tc>
                  <a:txBody>
                    <a:bodyPr/>
                    <a:lstStyle/>
                    <a:p>
                      <a:pPr algn="ctr" latinLnBrk="0"/>
                      <a:endParaRPr lang="en-US" sz="2400" dirty="0"/>
                    </a:p>
                  </a:txBody>
                  <a:tcPr anchor="ctr"/>
                </a:tc>
                <a:tc>
                  <a:txBody>
                    <a:bodyPr/>
                    <a:lstStyle/>
                    <a:p>
                      <a:pPr algn="ctr" latinLnBrk="0"/>
                      <a:endParaRPr lang="en-US" sz="2400"/>
                    </a:p>
                  </a:txBody>
                  <a:tcPr anchor="ctr"/>
                </a:tc>
                <a:tc>
                  <a:txBody>
                    <a:bodyPr/>
                    <a:lstStyle/>
                    <a:p>
                      <a:pPr algn="ctr" latinLnBrk="0"/>
                      <a:endParaRPr lang="en-US" sz="2400"/>
                    </a:p>
                  </a:txBody>
                  <a:tcPr anchor="ctr"/>
                </a:tc>
                <a:extLst>
                  <a:ext uri="{0D108BD9-81ED-4DB2-BD59-A6C34878D82A}">
                    <a16:rowId xmlns:a16="http://schemas.microsoft.com/office/drawing/2014/main" val="4112772500"/>
                  </a:ext>
                </a:extLst>
              </a:tr>
              <a:tr h="370840">
                <a:tc>
                  <a:txBody>
                    <a:bodyPr/>
                    <a:lstStyle/>
                    <a:p>
                      <a:pPr latinLnBrk="0"/>
                      <a:r>
                        <a:rPr lang="en-US" sz="1800" dirty="0"/>
                        <a:t>Hania</a:t>
                      </a:r>
                    </a:p>
                  </a:txBody>
                  <a:tcPr anchor="ctr"/>
                </a:tc>
                <a:tc>
                  <a:txBody>
                    <a:bodyPr/>
                    <a:lstStyle/>
                    <a:p>
                      <a:pPr algn="ctr" latinLnBrk="0"/>
                      <a:endParaRPr lang="en-US" sz="2400" dirty="0"/>
                    </a:p>
                  </a:txBody>
                  <a:tcPr anchor="ctr"/>
                </a:tc>
                <a:tc>
                  <a:txBody>
                    <a:bodyPr/>
                    <a:lstStyle/>
                    <a:p>
                      <a:pPr algn="ctr" latinLnBrk="0"/>
                      <a:r>
                        <a:rPr lang="en-US" sz="2400"/>
                        <a:t>x</a:t>
                      </a:r>
                      <a:endParaRPr lang="en-US" sz="2400" dirty="0"/>
                    </a:p>
                  </a:txBody>
                  <a:tcPr anchor="ctr"/>
                </a:tc>
                <a:tc>
                  <a:txBody>
                    <a:bodyPr/>
                    <a:lstStyle/>
                    <a:p>
                      <a:pPr algn="ctr" latinLnBrk="0"/>
                      <a:endParaRPr lang="en-US" sz="2400" dirty="0"/>
                    </a:p>
                  </a:txBody>
                  <a:tcPr anchor="ctr"/>
                </a:tc>
                <a:tc>
                  <a:txBody>
                    <a:bodyPr/>
                    <a:lstStyle/>
                    <a:p>
                      <a:pPr algn="ctr" latinLnBrk="0"/>
                      <a:endParaRPr lang="en-US" sz="2400" dirty="0"/>
                    </a:p>
                  </a:txBody>
                  <a:tcPr anchor="ctr"/>
                </a:tc>
                <a:tc>
                  <a:txBody>
                    <a:bodyPr/>
                    <a:lstStyle/>
                    <a:p>
                      <a:pPr algn="ctr" latinLnBrk="0"/>
                      <a:endParaRPr lang="en-US" sz="2400" dirty="0"/>
                    </a:p>
                  </a:txBody>
                  <a:tcPr anchor="ctr"/>
                </a:tc>
                <a:extLst>
                  <a:ext uri="{0D108BD9-81ED-4DB2-BD59-A6C34878D82A}">
                    <a16:rowId xmlns:a16="http://schemas.microsoft.com/office/drawing/2014/main" val="1902540782"/>
                  </a:ext>
                </a:extLst>
              </a:tr>
              <a:tr h="370840">
                <a:tc>
                  <a:txBody>
                    <a:bodyPr/>
                    <a:lstStyle/>
                    <a:p>
                      <a:pPr latinLnBrk="0"/>
                      <a:r>
                        <a:rPr lang="en-US" sz="1800" dirty="0" err="1"/>
                        <a:t>Faiqa</a:t>
                      </a:r>
                      <a:endParaRPr lang="en-US" sz="1800" dirty="0"/>
                    </a:p>
                  </a:txBody>
                  <a:tcPr anchor="ctr"/>
                </a:tc>
                <a:tc>
                  <a:txBody>
                    <a:bodyPr/>
                    <a:lstStyle/>
                    <a:p>
                      <a:pPr algn="ctr" latinLnBrk="0"/>
                      <a:r>
                        <a:rPr lang="en-US" sz="2400"/>
                        <a:t>x</a:t>
                      </a:r>
                      <a:endParaRPr lang="en-US" sz="2400" dirty="0"/>
                    </a:p>
                  </a:txBody>
                  <a:tcPr anchor="ctr"/>
                </a:tc>
                <a:tc>
                  <a:txBody>
                    <a:bodyPr/>
                    <a:lstStyle/>
                    <a:p>
                      <a:pPr algn="ctr" latinLnBrk="0"/>
                      <a:endParaRPr lang="en-US" sz="2400" dirty="0"/>
                    </a:p>
                  </a:txBody>
                  <a:tcPr anchor="ctr"/>
                </a:tc>
                <a:tc>
                  <a:txBody>
                    <a:bodyPr/>
                    <a:lstStyle/>
                    <a:p>
                      <a:pPr algn="ctr" latinLnBrk="0"/>
                      <a:r>
                        <a:rPr lang="en-US" sz="2400"/>
                        <a:t>x</a:t>
                      </a:r>
                      <a:endParaRPr lang="en-US" sz="2400" dirty="0"/>
                    </a:p>
                  </a:txBody>
                  <a:tcPr anchor="ctr"/>
                </a:tc>
                <a:tc>
                  <a:txBody>
                    <a:bodyPr/>
                    <a:lstStyle/>
                    <a:p>
                      <a:pPr algn="ctr" latinLnBrk="0"/>
                      <a:endParaRPr lang="en-US" sz="2400" dirty="0"/>
                    </a:p>
                  </a:txBody>
                  <a:tcPr anchor="ctr"/>
                </a:tc>
                <a:tc>
                  <a:txBody>
                    <a:bodyPr/>
                    <a:lstStyle/>
                    <a:p>
                      <a:pPr algn="ctr" latinLnBrk="0"/>
                      <a:endParaRPr lang="en-US" sz="2400" dirty="0"/>
                    </a:p>
                  </a:txBody>
                  <a:tcPr anchor="ctr"/>
                </a:tc>
                <a:extLst>
                  <a:ext uri="{0D108BD9-81ED-4DB2-BD59-A6C34878D82A}">
                    <a16:rowId xmlns:a16="http://schemas.microsoft.com/office/drawing/2014/main" val="585747674"/>
                  </a:ext>
                </a:extLst>
              </a:tr>
              <a:tr h="370840">
                <a:tc>
                  <a:txBody>
                    <a:bodyPr/>
                    <a:lstStyle/>
                    <a:p>
                      <a:pPr latinLnBrk="0"/>
                      <a:r>
                        <a:rPr lang="en-US" sz="1800" dirty="0"/>
                        <a:t>Zaheer</a:t>
                      </a:r>
                    </a:p>
                  </a:txBody>
                  <a:tcPr anchor="ctr"/>
                </a:tc>
                <a:tc>
                  <a:txBody>
                    <a:bodyPr/>
                    <a:lstStyle/>
                    <a:p>
                      <a:pPr algn="ctr" latinLnBrk="0"/>
                      <a:endParaRPr lang="en-US" sz="2400" dirty="0"/>
                    </a:p>
                  </a:txBody>
                  <a:tcPr anchor="ctr"/>
                </a:tc>
                <a:tc>
                  <a:txBody>
                    <a:bodyPr/>
                    <a:lstStyle/>
                    <a:p>
                      <a:pPr algn="ctr" latinLnBrk="0"/>
                      <a:endParaRPr lang="en-US" sz="2400" dirty="0"/>
                    </a:p>
                  </a:txBody>
                  <a:tcPr anchor="ctr"/>
                </a:tc>
                <a:tc>
                  <a:txBody>
                    <a:bodyPr/>
                    <a:lstStyle/>
                    <a:p>
                      <a:pPr algn="ctr" latinLnBrk="0"/>
                      <a:endParaRPr lang="en-US" sz="2400" dirty="0"/>
                    </a:p>
                  </a:txBody>
                  <a:tcPr anchor="ctr"/>
                </a:tc>
                <a:tc>
                  <a:txBody>
                    <a:bodyPr/>
                    <a:lstStyle/>
                    <a:p>
                      <a:pPr algn="ctr" latinLnBrk="0"/>
                      <a:endParaRPr lang="en-US" sz="2400" dirty="0"/>
                    </a:p>
                  </a:txBody>
                  <a:tcPr anchor="ctr"/>
                </a:tc>
                <a:tc>
                  <a:txBody>
                    <a:bodyPr/>
                    <a:lstStyle/>
                    <a:p>
                      <a:pPr algn="ctr" latinLnBrk="0"/>
                      <a:r>
                        <a:rPr lang="en-US" sz="2400"/>
                        <a:t>x</a:t>
                      </a:r>
                      <a:endParaRPr lang="en-US" sz="2400" dirty="0"/>
                    </a:p>
                  </a:txBody>
                  <a:tcPr anchor="ctr"/>
                </a:tc>
                <a:extLst>
                  <a:ext uri="{0D108BD9-81ED-4DB2-BD59-A6C34878D82A}">
                    <a16:rowId xmlns:a16="http://schemas.microsoft.com/office/drawing/2014/main" val="3347670192"/>
                  </a:ext>
                </a:extLst>
              </a:tr>
              <a:tr h="370840">
                <a:tc>
                  <a:txBody>
                    <a:bodyPr/>
                    <a:lstStyle/>
                    <a:p>
                      <a:pPr latinLnBrk="0"/>
                      <a:r>
                        <a:rPr lang="en-US" sz="1800" dirty="0"/>
                        <a:t>Usman</a:t>
                      </a:r>
                    </a:p>
                  </a:txBody>
                  <a:tcPr anchor="ctr"/>
                </a:tc>
                <a:tc>
                  <a:txBody>
                    <a:bodyPr/>
                    <a:lstStyle/>
                    <a:p>
                      <a:pPr algn="ctr" latinLnBrk="0"/>
                      <a:endParaRPr lang="en-US" sz="2400" dirty="0"/>
                    </a:p>
                  </a:txBody>
                  <a:tcPr anchor="ctr"/>
                </a:tc>
                <a:tc>
                  <a:txBody>
                    <a:bodyPr/>
                    <a:lstStyle/>
                    <a:p>
                      <a:pPr algn="ctr" latinLnBrk="0"/>
                      <a:r>
                        <a:rPr lang="en-US" sz="2400"/>
                        <a:t>x</a:t>
                      </a:r>
                      <a:endParaRPr lang="en-US" sz="2400" dirty="0"/>
                    </a:p>
                  </a:txBody>
                  <a:tcPr anchor="ctr"/>
                </a:tc>
                <a:tc>
                  <a:txBody>
                    <a:bodyPr/>
                    <a:lstStyle/>
                    <a:p>
                      <a:pPr algn="ctr" latinLnBrk="0"/>
                      <a:endParaRPr lang="en-US" sz="2400" dirty="0"/>
                    </a:p>
                  </a:txBody>
                  <a:tcPr anchor="ctr"/>
                </a:tc>
                <a:tc>
                  <a:txBody>
                    <a:bodyPr/>
                    <a:lstStyle/>
                    <a:p>
                      <a:pPr algn="ctr" latinLnBrk="0"/>
                      <a:r>
                        <a:rPr lang="en-US" sz="2400"/>
                        <a:t>x</a:t>
                      </a:r>
                      <a:endParaRPr lang="en-US" sz="2400" dirty="0"/>
                    </a:p>
                  </a:txBody>
                  <a:tcPr anchor="ctr"/>
                </a:tc>
                <a:tc>
                  <a:txBody>
                    <a:bodyPr/>
                    <a:lstStyle/>
                    <a:p>
                      <a:pPr algn="ctr" latinLnBrk="0"/>
                      <a:endParaRPr lang="en-US" sz="2400" dirty="0"/>
                    </a:p>
                  </a:txBody>
                  <a:tcPr anchor="ctr"/>
                </a:tc>
                <a:extLst>
                  <a:ext uri="{0D108BD9-81ED-4DB2-BD59-A6C34878D82A}">
                    <a16:rowId xmlns:a16="http://schemas.microsoft.com/office/drawing/2014/main" val="374870857"/>
                  </a:ext>
                </a:extLst>
              </a:tr>
            </a:tbl>
          </a:graphicData>
        </a:graphic>
      </p:graphicFrame>
    </p:spTree>
    <p:extLst>
      <p:ext uri="{BB962C8B-B14F-4D97-AF65-F5344CB8AC3E}">
        <p14:creationId xmlns:p14="http://schemas.microsoft.com/office/powerpoint/2010/main" val="20986273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74066-27BB-66E4-70F9-45881326EB16}"/>
              </a:ext>
            </a:extLst>
          </p:cNvPr>
          <p:cNvSpPr>
            <a:spLocks noGrp="1"/>
          </p:cNvSpPr>
          <p:nvPr>
            <p:ph type="title"/>
          </p:nvPr>
        </p:nvSpPr>
        <p:spPr/>
        <p:txBody>
          <a:bodyPr/>
          <a:lstStyle/>
          <a:p>
            <a:r>
              <a:rPr lang="en-US" dirty="0"/>
              <a:t>RBAC Hierarchies</a:t>
            </a:r>
          </a:p>
        </p:txBody>
      </p:sp>
      <p:sp>
        <p:nvSpPr>
          <p:cNvPr id="3" name="Content Placeholder 2">
            <a:extLst>
              <a:ext uri="{FF2B5EF4-FFF2-40B4-BE49-F238E27FC236}">
                <a16:creationId xmlns:a16="http://schemas.microsoft.com/office/drawing/2014/main" id="{4302C7BE-0DC8-3BF9-B66A-2003605A905C}"/>
              </a:ext>
            </a:extLst>
          </p:cNvPr>
          <p:cNvSpPr>
            <a:spLocks noGrp="1"/>
          </p:cNvSpPr>
          <p:nvPr>
            <p:ph sz="quarter" idx="11"/>
          </p:nvPr>
        </p:nvSpPr>
        <p:spPr/>
        <p:txBody>
          <a:bodyPr/>
          <a:lstStyle/>
          <a:p>
            <a:r>
              <a:rPr lang="en-US" sz="2700" dirty="0"/>
              <a:t>Its possible to design RBAC in a hierarchical fashion, reflecting the hierarchical structure of organization.</a:t>
            </a:r>
          </a:p>
          <a:p>
            <a:r>
              <a:rPr lang="en-US" sz="2700" dirty="0"/>
              <a:t>Typically, job functions with greater responsibility have greater authority to access resources. A subordinate job function may have a subset of the access rights of the superior job function.</a:t>
            </a:r>
          </a:p>
          <a:p>
            <a:r>
              <a:rPr lang="en-US" sz="2700" dirty="0"/>
              <a:t>Role hierarchies make use of the </a:t>
            </a:r>
            <a:r>
              <a:rPr lang="en-US" sz="2700" dirty="0">
                <a:solidFill>
                  <a:srgbClr val="0070C0"/>
                </a:solidFill>
              </a:rPr>
              <a:t>inheritance</a:t>
            </a:r>
            <a:r>
              <a:rPr lang="en-US" sz="2700" dirty="0"/>
              <a:t> to enable one role to implicitly include access rights associated with a subordinate role.</a:t>
            </a:r>
          </a:p>
        </p:txBody>
      </p:sp>
    </p:spTree>
    <p:extLst>
      <p:ext uri="{BB962C8B-B14F-4D97-AF65-F5344CB8AC3E}">
        <p14:creationId xmlns:p14="http://schemas.microsoft.com/office/powerpoint/2010/main" val="8180626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95807-DE8A-EDF0-7205-D0580273BF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CBA372-660C-079D-869E-8659BC6317CD}"/>
              </a:ext>
            </a:extLst>
          </p:cNvPr>
          <p:cNvSpPr>
            <a:spLocks noGrp="1"/>
          </p:cNvSpPr>
          <p:nvPr>
            <p:ph type="title"/>
          </p:nvPr>
        </p:nvSpPr>
        <p:spPr/>
        <p:txBody>
          <a:bodyPr/>
          <a:lstStyle/>
          <a:p>
            <a:r>
              <a:rPr lang="en-US" dirty="0"/>
              <a:t>RBAC Hierarchies</a:t>
            </a:r>
          </a:p>
        </p:txBody>
      </p:sp>
      <p:pic>
        <p:nvPicPr>
          <p:cNvPr id="6" name="Content Placeholder 5">
            <a:extLst>
              <a:ext uri="{FF2B5EF4-FFF2-40B4-BE49-F238E27FC236}">
                <a16:creationId xmlns:a16="http://schemas.microsoft.com/office/drawing/2014/main" id="{60D4B21F-6E3C-D137-5672-825ECC0E5C23}"/>
              </a:ext>
            </a:extLst>
          </p:cNvPr>
          <p:cNvPicPr>
            <a:picLocks noGrp="1" noChangeAspect="1"/>
          </p:cNvPicPr>
          <p:nvPr>
            <p:ph sz="quarter" idx="11"/>
          </p:nvPr>
        </p:nvPicPr>
        <p:blipFill>
          <a:blip r:embed="rId2" cstate="print">
            <a:extLst>
              <a:ext uri="{28A0092B-C50C-407E-A947-70E740481C1C}">
                <a14:useLocalDpi xmlns:a14="http://schemas.microsoft.com/office/drawing/2010/main" val="0"/>
              </a:ext>
            </a:extLst>
          </a:blip>
          <a:stretch>
            <a:fillRect/>
          </a:stretch>
        </p:blipFill>
        <p:spPr>
          <a:xfrm>
            <a:off x="1036189" y="1628800"/>
            <a:ext cx="7071621" cy="4525838"/>
          </a:xfrm>
        </p:spPr>
      </p:pic>
    </p:spTree>
    <p:extLst>
      <p:ext uri="{BB962C8B-B14F-4D97-AF65-F5344CB8AC3E}">
        <p14:creationId xmlns:p14="http://schemas.microsoft.com/office/powerpoint/2010/main" val="5328066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84717-7346-925B-C0E2-6534E3EADC53}"/>
              </a:ext>
            </a:extLst>
          </p:cNvPr>
          <p:cNvSpPr>
            <a:spLocks noGrp="1"/>
          </p:cNvSpPr>
          <p:nvPr>
            <p:ph type="title"/>
          </p:nvPr>
        </p:nvSpPr>
        <p:spPr/>
        <p:txBody>
          <a:bodyPr/>
          <a:lstStyle/>
          <a:p>
            <a:r>
              <a:rPr lang="en-US" dirty="0"/>
              <a:t>DAC vs RBAC</a:t>
            </a:r>
            <a:endParaRPr lang="en-AU" dirty="0"/>
          </a:p>
        </p:txBody>
      </p:sp>
      <p:sp>
        <p:nvSpPr>
          <p:cNvPr id="3" name="Content Placeholder 2">
            <a:extLst>
              <a:ext uri="{FF2B5EF4-FFF2-40B4-BE49-F238E27FC236}">
                <a16:creationId xmlns:a16="http://schemas.microsoft.com/office/drawing/2014/main" id="{D7997DE6-65EA-C3FB-95CA-BFEFAD86E6D0}"/>
              </a:ext>
            </a:extLst>
          </p:cNvPr>
          <p:cNvSpPr>
            <a:spLocks noGrp="1"/>
          </p:cNvSpPr>
          <p:nvPr>
            <p:ph sz="quarter" idx="11"/>
          </p:nvPr>
        </p:nvSpPr>
        <p:spPr>
          <a:xfrm>
            <a:off x="1062000" y="1628800"/>
            <a:ext cx="7020000" cy="4676700"/>
          </a:xfrm>
        </p:spPr>
        <p:txBody>
          <a:bodyPr/>
          <a:lstStyle/>
          <a:p>
            <a:pPr marL="432" indent="0" algn="just">
              <a:buNone/>
            </a:pPr>
            <a:r>
              <a:rPr lang="en-US" sz="2400" dirty="0"/>
              <a:t>“It’s easy to confuse DAC and RBAC because they can both use groups to organize users into manageable units, but they differ in their deployment and use. In the DAC model, objects have owners, and the owner determines who has access. […] In  a strict RBAC model, administrators do not assign privileges to users directly but only grant privileges by adding user accounts to roles or groups.”</a:t>
            </a:r>
          </a:p>
          <a:p>
            <a:pPr marL="432" indent="0" algn="r">
              <a:buNone/>
            </a:pPr>
            <a:r>
              <a:rPr lang="en-AU" sz="2400" dirty="0"/>
              <a:t>CISSP Study Guide</a:t>
            </a:r>
          </a:p>
        </p:txBody>
      </p:sp>
    </p:spTree>
    <p:extLst>
      <p:ext uri="{BB962C8B-B14F-4D97-AF65-F5344CB8AC3E}">
        <p14:creationId xmlns:p14="http://schemas.microsoft.com/office/powerpoint/2010/main" val="14061617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44DA2-C111-1E50-9E3F-A54E45783288}"/>
              </a:ext>
            </a:extLst>
          </p:cNvPr>
          <p:cNvSpPr>
            <a:spLocks noGrp="1"/>
          </p:cNvSpPr>
          <p:nvPr>
            <p:ph type="title"/>
          </p:nvPr>
        </p:nvSpPr>
        <p:spPr/>
        <p:txBody>
          <a:bodyPr/>
          <a:lstStyle/>
          <a:p>
            <a:r>
              <a:rPr lang="en-US" dirty="0"/>
              <a:t>Mandatory Access Control (MAC)</a:t>
            </a:r>
          </a:p>
        </p:txBody>
      </p:sp>
      <p:sp>
        <p:nvSpPr>
          <p:cNvPr id="3" name="Content Placeholder 2">
            <a:extLst>
              <a:ext uri="{FF2B5EF4-FFF2-40B4-BE49-F238E27FC236}">
                <a16:creationId xmlns:a16="http://schemas.microsoft.com/office/drawing/2014/main" id="{2ED1BCE4-C9AB-E506-3245-35EDBBFC3475}"/>
              </a:ext>
            </a:extLst>
          </p:cNvPr>
          <p:cNvSpPr>
            <a:spLocks noGrp="1"/>
          </p:cNvSpPr>
          <p:nvPr>
            <p:ph sz="quarter" idx="11"/>
          </p:nvPr>
        </p:nvSpPr>
        <p:spPr/>
        <p:txBody>
          <a:bodyPr/>
          <a:lstStyle/>
          <a:p>
            <a:r>
              <a:rPr lang="en-US" sz="2400" dirty="0"/>
              <a:t>MAC model evolved out of requirements of government and military applications</a:t>
            </a:r>
          </a:p>
          <a:p>
            <a:r>
              <a:rPr lang="en-US" sz="2400" dirty="0"/>
              <a:t>It applies </a:t>
            </a:r>
            <a:r>
              <a:rPr lang="en-US" sz="2400" b="1" dirty="0"/>
              <a:t>labels</a:t>
            </a:r>
            <a:r>
              <a:rPr lang="en-US" sz="2400" dirty="0"/>
              <a:t> (or </a:t>
            </a:r>
            <a:r>
              <a:rPr lang="en-US" sz="2400" b="1" dirty="0"/>
              <a:t>classification</a:t>
            </a:r>
            <a:r>
              <a:rPr lang="en-US" sz="2400" dirty="0"/>
              <a:t>) to objects</a:t>
            </a:r>
          </a:p>
          <a:p>
            <a:pPr lvl="1"/>
            <a:r>
              <a:rPr lang="en-US" sz="2000" dirty="0"/>
              <a:t>e.g. confidential, top secret, secret, public, etc.</a:t>
            </a:r>
          </a:p>
          <a:p>
            <a:r>
              <a:rPr lang="en-US" sz="2400" dirty="0"/>
              <a:t>Similarly, subjects are given a security </a:t>
            </a:r>
            <a:r>
              <a:rPr lang="en-US" sz="2400" b="1" dirty="0"/>
              <a:t>clearance</a:t>
            </a:r>
          </a:p>
          <a:p>
            <a:r>
              <a:rPr lang="en-US" sz="2400" dirty="0"/>
              <a:t>MAC controls access based on comparing security classifications with security clearances</a:t>
            </a:r>
          </a:p>
          <a:p>
            <a:pPr lvl="1"/>
            <a:r>
              <a:rPr lang="en-US" sz="2000" dirty="0"/>
              <a:t>e.g. someone with secret clearance can’t access top secret data</a:t>
            </a:r>
          </a:p>
          <a:p>
            <a:r>
              <a:rPr lang="en-US" sz="2400" dirty="0"/>
              <a:t>The system owner/administrator manage access rights themselves, individual users have no control</a:t>
            </a:r>
          </a:p>
        </p:txBody>
      </p:sp>
    </p:spTree>
    <p:extLst>
      <p:ext uri="{BB962C8B-B14F-4D97-AF65-F5344CB8AC3E}">
        <p14:creationId xmlns:p14="http://schemas.microsoft.com/office/powerpoint/2010/main" val="26710696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2CD72D6-BCD7-4325-D0F9-AD29E779864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450"/>
          <a:stretch/>
        </p:blipFill>
        <p:spPr bwMode="auto">
          <a:xfrm>
            <a:off x="251520" y="1586759"/>
            <a:ext cx="5587203" cy="472256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BF6D76C-9242-2943-45D7-BF4509526C27}"/>
              </a:ext>
            </a:extLst>
          </p:cNvPr>
          <p:cNvSpPr>
            <a:spLocks noGrp="1"/>
          </p:cNvSpPr>
          <p:nvPr>
            <p:ph type="title"/>
          </p:nvPr>
        </p:nvSpPr>
        <p:spPr/>
        <p:txBody>
          <a:bodyPr/>
          <a:lstStyle/>
          <a:p>
            <a:r>
              <a:rPr lang="en-US" sz="3600" dirty="0"/>
              <a:t>Classifications: UK govt example</a:t>
            </a:r>
            <a:endParaRPr lang="en-AU" sz="3600" dirty="0"/>
          </a:p>
        </p:txBody>
      </p:sp>
      <p:sp>
        <p:nvSpPr>
          <p:cNvPr id="3" name="Content Placeholder 2">
            <a:extLst>
              <a:ext uri="{FF2B5EF4-FFF2-40B4-BE49-F238E27FC236}">
                <a16:creationId xmlns:a16="http://schemas.microsoft.com/office/drawing/2014/main" id="{B7AA90C8-D064-2274-ABF5-A13A4464714F}"/>
              </a:ext>
            </a:extLst>
          </p:cNvPr>
          <p:cNvSpPr>
            <a:spLocks noGrp="1"/>
          </p:cNvSpPr>
          <p:nvPr>
            <p:ph sz="quarter" idx="11"/>
          </p:nvPr>
        </p:nvSpPr>
        <p:spPr>
          <a:xfrm>
            <a:off x="5127376" y="1412776"/>
            <a:ext cx="3837112" cy="3456384"/>
          </a:xfrm>
        </p:spPr>
        <p:txBody>
          <a:bodyPr/>
          <a:lstStyle/>
          <a:p>
            <a:pPr marL="432" indent="0">
              <a:buNone/>
            </a:pPr>
            <a:r>
              <a:rPr lang="en-US" sz="2000" dirty="0"/>
              <a:t>Classifications are hierarchical. So, someone with </a:t>
            </a:r>
            <a:r>
              <a:rPr lang="en-US" sz="2000" i="1" dirty="0"/>
              <a:t>confidential</a:t>
            </a:r>
            <a:r>
              <a:rPr lang="en-US" sz="2000" dirty="0"/>
              <a:t> clearance *could* have access to resources that are classified </a:t>
            </a:r>
            <a:r>
              <a:rPr lang="en-US" sz="2000" i="1" dirty="0"/>
              <a:t>confidential</a:t>
            </a:r>
            <a:r>
              <a:rPr lang="en-US" sz="2000" dirty="0"/>
              <a:t> or below (but subject to other constraints).</a:t>
            </a:r>
          </a:p>
          <a:p>
            <a:pPr marL="432" indent="0">
              <a:buNone/>
            </a:pPr>
            <a:endParaRPr lang="en-US" sz="1000" dirty="0"/>
          </a:p>
          <a:p>
            <a:pPr marL="432" indent="0">
              <a:buNone/>
            </a:pPr>
            <a:r>
              <a:rPr lang="en-US" sz="2000" dirty="0"/>
              <a:t>Somone with </a:t>
            </a:r>
            <a:r>
              <a:rPr lang="en-US" sz="2000" i="1" dirty="0"/>
              <a:t>protected</a:t>
            </a:r>
            <a:r>
              <a:rPr lang="en-US" sz="2000" dirty="0"/>
              <a:t> clearance can NOT have access to </a:t>
            </a:r>
            <a:r>
              <a:rPr lang="en-US" sz="2000" i="1" dirty="0"/>
              <a:t>restricted</a:t>
            </a:r>
            <a:r>
              <a:rPr lang="en-US" sz="2000" dirty="0"/>
              <a:t> (or higher classification) resources.</a:t>
            </a:r>
            <a:endParaRPr lang="en-AU" sz="2000" dirty="0"/>
          </a:p>
        </p:txBody>
      </p:sp>
      <p:sp>
        <p:nvSpPr>
          <p:cNvPr id="7" name="TextBox 6">
            <a:extLst>
              <a:ext uri="{FF2B5EF4-FFF2-40B4-BE49-F238E27FC236}">
                <a16:creationId xmlns:a16="http://schemas.microsoft.com/office/drawing/2014/main" id="{302CFED0-53CB-80EE-C36F-A6E61741F387}"/>
              </a:ext>
            </a:extLst>
          </p:cNvPr>
          <p:cNvSpPr txBox="1"/>
          <p:nvPr/>
        </p:nvSpPr>
        <p:spPr>
          <a:xfrm>
            <a:off x="127591" y="6527465"/>
            <a:ext cx="4572000" cy="246221"/>
          </a:xfrm>
          <a:prstGeom prst="rect">
            <a:avLst/>
          </a:prstGeom>
          <a:noFill/>
        </p:spPr>
        <p:txBody>
          <a:bodyPr wrap="square">
            <a:spAutoFit/>
          </a:bodyPr>
          <a:lstStyle/>
          <a:p>
            <a:r>
              <a:rPr lang="en-AU" sz="1000" dirty="0"/>
              <a:t>https://en.wikipedia.org/wiki/Government_Security_Classifications_Policy</a:t>
            </a:r>
          </a:p>
        </p:txBody>
      </p:sp>
    </p:spTree>
    <p:extLst>
      <p:ext uri="{BB962C8B-B14F-4D97-AF65-F5344CB8AC3E}">
        <p14:creationId xmlns:p14="http://schemas.microsoft.com/office/powerpoint/2010/main" val="37438132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69D73-6C6D-FF9B-B223-920E6F1429A5}"/>
              </a:ext>
            </a:extLst>
          </p:cNvPr>
          <p:cNvSpPr>
            <a:spLocks noGrp="1"/>
          </p:cNvSpPr>
          <p:nvPr>
            <p:ph type="title"/>
          </p:nvPr>
        </p:nvSpPr>
        <p:spPr/>
        <p:txBody>
          <a:bodyPr/>
          <a:lstStyle/>
          <a:p>
            <a:r>
              <a:rPr lang="en-US" dirty="0"/>
              <a:t>MAC Rules</a:t>
            </a:r>
            <a:endParaRPr lang="en-AU" dirty="0"/>
          </a:p>
        </p:txBody>
      </p:sp>
      <p:sp>
        <p:nvSpPr>
          <p:cNvPr id="3" name="Content Placeholder 2">
            <a:extLst>
              <a:ext uri="{FF2B5EF4-FFF2-40B4-BE49-F238E27FC236}">
                <a16:creationId xmlns:a16="http://schemas.microsoft.com/office/drawing/2014/main" id="{268B66D0-DF01-BA21-26A2-FAFF2E2F784C}"/>
              </a:ext>
            </a:extLst>
          </p:cNvPr>
          <p:cNvSpPr>
            <a:spLocks noGrp="1"/>
          </p:cNvSpPr>
          <p:nvPr>
            <p:ph sz="quarter" idx="11"/>
          </p:nvPr>
        </p:nvSpPr>
        <p:spPr/>
        <p:txBody>
          <a:bodyPr/>
          <a:lstStyle/>
          <a:p>
            <a:r>
              <a:rPr lang="en-US" sz="2400" dirty="0"/>
              <a:t>When the system makes a decision about fulfilling an access request, it is based on the clearance of the subject, the classification of the object, </a:t>
            </a:r>
            <a:r>
              <a:rPr lang="en-US" sz="2400" b="1" dirty="0"/>
              <a:t>and the security policy of the system</a:t>
            </a:r>
            <a:r>
              <a:rPr lang="en-US" sz="2400" dirty="0"/>
              <a:t>.</a:t>
            </a:r>
          </a:p>
          <a:p>
            <a:r>
              <a:rPr lang="en-US" sz="2400" dirty="0"/>
              <a:t>This means that even if a user has the right clearance to read a file, specific policies (e.g., requiring “need to know”) could still prevent access to it.</a:t>
            </a:r>
          </a:p>
          <a:p>
            <a:r>
              <a:rPr lang="en-US" sz="2400" dirty="0"/>
              <a:t>Each object is assigned a security label containing</a:t>
            </a:r>
          </a:p>
          <a:p>
            <a:pPr marL="915750" lvl="1" indent="-457200">
              <a:buFont typeface="+mj-lt"/>
              <a:buAutoNum type="alphaLcParenR"/>
            </a:pPr>
            <a:r>
              <a:rPr lang="en-US" sz="2000" dirty="0"/>
              <a:t>classification: sensitivity level</a:t>
            </a:r>
          </a:p>
          <a:p>
            <a:pPr marL="915750" lvl="1" indent="-457200">
              <a:buFont typeface="+mj-lt"/>
              <a:buAutoNum type="alphaLcParenR"/>
            </a:pPr>
            <a:r>
              <a:rPr lang="en-US" sz="2000" dirty="0"/>
              <a:t>category: the sub-compartment of information</a:t>
            </a:r>
            <a:endParaRPr lang="en-AU" sz="2000" dirty="0"/>
          </a:p>
        </p:txBody>
      </p:sp>
    </p:spTree>
    <p:extLst>
      <p:ext uri="{BB962C8B-B14F-4D97-AF65-F5344CB8AC3E}">
        <p14:creationId xmlns:p14="http://schemas.microsoft.com/office/powerpoint/2010/main" val="36782515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AEB28-22A9-9F61-2C23-AA93AFBBF82A}"/>
              </a:ext>
            </a:extLst>
          </p:cNvPr>
          <p:cNvSpPr>
            <a:spLocks noGrp="1"/>
          </p:cNvSpPr>
          <p:nvPr>
            <p:ph type="title"/>
          </p:nvPr>
        </p:nvSpPr>
        <p:spPr/>
        <p:txBody>
          <a:bodyPr/>
          <a:lstStyle/>
          <a:p>
            <a:r>
              <a:rPr lang="en-US" dirty="0"/>
              <a:t>MAC example</a:t>
            </a:r>
            <a:endParaRPr lang="en-AU" dirty="0"/>
          </a:p>
        </p:txBody>
      </p:sp>
      <p:sp>
        <p:nvSpPr>
          <p:cNvPr id="3" name="Content Placeholder 2">
            <a:extLst>
              <a:ext uri="{FF2B5EF4-FFF2-40B4-BE49-F238E27FC236}">
                <a16:creationId xmlns:a16="http://schemas.microsoft.com/office/drawing/2014/main" id="{505FA6F3-44D4-A3C1-5307-81E391ADD168}"/>
              </a:ext>
            </a:extLst>
          </p:cNvPr>
          <p:cNvSpPr>
            <a:spLocks noGrp="1"/>
          </p:cNvSpPr>
          <p:nvPr>
            <p:ph sz="quarter" idx="11"/>
          </p:nvPr>
        </p:nvSpPr>
        <p:spPr/>
        <p:txBody>
          <a:bodyPr/>
          <a:lstStyle/>
          <a:p>
            <a:r>
              <a:rPr lang="en-US" sz="2400" dirty="0"/>
              <a:t>Judy has Top secret clearance. She can access objects classified as Top secret or lower but ONLY if the object’s category belongs to set of categories in Judy’s security label.</a:t>
            </a:r>
            <a:endParaRPr lang="en-AU" sz="2400" dirty="0"/>
          </a:p>
        </p:txBody>
      </p:sp>
      <p:pic>
        <p:nvPicPr>
          <p:cNvPr id="5" name="Picture 4">
            <a:extLst>
              <a:ext uri="{FF2B5EF4-FFF2-40B4-BE49-F238E27FC236}">
                <a16:creationId xmlns:a16="http://schemas.microsoft.com/office/drawing/2014/main" id="{6915B5CF-E683-EA92-C4CB-C77B7E1D8719}"/>
              </a:ext>
            </a:extLst>
          </p:cNvPr>
          <p:cNvPicPr>
            <a:picLocks noChangeAspect="1"/>
          </p:cNvPicPr>
          <p:nvPr/>
        </p:nvPicPr>
        <p:blipFill>
          <a:blip r:embed="rId2"/>
          <a:stretch>
            <a:fillRect/>
          </a:stretch>
        </p:blipFill>
        <p:spPr>
          <a:xfrm>
            <a:off x="760775" y="3197442"/>
            <a:ext cx="7664982" cy="2841854"/>
          </a:xfrm>
          <a:prstGeom prst="rect">
            <a:avLst/>
          </a:prstGeom>
        </p:spPr>
      </p:pic>
    </p:spTree>
    <p:extLst>
      <p:ext uri="{BB962C8B-B14F-4D97-AF65-F5344CB8AC3E}">
        <p14:creationId xmlns:p14="http://schemas.microsoft.com/office/powerpoint/2010/main" val="14463247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7636B-232C-4618-A004-828964616D23}"/>
              </a:ext>
            </a:extLst>
          </p:cNvPr>
          <p:cNvSpPr>
            <a:spLocks noGrp="1"/>
          </p:cNvSpPr>
          <p:nvPr>
            <p:ph type="title"/>
          </p:nvPr>
        </p:nvSpPr>
        <p:spPr/>
        <p:txBody>
          <a:bodyPr/>
          <a:lstStyle/>
          <a:p>
            <a:r>
              <a:rPr lang="en-US" dirty="0"/>
              <a:t>Attribute-Based Access Control</a:t>
            </a:r>
          </a:p>
        </p:txBody>
      </p:sp>
      <p:sp>
        <p:nvSpPr>
          <p:cNvPr id="3" name="Content Placeholder 2">
            <a:extLst>
              <a:ext uri="{FF2B5EF4-FFF2-40B4-BE49-F238E27FC236}">
                <a16:creationId xmlns:a16="http://schemas.microsoft.com/office/drawing/2014/main" id="{5DB58B2C-32AF-4A28-AED6-8D67A4079D45}"/>
              </a:ext>
            </a:extLst>
          </p:cNvPr>
          <p:cNvSpPr>
            <a:spLocks noGrp="1"/>
          </p:cNvSpPr>
          <p:nvPr>
            <p:ph sz="quarter" idx="11"/>
          </p:nvPr>
        </p:nvSpPr>
        <p:spPr/>
        <p:txBody>
          <a:bodyPr/>
          <a:lstStyle/>
          <a:p>
            <a:r>
              <a:rPr lang="en-US" sz="2800" dirty="0"/>
              <a:t>An ABAC model can define authorizations that express conditions on properties of object, subject or environment.</a:t>
            </a:r>
          </a:p>
          <a:p>
            <a:r>
              <a:rPr lang="en-US" sz="2800" dirty="0"/>
              <a:t>Attributes are characteristics that define specific aspects of the subject, object, environment conditions, and/or requested operations that are predefined and preassigned by an authority.</a:t>
            </a:r>
          </a:p>
          <a:p>
            <a:endParaRPr lang="en-US" sz="2800" dirty="0"/>
          </a:p>
        </p:txBody>
      </p:sp>
    </p:spTree>
    <p:extLst>
      <p:ext uri="{BB962C8B-B14F-4D97-AF65-F5344CB8AC3E}">
        <p14:creationId xmlns:p14="http://schemas.microsoft.com/office/powerpoint/2010/main" val="1894991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3DC1E-40C5-42D2-97A0-B6DCD1555C83}"/>
              </a:ext>
            </a:extLst>
          </p:cNvPr>
          <p:cNvSpPr>
            <a:spLocks noGrp="1"/>
          </p:cNvSpPr>
          <p:nvPr>
            <p:ph type="title"/>
          </p:nvPr>
        </p:nvSpPr>
        <p:spPr/>
        <p:txBody>
          <a:bodyPr/>
          <a:lstStyle/>
          <a:p>
            <a:r>
              <a:rPr lang="en-US" dirty="0"/>
              <a:t>A</a:t>
            </a:r>
            <a:r>
              <a:rPr lang="en-US" sz="100" dirty="0"/>
              <a:t> </a:t>
            </a:r>
            <a:r>
              <a:rPr lang="en-US" dirty="0"/>
              <a:t>B</a:t>
            </a:r>
            <a:r>
              <a:rPr lang="en-US" sz="100" dirty="0"/>
              <a:t> </a:t>
            </a:r>
            <a:r>
              <a:rPr lang="en-US" dirty="0"/>
              <a:t>A</a:t>
            </a:r>
            <a:r>
              <a:rPr lang="en-US" sz="100" dirty="0"/>
              <a:t> </a:t>
            </a:r>
            <a:r>
              <a:rPr lang="en-US" dirty="0"/>
              <a:t>C Model: Terms</a:t>
            </a:r>
          </a:p>
        </p:txBody>
      </p:sp>
      <p:graphicFrame>
        <p:nvGraphicFramePr>
          <p:cNvPr id="4" name="Content Placeholder 4">
            <a:extLst>
              <a:ext uri="{FF2B5EF4-FFF2-40B4-BE49-F238E27FC236}">
                <a16:creationId xmlns:a16="http://schemas.microsoft.com/office/drawing/2014/main" id="{A920252E-CE10-E06A-2B17-674D05AA0858}"/>
              </a:ext>
            </a:extLst>
          </p:cNvPr>
          <p:cNvGraphicFramePr>
            <a:graphicFrameLocks/>
          </p:cNvGraphicFramePr>
          <p:nvPr>
            <p:extLst>
              <p:ext uri="{D42A27DB-BD31-4B8C-83A1-F6EECF244321}">
                <p14:modId xmlns:p14="http://schemas.microsoft.com/office/powerpoint/2010/main" val="3329338008"/>
              </p:ext>
            </p:extLst>
          </p:nvPr>
        </p:nvGraphicFramePr>
        <p:xfrm>
          <a:off x="683568" y="2132856"/>
          <a:ext cx="7920880" cy="3200400"/>
        </p:xfrm>
        <a:graphic>
          <a:graphicData uri="http://schemas.openxmlformats.org/drawingml/2006/table">
            <a:tbl>
              <a:tblPr bandRow="1">
                <a:tableStyleId>{5C22544A-7EE6-4342-B048-85BDC9FD1C3A}</a:tableStyleId>
              </a:tblPr>
              <a:tblGrid>
                <a:gridCol w="2088232">
                  <a:extLst>
                    <a:ext uri="{9D8B030D-6E8A-4147-A177-3AD203B41FA5}">
                      <a16:colId xmlns:a16="http://schemas.microsoft.com/office/drawing/2014/main" val="2054743748"/>
                    </a:ext>
                  </a:extLst>
                </a:gridCol>
                <a:gridCol w="5832648">
                  <a:extLst>
                    <a:ext uri="{9D8B030D-6E8A-4147-A177-3AD203B41FA5}">
                      <a16:colId xmlns:a16="http://schemas.microsoft.com/office/drawing/2014/main" val="1644504109"/>
                    </a:ext>
                  </a:extLst>
                </a:gridCol>
              </a:tblGrid>
              <a:tr h="609395">
                <a:tc>
                  <a:txBody>
                    <a:bodyPr/>
                    <a:lstStyle/>
                    <a:p>
                      <a:pPr latinLnBrk="0"/>
                      <a:r>
                        <a:rPr lang="en-US" sz="2400" b="1" dirty="0"/>
                        <a:t>subject</a:t>
                      </a:r>
                    </a:p>
                  </a:txBody>
                  <a:tcPr anchor="ctr"/>
                </a:tc>
                <a:tc>
                  <a:txBody>
                    <a:bodyPr/>
                    <a:lstStyle/>
                    <a:p>
                      <a:pPr latinLnBrk="0"/>
                      <a:r>
                        <a:rPr lang="en-US" sz="2400" dirty="0"/>
                        <a:t>an active entity (user, process, device) that causes information flow or change in system state</a:t>
                      </a:r>
                    </a:p>
                  </a:txBody>
                  <a:tcPr anchor="ctr"/>
                </a:tc>
                <a:extLst>
                  <a:ext uri="{0D108BD9-81ED-4DB2-BD59-A6C34878D82A}">
                    <a16:rowId xmlns:a16="http://schemas.microsoft.com/office/drawing/2014/main" val="2672115938"/>
                  </a:ext>
                </a:extLst>
              </a:tr>
              <a:tr h="609395">
                <a:tc>
                  <a:txBody>
                    <a:bodyPr/>
                    <a:lstStyle/>
                    <a:p>
                      <a:pPr latinLnBrk="0"/>
                      <a:r>
                        <a:rPr lang="en-US" sz="2400" b="1" dirty="0"/>
                        <a:t>object</a:t>
                      </a:r>
                    </a:p>
                  </a:txBody>
                  <a:tcPr anchor="ctr"/>
                </a:tc>
                <a:tc>
                  <a:txBody>
                    <a:bodyPr/>
                    <a:lstStyle/>
                    <a:p>
                      <a:pPr latinLnBrk="0"/>
                      <a:r>
                        <a:rPr lang="en-US" sz="2400" dirty="0"/>
                        <a:t>a passive entity containing or receiving information</a:t>
                      </a:r>
                    </a:p>
                  </a:txBody>
                  <a:tcPr anchor="ctr"/>
                </a:tc>
                <a:extLst>
                  <a:ext uri="{0D108BD9-81ED-4DB2-BD59-A6C34878D82A}">
                    <a16:rowId xmlns:a16="http://schemas.microsoft.com/office/drawing/2014/main" val="2273040840"/>
                  </a:ext>
                </a:extLst>
              </a:tr>
              <a:tr h="1051816">
                <a:tc>
                  <a:txBody>
                    <a:bodyPr/>
                    <a:lstStyle/>
                    <a:p>
                      <a:pPr latinLnBrk="0"/>
                      <a:r>
                        <a:rPr lang="en-US" sz="2400" b="1" dirty="0"/>
                        <a:t>environment</a:t>
                      </a:r>
                    </a:p>
                  </a:txBody>
                  <a:tcPr anchor="ctr"/>
                </a:tc>
                <a:tc>
                  <a:txBody>
                    <a:bodyPr/>
                    <a:lstStyle/>
                    <a:p>
                      <a:pPr latinLnBrk="0"/>
                      <a:r>
                        <a:rPr lang="en-US" sz="2400" dirty="0"/>
                        <a:t>the operational, technical, or situational context in which the information access occurs</a:t>
                      </a:r>
                    </a:p>
                  </a:txBody>
                  <a:tcPr anchor="ctr"/>
                </a:tc>
                <a:extLst>
                  <a:ext uri="{0D108BD9-81ED-4DB2-BD59-A6C34878D82A}">
                    <a16:rowId xmlns:a16="http://schemas.microsoft.com/office/drawing/2014/main" val="3168926693"/>
                  </a:ext>
                </a:extLst>
              </a:tr>
            </a:tbl>
          </a:graphicData>
        </a:graphic>
      </p:graphicFrame>
    </p:spTree>
    <p:extLst>
      <p:ext uri="{BB962C8B-B14F-4D97-AF65-F5344CB8AC3E}">
        <p14:creationId xmlns:p14="http://schemas.microsoft.com/office/powerpoint/2010/main" val="33963691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4B2AF-CB15-F478-32D4-A4C38FE37ABE}"/>
              </a:ext>
            </a:extLst>
          </p:cNvPr>
          <p:cNvSpPr>
            <a:spLocks noGrp="1"/>
          </p:cNvSpPr>
          <p:nvPr>
            <p:ph type="title"/>
          </p:nvPr>
        </p:nvSpPr>
        <p:spPr/>
        <p:txBody>
          <a:bodyPr/>
          <a:lstStyle/>
          <a:p>
            <a:r>
              <a:rPr lang="en-US" dirty="0"/>
              <a:t>A</a:t>
            </a:r>
            <a:r>
              <a:rPr lang="en-US" sz="100" dirty="0"/>
              <a:t> </a:t>
            </a:r>
            <a:r>
              <a:rPr lang="en-US" dirty="0"/>
              <a:t>B</a:t>
            </a:r>
            <a:r>
              <a:rPr lang="en-US" sz="100" dirty="0"/>
              <a:t> </a:t>
            </a:r>
            <a:r>
              <a:rPr lang="en-US" dirty="0"/>
              <a:t>A</a:t>
            </a:r>
            <a:r>
              <a:rPr lang="en-US" sz="100" dirty="0"/>
              <a:t> </a:t>
            </a:r>
            <a:r>
              <a:rPr lang="en-US" dirty="0"/>
              <a:t>C Model: Attributes</a:t>
            </a:r>
          </a:p>
        </p:txBody>
      </p:sp>
      <p:sp>
        <p:nvSpPr>
          <p:cNvPr id="3" name="Content Placeholder 2">
            <a:extLst>
              <a:ext uri="{FF2B5EF4-FFF2-40B4-BE49-F238E27FC236}">
                <a16:creationId xmlns:a16="http://schemas.microsoft.com/office/drawing/2014/main" id="{0E73F6A6-4D73-A243-0881-6BF5B1D45042}"/>
              </a:ext>
            </a:extLst>
          </p:cNvPr>
          <p:cNvSpPr>
            <a:spLocks noGrp="1"/>
          </p:cNvSpPr>
          <p:nvPr>
            <p:ph sz="quarter" idx="11"/>
          </p:nvPr>
        </p:nvSpPr>
        <p:spPr>
          <a:xfrm>
            <a:off x="3013484" y="1484784"/>
            <a:ext cx="3117032" cy="504056"/>
          </a:xfrm>
        </p:spPr>
        <p:txBody>
          <a:bodyPr/>
          <a:lstStyle/>
          <a:p>
            <a:pPr marL="0" indent="0" algn="ctr">
              <a:buNone/>
            </a:pPr>
            <a:r>
              <a:rPr lang="en-US" sz="2400" b="1" dirty="0"/>
              <a:t>Attribute examples</a:t>
            </a:r>
          </a:p>
        </p:txBody>
      </p:sp>
      <p:graphicFrame>
        <p:nvGraphicFramePr>
          <p:cNvPr id="4" name="Content Placeholder 3">
            <a:extLst>
              <a:ext uri="{FF2B5EF4-FFF2-40B4-BE49-F238E27FC236}">
                <a16:creationId xmlns:a16="http://schemas.microsoft.com/office/drawing/2014/main" id="{26708137-7AE5-0F94-1E08-75E591F07915}"/>
              </a:ext>
            </a:extLst>
          </p:cNvPr>
          <p:cNvGraphicFramePr>
            <a:graphicFrameLocks/>
          </p:cNvGraphicFramePr>
          <p:nvPr>
            <p:extLst>
              <p:ext uri="{D42A27DB-BD31-4B8C-83A1-F6EECF244321}">
                <p14:modId xmlns:p14="http://schemas.microsoft.com/office/powerpoint/2010/main" val="2920422436"/>
              </p:ext>
            </p:extLst>
          </p:nvPr>
        </p:nvGraphicFramePr>
        <p:xfrm>
          <a:off x="548426" y="2132856"/>
          <a:ext cx="8226660" cy="3870960"/>
        </p:xfrm>
        <a:graphic>
          <a:graphicData uri="http://schemas.openxmlformats.org/drawingml/2006/table">
            <a:tbl>
              <a:tblPr firstRow="1" bandRow="1">
                <a:tableStyleId>{5DA37D80-6434-44D0-A028-1B22A696006F}</a:tableStyleId>
              </a:tblPr>
              <a:tblGrid>
                <a:gridCol w="2742220">
                  <a:extLst>
                    <a:ext uri="{9D8B030D-6E8A-4147-A177-3AD203B41FA5}">
                      <a16:colId xmlns:a16="http://schemas.microsoft.com/office/drawing/2014/main" val="609377503"/>
                    </a:ext>
                  </a:extLst>
                </a:gridCol>
                <a:gridCol w="2742220">
                  <a:extLst>
                    <a:ext uri="{9D8B030D-6E8A-4147-A177-3AD203B41FA5}">
                      <a16:colId xmlns:a16="http://schemas.microsoft.com/office/drawing/2014/main" val="3123303803"/>
                    </a:ext>
                  </a:extLst>
                </a:gridCol>
                <a:gridCol w="2742220">
                  <a:extLst>
                    <a:ext uri="{9D8B030D-6E8A-4147-A177-3AD203B41FA5}">
                      <a16:colId xmlns:a16="http://schemas.microsoft.com/office/drawing/2014/main" val="3420995017"/>
                    </a:ext>
                  </a:extLst>
                </a:gridCol>
              </a:tblGrid>
              <a:tr h="370840">
                <a:tc>
                  <a:txBody>
                    <a:bodyPr/>
                    <a:lstStyle/>
                    <a:p>
                      <a:pPr latinLnBrk="0"/>
                      <a:r>
                        <a:rPr lang="en-US" sz="2200" dirty="0"/>
                        <a:t>Subject</a:t>
                      </a:r>
                    </a:p>
                  </a:txBody>
                  <a:tcPr anchor="ctr"/>
                </a:tc>
                <a:tc>
                  <a:txBody>
                    <a:bodyPr/>
                    <a:lstStyle/>
                    <a:p>
                      <a:pPr algn="ctr" latinLnBrk="0"/>
                      <a:r>
                        <a:rPr lang="en-US" sz="2200" dirty="0"/>
                        <a:t>Object</a:t>
                      </a:r>
                    </a:p>
                  </a:txBody>
                  <a:tcPr anchor="ctr"/>
                </a:tc>
                <a:tc>
                  <a:txBody>
                    <a:bodyPr/>
                    <a:lstStyle/>
                    <a:p>
                      <a:pPr algn="ctr" latinLnBrk="0"/>
                      <a:r>
                        <a:rPr lang="en-US" sz="2200" dirty="0"/>
                        <a:t>Environment</a:t>
                      </a:r>
                    </a:p>
                  </a:txBody>
                  <a:tcPr anchor="ctr"/>
                </a:tc>
                <a:extLst>
                  <a:ext uri="{0D108BD9-81ED-4DB2-BD59-A6C34878D82A}">
                    <a16:rowId xmlns:a16="http://schemas.microsoft.com/office/drawing/2014/main" val="4098811821"/>
                  </a:ext>
                </a:extLst>
              </a:tr>
              <a:tr h="370840">
                <a:tc>
                  <a:txBody>
                    <a:bodyPr/>
                    <a:lstStyle/>
                    <a:p>
                      <a:pPr marL="285750" indent="-285750" algn="l" latinLnBrk="0">
                        <a:buFont typeface="Arial" panose="020B0604020202020204" pitchFamily="34" charset="0"/>
                        <a:buChar char="•"/>
                      </a:pPr>
                      <a:r>
                        <a:rPr lang="en-US" sz="2200" dirty="0"/>
                        <a:t>id</a:t>
                      </a:r>
                    </a:p>
                    <a:p>
                      <a:pPr marL="285750" indent="-285750" algn="l" latinLnBrk="0">
                        <a:buFont typeface="Arial" panose="020B0604020202020204" pitchFamily="34" charset="0"/>
                        <a:buChar char="•"/>
                      </a:pPr>
                      <a:r>
                        <a:rPr lang="en-US" sz="2200" dirty="0"/>
                        <a:t>name</a:t>
                      </a:r>
                    </a:p>
                    <a:p>
                      <a:pPr marL="285750" indent="-285750" algn="l" latinLnBrk="0">
                        <a:buFont typeface="Arial" panose="020B0604020202020204" pitchFamily="34" charset="0"/>
                        <a:buChar char="•"/>
                      </a:pPr>
                      <a:r>
                        <a:rPr lang="en-US" sz="2200" dirty="0"/>
                        <a:t>date of birth</a:t>
                      </a:r>
                    </a:p>
                    <a:p>
                      <a:pPr marL="285750" indent="-285750" algn="l" latinLnBrk="0">
                        <a:buFont typeface="Arial" panose="020B0604020202020204" pitchFamily="34" charset="0"/>
                        <a:buChar char="•"/>
                      </a:pPr>
                      <a:r>
                        <a:rPr lang="en-US" sz="2200" dirty="0"/>
                        <a:t>organization</a:t>
                      </a:r>
                    </a:p>
                    <a:p>
                      <a:pPr marL="285750" indent="-285750" algn="l" latinLnBrk="0">
                        <a:buFont typeface="Arial" panose="020B0604020202020204" pitchFamily="34" charset="0"/>
                        <a:buChar char="•"/>
                      </a:pPr>
                      <a:r>
                        <a:rPr lang="en-US" sz="2200" dirty="0"/>
                        <a:t>job title</a:t>
                      </a:r>
                    </a:p>
                    <a:p>
                      <a:pPr marL="285750" indent="-285750" algn="l" latinLnBrk="0">
                        <a:buFont typeface="Arial" panose="020B0604020202020204" pitchFamily="34" charset="0"/>
                        <a:buChar char="•"/>
                      </a:pPr>
                      <a:r>
                        <a:rPr lang="en-US" sz="2200" dirty="0"/>
                        <a:t>training record</a:t>
                      </a:r>
                    </a:p>
                    <a:p>
                      <a:pPr marL="285750" indent="-285750" algn="l" latinLnBrk="0">
                        <a:buFont typeface="Arial" panose="020B0604020202020204" pitchFamily="34" charset="0"/>
                        <a:buChar char="•"/>
                      </a:pPr>
                      <a:r>
                        <a:rPr lang="en-US" sz="2200" dirty="0"/>
                        <a:t>location</a:t>
                      </a:r>
                    </a:p>
                    <a:p>
                      <a:pPr marL="285750" indent="-285750" algn="l" latinLnBrk="0">
                        <a:buFont typeface="Arial" panose="020B0604020202020204" pitchFamily="34" charset="0"/>
                        <a:buChar char="•"/>
                      </a:pPr>
                      <a:r>
                        <a:rPr lang="en-US" sz="2200" dirty="0"/>
                        <a:t>experience duration</a:t>
                      </a:r>
                    </a:p>
                    <a:p>
                      <a:pPr marL="285750" indent="-285750" algn="l" latinLnBrk="0">
                        <a:buFont typeface="Arial" panose="020B0604020202020204" pitchFamily="34" charset="0"/>
                        <a:buChar char="•"/>
                      </a:pPr>
                      <a:r>
                        <a:rPr lang="en-US" sz="2200" dirty="0"/>
                        <a:t>role</a:t>
                      </a:r>
                    </a:p>
                  </a:txBody>
                  <a:tcPr/>
                </a:tc>
                <a:tc>
                  <a:txBody>
                    <a:bodyPr/>
                    <a:lstStyle/>
                    <a:p>
                      <a:pPr marL="285750" indent="-285750" algn="l" latinLnBrk="0">
                        <a:buFont typeface="Arial" panose="020B0604020202020204" pitchFamily="34" charset="0"/>
                        <a:buChar char="•"/>
                      </a:pPr>
                      <a:r>
                        <a:rPr lang="en-US" sz="2200" dirty="0"/>
                        <a:t>type</a:t>
                      </a:r>
                    </a:p>
                    <a:p>
                      <a:pPr marL="285750" indent="-285750" algn="l" latinLnBrk="0">
                        <a:buFont typeface="Arial" panose="020B0604020202020204" pitchFamily="34" charset="0"/>
                        <a:buChar char="•"/>
                      </a:pPr>
                      <a:r>
                        <a:rPr lang="en-US" sz="2200" dirty="0"/>
                        <a:t>date created</a:t>
                      </a:r>
                    </a:p>
                    <a:p>
                      <a:pPr marL="285750" indent="-285750" algn="l" latinLnBrk="0">
                        <a:buFont typeface="Arial" panose="020B0604020202020204" pitchFamily="34" charset="0"/>
                        <a:buChar char="•"/>
                      </a:pPr>
                      <a:r>
                        <a:rPr lang="en-US" sz="2200" dirty="0"/>
                        <a:t>date modified</a:t>
                      </a:r>
                    </a:p>
                    <a:p>
                      <a:pPr marL="285750" indent="-285750" algn="l" latinLnBrk="0">
                        <a:buFont typeface="Arial" panose="020B0604020202020204" pitchFamily="34" charset="0"/>
                        <a:buChar char="•"/>
                      </a:pPr>
                      <a:r>
                        <a:rPr lang="en-US" sz="2200" dirty="0"/>
                        <a:t>title</a:t>
                      </a:r>
                    </a:p>
                    <a:p>
                      <a:pPr marL="285750" indent="-285750" algn="l" latinLnBrk="0">
                        <a:buFont typeface="Arial" panose="020B0604020202020204" pitchFamily="34" charset="0"/>
                        <a:buChar char="•"/>
                      </a:pPr>
                      <a:r>
                        <a:rPr lang="en-US" sz="2200" dirty="0"/>
                        <a:t>author </a:t>
                      </a:r>
                    </a:p>
                    <a:p>
                      <a:pPr marL="285750" indent="-285750" algn="l" latinLnBrk="0">
                        <a:buFont typeface="Arial" panose="020B0604020202020204" pitchFamily="34" charset="0"/>
                        <a:buChar char="•"/>
                      </a:pPr>
                      <a:r>
                        <a:rPr lang="en-US" sz="2200" dirty="0"/>
                        <a:t>size</a:t>
                      </a:r>
                    </a:p>
                    <a:p>
                      <a:pPr marL="285750" indent="-285750" algn="l" latinLnBrk="0">
                        <a:buFont typeface="Arial" panose="020B0604020202020204" pitchFamily="34" charset="0"/>
                        <a:buChar char="•"/>
                      </a:pPr>
                      <a:r>
                        <a:rPr lang="en-US" sz="2200" dirty="0"/>
                        <a:t>state (e.g. on, off, asleep)</a:t>
                      </a:r>
                    </a:p>
                    <a:p>
                      <a:pPr marL="285750" indent="-285750" algn="l" latinLnBrk="0">
                        <a:buFont typeface="Arial" panose="020B0604020202020204" pitchFamily="34" charset="0"/>
                        <a:buChar char="•"/>
                      </a:pPr>
                      <a:r>
                        <a:rPr lang="en-US" sz="2200" dirty="0"/>
                        <a:t>ownership</a:t>
                      </a:r>
                    </a:p>
                    <a:p>
                      <a:pPr marL="285750" indent="-285750" algn="l" latinLnBrk="0">
                        <a:buFont typeface="Arial" panose="020B0604020202020204" pitchFamily="34" charset="0"/>
                        <a:buChar char="•"/>
                      </a:pPr>
                      <a:endParaRPr lang="en-US" sz="2200" dirty="0"/>
                    </a:p>
                  </a:txBody>
                  <a:tcPr/>
                </a:tc>
                <a:tc>
                  <a:txBody>
                    <a:bodyPr/>
                    <a:lstStyle/>
                    <a:p>
                      <a:pPr marL="285750" indent="-285750" algn="l" latinLnBrk="0">
                        <a:buFont typeface="Arial" panose="020B0604020202020204" pitchFamily="34" charset="0"/>
                        <a:buChar char="•"/>
                      </a:pPr>
                      <a:r>
                        <a:rPr lang="en-US" sz="2200" dirty="0"/>
                        <a:t>date &amp; time</a:t>
                      </a:r>
                    </a:p>
                    <a:p>
                      <a:pPr marL="285750" indent="-285750" algn="l" latinLnBrk="0">
                        <a:buFont typeface="Arial" panose="020B0604020202020204" pitchFamily="34" charset="0"/>
                        <a:buChar char="•"/>
                      </a:pPr>
                      <a:r>
                        <a:rPr lang="en-US" sz="2200" dirty="0"/>
                        <a:t>temperature</a:t>
                      </a:r>
                    </a:p>
                    <a:p>
                      <a:pPr marL="285750" indent="-285750" algn="l" latinLnBrk="0">
                        <a:buFont typeface="Arial" panose="020B0604020202020204" pitchFamily="34" charset="0"/>
                        <a:buChar char="•"/>
                      </a:pPr>
                      <a:r>
                        <a:rPr lang="en-US" sz="2200" dirty="0"/>
                        <a:t>network security level (Internet or intranet)</a:t>
                      </a:r>
                    </a:p>
                    <a:p>
                      <a:pPr marL="285750" indent="-285750" algn="l" latinLnBrk="0">
                        <a:buFont typeface="Arial" panose="020B0604020202020204" pitchFamily="34" charset="0"/>
                        <a:buChar char="•"/>
                      </a:pPr>
                      <a:r>
                        <a:rPr lang="en-US" sz="2200" dirty="0"/>
                        <a:t>current attack situation</a:t>
                      </a:r>
                    </a:p>
                  </a:txBody>
                  <a:tcPr/>
                </a:tc>
                <a:extLst>
                  <a:ext uri="{0D108BD9-81ED-4DB2-BD59-A6C34878D82A}">
                    <a16:rowId xmlns:a16="http://schemas.microsoft.com/office/drawing/2014/main" val="4112772500"/>
                  </a:ext>
                </a:extLst>
              </a:tr>
            </a:tbl>
          </a:graphicData>
        </a:graphic>
      </p:graphicFrame>
    </p:spTree>
    <p:extLst>
      <p:ext uri="{BB962C8B-B14F-4D97-AF65-F5344CB8AC3E}">
        <p14:creationId xmlns:p14="http://schemas.microsoft.com/office/powerpoint/2010/main" val="21828028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7AD79-3B9B-480B-A709-29D42AF899D4}"/>
              </a:ext>
            </a:extLst>
          </p:cNvPr>
          <p:cNvSpPr>
            <a:spLocks noGrp="1"/>
          </p:cNvSpPr>
          <p:nvPr>
            <p:ph type="title"/>
          </p:nvPr>
        </p:nvSpPr>
        <p:spPr/>
        <p:txBody>
          <a:bodyPr/>
          <a:lstStyle/>
          <a:p>
            <a:r>
              <a:rPr lang="en-US" dirty="0"/>
              <a:t>A</a:t>
            </a:r>
            <a:r>
              <a:rPr lang="en-US" sz="100" dirty="0"/>
              <a:t> </a:t>
            </a:r>
            <a:r>
              <a:rPr lang="en-US" dirty="0"/>
              <a:t>B</a:t>
            </a:r>
            <a:r>
              <a:rPr lang="en-US" sz="100" dirty="0"/>
              <a:t> </a:t>
            </a:r>
            <a:r>
              <a:rPr lang="en-US" dirty="0"/>
              <a:t>A</a:t>
            </a:r>
            <a:r>
              <a:rPr lang="en-US" sz="100" dirty="0"/>
              <a:t> </a:t>
            </a:r>
            <a:r>
              <a:rPr lang="en-US" dirty="0"/>
              <a:t>C Model</a:t>
            </a:r>
          </a:p>
        </p:txBody>
      </p:sp>
      <p:pic>
        <p:nvPicPr>
          <p:cNvPr id="7" name="Content Placeholder 6">
            <a:extLst>
              <a:ext uri="{FF2B5EF4-FFF2-40B4-BE49-F238E27FC236}">
                <a16:creationId xmlns:a16="http://schemas.microsoft.com/office/drawing/2014/main" id="{6086DF37-3145-E62B-4FF6-E341E6EA7766}"/>
              </a:ext>
            </a:extLst>
          </p:cNvPr>
          <p:cNvPicPr>
            <a:picLocks noGrp="1" noChangeAspect="1"/>
          </p:cNvPicPr>
          <p:nvPr>
            <p:ph sz="quarter" idx="11"/>
          </p:nvPr>
        </p:nvPicPr>
        <p:blipFill>
          <a:blip r:embed="rId3" cstate="print">
            <a:extLst>
              <a:ext uri="{28A0092B-C50C-407E-A947-70E740481C1C}">
                <a14:useLocalDpi xmlns:a14="http://schemas.microsoft.com/office/drawing/2010/main" val="0"/>
              </a:ext>
            </a:extLst>
          </a:blip>
          <a:stretch>
            <a:fillRect/>
          </a:stretch>
        </p:blipFill>
        <p:spPr>
          <a:xfrm>
            <a:off x="1475656" y="1268760"/>
            <a:ext cx="6068586" cy="5312435"/>
          </a:xfrm>
        </p:spPr>
      </p:pic>
    </p:spTree>
    <p:extLst>
      <p:ext uri="{BB962C8B-B14F-4D97-AF65-F5344CB8AC3E}">
        <p14:creationId xmlns:p14="http://schemas.microsoft.com/office/powerpoint/2010/main" val="25547604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5BFE8-6516-4F6B-A91F-C17499A88C2E}"/>
              </a:ext>
            </a:extLst>
          </p:cNvPr>
          <p:cNvSpPr>
            <a:spLocks noGrp="1"/>
          </p:cNvSpPr>
          <p:nvPr>
            <p:ph type="title"/>
          </p:nvPr>
        </p:nvSpPr>
        <p:spPr/>
        <p:txBody>
          <a:bodyPr/>
          <a:lstStyle/>
          <a:p>
            <a:r>
              <a:rPr lang="en-US" dirty="0"/>
              <a:t>A</a:t>
            </a:r>
            <a:r>
              <a:rPr lang="en-US" sz="100" dirty="0"/>
              <a:t> </a:t>
            </a:r>
            <a:r>
              <a:rPr lang="en-US" dirty="0"/>
              <a:t>B</a:t>
            </a:r>
            <a:r>
              <a:rPr lang="en-US" sz="100" dirty="0"/>
              <a:t> </a:t>
            </a:r>
            <a:r>
              <a:rPr lang="en-US" dirty="0"/>
              <a:t>A</a:t>
            </a:r>
            <a:r>
              <a:rPr lang="en-US" sz="100" dirty="0"/>
              <a:t> </a:t>
            </a:r>
            <a:r>
              <a:rPr lang="en-US" dirty="0"/>
              <a:t>C Policy Rules</a:t>
            </a:r>
          </a:p>
        </p:txBody>
      </p:sp>
      <p:sp>
        <p:nvSpPr>
          <p:cNvPr id="3" name="Content Placeholder 2">
            <a:extLst>
              <a:ext uri="{FF2B5EF4-FFF2-40B4-BE49-F238E27FC236}">
                <a16:creationId xmlns:a16="http://schemas.microsoft.com/office/drawing/2014/main" id="{A395FE32-B53A-42B5-8C59-3E7DE30B4065}"/>
              </a:ext>
            </a:extLst>
          </p:cNvPr>
          <p:cNvSpPr>
            <a:spLocks noGrp="1"/>
          </p:cNvSpPr>
          <p:nvPr>
            <p:ph sz="quarter" idx="11"/>
          </p:nvPr>
        </p:nvSpPr>
        <p:spPr/>
        <p:txBody>
          <a:bodyPr/>
          <a:lstStyle/>
          <a:p>
            <a:r>
              <a:rPr lang="en-US" sz="2200" dirty="0"/>
              <a:t>ABAC controls access to objects by evaluating rules against the attributes of entities, operations, and the environment relevant to a request</a:t>
            </a:r>
          </a:p>
          <a:p>
            <a:r>
              <a:rPr lang="en-US" sz="2200" dirty="0"/>
              <a:t>Access to resource will be allowed as per the access control rule defining the allowable operations for subject-object attribute combinations in a given environment</a:t>
            </a:r>
          </a:p>
          <a:p>
            <a:r>
              <a:rPr lang="en-US" sz="2200" dirty="0"/>
              <a:t>A </a:t>
            </a:r>
            <a:r>
              <a:rPr lang="en-US" sz="2200" b="1" dirty="0"/>
              <a:t>policy</a:t>
            </a:r>
            <a:r>
              <a:rPr lang="en-US" sz="2200" dirty="0"/>
              <a:t> is a set of rules and relationships that govern allowable behavior within an organization, based on the privileges of subjects and how resources or objects are to be protected under which environment conditions</a:t>
            </a:r>
          </a:p>
          <a:p>
            <a:r>
              <a:rPr lang="en-US" sz="2200" b="1" dirty="0"/>
              <a:t>Privileges</a:t>
            </a:r>
            <a:r>
              <a:rPr lang="en-US" sz="2200" dirty="0"/>
              <a:t> represent the authorized behavior of a subject and are defined by an authority and embodied in a policy</a:t>
            </a:r>
          </a:p>
          <a:p>
            <a:endParaRPr lang="en-US" sz="2200" dirty="0"/>
          </a:p>
        </p:txBody>
      </p:sp>
    </p:spTree>
    <p:extLst>
      <p:ext uri="{BB962C8B-B14F-4D97-AF65-F5344CB8AC3E}">
        <p14:creationId xmlns:p14="http://schemas.microsoft.com/office/powerpoint/2010/main" val="7616351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6A291-AAB4-4B2D-8522-0CFE3B456385}"/>
              </a:ext>
            </a:extLst>
          </p:cNvPr>
          <p:cNvSpPr>
            <a:spLocks noGrp="1"/>
          </p:cNvSpPr>
          <p:nvPr>
            <p:ph type="title"/>
          </p:nvPr>
        </p:nvSpPr>
        <p:spPr/>
        <p:txBody>
          <a:bodyPr/>
          <a:lstStyle/>
          <a:p>
            <a:r>
              <a:rPr lang="en-US" dirty="0"/>
              <a:t>A</a:t>
            </a:r>
            <a:r>
              <a:rPr lang="en-US" sz="100" dirty="0"/>
              <a:t> </a:t>
            </a:r>
            <a:r>
              <a:rPr lang="en-US" dirty="0"/>
              <a:t>B</a:t>
            </a:r>
            <a:r>
              <a:rPr lang="en-US" sz="100" dirty="0"/>
              <a:t> </a:t>
            </a:r>
            <a:r>
              <a:rPr lang="en-US" dirty="0"/>
              <a:t>A</a:t>
            </a:r>
            <a:r>
              <a:rPr lang="en-US" sz="100" dirty="0"/>
              <a:t> </a:t>
            </a:r>
            <a:r>
              <a:rPr lang="en-US" dirty="0"/>
              <a:t>C Policy Rules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F271A60-0CDD-487B-BB62-C95DCCF6A3CB}"/>
                  </a:ext>
                </a:extLst>
              </p:cNvPr>
              <p:cNvSpPr>
                <a:spLocks noGrp="1"/>
              </p:cNvSpPr>
              <p:nvPr>
                <p:ph sz="quarter" idx="11"/>
              </p:nvPr>
            </p:nvSpPr>
            <p:spPr/>
            <p:txBody>
              <a:bodyPr/>
              <a:lstStyle/>
              <a:p>
                <a:r>
                  <a:rPr lang="en-US" sz="2400" dirty="0"/>
                  <a:t>In general form, a Policy Rule, which decides on whether a subject </a:t>
                </a:r>
                <a14:m>
                  <m:oMath xmlns:m="http://schemas.openxmlformats.org/officeDocument/2006/math">
                    <m:r>
                      <a:rPr lang="en-US" sz="2400" i="1" dirty="0" smtClean="0">
                        <a:latin typeface="Cambria Math" panose="02040503050406030204" pitchFamily="18" charset="0"/>
                      </a:rPr>
                      <m:t>𝑠</m:t>
                    </m:r>
                  </m:oMath>
                </a14:m>
                <a:r>
                  <a:rPr lang="en-US" sz="2400" dirty="0"/>
                  <a:t> can access an object </a:t>
                </a:r>
                <a14:m>
                  <m:oMath xmlns:m="http://schemas.openxmlformats.org/officeDocument/2006/math">
                    <m:r>
                      <a:rPr lang="en-US" sz="2400" i="1" dirty="0" smtClean="0">
                        <a:latin typeface="Cambria Math" panose="02040503050406030204" pitchFamily="18" charset="0"/>
                      </a:rPr>
                      <m:t>𝑜</m:t>
                    </m:r>
                  </m:oMath>
                </a14:m>
                <a:r>
                  <a:rPr lang="en-US" sz="2400" dirty="0"/>
                  <a:t> in a particular environment </a:t>
                </a:r>
                <a14:m>
                  <m:oMath xmlns:m="http://schemas.openxmlformats.org/officeDocument/2006/math">
                    <m:r>
                      <a:rPr lang="en-US" sz="2400" i="1" dirty="0" smtClean="0">
                        <a:latin typeface="Cambria Math" panose="02040503050406030204" pitchFamily="18" charset="0"/>
                      </a:rPr>
                      <m:t>𝑒</m:t>
                    </m:r>
                  </m:oMath>
                </a14:m>
                <a:r>
                  <a:rPr lang="en-US" sz="2400" dirty="0"/>
                  <a:t>, is a Boolean function of the attributes</a:t>
                </a:r>
              </a:p>
              <a:p>
                <a:endParaRPr lang="en-US" sz="2400" dirty="0"/>
              </a:p>
              <a:p>
                <a:endParaRPr lang="en-US" sz="2400" dirty="0"/>
              </a:p>
              <a:p>
                <a:r>
                  <a:rPr lang="en-US" sz="2400" dirty="0"/>
                  <a:t>If the function </a:t>
                </a:r>
                <a14:m>
                  <m:oMath xmlns:m="http://schemas.openxmlformats.org/officeDocument/2006/math">
                    <m:r>
                      <a:rPr lang="en-US" sz="2400" i="1" dirty="0" smtClean="0">
                        <a:latin typeface="Cambria Math" panose="02040503050406030204" pitchFamily="18" charset="0"/>
                      </a:rPr>
                      <m:t>𝑓</m:t>
                    </m:r>
                  </m:oMath>
                </a14:m>
                <a:r>
                  <a:rPr lang="en-US" sz="2400" dirty="0"/>
                  <a:t> evaluates to true, access to the resource is granted; otherwise denied.</a:t>
                </a:r>
              </a:p>
            </p:txBody>
          </p:sp>
        </mc:Choice>
        <mc:Fallback xmlns="">
          <p:sp>
            <p:nvSpPr>
              <p:cNvPr id="3" name="Content Placeholder 2">
                <a:extLst>
                  <a:ext uri="{FF2B5EF4-FFF2-40B4-BE49-F238E27FC236}">
                    <a16:creationId xmlns:a16="http://schemas.microsoft.com/office/drawing/2014/main" id="{EF271A60-0CDD-487B-BB62-C95DCCF6A3CB}"/>
                  </a:ext>
                </a:extLst>
              </p:cNvPr>
              <p:cNvSpPr>
                <a:spLocks noGrp="1" noRot="1" noChangeAspect="1" noMove="1" noResize="1" noEditPoints="1" noAdjustHandles="1" noChangeArrowheads="1" noChangeShapeType="1" noTextEdit="1"/>
              </p:cNvSpPr>
              <p:nvPr>
                <p:ph sz="quarter" idx="11"/>
              </p:nvPr>
            </p:nvSpPr>
            <p:spPr>
              <a:blipFill>
                <a:blip r:embed="rId3"/>
                <a:stretch>
                  <a:fillRect l="-1037" t="-1043"/>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993A9A63-7984-4AB7-CB82-73FD643B4F32}"/>
              </a:ext>
            </a:extLst>
          </p:cNvPr>
          <p:cNvPicPr>
            <a:picLocks noChangeAspect="1"/>
          </p:cNvPicPr>
          <p:nvPr/>
        </p:nvPicPr>
        <p:blipFill>
          <a:blip r:embed="rId4"/>
          <a:stretch>
            <a:fillRect/>
          </a:stretch>
        </p:blipFill>
        <p:spPr>
          <a:xfrm>
            <a:off x="395536" y="3328192"/>
            <a:ext cx="8244000" cy="388840"/>
          </a:xfrm>
          <a:prstGeom prst="rect">
            <a:avLst/>
          </a:prstGeom>
        </p:spPr>
      </p:pic>
    </p:spTree>
    <p:extLst>
      <p:ext uri="{BB962C8B-B14F-4D97-AF65-F5344CB8AC3E}">
        <p14:creationId xmlns:p14="http://schemas.microsoft.com/office/powerpoint/2010/main" val="30873191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AAF6E-154F-FF2F-8FF8-AF6F6C8EB03B}"/>
              </a:ext>
            </a:extLst>
          </p:cNvPr>
          <p:cNvSpPr>
            <a:spLocks noGrp="1"/>
          </p:cNvSpPr>
          <p:nvPr>
            <p:ph type="title"/>
          </p:nvPr>
        </p:nvSpPr>
        <p:spPr/>
        <p:txBody>
          <a:bodyPr/>
          <a:lstStyle/>
          <a:p>
            <a:r>
              <a:rPr lang="en-US" dirty="0"/>
              <a:t>Case Study: Movie Streaming</a:t>
            </a:r>
          </a:p>
        </p:txBody>
      </p:sp>
      <p:sp>
        <p:nvSpPr>
          <p:cNvPr id="3" name="Content Placeholder 2">
            <a:extLst>
              <a:ext uri="{FF2B5EF4-FFF2-40B4-BE49-F238E27FC236}">
                <a16:creationId xmlns:a16="http://schemas.microsoft.com/office/drawing/2014/main" id="{E099A2BB-FC90-1DBA-E1E8-C934575A0111}"/>
              </a:ext>
            </a:extLst>
          </p:cNvPr>
          <p:cNvSpPr>
            <a:spLocks noGrp="1"/>
          </p:cNvSpPr>
          <p:nvPr>
            <p:ph sz="quarter" idx="11"/>
          </p:nvPr>
        </p:nvSpPr>
        <p:spPr/>
        <p:txBody>
          <a:bodyPr/>
          <a:lstStyle/>
          <a:p>
            <a:r>
              <a:rPr lang="en-US" sz="2800" dirty="0"/>
              <a:t>An OTT platform streams movies to users for a flat monthly fee. </a:t>
            </a:r>
          </a:p>
          <a:p>
            <a:r>
              <a:rPr lang="en-US" sz="2800" dirty="0"/>
              <a:t>The store enforces the following access control policy</a:t>
            </a:r>
          </a:p>
        </p:txBody>
      </p:sp>
      <p:pic>
        <p:nvPicPr>
          <p:cNvPr id="6" name="Picture 5">
            <a:extLst>
              <a:ext uri="{FF2B5EF4-FFF2-40B4-BE49-F238E27FC236}">
                <a16:creationId xmlns:a16="http://schemas.microsoft.com/office/drawing/2014/main" id="{0FDFC6AF-D8DF-4452-0537-16DB9FE69393}"/>
              </a:ext>
            </a:extLst>
          </p:cNvPr>
          <p:cNvPicPr>
            <a:picLocks noChangeAspect="1"/>
          </p:cNvPicPr>
          <p:nvPr/>
        </p:nvPicPr>
        <p:blipFill>
          <a:blip r:embed="rId2"/>
          <a:stretch>
            <a:fillRect/>
          </a:stretch>
        </p:blipFill>
        <p:spPr>
          <a:xfrm>
            <a:off x="1467560" y="3696691"/>
            <a:ext cx="6208880" cy="1748533"/>
          </a:xfrm>
          <a:prstGeom prst="rect">
            <a:avLst/>
          </a:prstGeom>
        </p:spPr>
      </p:pic>
    </p:spTree>
    <p:extLst>
      <p:ext uri="{BB962C8B-B14F-4D97-AF65-F5344CB8AC3E}">
        <p14:creationId xmlns:p14="http://schemas.microsoft.com/office/powerpoint/2010/main" val="22771389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765F6-17D2-AEFB-A1B9-71BDFDB2ADEC}"/>
              </a:ext>
            </a:extLst>
          </p:cNvPr>
          <p:cNvSpPr>
            <a:spLocks noGrp="1"/>
          </p:cNvSpPr>
          <p:nvPr>
            <p:ph type="title"/>
          </p:nvPr>
        </p:nvSpPr>
        <p:spPr/>
        <p:txBody>
          <a:bodyPr/>
          <a:lstStyle/>
          <a:p>
            <a:r>
              <a:rPr lang="en-US" dirty="0"/>
              <a:t>Case Study: Movie Streaming</a:t>
            </a:r>
          </a:p>
        </p:txBody>
      </p:sp>
      <p:sp>
        <p:nvSpPr>
          <p:cNvPr id="3" name="Content Placeholder 2">
            <a:extLst>
              <a:ext uri="{FF2B5EF4-FFF2-40B4-BE49-F238E27FC236}">
                <a16:creationId xmlns:a16="http://schemas.microsoft.com/office/drawing/2014/main" id="{C2BCA98D-D30E-5C85-07F6-F84212197767}"/>
              </a:ext>
            </a:extLst>
          </p:cNvPr>
          <p:cNvSpPr>
            <a:spLocks noGrp="1"/>
          </p:cNvSpPr>
          <p:nvPr>
            <p:ph sz="quarter" idx="11"/>
          </p:nvPr>
        </p:nvSpPr>
        <p:spPr/>
        <p:txBody>
          <a:bodyPr/>
          <a:lstStyle/>
          <a:p>
            <a:r>
              <a:rPr lang="en-US" sz="2400" dirty="0"/>
              <a:t>In an RBAC model, every user would be assigned one of three roles: Adult, Juvenile, or Child, possibly during registration.</a:t>
            </a:r>
          </a:p>
          <a:p>
            <a:r>
              <a:rPr lang="en-US" sz="2400" dirty="0"/>
              <a:t>Both the user-to-role and permission-to-role assignments are manual administrative tasks.</a:t>
            </a:r>
          </a:p>
        </p:txBody>
      </p:sp>
      <p:sp>
        <p:nvSpPr>
          <p:cNvPr id="5" name="Oval 4">
            <a:extLst>
              <a:ext uri="{FF2B5EF4-FFF2-40B4-BE49-F238E27FC236}">
                <a16:creationId xmlns:a16="http://schemas.microsoft.com/office/drawing/2014/main" id="{F23986BD-9619-59E2-8429-B582E1D5F841}"/>
              </a:ext>
            </a:extLst>
          </p:cNvPr>
          <p:cNvSpPr/>
          <p:nvPr/>
        </p:nvSpPr>
        <p:spPr>
          <a:xfrm>
            <a:off x="3524434" y="4737348"/>
            <a:ext cx="1500326" cy="55929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t>Juvenile</a:t>
            </a:r>
          </a:p>
        </p:txBody>
      </p:sp>
      <p:sp>
        <p:nvSpPr>
          <p:cNvPr id="6" name="Oval 5">
            <a:extLst>
              <a:ext uri="{FF2B5EF4-FFF2-40B4-BE49-F238E27FC236}">
                <a16:creationId xmlns:a16="http://schemas.microsoft.com/office/drawing/2014/main" id="{45D891C8-5F41-30C0-1086-65D9F6BA3190}"/>
              </a:ext>
            </a:extLst>
          </p:cNvPr>
          <p:cNvSpPr/>
          <p:nvPr/>
        </p:nvSpPr>
        <p:spPr>
          <a:xfrm>
            <a:off x="3524434" y="5581193"/>
            <a:ext cx="1500326" cy="55929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t>Child</a:t>
            </a:r>
          </a:p>
        </p:txBody>
      </p:sp>
      <p:sp>
        <p:nvSpPr>
          <p:cNvPr id="7" name="Oval 6">
            <a:extLst>
              <a:ext uri="{FF2B5EF4-FFF2-40B4-BE49-F238E27FC236}">
                <a16:creationId xmlns:a16="http://schemas.microsoft.com/office/drawing/2014/main" id="{B76DBDA5-6D4B-1962-3ADE-7463755B98F9}"/>
              </a:ext>
            </a:extLst>
          </p:cNvPr>
          <p:cNvSpPr/>
          <p:nvPr/>
        </p:nvSpPr>
        <p:spPr>
          <a:xfrm>
            <a:off x="3524434" y="3893503"/>
            <a:ext cx="1500326" cy="55929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t>Adult</a:t>
            </a:r>
          </a:p>
        </p:txBody>
      </p:sp>
      <p:sp>
        <p:nvSpPr>
          <p:cNvPr id="8" name="Rectangle 7">
            <a:extLst>
              <a:ext uri="{FF2B5EF4-FFF2-40B4-BE49-F238E27FC236}">
                <a16:creationId xmlns:a16="http://schemas.microsoft.com/office/drawing/2014/main" id="{DB7085D1-CCD5-8DA4-E77D-78E8087CBA4F}"/>
              </a:ext>
            </a:extLst>
          </p:cNvPr>
          <p:cNvSpPr/>
          <p:nvPr/>
        </p:nvSpPr>
        <p:spPr>
          <a:xfrm>
            <a:off x="6732240" y="3917475"/>
            <a:ext cx="1080000" cy="504000"/>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latinLnBrk="0"/>
            <a:r>
              <a:rPr lang="en-US" sz="1600" dirty="0"/>
              <a:t>R movies</a:t>
            </a:r>
          </a:p>
        </p:txBody>
      </p:sp>
      <p:sp>
        <p:nvSpPr>
          <p:cNvPr id="9" name="Rectangle 8">
            <a:extLst>
              <a:ext uri="{FF2B5EF4-FFF2-40B4-BE49-F238E27FC236}">
                <a16:creationId xmlns:a16="http://schemas.microsoft.com/office/drawing/2014/main" id="{391D87B8-CD10-9ACF-78C6-F05B413B4AF2}"/>
              </a:ext>
            </a:extLst>
          </p:cNvPr>
          <p:cNvSpPr/>
          <p:nvPr/>
        </p:nvSpPr>
        <p:spPr>
          <a:xfrm>
            <a:off x="6732240" y="4800971"/>
            <a:ext cx="1080000" cy="504000"/>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latinLnBrk="0"/>
            <a:r>
              <a:rPr lang="en-US" sz="1600" dirty="0"/>
              <a:t>PG-13 movies</a:t>
            </a:r>
          </a:p>
        </p:txBody>
      </p:sp>
      <p:sp>
        <p:nvSpPr>
          <p:cNvPr id="10" name="Rectangle 9">
            <a:extLst>
              <a:ext uri="{FF2B5EF4-FFF2-40B4-BE49-F238E27FC236}">
                <a16:creationId xmlns:a16="http://schemas.microsoft.com/office/drawing/2014/main" id="{1865869D-D654-209D-2741-63DEE8570C07}"/>
              </a:ext>
            </a:extLst>
          </p:cNvPr>
          <p:cNvSpPr/>
          <p:nvPr/>
        </p:nvSpPr>
        <p:spPr>
          <a:xfrm>
            <a:off x="6732240" y="5684466"/>
            <a:ext cx="1080000" cy="504000"/>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latinLnBrk="0"/>
            <a:r>
              <a:rPr lang="en-US" sz="1600" dirty="0"/>
              <a:t>G movies</a:t>
            </a:r>
          </a:p>
        </p:txBody>
      </p:sp>
      <p:cxnSp>
        <p:nvCxnSpPr>
          <p:cNvPr id="12" name="Straight Connector 11">
            <a:extLst>
              <a:ext uri="{FF2B5EF4-FFF2-40B4-BE49-F238E27FC236}">
                <a16:creationId xmlns:a16="http://schemas.microsoft.com/office/drawing/2014/main" id="{8B978D5E-0BDA-0A26-BEC2-970A6C15D006}"/>
              </a:ext>
            </a:extLst>
          </p:cNvPr>
          <p:cNvCxnSpPr>
            <a:stCxn id="7" idx="6"/>
            <a:endCxn id="8" idx="1"/>
          </p:cNvCxnSpPr>
          <p:nvPr/>
        </p:nvCxnSpPr>
        <p:spPr>
          <a:xfrm flipV="1">
            <a:off x="5024760" y="4169475"/>
            <a:ext cx="1707480" cy="3675"/>
          </a:xfrm>
          <a:prstGeom prst="line">
            <a:avLst/>
          </a:prstGeom>
          <a:ln>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03D3994-2381-448D-4B08-792583AD6212}"/>
              </a:ext>
            </a:extLst>
          </p:cNvPr>
          <p:cNvCxnSpPr>
            <a:cxnSpLocks/>
            <a:stCxn id="7" idx="6"/>
            <a:endCxn id="9" idx="1"/>
          </p:cNvCxnSpPr>
          <p:nvPr/>
        </p:nvCxnSpPr>
        <p:spPr>
          <a:xfrm>
            <a:off x="5024760" y="4173150"/>
            <a:ext cx="1707480" cy="879821"/>
          </a:xfrm>
          <a:prstGeom prst="line">
            <a:avLst/>
          </a:prstGeom>
          <a:ln>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D9FEBF9-907E-C0E1-76BC-1B3D084E303C}"/>
              </a:ext>
            </a:extLst>
          </p:cNvPr>
          <p:cNvCxnSpPr>
            <a:cxnSpLocks/>
            <a:stCxn id="7" idx="6"/>
            <a:endCxn id="10" idx="1"/>
          </p:cNvCxnSpPr>
          <p:nvPr/>
        </p:nvCxnSpPr>
        <p:spPr>
          <a:xfrm>
            <a:off x="5024760" y="4173150"/>
            <a:ext cx="1707480" cy="1763316"/>
          </a:xfrm>
          <a:prstGeom prst="line">
            <a:avLst/>
          </a:prstGeom>
          <a:ln>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F321D59-461F-BFF0-55D1-08E4F069CA59}"/>
              </a:ext>
            </a:extLst>
          </p:cNvPr>
          <p:cNvCxnSpPr>
            <a:cxnSpLocks/>
            <a:stCxn id="6" idx="6"/>
            <a:endCxn id="10" idx="1"/>
          </p:cNvCxnSpPr>
          <p:nvPr/>
        </p:nvCxnSpPr>
        <p:spPr>
          <a:xfrm>
            <a:off x="5024760" y="5860840"/>
            <a:ext cx="1707480" cy="75626"/>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EE84B-CD2D-661A-96B8-F5B6361391E2}"/>
              </a:ext>
            </a:extLst>
          </p:cNvPr>
          <p:cNvCxnSpPr>
            <a:cxnSpLocks/>
            <a:stCxn id="5" idx="6"/>
            <a:endCxn id="9" idx="1"/>
          </p:cNvCxnSpPr>
          <p:nvPr/>
        </p:nvCxnSpPr>
        <p:spPr>
          <a:xfrm>
            <a:off x="5024760" y="5016995"/>
            <a:ext cx="1707480" cy="35976"/>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E2A70F4-F087-9985-AAE0-3B01DF99714A}"/>
              </a:ext>
            </a:extLst>
          </p:cNvPr>
          <p:cNvCxnSpPr>
            <a:cxnSpLocks/>
            <a:stCxn id="5" idx="6"/>
            <a:endCxn id="10" idx="1"/>
          </p:cNvCxnSpPr>
          <p:nvPr/>
        </p:nvCxnSpPr>
        <p:spPr>
          <a:xfrm>
            <a:off x="5024760" y="5016995"/>
            <a:ext cx="1707480" cy="919471"/>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28" name="Rectangle: Rounded Corners 27">
            <a:extLst>
              <a:ext uri="{FF2B5EF4-FFF2-40B4-BE49-F238E27FC236}">
                <a16:creationId xmlns:a16="http://schemas.microsoft.com/office/drawing/2014/main" id="{E179A68D-17A1-A662-E03F-CBB127C596B4}"/>
              </a:ext>
            </a:extLst>
          </p:cNvPr>
          <p:cNvSpPr/>
          <p:nvPr/>
        </p:nvSpPr>
        <p:spPr>
          <a:xfrm>
            <a:off x="1449279" y="4641507"/>
            <a:ext cx="861134" cy="334241"/>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User A</a:t>
            </a:r>
          </a:p>
        </p:txBody>
      </p:sp>
      <p:sp>
        <p:nvSpPr>
          <p:cNvPr id="29" name="Rectangle: Rounded Corners 28">
            <a:extLst>
              <a:ext uri="{FF2B5EF4-FFF2-40B4-BE49-F238E27FC236}">
                <a16:creationId xmlns:a16="http://schemas.microsoft.com/office/drawing/2014/main" id="{DA059F33-9705-F569-9ABE-BBD777483E9F}"/>
              </a:ext>
            </a:extLst>
          </p:cNvPr>
          <p:cNvSpPr/>
          <p:nvPr/>
        </p:nvSpPr>
        <p:spPr>
          <a:xfrm>
            <a:off x="1449279" y="5517345"/>
            <a:ext cx="861134" cy="334241"/>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User B</a:t>
            </a:r>
          </a:p>
        </p:txBody>
      </p:sp>
      <p:cxnSp>
        <p:nvCxnSpPr>
          <p:cNvPr id="47" name="Straight Connector 46">
            <a:extLst>
              <a:ext uri="{FF2B5EF4-FFF2-40B4-BE49-F238E27FC236}">
                <a16:creationId xmlns:a16="http://schemas.microsoft.com/office/drawing/2014/main" id="{1265A285-F0A5-B351-16E2-B74FDD862AD9}"/>
              </a:ext>
            </a:extLst>
          </p:cNvPr>
          <p:cNvCxnSpPr>
            <a:cxnSpLocks/>
            <a:stCxn id="28" idx="3"/>
            <a:endCxn id="7" idx="2"/>
          </p:cNvCxnSpPr>
          <p:nvPr/>
        </p:nvCxnSpPr>
        <p:spPr>
          <a:xfrm flipV="1">
            <a:off x="2310413" y="4173150"/>
            <a:ext cx="1214021" cy="635478"/>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E5AF3F1F-AA18-D2C4-6FD6-1CEE77936594}"/>
              </a:ext>
            </a:extLst>
          </p:cNvPr>
          <p:cNvCxnSpPr>
            <a:cxnSpLocks/>
            <a:stCxn id="29" idx="3"/>
            <a:endCxn id="6" idx="2"/>
          </p:cNvCxnSpPr>
          <p:nvPr/>
        </p:nvCxnSpPr>
        <p:spPr>
          <a:xfrm>
            <a:off x="2310413" y="5684466"/>
            <a:ext cx="1214021" cy="1763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50555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2B87A-8FB3-0196-36EE-334DCF2B1CB8}"/>
              </a:ext>
            </a:extLst>
          </p:cNvPr>
          <p:cNvSpPr>
            <a:spLocks noGrp="1"/>
          </p:cNvSpPr>
          <p:nvPr>
            <p:ph type="title"/>
          </p:nvPr>
        </p:nvSpPr>
        <p:spPr/>
        <p:txBody>
          <a:bodyPr/>
          <a:lstStyle/>
          <a:p>
            <a:r>
              <a:rPr lang="en-US" dirty="0"/>
              <a:t>Case Study: Movie Streaming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F19F4B2-93B3-F76D-4508-047B7B6FF5B2}"/>
                  </a:ext>
                </a:extLst>
              </p:cNvPr>
              <p:cNvSpPr>
                <a:spLocks noGrp="1"/>
              </p:cNvSpPr>
              <p:nvPr>
                <p:ph sz="quarter" idx="11"/>
              </p:nvPr>
            </p:nvSpPr>
            <p:spPr/>
            <p:txBody>
              <a:bodyPr/>
              <a:lstStyle/>
              <a:p>
                <a:r>
                  <a:rPr lang="en-US" sz="2400" dirty="0"/>
                  <a:t>The ABAC approach to this application does not need to explicitly define roles</a:t>
                </a:r>
              </a:p>
              <a:p>
                <a:r>
                  <a:rPr lang="en-US" sz="2400" dirty="0"/>
                  <a:t>Instead, whether a user </a:t>
                </a:r>
                <a14:m>
                  <m:oMath xmlns:m="http://schemas.openxmlformats.org/officeDocument/2006/math">
                    <m:r>
                      <a:rPr lang="en-US" sz="2400" i="1" dirty="0" smtClean="0">
                        <a:latin typeface="Cambria Math" panose="02040503050406030204" pitchFamily="18" charset="0"/>
                      </a:rPr>
                      <m:t>𝑢</m:t>
                    </m:r>
                  </m:oMath>
                </a14:m>
                <a:r>
                  <a:rPr lang="en-US" sz="2400" dirty="0"/>
                  <a:t> can access or view a movie </a:t>
                </a:r>
                <a14:m>
                  <m:oMath xmlns:m="http://schemas.openxmlformats.org/officeDocument/2006/math">
                    <m:r>
                      <a:rPr lang="en-US" sz="2400" i="1" dirty="0" smtClean="0">
                        <a:latin typeface="Cambria Math" panose="02040503050406030204" pitchFamily="18" charset="0"/>
                      </a:rPr>
                      <m:t>𝑚</m:t>
                    </m:r>
                  </m:oMath>
                </a14:m>
                <a:r>
                  <a:rPr lang="en-US" sz="2400" dirty="0"/>
                  <a:t> (in a security environment </a:t>
                </a:r>
                <a14:m>
                  <m:oMath xmlns:m="http://schemas.openxmlformats.org/officeDocument/2006/math">
                    <m:r>
                      <a:rPr lang="en-US" sz="2400" i="1" dirty="0" smtClean="0">
                        <a:latin typeface="Cambria Math" panose="02040503050406030204" pitchFamily="18" charset="0"/>
                      </a:rPr>
                      <m:t>𝑒</m:t>
                    </m:r>
                  </m:oMath>
                </a14:m>
                <a:r>
                  <a:rPr lang="en-US" sz="2400" dirty="0"/>
                  <a:t> which is not used yet) would be resolved by evaluating a policy rule </a:t>
                </a:r>
                <a14:m>
                  <m:oMath xmlns:m="http://schemas.openxmlformats.org/officeDocument/2006/math">
                    <m:r>
                      <a:rPr lang="en-US" sz="2400" i="1" dirty="0" smtClean="0">
                        <a:latin typeface="Cambria Math" panose="02040503050406030204" pitchFamily="18" charset="0"/>
                      </a:rPr>
                      <m:t>𝑅</m:t>
                    </m:r>
                    <m:r>
                      <a:rPr lang="en-US" sz="2400" i="1" dirty="0" smtClean="0">
                        <a:latin typeface="Cambria Math" panose="02040503050406030204" pitchFamily="18" charset="0"/>
                      </a:rPr>
                      <m:t>1</m:t>
                    </m:r>
                  </m:oMath>
                </a14:m>
                <a:r>
                  <a:rPr lang="en-US" sz="2400" dirty="0"/>
                  <a:t>:</a:t>
                </a:r>
              </a:p>
              <a:p>
                <a:endParaRPr lang="en-US" sz="2400" dirty="0"/>
              </a:p>
              <a:p>
                <a:endParaRPr lang="en-US" sz="2400" dirty="0"/>
              </a:p>
              <a:p>
                <a:endParaRPr lang="en-US" sz="2400" dirty="0"/>
              </a:p>
              <a:p>
                <a:endParaRPr lang="en-US" sz="2400" dirty="0"/>
              </a:p>
              <a:p>
                <a:r>
                  <a:rPr lang="en-US" sz="2400" dirty="0"/>
                  <a:t>Here </a:t>
                </a:r>
                <a:r>
                  <a:rPr lang="en-US" sz="2400" dirty="0">
                    <a:latin typeface="Consolas" panose="020B0609020204030204" pitchFamily="49" charset="0"/>
                  </a:rPr>
                  <a:t>Age</a:t>
                </a:r>
                <a:r>
                  <a:rPr lang="en-US" sz="2400" dirty="0"/>
                  <a:t> and </a:t>
                </a:r>
                <a:r>
                  <a:rPr lang="en-US" sz="2400" dirty="0">
                    <a:latin typeface="Consolas" panose="020B0609020204030204" pitchFamily="49" charset="0"/>
                  </a:rPr>
                  <a:t>Rating</a:t>
                </a:r>
                <a:r>
                  <a:rPr lang="en-US" sz="2400" dirty="0"/>
                  <a:t> are the subject and the object attributes respectively. </a:t>
                </a:r>
              </a:p>
              <a:p>
                <a:endParaRPr lang="en-US" sz="2400" dirty="0"/>
              </a:p>
            </p:txBody>
          </p:sp>
        </mc:Choice>
        <mc:Fallback>
          <p:sp>
            <p:nvSpPr>
              <p:cNvPr id="3" name="Content Placeholder 2">
                <a:extLst>
                  <a:ext uri="{FF2B5EF4-FFF2-40B4-BE49-F238E27FC236}">
                    <a16:creationId xmlns:a16="http://schemas.microsoft.com/office/drawing/2014/main" id="{DF19F4B2-93B3-F76D-4508-047B7B6FF5B2}"/>
                  </a:ext>
                </a:extLst>
              </p:cNvPr>
              <p:cNvSpPr>
                <a:spLocks noGrp="1" noRot="1" noChangeAspect="1" noMove="1" noResize="1" noEditPoints="1" noAdjustHandles="1" noChangeArrowheads="1" noChangeShapeType="1" noTextEdit="1"/>
              </p:cNvSpPr>
              <p:nvPr>
                <p:ph sz="quarter" idx="11"/>
              </p:nvPr>
            </p:nvSpPr>
            <p:spPr>
              <a:blipFill>
                <a:blip r:embed="rId2"/>
                <a:stretch>
                  <a:fillRect l="-1037" t="-1043" r="-148" b="-391"/>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86FCE65A-87B5-0375-9D75-B972A0815358}"/>
              </a:ext>
            </a:extLst>
          </p:cNvPr>
          <p:cNvPicPr>
            <a:picLocks noChangeAspect="1"/>
          </p:cNvPicPr>
          <p:nvPr/>
        </p:nvPicPr>
        <p:blipFill>
          <a:blip r:embed="rId3"/>
          <a:stretch>
            <a:fillRect/>
          </a:stretch>
        </p:blipFill>
        <p:spPr>
          <a:xfrm>
            <a:off x="345944" y="3717032"/>
            <a:ext cx="8340856" cy="1377743"/>
          </a:xfrm>
          <a:prstGeom prst="rect">
            <a:avLst/>
          </a:prstGeom>
        </p:spPr>
      </p:pic>
      <p:sp>
        <p:nvSpPr>
          <p:cNvPr id="6" name="TextBox 5">
            <a:extLst>
              <a:ext uri="{FF2B5EF4-FFF2-40B4-BE49-F238E27FC236}">
                <a16:creationId xmlns:a16="http://schemas.microsoft.com/office/drawing/2014/main" id="{9C7517CB-B321-6242-F483-D17E0DE7DE46}"/>
              </a:ext>
            </a:extLst>
          </p:cNvPr>
          <p:cNvSpPr txBox="1"/>
          <p:nvPr/>
        </p:nvSpPr>
        <p:spPr>
          <a:xfrm>
            <a:off x="345944" y="6500803"/>
            <a:ext cx="2572553" cy="307777"/>
          </a:xfrm>
          <a:prstGeom prst="rect">
            <a:avLst/>
          </a:prstGeom>
          <a:noFill/>
        </p:spPr>
        <p:txBody>
          <a:bodyPr wrap="square">
            <a:spAutoFit/>
          </a:bodyPr>
          <a:lstStyle/>
          <a:p>
            <a:pPr algn="ctr" latinLnBrk="0"/>
            <a:r>
              <a:rPr lang="en-US" sz="1400" dirty="0"/>
              <a:t>∧ = logic AND, ∨ = logic OR</a:t>
            </a:r>
            <a:endParaRPr lang="en-US" dirty="0"/>
          </a:p>
        </p:txBody>
      </p:sp>
    </p:spTree>
    <p:extLst>
      <p:ext uri="{BB962C8B-B14F-4D97-AF65-F5344CB8AC3E}">
        <p14:creationId xmlns:p14="http://schemas.microsoft.com/office/powerpoint/2010/main" val="4436942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EF8F4-C2C5-187A-D7DA-EB6CFFFB12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FF4943-7DE3-F78C-7A53-8AB9427B6AFC}"/>
              </a:ext>
            </a:extLst>
          </p:cNvPr>
          <p:cNvSpPr>
            <a:spLocks noGrp="1"/>
          </p:cNvSpPr>
          <p:nvPr>
            <p:ph type="title"/>
          </p:nvPr>
        </p:nvSpPr>
        <p:spPr/>
        <p:txBody>
          <a:bodyPr/>
          <a:lstStyle/>
          <a:p>
            <a:r>
              <a:rPr lang="en-US" dirty="0"/>
              <a:t>Case Study: Movie Streaming</a:t>
            </a:r>
          </a:p>
        </p:txBody>
      </p:sp>
      <p:sp>
        <p:nvSpPr>
          <p:cNvPr id="3" name="Content Placeholder 2">
            <a:extLst>
              <a:ext uri="{FF2B5EF4-FFF2-40B4-BE49-F238E27FC236}">
                <a16:creationId xmlns:a16="http://schemas.microsoft.com/office/drawing/2014/main" id="{16CEBA13-085E-F496-DF78-52CB5520C4BC}"/>
              </a:ext>
            </a:extLst>
          </p:cNvPr>
          <p:cNvSpPr>
            <a:spLocks noGrp="1"/>
          </p:cNvSpPr>
          <p:nvPr>
            <p:ph sz="quarter" idx="11"/>
          </p:nvPr>
        </p:nvSpPr>
        <p:spPr/>
        <p:txBody>
          <a:bodyPr/>
          <a:lstStyle/>
          <a:p>
            <a:r>
              <a:rPr lang="en-US" sz="2800" dirty="0"/>
              <a:t>Further, now suppose that movies are classified as either New Release or Old Release, based on release date.</a:t>
            </a:r>
          </a:p>
          <a:p>
            <a:r>
              <a:rPr lang="en-US" sz="2800" dirty="0"/>
              <a:t>Users are classified as Premium User or Regular User, based on the fee they pay.</a:t>
            </a:r>
          </a:p>
          <a:p>
            <a:r>
              <a:rPr lang="en-US" sz="2800" dirty="0"/>
              <a:t>The company would like to enforce a policy: </a:t>
            </a:r>
            <a:r>
              <a:rPr lang="en-US" sz="2800" dirty="0">
                <a:solidFill>
                  <a:srgbClr val="0070C0"/>
                </a:solidFill>
              </a:rPr>
              <a:t>Only premium users can view new movies.</a:t>
            </a:r>
          </a:p>
        </p:txBody>
      </p:sp>
    </p:spTree>
    <p:extLst>
      <p:ext uri="{BB962C8B-B14F-4D97-AF65-F5344CB8AC3E}">
        <p14:creationId xmlns:p14="http://schemas.microsoft.com/office/powerpoint/2010/main" val="10320923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B23F2-8B33-1DE8-3B71-9274655CF9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EE6D07-1757-6B8C-68DE-7AC4FF0746C7}"/>
              </a:ext>
            </a:extLst>
          </p:cNvPr>
          <p:cNvSpPr>
            <a:spLocks noGrp="1"/>
          </p:cNvSpPr>
          <p:nvPr>
            <p:ph type="title"/>
          </p:nvPr>
        </p:nvSpPr>
        <p:spPr/>
        <p:txBody>
          <a:bodyPr/>
          <a:lstStyle/>
          <a:p>
            <a:r>
              <a:rPr lang="en-US" dirty="0"/>
              <a:t>Case Study: Movie Streaming</a:t>
            </a:r>
          </a:p>
        </p:txBody>
      </p:sp>
      <p:sp>
        <p:nvSpPr>
          <p:cNvPr id="3" name="Content Placeholder 2">
            <a:extLst>
              <a:ext uri="{FF2B5EF4-FFF2-40B4-BE49-F238E27FC236}">
                <a16:creationId xmlns:a16="http://schemas.microsoft.com/office/drawing/2014/main" id="{5FA55E13-ECDE-BD52-8ECA-423902949B9A}"/>
              </a:ext>
            </a:extLst>
          </p:cNvPr>
          <p:cNvSpPr>
            <a:spLocks noGrp="1"/>
          </p:cNvSpPr>
          <p:nvPr>
            <p:ph sz="quarter" idx="11"/>
          </p:nvPr>
        </p:nvSpPr>
        <p:spPr/>
        <p:txBody>
          <a:bodyPr/>
          <a:lstStyle/>
          <a:p>
            <a:r>
              <a:rPr lang="en-US" sz="2800" dirty="0"/>
              <a:t>To incorporate these new requirements in the RBAC model, we would have to:</a:t>
            </a:r>
          </a:p>
          <a:p>
            <a:pPr lvl="1"/>
            <a:r>
              <a:rPr lang="en-US" sz="2400" dirty="0"/>
              <a:t>double the number of roles, to distinguish each user by age and fee (</a:t>
            </a:r>
            <a:r>
              <a:rPr lang="en-US" sz="2400" dirty="0" err="1"/>
              <a:t>Adult_Premium</a:t>
            </a:r>
            <a:r>
              <a:rPr lang="en-US" sz="2400" dirty="0"/>
              <a:t>, </a:t>
            </a:r>
            <a:r>
              <a:rPr lang="en-US" sz="2400" dirty="0" err="1"/>
              <a:t>Adult_Regular</a:t>
            </a:r>
            <a:r>
              <a:rPr lang="en-US" sz="2400" dirty="0"/>
              <a:t>, </a:t>
            </a:r>
            <a:r>
              <a:rPr lang="en-US" sz="2400" dirty="0" err="1"/>
              <a:t>Child_Premium</a:t>
            </a:r>
            <a:r>
              <a:rPr lang="en-US" sz="2400" dirty="0"/>
              <a:t>, …)</a:t>
            </a:r>
          </a:p>
          <a:p>
            <a:pPr lvl="1"/>
            <a:r>
              <a:rPr lang="en-US" sz="2400" dirty="0"/>
              <a:t>double the categories of movies (</a:t>
            </a:r>
            <a:r>
              <a:rPr lang="en-US" sz="2400" dirty="0" err="1"/>
              <a:t>G_New</a:t>
            </a:r>
            <a:r>
              <a:rPr lang="en-US" sz="2400" dirty="0"/>
              <a:t>, </a:t>
            </a:r>
            <a:r>
              <a:rPr lang="en-US" sz="2400" dirty="0" err="1"/>
              <a:t>G_Old</a:t>
            </a:r>
            <a:r>
              <a:rPr lang="en-US" sz="2400" dirty="0"/>
              <a:t>, PG13_New, PG13_Old, …)</a:t>
            </a:r>
          </a:p>
          <a:p>
            <a:r>
              <a:rPr lang="en-US" sz="2800" dirty="0"/>
              <a:t>And so the number of role-to-object permissions will increase four times.</a:t>
            </a:r>
          </a:p>
        </p:txBody>
      </p:sp>
    </p:spTree>
    <p:extLst>
      <p:ext uri="{BB962C8B-B14F-4D97-AF65-F5344CB8AC3E}">
        <p14:creationId xmlns:p14="http://schemas.microsoft.com/office/powerpoint/2010/main" val="41349895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5D237-6307-22F5-9A0A-E67F723671F9}"/>
              </a:ext>
            </a:extLst>
          </p:cNvPr>
          <p:cNvSpPr>
            <a:spLocks noGrp="1"/>
          </p:cNvSpPr>
          <p:nvPr>
            <p:ph type="title"/>
          </p:nvPr>
        </p:nvSpPr>
        <p:spPr/>
        <p:txBody>
          <a:bodyPr/>
          <a:lstStyle/>
          <a:p>
            <a:r>
              <a:rPr lang="en-US" dirty="0"/>
              <a:t>Case Study: Movie Streaming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B2C8EF7-A722-7D7E-9558-EEC028D54DCA}"/>
                  </a:ext>
                </a:extLst>
              </p:cNvPr>
              <p:cNvSpPr>
                <a:spLocks noGrp="1"/>
              </p:cNvSpPr>
              <p:nvPr>
                <p:ph sz="quarter" idx="11"/>
              </p:nvPr>
            </p:nvSpPr>
            <p:spPr/>
            <p:txBody>
              <a:bodyPr/>
              <a:lstStyle/>
              <a:p>
                <a:r>
                  <a:rPr lang="en-US" sz="2400" dirty="0"/>
                  <a:t>In contrast, the ABAC model deals with additional attributes efficiently. The rule </a:t>
                </a:r>
                <a14:m>
                  <m:oMath xmlns:m="http://schemas.openxmlformats.org/officeDocument/2006/math">
                    <m:r>
                      <a:rPr lang="en-US" sz="2400" i="1" dirty="0" smtClean="0">
                        <a:latin typeface="Cambria Math" panose="02040503050406030204" pitchFamily="18" charset="0"/>
                      </a:rPr>
                      <m:t>𝑅</m:t>
                    </m:r>
                    <m:r>
                      <a:rPr lang="en-US" sz="2400" i="1" dirty="0" smtClean="0">
                        <a:latin typeface="Cambria Math" panose="02040503050406030204" pitchFamily="18" charset="0"/>
                      </a:rPr>
                      <m:t>1</m:t>
                    </m:r>
                  </m:oMath>
                </a14:m>
                <a:r>
                  <a:rPr lang="en-US" sz="2400" dirty="0"/>
                  <a:t> defined previously still applies. We need two new rules:</a:t>
                </a:r>
              </a:p>
              <a:p>
                <a:endParaRPr lang="en-US" sz="2400" dirty="0"/>
              </a:p>
              <a:p>
                <a:endParaRPr lang="en-US" sz="1600" dirty="0"/>
              </a:p>
              <a:p>
                <a:endParaRPr lang="en-US" sz="1600" dirty="0"/>
              </a:p>
              <a:p>
                <a:endParaRPr lang="en-US" sz="1600" dirty="0"/>
              </a:p>
              <a:p>
                <a:r>
                  <a:rPr lang="en-US" sz="2400" dirty="0"/>
                  <a:t>It is also easy to add environmental attributes, e.g. a new policy states: Regular users are allowed to view new releases in promotional periods.</a:t>
                </a:r>
              </a:p>
              <a:p>
                <a:pPr lvl="1"/>
                <a:r>
                  <a:rPr lang="en-US" sz="2400" dirty="0"/>
                  <a:t>We only need to add one more OR condition in </a:t>
                </a:r>
                <a14:m>
                  <m:oMath xmlns:m="http://schemas.openxmlformats.org/officeDocument/2006/math">
                    <m:r>
                      <a:rPr lang="en-US" sz="2400" i="1" dirty="0" smtClean="0">
                        <a:latin typeface="Cambria Math" panose="02040503050406030204" pitchFamily="18" charset="0"/>
                      </a:rPr>
                      <m:t>𝑅</m:t>
                    </m:r>
                    <m:r>
                      <a:rPr lang="en-US" sz="2400" i="1" dirty="0" smtClean="0">
                        <a:latin typeface="Cambria Math" panose="02040503050406030204" pitchFamily="18" charset="0"/>
                      </a:rPr>
                      <m:t>2</m:t>
                    </m:r>
                  </m:oMath>
                </a14:m>
                <a:r>
                  <a:rPr lang="en-US" sz="2400" dirty="0"/>
                  <a:t> that checks to see the environmental attribute </a:t>
                </a:r>
                <a:r>
                  <a:rPr lang="en-US" sz="2400" i="1" dirty="0"/>
                  <a:t>today’s date</a:t>
                </a:r>
                <a:r>
                  <a:rPr lang="en-US" sz="2400" dirty="0"/>
                  <a:t>  falls in a promotional period.</a:t>
                </a:r>
              </a:p>
            </p:txBody>
          </p:sp>
        </mc:Choice>
        <mc:Fallback>
          <p:sp>
            <p:nvSpPr>
              <p:cNvPr id="3" name="Content Placeholder 2">
                <a:extLst>
                  <a:ext uri="{FF2B5EF4-FFF2-40B4-BE49-F238E27FC236}">
                    <a16:creationId xmlns:a16="http://schemas.microsoft.com/office/drawing/2014/main" id="{7B2C8EF7-A722-7D7E-9558-EEC028D54DCA}"/>
                  </a:ext>
                </a:extLst>
              </p:cNvPr>
              <p:cNvSpPr>
                <a:spLocks noGrp="1" noRot="1" noChangeAspect="1" noMove="1" noResize="1" noEditPoints="1" noAdjustHandles="1" noChangeArrowheads="1" noChangeShapeType="1" noTextEdit="1"/>
              </p:cNvSpPr>
              <p:nvPr>
                <p:ph sz="quarter" idx="11"/>
              </p:nvPr>
            </p:nvSpPr>
            <p:spPr>
              <a:blipFill>
                <a:blip r:embed="rId2"/>
                <a:stretch>
                  <a:fillRect l="-1037" t="-1043" b="-6649"/>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75930CA0-9809-5764-F8AD-0811DBB5DD6E}"/>
              </a:ext>
            </a:extLst>
          </p:cNvPr>
          <p:cNvPicPr>
            <a:picLocks noChangeAspect="1"/>
          </p:cNvPicPr>
          <p:nvPr/>
        </p:nvPicPr>
        <p:blipFill>
          <a:blip r:embed="rId3"/>
          <a:stretch>
            <a:fillRect/>
          </a:stretch>
        </p:blipFill>
        <p:spPr>
          <a:xfrm>
            <a:off x="432448" y="2735554"/>
            <a:ext cx="8172000" cy="1221646"/>
          </a:xfrm>
          <a:prstGeom prst="rect">
            <a:avLst/>
          </a:prstGeom>
        </p:spPr>
      </p:pic>
    </p:spTree>
    <p:extLst>
      <p:ext uri="{BB962C8B-B14F-4D97-AF65-F5344CB8AC3E}">
        <p14:creationId xmlns:p14="http://schemas.microsoft.com/office/powerpoint/2010/main" val="39642348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539D9-8C92-F69D-0481-992087BFEF4E}"/>
              </a:ext>
            </a:extLst>
          </p:cNvPr>
          <p:cNvSpPr>
            <a:spLocks noGrp="1"/>
          </p:cNvSpPr>
          <p:nvPr>
            <p:ph type="title"/>
          </p:nvPr>
        </p:nvSpPr>
        <p:spPr/>
        <p:txBody>
          <a:bodyPr/>
          <a:lstStyle/>
          <a:p>
            <a:r>
              <a:rPr lang="en-US" dirty="0"/>
              <a:t>ABAC strengths</a:t>
            </a:r>
          </a:p>
        </p:txBody>
      </p:sp>
      <p:sp>
        <p:nvSpPr>
          <p:cNvPr id="3" name="Content Placeholder 2">
            <a:extLst>
              <a:ext uri="{FF2B5EF4-FFF2-40B4-BE49-F238E27FC236}">
                <a16:creationId xmlns:a16="http://schemas.microsoft.com/office/drawing/2014/main" id="{9CF62593-FD52-0B4C-8FB5-F08D261A11BA}"/>
              </a:ext>
            </a:extLst>
          </p:cNvPr>
          <p:cNvSpPr>
            <a:spLocks noGrp="1"/>
          </p:cNvSpPr>
          <p:nvPr>
            <p:ph sz="quarter" idx="11"/>
          </p:nvPr>
        </p:nvSpPr>
        <p:spPr/>
        <p:txBody>
          <a:bodyPr/>
          <a:lstStyle/>
          <a:p>
            <a:r>
              <a:rPr lang="en-US" sz="2400" dirty="0"/>
              <a:t>Strength of ABAC model is its flexibility and expressive power</a:t>
            </a:r>
          </a:p>
          <a:p>
            <a:r>
              <a:rPr lang="en-US" sz="2400" dirty="0"/>
              <a:t>ABAC is actually a more generalized model. It is capable of enforcing DAC, RBAC, and MAC concepts.</a:t>
            </a:r>
          </a:p>
          <a:p>
            <a:r>
              <a:rPr lang="en-US" sz="2400" dirty="0"/>
              <a:t>It allows an unlimited number of attributes to be combined to satisfy any access control rule.</a:t>
            </a:r>
          </a:p>
          <a:p>
            <a:r>
              <a:rPr lang="en-US" sz="2400" dirty="0"/>
              <a:t>ABAC model eliminates the definition and management of static roles, hence eliminating the need for the administrative tasks for user-to-role assignment and permission-to-role assignment.</a:t>
            </a:r>
          </a:p>
          <a:p>
            <a:endParaRPr lang="en-US" sz="2400" dirty="0"/>
          </a:p>
          <a:p>
            <a:endParaRPr lang="en-US" sz="2400" dirty="0"/>
          </a:p>
        </p:txBody>
      </p:sp>
    </p:spTree>
    <p:extLst>
      <p:ext uri="{BB962C8B-B14F-4D97-AF65-F5344CB8AC3E}">
        <p14:creationId xmlns:p14="http://schemas.microsoft.com/office/powerpoint/2010/main" val="37776776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89290-123F-91CF-873E-03A1C89E1639}"/>
              </a:ext>
            </a:extLst>
          </p:cNvPr>
          <p:cNvSpPr>
            <a:spLocks noGrp="1"/>
          </p:cNvSpPr>
          <p:nvPr>
            <p:ph type="title"/>
          </p:nvPr>
        </p:nvSpPr>
        <p:spPr/>
        <p:txBody>
          <a:bodyPr/>
          <a:lstStyle/>
          <a:p>
            <a:r>
              <a:rPr lang="en-US" dirty="0"/>
              <a:t>Reference</a:t>
            </a:r>
          </a:p>
        </p:txBody>
      </p:sp>
      <p:sp>
        <p:nvSpPr>
          <p:cNvPr id="3" name="Content Placeholder 2">
            <a:extLst>
              <a:ext uri="{FF2B5EF4-FFF2-40B4-BE49-F238E27FC236}">
                <a16:creationId xmlns:a16="http://schemas.microsoft.com/office/drawing/2014/main" id="{87A05B83-43EB-9391-0BE4-57FC93C86888}"/>
              </a:ext>
            </a:extLst>
          </p:cNvPr>
          <p:cNvSpPr>
            <a:spLocks noGrp="1"/>
          </p:cNvSpPr>
          <p:nvPr>
            <p:ph sz="quarter" idx="11"/>
          </p:nvPr>
        </p:nvSpPr>
        <p:spPr/>
        <p:txBody>
          <a:bodyPr/>
          <a:lstStyle/>
          <a:p>
            <a:r>
              <a:rPr lang="en-US" sz="2800" dirty="0"/>
              <a:t>Stallings SPP chap 4</a:t>
            </a:r>
          </a:p>
          <a:p>
            <a:r>
              <a:rPr lang="en-US" sz="2800" dirty="0"/>
              <a:t>All-in-one CISSP Exam Guide, by Harris Maymi, chap 17</a:t>
            </a:r>
            <a:endParaRPr lang="en-AU" sz="2800" dirty="0"/>
          </a:p>
          <a:p>
            <a:endParaRPr lang="en-US" sz="2800" dirty="0"/>
          </a:p>
        </p:txBody>
      </p:sp>
    </p:spTree>
    <p:extLst>
      <p:ext uri="{BB962C8B-B14F-4D97-AF65-F5344CB8AC3E}">
        <p14:creationId xmlns:p14="http://schemas.microsoft.com/office/powerpoint/2010/main" val="36242893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5650</TotalTime>
  <Words>11754</Words>
  <Application>Microsoft Office PowerPoint</Application>
  <PresentationFormat>On-screen Show (4:3)</PresentationFormat>
  <Paragraphs>572</Paragraphs>
  <Slides>50</Slides>
  <Notes>28</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50</vt:i4>
      </vt:variant>
    </vt:vector>
  </HeadingPairs>
  <TitlesOfParts>
    <vt:vector size="61" baseType="lpstr">
      <vt:lpstr>ＭＳ Ｐゴシック</vt:lpstr>
      <vt:lpstr>Noto Sans Symbols</vt:lpstr>
      <vt:lpstr>Arial</vt:lpstr>
      <vt:lpstr>Calibri</vt:lpstr>
      <vt:lpstr>Cambria Math</vt:lpstr>
      <vt:lpstr>Consolas</vt:lpstr>
      <vt:lpstr>Courier New</vt:lpstr>
      <vt:lpstr>Times New Roman</vt:lpstr>
      <vt:lpstr>Wingdings</vt:lpstr>
      <vt:lpstr>Office Theme</vt:lpstr>
      <vt:lpstr>Custom Design</vt:lpstr>
      <vt:lpstr>PowerPoint Presentation</vt:lpstr>
      <vt:lpstr>Access Control</vt:lpstr>
      <vt:lpstr>Context of Access Control</vt:lpstr>
      <vt:lpstr>Context of Access Control</vt:lpstr>
      <vt:lpstr>Context of Access Control</vt:lpstr>
      <vt:lpstr>Context of Access Control</vt:lpstr>
      <vt:lpstr>Context of Access Control</vt:lpstr>
      <vt:lpstr>Context of Access Control</vt:lpstr>
      <vt:lpstr>Context of Access Control</vt:lpstr>
      <vt:lpstr>Terminology: Subject</vt:lpstr>
      <vt:lpstr>Terminology: Object</vt:lpstr>
      <vt:lpstr>Terminology: Access Right</vt:lpstr>
      <vt:lpstr> Access Control Models</vt:lpstr>
      <vt:lpstr>Discretionary Access Control (DAC)</vt:lpstr>
      <vt:lpstr>DAC: Access Control Matrix</vt:lpstr>
      <vt:lpstr>DAC: Access Control Matrix</vt:lpstr>
      <vt:lpstr>Access Control Lists (ACL)</vt:lpstr>
      <vt:lpstr>Access Control Lists (ACL)</vt:lpstr>
      <vt:lpstr>Capability Tickets</vt:lpstr>
      <vt:lpstr>Capability Tickets</vt:lpstr>
      <vt:lpstr>Capability Tickets</vt:lpstr>
      <vt:lpstr>Example: Windows File/Folder ACLs</vt:lpstr>
      <vt:lpstr>Role Based Access Control (RBAC)</vt:lpstr>
      <vt:lpstr>Role Based Access Control</vt:lpstr>
      <vt:lpstr>Role Based Access Control</vt:lpstr>
      <vt:lpstr>Role Based Access Control</vt:lpstr>
      <vt:lpstr>Role Based Access Control</vt:lpstr>
      <vt:lpstr>Example: Role privilege matrix</vt:lpstr>
      <vt:lpstr>Example: Role assignments</vt:lpstr>
      <vt:lpstr>RBAC Hierarchies</vt:lpstr>
      <vt:lpstr>RBAC Hierarchies</vt:lpstr>
      <vt:lpstr>DAC vs RBAC</vt:lpstr>
      <vt:lpstr>Mandatory Access Control (MAC)</vt:lpstr>
      <vt:lpstr>Classifications: UK govt example</vt:lpstr>
      <vt:lpstr>MAC Rules</vt:lpstr>
      <vt:lpstr>MAC example</vt:lpstr>
      <vt:lpstr>Attribute-Based Access Control</vt:lpstr>
      <vt:lpstr>A B A C Model: Terms</vt:lpstr>
      <vt:lpstr>A B A C Model: Attributes</vt:lpstr>
      <vt:lpstr>A B A C Model</vt:lpstr>
      <vt:lpstr>A B A C Policy Rules</vt:lpstr>
      <vt:lpstr>A B A C Policy Rules</vt:lpstr>
      <vt:lpstr>Case Study: Movie Streaming</vt:lpstr>
      <vt:lpstr>Case Study: Movie Streaming</vt:lpstr>
      <vt:lpstr>Case Study: Movie Streaming</vt:lpstr>
      <vt:lpstr>Case Study: Movie Streaming</vt:lpstr>
      <vt:lpstr>Case Study: Movie Streaming</vt:lpstr>
      <vt:lpstr>Case Study: Movie Streaming</vt:lpstr>
      <vt:lpstr>ABAC strengths</vt:lpstr>
      <vt:lpstr>Reference</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Registered User</dc:creator>
  <cp:lastModifiedBy>Ammar Haider</cp:lastModifiedBy>
  <cp:revision>430</cp:revision>
  <dcterms:created xsi:type="dcterms:W3CDTF">2014-04-01T16:35:38Z</dcterms:created>
  <dcterms:modified xsi:type="dcterms:W3CDTF">2025-10-16T05:14:02Z</dcterms:modified>
</cp:coreProperties>
</file>