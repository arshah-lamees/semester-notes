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6"/>
  </p:notesMasterIdLst>
  <p:sldIdLst>
    <p:sldId id="256" r:id="rId3"/>
    <p:sldId id="410" r:id="rId4"/>
    <p:sldId id="405" r:id="rId5"/>
    <p:sldId id="407" r:id="rId6"/>
    <p:sldId id="408" r:id="rId7"/>
    <p:sldId id="404" r:id="rId8"/>
    <p:sldId id="409" r:id="rId9"/>
    <p:sldId id="413" r:id="rId10"/>
    <p:sldId id="388" r:id="rId11"/>
    <p:sldId id="349" r:id="rId12"/>
    <p:sldId id="372" r:id="rId13"/>
    <p:sldId id="380" r:id="rId14"/>
    <p:sldId id="381" r:id="rId15"/>
    <p:sldId id="383" r:id="rId16"/>
    <p:sldId id="384" r:id="rId17"/>
    <p:sldId id="385" r:id="rId18"/>
    <p:sldId id="387" r:id="rId19"/>
    <p:sldId id="386" r:id="rId20"/>
    <p:sldId id="411" r:id="rId21"/>
    <p:sldId id="412" r:id="rId22"/>
    <p:sldId id="406" r:id="rId23"/>
    <p:sldId id="401" r:id="rId24"/>
    <p:sldId id="414" r:id="rId25"/>
    <p:sldId id="350" r:id="rId26"/>
    <p:sldId id="402" r:id="rId27"/>
    <p:sldId id="351" r:id="rId28"/>
    <p:sldId id="279" r:id="rId29"/>
    <p:sldId id="304" r:id="rId30"/>
    <p:sldId id="281" r:id="rId31"/>
    <p:sldId id="305" r:id="rId32"/>
    <p:sldId id="307" r:id="rId33"/>
    <p:sldId id="309" r:id="rId34"/>
    <p:sldId id="323" r:id="rId35"/>
    <p:sldId id="326" r:id="rId36"/>
    <p:sldId id="311" r:id="rId37"/>
    <p:sldId id="312" r:id="rId38"/>
    <p:sldId id="283" r:id="rId39"/>
    <p:sldId id="293" r:id="rId40"/>
    <p:sldId id="284" r:id="rId41"/>
    <p:sldId id="294" r:id="rId42"/>
    <p:sldId id="313" r:id="rId43"/>
    <p:sldId id="285" r:id="rId44"/>
    <p:sldId id="296" r:id="rId45"/>
    <p:sldId id="286" r:id="rId46"/>
    <p:sldId id="287" r:id="rId47"/>
    <p:sldId id="322" r:id="rId48"/>
    <p:sldId id="290" r:id="rId49"/>
    <p:sldId id="403" r:id="rId50"/>
    <p:sldId id="415" r:id="rId51"/>
    <p:sldId id="327" r:id="rId52"/>
    <p:sldId id="416" r:id="rId53"/>
    <p:sldId id="328" r:id="rId54"/>
    <p:sldId id="329" r:id="rId55"/>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9A51886-C64C-42FC-84E0-5F1112D89EDA}">
          <p14:sldIdLst>
            <p14:sldId id="256"/>
            <p14:sldId id="410"/>
            <p14:sldId id="405"/>
            <p14:sldId id="407"/>
            <p14:sldId id="408"/>
            <p14:sldId id="404"/>
            <p14:sldId id="409"/>
            <p14:sldId id="413"/>
            <p14:sldId id="388"/>
            <p14:sldId id="349"/>
            <p14:sldId id="372"/>
            <p14:sldId id="380"/>
            <p14:sldId id="381"/>
            <p14:sldId id="383"/>
            <p14:sldId id="384"/>
            <p14:sldId id="385"/>
            <p14:sldId id="387"/>
            <p14:sldId id="386"/>
            <p14:sldId id="411"/>
            <p14:sldId id="412"/>
            <p14:sldId id="406"/>
            <p14:sldId id="401"/>
            <p14:sldId id="414"/>
            <p14:sldId id="350"/>
            <p14:sldId id="402"/>
            <p14:sldId id="351"/>
            <p14:sldId id="279"/>
            <p14:sldId id="304"/>
            <p14:sldId id="281"/>
            <p14:sldId id="305"/>
            <p14:sldId id="307"/>
            <p14:sldId id="309"/>
            <p14:sldId id="323"/>
            <p14:sldId id="326"/>
            <p14:sldId id="311"/>
            <p14:sldId id="312"/>
            <p14:sldId id="283"/>
            <p14:sldId id="293"/>
            <p14:sldId id="284"/>
            <p14:sldId id="294"/>
            <p14:sldId id="313"/>
            <p14:sldId id="285"/>
            <p14:sldId id="296"/>
            <p14:sldId id="286"/>
            <p14:sldId id="287"/>
            <p14:sldId id="322"/>
            <p14:sldId id="290"/>
            <p14:sldId id="403"/>
            <p14:sldId id="415"/>
            <p14:sldId id="327"/>
            <p14:sldId id="416"/>
            <p14:sldId id="328"/>
            <p14:sldId id="32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792" autoAdjust="0"/>
  </p:normalViewPr>
  <p:slideViewPr>
    <p:cSldViewPr>
      <p:cViewPr varScale="1">
        <p:scale>
          <a:sx n="108" d="100"/>
          <a:sy n="108" d="100"/>
        </p:scale>
        <p:origin x="1626" y="102"/>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3/09/2024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6C722884-2FE7-CFFE-98B2-A78F289D0C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B83009-762B-4554-ADE8-E58809F817FA}" type="slidenum">
              <a:rPr lang="en-AU" altLang="en-US" sz="1200"/>
              <a:pPr eaLnBrk="1" hangingPunct="1"/>
              <a:t>27</a:t>
            </a:fld>
            <a:endParaRPr lang="en-AU" altLang="en-US" sz="1200"/>
          </a:p>
        </p:txBody>
      </p:sp>
      <p:sp>
        <p:nvSpPr>
          <p:cNvPr id="25603" name="Rectangle 2">
            <a:extLst>
              <a:ext uri="{FF2B5EF4-FFF2-40B4-BE49-F238E27FC236}">
                <a16:creationId xmlns:a16="http://schemas.microsoft.com/office/drawing/2014/main" id="{5A3CBB2C-BCFF-6971-B087-C8F3BFDB8D00}"/>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C110B702-B0D0-079A-48E7-FFB6CFF19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Rijndael proposal for AES defined a cipher in which the block length and the key length can be independently specified to be 128,192,or 256 bits. The AES specification uses the same three key size alternatives but limits the block length to 128 bits. </a:t>
            </a:r>
            <a:r>
              <a:rPr lang="en-US" altLang="en-US">
                <a:latin typeface="Arial" panose="020B0604020202020204" pitchFamily="34" charset="0"/>
                <a:ea typeface="ＭＳ Ｐゴシック" panose="020B0600070205080204" pitchFamily="34" charset="-128"/>
              </a:rPr>
              <a:t>Rijndael is an academic submission, based on the earlier Square cipher, from Belgium academics Dr Joan Daemen and Dr Vincent Rijmen. It is an iterative cipher (operates on entire data block in every round) rather than feistel (operate on halves at a time), and was designed to have characteristics of: </a:t>
            </a:r>
            <a:r>
              <a:rPr lang="en-US" altLang="en-US">
                <a:latin typeface="Times-Roman" charset="0"/>
                <a:ea typeface="ＭＳ Ｐゴシック" panose="020B0600070205080204" pitchFamily="34" charset="-128"/>
              </a:rPr>
              <a:t>Resistance against all known attacks, Speed and code compactness on a wide range of platforms, &amp; Design simplicity.</a:t>
            </a:r>
            <a:endParaRPr lang="en-US" altLang="en-US">
              <a:latin typeface="Arial" panose="020B0604020202020204" pitchFamily="34" charset="0"/>
              <a:ea typeface="ＭＳ Ｐゴシック" panose="020B0600070205080204" pitchFamily="34" charset="-128"/>
            </a:endParaRPr>
          </a:p>
          <a:p>
            <a:pPr eaLnBrk="1" hangingPunct="1"/>
            <a:endParaRPr lang="en-US" altLang="en-US">
              <a:latin typeface="Arial" panose="020B0604020202020204" pitchFamily="34" charset="0"/>
              <a:ea typeface="ＭＳ Ｐゴシック" panose="020B0600070205080204" pitchFamily="34" charset="-128"/>
            </a:endParaRPr>
          </a:p>
          <a:p>
            <a:pPr eaLnBrk="1" hangingPunct="1"/>
            <a:endParaRPr lang="en-AU"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6D20E605-00DE-D2F3-2FF5-D19DBA4DDAD5}"/>
              </a:ext>
            </a:extLst>
          </p:cNvPr>
          <p:cNvSpPr>
            <a:spLocks noGrp="1" noRot="1" noChangeAspect="1"/>
          </p:cNvSpPr>
          <p:nvPr>
            <p:ph type="sldImg"/>
          </p:nvPr>
        </p:nvSpPr>
        <p:spPr>
          <a:ln/>
        </p:spPr>
      </p:sp>
      <p:sp>
        <p:nvSpPr>
          <p:cNvPr id="29699" name="Notes Placeholder 2">
            <a:extLst>
              <a:ext uri="{FF2B5EF4-FFF2-40B4-BE49-F238E27FC236}">
                <a16:creationId xmlns:a16="http://schemas.microsoft.com/office/drawing/2014/main" id="{8AE05107-42B4-8020-CB11-24A3322461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input to the AES encryption and decryption algorithms is a single 128-bit block, depicted in FIPS PUB 197, as a square matrix of bytes .This block is copied into the State array, which is modified at each stage of encryption or decryption. After the final stage,</a:t>
            </a:r>
            <a:r>
              <a:rPr lang="en-US" altLang="en-US">
                <a:latin typeface="Helvetica" panose="020B0604020202020204" pitchFamily="34" charset="0"/>
                <a:ea typeface="ＭＳ Ｐゴシック" panose="020B0600070205080204" pitchFamily="34" charset="-128"/>
              </a:rPr>
              <a:t> </a:t>
            </a:r>
            <a:r>
              <a:rPr lang="en-US" altLang="en-US">
                <a:latin typeface="Times-Roman" charset="0"/>
                <a:ea typeface="ＭＳ Ｐゴシック" panose="020B0600070205080204" pitchFamily="34" charset="-128"/>
              </a:rPr>
              <a:t>State is copied to an output.</a:t>
            </a:r>
          </a:p>
          <a:p>
            <a:pPr eaLnBrk="1" hangingPunct="1"/>
            <a:r>
              <a:rPr lang="en-US" altLang="en-US">
                <a:latin typeface="Arial" panose="020B0604020202020204" pitchFamily="34" charset="0"/>
                <a:ea typeface="ＭＳ Ｐゴシック" panose="020B0600070205080204" pitchFamily="34" charset="-128"/>
              </a:rPr>
              <a:t>The key is expanded into 44/52/60 lots of 32-bit words (see later), with 4 used in each round.</a:t>
            </a:r>
          </a:p>
          <a:p>
            <a:pPr eaLnBrk="1" hangingPunct="1"/>
            <a:r>
              <a:rPr lang="en-US" altLang="en-US">
                <a:latin typeface="Arial" panose="020B0604020202020204" pitchFamily="34" charset="0"/>
                <a:ea typeface="ＭＳ Ｐゴシック" panose="020B0600070205080204" pitchFamily="34" charset="-128"/>
              </a:rPr>
              <a:t>The data computation then consists of an “add round key” step, then 9/11/13 rounds with all 4 steps, and a final 10</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/12</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/14</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 step of byte subs + mix cols + add round key. This can be viewed as alternating XOR key &amp; scramble data bytes operations. All of the steps are easily reversed, and can be efficiently implemented using XOR’s &amp; table lookups.</a:t>
            </a:r>
          </a:p>
          <a:p>
            <a:pPr eaLnBrk="1" hangingPunct="1"/>
            <a:endParaRPr lang="en-AU" altLang="en-US">
              <a:latin typeface="Arial" panose="020B0604020202020204" pitchFamily="34" charset="0"/>
              <a:ea typeface="ＭＳ Ｐゴシック" panose="020B0600070205080204" pitchFamily="34" charset="-128"/>
            </a:endParaRPr>
          </a:p>
          <a:p>
            <a:pPr eaLnBrk="1" hangingPunct="1"/>
            <a:endParaRPr lang="en-US" altLang="en-US">
              <a:latin typeface="Arial" panose="020B0604020202020204" pitchFamily="34" charset="0"/>
              <a:ea typeface="ＭＳ Ｐゴシック" panose="020B0600070205080204" pitchFamily="34" charset="-128"/>
            </a:endParaRPr>
          </a:p>
        </p:txBody>
      </p:sp>
      <p:sp>
        <p:nvSpPr>
          <p:cNvPr id="29700" name="Slide Number Placeholder 3">
            <a:extLst>
              <a:ext uri="{FF2B5EF4-FFF2-40B4-BE49-F238E27FC236}">
                <a16:creationId xmlns:a16="http://schemas.microsoft.com/office/drawing/2014/main" id="{DEB33403-6E17-4D93-84BE-0E003BE015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1642551-E918-4543-86D0-C0B7CEECD8D2}" type="slidenum">
              <a:rPr lang="en-AU" altLang="en-US" sz="1200"/>
              <a:pPr eaLnBrk="1" hangingPunct="1"/>
              <a:t>28</a:t>
            </a:fld>
            <a:endParaRPr lang="en-AU"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2CBE6ECF-0A3F-8126-4B53-492A434EE3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AA66DB8-E281-44D9-B6E2-52EED1AC978F}" type="slidenum">
              <a:rPr lang="en-AU" altLang="en-US" sz="1200"/>
              <a:pPr eaLnBrk="1" hangingPunct="1"/>
              <a:t>29</a:t>
            </a:fld>
            <a:endParaRPr lang="en-AU" altLang="en-US" sz="1200"/>
          </a:p>
        </p:txBody>
      </p:sp>
      <p:sp>
        <p:nvSpPr>
          <p:cNvPr id="33795" name="Rectangle 2">
            <a:extLst>
              <a:ext uri="{FF2B5EF4-FFF2-40B4-BE49-F238E27FC236}">
                <a16:creationId xmlns:a16="http://schemas.microsoft.com/office/drawing/2014/main" id="{987F5813-9C8F-951F-CFB3-913BB7F0B1FA}"/>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2470FB5A-18CC-2C8F-30D9-08D1E55D32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Stallings Figure 5.1 s</a:t>
            </a:r>
            <a:r>
              <a:rPr lang="en-US" altLang="en-US">
                <a:latin typeface="Times-Roman" charset="0"/>
                <a:ea typeface="ＭＳ Ｐゴシック" panose="020B0600070205080204" pitchFamily="34" charset="-128"/>
              </a:rPr>
              <a:t>hows the overall structure of AES, as detailed on the previous slide.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A7DEA56-5508-FAFD-E09C-5B453B1E1B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E7F8365-CA79-4253-A9AD-B6AD4439A094}" type="slidenum">
              <a:rPr lang="en-AU" altLang="en-US" sz="1200"/>
              <a:pPr eaLnBrk="1" hangingPunct="1"/>
              <a:t>37</a:t>
            </a:fld>
            <a:endParaRPr lang="en-AU" altLang="en-US" sz="1200"/>
          </a:p>
        </p:txBody>
      </p:sp>
      <p:sp>
        <p:nvSpPr>
          <p:cNvPr id="49155" name="Rectangle 2">
            <a:extLst>
              <a:ext uri="{FF2B5EF4-FFF2-40B4-BE49-F238E27FC236}">
                <a16:creationId xmlns:a16="http://schemas.microsoft.com/office/drawing/2014/main" id="{2DE69233-6894-E70D-791F-57D5AD7122D5}"/>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C6AC8D6-169C-9338-90B3-1BE7EA54BC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The </a:t>
            </a:r>
            <a:r>
              <a:rPr lang="en-US" altLang="en-US">
                <a:latin typeface="Times-Roman" charset="0"/>
                <a:ea typeface="ＭＳ Ｐゴシック" panose="020B0600070205080204" pitchFamily="34" charset="-128"/>
              </a:rPr>
              <a:t>ShiftRows stage </a:t>
            </a:r>
            <a:r>
              <a:rPr lang="en-US" altLang="en-US">
                <a:latin typeface="Arial" panose="020B0604020202020204" pitchFamily="34" charset="0"/>
                <a:ea typeface="ＭＳ Ｐゴシック" panose="020B0600070205080204" pitchFamily="34" charset="-128"/>
              </a:rPr>
              <a:t>provides a simple “permutation” of the data, whereas the other steps involve substitutions. Further, since the state is treated as a block of columns, it is this step which provides for diffusion of values between columns. It performs a circular rotate on each row of 0, 1, 2 &amp; 3 places for respective rows. When decrypting it </a:t>
            </a:r>
            <a:r>
              <a:rPr lang="en-US" altLang="en-US">
                <a:latin typeface="Times-Roman" charset="0"/>
                <a:ea typeface="ＭＳ Ｐゴシック" panose="020B0600070205080204" pitchFamily="34" charset="-128"/>
              </a:rPr>
              <a:t>performs the circular shifts in the opposite direction for each row. This row shift moves an individual byte from one column to another, which is a linear distance of a multiple of 4 bytes, and ensures that the 4 bytes of one column are spread out to four different columns.</a:t>
            </a:r>
            <a:endParaRPr lang="en-US" altLang="en-US">
              <a:latin typeface="Arial" panose="020B0604020202020204" pitchFamily="34" charset="0"/>
              <a:ea typeface="ＭＳ Ｐゴシック" panose="020B0600070205080204" pitchFamily="34" charset="-128"/>
            </a:endParaRPr>
          </a:p>
          <a:p>
            <a:pPr eaLnBrk="1" hangingPunct="1"/>
            <a:endParaRPr lang="en-AU"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98A3769A-85A3-87E3-F892-96832667BB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BFA20F1-D76C-420F-AC05-0AAE62BDDDC6}" type="slidenum">
              <a:rPr lang="en-AU" altLang="en-US" sz="1200"/>
              <a:pPr eaLnBrk="1" hangingPunct="1"/>
              <a:t>38</a:t>
            </a:fld>
            <a:endParaRPr lang="en-AU" altLang="en-US" sz="1200"/>
          </a:p>
        </p:txBody>
      </p:sp>
      <p:sp>
        <p:nvSpPr>
          <p:cNvPr id="51203" name="Rectangle 2">
            <a:extLst>
              <a:ext uri="{FF2B5EF4-FFF2-40B4-BE49-F238E27FC236}">
                <a16:creationId xmlns:a16="http://schemas.microsoft.com/office/drawing/2014/main" id="{C60CBD3D-CE89-BE5A-F35F-5CC1C59E8C26}"/>
              </a:ext>
            </a:extLst>
          </p:cNvPr>
          <p:cNvSpPr>
            <a:spLocks noGrp="1" noRot="1" noChangeAspect="1" noChangeArrowheads="1" noTextEdit="1"/>
          </p:cNvSpPr>
          <p:nvPr>
            <p:ph type="sldImg"/>
          </p:nvPr>
        </p:nvSpPr>
        <p:spPr>
          <a:solidFill>
            <a:srgbClr val="FFFFFF"/>
          </a:solidFill>
          <a:ln/>
        </p:spPr>
      </p:sp>
      <p:sp>
        <p:nvSpPr>
          <p:cNvPr id="51204" name="Rectangle 3">
            <a:extLst>
              <a:ext uri="{FF2B5EF4-FFF2-40B4-BE49-F238E27FC236}">
                <a16:creationId xmlns:a16="http://schemas.microsoft.com/office/drawing/2014/main" id="{20123A36-693B-11D9-942D-BB2B3AFC8A19}"/>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latin typeface="Arial" panose="020B0604020202020204" pitchFamily="34" charset="0"/>
                <a:ea typeface="ＭＳ Ｐゴシック" panose="020B0600070205080204" pitchFamily="34" charset="-128"/>
              </a:rPr>
              <a:t>Stalling Figure 5.5a illustrates the Shift Rows permutation.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0C50EB79-4130-A84F-5831-43C5BF7D9C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F0858E5-9A73-419E-A139-A36466BBECFB}" type="slidenum">
              <a:rPr lang="en-AU" altLang="en-US" sz="1200"/>
              <a:pPr eaLnBrk="1" hangingPunct="1"/>
              <a:t>39</a:t>
            </a:fld>
            <a:endParaRPr lang="en-AU" altLang="en-US" sz="1200"/>
          </a:p>
        </p:txBody>
      </p:sp>
      <p:sp>
        <p:nvSpPr>
          <p:cNvPr id="54275" name="Rectangle 2">
            <a:extLst>
              <a:ext uri="{FF2B5EF4-FFF2-40B4-BE49-F238E27FC236}">
                <a16:creationId xmlns:a16="http://schemas.microsoft.com/office/drawing/2014/main" id="{91B7AB2B-C287-BC57-2F1F-BCAD2343DB55}"/>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C4786968-1710-5901-3EF6-B40AB40A72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The </a:t>
            </a:r>
            <a:r>
              <a:rPr lang="en-US" altLang="en-US">
                <a:latin typeface="Times-Roman" charset="0"/>
                <a:ea typeface="ＭＳ Ｐゴシック" panose="020B0600070205080204" pitchFamily="34" charset="-128"/>
              </a:rPr>
              <a:t>MixColumns stage is a substitution that makes use of arithmetic over GF</a:t>
            </a:r>
            <a:r>
              <a:rPr lang="en-US" altLang="en-US">
                <a:latin typeface="Helvetica" panose="020B0604020202020204" pitchFamily="34" charset="0"/>
                <a:ea typeface="ＭＳ Ｐゴシック" panose="020B0600070205080204" pitchFamily="34" charset="-128"/>
              </a:rPr>
              <a:t>(2^8). </a:t>
            </a:r>
            <a:r>
              <a:rPr lang="en-US" altLang="en-US">
                <a:latin typeface="Times-Roman" charset="0"/>
                <a:ea typeface="ＭＳ Ｐゴシック" panose="020B0600070205080204" pitchFamily="34" charset="-128"/>
              </a:rPr>
              <a:t>Each byte of a column is mapped into a new value that is a function of all four bytes in that column. </a:t>
            </a:r>
            <a:r>
              <a:rPr lang="en-US" altLang="en-US">
                <a:latin typeface="Arial" panose="020B0604020202020204" pitchFamily="34" charset="0"/>
                <a:ea typeface="ＭＳ Ｐゴシック" panose="020B0600070205080204" pitchFamily="34" charset="-128"/>
              </a:rPr>
              <a:t>It is designed as a matrix multiplication where each byte is treated as a polynomial in GF(2</a:t>
            </a:r>
            <a:r>
              <a:rPr lang="en-US" altLang="en-US" baseline="30000">
                <a:latin typeface="Arial" panose="020B0604020202020204" pitchFamily="34" charset="0"/>
                <a:ea typeface="ＭＳ Ｐゴシック" panose="020B0600070205080204" pitchFamily="34" charset="-128"/>
              </a:rPr>
              <a:t>8</a:t>
            </a:r>
            <a:r>
              <a:rPr lang="en-US" altLang="en-US">
                <a:latin typeface="Arial" panose="020B0604020202020204" pitchFamily="34" charset="0"/>
                <a:ea typeface="ＭＳ Ｐゴシック" panose="020B0600070205080204" pitchFamily="34" charset="-128"/>
              </a:rPr>
              <a:t>). The inverse used for decryption involves a different set of constants.</a:t>
            </a:r>
          </a:p>
          <a:p>
            <a:pPr eaLnBrk="1" hangingPunct="1"/>
            <a:r>
              <a:rPr lang="en-US" altLang="en-US">
                <a:latin typeface="Arial" panose="020B0604020202020204" pitchFamily="34" charset="0"/>
                <a:ea typeface="ＭＳ Ｐゴシック" panose="020B0600070205080204" pitchFamily="34" charset="-128"/>
              </a:rPr>
              <a:t>The constants used are based on a linear code with maximal distance between code words – this gives good mixing of the bytes within each column. Combined with the “shift rows” step provides good avalanche, so that within a few rounds, all output bits depend on all input bits.</a:t>
            </a:r>
          </a:p>
          <a:p>
            <a:pPr eaLnBrk="1" hangingPunct="1"/>
            <a:endParaRPr lang="en-US" altLang="en-US">
              <a:latin typeface="Arial" panose="020B0604020202020204" pitchFamily="34" charset="0"/>
              <a:ea typeface="ＭＳ Ｐゴシック" panose="020B0600070205080204" pitchFamily="34" charset="-128"/>
            </a:endParaRPr>
          </a:p>
          <a:p>
            <a:pPr eaLnBrk="1" hangingPunct="1"/>
            <a:endParaRPr lang="en-US" altLang="en-US">
              <a:latin typeface="Arial" panose="020B0604020202020204" pitchFamily="34" charset="0"/>
              <a:ea typeface="ＭＳ Ｐゴシック" panose="020B0600070205080204" pitchFamily="34" charset="-128"/>
            </a:endParaRPr>
          </a:p>
          <a:p>
            <a:pPr eaLnBrk="1" hangingPunct="1"/>
            <a:endParaRPr lang="en-AU"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DAE22A56-D9E7-9347-9220-0CFF82673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89E9A7A-3A73-4CC7-BB50-5A6DCD839003}" type="slidenum">
              <a:rPr lang="en-AU" altLang="en-US" sz="1200"/>
              <a:pPr eaLnBrk="1" hangingPunct="1"/>
              <a:t>40</a:t>
            </a:fld>
            <a:endParaRPr lang="en-AU" altLang="en-US" sz="1200"/>
          </a:p>
        </p:txBody>
      </p:sp>
      <p:sp>
        <p:nvSpPr>
          <p:cNvPr id="56323" name="Rectangle 2">
            <a:extLst>
              <a:ext uri="{FF2B5EF4-FFF2-40B4-BE49-F238E27FC236}">
                <a16:creationId xmlns:a16="http://schemas.microsoft.com/office/drawing/2014/main" id="{D8101FCA-5C53-8C50-8E37-64B564F5ABA4}"/>
              </a:ext>
            </a:extLst>
          </p:cNvPr>
          <p:cNvSpPr>
            <a:spLocks noGrp="1" noRot="1" noChangeAspect="1" noChangeArrowheads="1" noTextEdit="1"/>
          </p:cNvSpPr>
          <p:nvPr>
            <p:ph type="sldImg"/>
          </p:nvPr>
        </p:nvSpPr>
        <p:spPr>
          <a:solidFill>
            <a:srgbClr val="FFFFFF"/>
          </a:solidFill>
          <a:ln/>
        </p:spPr>
      </p:sp>
      <p:sp>
        <p:nvSpPr>
          <p:cNvPr id="56324" name="Rectangle 3">
            <a:extLst>
              <a:ext uri="{FF2B5EF4-FFF2-40B4-BE49-F238E27FC236}">
                <a16:creationId xmlns:a16="http://schemas.microsoft.com/office/drawing/2014/main" id="{B077E8F8-33BF-4C61-F6BF-674197344889}"/>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latin typeface="Arial" panose="020B0604020202020204" pitchFamily="34" charset="0"/>
                <a:ea typeface="ＭＳ Ｐゴシック" panose="020B0600070205080204" pitchFamily="34" charset="-128"/>
              </a:rPr>
              <a:t>Stalling Figure 5.5b illustrates the Mix Columns transformation.</a:t>
            </a:r>
          </a:p>
          <a:p>
            <a:pPr eaLnBrk="1" hangingPunct="1"/>
            <a:r>
              <a:rPr lang="en-AU" altLang="en-US">
                <a:latin typeface="Arial" panose="020B0604020202020204" pitchFamily="34" charset="0"/>
                <a:ea typeface="ＭＳ Ｐゴシック" panose="020B0600070205080204" pitchFamily="34" charset="-128"/>
              </a:rPr>
              <a:t>In practise, you implement Mix Columns by expressing the transformation on each column as 4 equations (Stallings equation 5.4) to compute the new bytes for that column. This computation only involves shifts, XORs &amp; conditional XORs (for the modulo reduction).</a:t>
            </a:r>
          </a:p>
          <a:p>
            <a:pPr eaLnBrk="1" hangingPunct="1"/>
            <a:r>
              <a:rPr lang="en-AU" altLang="en-US">
                <a:latin typeface="Arial" panose="020B0604020202020204" pitchFamily="34" charset="0"/>
                <a:ea typeface="ＭＳ Ｐゴシック" panose="020B0600070205080204" pitchFamily="34" charset="-128"/>
              </a:rPr>
              <a:t>The decryption computation requires the use of the inverse of the matrix, which has larger </a:t>
            </a:r>
            <a:r>
              <a:rPr lang="en-US" altLang="en-US">
                <a:latin typeface="Arial" panose="020B0604020202020204" pitchFamily="34" charset="0"/>
                <a:ea typeface="ＭＳ Ｐゴシック" panose="020B0600070205080204" pitchFamily="34" charset="-128"/>
              </a:rPr>
              <a:t>coefficients, and is thus potentially a little harder &amp; slower to implement.</a:t>
            </a:r>
          </a:p>
          <a:p>
            <a:pPr eaLnBrk="1" hangingPunct="1"/>
            <a:r>
              <a:rPr lang="en-US" altLang="en-US">
                <a:latin typeface="Arial" panose="020B0604020202020204" pitchFamily="34" charset="0"/>
                <a:ea typeface="ＭＳ Ｐゴシック" panose="020B0600070205080204" pitchFamily="34" charset="-128"/>
              </a:rPr>
              <a:t>The designers &amp; the AES standard provide an alternate characterisation of Mix Columns, which treats each column of State to be a four-term polynomial with coefficients in GF(2</a:t>
            </a:r>
            <a:r>
              <a:rPr lang="en-US" altLang="en-US" baseline="30000">
                <a:latin typeface="Arial" panose="020B0604020202020204" pitchFamily="34" charset="0"/>
                <a:ea typeface="ＭＳ Ｐゴシック" panose="020B0600070205080204" pitchFamily="34" charset="-128"/>
              </a:rPr>
              <a:t>8</a:t>
            </a:r>
            <a:r>
              <a:rPr lang="en-US" altLang="en-US">
                <a:latin typeface="Arial" panose="020B0604020202020204" pitchFamily="34" charset="0"/>
                <a:ea typeface="ＭＳ Ｐゴシック" panose="020B0600070205080204" pitchFamily="34" charset="-128"/>
              </a:rPr>
              <a:t>). Each column is multiplied by a fixed polynomial a(x) given in Stallings eqn 5.7. Whilst this is useful for analysis of the stage, the matrix description is all that’s required for implementation.</a:t>
            </a:r>
            <a:endParaRPr lang="en-AU" altLang="en-US">
              <a:latin typeface="Arial" panose="020B0604020202020204" pitchFamily="34" charset="0"/>
              <a:ea typeface="ＭＳ Ｐゴシック" panose="020B0600070205080204" pitchFamily="34" charset="-128"/>
            </a:endParaRPr>
          </a:p>
          <a:p>
            <a:pPr eaLnBrk="1" hangingPunct="1"/>
            <a:endParaRPr lang="en-AU"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5ED934A0-8EA0-362A-7B16-004121DE4205}"/>
              </a:ext>
            </a:extLst>
          </p:cNvPr>
          <p:cNvSpPr>
            <a:spLocks noGrp="1" noRot="1" noChangeAspect="1"/>
          </p:cNvSpPr>
          <p:nvPr>
            <p:ph type="sldImg"/>
          </p:nvPr>
        </p:nvSpPr>
        <p:spPr>
          <a:ln/>
        </p:spPr>
      </p:sp>
      <p:sp>
        <p:nvSpPr>
          <p:cNvPr id="58371" name="Notes Placeholder 2">
            <a:extLst>
              <a:ext uri="{FF2B5EF4-FFF2-40B4-BE49-F238E27FC236}">
                <a16:creationId xmlns:a16="http://schemas.microsoft.com/office/drawing/2014/main" id="{307BE6CE-3B47-5D7A-D213-05046FD674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
        <p:nvSpPr>
          <p:cNvPr id="58372" name="Slide Number Placeholder 3">
            <a:extLst>
              <a:ext uri="{FF2B5EF4-FFF2-40B4-BE49-F238E27FC236}">
                <a16:creationId xmlns:a16="http://schemas.microsoft.com/office/drawing/2014/main" id="{263CDF80-FD58-8724-3242-FB13DA1780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004F154-AFD7-43C0-87C6-10BCC5E201BE}" type="slidenum">
              <a:rPr lang="en-AU" altLang="en-US" sz="1200"/>
              <a:pPr eaLnBrk="1" hangingPunct="1"/>
              <a:t>41</a:t>
            </a:fld>
            <a:endParaRPr lang="en-AU"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297A15F-394D-0D42-6B90-92F5EF06F6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C2679E1-D15D-42DA-A6EF-CCB11B8A89A9}" type="slidenum">
              <a:rPr lang="en-AU" altLang="en-US" sz="1200"/>
              <a:pPr eaLnBrk="1" hangingPunct="1"/>
              <a:t>42</a:t>
            </a:fld>
            <a:endParaRPr lang="en-AU" altLang="en-US" sz="1200"/>
          </a:p>
        </p:txBody>
      </p:sp>
      <p:sp>
        <p:nvSpPr>
          <p:cNvPr id="60419" name="Rectangle 2">
            <a:extLst>
              <a:ext uri="{FF2B5EF4-FFF2-40B4-BE49-F238E27FC236}">
                <a16:creationId xmlns:a16="http://schemas.microsoft.com/office/drawing/2014/main" id="{DF760B37-F432-6FD3-A6FD-20CF08B73F23}"/>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A10A8D75-3A1A-6286-8FD1-B076E472BA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Lastly is the </a:t>
            </a:r>
            <a:r>
              <a:rPr lang="en-AU" altLang="en-US">
                <a:latin typeface="Arial" panose="020B0604020202020204" pitchFamily="34" charset="0"/>
                <a:ea typeface="ＭＳ Ｐゴシック" panose="020B0600070205080204" pitchFamily="34" charset="-128"/>
              </a:rPr>
              <a:t>Add Round Key</a:t>
            </a:r>
            <a:r>
              <a:rPr lang="en-US" altLang="en-US">
                <a:latin typeface="Arial" panose="020B0604020202020204" pitchFamily="34" charset="0"/>
                <a:ea typeface="ＭＳ Ｐゴシック" panose="020B0600070205080204" pitchFamily="34" charset="-128"/>
              </a:rPr>
              <a:t> stage which </a:t>
            </a:r>
            <a:r>
              <a:rPr lang="en-US" altLang="en-US">
                <a:latin typeface="Times-Roman" charset="0"/>
                <a:ea typeface="ＭＳ Ｐゴシック" panose="020B0600070205080204" pitchFamily="34" charset="-128"/>
              </a:rPr>
              <a:t>is a simple bitwise XOR of the current block with a portion of the expanded </a:t>
            </a:r>
            <a:r>
              <a:rPr lang="en-US" altLang="en-US">
                <a:latin typeface="Arial" panose="020B0604020202020204" pitchFamily="34" charset="0"/>
                <a:ea typeface="ＭＳ Ｐゴシック" panose="020B0600070205080204" pitchFamily="34" charset="-128"/>
              </a:rPr>
              <a:t>key. Note this is the only step which makes use of the key and obscures the result, hence MUST be used at start and end of each round, since otherwise could undo effect of other steps. But the other steps provide confusion/diffusion/non-linearity. That us you can look at the cipher as a series of XOR with key then scramble/permute block repeated. This is efficient and highly secure it is believed.</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324877D-24FD-9758-87F6-31F8B0F01C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99A8426-3169-4119-87E9-5D6F8A2C4F9F}" type="slidenum">
              <a:rPr lang="en-AU" altLang="en-US" sz="1200"/>
              <a:pPr eaLnBrk="1" hangingPunct="1"/>
              <a:t>43</a:t>
            </a:fld>
            <a:endParaRPr lang="en-AU" altLang="en-US" sz="1200"/>
          </a:p>
        </p:txBody>
      </p:sp>
      <p:sp>
        <p:nvSpPr>
          <p:cNvPr id="62467" name="Rectangle 2">
            <a:extLst>
              <a:ext uri="{FF2B5EF4-FFF2-40B4-BE49-F238E27FC236}">
                <a16:creationId xmlns:a16="http://schemas.microsoft.com/office/drawing/2014/main" id="{A8B13EF6-0BFC-AF8E-0CA0-A47F684FBBAA}"/>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8EEABE36-944A-2F3C-F926-59147DF421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Stallings Figure 5.4b illustrates the </a:t>
            </a:r>
            <a:r>
              <a:rPr lang="en-AU" altLang="en-US">
                <a:latin typeface="Arial" panose="020B0604020202020204" pitchFamily="34" charset="0"/>
                <a:ea typeface="ＭＳ Ｐゴシック" panose="020B0600070205080204" pitchFamily="34" charset="-128"/>
              </a:rPr>
              <a:t>Add Round Key stage</a:t>
            </a:r>
            <a:r>
              <a:rPr lang="en-US" altLang="en-US">
                <a:latin typeface="Arial" panose="020B0604020202020204" pitchFamily="34" charset="0"/>
                <a:ea typeface="ＭＳ Ｐゴシック" panose="020B0600070205080204" pitchFamily="34" charset="-128"/>
              </a:rPr>
              <a:t>, which like </a:t>
            </a:r>
            <a:r>
              <a:rPr lang="en-AU" altLang="en-US">
                <a:latin typeface="Arial" panose="020B0604020202020204" pitchFamily="34" charset="0"/>
                <a:ea typeface="ＭＳ Ｐゴシック" panose="020B0600070205080204" pitchFamily="34" charset="-128"/>
              </a:rPr>
              <a:t>Byte Substitution, operates on each byte of state independently.</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E037E241-DE82-12EE-3F76-5B0B09012D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39691E8-85BB-49D1-94A1-D0A54880E77A}" type="slidenum">
              <a:rPr lang="en-AU" altLang="en-US" sz="1200"/>
              <a:pPr eaLnBrk="1" hangingPunct="1"/>
              <a:t>44</a:t>
            </a:fld>
            <a:endParaRPr lang="en-AU" altLang="en-US" sz="1200"/>
          </a:p>
        </p:txBody>
      </p:sp>
      <p:sp>
        <p:nvSpPr>
          <p:cNvPr id="64515" name="Rectangle 2">
            <a:extLst>
              <a:ext uri="{FF2B5EF4-FFF2-40B4-BE49-F238E27FC236}">
                <a16:creationId xmlns:a16="http://schemas.microsoft.com/office/drawing/2014/main" id="{C2F720ED-68E2-8556-38B0-BF32251BD7FF}"/>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9062B556-6EF5-438E-63C9-F34FD9A9E7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latin typeface="Arial" panose="020B0604020202020204" pitchFamily="34" charset="0"/>
                <a:ea typeface="ＭＳ Ｐゴシック" panose="020B0600070205080204" pitchFamily="34" charset="-128"/>
              </a:rPr>
              <a:t>Can thus now view all the internal details of the AES round, showing how each byte of the state is manipulated, as shown in Stallings Figure 5.3.</a:t>
            </a: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E69AB5A4-D0B0-9680-6B27-0E770D96BF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323987B-0EBD-4DB2-82AC-BE7BDCAF8B33}" type="slidenum">
              <a:rPr lang="en-AU" altLang="en-US" sz="1200"/>
              <a:pPr eaLnBrk="1" hangingPunct="1"/>
              <a:t>45</a:t>
            </a:fld>
            <a:endParaRPr lang="en-AU" altLang="en-US" sz="1200"/>
          </a:p>
        </p:txBody>
      </p:sp>
      <p:sp>
        <p:nvSpPr>
          <p:cNvPr id="66563" name="Rectangle 2">
            <a:extLst>
              <a:ext uri="{FF2B5EF4-FFF2-40B4-BE49-F238E27FC236}">
                <a16:creationId xmlns:a16="http://schemas.microsoft.com/office/drawing/2014/main" id="{7CF2A742-776C-5E99-B0F0-0E64834EC7C9}"/>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C8E9633C-B12B-B2E3-00BF-0DD3C69C3E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AES key expansion algorithm takes as input a 4-word (16-byte) key and produces a linear array of words, providing a 4-word round key for the initial AddRoundKey stage and each of the 10/12/14 rounds of the cipher</a:t>
            </a:r>
            <a:r>
              <a:rPr lang="en-US" altLang="en-US">
                <a:latin typeface="Arial" panose="020B0604020202020204" pitchFamily="34" charset="0"/>
                <a:ea typeface="ＭＳ Ｐゴシック" panose="020B0600070205080204" pitchFamily="34" charset="-128"/>
              </a:rPr>
              <a:t>. It involves copying the key into the first group of 4 words, and then constructing subsequent groups of 4 based on the values of the previous &amp; 4th back words. The first word in each group of 4 gets “special treatment” with rotate + S-box + XOR constant on the previous word before XOR’ing the one from 4 back. In the 256-bit key/14 round version, there’s also an extra step on the middle word.</a:t>
            </a:r>
            <a:endParaRPr lang="en-AU"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04BD42AA-0B06-8DF6-32DE-8B7AF1D744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798F27F-3505-46B3-908E-C4617A9E7ABC}" type="slidenum">
              <a:rPr lang="en-AU" altLang="en-US" sz="1200"/>
              <a:pPr eaLnBrk="1" hangingPunct="1"/>
              <a:t>47</a:t>
            </a:fld>
            <a:endParaRPr lang="en-AU" altLang="en-US" sz="1200"/>
          </a:p>
        </p:txBody>
      </p:sp>
      <p:sp>
        <p:nvSpPr>
          <p:cNvPr id="74755" name="Rectangle 2">
            <a:extLst>
              <a:ext uri="{FF2B5EF4-FFF2-40B4-BE49-F238E27FC236}">
                <a16:creationId xmlns:a16="http://schemas.microsoft.com/office/drawing/2014/main" id="{02E90D95-D843-F3EF-BF71-9B698472EC75}"/>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F111BAA4-3144-A42B-1D84-87005C2CB5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AES can also be very efficiently implemented on an 32-bit processor, by rewriting the stage transformation to use 4 table lookups &amp; 4 XOR’s per column of state. These tables can be computed in advance using the formulae shown in the text, and need 4Kb to store.</a:t>
            </a:r>
          </a:p>
          <a:p>
            <a:pPr eaLnBrk="1" hangingPunct="1"/>
            <a:r>
              <a:rPr lang="en-US" altLang="en-US">
                <a:latin typeface="Times-Roman" charset="0"/>
                <a:ea typeface="ＭＳ Ｐゴシック" panose="020B0600070205080204" pitchFamily="34" charset="-128"/>
              </a:rPr>
              <a:t>The developers of Rijndael believe that this compact, efficient implementation was probably one of the most important factors in the selection of Rijndael for AES.</a:t>
            </a:r>
            <a:r>
              <a:rPr lang="en-US" altLang="en-US">
                <a:latin typeface="Helvetica" panose="020B0604020202020204" pitchFamily="34" charset="0"/>
                <a:ea typeface="ＭＳ Ｐゴシック" panose="020B0600070205080204" pitchFamily="34" charset="-128"/>
              </a:rPr>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26F2E0-DC5B-429E-96BA-7422152694B2}" type="slidenum">
              <a:rPr lang="en-AU" altLang="en-US" smtClean="0"/>
              <a:pPr/>
              <a:t>52</a:t>
            </a:fld>
            <a:endParaRPr lang="en-AU" altLang="en-US"/>
          </a:p>
        </p:txBody>
      </p:sp>
    </p:spTree>
    <p:extLst>
      <p:ext uri="{BB962C8B-B14F-4D97-AF65-F5344CB8AC3E}">
        <p14:creationId xmlns:p14="http://schemas.microsoft.com/office/powerpoint/2010/main" val="3774592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3/9/2024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3/9/2024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3/9/2024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3/9/2024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3/9/2024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3/9/2024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3/9/2024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3/9/2024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3/9/2024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3/9/2024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3/9/2024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3/9/2024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crack.sh/"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en.wikipedia.org/wiki/AES_instruction_set"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www.moserware.com/2009/09/stick-figure-guide-to-advanced.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170499"/>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Modern </a:t>
            </a:r>
            <a:r>
              <a:rPr lang="en-US" altLang="ko-KR" sz="3600" b="1">
                <a:solidFill>
                  <a:schemeClr val="bg1">
                    <a:lumMod val="95000"/>
                  </a:schemeClr>
                </a:solidFill>
                <a:latin typeface="Arial" pitchFamily="34" charset="0"/>
                <a:ea typeface="맑은 고딕" pitchFamily="50" charset="-127"/>
                <a:cs typeface="Arial" pitchFamily="34" charset="0"/>
              </a:rPr>
              <a:t>Symmetric Ciphers</a:t>
            </a:r>
            <a:endParaRPr lang="en-US" altLang="ko-KR" sz="3600" b="1" dirty="0">
              <a:solidFill>
                <a:schemeClr val="bg1">
                  <a:lumMod val="95000"/>
                </a:schemeClr>
              </a:solidFill>
              <a:latin typeface="Arial" pitchFamily="34" charset="0"/>
              <a:ea typeface="맑은 고딕" pitchFamily="50" charset="-127"/>
              <a:cs typeface="Arial" pitchFamily="34" charset="0"/>
            </a:endParaRP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1835696" y="1916832"/>
            <a:ext cx="5472608"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
        <p:nvSpPr>
          <p:cNvPr id="2" name="TextBox 1">
            <a:extLst>
              <a:ext uri="{FF2B5EF4-FFF2-40B4-BE49-F238E27FC236}">
                <a16:creationId xmlns:a16="http://schemas.microsoft.com/office/drawing/2014/main" id="{AD3339CC-1B5A-6A39-986E-A50B229AE1D4}"/>
              </a:ext>
            </a:extLst>
          </p:cNvPr>
          <p:cNvSpPr txBox="1"/>
          <p:nvPr/>
        </p:nvSpPr>
        <p:spPr>
          <a:xfrm>
            <a:off x="125740" y="6434828"/>
            <a:ext cx="8838748" cy="369332"/>
          </a:xfrm>
          <a:prstGeom prst="rect">
            <a:avLst/>
          </a:prstGeom>
          <a:noFill/>
        </p:spPr>
        <p:txBody>
          <a:bodyPr wrap="square" rtlCol="0">
            <a:spAutoFit/>
          </a:bodyPr>
          <a:lstStyle/>
          <a:p>
            <a:pPr latinLnBrk="0"/>
            <a:r>
              <a:rPr lang="en-US" dirty="0"/>
              <a:t>Source: Stallings CNS chap 4, 6</a:t>
            </a:r>
            <a:endParaRPr lang="en-AU" dirty="0"/>
          </a:p>
        </p:txBody>
      </p:sp>
    </p:spTree>
    <p:extLst>
      <p:ext uri="{BB962C8B-B14F-4D97-AF65-F5344CB8AC3E}">
        <p14:creationId xmlns:p14="http://schemas.microsoft.com/office/powerpoint/2010/main" val="1941221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018B2-8E6A-4545-7F8F-42897972FBC4}"/>
              </a:ext>
            </a:extLst>
          </p:cNvPr>
          <p:cNvSpPr>
            <a:spLocks noGrp="1"/>
          </p:cNvSpPr>
          <p:nvPr>
            <p:ph type="title"/>
          </p:nvPr>
        </p:nvSpPr>
        <p:spPr/>
        <p:txBody>
          <a:bodyPr/>
          <a:lstStyle/>
          <a:p>
            <a:r>
              <a:rPr lang="en-US" dirty="0"/>
              <a:t>Modern Ciphers</a:t>
            </a:r>
          </a:p>
        </p:txBody>
      </p:sp>
      <p:sp>
        <p:nvSpPr>
          <p:cNvPr id="3" name="Content Placeholder 2">
            <a:extLst>
              <a:ext uri="{FF2B5EF4-FFF2-40B4-BE49-F238E27FC236}">
                <a16:creationId xmlns:a16="http://schemas.microsoft.com/office/drawing/2014/main" id="{1D68163B-CBB3-794E-29AB-763814DBC8C8}"/>
              </a:ext>
            </a:extLst>
          </p:cNvPr>
          <p:cNvSpPr>
            <a:spLocks noGrp="1"/>
          </p:cNvSpPr>
          <p:nvPr>
            <p:ph sz="quarter" idx="11"/>
          </p:nvPr>
        </p:nvSpPr>
        <p:spPr/>
        <p:txBody>
          <a:bodyPr/>
          <a:lstStyle/>
          <a:p>
            <a:pPr marL="400050" lvl="1" indent="0">
              <a:buNone/>
            </a:pPr>
            <a:r>
              <a:rPr lang="en-US" dirty="0"/>
              <a:t>“A modern block cipher can be designed to act as a substitution cipher or a transposition cipher. This is the same idea as is used in traditional ciphers, except that the symbols to be substituted or transposed are bits instead of characters.”</a:t>
            </a:r>
          </a:p>
          <a:p>
            <a:pPr marL="400050" lvl="1" indent="0">
              <a:buNone/>
            </a:pPr>
            <a:endParaRPr lang="en-US" dirty="0"/>
          </a:p>
          <a:p>
            <a:pPr marL="400050" lvl="1" indent="0" algn="r">
              <a:buNone/>
            </a:pPr>
            <a:r>
              <a:rPr lang="en-US" sz="2000" dirty="0" err="1"/>
              <a:t>Forouzan</a:t>
            </a:r>
            <a:r>
              <a:rPr lang="en-US" sz="2000" dirty="0"/>
              <a:t>, Cryptography &amp; Network Security</a:t>
            </a:r>
          </a:p>
        </p:txBody>
      </p:sp>
    </p:spTree>
    <p:extLst>
      <p:ext uri="{BB962C8B-B14F-4D97-AF65-F5344CB8AC3E}">
        <p14:creationId xmlns:p14="http://schemas.microsoft.com/office/powerpoint/2010/main" val="789093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E8CB5-95C8-A310-4E8D-5734EFCBC67B}"/>
              </a:ext>
            </a:extLst>
          </p:cNvPr>
          <p:cNvSpPr>
            <a:spLocks noGrp="1"/>
          </p:cNvSpPr>
          <p:nvPr>
            <p:ph type="title"/>
          </p:nvPr>
        </p:nvSpPr>
        <p:spPr/>
        <p:txBody>
          <a:bodyPr/>
          <a:lstStyle/>
          <a:p>
            <a:r>
              <a:rPr lang="en-US" dirty="0"/>
              <a:t>Strength of a cipher</a:t>
            </a:r>
          </a:p>
        </p:txBody>
      </p:sp>
      <p:sp>
        <p:nvSpPr>
          <p:cNvPr id="3" name="Content Placeholder 2">
            <a:extLst>
              <a:ext uri="{FF2B5EF4-FFF2-40B4-BE49-F238E27FC236}">
                <a16:creationId xmlns:a16="http://schemas.microsoft.com/office/drawing/2014/main" id="{0E43D2F8-0287-1333-16E0-E5BF650E8562}"/>
              </a:ext>
            </a:extLst>
          </p:cNvPr>
          <p:cNvSpPr>
            <a:spLocks noGrp="1"/>
          </p:cNvSpPr>
          <p:nvPr>
            <p:ph sz="quarter" idx="11"/>
          </p:nvPr>
        </p:nvSpPr>
        <p:spPr/>
        <p:txBody>
          <a:bodyPr/>
          <a:lstStyle/>
          <a:p>
            <a:r>
              <a:rPr lang="en-US" sz="2800" dirty="0"/>
              <a:t>A cipher needs to completely obscure statistical properties of original message</a:t>
            </a:r>
          </a:p>
          <a:p>
            <a:r>
              <a:rPr lang="en-US" sz="2800" dirty="0"/>
              <a:t>In 1945, Shannon suggested that a cipher needs to have these two properties:</a:t>
            </a:r>
          </a:p>
          <a:p>
            <a:endParaRPr lang="en-US" sz="2800" dirty="0"/>
          </a:p>
        </p:txBody>
      </p:sp>
      <p:pic>
        <p:nvPicPr>
          <p:cNvPr id="7" name="Picture 6">
            <a:extLst>
              <a:ext uri="{FF2B5EF4-FFF2-40B4-BE49-F238E27FC236}">
                <a16:creationId xmlns:a16="http://schemas.microsoft.com/office/drawing/2014/main" id="{ECF8CB69-2EAC-445C-85FC-012ED232D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888" y="3645024"/>
            <a:ext cx="5734223" cy="2687698"/>
          </a:xfrm>
          <a:prstGeom prst="rect">
            <a:avLst/>
          </a:prstGeom>
        </p:spPr>
      </p:pic>
    </p:spTree>
    <p:extLst>
      <p:ext uri="{BB962C8B-B14F-4D97-AF65-F5344CB8AC3E}">
        <p14:creationId xmlns:p14="http://schemas.microsoft.com/office/powerpoint/2010/main" val="4293436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501AD-DD36-59D3-C434-549650785A9D}"/>
              </a:ext>
            </a:extLst>
          </p:cNvPr>
          <p:cNvSpPr>
            <a:spLocks noGrp="1"/>
          </p:cNvSpPr>
          <p:nvPr>
            <p:ph type="title"/>
          </p:nvPr>
        </p:nvSpPr>
        <p:spPr/>
        <p:txBody>
          <a:bodyPr/>
          <a:lstStyle/>
          <a:p>
            <a:r>
              <a:rPr lang="en-US" dirty="0"/>
              <a:t>Confusion</a:t>
            </a:r>
          </a:p>
        </p:txBody>
      </p:sp>
      <p:sp>
        <p:nvSpPr>
          <p:cNvPr id="3" name="Content Placeholder 2">
            <a:extLst>
              <a:ext uri="{FF2B5EF4-FFF2-40B4-BE49-F238E27FC236}">
                <a16:creationId xmlns:a16="http://schemas.microsoft.com/office/drawing/2014/main" id="{8AFF01EC-7F00-2CB3-18AB-F1C2F390BE6A}"/>
              </a:ext>
            </a:extLst>
          </p:cNvPr>
          <p:cNvSpPr>
            <a:spLocks noGrp="1"/>
          </p:cNvSpPr>
          <p:nvPr>
            <p:ph sz="quarter" idx="11"/>
          </p:nvPr>
        </p:nvSpPr>
        <p:spPr/>
        <p:txBody>
          <a:bodyPr/>
          <a:lstStyle/>
          <a:p>
            <a:r>
              <a:rPr lang="en-US" sz="2800" dirty="0"/>
              <a:t>Confusion means that each character (e.g. bit) of the ciphertext should depend on several parts of the key, obscuring the connection between the two.</a:t>
            </a:r>
          </a:p>
          <a:p>
            <a:r>
              <a:rPr lang="en-US" sz="2800" dirty="0"/>
              <a:t>This property makes it difficult to find key from ciphertext. If a single bit in key is changed, calculation of values of most or all bits in ciphertext will be affected.</a:t>
            </a:r>
          </a:p>
          <a:p>
            <a:pPr lvl="1"/>
            <a:r>
              <a:rPr lang="en-US" sz="2400" dirty="0"/>
              <a:t>In classical ciphers, substitution provides confusion</a:t>
            </a:r>
          </a:p>
        </p:txBody>
      </p:sp>
    </p:spTree>
    <p:extLst>
      <p:ext uri="{BB962C8B-B14F-4D97-AF65-F5344CB8AC3E}">
        <p14:creationId xmlns:p14="http://schemas.microsoft.com/office/powerpoint/2010/main" val="642666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9763-175A-DE79-7A87-BE954EE1EE87}"/>
              </a:ext>
            </a:extLst>
          </p:cNvPr>
          <p:cNvSpPr>
            <a:spLocks noGrp="1"/>
          </p:cNvSpPr>
          <p:nvPr>
            <p:ph type="title"/>
          </p:nvPr>
        </p:nvSpPr>
        <p:spPr/>
        <p:txBody>
          <a:bodyPr/>
          <a:lstStyle/>
          <a:p>
            <a:r>
              <a:rPr lang="en-US" dirty="0"/>
              <a:t>Diffusion</a:t>
            </a:r>
          </a:p>
        </p:txBody>
      </p:sp>
      <p:sp>
        <p:nvSpPr>
          <p:cNvPr id="3" name="Content Placeholder 2">
            <a:extLst>
              <a:ext uri="{FF2B5EF4-FFF2-40B4-BE49-F238E27FC236}">
                <a16:creationId xmlns:a16="http://schemas.microsoft.com/office/drawing/2014/main" id="{F4856B67-9BD0-5310-82E2-032ACAC047CE}"/>
              </a:ext>
            </a:extLst>
          </p:cNvPr>
          <p:cNvSpPr>
            <a:spLocks noGrp="1"/>
          </p:cNvSpPr>
          <p:nvPr>
            <p:ph sz="quarter" idx="11"/>
          </p:nvPr>
        </p:nvSpPr>
        <p:spPr/>
        <p:txBody>
          <a:bodyPr/>
          <a:lstStyle/>
          <a:p>
            <a:r>
              <a:rPr lang="en-US" sz="2800" dirty="0"/>
              <a:t>Diffusion means the influence of one plaintext symbol is spread over many ciphertext symbols, so that statistical properties of plaintext remain hidden.</a:t>
            </a:r>
          </a:p>
          <a:p>
            <a:pPr lvl="1"/>
            <a:r>
              <a:rPr lang="en-US" sz="2400" dirty="0"/>
              <a:t>In classical ciphers, permutation provides diffusion</a:t>
            </a:r>
          </a:p>
          <a:p>
            <a:r>
              <a:rPr lang="en-US" sz="2800" dirty="0"/>
              <a:t>Ciphers that only perform confusion or only diffusion are not secure enough.</a:t>
            </a:r>
          </a:p>
          <a:p>
            <a:pPr lvl="1"/>
            <a:r>
              <a:rPr lang="en-US" sz="2400" dirty="0"/>
              <a:t>Except for one-time pad, which is confusion only;  but as discussed, it is impractical.</a:t>
            </a:r>
          </a:p>
          <a:p>
            <a:r>
              <a:rPr lang="en-US" sz="2800" dirty="0"/>
              <a:t>A </a:t>
            </a:r>
            <a:r>
              <a:rPr lang="en-US" sz="2800" u="sng" dirty="0"/>
              <a:t>product cipher</a:t>
            </a:r>
            <a:r>
              <a:rPr lang="en-US" sz="2800" dirty="0"/>
              <a:t> is the one which includes both of these operations.</a:t>
            </a:r>
          </a:p>
        </p:txBody>
      </p:sp>
    </p:spTree>
    <p:extLst>
      <p:ext uri="{BB962C8B-B14F-4D97-AF65-F5344CB8AC3E}">
        <p14:creationId xmlns:p14="http://schemas.microsoft.com/office/powerpoint/2010/main" val="450487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E6183-07E3-8B1F-4315-377DC5536B4C}"/>
              </a:ext>
            </a:extLst>
          </p:cNvPr>
          <p:cNvSpPr>
            <a:spLocks noGrp="1"/>
          </p:cNvSpPr>
          <p:nvPr>
            <p:ph type="title"/>
          </p:nvPr>
        </p:nvSpPr>
        <p:spPr/>
        <p:txBody>
          <a:bodyPr/>
          <a:lstStyle/>
          <a:p>
            <a:r>
              <a:rPr lang="en-US" dirty="0"/>
              <a:t>Block &amp; Stream ciphers</a:t>
            </a:r>
          </a:p>
        </p:txBody>
      </p:sp>
      <p:sp>
        <p:nvSpPr>
          <p:cNvPr id="3" name="Content Placeholder 2">
            <a:extLst>
              <a:ext uri="{FF2B5EF4-FFF2-40B4-BE49-F238E27FC236}">
                <a16:creationId xmlns:a16="http://schemas.microsoft.com/office/drawing/2014/main" id="{C1AF5A62-4575-BE95-86A4-DFCE2C5C36E4}"/>
              </a:ext>
            </a:extLst>
          </p:cNvPr>
          <p:cNvSpPr>
            <a:spLocks noGrp="1"/>
          </p:cNvSpPr>
          <p:nvPr>
            <p:ph sz="quarter" idx="11"/>
          </p:nvPr>
        </p:nvSpPr>
        <p:spPr/>
        <p:txBody>
          <a:bodyPr/>
          <a:lstStyle/>
          <a:p>
            <a:r>
              <a:rPr lang="en-US" sz="2800" b="1" dirty="0"/>
              <a:t>Block ciphers</a:t>
            </a:r>
            <a:r>
              <a:rPr lang="en-US" sz="2800" dirty="0"/>
              <a:t> break messages into blocks of predetermined sizes – e.g. 64 bits or 128 bits.</a:t>
            </a:r>
          </a:p>
          <a:p>
            <a:pPr lvl="1"/>
            <a:r>
              <a:rPr lang="en-US" sz="2400" dirty="0"/>
              <a:t>Cipher encrypts one block of plaintext, creating a ciphertext block of same size.</a:t>
            </a:r>
          </a:p>
          <a:p>
            <a:pPr lvl="1"/>
            <a:r>
              <a:rPr lang="en-US" sz="2400" dirty="0"/>
              <a:t>Each character (e.g. bit) contributes to encryption of other characters in the block</a:t>
            </a:r>
          </a:p>
          <a:p>
            <a:endParaRPr lang="en-US" sz="2800" dirty="0"/>
          </a:p>
          <a:p>
            <a:endParaRPr lang="en-US" sz="2800" dirty="0"/>
          </a:p>
        </p:txBody>
      </p:sp>
      <p:pic>
        <p:nvPicPr>
          <p:cNvPr id="6" name="Picture 5">
            <a:extLst>
              <a:ext uri="{FF2B5EF4-FFF2-40B4-BE49-F238E27FC236}">
                <a16:creationId xmlns:a16="http://schemas.microsoft.com/office/drawing/2014/main" id="{B7F28A06-C3DA-82C4-2413-754CF35B764B}"/>
              </a:ext>
            </a:extLst>
          </p:cNvPr>
          <p:cNvPicPr>
            <a:picLocks noChangeAspect="1"/>
          </p:cNvPicPr>
          <p:nvPr/>
        </p:nvPicPr>
        <p:blipFill>
          <a:blip r:embed="rId2">
            <a:extLst>
              <a:ext uri="{28A0092B-C50C-407E-A947-70E740481C1C}">
                <a14:useLocalDpi xmlns:a14="http://schemas.microsoft.com/office/drawing/2010/main" val="0"/>
              </a:ext>
            </a:extLst>
          </a:blip>
          <a:srcRect l="63974"/>
          <a:stretch/>
        </p:blipFill>
        <p:spPr>
          <a:xfrm>
            <a:off x="6829300" y="4220790"/>
            <a:ext cx="1703140" cy="2016522"/>
          </a:xfrm>
          <a:prstGeom prst="rect">
            <a:avLst/>
          </a:prstGeom>
        </p:spPr>
      </p:pic>
      <p:sp>
        <p:nvSpPr>
          <p:cNvPr id="5" name="TextBox 4">
            <a:extLst>
              <a:ext uri="{FF2B5EF4-FFF2-40B4-BE49-F238E27FC236}">
                <a16:creationId xmlns:a16="http://schemas.microsoft.com/office/drawing/2014/main" id="{3C7F1F48-9E9B-B5DC-2DDF-5F44D1CDD358}"/>
              </a:ext>
            </a:extLst>
          </p:cNvPr>
          <p:cNvSpPr txBox="1"/>
          <p:nvPr/>
        </p:nvSpPr>
        <p:spPr>
          <a:xfrm>
            <a:off x="6588224" y="6496188"/>
            <a:ext cx="2448272" cy="215444"/>
          </a:xfrm>
          <a:prstGeom prst="rect">
            <a:avLst/>
          </a:prstGeom>
          <a:noFill/>
        </p:spPr>
        <p:txBody>
          <a:bodyPr wrap="square">
            <a:spAutoFit/>
          </a:bodyPr>
          <a:lstStyle/>
          <a:p>
            <a:r>
              <a:rPr lang="en-US" sz="800" dirty="0"/>
              <a:t>https://ieeexplore.ieee.org/document/9093670/</a:t>
            </a:r>
          </a:p>
        </p:txBody>
      </p:sp>
    </p:spTree>
    <p:extLst>
      <p:ext uri="{BB962C8B-B14F-4D97-AF65-F5344CB8AC3E}">
        <p14:creationId xmlns:p14="http://schemas.microsoft.com/office/powerpoint/2010/main" val="2239248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AB39-F0D2-607B-6B9F-CF75B23130C9}"/>
              </a:ext>
            </a:extLst>
          </p:cNvPr>
          <p:cNvSpPr>
            <a:spLocks noGrp="1"/>
          </p:cNvSpPr>
          <p:nvPr>
            <p:ph type="title"/>
          </p:nvPr>
        </p:nvSpPr>
        <p:spPr/>
        <p:txBody>
          <a:bodyPr/>
          <a:lstStyle/>
          <a:p>
            <a:r>
              <a:rPr lang="en-US" dirty="0"/>
              <a:t>Block &amp; Stream ciphers</a:t>
            </a:r>
          </a:p>
        </p:txBody>
      </p:sp>
      <p:sp>
        <p:nvSpPr>
          <p:cNvPr id="3" name="Content Placeholder 2">
            <a:extLst>
              <a:ext uri="{FF2B5EF4-FFF2-40B4-BE49-F238E27FC236}">
                <a16:creationId xmlns:a16="http://schemas.microsoft.com/office/drawing/2014/main" id="{9D1E79F4-9A1A-730A-758D-C1772AD40CD6}"/>
              </a:ext>
            </a:extLst>
          </p:cNvPr>
          <p:cNvSpPr>
            <a:spLocks noGrp="1"/>
          </p:cNvSpPr>
          <p:nvPr>
            <p:ph sz="quarter" idx="11"/>
          </p:nvPr>
        </p:nvSpPr>
        <p:spPr/>
        <p:txBody>
          <a:bodyPr/>
          <a:lstStyle/>
          <a:p>
            <a:r>
              <a:rPr lang="en-US" sz="2800" dirty="0"/>
              <a:t>In </a:t>
            </a:r>
            <a:r>
              <a:rPr lang="en-US" sz="2800" b="1" dirty="0"/>
              <a:t>stream ciphers</a:t>
            </a:r>
            <a:r>
              <a:rPr lang="en-US" sz="2800" dirty="0"/>
              <a:t>, encryption is done on much smaller unit (bit, byte etc.)</a:t>
            </a:r>
          </a:p>
          <a:p>
            <a:pPr lvl="1"/>
            <a:r>
              <a:rPr lang="en-US" sz="2400" dirty="0"/>
              <a:t>Units in plaintext are fed into encryption algorithm as a stream (one at a time), ciphertext is similarly outputted as a stream.</a:t>
            </a:r>
          </a:p>
          <a:p>
            <a:pPr lvl="1"/>
            <a:r>
              <a:rPr lang="en-US" sz="2400" dirty="0"/>
              <a:t>They are more suitable when data is a continuous stream</a:t>
            </a:r>
          </a:p>
        </p:txBody>
      </p:sp>
      <p:pic>
        <p:nvPicPr>
          <p:cNvPr id="5" name="Picture 4">
            <a:extLst>
              <a:ext uri="{FF2B5EF4-FFF2-40B4-BE49-F238E27FC236}">
                <a16:creationId xmlns:a16="http://schemas.microsoft.com/office/drawing/2014/main" id="{4E46C7E0-6E2B-E31B-613E-ACE5FA3943FF}"/>
              </a:ext>
            </a:extLst>
          </p:cNvPr>
          <p:cNvPicPr>
            <a:picLocks noChangeAspect="1"/>
          </p:cNvPicPr>
          <p:nvPr/>
        </p:nvPicPr>
        <p:blipFill>
          <a:blip r:embed="rId2">
            <a:extLst>
              <a:ext uri="{28A0092B-C50C-407E-A947-70E740481C1C}">
                <a14:useLocalDpi xmlns:a14="http://schemas.microsoft.com/office/drawing/2010/main" val="0"/>
              </a:ext>
            </a:extLst>
          </a:blip>
          <a:srcRect r="54945"/>
          <a:stretch/>
        </p:blipFill>
        <p:spPr>
          <a:xfrm>
            <a:off x="6660232" y="4508822"/>
            <a:ext cx="2129966" cy="2016522"/>
          </a:xfrm>
          <a:prstGeom prst="rect">
            <a:avLst/>
          </a:prstGeom>
        </p:spPr>
      </p:pic>
      <p:sp>
        <p:nvSpPr>
          <p:cNvPr id="7" name="TextBox 6">
            <a:extLst>
              <a:ext uri="{FF2B5EF4-FFF2-40B4-BE49-F238E27FC236}">
                <a16:creationId xmlns:a16="http://schemas.microsoft.com/office/drawing/2014/main" id="{1668FA43-9162-BFC4-68DC-DC7C8E66B11F}"/>
              </a:ext>
            </a:extLst>
          </p:cNvPr>
          <p:cNvSpPr txBox="1"/>
          <p:nvPr/>
        </p:nvSpPr>
        <p:spPr>
          <a:xfrm>
            <a:off x="6588224" y="6496188"/>
            <a:ext cx="2448272" cy="215444"/>
          </a:xfrm>
          <a:prstGeom prst="rect">
            <a:avLst/>
          </a:prstGeom>
          <a:noFill/>
        </p:spPr>
        <p:txBody>
          <a:bodyPr wrap="square">
            <a:spAutoFit/>
          </a:bodyPr>
          <a:lstStyle/>
          <a:p>
            <a:r>
              <a:rPr lang="en-US" sz="800" dirty="0"/>
              <a:t>https://ieeexplore.ieee.org/document/9093670/</a:t>
            </a:r>
          </a:p>
        </p:txBody>
      </p:sp>
      <p:sp>
        <p:nvSpPr>
          <p:cNvPr id="9" name="TextBox 8">
            <a:extLst>
              <a:ext uri="{FF2B5EF4-FFF2-40B4-BE49-F238E27FC236}">
                <a16:creationId xmlns:a16="http://schemas.microsoft.com/office/drawing/2014/main" id="{1E38FD78-4C11-1CD7-9783-FCF99D1B45D9}"/>
              </a:ext>
            </a:extLst>
          </p:cNvPr>
          <p:cNvSpPr txBox="1"/>
          <p:nvPr/>
        </p:nvSpPr>
        <p:spPr>
          <a:xfrm>
            <a:off x="317264" y="4916918"/>
            <a:ext cx="6099634" cy="1200329"/>
          </a:xfrm>
          <a:prstGeom prst="rect">
            <a:avLst/>
          </a:prstGeom>
          <a:noFill/>
        </p:spPr>
        <p:txBody>
          <a:bodyPr wrap="square">
            <a:spAutoFit/>
          </a:bodyPr>
          <a:lstStyle/>
          <a:p>
            <a:pPr marL="0" lvl="1" latinLnBrk="0"/>
            <a:r>
              <a:rPr lang="en-US" sz="2400" dirty="0"/>
              <a:t>Stream ciphers </a:t>
            </a:r>
            <a:r>
              <a:rPr lang="en-US" sz="2400" i="1" dirty="0"/>
              <a:t>do not provide</a:t>
            </a:r>
            <a:r>
              <a:rPr lang="en-US" sz="2400" dirty="0"/>
              <a:t> diffusion, since there is a one-to-one mapping between units in plaintext and ciphertext.</a:t>
            </a:r>
          </a:p>
        </p:txBody>
      </p:sp>
    </p:spTree>
    <p:extLst>
      <p:ext uri="{BB962C8B-B14F-4D97-AF65-F5344CB8AC3E}">
        <p14:creationId xmlns:p14="http://schemas.microsoft.com/office/powerpoint/2010/main" val="236339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C4810-5A5A-6BD5-D0BC-1359901F86A7}"/>
              </a:ext>
            </a:extLst>
          </p:cNvPr>
          <p:cNvSpPr>
            <a:spLocks noGrp="1"/>
          </p:cNvSpPr>
          <p:nvPr>
            <p:ph type="title"/>
          </p:nvPr>
        </p:nvSpPr>
        <p:spPr/>
        <p:txBody>
          <a:bodyPr/>
          <a:lstStyle/>
          <a:p>
            <a:r>
              <a:rPr lang="en-US" dirty="0"/>
              <a:t>Block &amp; Stream ciphers</a:t>
            </a:r>
          </a:p>
        </p:txBody>
      </p:sp>
      <p:pic>
        <p:nvPicPr>
          <p:cNvPr id="6" name="Content Placeholder 5">
            <a:extLst>
              <a:ext uri="{FF2B5EF4-FFF2-40B4-BE49-F238E27FC236}">
                <a16:creationId xmlns:a16="http://schemas.microsoft.com/office/drawing/2014/main" id="{D13A03C4-9FFC-94A8-B272-F4E0D86C65D8}"/>
              </a:ext>
            </a:extLst>
          </p:cNvPr>
          <p:cNvPicPr>
            <a:picLocks noGrp="1" noChangeAspect="1"/>
          </p:cNvPicPr>
          <p:nvPr>
            <p:ph sz="quarter" idx="11"/>
          </p:nvPr>
        </p:nvPicPr>
        <p:blipFill>
          <a:blip r:embed="rId2" cstate="print">
            <a:extLst>
              <a:ext uri="{28A0092B-C50C-407E-A947-70E740481C1C}">
                <a14:useLocalDpi xmlns:a14="http://schemas.microsoft.com/office/drawing/2010/main" val="0"/>
              </a:ext>
            </a:extLst>
          </a:blip>
          <a:stretch>
            <a:fillRect/>
          </a:stretch>
        </p:blipFill>
        <p:spPr>
          <a:xfrm>
            <a:off x="652180" y="2924944"/>
            <a:ext cx="8514500" cy="2952328"/>
          </a:xfrm>
        </p:spPr>
      </p:pic>
      <p:sp>
        <p:nvSpPr>
          <p:cNvPr id="7" name="TextBox 6">
            <a:extLst>
              <a:ext uri="{FF2B5EF4-FFF2-40B4-BE49-F238E27FC236}">
                <a16:creationId xmlns:a16="http://schemas.microsoft.com/office/drawing/2014/main" id="{F088FB29-50AF-ABEF-FB62-15CD58762DC6}"/>
              </a:ext>
            </a:extLst>
          </p:cNvPr>
          <p:cNvSpPr txBox="1"/>
          <p:nvPr/>
        </p:nvSpPr>
        <p:spPr>
          <a:xfrm>
            <a:off x="621604" y="1700808"/>
            <a:ext cx="6254651" cy="523220"/>
          </a:xfrm>
          <a:prstGeom prst="rect">
            <a:avLst/>
          </a:prstGeom>
          <a:noFill/>
        </p:spPr>
        <p:txBody>
          <a:bodyPr wrap="square">
            <a:spAutoFit/>
          </a:bodyPr>
          <a:lstStyle/>
          <a:p>
            <a:r>
              <a:rPr lang="en-US" sz="2800" dirty="0"/>
              <a:t>Stream ciphers high level structure</a:t>
            </a:r>
          </a:p>
        </p:txBody>
      </p:sp>
      <p:sp>
        <p:nvSpPr>
          <p:cNvPr id="8" name="TextBox 7">
            <a:extLst>
              <a:ext uri="{FF2B5EF4-FFF2-40B4-BE49-F238E27FC236}">
                <a16:creationId xmlns:a16="http://schemas.microsoft.com/office/drawing/2014/main" id="{823BEAA9-AF4E-95F2-57CD-C2A73983F253}"/>
              </a:ext>
            </a:extLst>
          </p:cNvPr>
          <p:cNvSpPr txBox="1"/>
          <p:nvPr/>
        </p:nvSpPr>
        <p:spPr>
          <a:xfrm>
            <a:off x="4572000" y="6093296"/>
            <a:ext cx="1296144" cy="338554"/>
          </a:xfrm>
          <a:prstGeom prst="rect">
            <a:avLst/>
          </a:prstGeom>
          <a:solidFill>
            <a:schemeClr val="accent3">
              <a:lumMod val="20000"/>
              <a:lumOff val="80000"/>
            </a:schemeClr>
          </a:solidFill>
        </p:spPr>
        <p:txBody>
          <a:bodyPr wrap="square" rtlCol="0">
            <a:spAutoFit/>
          </a:bodyPr>
          <a:lstStyle/>
          <a:p>
            <a:pPr algn="ctr" latinLnBrk="0"/>
            <a:r>
              <a:rPr lang="en-US" sz="1600" dirty="0"/>
              <a:t>Bitwise XOR</a:t>
            </a:r>
          </a:p>
        </p:txBody>
      </p:sp>
      <p:cxnSp>
        <p:nvCxnSpPr>
          <p:cNvPr id="9" name="Straight Connector 8">
            <a:extLst>
              <a:ext uri="{FF2B5EF4-FFF2-40B4-BE49-F238E27FC236}">
                <a16:creationId xmlns:a16="http://schemas.microsoft.com/office/drawing/2014/main" id="{E5B40359-E60F-A6CC-73DA-336FB540005A}"/>
              </a:ext>
            </a:extLst>
          </p:cNvPr>
          <p:cNvCxnSpPr>
            <a:cxnSpLocks/>
          </p:cNvCxnSpPr>
          <p:nvPr/>
        </p:nvCxnSpPr>
        <p:spPr>
          <a:xfrm flipH="1" flipV="1">
            <a:off x="3203848" y="5229200"/>
            <a:ext cx="1728192" cy="792088"/>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796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354B3-2DE5-DF22-0E7C-F82DC60134AC}"/>
              </a:ext>
            </a:extLst>
          </p:cNvPr>
          <p:cNvSpPr>
            <a:spLocks noGrp="1"/>
          </p:cNvSpPr>
          <p:nvPr>
            <p:ph type="title"/>
          </p:nvPr>
        </p:nvSpPr>
        <p:spPr/>
        <p:txBody>
          <a:bodyPr/>
          <a:lstStyle/>
          <a:p>
            <a:r>
              <a:rPr lang="en-US" sz="3600" dirty="0"/>
              <a:t>XOR operation: extremely useful</a:t>
            </a:r>
            <a:br>
              <a:rPr lang="en-US" sz="3600" dirty="0"/>
            </a:br>
            <a:r>
              <a:rPr lang="en-US" sz="3600" dirty="0"/>
              <a:t>in crypto</a:t>
            </a:r>
            <a:endParaRPr lang="en-AU" sz="3600" dirty="0"/>
          </a:p>
        </p:txBody>
      </p:sp>
      <p:sp>
        <p:nvSpPr>
          <p:cNvPr id="3" name="Content Placeholder 2">
            <a:extLst>
              <a:ext uri="{FF2B5EF4-FFF2-40B4-BE49-F238E27FC236}">
                <a16:creationId xmlns:a16="http://schemas.microsoft.com/office/drawing/2014/main" id="{49F3A582-7B01-88ED-D57B-DAB638D0BFED}"/>
              </a:ext>
            </a:extLst>
          </p:cNvPr>
          <p:cNvSpPr>
            <a:spLocks noGrp="1"/>
          </p:cNvSpPr>
          <p:nvPr>
            <p:ph sz="quarter" idx="11"/>
          </p:nvPr>
        </p:nvSpPr>
        <p:spPr>
          <a:xfrm>
            <a:off x="457200" y="3933056"/>
            <a:ext cx="8229600" cy="1728192"/>
          </a:xfrm>
        </p:spPr>
        <p:txBody>
          <a:bodyPr/>
          <a:lstStyle/>
          <a:p>
            <a:r>
              <a:rPr lang="en-US" sz="2000" dirty="0"/>
              <a:t>Primary reason: It does not reveal any information about plaintext (both 0 and 1 are equally likely).</a:t>
            </a:r>
          </a:p>
          <a:p>
            <a:r>
              <a:rPr lang="en-US" sz="2000" dirty="0"/>
              <a:t>Secondary advantage: Both encryption and decryption can be done the same way, by adding the key. XOR is a self-inverse function!</a:t>
            </a:r>
            <a:endParaRPr lang="en-AU" sz="2000" dirty="0"/>
          </a:p>
        </p:txBody>
      </p:sp>
      <p:graphicFrame>
        <p:nvGraphicFramePr>
          <p:cNvPr id="5" name="Table 5">
            <a:extLst>
              <a:ext uri="{FF2B5EF4-FFF2-40B4-BE49-F238E27FC236}">
                <a16:creationId xmlns:a16="http://schemas.microsoft.com/office/drawing/2014/main" id="{BAC885D5-D639-8DB1-ED83-E1CE4D371DDC}"/>
              </a:ext>
            </a:extLst>
          </p:cNvPr>
          <p:cNvGraphicFramePr>
            <a:graphicFrameLocks noGrp="1"/>
          </p:cNvGraphicFramePr>
          <p:nvPr>
            <p:extLst>
              <p:ext uri="{D42A27DB-BD31-4B8C-83A1-F6EECF244321}">
                <p14:modId xmlns:p14="http://schemas.microsoft.com/office/powerpoint/2010/main" val="1641684535"/>
              </p:ext>
            </p:extLst>
          </p:nvPr>
        </p:nvGraphicFramePr>
        <p:xfrm>
          <a:off x="899593" y="1700808"/>
          <a:ext cx="1368153" cy="1483360"/>
        </p:xfrm>
        <a:graphic>
          <a:graphicData uri="http://schemas.openxmlformats.org/drawingml/2006/table">
            <a:tbl>
              <a:tblPr bandRow="1">
                <a:tableStyleId>{16D9F66E-5EB9-4882-86FB-DCBF35E3C3E4}</a:tableStyleId>
              </a:tblPr>
              <a:tblGrid>
                <a:gridCol w="456051">
                  <a:extLst>
                    <a:ext uri="{9D8B030D-6E8A-4147-A177-3AD203B41FA5}">
                      <a16:colId xmlns:a16="http://schemas.microsoft.com/office/drawing/2014/main" val="2413601550"/>
                    </a:ext>
                  </a:extLst>
                </a:gridCol>
                <a:gridCol w="456051">
                  <a:extLst>
                    <a:ext uri="{9D8B030D-6E8A-4147-A177-3AD203B41FA5}">
                      <a16:colId xmlns:a16="http://schemas.microsoft.com/office/drawing/2014/main" val="3283732153"/>
                    </a:ext>
                  </a:extLst>
                </a:gridCol>
                <a:gridCol w="456051">
                  <a:extLst>
                    <a:ext uri="{9D8B030D-6E8A-4147-A177-3AD203B41FA5}">
                      <a16:colId xmlns:a16="http://schemas.microsoft.com/office/drawing/2014/main" val="2935516360"/>
                    </a:ext>
                  </a:extLst>
                </a:gridCol>
              </a:tblGrid>
              <a:tr h="370840">
                <a:tc>
                  <a:txBody>
                    <a:bodyPr/>
                    <a:lstStyle/>
                    <a:p>
                      <a:pPr algn="ctr"/>
                      <a:r>
                        <a:rPr lang="en-US" dirty="0"/>
                        <a:t>0</a:t>
                      </a:r>
                      <a:endParaRPr lang="en-AU" dirty="0"/>
                    </a:p>
                  </a:txBody>
                  <a:tcPr/>
                </a:tc>
                <a:tc>
                  <a:txBody>
                    <a:bodyPr/>
                    <a:lstStyle/>
                    <a:p>
                      <a:pPr algn="ctr"/>
                      <a:r>
                        <a:rPr lang="en-US" dirty="0"/>
                        <a:t>0</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0</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0010157"/>
                  </a:ext>
                </a:extLst>
              </a:tr>
              <a:tr h="370840">
                <a:tc>
                  <a:txBody>
                    <a:bodyPr/>
                    <a:lstStyle/>
                    <a:p>
                      <a:pPr algn="ctr"/>
                      <a:r>
                        <a:rPr lang="en-US" dirty="0"/>
                        <a:t>0</a:t>
                      </a:r>
                      <a:endParaRPr lang="en-AU" dirty="0"/>
                    </a:p>
                  </a:txBody>
                  <a:tcPr/>
                </a:tc>
                <a:tc>
                  <a:txBody>
                    <a:bodyPr/>
                    <a:lstStyle/>
                    <a:p>
                      <a:pPr algn="ctr"/>
                      <a:r>
                        <a:rPr lang="en-US" dirty="0"/>
                        <a:t>1</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4291020"/>
                  </a:ext>
                </a:extLst>
              </a:tr>
              <a:tr h="370840">
                <a:tc>
                  <a:txBody>
                    <a:bodyPr/>
                    <a:lstStyle/>
                    <a:p>
                      <a:pPr algn="ctr"/>
                      <a:r>
                        <a:rPr lang="en-US" dirty="0"/>
                        <a:t>1</a:t>
                      </a:r>
                      <a:endParaRPr lang="en-AU" dirty="0"/>
                    </a:p>
                  </a:txBody>
                  <a:tcPr/>
                </a:tc>
                <a:tc>
                  <a:txBody>
                    <a:bodyPr/>
                    <a:lstStyle/>
                    <a:p>
                      <a:pPr algn="ctr"/>
                      <a:r>
                        <a:rPr lang="en-US" dirty="0"/>
                        <a:t>0</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7857246"/>
                  </a:ext>
                </a:extLst>
              </a:tr>
              <a:tr h="370840">
                <a:tc>
                  <a:txBody>
                    <a:bodyPr/>
                    <a:lstStyle/>
                    <a:p>
                      <a:pPr algn="ctr"/>
                      <a:r>
                        <a:rPr lang="en-US" dirty="0"/>
                        <a:t>1</a:t>
                      </a:r>
                      <a:endParaRPr lang="en-AU" dirty="0"/>
                    </a:p>
                  </a:txBody>
                  <a:tcPr/>
                </a:tc>
                <a:tc>
                  <a:txBody>
                    <a:bodyPr/>
                    <a:lstStyle/>
                    <a:p>
                      <a:pPr algn="ctr"/>
                      <a:r>
                        <a:rPr lang="en-US" dirty="0"/>
                        <a:t>1</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0</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1445927"/>
                  </a:ext>
                </a:extLst>
              </a:tr>
            </a:tbl>
          </a:graphicData>
        </a:graphic>
      </p:graphicFrame>
      <p:sp>
        <p:nvSpPr>
          <p:cNvPr id="8" name="TextBox 7">
            <a:extLst>
              <a:ext uri="{FF2B5EF4-FFF2-40B4-BE49-F238E27FC236}">
                <a16:creationId xmlns:a16="http://schemas.microsoft.com/office/drawing/2014/main" id="{67ED2BBB-7D90-418A-F924-C50D67BA8C0F}"/>
              </a:ext>
            </a:extLst>
          </p:cNvPr>
          <p:cNvSpPr txBox="1"/>
          <p:nvPr/>
        </p:nvSpPr>
        <p:spPr>
          <a:xfrm>
            <a:off x="1263517" y="1297965"/>
            <a:ext cx="640303" cy="369332"/>
          </a:xfrm>
          <a:prstGeom prst="rect">
            <a:avLst/>
          </a:prstGeom>
          <a:noFill/>
        </p:spPr>
        <p:txBody>
          <a:bodyPr wrap="none" rtlCol="0">
            <a:spAutoFit/>
          </a:bodyPr>
          <a:lstStyle/>
          <a:p>
            <a:r>
              <a:rPr lang="en-US" dirty="0"/>
              <a:t>XOR</a:t>
            </a:r>
            <a:endParaRPr lang="en-AU" dirty="0"/>
          </a:p>
        </p:txBody>
      </p:sp>
      <p:graphicFrame>
        <p:nvGraphicFramePr>
          <p:cNvPr id="9" name="Table 5">
            <a:extLst>
              <a:ext uri="{FF2B5EF4-FFF2-40B4-BE49-F238E27FC236}">
                <a16:creationId xmlns:a16="http://schemas.microsoft.com/office/drawing/2014/main" id="{0F89DF21-7891-E582-9AC5-8E5B251EEADB}"/>
              </a:ext>
            </a:extLst>
          </p:cNvPr>
          <p:cNvGraphicFramePr>
            <a:graphicFrameLocks noGrp="1"/>
          </p:cNvGraphicFramePr>
          <p:nvPr>
            <p:extLst>
              <p:ext uri="{D42A27DB-BD31-4B8C-83A1-F6EECF244321}">
                <p14:modId xmlns:p14="http://schemas.microsoft.com/office/powerpoint/2010/main" val="329784174"/>
              </p:ext>
            </p:extLst>
          </p:nvPr>
        </p:nvGraphicFramePr>
        <p:xfrm>
          <a:off x="3293603" y="1709589"/>
          <a:ext cx="1368153" cy="1483360"/>
        </p:xfrm>
        <a:graphic>
          <a:graphicData uri="http://schemas.openxmlformats.org/drawingml/2006/table">
            <a:tbl>
              <a:tblPr bandRow="1">
                <a:tableStyleId>{16D9F66E-5EB9-4882-86FB-DCBF35E3C3E4}</a:tableStyleId>
              </a:tblPr>
              <a:tblGrid>
                <a:gridCol w="456051">
                  <a:extLst>
                    <a:ext uri="{9D8B030D-6E8A-4147-A177-3AD203B41FA5}">
                      <a16:colId xmlns:a16="http://schemas.microsoft.com/office/drawing/2014/main" val="2413601550"/>
                    </a:ext>
                  </a:extLst>
                </a:gridCol>
                <a:gridCol w="456051">
                  <a:extLst>
                    <a:ext uri="{9D8B030D-6E8A-4147-A177-3AD203B41FA5}">
                      <a16:colId xmlns:a16="http://schemas.microsoft.com/office/drawing/2014/main" val="3283732153"/>
                    </a:ext>
                  </a:extLst>
                </a:gridCol>
                <a:gridCol w="456051">
                  <a:extLst>
                    <a:ext uri="{9D8B030D-6E8A-4147-A177-3AD203B41FA5}">
                      <a16:colId xmlns:a16="http://schemas.microsoft.com/office/drawing/2014/main" val="2935516360"/>
                    </a:ext>
                  </a:extLst>
                </a:gridCol>
              </a:tblGrid>
              <a:tr h="370840">
                <a:tc>
                  <a:txBody>
                    <a:bodyPr/>
                    <a:lstStyle/>
                    <a:p>
                      <a:pPr algn="ctr"/>
                      <a:r>
                        <a:rPr lang="en-US" dirty="0"/>
                        <a:t>0</a:t>
                      </a:r>
                      <a:endParaRPr lang="en-AU" dirty="0"/>
                    </a:p>
                  </a:txBody>
                  <a:tcPr/>
                </a:tc>
                <a:tc>
                  <a:txBody>
                    <a:bodyPr/>
                    <a:lstStyle/>
                    <a:p>
                      <a:pPr algn="ctr"/>
                      <a:r>
                        <a:rPr lang="en-US" dirty="0"/>
                        <a:t>0</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0</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0010157"/>
                  </a:ext>
                </a:extLst>
              </a:tr>
              <a:tr h="370840">
                <a:tc>
                  <a:txBody>
                    <a:bodyPr/>
                    <a:lstStyle/>
                    <a:p>
                      <a:pPr algn="ctr"/>
                      <a:r>
                        <a:rPr lang="en-US" dirty="0"/>
                        <a:t>0</a:t>
                      </a:r>
                      <a:endParaRPr lang="en-AU" dirty="0"/>
                    </a:p>
                  </a:txBody>
                  <a:tcPr/>
                </a:tc>
                <a:tc>
                  <a:txBody>
                    <a:bodyPr/>
                    <a:lstStyle/>
                    <a:p>
                      <a:pPr algn="ctr"/>
                      <a:r>
                        <a:rPr lang="en-US" dirty="0"/>
                        <a:t>1</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0</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4291020"/>
                  </a:ext>
                </a:extLst>
              </a:tr>
              <a:tr h="370840">
                <a:tc>
                  <a:txBody>
                    <a:bodyPr/>
                    <a:lstStyle/>
                    <a:p>
                      <a:pPr algn="ctr"/>
                      <a:r>
                        <a:rPr lang="en-US" dirty="0"/>
                        <a:t>1</a:t>
                      </a:r>
                      <a:endParaRPr lang="en-AU" dirty="0"/>
                    </a:p>
                  </a:txBody>
                  <a:tcPr/>
                </a:tc>
                <a:tc>
                  <a:txBody>
                    <a:bodyPr/>
                    <a:lstStyle/>
                    <a:p>
                      <a:pPr algn="ctr"/>
                      <a:r>
                        <a:rPr lang="en-US" dirty="0"/>
                        <a:t>0</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0</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7857246"/>
                  </a:ext>
                </a:extLst>
              </a:tr>
              <a:tr h="370840">
                <a:tc>
                  <a:txBody>
                    <a:bodyPr/>
                    <a:lstStyle/>
                    <a:p>
                      <a:pPr algn="ctr"/>
                      <a:r>
                        <a:rPr lang="en-US" dirty="0"/>
                        <a:t>1</a:t>
                      </a:r>
                      <a:endParaRPr lang="en-AU" dirty="0"/>
                    </a:p>
                  </a:txBody>
                  <a:tcPr/>
                </a:tc>
                <a:tc>
                  <a:txBody>
                    <a:bodyPr/>
                    <a:lstStyle/>
                    <a:p>
                      <a:pPr algn="ctr"/>
                      <a:r>
                        <a:rPr lang="en-US" dirty="0"/>
                        <a:t>1</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1445927"/>
                  </a:ext>
                </a:extLst>
              </a:tr>
            </a:tbl>
          </a:graphicData>
        </a:graphic>
      </p:graphicFrame>
      <p:graphicFrame>
        <p:nvGraphicFramePr>
          <p:cNvPr id="10" name="Table 5">
            <a:extLst>
              <a:ext uri="{FF2B5EF4-FFF2-40B4-BE49-F238E27FC236}">
                <a16:creationId xmlns:a16="http://schemas.microsoft.com/office/drawing/2014/main" id="{228867C4-9B13-A82B-DB70-AF6F04FF5359}"/>
              </a:ext>
            </a:extLst>
          </p:cNvPr>
          <p:cNvGraphicFramePr>
            <a:graphicFrameLocks noGrp="1"/>
          </p:cNvGraphicFramePr>
          <p:nvPr>
            <p:extLst>
              <p:ext uri="{D42A27DB-BD31-4B8C-83A1-F6EECF244321}">
                <p14:modId xmlns:p14="http://schemas.microsoft.com/office/powerpoint/2010/main" val="917378171"/>
              </p:ext>
            </p:extLst>
          </p:nvPr>
        </p:nvGraphicFramePr>
        <p:xfrm>
          <a:off x="5940152" y="1728719"/>
          <a:ext cx="1368153" cy="1483360"/>
        </p:xfrm>
        <a:graphic>
          <a:graphicData uri="http://schemas.openxmlformats.org/drawingml/2006/table">
            <a:tbl>
              <a:tblPr bandRow="1">
                <a:tableStyleId>{16D9F66E-5EB9-4882-86FB-DCBF35E3C3E4}</a:tableStyleId>
              </a:tblPr>
              <a:tblGrid>
                <a:gridCol w="456051">
                  <a:extLst>
                    <a:ext uri="{9D8B030D-6E8A-4147-A177-3AD203B41FA5}">
                      <a16:colId xmlns:a16="http://schemas.microsoft.com/office/drawing/2014/main" val="2413601550"/>
                    </a:ext>
                  </a:extLst>
                </a:gridCol>
                <a:gridCol w="456051">
                  <a:extLst>
                    <a:ext uri="{9D8B030D-6E8A-4147-A177-3AD203B41FA5}">
                      <a16:colId xmlns:a16="http://schemas.microsoft.com/office/drawing/2014/main" val="3283732153"/>
                    </a:ext>
                  </a:extLst>
                </a:gridCol>
                <a:gridCol w="456051">
                  <a:extLst>
                    <a:ext uri="{9D8B030D-6E8A-4147-A177-3AD203B41FA5}">
                      <a16:colId xmlns:a16="http://schemas.microsoft.com/office/drawing/2014/main" val="2935516360"/>
                    </a:ext>
                  </a:extLst>
                </a:gridCol>
              </a:tblGrid>
              <a:tr h="370840">
                <a:tc>
                  <a:txBody>
                    <a:bodyPr/>
                    <a:lstStyle/>
                    <a:p>
                      <a:pPr algn="ctr"/>
                      <a:r>
                        <a:rPr lang="en-US" dirty="0"/>
                        <a:t>0</a:t>
                      </a:r>
                      <a:endParaRPr lang="en-AU" dirty="0"/>
                    </a:p>
                  </a:txBody>
                  <a:tcPr/>
                </a:tc>
                <a:tc>
                  <a:txBody>
                    <a:bodyPr/>
                    <a:lstStyle/>
                    <a:p>
                      <a:pPr algn="ctr"/>
                      <a:r>
                        <a:rPr lang="en-US" dirty="0"/>
                        <a:t>0</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0</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0010157"/>
                  </a:ext>
                </a:extLst>
              </a:tr>
              <a:tr h="370840">
                <a:tc>
                  <a:txBody>
                    <a:bodyPr/>
                    <a:lstStyle/>
                    <a:p>
                      <a:pPr algn="ctr"/>
                      <a:r>
                        <a:rPr lang="en-US" dirty="0"/>
                        <a:t>0</a:t>
                      </a:r>
                      <a:endParaRPr lang="en-AU" dirty="0"/>
                    </a:p>
                  </a:txBody>
                  <a:tcPr/>
                </a:tc>
                <a:tc>
                  <a:txBody>
                    <a:bodyPr/>
                    <a:lstStyle/>
                    <a:p>
                      <a:pPr algn="ctr"/>
                      <a:r>
                        <a:rPr lang="en-US" dirty="0"/>
                        <a:t>1</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4291020"/>
                  </a:ext>
                </a:extLst>
              </a:tr>
              <a:tr h="370840">
                <a:tc>
                  <a:txBody>
                    <a:bodyPr/>
                    <a:lstStyle/>
                    <a:p>
                      <a:pPr algn="ctr"/>
                      <a:r>
                        <a:rPr lang="en-US" dirty="0"/>
                        <a:t>1</a:t>
                      </a:r>
                      <a:endParaRPr lang="en-AU" dirty="0"/>
                    </a:p>
                  </a:txBody>
                  <a:tcPr/>
                </a:tc>
                <a:tc>
                  <a:txBody>
                    <a:bodyPr/>
                    <a:lstStyle/>
                    <a:p>
                      <a:pPr algn="ctr"/>
                      <a:r>
                        <a:rPr lang="en-US" dirty="0"/>
                        <a:t>0</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7857246"/>
                  </a:ext>
                </a:extLst>
              </a:tr>
              <a:tr h="370840">
                <a:tc>
                  <a:txBody>
                    <a:bodyPr/>
                    <a:lstStyle/>
                    <a:p>
                      <a:pPr algn="ctr"/>
                      <a:r>
                        <a:rPr lang="en-US" dirty="0"/>
                        <a:t>1</a:t>
                      </a:r>
                      <a:endParaRPr lang="en-AU" dirty="0"/>
                    </a:p>
                  </a:txBody>
                  <a:tcPr/>
                </a:tc>
                <a:tc>
                  <a:txBody>
                    <a:bodyPr/>
                    <a:lstStyle/>
                    <a:p>
                      <a:pPr algn="ctr"/>
                      <a:r>
                        <a:rPr lang="en-US" dirty="0"/>
                        <a:t>1</a:t>
                      </a:r>
                      <a:endParaRPr lang="en-AU"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endParaRPr lang="en-AU"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1445927"/>
                  </a:ext>
                </a:extLst>
              </a:tr>
            </a:tbl>
          </a:graphicData>
        </a:graphic>
      </p:graphicFrame>
      <p:sp>
        <p:nvSpPr>
          <p:cNvPr id="15" name="TextBox 14">
            <a:extLst>
              <a:ext uri="{FF2B5EF4-FFF2-40B4-BE49-F238E27FC236}">
                <a16:creationId xmlns:a16="http://schemas.microsoft.com/office/drawing/2014/main" id="{93A4465C-D4D9-F04C-0593-166F2B5C4BBC}"/>
              </a:ext>
            </a:extLst>
          </p:cNvPr>
          <p:cNvSpPr txBox="1"/>
          <p:nvPr/>
        </p:nvSpPr>
        <p:spPr>
          <a:xfrm>
            <a:off x="4995807" y="3357191"/>
            <a:ext cx="2024465" cy="369332"/>
          </a:xfrm>
          <a:prstGeom prst="rect">
            <a:avLst/>
          </a:prstGeom>
          <a:noFill/>
        </p:spPr>
        <p:txBody>
          <a:bodyPr wrap="none" rtlCol="0">
            <a:spAutoFit/>
          </a:bodyPr>
          <a:lstStyle/>
          <a:p>
            <a:r>
              <a:rPr lang="en-US" dirty="0">
                <a:solidFill>
                  <a:srgbClr val="FF0000"/>
                </a:solidFill>
              </a:rPr>
              <a:t>Information Leak!</a:t>
            </a:r>
            <a:endParaRPr lang="en-AU" dirty="0">
              <a:solidFill>
                <a:srgbClr val="FF0000"/>
              </a:solidFill>
            </a:endParaRPr>
          </a:p>
        </p:txBody>
      </p:sp>
      <p:sp>
        <p:nvSpPr>
          <p:cNvPr id="14" name="Callout: Line 13">
            <a:extLst>
              <a:ext uri="{FF2B5EF4-FFF2-40B4-BE49-F238E27FC236}">
                <a16:creationId xmlns:a16="http://schemas.microsoft.com/office/drawing/2014/main" id="{F0A87040-8AC9-D3D4-3BB8-D485C8603B87}"/>
              </a:ext>
            </a:extLst>
          </p:cNvPr>
          <p:cNvSpPr>
            <a:spLocks/>
          </p:cNvSpPr>
          <p:nvPr/>
        </p:nvSpPr>
        <p:spPr>
          <a:xfrm>
            <a:off x="4283968" y="2852936"/>
            <a:ext cx="432048" cy="297721"/>
          </a:xfrm>
          <a:prstGeom prst="borderCallout1">
            <a:avLst>
              <a:gd name="adj1" fmla="val 48972"/>
              <a:gd name="adj2" fmla="val 101941"/>
              <a:gd name="adj3" fmla="val 185505"/>
              <a:gd name="adj4" fmla="val 17285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Callout: Bent Line 17">
            <a:extLst>
              <a:ext uri="{FF2B5EF4-FFF2-40B4-BE49-F238E27FC236}">
                <a16:creationId xmlns:a16="http://schemas.microsoft.com/office/drawing/2014/main" id="{22A6E774-A185-2DEE-1C24-7947D8929BBB}"/>
              </a:ext>
            </a:extLst>
          </p:cNvPr>
          <p:cNvSpPr/>
          <p:nvPr/>
        </p:nvSpPr>
        <p:spPr>
          <a:xfrm>
            <a:off x="6941759" y="1767226"/>
            <a:ext cx="421661" cy="261818"/>
          </a:xfrm>
          <a:prstGeom prst="borderCallout2">
            <a:avLst>
              <a:gd name="adj1" fmla="val 48790"/>
              <a:gd name="adj2" fmla="val 99871"/>
              <a:gd name="adj3" fmla="val 423184"/>
              <a:gd name="adj4" fmla="val 266338"/>
              <a:gd name="adj5" fmla="val 658921"/>
              <a:gd name="adj6" fmla="val 673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Box 18">
            <a:extLst>
              <a:ext uri="{FF2B5EF4-FFF2-40B4-BE49-F238E27FC236}">
                <a16:creationId xmlns:a16="http://schemas.microsoft.com/office/drawing/2014/main" id="{BE98C7AA-90DC-495B-FFF6-DE2A8C96F9BB}"/>
              </a:ext>
            </a:extLst>
          </p:cNvPr>
          <p:cNvSpPr txBox="1"/>
          <p:nvPr/>
        </p:nvSpPr>
        <p:spPr>
          <a:xfrm>
            <a:off x="3631221" y="1331476"/>
            <a:ext cx="678391" cy="369332"/>
          </a:xfrm>
          <a:prstGeom prst="rect">
            <a:avLst/>
          </a:prstGeom>
          <a:noFill/>
        </p:spPr>
        <p:txBody>
          <a:bodyPr wrap="none" rtlCol="0">
            <a:spAutoFit/>
          </a:bodyPr>
          <a:lstStyle/>
          <a:p>
            <a:r>
              <a:rPr lang="en-US" dirty="0"/>
              <a:t>AND</a:t>
            </a:r>
            <a:endParaRPr lang="en-AU" dirty="0"/>
          </a:p>
        </p:txBody>
      </p:sp>
      <p:sp>
        <p:nvSpPr>
          <p:cNvPr id="20" name="TextBox 19">
            <a:extLst>
              <a:ext uri="{FF2B5EF4-FFF2-40B4-BE49-F238E27FC236}">
                <a16:creationId xmlns:a16="http://schemas.microsoft.com/office/drawing/2014/main" id="{54D126A4-DD8C-329F-1843-2D626B08481A}"/>
              </a:ext>
            </a:extLst>
          </p:cNvPr>
          <p:cNvSpPr txBox="1"/>
          <p:nvPr/>
        </p:nvSpPr>
        <p:spPr>
          <a:xfrm>
            <a:off x="6304076" y="1297965"/>
            <a:ext cx="503664" cy="369332"/>
          </a:xfrm>
          <a:prstGeom prst="rect">
            <a:avLst/>
          </a:prstGeom>
          <a:noFill/>
        </p:spPr>
        <p:txBody>
          <a:bodyPr wrap="none" rtlCol="0">
            <a:spAutoFit/>
          </a:bodyPr>
          <a:lstStyle/>
          <a:p>
            <a:r>
              <a:rPr lang="en-US" dirty="0"/>
              <a:t>OR</a:t>
            </a:r>
            <a:endParaRPr lang="en-AU" dirty="0"/>
          </a:p>
        </p:txBody>
      </p:sp>
      <p:sp>
        <p:nvSpPr>
          <p:cNvPr id="21" name="TextBox 20">
            <a:extLst>
              <a:ext uri="{FF2B5EF4-FFF2-40B4-BE49-F238E27FC236}">
                <a16:creationId xmlns:a16="http://schemas.microsoft.com/office/drawing/2014/main" id="{0A87CCFC-45E1-7E21-00CB-6387178C99D1}"/>
              </a:ext>
            </a:extLst>
          </p:cNvPr>
          <p:cNvSpPr txBox="1"/>
          <p:nvPr/>
        </p:nvSpPr>
        <p:spPr>
          <a:xfrm>
            <a:off x="639950" y="5662989"/>
            <a:ext cx="3338012" cy="646331"/>
          </a:xfrm>
          <a:prstGeom prst="rect">
            <a:avLst/>
          </a:prstGeom>
          <a:noFill/>
        </p:spPr>
        <p:txBody>
          <a:bodyPr wrap="square" rtlCol="0">
            <a:spAutoFit/>
          </a:bodyPr>
          <a:lstStyle/>
          <a:p>
            <a:r>
              <a:rPr lang="en-US" dirty="0"/>
              <a:t> 010010 </a:t>
            </a:r>
            <a:r>
              <a:rPr lang="en-AU" b="0" i="0" dirty="0">
                <a:solidFill>
                  <a:srgbClr val="202124"/>
                </a:solidFill>
                <a:effectLst/>
                <a:latin typeface="arial" panose="020B0604020202020204" pitchFamily="34" charset="0"/>
              </a:rPr>
              <a:t>⊕ </a:t>
            </a:r>
            <a:r>
              <a:rPr lang="en-AU" b="0" i="0" dirty="0">
                <a:solidFill>
                  <a:schemeClr val="accent6">
                    <a:lumMod val="50000"/>
                  </a:schemeClr>
                </a:solidFill>
                <a:effectLst/>
                <a:latin typeface="arial" panose="020B0604020202020204" pitchFamily="34" charset="0"/>
              </a:rPr>
              <a:t>101100</a:t>
            </a:r>
            <a:r>
              <a:rPr lang="en-AU" b="0" i="0" dirty="0">
                <a:solidFill>
                  <a:srgbClr val="202124"/>
                </a:solidFill>
                <a:effectLst/>
                <a:latin typeface="arial" panose="020B0604020202020204" pitchFamily="34" charset="0"/>
              </a:rPr>
              <a:t> = 111110</a:t>
            </a:r>
          </a:p>
          <a:p>
            <a:r>
              <a:rPr lang="en-AU" dirty="0">
                <a:solidFill>
                  <a:srgbClr val="202124"/>
                </a:solidFill>
                <a:latin typeface="arial" panose="020B0604020202020204" pitchFamily="34" charset="0"/>
              </a:rPr>
              <a:t>plaintext        key      ciphertext</a:t>
            </a:r>
            <a:endParaRPr lang="en-AU" dirty="0"/>
          </a:p>
        </p:txBody>
      </p:sp>
      <p:sp>
        <p:nvSpPr>
          <p:cNvPr id="22" name="TextBox 21">
            <a:extLst>
              <a:ext uri="{FF2B5EF4-FFF2-40B4-BE49-F238E27FC236}">
                <a16:creationId xmlns:a16="http://schemas.microsoft.com/office/drawing/2014/main" id="{2DE9BEB6-53C1-3B5E-0816-9F31309D19CF}"/>
              </a:ext>
            </a:extLst>
          </p:cNvPr>
          <p:cNvSpPr txBox="1"/>
          <p:nvPr/>
        </p:nvSpPr>
        <p:spPr>
          <a:xfrm>
            <a:off x="5272753" y="5644639"/>
            <a:ext cx="3338012" cy="646331"/>
          </a:xfrm>
          <a:prstGeom prst="rect">
            <a:avLst/>
          </a:prstGeom>
          <a:noFill/>
        </p:spPr>
        <p:txBody>
          <a:bodyPr wrap="square" rtlCol="0">
            <a:spAutoFit/>
          </a:bodyPr>
          <a:lstStyle/>
          <a:p>
            <a:r>
              <a:rPr lang="en-AU" b="0" i="0" dirty="0">
                <a:solidFill>
                  <a:srgbClr val="202124"/>
                </a:solidFill>
                <a:effectLst/>
                <a:latin typeface="arial" panose="020B0604020202020204" pitchFamily="34" charset="0"/>
              </a:rPr>
              <a:t>   111110</a:t>
            </a:r>
            <a:r>
              <a:rPr lang="en-US" dirty="0"/>
              <a:t> </a:t>
            </a:r>
            <a:r>
              <a:rPr lang="en-AU" b="0" i="0" dirty="0">
                <a:solidFill>
                  <a:srgbClr val="202124"/>
                </a:solidFill>
                <a:effectLst/>
                <a:latin typeface="arial" panose="020B0604020202020204" pitchFamily="34" charset="0"/>
              </a:rPr>
              <a:t>⊕ </a:t>
            </a:r>
            <a:r>
              <a:rPr lang="en-AU" b="0" i="0" dirty="0">
                <a:solidFill>
                  <a:schemeClr val="accent6">
                    <a:lumMod val="50000"/>
                  </a:schemeClr>
                </a:solidFill>
                <a:effectLst/>
                <a:latin typeface="arial" panose="020B0604020202020204" pitchFamily="34" charset="0"/>
              </a:rPr>
              <a:t>101100</a:t>
            </a:r>
            <a:r>
              <a:rPr lang="en-AU" b="0" i="0" dirty="0">
                <a:solidFill>
                  <a:srgbClr val="202124"/>
                </a:solidFill>
                <a:effectLst/>
                <a:latin typeface="arial" panose="020B0604020202020204" pitchFamily="34" charset="0"/>
              </a:rPr>
              <a:t> = </a:t>
            </a:r>
            <a:r>
              <a:rPr lang="en-US" dirty="0"/>
              <a:t>010010</a:t>
            </a:r>
            <a:endParaRPr lang="en-AU" b="0" i="0" dirty="0">
              <a:solidFill>
                <a:srgbClr val="202124"/>
              </a:solidFill>
              <a:effectLst/>
              <a:latin typeface="arial" panose="020B0604020202020204" pitchFamily="34" charset="0"/>
            </a:endParaRPr>
          </a:p>
          <a:p>
            <a:r>
              <a:rPr lang="en-AU" dirty="0">
                <a:solidFill>
                  <a:srgbClr val="202124"/>
                </a:solidFill>
                <a:latin typeface="arial" panose="020B0604020202020204" pitchFamily="34" charset="0"/>
              </a:rPr>
              <a:t>ciphertext        key      plaintext</a:t>
            </a:r>
            <a:endParaRPr lang="en-AU" dirty="0"/>
          </a:p>
        </p:txBody>
      </p:sp>
    </p:spTree>
    <p:extLst>
      <p:ext uri="{BB962C8B-B14F-4D97-AF65-F5344CB8AC3E}">
        <p14:creationId xmlns:p14="http://schemas.microsoft.com/office/powerpoint/2010/main" val="954982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Encryption Algorithms</a:t>
            </a:r>
          </a:p>
        </p:txBody>
      </p:sp>
      <p:sp>
        <p:nvSpPr>
          <p:cNvPr id="3" name="Content Placeholder 2"/>
          <p:cNvSpPr>
            <a:spLocks noGrp="1"/>
          </p:cNvSpPr>
          <p:nvPr>
            <p:ph sz="quarter" idx="11"/>
          </p:nvPr>
        </p:nvSpPr>
        <p:spPr/>
        <p:txBody>
          <a:bodyPr/>
          <a:lstStyle/>
          <a:p>
            <a:pPr marL="0" indent="0">
              <a:buNone/>
            </a:pPr>
            <a:r>
              <a:rPr lang="en-US" dirty="0"/>
              <a:t>Examples</a:t>
            </a:r>
          </a:p>
          <a:p>
            <a:r>
              <a:rPr lang="en-US" dirty="0"/>
              <a:t>Block Ciphers</a:t>
            </a:r>
          </a:p>
          <a:p>
            <a:pPr lvl="1"/>
            <a:r>
              <a:rPr lang="en-US" dirty="0"/>
              <a:t>DES</a:t>
            </a:r>
          </a:p>
          <a:p>
            <a:pPr lvl="1"/>
            <a:r>
              <a:rPr lang="en-US" dirty="0"/>
              <a:t>3DES</a:t>
            </a:r>
          </a:p>
          <a:p>
            <a:pPr lvl="1"/>
            <a:r>
              <a:rPr lang="en-US" dirty="0"/>
              <a:t>AES</a:t>
            </a:r>
          </a:p>
          <a:p>
            <a:pPr lvl="1"/>
            <a:r>
              <a:rPr lang="en-US" dirty="0" err="1"/>
              <a:t>Twofish</a:t>
            </a:r>
            <a:endParaRPr lang="en-US" dirty="0"/>
          </a:p>
          <a:p>
            <a:r>
              <a:rPr lang="en-US" dirty="0"/>
              <a:t>Stream Ciphers</a:t>
            </a:r>
          </a:p>
          <a:p>
            <a:pPr lvl="1"/>
            <a:r>
              <a:rPr lang="en-US" dirty="0"/>
              <a:t>RC4</a:t>
            </a:r>
          </a:p>
          <a:p>
            <a:pPr lvl="1"/>
            <a:r>
              <a:rPr lang="en-US" dirty="0"/>
              <a:t>ChaCha20</a:t>
            </a:r>
          </a:p>
        </p:txBody>
      </p:sp>
    </p:spTree>
    <p:extLst>
      <p:ext uri="{BB962C8B-B14F-4D97-AF65-F5344CB8AC3E}">
        <p14:creationId xmlns:p14="http://schemas.microsoft.com/office/powerpoint/2010/main" val="1608482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 Encryption Standard</a:t>
            </a:r>
            <a:endParaRPr lang="en-US" dirty="0"/>
          </a:p>
        </p:txBody>
      </p:sp>
      <p:sp>
        <p:nvSpPr>
          <p:cNvPr id="3" name="Content Placeholder 2"/>
          <p:cNvSpPr>
            <a:spLocks noGrp="1"/>
          </p:cNvSpPr>
          <p:nvPr>
            <p:ph sz="quarter" idx="11"/>
          </p:nvPr>
        </p:nvSpPr>
        <p:spPr/>
        <p:txBody>
          <a:bodyPr/>
          <a:lstStyle/>
          <a:p>
            <a:r>
              <a:rPr lang="en-US" altLang="en-US" sz="2400" dirty="0"/>
              <a:t>DES was once the most widely used encryption scheme</a:t>
            </a:r>
          </a:p>
          <a:p>
            <a:pPr lvl="1"/>
            <a:r>
              <a:rPr lang="en-US" altLang="en-US" sz="2000" dirty="0"/>
              <a:t>developed in early 1970s at IBM, slightly tweaked by NSA</a:t>
            </a:r>
          </a:p>
          <a:p>
            <a:pPr lvl="1"/>
            <a:r>
              <a:rPr lang="en-US" altLang="en-US" sz="2000" dirty="0"/>
              <a:t>the first modern, public, freely available encryption algorithm</a:t>
            </a:r>
          </a:p>
          <a:p>
            <a:pPr lvl="1"/>
            <a:r>
              <a:rPr lang="en-US" altLang="en-US" sz="2000" dirty="0"/>
              <a:t>Standardized by National Bureau of Standards in 1977</a:t>
            </a:r>
          </a:p>
          <a:p>
            <a:pPr lvl="1"/>
            <a:endParaRPr lang="en-US" altLang="en-US" sz="2000" dirty="0"/>
          </a:p>
          <a:p>
            <a:r>
              <a:rPr lang="en-US" altLang="en-US" sz="2400" dirty="0"/>
              <a:t>Uses 64 bit plaintext block and 56 bit key to produce a 64 bit cipher text block</a:t>
            </a:r>
          </a:p>
          <a:p>
            <a:endParaRPr lang="en-US" altLang="en-US" sz="2400" dirty="0"/>
          </a:p>
          <a:p>
            <a:pPr lvl="1"/>
            <a:endParaRPr lang="en-US" altLang="en-US" sz="1200" dirty="0"/>
          </a:p>
          <a:p>
            <a:endParaRPr lang="en-US" sz="2400" dirty="0"/>
          </a:p>
        </p:txBody>
      </p:sp>
    </p:spTree>
    <p:extLst>
      <p:ext uri="{BB962C8B-B14F-4D97-AF65-F5344CB8AC3E}">
        <p14:creationId xmlns:p14="http://schemas.microsoft.com/office/powerpoint/2010/main" val="2596822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Algorithm</a:t>
            </a:r>
          </a:p>
        </p:txBody>
      </p:sp>
      <p:pic>
        <p:nvPicPr>
          <p:cNvPr id="4" name="Content Placeholder 3"/>
          <p:cNvPicPr>
            <a:picLocks noGrp="1" noChangeAspect="1"/>
          </p:cNvPicPr>
          <p:nvPr>
            <p:ph sz="quarter" idx="11"/>
          </p:nvPr>
        </p:nvPicPr>
        <p:blipFill>
          <a:blip r:embed="rId2"/>
          <a:stretch>
            <a:fillRect/>
          </a:stretch>
        </p:blipFill>
        <p:spPr>
          <a:xfrm>
            <a:off x="1365727" y="1268760"/>
            <a:ext cx="6412546" cy="5256584"/>
          </a:xfrm>
          <a:prstGeom prst="rect">
            <a:avLst/>
          </a:prstGeom>
        </p:spPr>
      </p:pic>
    </p:spTree>
    <p:extLst>
      <p:ext uri="{BB962C8B-B14F-4D97-AF65-F5344CB8AC3E}">
        <p14:creationId xmlns:p14="http://schemas.microsoft.com/office/powerpoint/2010/main" val="1428603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Algorithm</a:t>
            </a:r>
          </a:p>
        </p:txBody>
      </p:sp>
      <p:sp>
        <p:nvSpPr>
          <p:cNvPr id="3" name="Content Placeholder 2"/>
          <p:cNvSpPr>
            <a:spLocks noGrp="1"/>
          </p:cNvSpPr>
          <p:nvPr>
            <p:ph sz="quarter" idx="11"/>
          </p:nvPr>
        </p:nvSpPr>
        <p:spPr>
          <a:xfrm>
            <a:off x="323528" y="1340768"/>
            <a:ext cx="8229600" cy="4676700"/>
          </a:xfrm>
        </p:spPr>
        <p:txBody>
          <a:bodyPr/>
          <a:lstStyle/>
          <a:p>
            <a:pPr marL="0" indent="0">
              <a:buNone/>
            </a:pPr>
            <a:r>
              <a:rPr lang="en-US" sz="2800" dirty="0"/>
              <a:t>Initial and final permutation</a:t>
            </a:r>
          </a:p>
          <a:p>
            <a:pPr marL="0" indent="0">
              <a:buNone/>
            </a:pPr>
            <a:r>
              <a:rPr lang="en-US" sz="2800" dirty="0"/>
              <a:t>(inverse of each other)</a:t>
            </a:r>
          </a:p>
        </p:txBody>
      </p:sp>
      <p:pic>
        <p:nvPicPr>
          <p:cNvPr id="5" name="Picture 4"/>
          <p:cNvPicPr>
            <a:picLocks noChangeAspect="1"/>
          </p:cNvPicPr>
          <p:nvPr/>
        </p:nvPicPr>
        <p:blipFill rotWithShape="1">
          <a:blip r:embed="rId2"/>
          <a:srcRect r="15869"/>
          <a:stretch/>
        </p:blipFill>
        <p:spPr>
          <a:xfrm>
            <a:off x="322853" y="2780928"/>
            <a:ext cx="5027527" cy="3888432"/>
          </a:xfrm>
          <a:prstGeom prst="rect">
            <a:avLst/>
          </a:prstGeom>
        </p:spPr>
      </p:pic>
      <p:pic>
        <p:nvPicPr>
          <p:cNvPr id="4" name="Picture 3">
            <a:extLst>
              <a:ext uri="{FF2B5EF4-FFF2-40B4-BE49-F238E27FC236}">
                <a16:creationId xmlns:a16="http://schemas.microsoft.com/office/drawing/2014/main" id="{B8C2916D-5B88-003D-F28C-E1EE12987984}"/>
              </a:ext>
            </a:extLst>
          </p:cNvPr>
          <p:cNvPicPr>
            <a:picLocks noChangeAspect="1"/>
          </p:cNvPicPr>
          <p:nvPr/>
        </p:nvPicPr>
        <p:blipFill rotWithShape="1">
          <a:blip r:embed="rId3"/>
          <a:srcRect r="49225"/>
          <a:stretch/>
        </p:blipFill>
        <p:spPr>
          <a:xfrm>
            <a:off x="5760072" y="855969"/>
            <a:ext cx="3034680" cy="2822611"/>
          </a:xfrm>
          <a:prstGeom prst="rect">
            <a:avLst/>
          </a:prstGeom>
        </p:spPr>
      </p:pic>
      <p:pic>
        <p:nvPicPr>
          <p:cNvPr id="6" name="Picture 5">
            <a:extLst>
              <a:ext uri="{FF2B5EF4-FFF2-40B4-BE49-F238E27FC236}">
                <a16:creationId xmlns:a16="http://schemas.microsoft.com/office/drawing/2014/main" id="{70DC952E-FB79-1E0B-4BF7-09C55BFDE0E4}"/>
              </a:ext>
            </a:extLst>
          </p:cNvPr>
          <p:cNvPicPr>
            <a:picLocks noChangeAspect="1"/>
          </p:cNvPicPr>
          <p:nvPr/>
        </p:nvPicPr>
        <p:blipFill rotWithShape="1">
          <a:blip r:embed="rId3"/>
          <a:srcRect l="49225"/>
          <a:stretch/>
        </p:blipFill>
        <p:spPr>
          <a:xfrm>
            <a:off x="5786467" y="3933056"/>
            <a:ext cx="3034680" cy="2822611"/>
          </a:xfrm>
          <a:prstGeom prst="rect">
            <a:avLst/>
          </a:prstGeom>
        </p:spPr>
      </p:pic>
    </p:spTree>
    <p:extLst>
      <p:ext uri="{BB962C8B-B14F-4D97-AF65-F5344CB8AC3E}">
        <p14:creationId xmlns:p14="http://schemas.microsoft.com/office/powerpoint/2010/main" val="298762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Round</a:t>
            </a:r>
          </a:p>
        </p:txBody>
      </p:sp>
      <p:sp>
        <p:nvSpPr>
          <p:cNvPr id="3" name="Content Placeholder 2"/>
          <p:cNvSpPr>
            <a:spLocks noGrp="1"/>
          </p:cNvSpPr>
          <p:nvPr>
            <p:ph sz="quarter" idx="11"/>
          </p:nvPr>
        </p:nvSpPr>
        <p:spPr>
          <a:xfrm>
            <a:off x="323528" y="1340768"/>
            <a:ext cx="8229600" cy="4676700"/>
          </a:xfrm>
        </p:spPr>
        <p:txBody>
          <a:bodyPr/>
          <a:lstStyle/>
          <a:p>
            <a:pPr marL="0" indent="0">
              <a:buNone/>
            </a:pPr>
            <a:r>
              <a:rPr lang="en-US" sz="2800" dirty="0"/>
              <a:t>One round in DES (Feistel structure)</a:t>
            </a:r>
          </a:p>
        </p:txBody>
      </p:sp>
      <p:pic>
        <p:nvPicPr>
          <p:cNvPr id="5" name="Picture 4"/>
          <p:cNvPicPr>
            <a:picLocks noChangeAspect="1"/>
          </p:cNvPicPr>
          <p:nvPr/>
        </p:nvPicPr>
        <p:blipFill rotWithShape="1">
          <a:blip r:embed="rId2"/>
          <a:srcRect l="32490"/>
          <a:stretch/>
        </p:blipFill>
        <p:spPr>
          <a:xfrm>
            <a:off x="1361730" y="1988840"/>
            <a:ext cx="4536504" cy="4508720"/>
          </a:xfrm>
          <a:prstGeom prst="rect">
            <a:avLst/>
          </a:prstGeom>
        </p:spPr>
      </p:pic>
      <p:sp>
        <p:nvSpPr>
          <p:cNvPr id="7" name="TextBox 6"/>
          <p:cNvSpPr txBox="1"/>
          <p:nvPr/>
        </p:nvSpPr>
        <p:spPr>
          <a:xfrm>
            <a:off x="6084168" y="3933056"/>
            <a:ext cx="2932213" cy="400110"/>
          </a:xfrm>
          <a:prstGeom prst="rect">
            <a:avLst/>
          </a:prstGeom>
          <a:noFill/>
        </p:spPr>
        <p:txBody>
          <a:bodyPr wrap="none" rtlCol="0">
            <a:spAutoFit/>
          </a:bodyPr>
          <a:lstStyle/>
          <a:p>
            <a:r>
              <a:rPr lang="en-US" sz="2000" dirty="0"/>
              <a:t>f(…) is the DES function</a:t>
            </a:r>
          </a:p>
        </p:txBody>
      </p:sp>
    </p:spTree>
    <p:extLst>
      <p:ext uri="{BB962C8B-B14F-4D97-AF65-F5344CB8AC3E}">
        <p14:creationId xmlns:p14="http://schemas.microsoft.com/office/powerpoint/2010/main" val="206924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a:t>
            </a:r>
            <a:r>
              <a:rPr lang="en-US" sz="4000" dirty="0"/>
              <a:t>Function</a:t>
            </a:r>
            <a:endParaRPr lang="en-US" dirty="0"/>
          </a:p>
        </p:txBody>
      </p:sp>
      <p:pic>
        <p:nvPicPr>
          <p:cNvPr id="6" name="Picture 5"/>
          <p:cNvPicPr>
            <a:picLocks noChangeAspect="1"/>
          </p:cNvPicPr>
          <p:nvPr/>
        </p:nvPicPr>
        <p:blipFill>
          <a:blip r:embed="rId2"/>
          <a:stretch>
            <a:fillRect/>
          </a:stretch>
        </p:blipFill>
        <p:spPr>
          <a:xfrm>
            <a:off x="2051720" y="1268760"/>
            <a:ext cx="4948184" cy="5274580"/>
          </a:xfrm>
          <a:prstGeom prst="rect">
            <a:avLst/>
          </a:prstGeom>
        </p:spPr>
      </p:pic>
    </p:spTree>
    <p:extLst>
      <p:ext uri="{BB962C8B-B14F-4D97-AF65-F5344CB8AC3E}">
        <p14:creationId xmlns:p14="http://schemas.microsoft.com/office/powerpoint/2010/main" val="3301216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Function: Expansion</a:t>
            </a:r>
          </a:p>
        </p:txBody>
      </p:sp>
      <p:sp>
        <p:nvSpPr>
          <p:cNvPr id="3" name="Content Placeholder 2"/>
          <p:cNvSpPr>
            <a:spLocks noGrp="1"/>
          </p:cNvSpPr>
          <p:nvPr>
            <p:ph sz="quarter" idx="11"/>
          </p:nvPr>
        </p:nvSpPr>
        <p:spPr>
          <a:xfrm>
            <a:off x="323528" y="1340768"/>
            <a:ext cx="8229600" cy="4676700"/>
          </a:xfrm>
        </p:spPr>
        <p:txBody>
          <a:bodyPr/>
          <a:lstStyle/>
          <a:p>
            <a:pPr marL="0" indent="0">
              <a:buNone/>
            </a:pPr>
            <a:r>
              <a:rPr lang="en-US" sz="2800" dirty="0"/>
              <a:t>Expansion Mechanism</a:t>
            </a:r>
          </a:p>
        </p:txBody>
      </p:sp>
      <p:pic>
        <p:nvPicPr>
          <p:cNvPr id="5" name="Picture 4"/>
          <p:cNvPicPr>
            <a:picLocks noChangeAspect="1"/>
          </p:cNvPicPr>
          <p:nvPr/>
        </p:nvPicPr>
        <p:blipFill rotWithShape="1">
          <a:blip r:embed="rId2"/>
          <a:srcRect t="37622"/>
          <a:stretch/>
        </p:blipFill>
        <p:spPr>
          <a:xfrm>
            <a:off x="456292" y="2204864"/>
            <a:ext cx="8410927" cy="1263445"/>
          </a:xfrm>
          <a:prstGeom prst="rect">
            <a:avLst/>
          </a:prstGeom>
        </p:spPr>
      </p:pic>
      <p:pic>
        <p:nvPicPr>
          <p:cNvPr id="7" name="Picture 6"/>
          <p:cNvPicPr>
            <a:picLocks noChangeAspect="1"/>
          </p:cNvPicPr>
          <p:nvPr/>
        </p:nvPicPr>
        <p:blipFill>
          <a:blip r:embed="rId3"/>
          <a:stretch>
            <a:fillRect/>
          </a:stretch>
        </p:blipFill>
        <p:spPr>
          <a:xfrm>
            <a:off x="1858751" y="3679118"/>
            <a:ext cx="5606008" cy="2902684"/>
          </a:xfrm>
          <a:prstGeom prst="rect">
            <a:avLst/>
          </a:prstGeom>
        </p:spPr>
      </p:pic>
    </p:spTree>
    <p:extLst>
      <p:ext uri="{BB962C8B-B14F-4D97-AF65-F5344CB8AC3E}">
        <p14:creationId xmlns:p14="http://schemas.microsoft.com/office/powerpoint/2010/main" val="3373481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Function: S-Boxes</a:t>
            </a:r>
          </a:p>
        </p:txBody>
      </p:sp>
      <p:pic>
        <p:nvPicPr>
          <p:cNvPr id="6" name="Content Placeholder 3"/>
          <p:cNvPicPr>
            <a:picLocks noChangeAspect="1"/>
          </p:cNvPicPr>
          <p:nvPr/>
        </p:nvPicPr>
        <p:blipFill>
          <a:blip r:embed="rId2"/>
          <a:stretch>
            <a:fillRect/>
          </a:stretch>
        </p:blipFill>
        <p:spPr>
          <a:xfrm>
            <a:off x="89090" y="2492896"/>
            <a:ext cx="8965819" cy="2448272"/>
          </a:xfrm>
          <a:prstGeom prst="rect">
            <a:avLst/>
          </a:prstGeom>
        </p:spPr>
      </p:pic>
      <p:sp>
        <p:nvSpPr>
          <p:cNvPr id="7" name="Rectangle 6">
            <a:extLst>
              <a:ext uri="{FF2B5EF4-FFF2-40B4-BE49-F238E27FC236}">
                <a16:creationId xmlns:a16="http://schemas.microsoft.com/office/drawing/2014/main" id="{F4A96C36-B810-069B-C695-801103DFE574}"/>
              </a:ext>
            </a:extLst>
          </p:cNvPr>
          <p:cNvSpPr/>
          <p:nvPr/>
        </p:nvSpPr>
        <p:spPr>
          <a:xfrm>
            <a:off x="523038" y="5661248"/>
            <a:ext cx="8097922" cy="369332"/>
          </a:xfrm>
          <a:prstGeom prst="rect">
            <a:avLst/>
          </a:prstGeom>
        </p:spPr>
        <p:txBody>
          <a:bodyPr wrap="none">
            <a:spAutoFit/>
          </a:bodyPr>
          <a:lstStyle/>
          <a:p>
            <a:r>
              <a:rPr lang="en-US" altLang="en-US" dirty="0"/>
              <a:t>All 8 S-Boxes have same working principle, but different substitution tables</a:t>
            </a:r>
            <a:endParaRPr lang="en-US" dirty="0"/>
          </a:p>
        </p:txBody>
      </p:sp>
    </p:spTree>
    <p:extLst>
      <p:ext uri="{BB962C8B-B14F-4D97-AF65-F5344CB8AC3E}">
        <p14:creationId xmlns:p14="http://schemas.microsoft.com/office/powerpoint/2010/main" val="422578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Function: S-Box-1</a:t>
            </a:r>
          </a:p>
        </p:txBody>
      </p:sp>
      <p:pic>
        <p:nvPicPr>
          <p:cNvPr id="8" name="Picture 7"/>
          <p:cNvPicPr>
            <a:picLocks noChangeAspect="1"/>
          </p:cNvPicPr>
          <p:nvPr/>
        </p:nvPicPr>
        <p:blipFill rotWithShape="1">
          <a:blip r:embed="rId2"/>
          <a:srcRect t="11373"/>
          <a:stretch/>
        </p:blipFill>
        <p:spPr>
          <a:xfrm>
            <a:off x="3635896" y="1253309"/>
            <a:ext cx="4188807" cy="3104187"/>
          </a:xfrm>
          <a:prstGeom prst="rect">
            <a:avLst/>
          </a:prstGeom>
        </p:spPr>
      </p:pic>
      <p:pic>
        <p:nvPicPr>
          <p:cNvPr id="10" name="Picture 9"/>
          <p:cNvPicPr>
            <a:picLocks noChangeAspect="1"/>
          </p:cNvPicPr>
          <p:nvPr/>
        </p:nvPicPr>
        <p:blipFill rotWithShape="1">
          <a:blip r:embed="rId3"/>
          <a:srcRect t="33424"/>
          <a:stretch/>
        </p:blipFill>
        <p:spPr>
          <a:xfrm>
            <a:off x="899592" y="4444955"/>
            <a:ext cx="7315200" cy="1693143"/>
          </a:xfrm>
          <a:prstGeom prst="rect">
            <a:avLst/>
          </a:prstGeom>
        </p:spPr>
      </p:pic>
      <p:sp>
        <p:nvSpPr>
          <p:cNvPr id="4" name="Rectangle 3"/>
          <p:cNvSpPr/>
          <p:nvPr/>
        </p:nvSpPr>
        <p:spPr>
          <a:xfrm>
            <a:off x="827584" y="6293369"/>
            <a:ext cx="4629985" cy="369332"/>
          </a:xfrm>
          <a:prstGeom prst="rect">
            <a:avLst/>
          </a:prstGeom>
        </p:spPr>
        <p:txBody>
          <a:bodyPr wrap="none">
            <a:spAutoFit/>
          </a:bodyPr>
          <a:lstStyle/>
          <a:p>
            <a:r>
              <a:rPr lang="en-US" altLang="en-US" dirty="0"/>
              <a:t>Find the output if S-Box-1 input is 100011</a:t>
            </a:r>
            <a:endParaRPr lang="en-US" dirty="0"/>
          </a:p>
        </p:txBody>
      </p:sp>
      <p:sp>
        <p:nvSpPr>
          <p:cNvPr id="5" name="TextBox 4">
            <a:extLst>
              <a:ext uri="{FF2B5EF4-FFF2-40B4-BE49-F238E27FC236}">
                <a16:creationId xmlns:a16="http://schemas.microsoft.com/office/drawing/2014/main" id="{FC1EA89B-B095-BD78-D0C8-56C6C8B37FCC}"/>
              </a:ext>
            </a:extLst>
          </p:cNvPr>
          <p:cNvSpPr txBox="1"/>
          <p:nvPr/>
        </p:nvSpPr>
        <p:spPr>
          <a:xfrm>
            <a:off x="302808" y="2922010"/>
            <a:ext cx="3189071" cy="1200329"/>
          </a:xfrm>
          <a:prstGeom prst="rect">
            <a:avLst/>
          </a:prstGeom>
          <a:noFill/>
        </p:spPr>
        <p:txBody>
          <a:bodyPr wrap="square" rtlCol="0">
            <a:spAutoFit/>
          </a:bodyPr>
          <a:lstStyle/>
          <a:p>
            <a:pPr latinLnBrk="0"/>
            <a:r>
              <a:rPr lang="en-US" dirty="0"/>
              <a:t>Example: If input is </a:t>
            </a:r>
            <a:r>
              <a:rPr lang="en-US" dirty="0">
                <a:solidFill>
                  <a:srgbClr val="FF0000"/>
                </a:solidFill>
              </a:rPr>
              <a:t>1</a:t>
            </a:r>
            <a:r>
              <a:rPr lang="en-US" dirty="0">
                <a:solidFill>
                  <a:schemeClr val="accent3">
                    <a:lumMod val="75000"/>
                  </a:schemeClr>
                </a:solidFill>
              </a:rPr>
              <a:t>0110</a:t>
            </a:r>
            <a:r>
              <a:rPr lang="en-US" dirty="0">
                <a:solidFill>
                  <a:srgbClr val="FF0000"/>
                </a:solidFill>
              </a:rPr>
              <a:t>0</a:t>
            </a:r>
            <a:r>
              <a:rPr lang="en-US" baseline="-25000" dirty="0"/>
              <a:t>2</a:t>
            </a:r>
          </a:p>
          <a:p>
            <a:pPr latinLnBrk="0"/>
            <a:r>
              <a:rPr lang="en-US" dirty="0"/>
              <a:t>We check row 2 (</a:t>
            </a:r>
            <a:r>
              <a:rPr lang="en-US" dirty="0">
                <a:solidFill>
                  <a:srgbClr val="FF0000"/>
                </a:solidFill>
              </a:rPr>
              <a:t>10</a:t>
            </a:r>
            <a:r>
              <a:rPr lang="en-US" baseline="-25000" dirty="0"/>
              <a:t>2</a:t>
            </a:r>
            <a:r>
              <a:rPr lang="en-US" dirty="0"/>
              <a:t>) and column 6 (</a:t>
            </a:r>
            <a:r>
              <a:rPr lang="en-US" dirty="0">
                <a:solidFill>
                  <a:schemeClr val="accent3">
                    <a:lumMod val="75000"/>
                  </a:schemeClr>
                </a:solidFill>
              </a:rPr>
              <a:t>0110</a:t>
            </a:r>
            <a:r>
              <a:rPr lang="en-US" baseline="-25000" dirty="0"/>
              <a:t>2</a:t>
            </a:r>
            <a:r>
              <a:rPr lang="en-US" dirty="0"/>
              <a:t>) to get output 2, which is 0010</a:t>
            </a:r>
            <a:r>
              <a:rPr lang="en-US" baseline="-25000" dirty="0"/>
              <a:t>2</a:t>
            </a:r>
          </a:p>
        </p:txBody>
      </p:sp>
    </p:spTree>
    <p:extLst>
      <p:ext uri="{BB962C8B-B14F-4D97-AF65-F5344CB8AC3E}">
        <p14:creationId xmlns:p14="http://schemas.microsoft.com/office/powerpoint/2010/main" val="1665127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Function: S-Boxes</a:t>
            </a:r>
          </a:p>
        </p:txBody>
      </p:sp>
      <p:sp>
        <p:nvSpPr>
          <p:cNvPr id="4" name="Rectangle 3"/>
          <p:cNvSpPr/>
          <p:nvPr/>
        </p:nvSpPr>
        <p:spPr>
          <a:xfrm>
            <a:off x="285047" y="1381358"/>
            <a:ext cx="1002390" cy="369332"/>
          </a:xfrm>
          <a:prstGeom prst="rect">
            <a:avLst/>
          </a:prstGeom>
        </p:spPr>
        <p:txBody>
          <a:bodyPr wrap="none">
            <a:spAutoFit/>
          </a:bodyPr>
          <a:lstStyle/>
          <a:p>
            <a:r>
              <a:rPr lang="en-US" altLang="en-US" dirty="0"/>
              <a:t>S-Box-2</a:t>
            </a:r>
            <a:endParaRPr lang="en-US" dirty="0"/>
          </a:p>
        </p:txBody>
      </p:sp>
      <p:pic>
        <p:nvPicPr>
          <p:cNvPr id="13" name="Picture 12">
            <a:extLst>
              <a:ext uri="{FF2B5EF4-FFF2-40B4-BE49-F238E27FC236}">
                <a16:creationId xmlns:a16="http://schemas.microsoft.com/office/drawing/2014/main" id="{C4CD3A21-4FE1-1134-5DCC-F25B479953DE}"/>
              </a:ext>
            </a:extLst>
          </p:cNvPr>
          <p:cNvPicPr>
            <a:picLocks noChangeAspect="1"/>
          </p:cNvPicPr>
          <p:nvPr/>
        </p:nvPicPr>
        <p:blipFill>
          <a:blip r:embed="rId2"/>
          <a:stretch>
            <a:fillRect/>
          </a:stretch>
        </p:blipFill>
        <p:spPr>
          <a:xfrm>
            <a:off x="645973" y="4284810"/>
            <a:ext cx="8061774" cy="1696617"/>
          </a:xfrm>
          <a:prstGeom prst="rect">
            <a:avLst/>
          </a:prstGeom>
        </p:spPr>
      </p:pic>
      <p:pic>
        <p:nvPicPr>
          <p:cNvPr id="15" name="Picture 14">
            <a:extLst>
              <a:ext uri="{FF2B5EF4-FFF2-40B4-BE49-F238E27FC236}">
                <a16:creationId xmlns:a16="http://schemas.microsoft.com/office/drawing/2014/main" id="{DB57AC36-8918-02D2-7862-204FEEDEC005}"/>
              </a:ext>
            </a:extLst>
          </p:cNvPr>
          <p:cNvPicPr>
            <a:picLocks noChangeAspect="1"/>
          </p:cNvPicPr>
          <p:nvPr/>
        </p:nvPicPr>
        <p:blipFill>
          <a:blip r:embed="rId3"/>
          <a:stretch>
            <a:fillRect/>
          </a:stretch>
        </p:blipFill>
        <p:spPr>
          <a:xfrm>
            <a:off x="586005" y="1923795"/>
            <a:ext cx="8148377" cy="1696617"/>
          </a:xfrm>
          <a:prstGeom prst="rect">
            <a:avLst/>
          </a:prstGeom>
        </p:spPr>
      </p:pic>
      <p:sp>
        <p:nvSpPr>
          <p:cNvPr id="16" name="Rectangle 15">
            <a:extLst>
              <a:ext uri="{FF2B5EF4-FFF2-40B4-BE49-F238E27FC236}">
                <a16:creationId xmlns:a16="http://schemas.microsoft.com/office/drawing/2014/main" id="{10B8EEE7-D78D-92E8-69C7-332CA02AE9A5}"/>
              </a:ext>
            </a:extLst>
          </p:cNvPr>
          <p:cNvSpPr/>
          <p:nvPr/>
        </p:nvSpPr>
        <p:spPr>
          <a:xfrm>
            <a:off x="251520" y="3771535"/>
            <a:ext cx="1002390" cy="369332"/>
          </a:xfrm>
          <a:prstGeom prst="rect">
            <a:avLst/>
          </a:prstGeom>
        </p:spPr>
        <p:txBody>
          <a:bodyPr wrap="none">
            <a:spAutoFit/>
          </a:bodyPr>
          <a:lstStyle/>
          <a:p>
            <a:r>
              <a:rPr lang="en-US" altLang="en-US" dirty="0"/>
              <a:t>S-Box-3</a:t>
            </a:r>
            <a:endParaRPr lang="en-US" dirty="0"/>
          </a:p>
        </p:txBody>
      </p:sp>
    </p:spTree>
    <p:extLst>
      <p:ext uri="{BB962C8B-B14F-4D97-AF65-F5344CB8AC3E}">
        <p14:creationId xmlns:p14="http://schemas.microsoft.com/office/powerpoint/2010/main" val="844596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Function: Straight P-Box</a:t>
            </a:r>
          </a:p>
        </p:txBody>
      </p:sp>
      <p:sp>
        <p:nvSpPr>
          <p:cNvPr id="16" name="Rectangle 15">
            <a:extLst>
              <a:ext uri="{FF2B5EF4-FFF2-40B4-BE49-F238E27FC236}">
                <a16:creationId xmlns:a16="http://schemas.microsoft.com/office/drawing/2014/main" id="{10B8EEE7-D78D-92E8-69C7-332CA02AE9A5}"/>
              </a:ext>
            </a:extLst>
          </p:cNvPr>
          <p:cNvSpPr/>
          <p:nvPr/>
        </p:nvSpPr>
        <p:spPr>
          <a:xfrm>
            <a:off x="827584" y="3878127"/>
            <a:ext cx="6500113" cy="1015663"/>
          </a:xfrm>
          <a:prstGeom prst="rect">
            <a:avLst/>
          </a:prstGeom>
        </p:spPr>
        <p:txBody>
          <a:bodyPr wrap="none">
            <a:spAutoFit/>
          </a:bodyPr>
          <a:lstStyle/>
          <a:p>
            <a:r>
              <a:rPr lang="en-US" altLang="en-US" sz="2000" dirty="0"/>
              <a:t>32-bit input to 32-bit output</a:t>
            </a:r>
          </a:p>
          <a:p>
            <a:endParaRPr lang="en-US" sz="2000" dirty="0"/>
          </a:p>
          <a:p>
            <a:r>
              <a:rPr lang="en-US" sz="2000" dirty="0"/>
              <a:t>16</a:t>
            </a:r>
            <a:r>
              <a:rPr lang="en-US" sz="2000" baseline="30000" dirty="0"/>
              <a:t>th</a:t>
            </a:r>
            <a:r>
              <a:rPr lang="en-US" sz="2000" dirty="0"/>
              <a:t> bit of input becomes 1</a:t>
            </a:r>
            <a:r>
              <a:rPr lang="en-US" sz="2000" baseline="30000" dirty="0"/>
              <a:t>st</a:t>
            </a:r>
            <a:r>
              <a:rPr lang="en-US" sz="2000" dirty="0"/>
              <a:t> bit of output, and so on.</a:t>
            </a:r>
          </a:p>
        </p:txBody>
      </p:sp>
      <p:pic>
        <p:nvPicPr>
          <p:cNvPr id="5" name="Picture 4">
            <a:extLst>
              <a:ext uri="{FF2B5EF4-FFF2-40B4-BE49-F238E27FC236}">
                <a16:creationId xmlns:a16="http://schemas.microsoft.com/office/drawing/2014/main" id="{690FC327-332D-0D20-EF62-0F4A5FE263D9}"/>
              </a:ext>
            </a:extLst>
          </p:cNvPr>
          <p:cNvPicPr>
            <a:picLocks noChangeAspect="1"/>
          </p:cNvPicPr>
          <p:nvPr/>
        </p:nvPicPr>
        <p:blipFill>
          <a:blip r:embed="rId2"/>
          <a:stretch>
            <a:fillRect/>
          </a:stretch>
        </p:blipFill>
        <p:spPr>
          <a:xfrm>
            <a:off x="727062" y="1720085"/>
            <a:ext cx="7663830" cy="1708915"/>
          </a:xfrm>
          <a:prstGeom prst="rect">
            <a:avLst/>
          </a:prstGeom>
        </p:spPr>
      </p:pic>
    </p:spTree>
    <p:extLst>
      <p:ext uri="{BB962C8B-B14F-4D97-AF65-F5344CB8AC3E}">
        <p14:creationId xmlns:p14="http://schemas.microsoft.com/office/powerpoint/2010/main" val="1682804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EAD3D-8742-E94F-FEB9-95093F7DAD77}"/>
              </a:ext>
            </a:extLst>
          </p:cNvPr>
          <p:cNvSpPr>
            <a:spLocks noGrp="1"/>
          </p:cNvSpPr>
          <p:nvPr>
            <p:ph type="title"/>
          </p:nvPr>
        </p:nvSpPr>
        <p:spPr/>
        <p:txBody>
          <a:bodyPr/>
          <a:lstStyle/>
          <a:p>
            <a:r>
              <a:rPr lang="en-US" dirty="0"/>
              <a:t>DES Decryption</a:t>
            </a:r>
          </a:p>
        </p:txBody>
      </p:sp>
      <p:sp>
        <p:nvSpPr>
          <p:cNvPr id="3" name="Content Placeholder 2">
            <a:extLst>
              <a:ext uri="{FF2B5EF4-FFF2-40B4-BE49-F238E27FC236}">
                <a16:creationId xmlns:a16="http://schemas.microsoft.com/office/drawing/2014/main" id="{9CE8C543-C354-ED55-53BB-709E270A1096}"/>
              </a:ext>
            </a:extLst>
          </p:cNvPr>
          <p:cNvSpPr>
            <a:spLocks noGrp="1"/>
          </p:cNvSpPr>
          <p:nvPr>
            <p:ph sz="quarter" idx="11"/>
          </p:nvPr>
        </p:nvSpPr>
        <p:spPr>
          <a:xfrm>
            <a:off x="35496" y="1412776"/>
            <a:ext cx="4190548" cy="4964732"/>
          </a:xfrm>
        </p:spPr>
        <p:txBody>
          <a:bodyPr/>
          <a:lstStyle/>
          <a:p>
            <a:r>
              <a:rPr lang="en-US" sz="2400" dirty="0"/>
              <a:t>During encryption, skip the swapper in the last round.</a:t>
            </a:r>
          </a:p>
          <a:p>
            <a:r>
              <a:rPr lang="en-US" sz="2400" dirty="0"/>
              <a:t>For decryption, go through the same procedure as encryption (i.e. initial permutation, 16 rounds, final permutation), just use the round keys in reverse order</a:t>
            </a:r>
          </a:p>
          <a:p>
            <a:pPr lvl="1"/>
            <a:r>
              <a:rPr lang="en-US" sz="1800" dirty="0"/>
              <a:t>this methodology is common in all </a:t>
            </a:r>
            <a:r>
              <a:rPr lang="en-US" sz="1800" dirty="0" err="1"/>
              <a:t>Fiestel</a:t>
            </a:r>
            <a:r>
              <a:rPr lang="en-US" sz="1800" dirty="0"/>
              <a:t> ciphers</a:t>
            </a:r>
          </a:p>
        </p:txBody>
      </p:sp>
      <p:pic>
        <p:nvPicPr>
          <p:cNvPr id="5" name="Picture 4">
            <a:extLst>
              <a:ext uri="{FF2B5EF4-FFF2-40B4-BE49-F238E27FC236}">
                <a16:creationId xmlns:a16="http://schemas.microsoft.com/office/drawing/2014/main" id="{F92F1E60-3678-3FBE-43FB-43B0B1C3A780}"/>
              </a:ext>
            </a:extLst>
          </p:cNvPr>
          <p:cNvPicPr>
            <a:picLocks noChangeAspect="1"/>
          </p:cNvPicPr>
          <p:nvPr/>
        </p:nvPicPr>
        <p:blipFill>
          <a:blip r:embed="rId2"/>
          <a:stretch>
            <a:fillRect/>
          </a:stretch>
        </p:blipFill>
        <p:spPr>
          <a:xfrm>
            <a:off x="4261540" y="44624"/>
            <a:ext cx="4846964" cy="6714979"/>
          </a:xfrm>
          <a:prstGeom prst="rect">
            <a:avLst/>
          </a:prstGeom>
        </p:spPr>
      </p:pic>
    </p:spTree>
    <p:extLst>
      <p:ext uri="{BB962C8B-B14F-4D97-AF65-F5344CB8AC3E}">
        <p14:creationId xmlns:p14="http://schemas.microsoft.com/office/powerpoint/2010/main" val="3198783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89F8-3421-C51F-7F9E-966C1DA655FC}"/>
              </a:ext>
            </a:extLst>
          </p:cNvPr>
          <p:cNvSpPr>
            <a:spLocks noGrp="1"/>
          </p:cNvSpPr>
          <p:nvPr>
            <p:ph type="title"/>
          </p:nvPr>
        </p:nvSpPr>
        <p:spPr/>
        <p:txBody>
          <a:bodyPr/>
          <a:lstStyle/>
          <a:p>
            <a:r>
              <a:rPr lang="en-US" dirty="0"/>
              <a:t>DES Strength Analysis</a:t>
            </a:r>
          </a:p>
        </p:txBody>
      </p:sp>
      <p:sp>
        <p:nvSpPr>
          <p:cNvPr id="3" name="Content Placeholder 2">
            <a:extLst>
              <a:ext uri="{FF2B5EF4-FFF2-40B4-BE49-F238E27FC236}">
                <a16:creationId xmlns:a16="http://schemas.microsoft.com/office/drawing/2014/main" id="{F84096C0-E65D-FFB4-750F-22E3C2A960A7}"/>
              </a:ext>
            </a:extLst>
          </p:cNvPr>
          <p:cNvSpPr>
            <a:spLocks noGrp="1"/>
          </p:cNvSpPr>
          <p:nvPr>
            <p:ph sz="quarter" idx="11"/>
          </p:nvPr>
        </p:nvSpPr>
        <p:spPr/>
        <p:txBody>
          <a:bodyPr/>
          <a:lstStyle/>
          <a:p>
            <a:r>
              <a:rPr lang="en-US" altLang="en-US" sz="2800" dirty="0"/>
              <a:t>DES is probably the most-scrutinized encryption algorithm, and to date no substantial </a:t>
            </a:r>
            <a:r>
              <a:rPr lang="en-US" altLang="en-US" sz="2800" u="sng" dirty="0"/>
              <a:t>mathematical</a:t>
            </a:r>
            <a:r>
              <a:rPr lang="en-US" altLang="en-US" sz="2800" dirty="0"/>
              <a:t> weakness has been discovered.</a:t>
            </a:r>
          </a:p>
          <a:p>
            <a:endParaRPr lang="en-US" altLang="en-US" sz="2800" dirty="0"/>
          </a:p>
          <a:p>
            <a:r>
              <a:rPr lang="en-US" altLang="en-US" sz="2800" dirty="0"/>
              <a:t>BUT… it is not resistant to brute force attacks.</a:t>
            </a:r>
          </a:p>
          <a:p>
            <a:endParaRPr lang="en-US" altLang="en-US" sz="2800" dirty="0"/>
          </a:p>
        </p:txBody>
      </p:sp>
    </p:spTree>
    <p:extLst>
      <p:ext uri="{BB962C8B-B14F-4D97-AF65-F5344CB8AC3E}">
        <p14:creationId xmlns:p14="http://schemas.microsoft.com/office/powerpoint/2010/main" val="4192626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89F8-3421-C51F-7F9E-966C1DA655FC}"/>
              </a:ext>
            </a:extLst>
          </p:cNvPr>
          <p:cNvSpPr>
            <a:spLocks noGrp="1"/>
          </p:cNvSpPr>
          <p:nvPr>
            <p:ph type="title"/>
          </p:nvPr>
        </p:nvSpPr>
        <p:spPr/>
        <p:txBody>
          <a:bodyPr/>
          <a:lstStyle/>
          <a:p>
            <a:r>
              <a:rPr lang="en-US" dirty="0"/>
              <a:t>DES Strength Analysis</a:t>
            </a:r>
          </a:p>
        </p:txBody>
      </p:sp>
      <p:sp>
        <p:nvSpPr>
          <p:cNvPr id="3" name="Content Placeholder 2">
            <a:extLst>
              <a:ext uri="{FF2B5EF4-FFF2-40B4-BE49-F238E27FC236}">
                <a16:creationId xmlns:a16="http://schemas.microsoft.com/office/drawing/2014/main" id="{F84096C0-E65D-FFB4-750F-22E3C2A960A7}"/>
              </a:ext>
            </a:extLst>
          </p:cNvPr>
          <p:cNvSpPr>
            <a:spLocks noGrp="1"/>
          </p:cNvSpPr>
          <p:nvPr>
            <p:ph sz="quarter" idx="11"/>
          </p:nvPr>
        </p:nvSpPr>
        <p:spPr/>
        <p:txBody>
          <a:bodyPr/>
          <a:lstStyle/>
          <a:p>
            <a:pPr marL="0" indent="0">
              <a:buNone/>
            </a:pPr>
            <a:r>
              <a:rPr lang="en-US" altLang="en-US" sz="2000" b="1" dirty="0"/>
              <a:t>Short key length </a:t>
            </a:r>
          </a:p>
          <a:p>
            <a:r>
              <a:rPr lang="en-US" altLang="en-US" sz="2000" dirty="0"/>
              <a:t>With 56 bits, there are 2</a:t>
            </a:r>
            <a:r>
              <a:rPr lang="en-US" altLang="en-US" sz="2000" baseline="30000" dirty="0"/>
              <a:t>56</a:t>
            </a:r>
            <a:r>
              <a:rPr lang="en-US" altLang="en-US" sz="2000" dirty="0"/>
              <a:t> possible keys, which is approximately 7.2 </a:t>
            </a:r>
            <a:r>
              <a:rPr lang="en-US" altLang="en-US" sz="2000" dirty="0">
                <a:sym typeface="Symbol" pitchFamily="18" charset="2"/>
              </a:rPr>
              <a:t></a:t>
            </a:r>
            <a:r>
              <a:rPr lang="en-US" altLang="en-US" sz="2000" dirty="0"/>
              <a:t> 10</a:t>
            </a:r>
            <a:r>
              <a:rPr lang="en-US" altLang="en-US" sz="2000" baseline="30000" dirty="0"/>
              <a:t>16</a:t>
            </a:r>
            <a:r>
              <a:rPr lang="en-US" altLang="en-US" sz="2000" dirty="0"/>
              <a:t> keys, which can be broken in relatively short time by brute forcing.</a:t>
            </a:r>
          </a:p>
          <a:p>
            <a:endParaRPr lang="en-US" altLang="en-US" sz="2000" dirty="0"/>
          </a:p>
          <a:p>
            <a:endParaRPr lang="en-US" altLang="en-US" sz="2000" dirty="0"/>
          </a:p>
          <a:p>
            <a:endParaRPr lang="en-US" altLang="en-US" sz="2000" dirty="0"/>
          </a:p>
          <a:p>
            <a:endParaRPr lang="en-US" altLang="en-US" sz="2000" dirty="0"/>
          </a:p>
          <a:p>
            <a:endParaRPr lang="en-US" altLang="en-US" sz="2000" dirty="0"/>
          </a:p>
          <a:p>
            <a:r>
              <a:rPr lang="en-US" altLang="en-US" sz="2000" dirty="0"/>
              <a:t>More powerful and parallelized hardware yields quicker results</a:t>
            </a:r>
          </a:p>
          <a:p>
            <a:r>
              <a:rPr lang="en-US" altLang="en-US" sz="2000" dirty="0"/>
              <a:t>Within 26 hours when using a specialized hardware: </a:t>
            </a:r>
            <a:r>
              <a:rPr lang="en-US" altLang="en-US" sz="2000" dirty="0">
                <a:hlinkClick r:id="rId2"/>
              </a:rPr>
              <a:t>https://crack.sh</a:t>
            </a:r>
            <a:r>
              <a:rPr lang="en-US" altLang="en-US" sz="2000" dirty="0"/>
              <a:t> </a:t>
            </a:r>
          </a:p>
          <a:p>
            <a:endParaRPr lang="en-US" sz="2800" dirty="0"/>
          </a:p>
        </p:txBody>
      </p:sp>
      <p:pic>
        <p:nvPicPr>
          <p:cNvPr id="4" name="Picture 3">
            <a:extLst>
              <a:ext uri="{FF2B5EF4-FFF2-40B4-BE49-F238E27FC236}">
                <a16:creationId xmlns:a16="http://schemas.microsoft.com/office/drawing/2014/main" id="{A24A03DF-8944-FCBB-080A-E6543A33BEB9}"/>
              </a:ext>
            </a:extLst>
          </p:cNvPr>
          <p:cNvPicPr>
            <a:picLocks noChangeAspect="1"/>
          </p:cNvPicPr>
          <p:nvPr/>
        </p:nvPicPr>
        <p:blipFill>
          <a:blip r:embed="rId3"/>
          <a:stretch>
            <a:fillRect/>
          </a:stretch>
        </p:blipFill>
        <p:spPr>
          <a:xfrm>
            <a:off x="1691680" y="2996952"/>
            <a:ext cx="5760640" cy="1590217"/>
          </a:xfrm>
          <a:prstGeom prst="rect">
            <a:avLst/>
          </a:prstGeom>
        </p:spPr>
      </p:pic>
    </p:spTree>
    <p:extLst>
      <p:ext uri="{BB962C8B-B14F-4D97-AF65-F5344CB8AC3E}">
        <p14:creationId xmlns:p14="http://schemas.microsoft.com/office/powerpoint/2010/main" val="3579961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Triple DES (3DES)</a:t>
            </a:r>
          </a:p>
        </p:txBody>
      </p:sp>
      <p:sp>
        <p:nvSpPr>
          <p:cNvPr id="3" name="Content Placeholder 2"/>
          <p:cNvSpPr>
            <a:spLocks noGrp="1"/>
          </p:cNvSpPr>
          <p:nvPr>
            <p:ph sz="quarter" idx="11"/>
          </p:nvPr>
        </p:nvSpPr>
        <p:spPr/>
        <p:txBody>
          <a:bodyPr/>
          <a:lstStyle/>
          <a:p>
            <a:r>
              <a:rPr lang="en-US" altLang="en-US" sz="2800" dirty="0"/>
              <a:t>Repeats basic DES algorithm three times</a:t>
            </a:r>
          </a:p>
          <a:p>
            <a:r>
              <a:rPr lang="en-US" altLang="en-US" sz="2800" dirty="0"/>
              <a:t>Using either two or three unique keys</a:t>
            </a:r>
          </a:p>
          <a:p>
            <a:pPr lvl="1"/>
            <a:r>
              <a:rPr lang="en-US" altLang="en-US" sz="2400" dirty="0"/>
              <a:t>key size of 112 or 168 bits. </a:t>
            </a:r>
          </a:p>
          <a:p>
            <a:r>
              <a:rPr lang="en-US" altLang="en-US" sz="2800" dirty="0"/>
              <a:t>much more secure but also much slower</a:t>
            </a:r>
          </a:p>
          <a:p>
            <a:endParaRPr lang="en-US" sz="2800" dirty="0"/>
          </a:p>
        </p:txBody>
      </p:sp>
      <p:sp>
        <p:nvSpPr>
          <p:cNvPr id="7" name="Rectangle 6">
            <a:extLst>
              <a:ext uri="{FF2B5EF4-FFF2-40B4-BE49-F238E27FC236}">
                <a16:creationId xmlns:a16="http://schemas.microsoft.com/office/drawing/2014/main" id="{DA5413F2-3FCE-FC3D-5E5B-E045F8F2A1E5}"/>
              </a:ext>
            </a:extLst>
          </p:cNvPr>
          <p:cNvSpPr/>
          <p:nvPr/>
        </p:nvSpPr>
        <p:spPr>
          <a:xfrm>
            <a:off x="1907704" y="4581128"/>
            <a:ext cx="1355324" cy="57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dirty="0">
                <a:solidFill>
                  <a:schemeClr val="tx1"/>
                </a:solidFill>
              </a:rPr>
              <a:t>DES</a:t>
            </a:r>
          </a:p>
          <a:p>
            <a:pPr algn="ctr" latinLnBrk="0"/>
            <a:r>
              <a:rPr lang="en-US" dirty="0">
                <a:solidFill>
                  <a:schemeClr val="tx1"/>
                </a:solidFill>
              </a:rPr>
              <a:t>encrypt</a:t>
            </a:r>
          </a:p>
        </p:txBody>
      </p:sp>
      <p:sp>
        <p:nvSpPr>
          <p:cNvPr id="8" name="Rectangle 7">
            <a:extLst>
              <a:ext uri="{FF2B5EF4-FFF2-40B4-BE49-F238E27FC236}">
                <a16:creationId xmlns:a16="http://schemas.microsoft.com/office/drawing/2014/main" id="{0F4D27EB-A04E-9797-E305-D1460EA4D040}"/>
              </a:ext>
            </a:extLst>
          </p:cNvPr>
          <p:cNvSpPr/>
          <p:nvPr/>
        </p:nvSpPr>
        <p:spPr>
          <a:xfrm>
            <a:off x="5868144" y="4581128"/>
            <a:ext cx="1357200" cy="57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dirty="0">
                <a:solidFill>
                  <a:schemeClr val="tx1"/>
                </a:solidFill>
              </a:rPr>
              <a:t>DES</a:t>
            </a:r>
          </a:p>
          <a:p>
            <a:pPr algn="ctr" latinLnBrk="0"/>
            <a:r>
              <a:rPr lang="en-US" dirty="0">
                <a:solidFill>
                  <a:schemeClr val="tx1"/>
                </a:solidFill>
              </a:rPr>
              <a:t>encrypt</a:t>
            </a:r>
          </a:p>
        </p:txBody>
      </p:sp>
      <p:sp>
        <p:nvSpPr>
          <p:cNvPr id="9" name="Rectangle 8">
            <a:extLst>
              <a:ext uri="{FF2B5EF4-FFF2-40B4-BE49-F238E27FC236}">
                <a16:creationId xmlns:a16="http://schemas.microsoft.com/office/drawing/2014/main" id="{AA34BBAD-0D9C-227C-EBD2-7155735D8D62}"/>
              </a:ext>
            </a:extLst>
          </p:cNvPr>
          <p:cNvSpPr/>
          <p:nvPr/>
        </p:nvSpPr>
        <p:spPr>
          <a:xfrm>
            <a:off x="3887924" y="4581128"/>
            <a:ext cx="1355324" cy="57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dirty="0">
                <a:solidFill>
                  <a:schemeClr val="tx1"/>
                </a:solidFill>
              </a:rPr>
              <a:t>DES</a:t>
            </a:r>
          </a:p>
          <a:p>
            <a:pPr algn="ctr" latinLnBrk="0"/>
            <a:r>
              <a:rPr lang="en-US" dirty="0">
                <a:solidFill>
                  <a:schemeClr val="tx1"/>
                </a:solidFill>
              </a:rPr>
              <a:t>decrypt</a:t>
            </a:r>
          </a:p>
        </p:txBody>
      </p:sp>
      <p:cxnSp>
        <p:nvCxnSpPr>
          <p:cNvPr id="10" name="Straight Arrow Connector 9">
            <a:extLst>
              <a:ext uri="{FF2B5EF4-FFF2-40B4-BE49-F238E27FC236}">
                <a16:creationId xmlns:a16="http://schemas.microsoft.com/office/drawing/2014/main" id="{BC16E4F6-53EE-C2FF-F0C9-34B6CB224FC7}"/>
              </a:ext>
            </a:extLst>
          </p:cNvPr>
          <p:cNvCxnSpPr>
            <a:cxnSpLocks/>
            <a:stCxn id="19" idx="3"/>
            <a:endCxn id="7" idx="1"/>
          </p:cNvCxnSpPr>
          <p:nvPr/>
        </p:nvCxnSpPr>
        <p:spPr>
          <a:xfrm>
            <a:off x="1331828" y="4869128"/>
            <a:ext cx="575876"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FCCF05D-F0DC-5C8E-115D-B22512AB8FDE}"/>
              </a:ext>
            </a:extLst>
          </p:cNvPr>
          <p:cNvCxnSpPr>
            <a:cxnSpLocks/>
            <a:stCxn id="7" idx="3"/>
            <a:endCxn id="9" idx="1"/>
          </p:cNvCxnSpPr>
          <p:nvPr/>
        </p:nvCxnSpPr>
        <p:spPr>
          <a:xfrm>
            <a:off x="3263028" y="4869128"/>
            <a:ext cx="624896"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CA9ECA5-37E4-DAB3-A91C-B68846521438}"/>
              </a:ext>
            </a:extLst>
          </p:cNvPr>
          <p:cNvCxnSpPr>
            <a:cxnSpLocks/>
            <a:stCxn id="9" idx="3"/>
            <a:endCxn id="8" idx="1"/>
          </p:cNvCxnSpPr>
          <p:nvPr/>
        </p:nvCxnSpPr>
        <p:spPr>
          <a:xfrm>
            <a:off x="5243248" y="4869128"/>
            <a:ext cx="624896"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494FCEB-5574-D0F6-877B-22101001C0CB}"/>
              </a:ext>
            </a:extLst>
          </p:cNvPr>
          <p:cNvCxnSpPr>
            <a:cxnSpLocks/>
            <a:stCxn id="8" idx="3"/>
            <a:endCxn id="20" idx="1"/>
          </p:cNvCxnSpPr>
          <p:nvPr/>
        </p:nvCxnSpPr>
        <p:spPr>
          <a:xfrm>
            <a:off x="7225344" y="4869128"/>
            <a:ext cx="515008"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8B59A8F-36D2-CFF3-A99A-D33A1220BB8D}"/>
              </a:ext>
            </a:extLst>
          </p:cNvPr>
          <p:cNvSpPr txBox="1"/>
          <p:nvPr/>
        </p:nvSpPr>
        <p:spPr>
          <a:xfrm>
            <a:off x="254610" y="4684462"/>
            <a:ext cx="1077218" cy="369332"/>
          </a:xfrm>
          <a:prstGeom prst="rect">
            <a:avLst/>
          </a:prstGeom>
          <a:noFill/>
        </p:spPr>
        <p:txBody>
          <a:bodyPr wrap="none" rtlCol="0">
            <a:spAutoFit/>
          </a:bodyPr>
          <a:lstStyle/>
          <a:p>
            <a:r>
              <a:rPr lang="en-US" dirty="0"/>
              <a:t>plaintext</a:t>
            </a:r>
          </a:p>
        </p:txBody>
      </p:sp>
      <p:sp>
        <p:nvSpPr>
          <p:cNvPr id="20" name="TextBox 19">
            <a:extLst>
              <a:ext uri="{FF2B5EF4-FFF2-40B4-BE49-F238E27FC236}">
                <a16:creationId xmlns:a16="http://schemas.microsoft.com/office/drawing/2014/main" id="{89C518DC-82FC-D28F-6F05-8960B4092B41}"/>
              </a:ext>
            </a:extLst>
          </p:cNvPr>
          <p:cNvSpPr txBox="1"/>
          <p:nvPr/>
        </p:nvSpPr>
        <p:spPr>
          <a:xfrm>
            <a:off x="7740352" y="4684462"/>
            <a:ext cx="1222322" cy="369332"/>
          </a:xfrm>
          <a:prstGeom prst="rect">
            <a:avLst/>
          </a:prstGeom>
          <a:noFill/>
        </p:spPr>
        <p:txBody>
          <a:bodyPr wrap="none" rtlCol="0">
            <a:spAutoFit/>
          </a:bodyPr>
          <a:lstStyle/>
          <a:p>
            <a:r>
              <a:rPr lang="en-US" dirty="0"/>
              <a:t>ciphertext</a:t>
            </a:r>
          </a:p>
        </p:txBody>
      </p:sp>
      <p:sp>
        <p:nvSpPr>
          <p:cNvPr id="24" name="TextBox 23">
            <a:extLst>
              <a:ext uri="{FF2B5EF4-FFF2-40B4-BE49-F238E27FC236}">
                <a16:creationId xmlns:a16="http://schemas.microsoft.com/office/drawing/2014/main" id="{5E4FAA60-93BF-0847-482D-48675F6E688F}"/>
              </a:ext>
            </a:extLst>
          </p:cNvPr>
          <p:cNvSpPr txBox="1"/>
          <p:nvPr/>
        </p:nvSpPr>
        <p:spPr>
          <a:xfrm>
            <a:off x="2361587" y="5631448"/>
            <a:ext cx="447558" cy="369332"/>
          </a:xfrm>
          <a:prstGeom prst="rect">
            <a:avLst/>
          </a:prstGeom>
          <a:noFill/>
        </p:spPr>
        <p:txBody>
          <a:bodyPr wrap="none" rtlCol="0">
            <a:spAutoFit/>
          </a:bodyPr>
          <a:lstStyle/>
          <a:p>
            <a:r>
              <a:rPr lang="en-US" dirty="0"/>
              <a:t>K1</a:t>
            </a:r>
          </a:p>
        </p:txBody>
      </p:sp>
      <p:sp>
        <p:nvSpPr>
          <p:cNvPr id="25" name="TextBox 24">
            <a:extLst>
              <a:ext uri="{FF2B5EF4-FFF2-40B4-BE49-F238E27FC236}">
                <a16:creationId xmlns:a16="http://schemas.microsoft.com/office/drawing/2014/main" id="{3CA0C405-8811-69D9-9007-9E870D79C3E0}"/>
              </a:ext>
            </a:extLst>
          </p:cNvPr>
          <p:cNvSpPr txBox="1"/>
          <p:nvPr/>
        </p:nvSpPr>
        <p:spPr>
          <a:xfrm>
            <a:off x="4341807" y="5629780"/>
            <a:ext cx="447558" cy="369332"/>
          </a:xfrm>
          <a:prstGeom prst="rect">
            <a:avLst/>
          </a:prstGeom>
          <a:noFill/>
        </p:spPr>
        <p:txBody>
          <a:bodyPr wrap="none" rtlCol="0">
            <a:spAutoFit/>
          </a:bodyPr>
          <a:lstStyle/>
          <a:p>
            <a:r>
              <a:rPr lang="en-US" dirty="0"/>
              <a:t>K2</a:t>
            </a:r>
          </a:p>
        </p:txBody>
      </p:sp>
      <p:sp>
        <p:nvSpPr>
          <p:cNvPr id="26" name="TextBox 25">
            <a:extLst>
              <a:ext uri="{FF2B5EF4-FFF2-40B4-BE49-F238E27FC236}">
                <a16:creationId xmlns:a16="http://schemas.microsoft.com/office/drawing/2014/main" id="{79CD4562-9B31-1A57-95F0-4138BD60D052}"/>
              </a:ext>
            </a:extLst>
          </p:cNvPr>
          <p:cNvSpPr txBox="1"/>
          <p:nvPr/>
        </p:nvSpPr>
        <p:spPr>
          <a:xfrm>
            <a:off x="6325537" y="5629780"/>
            <a:ext cx="447558" cy="369332"/>
          </a:xfrm>
          <a:prstGeom prst="rect">
            <a:avLst/>
          </a:prstGeom>
          <a:noFill/>
        </p:spPr>
        <p:txBody>
          <a:bodyPr wrap="none" rtlCol="0">
            <a:spAutoFit/>
          </a:bodyPr>
          <a:lstStyle/>
          <a:p>
            <a:r>
              <a:rPr lang="en-US" dirty="0"/>
              <a:t>K1</a:t>
            </a:r>
          </a:p>
        </p:txBody>
      </p:sp>
      <p:cxnSp>
        <p:nvCxnSpPr>
          <p:cNvPr id="27" name="Straight Arrow Connector 26">
            <a:extLst>
              <a:ext uri="{FF2B5EF4-FFF2-40B4-BE49-F238E27FC236}">
                <a16:creationId xmlns:a16="http://schemas.microsoft.com/office/drawing/2014/main" id="{24EB3E68-2487-C54F-5383-E98BB81D9125}"/>
              </a:ext>
            </a:extLst>
          </p:cNvPr>
          <p:cNvCxnSpPr>
            <a:cxnSpLocks/>
            <a:stCxn id="24" idx="0"/>
            <a:endCxn id="7" idx="2"/>
          </p:cNvCxnSpPr>
          <p:nvPr/>
        </p:nvCxnSpPr>
        <p:spPr>
          <a:xfrm flipV="1">
            <a:off x="2585366" y="5157128"/>
            <a:ext cx="0" cy="47432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22BA865-C727-DD37-B11E-28D96EC8FC0D}"/>
              </a:ext>
            </a:extLst>
          </p:cNvPr>
          <p:cNvCxnSpPr>
            <a:cxnSpLocks/>
            <a:stCxn id="25" idx="0"/>
            <a:endCxn id="9" idx="2"/>
          </p:cNvCxnSpPr>
          <p:nvPr/>
        </p:nvCxnSpPr>
        <p:spPr>
          <a:xfrm flipV="1">
            <a:off x="4565586" y="5157128"/>
            <a:ext cx="0" cy="47265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3044F7A-3A31-F6D3-6049-6A542E8D3484}"/>
              </a:ext>
            </a:extLst>
          </p:cNvPr>
          <p:cNvCxnSpPr>
            <a:cxnSpLocks/>
            <a:stCxn id="26" idx="0"/>
            <a:endCxn id="8" idx="2"/>
          </p:cNvCxnSpPr>
          <p:nvPr/>
        </p:nvCxnSpPr>
        <p:spPr>
          <a:xfrm flipH="1" flipV="1">
            <a:off x="6546744" y="5157128"/>
            <a:ext cx="2572" cy="47265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59B5C2F5-F263-3C81-BD03-F8436AA3AD9E}"/>
              </a:ext>
            </a:extLst>
          </p:cNvPr>
          <p:cNvSpPr/>
          <p:nvPr/>
        </p:nvSpPr>
        <p:spPr>
          <a:xfrm>
            <a:off x="1597358" y="4365104"/>
            <a:ext cx="5835537" cy="1026474"/>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2AF9F7A-3CFA-62F9-9DF5-784E025014B7}"/>
              </a:ext>
            </a:extLst>
          </p:cNvPr>
          <p:cNvSpPr txBox="1"/>
          <p:nvPr/>
        </p:nvSpPr>
        <p:spPr>
          <a:xfrm>
            <a:off x="1933746" y="6196646"/>
            <a:ext cx="5013680" cy="369332"/>
          </a:xfrm>
          <a:prstGeom prst="rect">
            <a:avLst/>
          </a:prstGeom>
          <a:noFill/>
        </p:spPr>
        <p:txBody>
          <a:bodyPr wrap="none" rtlCol="0">
            <a:spAutoFit/>
          </a:bodyPr>
          <a:lstStyle/>
          <a:p>
            <a:r>
              <a:rPr lang="en-US" dirty="0"/>
              <a:t>With </a:t>
            </a:r>
            <a:r>
              <a:rPr lang="en-US" b="1" dirty="0"/>
              <a:t>two</a:t>
            </a:r>
            <a:r>
              <a:rPr lang="en-US" dirty="0"/>
              <a:t> keys, Effective key length = 112 bits</a:t>
            </a:r>
          </a:p>
        </p:txBody>
      </p:sp>
    </p:spTree>
    <p:extLst>
      <p:ext uri="{BB962C8B-B14F-4D97-AF65-F5344CB8AC3E}">
        <p14:creationId xmlns:p14="http://schemas.microsoft.com/office/powerpoint/2010/main" val="2946741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Triple DES (3DES)</a:t>
            </a:r>
          </a:p>
        </p:txBody>
      </p:sp>
      <p:sp>
        <p:nvSpPr>
          <p:cNvPr id="3" name="Content Placeholder 2"/>
          <p:cNvSpPr>
            <a:spLocks noGrp="1"/>
          </p:cNvSpPr>
          <p:nvPr>
            <p:ph sz="quarter" idx="11"/>
          </p:nvPr>
        </p:nvSpPr>
        <p:spPr/>
        <p:txBody>
          <a:bodyPr/>
          <a:lstStyle/>
          <a:p>
            <a:r>
              <a:rPr lang="en-US" altLang="en-US" sz="2800" dirty="0"/>
              <a:t>Repeats basic DES algorithm three times</a:t>
            </a:r>
          </a:p>
          <a:p>
            <a:r>
              <a:rPr lang="en-US" altLang="en-US" sz="2800" dirty="0"/>
              <a:t>Using either two or three unique keys</a:t>
            </a:r>
          </a:p>
          <a:p>
            <a:pPr lvl="1"/>
            <a:r>
              <a:rPr lang="en-US" altLang="en-US" sz="2400" dirty="0"/>
              <a:t>key size of 112 or 168 bits. </a:t>
            </a:r>
          </a:p>
          <a:p>
            <a:r>
              <a:rPr lang="en-US" altLang="en-US" sz="2800" dirty="0"/>
              <a:t>much more secure but also much slower</a:t>
            </a:r>
          </a:p>
          <a:p>
            <a:endParaRPr lang="en-US" sz="2800" dirty="0"/>
          </a:p>
        </p:txBody>
      </p:sp>
      <p:sp>
        <p:nvSpPr>
          <p:cNvPr id="7" name="Rectangle 6">
            <a:extLst>
              <a:ext uri="{FF2B5EF4-FFF2-40B4-BE49-F238E27FC236}">
                <a16:creationId xmlns:a16="http://schemas.microsoft.com/office/drawing/2014/main" id="{DA5413F2-3FCE-FC3D-5E5B-E045F8F2A1E5}"/>
              </a:ext>
            </a:extLst>
          </p:cNvPr>
          <p:cNvSpPr/>
          <p:nvPr/>
        </p:nvSpPr>
        <p:spPr>
          <a:xfrm>
            <a:off x="1907704" y="4581128"/>
            <a:ext cx="1355324" cy="57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dirty="0">
                <a:solidFill>
                  <a:schemeClr val="tx1"/>
                </a:solidFill>
              </a:rPr>
              <a:t>DES</a:t>
            </a:r>
          </a:p>
          <a:p>
            <a:pPr algn="ctr" latinLnBrk="0"/>
            <a:r>
              <a:rPr lang="en-US" dirty="0">
                <a:solidFill>
                  <a:schemeClr val="tx1"/>
                </a:solidFill>
              </a:rPr>
              <a:t>encrypt</a:t>
            </a:r>
          </a:p>
        </p:txBody>
      </p:sp>
      <p:sp>
        <p:nvSpPr>
          <p:cNvPr id="8" name="Rectangle 7">
            <a:extLst>
              <a:ext uri="{FF2B5EF4-FFF2-40B4-BE49-F238E27FC236}">
                <a16:creationId xmlns:a16="http://schemas.microsoft.com/office/drawing/2014/main" id="{0F4D27EB-A04E-9797-E305-D1460EA4D040}"/>
              </a:ext>
            </a:extLst>
          </p:cNvPr>
          <p:cNvSpPr/>
          <p:nvPr/>
        </p:nvSpPr>
        <p:spPr>
          <a:xfrm>
            <a:off x="5868144" y="4581128"/>
            <a:ext cx="1357200" cy="57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dirty="0">
                <a:solidFill>
                  <a:schemeClr val="tx1"/>
                </a:solidFill>
              </a:rPr>
              <a:t>DES</a:t>
            </a:r>
          </a:p>
          <a:p>
            <a:pPr algn="ctr" latinLnBrk="0"/>
            <a:r>
              <a:rPr lang="en-US" dirty="0">
                <a:solidFill>
                  <a:schemeClr val="tx1"/>
                </a:solidFill>
              </a:rPr>
              <a:t>encrypt</a:t>
            </a:r>
          </a:p>
        </p:txBody>
      </p:sp>
      <p:sp>
        <p:nvSpPr>
          <p:cNvPr id="9" name="Rectangle 8">
            <a:extLst>
              <a:ext uri="{FF2B5EF4-FFF2-40B4-BE49-F238E27FC236}">
                <a16:creationId xmlns:a16="http://schemas.microsoft.com/office/drawing/2014/main" id="{AA34BBAD-0D9C-227C-EBD2-7155735D8D62}"/>
              </a:ext>
            </a:extLst>
          </p:cNvPr>
          <p:cNvSpPr/>
          <p:nvPr/>
        </p:nvSpPr>
        <p:spPr>
          <a:xfrm>
            <a:off x="3887924" y="4581128"/>
            <a:ext cx="1355324" cy="57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dirty="0">
                <a:solidFill>
                  <a:schemeClr val="tx1"/>
                </a:solidFill>
              </a:rPr>
              <a:t>DES</a:t>
            </a:r>
          </a:p>
          <a:p>
            <a:pPr algn="ctr" latinLnBrk="0"/>
            <a:r>
              <a:rPr lang="en-US" dirty="0">
                <a:solidFill>
                  <a:schemeClr val="tx1"/>
                </a:solidFill>
              </a:rPr>
              <a:t>decrypt</a:t>
            </a:r>
          </a:p>
        </p:txBody>
      </p:sp>
      <p:cxnSp>
        <p:nvCxnSpPr>
          <p:cNvPr id="10" name="Straight Arrow Connector 9">
            <a:extLst>
              <a:ext uri="{FF2B5EF4-FFF2-40B4-BE49-F238E27FC236}">
                <a16:creationId xmlns:a16="http://schemas.microsoft.com/office/drawing/2014/main" id="{BC16E4F6-53EE-C2FF-F0C9-34B6CB224FC7}"/>
              </a:ext>
            </a:extLst>
          </p:cNvPr>
          <p:cNvCxnSpPr>
            <a:cxnSpLocks/>
            <a:stCxn id="19" idx="3"/>
            <a:endCxn id="7" idx="1"/>
          </p:cNvCxnSpPr>
          <p:nvPr/>
        </p:nvCxnSpPr>
        <p:spPr>
          <a:xfrm>
            <a:off x="1331828" y="4869128"/>
            <a:ext cx="575876"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FCCF05D-F0DC-5C8E-115D-B22512AB8FDE}"/>
              </a:ext>
            </a:extLst>
          </p:cNvPr>
          <p:cNvCxnSpPr>
            <a:cxnSpLocks/>
            <a:stCxn id="7" idx="3"/>
            <a:endCxn id="9" idx="1"/>
          </p:cNvCxnSpPr>
          <p:nvPr/>
        </p:nvCxnSpPr>
        <p:spPr>
          <a:xfrm>
            <a:off x="3263028" y="4869128"/>
            <a:ext cx="624896"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CA9ECA5-37E4-DAB3-A91C-B68846521438}"/>
              </a:ext>
            </a:extLst>
          </p:cNvPr>
          <p:cNvCxnSpPr>
            <a:cxnSpLocks/>
            <a:stCxn id="9" idx="3"/>
            <a:endCxn id="8" idx="1"/>
          </p:cNvCxnSpPr>
          <p:nvPr/>
        </p:nvCxnSpPr>
        <p:spPr>
          <a:xfrm>
            <a:off x="5243248" y="4869128"/>
            <a:ext cx="624896"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494FCEB-5574-D0F6-877B-22101001C0CB}"/>
              </a:ext>
            </a:extLst>
          </p:cNvPr>
          <p:cNvCxnSpPr>
            <a:cxnSpLocks/>
            <a:stCxn id="8" idx="3"/>
            <a:endCxn id="20" idx="1"/>
          </p:cNvCxnSpPr>
          <p:nvPr/>
        </p:nvCxnSpPr>
        <p:spPr>
          <a:xfrm>
            <a:off x="7225344" y="4869128"/>
            <a:ext cx="515008"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8B59A8F-36D2-CFF3-A99A-D33A1220BB8D}"/>
              </a:ext>
            </a:extLst>
          </p:cNvPr>
          <p:cNvSpPr txBox="1"/>
          <p:nvPr/>
        </p:nvSpPr>
        <p:spPr>
          <a:xfrm>
            <a:off x="254610" y="4684462"/>
            <a:ext cx="1077218" cy="369332"/>
          </a:xfrm>
          <a:prstGeom prst="rect">
            <a:avLst/>
          </a:prstGeom>
          <a:noFill/>
        </p:spPr>
        <p:txBody>
          <a:bodyPr wrap="none" rtlCol="0">
            <a:spAutoFit/>
          </a:bodyPr>
          <a:lstStyle/>
          <a:p>
            <a:r>
              <a:rPr lang="en-US" dirty="0"/>
              <a:t>plaintext</a:t>
            </a:r>
          </a:p>
        </p:txBody>
      </p:sp>
      <p:sp>
        <p:nvSpPr>
          <p:cNvPr id="20" name="TextBox 19">
            <a:extLst>
              <a:ext uri="{FF2B5EF4-FFF2-40B4-BE49-F238E27FC236}">
                <a16:creationId xmlns:a16="http://schemas.microsoft.com/office/drawing/2014/main" id="{89C518DC-82FC-D28F-6F05-8960B4092B41}"/>
              </a:ext>
            </a:extLst>
          </p:cNvPr>
          <p:cNvSpPr txBox="1"/>
          <p:nvPr/>
        </p:nvSpPr>
        <p:spPr>
          <a:xfrm>
            <a:off x="7740352" y="4684462"/>
            <a:ext cx="1222322" cy="369332"/>
          </a:xfrm>
          <a:prstGeom prst="rect">
            <a:avLst/>
          </a:prstGeom>
          <a:noFill/>
        </p:spPr>
        <p:txBody>
          <a:bodyPr wrap="none" rtlCol="0">
            <a:spAutoFit/>
          </a:bodyPr>
          <a:lstStyle/>
          <a:p>
            <a:r>
              <a:rPr lang="en-US" dirty="0"/>
              <a:t>ciphertext</a:t>
            </a:r>
          </a:p>
        </p:txBody>
      </p:sp>
      <p:sp>
        <p:nvSpPr>
          <p:cNvPr id="24" name="TextBox 23">
            <a:extLst>
              <a:ext uri="{FF2B5EF4-FFF2-40B4-BE49-F238E27FC236}">
                <a16:creationId xmlns:a16="http://schemas.microsoft.com/office/drawing/2014/main" id="{5E4FAA60-93BF-0847-482D-48675F6E688F}"/>
              </a:ext>
            </a:extLst>
          </p:cNvPr>
          <p:cNvSpPr txBox="1"/>
          <p:nvPr/>
        </p:nvSpPr>
        <p:spPr>
          <a:xfrm>
            <a:off x="2361587" y="5631448"/>
            <a:ext cx="447558" cy="369332"/>
          </a:xfrm>
          <a:prstGeom prst="rect">
            <a:avLst/>
          </a:prstGeom>
          <a:noFill/>
        </p:spPr>
        <p:txBody>
          <a:bodyPr wrap="none" rtlCol="0">
            <a:spAutoFit/>
          </a:bodyPr>
          <a:lstStyle/>
          <a:p>
            <a:r>
              <a:rPr lang="en-US" dirty="0"/>
              <a:t>K1</a:t>
            </a:r>
          </a:p>
        </p:txBody>
      </p:sp>
      <p:sp>
        <p:nvSpPr>
          <p:cNvPr id="25" name="TextBox 24">
            <a:extLst>
              <a:ext uri="{FF2B5EF4-FFF2-40B4-BE49-F238E27FC236}">
                <a16:creationId xmlns:a16="http://schemas.microsoft.com/office/drawing/2014/main" id="{3CA0C405-8811-69D9-9007-9E870D79C3E0}"/>
              </a:ext>
            </a:extLst>
          </p:cNvPr>
          <p:cNvSpPr txBox="1"/>
          <p:nvPr/>
        </p:nvSpPr>
        <p:spPr>
          <a:xfrm>
            <a:off x="4341807" y="5629780"/>
            <a:ext cx="447558" cy="369332"/>
          </a:xfrm>
          <a:prstGeom prst="rect">
            <a:avLst/>
          </a:prstGeom>
          <a:noFill/>
        </p:spPr>
        <p:txBody>
          <a:bodyPr wrap="none" rtlCol="0">
            <a:spAutoFit/>
          </a:bodyPr>
          <a:lstStyle/>
          <a:p>
            <a:r>
              <a:rPr lang="en-US" dirty="0"/>
              <a:t>K2</a:t>
            </a:r>
          </a:p>
        </p:txBody>
      </p:sp>
      <p:sp>
        <p:nvSpPr>
          <p:cNvPr id="26" name="TextBox 25">
            <a:extLst>
              <a:ext uri="{FF2B5EF4-FFF2-40B4-BE49-F238E27FC236}">
                <a16:creationId xmlns:a16="http://schemas.microsoft.com/office/drawing/2014/main" id="{79CD4562-9B31-1A57-95F0-4138BD60D052}"/>
              </a:ext>
            </a:extLst>
          </p:cNvPr>
          <p:cNvSpPr txBox="1"/>
          <p:nvPr/>
        </p:nvSpPr>
        <p:spPr>
          <a:xfrm>
            <a:off x="6325537" y="5629780"/>
            <a:ext cx="447558" cy="369332"/>
          </a:xfrm>
          <a:prstGeom prst="rect">
            <a:avLst/>
          </a:prstGeom>
          <a:noFill/>
        </p:spPr>
        <p:txBody>
          <a:bodyPr wrap="none" rtlCol="0">
            <a:spAutoFit/>
          </a:bodyPr>
          <a:lstStyle/>
          <a:p>
            <a:r>
              <a:rPr lang="en-US" dirty="0"/>
              <a:t>K3</a:t>
            </a:r>
          </a:p>
        </p:txBody>
      </p:sp>
      <p:cxnSp>
        <p:nvCxnSpPr>
          <p:cNvPr id="27" name="Straight Arrow Connector 26">
            <a:extLst>
              <a:ext uri="{FF2B5EF4-FFF2-40B4-BE49-F238E27FC236}">
                <a16:creationId xmlns:a16="http://schemas.microsoft.com/office/drawing/2014/main" id="{24EB3E68-2487-C54F-5383-E98BB81D9125}"/>
              </a:ext>
            </a:extLst>
          </p:cNvPr>
          <p:cNvCxnSpPr>
            <a:cxnSpLocks/>
            <a:stCxn id="24" idx="0"/>
            <a:endCxn id="7" idx="2"/>
          </p:cNvCxnSpPr>
          <p:nvPr/>
        </p:nvCxnSpPr>
        <p:spPr>
          <a:xfrm flipV="1">
            <a:off x="2585366" y="5157128"/>
            <a:ext cx="0" cy="47432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22BA865-C727-DD37-B11E-28D96EC8FC0D}"/>
              </a:ext>
            </a:extLst>
          </p:cNvPr>
          <p:cNvCxnSpPr>
            <a:cxnSpLocks/>
            <a:stCxn id="25" idx="0"/>
            <a:endCxn id="9" idx="2"/>
          </p:cNvCxnSpPr>
          <p:nvPr/>
        </p:nvCxnSpPr>
        <p:spPr>
          <a:xfrm flipV="1">
            <a:off x="4565586" y="5157128"/>
            <a:ext cx="0" cy="47265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3044F7A-3A31-F6D3-6049-6A542E8D3484}"/>
              </a:ext>
            </a:extLst>
          </p:cNvPr>
          <p:cNvCxnSpPr>
            <a:cxnSpLocks/>
            <a:stCxn id="26" idx="0"/>
            <a:endCxn id="8" idx="2"/>
          </p:cNvCxnSpPr>
          <p:nvPr/>
        </p:nvCxnSpPr>
        <p:spPr>
          <a:xfrm flipH="1" flipV="1">
            <a:off x="6546744" y="5157128"/>
            <a:ext cx="2572" cy="47265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59B5C2F5-F263-3C81-BD03-F8436AA3AD9E}"/>
              </a:ext>
            </a:extLst>
          </p:cNvPr>
          <p:cNvSpPr/>
          <p:nvPr/>
        </p:nvSpPr>
        <p:spPr>
          <a:xfrm>
            <a:off x="1597358" y="4365104"/>
            <a:ext cx="5835537" cy="1026474"/>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2AF9F7A-3CFA-62F9-9DF5-784E025014B7}"/>
              </a:ext>
            </a:extLst>
          </p:cNvPr>
          <p:cNvSpPr txBox="1"/>
          <p:nvPr/>
        </p:nvSpPr>
        <p:spPr>
          <a:xfrm>
            <a:off x="1933746" y="6196646"/>
            <a:ext cx="5165004" cy="369332"/>
          </a:xfrm>
          <a:prstGeom prst="rect">
            <a:avLst/>
          </a:prstGeom>
          <a:noFill/>
        </p:spPr>
        <p:txBody>
          <a:bodyPr wrap="none" rtlCol="0">
            <a:spAutoFit/>
          </a:bodyPr>
          <a:lstStyle/>
          <a:p>
            <a:r>
              <a:rPr lang="en-US" dirty="0"/>
              <a:t>With </a:t>
            </a:r>
            <a:r>
              <a:rPr lang="en-US" b="1" dirty="0"/>
              <a:t>three</a:t>
            </a:r>
            <a:r>
              <a:rPr lang="en-US" dirty="0"/>
              <a:t> keys, Effective key length = 168 bits</a:t>
            </a:r>
          </a:p>
        </p:txBody>
      </p:sp>
    </p:spTree>
    <p:extLst>
      <p:ext uri="{BB962C8B-B14F-4D97-AF65-F5344CB8AC3E}">
        <p14:creationId xmlns:p14="http://schemas.microsoft.com/office/powerpoint/2010/main" val="122869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Encryption Standard</a:t>
            </a:r>
          </a:p>
        </p:txBody>
      </p:sp>
      <p:sp>
        <p:nvSpPr>
          <p:cNvPr id="3" name="Content Placeholder 2"/>
          <p:cNvSpPr>
            <a:spLocks noGrp="1"/>
          </p:cNvSpPr>
          <p:nvPr>
            <p:ph sz="quarter" idx="11"/>
          </p:nvPr>
        </p:nvSpPr>
        <p:spPr/>
        <p:txBody>
          <a:bodyPr/>
          <a:lstStyle/>
          <a:p>
            <a:r>
              <a:rPr lang="en-US" altLang="en-US" sz="2800" dirty="0"/>
              <a:t>NIST called for proposals in 1997</a:t>
            </a:r>
          </a:p>
          <a:p>
            <a:pPr lvl="1"/>
            <a:r>
              <a:rPr lang="en-US" altLang="en-US" sz="2400" dirty="0"/>
              <a:t>goals: efficiency, security, HW/SW suitability</a:t>
            </a:r>
          </a:p>
          <a:p>
            <a:pPr lvl="1"/>
            <a:r>
              <a:rPr lang="en-US" altLang="en-US" sz="2400" dirty="0"/>
              <a:t>key length 128, 192, 256 bits</a:t>
            </a:r>
            <a:endParaRPr lang="en-US" sz="2800" dirty="0"/>
          </a:p>
          <a:p>
            <a:pPr lvl="1"/>
            <a:r>
              <a:rPr lang="en-US" altLang="en-US" sz="2400" dirty="0"/>
              <a:t>Selected </a:t>
            </a:r>
            <a:r>
              <a:rPr lang="en-US" altLang="en-US" sz="2400" u="sng" dirty="0"/>
              <a:t>Rijndael</a:t>
            </a:r>
            <a:r>
              <a:rPr lang="en-US" altLang="en-US" sz="2400" dirty="0"/>
              <a:t> in Nov 2001 and declared as ‘AES’</a:t>
            </a:r>
          </a:p>
          <a:p>
            <a:endParaRPr lang="en-US" altLang="en-US" sz="2800" dirty="0"/>
          </a:p>
          <a:p>
            <a:r>
              <a:rPr lang="en-US" altLang="en-US" sz="2800" dirty="0"/>
              <a:t>Symmetric block cipher</a:t>
            </a:r>
          </a:p>
          <a:p>
            <a:r>
              <a:rPr lang="en-US" altLang="en-US" sz="2800" dirty="0"/>
              <a:t>Uses 128 bit data block &amp; 128/192/256 bit keys</a:t>
            </a:r>
          </a:p>
          <a:p>
            <a:r>
              <a:rPr lang="en-US" altLang="en-US" sz="2800" dirty="0"/>
              <a:t>Now widely available commercially</a:t>
            </a:r>
          </a:p>
          <a:p>
            <a:pPr marL="0" indent="0">
              <a:buNone/>
            </a:pPr>
            <a:endParaRPr lang="en-US" sz="2800" dirty="0"/>
          </a:p>
        </p:txBody>
      </p:sp>
    </p:spTree>
    <p:extLst>
      <p:ext uri="{BB962C8B-B14F-4D97-AF65-F5344CB8AC3E}">
        <p14:creationId xmlns:p14="http://schemas.microsoft.com/office/powerpoint/2010/main" val="2323926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0D6C1D9-02CC-0728-57F8-E570076A4A98}"/>
              </a:ext>
            </a:extLst>
          </p:cNvPr>
          <p:cNvSpPr>
            <a:spLocks noGrp="1" noChangeArrowheads="1"/>
          </p:cNvSpPr>
          <p:nvPr>
            <p:ph type="title"/>
          </p:nvPr>
        </p:nvSpPr>
        <p:spPr/>
        <p:txBody>
          <a:bodyPr/>
          <a:lstStyle/>
          <a:p>
            <a:r>
              <a:rPr lang="en-AU" altLang="en-US"/>
              <a:t>The AES Cipher - Rijndael </a:t>
            </a:r>
          </a:p>
        </p:txBody>
      </p:sp>
      <p:sp>
        <p:nvSpPr>
          <p:cNvPr id="24579" name="Rectangle 3">
            <a:extLst>
              <a:ext uri="{FF2B5EF4-FFF2-40B4-BE49-F238E27FC236}">
                <a16:creationId xmlns:a16="http://schemas.microsoft.com/office/drawing/2014/main" id="{9B2AD064-384A-4E18-FBAC-C21E872E5CA1}"/>
              </a:ext>
            </a:extLst>
          </p:cNvPr>
          <p:cNvSpPr>
            <a:spLocks noGrp="1" noChangeArrowheads="1"/>
          </p:cNvSpPr>
          <p:nvPr>
            <p:ph sz="quarter" idx="11"/>
          </p:nvPr>
        </p:nvSpPr>
        <p:spPr/>
        <p:txBody>
          <a:bodyPr/>
          <a:lstStyle/>
          <a:p>
            <a:r>
              <a:rPr lang="en-AU" altLang="en-US" sz="2800" dirty="0"/>
              <a:t>An iterative rather than Feistel cipher</a:t>
            </a:r>
          </a:p>
          <a:p>
            <a:pPr lvl="1"/>
            <a:r>
              <a:rPr lang="en-US" altLang="en-US" sz="2400" dirty="0"/>
              <a:t>processes </a:t>
            </a:r>
            <a:r>
              <a:rPr lang="en-AU" altLang="en-US" sz="2400" dirty="0"/>
              <a:t>data as block of 4 columns of 4 bytes (128 bits)</a:t>
            </a:r>
          </a:p>
          <a:p>
            <a:pPr lvl="1"/>
            <a:r>
              <a:rPr lang="en-US" altLang="en-US" sz="2400" dirty="0"/>
              <a:t>operates on entire data block in every round</a:t>
            </a:r>
            <a:endParaRPr lang="en-AU" altLang="en-US" sz="2400" dirty="0"/>
          </a:p>
          <a:p>
            <a:endParaRPr lang="en-US" altLang="en-US" sz="2800" dirty="0"/>
          </a:p>
          <a:p>
            <a:endParaRPr lang="en-AU" altLang="en-US" sz="2800" dirty="0"/>
          </a:p>
        </p:txBody>
      </p:sp>
      <p:grpSp>
        <p:nvGrpSpPr>
          <p:cNvPr id="2" name="Group 1">
            <a:extLst>
              <a:ext uri="{FF2B5EF4-FFF2-40B4-BE49-F238E27FC236}">
                <a16:creationId xmlns:a16="http://schemas.microsoft.com/office/drawing/2014/main" id="{89FB970D-2F3D-D495-74F1-7155A98AFEA0}"/>
              </a:ext>
            </a:extLst>
          </p:cNvPr>
          <p:cNvGrpSpPr/>
          <p:nvPr/>
        </p:nvGrpSpPr>
        <p:grpSpPr>
          <a:xfrm>
            <a:off x="3059832" y="3501008"/>
            <a:ext cx="4538053" cy="2930167"/>
            <a:chOff x="2514600" y="2062509"/>
            <a:chExt cx="6121723" cy="3883021"/>
          </a:xfrm>
        </p:grpSpPr>
        <p:sp>
          <p:nvSpPr>
            <p:cNvPr id="3" name="Rectangle 3">
              <a:extLst>
                <a:ext uri="{FF2B5EF4-FFF2-40B4-BE49-F238E27FC236}">
                  <a16:creationId xmlns:a16="http://schemas.microsoft.com/office/drawing/2014/main" id="{96A79432-F5EA-D19D-9B22-A013C34C1675}"/>
                </a:ext>
              </a:extLst>
            </p:cNvPr>
            <p:cNvSpPr>
              <a:spLocks noChangeArrowheads="1"/>
            </p:cNvSpPr>
            <p:nvPr/>
          </p:nvSpPr>
          <p:spPr bwMode="auto">
            <a:xfrm>
              <a:off x="2971800" y="3281709"/>
              <a:ext cx="1447800" cy="1371600"/>
            </a:xfrm>
            <a:prstGeom prst="rect">
              <a:avLst/>
            </a:prstGeom>
            <a:solidFill>
              <a:srgbClr val="F7C120"/>
            </a:solidFill>
            <a:ln w="25400">
              <a:solidFill>
                <a:srgbClr val="7F7F7F"/>
              </a:solidFill>
              <a:miter lim="800000"/>
              <a:headEnd/>
              <a:tailEnd/>
            </a:ln>
            <a:effectLst>
              <a:outerShdw blurRad="50800" dist="38100" dir="2700000" rotWithShape="0">
                <a:srgbClr val="808080">
                  <a:alpha val="42999"/>
                </a:srgbClr>
              </a:outerShdw>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dirty="0">
                  <a:latin typeface="Gill Sans MT" panose="020B0502020104020203" pitchFamily="34" charset="0"/>
                </a:rPr>
                <a:t>AES</a:t>
              </a:r>
              <a:endParaRPr lang="en-GB" altLang="en-US" dirty="0">
                <a:latin typeface="Gill Sans MT" panose="020B0502020104020203" pitchFamily="34" charset="0"/>
              </a:endParaRPr>
            </a:p>
          </p:txBody>
        </p:sp>
        <p:sp>
          <p:nvSpPr>
            <p:cNvPr id="4" name="Text Box 4">
              <a:extLst>
                <a:ext uri="{FF2B5EF4-FFF2-40B4-BE49-F238E27FC236}">
                  <a16:creationId xmlns:a16="http://schemas.microsoft.com/office/drawing/2014/main" id="{DD9CA8A5-E562-6273-B034-09D579F8E2D7}"/>
                </a:ext>
              </a:extLst>
            </p:cNvPr>
            <p:cNvSpPr txBox="1">
              <a:spLocks noChangeArrowheads="1"/>
            </p:cNvSpPr>
            <p:nvPr/>
          </p:nvSpPr>
          <p:spPr bwMode="auto">
            <a:xfrm>
              <a:off x="2743200" y="2062509"/>
              <a:ext cx="2898065" cy="530221"/>
            </a:xfrm>
            <a:prstGeom prst="rect">
              <a:avLst/>
            </a:prstGeom>
            <a:noFill/>
            <a:ln w="9525">
              <a:no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latin typeface="Gill Sans MT" panose="020B0502020104020203" pitchFamily="34" charset="0"/>
                </a:rPr>
                <a:t>Plaintext (128 bits)</a:t>
              </a:r>
              <a:endParaRPr lang="en-GB" altLang="en-US" sz="2000" dirty="0">
                <a:latin typeface="Gill Sans MT" panose="020B0502020104020203" pitchFamily="34" charset="0"/>
              </a:endParaRPr>
            </a:p>
          </p:txBody>
        </p:sp>
        <p:sp>
          <p:nvSpPr>
            <p:cNvPr id="5" name="Text Box 5">
              <a:extLst>
                <a:ext uri="{FF2B5EF4-FFF2-40B4-BE49-F238E27FC236}">
                  <a16:creationId xmlns:a16="http://schemas.microsoft.com/office/drawing/2014/main" id="{D9F3AE76-DDA4-6FEC-3ED0-1C9649CD7629}"/>
                </a:ext>
              </a:extLst>
            </p:cNvPr>
            <p:cNvSpPr txBox="1">
              <a:spLocks noChangeArrowheads="1"/>
            </p:cNvSpPr>
            <p:nvPr/>
          </p:nvSpPr>
          <p:spPr bwMode="auto">
            <a:xfrm>
              <a:off x="2514600" y="5415309"/>
              <a:ext cx="3320167" cy="530221"/>
            </a:xfrm>
            <a:prstGeom prst="rect">
              <a:avLst/>
            </a:prstGeom>
            <a:noFill/>
            <a:ln w="9525">
              <a:no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latin typeface="Gill Sans MT" panose="020B0502020104020203" pitchFamily="34" charset="0"/>
                </a:rPr>
                <a:t>Ciphertext (128 bits) </a:t>
              </a:r>
              <a:endParaRPr lang="en-GB" altLang="en-US" sz="2000" dirty="0">
                <a:latin typeface="Gill Sans MT" panose="020B0502020104020203" pitchFamily="34" charset="0"/>
              </a:endParaRPr>
            </a:p>
          </p:txBody>
        </p:sp>
        <p:sp>
          <p:nvSpPr>
            <p:cNvPr id="6" name="Text Box 6">
              <a:extLst>
                <a:ext uri="{FF2B5EF4-FFF2-40B4-BE49-F238E27FC236}">
                  <a16:creationId xmlns:a16="http://schemas.microsoft.com/office/drawing/2014/main" id="{191CFE2D-B07E-BC38-9000-B4A497C27E39}"/>
                </a:ext>
              </a:extLst>
            </p:cNvPr>
            <p:cNvSpPr txBox="1">
              <a:spLocks noChangeArrowheads="1"/>
            </p:cNvSpPr>
            <p:nvPr/>
          </p:nvSpPr>
          <p:spPr bwMode="auto">
            <a:xfrm>
              <a:off x="5204228" y="3702398"/>
              <a:ext cx="3432095" cy="530221"/>
            </a:xfrm>
            <a:prstGeom prst="rect">
              <a:avLst/>
            </a:prstGeom>
            <a:noFill/>
            <a:ln w="9525">
              <a:no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latin typeface="Gill Sans MT" panose="020B0502020104020203" pitchFamily="34" charset="0"/>
                </a:rPr>
                <a:t>Key (128/192/256 bits)</a:t>
              </a:r>
              <a:endParaRPr lang="en-GB" altLang="en-US" sz="2000" dirty="0">
                <a:latin typeface="Gill Sans MT" panose="020B0502020104020203" pitchFamily="34" charset="0"/>
              </a:endParaRPr>
            </a:p>
          </p:txBody>
        </p:sp>
        <p:sp>
          <p:nvSpPr>
            <p:cNvPr id="7" name="Down Arrow 15">
              <a:extLst>
                <a:ext uri="{FF2B5EF4-FFF2-40B4-BE49-F238E27FC236}">
                  <a16:creationId xmlns:a16="http://schemas.microsoft.com/office/drawing/2014/main" id="{0CFA6E64-910C-E50A-999A-44C668B8BB91}"/>
                </a:ext>
              </a:extLst>
            </p:cNvPr>
            <p:cNvSpPr/>
            <p:nvPr/>
          </p:nvSpPr>
          <p:spPr>
            <a:xfrm>
              <a:off x="3505200" y="2672109"/>
              <a:ext cx="457200" cy="533400"/>
            </a:xfrm>
            <a:prstGeom prst="down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p>
          </p:txBody>
        </p:sp>
        <p:sp>
          <p:nvSpPr>
            <p:cNvPr id="8" name="Down Arrow 16">
              <a:extLst>
                <a:ext uri="{FF2B5EF4-FFF2-40B4-BE49-F238E27FC236}">
                  <a16:creationId xmlns:a16="http://schemas.microsoft.com/office/drawing/2014/main" id="{BEA0116A-F64B-7BEE-9FE8-E4AA794057F9}"/>
                </a:ext>
              </a:extLst>
            </p:cNvPr>
            <p:cNvSpPr/>
            <p:nvPr/>
          </p:nvSpPr>
          <p:spPr>
            <a:xfrm>
              <a:off x="3505200" y="4729509"/>
              <a:ext cx="457200" cy="533400"/>
            </a:xfrm>
            <a:prstGeom prst="down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p>
          </p:txBody>
        </p:sp>
        <p:sp>
          <p:nvSpPr>
            <p:cNvPr id="9" name="Left Arrow 17">
              <a:extLst>
                <a:ext uri="{FF2B5EF4-FFF2-40B4-BE49-F238E27FC236}">
                  <a16:creationId xmlns:a16="http://schemas.microsoft.com/office/drawing/2014/main" id="{36310F6A-9A72-DFB5-5BEA-AD8ABA10FE4C}"/>
                </a:ext>
              </a:extLst>
            </p:cNvPr>
            <p:cNvSpPr/>
            <p:nvPr/>
          </p:nvSpPr>
          <p:spPr>
            <a:xfrm>
              <a:off x="4495800" y="3738909"/>
              <a:ext cx="609600" cy="457200"/>
            </a:xfrm>
            <a:prstGeom prst="left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D33F88C-09C6-4B10-BCA5-9CC285EA9286}"/>
              </a:ext>
            </a:extLst>
          </p:cNvPr>
          <p:cNvSpPr>
            <a:spLocks noGrp="1" noChangeArrowheads="1"/>
          </p:cNvSpPr>
          <p:nvPr>
            <p:ph type="title"/>
          </p:nvPr>
        </p:nvSpPr>
        <p:spPr/>
        <p:txBody>
          <a:bodyPr/>
          <a:lstStyle/>
          <a:p>
            <a:r>
              <a:rPr lang="en-US" altLang="en-US"/>
              <a:t>Multiple rounds</a:t>
            </a:r>
            <a:endParaRPr lang="en-GB" altLang="en-US"/>
          </a:p>
        </p:txBody>
      </p:sp>
      <p:pic>
        <p:nvPicPr>
          <p:cNvPr id="28677" name="Picture 12">
            <a:extLst>
              <a:ext uri="{FF2B5EF4-FFF2-40B4-BE49-F238E27FC236}">
                <a16:creationId xmlns:a16="http://schemas.microsoft.com/office/drawing/2014/main" id="{31F9639D-904F-3F36-F0CB-F7055354A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560613"/>
            <a:ext cx="7234621" cy="467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7495D78-8278-002D-26C0-BBD65993D974}"/>
              </a:ext>
            </a:extLst>
          </p:cNvPr>
          <p:cNvSpPr>
            <a:spLocks noGrp="1" noChangeArrowheads="1"/>
          </p:cNvSpPr>
          <p:nvPr>
            <p:ph type="title"/>
          </p:nvPr>
        </p:nvSpPr>
        <p:spPr/>
        <p:txBody>
          <a:bodyPr/>
          <a:lstStyle/>
          <a:p>
            <a:pPr eaLnBrk="1" hangingPunct="1"/>
            <a:r>
              <a:rPr lang="en-AU" altLang="en-US">
                <a:ea typeface="ＭＳ Ｐゴシック" panose="020B0600070205080204" pitchFamily="34" charset="-128"/>
              </a:rPr>
              <a:t>Overall Structure</a:t>
            </a:r>
          </a:p>
        </p:txBody>
      </p:sp>
      <p:pic>
        <p:nvPicPr>
          <p:cNvPr id="32771" name="Picture 12">
            <a:extLst>
              <a:ext uri="{FF2B5EF4-FFF2-40B4-BE49-F238E27FC236}">
                <a16:creationId xmlns:a16="http://schemas.microsoft.com/office/drawing/2014/main" id="{A34660FD-F9DB-C1D4-303A-D53A9C5405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206" y="1340768"/>
            <a:ext cx="7321587" cy="515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6F0F2C1-435B-6378-767E-0F1F898AFA94}"/>
              </a:ext>
            </a:extLst>
          </p:cNvPr>
          <p:cNvSpPr>
            <a:spLocks noGrp="1" noChangeArrowheads="1"/>
          </p:cNvSpPr>
          <p:nvPr>
            <p:ph type="title"/>
          </p:nvPr>
        </p:nvSpPr>
        <p:spPr/>
        <p:txBody>
          <a:bodyPr/>
          <a:lstStyle/>
          <a:p>
            <a:r>
              <a:rPr lang="en-US" altLang="en-US" dirty="0"/>
              <a:t>Structure of 128-bit block</a:t>
            </a:r>
            <a:endParaRPr lang="en-GB" altLang="en-US" dirty="0"/>
          </a:p>
        </p:txBody>
      </p:sp>
      <p:sp>
        <p:nvSpPr>
          <p:cNvPr id="34820" name="Rectangle 3">
            <a:extLst>
              <a:ext uri="{FF2B5EF4-FFF2-40B4-BE49-F238E27FC236}">
                <a16:creationId xmlns:a16="http://schemas.microsoft.com/office/drawing/2014/main" id="{2BC00D9A-C06C-E99D-7A24-6A195E02E38E}"/>
              </a:ext>
            </a:extLst>
          </p:cNvPr>
          <p:cNvSpPr>
            <a:spLocks noGrp="1" noChangeArrowheads="1"/>
          </p:cNvSpPr>
          <p:nvPr>
            <p:ph sz="quarter" idx="11"/>
          </p:nvPr>
        </p:nvSpPr>
        <p:spPr/>
        <p:txBody>
          <a:bodyPr/>
          <a:lstStyle/>
          <a:p>
            <a:r>
              <a:rPr lang="en-US" altLang="en-US" sz="2800" dirty="0"/>
              <a:t>Data block viewed as </a:t>
            </a:r>
            <a:r>
              <a:rPr lang="en-AU" altLang="en-US" sz="2800" dirty="0"/>
              <a:t>table of bytes</a:t>
            </a:r>
            <a:endParaRPr lang="en-US" altLang="en-US" sz="2800" dirty="0"/>
          </a:p>
          <a:p>
            <a:r>
              <a:rPr lang="en-US" altLang="en-US" sz="2800" dirty="0"/>
              <a:t>Represented as 4 by 4 matrix of bytes.</a:t>
            </a:r>
          </a:p>
          <a:p>
            <a:r>
              <a:rPr lang="en-AU" altLang="en-US" sz="2800" dirty="0"/>
              <a:t>Key is expanded to array of 32 bits words</a:t>
            </a:r>
          </a:p>
          <a:p>
            <a:endParaRPr lang="en-GB" altLang="en-US" sz="2800" dirty="0"/>
          </a:p>
        </p:txBody>
      </p:sp>
      <p:grpSp>
        <p:nvGrpSpPr>
          <p:cNvPr id="34821" name="Group 9">
            <a:extLst>
              <a:ext uri="{FF2B5EF4-FFF2-40B4-BE49-F238E27FC236}">
                <a16:creationId xmlns:a16="http://schemas.microsoft.com/office/drawing/2014/main" id="{A2F6540F-063F-007D-583B-80E92357EDC8}"/>
              </a:ext>
            </a:extLst>
          </p:cNvPr>
          <p:cNvGrpSpPr>
            <a:grpSpLocks/>
          </p:cNvGrpSpPr>
          <p:nvPr/>
        </p:nvGrpSpPr>
        <p:grpSpPr bwMode="auto">
          <a:xfrm>
            <a:off x="4427984" y="4005064"/>
            <a:ext cx="2070100" cy="1993900"/>
            <a:chOff x="3873500" y="3797300"/>
            <a:chExt cx="1244600" cy="1244600"/>
          </a:xfrm>
        </p:grpSpPr>
        <p:sp>
          <p:nvSpPr>
            <p:cNvPr id="34824" name="Rectangle 4">
              <a:extLst>
                <a:ext uri="{FF2B5EF4-FFF2-40B4-BE49-F238E27FC236}">
                  <a16:creationId xmlns:a16="http://schemas.microsoft.com/office/drawing/2014/main" id="{633DB3B3-EE83-B1F3-789F-8A6D53FF9DAF}"/>
                </a:ext>
              </a:extLst>
            </p:cNvPr>
            <p:cNvSpPr>
              <a:spLocks noChangeArrowheads="1"/>
            </p:cNvSpPr>
            <p:nvPr/>
          </p:nvSpPr>
          <p:spPr bwMode="auto">
            <a:xfrm>
              <a:off x="3886200" y="3810000"/>
              <a:ext cx="1219200" cy="1219200"/>
            </a:xfrm>
            <a:prstGeom prst="rect">
              <a:avLst/>
            </a:prstGeom>
            <a:solidFill>
              <a:srgbClr val="FFFF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4825" name="Rectangle 5">
              <a:extLst>
                <a:ext uri="{FF2B5EF4-FFF2-40B4-BE49-F238E27FC236}">
                  <a16:creationId xmlns:a16="http://schemas.microsoft.com/office/drawing/2014/main" id="{14C0FB5A-9762-BC35-8322-B9C399D0B360}"/>
                </a:ext>
              </a:extLst>
            </p:cNvPr>
            <p:cNvSpPr>
              <a:spLocks noChangeArrowheads="1"/>
            </p:cNvSpPr>
            <p:nvPr/>
          </p:nvSpPr>
          <p:spPr bwMode="auto">
            <a:xfrm>
              <a:off x="4191000" y="3810000"/>
              <a:ext cx="609600" cy="1219200"/>
            </a:xfrm>
            <a:prstGeom prst="rect">
              <a:avLst/>
            </a:prstGeom>
            <a:solidFill>
              <a:srgbClr val="FFFF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cxnSp>
          <p:nvCxnSpPr>
            <p:cNvPr id="34826" name="AutoShape 6">
              <a:extLst>
                <a:ext uri="{FF2B5EF4-FFF2-40B4-BE49-F238E27FC236}">
                  <a16:creationId xmlns:a16="http://schemas.microsoft.com/office/drawing/2014/main" id="{A5E1EBA5-A3E9-760F-D2A7-B06410B0B248}"/>
                </a:ext>
              </a:extLst>
            </p:cNvPr>
            <p:cNvCxnSpPr>
              <a:cxnSpLocks noChangeShapeType="1"/>
              <a:stCxn id="34825" idx="0"/>
              <a:endCxn id="34825" idx="2"/>
            </p:cNvCxnSpPr>
            <p:nvPr/>
          </p:nvCxnSpPr>
          <p:spPr bwMode="auto">
            <a:xfrm>
              <a:off x="4495800" y="3797300"/>
              <a:ext cx="0" cy="1244600"/>
            </a:xfrm>
            <a:prstGeom prst="straightConnector1">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cxnSp>
        <p:sp>
          <p:nvSpPr>
            <p:cNvPr id="34827" name="Rectangle 7">
              <a:extLst>
                <a:ext uri="{FF2B5EF4-FFF2-40B4-BE49-F238E27FC236}">
                  <a16:creationId xmlns:a16="http://schemas.microsoft.com/office/drawing/2014/main" id="{5F208955-D6BE-19A7-A3C7-38F64249910B}"/>
                </a:ext>
              </a:extLst>
            </p:cNvPr>
            <p:cNvSpPr>
              <a:spLocks noChangeArrowheads="1"/>
            </p:cNvSpPr>
            <p:nvPr/>
          </p:nvSpPr>
          <p:spPr bwMode="auto">
            <a:xfrm>
              <a:off x="3886200" y="4114800"/>
              <a:ext cx="1219200" cy="609600"/>
            </a:xfrm>
            <a:prstGeom prst="rect">
              <a:avLst/>
            </a:prstGeom>
            <a:noFill/>
            <a:ln w="2540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cxnSp>
          <p:nvCxnSpPr>
            <p:cNvPr id="34828" name="AutoShape 8">
              <a:extLst>
                <a:ext uri="{FF2B5EF4-FFF2-40B4-BE49-F238E27FC236}">
                  <a16:creationId xmlns:a16="http://schemas.microsoft.com/office/drawing/2014/main" id="{B66C5533-0136-081D-2789-1A666A2752AD}"/>
                </a:ext>
              </a:extLst>
            </p:cNvPr>
            <p:cNvCxnSpPr>
              <a:cxnSpLocks noChangeShapeType="1"/>
              <a:stCxn id="34827" idx="1"/>
              <a:endCxn id="34827" idx="3"/>
            </p:cNvCxnSpPr>
            <p:nvPr/>
          </p:nvCxnSpPr>
          <p:spPr bwMode="auto">
            <a:xfrm>
              <a:off x="3873500" y="4419600"/>
              <a:ext cx="1244600" cy="0"/>
            </a:xfrm>
            <a:prstGeom prst="straightConnector1">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cxnSp>
      </p:grpSp>
      <p:sp>
        <p:nvSpPr>
          <p:cNvPr id="34822" name="Rectangle 10">
            <a:extLst>
              <a:ext uri="{FF2B5EF4-FFF2-40B4-BE49-F238E27FC236}">
                <a16:creationId xmlns:a16="http://schemas.microsoft.com/office/drawing/2014/main" id="{FE378E12-BF49-9E84-D79C-AC9D16C3B6FB}"/>
              </a:ext>
            </a:extLst>
          </p:cNvPr>
          <p:cNvSpPr>
            <a:spLocks noChangeArrowheads="1"/>
          </p:cNvSpPr>
          <p:nvPr/>
        </p:nvSpPr>
        <p:spPr bwMode="auto">
          <a:xfrm>
            <a:off x="2751584" y="4157464"/>
            <a:ext cx="81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AU" altLang="en-US" sz="1800" dirty="0"/>
              <a:t>1 byte</a:t>
            </a:r>
            <a:endParaRPr lang="en-US" altLang="en-US" sz="1800" dirty="0"/>
          </a:p>
        </p:txBody>
      </p:sp>
      <p:cxnSp>
        <p:nvCxnSpPr>
          <p:cNvPr id="13" name="Straight Connector 12">
            <a:extLst>
              <a:ext uri="{FF2B5EF4-FFF2-40B4-BE49-F238E27FC236}">
                <a16:creationId xmlns:a16="http://schemas.microsoft.com/office/drawing/2014/main" id="{A3CABB3E-CD8F-53B4-4927-B0D2DF99DE75}"/>
              </a:ext>
            </a:extLst>
          </p:cNvPr>
          <p:cNvCxnSpPr>
            <a:cxnSpLocks noChangeShapeType="1"/>
          </p:cNvCxnSpPr>
          <p:nvPr/>
        </p:nvCxnSpPr>
        <p:spPr bwMode="auto">
          <a:xfrm>
            <a:off x="3665984" y="4309864"/>
            <a:ext cx="914400" cy="1588"/>
          </a:xfrm>
          <a:prstGeom prst="line">
            <a:avLst/>
          </a:prstGeom>
          <a:noFill/>
          <a:ln w="19050">
            <a:solidFill>
              <a:schemeClr val="accent1"/>
            </a:solidFill>
            <a:round/>
            <a:headEnd/>
            <a:tailEn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65400ABC-EB10-A2B9-5C2E-BA429F45DA77}"/>
              </a:ext>
            </a:extLst>
          </p:cNvPr>
          <p:cNvSpPr>
            <a:spLocks noGrp="1"/>
          </p:cNvSpPr>
          <p:nvPr>
            <p:ph type="title"/>
          </p:nvPr>
        </p:nvSpPr>
        <p:spPr/>
        <p:txBody>
          <a:bodyPr/>
          <a:lstStyle/>
          <a:p>
            <a:pPr eaLnBrk="1" hangingPunct="1"/>
            <a:r>
              <a:rPr lang="en-US" altLang="en-US" sz="3600" dirty="0">
                <a:ea typeface="ＭＳ Ｐゴシック" panose="020B0600070205080204" pitchFamily="34" charset="-128"/>
              </a:rPr>
              <a:t>Data block represented as ‘State’</a:t>
            </a:r>
          </a:p>
        </p:txBody>
      </p:sp>
      <p:pic>
        <p:nvPicPr>
          <p:cNvPr id="36867" name="Picture 14">
            <a:extLst>
              <a:ext uri="{FF2B5EF4-FFF2-40B4-BE49-F238E27FC236}">
                <a16:creationId xmlns:a16="http://schemas.microsoft.com/office/drawing/2014/main" id="{7C05577C-D0B2-64D4-D96A-A1986DF754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83783"/>
          <a:stretch/>
        </p:blipFill>
        <p:spPr bwMode="auto">
          <a:xfrm>
            <a:off x="746125" y="1772816"/>
            <a:ext cx="76517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a:extLst>
              <a:ext uri="{FF2B5EF4-FFF2-40B4-BE49-F238E27FC236}">
                <a16:creationId xmlns:a16="http://schemas.microsoft.com/office/drawing/2014/main" id="{6B09F9CF-FBB5-677F-B71C-EFA98B45B079}"/>
              </a:ext>
            </a:extLst>
          </p:cNvPr>
          <p:cNvGrpSpPr/>
          <p:nvPr/>
        </p:nvGrpSpPr>
        <p:grpSpPr>
          <a:xfrm>
            <a:off x="1279987" y="2391941"/>
            <a:ext cx="6444704" cy="1483220"/>
            <a:chOff x="1852409" y="3313932"/>
            <a:chExt cx="6444704" cy="1483220"/>
          </a:xfrm>
        </p:grpSpPr>
        <p:pic>
          <p:nvPicPr>
            <p:cNvPr id="4" name="Picture 14">
              <a:extLst>
                <a:ext uri="{FF2B5EF4-FFF2-40B4-BE49-F238E27FC236}">
                  <a16:creationId xmlns:a16="http://schemas.microsoft.com/office/drawing/2014/main" id="{77923490-6335-CCE2-F902-935EF14DAD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775" t="28581" b="33698"/>
            <a:stretch/>
          </p:blipFill>
          <p:spPr bwMode="auto">
            <a:xfrm>
              <a:off x="1852409" y="3313932"/>
              <a:ext cx="6444704"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08BFCE23-453E-429B-0ACB-6788C544D9A3}"/>
                </a:ext>
              </a:extLst>
            </p:cNvPr>
            <p:cNvSpPr/>
            <p:nvPr/>
          </p:nvSpPr>
          <p:spPr>
            <a:xfrm>
              <a:off x="4067944" y="4653136"/>
              <a:ext cx="144016"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15FFA44-D417-E99A-EFE5-D48C41DC6825}"/>
                </a:ext>
              </a:extLst>
            </p:cNvPr>
            <p:cNvSpPr/>
            <p:nvPr/>
          </p:nvSpPr>
          <p:spPr>
            <a:xfrm>
              <a:off x="4109521" y="3317480"/>
              <a:ext cx="144016" cy="2301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E7B5A0A6-B91D-BEC2-2F72-5CA0870AFBFC}"/>
              </a:ext>
            </a:extLst>
          </p:cNvPr>
          <p:cNvSpPr txBox="1"/>
          <p:nvPr/>
        </p:nvSpPr>
        <p:spPr>
          <a:xfrm>
            <a:off x="1249093" y="2114002"/>
            <a:ext cx="831381" cy="369332"/>
          </a:xfrm>
          <a:prstGeom prst="rect">
            <a:avLst/>
          </a:prstGeom>
          <a:noFill/>
        </p:spPr>
        <p:txBody>
          <a:bodyPr wrap="none" rtlCol="0">
            <a:spAutoFit/>
          </a:bodyPr>
          <a:lstStyle/>
          <a:p>
            <a:r>
              <a:rPr lang="en-US" dirty="0"/>
              <a:t>(bytes)</a:t>
            </a:r>
          </a:p>
        </p:txBody>
      </p:sp>
      <p:pic>
        <p:nvPicPr>
          <p:cNvPr id="7" name="Picture 14">
            <a:extLst>
              <a:ext uri="{FF2B5EF4-FFF2-40B4-BE49-F238E27FC236}">
                <a16:creationId xmlns:a16="http://schemas.microsoft.com/office/drawing/2014/main" id="{98E7F4AD-8447-15D1-1DB1-6881FB2FED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4564" y="4721540"/>
            <a:ext cx="6665339" cy="18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9A49B379-4AF5-DA77-018F-E2FBC3EF2AAC}"/>
              </a:ext>
            </a:extLst>
          </p:cNvPr>
          <p:cNvSpPr txBox="1"/>
          <p:nvPr/>
        </p:nvSpPr>
        <p:spPr>
          <a:xfrm>
            <a:off x="628650" y="4190001"/>
            <a:ext cx="3653180" cy="369332"/>
          </a:xfrm>
          <a:prstGeom prst="rect">
            <a:avLst/>
          </a:prstGeom>
          <a:noFill/>
        </p:spPr>
        <p:txBody>
          <a:bodyPr wrap="none" rtlCol="0">
            <a:spAutoFit/>
          </a:bodyPr>
          <a:lstStyle/>
          <a:p>
            <a:r>
              <a:rPr lang="en-US" altLang="en-US" dirty="0">
                <a:ea typeface="ＭＳ Ｐゴシック" panose="020B0600070205080204" pitchFamily="34" charset="-128"/>
              </a:rPr>
              <a:t>Example - changing plaintext to State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4074BC3C-4F6E-6573-3D19-09DBBE60320C}"/>
              </a:ext>
            </a:extLst>
          </p:cNvPr>
          <p:cNvSpPr>
            <a:spLocks noGrp="1"/>
          </p:cNvSpPr>
          <p:nvPr>
            <p:ph type="title"/>
          </p:nvPr>
        </p:nvSpPr>
        <p:spPr/>
        <p:txBody>
          <a:bodyPr/>
          <a:lstStyle/>
          <a:p>
            <a:pPr eaLnBrk="1" hangingPunct="1"/>
            <a:r>
              <a:rPr lang="en-US" altLang="en-US" dirty="0">
                <a:ea typeface="ＭＳ Ｐゴシック" panose="020B0600070205080204" pitchFamily="34" charset="-128"/>
              </a:rPr>
              <a:t>Details of each round</a:t>
            </a:r>
          </a:p>
        </p:txBody>
      </p:sp>
      <p:pic>
        <p:nvPicPr>
          <p:cNvPr id="39939" name="Picture 15">
            <a:extLst>
              <a:ext uri="{FF2B5EF4-FFF2-40B4-BE49-F238E27FC236}">
                <a16:creationId xmlns:a16="http://schemas.microsoft.com/office/drawing/2014/main" id="{C0C204FD-E302-314B-2C1A-FEBF2F986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96752"/>
            <a:ext cx="5288786" cy="5448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FE08FF2A-5384-327B-8CA2-F6265245EA53}"/>
              </a:ext>
            </a:extLst>
          </p:cNvPr>
          <p:cNvSpPr>
            <a:spLocks noGrp="1"/>
          </p:cNvSpPr>
          <p:nvPr>
            <p:ph type="title"/>
          </p:nvPr>
        </p:nvSpPr>
        <p:spPr/>
        <p:txBody>
          <a:bodyPr/>
          <a:lstStyle/>
          <a:p>
            <a:r>
              <a:rPr lang="en-US" altLang="en-US"/>
              <a:t>SubBytes Operation</a:t>
            </a:r>
          </a:p>
        </p:txBody>
      </p:sp>
      <p:sp>
        <p:nvSpPr>
          <p:cNvPr id="44035" name="Content Placeholder 2">
            <a:extLst>
              <a:ext uri="{FF2B5EF4-FFF2-40B4-BE49-F238E27FC236}">
                <a16:creationId xmlns:a16="http://schemas.microsoft.com/office/drawing/2014/main" id="{C19B42EB-29B1-6836-DEFC-A4349F7C8ED8}"/>
              </a:ext>
            </a:extLst>
          </p:cNvPr>
          <p:cNvSpPr>
            <a:spLocks noGrp="1"/>
          </p:cNvSpPr>
          <p:nvPr>
            <p:ph sz="quarter" idx="11"/>
          </p:nvPr>
        </p:nvSpPr>
        <p:spPr>
          <a:xfrm>
            <a:off x="230788" y="1340768"/>
            <a:ext cx="7869604" cy="1050008"/>
          </a:xfrm>
        </p:spPr>
        <p:txBody>
          <a:bodyPr/>
          <a:lstStyle/>
          <a:p>
            <a:pPr marL="0" indent="0">
              <a:buNone/>
            </a:pPr>
            <a:r>
              <a:rPr lang="en-US" altLang="en-US" sz="2400" dirty="0"/>
              <a:t>The </a:t>
            </a:r>
            <a:r>
              <a:rPr lang="en-US" altLang="en-US" sz="2400" dirty="0" err="1"/>
              <a:t>SubBytes</a:t>
            </a:r>
            <a:r>
              <a:rPr lang="en-US" altLang="en-US" sz="2400" dirty="0"/>
              <a:t> operation involves 16 independent byte-to-byte substitutions.</a:t>
            </a:r>
          </a:p>
          <a:p>
            <a:endParaRPr lang="en-US" altLang="en-US" sz="2400" dirty="0"/>
          </a:p>
        </p:txBody>
      </p:sp>
      <p:pic>
        <p:nvPicPr>
          <p:cNvPr id="44036" name="Picture 5">
            <a:extLst>
              <a:ext uri="{FF2B5EF4-FFF2-40B4-BE49-F238E27FC236}">
                <a16:creationId xmlns:a16="http://schemas.microsoft.com/office/drawing/2014/main" id="{4B177EA9-0561-250C-6C3F-4042B2681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6514" y="2390776"/>
            <a:ext cx="7023100" cy="4127500"/>
          </a:xfrm>
          <a:prstGeom prst="rect">
            <a:avLst/>
          </a:prstGeom>
          <a:noFill/>
          <a:ln>
            <a:noFill/>
          </a:ln>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6BF83AB1-1D05-AE32-1C53-9F97109F8AF4}"/>
              </a:ext>
            </a:extLst>
          </p:cNvPr>
          <p:cNvSpPr>
            <a:spLocks noChangeArrowheads="1"/>
          </p:cNvSpPr>
          <p:nvPr/>
        </p:nvSpPr>
        <p:spPr bwMode="auto">
          <a:xfrm>
            <a:off x="107504" y="6502668"/>
            <a:ext cx="4968552" cy="338554"/>
          </a:xfrm>
          <a:prstGeom prst="rect">
            <a:avLst/>
          </a:prstGeom>
          <a:noFill/>
          <a:ln w="9525">
            <a:noFill/>
            <a:miter lim="800000"/>
            <a:headEnd/>
            <a:tailEnd/>
          </a:ln>
        </p:spPr>
        <p:txBody>
          <a:bodyPr wrap="square">
            <a:spAutoFit/>
          </a:bodyPr>
          <a:lstStyle/>
          <a:p>
            <a:pPr>
              <a:buClr>
                <a:schemeClr val="accent1">
                  <a:lumMod val="75000"/>
                </a:schemeClr>
              </a:buClr>
              <a:defRPr/>
            </a:pPr>
            <a:r>
              <a:rPr lang="en-US" sz="1600" b="1" dirty="0">
                <a:solidFill>
                  <a:schemeClr val="accent2">
                    <a:lumMod val="50000"/>
                  </a:schemeClr>
                </a:solidFill>
                <a:latin typeface="+mn-lt"/>
                <a:ea typeface="+mn-ea"/>
              </a:rPr>
              <a:t>* Interpret a byte as two hexadecimal digits </a:t>
            </a:r>
            <a:r>
              <a:rPr lang="en-US" sz="1600" b="1" i="1" dirty="0" err="1">
                <a:solidFill>
                  <a:schemeClr val="accent2">
                    <a:lumMod val="50000"/>
                  </a:schemeClr>
                </a:solidFill>
                <a:latin typeface="+mn-lt"/>
                <a:ea typeface="+mn-ea"/>
              </a:rPr>
              <a:t>xy</a:t>
            </a:r>
            <a:endParaRPr lang="en-US" sz="1600" b="1" dirty="0">
              <a:solidFill>
                <a:schemeClr val="accent2">
                  <a:lumMod val="50000"/>
                </a:schemeClr>
              </a:solidFill>
              <a:latin typeface="+mn-lt"/>
              <a:ea typeface="+mn-ea"/>
            </a:endParaRPr>
          </a:p>
        </p:txBody>
      </p:sp>
      <p:sp>
        <p:nvSpPr>
          <p:cNvPr id="44038" name="Rectangle 5">
            <a:extLst>
              <a:ext uri="{FF2B5EF4-FFF2-40B4-BE49-F238E27FC236}">
                <a16:creationId xmlns:a16="http://schemas.microsoft.com/office/drawing/2014/main" id="{FBFADCFF-F8AC-B195-55DB-289B92A27738}"/>
              </a:ext>
            </a:extLst>
          </p:cNvPr>
          <p:cNvSpPr>
            <a:spLocks noChangeArrowheads="1"/>
          </p:cNvSpPr>
          <p:nvPr/>
        </p:nvSpPr>
        <p:spPr bwMode="auto">
          <a:xfrm>
            <a:off x="446856" y="3377771"/>
            <a:ext cx="1584088" cy="369332"/>
          </a:xfrm>
          <a:prstGeom prst="rect">
            <a:avLst/>
          </a:prstGeom>
          <a:solidFill>
            <a:srgbClr val="DAEBFB"/>
          </a:solidFill>
          <a:ln>
            <a:noFill/>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 Let S</a:t>
            </a:r>
            <a:r>
              <a:rPr lang="en-US" altLang="en-US" sz="1800" baseline="-25000" dirty="0"/>
              <a:t>1,1</a:t>
            </a:r>
            <a:r>
              <a:rPr lang="en-US" altLang="en-US" sz="1800" dirty="0"/>
              <a:t> = </a:t>
            </a:r>
            <a:r>
              <a:rPr lang="en-US" altLang="en-US" sz="1800" dirty="0" err="1"/>
              <a:t>xy</a:t>
            </a:r>
            <a:endParaRPr lang="en-US" altLang="en-US" sz="1800" baseline="-25000" dirty="0"/>
          </a:p>
        </p:txBody>
      </p:sp>
      <p:sp>
        <p:nvSpPr>
          <p:cNvPr id="44039" name="Rectangle 6">
            <a:extLst>
              <a:ext uri="{FF2B5EF4-FFF2-40B4-BE49-F238E27FC236}">
                <a16:creationId xmlns:a16="http://schemas.microsoft.com/office/drawing/2014/main" id="{FD9B4F5D-8A86-7460-0062-E22FE6515329}"/>
              </a:ext>
            </a:extLst>
          </p:cNvPr>
          <p:cNvSpPr>
            <a:spLocks noChangeArrowheads="1"/>
          </p:cNvSpPr>
          <p:nvPr/>
        </p:nvSpPr>
        <p:spPr bwMode="auto">
          <a:xfrm>
            <a:off x="6660232" y="3213633"/>
            <a:ext cx="2129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Get S’</a:t>
            </a:r>
            <a:r>
              <a:rPr lang="en-US" altLang="en-US" sz="1800" baseline="-25000" dirty="0"/>
              <a:t>1,1</a:t>
            </a:r>
            <a:r>
              <a:rPr lang="en-US" altLang="en-US" sz="1800" dirty="0"/>
              <a:t> from table</a:t>
            </a:r>
            <a:endParaRPr lang="en-US" altLang="en-US" sz="1800" baseline="-25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E4F4986C-A4AA-2FC4-4837-3E555D385D50}"/>
              </a:ext>
            </a:extLst>
          </p:cNvPr>
          <p:cNvSpPr>
            <a:spLocks noGrp="1"/>
          </p:cNvSpPr>
          <p:nvPr>
            <p:ph type="title"/>
          </p:nvPr>
        </p:nvSpPr>
        <p:spPr/>
        <p:txBody>
          <a:bodyPr/>
          <a:lstStyle/>
          <a:p>
            <a:r>
              <a:rPr lang="en-US" altLang="en-US"/>
              <a:t>SubBytes Table</a:t>
            </a:r>
          </a:p>
        </p:txBody>
      </p:sp>
      <p:sp>
        <p:nvSpPr>
          <p:cNvPr id="41987" name="Content Placeholder 2">
            <a:extLst>
              <a:ext uri="{FF2B5EF4-FFF2-40B4-BE49-F238E27FC236}">
                <a16:creationId xmlns:a16="http://schemas.microsoft.com/office/drawing/2014/main" id="{243A61C9-AA1C-8342-19AF-4DDF937C17B0}"/>
              </a:ext>
            </a:extLst>
          </p:cNvPr>
          <p:cNvSpPr>
            <a:spLocks noGrp="1"/>
          </p:cNvSpPr>
          <p:nvPr>
            <p:ph sz="quarter" idx="11"/>
          </p:nvPr>
        </p:nvSpPr>
        <p:spPr/>
        <p:txBody>
          <a:bodyPr>
            <a:normAutofit/>
          </a:bodyPr>
          <a:lstStyle/>
          <a:p>
            <a:pPr marL="0" indent="0">
              <a:buNone/>
            </a:pPr>
            <a:r>
              <a:rPr lang="en-US" altLang="en-US" sz="2400" dirty="0"/>
              <a:t>Implemented by table lookup</a:t>
            </a:r>
          </a:p>
        </p:txBody>
      </p:sp>
      <p:pic>
        <p:nvPicPr>
          <p:cNvPr id="45060" name="Picture 3" descr="Screen shot 2011-06-26 at 4.29.05 PM.png">
            <a:extLst>
              <a:ext uri="{FF2B5EF4-FFF2-40B4-BE49-F238E27FC236}">
                <a16:creationId xmlns:a16="http://schemas.microsoft.com/office/drawing/2014/main" id="{1B78CABC-334E-6654-F4E3-4337C29E73D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0450" y="2211660"/>
            <a:ext cx="702310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E166951B-813B-7203-3896-51727150F64B}"/>
              </a:ext>
            </a:extLst>
          </p:cNvPr>
          <p:cNvSpPr>
            <a:spLocks noGrp="1"/>
          </p:cNvSpPr>
          <p:nvPr>
            <p:ph type="title"/>
          </p:nvPr>
        </p:nvSpPr>
        <p:spPr/>
        <p:txBody>
          <a:bodyPr/>
          <a:lstStyle/>
          <a:p>
            <a:pPr eaLnBrk="1" hangingPunct="1"/>
            <a:r>
              <a:rPr lang="en-US" altLang="en-US">
                <a:ea typeface="ＭＳ Ｐゴシック" panose="020B0600070205080204" pitchFamily="34" charset="-128"/>
              </a:rPr>
              <a:t>InvSubBytes Table</a:t>
            </a:r>
          </a:p>
        </p:txBody>
      </p:sp>
      <p:pic>
        <p:nvPicPr>
          <p:cNvPr id="46083" name="Picture 5" descr="Screen shot 2011-06-26 at 4.30.55 PM.png">
            <a:extLst>
              <a:ext uri="{FF2B5EF4-FFF2-40B4-BE49-F238E27FC236}">
                <a16:creationId xmlns:a16="http://schemas.microsoft.com/office/drawing/2014/main" id="{77F87430-90BB-4B4C-8F38-BC3F65E527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220044"/>
            <a:ext cx="6921500"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CEFB17E7-9FA1-F4A5-FF01-23047E46A5BB}"/>
              </a:ext>
            </a:extLst>
          </p:cNvPr>
          <p:cNvSpPr>
            <a:spLocks noGrp="1"/>
          </p:cNvSpPr>
          <p:nvPr>
            <p:ph type="title"/>
          </p:nvPr>
        </p:nvSpPr>
        <p:spPr/>
        <p:txBody>
          <a:bodyPr/>
          <a:lstStyle/>
          <a:p>
            <a:r>
              <a:rPr lang="en-US" altLang="en-US" dirty="0" err="1"/>
              <a:t>SubByte</a:t>
            </a:r>
            <a:r>
              <a:rPr lang="en-US" altLang="en-US" dirty="0"/>
              <a:t> Example</a:t>
            </a:r>
          </a:p>
        </p:txBody>
      </p:sp>
      <p:sp>
        <p:nvSpPr>
          <p:cNvPr id="47107" name="Content Placeholder 2">
            <a:extLst>
              <a:ext uri="{FF2B5EF4-FFF2-40B4-BE49-F238E27FC236}">
                <a16:creationId xmlns:a16="http://schemas.microsoft.com/office/drawing/2014/main" id="{D2D1B5BA-EB08-9E04-6D2A-586EDACAF3B5}"/>
              </a:ext>
            </a:extLst>
          </p:cNvPr>
          <p:cNvSpPr>
            <a:spLocks noGrp="1"/>
          </p:cNvSpPr>
          <p:nvPr>
            <p:ph sz="quarter" idx="11"/>
          </p:nvPr>
        </p:nvSpPr>
        <p:spPr/>
        <p:txBody>
          <a:bodyPr/>
          <a:lstStyle/>
          <a:p>
            <a:r>
              <a:rPr lang="en-US" altLang="en-US" sz="2800" dirty="0"/>
              <a:t>The </a:t>
            </a:r>
            <a:r>
              <a:rPr lang="en-US" altLang="en-US" sz="2800" dirty="0" err="1"/>
              <a:t>SubBytes</a:t>
            </a:r>
            <a:r>
              <a:rPr lang="en-US" altLang="en-US" sz="2800" dirty="0"/>
              <a:t> and </a:t>
            </a:r>
            <a:r>
              <a:rPr lang="en-US" altLang="en-US" sz="2800" dirty="0" err="1"/>
              <a:t>InvSubBytes</a:t>
            </a:r>
            <a:r>
              <a:rPr lang="en-US" altLang="en-US" sz="2800" dirty="0"/>
              <a:t> transformations are inverses of each other.</a:t>
            </a:r>
          </a:p>
          <a:p>
            <a:endParaRPr lang="en-US" altLang="en-US" sz="2800" dirty="0"/>
          </a:p>
        </p:txBody>
      </p:sp>
      <p:pic>
        <p:nvPicPr>
          <p:cNvPr id="47108" name="Picture 16">
            <a:extLst>
              <a:ext uri="{FF2B5EF4-FFF2-40B4-BE49-F238E27FC236}">
                <a16:creationId xmlns:a16="http://schemas.microsoft.com/office/drawing/2014/main" id="{A9C38AD7-02FB-A00D-C9C7-A000535C0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562" y="3212976"/>
            <a:ext cx="8016875"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29843A8-19E6-4B1C-2FE5-23BA469EB433}"/>
              </a:ext>
            </a:extLst>
          </p:cNvPr>
          <p:cNvSpPr>
            <a:spLocks noGrp="1" noChangeArrowheads="1"/>
          </p:cNvSpPr>
          <p:nvPr>
            <p:ph type="title"/>
          </p:nvPr>
        </p:nvSpPr>
        <p:spPr/>
        <p:txBody>
          <a:bodyPr/>
          <a:lstStyle/>
          <a:p>
            <a:r>
              <a:rPr lang="en-AU" altLang="en-US"/>
              <a:t>ShiftRows</a:t>
            </a:r>
          </a:p>
        </p:txBody>
      </p:sp>
      <p:sp>
        <p:nvSpPr>
          <p:cNvPr id="48131" name="Rectangle 3">
            <a:extLst>
              <a:ext uri="{FF2B5EF4-FFF2-40B4-BE49-F238E27FC236}">
                <a16:creationId xmlns:a16="http://schemas.microsoft.com/office/drawing/2014/main" id="{01B21E80-996C-C43D-101D-A1F182F8A9C1}"/>
              </a:ext>
            </a:extLst>
          </p:cNvPr>
          <p:cNvSpPr>
            <a:spLocks noGrp="1" noChangeArrowheads="1"/>
          </p:cNvSpPr>
          <p:nvPr>
            <p:ph sz="quarter" idx="11"/>
          </p:nvPr>
        </p:nvSpPr>
        <p:spPr>
          <a:xfrm>
            <a:off x="467544" y="1560612"/>
            <a:ext cx="6972076" cy="4676700"/>
          </a:xfrm>
        </p:spPr>
        <p:txBody>
          <a:bodyPr/>
          <a:lstStyle/>
          <a:p>
            <a:r>
              <a:rPr lang="en-US" altLang="en-US" sz="2800" dirty="0"/>
              <a:t>Shifting permutes the bytes. </a:t>
            </a:r>
          </a:p>
          <a:p>
            <a:r>
              <a:rPr lang="en-US" altLang="en-US" sz="2800" dirty="0"/>
              <a:t>Do a circular byte shift in each row</a:t>
            </a:r>
          </a:p>
          <a:p>
            <a:pPr lvl="1"/>
            <a:r>
              <a:rPr lang="en-US" altLang="en-US" sz="2400" dirty="0"/>
              <a:t>1st row is unchanged</a:t>
            </a:r>
          </a:p>
          <a:p>
            <a:pPr lvl="1"/>
            <a:r>
              <a:rPr lang="en-US" altLang="en-US" sz="2400" dirty="0"/>
              <a:t>2nd row does 1 byte circular shift to left</a:t>
            </a:r>
          </a:p>
          <a:p>
            <a:pPr lvl="1"/>
            <a:r>
              <a:rPr lang="en-US" altLang="en-US" sz="2400" dirty="0"/>
              <a:t>3rd row does 2 byte circular shift to left</a:t>
            </a:r>
          </a:p>
          <a:p>
            <a:pPr lvl="1"/>
            <a:r>
              <a:rPr lang="en-US" altLang="en-US" sz="2400" dirty="0"/>
              <a:t>4th row does 3 byte circular shift to left</a:t>
            </a:r>
          </a:p>
          <a:p>
            <a:r>
              <a:rPr lang="en-US" altLang="en-US" sz="2800" dirty="0"/>
              <a:t>In the encryption, the transformation is called </a:t>
            </a:r>
            <a:r>
              <a:rPr lang="en-US" altLang="en-US" sz="2800" dirty="0" err="1"/>
              <a:t>ShiftRows</a:t>
            </a:r>
            <a:endParaRPr lang="en-US" altLang="en-US" sz="2800" dirty="0"/>
          </a:p>
          <a:p>
            <a:r>
              <a:rPr lang="en-US" altLang="en-US" sz="2800" dirty="0"/>
              <a:t>In the decryption, the transformation is called </a:t>
            </a:r>
            <a:r>
              <a:rPr lang="en-US" altLang="en-US" sz="2800" dirty="0" err="1"/>
              <a:t>InvShiftRows</a:t>
            </a:r>
            <a:r>
              <a:rPr lang="en-US" altLang="en-US" sz="2800" dirty="0"/>
              <a:t> and the shifting is to the right</a:t>
            </a:r>
          </a:p>
          <a:p>
            <a:pPr lvl="1"/>
            <a:endParaRPr lang="en-AU" altLang="en-US" sz="2400" dirty="0"/>
          </a:p>
        </p:txBody>
      </p:sp>
      <p:grpSp>
        <p:nvGrpSpPr>
          <p:cNvPr id="4" name="Group 3">
            <a:extLst>
              <a:ext uri="{FF2B5EF4-FFF2-40B4-BE49-F238E27FC236}">
                <a16:creationId xmlns:a16="http://schemas.microsoft.com/office/drawing/2014/main" id="{056183B8-8159-72E8-891D-EBDB9D94093D}"/>
              </a:ext>
            </a:extLst>
          </p:cNvPr>
          <p:cNvGrpSpPr/>
          <p:nvPr/>
        </p:nvGrpSpPr>
        <p:grpSpPr>
          <a:xfrm>
            <a:off x="7452320" y="1916832"/>
            <a:ext cx="1219200" cy="3657600"/>
            <a:chOff x="7086600" y="1676400"/>
            <a:chExt cx="1219200" cy="3657600"/>
          </a:xfrm>
        </p:grpSpPr>
        <p:cxnSp>
          <p:nvCxnSpPr>
            <p:cNvPr id="48132" name="AutoShape 15">
              <a:extLst>
                <a:ext uri="{FF2B5EF4-FFF2-40B4-BE49-F238E27FC236}">
                  <a16:creationId xmlns:a16="http://schemas.microsoft.com/office/drawing/2014/main" id="{71A3D395-5EC9-200E-3610-5A221C686DAE}"/>
                </a:ext>
              </a:extLst>
            </p:cNvPr>
            <p:cNvCxnSpPr>
              <a:cxnSpLocks noChangeShapeType="1"/>
              <a:stCxn id="48151" idx="3"/>
            </p:cNvCxnSpPr>
            <p:nvPr/>
          </p:nvCxnSpPr>
          <p:spPr bwMode="auto">
            <a:xfrm flipH="1">
              <a:off x="7697788" y="2743200"/>
              <a:ext cx="11112" cy="546100"/>
            </a:xfrm>
            <a:prstGeom prst="straightConnector1">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48133" name="AutoShape 16">
              <a:extLst>
                <a:ext uri="{FF2B5EF4-FFF2-40B4-BE49-F238E27FC236}">
                  <a16:creationId xmlns:a16="http://schemas.microsoft.com/office/drawing/2014/main" id="{D6AB3608-009D-4334-7C9E-007C9EA5AF41}"/>
                </a:ext>
              </a:extLst>
            </p:cNvPr>
            <p:cNvCxnSpPr>
              <a:cxnSpLocks noChangeShapeType="1"/>
            </p:cNvCxnSpPr>
            <p:nvPr/>
          </p:nvCxnSpPr>
          <p:spPr bwMode="auto">
            <a:xfrm>
              <a:off x="7696200" y="3771900"/>
              <a:ext cx="0" cy="342900"/>
            </a:xfrm>
            <a:prstGeom prst="straightConnector1">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cxnSp>
        <p:sp>
          <p:nvSpPr>
            <p:cNvPr id="48134" name="Rectangle 17">
              <a:extLst>
                <a:ext uri="{FF2B5EF4-FFF2-40B4-BE49-F238E27FC236}">
                  <a16:creationId xmlns:a16="http://schemas.microsoft.com/office/drawing/2014/main" id="{3B4FDE35-0BD3-09E8-B7E9-84EB0AB943E6}"/>
                </a:ext>
              </a:extLst>
            </p:cNvPr>
            <p:cNvSpPr>
              <a:spLocks noChangeArrowheads="1"/>
            </p:cNvSpPr>
            <p:nvPr/>
          </p:nvSpPr>
          <p:spPr bwMode="auto">
            <a:xfrm>
              <a:off x="7467600" y="3276600"/>
              <a:ext cx="457200" cy="457200"/>
            </a:xfrm>
            <a:prstGeom prst="rect">
              <a:avLst/>
            </a:prstGeom>
            <a:solidFill>
              <a:srgbClr val="FFFF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35" name="Line 19">
              <a:extLst>
                <a:ext uri="{FF2B5EF4-FFF2-40B4-BE49-F238E27FC236}">
                  <a16:creationId xmlns:a16="http://schemas.microsoft.com/office/drawing/2014/main" id="{3D460055-BE33-9F81-2652-C529207B3861}"/>
                </a:ext>
              </a:extLst>
            </p:cNvPr>
            <p:cNvSpPr>
              <a:spLocks noChangeShapeType="1"/>
            </p:cNvSpPr>
            <p:nvPr/>
          </p:nvSpPr>
          <p:spPr bwMode="auto">
            <a:xfrm flipH="1">
              <a:off x="7467600" y="3276600"/>
              <a:ext cx="457200" cy="457200"/>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48136" name="Line 20">
              <a:extLst>
                <a:ext uri="{FF2B5EF4-FFF2-40B4-BE49-F238E27FC236}">
                  <a16:creationId xmlns:a16="http://schemas.microsoft.com/office/drawing/2014/main" id="{17505266-D6BF-E8C0-4B58-21D8EFDBBBBD}"/>
                </a:ext>
              </a:extLst>
            </p:cNvPr>
            <p:cNvSpPr>
              <a:spLocks noChangeShapeType="1"/>
            </p:cNvSpPr>
            <p:nvPr/>
          </p:nvSpPr>
          <p:spPr bwMode="auto">
            <a:xfrm flipH="1">
              <a:off x="7543800" y="3657600"/>
              <a:ext cx="381000"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48137" name="Rectangle 21">
              <a:extLst>
                <a:ext uri="{FF2B5EF4-FFF2-40B4-BE49-F238E27FC236}">
                  <a16:creationId xmlns:a16="http://schemas.microsoft.com/office/drawing/2014/main" id="{87D9F308-7437-AE72-747A-05DA66400886}"/>
                </a:ext>
              </a:extLst>
            </p:cNvPr>
            <p:cNvSpPr>
              <a:spLocks noChangeArrowheads="1"/>
            </p:cNvSpPr>
            <p:nvPr/>
          </p:nvSpPr>
          <p:spPr bwMode="auto">
            <a:xfrm>
              <a:off x="7086600" y="16764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38" name="Rectangle 22">
              <a:extLst>
                <a:ext uri="{FF2B5EF4-FFF2-40B4-BE49-F238E27FC236}">
                  <a16:creationId xmlns:a16="http://schemas.microsoft.com/office/drawing/2014/main" id="{D044C10E-87AA-254D-9E0C-7975337D530D}"/>
                </a:ext>
              </a:extLst>
            </p:cNvPr>
            <p:cNvSpPr>
              <a:spLocks noChangeArrowheads="1"/>
            </p:cNvSpPr>
            <p:nvPr/>
          </p:nvSpPr>
          <p:spPr bwMode="auto">
            <a:xfrm>
              <a:off x="7391400" y="16764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39" name="Rectangle 23">
              <a:extLst>
                <a:ext uri="{FF2B5EF4-FFF2-40B4-BE49-F238E27FC236}">
                  <a16:creationId xmlns:a16="http://schemas.microsoft.com/office/drawing/2014/main" id="{831DC27F-167C-75FE-4FEA-DA0AF83E2D94}"/>
                </a:ext>
              </a:extLst>
            </p:cNvPr>
            <p:cNvSpPr>
              <a:spLocks noChangeArrowheads="1"/>
            </p:cNvSpPr>
            <p:nvPr/>
          </p:nvSpPr>
          <p:spPr bwMode="auto">
            <a:xfrm>
              <a:off x="7696200" y="16764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0" name="Rectangle 24">
              <a:extLst>
                <a:ext uri="{FF2B5EF4-FFF2-40B4-BE49-F238E27FC236}">
                  <a16:creationId xmlns:a16="http://schemas.microsoft.com/office/drawing/2014/main" id="{7134B440-2CC9-1967-A97B-204222E96DCA}"/>
                </a:ext>
              </a:extLst>
            </p:cNvPr>
            <p:cNvSpPr>
              <a:spLocks noChangeArrowheads="1"/>
            </p:cNvSpPr>
            <p:nvPr/>
          </p:nvSpPr>
          <p:spPr bwMode="auto">
            <a:xfrm>
              <a:off x="8001000" y="16764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1" name="Rectangle 25">
              <a:extLst>
                <a:ext uri="{FF2B5EF4-FFF2-40B4-BE49-F238E27FC236}">
                  <a16:creationId xmlns:a16="http://schemas.microsoft.com/office/drawing/2014/main" id="{7A73F183-B694-5D27-E6AE-E903735C430C}"/>
                </a:ext>
              </a:extLst>
            </p:cNvPr>
            <p:cNvSpPr>
              <a:spLocks noChangeArrowheads="1"/>
            </p:cNvSpPr>
            <p:nvPr/>
          </p:nvSpPr>
          <p:spPr bwMode="auto">
            <a:xfrm>
              <a:off x="7086600" y="19812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2" name="Rectangle 26">
              <a:extLst>
                <a:ext uri="{FF2B5EF4-FFF2-40B4-BE49-F238E27FC236}">
                  <a16:creationId xmlns:a16="http://schemas.microsoft.com/office/drawing/2014/main" id="{38D8154E-7413-4D46-2476-6596A3647E2C}"/>
                </a:ext>
              </a:extLst>
            </p:cNvPr>
            <p:cNvSpPr>
              <a:spLocks noChangeArrowheads="1"/>
            </p:cNvSpPr>
            <p:nvPr/>
          </p:nvSpPr>
          <p:spPr bwMode="auto">
            <a:xfrm>
              <a:off x="7391400" y="19812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3" name="Rectangle 27">
              <a:extLst>
                <a:ext uri="{FF2B5EF4-FFF2-40B4-BE49-F238E27FC236}">
                  <a16:creationId xmlns:a16="http://schemas.microsoft.com/office/drawing/2014/main" id="{F3490227-65C0-3135-9DB6-B33801A65342}"/>
                </a:ext>
              </a:extLst>
            </p:cNvPr>
            <p:cNvSpPr>
              <a:spLocks noChangeArrowheads="1"/>
            </p:cNvSpPr>
            <p:nvPr/>
          </p:nvSpPr>
          <p:spPr bwMode="auto">
            <a:xfrm>
              <a:off x="7696200" y="19812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4" name="Rectangle 28">
              <a:extLst>
                <a:ext uri="{FF2B5EF4-FFF2-40B4-BE49-F238E27FC236}">
                  <a16:creationId xmlns:a16="http://schemas.microsoft.com/office/drawing/2014/main" id="{DF22DDB2-0577-4897-FA48-B53AE9520E88}"/>
                </a:ext>
              </a:extLst>
            </p:cNvPr>
            <p:cNvSpPr>
              <a:spLocks noChangeArrowheads="1"/>
            </p:cNvSpPr>
            <p:nvPr/>
          </p:nvSpPr>
          <p:spPr bwMode="auto">
            <a:xfrm>
              <a:off x="8001000" y="19812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5" name="Rectangle 29">
              <a:extLst>
                <a:ext uri="{FF2B5EF4-FFF2-40B4-BE49-F238E27FC236}">
                  <a16:creationId xmlns:a16="http://schemas.microsoft.com/office/drawing/2014/main" id="{2142E9D1-1984-F663-432D-0329EC8E066D}"/>
                </a:ext>
              </a:extLst>
            </p:cNvPr>
            <p:cNvSpPr>
              <a:spLocks noChangeArrowheads="1"/>
            </p:cNvSpPr>
            <p:nvPr/>
          </p:nvSpPr>
          <p:spPr bwMode="auto">
            <a:xfrm>
              <a:off x="7391400" y="22860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6" name="Rectangle 30">
              <a:extLst>
                <a:ext uri="{FF2B5EF4-FFF2-40B4-BE49-F238E27FC236}">
                  <a16:creationId xmlns:a16="http://schemas.microsoft.com/office/drawing/2014/main" id="{FA296334-C350-F795-85FE-9767B09F2811}"/>
                </a:ext>
              </a:extLst>
            </p:cNvPr>
            <p:cNvSpPr>
              <a:spLocks noChangeArrowheads="1"/>
            </p:cNvSpPr>
            <p:nvPr/>
          </p:nvSpPr>
          <p:spPr bwMode="auto">
            <a:xfrm>
              <a:off x="7696200" y="25908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7" name="Rectangle 31">
              <a:extLst>
                <a:ext uri="{FF2B5EF4-FFF2-40B4-BE49-F238E27FC236}">
                  <a16:creationId xmlns:a16="http://schemas.microsoft.com/office/drawing/2014/main" id="{8B15A62A-054C-55BC-8CD6-63AACC3DB6DF}"/>
                </a:ext>
              </a:extLst>
            </p:cNvPr>
            <p:cNvSpPr>
              <a:spLocks noChangeArrowheads="1"/>
            </p:cNvSpPr>
            <p:nvPr/>
          </p:nvSpPr>
          <p:spPr bwMode="auto">
            <a:xfrm>
              <a:off x="7696200" y="22860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8" name="Rectangle 32">
              <a:extLst>
                <a:ext uri="{FF2B5EF4-FFF2-40B4-BE49-F238E27FC236}">
                  <a16:creationId xmlns:a16="http://schemas.microsoft.com/office/drawing/2014/main" id="{687D8351-BD3B-CCB3-95AA-BD1F5C2A8685}"/>
                </a:ext>
              </a:extLst>
            </p:cNvPr>
            <p:cNvSpPr>
              <a:spLocks noChangeArrowheads="1"/>
            </p:cNvSpPr>
            <p:nvPr/>
          </p:nvSpPr>
          <p:spPr bwMode="auto">
            <a:xfrm>
              <a:off x="7086600" y="22860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49" name="Rectangle 33">
              <a:extLst>
                <a:ext uri="{FF2B5EF4-FFF2-40B4-BE49-F238E27FC236}">
                  <a16:creationId xmlns:a16="http://schemas.microsoft.com/office/drawing/2014/main" id="{5EE20382-F7D4-A055-468F-7E698CA2813B}"/>
                </a:ext>
              </a:extLst>
            </p:cNvPr>
            <p:cNvSpPr>
              <a:spLocks noChangeArrowheads="1"/>
            </p:cNvSpPr>
            <p:nvPr/>
          </p:nvSpPr>
          <p:spPr bwMode="auto">
            <a:xfrm>
              <a:off x="8001000" y="22860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0" name="Rectangle 34">
              <a:extLst>
                <a:ext uri="{FF2B5EF4-FFF2-40B4-BE49-F238E27FC236}">
                  <a16:creationId xmlns:a16="http://schemas.microsoft.com/office/drawing/2014/main" id="{5B26EA32-6EA7-A43A-A086-A5CF6FAFE87B}"/>
                </a:ext>
              </a:extLst>
            </p:cNvPr>
            <p:cNvSpPr>
              <a:spLocks noChangeArrowheads="1"/>
            </p:cNvSpPr>
            <p:nvPr/>
          </p:nvSpPr>
          <p:spPr bwMode="auto">
            <a:xfrm>
              <a:off x="7086600" y="25908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1" name="Rectangle 35">
              <a:extLst>
                <a:ext uri="{FF2B5EF4-FFF2-40B4-BE49-F238E27FC236}">
                  <a16:creationId xmlns:a16="http://schemas.microsoft.com/office/drawing/2014/main" id="{8CF6BFD5-41B3-0DB6-5F59-BEFEB54183AD}"/>
                </a:ext>
              </a:extLst>
            </p:cNvPr>
            <p:cNvSpPr>
              <a:spLocks noChangeArrowheads="1"/>
            </p:cNvSpPr>
            <p:nvPr/>
          </p:nvSpPr>
          <p:spPr bwMode="auto">
            <a:xfrm>
              <a:off x="7391400" y="25908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2" name="Rectangle 36">
              <a:extLst>
                <a:ext uri="{FF2B5EF4-FFF2-40B4-BE49-F238E27FC236}">
                  <a16:creationId xmlns:a16="http://schemas.microsoft.com/office/drawing/2014/main" id="{41C03416-D7AC-FDB6-5796-6F92B8DB084E}"/>
                </a:ext>
              </a:extLst>
            </p:cNvPr>
            <p:cNvSpPr>
              <a:spLocks noChangeArrowheads="1"/>
            </p:cNvSpPr>
            <p:nvPr/>
          </p:nvSpPr>
          <p:spPr bwMode="auto">
            <a:xfrm>
              <a:off x="8001000" y="25908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3" name="Rectangle 37">
              <a:extLst>
                <a:ext uri="{FF2B5EF4-FFF2-40B4-BE49-F238E27FC236}">
                  <a16:creationId xmlns:a16="http://schemas.microsoft.com/office/drawing/2014/main" id="{18923456-9AB6-A5C6-57BB-81EDEDEB9792}"/>
                </a:ext>
              </a:extLst>
            </p:cNvPr>
            <p:cNvSpPr>
              <a:spLocks noChangeArrowheads="1"/>
            </p:cNvSpPr>
            <p:nvPr/>
          </p:nvSpPr>
          <p:spPr bwMode="auto">
            <a:xfrm>
              <a:off x="7086600" y="41148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4" name="Rectangle 38">
              <a:extLst>
                <a:ext uri="{FF2B5EF4-FFF2-40B4-BE49-F238E27FC236}">
                  <a16:creationId xmlns:a16="http://schemas.microsoft.com/office/drawing/2014/main" id="{4AEDAF61-BB29-85B1-59AD-70F86E1D6678}"/>
                </a:ext>
              </a:extLst>
            </p:cNvPr>
            <p:cNvSpPr>
              <a:spLocks noChangeArrowheads="1"/>
            </p:cNvSpPr>
            <p:nvPr/>
          </p:nvSpPr>
          <p:spPr bwMode="auto">
            <a:xfrm>
              <a:off x="7391400" y="41148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5" name="Rectangle 39">
              <a:extLst>
                <a:ext uri="{FF2B5EF4-FFF2-40B4-BE49-F238E27FC236}">
                  <a16:creationId xmlns:a16="http://schemas.microsoft.com/office/drawing/2014/main" id="{652CF035-953A-635F-B170-A41F971E789B}"/>
                </a:ext>
              </a:extLst>
            </p:cNvPr>
            <p:cNvSpPr>
              <a:spLocks noChangeArrowheads="1"/>
            </p:cNvSpPr>
            <p:nvPr/>
          </p:nvSpPr>
          <p:spPr bwMode="auto">
            <a:xfrm>
              <a:off x="7696200" y="41148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6" name="Rectangle 40">
              <a:extLst>
                <a:ext uri="{FF2B5EF4-FFF2-40B4-BE49-F238E27FC236}">
                  <a16:creationId xmlns:a16="http://schemas.microsoft.com/office/drawing/2014/main" id="{35583335-AA66-007F-D9CE-122C2E4CDBC7}"/>
                </a:ext>
              </a:extLst>
            </p:cNvPr>
            <p:cNvSpPr>
              <a:spLocks noChangeArrowheads="1"/>
            </p:cNvSpPr>
            <p:nvPr/>
          </p:nvSpPr>
          <p:spPr bwMode="auto">
            <a:xfrm>
              <a:off x="8001000" y="41148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7" name="Rectangle 41">
              <a:extLst>
                <a:ext uri="{FF2B5EF4-FFF2-40B4-BE49-F238E27FC236}">
                  <a16:creationId xmlns:a16="http://schemas.microsoft.com/office/drawing/2014/main" id="{B304D3EC-6E19-7FE5-8D02-2D60C69584FB}"/>
                </a:ext>
              </a:extLst>
            </p:cNvPr>
            <p:cNvSpPr>
              <a:spLocks noChangeArrowheads="1"/>
            </p:cNvSpPr>
            <p:nvPr/>
          </p:nvSpPr>
          <p:spPr bwMode="auto">
            <a:xfrm>
              <a:off x="7086600" y="44196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8" name="Rectangle 42">
              <a:extLst>
                <a:ext uri="{FF2B5EF4-FFF2-40B4-BE49-F238E27FC236}">
                  <a16:creationId xmlns:a16="http://schemas.microsoft.com/office/drawing/2014/main" id="{2BBF15C8-D954-7252-FD20-E7F9C7681965}"/>
                </a:ext>
              </a:extLst>
            </p:cNvPr>
            <p:cNvSpPr>
              <a:spLocks noChangeArrowheads="1"/>
            </p:cNvSpPr>
            <p:nvPr/>
          </p:nvSpPr>
          <p:spPr bwMode="auto">
            <a:xfrm>
              <a:off x="7391400" y="44196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59" name="Rectangle 43">
              <a:extLst>
                <a:ext uri="{FF2B5EF4-FFF2-40B4-BE49-F238E27FC236}">
                  <a16:creationId xmlns:a16="http://schemas.microsoft.com/office/drawing/2014/main" id="{4A52255E-825E-E129-06C4-144BDF34D59A}"/>
                </a:ext>
              </a:extLst>
            </p:cNvPr>
            <p:cNvSpPr>
              <a:spLocks noChangeArrowheads="1"/>
            </p:cNvSpPr>
            <p:nvPr/>
          </p:nvSpPr>
          <p:spPr bwMode="auto">
            <a:xfrm>
              <a:off x="7696200" y="44196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0" name="Rectangle 44">
              <a:extLst>
                <a:ext uri="{FF2B5EF4-FFF2-40B4-BE49-F238E27FC236}">
                  <a16:creationId xmlns:a16="http://schemas.microsoft.com/office/drawing/2014/main" id="{A85FF3DD-3F1E-4CFC-01FF-D285C6FB5C94}"/>
                </a:ext>
              </a:extLst>
            </p:cNvPr>
            <p:cNvSpPr>
              <a:spLocks noChangeArrowheads="1"/>
            </p:cNvSpPr>
            <p:nvPr/>
          </p:nvSpPr>
          <p:spPr bwMode="auto">
            <a:xfrm>
              <a:off x="8001000" y="44196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1" name="Rectangle 45">
              <a:extLst>
                <a:ext uri="{FF2B5EF4-FFF2-40B4-BE49-F238E27FC236}">
                  <a16:creationId xmlns:a16="http://schemas.microsoft.com/office/drawing/2014/main" id="{D025F0AE-14F2-50EB-5C97-1F10B5976485}"/>
                </a:ext>
              </a:extLst>
            </p:cNvPr>
            <p:cNvSpPr>
              <a:spLocks noChangeArrowheads="1"/>
            </p:cNvSpPr>
            <p:nvPr/>
          </p:nvSpPr>
          <p:spPr bwMode="auto">
            <a:xfrm>
              <a:off x="7391400" y="47244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2" name="Rectangle 46">
              <a:extLst>
                <a:ext uri="{FF2B5EF4-FFF2-40B4-BE49-F238E27FC236}">
                  <a16:creationId xmlns:a16="http://schemas.microsoft.com/office/drawing/2014/main" id="{22F7E24D-E302-8DA2-2E53-93783E6E7D9E}"/>
                </a:ext>
              </a:extLst>
            </p:cNvPr>
            <p:cNvSpPr>
              <a:spLocks noChangeArrowheads="1"/>
            </p:cNvSpPr>
            <p:nvPr/>
          </p:nvSpPr>
          <p:spPr bwMode="auto">
            <a:xfrm>
              <a:off x="7696200" y="50292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3" name="Rectangle 47">
              <a:extLst>
                <a:ext uri="{FF2B5EF4-FFF2-40B4-BE49-F238E27FC236}">
                  <a16:creationId xmlns:a16="http://schemas.microsoft.com/office/drawing/2014/main" id="{E0DAA7F6-9A0A-62E2-A143-FE528F9A2C6A}"/>
                </a:ext>
              </a:extLst>
            </p:cNvPr>
            <p:cNvSpPr>
              <a:spLocks noChangeArrowheads="1"/>
            </p:cNvSpPr>
            <p:nvPr/>
          </p:nvSpPr>
          <p:spPr bwMode="auto">
            <a:xfrm>
              <a:off x="7696200" y="47244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4" name="Rectangle 48">
              <a:extLst>
                <a:ext uri="{FF2B5EF4-FFF2-40B4-BE49-F238E27FC236}">
                  <a16:creationId xmlns:a16="http://schemas.microsoft.com/office/drawing/2014/main" id="{0EC9A360-AEBE-9878-E83C-05785DCA86E4}"/>
                </a:ext>
              </a:extLst>
            </p:cNvPr>
            <p:cNvSpPr>
              <a:spLocks noChangeArrowheads="1"/>
            </p:cNvSpPr>
            <p:nvPr/>
          </p:nvSpPr>
          <p:spPr bwMode="auto">
            <a:xfrm>
              <a:off x="7086600" y="47244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5" name="Rectangle 49">
              <a:extLst>
                <a:ext uri="{FF2B5EF4-FFF2-40B4-BE49-F238E27FC236}">
                  <a16:creationId xmlns:a16="http://schemas.microsoft.com/office/drawing/2014/main" id="{1B08E390-B080-9CC8-205D-712A467CD5DC}"/>
                </a:ext>
              </a:extLst>
            </p:cNvPr>
            <p:cNvSpPr>
              <a:spLocks noChangeArrowheads="1"/>
            </p:cNvSpPr>
            <p:nvPr/>
          </p:nvSpPr>
          <p:spPr bwMode="auto">
            <a:xfrm>
              <a:off x="8001000" y="4724400"/>
              <a:ext cx="304800" cy="304800"/>
            </a:xfrm>
            <a:prstGeom prst="rect">
              <a:avLst/>
            </a:prstGeom>
            <a:solidFill>
              <a:srgbClr val="FEF802"/>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6" name="Rectangle 50">
              <a:extLst>
                <a:ext uri="{FF2B5EF4-FFF2-40B4-BE49-F238E27FC236}">
                  <a16:creationId xmlns:a16="http://schemas.microsoft.com/office/drawing/2014/main" id="{11BEBCE7-9D15-7103-2BDB-D33246E87141}"/>
                </a:ext>
              </a:extLst>
            </p:cNvPr>
            <p:cNvSpPr>
              <a:spLocks noChangeArrowheads="1"/>
            </p:cNvSpPr>
            <p:nvPr/>
          </p:nvSpPr>
          <p:spPr bwMode="auto">
            <a:xfrm>
              <a:off x="7086600" y="5029200"/>
              <a:ext cx="304800" cy="304800"/>
            </a:xfrm>
            <a:prstGeom prst="rect">
              <a:avLst/>
            </a:prstGeom>
            <a:solidFill>
              <a:srgbClr val="0000FF"/>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7" name="Rectangle 51">
              <a:extLst>
                <a:ext uri="{FF2B5EF4-FFF2-40B4-BE49-F238E27FC236}">
                  <a16:creationId xmlns:a16="http://schemas.microsoft.com/office/drawing/2014/main" id="{EE78E996-428A-7AF9-1EC5-A7C4E3E3BC29}"/>
                </a:ext>
              </a:extLst>
            </p:cNvPr>
            <p:cNvSpPr>
              <a:spLocks noChangeArrowheads="1"/>
            </p:cNvSpPr>
            <p:nvPr/>
          </p:nvSpPr>
          <p:spPr bwMode="auto">
            <a:xfrm>
              <a:off x="7391400" y="5029200"/>
              <a:ext cx="304800" cy="304800"/>
            </a:xfrm>
            <a:prstGeom prst="rect">
              <a:avLst/>
            </a:prstGeom>
            <a:solidFill>
              <a:srgbClr val="FF00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48168" name="Rectangle 52">
              <a:extLst>
                <a:ext uri="{FF2B5EF4-FFF2-40B4-BE49-F238E27FC236}">
                  <a16:creationId xmlns:a16="http://schemas.microsoft.com/office/drawing/2014/main" id="{4525DEED-3ABE-9DD0-0DFC-BA3E8BFA9448}"/>
                </a:ext>
              </a:extLst>
            </p:cNvPr>
            <p:cNvSpPr>
              <a:spLocks noChangeArrowheads="1"/>
            </p:cNvSpPr>
            <p:nvPr/>
          </p:nvSpPr>
          <p:spPr bwMode="auto">
            <a:xfrm>
              <a:off x="8001000" y="5029200"/>
              <a:ext cx="304800" cy="304800"/>
            </a:xfrm>
            <a:prstGeom prst="rect">
              <a:avLst/>
            </a:prstGeom>
            <a:solidFill>
              <a:srgbClr val="00FF00"/>
            </a:solidFill>
            <a:ln w="25400">
              <a:solidFill>
                <a:schemeClr val="tx1"/>
              </a:solidFill>
              <a:miter lim="800000"/>
              <a:headEnd/>
              <a:tailEnd type="none" w="med" len="lg"/>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B8C0D12-BF8E-8C28-7F63-90DDE18D2F50}"/>
              </a:ext>
            </a:extLst>
          </p:cNvPr>
          <p:cNvSpPr>
            <a:spLocks noGrp="1" noChangeArrowheads="1"/>
          </p:cNvSpPr>
          <p:nvPr>
            <p:ph type="title"/>
          </p:nvPr>
        </p:nvSpPr>
        <p:spPr/>
        <p:txBody>
          <a:bodyPr/>
          <a:lstStyle/>
          <a:p>
            <a:pPr eaLnBrk="1" hangingPunct="1"/>
            <a:r>
              <a:rPr lang="en-AU" altLang="en-US">
                <a:ea typeface="ＭＳ Ｐゴシック" panose="020B0600070205080204" pitchFamily="34" charset="-128"/>
              </a:rPr>
              <a:t>ShiftRows Scheme</a:t>
            </a:r>
          </a:p>
        </p:txBody>
      </p:sp>
      <p:sp>
        <p:nvSpPr>
          <p:cNvPr id="4" name="Content Placeholder 3">
            <a:extLst>
              <a:ext uri="{FF2B5EF4-FFF2-40B4-BE49-F238E27FC236}">
                <a16:creationId xmlns:a16="http://schemas.microsoft.com/office/drawing/2014/main" id="{2F3A221C-3D41-CAC1-8903-8F6D06728D53}"/>
              </a:ext>
            </a:extLst>
          </p:cNvPr>
          <p:cNvSpPr>
            <a:spLocks noGrp="1"/>
          </p:cNvSpPr>
          <p:nvPr>
            <p:ph sz="quarter" idx="11"/>
          </p:nvPr>
        </p:nvSpPr>
        <p:spPr/>
        <p:txBody>
          <a:bodyPr/>
          <a:lstStyle/>
          <a:p>
            <a:endParaRPr lang="en-US"/>
          </a:p>
        </p:txBody>
      </p:sp>
      <p:pic>
        <p:nvPicPr>
          <p:cNvPr id="50179" name="Picture 5">
            <a:extLst>
              <a:ext uri="{FF2B5EF4-FFF2-40B4-BE49-F238E27FC236}">
                <a16:creationId xmlns:a16="http://schemas.microsoft.com/office/drawing/2014/main" id="{A979E7B3-4ED1-09C0-BF96-8C6E1E58E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690689"/>
            <a:ext cx="7162800" cy="2349500"/>
          </a:xfrm>
          <a:prstGeom prst="rect">
            <a:avLst/>
          </a:prstGeom>
          <a:noFill/>
          <a:ln>
            <a:noFill/>
          </a:ln>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5">
            <a:extLst>
              <a:ext uri="{FF2B5EF4-FFF2-40B4-BE49-F238E27FC236}">
                <a16:creationId xmlns:a16="http://schemas.microsoft.com/office/drawing/2014/main" id="{01822FBC-E576-A6BC-CF01-8F947B8870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4341385"/>
            <a:ext cx="5472608" cy="2048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6253705-55DA-8319-B5C4-5062F7FD548C}"/>
              </a:ext>
            </a:extLst>
          </p:cNvPr>
          <p:cNvSpPr txBox="1"/>
          <p:nvPr/>
        </p:nvSpPr>
        <p:spPr>
          <a:xfrm>
            <a:off x="755576" y="4437112"/>
            <a:ext cx="977191" cy="369332"/>
          </a:xfrm>
          <a:prstGeom prst="rect">
            <a:avLst/>
          </a:prstGeom>
          <a:noFill/>
        </p:spPr>
        <p:txBody>
          <a:bodyPr wrap="none" rtlCol="0">
            <a:spAutoFit/>
          </a:bodyPr>
          <a:lstStyle/>
          <a:p>
            <a:r>
              <a:rPr lang="en-US" dirty="0"/>
              <a:t>Example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156AF0D-0097-47D7-5F9A-383FAEBD5AED}"/>
              </a:ext>
            </a:extLst>
          </p:cNvPr>
          <p:cNvSpPr>
            <a:spLocks noGrp="1" noChangeArrowheads="1"/>
          </p:cNvSpPr>
          <p:nvPr>
            <p:ph type="title"/>
          </p:nvPr>
        </p:nvSpPr>
        <p:spPr/>
        <p:txBody>
          <a:bodyPr/>
          <a:lstStyle/>
          <a:p>
            <a:r>
              <a:rPr lang="en-AU" altLang="en-US" dirty="0" err="1"/>
              <a:t>MixColumns</a:t>
            </a:r>
            <a:endParaRPr lang="en-AU" altLang="en-US" dirty="0"/>
          </a:p>
        </p:txBody>
      </p:sp>
      <p:sp>
        <p:nvSpPr>
          <p:cNvPr id="53251" name="Rectangle 3">
            <a:extLst>
              <a:ext uri="{FF2B5EF4-FFF2-40B4-BE49-F238E27FC236}">
                <a16:creationId xmlns:a16="http://schemas.microsoft.com/office/drawing/2014/main" id="{EEB2E17A-55A8-2C02-E576-68EBCB746D6F}"/>
              </a:ext>
            </a:extLst>
          </p:cNvPr>
          <p:cNvSpPr>
            <a:spLocks noGrp="1" noChangeArrowheads="1"/>
          </p:cNvSpPr>
          <p:nvPr>
            <p:ph sz="quarter" idx="11"/>
          </p:nvPr>
        </p:nvSpPr>
        <p:spPr/>
        <p:txBody>
          <a:bodyPr/>
          <a:lstStyle/>
          <a:p>
            <a:r>
              <a:rPr lang="en-US" altLang="en-US" sz="2800" dirty="0" err="1"/>
              <a:t>ShiftRows</a:t>
            </a:r>
            <a:r>
              <a:rPr lang="en-US" altLang="en-US" sz="2800" dirty="0"/>
              <a:t> and </a:t>
            </a:r>
            <a:r>
              <a:rPr lang="en-US" altLang="en-US" sz="2800" dirty="0" err="1"/>
              <a:t>MixColumns</a:t>
            </a:r>
            <a:r>
              <a:rPr lang="en-US" altLang="en-US" sz="2800" dirty="0"/>
              <a:t> provide diffusion to the cipher</a:t>
            </a:r>
          </a:p>
          <a:p>
            <a:r>
              <a:rPr lang="en-AU" altLang="en-US" sz="2800" dirty="0"/>
              <a:t>In </a:t>
            </a:r>
            <a:r>
              <a:rPr lang="en-AU" altLang="en-US" sz="2800" dirty="0" err="1"/>
              <a:t>MixColumns</a:t>
            </a:r>
            <a:r>
              <a:rPr lang="en-AU" altLang="en-US" sz="2800" dirty="0"/>
              <a:t>, e</a:t>
            </a:r>
            <a:r>
              <a:rPr lang="en-US" altLang="en-US" sz="2800" dirty="0"/>
              <a:t>ach column is processed separately</a:t>
            </a:r>
          </a:p>
          <a:p>
            <a:r>
              <a:rPr lang="en-US" altLang="en-US" sz="2800" dirty="0"/>
              <a:t>Each byte is replaced by a value dependent on all 4 bytes in the column</a:t>
            </a:r>
          </a:p>
          <a:p>
            <a:r>
              <a:rPr lang="en-US" altLang="en-US" sz="2800" dirty="0"/>
              <a:t>Effectively a matrix multiplication in finite field GF(2</a:t>
            </a:r>
            <a:r>
              <a:rPr lang="en-US" altLang="en-US" sz="2800" baseline="30000" dirty="0"/>
              <a:t>8</a:t>
            </a:r>
            <a:r>
              <a:rPr lang="en-US" altLang="en-US" sz="2800" dirty="0"/>
              <a:t>) using prime polynomial </a:t>
            </a:r>
            <a:r>
              <a:rPr lang="en-US" altLang="en-US" sz="2800" dirty="0">
                <a:ea typeface="ＭＳ Ｐゴシック" panose="020B0600070205080204" pitchFamily="34" charset="-128"/>
              </a:rPr>
              <a:t>x</a:t>
            </a:r>
            <a:r>
              <a:rPr lang="en-US" altLang="en-US" sz="2800" baseline="30000" dirty="0">
                <a:ea typeface="ＭＳ Ｐゴシック" panose="020B0600070205080204" pitchFamily="34" charset="-128"/>
              </a:rPr>
              <a:t>8</a:t>
            </a:r>
            <a:r>
              <a:rPr lang="en-US" altLang="en-US" sz="2800" dirty="0">
                <a:ea typeface="ＭＳ Ｐゴシック" panose="020B0600070205080204" pitchFamily="34" charset="-128"/>
              </a:rPr>
              <a:t>+x</a:t>
            </a:r>
            <a:r>
              <a:rPr lang="en-US" altLang="en-US" sz="2800" baseline="30000" dirty="0">
                <a:ea typeface="ＭＳ Ｐゴシック" panose="020B0600070205080204" pitchFamily="34" charset="-128"/>
              </a:rPr>
              <a:t>4</a:t>
            </a:r>
            <a:r>
              <a:rPr lang="en-US" altLang="en-US" sz="2800" dirty="0">
                <a:ea typeface="ＭＳ Ｐゴシック" panose="020B0600070205080204" pitchFamily="34" charset="-128"/>
              </a:rPr>
              <a:t>+x</a:t>
            </a:r>
            <a:r>
              <a:rPr lang="en-US" altLang="en-US" sz="2800" baseline="30000" dirty="0">
                <a:ea typeface="ＭＳ Ｐゴシック" panose="020B0600070205080204" pitchFamily="34" charset="-128"/>
              </a:rPr>
              <a:t>3</a:t>
            </a:r>
            <a:r>
              <a:rPr lang="en-US" altLang="en-US" sz="2800" dirty="0">
                <a:ea typeface="ＭＳ Ｐゴシック" panose="020B0600070205080204" pitchFamily="34" charset="-128"/>
              </a:rPr>
              <a:t>+x+1</a:t>
            </a:r>
            <a:endParaRPr lang="en-AU" alt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FC9B3BA2-7432-2CD7-4AA9-0DA1E368152C}"/>
              </a:ext>
            </a:extLst>
          </p:cNvPr>
          <p:cNvSpPr>
            <a:spLocks noGrp="1" noChangeArrowheads="1"/>
          </p:cNvSpPr>
          <p:nvPr>
            <p:ph type="title"/>
          </p:nvPr>
        </p:nvSpPr>
        <p:spPr/>
        <p:txBody>
          <a:bodyPr/>
          <a:lstStyle/>
          <a:p>
            <a:pPr eaLnBrk="1" hangingPunct="1"/>
            <a:r>
              <a:rPr lang="en-AU" altLang="en-US" dirty="0" err="1">
                <a:ea typeface="ＭＳ Ｐゴシック" panose="020B0600070205080204" pitchFamily="34" charset="-128"/>
              </a:rPr>
              <a:t>MixColumns</a:t>
            </a:r>
            <a:r>
              <a:rPr lang="en-AU" altLang="en-US" dirty="0">
                <a:ea typeface="ＭＳ Ｐゴシック" panose="020B0600070205080204" pitchFamily="34" charset="-128"/>
              </a:rPr>
              <a:t> Scheme</a:t>
            </a:r>
          </a:p>
        </p:txBody>
      </p:sp>
      <p:pic>
        <p:nvPicPr>
          <p:cNvPr id="55299" name="Picture 6">
            <a:extLst>
              <a:ext uri="{FF2B5EF4-FFF2-40B4-BE49-F238E27FC236}">
                <a16:creationId xmlns:a16="http://schemas.microsoft.com/office/drawing/2014/main" id="{D0D00612-6A45-41F4-0850-0CC2F1F7B8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484784"/>
            <a:ext cx="7162800" cy="3746500"/>
          </a:xfrm>
          <a:prstGeom prst="rect">
            <a:avLst/>
          </a:prstGeom>
          <a:noFill/>
          <a:ln>
            <a:noFill/>
          </a:ln>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5">
            <a:extLst>
              <a:ext uri="{FF2B5EF4-FFF2-40B4-BE49-F238E27FC236}">
                <a16:creationId xmlns:a16="http://schemas.microsoft.com/office/drawing/2014/main" id="{4A706E47-AE29-FFE2-D454-246D2C6CB89E}"/>
              </a:ext>
            </a:extLst>
          </p:cNvPr>
          <p:cNvSpPr>
            <a:spLocks noChangeArrowheads="1"/>
          </p:cNvSpPr>
          <p:nvPr/>
        </p:nvSpPr>
        <p:spPr bwMode="auto">
          <a:xfrm>
            <a:off x="418695" y="5373216"/>
            <a:ext cx="753768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latinLnBrk="0" hangingPunct="1"/>
            <a:r>
              <a:rPr lang="en-US" altLang="en-US" sz="2000" dirty="0">
                <a:latin typeface="+mn-lt"/>
              </a:rPr>
              <a:t>The </a:t>
            </a:r>
            <a:r>
              <a:rPr lang="en-US" altLang="en-US" sz="2000" dirty="0" err="1">
                <a:latin typeface="+mn-lt"/>
              </a:rPr>
              <a:t>MixColumns</a:t>
            </a:r>
            <a:r>
              <a:rPr lang="en-US" altLang="en-US" sz="2000" dirty="0">
                <a:latin typeface="+mn-lt"/>
              </a:rPr>
              <a:t> transformation operates at the column level; it transforms each column of the state to a new column.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D72578CB-A057-465F-F278-BF18B08883F9}"/>
              </a:ext>
            </a:extLst>
          </p:cNvPr>
          <p:cNvSpPr>
            <a:spLocks noGrp="1"/>
          </p:cNvSpPr>
          <p:nvPr>
            <p:ph type="title"/>
          </p:nvPr>
        </p:nvSpPr>
        <p:spPr/>
        <p:txBody>
          <a:bodyPr/>
          <a:lstStyle/>
          <a:p>
            <a:r>
              <a:rPr lang="en-US" altLang="en-US"/>
              <a:t>MixColumn and InvMixColumn</a:t>
            </a:r>
          </a:p>
        </p:txBody>
      </p:sp>
      <p:sp>
        <p:nvSpPr>
          <p:cNvPr id="57347" name="Content Placeholder 2">
            <a:extLst>
              <a:ext uri="{FF2B5EF4-FFF2-40B4-BE49-F238E27FC236}">
                <a16:creationId xmlns:a16="http://schemas.microsoft.com/office/drawing/2014/main" id="{572B92B9-38DE-C02C-09F5-9BE0CD2B19B6}"/>
              </a:ext>
            </a:extLst>
          </p:cNvPr>
          <p:cNvSpPr>
            <a:spLocks noGrp="1"/>
          </p:cNvSpPr>
          <p:nvPr>
            <p:ph sz="quarter" idx="11"/>
          </p:nvPr>
        </p:nvSpPr>
        <p:spPr/>
        <p:txBody>
          <a:bodyPr/>
          <a:lstStyle/>
          <a:p>
            <a:pPr marL="0" indent="0">
              <a:buNone/>
            </a:pPr>
            <a:r>
              <a:rPr lang="en-US" altLang="en-US" sz="2800" dirty="0"/>
              <a:t>During decryption, inverse mixing matrix is used</a:t>
            </a:r>
          </a:p>
        </p:txBody>
      </p:sp>
      <p:pic>
        <p:nvPicPr>
          <p:cNvPr id="57348" name="Picture 12">
            <a:extLst>
              <a:ext uri="{FF2B5EF4-FFF2-40B4-BE49-F238E27FC236}">
                <a16:creationId xmlns:a16="http://schemas.microsoft.com/office/drawing/2014/main" id="{9FFC0B40-1C4F-A358-9F8C-3FD181104F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2655888"/>
            <a:ext cx="8126413" cy="275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787056B-0BD6-B00E-79D9-4DE714DF9B83}"/>
              </a:ext>
            </a:extLst>
          </p:cNvPr>
          <p:cNvSpPr>
            <a:spLocks noGrp="1" noChangeArrowheads="1"/>
          </p:cNvSpPr>
          <p:nvPr>
            <p:ph type="title"/>
          </p:nvPr>
        </p:nvSpPr>
        <p:spPr/>
        <p:txBody>
          <a:bodyPr/>
          <a:lstStyle/>
          <a:p>
            <a:r>
              <a:rPr lang="en-AU" altLang="en-US"/>
              <a:t>AddRoundKey</a:t>
            </a:r>
          </a:p>
        </p:txBody>
      </p:sp>
      <p:sp>
        <p:nvSpPr>
          <p:cNvPr id="59395" name="Rectangle 3">
            <a:extLst>
              <a:ext uri="{FF2B5EF4-FFF2-40B4-BE49-F238E27FC236}">
                <a16:creationId xmlns:a16="http://schemas.microsoft.com/office/drawing/2014/main" id="{DE4C7509-FA38-77D7-DBF7-CC5B970D20B6}"/>
              </a:ext>
            </a:extLst>
          </p:cNvPr>
          <p:cNvSpPr>
            <a:spLocks noGrp="1" noChangeArrowheads="1"/>
          </p:cNvSpPr>
          <p:nvPr>
            <p:ph sz="quarter" idx="11"/>
          </p:nvPr>
        </p:nvSpPr>
        <p:spPr/>
        <p:txBody>
          <a:bodyPr/>
          <a:lstStyle/>
          <a:p>
            <a:pPr marL="0" indent="0">
              <a:buNone/>
            </a:pPr>
            <a:r>
              <a:rPr lang="en-US" altLang="en-US" sz="2800" dirty="0"/>
              <a:t>XOR state with 128-bits of the round key</a:t>
            </a:r>
          </a:p>
          <a:p>
            <a:endParaRPr lang="en-US" altLang="en-US" sz="2800" dirty="0"/>
          </a:p>
          <a:p>
            <a:r>
              <a:rPr lang="en-US" altLang="en-US" sz="2800" dirty="0" err="1"/>
              <a:t>AddRoundKey</a:t>
            </a:r>
            <a:r>
              <a:rPr lang="en-US" altLang="en-US" sz="2800" dirty="0"/>
              <a:t> proceeds one column at a time.</a:t>
            </a:r>
          </a:p>
          <a:p>
            <a:pPr lvl="1"/>
            <a:r>
              <a:rPr lang="en-US" altLang="en-US" sz="2400" dirty="0"/>
              <a:t>adds a round key word with each state column matrix </a:t>
            </a:r>
          </a:p>
          <a:p>
            <a:pPr lvl="1"/>
            <a:r>
              <a:rPr lang="en-US" altLang="en-US" sz="2400" dirty="0"/>
              <a:t>the operation is matrix addition</a:t>
            </a:r>
          </a:p>
          <a:p>
            <a:endParaRPr lang="en-US" altLang="en-US" sz="2800" dirty="0"/>
          </a:p>
          <a:p>
            <a:r>
              <a:rPr lang="en-US" altLang="en-US" sz="2800" dirty="0"/>
              <a:t>Inverse for decryption is identical</a:t>
            </a:r>
          </a:p>
          <a:p>
            <a:pPr lvl="1"/>
            <a:r>
              <a:rPr lang="en-US" altLang="en-US" sz="2400" dirty="0"/>
              <a:t>since XOR is its own inverse, with same keys</a:t>
            </a:r>
          </a:p>
          <a:p>
            <a:pPr lvl="1"/>
            <a:endParaRPr lang="en-AU" alt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EBFC7005-21DF-E2BC-5B52-D6C63A8E4D1A}"/>
              </a:ext>
            </a:extLst>
          </p:cNvPr>
          <p:cNvSpPr>
            <a:spLocks noGrp="1" noChangeArrowheads="1"/>
          </p:cNvSpPr>
          <p:nvPr>
            <p:ph type="title"/>
          </p:nvPr>
        </p:nvSpPr>
        <p:spPr/>
        <p:txBody>
          <a:bodyPr/>
          <a:lstStyle/>
          <a:p>
            <a:pPr eaLnBrk="1" hangingPunct="1"/>
            <a:r>
              <a:rPr lang="en-AU" altLang="en-US">
                <a:ea typeface="ＭＳ Ｐゴシック" panose="020B0600070205080204" pitchFamily="34" charset="-128"/>
              </a:rPr>
              <a:t>AddRoundKey Scheme</a:t>
            </a:r>
          </a:p>
        </p:txBody>
      </p:sp>
      <p:sp>
        <p:nvSpPr>
          <p:cNvPr id="2" name="Content Placeholder 1">
            <a:extLst>
              <a:ext uri="{FF2B5EF4-FFF2-40B4-BE49-F238E27FC236}">
                <a16:creationId xmlns:a16="http://schemas.microsoft.com/office/drawing/2014/main" id="{8B03EE1E-ED31-55F9-34CB-EC0EC7837951}"/>
              </a:ext>
            </a:extLst>
          </p:cNvPr>
          <p:cNvSpPr>
            <a:spLocks noGrp="1"/>
          </p:cNvSpPr>
          <p:nvPr>
            <p:ph sz="quarter" idx="11"/>
          </p:nvPr>
        </p:nvSpPr>
        <p:spPr/>
        <p:txBody>
          <a:bodyPr/>
          <a:lstStyle/>
          <a:p>
            <a:endParaRPr lang="en-US"/>
          </a:p>
        </p:txBody>
      </p:sp>
      <p:pic>
        <p:nvPicPr>
          <p:cNvPr id="61443" name="Picture 5">
            <a:extLst>
              <a:ext uri="{FF2B5EF4-FFF2-40B4-BE49-F238E27FC236}">
                <a16:creationId xmlns:a16="http://schemas.microsoft.com/office/drawing/2014/main" id="{26BB934B-D556-D96E-FC14-02EA801F5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438400"/>
            <a:ext cx="7010400" cy="1968500"/>
          </a:xfrm>
          <a:prstGeom prst="rect">
            <a:avLst/>
          </a:prstGeom>
          <a:noFill/>
          <a:ln>
            <a:noFill/>
          </a:ln>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9DCFB37-DE63-B87F-D2AB-7A9305C17ECF}"/>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AES Round</a:t>
            </a:r>
            <a:endParaRPr lang="en-AU" altLang="en-US">
              <a:ea typeface="ＭＳ Ｐゴシック" panose="020B0600070205080204" pitchFamily="34" charset="-128"/>
            </a:endParaRPr>
          </a:p>
        </p:txBody>
      </p:sp>
      <p:sp>
        <p:nvSpPr>
          <p:cNvPr id="2" name="Content Placeholder 1">
            <a:extLst>
              <a:ext uri="{FF2B5EF4-FFF2-40B4-BE49-F238E27FC236}">
                <a16:creationId xmlns:a16="http://schemas.microsoft.com/office/drawing/2014/main" id="{B74E43A8-364F-D6F1-B7B5-102765EAF6F8}"/>
              </a:ext>
            </a:extLst>
          </p:cNvPr>
          <p:cNvSpPr>
            <a:spLocks noGrp="1"/>
          </p:cNvSpPr>
          <p:nvPr>
            <p:ph sz="quarter" idx="11"/>
          </p:nvPr>
        </p:nvSpPr>
        <p:spPr/>
        <p:txBody>
          <a:bodyPr/>
          <a:lstStyle/>
          <a:p>
            <a:endParaRPr lang="en-US"/>
          </a:p>
        </p:txBody>
      </p:sp>
      <p:pic>
        <p:nvPicPr>
          <p:cNvPr id="63491" name="Picture 5">
            <a:extLst>
              <a:ext uri="{FF2B5EF4-FFF2-40B4-BE49-F238E27FC236}">
                <a16:creationId xmlns:a16="http://schemas.microsoft.com/office/drawing/2014/main" id="{1D312B81-E1F8-FCCA-749E-99E1C95AC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196752"/>
            <a:ext cx="6999238" cy="5407973"/>
          </a:xfrm>
          <a:prstGeom prst="rect">
            <a:avLst/>
          </a:prstGeom>
          <a:noFill/>
          <a:ln>
            <a:noFill/>
          </a:ln>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D182D04-46FD-9D57-DFD4-3BBA6BC2DFA7}"/>
              </a:ext>
            </a:extLst>
          </p:cNvPr>
          <p:cNvSpPr>
            <a:spLocks noGrp="1" noChangeArrowheads="1"/>
          </p:cNvSpPr>
          <p:nvPr>
            <p:ph type="title"/>
          </p:nvPr>
        </p:nvSpPr>
        <p:spPr/>
        <p:txBody>
          <a:bodyPr/>
          <a:lstStyle/>
          <a:p>
            <a:r>
              <a:rPr lang="en-US" altLang="en-US" dirty="0"/>
              <a:t>AES Key Scheduling (generating round keys)</a:t>
            </a:r>
            <a:endParaRPr lang="en-AU" altLang="en-US" dirty="0"/>
          </a:p>
        </p:txBody>
      </p:sp>
      <p:sp>
        <p:nvSpPr>
          <p:cNvPr id="65539" name="Rectangle 3">
            <a:extLst>
              <a:ext uri="{FF2B5EF4-FFF2-40B4-BE49-F238E27FC236}">
                <a16:creationId xmlns:a16="http://schemas.microsoft.com/office/drawing/2014/main" id="{53A5813F-3437-9263-1185-68CC1C3E601B}"/>
              </a:ext>
            </a:extLst>
          </p:cNvPr>
          <p:cNvSpPr>
            <a:spLocks noGrp="1" noChangeArrowheads="1"/>
          </p:cNvSpPr>
          <p:nvPr>
            <p:ph sz="quarter" idx="11"/>
          </p:nvPr>
        </p:nvSpPr>
        <p:spPr/>
        <p:txBody>
          <a:bodyPr/>
          <a:lstStyle/>
          <a:p>
            <a:r>
              <a:rPr lang="en-US" altLang="en-US" sz="2800" dirty="0"/>
              <a:t>takes 128-bits (16-bytes) key and expands into array of 44 words (32-bit each)</a:t>
            </a:r>
          </a:p>
        </p:txBody>
      </p:sp>
      <p:pic>
        <p:nvPicPr>
          <p:cNvPr id="65540" name="Picture 5">
            <a:extLst>
              <a:ext uri="{FF2B5EF4-FFF2-40B4-BE49-F238E27FC236}">
                <a16:creationId xmlns:a16="http://schemas.microsoft.com/office/drawing/2014/main" id="{51707A5E-1BE4-184F-E94A-3D31B5A6F4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2931" y="2924944"/>
            <a:ext cx="6798137" cy="300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D26FF539-6D79-5321-0F22-45FE7AD21B9E}"/>
              </a:ext>
            </a:extLst>
          </p:cNvPr>
          <p:cNvSpPr>
            <a:spLocks noGrp="1"/>
          </p:cNvSpPr>
          <p:nvPr>
            <p:ph type="title"/>
          </p:nvPr>
        </p:nvSpPr>
        <p:spPr/>
        <p:txBody>
          <a:bodyPr/>
          <a:lstStyle/>
          <a:p>
            <a:r>
              <a:rPr lang="en-US" altLang="en-US" dirty="0"/>
              <a:t>AES Security</a:t>
            </a:r>
          </a:p>
        </p:txBody>
      </p:sp>
      <p:sp>
        <p:nvSpPr>
          <p:cNvPr id="3" name="Content Placeholder 2">
            <a:extLst>
              <a:ext uri="{FF2B5EF4-FFF2-40B4-BE49-F238E27FC236}">
                <a16:creationId xmlns:a16="http://schemas.microsoft.com/office/drawing/2014/main" id="{3DCE00F4-B0CB-E755-AF35-7B9EF1F259A2}"/>
              </a:ext>
            </a:extLst>
          </p:cNvPr>
          <p:cNvSpPr>
            <a:spLocks noGrp="1"/>
          </p:cNvSpPr>
          <p:nvPr>
            <p:ph sz="quarter" idx="11"/>
          </p:nvPr>
        </p:nvSpPr>
        <p:spPr/>
        <p:txBody>
          <a:bodyPr>
            <a:noAutofit/>
          </a:bodyPr>
          <a:lstStyle/>
          <a:p>
            <a:r>
              <a:rPr lang="en-US" altLang="en-US" sz="2400" dirty="0"/>
              <a:t>AES was designed after DES. </a:t>
            </a:r>
          </a:p>
          <a:p>
            <a:pPr lvl="1"/>
            <a:r>
              <a:rPr lang="en-US" altLang="en-US" sz="2000" dirty="0"/>
              <a:t>Most of the known attacks on DES were already tested on AES.</a:t>
            </a:r>
          </a:p>
          <a:p>
            <a:r>
              <a:rPr lang="en-US" altLang="en-US" sz="2400" dirty="0"/>
              <a:t>Brute-Force Attack</a:t>
            </a:r>
          </a:p>
          <a:p>
            <a:pPr lvl="1"/>
            <a:r>
              <a:rPr lang="en-US" altLang="en-US" sz="2000" dirty="0"/>
              <a:t>AES is definitely more secure than DES due to the larger-size key. </a:t>
            </a:r>
          </a:p>
          <a:p>
            <a:r>
              <a:rPr lang="en-US" altLang="en-US" sz="2400" dirty="0"/>
              <a:t>Statistical Attacks</a:t>
            </a:r>
          </a:p>
          <a:p>
            <a:pPr lvl="1"/>
            <a:r>
              <a:rPr lang="en-US" altLang="en-US" sz="2000" dirty="0"/>
              <a:t>Numerous tests have failed to do statistical analysis of the ciphertext</a:t>
            </a:r>
          </a:p>
          <a:p>
            <a:r>
              <a:rPr lang="en-US" altLang="en-US" sz="2400" dirty="0"/>
              <a:t>Differential and Linear Attacks</a:t>
            </a:r>
          </a:p>
          <a:p>
            <a:pPr lvl="1"/>
            <a:r>
              <a:rPr lang="en-US" altLang="en-US" sz="2000" dirty="0"/>
              <a:t>There are no differential and linear attacks on AES as yet.</a:t>
            </a:r>
          </a:p>
          <a:p>
            <a:endParaRPr lang="en-US" altLang="en-US" sz="2400" dirty="0"/>
          </a:p>
          <a:p>
            <a:endParaRPr lang="en-US" altLang="en-US" sz="2400" dirty="0"/>
          </a:p>
          <a:p>
            <a:endParaRPr lang="en-US" altLang="en-US" sz="2400" dirty="0"/>
          </a:p>
          <a:p>
            <a:endParaRPr lang="en-US" altLang="en-US" sz="2400" dirty="0"/>
          </a:p>
          <a:p>
            <a:endParaRPr lang="en-US" alt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6CEFBF0-8ABC-C8C8-B57A-4341858CCE72}"/>
              </a:ext>
            </a:extLst>
          </p:cNvPr>
          <p:cNvSpPr>
            <a:spLocks noGrp="1" noChangeArrowheads="1"/>
          </p:cNvSpPr>
          <p:nvPr>
            <p:ph type="title"/>
          </p:nvPr>
        </p:nvSpPr>
        <p:spPr/>
        <p:txBody>
          <a:bodyPr/>
          <a:lstStyle/>
          <a:p>
            <a:r>
              <a:rPr lang="en-US" altLang="en-US"/>
              <a:t>Implementation Aspects</a:t>
            </a:r>
            <a:endParaRPr lang="en-AU" altLang="en-US"/>
          </a:p>
        </p:txBody>
      </p:sp>
      <p:sp>
        <p:nvSpPr>
          <p:cNvPr id="73731" name="Rectangle 3">
            <a:extLst>
              <a:ext uri="{FF2B5EF4-FFF2-40B4-BE49-F238E27FC236}">
                <a16:creationId xmlns:a16="http://schemas.microsoft.com/office/drawing/2014/main" id="{98954008-C80D-05E5-180C-89670491AC88}"/>
              </a:ext>
            </a:extLst>
          </p:cNvPr>
          <p:cNvSpPr>
            <a:spLocks noGrp="1" noChangeArrowheads="1"/>
          </p:cNvSpPr>
          <p:nvPr>
            <p:ph sz="quarter" idx="11"/>
          </p:nvPr>
        </p:nvSpPr>
        <p:spPr/>
        <p:txBody>
          <a:bodyPr/>
          <a:lstStyle/>
          <a:p>
            <a:r>
              <a:rPr lang="en-US" altLang="en-US" sz="2400" dirty="0"/>
              <a:t>The algorithms used in AES are so simple that they can be easily implemented using cheap processors and a minimum amount of memory.</a:t>
            </a:r>
          </a:p>
          <a:p>
            <a:pPr lvl="1"/>
            <a:r>
              <a:rPr lang="en-US" altLang="en-US" sz="2000" dirty="0"/>
              <a:t>Very efficient</a:t>
            </a:r>
          </a:p>
          <a:p>
            <a:pPr lvl="1"/>
            <a:r>
              <a:rPr lang="en-US" altLang="en-US" sz="2000" dirty="0"/>
              <a:t>Implementation was a key factor in its selection as the AES cipher</a:t>
            </a:r>
            <a:endParaRPr lang="en-US" altLang="en-US" sz="2400" dirty="0"/>
          </a:p>
          <a:p>
            <a:r>
              <a:rPr lang="en-US" altLang="en-US" sz="2400" dirty="0"/>
              <a:t>Several modern CPU architectures include AES instructions</a:t>
            </a:r>
          </a:p>
          <a:p>
            <a:pPr marL="0" indent="0">
              <a:buNone/>
            </a:pPr>
            <a:r>
              <a:rPr lang="en-US" altLang="en-US" sz="2400" dirty="0">
                <a:hlinkClick r:id="rId3"/>
              </a:rPr>
              <a:t>https://en.wikipedia.org/wiki/AES_instruction_set</a:t>
            </a:r>
            <a:endParaRPr lang="en-US" altLang="en-US" sz="2400" dirty="0"/>
          </a:p>
          <a:p>
            <a:pPr marL="0" indent="0">
              <a:buNone/>
            </a:pPr>
            <a:endParaRPr lang="en-US" alt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3CB71-D487-AB21-B0AD-454F1812A7ED}"/>
              </a:ext>
            </a:extLst>
          </p:cNvPr>
          <p:cNvSpPr>
            <a:spLocks noGrp="1"/>
          </p:cNvSpPr>
          <p:nvPr>
            <p:ph type="title"/>
          </p:nvPr>
        </p:nvSpPr>
        <p:spPr/>
        <p:txBody>
          <a:bodyPr/>
          <a:lstStyle/>
          <a:p>
            <a:r>
              <a:rPr lang="en-US" dirty="0"/>
              <a:t>AES illustrated</a:t>
            </a:r>
          </a:p>
        </p:txBody>
      </p:sp>
      <p:sp>
        <p:nvSpPr>
          <p:cNvPr id="3" name="Content Placeholder 2">
            <a:extLst>
              <a:ext uri="{FF2B5EF4-FFF2-40B4-BE49-F238E27FC236}">
                <a16:creationId xmlns:a16="http://schemas.microsoft.com/office/drawing/2014/main" id="{72EAD3DF-5235-686A-BBC3-2789DCA28A69}"/>
              </a:ext>
            </a:extLst>
          </p:cNvPr>
          <p:cNvSpPr>
            <a:spLocks noGrp="1"/>
          </p:cNvSpPr>
          <p:nvPr>
            <p:ph sz="quarter" idx="11"/>
          </p:nvPr>
        </p:nvSpPr>
        <p:spPr/>
        <p:txBody>
          <a:bodyPr/>
          <a:lstStyle/>
          <a:p>
            <a:pPr marL="0" indent="0">
              <a:buNone/>
            </a:pPr>
            <a:r>
              <a:rPr lang="en-US" sz="2800" dirty="0"/>
              <a:t>A stick figure guide</a:t>
            </a:r>
          </a:p>
          <a:p>
            <a:pPr marL="0" indent="0">
              <a:buNone/>
            </a:pPr>
            <a:r>
              <a:rPr lang="en-US" sz="2800" dirty="0">
                <a:hlinkClick r:id="rId2"/>
              </a:rPr>
              <a:t>http://www.moserware.com/2009/09/stick-figure-guide-to-advanced.html</a:t>
            </a:r>
            <a:endParaRPr lang="en-US" sz="2800" dirty="0"/>
          </a:p>
          <a:p>
            <a:pPr marL="0" indent="0">
              <a:buNone/>
            </a:pPr>
            <a:endParaRPr lang="en-US" sz="2800" dirty="0"/>
          </a:p>
        </p:txBody>
      </p:sp>
      <p:pic>
        <p:nvPicPr>
          <p:cNvPr id="5" name="Picture 4">
            <a:extLst>
              <a:ext uri="{FF2B5EF4-FFF2-40B4-BE49-F238E27FC236}">
                <a16:creationId xmlns:a16="http://schemas.microsoft.com/office/drawing/2014/main" id="{49553FDC-CBE5-BE55-993E-B1276E1806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41018" y="3284984"/>
            <a:ext cx="4082651" cy="3203025"/>
          </a:xfrm>
          <a:prstGeom prst="rect">
            <a:avLst/>
          </a:prstGeom>
        </p:spPr>
      </p:pic>
    </p:spTree>
    <p:extLst>
      <p:ext uri="{BB962C8B-B14F-4D97-AF65-F5344CB8AC3E}">
        <p14:creationId xmlns:p14="http://schemas.microsoft.com/office/powerpoint/2010/main" val="10339702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00D2F6-0BE5-D900-DA2F-7640B70D66DD}"/>
              </a:ext>
            </a:extLst>
          </p:cNvPr>
          <p:cNvSpPr>
            <a:spLocks noGrp="1"/>
          </p:cNvSpPr>
          <p:nvPr>
            <p:ph type="title"/>
          </p:nvPr>
        </p:nvSpPr>
        <p:spPr>
          <a:xfrm>
            <a:off x="2051720" y="2894243"/>
            <a:ext cx="6552728" cy="1069514"/>
          </a:xfrm>
        </p:spPr>
        <p:txBody>
          <a:bodyPr/>
          <a:lstStyle/>
          <a:p>
            <a:pPr algn="ctr"/>
            <a:r>
              <a:rPr lang="en-US" dirty="0"/>
              <a:t>Block Cipher Modes of Operation</a:t>
            </a:r>
          </a:p>
        </p:txBody>
      </p:sp>
    </p:spTree>
    <p:extLst>
      <p:ext uri="{BB962C8B-B14F-4D97-AF65-F5344CB8AC3E}">
        <p14:creationId xmlns:p14="http://schemas.microsoft.com/office/powerpoint/2010/main" val="7930030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F3C2-A530-309A-CEB8-695AC8634764}"/>
              </a:ext>
            </a:extLst>
          </p:cNvPr>
          <p:cNvSpPr>
            <a:spLocks noGrp="1"/>
          </p:cNvSpPr>
          <p:nvPr>
            <p:ph type="title"/>
          </p:nvPr>
        </p:nvSpPr>
        <p:spPr/>
        <p:txBody>
          <a:bodyPr/>
          <a:lstStyle/>
          <a:p>
            <a:r>
              <a:rPr lang="en-US" dirty="0"/>
              <a:t>ECB mode</a:t>
            </a:r>
          </a:p>
        </p:txBody>
      </p:sp>
      <p:sp>
        <p:nvSpPr>
          <p:cNvPr id="3" name="Content Placeholder 2">
            <a:extLst>
              <a:ext uri="{FF2B5EF4-FFF2-40B4-BE49-F238E27FC236}">
                <a16:creationId xmlns:a16="http://schemas.microsoft.com/office/drawing/2014/main" id="{0493B3E2-CF61-4328-B650-0996AC22E4BE}"/>
              </a:ext>
            </a:extLst>
          </p:cNvPr>
          <p:cNvSpPr>
            <a:spLocks noGrp="1"/>
          </p:cNvSpPr>
          <p:nvPr>
            <p:ph sz="quarter" idx="11"/>
          </p:nvPr>
        </p:nvSpPr>
        <p:spPr/>
        <p:txBody>
          <a:bodyPr/>
          <a:lstStyle/>
          <a:p>
            <a:r>
              <a:rPr lang="en-US" sz="2400" dirty="0"/>
              <a:t>Block ciphers operate only on small fixed size chunks like 64 bits (DES), 128 bits (AES) etc.</a:t>
            </a:r>
          </a:p>
          <a:p>
            <a:r>
              <a:rPr lang="en-US" sz="2400" dirty="0"/>
              <a:t>To encrypt large data, one (lazy) option is to simply divide the whole data in blocks and encrypt them separately with same key. This is ECB mode.</a:t>
            </a:r>
          </a:p>
          <a:p>
            <a:endParaRPr lang="en-US" sz="2400" dirty="0"/>
          </a:p>
          <a:p>
            <a:endParaRPr lang="en-US" dirty="0"/>
          </a:p>
        </p:txBody>
      </p:sp>
      <p:pic>
        <p:nvPicPr>
          <p:cNvPr id="4" name="Picture 3">
            <a:extLst>
              <a:ext uri="{FF2B5EF4-FFF2-40B4-BE49-F238E27FC236}">
                <a16:creationId xmlns:a16="http://schemas.microsoft.com/office/drawing/2014/main" id="{6343564F-B3A5-3872-446D-E679BD9415B1}"/>
              </a:ext>
            </a:extLst>
          </p:cNvPr>
          <p:cNvPicPr>
            <a:picLocks noChangeAspect="1"/>
          </p:cNvPicPr>
          <p:nvPr/>
        </p:nvPicPr>
        <p:blipFill rotWithShape="1">
          <a:blip r:embed="rId2">
            <a:extLst>
              <a:ext uri="{28A0092B-C50C-407E-A947-70E740481C1C}">
                <a14:useLocalDpi xmlns:a14="http://schemas.microsoft.com/office/drawing/2010/main" val="0"/>
              </a:ext>
            </a:extLst>
          </a:blip>
          <a:srcRect t="8140" b="4474"/>
          <a:stretch/>
        </p:blipFill>
        <p:spPr>
          <a:xfrm>
            <a:off x="790418" y="3965240"/>
            <a:ext cx="7563163" cy="2664296"/>
          </a:xfrm>
          <a:prstGeom prst="rect">
            <a:avLst/>
          </a:prstGeom>
        </p:spPr>
      </p:pic>
    </p:spTree>
    <p:extLst>
      <p:ext uri="{BB962C8B-B14F-4D97-AF65-F5344CB8AC3E}">
        <p14:creationId xmlns:p14="http://schemas.microsoft.com/office/powerpoint/2010/main" val="3356777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D19FE-2EEE-2545-EE64-99B00EC2F8DD}"/>
              </a:ext>
            </a:extLst>
          </p:cNvPr>
          <p:cNvSpPr>
            <a:spLocks noGrp="1"/>
          </p:cNvSpPr>
          <p:nvPr>
            <p:ph type="title"/>
          </p:nvPr>
        </p:nvSpPr>
        <p:spPr/>
        <p:txBody>
          <a:bodyPr/>
          <a:lstStyle/>
          <a:p>
            <a:r>
              <a:rPr lang="en-US" dirty="0"/>
              <a:t>ECB mode: problem</a:t>
            </a:r>
          </a:p>
        </p:txBody>
      </p:sp>
      <p:sp>
        <p:nvSpPr>
          <p:cNvPr id="3" name="Content Placeholder 2">
            <a:extLst>
              <a:ext uri="{FF2B5EF4-FFF2-40B4-BE49-F238E27FC236}">
                <a16:creationId xmlns:a16="http://schemas.microsoft.com/office/drawing/2014/main" id="{6056CF65-C9CD-B524-1FCB-4C846EA13BE4}"/>
              </a:ext>
            </a:extLst>
          </p:cNvPr>
          <p:cNvSpPr>
            <a:spLocks noGrp="1"/>
          </p:cNvSpPr>
          <p:nvPr>
            <p:ph sz="quarter" idx="11"/>
          </p:nvPr>
        </p:nvSpPr>
        <p:spPr/>
        <p:txBody>
          <a:bodyPr/>
          <a:lstStyle/>
          <a:p>
            <a:endParaRPr lang="en-US"/>
          </a:p>
        </p:txBody>
      </p:sp>
      <p:pic>
        <p:nvPicPr>
          <p:cNvPr id="5" name="Picture 4">
            <a:extLst>
              <a:ext uri="{FF2B5EF4-FFF2-40B4-BE49-F238E27FC236}">
                <a16:creationId xmlns:a16="http://schemas.microsoft.com/office/drawing/2014/main" id="{9271D2BB-0243-6D0E-90CF-EE9D9C295C2E}"/>
              </a:ext>
            </a:extLst>
          </p:cNvPr>
          <p:cNvPicPr>
            <a:picLocks noChangeAspect="1"/>
          </p:cNvPicPr>
          <p:nvPr/>
        </p:nvPicPr>
        <p:blipFill>
          <a:blip r:embed="rId2"/>
          <a:stretch>
            <a:fillRect/>
          </a:stretch>
        </p:blipFill>
        <p:spPr>
          <a:xfrm>
            <a:off x="271680" y="1700808"/>
            <a:ext cx="8621328" cy="4048690"/>
          </a:xfrm>
          <a:prstGeom prst="rect">
            <a:avLst/>
          </a:prstGeom>
        </p:spPr>
      </p:pic>
    </p:spTree>
    <p:extLst>
      <p:ext uri="{BB962C8B-B14F-4D97-AF65-F5344CB8AC3E}">
        <p14:creationId xmlns:p14="http://schemas.microsoft.com/office/powerpoint/2010/main" val="899830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AA88F-E622-FA2A-FA14-5230DEAD2656}"/>
              </a:ext>
            </a:extLst>
          </p:cNvPr>
          <p:cNvSpPr>
            <a:spLocks noGrp="1"/>
          </p:cNvSpPr>
          <p:nvPr>
            <p:ph type="title"/>
          </p:nvPr>
        </p:nvSpPr>
        <p:spPr/>
        <p:txBody>
          <a:bodyPr/>
          <a:lstStyle/>
          <a:p>
            <a:r>
              <a:rPr lang="en-US" dirty="0"/>
              <a:t>CBC mode</a:t>
            </a:r>
          </a:p>
        </p:txBody>
      </p:sp>
      <p:sp>
        <p:nvSpPr>
          <p:cNvPr id="3" name="Content Placeholder 2">
            <a:extLst>
              <a:ext uri="{FF2B5EF4-FFF2-40B4-BE49-F238E27FC236}">
                <a16:creationId xmlns:a16="http://schemas.microsoft.com/office/drawing/2014/main" id="{57BC005F-2CD9-F7CD-3995-84E3FDBC9CD5}"/>
              </a:ext>
            </a:extLst>
          </p:cNvPr>
          <p:cNvSpPr>
            <a:spLocks noGrp="1"/>
          </p:cNvSpPr>
          <p:nvPr>
            <p:ph sz="quarter" idx="11"/>
          </p:nvPr>
        </p:nvSpPr>
        <p:spPr/>
        <p:txBody>
          <a:bodyPr/>
          <a:lstStyle/>
          <a:p>
            <a:r>
              <a:rPr lang="en-US" sz="2400" dirty="0"/>
              <a:t>More secure modes are available, such as Cipher Block Chaining (CBC)</a:t>
            </a:r>
          </a:p>
          <a:p>
            <a:r>
              <a:rPr lang="en-US" sz="2400" dirty="0"/>
              <a:t>Each ciphertext block depends on all plaintext blocks processed up to that point</a:t>
            </a:r>
          </a:p>
        </p:txBody>
      </p:sp>
      <p:pic>
        <p:nvPicPr>
          <p:cNvPr id="5" name="Picture 4">
            <a:extLst>
              <a:ext uri="{FF2B5EF4-FFF2-40B4-BE49-F238E27FC236}">
                <a16:creationId xmlns:a16="http://schemas.microsoft.com/office/drawing/2014/main" id="{062F1B3C-3137-FCB1-B3ED-8C51D1F9FD8F}"/>
              </a:ext>
            </a:extLst>
          </p:cNvPr>
          <p:cNvPicPr>
            <a:picLocks noChangeAspect="1"/>
          </p:cNvPicPr>
          <p:nvPr/>
        </p:nvPicPr>
        <p:blipFill>
          <a:blip r:embed="rId3"/>
          <a:stretch>
            <a:fillRect/>
          </a:stretch>
        </p:blipFill>
        <p:spPr>
          <a:xfrm>
            <a:off x="827584" y="3178061"/>
            <a:ext cx="7596336" cy="3056338"/>
          </a:xfrm>
          <a:prstGeom prst="rect">
            <a:avLst/>
          </a:prstGeom>
        </p:spPr>
      </p:pic>
      <p:sp>
        <p:nvSpPr>
          <p:cNvPr id="6" name="TextBox 5">
            <a:extLst>
              <a:ext uri="{FF2B5EF4-FFF2-40B4-BE49-F238E27FC236}">
                <a16:creationId xmlns:a16="http://schemas.microsoft.com/office/drawing/2014/main" id="{FAB7517D-4F91-F529-D9CE-646030C7F8E9}"/>
              </a:ext>
            </a:extLst>
          </p:cNvPr>
          <p:cNvSpPr txBox="1"/>
          <p:nvPr/>
        </p:nvSpPr>
        <p:spPr>
          <a:xfrm>
            <a:off x="239355" y="6156593"/>
            <a:ext cx="2244413" cy="584775"/>
          </a:xfrm>
          <a:prstGeom prst="rect">
            <a:avLst/>
          </a:prstGeom>
          <a:solidFill>
            <a:schemeClr val="accent3">
              <a:lumMod val="20000"/>
              <a:lumOff val="80000"/>
            </a:schemeClr>
          </a:solidFill>
        </p:spPr>
        <p:txBody>
          <a:bodyPr wrap="square" rtlCol="0">
            <a:spAutoFit/>
          </a:bodyPr>
          <a:lstStyle/>
          <a:p>
            <a:pPr latinLnBrk="0"/>
            <a:r>
              <a:rPr lang="en-US" sz="1600" dirty="0"/>
              <a:t>Any fixed (non-secret) value to start with</a:t>
            </a:r>
          </a:p>
        </p:txBody>
      </p:sp>
      <p:cxnSp>
        <p:nvCxnSpPr>
          <p:cNvPr id="7" name="Curved Connector 15">
            <a:extLst>
              <a:ext uri="{FF2B5EF4-FFF2-40B4-BE49-F238E27FC236}">
                <a16:creationId xmlns:a16="http://schemas.microsoft.com/office/drawing/2014/main" id="{01CFD6E5-576C-AC24-2A00-27BE817302B6}"/>
              </a:ext>
            </a:extLst>
          </p:cNvPr>
          <p:cNvCxnSpPr>
            <a:cxnSpLocks/>
          </p:cNvCxnSpPr>
          <p:nvPr/>
        </p:nvCxnSpPr>
        <p:spPr>
          <a:xfrm rot="5400000" flipH="1" flipV="1">
            <a:off x="-90159" y="4887894"/>
            <a:ext cx="1691470" cy="57606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2512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AA88F-E622-FA2A-FA14-5230DEAD2656}"/>
              </a:ext>
            </a:extLst>
          </p:cNvPr>
          <p:cNvSpPr>
            <a:spLocks noGrp="1"/>
          </p:cNvSpPr>
          <p:nvPr>
            <p:ph type="title"/>
          </p:nvPr>
        </p:nvSpPr>
        <p:spPr/>
        <p:txBody>
          <a:bodyPr/>
          <a:lstStyle/>
          <a:p>
            <a:r>
              <a:rPr lang="en-US" dirty="0"/>
              <a:t>CTR mode</a:t>
            </a:r>
          </a:p>
        </p:txBody>
      </p:sp>
      <p:sp>
        <p:nvSpPr>
          <p:cNvPr id="3" name="Content Placeholder 2">
            <a:extLst>
              <a:ext uri="{FF2B5EF4-FFF2-40B4-BE49-F238E27FC236}">
                <a16:creationId xmlns:a16="http://schemas.microsoft.com/office/drawing/2014/main" id="{57BC005F-2CD9-F7CD-3995-84E3FDBC9CD5}"/>
              </a:ext>
            </a:extLst>
          </p:cNvPr>
          <p:cNvSpPr>
            <a:spLocks noGrp="1"/>
          </p:cNvSpPr>
          <p:nvPr>
            <p:ph sz="quarter" idx="11"/>
          </p:nvPr>
        </p:nvSpPr>
        <p:spPr/>
        <p:txBody>
          <a:bodyPr/>
          <a:lstStyle/>
          <a:p>
            <a:r>
              <a:rPr lang="en-US" sz="2400" dirty="0"/>
              <a:t>Another one is Counter mode</a:t>
            </a:r>
          </a:p>
          <a:p>
            <a:r>
              <a:rPr lang="en-US" sz="2400" dirty="0"/>
              <a:t>Start with any pre-defined counter value and then keep incrementing.</a:t>
            </a:r>
          </a:p>
          <a:p>
            <a:r>
              <a:rPr lang="en-US" sz="2400" dirty="0"/>
              <a:t>Can encrypt blocks in parallel (unlike CBC mode)</a:t>
            </a:r>
          </a:p>
        </p:txBody>
      </p:sp>
      <p:grpSp>
        <p:nvGrpSpPr>
          <p:cNvPr id="13" name="Group 12">
            <a:extLst>
              <a:ext uri="{FF2B5EF4-FFF2-40B4-BE49-F238E27FC236}">
                <a16:creationId xmlns:a16="http://schemas.microsoft.com/office/drawing/2014/main" id="{410DB33E-66E0-58CA-1218-8E44EC3DDC23}"/>
              </a:ext>
            </a:extLst>
          </p:cNvPr>
          <p:cNvGrpSpPr/>
          <p:nvPr/>
        </p:nvGrpSpPr>
        <p:grpSpPr>
          <a:xfrm>
            <a:off x="718406" y="3573016"/>
            <a:ext cx="7886700" cy="2913666"/>
            <a:chOff x="827584" y="3398233"/>
            <a:chExt cx="7886700" cy="2913666"/>
          </a:xfrm>
        </p:grpSpPr>
        <p:pic>
          <p:nvPicPr>
            <p:cNvPr id="6" name="Picture 5">
              <a:extLst>
                <a:ext uri="{FF2B5EF4-FFF2-40B4-BE49-F238E27FC236}">
                  <a16:creationId xmlns:a16="http://schemas.microsoft.com/office/drawing/2014/main" id="{E83C28A0-DEC4-4140-9D59-D033950BBF16}"/>
                </a:ext>
              </a:extLst>
            </p:cNvPr>
            <p:cNvPicPr>
              <a:picLocks noChangeAspect="1"/>
            </p:cNvPicPr>
            <p:nvPr/>
          </p:nvPicPr>
          <p:blipFill rotWithShape="1">
            <a:blip r:embed="rId2"/>
            <a:srcRect t="18155"/>
            <a:stretch/>
          </p:blipFill>
          <p:spPr>
            <a:xfrm>
              <a:off x="827584" y="3714799"/>
              <a:ext cx="7886700" cy="2597100"/>
            </a:xfrm>
            <a:prstGeom prst="rect">
              <a:avLst/>
            </a:prstGeom>
          </p:spPr>
        </p:pic>
        <p:sp>
          <p:nvSpPr>
            <p:cNvPr id="9" name="TextBox 8">
              <a:extLst>
                <a:ext uri="{FF2B5EF4-FFF2-40B4-BE49-F238E27FC236}">
                  <a16:creationId xmlns:a16="http://schemas.microsoft.com/office/drawing/2014/main" id="{A79885A4-5486-85C6-5CA7-3A4275A3E5EE}"/>
                </a:ext>
              </a:extLst>
            </p:cNvPr>
            <p:cNvSpPr txBox="1"/>
            <p:nvPr/>
          </p:nvSpPr>
          <p:spPr>
            <a:xfrm>
              <a:off x="2195583" y="3407022"/>
              <a:ext cx="857029" cy="338554"/>
            </a:xfrm>
            <a:prstGeom prst="rect">
              <a:avLst/>
            </a:prstGeom>
            <a:noFill/>
          </p:spPr>
          <p:txBody>
            <a:bodyPr wrap="none" rtlCol="0">
              <a:spAutoFit/>
            </a:bodyPr>
            <a:lstStyle/>
            <a:p>
              <a:r>
                <a:rPr lang="en-US" sz="1600" dirty="0"/>
                <a:t>Counter</a:t>
              </a:r>
            </a:p>
          </p:txBody>
        </p:sp>
        <p:sp>
          <p:nvSpPr>
            <p:cNvPr id="10" name="TextBox 9">
              <a:extLst>
                <a:ext uri="{FF2B5EF4-FFF2-40B4-BE49-F238E27FC236}">
                  <a16:creationId xmlns:a16="http://schemas.microsoft.com/office/drawing/2014/main" id="{D872F2D0-9444-571B-DE2C-FE8185F0DC55}"/>
                </a:ext>
              </a:extLst>
            </p:cNvPr>
            <p:cNvSpPr txBox="1"/>
            <p:nvPr/>
          </p:nvSpPr>
          <p:spPr>
            <a:xfrm>
              <a:off x="4433043" y="3407022"/>
              <a:ext cx="1156792" cy="338554"/>
            </a:xfrm>
            <a:prstGeom prst="rect">
              <a:avLst/>
            </a:prstGeom>
            <a:noFill/>
          </p:spPr>
          <p:txBody>
            <a:bodyPr wrap="none" rtlCol="0">
              <a:spAutoFit/>
            </a:bodyPr>
            <a:lstStyle/>
            <a:p>
              <a:r>
                <a:rPr lang="en-US" sz="1600" dirty="0"/>
                <a:t>Counter + 1</a:t>
              </a:r>
            </a:p>
          </p:txBody>
        </p:sp>
        <p:sp>
          <p:nvSpPr>
            <p:cNvPr id="11" name="TextBox 10">
              <a:extLst>
                <a:ext uri="{FF2B5EF4-FFF2-40B4-BE49-F238E27FC236}">
                  <a16:creationId xmlns:a16="http://schemas.microsoft.com/office/drawing/2014/main" id="{B9A86040-2834-313F-965D-C5647DA109CB}"/>
                </a:ext>
              </a:extLst>
            </p:cNvPr>
            <p:cNvSpPr txBox="1"/>
            <p:nvPr/>
          </p:nvSpPr>
          <p:spPr>
            <a:xfrm>
              <a:off x="6581314" y="3398233"/>
              <a:ext cx="1861279" cy="338554"/>
            </a:xfrm>
            <a:prstGeom prst="rect">
              <a:avLst/>
            </a:prstGeom>
            <a:noFill/>
          </p:spPr>
          <p:txBody>
            <a:bodyPr wrap="none" rtlCol="0">
              <a:spAutoFit/>
            </a:bodyPr>
            <a:lstStyle/>
            <a:p>
              <a:r>
                <a:rPr lang="en-US" sz="1600" dirty="0"/>
                <a:t>Counter + (N – 1)</a:t>
              </a:r>
            </a:p>
          </p:txBody>
        </p:sp>
      </p:grpSp>
    </p:spTree>
    <p:extLst>
      <p:ext uri="{BB962C8B-B14F-4D97-AF65-F5344CB8AC3E}">
        <p14:creationId xmlns:p14="http://schemas.microsoft.com/office/powerpoint/2010/main" val="1085077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2737</TotalTime>
  <Words>2810</Words>
  <Application>Microsoft Office PowerPoint</Application>
  <PresentationFormat>On-screen Show (4:3)</PresentationFormat>
  <Paragraphs>319</Paragraphs>
  <Slides>53</Slides>
  <Notes>14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53</vt:i4>
      </vt:variant>
    </vt:vector>
  </HeadingPairs>
  <TitlesOfParts>
    <vt:vector size="65" baseType="lpstr">
      <vt:lpstr>ＭＳ Ｐゴシック</vt:lpstr>
      <vt:lpstr>Times-Roman</vt:lpstr>
      <vt:lpstr>Arial</vt:lpstr>
      <vt:lpstr>Arial</vt:lpstr>
      <vt:lpstr>Calibri</vt:lpstr>
      <vt:lpstr>Courier New</vt:lpstr>
      <vt:lpstr>Gill Sans MT</vt:lpstr>
      <vt:lpstr>Helvetica</vt:lpstr>
      <vt:lpstr>Symbol</vt:lpstr>
      <vt:lpstr>Wingdings</vt:lpstr>
      <vt:lpstr>Office Theme</vt:lpstr>
      <vt:lpstr>Custom Design</vt:lpstr>
      <vt:lpstr>PowerPoint Presentation</vt:lpstr>
      <vt:lpstr>Modern Ciphers</vt:lpstr>
      <vt:lpstr>Strength of a cipher</vt:lpstr>
      <vt:lpstr>Confusion</vt:lpstr>
      <vt:lpstr>Diffusion</vt:lpstr>
      <vt:lpstr>Block &amp; Stream ciphers</vt:lpstr>
      <vt:lpstr>Block &amp; Stream ciphers</vt:lpstr>
      <vt:lpstr>Block &amp; Stream ciphers</vt:lpstr>
      <vt:lpstr>XOR operation: extremely useful in crypto</vt:lpstr>
      <vt:lpstr>Modern Encryption Algorithms</vt:lpstr>
      <vt:lpstr>Data Encryption Standard</vt:lpstr>
      <vt:lpstr>DES Algorithm</vt:lpstr>
      <vt:lpstr>DES Algorithm</vt:lpstr>
      <vt:lpstr>DES Round</vt:lpstr>
      <vt:lpstr>DES Function</vt:lpstr>
      <vt:lpstr>DES Function: Expansion</vt:lpstr>
      <vt:lpstr>DES Function: S-Boxes</vt:lpstr>
      <vt:lpstr>DES Function: S-Box-1</vt:lpstr>
      <vt:lpstr>DES Function: S-Boxes</vt:lpstr>
      <vt:lpstr>DES Function: Straight P-Box</vt:lpstr>
      <vt:lpstr>DES Decryption</vt:lpstr>
      <vt:lpstr>DES Strength Analysis</vt:lpstr>
      <vt:lpstr>DES Strength Analysis</vt:lpstr>
      <vt:lpstr>Triple DES (3DES)</vt:lpstr>
      <vt:lpstr>Triple DES (3DES)</vt:lpstr>
      <vt:lpstr>Advanced Encryption Standard</vt:lpstr>
      <vt:lpstr>The AES Cipher - Rijndael </vt:lpstr>
      <vt:lpstr>Multiple rounds</vt:lpstr>
      <vt:lpstr>Overall Structure</vt:lpstr>
      <vt:lpstr>Structure of 128-bit block</vt:lpstr>
      <vt:lpstr>Data block represented as ‘State’</vt:lpstr>
      <vt:lpstr>Details of each round</vt:lpstr>
      <vt:lpstr>SubBytes Operation</vt:lpstr>
      <vt:lpstr>SubBytes Table</vt:lpstr>
      <vt:lpstr>InvSubBytes Table</vt:lpstr>
      <vt:lpstr>SubByte Example</vt:lpstr>
      <vt:lpstr>ShiftRows</vt:lpstr>
      <vt:lpstr>ShiftRows Scheme</vt:lpstr>
      <vt:lpstr>MixColumns</vt:lpstr>
      <vt:lpstr>MixColumns Scheme</vt:lpstr>
      <vt:lpstr>MixColumn and InvMixColumn</vt:lpstr>
      <vt:lpstr>AddRoundKey</vt:lpstr>
      <vt:lpstr>AddRoundKey Scheme</vt:lpstr>
      <vt:lpstr>AES Round</vt:lpstr>
      <vt:lpstr>AES Key Scheduling (generating round keys)</vt:lpstr>
      <vt:lpstr>AES Security</vt:lpstr>
      <vt:lpstr>Implementation Aspects</vt:lpstr>
      <vt:lpstr>AES illustrated</vt:lpstr>
      <vt:lpstr>Block Cipher Modes of Operation</vt:lpstr>
      <vt:lpstr>ECB mode</vt:lpstr>
      <vt:lpstr>ECB mode: problem</vt:lpstr>
      <vt:lpstr>CBC mode</vt:lpstr>
      <vt:lpstr>CTR mode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Ammar Haider</cp:lastModifiedBy>
  <cp:revision>189</cp:revision>
  <dcterms:created xsi:type="dcterms:W3CDTF">2014-04-01T16:35:38Z</dcterms:created>
  <dcterms:modified xsi:type="dcterms:W3CDTF">2024-09-03T09:47:00Z</dcterms:modified>
</cp:coreProperties>
</file>