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5"/>
  </p:notesMasterIdLst>
  <p:sldIdLst>
    <p:sldId id="429" r:id="rId3"/>
    <p:sldId id="260" r:id="rId4"/>
    <p:sldId id="460" r:id="rId5"/>
    <p:sldId id="462" r:id="rId6"/>
    <p:sldId id="264" r:id="rId7"/>
    <p:sldId id="317" r:id="rId8"/>
    <p:sldId id="329" r:id="rId9"/>
    <p:sldId id="327" r:id="rId10"/>
    <p:sldId id="331" r:id="rId11"/>
    <p:sldId id="334" r:id="rId12"/>
    <p:sldId id="330" r:id="rId13"/>
    <p:sldId id="283" r:id="rId14"/>
    <p:sldId id="286" r:id="rId15"/>
    <p:sldId id="287" r:id="rId16"/>
    <p:sldId id="293" r:id="rId17"/>
    <p:sldId id="294" r:id="rId18"/>
    <p:sldId id="367" r:id="rId19"/>
    <p:sldId id="288" r:id="rId20"/>
    <p:sldId id="432" r:id="rId21"/>
    <p:sldId id="433" r:id="rId22"/>
    <p:sldId id="437" r:id="rId23"/>
    <p:sldId id="438" r:id="rId24"/>
    <p:sldId id="439" r:id="rId25"/>
    <p:sldId id="440" r:id="rId26"/>
    <p:sldId id="441" r:id="rId27"/>
    <p:sldId id="442" r:id="rId28"/>
    <p:sldId id="443" r:id="rId29"/>
    <p:sldId id="444" r:id="rId30"/>
    <p:sldId id="446" r:id="rId31"/>
    <p:sldId id="445" r:id="rId32"/>
    <p:sldId id="447" r:id="rId33"/>
    <p:sldId id="449" r:id="rId34"/>
    <p:sldId id="450" r:id="rId35"/>
    <p:sldId id="454" r:id="rId36"/>
    <p:sldId id="455" r:id="rId37"/>
    <p:sldId id="452" r:id="rId38"/>
    <p:sldId id="453" r:id="rId39"/>
    <p:sldId id="456" r:id="rId40"/>
    <p:sldId id="435" r:id="rId41"/>
    <p:sldId id="436" r:id="rId42"/>
    <p:sldId id="292" r:id="rId43"/>
    <p:sldId id="431" r:id="rId44"/>
    <p:sldId id="312" r:id="rId45"/>
    <p:sldId id="313" r:id="rId46"/>
    <p:sldId id="315" r:id="rId47"/>
    <p:sldId id="316" r:id="rId48"/>
    <p:sldId id="297" r:id="rId49"/>
    <p:sldId id="298" r:id="rId50"/>
    <p:sldId id="299" r:id="rId51"/>
    <p:sldId id="300" r:id="rId52"/>
    <p:sldId id="301" r:id="rId53"/>
    <p:sldId id="430" r:id="rId54"/>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3792" autoAdjust="0"/>
  </p:normalViewPr>
  <p:slideViewPr>
    <p:cSldViewPr>
      <p:cViewPr varScale="1">
        <p:scale>
          <a:sx n="60" d="100"/>
          <a:sy n="60" d="100"/>
        </p:scale>
        <p:origin x="1388" y="60"/>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22/11/2025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B21398B2-3FAB-4F05-8F34-87483C508B5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5363"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5300" name="Text Box 2"/>
          <p:cNvSpPr>
            <a:spLocks noGrp="1" noChangeArrowheads="1"/>
          </p:cNvSpPr>
          <p:nvPr>
            <p:ph type="body"/>
          </p:nvPr>
        </p:nvSpPr>
        <p:spPr>
          <a:xfrm>
            <a:off x="974725" y="4560888"/>
            <a:ext cx="5365750" cy="4319587"/>
          </a:xfrm>
        </p:spPr>
        <p:txBody>
          <a:bodyPr>
            <a:normAutofit fontScale="925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a:ea typeface="Lucida Sans Unicode" pitchFamily="34" charset="0"/>
                <a:cs typeface="Lucida Sans Unicode" pitchFamily="34" charset="0"/>
              </a:rPr>
              <a:t>Introduction</a:t>
            </a:r>
          </a:p>
          <a:p>
            <a:pPr marL="342900" indent="-342900">
              <a:spcBef>
                <a:spcPct val="20000"/>
              </a:spcBef>
              <a:buFontTx/>
              <a:buChar char="•"/>
              <a:defRPr/>
            </a:pPr>
            <a:r>
              <a:rPr lang="en-GB" altLang="en-US" sz="2600" kern="0" dirty="0">
                <a:solidFill>
                  <a:srgbClr val="222222"/>
                </a:solidFill>
                <a:latin typeface="Arial"/>
              </a:rPr>
              <a:t>You must understand scope of an organization’s legal and ethical responsibilities</a:t>
            </a:r>
          </a:p>
          <a:p>
            <a:pPr marL="342900" indent="-342900">
              <a:spcBef>
                <a:spcPct val="20000"/>
              </a:spcBef>
              <a:buFontTx/>
              <a:buChar char="•"/>
              <a:defRPr/>
            </a:pPr>
            <a:r>
              <a:rPr lang="en-GB" altLang="en-US" sz="2600" kern="0" dirty="0">
                <a:solidFill>
                  <a:srgbClr val="222222"/>
                </a:solidFill>
                <a:latin typeface="Arial"/>
              </a:rPr>
              <a:t>To minimize liabilities/reduce risks, the information security practitioner must:</a:t>
            </a:r>
          </a:p>
          <a:p>
            <a:pPr marL="742950" lvl="1" indent="-285750">
              <a:spcBef>
                <a:spcPct val="20000"/>
              </a:spcBef>
              <a:buFontTx/>
              <a:buChar char="–"/>
              <a:defRPr/>
            </a:pPr>
            <a:r>
              <a:rPr lang="en-GB" altLang="en-US" sz="2400" kern="0" dirty="0">
                <a:solidFill>
                  <a:srgbClr val="222222"/>
                </a:solidFill>
                <a:latin typeface="Arial"/>
              </a:rPr>
              <a:t>Understand current legal environment</a:t>
            </a:r>
          </a:p>
          <a:p>
            <a:pPr marL="742950" lvl="1" indent="-285750">
              <a:spcBef>
                <a:spcPct val="20000"/>
              </a:spcBef>
              <a:buFontTx/>
              <a:buChar char="–"/>
              <a:defRPr/>
            </a:pPr>
            <a:r>
              <a:rPr lang="en-GB" altLang="en-US" sz="2400" kern="0" dirty="0">
                <a:solidFill>
                  <a:srgbClr val="222222"/>
                </a:solidFill>
                <a:latin typeface="Arial"/>
              </a:rPr>
              <a:t>Stay current with laws and regulations </a:t>
            </a:r>
          </a:p>
          <a:p>
            <a:pPr marL="742950" lvl="1" indent="-285750">
              <a:spcBef>
                <a:spcPct val="20000"/>
              </a:spcBef>
              <a:buFontTx/>
              <a:buChar char="–"/>
              <a:defRPr/>
            </a:pPr>
            <a:r>
              <a:rPr lang="en-GB" altLang="en-US" sz="2400" kern="0" dirty="0">
                <a:solidFill>
                  <a:srgbClr val="222222"/>
                </a:solidFill>
                <a:latin typeface="Arial"/>
              </a:rPr>
              <a:t>Watch for new and emerging issues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dirty="0">
                <a:ea typeface="Lucida Sans Unicode" pitchFamily="34" charset="0"/>
                <a:cs typeface="Lucida Sans Unicode" pitchFamily="34" charset="0"/>
              </a:rPr>
              <a:t>. </a:t>
            </a:r>
          </a:p>
        </p:txBody>
      </p:sp>
    </p:spTree>
    <p:extLst>
      <p:ext uri="{BB962C8B-B14F-4D97-AF65-F5344CB8AC3E}">
        <p14:creationId xmlns:p14="http://schemas.microsoft.com/office/powerpoint/2010/main" val="1841451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E3421037-F6AB-4BCE-B957-2A66F0E3303A}"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23555" name="Rectangle 1"/>
          <p:cNvSpPr>
            <a:spLocks noGrp="1" noRot="1" noChangeAspect="1" noChangeArrowheads="1" noTextEdit="1"/>
          </p:cNvSpPr>
          <p:nvPr>
            <p:ph type="sldImg"/>
          </p:nvPr>
        </p:nvSpPr>
        <p:spPr>
          <a:ln/>
        </p:spPr>
      </p:sp>
      <p:sp>
        <p:nvSpPr>
          <p:cNvPr id="59396" name="Rectangle 2"/>
          <p:cNvSpPr>
            <a:spLocks noGrp="1" noChangeArrowheads="1"/>
          </p:cNvSpPr>
          <p:nvPr>
            <p:ph type="body" idx="1"/>
          </p:nvPr>
        </p:nvSpPr>
        <p:spPr>
          <a:xfrm>
            <a:off x="974725" y="4560888"/>
            <a:ext cx="5365750" cy="4227512"/>
          </a:xfrm>
        </p:spPr>
        <p:txBody>
          <a:bodyPr wrap="none" anchor="ctr"/>
          <a:lstStyle/>
          <a:p>
            <a:pPr>
              <a:defRPr/>
            </a:pPr>
            <a:r>
              <a:rPr lang="en-US" altLang="en-US" b="1" dirty="0"/>
              <a:t>Policy Versus Law</a:t>
            </a:r>
          </a:p>
          <a:p>
            <a:pPr marL="342900" indent="-342900">
              <a:spcBef>
                <a:spcPct val="20000"/>
              </a:spcBef>
              <a:buFontTx/>
              <a:buChar char="•"/>
              <a:defRPr/>
            </a:pPr>
            <a:r>
              <a:rPr lang="en-GB" altLang="en-US" sz="2600" kern="0" dirty="0">
                <a:solidFill>
                  <a:srgbClr val="222222"/>
                </a:solidFill>
                <a:latin typeface="Arial"/>
              </a:rPr>
              <a:t>Policies: managerial directives that specify acceptable and unacceptable employee behavior in the workplace</a:t>
            </a:r>
          </a:p>
          <a:p>
            <a:pPr marL="342900" indent="-342900">
              <a:spcBef>
                <a:spcPct val="20000"/>
              </a:spcBef>
              <a:buFontTx/>
              <a:buChar char="•"/>
              <a:defRPr/>
            </a:pPr>
            <a:r>
              <a:rPr lang="en-GB" altLang="en-US" sz="2600" kern="0" dirty="0">
                <a:solidFill>
                  <a:srgbClr val="222222"/>
                </a:solidFill>
                <a:latin typeface="Arial"/>
              </a:rPr>
              <a:t>Policies function as organizational laws; must be crafted and implemented with care to ensure they are complete, appropriate, and fairly applied to everyone</a:t>
            </a:r>
          </a:p>
          <a:p>
            <a:pPr marL="342900" indent="-342900">
              <a:spcBef>
                <a:spcPct val="20000"/>
              </a:spcBef>
              <a:buFontTx/>
              <a:buChar char="•"/>
              <a:defRPr/>
            </a:pPr>
            <a:r>
              <a:rPr lang="en-GB" altLang="en-US" sz="2600" kern="0" dirty="0">
                <a:solidFill>
                  <a:srgbClr val="222222"/>
                </a:solidFill>
                <a:latin typeface="Arial"/>
              </a:rPr>
              <a:t>Difference between policy and law: ignorance of a policy is an acceptable defense</a:t>
            </a:r>
          </a:p>
          <a:p>
            <a:pPr>
              <a:defRPr/>
            </a:pPr>
            <a:endParaRPr lang="en-US" altLang="en-US" b="1" dirty="0"/>
          </a:p>
        </p:txBody>
      </p:sp>
    </p:spTree>
    <p:extLst>
      <p:ext uri="{BB962C8B-B14F-4D97-AF65-F5344CB8AC3E}">
        <p14:creationId xmlns:p14="http://schemas.microsoft.com/office/powerpoint/2010/main" val="1700260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EDBD1EF7-90E7-4D0F-B3D8-BED85F9DD125}" type="slidenum">
              <a:rPr lang="en-GB" altLang="en-US">
                <a:solidFill>
                  <a:srgbClr val="000000"/>
                </a:solidFill>
                <a:latin typeface="Times New Roman" panose="02020603050405020304" pitchFamily="18" charset="0"/>
                <a:cs typeface="Lucida Sans Unicode" panose="020B0602030504020204" pitchFamily="34" charset="0"/>
              </a:rPr>
              <a:pPr eaLnBrk="1" hangingPunct="1"/>
              <a:t>12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60419" name="Rectangle 1"/>
          <p:cNvSpPr>
            <a:spLocks noGrp="1" noRot="1" noChangeAspect="1" noChangeArrowheads="1" noTextEdit="1"/>
          </p:cNvSpPr>
          <p:nvPr>
            <p:ph type="sldImg"/>
          </p:nvPr>
        </p:nvSpPr>
        <p:spPr>
          <a:ln/>
        </p:spPr>
      </p:sp>
      <p:sp>
        <p:nvSpPr>
          <p:cNvPr id="72708" name="Rectangle 2"/>
          <p:cNvSpPr>
            <a:spLocks noGrp="1" noChangeArrowheads="1"/>
          </p:cNvSpPr>
          <p:nvPr>
            <p:ph type="body" idx="1"/>
          </p:nvPr>
        </p:nvSpPr>
        <p:spPr>
          <a:xfrm>
            <a:off x="974725" y="4560888"/>
            <a:ext cx="5365750" cy="4227512"/>
          </a:xfrm>
        </p:spPr>
        <p:txBody>
          <a:bodyPr wrap="none" anchor="ctr"/>
          <a:lstStyle/>
          <a:p>
            <a:pPr>
              <a:defRPr/>
            </a:pPr>
            <a:r>
              <a:rPr lang="en-US" altLang="en-US" b="1" dirty="0"/>
              <a:t>International Laws and Legal Bodies</a:t>
            </a:r>
          </a:p>
          <a:p>
            <a:pPr marL="342900" indent="-342900">
              <a:spcBef>
                <a:spcPct val="20000"/>
              </a:spcBef>
              <a:buFontTx/>
              <a:buChar char="•"/>
              <a:defRPr/>
            </a:pPr>
            <a:r>
              <a:rPr lang="en-GB" altLang="en-US" sz="2600" kern="0" dirty="0">
                <a:solidFill>
                  <a:srgbClr val="222222"/>
                </a:solidFill>
                <a:latin typeface="Arial"/>
              </a:rPr>
              <a:t>When organizations do business on the Internet, they do business globally</a:t>
            </a:r>
          </a:p>
          <a:p>
            <a:pPr marL="342900" indent="-342900">
              <a:spcBef>
                <a:spcPct val="20000"/>
              </a:spcBef>
              <a:buFontTx/>
              <a:buChar char="•"/>
              <a:defRPr/>
            </a:pPr>
            <a:r>
              <a:rPr lang="en-GB" altLang="en-US" sz="2600" kern="0" dirty="0">
                <a:solidFill>
                  <a:srgbClr val="222222"/>
                </a:solidFill>
                <a:latin typeface="Arial"/>
              </a:rPr>
              <a:t>Professionals must be sensitive to laws and ethical values of many different cultures, societies, and countries</a:t>
            </a:r>
          </a:p>
          <a:p>
            <a:pPr marL="342900" indent="-342900">
              <a:spcBef>
                <a:spcPct val="20000"/>
              </a:spcBef>
              <a:buFontTx/>
              <a:buChar char="•"/>
              <a:defRPr/>
            </a:pPr>
            <a:r>
              <a:rPr lang="en-GB" altLang="en-US" sz="2600" kern="0" dirty="0">
                <a:solidFill>
                  <a:srgbClr val="222222"/>
                </a:solidFill>
                <a:latin typeface="Arial"/>
              </a:rPr>
              <a:t>Because of political complexities of relationships among nations and differences in culture, few international laws cover privacy and information security</a:t>
            </a:r>
          </a:p>
          <a:p>
            <a:pPr marL="342900" indent="-342900">
              <a:spcBef>
                <a:spcPct val="20000"/>
              </a:spcBef>
              <a:buFontTx/>
              <a:buChar char="•"/>
              <a:defRPr/>
            </a:pPr>
            <a:r>
              <a:rPr lang="en-GB" altLang="en-US" sz="2600" kern="0" dirty="0">
                <a:solidFill>
                  <a:srgbClr val="222222"/>
                </a:solidFill>
                <a:latin typeface="Arial"/>
              </a:rPr>
              <a:t>These international laws are important but are limited in their enforceability</a:t>
            </a:r>
          </a:p>
          <a:p>
            <a:pPr>
              <a:defRPr/>
            </a:pPr>
            <a:endParaRPr lang="en-US" altLang="en-US" b="1" dirty="0"/>
          </a:p>
        </p:txBody>
      </p:sp>
    </p:spTree>
    <p:extLst>
      <p:ext uri="{BB962C8B-B14F-4D97-AF65-F5344CB8AC3E}">
        <p14:creationId xmlns:p14="http://schemas.microsoft.com/office/powerpoint/2010/main" val="2607306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B447847D-D9D6-4438-9629-3C12A387BB75}" type="slidenum">
              <a:rPr lang="en-GB" altLang="en-US">
                <a:solidFill>
                  <a:srgbClr val="000000"/>
                </a:solidFill>
                <a:latin typeface="Times New Roman" panose="02020603050405020304" pitchFamily="18" charset="0"/>
                <a:cs typeface="Lucida Sans Unicode" panose="020B0602030504020204" pitchFamily="34" charset="0"/>
              </a:rPr>
              <a:pPr eaLnBrk="1" hangingPunct="1"/>
              <a:t>13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64515" name="Rectangle 1"/>
          <p:cNvSpPr>
            <a:spLocks noGrp="1" noRot="1" noChangeAspect="1" noChangeArrowheads="1" noTextEdit="1"/>
          </p:cNvSpPr>
          <p:nvPr>
            <p:ph type="sldImg"/>
          </p:nvPr>
        </p:nvSpPr>
        <p:spPr>
          <a:ln/>
        </p:spPr>
      </p:sp>
      <p:sp>
        <p:nvSpPr>
          <p:cNvPr id="74756" name="Rectangle 2"/>
          <p:cNvSpPr>
            <a:spLocks noGrp="1" noChangeArrowheads="1"/>
          </p:cNvSpPr>
          <p:nvPr>
            <p:ph type="body" idx="1"/>
          </p:nvPr>
        </p:nvSpPr>
        <p:spPr>
          <a:xfrm>
            <a:off x="974725" y="4560888"/>
            <a:ext cx="5365750" cy="4227512"/>
          </a:xfrm>
        </p:spPr>
        <p:txBody>
          <a:bodyPr wrap="none" anchor="ctr"/>
          <a:lstStyle/>
          <a:p>
            <a:pPr>
              <a:defRPr/>
            </a:pPr>
            <a:r>
              <a:rPr lang="en-US" altLang="en-US" b="1" dirty="0"/>
              <a:t>Agreement on Trade-Related Aspects of Intellectual Property Rights</a:t>
            </a:r>
          </a:p>
          <a:p>
            <a:pPr marL="342900" indent="-342900">
              <a:spcBef>
                <a:spcPct val="20000"/>
              </a:spcBef>
              <a:buFontTx/>
              <a:buChar char="•"/>
              <a:defRPr/>
            </a:pPr>
            <a:r>
              <a:rPr lang="en-GB" altLang="en-US" sz="2600" kern="0" dirty="0">
                <a:solidFill>
                  <a:srgbClr val="222222"/>
                </a:solidFill>
                <a:latin typeface="Arial"/>
              </a:rPr>
              <a:t>Created by World Trade Organization (WTO) </a:t>
            </a:r>
          </a:p>
          <a:p>
            <a:pPr marL="342900" indent="-342900">
              <a:spcBef>
                <a:spcPct val="20000"/>
              </a:spcBef>
              <a:buFontTx/>
              <a:buChar char="•"/>
              <a:defRPr/>
            </a:pPr>
            <a:r>
              <a:rPr lang="en-GB" altLang="en-US" sz="2600" kern="0" dirty="0">
                <a:solidFill>
                  <a:srgbClr val="222222"/>
                </a:solidFill>
                <a:latin typeface="Arial"/>
              </a:rPr>
              <a:t>First significant international effort to protect intellectual property rights</a:t>
            </a:r>
          </a:p>
          <a:p>
            <a:pPr marL="342900" indent="-342900">
              <a:spcBef>
                <a:spcPct val="20000"/>
              </a:spcBef>
              <a:buFontTx/>
              <a:buChar char="•"/>
              <a:defRPr/>
            </a:pPr>
            <a:r>
              <a:rPr lang="en-US" altLang="en-US" sz="2600" kern="0" dirty="0">
                <a:solidFill>
                  <a:srgbClr val="222222"/>
                </a:solidFill>
                <a:latin typeface="Arial"/>
              </a:rPr>
              <a:t>Outlines requirements for governmental oversight and legislation providing minimum levels of protection for intellectual property</a:t>
            </a:r>
            <a:endParaRPr lang="en-GB" altLang="en-US" sz="2600" kern="0" dirty="0">
              <a:solidFill>
                <a:srgbClr val="222222"/>
              </a:solidFill>
              <a:latin typeface="Arial"/>
            </a:endParaRPr>
          </a:p>
          <a:p>
            <a:pPr>
              <a:defRPr/>
            </a:pPr>
            <a:endParaRPr lang="en-US" altLang="en-US" b="1" dirty="0"/>
          </a:p>
        </p:txBody>
      </p:sp>
    </p:spTree>
    <p:extLst>
      <p:ext uri="{BB962C8B-B14F-4D97-AF65-F5344CB8AC3E}">
        <p14:creationId xmlns:p14="http://schemas.microsoft.com/office/powerpoint/2010/main" val="1440076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B91FB75C-63E0-4FEB-9E37-22D5DEF079D0}" type="slidenum">
              <a:rPr lang="en-GB" altLang="en-US">
                <a:solidFill>
                  <a:srgbClr val="000000"/>
                </a:solidFill>
                <a:latin typeface="Times New Roman" panose="02020603050405020304" pitchFamily="18" charset="0"/>
                <a:cs typeface="Lucida Sans Unicode" panose="020B0602030504020204" pitchFamily="34" charset="0"/>
              </a:rPr>
              <a:pPr eaLnBrk="1" hangingPunct="1"/>
              <a:t>14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67587"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67588"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a:cs typeface="Lucida Sans Unicode" panose="020B0602030504020204" pitchFamily="34" charset="0"/>
              </a:rPr>
              <a:t>Digital Millennium Copyright Act (DMCA)</a:t>
            </a:r>
            <a:r>
              <a:rPr lang="ar-SA" altLang="en-US" b="1">
                <a:cs typeface="Times New Roman" panose="02020603050405020304" pitchFamily="18" charset="0"/>
              </a:rPr>
              <a:t>‏</a:t>
            </a:r>
            <a:endParaRPr lang="en-GB" altLang="en-US" b="1">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The Digital Millennium Copyright Act (DMCA) is the U.S. version of an international effort to reduce the impact of copyright, trademark, and privacy infringement especially through the removal of technological copyright protection measures.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The European Union also put forward Directive 95/46/EC that increases protection of individuals with regard to the processing of personal data and the free movement of such data.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The United Kingdom has already implemented a version of this directive called the Database Right.</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a:cs typeface="Lucida Sans Unicode" panose="020B0602030504020204" pitchFamily="34" charset="0"/>
            </a:endParaRPr>
          </a:p>
        </p:txBody>
      </p:sp>
    </p:spTree>
    <p:extLst>
      <p:ext uri="{BB962C8B-B14F-4D97-AF65-F5344CB8AC3E}">
        <p14:creationId xmlns:p14="http://schemas.microsoft.com/office/powerpoint/2010/main" val="1102882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4321EA9E-41AB-4B84-A941-612B4BFDA2F8}" type="slidenum">
              <a:rPr lang="en-GB" altLang="en-US">
                <a:solidFill>
                  <a:srgbClr val="000000"/>
                </a:solidFill>
                <a:latin typeface="Times New Roman" panose="02020603050405020304" pitchFamily="18" charset="0"/>
                <a:cs typeface="Lucida Sans Unicode" panose="020B0602030504020204" pitchFamily="34" charset="0"/>
              </a:rPr>
              <a:pPr eaLnBrk="1" hangingPunct="1"/>
              <a:t>15</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78851"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79876" name="Text Box 2"/>
          <p:cNvSpPr>
            <a:spLocks noGrp="1" noChangeArrowheads="1"/>
          </p:cNvSpPr>
          <p:nvPr>
            <p:ph type="body"/>
          </p:nvPr>
        </p:nvSpPr>
        <p:spPr>
          <a:xfrm>
            <a:off x="974725" y="4560888"/>
            <a:ext cx="5365750" cy="4319587"/>
          </a:xfrm>
        </p:spPr>
        <p:txBody>
          <a:bodyPr>
            <a:normAutofit fontScale="925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a:ea typeface="Lucida Sans Unicode" pitchFamily="34" charset="0"/>
                <a:cs typeface="Lucida Sans Unicode" pitchFamily="34" charset="0"/>
              </a:rPr>
              <a:t>Deterrence To Unethical and Illegal Behavior</a:t>
            </a:r>
          </a:p>
          <a:p>
            <a:pPr marL="342900" indent="-342900">
              <a:spcBef>
                <a:spcPct val="20000"/>
              </a:spcBef>
              <a:buFontTx/>
              <a:buChar char="•"/>
              <a:defRPr/>
            </a:pPr>
            <a:r>
              <a:rPr lang="en-GB" altLang="en-US" sz="2600" kern="0" dirty="0">
                <a:solidFill>
                  <a:srgbClr val="222222"/>
                </a:solidFill>
                <a:latin typeface="Arial"/>
              </a:rPr>
              <a:t>Three general causes of unethical and illegal behavior: ignorance, accident, intent</a:t>
            </a:r>
          </a:p>
          <a:p>
            <a:pPr marL="342900" indent="-342900">
              <a:spcBef>
                <a:spcPct val="20000"/>
              </a:spcBef>
              <a:buFontTx/>
              <a:buChar char="•"/>
              <a:defRPr/>
            </a:pPr>
            <a:r>
              <a:rPr lang="en-GB" altLang="en-US" sz="2600" kern="0" dirty="0">
                <a:solidFill>
                  <a:srgbClr val="222222"/>
                </a:solidFill>
                <a:latin typeface="Arial"/>
              </a:rPr>
              <a:t>Deterrence: best method for preventing an illegal or unethical activity; e.g., laws, policies, technical controls</a:t>
            </a:r>
          </a:p>
          <a:p>
            <a:pPr marL="342900" indent="-342900">
              <a:spcBef>
                <a:spcPct val="20000"/>
              </a:spcBef>
              <a:buFontTx/>
              <a:buChar char="•"/>
              <a:defRPr/>
            </a:pPr>
            <a:r>
              <a:rPr lang="en-GB" altLang="en-US" sz="2600" kern="0" dirty="0">
                <a:solidFill>
                  <a:srgbClr val="222222"/>
                </a:solidFill>
                <a:latin typeface="Arial"/>
              </a:rPr>
              <a:t>Laws and policies only deter if three conditions are present:</a:t>
            </a:r>
          </a:p>
          <a:p>
            <a:pPr marL="742950" lvl="1" indent="-285750">
              <a:spcBef>
                <a:spcPct val="20000"/>
              </a:spcBef>
              <a:buFontTx/>
              <a:buChar char="–"/>
              <a:defRPr/>
            </a:pPr>
            <a:r>
              <a:rPr lang="en-GB" altLang="en-US" sz="2400" kern="0" dirty="0">
                <a:solidFill>
                  <a:srgbClr val="222222"/>
                </a:solidFill>
                <a:latin typeface="Arial"/>
              </a:rPr>
              <a:t>Fear of penalty</a:t>
            </a:r>
          </a:p>
          <a:p>
            <a:pPr marL="742950" lvl="1" indent="-285750">
              <a:spcBef>
                <a:spcPct val="20000"/>
              </a:spcBef>
              <a:buFontTx/>
              <a:buChar char="–"/>
              <a:defRPr/>
            </a:pPr>
            <a:r>
              <a:rPr lang="en-GB" altLang="en-US" sz="2400" kern="0" dirty="0">
                <a:solidFill>
                  <a:srgbClr val="222222"/>
                </a:solidFill>
                <a:latin typeface="Arial"/>
              </a:rPr>
              <a:t>Probability of being apprehended</a:t>
            </a:r>
          </a:p>
          <a:p>
            <a:pPr marL="742950" lvl="1" indent="-285750">
              <a:spcBef>
                <a:spcPct val="20000"/>
              </a:spcBef>
              <a:buFontTx/>
              <a:buChar char="–"/>
              <a:defRPr/>
            </a:pPr>
            <a:r>
              <a:rPr lang="en-GB" altLang="en-US" sz="2400" kern="0" dirty="0">
                <a:solidFill>
                  <a:srgbClr val="222222"/>
                </a:solidFill>
                <a:latin typeface="Arial"/>
              </a:rPr>
              <a:t>Probability of penalty being applied</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altLang="en-US" dirty="0">
              <a:ea typeface="Lucida Sans Unicode" pitchFamily="34" charset="0"/>
              <a:cs typeface="Lucida Sans Unicode" pitchFamily="34" charset="0"/>
            </a:endParaRPr>
          </a:p>
        </p:txBody>
      </p:sp>
    </p:spTree>
    <p:extLst>
      <p:ext uri="{BB962C8B-B14F-4D97-AF65-F5344CB8AC3E}">
        <p14:creationId xmlns:p14="http://schemas.microsoft.com/office/powerpoint/2010/main" val="1642895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b="1" dirty="0"/>
              <a:t>Ethics and Information Security</a:t>
            </a:r>
          </a:p>
          <a:p>
            <a:pPr marL="342900" indent="-342900">
              <a:spcBef>
                <a:spcPct val="20000"/>
              </a:spcBef>
              <a:buFontTx/>
              <a:buChar char="•"/>
              <a:defRPr/>
            </a:pPr>
            <a:r>
              <a:rPr lang="en-US" altLang="en-US" sz="2600" kern="0" dirty="0">
                <a:solidFill>
                  <a:srgbClr val="222222"/>
                </a:solidFill>
                <a:latin typeface="Arial"/>
              </a:rPr>
              <a:t>Many professional disciplines have explicit rules governing ethical behavior of members</a:t>
            </a:r>
          </a:p>
          <a:p>
            <a:pPr marL="342900" indent="-342900">
              <a:spcBef>
                <a:spcPct val="20000"/>
              </a:spcBef>
              <a:buFontTx/>
              <a:buChar char="•"/>
              <a:defRPr/>
            </a:pPr>
            <a:r>
              <a:rPr lang="en-US" altLang="en-US" sz="2600" kern="0" dirty="0">
                <a:solidFill>
                  <a:srgbClr val="222222"/>
                </a:solidFill>
                <a:latin typeface="Arial"/>
              </a:rPr>
              <a:t>IT and IT security do not have binding codes of ethics</a:t>
            </a:r>
          </a:p>
          <a:p>
            <a:pPr marL="342900" indent="-342900">
              <a:spcBef>
                <a:spcPct val="20000"/>
              </a:spcBef>
              <a:buFontTx/>
              <a:buChar char="•"/>
              <a:defRPr/>
            </a:pPr>
            <a:r>
              <a:rPr lang="en-US" altLang="en-US" sz="2600" kern="0" dirty="0">
                <a:solidFill>
                  <a:srgbClr val="222222"/>
                </a:solidFill>
                <a:latin typeface="Arial"/>
              </a:rPr>
              <a:t>Professional associations and certification agencies work to maintain ethical codes of conduct</a:t>
            </a:r>
          </a:p>
          <a:p>
            <a:pPr marL="742950" lvl="1" indent="-285750">
              <a:spcBef>
                <a:spcPct val="20000"/>
              </a:spcBef>
              <a:buFontTx/>
              <a:buChar char="–"/>
              <a:defRPr/>
            </a:pPr>
            <a:r>
              <a:rPr lang="en-US" altLang="en-US" sz="2400" kern="0" dirty="0">
                <a:solidFill>
                  <a:srgbClr val="222222"/>
                </a:solidFill>
                <a:latin typeface="Arial"/>
              </a:rPr>
              <a:t>Can prescribe ethical conduct</a:t>
            </a:r>
          </a:p>
          <a:p>
            <a:pPr marL="742950" lvl="1" indent="-285750">
              <a:spcBef>
                <a:spcPct val="20000"/>
              </a:spcBef>
              <a:buFontTx/>
              <a:buChar char="–"/>
              <a:defRPr/>
            </a:pPr>
            <a:r>
              <a:rPr lang="en-US" altLang="en-US" sz="2400" kern="0" dirty="0">
                <a:solidFill>
                  <a:srgbClr val="222222"/>
                </a:solidFill>
                <a:latin typeface="Arial"/>
              </a:rPr>
              <a:t>Do not always have the ability to ban violators from practice in field</a:t>
            </a:r>
          </a:p>
        </p:txBody>
      </p:sp>
      <p:sp>
        <p:nvSpPr>
          <p:cNvPr id="69636"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CEB949F5-D2EA-49E2-B1FB-821205C6E931}" type="slidenum">
              <a:rPr lang="en-US" altLang="en-US"/>
              <a:pPr/>
              <a:t>18</a:t>
            </a:fld>
            <a:endParaRPr lang="en-US" altLang="en-US"/>
          </a:p>
        </p:txBody>
      </p:sp>
    </p:spTree>
    <p:extLst>
      <p:ext uri="{BB962C8B-B14F-4D97-AF65-F5344CB8AC3E}">
        <p14:creationId xmlns:p14="http://schemas.microsoft.com/office/powerpoint/2010/main" val="182866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EC306-2DA1-3216-0EEA-33EC8DD3B9EB}"/>
            </a:ext>
          </a:extLst>
        </p:cNvPr>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069484F1-E979-6653-9F62-0E75CF57823F}"/>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28B219CE-C00C-AE4A-9F4C-78997315C73B}"/>
              </a:ext>
            </a:extLst>
          </p:cNvPr>
          <p:cNvSpPr>
            <a:spLocks noGrp="1"/>
          </p:cNvSpPr>
          <p:nvPr>
            <p:ph type="body" idx="1"/>
          </p:nvPr>
        </p:nvSpPr>
        <p:spPr/>
        <p:txBody>
          <a:bodyPr>
            <a:normAutofit fontScale="85000" lnSpcReduction="20000"/>
          </a:bodyPr>
          <a:lstStyle/>
          <a:p>
            <a:pPr>
              <a:defRPr/>
            </a:pPr>
            <a:r>
              <a:rPr lang="en-US" b="1" dirty="0"/>
              <a:t>Ethics and Information Security</a:t>
            </a:r>
          </a:p>
          <a:p>
            <a:pPr marL="342900" indent="-342900">
              <a:spcBef>
                <a:spcPct val="20000"/>
              </a:spcBef>
              <a:buFontTx/>
              <a:buChar char="•"/>
              <a:defRPr/>
            </a:pPr>
            <a:r>
              <a:rPr lang="en-US" altLang="en-US" sz="2600" kern="0" dirty="0">
                <a:solidFill>
                  <a:srgbClr val="222222"/>
                </a:solidFill>
                <a:latin typeface="Arial"/>
              </a:rPr>
              <a:t>Many professional disciplines have explicit rules governing ethical behavior of members</a:t>
            </a:r>
          </a:p>
          <a:p>
            <a:pPr marL="342900" indent="-342900">
              <a:spcBef>
                <a:spcPct val="20000"/>
              </a:spcBef>
              <a:buFontTx/>
              <a:buChar char="•"/>
              <a:defRPr/>
            </a:pPr>
            <a:r>
              <a:rPr lang="en-US" altLang="en-US" sz="2600" kern="0" dirty="0">
                <a:solidFill>
                  <a:srgbClr val="222222"/>
                </a:solidFill>
                <a:latin typeface="Arial"/>
              </a:rPr>
              <a:t>IT and IT security do not have binding codes of ethics</a:t>
            </a:r>
          </a:p>
          <a:p>
            <a:pPr marL="342900" indent="-342900">
              <a:spcBef>
                <a:spcPct val="20000"/>
              </a:spcBef>
              <a:buFontTx/>
              <a:buChar char="•"/>
              <a:defRPr/>
            </a:pPr>
            <a:r>
              <a:rPr lang="en-US" altLang="en-US" sz="2600" kern="0" dirty="0">
                <a:solidFill>
                  <a:srgbClr val="222222"/>
                </a:solidFill>
                <a:latin typeface="Arial"/>
              </a:rPr>
              <a:t>Professional associations and certification agencies work to maintain ethical codes of conduct</a:t>
            </a:r>
          </a:p>
          <a:p>
            <a:pPr marL="742950" lvl="1" indent="-285750">
              <a:spcBef>
                <a:spcPct val="20000"/>
              </a:spcBef>
              <a:buFontTx/>
              <a:buChar char="–"/>
              <a:defRPr/>
            </a:pPr>
            <a:r>
              <a:rPr lang="en-US" altLang="en-US" sz="2400" kern="0" dirty="0">
                <a:solidFill>
                  <a:srgbClr val="222222"/>
                </a:solidFill>
                <a:latin typeface="Arial"/>
              </a:rPr>
              <a:t>Can prescribe ethical conduct</a:t>
            </a:r>
          </a:p>
          <a:p>
            <a:pPr marL="742950" lvl="1" indent="-285750">
              <a:spcBef>
                <a:spcPct val="20000"/>
              </a:spcBef>
              <a:buFontTx/>
              <a:buChar char="–"/>
              <a:defRPr/>
            </a:pPr>
            <a:r>
              <a:rPr lang="en-US" altLang="en-US" sz="2400" kern="0" dirty="0">
                <a:solidFill>
                  <a:srgbClr val="222222"/>
                </a:solidFill>
                <a:latin typeface="Arial"/>
              </a:rPr>
              <a:t>Do not always have the ability to ban violators from practice in field</a:t>
            </a:r>
          </a:p>
        </p:txBody>
      </p:sp>
      <p:sp>
        <p:nvSpPr>
          <p:cNvPr id="69636" name="Slide Number Placeholder 3">
            <a:extLst>
              <a:ext uri="{FF2B5EF4-FFF2-40B4-BE49-F238E27FC236}">
                <a16:creationId xmlns:a16="http://schemas.microsoft.com/office/drawing/2014/main" id="{8B84E784-D0FE-7A4F-B8C7-2396EF733812}"/>
              </a:ext>
            </a:extLst>
          </p:cNvPr>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CEB949F5-D2EA-49E2-B1FB-821205C6E931}" type="slidenum">
              <a:rPr lang="en-US" altLang="en-US"/>
              <a:pPr/>
              <a:t>19</a:t>
            </a:fld>
            <a:endParaRPr lang="en-US" altLang="en-US"/>
          </a:p>
        </p:txBody>
      </p:sp>
    </p:spTree>
    <p:extLst>
      <p:ext uri="{BB962C8B-B14F-4D97-AF65-F5344CB8AC3E}">
        <p14:creationId xmlns:p14="http://schemas.microsoft.com/office/powerpoint/2010/main" val="1781521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359B221A-CFD7-4654-BAEC-6F8716071585}"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41</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76803"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78852" name="Text Box 2"/>
          <p:cNvSpPr>
            <a:spLocks noGrp="1" noChangeArrowheads="1"/>
          </p:cNvSpPr>
          <p:nvPr>
            <p:ph type="body"/>
          </p:nvPr>
        </p:nvSpPr>
        <p:spPr>
          <a:xfrm>
            <a:off x="974725" y="4560888"/>
            <a:ext cx="5365750" cy="4319587"/>
          </a:xfrm>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a:ea typeface="Lucida Sans Unicode" pitchFamily="34" charset="0"/>
                <a:cs typeface="Lucida Sans Unicode" pitchFamily="34" charset="0"/>
              </a:rPr>
              <a:t>Ethics and Education</a:t>
            </a:r>
          </a:p>
          <a:p>
            <a:pPr marL="342900" indent="-342900">
              <a:spcBef>
                <a:spcPct val="20000"/>
              </a:spcBef>
              <a:buFontTx/>
              <a:buChar char="•"/>
              <a:defRPr/>
            </a:pPr>
            <a:r>
              <a:rPr lang="en-GB" altLang="en-US" sz="2600" kern="0" dirty="0">
                <a:solidFill>
                  <a:srgbClr val="222222"/>
                </a:solidFill>
                <a:latin typeface="Arial"/>
              </a:rPr>
              <a:t>Education is overriding factor in levelling ethical perceptions within a small population</a:t>
            </a:r>
          </a:p>
          <a:p>
            <a:pPr marL="342900" indent="-342900">
              <a:spcBef>
                <a:spcPct val="20000"/>
              </a:spcBef>
              <a:buFontTx/>
              <a:buChar char="•"/>
              <a:defRPr/>
            </a:pPr>
            <a:r>
              <a:rPr lang="en-GB" altLang="en-US" sz="2600" kern="0" dirty="0">
                <a:solidFill>
                  <a:srgbClr val="222222"/>
                </a:solidFill>
                <a:latin typeface="Arial"/>
              </a:rPr>
              <a:t>Employees must be trained and kept aware of expected behavior of an ethical employee</a:t>
            </a:r>
          </a:p>
          <a:p>
            <a:pPr marL="342900" indent="-342900">
              <a:spcBef>
                <a:spcPct val="20000"/>
              </a:spcBef>
              <a:buFontTx/>
              <a:buChar char="•"/>
              <a:defRPr/>
            </a:pPr>
            <a:r>
              <a:rPr lang="en-GB" altLang="en-US" sz="2600" kern="0" dirty="0">
                <a:solidFill>
                  <a:srgbClr val="222222"/>
                </a:solidFill>
                <a:latin typeface="Arial"/>
              </a:rPr>
              <a:t>Proper ethical training is vital to creating informed and well prepared system user</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altLang="en-US" dirty="0">
              <a:ea typeface="Lucida Sans Unicode" pitchFamily="34" charset="0"/>
              <a:cs typeface="Lucida Sans Unicode" pitchFamily="34" charset="0"/>
            </a:endParaRPr>
          </a:p>
        </p:txBody>
      </p:sp>
    </p:spTree>
    <p:extLst>
      <p:ext uri="{BB962C8B-B14F-4D97-AF65-F5344CB8AC3E}">
        <p14:creationId xmlns:p14="http://schemas.microsoft.com/office/powerpoint/2010/main" val="112752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B95EA-0817-5A2E-FA6B-1FAAD1873183}"/>
            </a:ext>
          </a:extLst>
        </p:cNvPr>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F8D4C23D-1721-458A-4EBF-A49C4D792003}"/>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4C19855E-EA7D-2B8C-828D-02925A516867}"/>
              </a:ext>
            </a:extLst>
          </p:cNvPr>
          <p:cNvSpPr>
            <a:spLocks noGrp="1"/>
          </p:cNvSpPr>
          <p:nvPr>
            <p:ph type="body" idx="1"/>
          </p:nvPr>
        </p:nvSpPr>
        <p:spPr/>
        <p:txBody>
          <a:bodyPr>
            <a:normAutofit fontScale="85000" lnSpcReduction="20000"/>
          </a:bodyPr>
          <a:lstStyle/>
          <a:p>
            <a:pPr>
              <a:defRPr/>
            </a:pPr>
            <a:r>
              <a:rPr lang="en-US" b="1" dirty="0"/>
              <a:t>Ethics and Information Security</a:t>
            </a:r>
          </a:p>
          <a:p>
            <a:pPr marL="342900" indent="-342900">
              <a:spcBef>
                <a:spcPct val="20000"/>
              </a:spcBef>
              <a:buFontTx/>
              <a:buChar char="•"/>
              <a:defRPr/>
            </a:pPr>
            <a:r>
              <a:rPr lang="en-US" altLang="en-US" sz="2600" kern="0" dirty="0">
                <a:solidFill>
                  <a:srgbClr val="222222"/>
                </a:solidFill>
                <a:latin typeface="Arial"/>
              </a:rPr>
              <a:t>Many professional disciplines have explicit rules governing ethical behavior of members</a:t>
            </a:r>
          </a:p>
          <a:p>
            <a:pPr marL="342900" indent="-342900">
              <a:spcBef>
                <a:spcPct val="20000"/>
              </a:spcBef>
              <a:buFontTx/>
              <a:buChar char="•"/>
              <a:defRPr/>
            </a:pPr>
            <a:r>
              <a:rPr lang="en-US" altLang="en-US" sz="2600" kern="0" dirty="0">
                <a:solidFill>
                  <a:srgbClr val="222222"/>
                </a:solidFill>
                <a:latin typeface="Arial"/>
              </a:rPr>
              <a:t>IT and IT security do not have binding codes of ethics</a:t>
            </a:r>
          </a:p>
          <a:p>
            <a:pPr marL="342900" indent="-342900">
              <a:spcBef>
                <a:spcPct val="20000"/>
              </a:spcBef>
              <a:buFontTx/>
              <a:buChar char="•"/>
              <a:defRPr/>
            </a:pPr>
            <a:r>
              <a:rPr lang="en-US" altLang="en-US" sz="2600" kern="0" dirty="0">
                <a:solidFill>
                  <a:srgbClr val="222222"/>
                </a:solidFill>
                <a:latin typeface="Arial"/>
              </a:rPr>
              <a:t>Professional associations and certification agencies work to maintain ethical codes of conduct</a:t>
            </a:r>
          </a:p>
          <a:p>
            <a:pPr marL="742950" lvl="1" indent="-285750">
              <a:spcBef>
                <a:spcPct val="20000"/>
              </a:spcBef>
              <a:buFontTx/>
              <a:buChar char="–"/>
              <a:defRPr/>
            </a:pPr>
            <a:r>
              <a:rPr lang="en-US" altLang="en-US" sz="2400" kern="0" dirty="0">
                <a:solidFill>
                  <a:srgbClr val="222222"/>
                </a:solidFill>
                <a:latin typeface="Arial"/>
              </a:rPr>
              <a:t>Can prescribe ethical conduct</a:t>
            </a:r>
          </a:p>
          <a:p>
            <a:pPr marL="742950" lvl="1" indent="-285750">
              <a:spcBef>
                <a:spcPct val="20000"/>
              </a:spcBef>
              <a:buFontTx/>
              <a:buChar char="–"/>
              <a:defRPr/>
            </a:pPr>
            <a:r>
              <a:rPr lang="en-US" altLang="en-US" sz="2400" kern="0" dirty="0">
                <a:solidFill>
                  <a:srgbClr val="222222"/>
                </a:solidFill>
                <a:latin typeface="Arial"/>
              </a:rPr>
              <a:t>Do not always have the ability to ban violators from practice in field</a:t>
            </a:r>
          </a:p>
        </p:txBody>
      </p:sp>
      <p:sp>
        <p:nvSpPr>
          <p:cNvPr id="69636" name="Slide Number Placeholder 3">
            <a:extLst>
              <a:ext uri="{FF2B5EF4-FFF2-40B4-BE49-F238E27FC236}">
                <a16:creationId xmlns:a16="http://schemas.microsoft.com/office/drawing/2014/main" id="{94C82C43-FD34-3826-8E27-F270736013FA}"/>
              </a:ext>
            </a:extLst>
          </p:cNvPr>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CEB949F5-D2EA-49E2-B1FB-821205C6E931}" type="slidenum">
              <a:rPr lang="en-US" altLang="en-US"/>
              <a:pPr/>
              <a:t>42</a:t>
            </a:fld>
            <a:endParaRPr lang="en-US" altLang="en-US"/>
          </a:p>
        </p:txBody>
      </p:sp>
    </p:spTree>
    <p:extLst>
      <p:ext uri="{BB962C8B-B14F-4D97-AF65-F5344CB8AC3E}">
        <p14:creationId xmlns:p14="http://schemas.microsoft.com/office/powerpoint/2010/main" val="3539375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90832669-98A5-4A66-9DF1-F5C2F039BF31}"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47</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8499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84996"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a:cs typeface="Lucida Sans Unicode" panose="020B0602030504020204" pitchFamily="34" charset="0"/>
              </a:rPr>
              <a:t>Association of Computing Machinery</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The ACM (www.acm.org) is a respected professional society, originally established in 1947 as “the world's first educational and scientific computing society.”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The ACM’s code of ethics requires members to perform their duties in a manner befitting an ethical computing professional.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The code contains specific references to protecting the confidentiality of information, causing no harm, protecting the privacy of others, and respecting the intellectual property and copyrights of others.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a:cs typeface="Lucida Sans Unicode" panose="020B0602030504020204" pitchFamily="34" charset="0"/>
            </a:endParaRPr>
          </a:p>
        </p:txBody>
      </p:sp>
    </p:spTree>
    <p:extLst>
      <p:ext uri="{BB962C8B-B14F-4D97-AF65-F5344CB8AC3E}">
        <p14:creationId xmlns:p14="http://schemas.microsoft.com/office/powerpoint/2010/main" val="352345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8C9655E5-DEC3-4D41-8080-E43D453A1883}"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48</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87043"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87044"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a:cs typeface="Lucida Sans Unicode" panose="020B0602030504020204" pitchFamily="34" charset="0"/>
              </a:rPr>
              <a:t>International Information Systems Security Certification Consortium</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The (ISC)</a:t>
            </a:r>
            <a:r>
              <a:rPr lang="en-GB" altLang="en-US" baseline="30000">
                <a:cs typeface="Lucida Sans Unicode" panose="020B0602030504020204" pitchFamily="34" charset="0"/>
              </a:rPr>
              <a:t>2</a:t>
            </a:r>
            <a:r>
              <a:rPr lang="en-GB" altLang="en-US">
                <a:cs typeface="Lucida Sans Unicode" panose="020B0602030504020204" pitchFamily="34" charset="0"/>
              </a:rPr>
              <a:t> (www.isc2.org) is a nonprofit organization that focuses on the development and implementation of information security certifications and credentials.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The code of ethics put forth by (ISC)</a:t>
            </a:r>
            <a:r>
              <a:rPr lang="en-GB" altLang="en-US" baseline="30000">
                <a:cs typeface="Lucida Sans Unicode" panose="020B0602030504020204" pitchFamily="34" charset="0"/>
              </a:rPr>
              <a:t>2</a:t>
            </a:r>
            <a:r>
              <a:rPr lang="en-GB" altLang="en-US">
                <a:cs typeface="Lucida Sans Unicode" panose="020B0602030504020204" pitchFamily="34" charset="0"/>
              </a:rPr>
              <a:t> is primarily designed for information security professionals who have earned a certification from (ISC)</a:t>
            </a:r>
            <a:r>
              <a:rPr lang="en-GB" altLang="en-US" baseline="30000">
                <a:cs typeface="Lucida Sans Unicode" panose="020B0602030504020204" pitchFamily="34" charset="0"/>
              </a:rPr>
              <a:t>2</a:t>
            </a:r>
            <a:r>
              <a:rPr lang="en-GB" altLang="en-US">
                <a:cs typeface="Lucida Sans Unicode" panose="020B0602030504020204" pitchFamily="34" charset="0"/>
              </a:rPr>
              <a:t>.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This code focuses on four mandatory canons: </a:t>
            </a:r>
          </a:p>
          <a:p>
            <a:pPr eaLnBrk="1" hangingPunct="1">
              <a:lnSpc>
                <a:spcPct val="80000"/>
              </a:lnSpc>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Protect society, the commonwealth, and the infrastructure; </a:t>
            </a:r>
          </a:p>
          <a:p>
            <a:pPr eaLnBrk="1" hangingPunct="1">
              <a:lnSpc>
                <a:spcPct val="80000"/>
              </a:lnSpc>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Act honorably, honestly, justly, responsibly, and legally; </a:t>
            </a:r>
          </a:p>
          <a:p>
            <a:pPr eaLnBrk="1" hangingPunct="1">
              <a:lnSpc>
                <a:spcPct val="80000"/>
              </a:lnSpc>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Provide diligent and competent service to principals; and </a:t>
            </a:r>
          </a:p>
          <a:p>
            <a:pPr eaLnBrk="1" hangingPunct="1">
              <a:lnSpc>
                <a:spcPct val="80000"/>
              </a:lnSpc>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Advance and protect the profession.</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a:cs typeface="Lucida Sans Unicode" panose="020B0602030504020204" pitchFamily="34" charset="0"/>
            </a:endParaRPr>
          </a:p>
        </p:txBody>
      </p:sp>
    </p:spTree>
    <p:extLst>
      <p:ext uri="{BB962C8B-B14F-4D97-AF65-F5344CB8AC3E}">
        <p14:creationId xmlns:p14="http://schemas.microsoft.com/office/powerpoint/2010/main" val="165730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2A144071-5EB8-40AA-B011-D239DF92F550}"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49</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89091"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83972" name="Text Box 2"/>
          <p:cNvSpPr>
            <a:spLocks noGrp="1" noChangeArrowheads="1"/>
          </p:cNvSpPr>
          <p:nvPr>
            <p:ph type="body"/>
          </p:nvPr>
        </p:nvSpPr>
        <p:spPr>
          <a:xfrm>
            <a:off x="974725" y="4560888"/>
            <a:ext cx="5365750" cy="4319587"/>
          </a:xfrm>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a:ea typeface="Lucida Sans Unicode" pitchFamily="34" charset="0"/>
                <a:cs typeface="Lucida Sans Unicode" pitchFamily="34" charset="0"/>
              </a:rPr>
              <a:t>System Administration, Networking, and Security Institute</a:t>
            </a:r>
          </a:p>
          <a:p>
            <a:pPr marL="342900" indent="-342900">
              <a:spcBef>
                <a:spcPct val="20000"/>
              </a:spcBef>
              <a:buFontTx/>
              <a:buChar char="•"/>
              <a:defRPr/>
            </a:pPr>
            <a:r>
              <a:rPr lang="en-US" altLang="en-US" sz="2600" kern="0" dirty="0">
                <a:solidFill>
                  <a:srgbClr val="222222"/>
                </a:solidFill>
                <a:latin typeface="Arial"/>
              </a:rPr>
              <a:t>SANS (formerly System Administration, Networking, and Security Institute)</a:t>
            </a:r>
            <a:endParaRPr lang="en-GB" altLang="en-US" sz="2600" kern="0" dirty="0">
              <a:solidFill>
                <a:srgbClr val="222222"/>
              </a:solidFill>
              <a:latin typeface="Arial"/>
            </a:endParaRPr>
          </a:p>
          <a:p>
            <a:pPr marL="742950" lvl="1" indent="-285750">
              <a:spcBef>
                <a:spcPct val="20000"/>
              </a:spcBef>
              <a:buFontTx/>
              <a:buChar char="–"/>
              <a:defRPr/>
            </a:pPr>
            <a:r>
              <a:rPr lang="en-GB" altLang="en-US" sz="2400" kern="0" dirty="0">
                <a:solidFill>
                  <a:srgbClr val="222222"/>
                </a:solidFill>
                <a:latin typeface="Arial"/>
              </a:rPr>
              <a:t>Professional organization with a large membership dedicated to protection of information and systems</a:t>
            </a:r>
          </a:p>
          <a:p>
            <a:pPr marL="742950" lvl="1" indent="-285750">
              <a:spcBef>
                <a:spcPct val="20000"/>
              </a:spcBef>
              <a:buFontTx/>
              <a:buChar char="–"/>
              <a:defRPr/>
            </a:pPr>
            <a:r>
              <a:rPr lang="en-GB" altLang="en-US" sz="2400" kern="0" dirty="0">
                <a:solidFill>
                  <a:srgbClr val="222222"/>
                </a:solidFill>
                <a:latin typeface="Arial"/>
              </a:rPr>
              <a:t>SANS offers set of certifications called Global Information Assurance Certification (GIAC)</a:t>
            </a:r>
            <a:r>
              <a:rPr lang="ar-SA" altLang="en-US" sz="2400" kern="0" dirty="0">
                <a:solidFill>
                  <a:srgbClr val="222222"/>
                </a:solidFill>
                <a:latin typeface="Arial"/>
              </a:rPr>
              <a:t>‏</a:t>
            </a:r>
            <a:endParaRPr lang="en-GB" altLang="en-US" sz="2400" kern="0" dirty="0">
              <a:solidFill>
                <a:srgbClr val="222222"/>
              </a:solidFill>
              <a:latin typeface="Arial"/>
            </a:endParaRPr>
          </a:p>
        </p:txBody>
      </p:sp>
    </p:spTree>
    <p:extLst>
      <p:ext uri="{BB962C8B-B14F-4D97-AF65-F5344CB8AC3E}">
        <p14:creationId xmlns:p14="http://schemas.microsoft.com/office/powerpoint/2010/main" val="666797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E64E26EF-E917-4986-BB0B-BAB5F797C727}"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50</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91139"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91140"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a:cs typeface="Lucida Sans Unicode" panose="020B0602030504020204" pitchFamily="34" charset="0"/>
              </a:rPr>
              <a:t>Information Systems Audit and Control Association</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The Information Systems Audit and Control Association or ISACA (www.isaca.org) is a professional association with a focus on auditing, control, and security.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Although it does not focus exclusively on information security, the Certified Information Systems Auditor or CISA certification does contain many information security components.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cs typeface="Lucida Sans Unicode" panose="020B0602030504020204" pitchFamily="34" charset="0"/>
              </a:rPr>
              <a:t>The ISACA also has a code of ethics for its professionals. It requires many of the same high standards for ethical performance as the other organizations and certifications.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a:cs typeface="Lucida Sans Unicode" panose="020B0602030504020204" pitchFamily="34" charset="0"/>
            </a:endParaRPr>
          </a:p>
        </p:txBody>
      </p:sp>
    </p:spTree>
    <p:extLst>
      <p:ext uri="{BB962C8B-B14F-4D97-AF65-F5344CB8AC3E}">
        <p14:creationId xmlns:p14="http://schemas.microsoft.com/office/powerpoint/2010/main" val="311432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F9BC4AED-3A4A-4AF1-BE2B-A2BA483B058C}"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51</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93187" name="Rectangle 1"/>
          <p:cNvSpPr>
            <a:spLocks noGrp="1" noRot="1" noChangeAspect="1" noChangeArrowheads="1" noTextEdit="1"/>
          </p:cNvSpPr>
          <p:nvPr>
            <p:ph type="sldImg"/>
          </p:nvPr>
        </p:nvSpPr>
        <p:spPr>
          <a:ln/>
        </p:spPr>
      </p:sp>
      <p:sp>
        <p:nvSpPr>
          <p:cNvPr id="93188" name="Rectangle 2"/>
          <p:cNvSpPr>
            <a:spLocks noGrp="1" noChangeArrowheads="1"/>
          </p:cNvSpPr>
          <p:nvPr>
            <p:ph type="body" idx="1"/>
          </p:nvPr>
        </p:nvSpPr>
        <p:spPr>
          <a:xfrm>
            <a:off x="974725" y="4560888"/>
            <a:ext cx="5365750" cy="4319587"/>
          </a:xfrm>
          <a:noFill/>
        </p:spPr>
        <p:txBody>
          <a:bodyPr wrap="none" anchor="ctr"/>
          <a:lstStyle/>
          <a:p>
            <a:r>
              <a:rPr lang="en-GB" altLang="en-US" b="1"/>
              <a:t>Information Systems Security Association (ISSA)</a:t>
            </a:r>
            <a:r>
              <a:rPr lang="ar-SA" altLang="en-US" b="1"/>
              <a:t>‏</a:t>
            </a:r>
            <a:endParaRPr lang="en-GB" altLang="en-US" b="1"/>
          </a:p>
          <a:p>
            <a:pPr lvl="1"/>
            <a:r>
              <a:rPr lang="en-GB" altLang="en-US"/>
              <a:t>Nonprofit society of information security (IS) professionals</a:t>
            </a:r>
          </a:p>
          <a:p>
            <a:pPr lvl="1"/>
            <a:r>
              <a:rPr lang="en-GB" altLang="en-US"/>
              <a:t>Primary mission to bring together qualified IS practitioners for information exchange and educational development</a:t>
            </a:r>
          </a:p>
          <a:p>
            <a:pPr lvl="1"/>
            <a:r>
              <a:rPr lang="en-GB" altLang="en-US"/>
              <a:t>Promotes code of ethics similar to (ISC)</a:t>
            </a:r>
            <a:r>
              <a:rPr lang="en-GB" altLang="en-US" baseline="30000"/>
              <a:t>2</a:t>
            </a:r>
            <a:r>
              <a:rPr lang="en-GB" altLang="en-US"/>
              <a:t>, ISACA, and ACM</a:t>
            </a:r>
          </a:p>
          <a:p>
            <a:endParaRPr lang="en-US" altLang="en-US"/>
          </a:p>
        </p:txBody>
      </p:sp>
    </p:spTree>
    <p:extLst>
      <p:ext uri="{BB962C8B-B14F-4D97-AF65-F5344CB8AC3E}">
        <p14:creationId xmlns:p14="http://schemas.microsoft.com/office/powerpoint/2010/main" val="24009433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sz="2800"/>
            </a:lvl1pPr>
            <a:lvl2pPr latinLnBrk="0">
              <a:defRPr sz="2400"/>
            </a:lvl2pPr>
            <a:lvl3pPr latinLnBrk="0">
              <a:defRPr sz="2000"/>
            </a:lvl3pPr>
            <a:lvl4pPr latinLnBrk="0">
              <a:defRPr sz="1800"/>
            </a:lvl4pPr>
            <a:lvl5pPr latinLnBrk="0">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96214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0589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878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579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83205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72461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22638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8283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2059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151148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33484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783045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126047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702523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5489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214533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503016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948709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22764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83206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29879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03672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271814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55071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872595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8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83131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983831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73372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31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133328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3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883457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33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01224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34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309820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112216" y="2564904"/>
            <a:ext cx="6584928" cy="1069514"/>
          </a:xfrm>
          <a:prstGeom prst="rect">
            <a:avLst/>
          </a:prstGeom>
        </p:spPr>
        <p:txBody>
          <a:bodyPr anchor="ctr"/>
          <a:lstStyle>
            <a:lvl1pPr algn="ct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5805264"/>
            <a:ext cx="6563072" cy="386671"/>
          </a:xfrm>
          <a:prstGeom prst="rect">
            <a:avLst/>
          </a:prstGeom>
        </p:spPr>
        <p:txBody>
          <a:bodyPr/>
          <a:lstStyle>
            <a:lvl1pPr marL="0" indent="0" latinLnBrk="0">
              <a:buNone/>
              <a:defRPr sz="1800"/>
            </a:lvl1pPr>
            <a:lvl2pPr latinLnBrk="0">
              <a:defRPr sz="2000"/>
            </a:lvl2pPr>
            <a:lvl3pPr latinLnBrk="0">
              <a:defRPr sz="1800"/>
            </a:lvl3pPr>
            <a:lvl4pPr latinLnBrk="0">
              <a:defRPr sz="1600"/>
            </a:lvl4pPr>
            <a:lvl5pPr latinLnBrk="0">
              <a:defRPr sz="1600"/>
            </a:lvl5pPr>
          </a:lstStyle>
          <a:p>
            <a:pPr lvl="0"/>
            <a:r>
              <a:rPr lang="en-US" dirty="0"/>
              <a:t>Click to edit Master text styles</a:t>
            </a:r>
          </a:p>
        </p:txBody>
      </p:sp>
    </p:spTree>
    <p:extLst>
      <p:ext uri="{BB962C8B-B14F-4D97-AF65-F5344CB8AC3E}">
        <p14:creationId xmlns:p14="http://schemas.microsoft.com/office/powerpoint/2010/main" val="15300204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22-Nov-25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22-Nov-25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22-Nov-25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22-Nov-25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22-Nov-25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22-Nov-25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22-Nov-25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22-Nov-25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22-Nov-25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22-Nov-25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22-Nov-25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2.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 id="2147483699" r:id="rId30"/>
    <p:sldLayoutId id="2147483700" r:id="rId31"/>
    <p:sldLayoutId id="2147483701" r:id="rId32"/>
    <p:sldLayoutId id="2147483702" r:id="rId33"/>
    <p:sldLayoutId id="2147483703" r:id="rId34"/>
    <p:sldLayoutId id="2147483704" r:id="rId35"/>
    <p:sldLayoutId id="2147483705" r:id="rId36"/>
    <p:sldLayoutId id="2147483706" r:id="rId37"/>
    <p:sldLayoutId id="2147483707" r:id="rId38"/>
    <p:sldLayoutId id="2147483708" r:id="rId39"/>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22-Nov-25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www.amnesty.org/en/latest/news/2022/02/pakistan-repeal-draconian-cyber-crime-law/" TargetMode="External"/><Relationship Id="rId2" Type="http://schemas.openxmlformats.org/officeDocument/2006/relationships/hyperlink" Target="https://sja.gos.pk/assets/Acts_Ordinances_Rules2/PEC2016.pdf" TargetMode="External"/><Relationship Id="rId1" Type="http://schemas.openxmlformats.org/officeDocument/2006/relationships/slideLayout" Target="../slideLayouts/slideLayout2.xml"/><Relationship Id="rId6" Type="http://schemas.openxmlformats.org/officeDocument/2006/relationships/hyperlink" Target="https://www.dawn.com/news/1914865" TargetMode="External"/><Relationship Id="rId5" Type="http://schemas.openxmlformats.org/officeDocument/2006/relationships/hyperlink" Target="https://cfj.org/news/deep-flaws-in-pakistans-cyber-defamation-law-threaten-press-freedom/" TargetMode="External"/><Relationship Id="rId4" Type="http://schemas.openxmlformats.org/officeDocument/2006/relationships/hyperlink" Target="https://www.nchr.gov.pk/press_release/statement-against-the-prevention-of-electronic-crimes-amendment-ordinance-202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221088"/>
            <a:ext cx="4788024" cy="1200329"/>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Legal &amp; Ethical Issues in Security</a:t>
            </a:r>
          </a:p>
        </p:txBody>
      </p:sp>
      <p:pic>
        <p:nvPicPr>
          <p:cNvPr id="11" name="Picture 10" descr="Logo&#10;&#10;Description automatically generated">
            <a:extLst>
              <a:ext uri="{FF2B5EF4-FFF2-40B4-BE49-F238E27FC236}">
                <a16:creationId xmlns:a16="http://schemas.microsoft.com/office/drawing/2014/main"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id="{A287E9B7-196F-5413-1EE2-727331E78929}"/>
              </a:ext>
            </a:extLst>
          </p:cNvPr>
          <p:cNvSpPr txBox="1"/>
          <p:nvPr/>
        </p:nvSpPr>
        <p:spPr>
          <a:xfrm>
            <a:off x="2045070" y="1916832"/>
            <a:ext cx="5053861"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Tree>
    <p:extLst>
      <p:ext uri="{BB962C8B-B14F-4D97-AF65-F5344CB8AC3E}">
        <p14:creationId xmlns:p14="http://schemas.microsoft.com/office/powerpoint/2010/main" val="1785668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noChangeArrowheads="1"/>
          </p:cNvSpPr>
          <p:nvPr>
            <p:ph type="title"/>
          </p:nvPr>
        </p:nvSpPr>
        <p:spPr/>
        <p:txBody>
          <a:bodyPr/>
          <a:lstStyle/>
          <a:p>
            <a:r>
              <a:rPr lang="en-GB" altLang="en-US"/>
              <a:t>Introduction</a:t>
            </a:r>
          </a:p>
        </p:txBody>
      </p:sp>
      <p:sp>
        <p:nvSpPr>
          <p:cNvPr id="14339" name="Content Placeholder 5"/>
          <p:cNvSpPr>
            <a:spLocks noGrp="1" noChangeArrowheads="1"/>
          </p:cNvSpPr>
          <p:nvPr>
            <p:ph sz="quarter" idx="11"/>
          </p:nvPr>
        </p:nvSpPr>
        <p:spPr/>
        <p:txBody>
          <a:bodyPr/>
          <a:lstStyle/>
          <a:p>
            <a:r>
              <a:rPr lang="en-US" dirty="0"/>
              <a:t>Motivations for studying legal issues:</a:t>
            </a:r>
          </a:p>
          <a:p>
            <a:pPr lvl="1"/>
            <a:r>
              <a:rPr lang="en-US" dirty="0"/>
              <a:t>to describe what protection the law provides for computers and data</a:t>
            </a:r>
          </a:p>
          <a:p>
            <a:pPr lvl="1"/>
            <a:r>
              <a:rPr lang="en-US" dirty="0"/>
              <a:t>to help you appreciate laws that protect the rights of others with respect to computers, programs, and data</a:t>
            </a:r>
            <a:endParaRPr lang="en-GB" altLang="en-US" dirty="0"/>
          </a:p>
          <a:p>
            <a:r>
              <a:rPr lang="en-GB" altLang="en-US" sz="2800" dirty="0"/>
              <a:t>To minimize liabilities/reduce risks, the information security practitioner must:</a:t>
            </a:r>
          </a:p>
          <a:p>
            <a:pPr lvl="1"/>
            <a:r>
              <a:rPr lang="en-GB" altLang="en-US" sz="2400" dirty="0"/>
              <a:t>Understand the current legal environment</a:t>
            </a:r>
          </a:p>
          <a:p>
            <a:pPr lvl="1"/>
            <a:r>
              <a:rPr lang="en-GB" altLang="en-US" sz="2400" dirty="0"/>
              <a:t>Stay current with laws and regulations </a:t>
            </a:r>
          </a:p>
          <a:p>
            <a:pPr lvl="1"/>
            <a:r>
              <a:rPr lang="en-GB" altLang="en-US" sz="2400" dirty="0"/>
              <a:t>Watch for new and emerging issues</a:t>
            </a:r>
          </a:p>
        </p:txBody>
      </p:sp>
    </p:spTree>
    <p:extLst>
      <p:ext uri="{BB962C8B-B14F-4D97-AF65-F5344CB8AC3E}">
        <p14:creationId xmlns:p14="http://schemas.microsoft.com/office/powerpoint/2010/main" val="49949890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5E766-DC8E-E94A-CEB8-F67033E431D9}"/>
              </a:ext>
            </a:extLst>
          </p:cNvPr>
          <p:cNvSpPr>
            <a:spLocks noGrp="1"/>
          </p:cNvSpPr>
          <p:nvPr>
            <p:ph type="title"/>
          </p:nvPr>
        </p:nvSpPr>
        <p:spPr/>
        <p:txBody>
          <a:bodyPr/>
          <a:lstStyle/>
          <a:p>
            <a:r>
              <a:rPr lang="en-US" dirty="0"/>
              <a:t>Where laws fit in cyber sec</a:t>
            </a:r>
            <a:endParaRPr lang="en-AU" dirty="0"/>
          </a:p>
        </p:txBody>
      </p:sp>
      <p:sp>
        <p:nvSpPr>
          <p:cNvPr id="3" name="Content Placeholder 2">
            <a:extLst>
              <a:ext uri="{FF2B5EF4-FFF2-40B4-BE49-F238E27FC236}">
                <a16:creationId xmlns:a16="http://schemas.microsoft.com/office/drawing/2014/main" id="{E4BD8713-7AF5-BC5C-343F-887AC1628987}"/>
              </a:ext>
            </a:extLst>
          </p:cNvPr>
          <p:cNvSpPr>
            <a:spLocks noGrp="1"/>
          </p:cNvSpPr>
          <p:nvPr>
            <p:ph sz="quarter" idx="11"/>
          </p:nvPr>
        </p:nvSpPr>
        <p:spPr/>
        <p:txBody>
          <a:bodyPr/>
          <a:lstStyle/>
          <a:p>
            <a:pPr marL="0" indent="0">
              <a:buNone/>
            </a:pPr>
            <a:r>
              <a:rPr lang="en-US" sz="2400" b="1" dirty="0"/>
              <a:t>Protecting computing systems against criminals</a:t>
            </a:r>
          </a:p>
          <a:p>
            <a:r>
              <a:rPr lang="en-US" sz="2400" dirty="0"/>
              <a:t>Computer criminals can violate confidentiality, integrity, and availability for computer systems.</a:t>
            </a:r>
          </a:p>
          <a:p>
            <a:r>
              <a:rPr lang="en-US" sz="2400" dirty="0"/>
              <a:t>Preventing these violations is better than prosecuting them after the fact. However, if other controls fail, legal action may be necessary.</a:t>
            </a:r>
          </a:p>
          <a:p>
            <a:endParaRPr lang="en-US" sz="2400" dirty="0"/>
          </a:p>
          <a:p>
            <a:pPr marL="0" indent="0">
              <a:buNone/>
            </a:pPr>
            <a:r>
              <a:rPr lang="en-US" sz="2400" b="1" dirty="0"/>
              <a:t>Protecting code and data</a:t>
            </a:r>
          </a:p>
          <a:p>
            <a:r>
              <a:rPr lang="en-US" sz="2400" dirty="0"/>
              <a:t>Copyrights, patents, and trade secrets are forms of legal protection that can be applied to programs and sometimes to data.</a:t>
            </a:r>
          </a:p>
        </p:txBody>
      </p:sp>
    </p:spTree>
    <p:extLst>
      <p:ext uri="{BB962C8B-B14F-4D97-AF65-F5344CB8AC3E}">
        <p14:creationId xmlns:p14="http://schemas.microsoft.com/office/powerpoint/2010/main" val="3284684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D4737-97C2-3A77-4F4D-57FAB889B3E8}"/>
              </a:ext>
            </a:extLst>
          </p:cNvPr>
          <p:cNvSpPr>
            <a:spLocks noGrp="1"/>
          </p:cNvSpPr>
          <p:nvPr>
            <p:ph type="title"/>
          </p:nvPr>
        </p:nvSpPr>
        <p:spPr/>
        <p:txBody>
          <a:bodyPr/>
          <a:lstStyle/>
          <a:p>
            <a:r>
              <a:rPr lang="en-US" dirty="0"/>
              <a:t>Criminal and Civil Law</a:t>
            </a:r>
            <a:endParaRPr lang="en-AU" dirty="0"/>
          </a:p>
        </p:txBody>
      </p:sp>
      <p:sp>
        <p:nvSpPr>
          <p:cNvPr id="3" name="Content Placeholder 2">
            <a:extLst>
              <a:ext uri="{FF2B5EF4-FFF2-40B4-BE49-F238E27FC236}">
                <a16:creationId xmlns:a16="http://schemas.microsoft.com/office/drawing/2014/main" id="{10CA06EB-37F2-E7BF-55AA-FD7F40869078}"/>
              </a:ext>
            </a:extLst>
          </p:cNvPr>
          <p:cNvSpPr>
            <a:spLocks noGrp="1"/>
          </p:cNvSpPr>
          <p:nvPr>
            <p:ph sz="quarter" idx="11"/>
          </p:nvPr>
        </p:nvSpPr>
        <p:spPr/>
        <p:txBody>
          <a:bodyPr/>
          <a:lstStyle/>
          <a:p>
            <a:r>
              <a:rPr lang="en-US" sz="2400" dirty="0"/>
              <a:t>Some laws state explicitly that certain actions are illegal.</a:t>
            </a:r>
          </a:p>
          <a:p>
            <a:r>
              <a:rPr lang="en-US" sz="2400" dirty="0"/>
              <a:t>A violation of such a law will result in a </a:t>
            </a:r>
            <a:r>
              <a:rPr lang="en-US" sz="2400" b="1" dirty="0"/>
              <a:t>criminal</a:t>
            </a:r>
            <a:r>
              <a:rPr lang="en-US" sz="2400" dirty="0"/>
              <a:t> trial, in which the government argues for punishment because an illegal act has harmed society. </a:t>
            </a:r>
          </a:p>
          <a:p>
            <a:pPr lvl="1"/>
            <a:r>
              <a:rPr lang="en-US" sz="2000" dirty="0"/>
              <a:t>Law requires that the judge or jury find the accused guilty beyond reasonable doubt. For this reason, the evidence must be strong and compelling.</a:t>
            </a:r>
          </a:p>
          <a:p>
            <a:r>
              <a:rPr lang="en-US" sz="2400" dirty="0"/>
              <a:t>In a </a:t>
            </a:r>
            <a:r>
              <a:rPr lang="en-US" sz="2400" b="1" dirty="0"/>
              <a:t>civil</a:t>
            </a:r>
            <a:r>
              <a:rPr lang="en-US" sz="2400" dirty="0"/>
              <a:t> case, an individual, organization, company, or group claims it has been harmed.</a:t>
            </a:r>
          </a:p>
          <a:p>
            <a:r>
              <a:rPr lang="en-US" sz="2400" dirty="0"/>
              <a:t>The goal of a civil case is restitution: to make the victim “whole” again by repairing the harm.</a:t>
            </a:r>
          </a:p>
          <a:p>
            <a:pPr lvl="1"/>
            <a:r>
              <a:rPr lang="en-US" sz="2000" dirty="0"/>
              <a:t>Civil law does not require as high standard of proof of guilt.</a:t>
            </a:r>
            <a:endParaRPr lang="en-AU" sz="2000" dirty="0"/>
          </a:p>
          <a:p>
            <a:endParaRPr lang="en-AU" sz="2400" dirty="0"/>
          </a:p>
        </p:txBody>
      </p:sp>
    </p:spTree>
    <p:extLst>
      <p:ext uri="{BB962C8B-B14F-4D97-AF65-F5344CB8AC3E}">
        <p14:creationId xmlns:p14="http://schemas.microsoft.com/office/powerpoint/2010/main" val="1650684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noChangeArrowheads="1"/>
          </p:cNvSpPr>
          <p:nvPr>
            <p:ph type="title"/>
          </p:nvPr>
        </p:nvSpPr>
        <p:spPr/>
        <p:txBody>
          <a:bodyPr/>
          <a:lstStyle/>
          <a:p>
            <a:r>
              <a:rPr lang="en-GB" altLang="en-US" dirty="0"/>
              <a:t>Policy Versus Law</a:t>
            </a:r>
          </a:p>
        </p:txBody>
      </p:sp>
      <p:sp>
        <p:nvSpPr>
          <p:cNvPr id="22531" name="Content Placeholder 5"/>
          <p:cNvSpPr>
            <a:spLocks noGrp="1" noChangeArrowheads="1"/>
          </p:cNvSpPr>
          <p:nvPr>
            <p:ph sz="quarter" idx="11"/>
          </p:nvPr>
        </p:nvSpPr>
        <p:spPr/>
        <p:txBody>
          <a:bodyPr/>
          <a:lstStyle/>
          <a:p>
            <a:r>
              <a:rPr lang="en-GB" altLang="en-US" sz="2800" dirty="0"/>
              <a:t>Policies: managerial directives that specify acceptable and unacceptable employee </a:t>
            </a:r>
            <a:r>
              <a:rPr lang="en-GB" altLang="en-US" sz="2800" dirty="0" err="1"/>
              <a:t>behavior</a:t>
            </a:r>
            <a:r>
              <a:rPr lang="en-GB" altLang="en-US" sz="2800" dirty="0"/>
              <a:t> in the workplace</a:t>
            </a:r>
          </a:p>
          <a:p>
            <a:r>
              <a:rPr lang="en-GB" altLang="en-US" sz="2800" dirty="0"/>
              <a:t>Policies function as organizational laws; must be crafted and implemented with care to ensure they are complete, appropriate, and fairly applied to everyone</a:t>
            </a:r>
          </a:p>
          <a:p>
            <a:r>
              <a:rPr lang="en-GB" altLang="en-US" sz="2800" dirty="0"/>
              <a:t>Difference between policy and law: Ignorance of a policy is an acceptable </a:t>
            </a:r>
            <a:r>
              <a:rPr lang="en-GB" altLang="en-US" sz="2800" dirty="0" err="1"/>
              <a:t>defense</a:t>
            </a:r>
            <a:r>
              <a:rPr lang="en-GB" altLang="en-US" sz="2800" dirty="0"/>
              <a:t>.</a:t>
            </a:r>
          </a:p>
        </p:txBody>
      </p:sp>
    </p:spTree>
    <p:extLst>
      <p:ext uri="{BB962C8B-B14F-4D97-AF65-F5344CB8AC3E}">
        <p14:creationId xmlns:p14="http://schemas.microsoft.com/office/powerpoint/2010/main" val="34544761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BB89A-822D-1A2D-C14B-EDEAC91B8B28}"/>
              </a:ext>
            </a:extLst>
          </p:cNvPr>
          <p:cNvSpPr>
            <a:spLocks noGrp="1"/>
          </p:cNvSpPr>
          <p:nvPr>
            <p:ph type="title"/>
          </p:nvPr>
        </p:nvSpPr>
        <p:spPr/>
        <p:txBody>
          <a:bodyPr/>
          <a:lstStyle/>
          <a:p>
            <a:r>
              <a:rPr lang="en-US" dirty="0"/>
              <a:t>Cyber Laws in Pakistan</a:t>
            </a:r>
          </a:p>
        </p:txBody>
      </p:sp>
      <p:sp>
        <p:nvSpPr>
          <p:cNvPr id="3" name="Content Placeholder 2">
            <a:extLst>
              <a:ext uri="{FF2B5EF4-FFF2-40B4-BE49-F238E27FC236}">
                <a16:creationId xmlns:a16="http://schemas.microsoft.com/office/drawing/2014/main" id="{6C593C52-CD1D-5A30-1526-78B7159BC484}"/>
              </a:ext>
            </a:extLst>
          </p:cNvPr>
          <p:cNvSpPr>
            <a:spLocks noGrp="1"/>
          </p:cNvSpPr>
          <p:nvPr>
            <p:ph sz="quarter" idx="11"/>
          </p:nvPr>
        </p:nvSpPr>
        <p:spPr/>
        <p:txBody>
          <a:bodyPr/>
          <a:lstStyle/>
          <a:p>
            <a:r>
              <a:rPr lang="en-US" sz="2800" dirty="0"/>
              <a:t>Electronic Transaction Ordinance 2002</a:t>
            </a:r>
          </a:p>
          <a:p>
            <a:pPr lvl="1"/>
            <a:r>
              <a:rPr lang="en-US" sz="2400" dirty="0"/>
              <a:t>First IT-related legislation</a:t>
            </a:r>
          </a:p>
          <a:p>
            <a:pPr lvl="1"/>
            <a:r>
              <a:rPr lang="en-US" sz="2400" dirty="0"/>
              <a:t>Meant for protection of eCommerce business</a:t>
            </a:r>
          </a:p>
          <a:p>
            <a:pPr lvl="1"/>
            <a:r>
              <a:rPr lang="en-US" sz="2400" dirty="0"/>
              <a:t>Focused more on legal recognition of electronic documents</a:t>
            </a:r>
          </a:p>
          <a:p>
            <a:r>
              <a:rPr lang="en-US" sz="2800" dirty="0"/>
              <a:t>Electronic Crimes Bill 2007</a:t>
            </a:r>
          </a:p>
          <a:p>
            <a:pPr lvl="1"/>
            <a:r>
              <a:rPr lang="en-US" sz="2400" dirty="0"/>
              <a:t>Defined several new offences, like electronic forgery, cyberstalking, data damage etc.</a:t>
            </a:r>
          </a:p>
          <a:p>
            <a:r>
              <a:rPr lang="en-US" sz="2800" dirty="0"/>
              <a:t>Prevention of Electronic Crimes Act 2016</a:t>
            </a:r>
          </a:p>
          <a:p>
            <a:pPr lvl="1"/>
            <a:r>
              <a:rPr lang="en-US" sz="2400" dirty="0"/>
              <a:t>Revised form of 2007 bill</a:t>
            </a:r>
          </a:p>
          <a:p>
            <a:pPr lvl="1"/>
            <a:r>
              <a:rPr lang="en-US" dirty="0"/>
              <a:t>Several amendments made in recent years</a:t>
            </a:r>
            <a:endParaRPr lang="en-US" sz="2400" dirty="0"/>
          </a:p>
        </p:txBody>
      </p:sp>
    </p:spTree>
    <p:extLst>
      <p:ext uri="{BB962C8B-B14F-4D97-AF65-F5344CB8AC3E}">
        <p14:creationId xmlns:p14="http://schemas.microsoft.com/office/powerpoint/2010/main" val="1345985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FDE89-3B13-3755-C25E-EF204CB128F7}"/>
              </a:ext>
            </a:extLst>
          </p:cNvPr>
          <p:cNvSpPr>
            <a:spLocks noGrp="1"/>
          </p:cNvSpPr>
          <p:nvPr>
            <p:ph type="title"/>
          </p:nvPr>
        </p:nvSpPr>
        <p:spPr/>
        <p:txBody>
          <a:bodyPr/>
          <a:lstStyle/>
          <a:p>
            <a:r>
              <a:rPr lang="en-US" dirty="0"/>
              <a:t>PECA 2016</a:t>
            </a:r>
          </a:p>
        </p:txBody>
      </p:sp>
      <p:sp>
        <p:nvSpPr>
          <p:cNvPr id="3" name="Content Placeholder 2">
            <a:extLst>
              <a:ext uri="{FF2B5EF4-FFF2-40B4-BE49-F238E27FC236}">
                <a16:creationId xmlns:a16="http://schemas.microsoft.com/office/drawing/2014/main" id="{EF63F47C-57C6-2E16-E69F-49357E57C36E}"/>
              </a:ext>
            </a:extLst>
          </p:cNvPr>
          <p:cNvSpPr>
            <a:spLocks noGrp="1"/>
          </p:cNvSpPr>
          <p:nvPr>
            <p:ph sz="quarter" idx="11"/>
          </p:nvPr>
        </p:nvSpPr>
        <p:spPr/>
        <p:txBody>
          <a:bodyPr/>
          <a:lstStyle/>
          <a:p>
            <a:r>
              <a:rPr lang="en-US" sz="2800" dirty="0"/>
              <a:t>Defines several offenses and punishments</a:t>
            </a:r>
          </a:p>
          <a:p>
            <a:r>
              <a:rPr lang="en-US" sz="2800" dirty="0"/>
              <a:t>Applies to</a:t>
            </a:r>
          </a:p>
          <a:p>
            <a:pPr lvl="1"/>
            <a:r>
              <a:rPr lang="en-US" sz="2400" dirty="0"/>
              <a:t>All over Pakistan</a:t>
            </a:r>
          </a:p>
          <a:p>
            <a:pPr lvl="1"/>
            <a:r>
              <a:rPr lang="en-US" sz="2400" dirty="0"/>
              <a:t>Pakistanis abroad</a:t>
            </a:r>
          </a:p>
          <a:p>
            <a:pPr lvl="1"/>
            <a:r>
              <a:rPr lang="en-US" sz="2400" dirty="0"/>
              <a:t>Persons outside Pakistan if they commits an offence affecting Pakistani persons or data</a:t>
            </a:r>
          </a:p>
          <a:p>
            <a:r>
              <a:rPr lang="en-US" sz="2800" dirty="0"/>
              <a:t>This act has a wide coverage: it criminalizes actions that harm people, as well as actions that target national security, financial systems, and essential services.</a:t>
            </a:r>
          </a:p>
          <a:p>
            <a:endParaRPr lang="en-US" sz="2800" dirty="0"/>
          </a:p>
          <a:p>
            <a:endParaRPr lang="en-US" sz="2800" dirty="0"/>
          </a:p>
        </p:txBody>
      </p:sp>
    </p:spTree>
    <p:extLst>
      <p:ext uri="{BB962C8B-B14F-4D97-AF65-F5344CB8AC3E}">
        <p14:creationId xmlns:p14="http://schemas.microsoft.com/office/powerpoint/2010/main" val="4280699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F4865-CCF4-E68B-FD33-145EBD40D61E}"/>
              </a:ext>
            </a:extLst>
          </p:cNvPr>
          <p:cNvSpPr>
            <a:spLocks noGrp="1"/>
          </p:cNvSpPr>
          <p:nvPr>
            <p:ph type="title"/>
          </p:nvPr>
        </p:nvSpPr>
        <p:spPr/>
        <p:txBody>
          <a:bodyPr/>
          <a:lstStyle/>
          <a:p>
            <a:r>
              <a:rPr lang="en-US" dirty="0"/>
              <a:t>Some Offenses &amp; Punishments</a:t>
            </a:r>
          </a:p>
        </p:txBody>
      </p:sp>
      <p:graphicFrame>
        <p:nvGraphicFramePr>
          <p:cNvPr id="4" name="Content Placeholder 3">
            <a:extLst>
              <a:ext uri="{FF2B5EF4-FFF2-40B4-BE49-F238E27FC236}">
                <a16:creationId xmlns:a16="http://schemas.microsoft.com/office/drawing/2014/main" id="{A7A2ED4D-AFC8-2FD9-5778-05E07DFB54C0}"/>
              </a:ext>
            </a:extLst>
          </p:cNvPr>
          <p:cNvGraphicFramePr>
            <a:graphicFrameLocks noGrp="1"/>
          </p:cNvGraphicFramePr>
          <p:nvPr>
            <p:ph sz="quarter" idx="11"/>
            <p:extLst>
              <p:ext uri="{D42A27DB-BD31-4B8C-83A1-F6EECF244321}">
                <p14:modId xmlns:p14="http://schemas.microsoft.com/office/powerpoint/2010/main" val="3158147394"/>
              </p:ext>
            </p:extLst>
          </p:nvPr>
        </p:nvGraphicFramePr>
        <p:xfrm>
          <a:off x="546956" y="1412776"/>
          <a:ext cx="8229599" cy="3672000"/>
        </p:xfrm>
        <a:graphic>
          <a:graphicData uri="http://schemas.openxmlformats.org/drawingml/2006/table">
            <a:tbl>
              <a:tblPr firstRow="1" bandRow="1">
                <a:tableStyleId>{5C22544A-7EE6-4342-B048-85BDC9FD1C3A}</a:tableStyleId>
              </a:tblPr>
              <a:tblGrid>
                <a:gridCol w="1896386">
                  <a:extLst>
                    <a:ext uri="{9D8B030D-6E8A-4147-A177-3AD203B41FA5}">
                      <a16:colId xmlns:a16="http://schemas.microsoft.com/office/drawing/2014/main" val="1109793313"/>
                    </a:ext>
                  </a:extLst>
                </a:gridCol>
                <a:gridCol w="3721210">
                  <a:extLst>
                    <a:ext uri="{9D8B030D-6E8A-4147-A177-3AD203B41FA5}">
                      <a16:colId xmlns:a16="http://schemas.microsoft.com/office/drawing/2014/main" val="1497117546"/>
                    </a:ext>
                  </a:extLst>
                </a:gridCol>
                <a:gridCol w="2612003">
                  <a:extLst>
                    <a:ext uri="{9D8B030D-6E8A-4147-A177-3AD203B41FA5}">
                      <a16:colId xmlns:a16="http://schemas.microsoft.com/office/drawing/2014/main" val="516516385"/>
                    </a:ext>
                  </a:extLst>
                </a:gridCol>
              </a:tblGrid>
              <a:tr h="756000">
                <a:tc>
                  <a:txBody>
                    <a:bodyPr/>
                    <a:lstStyle/>
                    <a:p>
                      <a:pPr algn="ctr" latinLnBrk="0"/>
                      <a:r>
                        <a:rPr lang="en-US" sz="2000" dirty="0"/>
                        <a:t>Action</a:t>
                      </a:r>
                    </a:p>
                  </a:txBody>
                  <a:tcPr anchor="ctr"/>
                </a:tc>
                <a:tc>
                  <a:txBody>
                    <a:bodyPr/>
                    <a:lstStyle/>
                    <a:p>
                      <a:pPr algn="ctr" latinLnBrk="0"/>
                      <a:r>
                        <a:rPr lang="en-US" sz="2000" dirty="0"/>
                        <a:t>Information / Data</a:t>
                      </a:r>
                    </a:p>
                  </a:txBody>
                  <a:tcPr anchor="ctr"/>
                </a:tc>
                <a:tc>
                  <a:txBody>
                    <a:bodyPr/>
                    <a:lstStyle/>
                    <a:p>
                      <a:pPr algn="ctr" latinLnBrk="0"/>
                      <a:r>
                        <a:rPr lang="en-US" sz="2000" dirty="0"/>
                        <a:t>Critical Infrastructure</a:t>
                      </a:r>
                    </a:p>
                  </a:txBody>
                  <a:tcPr anchor="ctr"/>
                </a:tc>
                <a:extLst>
                  <a:ext uri="{0D108BD9-81ED-4DB2-BD59-A6C34878D82A}">
                    <a16:rowId xmlns:a16="http://schemas.microsoft.com/office/drawing/2014/main" val="2027506488"/>
                  </a:ext>
                </a:extLst>
              </a:tr>
              <a:tr h="972000">
                <a:tc>
                  <a:txBody>
                    <a:bodyPr/>
                    <a:lstStyle/>
                    <a:p>
                      <a:pPr algn="l" latinLnBrk="0"/>
                      <a:r>
                        <a:rPr lang="en-US" sz="2000" dirty="0"/>
                        <a:t>Unauthorized Access</a:t>
                      </a:r>
                    </a:p>
                  </a:txBody>
                  <a:tcPr anchor="ctr"/>
                </a:tc>
                <a:tc>
                  <a:txBody>
                    <a:bodyPr/>
                    <a:lstStyle/>
                    <a:p>
                      <a:pPr algn="ctr" latinLnBrk="0"/>
                      <a:r>
                        <a:rPr lang="en-US" sz="2000" dirty="0"/>
                        <a:t>up to 3 months imprisonment</a:t>
                      </a:r>
                    </a:p>
                    <a:p>
                      <a:pPr algn="ctr" latinLnBrk="0"/>
                      <a:r>
                        <a:rPr lang="en-US" sz="2000" dirty="0"/>
                        <a:t>and/or fine of up to Rs 50,000</a:t>
                      </a:r>
                    </a:p>
                  </a:txBody>
                  <a:tcPr anchor="ctr"/>
                </a:tc>
                <a:tc>
                  <a:txBody>
                    <a:bodyPr/>
                    <a:lstStyle/>
                    <a:p>
                      <a:pPr algn="ctr" latinLnBrk="0"/>
                      <a:r>
                        <a:rPr lang="en-US" sz="2000" dirty="0"/>
                        <a:t>3 years</a:t>
                      </a:r>
                    </a:p>
                    <a:p>
                      <a:pPr algn="ctr" latinLnBrk="0"/>
                      <a:r>
                        <a:rPr lang="en-US" sz="2000" dirty="0"/>
                        <a:t>Rs 1 million</a:t>
                      </a:r>
                    </a:p>
                  </a:txBody>
                  <a:tcPr anchor="ctr"/>
                </a:tc>
                <a:extLst>
                  <a:ext uri="{0D108BD9-81ED-4DB2-BD59-A6C34878D82A}">
                    <a16:rowId xmlns:a16="http://schemas.microsoft.com/office/drawing/2014/main" val="1099104623"/>
                  </a:ext>
                </a:extLst>
              </a:tr>
              <a:tr h="972000">
                <a:tc>
                  <a:txBody>
                    <a:bodyPr/>
                    <a:lstStyle/>
                    <a:p>
                      <a:pPr algn="l" latinLnBrk="0"/>
                      <a:r>
                        <a:rPr lang="en-US" sz="2000" dirty="0"/>
                        <a:t>Unauthorized Copy</a:t>
                      </a:r>
                    </a:p>
                  </a:txBody>
                  <a:tcPr anchor="ctr"/>
                </a:tc>
                <a:tc>
                  <a:txBody>
                    <a:bodyPr/>
                    <a:lstStyle/>
                    <a:p>
                      <a:pPr algn="ctr" latinLnBrk="0"/>
                      <a:r>
                        <a:rPr lang="en-US" sz="2000" dirty="0"/>
                        <a:t>6 months</a:t>
                      </a:r>
                    </a:p>
                    <a:p>
                      <a:pPr algn="ctr" latinLnBrk="0"/>
                      <a:r>
                        <a:rPr lang="en-US" sz="2000" dirty="0"/>
                        <a:t>Rs 1 lac</a:t>
                      </a:r>
                    </a:p>
                  </a:txBody>
                  <a:tcPr anchor="ctr"/>
                </a:tc>
                <a:tc>
                  <a:txBody>
                    <a:bodyPr/>
                    <a:lstStyle/>
                    <a:p>
                      <a:pPr algn="ctr" latinLnBrk="0"/>
                      <a:r>
                        <a:rPr lang="en-US" sz="2000" dirty="0"/>
                        <a:t>5 years</a:t>
                      </a:r>
                    </a:p>
                    <a:p>
                      <a:pPr algn="ctr" latinLnBrk="0"/>
                      <a:r>
                        <a:rPr lang="en-US" sz="2000" dirty="0"/>
                        <a:t>Rs 5 million</a:t>
                      </a:r>
                    </a:p>
                  </a:txBody>
                  <a:tcPr anchor="ctr"/>
                </a:tc>
                <a:extLst>
                  <a:ext uri="{0D108BD9-81ED-4DB2-BD59-A6C34878D82A}">
                    <a16:rowId xmlns:a16="http://schemas.microsoft.com/office/drawing/2014/main" val="1650481858"/>
                  </a:ext>
                </a:extLst>
              </a:tr>
              <a:tr h="972000">
                <a:tc>
                  <a:txBody>
                    <a:bodyPr/>
                    <a:lstStyle/>
                    <a:p>
                      <a:pPr algn="l" latinLnBrk="0"/>
                      <a:r>
                        <a:rPr lang="en-US" sz="2000" dirty="0"/>
                        <a:t>Unauthorized Interference</a:t>
                      </a:r>
                    </a:p>
                  </a:txBody>
                  <a:tcPr anchor="ctr"/>
                </a:tc>
                <a:tc>
                  <a:txBody>
                    <a:bodyPr/>
                    <a:lstStyle/>
                    <a:p>
                      <a:pPr algn="ctr" latinLnBrk="0"/>
                      <a:r>
                        <a:rPr lang="en-US" sz="2000" dirty="0"/>
                        <a:t>2 years</a:t>
                      </a:r>
                    </a:p>
                    <a:p>
                      <a:pPr algn="ctr" latinLnBrk="0"/>
                      <a:r>
                        <a:rPr lang="en-US" sz="2000" dirty="0"/>
                        <a:t>Rs 5 lac</a:t>
                      </a:r>
                    </a:p>
                  </a:txBody>
                  <a:tcPr anchor="ctr"/>
                </a:tc>
                <a:tc>
                  <a:txBody>
                    <a:bodyPr/>
                    <a:lstStyle/>
                    <a:p>
                      <a:pPr algn="ctr" latinLnBrk="0"/>
                      <a:r>
                        <a:rPr lang="en-US" sz="2000" dirty="0"/>
                        <a:t>7 years</a:t>
                      </a:r>
                    </a:p>
                    <a:p>
                      <a:pPr algn="ctr" latinLnBrk="0"/>
                      <a:r>
                        <a:rPr lang="en-US" sz="2000" dirty="0"/>
                        <a:t>Rs 10 million</a:t>
                      </a:r>
                    </a:p>
                  </a:txBody>
                  <a:tcPr anchor="ctr"/>
                </a:tc>
                <a:extLst>
                  <a:ext uri="{0D108BD9-81ED-4DB2-BD59-A6C34878D82A}">
                    <a16:rowId xmlns:a16="http://schemas.microsoft.com/office/drawing/2014/main" val="2367173791"/>
                  </a:ext>
                </a:extLst>
              </a:tr>
            </a:tbl>
          </a:graphicData>
        </a:graphic>
      </p:graphicFrame>
      <p:sp>
        <p:nvSpPr>
          <p:cNvPr id="3" name="TextBox 2">
            <a:extLst>
              <a:ext uri="{FF2B5EF4-FFF2-40B4-BE49-F238E27FC236}">
                <a16:creationId xmlns:a16="http://schemas.microsoft.com/office/drawing/2014/main" id="{9539F898-E6E3-F511-C4F3-5C4A9FE32218}"/>
              </a:ext>
            </a:extLst>
          </p:cNvPr>
          <p:cNvSpPr txBox="1"/>
          <p:nvPr/>
        </p:nvSpPr>
        <p:spPr>
          <a:xfrm>
            <a:off x="818200" y="5293657"/>
            <a:ext cx="7687109" cy="1015663"/>
          </a:xfrm>
          <a:prstGeom prst="rect">
            <a:avLst/>
          </a:prstGeom>
          <a:noFill/>
        </p:spPr>
        <p:txBody>
          <a:bodyPr wrap="square" rtlCol="0">
            <a:spAutoFit/>
          </a:bodyPr>
          <a:lstStyle/>
          <a:p>
            <a:pPr latinLnBrk="0"/>
            <a:r>
              <a:rPr lang="en-US" sz="2000" dirty="0"/>
              <a:t>‘Critical infrastructure’ is defined in the act itself, as systems whose compromise could lead to significant loss of life, or serious economic harm, or significant effect on national security.</a:t>
            </a:r>
          </a:p>
        </p:txBody>
      </p:sp>
    </p:spTree>
    <p:extLst>
      <p:ext uri="{BB962C8B-B14F-4D97-AF65-F5344CB8AC3E}">
        <p14:creationId xmlns:p14="http://schemas.microsoft.com/office/powerpoint/2010/main" val="3378382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247A5-9BBA-C8B1-2EC4-86933485316E}"/>
              </a:ext>
            </a:extLst>
          </p:cNvPr>
          <p:cNvSpPr>
            <a:spLocks noGrp="1"/>
          </p:cNvSpPr>
          <p:nvPr>
            <p:ph type="title"/>
          </p:nvPr>
        </p:nvSpPr>
        <p:spPr/>
        <p:txBody>
          <a:bodyPr/>
          <a:lstStyle/>
          <a:p>
            <a:r>
              <a:rPr lang="en-US" dirty="0"/>
              <a:t>More offences</a:t>
            </a:r>
          </a:p>
        </p:txBody>
      </p:sp>
      <p:sp>
        <p:nvSpPr>
          <p:cNvPr id="3" name="Content Placeholder 2">
            <a:extLst>
              <a:ext uri="{FF2B5EF4-FFF2-40B4-BE49-F238E27FC236}">
                <a16:creationId xmlns:a16="http://schemas.microsoft.com/office/drawing/2014/main" id="{A6782373-C721-262B-4F17-613193C284D4}"/>
              </a:ext>
            </a:extLst>
          </p:cNvPr>
          <p:cNvSpPr>
            <a:spLocks noGrp="1"/>
          </p:cNvSpPr>
          <p:nvPr>
            <p:ph sz="quarter" idx="11"/>
          </p:nvPr>
        </p:nvSpPr>
        <p:spPr/>
        <p:txBody>
          <a:bodyPr/>
          <a:lstStyle/>
          <a:p>
            <a:r>
              <a:rPr lang="en-US" sz="2400" dirty="0"/>
              <a:t>Electronic forgery or fraud</a:t>
            </a:r>
          </a:p>
          <a:p>
            <a:r>
              <a:rPr lang="en-US" sz="2400" dirty="0"/>
              <a:t>Using another person’s identity</a:t>
            </a:r>
          </a:p>
          <a:p>
            <a:r>
              <a:rPr lang="en-US" sz="2400" dirty="0"/>
              <a:t>Distributing and transmitting malicious code (malware)</a:t>
            </a:r>
          </a:p>
          <a:p>
            <a:r>
              <a:rPr lang="en-US" sz="2400" dirty="0"/>
              <a:t>Cyber stalking / cyber bullying</a:t>
            </a:r>
          </a:p>
          <a:p>
            <a:pPr lvl="1"/>
            <a:r>
              <a:rPr lang="en-US" sz="2000" dirty="0"/>
              <a:t>Intimidating or harassing a person over electronic media</a:t>
            </a:r>
          </a:p>
          <a:p>
            <a:pPr lvl="1"/>
            <a:r>
              <a:rPr lang="en-US" sz="2000" dirty="0"/>
              <a:t>Includes blackmailing with inappropriate photo/video</a:t>
            </a:r>
          </a:p>
          <a:p>
            <a:r>
              <a:rPr lang="en-US" sz="2400" dirty="0"/>
              <a:t>Spamming</a:t>
            </a:r>
          </a:p>
          <a:p>
            <a:pPr lvl="1"/>
            <a:r>
              <a:rPr lang="en-US" sz="2000" dirty="0"/>
              <a:t>Sending unsolicited information without permission from recipient (marketing emails/SMS)</a:t>
            </a:r>
          </a:p>
        </p:txBody>
      </p:sp>
    </p:spTree>
    <p:extLst>
      <p:ext uri="{BB962C8B-B14F-4D97-AF65-F5344CB8AC3E}">
        <p14:creationId xmlns:p14="http://schemas.microsoft.com/office/powerpoint/2010/main" val="3928280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BF444-CE4E-28F2-168B-7B3A75CBFA9D}"/>
              </a:ext>
            </a:extLst>
          </p:cNvPr>
          <p:cNvSpPr>
            <a:spLocks noGrp="1"/>
          </p:cNvSpPr>
          <p:nvPr>
            <p:ph type="title"/>
          </p:nvPr>
        </p:nvSpPr>
        <p:spPr/>
        <p:txBody>
          <a:bodyPr/>
          <a:lstStyle/>
          <a:p>
            <a:r>
              <a:rPr lang="en-US" dirty="0"/>
              <a:t>Cognizable Offenses</a:t>
            </a:r>
          </a:p>
        </p:txBody>
      </p:sp>
      <p:sp>
        <p:nvSpPr>
          <p:cNvPr id="3" name="Content Placeholder 2">
            <a:extLst>
              <a:ext uri="{FF2B5EF4-FFF2-40B4-BE49-F238E27FC236}">
                <a16:creationId xmlns:a16="http://schemas.microsoft.com/office/drawing/2014/main" id="{714F2AD3-8E39-F3BC-64BC-97B08A3732B5}"/>
              </a:ext>
            </a:extLst>
          </p:cNvPr>
          <p:cNvSpPr>
            <a:spLocks noGrp="1"/>
          </p:cNvSpPr>
          <p:nvPr>
            <p:ph sz="quarter" idx="11"/>
          </p:nvPr>
        </p:nvSpPr>
        <p:spPr/>
        <p:txBody>
          <a:bodyPr/>
          <a:lstStyle/>
          <a:p>
            <a:pPr marL="0" indent="0">
              <a:buNone/>
            </a:pPr>
            <a:r>
              <a:rPr lang="en-US" sz="2800" dirty="0"/>
              <a:t>Following offenses are cognizable, i.e. law enforcement can start arrests and investigation without judicial warrant.</a:t>
            </a:r>
          </a:p>
          <a:p>
            <a:r>
              <a:rPr lang="en-US" sz="2800" dirty="0"/>
              <a:t>Cyber terrorism</a:t>
            </a:r>
          </a:p>
          <a:p>
            <a:pPr lvl="1"/>
            <a:r>
              <a:rPr lang="en-US" sz="2400" dirty="0"/>
              <a:t>Creating fear/panic in Government or public</a:t>
            </a:r>
          </a:p>
          <a:p>
            <a:pPr lvl="1"/>
            <a:r>
              <a:rPr lang="en-US" sz="2400" dirty="0"/>
              <a:t>Penalty of up to 14 year imprisonment and up to 50 million fine</a:t>
            </a:r>
          </a:p>
          <a:p>
            <a:r>
              <a:rPr lang="en-US" sz="2800" dirty="0"/>
              <a:t>Offence against dignity of a person</a:t>
            </a:r>
          </a:p>
          <a:p>
            <a:pPr lvl="1"/>
            <a:r>
              <a:rPr lang="en-US" sz="2400" dirty="0"/>
              <a:t>e.g. spreading deepfake videos</a:t>
            </a:r>
          </a:p>
          <a:p>
            <a:r>
              <a:rPr lang="en-US" sz="2800" dirty="0"/>
              <a:t>Child Pornography</a:t>
            </a:r>
          </a:p>
          <a:p>
            <a:endParaRPr lang="en-US" sz="2800" dirty="0"/>
          </a:p>
          <a:p>
            <a:endParaRPr lang="en-US" sz="2800" dirty="0"/>
          </a:p>
          <a:p>
            <a:endParaRPr lang="en-US" sz="2800" dirty="0"/>
          </a:p>
        </p:txBody>
      </p:sp>
    </p:spTree>
    <p:extLst>
      <p:ext uri="{BB962C8B-B14F-4D97-AF65-F5344CB8AC3E}">
        <p14:creationId xmlns:p14="http://schemas.microsoft.com/office/powerpoint/2010/main" val="3069692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8A85-2D2C-B271-F96B-10368792D4BD}"/>
              </a:ext>
            </a:extLst>
          </p:cNvPr>
          <p:cNvSpPr>
            <a:spLocks noGrp="1"/>
          </p:cNvSpPr>
          <p:nvPr>
            <p:ph type="title"/>
          </p:nvPr>
        </p:nvSpPr>
        <p:spPr/>
        <p:txBody>
          <a:bodyPr/>
          <a:lstStyle/>
          <a:p>
            <a:r>
              <a:rPr lang="en-US" dirty="0"/>
              <a:t>Investigating Agency</a:t>
            </a:r>
          </a:p>
        </p:txBody>
      </p:sp>
      <p:sp>
        <p:nvSpPr>
          <p:cNvPr id="3" name="Content Placeholder 2">
            <a:extLst>
              <a:ext uri="{FF2B5EF4-FFF2-40B4-BE49-F238E27FC236}">
                <a16:creationId xmlns:a16="http://schemas.microsoft.com/office/drawing/2014/main" id="{906D9AF7-7C91-ACAB-8D6F-9D8DBB0D3BF6}"/>
              </a:ext>
            </a:extLst>
          </p:cNvPr>
          <p:cNvSpPr>
            <a:spLocks noGrp="1"/>
          </p:cNvSpPr>
          <p:nvPr>
            <p:ph sz="quarter" idx="11"/>
          </p:nvPr>
        </p:nvSpPr>
        <p:spPr/>
        <p:txBody>
          <a:bodyPr/>
          <a:lstStyle/>
          <a:p>
            <a:r>
              <a:rPr lang="en-US" dirty="0"/>
              <a:t>As per latest amendment (2025), a dedicated investigation agency, National Cyber Crime Investigation Agency (NCCIA) was established.</a:t>
            </a:r>
          </a:p>
          <a:p>
            <a:r>
              <a:rPr lang="en-US" dirty="0"/>
              <a:t>NCCIA gets exclusive powers to investigate and charge cases against cyber crimes</a:t>
            </a:r>
          </a:p>
          <a:p>
            <a:pPr lvl="1"/>
            <a:r>
              <a:rPr lang="en-US" dirty="0"/>
              <a:t>Previously the responsibility was with cybercrime wing of FIA.</a:t>
            </a:r>
          </a:p>
          <a:p>
            <a:pPr lvl="1"/>
            <a:r>
              <a:rPr lang="en-US" dirty="0"/>
              <a:t>Provincial police organizations are not authorized</a:t>
            </a:r>
          </a:p>
        </p:txBody>
      </p:sp>
    </p:spTree>
    <p:extLst>
      <p:ext uri="{BB962C8B-B14F-4D97-AF65-F5344CB8AC3E}">
        <p14:creationId xmlns:p14="http://schemas.microsoft.com/office/powerpoint/2010/main" val="3782067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noChangeArrowheads="1"/>
          </p:cNvSpPr>
          <p:nvPr>
            <p:ph type="title"/>
          </p:nvPr>
        </p:nvSpPr>
        <p:spPr/>
        <p:txBody>
          <a:bodyPr/>
          <a:lstStyle/>
          <a:p>
            <a:r>
              <a:rPr lang="en-GB" altLang="en-US"/>
              <a:t>International Laws and Legal Bodies</a:t>
            </a:r>
          </a:p>
        </p:txBody>
      </p:sp>
      <p:sp>
        <p:nvSpPr>
          <p:cNvPr id="59395" name="Content Placeholder 5"/>
          <p:cNvSpPr>
            <a:spLocks noGrp="1" noChangeArrowheads="1"/>
          </p:cNvSpPr>
          <p:nvPr>
            <p:ph sz="quarter" idx="11"/>
          </p:nvPr>
        </p:nvSpPr>
        <p:spPr/>
        <p:txBody>
          <a:bodyPr/>
          <a:lstStyle/>
          <a:p>
            <a:r>
              <a:rPr lang="en-GB" altLang="en-US" sz="2400" dirty="0"/>
              <a:t>When organizations do business on the Internet, they do business globally.</a:t>
            </a:r>
          </a:p>
          <a:p>
            <a:r>
              <a:rPr lang="en-GB" altLang="en-US" sz="2400" dirty="0"/>
              <a:t>Professionals must be sensitive to the laws and ethical values of many different cultures, societies, and countries.</a:t>
            </a:r>
          </a:p>
          <a:p>
            <a:r>
              <a:rPr lang="en-GB" altLang="en-US" sz="2400" dirty="0"/>
              <a:t>Because of </a:t>
            </a:r>
            <a:r>
              <a:rPr lang="en-US" altLang="en-US" sz="2400" dirty="0"/>
              <a:t>the </a:t>
            </a:r>
            <a:r>
              <a:rPr lang="en-GB" altLang="en-US" sz="2400" dirty="0"/>
              <a:t>political complexities of relationships among nations and differences in culture, few international laws cover privacy and information security.</a:t>
            </a:r>
          </a:p>
          <a:p>
            <a:r>
              <a:rPr lang="en-GB" altLang="en-US" sz="2400" dirty="0"/>
              <a:t>These international laws are important but are limited in their enforceability.</a:t>
            </a:r>
          </a:p>
        </p:txBody>
      </p:sp>
    </p:spTree>
    <p:extLst>
      <p:ext uri="{BB962C8B-B14F-4D97-AF65-F5344CB8AC3E}">
        <p14:creationId xmlns:p14="http://schemas.microsoft.com/office/powerpoint/2010/main" val="88754392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noAutofit/>
          </a:bodyPr>
          <a:lstStyle/>
          <a:p>
            <a:r>
              <a:rPr lang="en-GB" altLang="en-US" dirty="0"/>
              <a:t>WTO TRIPS Agreement</a:t>
            </a:r>
          </a:p>
        </p:txBody>
      </p:sp>
      <p:sp>
        <p:nvSpPr>
          <p:cNvPr id="63491" name="Content Placeholder 5"/>
          <p:cNvSpPr>
            <a:spLocks noGrp="1" noChangeArrowheads="1"/>
          </p:cNvSpPr>
          <p:nvPr>
            <p:ph sz="quarter" idx="11"/>
          </p:nvPr>
        </p:nvSpPr>
        <p:spPr/>
        <p:txBody>
          <a:bodyPr>
            <a:normAutofit/>
          </a:bodyPr>
          <a:lstStyle/>
          <a:p>
            <a:r>
              <a:rPr lang="en-US" altLang="en-US" sz="2000" dirty="0"/>
              <a:t>TRIP = Trade-Related Aspects of Intellectual Property Rights</a:t>
            </a:r>
            <a:endParaRPr lang="en-GB" altLang="en-US" sz="2000" dirty="0"/>
          </a:p>
          <a:p>
            <a:r>
              <a:rPr lang="en-GB" altLang="en-US" sz="2000" dirty="0"/>
              <a:t>Created by the World Trade Organization (WTO) </a:t>
            </a:r>
          </a:p>
          <a:p>
            <a:r>
              <a:rPr lang="en-GB" altLang="en-US" sz="2000" dirty="0"/>
              <a:t>The first significant international effort to protect intellectual property rights; </a:t>
            </a:r>
            <a:r>
              <a:rPr lang="en-US" altLang="en-US" sz="2000" dirty="0"/>
              <a:t>outlines requirements for governmental oversight and legislation providing minimum levels of protection for intellectual property.</a:t>
            </a:r>
          </a:p>
          <a:p>
            <a:r>
              <a:rPr lang="en-GB" altLang="en-US" sz="2000" dirty="0"/>
              <a:t>Agreement covers five issues:</a:t>
            </a:r>
          </a:p>
          <a:p>
            <a:pPr lvl="1"/>
            <a:r>
              <a:rPr lang="en-GB" altLang="en-US" sz="1800" dirty="0"/>
              <a:t>Application of basic principles of trading system and international intellectual property agreements</a:t>
            </a:r>
          </a:p>
          <a:p>
            <a:pPr lvl="1"/>
            <a:r>
              <a:rPr lang="en-GB" altLang="en-US" sz="1800" dirty="0"/>
              <a:t>Giving adequate protection to intellectual property rights</a:t>
            </a:r>
          </a:p>
          <a:p>
            <a:pPr lvl="1"/>
            <a:r>
              <a:rPr lang="en-GB" altLang="en-US" sz="1800" dirty="0"/>
              <a:t>Enforcement of those rights by countries within their borders </a:t>
            </a:r>
          </a:p>
          <a:p>
            <a:pPr lvl="1"/>
            <a:r>
              <a:rPr lang="en-GB" altLang="en-US" sz="1800" dirty="0"/>
              <a:t>Settling intellectual property disputes between WTO members</a:t>
            </a:r>
          </a:p>
          <a:p>
            <a:pPr lvl="1"/>
            <a:r>
              <a:rPr lang="en-GB" altLang="en-US" sz="1800" dirty="0"/>
              <a:t>Transitional arrangements while new system is being introduced</a:t>
            </a:r>
            <a:endParaRPr lang="en-US" altLang="en-US" sz="1800" dirty="0"/>
          </a:p>
        </p:txBody>
      </p:sp>
    </p:spTree>
    <p:extLst>
      <p:ext uri="{BB962C8B-B14F-4D97-AF65-F5344CB8AC3E}">
        <p14:creationId xmlns:p14="http://schemas.microsoft.com/office/powerpoint/2010/main" val="217225027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noChangeArrowheads="1"/>
          </p:cNvSpPr>
          <p:nvPr>
            <p:ph type="title"/>
          </p:nvPr>
        </p:nvSpPr>
        <p:spPr/>
        <p:txBody>
          <a:bodyPr/>
          <a:lstStyle/>
          <a:p>
            <a:r>
              <a:rPr lang="en-GB" altLang="en-US"/>
              <a:t>Digital Millennium Copyright Act (DMCA)</a:t>
            </a:r>
            <a:r>
              <a:rPr lang="ar-SA" altLang="en-US"/>
              <a:t>‏</a:t>
            </a:r>
            <a:endParaRPr lang="en-GB" altLang="en-US"/>
          </a:p>
        </p:txBody>
      </p:sp>
      <p:sp>
        <p:nvSpPr>
          <p:cNvPr id="66563" name="Content Placeholder 5"/>
          <p:cNvSpPr>
            <a:spLocks noGrp="1" noChangeArrowheads="1"/>
          </p:cNvSpPr>
          <p:nvPr>
            <p:ph sz="quarter" idx="11"/>
          </p:nvPr>
        </p:nvSpPr>
        <p:spPr/>
        <p:txBody>
          <a:bodyPr>
            <a:normAutofit/>
          </a:bodyPr>
          <a:lstStyle/>
          <a:p>
            <a:r>
              <a:rPr lang="en-GB" altLang="en-US" sz="2400" dirty="0"/>
              <a:t>U.S. contribution to international effort to reduce impact of copyright, trademark, and privacy infringement </a:t>
            </a:r>
          </a:p>
          <a:p>
            <a:r>
              <a:rPr lang="en-GB" altLang="en-US" sz="2400" dirty="0"/>
              <a:t>A response to European Union Directive 95/46/EC </a:t>
            </a:r>
          </a:p>
          <a:p>
            <a:r>
              <a:rPr lang="en-GB" altLang="en-US" sz="2400" dirty="0"/>
              <a:t>Prohibits </a:t>
            </a:r>
          </a:p>
          <a:p>
            <a:pPr lvl="1"/>
            <a:r>
              <a:rPr lang="en-GB" altLang="en-US" sz="2000" dirty="0"/>
              <a:t>Circumvention of protections and countermeasures</a:t>
            </a:r>
          </a:p>
          <a:p>
            <a:pPr lvl="1"/>
            <a:r>
              <a:rPr lang="en-GB" altLang="en-US" sz="2000" dirty="0"/>
              <a:t>Manufacture and trafficking of devices used to circumvent such protections</a:t>
            </a:r>
          </a:p>
          <a:p>
            <a:pPr lvl="1"/>
            <a:r>
              <a:rPr lang="en-GB" altLang="en-US" sz="2000" dirty="0"/>
              <a:t>Altering information attached or embedded in copyrighted material</a:t>
            </a:r>
          </a:p>
          <a:p>
            <a:r>
              <a:rPr lang="en-GB" altLang="en-US" sz="2400" dirty="0"/>
              <a:t>Excludes Internet Service Providers (ISPs) from some copyright infringement</a:t>
            </a:r>
          </a:p>
        </p:txBody>
      </p:sp>
    </p:spTree>
    <p:extLst>
      <p:ext uri="{BB962C8B-B14F-4D97-AF65-F5344CB8AC3E}">
        <p14:creationId xmlns:p14="http://schemas.microsoft.com/office/powerpoint/2010/main" val="24468102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noChangeArrowheads="1"/>
          </p:cNvSpPr>
          <p:nvPr>
            <p:ph type="title"/>
          </p:nvPr>
        </p:nvSpPr>
        <p:spPr/>
        <p:txBody>
          <a:bodyPr/>
          <a:lstStyle/>
          <a:p>
            <a:r>
              <a:rPr lang="en-US" altLang="en-US" dirty="0"/>
              <a:t>Deterring illegal behavior</a:t>
            </a:r>
          </a:p>
        </p:txBody>
      </p:sp>
      <p:sp>
        <p:nvSpPr>
          <p:cNvPr id="77827" name="Content Placeholder 5"/>
          <p:cNvSpPr>
            <a:spLocks noGrp="1" noChangeArrowheads="1"/>
          </p:cNvSpPr>
          <p:nvPr>
            <p:ph sz="quarter" idx="11"/>
          </p:nvPr>
        </p:nvSpPr>
        <p:spPr/>
        <p:txBody>
          <a:bodyPr/>
          <a:lstStyle/>
          <a:p>
            <a:r>
              <a:rPr lang="en-GB" altLang="en-US" sz="2800" dirty="0"/>
              <a:t>Three general causes of illegal </a:t>
            </a:r>
            <a:r>
              <a:rPr lang="en-GB" altLang="en-US" sz="2800" dirty="0" err="1"/>
              <a:t>behavior</a:t>
            </a:r>
            <a:r>
              <a:rPr lang="en-GB" altLang="en-US" sz="2800" dirty="0"/>
              <a:t>: ignorance, accident, intent</a:t>
            </a:r>
          </a:p>
          <a:p>
            <a:r>
              <a:rPr lang="en-GB" altLang="en-US" sz="2800" dirty="0"/>
              <a:t>Deterrence: best method for preventing an illegal activity; for example, laws, policies, technical controls</a:t>
            </a:r>
          </a:p>
          <a:p>
            <a:r>
              <a:rPr lang="en-GB" altLang="en-US" sz="2800" dirty="0"/>
              <a:t>Laws and policies only deter if three conditions are present:</a:t>
            </a:r>
          </a:p>
          <a:p>
            <a:pPr lvl="1"/>
            <a:r>
              <a:rPr lang="en-GB" altLang="en-US" sz="2400" dirty="0"/>
              <a:t>Fear of penalty</a:t>
            </a:r>
          </a:p>
          <a:p>
            <a:pPr lvl="1"/>
            <a:r>
              <a:rPr lang="en-GB" altLang="en-US" sz="2400" dirty="0"/>
              <a:t>Probability of being apprehended</a:t>
            </a:r>
          </a:p>
          <a:p>
            <a:pPr lvl="1"/>
            <a:r>
              <a:rPr lang="en-GB" altLang="en-US" sz="2400" dirty="0"/>
              <a:t>Probability of penalty being applied</a:t>
            </a:r>
          </a:p>
        </p:txBody>
      </p:sp>
    </p:spTree>
    <p:extLst>
      <p:ext uri="{BB962C8B-B14F-4D97-AF65-F5344CB8AC3E}">
        <p14:creationId xmlns:p14="http://schemas.microsoft.com/office/powerpoint/2010/main" val="1528017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pPr marL="0" indent="0">
              <a:lnSpc>
                <a:spcPct val="100000"/>
              </a:lnSpc>
              <a:spcBef>
                <a:spcPts val="0"/>
              </a:spcBef>
              <a:tabLst>
                <a:tab pos="4397375" algn="l"/>
              </a:tabLst>
            </a:pPr>
            <a:r>
              <a:rPr lang="en-US" dirty="0"/>
              <a:t>Deterrents to illegal behavior</a:t>
            </a:r>
            <a:endParaRPr lang="en-US" baseline="30000" dirty="0"/>
          </a:p>
        </p:txBody>
      </p:sp>
      <p:pic>
        <p:nvPicPr>
          <p:cNvPr id="4" name="Content Placeholder 3">
            <a:extLst>
              <a:ext uri="{FF2B5EF4-FFF2-40B4-BE49-F238E27FC236}">
                <a16:creationId xmlns:a16="http://schemas.microsoft.com/office/drawing/2014/main" id="{64803070-97BF-1291-1A8C-5434AABD349C}"/>
              </a:ext>
            </a:extLst>
          </p:cNvPr>
          <p:cNvPicPr>
            <a:picLocks noGrp="1" noChangeAspect="1"/>
          </p:cNvPicPr>
          <p:nvPr>
            <p:ph sz="quarter" idx="11"/>
          </p:nvPr>
        </p:nvPicPr>
        <p:blipFill rotWithShape="1">
          <a:blip r:embed="rId2">
            <a:extLst>
              <a:ext uri="{28A0092B-C50C-407E-A947-70E740481C1C}">
                <a14:useLocalDpi xmlns:a14="http://schemas.microsoft.com/office/drawing/2010/main" val="0"/>
              </a:ext>
            </a:extLst>
          </a:blip>
          <a:srcRect l="2869" t="2500" r="5721" b="4251"/>
          <a:stretch/>
        </p:blipFill>
        <p:spPr>
          <a:xfrm>
            <a:off x="1074468" y="1340768"/>
            <a:ext cx="6995063" cy="5293562"/>
          </a:xfrm>
        </p:spPr>
      </p:pic>
    </p:spTree>
    <p:extLst>
      <p:ext uri="{BB962C8B-B14F-4D97-AF65-F5344CB8AC3E}">
        <p14:creationId xmlns:p14="http://schemas.microsoft.com/office/powerpoint/2010/main" val="1157625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12216" y="2924944"/>
            <a:ext cx="6584928" cy="1069514"/>
          </a:xfrm>
        </p:spPr>
        <p:txBody>
          <a:bodyPr/>
          <a:lstStyle/>
          <a:p>
            <a:r>
              <a:rPr lang="en-US" sz="4800" dirty="0"/>
              <a:t>Ethical Issues</a:t>
            </a:r>
          </a:p>
        </p:txBody>
      </p:sp>
    </p:spTree>
    <p:extLst>
      <p:ext uri="{BB962C8B-B14F-4D97-AF65-F5344CB8AC3E}">
        <p14:creationId xmlns:p14="http://schemas.microsoft.com/office/powerpoint/2010/main" val="1713905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GB" altLang="en-US" dirty="0"/>
              <a:t>Laws are not sufficient</a:t>
            </a:r>
            <a:endParaRPr lang="en-US" altLang="en-US" dirty="0"/>
          </a:p>
        </p:txBody>
      </p:sp>
      <p:sp>
        <p:nvSpPr>
          <p:cNvPr id="68611" name="Content Placeholder 2"/>
          <p:cNvSpPr>
            <a:spLocks noGrp="1"/>
          </p:cNvSpPr>
          <p:nvPr>
            <p:ph sz="quarter" idx="11"/>
          </p:nvPr>
        </p:nvSpPr>
        <p:spPr/>
        <p:txBody>
          <a:bodyPr/>
          <a:lstStyle/>
          <a:p>
            <a:r>
              <a:rPr lang="en-US" altLang="en-US" sz="2400" dirty="0"/>
              <a:t>The law is not always the appropriate way to deal with issues of human behavior.</a:t>
            </a:r>
          </a:p>
          <a:p>
            <a:r>
              <a:rPr lang="en-US" altLang="en-US" sz="2400" dirty="0"/>
              <a:t>It is difficult to define a law to preclude only some events and enable other events.</a:t>
            </a:r>
          </a:p>
          <a:p>
            <a:pPr lvl="1"/>
            <a:r>
              <a:rPr lang="en-US" altLang="en-US" sz="2000" dirty="0"/>
              <a:t>For example, a law that restricts animals from public places must be ‘refined’ to permit service dogs</a:t>
            </a:r>
          </a:p>
          <a:p>
            <a:r>
              <a:rPr lang="en-US" altLang="en-US" sz="2400" dirty="0"/>
              <a:t>Lawmakers, who are not usually computer professionals, are hard pressed to think of all possible exceptions when they draft a law concerning computer affairs.</a:t>
            </a:r>
          </a:p>
          <a:p>
            <a:r>
              <a:rPr lang="en-US" altLang="en-US" sz="2400" dirty="0"/>
              <a:t>Even when a law is well conceived and well written, its enforcement may be difficult.</a:t>
            </a:r>
          </a:p>
        </p:txBody>
      </p:sp>
    </p:spTree>
    <p:extLst>
      <p:ext uri="{BB962C8B-B14F-4D97-AF65-F5344CB8AC3E}">
        <p14:creationId xmlns:p14="http://schemas.microsoft.com/office/powerpoint/2010/main" val="3873734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9CD70-1B60-BDFD-889B-85D19CBF31B8}"/>
            </a:ext>
          </a:extLst>
        </p:cNvPr>
        <p:cNvGrpSpPr/>
        <p:nvPr/>
      </p:nvGrpSpPr>
      <p:grpSpPr>
        <a:xfrm>
          <a:off x="0" y="0"/>
          <a:ext cx="0" cy="0"/>
          <a:chOff x="0" y="0"/>
          <a:chExt cx="0" cy="0"/>
        </a:xfrm>
      </p:grpSpPr>
      <p:sp>
        <p:nvSpPr>
          <p:cNvPr id="68610" name="Title 1">
            <a:extLst>
              <a:ext uri="{FF2B5EF4-FFF2-40B4-BE49-F238E27FC236}">
                <a16:creationId xmlns:a16="http://schemas.microsoft.com/office/drawing/2014/main" id="{58377E81-CE72-12BC-7E47-0657C8D834C2}"/>
              </a:ext>
            </a:extLst>
          </p:cNvPr>
          <p:cNvSpPr>
            <a:spLocks noGrp="1"/>
          </p:cNvSpPr>
          <p:nvPr>
            <p:ph type="title"/>
          </p:nvPr>
        </p:nvSpPr>
        <p:spPr/>
        <p:txBody>
          <a:bodyPr/>
          <a:lstStyle/>
          <a:p>
            <a:r>
              <a:rPr lang="en-GB" altLang="en-US" dirty="0"/>
              <a:t>Laws are not sufficient</a:t>
            </a:r>
            <a:endParaRPr lang="en-US" altLang="en-US" dirty="0"/>
          </a:p>
        </p:txBody>
      </p:sp>
      <p:sp>
        <p:nvSpPr>
          <p:cNvPr id="68611" name="Content Placeholder 2">
            <a:extLst>
              <a:ext uri="{FF2B5EF4-FFF2-40B4-BE49-F238E27FC236}">
                <a16:creationId xmlns:a16="http://schemas.microsoft.com/office/drawing/2014/main" id="{43C97B1A-AA70-5C5B-5B64-4D80CB66A9BF}"/>
              </a:ext>
            </a:extLst>
          </p:cNvPr>
          <p:cNvSpPr>
            <a:spLocks noGrp="1"/>
          </p:cNvSpPr>
          <p:nvPr>
            <p:ph sz="quarter" idx="11"/>
          </p:nvPr>
        </p:nvSpPr>
        <p:spPr/>
        <p:txBody>
          <a:bodyPr/>
          <a:lstStyle/>
          <a:p>
            <a:r>
              <a:rPr lang="en-US" altLang="en-US" sz="2400" dirty="0"/>
              <a:t>What is desirable today may become undesirable tomorrow, as societal needs change and as computing is used in new ways.</a:t>
            </a:r>
          </a:p>
          <a:p>
            <a:r>
              <a:rPr lang="en-US" altLang="en-US" sz="2400" dirty="0"/>
              <a:t>In addition, reliance on legal recourse can be time consuming and unsatisfactory. </a:t>
            </a:r>
          </a:p>
          <a:p>
            <a:pPr lvl="1"/>
            <a:r>
              <a:rPr lang="en-US" altLang="en-US" sz="2000" dirty="0"/>
              <a:t>The courts are overburdened, and the resources needed to prosecute relatively minor infractions may be excessive compared to the benefit.</a:t>
            </a:r>
          </a:p>
          <a:p>
            <a:r>
              <a:rPr lang="en-US" altLang="en-US" sz="2400" dirty="0"/>
              <a:t>Thus, it is impossible or impractical to develop laws to describe and enforce all forms of behavior acceptable to society.</a:t>
            </a:r>
          </a:p>
          <a:p>
            <a:r>
              <a:rPr lang="en-US" altLang="en-US" sz="2400" dirty="0"/>
              <a:t>Instead, society relies on </a:t>
            </a:r>
            <a:r>
              <a:rPr lang="en-US" altLang="en-US" sz="2400" b="1" dirty="0"/>
              <a:t>ethics</a:t>
            </a:r>
            <a:r>
              <a:rPr lang="en-US" altLang="en-US" sz="2400" dirty="0"/>
              <a:t> to prescribe generally accepted standards of proper behavior.</a:t>
            </a:r>
          </a:p>
        </p:txBody>
      </p:sp>
    </p:spTree>
    <p:extLst>
      <p:ext uri="{BB962C8B-B14F-4D97-AF65-F5344CB8AC3E}">
        <p14:creationId xmlns:p14="http://schemas.microsoft.com/office/powerpoint/2010/main" val="2289894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B4431-DF30-58FD-E104-E15D9E9DD848}"/>
              </a:ext>
            </a:extLst>
          </p:cNvPr>
          <p:cNvSpPr>
            <a:spLocks noGrp="1"/>
          </p:cNvSpPr>
          <p:nvPr>
            <p:ph type="title"/>
          </p:nvPr>
        </p:nvSpPr>
        <p:spPr/>
        <p:txBody>
          <a:bodyPr/>
          <a:lstStyle/>
          <a:p>
            <a:r>
              <a:rPr lang="en-US" dirty="0"/>
              <a:t>What ethics means</a:t>
            </a:r>
          </a:p>
        </p:txBody>
      </p:sp>
      <p:sp>
        <p:nvSpPr>
          <p:cNvPr id="3" name="Content Placeholder 2">
            <a:extLst>
              <a:ext uri="{FF2B5EF4-FFF2-40B4-BE49-F238E27FC236}">
                <a16:creationId xmlns:a16="http://schemas.microsoft.com/office/drawing/2014/main" id="{8D699815-ECB5-C5A2-108C-91EF8E36A1F8}"/>
              </a:ext>
            </a:extLst>
          </p:cNvPr>
          <p:cNvSpPr>
            <a:spLocks noGrp="1"/>
          </p:cNvSpPr>
          <p:nvPr>
            <p:ph sz="quarter" idx="11"/>
          </p:nvPr>
        </p:nvSpPr>
        <p:spPr/>
        <p:txBody>
          <a:bodyPr/>
          <a:lstStyle/>
          <a:p>
            <a:r>
              <a:rPr lang="en-US" sz="2400" dirty="0"/>
              <a:t>An ethic is an ‘objectively’ defined standard of right and wrong.</a:t>
            </a:r>
          </a:p>
          <a:p>
            <a:pPr lvl="1"/>
            <a:r>
              <a:rPr lang="en-US" sz="2000" dirty="0"/>
              <a:t>i.e., ethical standards are often idealistic principles because they focus on a single objective.</a:t>
            </a:r>
          </a:p>
          <a:p>
            <a:r>
              <a:rPr lang="en-US" sz="2400" dirty="0"/>
              <a:t>In a given situation, however, several objectives may be involved, so we have to balance multiple (sometimes conflicting) objectives to determine an appropriate action.</a:t>
            </a:r>
          </a:p>
          <a:p>
            <a:r>
              <a:rPr lang="en-US" sz="2400" dirty="0"/>
              <a:t>Regardless of our religious and professional affiliations, each of us is responsible for deciding what to do in a specific situation.</a:t>
            </a:r>
          </a:p>
          <a:p>
            <a:r>
              <a:rPr lang="en-US" sz="2400" dirty="0"/>
              <a:t>Through our choices as individuals, we define a personal set of ethical practices.</a:t>
            </a:r>
          </a:p>
        </p:txBody>
      </p:sp>
    </p:spTree>
    <p:extLst>
      <p:ext uri="{BB962C8B-B14F-4D97-AF65-F5344CB8AC3E}">
        <p14:creationId xmlns:p14="http://schemas.microsoft.com/office/powerpoint/2010/main" val="4194174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2AC3A-C349-077F-CC24-BDE7431AA2AD}"/>
              </a:ext>
            </a:extLst>
          </p:cNvPr>
          <p:cNvSpPr>
            <a:spLocks noGrp="1"/>
          </p:cNvSpPr>
          <p:nvPr>
            <p:ph type="title"/>
          </p:nvPr>
        </p:nvSpPr>
        <p:spPr/>
        <p:txBody>
          <a:bodyPr/>
          <a:lstStyle/>
          <a:p>
            <a:r>
              <a:rPr lang="en-US" dirty="0"/>
              <a:t>Laws vs Ethics</a:t>
            </a:r>
          </a:p>
        </p:txBody>
      </p:sp>
      <p:sp>
        <p:nvSpPr>
          <p:cNvPr id="3" name="Content Placeholder 2">
            <a:extLst>
              <a:ext uri="{FF2B5EF4-FFF2-40B4-BE49-F238E27FC236}">
                <a16:creationId xmlns:a16="http://schemas.microsoft.com/office/drawing/2014/main" id="{DB2D91A4-1F22-C524-A2A4-482A7DDA9F74}"/>
              </a:ext>
            </a:extLst>
          </p:cNvPr>
          <p:cNvSpPr>
            <a:spLocks noGrp="1"/>
          </p:cNvSpPr>
          <p:nvPr>
            <p:ph sz="quarter" idx="11"/>
          </p:nvPr>
        </p:nvSpPr>
        <p:spPr/>
        <p:txBody>
          <a:bodyPr/>
          <a:lstStyle/>
          <a:p>
            <a:endParaRPr lang="en-US"/>
          </a:p>
        </p:txBody>
      </p:sp>
      <p:graphicFrame>
        <p:nvGraphicFramePr>
          <p:cNvPr id="4" name="Content Placeholder 3">
            <a:extLst>
              <a:ext uri="{FF2B5EF4-FFF2-40B4-BE49-F238E27FC236}">
                <a16:creationId xmlns:a16="http://schemas.microsoft.com/office/drawing/2014/main" id="{039009C5-7C70-F424-64BE-2015B2B522DD}"/>
              </a:ext>
            </a:extLst>
          </p:cNvPr>
          <p:cNvGraphicFramePr>
            <a:graphicFrameLocks/>
          </p:cNvGraphicFramePr>
          <p:nvPr>
            <p:extLst>
              <p:ext uri="{D42A27DB-BD31-4B8C-83A1-F6EECF244321}">
                <p14:modId xmlns:p14="http://schemas.microsoft.com/office/powerpoint/2010/main" val="2459394752"/>
              </p:ext>
            </p:extLst>
          </p:nvPr>
        </p:nvGraphicFramePr>
        <p:xfrm>
          <a:off x="522807" y="1628800"/>
          <a:ext cx="8277898" cy="4677840"/>
        </p:xfrm>
        <a:graphic>
          <a:graphicData uri="http://schemas.openxmlformats.org/drawingml/2006/table">
            <a:tbl>
              <a:tblPr firstRow="1" bandRow="1">
                <a:tableStyleId>{5C22544A-7EE6-4342-B048-85BDC9FD1C3A}</a:tableStyleId>
              </a:tblPr>
              <a:tblGrid>
                <a:gridCol w="4138949">
                  <a:extLst>
                    <a:ext uri="{9D8B030D-6E8A-4147-A177-3AD203B41FA5}">
                      <a16:colId xmlns:a16="http://schemas.microsoft.com/office/drawing/2014/main" val="1109793313"/>
                    </a:ext>
                  </a:extLst>
                </a:gridCol>
                <a:gridCol w="4138949">
                  <a:extLst>
                    <a:ext uri="{9D8B030D-6E8A-4147-A177-3AD203B41FA5}">
                      <a16:colId xmlns:a16="http://schemas.microsoft.com/office/drawing/2014/main" val="1497117546"/>
                    </a:ext>
                  </a:extLst>
                </a:gridCol>
              </a:tblGrid>
              <a:tr h="756000">
                <a:tc>
                  <a:txBody>
                    <a:bodyPr/>
                    <a:lstStyle/>
                    <a:p>
                      <a:pPr algn="ctr" latinLnBrk="0"/>
                      <a:r>
                        <a:rPr lang="en-US" sz="2000" dirty="0"/>
                        <a:t>Laws</a:t>
                      </a:r>
                    </a:p>
                  </a:txBody>
                  <a:tcPr anchor="ctr"/>
                </a:tc>
                <a:tc>
                  <a:txBody>
                    <a:bodyPr/>
                    <a:lstStyle/>
                    <a:p>
                      <a:pPr algn="ctr" latinLnBrk="0"/>
                      <a:r>
                        <a:rPr lang="en-US" sz="2000" dirty="0"/>
                        <a:t>Ethics</a:t>
                      </a:r>
                    </a:p>
                  </a:txBody>
                  <a:tcPr anchor="ctr"/>
                </a:tc>
                <a:extLst>
                  <a:ext uri="{0D108BD9-81ED-4DB2-BD59-A6C34878D82A}">
                    <a16:rowId xmlns:a16="http://schemas.microsoft.com/office/drawing/2014/main" val="2027506488"/>
                  </a:ext>
                </a:extLst>
              </a:tr>
              <a:tr h="972000">
                <a:tc>
                  <a:txBody>
                    <a:bodyPr/>
                    <a:lstStyle/>
                    <a:p>
                      <a:pPr algn="l" latinLnBrk="0"/>
                      <a:r>
                        <a:rPr lang="en-US" sz="2000" dirty="0"/>
                        <a:t>Described by formal, written documents</a:t>
                      </a:r>
                    </a:p>
                  </a:txBody>
                  <a:tcPr anchor="ctr"/>
                </a:tc>
                <a:tc>
                  <a:txBody>
                    <a:bodyPr/>
                    <a:lstStyle/>
                    <a:p>
                      <a:pPr algn="l" latinLnBrk="0"/>
                      <a:r>
                        <a:rPr lang="en-US" sz="2000" dirty="0"/>
                        <a:t>Described by written and unwritten principles</a:t>
                      </a:r>
                    </a:p>
                  </a:txBody>
                  <a:tcPr anchor="ctr"/>
                </a:tc>
                <a:extLst>
                  <a:ext uri="{0D108BD9-81ED-4DB2-BD59-A6C34878D82A}">
                    <a16:rowId xmlns:a16="http://schemas.microsoft.com/office/drawing/2014/main" val="1099104623"/>
                  </a:ext>
                </a:extLst>
              </a:tr>
              <a:tr h="972000">
                <a:tc>
                  <a:txBody>
                    <a:bodyPr/>
                    <a:lstStyle/>
                    <a:p>
                      <a:pPr algn="l" latinLnBrk="0"/>
                      <a:r>
                        <a:rPr lang="en-US" sz="2000" dirty="0"/>
                        <a:t>Established by legislatures representing all people</a:t>
                      </a:r>
                    </a:p>
                  </a:txBody>
                  <a:tcPr anchor="ctr"/>
                </a:tc>
                <a:tc>
                  <a:txBody>
                    <a:bodyPr/>
                    <a:lstStyle/>
                    <a:p>
                      <a:pPr algn="l" latinLnBrk="0"/>
                      <a:r>
                        <a:rPr lang="en-US" sz="2000" dirty="0"/>
                        <a:t>Presented by philosophers, religions, professional groups</a:t>
                      </a:r>
                    </a:p>
                  </a:txBody>
                  <a:tcPr anchor="ctr"/>
                </a:tc>
                <a:extLst>
                  <a:ext uri="{0D108BD9-81ED-4DB2-BD59-A6C34878D82A}">
                    <a16:rowId xmlns:a16="http://schemas.microsoft.com/office/drawing/2014/main" val="1650481858"/>
                  </a:ext>
                </a:extLst>
              </a:tr>
              <a:tr h="972000">
                <a:tc>
                  <a:txBody>
                    <a:bodyPr/>
                    <a:lstStyle/>
                    <a:p>
                      <a:pPr algn="l" latinLnBrk="0"/>
                      <a:r>
                        <a:rPr lang="en-US" sz="2000" dirty="0"/>
                        <a:t>Priority determined by courts if two laws conflict </a:t>
                      </a:r>
                    </a:p>
                  </a:txBody>
                  <a:tcPr anchor="ctr"/>
                </a:tc>
                <a:tc>
                  <a:txBody>
                    <a:bodyPr/>
                    <a:lstStyle/>
                    <a:p>
                      <a:pPr algn="l" latinLnBrk="0"/>
                      <a:r>
                        <a:rPr lang="en-US" sz="2000" dirty="0"/>
                        <a:t>Priority determined by an individual if two principles conflict</a:t>
                      </a:r>
                    </a:p>
                  </a:txBody>
                  <a:tcPr anchor="ctr"/>
                </a:tc>
                <a:extLst>
                  <a:ext uri="{0D108BD9-81ED-4DB2-BD59-A6C34878D82A}">
                    <a16:rowId xmlns:a16="http://schemas.microsoft.com/office/drawing/2014/main" val="2367173791"/>
                  </a:ext>
                </a:extLst>
              </a:tr>
              <a:tr h="972000">
                <a:tc>
                  <a:txBody>
                    <a:bodyPr/>
                    <a:lstStyle/>
                    <a:p>
                      <a:pPr algn="l" latinLnBrk="0"/>
                      <a:r>
                        <a:rPr lang="en-US" sz="2000" dirty="0"/>
                        <a:t>Enforced by police and courts</a:t>
                      </a:r>
                    </a:p>
                  </a:txBody>
                  <a:tcPr anchor="ctr"/>
                </a:tc>
                <a:tc>
                  <a:txBody>
                    <a:bodyPr/>
                    <a:lstStyle/>
                    <a:p>
                      <a:pPr algn="l" latinLnBrk="0"/>
                      <a:r>
                        <a:rPr lang="en-US" sz="2000" dirty="0"/>
                        <a:t>Enforced by intangibles such as principles and beliefs </a:t>
                      </a:r>
                    </a:p>
                  </a:txBody>
                  <a:tcPr anchor="ctr"/>
                </a:tc>
                <a:extLst>
                  <a:ext uri="{0D108BD9-81ED-4DB2-BD59-A6C34878D82A}">
                    <a16:rowId xmlns:a16="http://schemas.microsoft.com/office/drawing/2014/main" val="234856476"/>
                  </a:ext>
                </a:extLst>
              </a:tr>
            </a:tbl>
          </a:graphicData>
        </a:graphic>
      </p:graphicFrame>
    </p:spTree>
    <p:extLst>
      <p:ext uri="{BB962C8B-B14F-4D97-AF65-F5344CB8AC3E}">
        <p14:creationId xmlns:p14="http://schemas.microsoft.com/office/powerpoint/2010/main" val="430539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68BB4-00C5-56B5-E9DF-F98680E0D00B}"/>
              </a:ext>
            </a:extLst>
          </p:cNvPr>
          <p:cNvSpPr>
            <a:spLocks noGrp="1"/>
          </p:cNvSpPr>
          <p:nvPr>
            <p:ph type="title"/>
          </p:nvPr>
        </p:nvSpPr>
        <p:spPr/>
        <p:txBody>
          <a:bodyPr/>
          <a:lstStyle/>
          <a:p>
            <a:r>
              <a:rPr lang="en-US" dirty="0"/>
              <a:t>Ethical principles are not</a:t>
            </a:r>
            <a:br>
              <a:rPr lang="en-US" dirty="0"/>
            </a:br>
            <a:r>
              <a:rPr lang="en-US" dirty="0"/>
              <a:t>universal </a:t>
            </a:r>
          </a:p>
        </p:txBody>
      </p:sp>
      <p:sp>
        <p:nvSpPr>
          <p:cNvPr id="3" name="Content Placeholder 2">
            <a:extLst>
              <a:ext uri="{FF2B5EF4-FFF2-40B4-BE49-F238E27FC236}">
                <a16:creationId xmlns:a16="http://schemas.microsoft.com/office/drawing/2014/main" id="{B0129821-22C6-1F3D-0999-087BEB29998A}"/>
              </a:ext>
            </a:extLst>
          </p:cNvPr>
          <p:cNvSpPr>
            <a:spLocks noGrp="1"/>
          </p:cNvSpPr>
          <p:nvPr>
            <p:ph sz="quarter" idx="11"/>
          </p:nvPr>
        </p:nvSpPr>
        <p:spPr/>
        <p:txBody>
          <a:bodyPr/>
          <a:lstStyle/>
          <a:p>
            <a:r>
              <a:rPr lang="en-US" dirty="0"/>
              <a:t>Ethical values vary by society / culture and from person to person within a society.</a:t>
            </a:r>
          </a:p>
          <a:p>
            <a:pPr lvl="1"/>
            <a:r>
              <a:rPr lang="en-US" dirty="0"/>
              <a:t>For example, the concept of privacy is important in western cultures. But in eastern cultures, privacy is not necessarily desirable; people associate privacy with having something to hide. </a:t>
            </a:r>
          </a:p>
          <a:p>
            <a:r>
              <a:rPr lang="en-US" dirty="0"/>
              <a:t>Also, an individual’s standards of behavior may be influenced by past life events.</a:t>
            </a:r>
          </a:p>
        </p:txBody>
      </p:sp>
    </p:spTree>
    <p:extLst>
      <p:ext uri="{BB962C8B-B14F-4D97-AF65-F5344CB8AC3E}">
        <p14:creationId xmlns:p14="http://schemas.microsoft.com/office/powerpoint/2010/main" val="1828907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E66E5-3B51-411F-7276-CE21ADAF4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3A81C-0243-80ED-33BD-B0CF5BE86975}"/>
              </a:ext>
            </a:extLst>
          </p:cNvPr>
          <p:cNvSpPr>
            <a:spLocks noGrp="1"/>
          </p:cNvSpPr>
          <p:nvPr>
            <p:ph type="title"/>
          </p:nvPr>
        </p:nvSpPr>
        <p:spPr/>
        <p:txBody>
          <a:bodyPr/>
          <a:lstStyle/>
          <a:p>
            <a:r>
              <a:rPr lang="en-US" dirty="0"/>
              <a:t>Ethics does not provide clear</a:t>
            </a:r>
            <a:br>
              <a:rPr lang="en-US" dirty="0"/>
            </a:br>
            <a:r>
              <a:rPr lang="en-US" dirty="0"/>
              <a:t>answers</a:t>
            </a:r>
          </a:p>
        </p:txBody>
      </p:sp>
      <p:sp>
        <p:nvSpPr>
          <p:cNvPr id="3" name="Content Placeholder 2">
            <a:extLst>
              <a:ext uri="{FF2B5EF4-FFF2-40B4-BE49-F238E27FC236}">
                <a16:creationId xmlns:a16="http://schemas.microsoft.com/office/drawing/2014/main" id="{CE9C54FC-7AAC-B680-D2A8-F4E15C90C5C5}"/>
              </a:ext>
            </a:extLst>
          </p:cNvPr>
          <p:cNvSpPr>
            <a:spLocks noGrp="1"/>
          </p:cNvSpPr>
          <p:nvPr>
            <p:ph sz="quarter" idx="11"/>
          </p:nvPr>
        </p:nvSpPr>
        <p:spPr/>
        <p:txBody>
          <a:bodyPr/>
          <a:lstStyle/>
          <a:p>
            <a:r>
              <a:rPr lang="en-US" sz="2400" dirty="0"/>
              <a:t>We must recognize that more than one position may be ethically justifiable—even equally so—in a given situation.</a:t>
            </a:r>
          </a:p>
          <a:p>
            <a:pPr lvl="1"/>
            <a:r>
              <a:rPr lang="en-US" sz="2000" dirty="0"/>
              <a:t>It is similar to the way we expect and accept disagreement in areas like politics and religion.</a:t>
            </a:r>
          </a:p>
          <a:p>
            <a:r>
              <a:rPr lang="en-US" sz="2400" dirty="0"/>
              <a:t>Worse, there is no higher authority of ethical truth.</a:t>
            </a:r>
          </a:p>
          <a:p>
            <a:pPr lvl="1"/>
            <a:r>
              <a:rPr lang="en-US" sz="2000" dirty="0"/>
              <a:t>Two people may disagree on their opinion of the ethics of a situation, but there is no one to whom to appeal for a final determination of who is “right.”</a:t>
            </a:r>
          </a:p>
          <a:p>
            <a:r>
              <a:rPr lang="en-US" sz="2400" dirty="0"/>
              <a:t>Still, conflicting answers should not deter one from considering ethical issues in computer security.</a:t>
            </a:r>
          </a:p>
          <a:p>
            <a:r>
              <a:rPr lang="en-US" sz="2400" dirty="0"/>
              <a:t>Nor do they excuse us from making and defending ethical choices.</a:t>
            </a:r>
          </a:p>
        </p:txBody>
      </p:sp>
    </p:spTree>
    <p:extLst>
      <p:ext uri="{BB962C8B-B14F-4D97-AF65-F5344CB8AC3E}">
        <p14:creationId xmlns:p14="http://schemas.microsoft.com/office/powerpoint/2010/main" val="1842510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C55C1-D185-B2DC-317B-3BD098870825}"/>
              </a:ext>
            </a:extLst>
          </p:cNvPr>
          <p:cNvSpPr>
            <a:spLocks noGrp="1"/>
          </p:cNvSpPr>
          <p:nvPr>
            <p:ph type="title"/>
          </p:nvPr>
        </p:nvSpPr>
        <p:spPr/>
        <p:txBody>
          <a:bodyPr/>
          <a:lstStyle/>
          <a:p>
            <a:r>
              <a:rPr lang="en-US" dirty="0"/>
              <a:t>Incident Analysis </a:t>
            </a:r>
            <a:r>
              <a:rPr lang="en-US"/>
              <a:t>with Ethics</a:t>
            </a:r>
          </a:p>
        </p:txBody>
      </p:sp>
      <p:sp>
        <p:nvSpPr>
          <p:cNvPr id="3" name="Content Placeholder 2">
            <a:extLst>
              <a:ext uri="{FF2B5EF4-FFF2-40B4-BE49-F238E27FC236}">
                <a16:creationId xmlns:a16="http://schemas.microsoft.com/office/drawing/2014/main" id="{7DED01E3-99EB-9A50-4E82-66AFE3476A88}"/>
              </a:ext>
            </a:extLst>
          </p:cNvPr>
          <p:cNvSpPr>
            <a:spLocks noGrp="1"/>
          </p:cNvSpPr>
          <p:nvPr>
            <p:ph sz="quarter" idx="11"/>
          </p:nvPr>
        </p:nvSpPr>
        <p:spPr/>
        <p:txBody>
          <a:bodyPr/>
          <a:lstStyle/>
          <a:p>
            <a:r>
              <a:rPr lang="en-US" dirty="0"/>
              <a:t>To understand how ethics affects professional actions, ethicists often study example situations.</a:t>
            </a:r>
          </a:p>
          <a:p>
            <a:r>
              <a:rPr lang="en-US" dirty="0"/>
              <a:t>You should reflect on each case, determining for yourself what the most influential points are.</a:t>
            </a:r>
          </a:p>
          <a:p>
            <a:r>
              <a:rPr lang="en-US" dirty="0"/>
              <a:t>Remember that ethics are not determined by majority rule. Those siding with the majority are not “right,” and the rest are not “wrong.”</a:t>
            </a:r>
          </a:p>
        </p:txBody>
      </p:sp>
    </p:spTree>
    <p:extLst>
      <p:ext uri="{BB962C8B-B14F-4D97-AF65-F5344CB8AC3E}">
        <p14:creationId xmlns:p14="http://schemas.microsoft.com/office/powerpoint/2010/main" val="1404200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9E19-7C96-7309-40CA-21C62CE763DD}"/>
              </a:ext>
            </a:extLst>
          </p:cNvPr>
          <p:cNvSpPr>
            <a:spLocks noGrp="1"/>
          </p:cNvSpPr>
          <p:nvPr>
            <p:ph type="title"/>
          </p:nvPr>
        </p:nvSpPr>
        <p:spPr/>
        <p:txBody>
          <a:bodyPr/>
          <a:lstStyle/>
          <a:p>
            <a:r>
              <a:rPr lang="en-US" dirty="0"/>
              <a:t>Example Situation 1</a:t>
            </a:r>
            <a:endParaRPr lang="en-AU" dirty="0"/>
          </a:p>
        </p:txBody>
      </p:sp>
      <p:sp>
        <p:nvSpPr>
          <p:cNvPr id="3" name="Content Placeholder 2">
            <a:extLst>
              <a:ext uri="{FF2B5EF4-FFF2-40B4-BE49-F238E27FC236}">
                <a16:creationId xmlns:a16="http://schemas.microsoft.com/office/drawing/2014/main" id="{F6487BED-F159-2F8A-5554-3D8FB264E1CF}"/>
              </a:ext>
            </a:extLst>
          </p:cNvPr>
          <p:cNvSpPr>
            <a:spLocks noGrp="1"/>
          </p:cNvSpPr>
          <p:nvPr>
            <p:ph sz="quarter" idx="11"/>
          </p:nvPr>
        </p:nvSpPr>
        <p:spPr/>
        <p:txBody>
          <a:bodyPr/>
          <a:lstStyle/>
          <a:p>
            <a:r>
              <a:rPr lang="en-US" sz="2400" dirty="0"/>
              <a:t>David works as a programmer for a large software company. He writes and tests utility programs.</a:t>
            </a:r>
          </a:p>
          <a:p>
            <a:r>
              <a:rPr lang="en-US" sz="2400" dirty="0"/>
              <a:t>His company operates two computing shifts: During the day, program development and online applications are run; at night, offline production jobs are completed.</a:t>
            </a:r>
          </a:p>
          <a:p>
            <a:r>
              <a:rPr lang="en-US" sz="2400" dirty="0"/>
              <a:t>David has access to resource usage data and learns that the evening runs are complementary to daytime programming tasks; that is, adding programming work during the night shift would not adversely affect performance of the computer to other users.</a:t>
            </a:r>
          </a:p>
        </p:txBody>
      </p:sp>
    </p:spTree>
    <p:extLst>
      <p:ext uri="{BB962C8B-B14F-4D97-AF65-F5344CB8AC3E}">
        <p14:creationId xmlns:p14="http://schemas.microsoft.com/office/powerpoint/2010/main" val="2696460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9A3E1-7241-741D-D83F-F80E3209B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D756C-5866-97F3-B1DD-08BA23CBCD3D}"/>
              </a:ext>
            </a:extLst>
          </p:cNvPr>
          <p:cNvSpPr>
            <a:spLocks noGrp="1"/>
          </p:cNvSpPr>
          <p:nvPr>
            <p:ph type="title"/>
          </p:nvPr>
        </p:nvSpPr>
        <p:spPr/>
        <p:txBody>
          <a:bodyPr/>
          <a:lstStyle/>
          <a:p>
            <a:r>
              <a:rPr lang="en-US" dirty="0"/>
              <a:t>Example Situation 1</a:t>
            </a:r>
            <a:endParaRPr lang="en-AU" dirty="0"/>
          </a:p>
        </p:txBody>
      </p:sp>
      <p:sp>
        <p:nvSpPr>
          <p:cNvPr id="3" name="Content Placeholder 2">
            <a:extLst>
              <a:ext uri="{FF2B5EF4-FFF2-40B4-BE49-F238E27FC236}">
                <a16:creationId xmlns:a16="http://schemas.microsoft.com/office/drawing/2014/main" id="{297E43B5-BA9B-7925-AD0D-69B63A8B559C}"/>
              </a:ext>
            </a:extLst>
          </p:cNvPr>
          <p:cNvSpPr>
            <a:spLocks noGrp="1"/>
          </p:cNvSpPr>
          <p:nvPr>
            <p:ph sz="quarter" idx="11"/>
          </p:nvPr>
        </p:nvSpPr>
        <p:spPr/>
        <p:txBody>
          <a:bodyPr/>
          <a:lstStyle/>
          <a:p>
            <a:r>
              <a:rPr lang="en-US" sz="2400" dirty="0"/>
              <a:t>David comes back after normal hours to develop a program to manage his own stocks portfolio.</a:t>
            </a:r>
          </a:p>
          <a:p>
            <a:r>
              <a:rPr lang="en-US" sz="2400" dirty="0"/>
              <a:t>His drain on the system is minimal, and he uses very few expendable supplies.</a:t>
            </a:r>
          </a:p>
          <a:p>
            <a:endParaRPr lang="en-US" sz="2400" dirty="0"/>
          </a:p>
          <a:p>
            <a:r>
              <a:rPr lang="en-US" sz="2400" b="1" dirty="0"/>
              <a:t>Is David’s behavior ethical?</a:t>
            </a:r>
            <a:endParaRPr lang="en-AU" sz="2400" b="1" dirty="0"/>
          </a:p>
        </p:txBody>
      </p:sp>
    </p:spTree>
    <p:extLst>
      <p:ext uri="{BB962C8B-B14F-4D97-AF65-F5344CB8AC3E}">
        <p14:creationId xmlns:p14="http://schemas.microsoft.com/office/powerpoint/2010/main" val="18190154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9FC05-548C-314C-0EF9-C49A818C4B26}"/>
              </a:ext>
            </a:extLst>
          </p:cNvPr>
          <p:cNvSpPr>
            <a:spLocks noGrp="1"/>
          </p:cNvSpPr>
          <p:nvPr>
            <p:ph type="title"/>
          </p:nvPr>
        </p:nvSpPr>
        <p:spPr/>
        <p:txBody>
          <a:bodyPr/>
          <a:lstStyle/>
          <a:p>
            <a:r>
              <a:rPr lang="en-US" dirty="0"/>
              <a:t>Principles Involved</a:t>
            </a:r>
            <a:endParaRPr lang="en-AU" dirty="0"/>
          </a:p>
        </p:txBody>
      </p:sp>
      <p:sp>
        <p:nvSpPr>
          <p:cNvPr id="3" name="Content Placeholder 2">
            <a:extLst>
              <a:ext uri="{FF2B5EF4-FFF2-40B4-BE49-F238E27FC236}">
                <a16:creationId xmlns:a16="http://schemas.microsoft.com/office/drawing/2014/main" id="{99A2CBD0-DF65-4DCE-E936-5423B7D54F5C}"/>
              </a:ext>
            </a:extLst>
          </p:cNvPr>
          <p:cNvSpPr>
            <a:spLocks noGrp="1"/>
          </p:cNvSpPr>
          <p:nvPr>
            <p:ph sz="quarter" idx="11"/>
          </p:nvPr>
        </p:nvSpPr>
        <p:spPr/>
        <p:txBody>
          <a:bodyPr/>
          <a:lstStyle/>
          <a:p>
            <a:r>
              <a:rPr lang="en-US" sz="2000" b="1" dirty="0"/>
              <a:t>Ownership of resources:</a:t>
            </a:r>
            <a:r>
              <a:rPr lang="en-US" sz="2000" dirty="0"/>
              <a:t> The company owns the computing resources and provides them for its own computing needs.</a:t>
            </a:r>
          </a:p>
          <a:p>
            <a:r>
              <a:rPr lang="en-US" sz="2000" b="1" dirty="0"/>
              <a:t>Effect on others:</a:t>
            </a:r>
            <a:r>
              <a:rPr lang="en-US" sz="2000" dirty="0"/>
              <a:t> Although unlikely, a flaw in David’s program could adversely affect other users, perhaps even denying them service because of a system failure.</a:t>
            </a:r>
          </a:p>
          <a:p>
            <a:r>
              <a:rPr lang="en-US" sz="2000" b="1" dirty="0"/>
              <a:t>Universalism:</a:t>
            </a:r>
            <a:r>
              <a:rPr lang="en-US" sz="2000" dirty="0"/>
              <a:t> If David’s action is acceptable, it should also be acceptable for others to do the same. However, too many employees working in the evening could reduce system effectiveness.</a:t>
            </a:r>
          </a:p>
          <a:p>
            <a:r>
              <a:rPr lang="en-US" sz="2000" b="1" dirty="0"/>
              <a:t>Possibility of detection, punishment:</a:t>
            </a:r>
            <a:r>
              <a:rPr lang="en-US" sz="2000" dirty="0"/>
              <a:t> David does not know whether his action would be wrong or right if discovered by his company. If his company decided it was improper use, he could be punished.</a:t>
            </a:r>
          </a:p>
          <a:p>
            <a:pPr marL="0" indent="0">
              <a:buNone/>
            </a:pPr>
            <a:r>
              <a:rPr lang="en-US" sz="2000" dirty="0"/>
              <a:t>What other issues are involved? Which principles are more important than others?</a:t>
            </a:r>
            <a:endParaRPr lang="en-AU" sz="2000" dirty="0"/>
          </a:p>
        </p:txBody>
      </p:sp>
    </p:spTree>
    <p:extLst>
      <p:ext uri="{BB962C8B-B14F-4D97-AF65-F5344CB8AC3E}">
        <p14:creationId xmlns:p14="http://schemas.microsoft.com/office/powerpoint/2010/main" val="1607740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CAAE-2C61-B69C-8210-2B579A0EC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AE1B5-71F1-D85A-5675-BC1B30653496}"/>
              </a:ext>
            </a:extLst>
          </p:cNvPr>
          <p:cNvSpPr>
            <a:spLocks noGrp="1"/>
          </p:cNvSpPr>
          <p:nvPr>
            <p:ph type="title"/>
          </p:nvPr>
        </p:nvSpPr>
        <p:spPr/>
        <p:txBody>
          <a:bodyPr/>
          <a:lstStyle/>
          <a:p>
            <a:r>
              <a:rPr lang="en-US" dirty="0"/>
              <a:t>Example Situation 2</a:t>
            </a:r>
            <a:endParaRPr lang="en-AU" dirty="0"/>
          </a:p>
        </p:txBody>
      </p:sp>
      <p:sp>
        <p:nvSpPr>
          <p:cNvPr id="3" name="Content Placeholder 2">
            <a:extLst>
              <a:ext uri="{FF2B5EF4-FFF2-40B4-BE49-F238E27FC236}">
                <a16:creationId xmlns:a16="http://schemas.microsoft.com/office/drawing/2014/main" id="{6A2EEEE9-FE87-4A11-4778-964EC0C90E56}"/>
              </a:ext>
            </a:extLst>
          </p:cNvPr>
          <p:cNvSpPr>
            <a:spLocks noGrp="1"/>
          </p:cNvSpPr>
          <p:nvPr>
            <p:ph sz="quarter" idx="11"/>
          </p:nvPr>
        </p:nvSpPr>
        <p:spPr/>
        <p:txBody>
          <a:bodyPr/>
          <a:lstStyle/>
          <a:p>
            <a:r>
              <a:rPr lang="en-US" sz="2300" dirty="0"/>
              <a:t>Donald works for the county records department as a computer records clerk, where he has access to files of property tax records.</a:t>
            </a:r>
          </a:p>
          <a:p>
            <a:r>
              <a:rPr lang="en-US" sz="2300" dirty="0"/>
              <a:t>For a scientific study, a researcher, Ethel, has been granted access to the numerical portion—but not the corresponding names—of some records.</a:t>
            </a:r>
          </a:p>
          <a:p>
            <a:r>
              <a:rPr lang="en-US" sz="2300" dirty="0"/>
              <a:t>Ethel finds some information that she would like to use, but she needs the names and addresses corresponding with certain properties.</a:t>
            </a:r>
          </a:p>
          <a:p>
            <a:r>
              <a:rPr lang="en-US" sz="2300" dirty="0"/>
              <a:t>Ethel asks Donald to retrieve the names and addresses so she can contact these people for more information and for permission to do further study.</a:t>
            </a:r>
          </a:p>
          <a:p>
            <a:r>
              <a:rPr lang="en-US" sz="2300" b="1" dirty="0"/>
              <a:t>Should Donald release the names and addresses?</a:t>
            </a:r>
          </a:p>
        </p:txBody>
      </p:sp>
    </p:spTree>
    <p:extLst>
      <p:ext uri="{BB962C8B-B14F-4D97-AF65-F5344CB8AC3E}">
        <p14:creationId xmlns:p14="http://schemas.microsoft.com/office/powerpoint/2010/main" val="2821737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4ACD8-375A-61E4-CF14-C75B479F2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4C76B-A8C8-9DE1-475D-27BABD885206}"/>
              </a:ext>
            </a:extLst>
          </p:cNvPr>
          <p:cNvSpPr>
            <a:spLocks noGrp="1"/>
          </p:cNvSpPr>
          <p:nvPr>
            <p:ph type="title"/>
          </p:nvPr>
        </p:nvSpPr>
        <p:spPr/>
        <p:txBody>
          <a:bodyPr/>
          <a:lstStyle/>
          <a:p>
            <a:r>
              <a:rPr lang="en-US" dirty="0"/>
              <a:t>Principles Involved</a:t>
            </a:r>
            <a:endParaRPr lang="en-AU" dirty="0"/>
          </a:p>
        </p:txBody>
      </p:sp>
      <p:sp>
        <p:nvSpPr>
          <p:cNvPr id="3" name="Content Placeholder 2">
            <a:extLst>
              <a:ext uri="{FF2B5EF4-FFF2-40B4-BE49-F238E27FC236}">
                <a16:creationId xmlns:a16="http://schemas.microsoft.com/office/drawing/2014/main" id="{601B0750-922E-DA20-8763-7E3540D43781}"/>
              </a:ext>
            </a:extLst>
          </p:cNvPr>
          <p:cNvSpPr>
            <a:spLocks noGrp="1"/>
          </p:cNvSpPr>
          <p:nvPr>
            <p:ph sz="quarter" idx="11"/>
          </p:nvPr>
        </p:nvSpPr>
        <p:spPr/>
        <p:txBody>
          <a:bodyPr/>
          <a:lstStyle/>
          <a:p>
            <a:r>
              <a:rPr lang="en-US" sz="2400" b="1" dirty="0"/>
              <a:t>Job responsibility:</a:t>
            </a:r>
            <a:r>
              <a:rPr lang="en-US" sz="2400" dirty="0"/>
              <a:t> Donald’s job is to manage individual records, not to make determinations of appropriate use. Policy decisions should be made by someone of higher authority.</a:t>
            </a:r>
          </a:p>
          <a:p>
            <a:r>
              <a:rPr lang="en-US" sz="2400" b="1" dirty="0"/>
              <a:t>Use:</a:t>
            </a:r>
            <a:r>
              <a:rPr lang="en-US" sz="2400" dirty="0"/>
              <a:t> The records are used for legitimate scientific study, not for-profit or to expose sensitive data. </a:t>
            </a:r>
          </a:p>
          <a:p>
            <a:r>
              <a:rPr lang="en-US" sz="2400" b="1" dirty="0"/>
              <a:t>Possible misuse:</a:t>
            </a:r>
            <a:r>
              <a:rPr lang="en-US" sz="2400" dirty="0"/>
              <a:t> Although he believes Ethel’s motives are proper, Donald can not guarantee that Ethel will use the data only to follow up on interesting data items.</a:t>
            </a:r>
          </a:p>
          <a:p>
            <a:r>
              <a:rPr lang="en-US" sz="2400" b="1" dirty="0"/>
              <a:t>Confidentiality:</a:t>
            </a:r>
            <a:r>
              <a:rPr lang="en-US" sz="2400" dirty="0"/>
              <a:t> Had Ethel been intended to have names and addresses, they would have been given initially.</a:t>
            </a:r>
          </a:p>
        </p:txBody>
      </p:sp>
    </p:spTree>
    <p:extLst>
      <p:ext uri="{BB962C8B-B14F-4D97-AF65-F5344CB8AC3E}">
        <p14:creationId xmlns:p14="http://schemas.microsoft.com/office/powerpoint/2010/main" val="987179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03CD9-5734-5716-C2B1-0A7F1986A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76D57-5C64-F43D-597F-6B0A29B83028}"/>
              </a:ext>
            </a:extLst>
          </p:cNvPr>
          <p:cNvSpPr>
            <a:spLocks noGrp="1"/>
          </p:cNvSpPr>
          <p:nvPr>
            <p:ph type="title"/>
          </p:nvPr>
        </p:nvSpPr>
        <p:spPr/>
        <p:txBody>
          <a:bodyPr/>
          <a:lstStyle/>
          <a:p>
            <a:r>
              <a:rPr lang="en-US" dirty="0"/>
              <a:t>Principles Involved</a:t>
            </a:r>
            <a:endParaRPr lang="en-AU" dirty="0"/>
          </a:p>
        </p:txBody>
      </p:sp>
      <p:sp>
        <p:nvSpPr>
          <p:cNvPr id="3" name="Content Placeholder 2">
            <a:extLst>
              <a:ext uri="{FF2B5EF4-FFF2-40B4-BE49-F238E27FC236}">
                <a16:creationId xmlns:a16="http://schemas.microsoft.com/office/drawing/2014/main" id="{0742CC9B-39DB-2E19-6FDD-56339E4E5BF3}"/>
              </a:ext>
            </a:extLst>
          </p:cNvPr>
          <p:cNvSpPr>
            <a:spLocks noGrp="1"/>
          </p:cNvSpPr>
          <p:nvPr>
            <p:ph sz="quarter" idx="11"/>
          </p:nvPr>
        </p:nvSpPr>
        <p:spPr/>
        <p:txBody>
          <a:bodyPr/>
          <a:lstStyle/>
          <a:p>
            <a:r>
              <a:rPr lang="en-US" sz="2400" b="1" dirty="0"/>
              <a:t>Tacit permission:</a:t>
            </a:r>
            <a:r>
              <a:rPr lang="en-US" sz="2400" dirty="0"/>
              <a:t> Ethel has been granted permission to access parts of these records for research purposes, so she should have access to complete her research.</a:t>
            </a:r>
          </a:p>
          <a:p>
            <a:r>
              <a:rPr lang="en-US" sz="2400" b="1" dirty="0"/>
              <a:t>Propriety:</a:t>
            </a:r>
            <a:r>
              <a:rPr lang="en-US" sz="2400" dirty="0"/>
              <a:t> Because Ethel has no authority to obtain names and addresses and because the names and addresses represent the confidential part of the data, Donald should deny Ethel’s request for access.</a:t>
            </a:r>
            <a:endParaRPr lang="en-AU" sz="2400" dirty="0"/>
          </a:p>
        </p:txBody>
      </p:sp>
    </p:spTree>
    <p:extLst>
      <p:ext uri="{BB962C8B-B14F-4D97-AF65-F5344CB8AC3E}">
        <p14:creationId xmlns:p14="http://schemas.microsoft.com/office/powerpoint/2010/main" val="120820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06937-94C6-BFD4-7101-EC7408337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7A42F-5D76-C8CF-ED59-E3C732332147}"/>
              </a:ext>
            </a:extLst>
          </p:cNvPr>
          <p:cNvSpPr>
            <a:spLocks noGrp="1"/>
          </p:cNvSpPr>
          <p:nvPr>
            <p:ph type="title"/>
          </p:nvPr>
        </p:nvSpPr>
        <p:spPr/>
        <p:txBody>
          <a:bodyPr/>
          <a:lstStyle/>
          <a:p>
            <a:r>
              <a:rPr lang="en-US" dirty="0"/>
              <a:t>Example Situation 3</a:t>
            </a:r>
            <a:endParaRPr lang="en-AU" dirty="0"/>
          </a:p>
        </p:txBody>
      </p:sp>
      <p:sp>
        <p:nvSpPr>
          <p:cNvPr id="3" name="Content Placeholder 2">
            <a:extLst>
              <a:ext uri="{FF2B5EF4-FFF2-40B4-BE49-F238E27FC236}">
                <a16:creationId xmlns:a16="http://schemas.microsoft.com/office/drawing/2014/main" id="{166D5793-1A7F-0891-DB68-354A041CD566}"/>
              </a:ext>
            </a:extLst>
          </p:cNvPr>
          <p:cNvSpPr>
            <a:spLocks noGrp="1"/>
          </p:cNvSpPr>
          <p:nvPr>
            <p:ph sz="quarter" idx="11"/>
          </p:nvPr>
        </p:nvSpPr>
        <p:spPr/>
        <p:txBody>
          <a:bodyPr/>
          <a:lstStyle/>
          <a:p>
            <a:r>
              <a:rPr lang="en-US" sz="2300" dirty="0"/>
              <a:t>Goli is a computer security consultant; she enjoys the challenge of finding and fixing security vulnerabilities.</a:t>
            </a:r>
          </a:p>
          <a:p>
            <a:r>
              <a:rPr lang="en-US" sz="2300" dirty="0"/>
              <a:t>Independently wealthy, she does not need to work, so she has ample spare time in which to test the security of systems. In her spare time, Goli does two things:</a:t>
            </a:r>
          </a:p>
          <a:p>
            <a:r>
              <a:rPr lang="en-US" sz="2300" dirty="0"/>
              <a:t>First, she aggressively attacks commercial products for vulnerabilities. She is quite proud of the tools and approach she has developed, and she is quite successful at finding flaws.</a:t>
            </a:r>
          </a:p>
          <a:p>
            <a:r>
              <a:rPr lang="en-US" sz="2300" dirty="0"/>
              <a:t>Second, she probes accessible systems on the internet, and when she finds vulnerable sites, she contacts the owners to offer her services repairing the problems.</a:t>
            </a:r>
          </a:p>
          <a:p>
            <a:endParaRPr lang="en-US" sz="2300" dirty="0"/>
          </a:p>
        </p:txBody>
      </p:sp>
    </p:spTree>
    <p:extLst>
      <p:ext uri="{BB962C8B-B14F-4D97-AF65-F5344CB8AC3E}">
        <p14:creationId xmlns:p14="http://schemas.microsoft.com/office/powerpoint/2010/main" val="2145724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70EA3-4395-1946-CE69-DF6CE8640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1E593-7DBC-BE1A-37C5-0F2870CDEA79}"/>
              </a:ext>
            </a:extLst>
          </p:cNvPr>
          <p:cNvSpPr>
            <a:spLocks noGrp="1"/>
          </p:cNvSpPr>
          <p:nvPr>
            <p:ph type="title"/>
          </p:nvPr>
        </p:nvSpPr>
        <p:spPr/>
        <p:txBody>
          <a:bodyPr/>
          <a:lstStyle/>
          <a:p>
            <a:r>
              <a:rPr lang="en-US" dirty="0"/>
              <a:t>Principles Involved</a:t>
            </a:r>
            <a:endParaRPr lang="en-AU" dirty="0"/>
          </a:p>
        </p:txBody>
      </p:sp>
      <p:sp>
        <p:nvSpPr>
          <p:cNvPr id="3" name="Content Placeholder 2">
            <a:extLst>
              <a:ext uri="{FF2B5EF4-FFF2-40B4-BE49-F238E27FC236}">
                <a16:creationId xmlns:a16="http://schemas.microsoft.com/office/drawing/2014/main" id="{454FF033-9278-AB17-FDF7-BA9E4E9C6A9B}"/>
              </a:ext>
            </a:extLst>
          </p:cNvPr>
          <p:cNvSpPr>
            <a:spLocks noGrp="1"/>
          </p:cNvSpPr>
          <p:nvPr>
            <p:ph sz="quarter" idx="11"/>
          </p:nvPr>
        </p:nvSpPr>
        <p:spPr/>
        <p:txBody>
          <a:bodyPr/>
          <a:lstStyle/>
          <a:p>
            <a:pPr marL="0" indent="0">
              <a:buNone/>
            </a:pPr>
            <a:r>
              <a:rPr lang="en-US" sz="2400" u="sng" dirty="0"/>
              <a:t>Action 1: attacking commercial desktop software</a:t>
            </a:r>
          </a:p>
          <a:p>
            <a:r>
              <a:rPr lang="en-US" sz="2400" dirty="0"/>
              <a:t>As per </a:t>
            </a:r>
            <a:r>
              <a:rPr lang="en-US" sz="2400" b="1" dirty="0"/>
              <a:t>rule-based ethics</a:t>
            </a:r>
            <a:r>
              <a:rPr lang="en-US" sz="2400" dirty="0"/>
              <a:t>, clearly, the attackers are wrong to perform malicious attacks.</a:t>
            </a:r>
          </a:p>
          <a:p>
            <a:r>
              <a:rPr lang="en-US" sz="2400" dirty="0"/>
              <a:t>But let us analyze using </a:t>
            </a:r>
            <a:r>
              <a:rPr lang="en-US" sz="2400" b="1" dirty="0"/>
              <a:t>consequence based ethics</a:t>
            </a:r>
            <a:r>
              <a:rPr lang="en-US" sz="2400" dirty="0"/>
              <a:t>: Who is helped or hurt by finding and publicizing flaws in products?</a:t>
            </a:r>
          </a:p>
          <a:p>
            <a:r>
              <a:rPr lang="en-US" sz="2400" dirty="0"/>
              <a:t>Relevant parties are attackers (the vulnerability finder), the vendor, and the using public.</a:t>
            </a:r>
          </a:p>
          <a:p>
            <a:r>
              <a:rPr lang="en-US" sz="2400" dirty="0"/>
              <a:t>From consequence perspective, notoriety or credit for finding the flaw is a small interest. And the interests of the vendor (financial, public relations) are less important than the interests of users to have secure products.</a:t>
            </a:r>
          </a:p>
        </p:txBody>
      </p:sp>
    </p:spTree>
    <p:extLst>
      <p:ext uri="{BB962C8B-B14F-4D97-AF65-F5344CB8AC3E}">
        <p14:creationId xmlns:p14="http://schemas.microsoft.com/office/powerpoint/2010/main" val="2557731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ADA58-5AF5-93F9-386A-4388B371BC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55A8F-FC8F-96CB-44EC-93A02DD85F6A}"/>
              </a:ext>
            </a:extLst>
          </p:cNvPr>
          <p:cNvSpPr>
            <a:spLocks noGrp="1"/>
          </p:cNvSpPr>
          <p:nvPr>
            <p:ph type="title"/>
          </p:nvPr>
        </p:nvSpPr>
        <p:spPr/>
        <p:txBody>
          <a:bodyPr/>
          <a:lstStyle/>
          <a:p>
            <a:r>
              <a:rPr lang="en-US" dirty="0"/>
              <a:t>Principles Involved</a:t>
            </a:r>
            <a:endParaRPr lang="en-AU" dirty="0"/>
          </a:p>
        </p:txBody>
      </p:sp>
      <p:sp>
        <p:nvSpPr>
          <p:cNvPr id="3" name="Content Placeholder 2">
            <a:extLst>
              <a:ext uri="{FF2B5EF4-FFF2-40B4-BE49-F238E27FC236}">
                <a16:creationId xmlns:a16="http://schemas.microsoft.com/office/drawing/2014/main" id="{68B608B2-D8A6-F891-A3CA-E6021BC75F5D}"/>
              </a:ext>
            </a:extLst>
          </p:cNvPr>
          <p:cNvSpPr>
            <a:spLocks noGrp="1"/>
          </p:cNvSpPr>
          <p:nvPr>
            <p:ph sz="quarter" idx="11"/>
          </p:nvPr>
        </p:nvSpPr>
        <p:spPr/>
        <p:txBody>
          <a:bodyPr/>
          <a:lstStyle/>
          <a:p>
            <a:r>
              <a:rPr lang="en-US" sz="2400" dirty="0"/>
              <a:t>But how are the interests of users best served?</a:t>
            </a:r>
            <a:endParaRPr lang="en-AU" sz="2400" dirty="0"/>
          </a:p>
          <a:p>
            <a:pPr marL="514350" indent="-457200">
              <a:buFont typeface="+mj-lt"/>
              <a:buAutoNum type="alphaLcParenR"/>
            </a:pPr>
            <a:r>
              <a:rPr lang="en-US" sz="2400" dirty="0">
                <a:solidFill>
                  <a:srgbClr val="C00000"/>
                </a:solidFill>
              </a:rPr>
              <a:t>Full disclosure.</a:t>
            </a:r>
            <a:r>
              <a:rPr lang="en-US" sz="2400" dirty="0"/>
              <a:t> </a:t>
            </a:r>
          </a:p>
          <a:p>
            <a:pPr lvl="1"/>
            <a:r>
              <a:rPr lang="en-US" sz="2200" dirty="0"/>
              <a:t>This approach helps users assess the seriousness of the vulnerability and apply appropriate protection. But it also gives attackers more information with which to formulate attacks. Early full disclosure—before the vendor has countermeasures ready—may actually harm users by leaving them vulnerable to a now widely known attack.</a:t>
            </a:r>
          </a:p>
        </p:txBody>
      </p:sp>
    </p:spTree>
    <p:extLst>
      <p:ext uri="{BB962C8B-B14F-4D97-AF65-F5344CB8AC3E}">
        <p14:creationId xmlns:p14="http://schemas.microsoft.com/office/powerpoint/2010/main" val="3576598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B9CB3-16D9-9579-3C33-D9B76DE5F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3BEF98-E1AA-3D5C-7549-4E7982FD8F49}"/>
              </a:ext>
            </a:extLst>
          </p:cNvPr>
          <p:cNvSpPr>
            <a:spLocks noGrp="1"/>
          </p:cNvSpPr>
          <p:nvPr>
            <p:ph type="title"/>
          </p:nvPr>
        </p:nvSpPr>
        <p:spPr/>
        <p:txBody>
          <a:bodyPr/>
          <a:lstStyle/>
          <a:p>
            <a:r>
              <a:rPr lang="en-US" dirty="0"/>
              <a:t>Principles Involved</a:t>
            </a:r>
            <a:endParaRPr lang="en-AU" dirty="0"/>
          </a:p>
        </p:txBody>
      </p:sp>
      <p:sp>
        <p:nvSpPr>
          <p:cNvPr id="3" name="Content Placeholder 2">
            <a:extLst>
              <a:ext uri="{FF2B5EF4-FFF2-40B4-BE49-F238E27FC236}">
                <a16:creationId xmlns:a16="http://schemas.microsoft.com/office/drawing/2014/main" id="{BDC5D365-E6F8-0633-C1C5-74A3903C27C4}"/>
              </a:ext>
            </a:extLst>
          </p:cNvPr>
          <p:cNvSpPr>
            <a:spLocks noGrp="1"/>
          </p:cNvSpPr>
          <p:nvPr>
            <p:ph sz="quarter" idx="11"/>
          </p:nvPr>
        </p:nvSpPr>
        <p:spPr/>
        <p:txBody>
          <a:bodyPr/>
          <a:lstStyle/>
          <a:p>
            <a:pPr marL="514350" indent="-457200">
              <a:buFont typeface="+mj-lt"/>
              <a:buAutoNum type="alphaLcParenR" startAt="2"/>
            </a:pPr>
            <a:r>
              <a:rPr lang="en-US" sz="2400" dirty="0">
                <a:solidFill>
                  <a:srgbClr val="C00000"/>
                </a:solidFill>
              </a:rPr>
              <a:t>Partial disclosure.</a:t>
            </a:r>
          </a:p>
          <a:p>
            <a:pPr lvl="1"/>
            <a:r>
              <a:rPr lang="en-US" sz="2200" dirty="0"/>
              <a:t>This reveals the general nature of the vulnerability but not a detailed exploitation scenario, which may forestall attackers.</a:t>
            </a:r>
          </a:p>
          <a:p>
            <a:pPr lvl="1"/>
            <a:r>
              <a:rPr lang="en-US" sz="2200" dirty="0"/>
              <a:t>One can argue that the vulnerability details are there to be discovered; when a vendor announces a patch for an unspecified flaw in a product, the attackers will test that product aggressively and study the patch carefully to try to determine the vulnerability. </a:t>
            </a:r>
          </a:p>
          <a:p>
            <a:pPr lvl="1"/>
            <a:r>
              <a:rPr lang="en-US" sz="2200" dirty="0"/>
              <a:t>Attackers will then spread a complete description of the vulnerability to other attackers through an underground network, and attacks will start against users who may not have applied the vendor’s fix.</a:t>
            </a:r>
          </a:p>
          <a:p>
            <a:pPr lvl="1"/>
            <a:endParaRPr lang="en-US" sz="2000" dirty="0"/>
          </a:p>
        </p:txBody>
      </p:sp>
    </p:spTree>
    <p:extLst>
      <p:ext uri="{BB962C8B-B14F-4D97-AF65-F5344CB8AC3E}">
        <p14:creationId xmlns:p14="http://schemas.microsoft.com/office/powerpoint/2010/main" val="3949283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248D-623C-844C-0A49-CAD5C01EE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69E0B-E224-D8C7-F7E9-D02263351839}"/>
              </a:ext>
            </a:extLst>
          </p:cNvPr>
          <p:cNvSpPr>
            <a:spLocks noGrp="1"/>
          </p:cNvSpPr>
          <p:nvPr>
            <p:ph type="title"/>
          </p:nvPr>
        </p:nvSpPr>
        <p:spPr/>
        <p:txBody>
          <a:bodyPr/>
          <a:lstStyle/>
          <a:p>
            <a:r>
              <a:rPr lang="en-US" dirty="0"/>
              <a:t>Principles Involved</a:t>
            </a:r>
            <a:endParaRPr lang="en-AU" dirty="0"/>
          </a:p>
        </p:txBody>
      </p:sp>
      <p:sp>
        <p:nvSpPr>
          <p:cNvPr id="3" name="Content Placeholder 2">
            <a:extLst>
              <a:ext uri="{FF2B5EF4-FFF2-40B4-BE49-F238E27FC236}">
                <a16:creationId xmlns:a16="http://schemas.microsoft.com/office/drawing/2014/main" id="{6E50C984-DF83-1A57-012C-626796E12E4E}"/>
              </a:ext>
            </a:extLst>
          </p:cNvPr>
          <p:cNvSpPr>
            <a:spLocks noGrp="1"/>
          </p:cNvSpPr>
          <p:nvPr>
            <p:ph sz="quarter" idx="11"/>
          </p:nvPr>
        </p:nvSpPr>
        <p:spPr/>
        <p:txBody>
          <a:bodyPr/>
          <a:lstStyle/>
          <a:p>
            <a:pPr marL="514350" indent="-457200">
              <a:buFont typeface="+mj-lt"/>
              <a:buAutoNum type="alphaLcParenR" startAt="3"/>
            </a:pPr>
            <a:r>
              <a:rPr lang="en-US" sz="2400" dirty="0">
                <a:solidFill>
                  <a:srgbClr val="C00000"/>
                </a:solidFill>
              </a:rPr>
              <a:t>No disclosure.</a:t>
            </a:r>
          </a:p>
          <a:p>
            <a:pPr lvl="1"/>
            <a:r>
              <a:rPr lang="en-US" sz="2200" dirty="0"/>
              <a:t>Perhaps users are best served by a scheme in which every so often new code is released, sometimes fixing security vulnerabilities, sometimes fixing things that are not security related, and sometimes adding new features.</a:t>
            </a:r>
          </a:p>
          <a:p>
            <a:pPr lvl="1"/>
            <a:r>
              <a:rPr lang="en-US" sz="2200" dirty="0"/>
              <a:t>But without a sense of significance or urgency, users may not install this new code.</a:t>
            </a:r>
          </a:p>
          <a:p>
            <a:pPr lvl="1"/>
            <a:r>
              <a:rPr lang="en-US" sz="2000" dirty="0"/>
              <a:t>Worse yet, vendors will slack and not prioritize fixing the vulnerability, users will stay vulnerable for a long time.</a:t>
            </a:r>
          </a:p>
        </p:txBody>
      </p:sp>
    </p:spTree>
    <p:extLst>
      <p:ext uri="{BB962C8B-B14F-4D97-AF65-F5344CB8AC3E}">
        <p14:creationId xmlns:p14="http://schemas.microsoft.com/office/powerpoint/2010/main" val="30261927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5B91C-D3FB-E4DB-68B1-09EB86289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673C9-58EB-0C28-F8DC-8B4BCE250535}"/>
              </a:ext>
            </a:extLst>
          </p:cNvPr>
          <p:cNvSpPr>
            <a:spLocks noGrp="1"/>
          </p:cNvSpPr>
          <p:nvPr>
            <p:ph type="title"/>
          </p:nvPr>
        </p:nvSpPr>
        <p:spPr/>
        <p:txBody>
          <a:bodyPr/>
          <a:lstStyle/>
          <a:p>
            <a:r>
              <a:rPr lang="en-US" dirty="0"/>
              <a:t>Principles Involved</a:t>
            </a:r>
            <a:endParaRPr lang="en-AU" dirty="0"/>
          </a:p>
        </p:txBody>
      </p:sp>
      <p:sp>
        <p:nvSpPr>
          <p:cNvPr id="3" name="Content Placeholder 2">
            <a:extLst>
              <a:ext uri="{FF2B5EF4-FFF2-40B4-BE49-F238E27FC236}">
                <a16:creationId xmlns:a16="http://schemas.microsoft.com/office/drawing/2014/main" id="{751046C2-5170-7BCD-E217-EDDC880CEDCA}"/>
              </a:ext>
            </a:extLst>
          </p:cNvPr>
          <p:cNvSpPr>
            <a:spLocks noGrp="1"/>
          </p:cNvSpPr>
          <p:nvPr>
            <p:ph sz="quarter" idx="11"/>
          </p:nvPr>
        </p:nvSpPr>
        <p:spPr/>
        <p:txBody>
          <a:bodyPr/>
          <a:lstStyle/>
          <a:p>
            <a:pPr marL="0" indent="0">
              <a:buNone/>
            </a:pPr>
            <a:r>
              <a:rPr lang="en-US" sz="2400" u="sng" dirty="0"/>
              <a:t>Action 2: searching for vulnerabilities in online services</a:t>
            </a:r>
          </a:p>
          <a:p>
            <a:r>
              <a:rPr lang="en-US" sz="2400" dirty="0"/>
              <a:t>Again, the party of greatest interest is the user community and the good or harm that can come from the search.</a:t>
            </a:r>
          </a:p>
          <a:p>
            <a:r>
              <a:rPr lang="en-US" sz="2400" dirty="0"/>
              <a:t>On the positive side, searching may find vulnerabilities.</a:t>
            </a:r>
          </a:p>
          <a:p>
            <a:r>
              <a:rPr lang="en-US" sz="2400" dirty="0"/>
              <a:t>Clearly, it would be wrong for Goli to report vulnerabilities that were not there simply to get work.</a:t>
            </a:r>
          </a:p>
          <a:p>
            <a:r>
              <a:rPr lang="en-US" sz="2400" dirty="0"/>
              <a:t>And it would also be wrong to report some but not all vulnerabilities to be able to use the additional vulnerabilities as future leverage against the client.</a:t>
            </a:r>
          </a:p>
        </p:txBody>
      </p:sp>
    </p:spTree>
    <p:extLst>
      <p:ext uri="{BB962C8B-B14F-4D97-AF65-F5344CB8AC3E}">
        <p14:creationId xmlns:p14="http://schemas.microsoft.com/office/powerpoint/2010/main" val="3161275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57852-7186-0138-6C0D-184D666966A2}"/>
              </a:ext>
            </a:extLst>
          </p:cNvPr>
          <p:cNvSpPr>
            <a:spLocks noGrp="1"/>
          </p:cNvSpPr>
          <p:nvPr>
            <p:ph type="title"/>
          </p:nvPr>
        </p:nvSpPr>
        <p:spPr/>
        <p:txBody>
          <a:bodyPr/>
          <a:lstStyle/>
          <a:p>
            <a:r>
              <a:rPr lang="en-US" dirty="0"/>
              <a:t>Principles Involved</a:t>
            </a:r>
            <a:endParaRPr lang="en-AU" dirty="0"/>
          </a:p>
        </p:txBody>
      </p:sp>
      <p:sp>
        <p:nvSpPr>
          <p:cNvPr id="3" name="Content Placeholder 2">
            <a:extLst>
              <a:ext uri="{FF2B5EF4-FFF2-40B4-BE49-F238E27FC236}">
                <a16:creationId xmlns:a16="http://schemas.microsoft.com/office/drawing/2014/main" id="{9F2D5410-2691-E991-DE23-21FE9A4042F3}"/>
              </a:ext>
            </a:extLst>
          </p:cNvPr>
          <p:cNvSpPr>
            <a:spLocks noGrp="1"/>
          </p:cNvSpPr>
          <p:nvPr>
            <p:ph sz="quarter" idx="11"/>
          </p:nvPr>
        </p:nvSpPr>
        <p:spPr/>
        <p:txBody>
          <a:bodyPr/>
          <a:lstStyle/>
          <a:p>
            <a:r>
              <a:rPr lang="en-US" sz="2400" dirty="0"/>
              <a:t>But suppose Goli does a diligent search for vulnerabilities and reports all to the potential client.</a:t>
            </a:r>
          </a:p>
          <a:p>
            <a:r>
              <a:rPr lang="en-US" sz="2400" dirty="0"/>
              <a:t>Is that not similar to a service station owner’s advising you that a headlight is not operating when you take your car in for fuel?</a:t>
            </a:r>
          </a:p>
          <a:p>
            <a:pPr lvl="1"/>
            <a:r>
              <a:rPr lang="en-US" sz="2000" dirty="0"/>
              <a:t>Not quite, you might say. The headlight flaw can be seen without any possible harm to your car; probing for vulnerabilities might cause your system to fail.</a:t>
            </a:r>
          </a:p>
          <a:p>
            <a:r>
              <a:rPr lang="en-US" sz="2400" dirty="0"/>
              <a:t>The ethical question seems to be which is greater: the potential for good or the potential for harm? And if the potential for good is stronger, how much stronger does it need to be to override the risk of harm?</a:t>
            </a:r>
            <a:endParaRPr lang="en-AU" sz="2400" dirty="0"/>
          </a:p>
          <a:p>
            <a:endParaRPr lang="en-AU" sz="2400" dirty="0"/>
          </a:p>
        </p:txBody>
      </p:sp>
    </p:spTree>
    <p:extLst>
      <p:ext uri="{BB962C8B-B14F-4D97-AF65-F5344CB8AC3E}">
        <p14:creationId xmlns:p14="http://schemas.microsoft.com/office/powerpoint/2010/main" val="1591550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7FA45-9102-BFCD-3642-E36EFCE36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93917-8E99-390B-C68B-65BEBA7B34D8}"/>
              </a:ext>
            </a:extLst>
          </p:cNvPr>
          <p:cNvSpPr>
            <a:spLocks noGrp="1"/>
          </p:cNvSpPr>
          <p:nvPr>
            <p:ph type="title"/>
          </p:nvPr>
        </p:nvSpPr>
        <p:spPr/>
        <p:txBody>
          <a:bodyPr/>
          <a:lstStyle/>
          <a:p>
            <a:r>
              <a:rPr lang="en-US" dirty="0"/>
              <a:t>Principles Involved</a:t>
            </a:r>
            <a:endParaRPr lang="en-AU" dirty="0"/>
          </a:p>
        </p:txBody>
      </p:sp>
      <p:sp>
        <p:nvSpPr>
          <p:cNvPr id="3" name="Content Placeholder 2">
            <a:extLst>
              <a:ext uri="{FF2B5EF4-FFF2-40B4-BE49-F238E27FC236}">
                <a16:creationId xmlns:a16="http://schemas.microsoft.com/office/drawing/2014/main" id="{2F019702-F53C-C2F9-6397-64A788C927B8}"/>
              </a:ext>
            </a:extLst>
          </p:cNvPr>
          <p:cNvSpPr>
            <a:spLocks noGrp="1"/>
          </p:cNvSpPr>
          <p:nvPr>
            <p:ph sz="quarter" idx="11"/>
          </p:nvPr>
        </p:nvSpPr>
        <p:spPr/>
        <p:txBody>
          <a:bodyPr/>
          <a:lstStyle/>
          <a:p>
            <a:r>
              <a:rPr lang="en-US" sz="2400" dirty="0"/>
              <a:t>In addition, the </a:t>
            </a:r>
            <a:r>
              <a:rPr lang="en-US" sz="2400" b="1" dirty="0"/>
              <a:t>intent</a:t>
            </a:r>
            <a:r>
              <a:rPr lang="en-US" sz="2400" dirty="0"/>
              <a:t> of hacker can also be considered.</a:t>
            </a:r>
          </a:p>
          <a:p>
            <a:r>
              <a:rPr lang="en-US" sz="2400" dirty="0"/>
              <a:t>Hackers see whether they can access your system without your permission, perhaps by guessing a password.</a:t>
            </a:r>
          </a:p>
          <a:p>
            <a:r>
              <a:rPr lang="en-US" sz="2400" dirty="0"/>
              <a:t>Many crackers simply want to look around, without damaging anything. One can compare this seemingly innocent activity with entry into your house when the door is left unlocked.</a:t>
            </a:r>
            <a:endParaRPr lang="en-AU" sz="2400" dirty="0"/>
          </a:p>
          <a:p>
            <a:endParaRPr lang="en-AU" sz="2400" dirty="0"/>
          </a:p>
        </p:txBody>
      </p:sp>
    </p:spTree>
    <p:extLst>
      <p:ext uri="{BB962C8B-B14F-4D97-AF65-F5344CB8AC3E}">
        <p14:creationId xmlns:p14="http://schemas.microsoft.com/office/powerpoint/2010/main" val="3425970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B7945-6983-ED3C-32EC-F8BDF78294A1}"/>
              </a:ext>
            </a:extLst>
          </p:cNvPr>
          <p:cNvSpPr>
            <a:spLocks noGrp="1"/>
          </p:cNvSpPr>
          <p:nvPr>
            <p:ph type="title"/>
          </p:nvPr>
        </p:nvSpPr>
        <p:spPr/>
        <p:txBody>
          <a:bodyPr/>
          <a:lstStyle/>
          <a:p>
            <a:r>
              <a:rPr lang="en-US" dirty="0"/>
              <a:t>How to act ethically</a:t>
            </a:r>
          </a:p>
        </p:txBody>
      </p:sp>
      <p:sp>
        <p:nvSpPr>
          <p:cNvPr id="3" name="Content Placeholder 2">
            <a:extLst>
              <a:ext uri="{FF2B5EF4-FFF2-40B4-BE49-F238E27FC236}">
                <a16:creationId xmlns:a16="http://schemas.microsoft.com/office/drawing/2014/main" id="{BED4C1DA-F6FB-C62B-97B4-9743FD2A95D5}"/>
              </a:ext>
            </a:extLst>
          </p:cNvPr>
          <p:cNvSpPr>
            <a:spLocks noGrp="1"/>
          </p:cNvSpPr>
          <p:nvPr>
            <p:ph sz="quarter" idx="11"/>
          </p:nvPr>
        </p:nvSpPr>
        <p:spPr/>
        <p:txBody>
          <a:bodyPr/>
          <a:lstStyle/>
          <a:p>
            <a:r>
              <a:rPr lang="en-US" sz="2400" dirty="0"/>
              <a:t>The important first step in acting ethically in a situation is to obtain the facts, ask about any uncertainties, and acquire any additional information needed. </a:t>
            </a:r>
          </a:p>
          <a:p>
            <a:pPr lvl="1"/>
            <a:r>
              <a:rPr lang="en-US" sz="2000" dirty="0"/>
              <a:t>In other words, first we must understand the situation.</a:t>
            </a:r>
          </a:p>
          <a:p>
            <a:r>
              <a:rPr lang="en-US" sz="2400" dirty="0"/>
              <a:t>The second step is to identify the ethical principles involved. Honesty, fair play, proper compensation, and respect for privacy are all ethical principles. Sometimes these conflict, and then we must determine which principles are more important than others. </a:t>
            </a:r>
          </a:p>
          <a:p>
            <a:pPr lvl="1"/>
            <a:r>
              <a:rPr lang="en-US" sz="2000" dirty="0"/>
              <a:t>This analysis may not lead to one principle that obviously overshadows all others. Still, a rough ordering to identify the major principles involved is needed.</a:t>
            </a:r>
          </a:p>
        </p:txBody>
      </p:sp>
    </p:spTree>
    <p:extLst>
      <p:ext uri="{BB962C8B-B14F-4D97-AF65-F5344CB8AC3E}">
        <p14:creationId xmlns:p14="http://schemas.microsoft.com/office/powerpoint/2010/main" val="38027540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AE872-746B-43D6-9522-C3E2BE6BD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A2966-7F2B-1D23-AC11-853CB173D16A}"/>
              </a:ext>
            </a:extLst>
          </p:cNvPr>
          <p:cNvSpPr>
            <a:spLocks noGrp="1"/>
          </p:cNvSpPr>
          <p:nvPr>
            <p:ph type="title"/>
          </p:nvPr>
        </p:nvSpPr>
        <p:spPr/>
        <p:txBody>
          <a:bodyPr/>
          <a:lstStyle/>
          <a:p>
            <a:r>
              <a:rPr lang="en-US" dirty="0"/>
              <a:t>How to act ethically</a:t>
            </a:r>
          </a:p>
        </p:txBody>
      </p:sp>
      <p:sp>
        <p:nvSpPr>
          <p:cNvPr id="3" name="Content Placeholder 2">
            <a:extLst>
              <a:ext uri="{FF2B5EF4-FFF2-40B4-BE49-F238E27FC236}">
                <a16:creationId xmlns:a16="http://schemas.microsoft.com/office/drawing/2014/main" id="{2E8EEB3F-1C64-A4F3-8A1F-B1D00DA374D0}"/>
              </a:ext>
            </a:extLst>
          </p:cNvPr>
          <p:cNvSpPr>
            <a:spLocks noGrp="1"/>
          </p:cNvSpPr>
          <p:nvPr>
            <p:ph sz="quarter" idx="11"/>
          </p:nvPr>
        </p:nvSpPr>
        <p:spPr/>
        <p:txBody>
          <a:bodyPr/>
          <a:lstStyle/>
          <a:p>
            <a:r>
              <a:rPr lang="en-US" sz="2400" dirty="0"/>
              <a:t>The third step is choosing an action that meets these ethical principles. Making a decision and taking action are difficult, especially if the action has evident negative consequences. However, taking action based on a personal ranking of principles is necessary.</a:t>
            </a:r>
          </a:p>
          <a:p>
            <a:r>
              <a:rPr lang="en-US" sz="2400" dirty="0"/>
              <a:t>The fact that other equally sensible people may choose a different action does not excuse us from taking some action.</a:t>
            </a:r>
          </a:p>
          <a:p>
            <a:endParaRPr lang="en-US" sz="2400" dirty="0"/>
          </a:p>
          <a:p>
            <a:r>
              <a:rPr lang="en-US" sz="2400" dirty="0"/>
              <a:t>Only by recognizing and analyzing principles can you act consistently, thoughtfully, and responsibly.</a:t>
            </a:r>
          </a:p>
        </p:txBody>
      </p:sp>
    </p:spTree>
    <p:extLst>
      <p:ext uri="{BB962C8B-B14F-4D97-AF65-F5344CB8AC3E}">
        <p14:creationId xmlns:p14="http://schemas.microsoft.com/office/powerpoint/2010/main" val="448112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noChangeArrowheads="1"/>
          </p:cNvSpPr>
          <p:nvPr>
            <p:ph type="title"/>
          </p:nvPr>
        </p:nvSpPr>
        <p:spPr/>
        <p:txBody>
          <a:bodyPr/>
          <a:lstStyle/>
          <a:p>
            <a:r>
              <a:rPr lang="en-GB" altLang="en-US"/>
              <a:t>Ethics and Education</a:t>
            </a:r>
          </a:p>
        </p:txBody>
      </p:sp>
      <p:sp>
        <p:nvSpPr>
          <p:cNvPr id="75779" name="Content Placeholder 5"/>
          <p:cNvSpPr>
            <a:spLocks noGrp="1" noChangeArrowheads="1"/>
          </p:cNvSpPr>
          <p:nvPr>
            <p:ph sz="quarter" idx="11"/>
          </p:nvPr>
        </p:nvSpPr>
        <p:spPr/>
        <p:txBody>
          <a:bodyPr/>
          <a:lstStyle/>
          <a:p>
            <a:r>
              <a:rPr lang="en-GB" altLang="en-US" sz="2800" dirty="0"/>
              <a:t>Education is the overriding factor in </a:t>
            </a:r>
            <a:r>
              <a:rPr lang="en-GB" altLang="en-US" sz="2800" dirty="0" err="1"/>
              <a:t>leveling</a:t>
            </a:r>
            <a:r>
              <a:rPr lang="en-GB" altLang="en-US" sz="2800" dirty="0"/>
              <a:t> ethical perceptions within a small population.</a:t>
            </a:r>
          </a:p>
          <a:p>
            <a:r>
              <a:rPr lang="en-GB" altLang="en-US" sz="2800" dirty="0"/>
              <a:t>Employees must be trained and kept aware of the expected </a:t>
            </a:r>
            <a:r>
              <a:rPr lang="en-GB" altLang="en-US" sz="2800" dirty="0" err="1"/>
              <a:t>behavior</a:t>
            </a:r>
            <a:r>
              <a:rPr lang="en-GB" altLang="en-US" sz="2800" dirty="0"/>
              <a:t> of an ethical employee, as well as many other information security topics.</a:t>
            </a:r>
          </a:p>
          <a:p>
            <a:r>
              <a:rPr lang="en-GB" altLang="en-US" sz="2800" dirty="0"/>
              <a:t>Proper ethical training is vital to creating informed and a well-prepared system user.</a:t>
            </a:r>
          </a:p>
        </p:txBody>
      </p:sp>
    </p:spTree>
    <p:extLst>
      <p:ext uri="{BB962C8B-B14F-4D97-AF65-F5344CB8AC3E}">
        <p14:creationId xmlns:p14="http://schemas.microsoft.com/office/powerpoint/2010/main" val="206298343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37AA0-5191-3FB7-F643-4AC79EF81ED7}"/>
            </a:ext>
          </a:extLst>
        </p:cNvPr>
        <p:cNvGrpSpPr/>
        <p:nvPr/>
      </p:nvGrpSpPr>
      <p:grpSpPr>
        <a:xfrm>
          <a:off x="0" y="0"/>
          <a:ext cx="0" cy="0"/>
          <a:chOff x="0" y="0"/>
          <a:chExt cx="0" cy="0"/>
        </a:xfrm>
      </p:grpSpPr>
      <p:sp>
        <p:nvSpPr>
          <p:cNvPr id="68610" name="Title 1">
            <a:extLst>
              <a:ext uri="{FF2B5EF4-FFF2-40B4-BE49-F238E27FC236}">
                <a16:creationId xmlns:a16="http://schemas.microsoft.com/office/drawing/2014/main" id="{211C5626-BA7C-3811-F8EB-24318DD99CAD}"/>
              </a:ext>
            </a:extLst>
          </p:cNvPr>
          <p:cNvSpPr>
            <a:spLocks noGrp="1"/>
          </p:cNvSpPr>
          <p:nvPr>
            <p:ph type="title"/>
          </p:nvPr>
        </p:nvSpPr>
        <p:spPr/>
        <p:txBody>
          <a:bodyPr/>
          <a:lstStyle/>
          <a:p>
            <a:r>
              <a:rPr lang="en-GB" altLang="en-US"/>
              <a:t>Ethics and Information Security</a:t>
            </a:r>
            <a:endParaRPr lang="en-US" altLang="en-US"/>
          </a:p>
        </p:txBody>
      </p:sp>
      <p:sp>
        <p:nvSpPr>
          <p:cNvPr id="68611" name="Content Placeholder 2">
            <a:extLst>
              <a:ext uri="{FF2B5EF4-FFF2-40B4-BE49-F238E27FC236}">
                <a16:creationId xmlns:a16="http://schemas.microsoft.com/office/drawing/2014/main" id="{602D086B-5916-C90E-17F6-D29A865E15EF}"/>
              </a:ext>
            </a:extLst>
          </p:cNvPr>
          <p:cNvSpPr>
            <a:spLocks noGrp="1"/>
          </p:cNvSpPr>
          <p:nvPr>
            <p:ph sz="quarter" idx="11"/>
          </p:nvPr>
        </p:nvSpPr>
        <p:spPr/>
        <p:txBody>
          <a:bodyPr/>
          <a:lstStyle/>
          <a:p>
            <a:r>
              <a:rPr lang="en-US" altLang="en-US" sz="2400" dirty="0"/>
              <a:t>Many professional disciplines have explicit rules governing the ethical behavior of members.</a:t>
            </a:r>
          </a:p>
          <a:p>
            <a:r>
              <a:rPr lang="en-US" altLang="en-US" sz="2400" dirty="0"/>
              <a:t>IT and InfoSec do not have binding codes of ethics.</a:t>
            </a:r>
          </a:p>
          <a:p>
            <a:r>
              <a:rPr lang="en-US" altLang="en-US" sz="2400" dirty="0"/>
              <a:t>Professional associations and certification agencies work to maintain ethical codes of conduct.</a:t>
            </a:r>
          </a:p>
          <a:p>
            <a:pPr lvl="1"/>
            <a:r>
              <a:rPr lang="en-US" altLang="en-US" sz="2000" dirty="0"/>
              <a:t>Can </a:t>
            </a:r>
            <a:r>
              <a:rPr lang="en-US" altLang="en-US" sz="2000" dirty="0">
                <a:solidFill>
                  <a:srgbClr val="C00000"/>
                </a:solidFill>
              </a:rPr>
              <a:t>prescribe</a:t>
            </a:r>
            <a:r>
              <a:rPr lang="en-US" altLang="en-US" sz="2000" dirty="0"/>
              <a:t> ethical conduct</a:t>
            </a:r>
          </a:p>
          <a:p>
            <a:pPr lvl="1"/>
            <a:r>
              <a:rPr lang="en-US" altLang="en-US" sz="2000" dirty="0"/>
              <a:t>Do not always have the ability to ban violators from practice in field</a:t>
            </a:r>
          </a:p>
        </p:txBody>
      </p:sp>
    </p:spTree>
    <p:extLst>
      <p:ext uri="{BB962C8B-B14F-4D97-AF65-F5344CB8AC3E}">
        <p14:creationId xmlns:p14="http://schemas.microsoft.com/office/powerpoint/2010/main" val="12949304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Ten Commandments</a:t>
            </a:r>
          </a:p>
        </p:txBody>
      </p:sp>
      <p:sp>
        <p:nvSpPr>
          <p:cNvPr id="3" name="Content Placeholder 2"/>
          <p:cNvSpPr>
            <a:spLocks noGrp="1"/>
          </p:cNvSpPr>
          <p:nvPr>
            <p:ph sz="quarter" idx="11"/>
          </p:nvPr>
        </p:nvSpPr>
        <p:spPr/>
        <p:txBody>
          <a:bodyPr>
            <a:normAutofit/>
          </a:bodyPr>
          <a:lstStyle/>
          <a:p>
            <a:pPr marL="0" indent="0">
              <a:buNone/>
            </a:pPr>
            <a:r>
              <a:rPr lang="en-US" sz="2400" b="1" dirty="0"/>
              <a:t>The Ten Commandments of Computer Ethics</a:t>
            </a:r>
            <a:r>
              <a:rPr lang="en-US" sz="2400" dirty="0"/>
              <a:t> </a:t>
            </a:r>
            <a:r>
              <a:rPr lang="en-US" sz="2400" b="1" dirty="0"/>
              <a:t>from the Computer Ethics Institute</a:t>
            </a:r>
            <a:endParaRPr lang="en-US" sz="2400" dirty="0"/>
          </a:p>
          <a:p>
            <a:pPr marL="514350" lvl="0" indent="-514350" fontAlgn="base">
              <a:buFont typeface="+mj-lt"/>
              <a:buAutoNum type="arabicPeriod"/>
            </a:pPr>
            <a:r>
              <a:rPr lang="en-US" sz="2400" dirty="0"/>
              <a:t>Thou shalt not use a computer to harm other people.</a:t>
            </a:r>
          </a:p>
          <a:p>
            <a:pPr marL="514350" lvl="0" indent="-514350" fontAlgn="base">
              <a:buFont typeface="+mj-lt"/>
              <a:buAutoNum type="arabicPeriod"/>
            </a:pPr>
            <a:r>
              <a:rPr lang="en-US" sz="2400" dirty="0"/>
              <a:t>Thou shalt not interfere with other people's computer work.</a:t>
            </a:r>
          </a:p>
          <a:p>
            <a:pPr marL="514350" lvl="0" indent="-514350" fontAlgn="base">
              <a:buFont typeface="+mj-lt"/>
              <a:buAutoNum type="arabicPeriod"/>
            </a:pPr>
            <a:r>
              <a:rPr lang="en-US" sz="2400" dirty="0"/>
              <a:t>Thou shalt not snoop around in other people's computer files.</a:t>
            </a:r>
          </a:p>
          <a:p>
            <a:pPr marL="514350" lvl="0" indent="-514350" fontAlgn="base">
              <a:buFont typeface="+mj-lt"/>
              <a:buAutoNum type="arabicPeriod"/>
            </a:pPr>
            <a:r>
              <a:rPr lang="en-US" sz="2400" dirty="0"/>
              <a:t>Thou shalt not use a computer to steal.</a:t>
            </a:r>
          </a:p>
          <a:p>
            <a:pPr marL="514350" lvl="0" indent="-514350" fontAlgn="base">
              <a:buFont typeface="+mj-lt"/>
              <a:buAutoNum type="arabicPeriod"/>
            </a:pPr>
            <a:r>
              <a:rPr lang="en-US" sz="2400" dirty="0"/>
              <a:t>Thou shalt not use a computer to bear false witness.</a:t>
            </a:r>
          </a:p>
          <a:p>
            <a:pPr marL="514350" lvl="0" indent="-514350" fontAlgn="base">
              <a:buFont typeface="+mj-lt"/>
              <a:buAutoNum type="arabicPeriod"/>
            </a:pPr>
            <a:r>
              <a:rPr lang="en-US" sz="2400" dirty="0"/>
              <a:t>Thou shalt not copy or use proprietary software for which you have not paid.</a:t>
            </a:r>
          </a:p>
        </p:txBody>
      </p:sp>
    </p:spTree>
    <p:extLst>
      <p:ext uri="{BB962C8B-B14F-4D97-AF65-F5344CB8AC3E}">
        <p14:creationId xmlns:p14="http://schemas.microsoft.com/office/powerpoint/2010/main" val="17186313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Ten Commandments</a:t>
            </a:r>
          </a:p>
        </p:txBody>
      </p:sp>
      <p:sp>
        <p:nvSpPr>
          <p:cNvPr id="3" name="Content Placeholder 2"/>
          <p:cNvSpPr>
            <a:spLocks noGrp="1"/>
          </p:cNvSpPr>
          <p:nvPr>
            <p:ph sz="quarter" idx="11"/>
          </p:nvPr>
        </p:nvSpPr>
        <p:spPr/>
        <p:txBody>
          <a:bodyPr>
            <a:normAutofit/>
          </a:bodyPr>
          <a:lstStyle/>
          <a:p>
            <a:pPr marL="514350" lvl="0" indent="-514350" fontAlgn="base">
              <a:buFont typeface="+mj-lt"/>
              <a:buAutoNum type="arabicPeriod" startAt="7"/>
            </a:pPr>
            <a:r>
              <a:rPr lang="en-US" sz="2400" dirty="0"/>
              <a:t>Thou shalt not use other people's computer resources without authorization or proper compensation.</a:t>
            </a:r>
          </a:p>
          <a:p>
            <a:pPr marL="514350" lvl="0" indent="-514350" fontAlgn="base">
              <a:buFont typeface="+mj-lt"/>
              <a:buAutoNum type="arabicPeriod" startAt="7"/>
            </a:pPr>
            <a:r>
              <a:rPr lang="en-US" sz="2400" dirty="0"/>
              <a:t>Thou shalt not appropriate other people's intellectual output.</a:t>
            </a:r>
          </a:p>
          <a:p>
            <a:pPr marL="514350" lvl="0" indent="-514350" fontAlgn="base">
              <a:buFont typeface="+mj-lt"/>
              <a:buAutoNum type="arabicPeriod" startAt="7"/>
            </a:pPr>
            <a:r>
              <a:rPr lang="en-US" sz="2400" dirty="0"/>
              <a:t>Thou shalt think about the social consequences of the program you are writing or the system you are designing.</a:t>
            </a:r>
          </a:p>
          <a:p>
            <a:pPr marL="514350" indent="-514350">
              <a:buFont typeface="+mj-lt"/>
              <a:buAutoNum type="arabicPeriod" startAt="7"/>
            </a:pPr>
            <a:r>
              <a:rPr lang="en-US" sz="2400" dirty="0"/>
              <a:t>Thou shalt always use a computer in ways that ensure consideration and respect for your fellow humans.</a:t>
            </a:r>
          </a:p>
        </p:txBody>
      </p:sp>
    </p:spTree>
    <p:extLst>
      <p:ext uri="{BB962C8B-B14F-4D97-AF65-F5344CB8AC3E}">
        <p14:creationId xmlns:p14="http://schemas.microsoft.com/office/powerpoint/2010/main" val="12361888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Professional Organizations for Information Security Professionals</a:t>
            </a:r>
          </a:p>
        </p:txBody>
      </p:sp>
      <p:graphicFrame>
        <p:nvGraphicFramePr>
          <p:cNvPr id="6" name="Table 5"/>
          <p:cNvGraphicFramePr>
            <a:graphicFrameLocks noGrp="1"/>
          </p:cNvGraphicFramePr>
          <p:nvPr>
            <p:extLst>
              <p:ext uri="{D42A27DB-BD31-4B8C-83A1-F6EECF244321}">
                <p14:modId xmlns:p14="http://schemas.microsoft.com/office/powerpoint/2010/main" val="2744963887"/>
              </p:ext>
            </p:extLst>
          </p:nvPr>
        </p:nvGraphicFramePr>
        <p:xfrm>
          <a:off x="228600" y="1628800"/>
          <a:ext cx="8686800" cy="4287520"/>
        </p:xfrm>
        <a:graphic>
          <a:graphicData uri="http://schemas.openxmlformats.org/drawingml/2006/table">
            <a:tbl>
              <a:tblPr firstRow="1" bandRow="1">
                <a:tableStyleId>{5940675A-B579-460E-94D1-54222C63F5DA}</a:tableStyleId>
              </a:tblPr>
              <a:tblGrid>
                <a:gridCol w="1752600">
                  <a:extLst>
                    <a:ext uri="{9D8B030D-6E8A-4147-A177-3AD203B41FA5}">
                      <a16:colId xmlns:a16="http://schemas.microsoft.com/office/drawing/2014/main" val="20000"/>
                    </a:ext>
                  </a:extLst>
                </a:gridCol>
                <a:gridCol w="1654696">
                  <a:extLst>
                    <a:ext uri="{9D8B030D-6E8A-4147-A177-3AD203B41FA5}">
                      <a16:colId xmlns:a16="http://schemas.microsoft.com/office/drawing/2014/main" val="20001"/>
                    </a:ext>
                  </a:extLst>
                </a:gridCol>
                <a:gridCol w="3222104">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82600">
                <a:tc>
                  <a:txBody>
                    <a:bodyPr/>
                    <a:lstStyle/>
                    <a:p>
                      <a:pPr latinLnBrk="0"/>
                      <a:r>
                        <a:rPr lang="en-US" sz="1600" b="1" kern="1200" dirty="0">
                          <a:solidFill>
                            <a:schemeClr val="bg1"/>
                          </a:solidFill>
                          <a:effectLst/>
                          <a:latin typeface="Arial" pitchFamily="34" charset="0"/>
                          <a:ea typeface="+mn-ea"/>
                          <a:cs typeface="Arial" pitchFamily="34" charset="0"/>
                        </a:rPr>
                        <a:t>Professional</a:t>
                      </a:r>
                      <a:r>
                        <a:rPr lang="en-US" sz="1600" b="1" kern="1200" baseline="0" dirty="0">
                          <a:solidFill>
                            <a:schemeClr val="bg1"/>
                          </a:solidFill>
                          <a:effectLst/>
                          <a:latin typeface="Arial" pitchFamily="34" charset="0"/>
                          <a:ea typeface="+mn-ea"/>
                          <a:cs typeface="Arial" pitchFamily="34" charset="0"/>
                        </a:rPr>
                        <a:t> </a:t>
                      </a:r>
                      <a:r>
                        <a:rPr lang="en-US" sz="1600" b="1" kern="1200" dirty="0">
                          <a:solidFill>
                            <a:schemeClr val="bg1"/>
                          </a:solidFill>
                          <a:effectLst/>
                          <a:latin typeface="Arial" pitchFamily="34" charset="0"/>
                          <a:ea typeface="+mn-ea"/>
                          <a:cs typeface="Arial" pitchFamily="34" charset="0"/>
                        </a:rPr>
                        <a:t>Organization </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pPr latinLnBrk="0"/>
                      <a:r>
                        <a:rPr lang="en-US" sz="1600" b="1" kern="1200" dirty="0">
                          <a:solidFill>
                            <a:schemeClr val="bg1"/>
                          </a:solidFill>
                          <a:effectLst/>
                          <a:latin typeface="Arial" pitchFamily="34" charset="0"/>
                          <a:ea typeface="+mn-ea"/>
                          <a:cs typeface="Arial" pitchFamily="34" charset="0"/>
                        </a:rPr>
                        <a:t>Web Resource Location</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pPr latinLnBrk="0"/>
                      <a:r>
                        <a:rPr lang="en-US" sz="1600" b="1" kern="1200" dirty="0">
                          <a:solidFill>
                            <a:schemeClr val="bg1"/>
                          </a:solidFill>
                          <a:effectLst/>
                          <a:latin typeface="Arial" pitchFamily="34" charset="0"/>
                          <a:ea typeface="+mn-ea"/>
                          <a:cs typeface="Arial" pitchFamily="34" charset="0"/>
                        </a:rPr>
                        <a:t>Description</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pPr latinLnBrk="0"/>
                      <a:r>
                        <a:rPr lang="en-US" sz="1600" b="1" kern="1200" dirty="0">
                          <a:solidFill>
                            <a:schemeClr val="bg1"/>
                          </a:solidFill>
                          <a:effectLst/>
                          <a:latin typeface="Arial" pitchFamily="34" charset="0"/>
                          <a:ea typeface="+mn-ea"/>
                          <a:cs typeface="Arial" pitchFamily="34" charset="0"/>
                        </a:rPr>
                        <a:t>Focus</a:t>
                      </a:r>
                      <a:endParaRPr lang="en-US" sz="1600" b="1" dirty="0">
                        <a:solidFill>
                          <a:schemeClr val="bg1"/>
                        </a:solidFill>
                        <a:latin typeface="Arial" pitchFamily="34" charset="0"/>
                        <a:cs typeface="Arial" pitchFamily="34" charset="0"/>
                      </a:endParaRPr>
                    </a:p>
                  </a:txBody>
                  <a:tcPr anchor="ctr">
                    <a:solidFill>
                      <a:srgbClr val="364162"/>
                    </a:solidFill>
                  </a:tcPr>
                </a:tc>
                <a:extLst>
                  <a:ext uri="{0D108BD9-81ED-4DB2-BD59-A6C34878D82A}">
                    <a16:rowId xmlns:a16="http://schemas.microsoft.com/office/drawing/2014/main" val="10000"/>
                  </a:ext>
                </a:extLst>
              </a:tr>
              <a:tr h="716280">
                <a:tc>
                  <a:txBody>
                    <a:bodyPr/>
                    <a:lstStyle/>
                    <a:p>
                      <a:pPr latinLnBrk="0"/>
                      <a:r>
                        <a:rPr lang="en-US" sz="1600" kern="1200" dirty="0">
                          <a:solidFill>
                            <a:schemeClr val="tx1"/>
                          </a:solidFill>
                          <a:effectLst/>
                          <a:latin typeface="Arial" pitchFamily="34" charset="0"/>
                          <a:ea typeface="+mn-ea"/>
                          <a:cs typeface="Arial" pitchFamily="34" charset="0"/>
                        </a:rPr>
                        <a:t>Association of Computing Machinery</a:t>
                      </a:r>
                      <a:endParaRPr lang="en-US" sz="1600" dirty="0">
                        <a:latin typeface="Arial" pitchFamily="34" charset="0"/>
                        <a:cs typeface="Arial" pitchFamily="34" charset="0"/>
                      </a:endParaRPr>
                    </a:p>
                  </a:txBody>
                  <a:tcPr/>
                </a:tc>
                <a:tc>
                  <a:txBody>
                    <a:bodyPr/>
                    <a:lstStyle/>
                    <a:p>
                      <a:pPr latinLnBrk="0"/>
                      <a:r>
                        <a:rPr lang="en-US" sz="1600" i="1" u="sng" kern="1200" dirty="0">
                          <a:solidFill>
                            <a:schemeClr val="tx1"/>
                          </a:solidFill>
                          <a:effectLst/>
                          <a:latin typeface="Arial" pitchFamily="34" charset="0"/>
                          <a:ea typeface="+mn-ea"/>
                          <a:cs typeface="Arial" pitchFamily="34" charset="0"/>
                        </a:rPr>
                        <a:t>www.acm.org</a:t>
                      </a:r>
                      <a:endParaRPr lang="en-US" sz="1600" dirty="0">
                        <a:latin typeface="Arial" pitchFamily="34" charset="0"/>
                        <a:cs typeface="Arial" pitchFamily="34" charset="0"/>
                      </a:endParaRPr>
                    </a:p>
                  </a:txBody>
                  <a:tcPr/>
                </a:tc>
                <a:tc>
                  <a:txBody>
                    <a:bodyPr/>
                    <a:lstStyle/>
                    <a:p>
                      <a:pPr latinLnBrk="0"/>
                      <a:r>
                        <a:rPr lang="en-US" sz="1600" kern="1200" dirty="0">
                          <a:solidFill>
                            <a:schemeClr val="tx1"/>
                          </a:solidFill>
                          <a:effectLst/>
                          <a:latin typeface="Arial" pitchFamily="34" charset="0"/>
                          <a:ea typeface="+mn-ea"/>
                          <a:cs typeface="Arial" pitchFamily="34" charset="0"/>
                        </a:rPr>
                        <a:t>Code of 24 imperatives of personal and ethical responsibilities for security professionals</a:t>
                      </a:r>
                      <a:endParaRPr lang="en-US" sz="1600" dirty="0">
                        <a:latin typeface="Arial" pitchFamily="34" charset="0"/>
                        <a:cs typeface="Arial" pitchFamily="34" charset="0"/>
                      </a:endParaRPr>
                    </a:p>
                  </a:txBody>
                  <a:tcPr/>
                </a:tc>
                <a:tc>
                  <a:txBody>
                    <a:bodyPr/>
                    <a:lstStyle/>
                    <a:p>
                      <a:pPr latinLnBrk="0"/>
                      <a:r>
                        <a:rPr lang="en-US" sz="1600" kern="1200" dirty="0">
                          <a:solidFill>
                            <a:schemeClr val="tx1"/>
                          </a:solidFill>
                          <a:effectLst/>
                          <a:latin typeface="Arial" pitchFamily="34" charset="0"/>
                          <a:ea typeface="+mn-ea"/>
                          <a:cs typeface="Arial" pitchFamily="34" charset="0"/>
                        </a:rPr>
                        <a:t>Ethics of security professionals</a:t>
                      </a:r>
                      <a:endParaRPr lang="en-US" sz="1600" dirty="0">
                        <a:latin typeface="Arial" pitchFamily="34" charset="0"/>
                        <a:cs typeface="Arial" pitchFamily="34" charset="0"/>
                      </a:endParaRPr>
                    </a:p>
                  </a:txBody>
                  <a:tcPr/>
                </a:tc>
                <a:extLst>
                  <a:ext uri="{0D108BD9-81ED-4DB2-BD59-A6C34878D82A}">
                    <a16:rowId xmlns:a16="http://schemas.microsoft.com/office/drawing/2014/main" val="10001"/>
                  </a:ext>
                </a:extLst>
              </a:tr>
              <a:tr h="1422400">
                <a:tc>
                  <a:txBody>
                    <a:bodyPr/>
                    <a:lstStyle/>
                    <a:p>
                      <a:pPr marL="45720" marR="480060" latinLnBrk="0">
                        <a:spcBef>
                          <a:spcPts val="0"/>
                        </a:spcBef>
                        <a:spcAft>
                          <a:spcPts val="0"/>
                        </a:spcAft>
                      </a:pPr>
                      <a:r>
                        <a:rPr lang="en-US" sz="1600" dirty="0">
                          <a:solidFill>
                            <a:schemeClr val="tx1"/>
                          </a:solidFill>
                          <a:effectLst/>
                          <a:latin typeface="Arial" pitchFamily="34" charset="0"/>
                          <a:ea typeface="Calibri"/>
                          <a:cs typeface="Arial" pitchFamily="34" charset="0"/>
                        </a:rPr>
                        <a:t>Information Systems </a:t>
                      </a:r>
                      <a:r>
                        <a:rPr lang="en-US" sz="1600" spc="-50" dirty="0">
                          <a:solidFill>
                            <a:schemeClr val="tx1"/>
                          </a:solidFill>
                          <a:effectLst/>
                          <a:latin typeface="Arial" pitchFamily="34" charset="0"/>
                          <a:ea typeface="Calibri"/>
                          <a:cs typeface="Arial" pitchFamily="34" charset="0"/>
                        </a:rPr>
                        <a:t>Audit and Control </a:t>
                      </a:r>
                      <a:r>
                        <a:rPr lang="en-US" sz="1600" spc="10" dirty="0">
                          <a:solidFill>
                            <a:schemeClr val="tx1"/>
                          </a:solidFill>
                          <a:effectLst/>
                          <a:latin typeface="Arial" pitchFamily="34" charset="0"/>
                          <a:ea typeface="Calibri"/>
                          <a:cs typeface="Arial" pitchFamily="34" charset="0"/>
                        </a:rPr>
                        <a:t>Association</a:t>
                      </a:r>
                      <a:endParaRPr lang="en-US" sz="1600" dirty="0">
                        <a:solidFill>
                          <a:schemeClr val="tx1"/>
                        </a:solidFill>
                        <a:effectLst/>
                        <a:latin typeface="Arial" pitchFamily="34" charset="0"/>
                        <a:ea typeface="Calibri"/>
                        <a:cs typeface="Arial" pitchFamily="34" charset="0"/>
                      </a:endParaRPr>
                    </a:p>
                  </a:txBody>
                  <a:tcPr marL="0" marR="0" marT="0" marB="0"/>
                </a:tc>
                <a:tc>
                  <a:txBody>
                    <a:bodyPr/>
                    <a:lstStyle/>
                    <a:p>
                      <a:pPr marL="65405" marR="0" latinLnBrk="0">
                        <a:spcBef>
                          <a:spcPts val="0"/>
                        </a:spcBef>
                        <a:spcAft>
                          <a:spcPts val="0"/>
                        </a:spcAft>
                      </a:pPr>
                      <a:r>
                        <a:rPr lang="en-US" sz="1600" i="1" u="sng" dirty="0">
                          <a:solidFill>
                            <a:schemeClr val="tx1"/>
                          </a:solidFill>
                          <a:effectLst/>
                          <a:latin typeface="Arial" pitchFamily="34" charset="0"/>
                          <a:ea typeface="Calibri"/>
                          <a:cs typeface="Arial" pitchFamily="34" charset="0"/>
                        </a:rPr>
                        <a:t>www.isaca.org</a:t>
                      </a:r>
                      <a:endParaRPr lang="en-US" sz="1600" dirty="0">
                        <a:solidFill>
                          <a:schemeClr val="tx1"/>
                        </a:solidFill>
                        <a:effectLst/>
                        <a:latin typeface="Arial" pitchFamily="34" charset="0"/>
                        <a:ea typeface="Calibri"/>
                        <a:cs typeface="Arial" pitchFamily="34" charset="0"/>
                      </a:endParaRPr>
                    </a:p>
                  </a:txBody>
                  <a:tcPr marL="0" marR="0" marT="0" marB="0"/>
                </a:tc>
                <a:tc>
                  <a:txBody>
                    <a:bodyPr/>
                    <a:lstStyle/>
                    <a:p>
                      <a:pPr marL="45720" marR="137160" latinLnBrk="0">
                        <a:spcBef>
                          <a:spcPts val="180"/>
                        </a:spcBef>
                        <a:spcAft>
                          <a:spcPts val="0"/>
                        </a:spcAft>
                      </a:pPr>
                      <a:r>
                        <a:rPr lang="en-US" sz="1600" spc="-10" dirty="0">
                          <a:solidFill>
                            <a:srgbClr val="000000"/>
                          </a:solidFill>
                          <a:effectLst/>
                          <a:latin typeface="Arial" pitchFamily="34" charset="0"/>
                          <a:ea typeface="Calibri"/>
                          <a:cs typeface="Arial" pitchFamily="34" charset="0"/>
                        </a:rPr>
                        <a:t>Focus on auditing, information security, business process analysis, and IS </a:t>
                      </a:r>
                      <a:r>
                        <a:rPr lang="en-US" sz="1600" spc="-50" dirty="0">
                          <a:solidFill>
                            <a:srgbClr val="000000"/>
                          </a:solidFill>
                          <a:effectLst/>
                          <a:latin typeface="Arial" pitchFamily="34" charset="0"/>
                          <a:ea typeface="Calibri"/>
                          <a:cs typeface="Arial" pitchFamily="34" charset="0"/>
                        </a:rPr>
                        <a:t>planning through the OSA and OSM </a:t>
                      </a:r>
                      <a:r>
                        <a:rPr lang="en-US" sz="1600" spc="20" dirty="0">
                          <a:solidFill>
                            <a:srgbClr val="000000"/>
                          </a:solidFill>
                          <a:effectLst/>
                          <a:latin typeface="Arial" pitchFamily="34" charset="0"/>
                          <a:ea typeface="Calibri"/>
                          <a:cs typeface="Arial" pitchFamily="34" charset="0"/>
                        </a:rPr>
                        <a:t>certifications</a:t>
                      </a:r>
                      <a:endParaRPr lang="en-US" sz="1600" dirty="0">
                        <a:effectLst/>
                        <a:latin typeface="Arial" pitchFamily="34" charset="0"/>
                        <a:ea typeface="Calibri"/>
                        <a:cs typeface="Arial" pitchFamily="34" charset="0"/>
                      </a:endParaRPr>
                    </a:p>
                  </a:txBody>
                  <a:tcPr marL="0" marR="0" marT="0" marB="0"/>
                </a:tc>
                <a:tc>
                  <a:txBody>
                    <a:bodyPr/>
                    <a:lstStyle/>
                    <a:p>
                      <a:pPr marL="45720" marR="205740" latinLnBrk="0">
                        <a:spcBef>
                          <a:spcPts val="180"/>
                        </a:spcBef>
                        <a:spcAft>
                          <a:spcPts val="0"/>
                        </a:spcAft>
                      </a:pPr>
                      <a:r>
                        <a:rPr lang="en-US" sz="1600" spc="-50" dirty="0">
                          <a:solidFill>
                            <a:srgbClr val="000000"/>
                          </a:solidFill>
                          <a:effectLst/>
                          <a:latin typeface="Arial" pitchFamily="34" charset="0"/>
                          <a:ea typeface="Calibri"/>
                          <a:cs typeface="Arial" pitchFamily="34" charset="0"/>
                        </a:rPr>
                        <a:t>Tasks and knowledge </a:t>
                      </a:r>
                      <a:r>
                        <a:rPr lang="en-US" sz="1600" spc="20" dirty="0">
                          <a:solidFill>
                            <a:srgbClr val="000000"/>
                          </a:solidFill>
                          <a:effectLst/>
                          <a:latin typeface="Arial" pitchFamily="34" charset="0"/>
                          <a:ea typeface="Calibri"/>
                          <a:cs typeface="Arial" pitchFamily="34" charset="0"/>
                        </a:rPr>
                        <a:t>required of the </a:t>
                      </a:r>
                      <a:r>
                        <a:rPr lang="en-US" sz="1600" dirty="0">
                          <a:solidFill>
                            <a:srgbClr val="000000"/>
                          </a:solidFill>
                          <a:effectLst/>
                          <a:latin typeface="Arial" pitchFamily="34" charset="0"/>
                          <a:ea typeface="Calibri"/>
                          <a:cs typeface="Arial" pitchFamily="34" charset="0"/>
                        </a:rPr>
                        <a:t>information systems </a:t>
                      </a:r>
                      <a:r>
                        <a:rPr lang="en-US" sz="1600" spc="10" dirty="0">
                          <a:solidFill>
                            <a:srgbClr val="000000"/>
                          </a:solidFill>
                          <a:effectLst/>
                          <a:latin typeface="Arial" pitchFamily="34" charset="0"/>
                          <a:ea typeface="Calibri"/>
                          <a:cs typeface="Arial" pitchFamily="34" charset="0"/>
                        </a:rPr>
                        <a:t>audit professional</a:t>
                      </a:r>
                      <a:endParaRPr lang="en-US" sz="1600" dirty="0">
                        <a:effectLst/>
                        <a:latin typeface="Arial" pitchFamily="34" charset="0"/>
                        <a:ea typeface="Calibri"/>
                        <a:cs typeface="Arial" pitchFamily="34" charset="0"/>
                      </a:endParaRPr>
                    </a:p>
                  </a:txBody>
                  <a:tcPr marL="0" marR="0" marT="0" marB="0"/>
                </a:tc>
                <a:extLst>
                  <a:ext uri="{0D108BD9-81ED-4DB2-BD59-A6C34878D82A}">
                    <a16:rowId xmlns:a16="http://schemas.microsoft.com/office/drawing/2014/main" val="10002"/>
                  </a:ext>
                </a:extLst>
              </a:tr>
              <a:tr h="894080">
                <a:tc>
                  <a:txBody>
                    <a:bodyPr/>
                    <a:lstStyle/>
                    <a:p>
                      <a:pPr marL="45720" marR="480060" latinLnBrk="0">
                        <a:spcBef>
                          <a:spcPts val="0"/>
                        </a:spcBef>
                        <a:spcAft>
                          <a:spcPts val="0"/>
                        </a:spcAft>
                      </a:pPr>
                      <a:r>
                        <a:rPr lang="en-US" sz="1600" spc="-50" dirty="0">
                          <a:solidFill>
                            <a:schemeClr val="tx1"/>
                          </a:solidFill>
                          <a:effectLst/>
                          <a:latin typeface="Arial" pitchFamily="34" charset="0"/>
                          <a:ea typeface="Calibri"/>
                          <a:cs typeface="Arial" pitchFamily="34" charset="0"/>
                        </a:rPr>
                        <a:t>Information Systems </a:t>
                      </a:r>
                      <a:r>
                        <a:rPr lang="en-US" sz="1600" dirty="0">
                          <a:solidFill>
                            <a:schemeClr val="tx1"/>
                          </a:solidFill>
                          <a:effectLst/>
                          <a:latin typeface="Arial" pitchFamily="34" charset="0"/>
                          <a:ea typeface="Calibri"/>
                          <a:cs typeface="Arial" pitchFamily="34" charset="0"/>
                        </a:rPr>
                        <a:t>Security Association</a:t>
                      </a:r>
                    </a:p>
                  </a:txBody>
                  <a:tcPr marL="0" marR="0" marT="0" marB="0"/>
                </a:tc>
                <a:tc>
                  <a:txBody>
                    <a:bodyPr/>
                    <a:lstStyle/>
                    <a:p>
                      <a:pPr marL="65405" marR="0" latinLnBrk="0">
                        <a:spcBef>
                          <a:spcPts val="0"/>
                        </a:spcBef>
                        <a:spcAft>
                          <a:spcPts val="0"/>
                        </a:spcAft>
                      </a:pPr>
                      <a:r>
                        <a:rPr lang="en-US" sz="1600" i="1" u="sng" dirty="0">
                          <a:solidFill>
                            <a:schemeClr val="tx1"/>
                          </a:solidFill>
                          <a:effectLst/>
                          <a:latin typeface="Arial" pitchFamily="34" charset="0"/>
                          <a:ea typeface="Calibri"/>
                          <a:cs typeface="Arial" pitchFamily="34" charset="0"/>
                        </a:rPr>
                        <a:t>www.issa.org</a:t>
                      </a:r>
                      <a:endParaRPr lang="en-US" sz="1600" dirty="0">
                        <a:solidFill>
                          <a:schemeClr val="tx1"/>
                        </a:solidFill>
                        <a:effectLst/>
                        <a:latin typeface="Arial" pitchFamily="34" charset="0"/>
                        <a:ea typeface="Calibri"/>
                        <a:cs typeface="Arial" pitchFamily="34" charset="0"/>
                      </a:endParaRPr>
                    </a:p>
                  </a:txBody>
                  <a:tcPr marL="0" marR="0" marT="0" marB="0"/>
                </a:tc>
                <a:tc>
                  <a:txBody>
                    <a:bodyPr/>
                    <a:lstStyle/>
                    <a:p>
                      <a:pPr marL="45720" marR="182880" latinLnBrk="0">
                        <a:spcBef>
                          <a:spcPts val="180"/>
                        </a:spcBef>
                        <a:spcAft>
                          <a:spcPts val="0"/>
                        </a:spcAft>
                      </a:pPr>
                      <a:r>
                        <a:rPr lang="en-US" sz="1600" spc="-5" dirty="0">
                          <a:solidFill>
                            <a:srgbClr val="000000"/>
                          </a:solidFill>
                          <a:effectLst/>
                          <a:latin typeface="Arial" pitchFamily="34" charset="0"/>
                          <a:ea typeface="Calibri"/>
                          <a:cs typeface="Arial" pitchFamily="34" charset="0"/>
                        </a:rPr>
                        <a:t>Professional association of information </a:t>
                      </a:r>
                      <a:r>
                        <a:rPr lang="en-US" sz="1600" spc="-25" dirty="0">
                          <a:solidFill>
                            <a:srgbClr val="000000"/>
                          </a:solidFill>
                          <a:effectLst/>
                          <a:latin typeface="Arial" pitchFamily="34" charset="0"/>
                          <a:ea typeface="Calibri"/>
                          <a:cs typeface="Arial" pitchFamily="34" charset="0"/>
                        </a:rPr>
                        <a:t>systems security professionals; provides </a:t>
                      </a:r>
                      <a:r>
                        <a:rPr lang="en-US" sz="1600" spc="45" dirty="0">
                          <a:solidFill>
                            <a:srgbClr val="000000"/>
                          </a:solidFill>
                          <a:effectLst/>
                          <a:latin typeface="Arial" pitchFamily="34" charset="0"/>
                          <a:ea typeface="Calibri"/>
                          <a:cs typeface="Arial" pitchFamily="34" charset="0"/>
                        </a:rPr>
                        <a:t>education forum, publications, and </a:t>
                      </a:r>
                      <a:r>
                        <a:rPr lang="en-US" sz="1600" spc="20" dirty="0">
                          <a:solidFill>
                            <a:srgbClr val="000000"/>
                          </a:solidFill>
                          <a:effectLst/>
                          <a:latin typeface="Arial" pitchFamily="34" charset="0"/>
                          <a:ea typeface="Calibri"/>
                          <a:cs typeface="Arial" pitchFamily="34" charset="0"/>
                        </a:rPr>
                        <a:t>peer networking for members</a:t>
                      </a:r>
                      <a:endParaRPr lang="en-US" sz="1600" dirty="0">
                        <a:effectLst/>
                        <a:latin typeface="Arial" pitchFamily="34" charset="0"/>
                        <a:ea typeface="Calibri"/>
                        <a:cs typeface="Arial" pitchFamily="34" charset="0"/>
                      </a:endParaRPr>
                    </a:p>
                  </a:txBody>
                  <a:tcPr marL="0" marR="0" marT="0" marB="0"/>
                </a:tc>
                <a:tc>
                  <a:txBody>
                    <a:bodyPr/>
                    <a:lstStyle/>
                    <a:p>
                      <a:pPr marL="46800" marR="0" algn="l" latinLnBrk="0">
                        <a:spcBef>
                          <a:spcPts val="0"/>
                        </a:spcBef>
                        <a:spcAft>
                          <a:spcPts val="0"/>
                        </a:spcAft>
                      </a:pPr>
                      <a:r>
                        <a:rPr lang="en-US" sz="1600" dirty="0">
                          <a:solidFill>
                            <a:srgbClr val="000000"/>
                          </a:solidFill>
                          <a:effectLst/>
                          <a:latin typeface="Arial" pitchFamily="34" charset="0"/>
                          <a:ea typeface="Calibri"/>
                          <a:cs typeface="Arial" pitchFamily="34" charset="0"/>
                        </a:rPr>
                        <a:t>Professional security </a:t>
                      </a:r>
                      <a:br>
                        <a:rPr lang="en-US" sz="1600" dirty="0">
                          <a:solidFill>
                            <a:srgbClr val="000000"/>
                          </a:solidFill>
                          <a:effectLst/>
                          <a:latin typeface="Arial" pitchFamily="34" charset="0"/>
                          <a:ea typeface="Calibri"/>
                          <a:cs typeface="Arial" pitchFamily="34" charset="0"/>
                        </a:rPr>
                      </a:br>
                      <a:r>
                        <a:rPr lang="en-US" sz="1600" spc="20" dirty="0">
                          <a:solidFill>
                            <a:srgbClr val="000000"/>
                          </a:solidFill>
                          <a:effectLst/>
                          <a:latin typeface="Arial" pitchFamily="34" charset="0"/>
                          <a:ea typeface="Calibri"/>
                          <a:cs typeface="Arial" pitchFamily="34" charset="0"/>
                        </a:rPr>
                        <a:t>information sharing</a:t>
                      </a:r>
                      <a:endParaRPr lang="en-US" sz="1600" dirty="0">
                        <a:effectLst/>
                        <a:latin typeface="Arial" pitchFamily="34" charset="0"/>
                        <a:ea typeface="Calibri"/>
                        <a:cs typeface="Arial" pitchFamily="34" charset="0"/>
                      </a:endParaRPr>
                    </a:p>
                  </a:txBody>
                  <a:tcPr marL="0" marR="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94054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Professional Organizations for Information Security Professionals</a:t>
            </a:r>
          </a:p>
        </p:txBody>
      </p:sp>
      <p:graphicFrame>
        <p:nvGraphicFramePr>
          <p:cNvPr id="6" name="Table 5"/>
          <p:cNvGraphicFramePr>
            <a:graphicFrameLocks noGrp="1"/>
          </p:cNvGraphicFramePr>
          <p:nvPr>
            <p:extLst>
              <p:ext uri="{D42A27DB-BD31-4B8C-83A1-F6EECF244321}">
                <p14:modId xmlns:p14="http://schemas.microsoft.com/office/powerpoint/2010/main" val="2984639513"/>
              </p:ext>
            </p:extLst>
          </p:nvPr>
        </p:nvGraphicFramePr>
        <p:xfrm>
          <a:off x="362272" y="1772816"/>
          <a:ext cx="8458200" cy="3992880"/>
        </p:xfrm>
        <a:graphic>
          <a:graphicData uri="http://schemas.openxmlformats.org/drawingml/2006/table">
            <a:tbl>
              <a:tblPr firstRow="1" bandRow="1">
                <a:tableStyleId>{5940675A-B579-460E-94D1-54222C63F5DA}</a:tableStyleId>
              </a:tblPr>
              <a:tblGrid>
                <a:gridCol w="1979104">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2636354">
                  <a:extLst>
                    <a:ext uri="{9D8B030D-6E8A-4147-A177-3AD203B41FA5}">
                      <a16:colId xmlns:a16="http://schemas.microsoft.com/office/drawing/2014/main" val="20002"/>
                    </a:ext>
                  </a:extLst>
                </a:gridCol>
                <a:gridCol w="2114550">
                  <a:extLst>
                    <a:ext uri="{9D8B030D-6E8A-4147-A177-3AD203B41FA5}">
                      <a16:colId xmlns:a16="http://schemas.microsoft.com/office/drawing/2014/main" val="20003"/>
                    </a:ext>
                  </a:extLst>
                </a:gridCol>
              </a:tblGrid>
              <a:tr h="304800">
                <a:tc>
                  <a:txBody>
                    <a:bodyPr/>
                    <a:lstStyle/>
                    <a:p>
                      <a:pPr latinLnBrk="0"/>
                      <a:r>
                        <a:rPr lang="en-US" sz="1600" b="1" kern="1200" dirty="0">
                          <a:solidFill>
                            <a:schemeClr val="bg1"/>
                          </a:solidFill>
                          <a:effectLst/>
                          <a:latin typeface="Arial" pitchFamily="34" charset="0"/>
                          <a:ea typeface="+mn-ea"/>
                          <a:cs typeface="Arial" pitchFamily="34" charset="0"/>
                        </a:rPr>
                        <a:t>Professional</a:t>
                      </a:r>
                      <a:r>
                        <a:rPr lang="en-US" sz="1600" b="1" kern="1200" baseline="0" dirty="0">
                          <a:solidFill>
                            <a:schemeClr val="bg1"/>
                          </a:solidFill>
                          <a:effectLst/>
                          <a:latin typeface="Arial" pitchFamily="34" charset="0"/>
                          <a:ea typeface="+mn-ea"/>
                          <a:cs typeface="Arial" pitchFamily="34" charset="0"/>
                        </a:rPr>
                        <a:t> </a:t>
                      </a:r>
                      <a:r>
                        <a:rPr lang="en-US" sz="1600" b="1" kern="1200" dirty="0">
                          <a:solidFill>
                            <a:schemeClr val="bg1"/>
                          </a:solidFill>
                          <a:effectLst/>
                          <a:latin typeface="Arial" pitchFamily="34" charset="0"/>
                          <a:ea typeface="+mn-ea"/>
                          <a:cs typeface="Arial" pitchFamily="34" charset="0"/>
                        </a:rPr>
                        <a:t>Organization </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pPr latinLnBrk="0"/>
                      <a:r>
                        <a:rPr lang="en-US" sz="1600" b="1" kern="1200" dirty="0">
                          <a:solidFill>
                            <a:schemeClr val="bg1"/>
                          </a:solidFill>
                          <a:effectLst/>
                          <a:latin typeface="Arial" pitchFamily="34" charset="0"/>
                          <a:ea typeface="+mn-ea"/>
                          <a:cs typeface="Arial" pitchFamily="34" charset="0"/>
                        </a:rPr>
                        <a:t>Web Resource Location</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pPr latinLnBrk="0"/>
                      <a:r>
                        <a:rPr lang="en-US" sz="1600" b="1" kern="1200" dirty="0">
                          <a:solidFill>
                            <a:schemeClr val="bg1"/>
                          </a:solidFill>
                          <a:effectLst/>
                          <a:latin typeface="Arial" pitchFamily="34" charset="0"/>
                          <a:ea typeface="+mn-ea"/>
                          <a:cs typeface="Arial" pitchFamily="34" charset="0"/>
                        </a:rPr>
                        <a:t>Description</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pPr latinLnBrk="0"/>
                      <a:r>
                        <a:rPr lang="en-US" sz="1600" b="1" kern="1200" dirty="0">
                          <a:solidFill>
                            <a:schemeClr val="bg1"/>
                          </a:solidFill>
                          <a:effectLst/>
                          <a:latin typeface="Arial" pitchFamily="34" charset="0"/>
                          <a:ea typeface="+mn-ea"/>
                          <a:cs typeface="Arial" pitchFamily="34" charset="0"/>
                        </a:rPr>
                        <a:t>Focus</a:t>
                      </a:r>
                      <a:endParaRPr lang="en-US" sz="1600" b="1" dirty="0">
                        <a:solidFill>
                          <a:schemeClr val="bg1"/>
                        </a:solidFill>
                        <a:latin typeface="Arial" pitchFamily="34" charset="0"/>
                        <a:cs typeface="Arial" pitchFamily="34" charset="0"/>
                      </a:endParaRPr>
                    </a:p>
                  </a:txBody>
                  <a:tcPr anchor="ctr">
                    <a:solidFill>
                      <a:srgbClr val="364162"/>
                    </a:solidFill>
                  </a:tcPr>
                </a:tc>
                <a:extLst>
                  <a:ext uri="{0D108BD9-81ED-4DB2-BD59-A6C34878D82A}">
                    <a16:rowId xmlns:a16="http://schemas.microsoft.com/office/drawing/2014/main" val="10000"/>
                  </a:ext>
                </a:extLst>
              </a:tr>
              <a:tr h="685800">
                <a:tc>
                  <a:txBody>
                    <a:bodyPr/>
                    <a:lstStyle/>
                    <a:p>
                      <a:pPr marL="45720" marR="160020" rtl="0" latinLnBrk="0">
                        <a:spcBef>
                          <a:spcPts val="180"/>
                        </a:spcBef>
                        <a:spcAft>
                          <a:spcPts val="0"/>
                        </a:spcAft>
                      </a:pPr>
                      <a:r>
                        <a:rPr lang="en-US" sz="1600" spc="-50" dirty="0">
                          <a:solidFill>
                            <a:schemeClr val="tx1"/>
                          </a:solidFill>
                          <a:effectLst/>
                          <a:latin typeface="Arial" pitchFamily="34" charset="0"/>
                          <a:ea typeface="Calibri"/>
                          <a:cs typeface="Arial" pitchFamily="34" charset="0"/>
                        </a:rPr>
                        <a:t>International Information </a:t>
                      </a:r>
                      <a:r>
                        <a:rPr lang="en-US" sz="1600" spc="10" dirty="0">
                          <a:solidFill>
                            <a:schemeClr val="tx1"/>
                          </a:solidFill>
                          <a:effectLst/>
                          <a:latin typeface="Arial" pitchFamily="34" charset="0"/>
                          <a:ea typeface="Calibri"/>
                          <a:cs typeface="Arial" pitchFamily="34" charset="0"/>
                        </a:rPr>
                        <a:t>Systems Security </a:t>
                      </a:r>
                      <a:r>
                        <a:rPr lang="en-US" sz="1600" spc="20" dirty="0">
                          <a:solidFill>
                            <a:schemeClr val="tx1"/>
                          </a:solidFill>
                          <a:effectLst/>
                          <a:latin typeface="Arial" pitchFamily="34" charset="0"/>
                          <a:ea typeface="Calibri"/>
                          <a:cs typeface="Arial" pitchFamily="34" charset="0"/>
                        </a:rPr>
                        <a:t>Certification Consortium </a:t>
                      </a:r>
                      <a:r>
                        <a:rPr lang="en-US" sz="1600" spc="-50" dirty="0">
                          <a:solidFill>
                            <a:schemeClr val="tx1"/>
                          </a:solidFill>
                          <a:effectLst/>
                          <a:latin typeface="Arial" pitchFamily="34" charset="0"/>
                          <a:ea typeface="Calibri"/>
                          <a:cs typeface="Arial" pitchFamily="34" charset="0"/>
                        </a:rPr>
                        <a:t>(ISC</a:t>
                      </a:r>
                      <a:r>
                        <a:rPr lang="en-US" sz="1600" baseline="30000" dirty="0">
                          <a:solidFill>
                            <a:schemeClr val="tx1"/>
                          </a:solidFill>
                          <a:effectLst/>
                          <a:latin typeface="Arial" pitchFamily="34" charset="0"/>
                          <a:ea typeface="Calibri"/>
                          <a:cs typeface="Arial" pitchFamily="34" charset="0"/>
                        </a:rPr>
                        <a:t>2</a:t>
                      </a:r>
                      <a:r>
                        <a:rPr lang="en-US" sz="1600" baseline="0" dirty="0">
                          <a:solidFill>
                            <a:schemeClr val="tx1"/>
                          </a:solidFill>
                          <a:effectLst/>
                          <a:latin typeface="Arial" pitchFamily="34" charset="0"/>
                          <a:ea typeface="Calibri"/>
                          <a:cs typeface="Arial" pitchFamily="34" charset="0"/>
                        </a:rPr>
                        <a:t>)</a:t>
                      </a:r>
                    </a:p>
                  </a:txBody>
                  <a:tcPr marL="0" marR="0" marT="0" marB="0"/>
                </a:tc>
                <a:tc>
                  <a:txBody>
                    <a:bodyPr/>
                    <a:lstStyle/>
                    <a:p>
                      <a:pPr marL="65405" marR="0" latinLnBrk="0">
                        <a:spcBef>
                          <a:spcPts val="0"/>
                        </a:spcBef>
                        <a:spcAft>
                          <a:spcPts val="0"/>
                        </a:spcAft>
                      </a:pPr>
                      <a:r>
                        <a:rPr lang="en-US" sz="1600" i="1" u="sng" spc="-90" dirty="0">
                          <a:solidFill>
                            <a:schemeClr val="tx1"/>
                          </a:solidFill>
                          <a:effectLst/>
                          <a:latin typeface="Arial" pitchFamily="34" charset="0"/>
                          <a:ea typeface="Calibri"/>
                          <a:cs typeface="Arial" pitchFamily="34" charset="0"/>
                        </a:rPr>
                        <a:t>www.isc2.org</a:t>
                      </a:r>
                      <a:endParaRPr lang="en-US" sz="1600" dirty="0">
                        <a:solidFill>
                          <a:schemeClr val="tx1"/>
                        </a:solidFill>
                        <a:effectLst/>
                        <a:latin typeface="Arial" pitchFamily="34" charset="0"/>
                        <a:ea typeface="Calibri"/>
                        <a:cs typeface="Arial" pitchFamily="34" charset="0"/>
                      </a:endParaRPr>
                    </a:p>
                  </a:txBody>
                  <a:tcPr marL="0" marR="0" marT="0" marB="0"/>
                </a:tc>
                <a:tc>
                  <a:txBody>
                    <a:bodyPr/>
                    <a:lstStyle/>
                    <a:p>
                      <a:pPr marL="45720" marR="228600" latinLnBrk="0">
                        <a:spcBef>
                          <a:spcPts val="180"/>
                        </a:spcBef>
                        <a:spcAft>
                          <a:spcPts val="0"/>
                        </a:spcAft>
                      </a:pPr>
                      <a:r>
                        <a:rPr lang="en-US" sz="1600" spc="-5" dirty="0">
                          <a:solidFill>
                            <a:srgbClr val="000000"/>
                          </a:solidFill>
                          <a:effectLst/>
                          <a:latin typeface="Arial" pitchFamily="34" charset="0"/>
                          <a:ea typeface="Calibri"/>
                          <a:cs typeface="Arial" pitchFamily="34" charset="0"/>
                        </a:rPr>
                        <a:t>International consortium dedicated to </a:t>
                      </a:r>
                      <a:r>
                        <a:rPr lang="en-US" sz="1600" spc="20" dirty="0">
                          <a:solidFill>
                            <a:srgbClr val="000000"/>
                          </a:solidFill>
                          <a:effectLst/>
                          <a:latin typeface="Arial" pitchFamily="34" charset="0"/>
                          <a:ea typeface="Calibri"/>
                          <a:cs typeface="Arial" pitchFamily="34" charset="0"/>
                        </a:rPr>
                        <a:t>improving the quality of security </a:t>
                      </a:r>
                      <a:r>
                        <a:rPr lang="en-US" sz="1600" spc="-50" dirty="0">
                          <a:solidFill>
                            <a:srgbClr val="000000"/>
                          </a:solidFill>
                          <a:effectLst/>
                          <a:latin typeface="Arial" pitchFamily="34" charset="0"/>
                          <a:ea typeface="Calibri"/>
                          <a:cs typeface="Arial" pitchFamily="34" charset="0"/>
                        </a:rPr>
                        <a:t>professionals through SSCP and CISSP </a:t>
                      </a:r>
                      <a:r>
                        <a:rPr lang="en-US" sz="1600" spc="20" dirty="0">
                          <a:solidFill>
                            <a:srgbClr val="000000"/>
                          </a:solidFill>
                          <a:effectLst/>
                          <a:latin typeface="Arial" pitchFamily="34" charset="0"/>
                          <a:ea typeface="Calibri"/>
                          <a:cs typeface="Arial" pitchFamily="34" charset="0"/>
                        </a:rPr>
                        <a:t>certifications</a:t>
                      </a:r>
                      <a:endParaRPr lang="en-US" sz="1600" dirty="0">
                        <a:effectLst/>
                        <a:latin typeface="Arial" pitchFamily="34" charset="0"/>
                        <a:ea typeface="Calibri"/>
                        <a:cs typeface="Arial" pitchFamily="34" charset="0"/>
                      </a:endParaRPr>
                    </a:p>
                  </a:txBody>
                  <a:tcPr marL="0" marR="0" marT="0" marB="0"/>
                </a:tc>
                <a:tc>
                  <a:txBody>
                    <a:bodyPr/>
                    <a:lstStyle/>
                    <a:p>
                      <a:pPr marL="45720" marR="114300" latinLnBrk="0">
                        <a:spcBef>
                          <a:spcPts val="0"/>
                        </a:spcBef>
                        <a:spcAft>
                          <a:spcPts val="0"/>
                        </a:spcAft>
                      </a:pPr>
                      <a:r>
                        <a:rPr lang="en-US" sz="1600" spc="-10" dirty="0">
                          <a:solidFill>
                            <a:srgbClr val="000000"/>
                          </a:solidFill>
                          <a:effectLst/>
                          <a:latin typeface="Arial" pitchFamily="34" charset="0"/>
                          <a:ea typeface="Calibri"/>
                          <a:cs typeface="Arial" pitchFamily="34" charset="0"/>
                        </a:rPr>
                        <a:t>Requires </a:t>
                      </a:r>
                      <a:r>
                        <a:rPr lang="en-US" sz="1600" spc="-10" dirty="0" err="1">
                          <a:solidFill>
                            <a:srgbClr val="000000"/>
                          </a:solidFill>
                          <a:effectLst/>
                          <a:latin typeface="Arial" pitchFamily="34" charset="0"/>
                          <a:ea typeface="Calibri"/>
                          <a:cs typeface="Arial" pitchFamily="34" charset="0"/>
                        </a:rPr>
                        <a:t>certificants</a:t>
                      </a:r>
                      <a:r>
                        <a:rPr lang="en-US" sz="1600" spc="-10" dirty="0">
                          <a:solidFill>
                            <a:srgbClr val="000000"/>
                          </a:solidFill>
                          <a:effectLst/>
                          <a:latin typeface="Arial" pitchFamily="34" charset="0"/>
                          <a:ea typeface="Calibri"/>
                          <a:cs typeface="Arial" pitchFamily="34" charset="0"/>
                        </a:rPr>
                        <a:t> to </a:t>
                      </a:r>
                      <a:r>
                        <a:rPr lang="en-US" sz="1600" spc="30" dirty="0">
                          <a:solidFill>
                            <a:srgbClr val="000000"/>
                          </a:solidFill>
                          <a:effectLst/>
                          <a:latin typeface="Arial" pitchFamily="34" charset="0"/>
                          <a:ea typeface="Calibri"/>
                          <a:cs typeface="Arial" pitchFamily="34" charset="0"/>
                        </a:rPr>
                        <a:t>follow its published </a:t>
                      </a:r>
                      <a:r>
                        <a:rPr lang="en-US" sz="1600" spc="10" dirty="0">
                          <a:solidFill>
                            <a:srgbClr val="000000"/>
                          </a:solidFill>
                          <a:effectLst/>
                          <a:latin typeface="Arial" pitchFamily="34" charset="0"/>
                          <a:ea typeface="Calibri"/>
                          <a:cs typeface="Arial" pitchFamily="34" charset="0"/>
                        </a:rPr>
                        <a:t>code of ethics</a:t>
                      </a:r>
                      <a:endParaRPr lang="en-US" sz="1600" dirty="0">
                        <a:effectLst/>
                        <a:latin typeface="Arial" pitchFamily="34" charset="0"/>
                        <a:ea typeface="Calibri"/>
                        <a:cs typeface="Arial" pitchFamily="34" charset="0"/>
                      </a:endParaRPr>
                    </a:p>
                  </a:txBody>
                  <a:tcPr marL="0" marR="0" marT="0" marB="0"/>
                </a:tc>
                <a:extLst>
                  <a:ext uri="{0D108BD9-81ED-4DB2-BD59-A6C34878D82A}">
                    <a16:rowId xmlns:a16="http://schemas.microsoft.com/office/drawing/2014/main" val="10001"/>
                  </a:ext>
                </a:extLst>
              </a:tr>
              <a:tr h="685800">
                <a:tc>
                  <a:txBody>
                    <a:bodyPr/>
                    <a:lstStyle/>
                    <a:p>
                      <a:pPr marL="45720" marR="342900" algn="l" latinLnBrk="0">
                        <a:spcBef>
                          <a:spcPts val="0"/>
                        </a:spcBef>
                        <a:spcAft>
                          <a:spcPts val="0"/>
                        </a:spcAft>
                      </a:pPr>
                      <a:r>
                        <a:rPr lang="en-US" sz="1600" spc="-50" dirty="0">
                          <a:solidFill>
                            <a:srgbClr val="000000"/>
                          </a:solidFill>
                          <a:effectLst/>
                          <a:latin typeface="Arial" pitchFamily="34" charset="0"/>
                          <a:ea typeface="Calibri"/>
                          <a:cs typeface="Arial" pitchFamily="34" charset="0"/>
                        </a:rPr>
                        <a:t>SANS Institute's Global Information Assurance </a:t>
                      </a:r>
                      <a:r>
                        <a:rPr lang="en-US" sz="1600" spc="20" dirty="0">
                          <a:solidFill>
                            <a:srgbClr val="000000"/>
                          </a:solidFill>
                          <a:effectLst/>
                          <a:latin typeface="Arial" pitchFamily="34" charset="0"/>
                          <a:ea typeface="Calibri"/>
                          <a:cs typeface="Arial" pitchFamily="34" charset="0"/>
                        </a:rPr>
                        <a:t>Certification</a:t>
                      </a:r>
                      <a:endParaRPr lang="en-US" sz="1600" dirty="0">
                        <a:effectLst/>
                        <a:latin typeface="Arial" pitchFamily="34" charset="0"/>
                        <a:ea typeface="Calibri"/>
                        <a:cs typeface="Arial" pitchFamily="34" charset="0"/>
                      </a:endParaRPr>
                    </a:p>
                  </a:txBody>
                  <a:tcPr marL="0" marR="0" marT="0" marB="0"/>
                </a:tc>
                <a:tc>
                  <a:txBody>
                    <a:bodyPr/>
                    <a:lstStyle/>
                    <a:p>
                      <a:pPr marL="65405" marR="0" latinLnBrk="0">
                        <a:spcBef>
                          <a:spcPts val="0"/>
                        </a:spcBef>
                        <a:spcAft>
                          <a:spcPts val="0"/>
                        </a:spcAft>
                      </a:pPr>
                      <a:r>
                        <a:rPr lang="en-US" sz="1600" i="1" u="sng" dirty="0">
                          <a:solidFill>
                            <a:schemeClr val="tx1"/>
                          </a:solidFill>
                          <a:effectLst/>
                          <a:latin typeface="Arial" pitchFamily="34" charset="0"/>
                          <a:ea typeface="Calibri"/>
                          <a:cs typeface="Arial" pitchFamily="34" charset="0"/>
                        </a:rPr>
                        <a:t>www.giac.org</a:t>
                      </a:r>
                      <a:endParaRPr lang="en-US" sz="1600" dirty="0">
                        <a:solidFill>
                          <a:schemeClr val="tx1"/>
                        </a:solidFill>
                        <a:effectLst/>
                        <a:latin typeface="Arial" pitchFamily="34" charset="0"/>
                        <a:ea typeface="Calibri"/>
                        <a:cs typeface="Arial" pitchFamily="34" charset="0"/>
                      </a:endParaRPr>
                    </a:p>
                  </a:txBody>
                  <a:tcPr marL="0" marR="0" marT="0" marB="0"/>
                </a:tc>
                <a:tc>
                  <a:txBody>
                    <a:bodyPr/>
                    <a:lstStyle/>
                    <a:p>
                      <a:pPr marL="45720" marR="114300" latinLnBrk="0">
                        <a:spcBef>
                          <a:spcPts val="0"/>
                        </a:spcBef>
                        <a:spcAft>
                          <a:spcPts val="0"/>
                        </a:spcAft>
                      </a:pPr>
                      <a:r>
                        <a:rPr lang="en-US" sz="1600" spc="-20" dirty="0">
                          <a:solidFill>
                            <a:srgbClr val="000000"/>
                          </a:solidFill>
                          <a:effectLst/>
                          <a:latin typeface="Arial" pitchFamily="34" charset="0"/>
                          <a:ea typeface="Calibri"/>
                          <a:cs typeface="Arial" pitchFamily="34" charset="0"/>
                        </a:rPr>
                        <a:t>GIAC certifications focus on four security </a:t>
                      </a:r>
                      <a:r>
                        <a:rPr lang="en-US" sz="1600" spc="-50" dirty="0">
                          <a:solidFill>
                            <a:srgbClr val="000000"/>
                          </a:solidFill>
                          <a:effectLst/>
                          <a:latin typeface="Arial" pitchFamily="34" charset="0"/>
                          <a:ea typeface="Calibri"/>
                          <a:cs typeface="Arial" pitchFamily="34" charset="0"/>
                        </a:rPr>
                        <a:t>areas: security administration, security </a:t>
                      </a:r>
                      <a:r>
                        <a:rPr lang="en-US" sz="1600" spc="10" dirty="0">
                          <a:solidFill>
                            <a:srgbClr val="000000"/>
                          </a:solidFill>
                          <a:effectLst/>
                          <a:latin typeface="Arial" pitchFamily="34" charset="0"/>
                          <a:ea typeface="Calibri"/>
                          <a:cs typeface="Arial" pitchFamily="34" charset="0"/>
                        </a:rPr>
                        <a:t>management IT audits, and software </a:t>
                      </a:r>
                      <a:r>
                        <a:rPr lang="en-US" sz="1600" spc="25" dirty="0">
                          <a:solidFill>
                            <a:srgbClr val="000000"/>
                          </a:solidFill>
                          <a:effectLst/>
                          <a:latin typeface="Arial" pitchFamily="34" charset="0"/>
                          <a:ea typeface="Calibri"/>
                          <a:cs typeface="Arial" pitchFamily="34" charset="0"/>
                        </a:rPr>
                        <a:t>security, these areas have standard, </a:t>
                      </a:r>
                      <a:r>
                        <a:rPr lang="en-US" sz="1600" spc="10" dirty="0">
                          <a:solidFill>
                            <a:srgbClr val="000000"/>
                          </a:solidFill>
                          <a:effectLst/>
                          <a:latin typeface="Arial" pitchFamily="34" charset="0"/>
                          <a:ea typeface="Calibri"/>
                          <a:cs typeface="Arial" pitchFamily="34" charset="0"/>
                        </a:rPr>
                        <a:t>gold, and expert levels</a:t>
                      </a:r>
                      <a:endParaRPr lang="en-US" sz="1600" dirty="0">
                        <a:effectLst/>
                        <a:latin typeface="Arial" pitchFamily="34" charset="0"/>
                        <a:ea typeface="Calibri"/>
                        <a:cs typeface="Arial" pitchFamily="34" charset="0"/>
                      </a:endParaRPr>
                    </a:p>
                  </a:txBody>
                  <a:tcPr marL="0" marR="0" marT="0" marB="0"/>
                </a:tc>
                <a:tc>
                  <a:txBody>
                    <a:bodyPr/>
                    <a:lstStyle/>
                    <a:p>
                      <a:pPr marL="45720" marR="114300" latinLnBrk="0">
                        <a:spcBef>
                          <a:spcPts val="0"/>
                        </a:spcBef>
                        <a:spcAft>
                          <a:spcPts val="0"/>
                        </a:spcAft>
                      </a:pPr>
                      <a:r>
                        <a:rPr lang="en-US" sz="1600" spc="-10" dirty="0">
                          <a:solidFill>
                            <a:srgbClr val="000000"/>
                          </a:solidFill>
                          <a:effectLst/>
                          <a:latin typeface="Arial" pitchFamily="34" charset="0"/>
                          <a:ea typeface="Calibri"/>
                          <a:cs typeface="Arial" pitchFamily="34" charset="0"/>
                        </a:rPr>
                        <a:t>Requires </a:t>
                      </a:r>
                      <a:r>
                        <a:rPr lang="en-US" sz="1600" spc="-10" dirty="0" err="1">
                          <a:solidFill>
                            <a:srgbClr val="000000"/>
                          </a:solidFill>
                          <a:effectLst/>
                          <a:latin typeface="Arial" pitchFamily="34" charset="0"/>
                          <a:ea typeface="Calibri"/>
                          <a:cs typeface="Arial" pitchFamily="34" charset="0"/>
                        </a:rPr>
                        <a:t>certificants</a:t>
                      </a:r>
                      <a:r>
                        <a:rPr lang="en-US" sz="1600" spc="-10" dirty="0">
                          <a:solidFill>
                            <a:srgbClr val="000000"/>
                          </a:solidFill>
                          <a:effectLst/>
                          <a:latin typeface="Arial" pitchFamily="34" charset="0"/>
                          <a:ea typeface="Calibri"/>
                          <a:cs typeface="Arial" pitchFamily="34" charset="0"/>
                        </a:rPr>
                        <a:t> to </a:t>
                      </a:r>
                      <a:r>
                        <a:rPr lang="en-US" sz="1600" spc="30" dirty="0">
                          <a:solidFill>
                            <a:srgbClr val="000000"/>
                          </a:solidFill>
                          <a:effectLst/>
                          <a:latin typeface="Arial" pitchFamily="34" charset="0"/>
                          <a:ea typeface="Calibri"/>
                          <a:cs typeface="Arial" pitchFamily="34" charset="0"/>
                        </a:rPr>
                        <a:t>follow its published </a:t>
                      </a:r>
                      <a:r>
                        <a:rPr lang="en-US" sz="1600" spc="50" dirty="0">
                          <a:solidFill>
                            <a:srgbClr val="000000"/>
                          </a:solidFill>
                          <a:effectLst/>
                          <a:latin typeface="Arial" pitchFamily="34" charset="0"/>
                          <a:ea typeface="Calibri"/>
                          <a:cs typeface="Arial" pitchFamily="34" charset="0"/>
                        </a:rPr>
                        <a:t>code of ethic</a:t>
                      </a:r>
                      <a:endParaRPr lang="en-US" sz="1600" dirty="0">
                        <a:effectLst/>
                        <a:latin typeface="Arial" pitchFamily="34" charset="0"/>
                        <a:ea typeface="Calibri"/>
                        <a:cs typeface="Arial" pitchFamily="34" charset="0"/>
                      </a:endParaRPr>
                    </a:p>
                  </a:txBody>
                  <a:tcPr marL="0" marR="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914278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noChangeArrowheads="1"/>
          </p:cNvSpPr>
          <p:nvPr>
            <p:ph type="title"/>
          </p:nvPr>
        </p:nvSpPr>
        <p:spPr/>
        <p:txBody>
          <a:bodyPr>
            <a:noAutofit/>
          </a:bodyPr>
          <a:lstStyle/>
          <a:p>
            <a:r>
              <a:rPr lang="en-US" altLang="en-US" dirty="0"/>
              <a:t>Major IT and InfoSec Professional Organizations (1 of 5)</a:t>
            </a:r>
            <a:endParaRPr lang="en-GB" altLang="en-US" dirty="0"/>
          </a:p>
        </p:txBody>
      </p:sp>
      <p:sp>
        <p:nvSpPr>
          <p:cNvPr id="83971" name="Content Placeholder 5"/>
          <p:cNvSpPr>
            <a:spLocks noGrp="1" noChangeArrowheads="1"/>
          </p:cNvSpPr>
          <p:nvPr>
            <p:ph sz="quarter" idx="11"/>
          </p:nvPr>
        </p:nvSpPr>
        <p:spPr/>
        <p:txBody>
          <a:bodyPr>
            <a:normAutofit/>
          </a:bodyPr>
          <a:lstStyle/>
          <a:p>
            <a:r>
              <a:rPr lang="en-GB" altLang="en-US" sz="2800" dirty="0"/>
              <a:t>Association of Computing Machinery (ACM)</a:t>
            </a:r>
            <a:r>
              <a:rPr lang="ar-SA" altLang="en-US" sz="2800" dirty="0"/>
              <a:t>‏ </a:t>
            </a:r>
            <a:endParaRPr lang="en-US" altLang="en-US" sz="2800" dirty="0"/>
          </a:p>
          <a:p>
            <a:pPr lvl="1"/>
            <a:r>
              <a:rPr lang="en-GB" altLang="en-US" sz="2400" dirty="0"/>
              <a:t>Established in 1947 as “the world’s first educational and scientific computing society.”</a:t>
            </a:r>
          </a:p>
          <a:p>
            <a:pPr lvl="1"/>
            <a:r>
              <a:rPr lang="en-GB" altLang="en-US" sz="2400" dirty="0"/>
              <a:t>Code of ethics contains references to protecting information confidentiality, causing no harm, protecting others’ privacy, and respecting others’ intellectual property and copyrights.</a:t>
            </a:r>
          </a:p>
        </p:txBody>
      </p:sp>
    </p:spTree>
    <p:extLst>
      <p:ext uri="{BB962C8B-B14F-4D97-AF65-F5344CB8AC3E}">
        <p14:creationId xmlns:p14="http://schemas.microsoft.com/office/powerpoint/2010/main" val="71357001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noChangeArrowheads="1"/>
          </p:cNvSpPr>
          <p:nvPr>
            <p:ph type="title"/>
          </p:nvPr>
        </p:nvSpPr>
        <p:spPr/>
        <p:txBody>
          <a:bodyPr>
            <a:noAutofit/>
          </a:bodyPr>
          <a:lstStyle/>
          <a:p>
            <a:r>
              <a:rPr lang="en-US" altLang="en-US" dirty="0"/>
              <a:t>Major IT and InfoSec Professional Organizations (2 of 5)</a:t>
            </a:r>
            <a:endParaRPr lang="en-GB" altLang="en-US" dirty="0"/>
          </a:p>
        </p:txBody>
      </p:sp>
      <p:sp>
        <p:nvSpPr>
          <p:cNvPr id="86019" name="Content Placeholder 5"/>
          <p:cNvSpPr>
            <a:spLocks noGrp="1" noChangeArrowheads="1"/>
          </p:cNvSpPr>
          <p:nvPr>
            <p:ph sz="quarter" idx="11"/>
          </p:nvPr>
        </p:nvSpPr>
        <p:spPr/>
        <p:txBody>
          <a:bodyPr>
            <a:normAutofit/>
          </a:bodyPr>
          <a:lstStyle/>
          <a:p>
            <a:r>
              <a:rPr lang="en-GB" altLang="en-US" sz="2800" dirty="0"/>
              <a:t>International Information Systems Security Certification Consortium, Inc. (ISC)</a:t>
            </a:r>
            <a:r>
              <a:rPr lang="en-GB" altLang="en-US" sz="2800" baseline="30000" dirty="0"/>
              <a:t>2</a:t>
            </a:r>
          </a:p>
          <a:p>
            <a:pPr lvl="1"/>
            <a:r>
              <a:rPr lang="en-GB" altLang="en-US" sz="2400" dirty="0" err="1"/>
              <a:t>Nonprofit</a:t>
            </a:r>
            <a:r>
              <a:rPr lang="en-GB" altLang="en-US" sz="2400" dirty="0"/>
              <a:t> organization focusing on the development and implementation of information security certifications and credentials.</a:t>
            </a:r>
          </a:p>
          <a:p>
            <a:pPr lvl="1"/>
            <a:r>
              <a:rPr lang="en-GB" altLang="en-US" sz="2400" dirty="0"/>
              <a:t>Code is primarily designed for the information security professionals who have certification from (ISC)</a:t>
            </a:r>
            <a:r>
              <a:rPr lang="en-GB" altLang="en-US" sz="2400" baseline="30000" dirty="0"/>
              <a:t>2</a:t>
            </a:r>
            <a:r>
              <a:rPr lang="en-GB" altLang="en-US" sz="2400" dirty="0"/>
              <a:t>.</a:t>
            </a:r>
          </a:p>
          <a:p>
            <a:pPr lvl="1"/>
            <a:r>
              <a:rPr lang="en-GB" altLang="en-US" sz="2400" dirty="0"/>
              <a:t>Code of ethics focuses on four mandatory canons.</a:t>
            </a:r>
          </a:p>
        </p:txBody>
      </p:sp>
    </p:spTree>
    <p:extLst>
      <p:ext uri="{BB962C8B-B14F-4D97-AF65-F5344CB8AC3E}">
        <p14:creationId xmlns:p14="http://schemas.microsoft.com/office/powerpoint/2010/main" val="366830838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noChangeArrowheads="1"/>
          </p:cNvSpPr>
          <p:nvPr>
            <p:ph type="title"/>
          </p:nvPr>
        </p:nvSpPr>
        <p:spPr/>
        <p:txBody>
          <a:bodyPr>
            <a:noAutofit/>
          </a:bodyPr>
          <a:lstStyle/>
          <a:p>
            <a:r>
              <a:rPr lang="en-US" altLang="en-US" dirty="0"/>
              <a:t>Major IT and InfoSec Professional Organizations (3 of 5)</a:t>
            </a:r>
            <a:endParaRPr lang="en-GB" altLang="en-US" dirty="0"/>
          </a:p>
        </p:txBody>
      </p:sp>
      <p:sp>
        <p:nvSpPr>
          <p:cNvPr id="88067" name="Content Placeholder 5"/>
          <p:cNvSpPr>
            <a:spLocks noGrp="1" noChangeArrowheads="1"/>
          </p:cNvSpPr>
          <p:nvPr>
            <p:ph sz="quarter" idx="11"/>
          </p:nvPr>
        </p:nvSpPr>
        <p:spPr/>
        <p:txBody>
          <a:bodyPr>
            <a:normAutofit/>
          </a:bodyPr>
          <a:lstStyle/>
          <a:p>
            <a:r>
              <a:rPr lang="en-US" altLang="en-US" sz="2800" dirty="0"/>
              <a:t>SANS (originally System Administration, Networking, and Security Institute)</a:t>
            </a:r>
            <a:endParaRPr lang="en-GB" altLang="en-US" sz="2800" dirty="0"/>
          </a:p>
          <a:p>
            <a:pPr lvl="1"/>
            <a:r>
              <a:rPr lang="en-GB" altLang="en-US" sz="2400" dirty="0"/>
              <a:t>Professional organization with a large membership dedicated to the protection of information and systems.</a:t>
            </a:r>
          </a:p>
          <a:p>
            <a:pPr lvl="1"/>
            <a:r>
              <a:rPr lang="en-GB" altLang="en-US" sz="2400" dirty="0"/>
              <a:t>SANS offers a set of certifications called Global Information Assurance Certification (GIAC)</a:t>
            </a:r>
            <a:r>
              <a:rPr lang="ar-SA" altLang="en-US" sz="2400" dirty="0"/>
              <a:t>‏</a:t>
            </a:r>
            <a:r>
              <a:rPr lang="en-US" altLang="en-US" sz="2400" dirty="0"/>
              <a:t>.</a:t>
            </a:r>
            <a:endParaRPr lang="en-GB" altLang="en-US" sz="2400" dirty="0"/>
          </a:p>
        </p:txBody>
      </p:sp>
    </p:spTree>
    <p:extLst>
      <p:ext uri="{BB962C8B-B14F-4D97-AF65-F5344CB8AC3E}">
        <p14:creationId xmlns:p14="http://schemas.microsoft.com/office/powerpoint/2010/main" val="209957119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noChangeArrowheads="1"/>
          </p:cNvSpPr>
          <p:nvPr>
            <p:ph type="title"/>
          </p:nvPr>
        </p:nvSpPr>
        <p:spPr/>
        <p:txBody>
          <a:bodyPr>
            <a:noAutofit/>
          </a:bodyPr>
          <a:lstStyle/>
          <a:p>
            <a:r>
              <a:rPr lang="en-US" altLang="en-US" dirty="0"/>
              <a:t>Major IT and InfoSec Professional Organizations (4 of 5)</a:t>
            </a:r>
            <a:endParaRPr lang="en-GB" altLang="en-US" dirty="0"/>
          </a:p>
        </p:txBody>
      </p:sp>
      <p:sp>
        <p:nvSpPr>
          <p:cNvPr id="90115" name="Content Placeholder 5"/>
          <p:cNvSpPr>
            <a:spLocks noGrp="1" noChangeArrowheads="1"/>
          </p:cNvSpPr>
          <p:nvPr>
            <p:ph sz="quarter" idx="11"/>
          </p:nvPr>
        </p:nvSpPr>
        <p:spPr/>
        <p:txBody>
          <a:bodyPr>
            <a:normAutofit/>
          </a:bodyPr>
          <a:lstStyle/>
          <a:p>
            <a:r>
              <a:rPr lang="en-GB" altLang="en-US" sz="2800" dirty="0"/>
              <a:t>ISACA (originally Information Systems Audit and Control Association)</a:t>
            </a:r>
            <a:r>
              <a:rPr lang="ar-SA" altLang="en-US" sz="2800" dirty="0"/>
              <a:t>‏</a:t>
            </a:r>
            <a:endParaRPr lang="en-GB" altLang="en-US" sz="2800" dirty="0"/>
          </a:p>
          <a:p>
            <a:pPr lvl="1"/>
            <a:r>
              <a:rPr lang="en-GB" altLang="en-US" sz="2400" dirty="0"/>
              <a:t>Professional association with focus on auditing, control, and security </a:t>
            </a:r>
          </a:p>
          <a:p>
            <a:pPr lvl="1"/>
            <a:r>
              <a:rPr lang="en-GB" altLang="en-US" sz="2400" dirty="0"/>
              <a:t>Concentrates on providing IT control practices and standards</a:t>
            </a:r>
          </a:p>
          <a:p>
            <a:pPr lvl="1"/>
            <a:r>
              <a:rPr lang="en-GB" altLang="en-US" sz="2400" dirty="0"/>
              <a:t>ISACA has a code of ethics for its professionals</a:t>
            </a:r>
          </a:p>
        </p:txBody>
      </p:sp>
    </p:spTree>
    <p:extLst>
      <p:ext uri="{BB962C8B-B14F-4D97-AF65-F5344CB8AC3E}">
        <p14:creationId xmlns:p14="http://schemas.microsoft.com/office/powerpoint/2010/main" val="364661242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p:txBody>
          <a:bodyPr>
            <a:noAutofit/>
          </a:bodyPr>
          <a:lstStyle/>
          <a:p>
            <a:r>
              <a:rPr lang="en-US" altLang="en-US" dirty="0"/>
              <a:t>Major IT and InfoSec Professional Organizations (5 of 5)</a:t>
            </a:r>
            <a:endParaRPr lang="en-GB" altLang="en-US" dirty="0"/>
          </a:p>
        </p:txBody>
      </p:sp>
      <p:sp>
        <p:nvSpPr>
          <p:cNvPr id="92163" name="Content Placeholder 5"/>
          <p:cNvSpPr>
            <a:spLocks noGrp="1" noChangeArrowheads="1"/>
          </p:cNvSpPr>
          <p:nvPr>
            <p:ph sz="quarter" idx="11"/>
          </p:nvPr>
        </p:nvSpPr>
        <p:spPr/>
        <p:txBody>
          <a:bodyPr>
            <a:normAutofit/>
          </a:bodyPr>
          <a:lstStyle/>
          <a:p>
            <a:r>
              <a:rPr lang="en-GB" altLang="en-US" sz="2800" dirty="0"/>
              <a:t>Information Systems Security Association (ISSA)</a:t>
            </a:r>
            <a:r>
              <a:rPr lang="ar-SA" altLang="en-US" sz="2800" dirty="0"/>
              <a:t>‏</a:t>
            </a:r>
            <a:endParaRPr lang="en-GB" altLang="en-US" sz="2800" dirty="0"/>
          </a:p>
          <a:p>
            <a:pPr lvl="1"/>
            <a:r>
              <a:rPr lang="en-GB" altLang="en-US" sz="2400" dirty="0" err="1"/>
              <a:t>Nonprofit</a:t>
            </a:r>
            <a:r>
              <a:rPr lang="en-GB" altLang="en-US" sz="2400" dirty="0"/>
              <a:t> society of InfoSec professionals</a:t>
            </a:r>
          </a:p>
          <a:p>
            <a:pPr lvl="1"/>
            <a:r>
              <a:rPr lang="en-GB" altLang="en-US" sz="2400" dirty="0"/>
              <a:t>Primary mission to bring together qualified IS practitioners for information exchange and educational development</a:t>
            </a:r>
          </a:p>
          <a:p>
            <a:pPr lvl="1"/>
            <a:r>
              <a:rPr lang="en-GB" altLang="en-US" sz="2400" dirty="0"/>
              <a:t>Promotes code of ethics similar to (ISC)</a:t>
            </a:r>
            <a:r>
              <a:rPr lang="en-GB" altLang="en-US" sz="2400" baseline="30000" dirty="0"/>
              <a:t>2</a:t>
            </a:r>
            <a:r>
              <a:rPr lang="en-GB" altLang="en-US" sz="2400" dirty="0"/>
              <a:t>, ISACA, and ACM</a:t>
            </a:r>
          </a:p>
        </p:txBody>
      </p:sp>
    </p:spTree>
    <p:extLst>
      <p:ext uri="{BB962C8B-B14F-4D97-AF65-F5344CB8AC3E}">
        <p14:creationId xmlns:p14="http://schemas.microsoft.com/office/powerpoint/2010/main" val="1902444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672F-4D77-01BF-5BC0-8654F01A3FEA}"/>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ECF3903-667D-59A5-E5FC-D31B7546FBC6}"/>
              </a:ext>
            </a:extLst>
          </p:cNvPr>
          <p:cNvSpPr>
            <a:spLocks noGrp="1"/>
          </p:cNvSpPr>
          <p:nvPr>
            <p:ph sz="quarter" idx="11"/>
          </p:nvPr>
        </p:nvSpPr>
        <p:spPr/>
        <p:txBody>
          <a:bodyPr/>
          <a:lstStyle/>
          <a:p>
            <a:r>
              <a:rPr lang="en-US" sz="2400" dirty="0"/>
              <a:t>Pfleeger, Security in Computing, chap 11</a:t>
            </a:r>
          </a:p>
          <a:p>
            <a:r>
              <a:rPr lang="en-US" sz="2400" dirty="0"/>
              <a:t>Whitman chap 3</a:t>
            </a:r>
          </a:p>
          <a:p>
            <a:r>
              <a:rPr lang="en-US" sz="2400" dirty="0"/>
              <a:t>PECA 2016 full text: </a:t>
            </a:r>
            <a:r>
              <a:rPr lang="en-US" sz="2400" dirty="0">
                <a:hlinkClick r:id="rId2"/>
              </a:rPr>
              <a:t>https://sja.gos.pk/assets/Acts_Ordinances_Rules2/PEC2016.pdf</a:t>
            </a:r>
            <a:r>
              <a:rPr lang="en-US" sz="2400" dirty="0"/>
              <a:t> </a:t>
            </a:r>
          </a:p>
          <a:p>
            <a:r>
              <a:rPr lang="en-US" sz="2400" dirty="0"/>
              <a:t>Criticism on PECA law</a:t>
            </a:r>
          </a:p>
          <a:p>
            <a:pPr lvl="1"/>
            <a:r>
              <a:rPr lang="en-US" sz="1800" dirty="0">
                <a:hlinkClick r:id="rId3"/>
              </a:rPr>
              <a:t>https://www.amnesty.org/en/latest/news/2022/02/pakistan-repeal-draconian-cyber-crime-law/</a:t>
            </a:r>
            <a:endParaRPr lang="en-US" sz="1800" dirty="0"/>
          </a:p>
          <a:p>
            <a:pPr lvl="1"/>
            <a:r>
              <a:rPr lang="en-US" sz="1800" dirty="0">
                <a:hlinkClick r:id="rId4"/>
              </a:rPr>
              <a:t>https://www.nchr.gov.pk/press_release/statement-against-the-prevention-of-electronic-crimes-amendment-ordinance-2022/</a:t>
            </a:r>
            <a:endParaRPr lang="en-US" sz="1800" dirty="0"/>
          </a:p>
          <a:p>
            <a:pPr lvl="1"/>
            <a:r>
              <a:rPr lang="en-US" sz="1800" dirty="0">
                <a:hlinkClick r:id="rId5"/>
              </a:rPr>
              <a:t>https://cfj.org/news/deep-flaws-in-pakistans-cyber-defamation-law-threaten-press-freedom/</a:t>
            </a:r>
            <a:endParaRPr lang="en-US" sz="1800" dirty="0"/>
          </a:p>
          <a:p>
            <a:pPr lvl="1"/>
            <a:r>
              <a:rPr lang="en-US" sz="1800" dirty="0">
                <a:hlinkClick r:id="rId6"/>
              </a:rPr>
              <a:t>https://www.dawn.com/news/1914865</a:t>
            </a:r>
            <a:endParaRPr lang="en-US" sz="1800" dirty="0"/>
          </a:p>
          <a:p>
            <a:endParaRPr lang="en-US" sz="2800" dirty="0"/>
          </a:p>
        </p:txBody>
      </p:sp>
    </p:spTree>
    <p:extLst>
      <p:ext uri="{BB962C8B-B14F-4D97-AF65-F5344CB8AC3E}">
        <p14:creationId xmlns:p14="http://schemas.microsoft.com/office/powerpoint/2010/main" val="3634537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8618</TotalTime>
  <Words>4954</Words>
  <Application>Microsoft Office PowerPoint</Application>
  <PresentationFormat>On-screen Show (4:3)</PresentationFormat>
  <Paragraphs>423</Paragraphs>
  <Slides>52</Slides>
  <Notes>15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52</vt:i4>
      </vt:variant>
    </vt:vector>
  </HeadingPairs>
  <TitlesOfParts>
    <vt:vector size="61" baseType="lpstr">
      <vt:lpstr>ＭＳ Ｐゴシック</vt:lpstr>
      <vt:lpstr>Arial</vt:lpstr>
      <vt:lpstr>Calibri</vt:lpstr>
      <vt:lpstr>Courier New</vt:lpstr>
      <vt:lpstr>Lucida Sans Unicode</vt:lpstr>
      <vt:lpstr>Times New Roman</vt:lpstr>
      <vt:lpstr>Wingdings</vt:lpstr>
      <vt:lpstr>Office Theme</vt:lpstr>
      <vt:lpstr>Custom Design</vt:lpstr>
      <vt:lpstr>PowerPoint Presentation</vt:lpstr>
      <vt:lpstr>Introduction</vt:lpstr>
      <vt:lpstr>Where laws fit in cyber sec</vt:lpstr>
      <vt:lpstr>Criminal and Civil Law</vt:lpstr>
      <vt:lpstr>Policy Versus Law</vt:lpstr>
      <vt:lpstr>Cyber Laws in Pakistan</vt:lpstr>
      <vt:lpstr>PECA 2016</vt:lpstr>
      <vt:lpstr>Some Offenses &amp; Punishments</vt:lpstr>
      <vt:lpstr>More offences</vt:lpstr>
      <vt:lpstr>Cognizable Offenses</vt:lpstr>
      <vt:lpstr>Investigating Agency</vt:lpstr>
      <vt:lpstr>International Laws and Legal Bodies</vt:lpstr>
      <vt:lpstr>WTO TRIPS Agreement</vt:lpstr>
      <vt:lpstr>Digital Millennium Copyright Act (DMCA)‏</vt:lpstr>
      <vt:lpstr>Deterring illegal behavior</vt:lpstr>
      <vt:lpstr>Deterrents to illegal behavior</vt:lpstr>
      <vt:lpstr>Ethical Issues</vt:lpstr>
      <vt:lpstr>Laws are not sufficient</vt:lpstr>
      <vt:lpstr>Laws are not sufficient</vt:lpstr>
      <vt:lpstr>What ethics means</vt:lpstr>
      <vt:lpstr>Laws vs Ethics</vt:lpstr>
      <vt:lpstr>Ethical principles are not universal </vt:lpstr>
      <vt:lpstr>Ethics does not provide clear answers</vt:lpstr>
      <vt:lpstr>Incident Analysis with Ethics</vt:lpstr>
      <vt:lpstr>Example Situation 1</vt:lpstr>
      <vt:lpstr>Example Situation 1</vt:lpstr>
      <vt:lpstr>Principles Involved</vt:lpstr>
      <vt:lpstr>Example Situation 2</vt:lpstr>
      <vt:lpstr>Principles Involved</vt:lpstr>
      <vt:lpstr>Principles Involved</vt:lpstr>
      <vt:lpstr>Example Situation 3</vt:lpstr>
      <vt:lpstr>Principles Involved</vt:lpstr>
      <vt:lpstr>Principles Involved</vt:lpstr>
      <vt:lpstr>Principles Involved</vt:lpstr>
      <vt:lpstr>Principles Involved</vt:lpstr>
      <vt:lpstr>Principles Involved</vt:lpstr>
      <vt:lpstr>Principles Involved</vt:lpstr>
      <vt:lpstr>Principles Involved</vt:lpstr>
      <vt:lpstr>How to act ethically</vt:lpstr>
      <vt:lpstr>How to act ethically</vt:lpstr>
      <vt:lpstr>Ethics and Education</vt:lpstr>
      <vt:lpstr>Ethics and Information Security</vt:lpstr>
      <vt:lpstr>Ten Commandments</vt:lpstr>
      <vt:lpstr>Ten Commandments</vt:lpstr>
      <vt:lpstr>Professional Organizations for Information Security Professionals</vt:lpstr>
      <vt:lpstr>Professional Organizations for Information Security Professionals</vt:lpstr>
      <vt:lpstr>Major IT and InfoSec Professional Organizations (1 of 5)</vt:lpstr>
      <vt:lpstr>Major IT and InfoSec Professional Organizations (2 of 5)</vt:lpstr>
      <vt:lpstr>Major IT and InfoSec Professional Organizations (3 of 5)</vt:lpstr>
      <vt:lpstr>Major IT and InfoSec Professional Organizations (4 of 5)</vt:lpstr>
      <vt:lpstr>Major IT and InfoSec Professional Organizations (5 of 5)</vt:lpstr>
      <vt:lpstr>References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Ammar Haider</cp:lastModifiedBy>
  <cp:revision>529</cp:revision>
  <dcterms:created xsi:type="dcterms:W3CDTF">2014-04-01T16:35:38Z</dcterms:created>
  <dcterms:modified xsi:type="dcterms:W3CDTF">2025-11-23T17:05:35Z</dcterms:modified>
</cp:coreProperties>
</file>