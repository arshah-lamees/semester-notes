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39"/>
  </p:notesMasterIdLst>
  <p:sldIdLst>
    <p:sldId id="256" r:id="rId3"/>
    <p:sldId id="375" r:id="rId4"/>
    <p:sldId id="376" r:id="rId5"/>
    <p:sldId id="377" r:id="rId6"/>
    <p:sldId id="378" r:id="rId7"/>
    <p:sldId id="379" r:id="rId8"/>
    <p:sldId id="381" r:id="rId9"/>
    <p:sldId id="382" r:id="rId10"/>
    <p:sldId id="367" r:id="rId11"/>
    <p:sldId id="371" r:id="rId12"/>
    <p:sldId id="372" r:id="rId13"/>
    <p:sldId id="346" r:id="rId14"/>
    <p:sldId id="347" r:id="rId15"/>
    <p:sldId id="384" r:id="rId16"/>
    <p:sldId id="385" r:id="rId17"/>
    <p:sldId id="383" r:id="rId18"/>
    <p:sldId id="364" r:id="rId19"/>
    <p:sldId id="374" r:id="rId20"/>
    <p:sldId id="348" r:id="rId21"/>
    <p:sldId id="350" r:id="rId22"/>
    <p:sldId id="366" r:id="rId23"/>
    <p:sldId id="386" r:id="rId24"/>
    <p:sldId id="349" r:id="rId25"/>
    <p:sldId id="370" r:id="rId26"/>
    <p:sldId id="387" r:id="rId27"/>
    <p:sldId id="355" r:id="rId28"/>
    <p:sldId id="388" r:id="rId29"/>
    <p:sldId id="357" r:id="rId30"/>
    <p:sldId id="359" r:id="rId31"/>
    <p:sldId id="360" r:id="rId32"/>
    <p:sldId id="361" r:id="rId33"/>
    <p:sldId id="353" r:id="rId34"/>
    <p:sldId id="362" r:id="rId35"/>
    <p:sldId id="389" r:id="rId36"/>
    <p:sldId id="390" r:id="rId37"/>
    <p:sldId id="368" r:id="rId38"/>
  </p:sldIdLst>
  <p:sldSz cx="9144000" cy="6858000" type="screen4x3"/>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3792" autoAdjust="0"/>
  </p:normalViewPr>
  <p:slideViewPr>
    <p:cSldViewPr>
      <p:cViewPr varScale="1">
        <p:scale>
          <a:sx n="108" d="100"/>
          <a:sy n="108" d="100"/>
        </p:scale>
        <p:origin x="1626" y="102"/>
      </p:cViewPr>
      <p:guideLst>
        <p:guide orient="horz" pos="2160"/>
        <p:guide pos="2880"/>
      </p:guideLst>
    </p:cSldViewPr>
  </p:slideViewPr>
  <p:outlineViewPr>
    <p:cViewPr>
      <p:scale>
        <a:sx n="33" d="100"/>
        <a:sy n="33" d="100"/>
      </p:scale>
      <p:origin x="0" y="-14456"/>
    </p:cViewPr>
  </p:outlineViewPr>
  <p:notesTextViewPr>
    <p:cViewPr>
      <p:scale>
        <a:sx n="1" d="1"/>
        <a:sy n="1" d="1"/>
      </p:scale>
      <p:origin x="0" y="0"/>
    </p:cViewPr>
  </p:notesTextViewPr>
  <p:sorterViewPr>
    <p:cViewPr>
      <p:scale>
        <a:sx n="100" d="100"/>
        <a:sy n="100" d="100"/>
      </p:scale>
      <p:origin x="0" y="-352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9FC1A7-F877-44DD-B2DD-60553F4FFAE6}" type="datetimeFigureOut">
              <a:rPr lang="en-AU" smtClean="0"/>
              <a:t>20/11/2025</a:t>
            </a:fld>
            <a:endParaRPr lang="en-AU"/>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C33C15-5131-4101-B031-6627D1EB5562}" type="slidenum">
              <a:rPr lang="en-AU" smtClean="0"/>
              <a:t>‹#›</a:t>
            </a:fld>
            <a:endParaRPr lang="en-AU"/>
          </a:p>
        </p:txBody>
      </p:sp>
    </p:spTree>
    <p:extLst>
      <p:ext uri="{BB962C8B-B14F-4D97-AF65-F5344CB8AC3E}">
        <p14:creationId xmlns:p14="http://schemas.microsoft.com/office/powerpoint/2010/main" val="21926644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2416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9512" y="16778"/>
            <a:ext cx="8964488" cy="1069514"/>
          </a:xfrm>
          <a:prstGeom prst="rect">
            <a:avLst/>
          </a:prstGeom>
        </p:spPr>
        <p:txBody>
          <a:bodyPr anchor="ctr"/>
          <a:lstStyle>
            <a:lvl1pPr latinLnBrk="0">
              <a:defRPr b="1" baseline="0">
                <a:solidFill>
                  <a:schemeClr val="bg1"/>
                </a:solidFill>
                <a:latin typeface="Arial" pitchFamily="34" charset="0"/>
                <a:cs typeface="Arial" pitchFamily="34" charset="0"/>
              </a:defRPr>
            </a:lvl1pPr>
          </a:lstStyle>
          <a:p>
            <a:r>
              <a:rPr lang="en-US" altLang="ko-KR" dirty="0"/>
              <a:t>Click to add title</a:t>
            </a:r>
            <a:endParaRPr lang="ko-KR" altLang="en-US" dirty="0"/>
          </a:p>
        </p:txBody>
      </p:sp>
      <p:sp>
        <p:nvSpPr>
          <p:cNvPr id="7" name="Content Placeholder 6">
            <a:extLst>
              <a:ext uri="{FF2B5EF4-FFF2-40B4-BE49-F238E27FC236}">
                <a16:creationId xmlns:a16="http://schemas.microsoft.com/office/drawing/2014/main" id="{25EA4C87-1B6D-2CEA-39CA-59614D453096}"/>
              </a:ext>
            </a:extLst>
          </p:cNvPr>
          <p:cNvSpPr>
            <a:spLocks noGrp="1"/>
          </p:cNvSpPr>
          <p:nvPr>
            <p:ph sz="quarter" idx="11"/>
          </p:nvPr>
        </p:nvSpPr>
        <p:spPr>
          <a:xfrm>
            <a:off x="467544" y="1560612"/>
            <a:ext cx="8229600" cy="4676700"/>
          </a:xfrm>
          <a:prstGeom prst="rect">
            <a:avLst/>
          </a:prstGeom>
        </p:spPr>
        <p:txBody>
          <a:bodyPr/>
          <a:lstStyle>
            <a:lvl1pPr latinLnBrk="0">
              <a:defRPr sz="2800"/>
            </a:lvl1pPr>
            <a:lvl2pPr latinLnBrk="0">
              <a:defRPr sz="2400"/>
            </a:lvl2pPr>
            <a:lvl3pPr latinLnBrk="0">
              <a:defRPr sz="2000"/>
            </a:lvl3pPr>
            <a:lvl4pPr latinLnBrk="0">
              <a:defRPr sz="1800"/>
            </a:lvl4pPr>
            <a:lvl5pPr latinLnBrk="0">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Tree>
    <p:extLst>
      <p:ext uri="{BB962C8B-B14F-4D97-AF65-F5344CB8AC3E}">
        <p14:creationId xmlns:p14="http://schemas.microsoft.com/office/powerpoint/2010/main" val="3694015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91680" y="0"/>
            <a:ext cx="7452320" cy="1069514"/>
          </a:xfrm>
          <a:prstGeom prst="rect">
            <a:avLst/>
          </a:prstGeom>
        </p:spPr>
        <p:txBody>
          <a:bodyPr anchor="ctr"/>
          <a:lstStyle>
            <a:lvl1pPr latinLnBrk="0">
              <a:defRPr b="1" baseline="0">
                <a:solidFill>
                  <a:schemeClr val="tx1">
                    <a:lumMod val="75000"/>
                    <a:lumOff val="25000"/>
                  </a:schemeClr>
                </a:solidFill>
                <a:latin typeface="Arial" pitchFamily="34" charset="0"/>
                <a:cs typeface="Arial" pitchFamily="34" charset="0"/>
              </a:defRPr>
            </a:lvl1pPr>
          </a:lstStyle>
          <a:p>
            <a:r>
              <a:rPr lang="en-US" altLang="ko-KR" dirty="0"/>
              <a:t>Click to add title</a:t>
            </a:r>
            <a:endParaRPr lang="ko-KR" altLang="en-US" dirty="0"/>
          </a:p>
        </p:txBody>
      </p:sp>
      <p:sp>
        <p:nvSpPr>
          <p:cNvPr id="6" name="Content Placeholder 5">
            <a:extLst>
              <a:ext uri="{FF2B5EF4-FFF2-40B4-BE49-F238E27FC236}">
                <a16:creationId xmlns:a16="http://schemas.microsoft.com/office/drawing/2014/main" id="{E85ED14E-43B1-FAD8-93BB-3A0393784FEF}"/>
              </a:ext>
            </a:extLst>
          </p:cNvPr>
          <p:cNvSpPr>
            <a:spLocks noGrp="1"/>
          </p:cNvSpPr>
          <p:nvPr>
            <p:ph sz="quarter" idx="11"/>
          </p:nvPr>
        </p:nvSpPr>
        <p:spPr>
          <a:xfrm>
            <a:off x="2134072" y="1268760"/>
            <a:ext cx="6563072" cy="4923175"/>
          </a:xfrm>
          <a:prstGeom prst="rect">
            <a:avLst/>
          </a:prstGeom>
        </p:spPr>
        <p:txBody>
          <a:bodyPr/>
          <a:lstStyle>
            <a:lvl1pPr latinLnBrk="0">
              <a:defRPr/>
            </a:lvl1pPr>
            <a:lvl2pPr latinLnBrk="0">
              <a:defRPr/>
            </a:lvl2pPr>
            <a:lvl3pPr latinLnBrk="0">
              <a:defRPr/>
            </a:lvl3pPr>
            <a:lvl4pPr latinLnBrk="0">
              <a:defRPr/>
            </a:lvl4pPr>
            <a:lvl5pPr latinLnBrk="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326818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112216" y="2564904"/>
            <a:ext cx="6584928" cy="1069514"/>
          </a:xfrm>
          <a:prstGeom prst="rect">
            <a:avLst/>
          </a:prstGeom>
        </p:spPr>
        <p:txBody>
          <a:bodyPr anchor="ctr"/>
          <a:lstStyle>
            <a:lvl1pPr algn="ctr" latinLnBrk="0">
              <a:defRPr b="1" baseline="0">
                <a:solidFill>
                  <a:schemeClr val="tx1">
                    <a:lumMod val="75000"/>
                    <a:lumOff val="25000"/>
                  </a:schemeClr>
                </a:solidFill>
                <a:latin typeface="Arial" pitchFamily="34" charset="0"/>
                <a:cs typeface="Arial" pitchFamily="34" charset="0"/>
              </a:defRPr>
            </a:lvl1pPr>
          </a:lstStyle>
          <a:p>
            <a:r>
              <a:rPr lang="en-US" altLang="ko-KR" dirty="0"/>
              <a:t>Click to add title</a:t>
            </a:r>
            <a:endParaRPr lang="ko-KR" altLang="en-US" dirty="0"/>
          </a:p>
        </p:txBody>
      </p:sp>
      <p:sp>
        <p:nvSpPr>
          <p:cNvPr id="6" name="Content Placeholder 5">
            <a:extLst>
              <a:ext uri="{FF2B5EF4-FFF2-40B4-BE49-F238E27FC236}">
                <a16:creationId xmlns:a16="http://schemas.microsoft.com/office/drawing/2014/main" id="{E85ED14E-43B1-FAD8-93BB-3A0393784FEF}"/>
              </a:ext>
            </a:extLst>
          </p:cNvPr>
          <p:cNvSpPr>
            <a:spLocks noGrp="1"/>
          </p:cNvSpPr>
          <p:nvPr>
            <p:ph sz="quarter" idx="11"/>
          </p:nvPr>
        </p:nvSpPr>
        <p:spPr>
          <a:xfrm>
            <a:off x="2134072" y="5805264"/>
            <a:ext cx="6563072" cy="386671"/>
          </a:xfrm>
          <a:prstGeom prst="rect">
            <a:avLst/>
          </a:prstGeom>
        </p:spPr>
        <p:txBody>
          <a:bodyPr/>
          <a:lstStyle>
            <a:lvl1pPr marL="0" indent="0" latinLnBrk="0">
              <a:buNone/>
              <a:defRPr sz="1800"/>
            </a:lvl1pPr>
            <a:lvl2pPr latinLnBrk="0">
              <a:defRPr sz="2000"/>
            </a:lvl2pPr>
            <a:lvl3pPr latinLnBrk="0">
              <a:defRPr sz="1800"/>
            </a:lvl3pPr>
            <a:lvl4pPr latinLnBrk="0">
              <a:defRPr sz="1600"/>
            </a:lvl4pPr>
            <a:lvl5pPr latinLnBrk="0">
              <a:defRPr sz="1600"/>
            </a:lvl5pPr>
          </a:lstStyle>
          <a:p>
            <a:pPr lvl="0"/>
            <a:r>
              <a:rPr lang="en-US" dirty="0"/>
              <a:t>Click to edit Master text styles</a:t>
            </a:r>
          </a:p>
        </p:txBody>
      </p:sp>
    </p:spTree>
    <p:extLst>
      <p:ext uri="{BB962C8B-B14F-4D97-AF65-F5344CB8AC3E}">
        <p14:creationId xmlns:p14="http://schemas.microsoft.com/office/powerpoint/2010/main" val="4124746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15891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Figure + Caption Layout">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10" name="Title 1"/>
          <p:cNvSpPr>
            <a:spLocks noGrp="1"/>
          </p:cNvSpPr>
          <p:nvPr>
            <p:ph type="title"/>
          </p:nvPr>
        </p:nvSpPr>
        <p:spPr>
          <a:xfrm>
            <a:off x="519169" y="357626"/>
            <a:ext cx="8032638" cy="1004011"/>
          </a:xfrm>
        </p:spPr>
        <p:txBody>
          <a:bodyPr>
            <a:normAutofit/>
          </a:bodyPr>
          <a:lstStyle>
            <a:lvl1pPr algn="ctr">
              <a:defRPr sz="3600" b="0">
                <a:solidFill>
                  <a:schemeClr val="tx1"/>
                </a:solidFill>
              </a:defRPr>
            </a:lvl1pPr>
          </a:lstStyle>
          <a:p>
            <a:r>
              <a:rPr lang="en-US"/>
              <a:t>Click to edit Master title style</a:t>
            </a:r>
            <a:endParaRPr lang="en-US" dirty="0"/>
          </a:p>
        </p:txBody>
      </p:sp>
      <p:sp>
        <p:nvSpPr>
          <p:cNvPr id="6" name="Rectangle 5"/>
          <p:cNvSpPr/>
          <p:nvPr/>
        </p:nvSpPr>
        <p:spPr bwMode="white">
          <a:xfrm>
            <a:off x="-7937" y="6248400"/>
            <a:ext cx="9151937" cy="617539"/>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solidFill>
                <a:prstClr val="white"/>
              </a:solidFill>
            </a:endParaRPr>
          </a:p>
        </p:txBody>
      </p:sp>
      <p:sp>
        <p:nvSpPr>
          <p:cNvPr id="4" name="Content Placeholder 3"/>
          <p:cNvSpPr>
            <a:spLocks noGrp="1"/>
          </p:cNvSpPr>
          <p:nvPr>
            <p:ph sz="quarter" idx="10"/>
          </p:nvPr>
        </p:nvSpPr>
        <p:spPr>
          <a:xfrm>
            <a:off x="491331" y="5181600"/>
            <a:ext cx="8153400" cy="83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pyright" descr="Pearson: Copyright 2015, 2012, 2009"/>
          <p:cNvSpPr txBox="1">
            <a:spLocks noChangeArrowheads="1"/>
          </p:cNvSpPr>
          <p:nvPr userDrawn="1"/>
        </p:nvSpPr>
        <p:spPr bwMode="auto">
          <a:xfrm>
            <a:off x="1478450" y="6270381"/>
            <a:ext cx="7589350" cy="582256"/>
          </a:xfrm>
          <a:prstGeom prst="rect">
            <a:avLst/>
          </a:prstGeom>
          <a:solidFill>
            <a:srgbClr val="364162"/>
          </a:solid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ctr">
              <a:defRPr/>
            </a:pPr>
            <a:r>
              <a:rPr lang="en-US" sz="1200" dirty="0">
                <a:solidFill>
                  <a:prstClr val="white"/>
                </a:solidFill>
                <a:ea typeface="ＭＳ Ｐゴシック" charset="-128"/>
                <a:cs typeface="Arial" charset="0"/>
              </a:rPr>
              <a:t>Copyright </a:t>
            </a:r>
            <a:r>
              <a:rPr lang="en-US" sz="1200" dirty="0">
                <a:solidFill>
                  <a:prstClr val="white"/>
                </a:solidFill>
                <a:ea typeface="+mn-ea"/>
                <a:cs typeface="Arial" charset="0"/>
              </a:rPr>
              <a:t>© 2018 Cengage. May not be copied, scanned, or duplicated, in whole or in part, except for use as permitted in a license distributed with a certain product or service or otherwise on a password-protected website for classroom use.</a:t>
            </a:r>
          </a:p>
        </p:txBody>
      </p:sp>
      <p:pic>
        <p:nvPicPr>
          <p:cNvPr id="8" name="Picture 4"/>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6345959"/>
            <a:ext cx="1316182" cy="435841"/>
          </a:xfrm>
          <a:prstGeom prst="rect">
            <a:avLst/>
          </a:prstGeom>
          <a:solidFill>
            <a:srgbClr val="364162"/>
          </a:solidFill>
          <a:ln>
            <a:noFill/>
          </a:ln>
        </p:spPr>
      </p:pic>
    </p:spTree>
    <p:extLst>
      <p:ext uri="{BB962C8B-B14F-4D97-AF65-F5344CB8AC3E}">
        <p14:creationId xmlns:p14="http://schemas.microsoft.com/office/powerpoint/2010/main" val="2950682021"/>
      </p:ext>
    </p:extLst>
  </p:cSld>
  <p:clrMapOvr>
    <a:masterClrMapping/>
  </p:clrMapOvr>
  <p:transition spd="slow"/>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it-IT"/>
              <a:t>Fare clic per modificare lo stile del titolo</a:t>
            </a:r>
            <a:endParaRPr lang="de-DE" dirty="0"/>
          </a:p>
        </p:txBody>
      </p:sp>
      <p:sp>
        <p:nvSpPr>
          <p:cNvPr id="3" name="Inhaltsplatzhalter 2"/>
          <p:cNvSpPr>
            <a:spLocks noGrp="1"/>
          </p:cNvSpPr>
          <p:nvPr>
            <p:ph idx="1"/>
          </p:nvPr>
        </p:nvSpPr>
        <p:spPr/>
        <p:txBody>
          <a:bodyPr/>
          <a:lstStyle>
            <a:lvl4pPr>
              <a:buFont typeface="Wingdings" pitchFamily="2" charset="2"/>
              <a:buChar char="§"/>
              <a:defRPr sz="1600"/>
            </a:lvl4pPr>
            <a:lvl5pPr>
              <a:buFont typeface="Wingdings" pitchFamily="2" charset="2"/>
              <a:buChar char="§"/>
              <a:defRPr sz="1600"/>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972514571"/>
      </p:ext>
    </p:extLst>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8DCCD61-643D-44A5-A450-3A42A50CBC1E}" type="datetimeFigureOut">
              <a:rPr lang="en-US" smtClean="0"/>
              <a:t>20/11/2025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656086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20/11/2025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924286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DCCD61-643D-44A5-A450-3A42A50CBC1E}" type="datetimeFigureOut">
              <a:rPr lang="en-US" smtClean="0"/>
              <a:t>20/11/2025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3277933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DCCD61-643D-44A5-A450-3A42A50CBC1E}" type="datetimeFigureOut">
              <a:rPr lang="en-US" smtClean="0"/>
              <a:t>20/11/2025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7787904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8DCCD61-643D-44A5-A450-3A42A50CBC1E}" type="datetimeFigureOut">
              <a:rPr lang="en-US" smtClean="0"/>
              <a:t>20/11/2025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29198114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8DCCD61-643D-44A5-A450-3A42A50CBC1E}" type="datetimeFigureOut">
              <a:rPr lang="en-US" smtClean="0"/>
              <a:t>20/11/2025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8181198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DCCD61-643D-44A5-A450-3A42A50CBC1E}" type="datetimeFigureOut">
              <a:rPr lang="en-US" smtClean="0"/>
              <a:t>20/11/2025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962918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t>20/11/2025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296884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t>20/11/2025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29870350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20/11/2025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792374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20/11/2025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39628572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73382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77" r:id="rId4"/>
    <p:sldLayoutId id="2147483673" r:id="rId5"/>
    <p:sldLayoutId id="2147483674" r:id="rId6"/>
    <p:sldLayoutId id="2147483675" r:id="rId7"/>
  </p:sldLayoutIdLst>
  <p:txStyles>
    <p:titleStyle>
      <a:lvl1pPr algn="l" defTabSz="914400" rtl="0" eaLnBrk="1" latinLnBrk="1" hangingPunct="1">
        <a:spcBef>
          <a:spcPct val="0"/>
        </a:spcBef>
        <a:buNone/>
        <a:defRPr sz="4000" b="1" kern="1200">
          <a:solidFill>
            <a:schemeClr val="tx1"/>
          </a:solidFill>
          <a:latin typeface="Arial" pitchFamily="34" charset="0"/>
          <a:ea typeface="+mj-ea"/>
          <a:cs typeface="Arial" pitchFamily="34" charset="0"/>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DCCD61-643D-44A5-A450-3A42A50CBC1E}" type="datetimeFigureOut">
              <a:rPr lang="en-US" smtClean="0"/>
              <a:t>20/11/2025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2F0832-F084-422D-97D1-AF848F4F2C34}" type="slidenum">
              <a:rPr lang="en-US" smtClean="0"/>
              <a:t>‹#›</a:t>
            </a:fld>
            <a:endParaRPr lang="en-US"/>
          </a:p>
        </p:txBody>
      </p:sp>
    </p:spTree>
    <p:extLst>
      <p:ext uri="{BB962C8B-B14F-4D97-AF65-F5344CB8AC3E}">
        <p14:creationId xmlns:p14="http://schemas.microsoft.com/office/powerpoint/2010/main" val="328635735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a:spLocks noChangeArrowheads="1"/>
          </p:cNvSpPr>
          <p:nvPr/>
        </p:nvSpPr>
        <p:spPr bwMode="auto">
          <a:xfrm>
            <a:off x="4067944" y="4077072"/>
            <a:ext cx="4788024" cy="1200329"/>
          </a:xfrm>
          <a:prstGeom prst="rect">
            <a:avLst/>
          </a:prstGeom>
          <a:noFill/>
          <a:ln w="9525">
            <a:noFill/>
            <a:miter lim="800000"/>
            <a:headEnd/>
            <a:tailEnd/>
          </a:ln>
        </p:spPr>
        <p:txBody>
          <a:bodyPr wrap="square">
            <a:spAutoFit/>
          </a:bodyPr>
          <a:lstStyle/>
          <a:p>
            <a:pPr algn="r"/>
            <a:r>
              <a:rPr lang="en-US" altLang="ko-KR" sz="3600" b="1" dirty="0">
                <a:solidFill>
                  <a:schemeClr val="bg1">
                    <a:lumMod val="95000"/>
                  </a:schemeClr>
                </a:solidFill>
                <a:latin typeface="Arial" pitchFamily="34" charset="0"/>
                <a:ea typeface="맑은 고딕" pitchFamily="50" charset="-127"/>
                <a:cs typeface="Arial" pitchFamily="34" charset="0"/>
              </a:rPr>
              <a:t>IT Security Management</a:t>
            </a:r>
          </a:p>
        </p:txBody>
      </p:sp>
      <p:pic>
        <p:nvPicPr>
          <p:cNvPr id="11" name="Picture 10" descr="Logo&#10;&#10;Description automatically generated">
            <a:extLst>
              <a:ext uri="{FF2B5EF4-FFF2-40B4-BE49-F238E27FC236}">
                <a16:creationId xmlns:a16="http://schemas.microsoft.com/office/drawing/2014/main" id="{DA019416-A58F-DC7C-5590-0A3C5E236B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4" y="111682"/>
            <a:ext cx="1428571" cy="1428571"/>
          </a:xfrm>
          <a:prstGeom prst="rect">
            <a:avLst/>
          </a:prstGeom>
        </p:spPr>
      </p:pic>
      <p:sp>
        <p:nvSpPr>
          <p:cNvPr id="12" name="TextBox 11">
            <a:extLst>
              <a:ext uri="{FF2B5EF4-FFF2-40B4-BE49-F238E27FC236}">
                <a16:creationId xmlns:a16="http://schemas.microsoft.com/office/drawing/2014/main" id="{A287E9B7-196F-5413-1EE2-727331E78929}"/>
              </a:ext>
            </a:extLst>
          </p:cNvPr>
          <p:cNvSpPr txBox="1"/>
          <p:nvPr/>
        </p:nvSpPr>
        <p:spPr>
          <a:xfrm>
            <a:off x="1835696" y="1916832"/>
            <a:ext cx="5472608" cy="523220"/>
          </a:xfrm>
          <a:prstGeom prst="rect">
            <a:avLst/>
          </a:prstGeom>
          <a:noFill/>
        </p:spPr>
        <p:txBody>
          <a:bodyPr wrap="square" rtlCol="0">
            <a:spAutoFit/>
          </a:bodyPr>
          <a:lstStyle/>
          <a:p>
            <a:pPr algn="ctr" latinLnBrk="0"/>
            <a:r>
              <a:rPr lang="en-US" sz="2800" b="1" dirty="0"/>
              <a:t>CS3002 Information Security</a:t>
            </a:r>
            <a:endParaRPr lang="en-AU" sz="2800" b="1" dirty="0"/>
          </a:p>
        </p:txBody>
      </p:sp>
      <p:sp>
        <p:nvSpPr>
          <p:cNvPr id="13" name="TextBox 12">
            <a:extLst>
              <a:ext uri="{FF2B5EF4-FFF2-40B4-BE49-F238E27FC236}">
                <a16:creationId xmlns:a16="http://schemas.microsoft.com/office/drawing/2014/main" id="{2C6442DC-6D72-28EB-A755-796100BEAFBF}"/>
              </a:ext>
            </a:extLst>
          </p:cNvPr>
          <p:cNvSpPr txBox="1"/>
          <p:nvPr/>
        </p:nvSpPr>
        <p:spPr>
          <a:xfrm>
            <a:off x="6156176" y="111682"/>
            <a:ext cx="2880320" cy="923330"/>
          </a:xfrm>
          <a:prstGeom prst="rect">
            <a:avLst/>
          </a:prstGeom>
          <a:noFill/>
        </p:spPr>
        <p:txBody>
          <a:bodyPr wrap="square" rtlCol="0">
            <a:spAutoFit/>
          </a:bodyPr>
          <a:lstStyle/>
          <a:p>
            <a:pPr algn="r" latinLnBrk="0"/>
            <a:r>
              <a:rPr lang="en-US" b="1" dirty="0"/>
              <a:t>Dr. Ammar Haider</a:t>
            </a:r>
          </a:p>
          <a:p>
            <a:pPr algn="r" latinLnBrk="0"/>
            <a:r>
              <a:rPr lang="en-US" dirty="0"/>
              <a:t>Assistant Professor</a:t>
            </a:r>
          </a:p>
          <a:p>
            <a:pPr algn="r" latinLnBrk="0"/>
            <a:r>
              <a:rPr lang="en-US" dirty="0"/>
              <a:t>School of Computing</a:t>
            </a:r>
            <a:endParaRPr lang="en-AU" dirty="0"/>
          </a:p>
        </p:txBody>
      </p:sp>
    </p:spTree>
    <p:extLst>
      <p:ext uri="{BB962C8B-B14F-4D97-AF65-F5344CB8AC3E}">
        <p14:creationId xmlns:p14="http://schemas.microsoft.com/office/powerpoint/2010/main" val="19412217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645E8-2DAC-8F5A-ECDC-8F2BEB9756D5}"/>
              </a:ext>
            </a:extLst>
          </p:cNvPr>
          <p:cNvSpPr>
            <a:spLocks noGrp="1"/>
          </p:cNvSpPr>
          <p:nvPr>
            <p:ph type="title"/>
          </p:nvPr>
        </p:nvSpPr>
        <p:spPr/>
        <p:txBody>
          <a:bodyPr/>
          <a:lstStyle/>
          <a:p>
            <a:r>
              <a:rPr lang="en-US" altLang="ko-KR" dirty="0">
                <a:solidFill>
                  <a:schemeClr val="bg1">
                    <a:lumMod val="95000"/>
                  </a:schemeClr>
                </a:solidFill>
                <a:ea typeface="맑은 고딕" pitchFamily="50" charset="-127"/>
              </a:rPr>
              <a:t>Security Management</a:t>
            </a:r>
            <a:endParaRPr lang="en-AU" dirty="0"/>
          </a:p>
        </p:txBody>
      </p:sp>
      <p:sp>
        <p:nvSpPr>
          <p:cNvPr id="3" name="Content Placeholder 2">
            <a:extLst>
              <a:ext uri="{FF2B5EF4-FFF2-40B4-BE49-F238E27FC236}">
                <a16:creationId xmlns:a16="http://schemas.microsoft.com/office/drawing/2014/main" id="{BA8D187D-9300-AC2B-D9EF-581DCECA4139}"/>
              </a:ext>
            </a:extLst>
          </p:cNvPr>
          <p:cNvSpPr>
            <a:spLocks noGrp="1"/>
          </p:cNvSpPr>
          <p:nvPr>
            <p:ph sz="quarter" idx="11"/>
          </p:nvPr>
        </p:nvSpPr>
        <p:spPr/>
        <p:txBody>
          <a:bodyPr/>
          <a:lstStyle/>
          <a:p>
            <a:r>
              <a:rPr lang="en-US" sz="2200" dirty="0"/>
              <a:t>So far in this course we have learnt a range of technical and administrative measures that can be used to manage and improve the security of information systems.</a:t>
            </a:r>
          </a:p>
          <a:p>
            <a:r>
              <a:rPr lang="en-US" sz="2200" dirty="0"/>
              <a:t>But we need a </a:t>
            </a:r>
            <a:r>
              <a:rPr lang="en-US" sz="2200" b="1" dirty="0"/>
              <a:t>process</a:t>
            </a:r>
            <a:r>
              <a:rPr lang="en-US" sz="2200" dirty="0"/>
              <a:t> of selecting best measures and implementing them to meet an organization’s security need.</a:t>
            </a:r>
          </a:p>
          <a:p>
            <a:r>
              <a:rPr lang="en-US" sz="2200" dirty="0"/>
              <a:t>This involves examining three questions:</a:t>
            </a:r>
          </a:p>
          <a:p>
            <a:pPr marL="985838" indent="-374650">
              <a:buFont typeface="+mj-lt"/>
              <a:buAutoNum type="arabicPeriod"/>
            </a:pPr>
            <a:r>
              <a:rPr lang="en-US" sz="2200" dirty="0"/>
              <a:t>What assets do we need to protect?</a:t>
            </a:r>
          </a:p>
          <a:p>
            <a:pPr marL="985838" indent="-374650">
              <a:buFont typeface="+mj-lt"/>
              <a:buAutoNum type="arabicPeriod"/>
            </a:pPr>
            <a:r>
              <a:rPr lang="en-US" sz="2200" dirty="0"/>
              <a:t>How are those assets threatened?</a:t>
            </a:r>
          </a:p>
          <a:p>
            <a:pPr marL="985838" indent="-374650">
              <a:buFont typeface="+mj-lt"/>
              <a:buAutoNum type="arabicPeriod"/>
            </a:pPr>
            <a:r>
              <a:rPr lang="en-US" sz="2200" dirty="0"/>
              <a:t>What can we do to counter those threats?</a:t>
            </a:r>
          </a:p>
          <a:p>
            <a:r>
              <a:rPr lang="en-US" sz="2200" dirty="0"/>
              <a:t>IT security management is the </a:t>
            </a:r>
            <a:r>
              <a:rPr lang="en-US" sz="2200" b="1" dirty="0"/>
              <a:t>formal process</a:t>
            </a:r>
            <a:r>
              <a:rPr lang="en-US" sz="2200" dirty="0"/>
              <a:t> of answering these questions</a:t>
            </a:r>
            <a:endParaRPr lang="en-AU" sz="2200" dirty="0"/>
          </a:p>
        </p:txBody>
      </p:sp>
    </p:spTree>
    <p:extLst>
      <p:ext uri="{BB962C8B-B14F-4D97-AF65-F5344CB8AC3E}">
        <p14:creationId xmlns:p14="http://schemas.microsoft.com/office/powerpoint/2010/main" val="2384375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F57B5C3-915E-5ABA-2942-FEB6C3A8E48D}"/>
              </a:ext>
            </a:extLst>
          </p:cNvPr>
          <p:cNvSpPr>
            <a:spLocks noGrp="1"/>
          </p:cNvSpPr>
          <p:nvPr>
            <p:ph type="title"/>
          </p:nvPr>
        </p:nvSpPr>
        <p:spPr>
          <a:xfrm>
            <a:off x="1619672" y="48893"/>
            <a:ext cx="2574032" cy="1872208"/>
          </a:xfrm>
        </p:spPr>
        <p:txBody>
          <a:bodyPr/>
          <a:lstStyle/>
          <a:p>
            <a:r>
              <a:rPr lang="en-US" sz="2800" dirty="0"/>
              <a:t>Overview of security management processes</a:t>
            </a:r>
          </a:p>
        </p:txBody>
      </p:sp>
      <p:pic>
        <p:nvPicPr>
          <p:cNvPr id="5" name="Content Placeholder 4">
            <a:extLst>
              <a:ext uri="{FF2B5EF4-FFF2-40B4-BE49-F238E27FC236}">
                <a16:creationId xmlns:a16="http://schemas.microsoft.com/office/drawing/2014/main" id="{60CBEA32-0C1D-1F15-7237-9F0F675A33B2}"/>
              </a:ext>
            </a:extLst>
          </p:cNvPr>
          <p:cNvPicPr>
            <a:picLocks noGrp="1" noChangeAspect="1"/>
          </p:cNvPicPr>
          <p:nvPr>
            <p:ph sz="quarter" idx="11"/>
          </p:nvPr>
        </p:nvPicPr>
        <p:blipFill>
          <a:blip r:embed="rId2" cstate="print">
            <a:extLst>
              <a:ext uri="{28A0092B-C50C-407E-A947-70E740481C1C}">
                <a14:useLocalDpi xmlns:a14="http://schemas.microsoft.com/office/drawing/2010/main" val="0"/>
              </a:ext>
            </a:extLst>
          </a:blip>
          <a:stretch>
            <a:fillRect/>
          </a:stretch>
        </p:blipFill>
        <p:spPr>
          <a:xfrm>
            <a:off x="3995936" y="81202"/>
            <a:ext cx="4949559" cy="6695596"/>
          </a:xfrm>
        </p:spPr>
      </p:pic>
      <p:sp>
        <p:nvSpPr>
          <p:cNvPr id="7" name="TextBox 6">
            <a:extLst>
              <a:ext uri="{FF2B5EF4-FFF2-40B4-BE49-F238E27FC236}">
                <a16:creationId xmlns:a16="http://schemas.microsoft.com/office/drawing/2014/main" id="{FAA63817-171C-1C9B-38AC-70CFBDC6FD48}"/>
              </a:ext>
            </a:extLst>
          </p:cNvPr>
          <p:cNvSpPr txBox="1"/>
          <p:nvPr/>
        </p:nvSpPr>
        <p:spPr>
          <a:xfrm>
            <a:off x="1691680" y="6192023"/>
            <a:ext cx="3168352" cy="584775"/>
          </a:xfrm>
          <a:prstGeom prst="rect">
            <a:avLst/>
          </a:prstGeom>
          <a:noFill/>
        </p:spPr>
        <p:txBody>
          <a:bodyPr wrap="square" rtlCol="0">
            <a:spAutoFit/>
          </a:bodyPr>
          <a:lstStyle/>
          <a:p>
            <a:pPr latinLnBrk="0"/>
            <a:r>
              <a:rPr lang="en-US" sz="1600" dirty="0"/>
              <a:t>Figure adapted from ISO 27000 series standards</a:t>
            </a:r>
          </a:p>
        </p:txBody>
      </p:sp>
    </p:spTree>
    <p:extLst>
      <p:ext uri="{BB962C8B-B14F-4D97-AF65-F5344CB8AC3E}">
        <p14:creationId xmlns:p14="http://schemas.microsoft.com/office/powerpoint/2010/main" val="3025570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0E88294-D0CA-5A05-7FF5-EADEA095C893}"/>
              </a:ext>
            </a:extLst>
          </p:cNvPr>
          <p:cNvSpPr>
            <a:spLocks noGrp="1"/>
          </p:cNvSpPr>
          <p:nvPr>
            <p:ph type="title"/>
          </p:nvPr>
        </p:nvSpPr>
        <p:spPr/>
        <p:txBody>
          <a:bodyPr/>
          <a:lstStyle/>
          <a:p>
            <a:r>
              <a:rPr lang="en-US" dirty="0"/>
              <a:t>Security Policy</a:t>
            </a:r>
          </a:p>
        </p:txBody>
      </p:sp>
      <p:sp>
        <p:nvSpPr>
          <p:cNvPr id="5" name="Content Placeholder 4">
            <a:extLst>
              <a:ext uri="{FF2B5EF4-FFF2-40B4-BE49-F238E27FC236}">
                <a16:creationId xmlns:a16="http://schemas.microsoft.com/office/drawing/2014/main" id="{475B7DE2-D146-234C-5438-8B4F37CEF2A1}"/>
              </a:ext>
            </a:extLst>
          </p:cNvPr>
          <p:cNvSpPr>
            <a:spLocks noGrp="1"/>
          </p:cNvSpPr>
          <p:nvPr>
            <p:ph sz="quarter" idx="11"/>
          </p:nvPr>
        </p:nvSpPr>
        <p:spPr/>
        <p:txBody>
          <a:bodyPr/>
          <a:lstStyle/>
          <a:p>
            <a:r>
              <a:rPr lang="en-US" sz="2800" dirty="0"/>
              <a:t>Organizational security policy describes what the objectives and strategies are and the process used to achieve them.</a:t>
            </a:r>
          </a:p>
          <a:p>
            <a:r>
              <a:rPr lang="en-US" sz="2800" dirty="0"/>
              <a:t>It may be either a single large document or, more commonly, a set of related documents.</a:t>
            </a:r>
          </a:p>
          <a:p>
            <a:r>
              <a:rPr lang="en-US" dirty="0"/>
              <a:t>It needs to address the following topics</a:t>
            </a:r>
          </a:p>
          <a:p>
            <a:pPr lvl="1"/>
            <a:r>
              <a:rPr lang="en-US" dirty="0"/>
              <a:t>Scope and purpose of the policy</a:t>
            </a:r>
          </a:p>
          <a:p>
            <a:pPr lvl="1"/>
            <a:r>
              <a:rPr lang="en-US" dirty="0"/>
              <a:t>Relationship of the security objectives to the organization’s business objectives, and any legal and regulatory obligations</a:t>
            </a:r>
          </a:p>
        </p:txBody>
      </p:sp>
    </p:spTree>
    <p:extLst>
      <p:ext uri="{BB962C8B-B14F-4D97-AF65-F5344CB8AC3E}">
        <p14:creationId xmlns:p14="http://schemas.microsoft.com/office/powerpoint/2010/main" val="2596877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31241-AC64-6D10-FD52-8C78EAE6A9FA}"/>
              </a:ext>
            </a:extLst>
          </p:cNvPr>
          <p:cNvSpPr>
            <a:spLocks noGrp="1"/>
          </p:cNvSpPr>
          <p:nvPr>
            <p:ph type="title"/>
          </p:nvPr>
        </p:nvSpPr>
        <p:spPr/>
        <p:txBody>
          <a:bodyPr/>
          <a:lstStyle/>
          <a:p>
            <a:r>
              <a:rPr lang="en-US" dirty="0"/>
              <a:t>Security Policy</a:t>
            </a:r>
          </a:p>
        </p:txBody>
      </p:sp>
      <p:sp>
        <p:nvSpPr>
          <p:cNvPr id="3" name="Content Placeholder 2">
            <a:extLst>
              <a:ext uri="{FF2B5EF4-FFF2-40B4-BE49-F238E27FC236}">
                <a16:creationId xmlns:a16="http://schemas.microsoft.com/office/drawing/2014/main" id="{6DA26F7F-04C3-C103-178D-6FC4D4F6B492}"/>
              </a:ext>
            </a:extLst>
          </p:cNvPr>
          <p:cNvSpPr>
            <a:spLocks noGrp="1"/>
          </p:cNvSpPr>
          <p:nvPr>
            <p:ph sz="quarter" idx="11"/>
          </p:nvPr>
        </p:nvSpPr>
        <p:spPr/>
        <p:txBody>
          <a:bodyPr/>
          <a:lstStyle/>
          <a:p>
            <a:pPr marL="355600" lvl="1"/>
            <a:r>
              <a:rPr lang="en-US" dirty="0"/>
              <a:t>IT security requirements in terms of confidentiality, integrity, availability, accountability, authenticity, and reliability.</a:t>
            </a:r>
          </a:p>
          <a:p>
            <a:pPr marL="355600" lvl="1"/>
            <a:r>
              <a:rPr lang="en-US" dirty="0"/>
              <a:t>Assignment of IT security management responsibilities to company roles</a:t>
            </a:r>
          </a:p>
          <a:p>
            <a:pPr marL="755650" lvl="2"/>
            <a:r>
              <a:rPr lang="en-US" dirty="0"/>
              <a:t>e.g. Senior team leader is responsible for so and so.</a:t>
            </a:r>
          </a:p>
          <a:p>
            <a:pPr marL="355600" lvl="1"/>
            <a:r>
              <a:rPr lang="en-US" dirty="0"/>
              <a:t>Risk management approach adopted</a:t>
            </a:r>
          </a:p>
          <a:p>
            <a:pPr marL="755650" lvl="2"/>
            <a:r>
              <a:rPr lang="en-US" dirty="0"/>
              <a:t>baseline, informal, detailed, or combined (‘detailed’ approach is briefly covered later in this lecture)</a:t>
            </a:r>
          </a:p>
          <a:p>
            <a:pPr marL="355600" lvl="1"/>
            <a:r>
              <a:rPr lang="en-US" dirty="0"/>
              <a:t>How security awareness and training is to be handled</a:t>
            </a:r>
          </a:p>
          <a:p>
            <a:pPr marL="355600" lvl="1"/>
            <a:r>
              <a:rPr lang="en-US" dirty="0"/>
              <a:t>Any legal sanctions that may be imposed on staff, and the conditions under which such penalties apply</a:t>
            </a:r>
          </a:p>
        </p:txBody>
      </p:sp>
    </p:spTree>
    <p:extLst>
      <p:ext uri="{BB962C8B-B14F-4D97-AF65-F5344CB8AC3E}">
        <p14:creationId xmlns:p14="http://schemas.microsoft.com/office/powerpoint/2010/main" val="19311088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57112-C016-C6A0-7F06-AA8D22AC1F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5F17ED-B195-A62C-FC4B-3D657F4A707B}"/>
              </a:ext>
            </a:extLst>
          </p:cNvPr>
          <p:cNvSpPr>
            <a:spLocks noGrp="1"/>
          </p:cNvSpPr>
          <p:nvPr>
            <p:ph type="title"/>
          </p:nvPr>
        </p:nvSpPr>
        <p:spPr/>
        <p:txBody>
          <a:bodyPr/>
          <a:lstStyle/>
          <a:p>
            <a:r>
              <a:rPr lang="en-US" dirty="0"/>
              <a:t>Security Policy</a:t>
            </a:r>
          </a:p>
        </p:txBody>
      </p:sp>
      <p:sp>
        <p:nvSpPr>
          <p:cNvPr id="3" name="Content Placeholder 2">
            <a:extLst>
              <a:ext uri="{FF2B5EF4-FFF2-40B4-BE49-F238E27FC236}">
                <a16:creationId xmlns:a16="http://schemas.microsoft.com/office/drawing/2014/main" id="{78FEBCFE-1946-F3FA-7DD2-9AEC0944FDC3}"/>
              </a:ext>
            </a:extLst>
          </p:cNvPr>
          <p:cNvSpPr>
            <a:spLocks noGrp="1"/>
          </p:cNvSpPr>
          <p:nvPr>
            <p:ph sz="quarter" idx="11"/>
          </p:nvPr>
        </p:nvSpPr>
        <p:spPr/>
        <p:txBody>
          <a:bodyPr/>
          <a:lstStyle/>
          <a:p>
            <a:pPr marL="355600" lvl="1"/>
            <a:r>
              <a:rPr lang="en-US" dirty="0"/>
              <a:t>Integration of security into systems development and procurement</a:t>
            </a:r>
          </a:p>
          <a:p>
            <a:pPr marL="869950" lvl="2" indent="-342900">
              <a:buFont typeface="Wingdings" panose="05000000000000000000" pitchFamily="2" charset="2"/>
              <a:buChar char="§"/>
              <a:defRPr/>
            </a:pPr>
            <a:r>
              <a:rPr kumimoji="0" lang="en-US" sz="2000" b="0" i="0" u="none" strike="noStrike" kern="1200" cap="none" spc="0" normalizeH="0" baseline="0" noProof="0" dirty="0">
                <a:ln>
                  <a:noFill/>
                </a:ln>
                <a:solidFill>
                  <a:prstClr val="black"/>
                </a:solidFill>
                <a:effectLst/>
                <a:uLnTx/>
                <a:uFillTx/>
                <a:latin typeface="맑은 고딕"/>
                <a:ea typeface="+mn-ea"/>
                <a:cs typeface="+mn-cs"/>
              </a:rPr>
              <a:t>how security will be </a:t>
            </a:r>
            <a:r>
              <a:rPr lang="en-US" dirty="0">
                <a:solidFill>
                  <a:prstClr val="black"/>
                </a:solidFill>
                <a:latin typeface="맑은 고딕"/>
              </a:rPr>
              <a:t>incorporated</a:t>
            </a:r>
            <a:r>
              <a:rPr kumimoji="0" lang="en-US" sz="2000" b="0" i="0" u="none" strike="noStrike" kern="1200" cap="none" spc="0" normalizeH="0" baseline="0" noProof="0" dirty="0">
                <a:ln>
                  <a:noFill/>
                </a:ln>
                <a:solidFill>
                  <a:prstClr val="black"/>
                </a:solidFill>
                <a:effectLst/>
                <a:uLnTx/>
                <a:uFillTx/>
                <a:latin typeface="맑은 고딕"/>
                <a:ea typeface="+mn-ea"/>
                <a:cs typeface="+mn-cs"/>
              </a:rPr>
              <a:t> when designing in-house software, and when</a:t>
            </a:r>
            <a:r>
              <a:rPr lang="en-US" dirty="0">
                <a:solidFill>
                  <a:prstClr val="black"/>
                </a:solidFill>
              </a:rPr>
              <a:t> buying new </a:t>
            </a:r>
            <a:r>
              <a:rPr kumimoji="0" lang="en-US" sz="2000" b="0" i="0" u="none" strike="noStrike" kern="1200" cap="none" spc="0" normalizeH="0" baseline="0" noProof="0" dirty="0">
                <a:ln>
                  <a:noFill/>
                </a:ln>
                <a:solidFill>
                  <a:prstClr val="black"/>
                </a:solidFill>
                <a:effectLst/>
                <a:uLnTx/>
                <a:uFillTx/>
                <a:latin typeface="맑은 고딕"/>
                <a:ea typeface="+mn-ea"/>
                <a:cs typeface="+mn-cs"/>
              </a:rPr>
              <a:t>software</a:t>
            </a:r>
          </a:p>
          <a:p>
            <a:pPr marL="355600" lvl="1"/>
            <a:r>
              <a:rPr lang="en-US" dirty="0"/>
              <a:t>Definition of the information classification scheme used across the organization</a:t>
            </a:r>
          </a:p>
          <a:p>
            <a:pPr marL="869950" lvl="2" indent="-342900">
              <a:buFont typeface="Wingdings" panose="05000000000000000000" pitchFamily="2" charset="2"/>
              <a:buChar char="§"/>
            </a:pPr>
            <a:r>
              <a:rPr lang="en-US" dirty="0"/>
              <a:t>i.e. define the terms top secret, confidential, restricted etc.</a:t>
            </a:r>
          </a:p>
          <a:p>
            <a:pPr marL="355600" lvl="1"/>
            <a:r>
              <a:rPr lang="en-US" dirty="0"/>
              <a:t>Contingency and business continuity planning</a:t>
            </a:r>
          </a:p>
          <a:p>
            <a:pPr marL="355600" lvl="1"/>
            <a:r>
              <a:rPr lang="en-US" dirty="0"/>
              <a:t>Incident detection and handling processes</a:t>
            </a:r>
          </a:p>
          <a:p>
            <a:pPr marL="355600" lvl="1"/>
            <a:r>
              <a:rPr lang="en-US" dirty="0"/>
              <a:t>How and when this policy should be reviewed</a:t>
            </a:r>
          </a:p>
          <a:p>
            <a:pPr marL="355600" lvl="1"/>
            <a:r>
              <a:rPr lang="en-US" dirty="0"/>
              <a:t>The method for controlling changes to this policy</a:t>
            </a:r>
          </a:p>
        </p:txBody>
      </p:sp>
    </p:spTree>
    <p:extLst>
      <p:ext uri="{BB962C8B-B14F-4D97-AF65-F5344CB8AC3E}">
        <p14:creationId xmlns:p14="http://schemas.microsoft.com/office/powerpoint/2010/main" val="4180274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16354-24AD-85BF-408E-94DB714CBE26}"/>
              </a:ext>
            </a:extLst>
          </p:cNvPr>
          <p:cNvSpPr>
            <a:spLocks noGrp="1"/>
          </p:cNvSpPr>
          <p:nvPr>
            <p:ph type="title"/>
          </p:nvPr>
        </p:nvSpPr>
        <p:spPr/>
        <p:txBody>
          <a:bodyPr/>
          <a:lstStyle/>
          <a:p>
            <a:r>
              <a:rPr lang="en-US" dirty="0"/>
              <a:t>Security Policy</a:t>
            </a:r>
          </a:p>
        </p:txBody>
      </p:sp>
      <p:sp>
        <p:nvSpPr>
          <p:cNvPr id="3" name="Content Placeholder 2">
            <a:extLst>
              <a:ext uri="{FF2B5EF4-FFF2-40B4-BE49-F238E27FC236}">
                <a16:creationId xmlns:a16="http://schemas.microsoft.com/office/drawing/2014/main" id="{97C2B869-D316-5325-BF7C-39BB31E6E11C}"/>
              </a:ext>
            </a:extLst>
          </p:cNvPr>
          <p:cNvSpPr>
            <a:spLocks noGrp="1"/>
          </p:cNvSpPr>
          <p:nvPr>
            <p:ph sz="quarter" idx="11"/>
          </p:nvPr>
        </p:nvSpPr>
        <p:spPr/>
        <p:txBody>
          <a:bodyPr/>
          <a:lstStyle/>
          <a:p>
            <a:r>
              <a:rPr lang="en-US" dirty="0"/>
              <a:t>Note: some sources call these kind of documents </a:t>
            </a:r>
            <a:r>
              <a:rPr lang="en-US" b="1" dirty="0">
                <a:solidFill>
                  <a:srgbClr val="C00000"/>
                </a:solidFill>
              </a:rPr>
              <a:t>security plan</a:t>
            </a:r>
          </a:p>
          <a:p>
            <a:r>
              <a:rPr lang="en-US" dirty="0"/>
              <a:t>Policy is subject to periodic review and revision as the organization’s security needs change.</a:t>
            </a:r>
          </a:p>
          <a:p>
            <a:endParaRPr lang="en-US" dirty="0"/>
          </a:p>
          <a:p>
            <a:r>
              <a:rPr lang="en-US" dirty="0"/>
              <a:t>Various standards recommend that overall responsibility for the organization’s IT security be assigned to a single person, the organizational </a:t>
            </a:r>
            <a:r>
              <a:rPr lang="en-US" b="1" dirty="0"/>
              <a:t>IT security officer</a:t>
            </a:r>
            <a:r>
              <a:rPr lang="en-US" dirty="0"/>
              <a:t>. </a:t>
            </a:r>
          </a:p>
          <a:p>
            <a:endParaRPr lang="en-US" dirty="0"/>
          </a:p>
          <a:p>
            <a:endParaRPr lang="en-US" dirty="0"/>
          </a:p>
        </p:txBody>
      </p:sp>
    </p:spTree>
    <p:extLst>
      <p:ext uri="{BB962C8B-B14F-4D97-AF65-F5344CB8AC3E}">
        <p14:creationId xmlns:p14="http://schemas.microsoft.com/office/powerpoint/2010/main" val="1097834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30D89-03B2-EE0B-BEF4-91D24646E8F3}"/>
              </a:ext>
            </a:extLst>
          </p:cNvPr>
          <p:cNvSpPr>
            <a:spLocks noGrp="1"/>
          </p:cNvSpPr>
          <p:nvPr>
            <p:ph type="title"/>
          </p:nvPr>
        </p:nvSpPr>
        <p:spPr/>
        <p:txBody>
          <a:bodyPr/>
          <a:lstStyle/>
          <a:p>
            <a:r>
              <a:rPr lang="en-US" dirty="0"/>
              <a:t>Organizational Context</a:t>
            </a:r>
          </a:p>
        </p:txBody>
      </p:sp>
      <p:sp>
        <p:nvSpPr>
          <p:cNvPr id="3" name="Content Placeholder 2">
            <a:extLst>
              <a:ext uri="{FF2B5EF4-FFF2-40B4-BE49-F238E27FC236}">
                <a16:creationId xmlns:a16="http://schemas.microsoft.com/office/drawing/2014/main" id="{4614526D-9CFD-BBBE-9ECF-FF66A70B2F5B}"/>
              </a:ext>
            </a:extLst>
          </p:cNvPr>
          <p:cNvSpPr>
            <a:spLocks noGrp="1"/>
          </p:cNvSpPr>
          <p:nvPr>
            <p:ph sz="quarter" idx="11"/>
          </p:nvPr>
        </p:nvSpPr>
        <p:spPr/>
        <p:txBody>
          <a:bodyPr/>
          <a:lstStyle/>
          <a:p>
            <a:r>
              <a:rPr lang="en-US" sz="2400" dirty="0"/>
              <a:t>At a high level, all organizations have same security goal: to prevent security breaches. But digging deeper, security needs for each organization differ.</a:t>
            </a:r>
          </a:p>
          <a:p>
            <a:r>
              <a:rPr lang="en-US" sz="2400" dirty="0"/>
              <a:t>What does an organization consider its most precious asset?</a:t>
            </a:r>
          </a:p>
          <a:p>
            <a:pPr lvl="1"/>
            <a:r>
              <a:rPr lang="en-US" sz="2000" dirty="0"/>
              <a:t>A pharmaceutical company might value its scientific research on new drugs and its sales and marketing strategy as its most important assets.</a:t>
            </a:r>
          </a:p>
          <a:p>
            <a:pPr lvl="1"/>
            <a:r>
              <a:rPr lang="en-US" sz="2000" dirty="0"/>
              <a:t>A hospital would likely find protecting the confidentiality of its patients’ records most crucial, perhaps followed closely by the integrity and availability of its systems that implement patient care (like vitals monitoring systems)</a:t>
            </a:r>
          </a:p>
          <a:p>
            <a:pPr lvl="1"/>
            <a:r>
              <a:rPr lang="en-US" sz="2000" dirty="0"/>
              <a:t>A television studio could decide its archive of previous broadcasts is most important.</a:t>
            </a:r>
          </a:p>
        </p:txBody>
      </p:sp>
    </p:spTree>
    <p:extLst>
      <p:ext uri="{BB962C8B-B14F-4D97-AF65-F5344CB8AC3E}">
        <p14:creationId xmlns:p14="http://schemas.microsoft.com/office/powerpoint/2010/main" val="2101245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4800" dirty="0"/>
              <a:t>Risk Management</a:t>
            </a:r>
          </a:p>
        </p:txBody>
      </p:sp>
    </p:spTree>
    <p:extLst>
      <p:ext uri="{BB962C8B-B14F-4D97-AF65-F5344CB8AC3E}">
        <p14:creationId xmlns:p14="http://schemas.microsoft.com/office/powerpoint/2010/main" val="17139059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503454-3D9C-1372-9839-F1B4585C2009}"/>
              </a:ext>
            </a:extLst>
          </p:cNvPr>
          <p:cNvSpPr>
            <a:spLocks noGrp="1"/>
          </p:cNvSpPr>
          <p:nvPr>
            <p:ph type="title"/>
          </p:nvPr>
        </p:nvSpPr>
        <p:spPr/>
        <p:txBody>
          <a:bodyPr/>
          <a:lstStyle/>
          <a:p>
            <a:r>
              <a:rPr lang="en-US" dirty="0"/>
              <a:t>Why risk management</a:t>
            </a:r>
          </a:p>
        </p:txBody>
      </p:sp>
      <p:sp>
        <p:nvSpPr>
          <p:cNvPr id="5" name="Content Placeholder 4">
            <a:extLst>
              <a:ext uri="{FF2B5EF4-FFF2-40B4-BE49-F238E27FC236}">
                <a16:creationId xmlns:a16="http://schemas.microsoft.com/office/drawing/2014/main" id="{DAD38813-7C20-EC35-52AB-7A77D4766156}"/>
              </a:ext>
            </a:extLst>
          </p:cNvPr>
          <p:cNvSpPr>
            <a:spLocks noGrp="1"/>
          </p:cNvSpPr>
          <p:nvPr>
            <p:ph sz="quarter" idx="11"/>
          </p:nvPr>
        </p:nvSpPr>
        <p:spPr/>
        <p:txBody>
          <a:bodyPr/>
          <a:lstStyle/>
          <a:p>
            <a:r>
              <a:rPr lang="en-US" dirty="0"/>
              <a:t>An organization can’t protect everything equally.</a:t>
            </a:r>
          </a:p>
          <a:p>
            <a:r>
              <a:rPr lang="en-US" dirty="0"/>
              <a:t>Their resources—time, money, and people—are finite. So they must focus their defenses on what matters most.</a:t>
            </a:r>
          </a:p>
          <a:p>
            <a:r>
              <a:rPr lang="en-US" dirty="0"/>
              <a:t>Cybersecurity Risk Management is the process of identifying what is most valuable and most vulnerable, and then making strategic decisions to protect it.</a:t>
            </a:r>
          </a:p>
          <a:p>
            <a:r>
              <a:rPr lang="en-US" dirty="0"/>
              <a:t>It’s about being smart, not just strong.</a:t>
            </a:r>
          </a:p>
        </p:txBody>
      </p:sp>
    </p:spTree>
    <p:extLst>
      <p:ext uri="{BB962C8B-B14F-4D97-AF65-F5344CB8AC3E}">
        <p14:creationId xmlns:p14="http://schemas.microsoft.com/office/powerpoint/2010/main" val="14512618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A5C5F-E582-AB91-6F02-EC084EE5C024}"/>
              </a:ext>
            </a:extLst>
          </p:cNvPr>
          <p:cNvSpPr>
            <a:spLocks noGrp="1"/>
          </p:cNvSpPr>
          <p:nvPr>
            <p:ph type="title"/>
          </p:nvPr>
        </p:nvSpPr>
        <p:spPr/>
        <p:txBody>
          <a:bodyPr/>
          <a:lstStyle/>
          <a:p>
            <a:r>
              <a:rPr lang="en-US" dirty="0"/>
              <a:t>Elements of risk assessment</a:t>
            </a:r>
          </a:p>
        </p:txBody>
      </p:sp>
      <p:sp>
        <p:nvSpPr>
          <p:cNvPr id="3" name="Content Placeholder 2">
            <a:extLst>
              <a:ext uri="{FF2B5EF4-FFF2-40B4-BE49-F238E27FC236}">
                <a16:creationId xmlns:a16="http://schemas.microsoft.com/office/drawing/2014/main" id="{998BC9E2-B642-14D2-172F-7B51BED2B3C4}"/>
              </a:ext>
            </a:extLst>
          </p:cNvPr>
          <p:cNvSpPr>
            <a:spLocks noGrp="1"/>
          </p:cNvSpPr>
          <p:nvPr>
            <p:ph sz="quarter" idx="11"/>
          </p:nvPr>
        </p:nvSpPr>
        <p:spPr/>
        <p:txBody>
          <a:bodyPr/>
          <a:lstStyle/>
          <a:p>
            <a:r>
              <a:rPr lang="en-US" sz="2400" dirty="0"/>
              <a:t>Risk assessment is formal process to understand your specific cyber risks. It answers three key questions:</a:t>
            </a:r>
          </a:p>
          <a:p>
            <a:r>
              <a:rPr lang="en-US" sz="2400" b="1" dirty="0"/>
              <a:t>What are our most important assets?</a:t>
            </a:r>
            <a:r>
              <a:rPr lang="en-US" sz="2400" dirty="0"/>
              <a:t> the “crown jewels” — e.g., customer database, industrial control systems, financial records.</a:t>
            </a:r>
          </a:p>
          <a:p>
            <a:r>
              <a:rPr lang="en-US" sz="2400" b="1" dirty="0"/>
              <a:t>What are the threats and vulnerabilities</a:t>
            </a:r>
            <a:r>
              <a:rPr lang="en-US" sz="2400" dirty="0"/>
              <a:t> that could affect those assets?</a:t>
            </a:r>
          </a:p>
          <a:p>
            <a:r>
              <a:rPr lang="en-US" sz="2400" b="1" dirty="0"/>
              <a:t>What would be the impact</a:t>
            </a:r>
            <a:r>
              <a:rPr lang="en-US" sz="2400" dirty="0"/>
              <a:t> if something bad happened?</a:t>
            </a:r>
          </a:p>
          <a:p>
            <a:r>
              <a:rPr lang="en-US" sz="2400" dirty="0"/>
              <a:t>Note that a business should consider all kinds of risks during their assessment, not just IT security issues. </a:t>
            </a:r>
          </a:p>
          <a:p>
            <a:pPr lvl="1"/>
            <a:r>
              <a:rPr lang="en-US" sz="2000" dirty="0"/>
              <a:t>Here we are only focusing on the latter.</a:t>
            </a:r>
          </a:p>
          <a:p>
            <a:endParaRPr lang="en-US" sz="2400" dirty="0"/>
          </a:p>
        </p:txBody>
      </p:sp>
    </p:spTree>
    <p:extLst>
      <p:ext uri="{BB962C8B-B14F-4D97-AF65-F5344CB8AC3E}">
        <p14:creationId xmlns:p14="http://schemas.microsoft.com/office/powerpoint/2010/main" val="21977349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Management</a:t>
            </a:r>
          </a:p>
        </p:txBody>
      </p:sp>
      <p:pic>
        <p:nvPicPr>
          <p:cNvPr id="4" name="Content Placeholder 3" descr="A figure shows a flow chart titled Risk management classified into three columns. The heading of first column is Risk identification pointed to the second column heading with an arrow. The second column heading is Risk Assessment pointed with an arrow to next heading. The third column heading is Risk control. The points under Risk identification are, “Identify, Inventory, &amp; Categorize assets”, “Classify, Value, &amp; Prioritize Assets”, “Identify &amp; Prioritize threats” and “Specify Asset vulnerabilities.” The points under the heading Risk Assessment are, “Determine Loss Frequency (Likelihood)”, “Evaluate Loss Magnitude (Impact)”, “Calculate Risk” and “Assess Risk Acceptability.” The points under the heading Risk control are, “Select Control Strategies”, “Justify Controls” and “Implement, Monitor, &amp; Assess Controls.”"/>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1907704" y="1279616"/>
            <a:ext cx="6840760" cy="4936748"/>
          </a:xfrm>
          <a:prstGeom prst="rect">
            <a:avLst/>
          </a:prstGeom>
        </p:spPr>
      </p:pic>
    </p:spTree>
    <p:extLst>
      <p:ext uri="{BB962C8B-B14F-4D97-AF65-F5344CB8AC3E}">
        <p14:creationId xmlns:p14="http://schemas.microsoft.com/office/powerpoint/2010/main" val="4066053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Identifying Assets</a:t>
            </a:r>
          </a:p>
        </p:txBody>
      </p:sp>
      <p:sp>
        <p:nvSpPr>
          <p:cNvPr id="3" name="Content Placeholder 2"/>
          <p:cNvSpPr>
            <a:spLocks noGrp="1"/>
          </p:cNvSpPr>
          <p:nvPr>
            <p:ph sz="quarter" idx="11"/>
          </p:nvPr>
        </p:nvSpPr>
        <p:spPr/>
        <p:txBody>
          <a:bodyPr/>
          <a:lstStyle/>
          <a:p>
            <a:pPr marL="0" indent="0">
              <a:buNone/>
            </a:pPr>
            <a:r>
              <a:rPr lang="en-US" sz="2400" dirty="0"/>
              <a:t>Assets can be grouped into few categories.</a:t>
            </a:r>
          </a:p>
          <a:p>
            <a:r>
              <a:rPr lang="en-US" sz="2400" b="1" dirty="0"/>
              <a:t>Hardware:</a:t>
            </a:r>
            <a:r>
              <a:rPr lang="en-US" sz="2400" dirty="0"/>
              <a:t> servers, client workstations, printers, portable devices, network equipment (routers, switches) etc.</a:t>
            </a:r>
          </a:p>
          <a:p>
            <a:r>
              <a:rPr lang="en-US" sz="2400" b="1" dirty="0"/>
              <a:t>Software:</a:t>
            </a:r>
            <a:r>
              <a:rPr lang="en-US" sz="2400" dirty="0"/>
              <a:t> source code, binary executables, operating systems, systems software (compiler etc.), maintenance and diagnostic software</a:t>
            </a:r>
          </a:p>
          <a:p>
            <a:r>
              <a:rPr lang="en-US" sz="2400" b="1" dirty="0"/>
              <a:t>Data:</a:t>
            </a:r>
            <a:r>
              <a:rPr lang="en-US" sz="2400" dirty="0"/>
              <a:t> data in memory, on permanent media, in cloud, printed data, audit logs</a:t>
            </a:r>
          </a:p>
          <a:p>
            <a:r>
              <a:rPr lang="en-US" sz="2400" b="1" dirty="0"/>
              <a:t>People:</a:t>
            </a:r>
            <a:r>
              <a:rPr lang="en-US" sz="2400" dirty="0"/>
              <a:t> skilled staff needed to run the systems</a:t>
            </a:r>
          </a:p>
          <a:p>
            <a:r>
              <a:rPr lang="en-US" sz="2400" b="1" dirty="0"/>
              <a:t>Supplies:</a:t>
            </a:r>
            <a:r>
              <a:rPr lang="en-US" sz="2400" dirty="0"/>
              <a:t> paper, data storage devices, printer ink, electricity, heating and cooling, necessary buildings</a:t>
            </a:r>
          </a:p>
          <a:p>
            <a:endParaRPr lang="en-US" sz="2400" dirty="0"/>
          </a:p>
        </p:txBody>
      </p:sp>
    </p:spTree>
    <p:extLst>
      <p:ext uri="{BB962C8B-B14F-4D97-AF65-F5344CB8AC3E}">
        <p14:creationId xmlns:p14="http://schemas.microsoft.com/office/powerpoint/2010/main" val="30408840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0A308-1C3A-739E-94A8-50F61F2EC5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83BBA0-F4EF-BB1A-F452-86AFF150987D}"/>
              </a:ext>
            </a:extLst>
          </p:cNvPr>
          <p:cNvSpPr>
            <a:spLocks noGrp="1"/>
          </p:cNvSpPr>
          <p:nvPr>
            <p:ph type="title"/>
          </p:nvPr>
        </p:nvSpPr>
        <p:spPr/>
        <p:txBody>
          <a:bodyPr/>
          <a:lstStyle/>
          <a:p>
            <a:r>
              <a:rPr lang="en-US" dirty="0"/>
              <a:t>Identifying Assets</a:t>
            </a:r>
          </a:p>
        </p:txBody>
      </p:sp>
      <p:sp>
        <p:nvSpPr>
          <p:cNvPr id="3" name="Content Placeholder 2">
            <a:extLst>
              <a:ext uri="{FF2B5EF4-FFF2-40B4-BE49-F238E27FC236}">
                <a16:creationId xmlns:a16="http://schemas.microsoft.com/office/drawing/2014/main" id="{9DCDBE6D-CE3C-987C-CA66-1342082C5DE3}"/>
              </a:ext>
            </a:extLst>
          </p:cNvPr>
          <p:cNvSpPr>
            <a:spLocks noGrp="1"/>
          </p:cNvSpPr>
          <p:nvPr>
            <p:ph sz="quarter" idx="11"/>
          </p:nvPr>
        </p:nvSpPr>
        <p:spPr/>
        <p:txBody>
          <a:bodyPr/>
          <a:lstStyle/>
          <a:p>
            <a:r>
              <a:rPr lang="en-US" sz="2400" b="1" dirty="0"/>
              <a:t>Documentation: </a:t>
            </a:r>
            <a:r>
              <a:rPr lang="en-US" sz="2400" dirty="0"/>
              <a:t>on programs, hardware, systems, administrative procedures, and the entire system</a:t>
            </a:r>
          </a:p>
          <a:p>
            <a:r>
              <a:rPr lang="en-US" sz="2400" b="1" dirty="0"/>
              <a:t>Reputation:</a:t>
            </a:r>
            <a:r>
              <a:rPr lang="en-US" sz="2400" dirty="0"/>
              <a:t> company image, goodwill with customers and business partners</a:t>
            </a:r>
          </a:p>
          <a:p>
            <a:r>
              <a:rPr lang="en-US" sz="2400" b="1" dirty="0"/>
              <a:t>Availability:</a:t>
            </a:r>
            <a:r>
              <a:rPr lang="en-US" sz="2400" dirty="0"/>
              <a:t> ability to do business, ability to resume business rapidly and efficiently after an incident</a:t>
            </a:r>
          </a:p>
          <a:p>
            <a:endParaRPr lang="en-US" sz="2400" dirty="0"/>
          </a:p>
          <a:p>
            <a:r>
              <a:rPr lang="en-US" sz="2400" dirty="0"/>
              <a:t>You </a:t>
            </a:r>
            <a:r>
              <a:rPr lang="en-US" sz="2400" b="1" dirty="0">
                <a:solidFill>
                  <a:srgbClr val="C00000"/>
                </a:solidFill>
              </a:rPr>
              <a:t>must</a:t>
            </a:r>
            <a:r>
              <a:rPr lang="en-US" sz="2400" dirty="0"/>
              <a:t> tailor this list to your own situation. No two organizations will have the same assets to protect, and something that is valued by one organization may not have the same value to another.</a:t>
            </a:r>
          </a:p>
        </p:txBody>
      </p:sp>
    </p:spTree>
    <p:extLst>
      <p:ext uri="{BB962C8B-B14F-4D97-AF65-F5344CB8AC3E}">
        <p14:creationId xmlns:p14="http://schemas.microsoft.com/office/powerpoint/2010/main" val="24026286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C5953-F68B-C455-A027-3C0CB9298C84}"/>
              </a:ext>
            </a:extLst>
          </p:cNvPr>
          <p:cNvSpPr>
            <a:spLocks noGrp="1"/>
          </p:cNvSpPr>
          <p:nvPr>
            <p:ph type="title"/>
          </p:nvPr>
        </p:nvSpPr>
        <p:spPr/>
        <p:txBody>
          <a:bodyPr/>
          <a:lstStyle/>
          <a:p>
            <a:r>
              <a:rPr lang="en-US" dirty="0"/>
              <a:t>Identify Threats to Assets</a:t>
            </a:r>
          </a:p>
        </p:txBody>
      </p:sp>
      <p:sp>
        <p:nvSpPr>
          <p:cNvPr id="3" name="Content Placeholder 2">
            <a:extLst>
              <a:ext uri="{FF2B5EF4-FFF2-40B4-BE49-F238E27FC236}">
                <a16:creationId xmlns:a16="http://schemas.microsoft.com/office/drawing/2014/main" id="{7072FE98-CACF-5B8C-450D-F449E63E9D57}"/>
              </a:ext>
            </a:extLst>
          </p:cNvPr>
          <p:cNvSpPr>
            <a:spLocks noGrp="1"/>
          </p:cNvSpPr>
          <p:nvPr>
            <p:ph sz="quarter" idx="11"/>
          </p:nvPr>
        </p:nvSpPr>
        <p:spPr>
          <a:xfrm>
            <a:off x="467544" y="1560612"/>
            <a:ext cx="3456384" cy="4676700"/>
          </a:xfrm>
        </p:spPr>
        <p:txBody>
          <a:bodyPr/>
          <a:lstStyle/>
          <a:p>
            <a:r>
              <a:rPr lang="en-US" dirty="0"/>
              <a:t>Threats can also be grouped in a several categories</a:t>
            </a:r>
          </a:p>
          <a:p>
            <a:endParaRPr lang="en-US" dirty="0"/>
          </a:p>
          <a:p>
            <a:r>
              <a:rPr lang="en-US" dirty="0"/>
              <a:t>Each type of asset is subject to different type of threats</a:t>
            </a:r>
          </a:p>
        </p:txBody>
      </p:sp>
      <p:pic>
        <p:nvPicPr>
          <p:cNvPr id="5" name="Picture 4">
            <a:extLst>
              <a:ext uri="{FF2B5EF4-FFF2-40B4-BE49-F238E27FC236}">
                <a16:creationId xmlns:a16="http://schemas.microsoft.com/office/drawing/2014/main" id="{21CA99C3-28BC-E0D9-1C17-268439327D7E}"/>
              </a:ext>
            </a:extLst>
          </p:cNvPr>
          <p:cNvPicPr>
            <a:picLocks noChangeAspect="1"/>
          </p:cNvPicPr>
          <p:nvPr/>
        </p:nvPicPr>
        <p:blipFill>
          <a:blip r:embed="rId2"/>
          <a:stretch>
            <a:fillRect/>
          </a:stretch>
        </p:blipFill>
        <p:spPr>
          <a:xfrm>
            <a:off x="4186969" y="908720"/>
            <a:ext cx="4777519" cy="5251210"/>
          </a:xfrm>
          <a:prstGeom prst="rect">
            <a:avLst/>
          </a:prstGeom>
        </p:spPr>
      </p:pic>
      <p:sp>
        <p:nvSpPr>
          <p:cNvPr id="6" name="TextBox 5">
            <a:extLst>
              <a:ext uri="{FF2B5EF4-FFF2-40B4-BE49-F238E27FC236}">
                <a16:creationId xmlns:a16="http://schemas.microsoft.com/office/drawing/2014/main" id="{A5B2995A-D306-C2C4-61B0-708189D1032F}"/>
              </a:ext>
            </a:extLst>
          </p:cNvPr>
          <p:cNvSpPr txBox="1"/>
          <p:nvPr/>
        </p:nvSpPr>
        <p:spPr>
          <a:xfrm>
            <a:off x="4523500" y="6175963"/>
            <a:ext cx="4104456" cy="646331"/>
          </a:xfrm>
          <a:prstGeom prst="rect">
            <a:avLst/>
          </a:prstGeom>
          <a:noFill/>
        </p:spPr>
        <p:txBody>
          <a:bodyPr wrap="square" rtlCol="0">
            <a:spAutoFit/>
          </a:bodyPr>
          <a:lstStyle/>
          <a:p>
            <a:pPr latinLnBrk="0"/>
            <a:r>
              <a:rPr lang="en-US" sz="1200" dirty="0"/>
              <a:t>Note: this table only shows TYPES of assets and threats.</a:t>
            </a:r>
          </a:p>
          <a:p>
            <a:pPr latinLnBrk="0"/>
            <a:r>
              <a:rPr lang="en-US" sz="1200" dirty="0"/>
              <a:t>An organization will make list of actual assets and their corresponding actual threats</a:t>
            </a:r>
          </a:p>
        </p:txBody>
      </p:sp>
    </p:spTree>
    <p:extLst>
      <p:ext uri="{BB962C8B-B14F-4D97-AF65-F5344CB8AC3E}">
        <p14:creationId xmlns:p14="http://schemas.microsoft.com/office/powerpoint/2010/main" val="29938395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0B4BA-8DDD-8289-0F8B-AEBF6476BF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935E03-1DDC-718A-A82D-546111E55F72}"/>
              </a:ext>
            </a:extLst>
          </p:cNvPr>
          <p:cNvSpPr>
            <a:spLocks noGrp="1"/>
          </p:cNvSpPr>
          <p:nvPr>
            <p:ph type="title"/>
          </p:nvPr>
        </p:nvSpPr>
        <p:spPr/>
        <p:txBody>
          <a:bodyPr/>
          <a:lstStyle/>
          <a:p>
            <a:r>
              <a:rPr lang="en-US" dirty="0"/>
              <a:t>Risk Likelihood</a:t>
            </a:r>
          </a:p>
        </p:txBody>
      </p:sp>
      <p:sp>
        <p:nvSpPr>
          <p:cNvPr id="3" name="Content Placeholder 2">
            <a:extLst>
              <a:ext uri="{FF2B5EF4-FFF2-40B4-BE49-F238E27FC236}">
                <a16:creationId xmlns:a16="http://schemas.microsoft.com/office/drawing/2014/main" id="{80810139-0604-0E7A-7399-1755AAF22772}"/>
              </a:ext>
            </a:extLst>
          </p:cNvPr>
          <p:cNvSpPr>
            <a:spLocks noGrp="1"/>
          </p:cNvSpPr>
          <p:nvPr>
            <p:ph sz="quarter" idx="11"/>
          </p:nvPr>
        </p:nvSpPr>
        <p:spPr/>
        <p:txBody>
          <a:bodyPr/>
          <a:lstStyle/>
          <a:p>
            <a:r>
              <a:rPr lang="en-US" sz="2800" dirty="0"/>
              <a:t>Likelihood indicates the chances that the organization will have to face a specific threat </a:t>
            </a:r>
          </a:p>
          <a:p>
            <a:r>
              <a:rPr lang="en-US" sz="2800" dirty="0"/>
              <a:t>Could be expressed either</a:t>
            </a:r>
          </a:p>
          <a:p>
            <a:pPr lvl="1"/>
            <a:r>
              <a:rPr lang="en-US" dirty="0"/>
              <a:t>on a qualitative scale like low, moderate high</a:t>
            </a:r>
          </a:p>
          <a:p>
            <a:pPr marL="457200" lvl="1" indent="0">
              <a:buNone/>
            </a:pPr>
            <a:r>
              <a:rPr lang="en-US" dirty="0"/>
              <a:t>or</a:t>
            </a:r>
          </a:p>
          <a:p>
            <a:pPr lvl="1"/>
            <a:r>
              <a:rPr lang="en-US" dirty="0"/>
              <a:t>as a probability number between 0 and 1. Unfortunately, it is often extremely hard to determine accurate probabilities</a:t>
            </a:r>
          </a:p>
          <a:p>
            <a:r>
              <a:rPr lang="en-US" sz="2800" dirty="0"/>
              <a:t>Can be estimated from organization</a:t>
            </a:r>
            <a:r>
              <a:rPr lang="en-US" dirty="0"/>
              <a:t>’s</a:t>
            </a:r>
            <a:r>
              <a:rPr lang="en-US" sz="2800" dirty="0"/>
              <a:t> history or published studies</a:t>
            </a:r>
          </a:p>
        </p:txBody>
      </p:sp>
    </p:spTree>
    <p:extLst>
      <p:ext uri="{BB962C8B-B14F-4D97-AF65-F5344CB8AC3E}">
        <p14:creationId xmlns:p14="http://schemas.microsoft.com/office/powerpoint/2010/main" val="3973806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Loss Magnitude (Impact)</a:t>
            </a:r>
          </a:p>
        </p:txBody>
      </p:sp>
      <p:sp>
        <p:nvSpPr>
          <p:cNvPr id="3" name="Content Placeholder 2"/>
          <p:cNvSpPr>
            <a:spLocks noGrp="1"/>
          </p:cNvSpPr>
          <p:nvPr>
            <p:ph sz="quarter" idx="11"/>
          </p:nvPr>
        </p:nvSpPr>
        <p:spPr/>
        <p:txBody>
          <a:bodyPr/>
          <a:lstStyle/>
          <a:p>
            <a:r>
              <a:rPr lang="en-US" sz="2800" dirty="0"/>
              <a:t>How much is the effect on organization’s business when threat occurs</a:t>
            </a:r>
          </a:p>
          <a:p>
            <a:r>
              <a:rPr lang="en-US" sz="2800" dirty="0"/>
              <a:t>Again, can be expressed either way</a:t>
            </a:r>
          </a:p>
          <a:p>
            <a:pPr lvl="1"/>
            <a:r>
              <a:rPr lang="en-US" dirty="0"/>
              <a:t>qualitatively as low, moderate, high or as a number on an arbitrary scale (say 1–10)</a:t>
            </a:r>
          </a:p>
          <a:p>
            <a:pPr lvl="1"/>
            <a:r>
              <a:rPr lang="en-US" dirty="0"/>
              <a:t>quantitatively as actual financial loss measured in monetary value. e.g. $20,000 revenue loss due to downtime of 5 minutes. But in many cases, exact loss figure is also very hard to estimate.</a:t>
            </a:r>
          </a:p>
        </p:txBody>
      </p:sp>
    </p:spTree>
    <p:extLst>
      <p:ext uri="{BB962C8B-B14F-4D97-AF65-F5344CB8AC3E}">
        <p14:creationId xmlns:p14="http://schemas.microsoft.com/office/powerpoint/2010/main" val="40906379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80EB5-2A31-DC34-6A01-18BA83F166BF}"/>
              </a:ext>
            </a:extLst>
          </p:cNvPr>
          <p:cNvSpPr>
            <a:spLocks noGrp="1"/>
          </p:cNvSpPr>
          <p:nvPr>
            <p:ph type="title"/>
          </p:nvPr>
        </p:nvSpPr>
        <p:spPr/>
        <p:txBody>
          <a:bodyPr/>
          <a:lstStyle/>
          <a:p>
            <a:r>
              <a:rPr lang="en-US" dirty="0"/>
              <a:t>Calculate Risk Score</a:t>
            </a:r>
          </a:p>
        </p:txBody>
      </p:sp>
      <p:sp>
        <p:nvSpPr>
          <p:cNvPr id="3" name="Content Placeholder 2">
            <a:extLst>
              <a:ext uri="{FF2B5EF4-FFF2-40B4-BE49-F238E27FC236}">
                <a16:creationId xmlns:a16="http://schemas.microsoft.com/office/drawing/2014/main" id="{B711AD0A-53F1-8163-05A7-B7D8426C0608}"/>
              </a:ext>
            </a:extLst>
          </p:cNvPr>
          <p:cNvSpPr>
            <a:spLocks noGrp="1"/>
          </p:cNvSpPr>
          <p:nvPr>
            <p:ph sz="quarter" idx="11"/>
          </p:nvPr>
        </p:nvSpPr>
        <p:spPr/>
        <p:txBody>
          <a:bodyPr/>
          <a:lstStyle/>
          <a:p>
            <a:pPr marL="0" indent="0">
              <a:buNone/>
            </a:pPr>
            <a:r>
              <a:rPr lang="en-US" sz="2600" b="1" dirty="0"/>
              <a:t>Risk score = Likelihood of threat × Threat impact</a:t>
            </a:r>
          </a:p>
          <a:p>
            <a:r>
              <a:rPr lang="en-US" sz="2400" dirty="0"/>
              <a:t>Score gives us a measure of prioritizing the risks.</a:t>
            </a:r>
          </a:p>
          <a:p>
            <a:r>
              <a:rPr lang="en-US" sz="2400" dirty="0"/>
              <a:t>Risk matrix (aka risk register) is a tool for visualizing all risks. </a:t>
            </a:r>
            <a:r>
              <a:rPr lang="en-US" sz="2400" dirty="0">
                <a:solidFill>
                  <a:srgbClr val="0070C0"/>
                </a:solidFill>
              </a:rPr>
              <a:t>Focus your resources on the red zone first!</a:t>
            </a:r>
          </a:p>
          <a:p>
            <a:endParaRPr lang="en-US" sz="2400" dirty="0"/>
          </a:p>
        </p:txBody>
      </p:sp>
      <p:pic>
        <p:nvPicPr>
          <p:cNvPr id="4" name="Picture 3">
            <a:extLst>
              <a:ext uri="{FF2B5EF4-FFF2-40B4-BE49-F238E27FC236}">
                <a16:creationId xmlns:a16="http://schemas.microsoft.com/office/drawing/2014/main" id="{05727F47-27DB-9D6D-0CD7-1B6BF28BC3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3501008"/>
            <a:ext cx="6199388" cy="29479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75853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Treatment (Controls)</a:t>
            </a:r>
          </a:p>
        </p:txBody>
      </p:sp>
      <p:sp>
        <p:nvSpPr>
          <p:cNvPr id="3" name="Content Placeholder 2"/>
          <p:cNvSpPr>
            <a:spLocks noGrp="1"/>
          </p:cNvSpPr>
          <p:nvPr>
            <p:ph sz="quarter" idx="11"/>
          </p:nvPr>
        </p:nvSpPr>
        <p:spPr/>
        <p:txBody>
          <a:bodyPr/>
          <a:lstStyle/>
          <a:p>
            <a:r>
              <a:rPr lang="en-US" dirty="0"/>
              <a:t>Once all the threats and their scores have been documented, its time to decide what are we going to do about each.</a:t>
            </a:r>
          </a:p>
          <a:p>
            <a:endParaRPr lang="en-US" dirty="0"/>
          </a:p>
          <a:p>
            <a:r>
              <a:rPr lang="en-US" dirty="0"/>
              <a:t>There are four control strategies</a:t>
            </a:r>
          </a:p>
          <a:p>
            <a:pPr lvl="1"/>
            <a:r>
              <a:rPr lang="en-US" dirty="0"/>
              <a:t>Transference</a:t>
            </a:r>
          </a:p>
          <a:p>
            <a:pPr lvl="1"/>
            <a:r>
              <a:rPr lang="en-US" dirty="0"/>
              <a:t>Acceptance</a:t>
            </a:r>
          </a:p>
          <a:p>
            <a:pPr lvl="1"/>
            <a:r>
              <a:rPr lang="en-US" dirty="0"/>
              <a:t>Avoidance</a:t>
            </a:r>
          </a:p>
          <a:p>
            <a:pPr lvl="1"/>
            <a:r>
              <a:rPr lang="en-US" dirty="0"/>
              <a:t>Defense / Mitigation</a:t>
            </a:r>
          </a:p>
          <a:p>
            <a:pPr lvl="1"/>
            <a:endParaRPr lang="en-US" dirty="0"/>
          </a:p>
        </p:txBody>
      </p:sp>
    </p:spTree>
    <p:extLst>
      <p:ext uri="{BB962C8B-B14F-4D97-AF65-F5344CB8AC3E}">
        <p14:creationId xmlns:p14="http://schemas.microsoft.com/office/powerpoint/2010/main" val="39180466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Transference</a:t>
            </a:r>
          </a:p>
        </p:txBody>
      </p:sp>
      <p:sp>
        <p:nvSpPr>
          <p:cNvPr id="3" name="Content Placeholder 2"/>
          <p:cNvSpPr>
            <a:spLocks noGrp="1"/>
          </p:cNvSpPr>
          <p:nvPr>
            <p:ph sz="quarter" idx="11"/>
          </p:nvPr>
        </p:nvSpPr>
        <p:spPr/>
        <p:txBody>
          <a:bodyPr/>
          <a:lstStyle/>
          <a:p>
            <a:r>
              <a:rPr lang="en-US" sz="2400" dirty="0"/>
              <a:t>Shift risk to other assets, processes, or organizations</a:t>
            </a:r>
          </a:p>
          <a:p>
            <a:endParaRPr lang="en-US" sz="2400" dirty="0"/>
          </a:p>
          <a:p>
            <a:pPr marL="0" indent="0">
              <a:buNone/>
            </a:pPr>
            <a:r>
              <a:rPr lang="en-US" sz="2400" b="1" dirty="0"/>
              <a:t>Examples</a:t>
            </a:r>
          </a:p>
          <a:p>
            <a:r>
              <a:rPr lang="en-US" sz="2400" dirty="0"/>
              <a:t>Outsourcing site hosting to a cloud service provider</a:t>
            </a:r>
          </a:p>
          <a:p>
            <a:r>
              <a:rPr lang="en-US" sz="2400" dirty="0"/>
              <a:t>Purchasing insurance against ransomware attacks</a:t>
            </a:r>
          </a:p>
          <a:p>
            <a:r>
              <a:rPr lang="en-US" sz="2400" dirty="0"/>
              <a:t>Signing service contracts with a vendor</a:t>
            </a:r>
          </a:p>
          <a:p>
            <a:endParaRPr lang="en-US" sz="2400" dirty="0"/>
          </a:p>
          <a:p>
            <a:endParaRPr lang="en-US" sz="2400" dirty="0"/>
          </a:p>
          <a:p>
            <a:r>
              <a:rPr lang="en-US" sz="2400" dirty="0"/>
              <a:t>Concentrate on what you do best</a:t>
            </a:r>
          </a:p>
        </p:txBody>
      </p:sp>
    </p:spTree>
    <p:extLst>
      <p:ext uri="{BB962C8B-B14F-4D97-AF65-F5344CB8AC3E}">
        <p14:creationId xmlns:p14="http://schemas.microsoft.com/office/powerpoint/2010/main" val="19472768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Acceptance</a:t>
            </a:r>
          </a:p>
        </p:txBody>
      </p:sp>
      <p:sp>
        <p:nvSpPr>
          <p:cNvPr id="3" name="Content Placeholder 2"/>
          <p:cNvSpPr>
            <a:spLocks noGrp="1"/>
          </p:cNvSpPr>
          <p:nvPr>
            <p:ph sz="quarter" idx="11"/>
          </p:nvPr>
        </p:nvSpPr>
        <p:spPr/>
        <p:txBody>
          <a:bodyPr/>
          <a:lstStyle/>
          <a:p>
            <a:r>
              <a:rPr lang="en-US" sz="2400" dirty="0"/>
              <a:t>Understand the consequences and </a:t>
            </a:r>
            <a:r>
              <a:rPr lang="en-US" sz="2400" b="1" dirty="0"/>
              <a:t>do nothing</a:t>
            </a:r>
            <a:r>
              <a:rPr lang="en-US" sz="2400" dirty="0"/>
              <a:t> to protect a vulnerability </a:t>
            </a:r>
          </a:p>
          <a:p>
            <a:pPr lvl="1"/>
            <a:r>
              <a:rPr lang="en-US" sz="2000" dirty="0"/>
              <a:t>Accept the outcome of its exploitation</a:t>
            </a:r>
          </a:p>
          <a:p>
            <a:r>
              <a:rPr lang="en-US" sz="2400" dirty="0"/>
              <a:t>Valid only when the particular function, service, information, or asset does not justify the cost of protection</a:t>
            </a:r>
          </a:p>
          <a:p>
            <a:endParaRPr lang="en-US" sz="2400" dirty="0"/>
          </a:p>
          <a:p>
            <a:r>
              <a:rPr lang="en-US" sz="2400" dirty="0"/>
              <a:t>‘Risk appetite’ describes the degree to which organization is willing to accept risk as trade-off to the expense of applying controls</a:t>
            </a:r>
          </a:p>
        </p:txBody>
      </p:sp>
    </p:spTree>
    <p:extLst>
      <p:ext uri="{BB962C8B-B14F-4D97-AF65-F5344CB8AC3E}">
        <p14:creationId xmlns:p14="http://schemas.microsoft.com/office/powerpoint/2010/main" val="1706905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9E5C4-5984-3BAA-58CA-9D0053D2782A}"/>
              </a:ext>
            </a:extLst>
          </p:cNvPr>
          <p:cNvSpPr>
            <a:spLocks noGrp="1"/>
          </p:cNvSpPr>
          <p:nvPr>
            <p:ph type="title"/>
          </p:nvPr>
        </p:nvSpPr>
        <p:spPr/>
        <p:txBody>
          <a:bodyPr/>
          <a:lstStyle/>
          <a:p>
            <a:r>
              <a:rPr lang="en-US" dirty="0"/>
              <a:t>Avoidance</a:t>
            </a:r>
          </a:p>
        </p:txBody>
      </p:sp>
      <p:sp>
        <p:nvSpPr>
          <p:cNvPr id="3" name="Content Placeholder 2">
            <a:extLst>
              <a:ext uri="{FF2B5EF4-FFF2-40B4-BE49-F238E27FC236}">
                <a16:creationId xmlns:a16="http://schemas.microsoft.com/office/drawing/2014/main" id="{6BCEE113-7B89-CC3E-4A84-B2AF88EB180E}"/>
              </a:ext>
            </a:extLst>
          </p:cNvPr>
          <p:cNvSpPr>
            <a:spLocks noGrp="1"/>
          </p:cNvSpPr>
          <p:nvPr>
            <p:ph sz="quarter" idx="11"/>
          </p:nvPr>
        </p:nvSpPr>
        <p:spPr/>
        <p:txBody>
          <a:bodyPr/>
          <a:lstStyle/>
          <a:p>
            <a:r>
              <a:rPr lang="en-US" sz="2400" dirty="0"/>
              <a:t>Avoid business activities that introduce an uncontrollable risk</a:t>
            </a:r>
          </a:p>
          <a:p>
            <a:r>
              <a:rPr lang="en-US" sz="2400" dirty="0"/>
              <a:t>This usually results in loss of convenience or inability to perform some useful function.</a:t>
            </a:r>
          </a:p>
          <a:p>
            <a:r>
              <a:rPr lang="en-US" sz="2400" dirty="0"/>
              <a:t>The loss of this capability is traded off against the reduced risk profile.</a:t>
            </a:r>
          </a:p>
          <a:p>
            <a:endParaRPr lang="en-US" sz="2400" dirty="0"/>
          </a:p>
          <a:p>
            <a:pPr marL="0" indent="0">
              <a:buNone/>
            </a:pPr>
            <a:r>
              <a:rPr lang="en-US" sz="2400" b="1" dirty="0"/>
              <a:t>Example</a:t>
            </a:r>
          </a:p>
          <a:p>
            <a:r>
              <a:rPr lang="en-US" sz="2400" dirty="0"/>
              <a:t>A personal finance &amp; budgeting app decides not to integrate with users’ bank accounts – due to risk of unauthorized transactions if app is hacked.</a:t>
            </a:r>
          </a:p>
        </p:txBody>
      </p:sp>
    </p:spTree>
    <p:extLst>
      <p:ext uri="{BB962C8B-B14F-4D97-AF65-F5344CB8AC3E}">
        <p14:creationId xmlns:p14="http://schemas.microsoft.com/office/powerpoint/2010/main" val="34936024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Defense / Mitigation</a:t>
            </a:r>
          </a:p>
        </p:txBody>
      </p:sp>
      <p:sp>
        <p:nvSpPr>
          <p:cNvPr id="3" name="Content Placeholder 2"/>
          <p:cNvSpPr>
            <a:spLocks noGrp="1"/>
          </p:cNvSpPr>
          <p:nvPr>
            <p:ph sz="quarter" idx="11"/>
          </p:nvPr>
        </p:nvSpPr>
        <p:spPr/>
        <p:txBody>
          <a:bodyPr/>
          <a:lstStyle/>
          <a:p>
            <a:r>
              <a:rPr lang="en-US" sz="2400" dirty="0"/>
              <a:t>Apply safeguards that either</a:t>
            </a:r>
          </a:p>
          <a:p>
            <a:pPr lvl="1"/>
            <a:r>
              <a:rPr lang="en-US" dirty="0"/>
              <a:t>reduce the likelihood of threat occurrence</a:t>
            </a:r>
          </a:p>
          <a:p>
            <a:pPr marL="400050" lvl="1" indent="0">
              <a:buNone/>
            </a:pPr>
            <a:r>
              <a:rPr lang="en-US" dirty="0"/>
              <a:t>or</a:t>
            </a:r>
          </a:p>
          <a:p>
            <a:pPr lvl="1"/>
            <a:r>
              <a:rPr lang="en-US" dirty="0"/>
              <a:t>lessen the impact should the vulnerability be exploited. </a:t>
            </a:r>
          </a:p>
          <a:p>
            <a:r>
              <a:rPr lang="en-US" sz="2400" dirty="0"/>
              <a:t>Mitigation will reduce the risk score to a smaller value (called ‘residual risk’)</a:t>
            </a:r>
          </a:p>
          <a:p>
            <a:pPr marL="0" indent="0">
              <a:buNone/>
            </a:pPr>
            <a:r>
              <a:rPr lang="en-US" sz="2400" b="1" dirty="0"/>
              <a:t>Examples</a:t>
            </a:r>
          </a:p>
          <a:p>
            <a:r>
              <a:rPr lang="en-US" sz="2400" dirty="0"/>
              <a:t>Regularly update software to remove vulnerabilities</a:t>
            </a:r>
          </a:p>
          <a:p>
            <a:r>
              <a:rPr lang="en-US" sz="2400" dirty="0"/>
              <a:t>Enforce access control on files and databases</a:t>
            </a:r>
          </a:p>
          <a:p>
            <a:r>
              <a:rPr lang="en-US" sz="2400" dirty="0"/>
              <a:t>Set up an intrusion detection systems</a:t>
            </a:r>
          </a:p>
        </p:txBody>
      </p:sp>
    </p:spTree>
    <p:extLst>
      <p:ext uri="{BB962C8B-B14F-4D97-AF65-F5344CB8AC3E}">
        <p14:creationId xmlns:p14="http://schemas.microsoft.com/office/powerpoint/2010/main" val="40380770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1E906-EE71-CC6B-E06E-0745CFAE45F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A96C478-2843-302A-51F1-783DE713DB45}"/>
              </a:ext>
            </a:extLst>
          </p:cNvPr>
          <p:cNvSpPr>
            <a:spLocks noGrp="1"/>
          </p:cNvSpPr>
          <p:nvPr>
            <p:ph type="title"/>
          </p:nvPr>
        </p:nvSpPr>
        <p:spPr/>
        <p:txBody>
          <a:bodyPr/>
          <a:lstStyle/>
          <a:p>
            <a:r>
              <a:rPr lang="en-US" sz="4800" dirty="0"/>
              <a:t>Contingency Planning</a:t>
            </a:r>
          </a:p>
        </p:txBody>
      </p:sp>
    </p:spTree>
    <p:extLst>
      <p:ext uri="{BB962C8B-B14F-4D97-AF65-F5344CB8AC3E}">
        <p14:creationId xmlns:p14="http://schemas.microsoft.com/office/powerpoint/2010/main" val="41501481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D9A07-14E0-D001-B31C-2586E35C17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52E2DD-646C-7EFF-2003-51D5A1CD907B}"/>
              </a:ext>
            </a:extLst>
          </p:cNvPr>
          <p:cNvSpPr>
            <a:spLocks noGrp="1"/>
          </p:cNvSpPr>
          <p:nvPr>
            <p:ph type="title"/>
          </p:nvPr>
        </p:nvSpPr>
        <p:spPr/>
        <p:txBody>
          <a:bodyPr/>
          <a:lstStyle/>
          <a:p>
            <a:r>
              <a:rPr lang="en-US" dirty="0"/>
              <a:t>When bad things do happen</a:t>
            </a:r>
          </a:p>
        </p:txBody>
      </p:sp>
      <p:sp>
        <p:nvSpPr>
          <p:cNvPr id="3" name="Content Placeholder 2">
            <a:extLst>
              <a:ext uri="{FF2B5EF4-FFF2-40B4-BE49-F238E27FC236}">
                <a16:creationId xmlns:a16="http://schemas.microsoft.com/office/drawing/2014/main" id="{9459859D-B2CA-5FE2-4E79-285D6B2912B6}"/>
              </a:ext>
            </a:extLst>
          </p:cNvPr>
          <p:cNvSpPr>
            <a:spLocks noGrp="1"/>
          </p:cNvSpPr>
          <p:nvPr>
            <p:ph sz="quarter" idx="11"/>
          </p:nvPr>
        </p:nvSpPr>
        <p:spPr/>
        <p:txBody>
          <a:bodyPr/>
          <a:lstStyle/>
          <a:p>
            <a:r>
              <a:rPr lang="en-US" sz="2400" dirty="0"/>
              <a:t>No defense is 100% perfect. A security incident will eventually occur.</a:t>
            </a:r>
          </a:p>
          <a:p>
            <a:r>
              <a:rPr lang="en-US" sz="2400" dirty="0"/>
              <a:t>Our goal should be to minimize the damage and recover as quickly as possible.</a:t>
            </a:r>
          </a:p>
          <a:p>
            <a:r>
              <a:rPr lang="en-US" sz="2400" i="1" dirty="0"/>
              <a:t>Failing to plan is planning to fail.</a:t>
            </a:r>
          </a:p>
          <a:p>
            <a:r>
              <a:rPr lang="en-US" sz="2400" b="1" dirty="0"/>
              <a:t>Incident response plan</a:t>
            </a:r>
            <a:r>
              <a:rPr lang="en-US" sz="2400" dirty="0"/>
              <a:t> tells the staff how to deal with a security incident.</a:t>
            </a:r>
          </a:p>
          <a:p>
            <a:r>
              <a:rPr lang="en-US" sz="2400" dirty="0"/>
              <a:t>It covers identification and classification of an incident and appropriate response to it.</a:t>
            </a:r>
          </a:p>
          <a:p>
            <a:r>
              <a:rPr lang="en-US" sz="2400" dirty="0"/>
              <a:t>Incident response (IR) is more reactive, than proactive, except for planning that must occur to prepare IR teams to be ready to react to an incident</a:t>
            </a:r>
          </a:p>
          <a:p>
            <a:endParaRPr lang="en-US" sz="2400" dirty="0"/>
          </a:p>
          <a:p>
            <a:endParaRPr lang="en-US" sz="2400" dirty="0"/>
          </a:p>
          <a:p>
            <a:endParaRPr lang="en-US" sz="2400" dirty="0"/>
          </a:p>
        </p:txBody>
      </p:sp>
    </p:spTree>
    <p:extLst>
      <p:ext uri="{BB962C8B-B14F-4D97-AF65-F5344CB8AC3E}">
        <p14:creationId xmlns:p14="http://schemas.microsoft.com/office/powerpoint/2010/main" val="27851951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Incident Response Planning</a:t>
            </a:r>
          </a:p>
        </p:txBody>
      </p:sp>
      <p:sp>
        <p:nvSpPr>
          <p:cNvPr id="3" name="Content Placeholder 2"/>
          <p:cNvSpPr>
            <a:spLocks noGrp="1"/>
          </p:cNvSpPr>
          <p:nvPr>
            <p:ph sz="quarter" idx="11"/>
          </p:nvPr>
        </p:nvSpPr>
        <p:spPr/>
        <p:txBody>
          <a:bodyPr/>
          <a:lstStyle/>
          <a:p>
            <a:pPr marL="0" indent="0">
              <a:buNone/>
            </a:pPr>
            <a:r>
              <a:rPr lang="en-US" sz="2400" dirty="0"/>
              <a:t>Attacks classified as incidents if they:</a:t>
            </a:r>
          </a:p>
          <a:p>
            <a:r>
              <a:rPr lang="en-US" sz="2400" dirty="0"/>
              <a:t>are directed against information assets</a:t>
            </a:r>
          </a:p>
          <a:p>
            <a:r>
              <a:rPr lang="en-US" sz="2400" dirty="0"/>
              <a:t>have a realistic chance of success</a:t>
            </a:r>
          </a:p>
          <a:p>
            <a:r>
              <a:rPr lang="en-US" sz="2400" dirty="0"/>
              <a:t>could threaten confidentiality, integrity, or availability of information resources</a:t>
            </a:r>
          </a:p>
          <a:p>
            <a:endParaRPr lang="en-US" sz="2400" dirty="0"/>
          </a:p>
          <a:p>
            <a:r>
              <a:rPr lang="en-US" sz="2400" dirty="0"/>
              <a:t>In planning, we develop a series of predefined responses</a:t>
            </a:r>
          </a:p>
          <a:p>
            <a:pPr lvl="1"/>
            <a:r>
              <a:rPr lang="en-US" sz="2000" dirty="0"/>
              <a:t>Set of activities taken to detect and correct the impact</a:t>
            </a:r>
          </a:p>
          <a:p>
            <a:r>
              <a:rPr lang="en-US" sz="2400" dirty="0"/>
              <a:t>Enables organization to react quickly and correctly instead of everyone being confused in heat of the moment.</a:t>
            </a:r>
            <a:endParaRPr lang="en-US" dirty="0"/>
          </a:p>
          <a:p>
            <a:endParaRPr lang="en-US" sz="2400" dirty="0"/>
          </a:p>
        </p:txBody>
      </p:sp>
    </p:spTree>
    <p:extLst>
      <p:ext uri="{BB962C8B-B14F-4D97-AF65-F5344CB8AC3E}">
        <p14:creationId xmlns:p14="http://schemas.microsoft.com/office/powerpoint/2010/main" val="38739343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AA97-0B46-EA50-EE24-57A983D1515A}"/>
              </a:ext>
            </a:extLst>
          </p:cNvPr>
          <p:cNvSpPr>
            <a:spLocks noGrp="1"/>
          </p:cNvSpPr>
          <p:nvPr>
            <p:ph type="title"/>
          </p:nvPr>
        </p:nvSpPr>
        <p:spPr/>
        <p:txBody>
          <a:bodyPr/>
          <a:lstStyle/>
          <a:p>
            <a:r>
              <a:rPr lang="en-US" dirty="0"/>
              <a:t>Incident Response Plans (IRP)</a:t>
            </a:r>
          </a:p>
        </p:txBody>
      </p:sp>
      <p:sp>
        <p:nvSpPr>
          <p:cNvPr id="3" name="Content Placeholder 2">
            <a:extLst>
              <a:ext uri="{FF2B5EF4-FFF2-40B4-BE49-F238E27FC236}">
                <a16:creationId xmlns:a16="http://schemas.microsoft.com/office/drawing/2014/main" id="{7381A5D2-0FEC-ABFC-7BCD-67A9F09B7E84}"/>
              </a:ext>
            </a:extLst>
          </p:cNvPr>
          <p:cNvSpPr>
            <a:spLocks noGrp="1"/>
          </p:cNvSpPr>
          <p:nvPr>
            <p:ph sz="quarter" idx="11"/>
          </p:nvPr>
        </p:nvSpPr>
        <p:spPr>
          <a:xfrm>
            <a:off x="457200" y="1556792"/>
            <a:ext cx="8229600" cy="4676700"/>
          </a:xfrm>
        </p:spPr>
        <p:txBody>
          <a:bodyPr/>
          <a:lstStyle/>
          <a:p>
            <a:r>
              <a:rPr lang="en-US" sz="2400" dirty="0"/>
              <a:t>IRP documents define the actions of each person (role) who must help the organization react to and recover from the incident.</a:t>
            </a:r>
          </a:p>
          <a:p>
            <a:r>
              <a:rPr lang="en-US" sz="2400" dirty="0"/>
              <a:t>The documents list</a:t>
            </a:r>
          </a:p>
          <a:p>
            <a:pPr lvl="1"/>
            <a:r>
              <a:rPr lang="en-US" sz="2000" dirty="0"/>
              <a:t>Who is on the Incident Response Team? (IT, Legal, HR, Communications, Leadership).</a:t>
            </a:r>
          </a:p>
          <a:p>
            <a:pPr lvl="1"/>
            <a:r>
              <a:rPr lang="en-US" sz="2000" dirty="0"/>
              <a:t>Who has the authority to make critical decisions? (e.g., shutting down a system).</a:t>
            </a:r>
          </a:p>
          <a:p>
            <a:pPr lvl="1"/>
            <a:r>
              <a:rPr lang="en-US" sz="2000" dirty="0"/>
              <a:t>How do you communicate internally and externally? (To employees, the public, and regulators).</a:t>
            </a:r>
          </a:p>
          <a:p>
            <a:endParaRPr lang="en-US" sz="2400" dirty="0"/>
          </a:p>
          <a:p>
            <a:r>
              <a:rPr lang="en-US" sz="2400" dirty="0"/>
              <a:t>IRPs must also be tested in (say) a simulated scenario to ensure they are effective.</a:t>
            </a:r>
          </a:p>
        </p:txBody>
      </p:sp>
    </p:spTree>
    <p:extLst>
      <p:ext uri="{BB962C8B-B14F-4D97-AF65-F5344CB8AC3E}">
        <p14:creationId xmlns:p14="http://schemas.microsoft.com/office/powerpoint/2010/main" val="5224634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Incident Detection</a:t>
            </a:r>
          </a:p>
        </p:txBody>
      </p:sp>
      <p:sp>
        <p:nvSpPr>
          <p:cNvPr id="3" name="Content Placeholder 2"/>
          <p:cNvSpPr>
            <a:spLocks noGrp="1"/>
          </p:cNvSpPr>
          <p:nvPr>
            <p:ph sz="quarter" idx="11"/>
          </p:nvPr>
        </p:nvSpPr>
        <p:spPr/>
        <p:txBody>
          <a:bodyPr/>
          <a:lstStyle/>
          <a:p>
            <a:pPr marL="0" indent="0">
              <a:buNone/>
            </a:pPr>
            <a:r>
              <a:rPr lang="en-US" sz="2400" dirty="0"/>
              <a:t>Sources of Incident detection – intrusion detection systems, anti malware software, system administrators, end users.</a:t>
            </a:r>
          </a:p>
          <a:p>
            <a:r>
              <a:rPr lang="en-US" sz="2400" b="1" dirty="0"/>
              <a:t>Possible indicators: </a:t>
            </a:r>
            <a:r>
              <a:rPr lang="en-US" sz="2400" dirty="0"/>
              <a:t>Presence of unfamiliar files, execution of unknown processes, unusual consumption of resources, unusual system crashes</a:t>
            </a:r>
          </a:p>
          <a:p>
            <a:r>
              <a:rPr lang="en-US" sz="2400" b="1" dirty="0"/>
              <a:t>Probable indicators: </a:t>
            </a:r>
            <a:r>
              <a:rPr lang="en-US" sz="2400" dirty="0"/>
              <a:t>Activities at unexpected times, presence of new accounts, reported attacks, notification from IDS</a:t>
            </a:r>
          </a:p>
          <a:p>
            <a:r>
              <a:rPr lang="en-US" sz="2400" b="1" dirty="0"/>
              <a:t>Definite indicators: </a:t>
            </a:r>
            <a:r>
              <a:rPr lang="en-US" sz="2400" dirty="0"/>
              <a:t>Use of dormant accounts, changes to logs, presence of hacker tools, notification by hackers</a:t>
            </a:r>
          </a:p>
          <a:p>
            <a:endParaRPr lang="en-US" sz="2400" dirty="0"/>
          </a:p>
        </p:txBody>
      </p:sp>
    </p:spTree>
    <p:extLst>
      <p:ext uri="{BB962C8B-B14F-4D97-AF65-F5344CB8AC3E}">
        <p14:creationId xmlns:p14="http://schemas.microsoft.com/office/powerpoint/2010/main" val="74406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Incident Reaction</a:t>
            </a:r>
          </a:p>
        </p:txBody>
      </p:sp>
      <p:sp>
        <p:nvSpPr>
          <p:cNvPr id="3" name="Content Placeholder 2"/>
          <p:cNvSpPr>
            <a:spLocks noGrp="1"/>
          </p:cNvSpPr>
          <p:nvPr>
            <p:ph sz="quarter" idx="11"/>
          </p:nvPr>
        </p:nvSpPr>
        <p:spPr/>
        <p:txBody>
          <a:bodyPr/>
          <a:lstStyle/>
          <a:p>
            <a:r>
              <a:rPr lang="en-US" sz="2400" dirty="0"/>
              <a:t>Once IRP is activated, the designated staff must follow the actions outlined in it.</a:t>
            </a:r>
          </a:p>
          <a:p>
            <a:r>
              <a:rPr lang="en-US" sz="2400" dirty="0"/>
              <a:t>Purpose is to</a:t>
            </a:r>
          </a:p>
          <a:p>
            <a:pPr lvl="1"/>
            <a:r>
              <a:rPr lang="en-US" sz="2000" dirty="0"/>
              <a:t>Stop the incident</a:t>
            </a:r>
          </a:p>
          <a:p>
            <a:pPr lvl="1"/>
            <a:r>
              <a:rPr lang="en-US" sz="2000" dirty="0"/>
              <a:t>Mitigate the impact</a:t>
            </a:r>
          </a:p>
          <a:p>
            <a:pPr lvl="1"/>
            <a:r>
              <a:rPr lang="en-US" sz="2000" dirty="0"/>
              <a:t>Provide information recovery</a:t>
            </a:r>
          </a:p>
          <a:p>
            <a:r>
              <a:rPr lang="en-US" sz="2400" dirty="0"/>
              <a:t>Immediately when incident is discovered, we must notify the key personnel (as specified in the IRP)</a:t>
            </a:r>
          </a:p>
          <a:p>
            <a:r>
              <a:rPr lang="en-US" sz="2400" dirty="0"/>
              <a:t>Documenting the incident is also an important action: note down the </a:t>
            </a:r>
            <a:r>
              <a:rPr lang="en-US" sz="2400" dirty="0">
                <a:solidFill>
                  <a:srgbClr val="0070C0"/>
                </a:solidFill>
              </a:rPr>
              <a:t>who, what, when, where, why, and how</a:t>
            </a:r>
            <a:r>
              <a:rPr lang="en-US" sz="2400" dirty="0"/>
              <a:t> of the events</a:t>
            </a:r>
          </a:p>
          <a:p>
            <a:r>
              <a:rPr lang="en-US" sz="2400" dirty="0"/>
              <a:t>Next step is to contain the incident</a:t>
            </a:r>
          </a:p>
        </p:txBody>
      </p:sp>
    </p:spTree>
    <p:extLst>
      <p:ext uri="{BB962C8B-B14F-4D97-AF65-F5344CB8AC3E}">
        <p14:creationId xmlns:p14="http://schemas.microsoft.com/office/powerpoint/2010/main" val="23386008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Incident Containment Strategies</a:t>
            </a:r>
          </a:p>
        </p:txBody>
      </p:sp>
      <p:sp>
        <p:nvSpPr>
          <p:cNvPr id="3" name="Content Placeholder 2"/>
          <p:cNvSpPr>
            <a:spLocks noGrp="1"/>
          </p:cNvSpPr>
          <p:nvPr>
            <p:ph sz="quarter" idx="11"/>
          </p:nvPr>
        </p:nvSpPr>
        <p:spPr/>
        <p:txBody>
          <a:bodyPr/>
          <a:lstStyle/>
          <a:p>
            <a:r>
              <a:rPr lang="en-US" sz="2400" dirty="0"/>
              <a:t>Sever affected communication circuits if possible</a:t>
            </a:r>
          </a:p>
          <a:p>
            <a:pPr lvl="1"/>
            <a:r>
              <a:rPr lang="en-US" sz="2000" dirty="0"/>
              <a:t>keeping disruption to business activities minimum</a:t>
            </a:r>
          </a:p>
          <a:p>
            <a:r>
              <a:rPr lang="en-US" sz="2400" dirty="0"/>
              <a:t>Disable accounts</a:t>
            </a:r>
          </a:p>
          <a:p>
            <a:r>
              <a:rPr lang="en-US" sz="2400" dirty="0"/>
              <a:t>Reconfigure firewall</a:t>
            </a:r>
          </a:p>
          <a:p>
            <a:r>
              <a:rPr lang="en-US" sz="2400" dirty="0"/>
              <a:t>Disable process or service</a:t>
            </a:r>
          </a:p>
          <a:p>
            <a:r>
              <a:rPr lang="en-US" sz="2400" dirty="0"/>
              <a:t>Take down email</a:t>
            </a:r>
          </a:p>
          <a:p>
            <a:r>
              <a:rPr lang="en-US" sz="2400" dirty="0"/>
              <a:t>Isolate affected channels, processes, services, or computers</a:t>
            </a:r>
          </a:p>
          <a:p>
            <a:r>
              <a:rPr lang="en-US" sz="2400" dirty="0"/>
              <a:t>Most drastic: Stop all computers and network devices</a:t>
            </a:r>
          </a:p>
        </p:txBody>
      </p:sp>
    </p:spTree>
    <p:extLst>
      <p:ext uri="{BB962C8B-B14F-4D97-AF65-F5344CB8AC3E}">
        <p14:creationId xmlns:p14="http://schemas.microsoft.com/office/powerpoint/2010/main" val="14409180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Incident Recovery</a:t>
            </a:r>
          </a:p>
        </p:txBody>
      </p:sp>
      <p:sp>
        <p:nvSpPr>
          <p:cNvPr id="3" name="Content Placeholder 2"/>
          <p:cNvSpPr>
            <a:spLocks noGrp="1"/>
          </p:cNvSpPr>
          <p:nvPr>
            <p:ph sz="quarter" idx="11"/>
          </p:nvPr>
        </p:nvSpPr>
        <p:spPr/>
        <p:txBody>
          <a:bodyPr/>
          <a:lstStyle/>
          <a:p>
            <a:r>
              <a:rPr lang="en-US" sz="2400" dirty="0"/>
              <a:t>Assess full extant of the damage</a:t>
            </a:r>
          </a:p>
          <a:p>
            <a:r>
              <a:rPr lang="en-US" sz="2400" dirty="0"/>
              <a:t>Conduct ‘forensic’ activities to determine how the incident occurred and what happened.</a:t>
            </a:r>
          </a:p>
          <a:p>
            <a:r>
              <a:rPr lang="en-US" sz="2400" dirty="0"/>
              <a:t>Based on results of forensic analysis</a:t>
            </a:r>
          </a:p>
          <a:p>
            <a:pPr lvl="1"/>
            <a:r>
              <a:rPr lang="en-US" sz="2000" dirty="0"/>
              <a:t>Identify and resolve vulnerabilities</a:t>
            </a:r>
          </a:p>
          <a:p>
            <a:pPr lvl="1"/>
            <a:r>
              <a:rPr lang="en-US" sz="2000" dirty="0"/>
              <a:t>Address safeguards</a:t>
            </a:r>
          </a:p>
          <a:p>
            <a:pPr lvl="1"/>
            <a:r>
              <a:rPr lang="en-US" sz="2000" dirty="0"/>
              <a:t>Evaluate monitoring capabilities</a:t>
            </a:r>
          </a:p>
          <a:p>
            <a:r>
              <a:rPr lang="en-US" sz="2400" dirty="0"/>
              <a:t>Restore data from backups</a:t>
            </a:r>
          </a:p>
          <a:p>
            <a:r>
              <a:rPr lang="en-US" sz="2400" dirty="0"/>
              <a:t>Restore process and services</a:t>
            </a:r>
          </a:p>
          <a:p>
            <a:r>
              <a:rPr lang="en-US" sz="2400" dirty="0"/>
              <a:t>Continuously monitor system</a:t>
            </a:r>
          </a:p>
        </p:txBody>
      </p:sp>
    </p:spTree>
    <p:extLst>
      <p:ext uri="{BB962C8B-B14F-4D97-AF65-F5344CB8AC3E}">
        <p14:creationId xmlns:p14="http://schemas.microsoft.com/office/powerpoint/2010/main" val="16172964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Contingency Planning Timeline</a:t>
            </a:r>
          </a:p>
        </p:txBody>
      </p:sp>
      <p:pic>
        <p:nvPicPr>
          <p:cNvPr id="4" name="Content Placeholder 3"/>
          <p:cNvPicPr>
            <a:picLocks noGrp="1" noChangeAspect="1"/>
          </p:cNvPicPr>
          <p:nvPr>
            <p:ph sz="quarter" idx="11"/>
          </p:nvPr>
        </p:nvPicPr>
        <p:blipFill>
          <a:blip r:embed="rId2"/>
          <a:stretch>
            <a:fillRect/>
          </a:stretch>
        </p:blipFill>
        <p:spPr>
          <a:xfrm>
            <a:off x="665758" y="1412776"/>
            <a:ext cx="8151173" cy="4968552"/>
          </a:xfrm>
          <a:prstGeom prst="rect">
            <a:avLst/>
          </a:prstGeom>
        </p:spPr>
      </p:pic>
    </p:spTree>
    <p:extLst>
      <p:ext uri="{BB962C8B-B14F-4D97-AF65-F5344CB8AC3E}">
        <p14:creationId xmlns:p14="http://schemas.microsoft.com/office/powerpoint/2010/main" val="20782274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Disaster Recovery Plan (DRP)</a:t>
            </a:r>
          </a:p>
        </p:txBody>
      </p:sp>
      <p:sp>
        <p:nvSpPr>
          <p:cNvPr id="3" name="Content Placeholder 2"/>
          <p:cNvSpPr>
            <a:spLocks noGrp="1"/>
          </p:cNvSpPr>
          <p:nvPr>
            <p:ph sz="quarter" idx="11"/>
          </p:nvPr>
        </p:nvSpPr>
        <p:spPr/>
        <p:txBody>
          <a:bodyPr/>
          <a:lstStyle/>
          <a:p>
            <a:r>
              <a:rPr lang="en-US" sz="2400" dirty="0"/>
              <a:t>An event can be categorized as a disaster when an organization is unable to mitigate the impact of an incident while it is occurring and the level of damage or destruction is so severe that the organization is unable to recover quickly.</a:t>
            </a:r>
          </a:p>
          <a:p>
            <a:r>
              <a:rPr lang="en-US" sz="2400" dirty="0"/>
              <a:t>The Disaster Recovery Plan is similar in structure to the IR plan, provides detailed guidance in the event of a disaster.</a:t>
            </a:r>
          </a:p>
          <a:p>
            <a:r>
              <a:rPr lang="en-US" sz="2400" dirty="0"/>
              <a:t>It is organized by the type or nature of the disaster, and it specifies recovery procedures during and after each type of disaster. </a:t>
            </a:r>
          </a:p>
        </p:txBody>
      </p:sp>
    </p:spTree>
    <p:extLst>
      <p:ext uri="{BB962C8B-B14F-4D97-AF65-F5344CB8AC3E}">
        <p14:creationId xmlns:p14="http://schemas.microsoft.com/office/powerpoint/2010/main" val="41462438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013D7-81CA-1055-BFB3-7AD5CDF4DA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AE03E2-C83D-0B85-38AC-325EA707AEE2}"/>
              </a:ext>
            </a:extLst>
          </p:cNvPr>
          <p:cNvSpPr>
            <a:spLocks noGrp="1"/>
          </p:cNvSpPr>
          <p:nvPr>
            <p:ph type="title"/>
          </p:nvPr>
        </p:nvSpPr>
        <p:spPr/>
        <p:txBody>
          <a:bodyPr/>
          <a:lstStyle/>
          <a:p>
            <a:r>
              <a:rPr lang="en-US" dirty="0"/>
              <a:t>Disaster Recovery Plan (DRP)</a:t>
            </a:r>
          </a:p>
        </p:txBody>
      </p:sp>
      <p:sp>
        <p:nvSpPr>
          <p:cNvPr id="3" name="Content Placeholder 2">
            <a:extLst>
              <a:ext uri="{FF2B5EF4-FFF2-40B4-BE49-F238E27FC236}">
                <a16:creationId xmlns:a16="http://schemas.microsoft.com/office/drawing/2014/main" id="{F6DDEF95-F7A7-BB9F-559D-270F57237C81}"/>
              </a:ext>
            </a:extLst>
          </p:cNvPr>
          <p:cNvSpPr>
            <a:spLocks noGrp="1"/>
          </p:cNvSpPr>
          <p:nvPr>
            <p:ph sz="quarter" idx="11"/>
          </p:nvPr>
        </p:nvSpPr>
        <p:spPr/>
        <p:txBody>
          <a:bodyPr/>
          <a:lstStyle/>
          <a:p>
            <a:r>
              <a:rPr lang="en-US" sz="2400" b="1" dirty="0"/>
              <a:t>Aim</a:t>
            </a:r>
            <a:r>
              <a:rPr lang="en-US" sz="2400" dirty="0"/>
              <a:t>: Secure most valuable assets, at the risk of short-term disruption.</a:t>
            </a:r>
          </a:p>
          <a:p>
            <a:pPr marL="0" indent="0">
              <a:buNone/>
            </a:pPr>
            <a:r>
              <a:rPr lang="en-US" sz="2400" b="1" dirty="0"/>
              <a:t>What it contains</a:t>
            </a:r>
          </a:p>
          <a:p>
            <a:r>
              <a:rPr lang="en-US" sz="2400" dirty="0"/>
              <a:t>Clear establishment of priorities</a:t>
            </a:r>
          </a:p>
          <a:p>
            <a:pPr lvl="1"/>
            <a:r>
              <a:rPr lang="en-US" sz="2000" dirty="0"/>
              <a:t>e.g. human life is most important</a:t>
            </a:r>
          </a:p>
          <a:p>
            <a:pPr lvl="1"/>
            <a:r>
              <a:rPr lang="en-US" sz="2000" dirty="0"/>
              <a:t>After that, note down which services are most important to safeguard</a:t>
            </a:r>
          </a:p>
          <a:p>
            <a:r>
              <a:rPr lang="en-US" sz="2400" dirty="0"/>
              <a:t>Clear delegation of roles &amp; responsibilities</a:t>
            </a:r>
          </a:p>
          <a:p>
            <a:r>
              <a:rPr lang="en-US" sz="2400" dirty="0"/>
              <a:t>Document disaster events</a:t>
            </a:r>
          </a:p>
          <a:p>
            <a:r>
              <a:rPr lang="en-US" sz="2400" dirty="0"/>
              <a:t>Mitigate impact if possible</a:t>
            </a:r>
          </a:p>
          <a:p>
            <a:r>
              <a:rPr lang="en-US" sz="2400" dirty="0"/>
              <a:t>Evacuation of physical assets</a:t>
            </a:r>
          </a:p>
        </p:txBody>
      </p:sp>
    </p:spTree>
    <p:extLst>
      <p:ext uri="{BB962C8B-B14F-4D97-AF65-F5344CB8AC3E}">
        <p14:creationId xmlns:p14="http://schemas.microsoft.com/office/powerpoint/2010/main" val="24184183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0584A-557F-ED3F-05CF-B56773C616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D13519-4EFE-B58D-1A3E-28A6F006CFE6}"/>
              </a:ext>
            </a:extLst>
          </p:cNvPr>
          <p:cNvSpPr>
            <a:spLocks noGrp="1"/>
          </p:cNvSpPr>
          <p:nvPr>
            <p:ph type="title"/>
          </p:nvPr>
        </p:nvSpPr>
        <p:spPr/>
        <p:txBody>
          <a:bodyPr/>
          <a:lstStyle/>
          <a:p>
            <a:r>
              <a:rPr lang="en-US" dirty="0"/>
              <a:t>Business Continuity Plan (BCP)</a:t>
            </a:r>
          </a:p>
        </p:txBody>
      </p:sp>
      <p:sp>
        <p:nvSpPr>
          <p:cNvPr id="3" name="Content Placeholder 2">
            <a:extLst>
              <a:ext uri="{FF2B5EF4-FFF2-40B4-BE49-F238E27FC236}">
                <a16:creationId xmlns:a16="http://schemas.microsoft.com/office/drawing/2014/main" id="{269BBB1C-400E-BEF8-71B5-2DC65E216A29}"/>
              </a:ext>
            </a:extLst>
          </p:cNvPr>
          <p:cNvSpPr>
            <a:spLocks noGrp="1"/>
          </p:cNvSpPr>
          <p:nvPr>
            <p:ph sz="quarter" idx="11"/>
          </p:nvPr>
        </p:nvSpPr>
        <p:spPr/>
        <p:txBody>
          <a:bodyPr/>
          <a:lstStyle/>
          <a:p>
            <a:r>
              <a:rPr lang="en-US" sz="2400" b="1" dirty="0"/>
              <a:t>Aim</a:t>
            </a:r>
            <a:r>
              <a:rPr lang="en-US" sz="2400" dirty="0"/>
              <a:t>: reestablish or relocate critical business operations during a disaster</a:t>
            </a:r>
          </a:p>
          <a:p>
            <a:r>
              <a:rPr lang="en-US" sz="2400" dirty="0"/>
              <a:t>If a disaster has rendered the primary location unusable, a plan must be in place to allow the business to continue to function at an alternate location (if possible).</a:t>
            </a:r>
          </a:p>
          <a:p>
            <a:pPr marL="0" indent="0">
              <a:buNone/>
            </a:pPr>
            <a:endParaRPr lang="en-US" sz="2400" b="1" dirty="0"/>
          </a:p>
          <a:p>
            <a:pPr marL="0" indent="0">
              <a:buNone/>
            </a:pPr>
            <a:r>
              <a:rPr lang="en-US" sz="2400" b="1" dirty="0"/>
              <a:t>What it contains</a:t>
            </a:r>
          </a:p>
          <a:p>
            <a:r>
              <a:rPr lang="en-US" sz="2400" dirty="0"/>
              <a:t>The most critical hardware/software to be restored on- or off-site</a:t>
            </a:r>
          </a:p>
          <a:p>
            <a:r>
              <a:rPr lang="en-US" sz="2400" dirty="0"/>
              <a:t>Retrieving backups</a:t>
            </a:r>
          </a:p>
          <a:p>
            <a:r>
              <a:rPr lang="en-US" sz="2400" dirty="0"/>
              <a:t>Personnel responsible for each action</a:t>
            </a:r>
          </a:p>
        </p:txBody>
      </p:sp>
    </p:spTree>
    <p:extLst>
      <p:ext uri="{BB962C8B-B14F-4D97-AF65-F5344CB8AC3E}">
        <p14:creationId xmlns:p14="http://schemas.microsoft.com/office/powerpoint/2010/main" val="31932374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64701-CFC8-F9D1-9B57-8F80F3149A5D}"/>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0ECFA0D0-5326-BD55-F6CD-277DE1E9F5A4}"/>
              </a:ext>
            </a:extLst>
          </p:cNvPr>
          <p:cNvSpPr>
            <a:spLocks noGrp="1"/>
          </p:cNvSpPr>
          <p:nvPr>
            <p:ph sz="quarter" idx="11"/>
          </p:nvPr>
        </p:nvSpPr>
        <p:spPr/>
        <p:txBody>
          <a:bodyPr/>
          <a:lstStyle/>
          <a:p>
            <a:r>
              <a:rPr lang="en-US" sz="2800" dirty="0"/>
              <a:t>Stalling SPP chap 14, 15</a:t>
            </a:r>
          </a:p>
          <a:p>
            <a:r>
              <a:rPr lang="en-US" sz="2800" dirty="0"/>
              <a:t>Whitman chap. 4</a:t>
            </a:r>
          </a:p>
          <a:p>
            <a:r>
              <a:rPr lang="en-US" dirty="0"/>
              <a:t>Pfleeger, Security in Computing, chap 10</a:t>
            </a:r>
            <a:endParaRPr lang="en-US" sz="2800" dirty="0"/>
          </a:p>
        </p:txBody>
      </p:sp>
    </p:spTree>
    <p:extLst>
      <p:ext uri="{BB962C8B-B14F-4D97-AF65-F5344CB8AC3E}">
        <p14:creationId xmlns:p14="http://schemas.microsoft.com/office/powerpoint/2010/main" val="31344725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1814</TotalTime>
  <Words>2167</Words>
  <Application>Microsoft Office PowerPoint</Application>
  <PresentationFormat>On-screen Show (4:3)</PresentationFormat>
  <Paragraphs>225</Paragraphs>
  <Slides>36</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36</vt:i4>
      </vt:variant>
    </vt:vector>
  </HeadingPairs>
  <TitlesOfParts>
    <vt:vector size="44" baseType="lpstr">
      <vt:lpstr>맑은 고딕</vt:lpstr>
      <vt:lpstr>ＭＳ Ｐゴシック</vt:lpstr>
      <vt:lpstr>Arial</vt:lpstr>
      <vt:lpstr>Calibri</vt:lpstr>
      <vt:lpstr>Courier New</vt:lpstr>
      <vt:lpstr>Wingdings</vt:lpstr>
      <vt:lpstr>Office Theme</vt:lpstr>
      <vt:lpstr>Custom Design</vt:lpstr>
      <vt:lpstr>PowerPoint Presentation</vt:lpstr>
      <vt:lpstr>Security Management</vt:lpstr>
      <vt:lpstr>Overview of security management processes</vt:lpstr>
      <vt:lpstr>Security Policy</vt:lpstr>
      <vt:lpstr>Security Policy</vt:lpstr>
      <vt:lpstr>Security Policy</vt:lpstr>
      <vt:lpstr>Security Policy</vt:lpstr>
      <vt:lpstr>Organizational Context</vt:lpstr>
      <vt:lpstr>Risk Management</vt:lpstr>
      <vt:lpstr>Why risk management</vt:lpstr>
      <vt:lpstr>Elements of risk assessment</vt:lpstr>
      <vt:lpstr>Risk Management</vt:lpstr>
      <vt:lpstr>Identifying Assets</vt:lpstr>
      <vt:lpstr>Identifying Assets</vt:lpstr>
      <vt:lpstr>Identify Threats to Assets</vt:lpstr>
      <vt:lpstr>Risk Likelihood</vt:lpstr>
      <vt:lpstr>Loss Magnitude (Impact)</vt:lpstr>
      <vt:lpstr>Calculate Risk Score</vt:lpstr>
      <vt:lpstr>Risk Treatment (Controls)</vt:lpstr>
      <vt:lpstr>Transference</vt:lpstr>
      <vt:lpstr>Acceptance</vt:lpstr>
      <vt:lpstr>Avoidance</vt:lpstr>
      <vt:lpstr>Defense / Mitigation</vt:lpstr>
      <vt:lpstr>Contingency Planning</vt:lpstr>
      <vt:lpstr>When bad things do happen</vt:lpstr>
      <vt:lpstr>Incident Response Planning</vt:lpstr>
      <vt:lpstr>Incident Response Plans (IRP)</vt:lpstr>
      <vt:lpstr>Incident Detection</vt:lpstr>
      <vt:lpstr>Incident Reaction</vt:lpstr>
      <vt:lpstr>Incident Containment Strategies</vt:lpstr>
      <vt:lpstr>Incident Recovery</vt:lpstr>
      <vt:lpstr>Contingency Planning Timeline</vt:lpstr>
      <vt:lpstr>Disaster Recovery Plan (DRP)</vt:lpstr>
      <vt:lpstr>Disaster Recovery Plan (DRP)</vt:lpstr>
      <vt:lpstr>Business Continuity Plan (BCP)</vt:lpstr>
      <vt:lpstr>References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Registered User</dc:creator>
  <cp:lastModifiedBy>Ammar Haider</cp:lastModifiedBy>
  <cp:revision>244</cp:revision>
  <dcterms:created xsi:type="dcterms:W3CDTF">2014-04-01T16:35:38Z</dcterms:created>
  <dcterms:modified xsi:type="dcterms:W3CDTF">2025-11-20T14:46:10Z</dcterms:modified>
</cp:coreProperties>
</file>