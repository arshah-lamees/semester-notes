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4"/>
  </p:notesMasterIdLst>
  <p:sldIdLst>
    <p:sldId id="404" r:id="rId3"/>
    <p:sldId id="405" r:id="rId4"/>
    <p:sldId id="406" r:id="rId5"/>
    <p:sldId id="407" r:id="rId6"/>
    <p:sldId id="408" r:id="rId7"/>
    <p:sldId id="462" r:id="rId8"/>
    <p:sldId id="457" r:id="rId9"/>
    <p:sldId id="458" r:id="rId10"/>
    <p:sldId id="459" r:id="rId11"/>
    <p:sldId id="461" r:id="rId12"/>
    <p:sldId id="409" r:id="rId13"/>
    <p:sldId id="411" r:id="rId14"/>
    <p:sldId id="412" r:id="rId15"/>
    <p:sldId id="413" r:id="rId16"/>
    <p:sldId id="416" r:id="rId17"/>
    <p:sldId id="417" r:id="rId18"/>
    <p:sldId id="415" r:id="rId19"/>
    <p:sldId id="468" r:id="rId20"/>
    <p:sldId id="451" r:id="rId21"/>
    <p:sldId id="452" r:id="rId22"/>
    <p:sldId id="453" r:id="rId23"/>
    <p:sldId id="463" r:id="rId24"/>
    <p:sldId id="454" r:id="rId25"/>
    <p:sldId id="455" r:id="rId26"/>
    <p:sldId id="456" r:id="rId27"/>
    <p:sldId id="420" r:id="rId28"/>
    <p:sldId id="421" r:id="rId29"/>
    <p:sldId id="422" r:id="rId30"/>
    <p:sldId id="418" r:id="rId31"/>
    <p:sldId id="419" r:id="rId32"/>
    <p:sldId id="464" r:id="rId33"/>
    <p:sldId id="465" r:id="rId34"/>
    <p:sldId id="466" r:id="rId35"/>
    <p:sldId id="469" r:id="rId36"/>
    <p:sldId id="423" r:id="rId37"/>
    <p:sldId id="424" r:id="rId38"/>
    <p:sldId id="467" r:id="rId39"/>
    <p:sldId id="425" r:id="rId40"/>
    <p:sldId id="426" r:id="rId41"/>
    <p:sldId id="428" r:id="rId42"/>
    <p:sldId id="427" r:id="rId43"/>
    <p:sldId id="429" r:id="rId44"/>
    <p:sldId id="430" r:id="rId45"/>
    <p:sldId id="431" r:id="rId46"/>
    <p:sldId id="432" r:id="rId47"/>
    <p:sldId id="433" r:id="rId48"/>
    <p:sldId id="434" r:id="rId49"/>
    <p:sldId id="444" r:id="rId50"/>
    <p:sldId id="445" r:id="rId51"/>
    <p:sldId id="435" r:id="rId52"/>
    <p:sldId id="438" r:id="rId53"/>
    <p:sldId id="439" r:id="rId54"/>
    <p:sldId id="440" r:id="rId55"/>
    <p:sldId id="442" r:id="rId56"/>
    <p:sldId id="443" r:id="rId57"/>
    <p:sldId id="470" r:id="rId58"/>
    <p:sldId id="447" r:id="rId59"/>
    <p:sldId id="446" r:id="rId60"/>
    <p:sldId id="448" r:id="rId61"/>
    <p:sldId id="449" r:id="rId62"/>
    <p:sldId id="450" r:id="rId63"/>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3792" autoAdjust="0"/>
  </p:normalViewPr>
  <p:slideViewPr>
    <p:cSldViewPr>
      <p:cViewPr varScale="1">
        <p:scale>
          <a:sx n="62" d="100"/>
          <a:sy n="62" d="100"/>
        </p:scale>
        <p:origin x="1328" y="5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2/10/2025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https://www.gdatasoftware.com/blog/2019/08/35146-taming-the-mess-of-av-detection-names</a:t>
            </a:r>
          </a:p>
        </p:txBody>
      </p:sp>
      <p:sp>
        <p:nvSpPr>
          <p:cNvPr id="4" name="Slide Number Placeholder 3"/>
          <p:cNvSpPr>
            <a:spLocks noGrp="1"/>
          </p:cNvSpPr>
          <p:nvPr>
            <p:ph type="sldNum" sz="quarter" idx="10"/>
          </p:nvPr>
        </p:nvSpPr>
        <p:spPr/>
        <p:txBody>
          <a:bodyPr/>
          <a:lstStyle/>
          <a:p>
            <a:fld id="{85C33C15-5131-4101-B031-6627D1EB5562}" type="slidenum">
              <a:rPr lang="en-AU" smtClean="0"/>
              <a:t>11</a:t>
            </a:fld>
            <a:endParaRPr lang="en-AU"/>
          </a:p>
        </p:txBody>
      </p:sp>
    </p:spTree>
    <p:extLst>
      <p:ext uri="{BB962C8B-B14F-4D97-AF65-F5344CB8AC3E}">
        <p14:creationId xmlns:p14="http://schemas.microsoft.com/office/powerpoint/2010/main" val="9597527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10/2/2025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ogle.com/search?q=interrupt+vector+table&amp;sca_esv=eeca58d8d47b3544&amp;rlz=1C1GCEU_enPK1160PK1160&amp;ei=gj_eaOaGBuCFhbIP1oWBgQ8&amp;ved=2ahUKEwiA56bClIWQAxXeUEEAHf7DKBQQgK4QegQIAxAB&amp;uact=5&amp;oq=how+malware+uses+interrupts+to+do+its+task&amp;gs_lp=Egxnd3Mtd2l6LXNlcnAiKmhvdyBtYWx3YXJlIHVzZXMgaW50ZXJydXB0cyB0byBkbyBpdHMgdGFzazIFECEYoAFIz0dQxA1Yo0FwAngBkAEAmAGUBaAB5jeqAQoyLTE3LjUuMC4yuAEDyAEA-AEBmAIPoALCIsICChAAGLADGNYEGEfCAgcQIRigARgKwgIFECEYnwXCAgUQABjvBcICCBAAGIAEGKIEwgIEECEYFZgDAIgGAZAGCJIHCzIuMC43LjMuMi4xoAe5YrIHCTItNy4zLjIuMbgHryLCBwgwLjMuMTAuMsgHRw&amp;sclient=gws-wiz-serp&amp;mstk=AUtExfCED3GgfbM8Upyag65ug3jM_MNz9l2I5_AqM_bwxoLNE3AqXakRxsHwutD7Ckw1oYsDc8pMwm9_H64TXzVh3MixVpYvSyfqFS0VfmW4ExY0ZF6-jMA5ulByXPF78rzwsZDbWw9F-TSaLUtBxIo9mdYWN_3wgq9kPrKOEuKdBI5-iCDMbMol-ftwXyS4WRkQXcjVDEYGHfWPO_3SPBSWwtPexQ&amp;csui=3"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Malware Study and Prevention</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300470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sz="quarter" idx="11"/>
          </p:nvPr>
        </p:nvSpPr>
        <p:spPr/>
        <p:txBody>
          <a:bodyPr/>
          <a:lstStyle/>
          <a:p>
            <a:pPr marL="342000">
              <a:lnSpc>
                <a:spcPts val="3280"/>
              </a:lnSpc>
            </a:pPr>
            <a:r>
              <a:rPr lang="en-US" altLang="en-US" sz="2800" dirty="0"/>
              <a:t>What malware are?</a:t>
            </a:r>
          </a:p>
          <a:p>
            <a:pPr marL="342000">
              <a:lnSpc>
                <a:spcPts val="3280"/>
              </a:lnSpc>
              <a:spcBef>
                <a:spcPts val="1041"/>
              </a:spcBef>
            </a:pPr>
            <a:r>
              <a:rPr lang="en-US" altLang="en-US" sz="2800" dirty="0"/>
              <a:t>How do they infect hosts?</a:t>
            </a:r>
          </a:p>
          <a:p>
            <a:pPr marL="342000">
              <a:lnSpc>
                <a:spcPts val="3280"/>
              </a:lnSpc>
              <a:spcBef>
                <a:spcPts val="1041"/>
              </a:spcBef>
            </a:pPr>
            <a:r>
              <a:rPr lang="en-US" altLang="en-US" sz="2800" dirty="0"/>
              <a:t>How do they propagate?</a:t>
            </a:r>
          </a:p>
          <a:p>
            <a:pPr marL="342000">
              <a:lnSpc>
                <a:spcPts val="3280"/>
              </a:lnSpc>
              <a:spcBef>
                <a:spcPts val="1041"/>
              </a:spcBef>
            </a:pPr>
            <a:r>
              <a:rPr lang="en-US" altLang="en-US" sz="2800" dirty="0"/>
              <a:t>How to detect them?</a:t>
            </a:r>
          </a:p>
          <a:p>
            <a:pPr marL="342000">
              <a:lnSpc>
                <a:spcPts val="3280"/>
              </a:lnSpc>
              <a:spcBef>
                <a:spcPts val="1041"/>
              </a:spcBef>
            </a:pPr>
            <a:r>
              <a:rPr lang="en-US" altLang="en-US" sz="2800" dirty="0"/>
              <a:t>How to prevent them?</a:t>
            </a:r>
          </a:p>
          <a:p>
            <a:pPr marL="342000">
              <a:lnSpc>
                <a:spcPts val="3280"/>
              </a:lnSpc>
              <a:spcBef>
                <a:spcPts val="1041"/>
              </a:spcBef>
            </a:pPr>
            <a:r>
              <a:rPr lang="en-US" altLang="en-US" sz="2800" dirty="0"/>
              <a:t>How to analyze them?</a:t>
            </a:r>
            <a:endParaRPr lang="en-US" sz="2800" dirty="0"/>
          </a:p>
        </p:txBody>
      </p:sp>
    </p:spTree>
    <p:extLst>
      <p:ext uri="{BB962C8B-B14F-4D97-AF65-F5344CB8AC3E}">
        <p14:creationId xmlns:p14="http://schemas.microsoft.com/office/powerpoint/2010/main" val="127693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Malware?</a:t>
            </a:r>
          </a:p>
        </p:txBody>
      </p:sp>
      <p:sp>
        <p:nvSpPr>
          <p:cNvPr id="3" name="Content Placeholder 2"/>
          <p:cNvSpPr>
            <a:spLocks noGrp="1"/>
          </p:cNvSpPr>
          <p:nvPr>
            <p:ph sz="quarter" idx="11"/>
          </p:nvPr>
        </p:nvSpPr>
        <p:spPr/>
        <p:txBody>
          <a:bodyPr/>
          <a:lstStyle/>
          <a:p>
            <a:r>
              <a:rPr lang="en-US" altLang="en-US" sz="2400" dirty="0"/>
              <a:t>“A program that is inserted into a system, usually covertly, with the intent of compromising the confidentiality, integrity, or availability of the victim’s data, applications, or operating system [OS] or otherwise annoying or disrupting the victim.”</a:t>
            </a:r>
            <a:br>
              <a:rPr lang="en-US" altLang="en-US" sz="2400" dirty="0"/>
            </a:br>
            <a:r>
              <a:rPr lang="en-US" altLang="en-US" sz="2400" dirty="0"/>
              <a:t>(NIST – 2005) </a:t>
            </a:r>
          </a:p>
          <a:p>
            <a:r>
              <a:rPr lang="en-US" altLang="en-US" sz="2400" dirty="0"/>
              <a:t>Also called malicious software or digital pests</a:t>
            </a:r>
          </a:p>
          <a:p>
            <a:endParaRPr lang="en-US" sz="2400" dirty="0"/>
          </a:p>
        </p:txBody>
      </p:sp>
      <p:pic>
        <p:nvPicPr>
          <p:cNvPr id="4"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184" y="4581128"/>
            <a:ext cx="1841692" cy="184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01635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it can do?</a:t>
            </a:r>
          </a:p>
        </p:txBody>
      </p:sp>
      <p:sp>
        <p:nvSpPr>
          <p:cNvPr id="3" name="Content Placeholder 2"/>
          <p:cNvSpPr>
            <a:spLocks noGrp="1"/>
          </p:cNvSpPr>
          <p:nvPr>
            <p:ph sz="quarter" idx="11"/>
          </p:nvPr>
        </p:nvSpPr>
        <p:spPr/>
        <p:txBody>
          <a:bodyPr/>
          <a:lstStyle/>
          <a:p>
            <a:pPr marL="342000"/>
            <a:r>
              <a:rPr lang="en-US" altLang="en-US" sz="2800" dirty="0"/>
              <a:t>Steal personal files (documents, photos etc.)</a:t>
            </a:r>
          </a:p>
          <a:p>
            <a:pPr marL="342000"/>
            <a:r>
              <a:rPr lang="en-US" altLang="en-US" sz="2800" dirty="0"/>
              <a:t>Delete files</a:t>
            </a:r>
          </a:p>
          <a:p>
            <a:pPr marL="342000"/>
            <a:r>
              <a:rPr lang="en-US" altLang="en-US" sz="2800" dirty="0"/>
              <a:t>Corrupt files </a:t>
            </a:r>
          </a:p>
          <a:p>
            <a:pPr marL="342000"/>
            <a:r>
              <a:rPr lang="en-US" altLang="en-US" sz="2800" dirty="0"/>
              <a:t>Cause annoyance</a:t>
            </a:r>
          </a:p>
          <a:p>
            <a:pPr marL="342000"/>
            <a:r>
              <a:rPr lang="en-US" altLang="en-US" sz="2800" dirty="0"/>
              <a:t>Steal information (software serial numbers, passwords etc.)</a:t>
            </a:r>
          </a:p>
          <a:p>
            <a:pPr marL="342000"/>
            <a:r>
              <a:rPr lang="en-US" altLang="en-US" sz="2800" dirty="0"/>
              <a:t>Use your computer as relay (zombie)</a:t>
            </a:r>
          </a:p>
          <a:p>
            <a:pPr marL="342000"/>
            <a:r>
              <a:rPr lang="en-US" altLang="en-US" sz="2800" dirty="0"/>
              <a:t>etc.</a:t>
            </a:r>
            <a:endParaRPr lang="en-US" sz="2800" dirty="0"/>
          </a:p>
        </p:txBody>
      </p:sp>
    </p:spTree>
    <p:extLst>
      <p:ext uri="{BB962C8B-B14F-4D97-AF65-F5344CB8AC3E}">
        <p14:creationId xmlns:p14="http://schemas.microsoft.com/office/powerpoint/2010/main" val="145232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Malware Terminology</a:t>
            </a:r>
          </a:p>
        </p:txBody>
      </p:sp>
      <p:sp>
        <p:nvSpPr>
          <p:cNvPr id="3" name="Content Placeholder 2"/>
          <p:cNvSpPr>
            <a:spLocks noGrp="1"/>
          </p:cNvSpPr>
          <p:nvPr>
            <p:ph sz="quarter" idx="11"/>
          </p:nvPr>
        </p:nvSpPr>
        <p:spPr/>
        <p:txBody>
          <a:bodyPr/>
          <a:lstStyle/>
          <a:p>
            <a:pPr>
              <a:lnSpc>
                <a:spcPct val="120000"/>
              </a:lnSpc>
              <a:spcBef>
                <a:spcPts val="0"/>
              </a:spcBef>
            </a:pPr>
            <a:endParaRPr lang="en-US" altLang="en-US" sz="800" dirty="0">
              <a:solidFill>
                <a:srgbClr val="FF0000"/>
              </a:solidFill>
            </a:endParaRPr>
          </a:p>
          <a:p>
            <a:pPr>
              <a:lnSpc>
                <a:spcPct val="120000"/>
              </a:lnSpc>
              <a:spcBef>
                <a:spcPts val="0"/>
              </a:spcBef>
            </a:pPr>
            <a:r>
              <a:rPr lang="en-US" altLang="en-US" sz="2400" dirty="0">
                <a:solidFill>
                  <a:srgbClr val="FF0000"/>
                </a:solidFill>
              </a:rPr>
              <a:t>Virus: </a:t>
            </a:r>
            <a:r>
              <a:rPr lang="en-US" altLang="en-US" sz="2400" dirty="0"/>
              <a:t>attaches itself to a host file, replicates itself when executed</a:t>
            </a:r>
          </a:p>
          <a:p>
            <a:pPr>
              <a:lnSpc>
                <a:spcPct val="120000"/>
              </a:lnSpc>
              <a:spcBef>
                <a:spcPts val="0"/>
              </a:spcBef>
            </a:pPr>
            <a:r>
              <a:rPr lang="en-US" altLang="en-US" sz="2400" dirty="0">
                <a:solidFill>
                  <a:srgbClr val="FF0000"/>
                </a:solidFill>
              </a:rPr>
              <a:t>Worm: </a:t>
            </a:r>
            <a:r>
              <a:rPr lang="en-US" altLang="en-US" sz="2400" dirty="0"/>
              <a:t>propagates copies of itself to other computers in network, without any user action</a:t>
            </a:r>
          </a:p>
          <a:p>
            <a:pPr>
              <a:lnSpc>
                <a:spcPct val="120000"/>
              </a:lnSpc>
              <a:spcBef>
                <a:spcPts val="0"/>
              </a:spcBef>
            </a:pPr>
            <a:r>
              <a:rPr lang="en-US" altLang="en-US" sz="2400" dirty="0">
                <a:solidFill>
                  <a:srgbClr val="FF0000"/>
                </a:solidFill>
              </a:rPr>
              <a:t>Trojan horse</a:t>
            </a:r>
            <a:r>
              <a:rPr lang="en-US" altLang="en-US" sz="2400" dirty="0"/>
              <a:t>: apparently useful program, contains additional malicious functionality</a:t>
            </a:r>
          </a:p>
          <a:p>
            <a:pPr lvl="1">
              <a:lnSpc>
                <a:spcPct val="120000"/>
              </a:lnSpc>
              <a:spcBef>
                <a:spcPts val="0"/>
              </a:spcBef>
            </a:pPr>
            <a:r>
              <a:rPr lang="en-US" altLang="en-US" sz="2000" dirty="0">
                <a:solidFill>
                  <a:srgbClr val="FF0000"/>
                </a:solidFill>
              </a:rPr>
              <a:t>Scareware: </a:t>
            </a:r>
            <a:r>
              <a:rPr lang="en-US" altLang="en-US" sz="2000" dirty="0"/>
              <a:t>users are tricked by scaring and motivated to perform some action. e.g. buying a software license</a:t>
            </a:r>
          </a:p>
          <a:p>
            <a:pPr>
              <a:lnSpc>
                <a:spcPct val="120000"/>
              </a:lnSpc>
              <a:spcBef>
                <a:spcPts val="0"/>
              </a:spcBef>
            </a:pPr>
            <a:r>
              <a:rPr lang="en-US" altLang="en-US" sz="2400" dirty="0">
                <a:solidFill>
                  <a:srgbClr val="FF0000"/>
                </a:solidFill>
              </a:rPr>
              <a:t>Browser hijacker: </a:t>
            </a:r>
            <a:r>
              <a:rPr lang="en-US" altLang="en-US" sz="2400" dirty="0"/>
              <a:t>modifies a web browser’s settings without a user’s permission, to (e.g.) inject unwanted advertising into the web pages</a:t>
            </a:r>
          </a:p>
          <a:p>
            <a:pPr>
              <a:lnSpc>
                <a:spcPct val="120000"/>
              </a:lnSpc>
              <a:spcBef>
                <a:spcPts val="0"/>
              </a:spcBef>
            </a:pPr>
            <a:endParaRPr lang="en-US" altLang="en-US" sz="2400" dirty="0"/>
          </a:p>
          <a:p>
            <a:endParaRPr lang="en-US" sz="2400" dirty="0"/>
          </a:p>
        </p:txBody>
      </p:sp>
      <p:sp>
        <p:nvSpPr>
          <p:cNvPr id="5" name="TextBox 4">
            <a:extLst>
              <a:ext uri="{FF2B5EF4-FFF2-40B4-BE49-F238E27FC236}">
                <a16:creationId xmlns:a16="http://schemas.microsoft.com/office/drawing/2014/main" id="{C71D3F38-B062-08BA-1002-AEE6E98E8CEF}"/>
              </a:ext>
            </a:extLst>
          </p:cNvPr>
          <p:cNvSpPr txBox="1"/>
          <p:nvPr/>
        </p:nvSpPr>
        <p:spPr>
          <a:xfrm>
            <a:off x="5391215" y="1236833"/>
            <a:ext cx="3752785"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How malware infects a system</a:t>
            </a:r>
          </a:p>
        </p:txBody>
      </p:sp>
    </p:spTree>
    <p:extLst>
      <p:ext uri="{BB962C8B-B14F-4D97-AF65-F5344CB8AC3E}">
        <p14:creationId xmlns:p14="http://schemas.microsoft.com/office/powerpoint/2010/main" val="3261830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Malware Terminology</a:t>
            </a:r>
          </a:p>
        </p:txBody>
      </p:sp>
      <p:sp>
        <p:nvSpPr>
          <p:cNvPr id="3" name="Content Placeholder 2"/>
          <p:cNvSpPr>
            <a:spLocks noGrp="1"/>
          </p:cNvSpPr>
          <p:nvPr>
            <p:ph sz="quarter" idx="11"/>
          </p:nvPr>
        </p:nvSpPr>
        <p:spPr/>
        <p:txBody>
          <a:bodyPr/>
          <a:lstStyle/>
          <a:p>
            <a:pPr>
              <a:lnSpc>
                <a:spcPct val="120000"/>
              </a:lnSpc>
              <a:spcBef>
                <a:spcPts val="0"/>
              </a:spcBef>
            </a:pPr>
            <a:endParaRPr lang="en-US" altLang="en-US" sz="800" dirty="0">
              <a:solidFill>
                <a:srgbClr val="FF0000"/>
              </a:solidFill>
            </a:endParaRPr>
          </a:p>
          <a:p>
            <a:pPr>
              <a:lnSpc>
                <a:spcPct val="120000"/>
              </a:lnSpc>
              <a:spcBef>
                <a:spcPts val="0"/>
              </a:spcBef>
            </a:pPr>
            <a:r>
              <a:rPr lang="en-US" altLang="en-US" sz="2400" dirty="0">
                <a:solidFill>
                  <a:srgbClr val="FF0000"/>
                </a:solidFill>
              </a:rPr>
              <a:t>Logic bomb: </a:t>
            </a:r>
            <a:r>
              <a:rPr lang="en-US" altLang="en-US" sz="2400" dirty="0"/>
              <a:t>“explodes” when a condition occurs</a:t>
            </a:r>
          </a:p>
          <a:p>
            <a:pPr>
              <a:lnSpc>
                <a:spcPct val="120000"/>
              </a:lnSpc>
              <a:spcBef>
                <a:spcPts val="0"/>
              </a:spcBef>
            </a:pPr>
            <a:r>
              <a:rPr lang="en-US" altLang="en-US" sz="2400" dirty="0">
                <a:solidFill>
                  <a:srgbClr val="FF0000"/>
                </a:solidFill>
              </a:rPr>
              <a:t>Backdoor (trapdoor): </a:t>
            </a:r>
            <a:r>
              <a:rPr lang="en-US" altLang="en-US" sz="2400" dirty="0"/>
              <a:t>allows unauthorized access to functionality or a system, bypassing normal checks</a:t>
            </a:r>
          </a:p>
          <a:p>
            <a:pPr>
              <a:lnSpc>
                <a:spcPct val="120000"/>
              </a:lnSpc>
              <a:spcBef>
                <a:spcPts val="0"/>
              </a:spcBef>
            </a:pPr>
            <a:r>
              <a:rPr lang="en-US" altLang="en-US" sz="2400" dirty="0">
                <a:solidFill>
                  <a:srgbClr val="FF0000"/>
                </a:solidFill>
              </a:rPr>
              <a:t>Spyware: </a:t>
            </a:r>
            <a:r>
              <a:rPr lang="en-US" altLang="en-US" sz="2400" dirty="0"/>
              <a:t>used to spy on victim’s activities on a system and/or for stealing sensitive information</a:t>
            </a:r>
          </a:p>
          <a:p>
            <a:pPr lvl="1">
              <a:lnSpc>
                <a:spcPct val="120000"/>
              </a:lnSpc>
              <a:spcBef>
                <a:spcPts val="0"/>
              </a:spcBef>
            </a:pPr>
            <a:r>
              <a:rPr lang="en-US" altLang="en-US" sz="2000" dirty="0">
                <a:solidFill>
                  <a:srgbClr val="FF0000"/>
                </a:solidFill>
              </a:rPr>
              <a:t>Keylogger: </a:t>
            </a:r>
            <a:r>
              <a:rPr lang="en-US" altLang="en-US" sz="2000" dirty="0"/>
              <a:t>captures keystrokes for spying typed sensitive info</a:t>
            </a:r>
          </a:p>
          <a:p>
            <a:pPr>
              <a:lnSpc>
                <a:spcPct val="120000"/>
              </a:lnSpc>
              <a:spcBef>
                <a:spcPts val="0"/>
              </a:spcBef>
            </a:pPr>
            <a:r>
              <a:rPr lang="en-US" altLang="en-US" sz="2400" dirty="0">
                <a:solidFill>
                  <a:srgbClr val="FF0000"/>
                </a:solidFill>
              </a:rPr>
              <a:t>Ransomware:</a:t>
            </a:r>
            <a:r>
              <a:rPr lang="en-US" altLang="en-US" sz="2400" dirty="0"/>
              <a:t> blocks access to data or functionality and asks for a ransom payment</a:t>
            </a:r>
          </a:p>
          <a:p>
            <a:pPr>
              <a:lnSpc>
                <a:spcPct val="120000"/>
              </a:lnSpc>
              <a:spcBef>
                <a:spcPts val="0"/>
              </a:spcBef>
            </a:pPr>
            <a:r>
              <a:rPr lang="en-US" altLang="en-US" sz="2400" dirty="0">
                <a:solidFill>
                  <a:srgbClr val="FF0000"/>
                </a:solidFill>
              </a:rPr>
              <a:t>Zombie (bot): </a:t>
            </a:r>
            <a:r>
              <a:rPr lang="en-US" altLang="en-US" sz="2400" dirty="0"/>
              <a:t>software on infected computers that can be used to launch attacks on </a:t>
            </a:r>
            <a:r>
              <a:rPr lang="en-US" altLang="en-US" sz="2400" i="1" dirty="0"/>
              <a:t>other machines</a:t>
            </a:r>
          </a:p>
          <a:p>
            <a:pPr>
              <a:lnSpc>
                <a:spcPct val="120000"/>
              </a:lnSpc>
              <a:spcBef>
                <a:spcPts val="0"/>
              </a:spcBef>
            </a:pPr>
            <a:endParaRPr lang="en-US" altLang="en-US" sz="2400" dirty="0"/>
          </a:p>
          <a:p>
            <a:pPr>
              <a:lnSpc>
                <a:spcPct val="120000"/>
              </a:lnSpc>
              <a:spcBef>
                <a:spcPts val="0"/>
              </a:spcBef>
            </a:pPr>
            <a:endParaRPr lang="en-US" altLang="en-US" sz="2400" dirty="0"/>
          </a:p>
          <a:p>
            <a:endParaRPr lang="en-US" sz="2400" dirty="0"/>
          </a:p>
        </p:txBody>
      </p:sp>
      <p:sp>
        <p:nvSpPr>
          <p:cNvPr id="4" name="TextBox 3">
            <a:extLst>
              <a:ext uri="{FF2B5EF4-FFF2-40B4-BE49-F238E27FC236}">
                <a16:creationId xmlns:a16="http://schemas.microsoft.com/office/drawing/2014/main" id="{41EF5B73-9B14-902A-A377-C701E0274903}"/>
              </a:ext>
            </a:extLst>
          </p:cNvPr>
          <p:cNvSpPr txBox="1"/>
          <p:nvPr/>
        </p:nvSpPr>
        <p:spPr>
          <a:xfrm>
            <a:off x="3915559" y="1236833"/>
            <a:ext cx="5192945"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What actions a malware takes after infection</a:t>
            </a:r>
          </a:p>
        </p:txBody>
      </p:sp>
    </p:spTree>
    <p:extLst>
      <p:ext uri="{BB962C8B-B14F-4D97-AF65-F5344CB8AC3E}">
        <p14:creationId xmlns:p14="http://schemas.microsoft.com/office/powerpoint/2010/main" val="40349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Malware Terminology</a:t>
            </a:r>
          </a:p>
        </p:txBody>
      </p:sp>
      <p:sp>
        <p:nvSpPr>
          <p:cNvPr id="3" name="Content Placeholder 2"/>
          <p:cNvSpPr>
            <a:spLocks noGrp="1"/>
          </p:cNvSpPr>
          <p:nvPr>
            <p:ph sz="quarter" idx="11"/>
          </p:nvPr>
        </p:nvSpPr>
        <p:spPr/>
        <p:txBody>
          <a:bodyPr/>
          <a:lstStyle/>
          <a:p>
            <a:pPr>
              <a:lnSpc>
                <a:spcPct val="120000"/>
              </a:lnSpc>
              <a:spcBef>
                <a:spcPts val="0"/>
              </a:spcBef>
            </a:pPr>
            <a:endParaRPr lang="en-US" altLang="en-US" sz="800" dirty="0">
              <a:solidFill>
                <a:srgbClr val="FF0000"/>
              </a:solidFill>
            </a:endParaRPr>
          </a:p>
          <a:p>
            <a:pPr>
              <a:lnSpc>
                <a:spcPct val="120000"/>
              </a:lnSpc>
              <a:spcBef>
                <a:spcPts val="0"/>
              </a:spcBef>
            </a:pPr>
            <a:r>
              <a:rPr lang="en-US" altLang="en-US" sz="2400" dirty="0">
                <a:solidFill>
                  <a:srgbClr val="FF0000"/>
                </a:solidFill>
              </a:rPr>
              <a:t>Rootkit:</a:t>
            </a:r>
            <a:r>
              <a:rPr lang="en-US" altLang="en-US" sz="2400" dirty="0"/>
              <a:t> Set of hacker tools that allow attacker to maintain root-level (admin) access to a system, while hiding their presence</a:t>
            </a:r>
          </a:p>
          <a:p>
            <a:pPr>
              <a:lnSpc>
                <a:spcPct val="120000"/>
              </a:lnSpc>
              <a:spcBef>
                <a:spcPts val="0"/>
              </a:spcBef>
            </a:pPr>
            <a:r>
              <a:rPr lang="en-US" sz="2400" dirty="0" err="1">
                <a:solidFill>
                  <a:srgbClr val="FF0000"/>
                </a:solidFill>
              </a:rPr>
              <a:t>Bootkit</a:t>
            </a:r>
            <a:r>
              <a:rPr lang="en-US" sz="2400" dirty="0">
                <a:solidFill>
                  <a:srgbClr val="FF0000"/>
                </a:solidFill>
              </a:rPr>
              <a:t>:</a:t>
            </a:r>
            <a:r>
              <a:rPr lang="en-US" sz="2400" dirty="0"/>
              <a:t> infects the master boot record and spreads when a system is booted from the disk containing the malware.</a:t>
            </a:r>
          </a:p>
        </p:txBody>
      </p:sp>
      <p:sp>
        <p:nvSpPr>
          <p:cNvPr id="5" name="TextBox 4">
            <a:extLst>
              <a:ext uri="{FF2B5EF4-FFF2-40B4-BE49-F238E27FC236}">
                <a16:creationId xmlns:a16="http://schemas.microsoft.com/office/drawing/2014/main" id="{AEE786B2-C49E-F98F-575E-8964B1A2D94D}"/>
              </a:ext>
            </a:extLst>
          </p:cNvPr>
          <p:cNvSpPr txBox="1"/>
          <p:nvPr/>
        </p:nvSpPr>
        <p:spPr>
          <a:xfrm>
            <a:off x="3915559" y="1236833"/>
            <a:ext cx="5192945"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What actions a malware takes after infection</a:t>
            </a:r>
          </a:p>
        </p:txBody>
      </p:sp>
      <p:sp>
        <p:nvSpPr>
          <p:cNvPr id="4" name="TextBox 3">
            <a:extLst>
              <a:ext uri="{FF2B5EF4-FFF2-40B4-BE49-F238E27FC236}">
                <a16:creationId xmlns:a16="http://schemas.microsoft.com/office/drawing/2014/main" id="{1EFE0D4B-C212-712C-E1C7-A4AB7FCEACE1}"/>
              </a:ext>
            </a:extLst>
          </p:cNvPr>
          <p:cNvSpPr txBox="1"/>
          <p:nvPr/>
        </p:nvSpPr>
        <p:spPr>
          <a:xfrm>
            <a:off x="603702" y="4918290"/>
            <a:ext cx="8093442" cy="1323439"/>
          </a:xfrm>
          <a:prstGeom prst="rect">
            <a:avLst/>
          </a:prstGeom>
          <a:noFill/>
        </p:spPr>
        <p:txBody>
          <a:bodyPr wrap="square" rtlCol="0">
            <a:spAutoFit/>
          </a:bodyPr>
          <a:lstStyle/>
          <a:p>
            <a:pPr latinLnBrk="0"/>
            <a:r>
              <a:rPr lang="en-US" sz="2000" b="1" dirty="0"/>
              <a:t>Important Note:</a:t>
            </a:r>
            <a:r>
              <a:rPr lang="en-US" sz="2000" dirty="0"/>
              <a:t> real-world malware — in general — overlaps several categories. For example, a single piece of malware might combine virus like propagation and spyware capabilities and might also be used to launch a DoS attack.</a:t>
            </a:r>
          </a:p>
        </p:txBody>
      </p:sp>
    </p:spTree>
    <p:extLst>
      <p:ext uri="{BB962C8B-B14F-4D97-AF65-F5344CB8AC3E}">
        <p14:creationId xmlns:p14="http://schemas.microsoft.com/office/powerpoint/2010/main" val="394815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ECEB-E238-56CD-366D-A026A1592CA4}"/>
              </a:ext>
            </a:extLst>
          </p:cNvPr>
          <p:cNvSpPr>
            <a:spLocks noGrp="1"/>
          </p:cNvSpPr>
          <p:nvPr>
            <p:ph type="title"/>
          </p:nvPr>
        </p:nvSpPr>
        <p:spPr/>
        <p:txBody>
          <a:bodyPr/>
          <a:lstStyle/>
          <a:p>
            <a:r>
              <a:rPr lang="en-US" dirty="0"/>
              <a:t>Example Scenarios</a:t>
            </a:r>
          </a:p>
        </p:txBody>
      </p:sp>
      <p:sp>
        <p:nvSpPr>
          <p:cNvPr id="7" name="Content Placeholder 6">
            <a:extLst>
              <a:ext uri="{FF2B5EF4-FFF2-40B4-BE49-F238E27FC236}">
                <a16:creationId xmlns:a16="http://schemas.microsoft.com/office/drawing/2014/main" id="{948ED00C-832F-986E-359F-E62C993626DF}"/>
              </a:ext>
            </a:extLst>
          </p:cNvPr>
          <p:cNvSpPr>
            <a:spLocks noGrp="1"/>
          </p:cNvSpPr>
          <p:nvPr>
            <p:ph sz="quarter" idx="11"/>
          </p:nvPr>
        </p:nvSpPr>
        <p:spPr>
          <a:xfrm>
            <a:off x="467544" y="1560612"/>
            <a:ext cx="7344816" cy="4676700"/>
          </a:xfrm>
        </p:spPr>
        <p:txBody>
          <a:bodyPr/>
          <a:lstStyle/>
          <a:p>
            <a:r>
              <a:rPr lang="en-US" sz="2000" dirty="0"/>
              <a:t>A user comes across a free media player with a nice UI. When they download and install the app, the player works fine but their computer starts behaving strangely, and they notice that their personal files are missing.</a:t>
            </a:r>
          </a:p>
          <a:p>
            <a:r>
              <a:rPr lang="en-US" sz="2000" dirty="0"/>
              <a:t>A company’s network experiences a sudden surge in traffic, and employees report receiving numerous spam emails. The IT department investigates and discovers that a malicious program is rapidly spreading through the network, replicating itself and sending copies to other devices.</a:t>
            </a:r>
          </a:p>
          <a:p>
            <a:r>
              <a:rPr lang="en-US" sz="2000" dirty="0"/>
              <a:t>A disgruntled employee embeds a hidden code in the company’s payroll software. Months later, when the employee is fired, the code activates, deleting all employee records and causing significant disruption to the company’s operations.</a:t>
            </a:r>
          </a:p>
          <a:p>
            <a:endParaRPr lang="en-US" sz="2000" dirty="0"/>
          </a:p>
        </p:txBody>
      </p:sp>
      <p:sp>
        <p:nvSpPr>
          <p:cNvPr id="8" name="TextBox 7">
            <a:extLst>
              <a:ext uri="{FF2B5EF4-FFF2-40B4-BE49-F238E27FC236}">
                <a16:creationId xmlns:a16="http://schemas.microsoft.com/office/drawing/2014/main" id="{C8F3FD42-FBB1-A0B7-489E-36E0A6CBF587}"/>
              </a:ext>
            </a:extLst>
          </p:cNvPr>
          <p:cNvSpPr txBox="1"/>
          <p:nvPr/>
        </p:nvSpPr>
        <p:spPr>
          <a:xfrm>
            <a:off x="7740352" y="2123564"/>
            <a:ext cx="812145" cy="369332"/>
          </a:xfrm>
          <a:prstGeom prst="rect">
            <a:avLst/>
          </a:prstGeom>
          <a:noFill/>
        </p:spPr>
        <p:txBody>
          <a:bodyPr wrap="none" rtlCol="0">
            <a:spAutoFit/>
          </a:bodyPr>
          <a:lstStyle/>
          <a:p>
            <a:pPr latinLnBrk="0"/>
            <a:r>
              <a:rPr lang="en-US" dirty="0">
                <a:solidFill>
                  <a:srgbClr val="C00000"/>
                </a:solidFill>
              </a:rPr>
              <a:t>trojan</a:t>
            </a:r>
          </a:p>
        </p:txBody>
      </p:sp>
      <p:sp>
        <p:nvSpPr>
          <p:cNvPr id="9" name="TextBox 8">
            <a:extLst>
              <a:ext uri="{FF2B5EF4-FFF2-40B4-BE49-F238E27FC236}">
                <a16:creationId xmlns:a16="http://schemas.microsoft.com/office/drawing/2014/main" id="{493780F6-8B97-A7ED-BC7B-6DD48F2A17ED}"/>
              </a:ext>
            </a:extLst>
          </p:cNvPr>
          <p:cNvSpPr txBox="1"/>
          <p:nvPr/>
        </p:nvSpPr>
        <p:spPr>
          <a:xfrm>
            <a:off x="7740352" y="3714296"/>
            <a:ext cx="776623" cy="369332"/>
          </a:xfrm>
          <a:prstGeom prst="rect">
            <a:avLst/>
          </a:prstGeom>
          <a:noFill/>
        </p:spPr>
        <p:txBody>
          <a:bodyPr wrap="none" rtlCol="0">
            <a:spAutoFit/>
          </a:bodyPr>
          <a:lstStyle/>
          <a:p>
            <a:pPr latinLnBrk="0"/>
            <a:r>
              <a:rPr lang="en-US" dirty="0">
                <a:solidFill>
                  <a:srgbClr val="C00000"/>
                </a:solidFill>
              </a:rPr>
              <a:t>worm</a:t>
            </a:r>
          </a:p>
        </p:txBody>
      </p:sp>
      <p:sp>
        <p:nvSpPr>
          <p:cNvPr id="10" name="TextBox 9">
            <a:extLst>
              <a:ext uri="{FF2B5EF4-FFF2-40B4-BE49-F238E27FC236}">
                <a16:creationId xmlns:a16="http://schemas.microsoft.com/office/drawing/2014/main" id="{BAD74E95-833E-098C-545B-14DAEC30EF3D}"/>
              </a:ext>
            </a:extLst>
          </p:cNvPr>
          <p:cNvSpPr txBox="1"/>
          <p:nvPr/>
        </p:nvSpPr>
        <p:spPr>
          <a:xfrm>
            <a:off x="7740352" y="5086925"/>
            <a:ext cx="1440160" cy="369332"/>
          </a:xfrm>
          <a:prstGeom prst="rect">
            <a:avLst/>
          </a:prstGeom>
          <a:noFill/>
        </p:spPr>
        <p:txBody>
          <a:bodyPr wrap="square" rtlCol="0">
            <a:spAutoFit/>
          </a:bodyPr>
          <a:lstStyle/>
          <a:p>
            <a:pPr latinLnBrk="0"/>
            <a:r>
              <a:rPr lang="en-US" dirty="0">
                <a:solidFill>
                  <a:srgbClr val="C00000"/>
                </a:solidFill>
              </a:rPr>
              <a:t>logic bomb</a:t>
            </a:r>
          </a:p>
        </p:txBody>
      </p:sp>
    </p:spTree>
    <p:extLst>
      <p:ext uri="{BB962C8B-B14F-4D97-AF65-F5344CB8AC3E}">
        <p14:creationId xmlns:p14="http://schemas.microsoft.com/office/powerpoint/2010/main" val="257684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ECEB-E238-56CD-366D-A026A1592CA4}"/>
              </a:ext>
            </a:extLst>
          </p:cNvPr>
          <p:cNvSpPr>
            <a:spLocks noGrp="1"/>
          </p:cNvSpPr>
          <p:nvPr>
            <p:ph type="title"/>
          </p:nvPr>
        </p:nvSpPr>
        <p:spPr/>
        <p:txBody>
          <a:bodyPr/>
          <a:lstStyle/>
          <a:p>
            <a:r>
              <a:rPr lang="en-US" dirty="0"/>
              <a:t>Example Scenarios</a:t>
            </a:r>
          </a:p>
        </p:txBody>
      </p:sp>
      <p:sp>
        <p:nvSpPr>
          <p:cNvPr id="7" name="Content Placeholder 6">
            <a:extLst>
              <a:ext uri="{FF2B5EF4-FFF2-40B4-BE49-F238E27FC236}">
                <a16:creationId xmlns:a16="http://schemas.microsoft.com/office/drawing/2014/main" id="{948ED00C-832F-986E-359F-E62C993626DF}"/>
              </a:ext>
            </a:extLst>
          </p:cNvPr>
          <p:cNvSpPr>
            <a:spLocks noGrp="1"/>
          </p:cNvSpPr>
          <p:nvPr>
            <p:ph sz="quarter" idx="11"/>
          </p:nvPr>
        </p:nvSpPr>
        <p:spPr>
          <a:xfrm>
            <a:off x="467544" y="1560612"/>
            <a:ext cx="7344816" cy="4676700"/>
          </a:xfrm>
        </p:spPr>
        <p:txBody>
          <a:bodyPr/>
          <a:lstStyle/>
          <a:p>
            <a:r>
              <a:rPr lang="en-US" sz="2000" dirty="0"/>
              <a:t>A user’s files become inaccessible, and they see a message demanding a payment in exchange for the decryption of their locked files.</a:t>
            </a:r>
          </a:p>
          <a:p>
            <a:endParaRPr lang="en-US" sz="2000" dirty="0"/>
          </a:p>
          <a:p>
            <a:r>
              <a:rPr lang="en-US" sz="2000" dirty="0"/>
              <a:t>A hacker gains access to a company’s servers and installs a hidden program that allows them to monitor the network’s activity and steal sensitive data without being detected.</a:t>
            </a:r>
          </a:p>
          <a:p>
            <a:endParaRPr lang="en-US" sz="2000" dirty="0"/>
          </a:p>
          <a:p>
            <a:r>
              <a:rPr lang="en-US" sz="2000" dirty="0"/>
              <a:t>A company’s network is infected with a malicious program that modifies the boot sector of infected computers. When these computers are restarted, the program loads before the operating system, giving the hacker control over the machine.</a:t>
            </a:r>
          </a:p>
        </p:txBody>
      </p:sp>
      <p:sp>
        <p:nvSpPr>
          <p:cNvPr id="8" name="TextBox 7">
            <a:extLst>
              <a:ext uri="{FF2B5EF4-FFF2-40B4-BE49-F238E27FC236}">
                <a16:creationId xmlns:a16="http://schemas.microsoft.com/office/drawing/2014/main" id="{C8F3FD42-FBB1-A0B7-489E-36E0A6CBF587}"/>
              </a:ext>
            </a:extLst>
          </p:cNvPr>
          <p:cNvSpPr txBox="1"/>
          <p:nvPr/>
        </p:nvSpPr>
        <p:spPr>
          <a:xfrm>
            <a:off x="7668344" y="1844824"/>
            <a:ext cx="1452577" cy="369332"/>
          </a:xfrm>
          <a:prstGeom prst="rect">
            <a:avLst/>
          </a:prstGeom>
          <a:noFill/>
        </p:spPr>
        <p:txBody>
          <a:bodyPr wrap="none" rtlCol="0">
            <a:spAutoFit/>
          </a:bodyPr>
          <a:lstStyle/>
          <a:p>
            <a:pPr latinLnBrk="0"/>
            <a:r>
              <a:rPr lang="en-US" dirty="0">
                <a:solidFill>
                  <a:srgbClr val="C00000"/>
                </a:solidFill>
              </a:rPr>
              <a:t>ransomware</a:t>
            </a:r>
          </a:p>
        </p:txBody>
      </p:sp>
      <p:sp>
        <p:nvSpPr>
          <p:cNvPr id="9" name="TextBox 8">
            <a:extLst>
              <a:ext uri="{FF2B5EF4-FFF2-40B4-BE49-F238E27FC236}">
                <a16:creationId xmlns:a16="http://schemas.microsoft.com/office/drawing/2014/main" id="{493780F6-8B97-A7ED-BC7B-6DD48F2A17ED}"/>
              </a:ext>
            </a:extLst>
          </p:cNvPr>
          <p:cNvSpPr txBox="1"/>
          <p:nvPr/>
        </p:nvSpPr>
        <p:spPr>
          <a:xfrm>
            <a:off x="7668345" y="3142709"/>
            <a:ext cx="1331640" cy="646331"/>
          </a:xfrm>
          <a:prstGeom prst="rect">
            <a:avLst/>
          </a:prstGeom>
          <a:noFill/>
        </p:spPr>
        <p:txBody>
          <a:bodyPr wrap="square" rtlCol="0">
            <a:spAutoFit/>
          </a:bodyPr>
          <a:lstStyle/>
          <a:p>
            <a:pPr latinLnBrk="0"/>
            <a:r>
              <a:rPr lang="en-US" dirty="0">
                <a:solidFill>
                  <a:srgbClr val="C00000"/>
                </a:solidFill>
              </a:rPr>
              <a:t>rootkit, backdoor</a:t>
            </a:r>
          </a:p>
        </p:txBody>
      </p:sp>
      <p:sp>
        <p:nvSpPr>
          <p:cNvPr id="10" name="TextBox 9">
            <a:extLst>
              <a:ext uri="{FF2B5EF4-FFF2-40B4-BE49-F238E27FC236}">
                <a16:creationId xmlns:a16="http://schemas.microsoft.com/office/drawing/2014/main" id="{BAD74E95-833E-098C-545B-14DAEC30EF3D}"/>
              </a:ext>
            </a:extLst>
          </p:cNvPr>
          <p:cNvSpPr txBox="1"/>
          <p:nvPr/>
        </p:nvSpPr>
        <p:spPr>
          <a:xfrm>
            <a:off x="7668344" y="5003884"/>
            <a:ext cx="1008112" cy="369332"/>
          </a:xfrm>
          <a:prstGeom prst="rect">
            <a:avLst/>
          </a:prstGeom>
          <a:noFill/>
        </p:spPr>
        <p:txBody>
          <a:bodyPr wrap="square" rtlCol="0">
            <a:spAutoFit/>
          </a:bodyPr>
          <a:lstStyle/>
          <a:p>
            <a:pPr latinLnBrk="0"/>
            <a:r>
              <a:rPr lang="en-US" dirty="0" err="1">
                <a:solidFill>
                  <a:srgbClr val="C00000"/>
                </a:solidFill>
              </a:rPr>
              <a:t>bootkit</a:t>
            </a:r>
            <a:endParaRPr lang="en-US" dirty="0">
              <a:solidFill>
                <a:srgbClr val="C00000"/>
              </a:solidFill>
            </a:endParaRPr>
          </a:p>
        </p:txBody>
      </p:sp>
    </p:spTree>
    <p:extLst>
      <p:ext uri="{BB962C8B-B14F-4D97-AF65-F5344CB8AC3E}">
        <p14:creationId xmlns:p14="http://schemas.microsoft.com/office/powerpoint/2010/main" val="296973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ECEB-E238-56CD-366D-A026A1592CA4}"/>
              </a:ext>
            </a:extLst>
          </p:cNvPr>
          <p:cNvSpPr>
            <a:spLocks noGrp="1"/>
          </p:cNvSpPr>
          <p:nvPr>
            <p:ph type="title"/>
          </p:nvPr>
        </p:nvSpPr>
        <p:spPr/>
        <p:txBody>
          <a:bodyPr/>
          <a:lstStyle/>
          <a:p>
            <a:r>
              <a:rPr lang="en-US" dirty="0"/>
              <a:t>Example Scenarios</a:t>
            </a:r>
          </a:p>
        </p:txBody>
      </p:sp>
      <p:sp>
        <p:nvSpPr>
          <p:cNvPr id="7" name="Content Placeholder 6">
            <a:extLst>
              <a:ext uri="{FF2B5EF4-FFF2-40B4-BE49-F238E27FC236}">
                <a16:creationId xmlns:a16="http://schemas.microsoft.com/office/drawing/2014/main" id="{948ED00C-832F-986E-359F-E62C993626DF}"/>
              </a:ext>
            </a:extLst>
          </p:cNvPr>
          <p:cNvSpPr>
            <a:spLocks noGrp="1"/>
          </p:cNvSpPr>
          <p:nvPr>
            <p:ph sz="quarter" idx="11"/>
          </p:nvPr>
        </p:nvSpPr>
        <p:spPr>
          <a:xfrm>
            <a:off x="467544" y="1560612"/>
            <a:ext cx="7344816" cy="4676700"/>
          </a:xfrm>
        </p:spPr>
        <p:txBody>
          <a:bodyPr/>
          <a:lstStyle/>
          <a:p>
            <a:r>
              <a:rPr lang="en-US" sz="2000" dirty="0"/>
              <a:t>A user receives a pop-up message on their computer, warning them that their system is infected with a dangerous virus and their personal data is at risk. The message urges the user to download a “free antivirus scanner” to remove the virus and protect their computer. If the user clicks on the download link, they are directed to a website that attempts to install malicious software on their computer.</a:t>
            </a:r>
          </a:p>
          <a:p>
            <a:r>
              <a:rPr lang="en-US" sz="2000" dirty="0"/>
              <a:t>A user downloads a free PDF reader from an untrusted website. They don’t realize that the PDF reader contains malware that secretly tracks their online activity, collects their photos, and captures screenshots. The malware sends this collected data to a remote server, allowing the attackers to monitor the user’s browsing habits, steal sensitive information, and potentially commit identity theft.</a:t>
            </a:r>
          </a:p>
        </p:txBody>
      </p:sp>
      <p:sp>
        <p:nvSpPr>
          <p:cNvPr id="8" name="TextBox 7">
            <a:extLst>
              <a:ext uri="{FF2B5EF4-FFF2-40B4-BE49-F238E27FC236}">
                <a16:creationId xmlns:a16="http://schemas.microsoft.com/office/drawing/2014/main" id="{C8F3FD42-FBB1-A0B7-489E-36E0A6CBF587}"/>
              </a:ext>
            </a:extLst>
          </p:cNvPr>
          <p:cNvSpPr txBox="1"/>
          <p:nvPr/>
        </p:nvSpPr>
        <p:spPr>
          <a:xfrm>
            <a:off x="7812360" y="2699628"/>
            <a:ext cx="1207254" cy="369332"/>
          </a:xfrm>
          <a:prstGeom prst="rect">
            <a:avLst/>
          </a:prstGeom>
          <a:noFill/>
        </p:spPr>
        <p:txBody>
          <a:bodyPr wrap="none" rtlCol="0">
            <a:spAutoFit/>
          </a:bodyPr>
          <a:lstStyle/>
          <a:p>
            <a:pPr latinLnBrk="0"/>
            <a:r>
              <a:rPr lang="en-US" dirty="0">
                <a:solidFill>
                  <a:srgbClr val="C00000"/>
                </a:solidFill>
              </a:rPr>
              <a:t>scareware</a:t>
            </a:r>
          </a:p>
        </p:txBody>
      </p:sp>
      <p:sp>
        <p:nvSpPr>
          <p:cNvPr id="9" name="TextBox 8">
            <a:extLst>
              <a:ext uri="{FF2B5EF4-FFF2-40B4-BE49-F238E27FC236}">
                <a16:creationId xmlns:a16="http://schemas.microsoft.com/office/drawing/2014/main" id="{493780F6-8B97-A7ED-BC7B-6DD48F2A17ED}"/>
              </a:ext>
            </a:extLst>
          </p:cNvPr>
          <p:cNvSpPr txBox="1"/>
          <p:nvPr/>
        </p:nvSpPr>
        <p:spPr>
          <a:xfrm>
            <a:off x="7812360" y="4715852"/>
            <a:ext cx="1368152" cy="646331"/>
          </a:xfrm>
          <a:prstGeom prst="rect">
            <a:avLst/>
          </a:prstGeom>
          <a:noFill/>
        </p:spPr>
        <p:txBody>
          <a:bodyPr wrap="square" rtlCol="0">
            <a:spAutoFit/>
          </a:bodyPr>
          <a:lstStyle/>
          <a:p>
            <a:pPr latinLnBrk="0"/>
            <a:r>
              <a:rPr lang="en-US" dirty="0">
                <a:solidFill>
                  <a:srgbClr val="C00000"/>
                </a:solidFill>
              </a:rPr>
              <a:t>trojan, spyware</a:t>
            </a:r>
          </a:p>
        </p:txBody>
      </p:sp>
    </p:spTree>
    <p:extLst>
      <p:ext uri="{BB962C8B-B14F-4D97-AF65-F5344CB8AC3E}">
        <p14:creationId xmlns:p14="http://schemas.microsoft.com/office/powerpoint/2010/main" val="182972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Scheme</a:t>
            </a:r>
          </a:p>
        </p:txBody>
      </p:sp>
      <p:sp>
        <p:nvSpPr>
          <p:cNvPr id="3" name="Content Placeholder 2"/>
          <p:cNvSpPr>
            <a:spLocks noGrp="1"/>
          </p:cNvSpPr>
          <p:nvPr>
            <p:ph sz="quarter" idx="11"/>
          </p:nvPr>
        </p:nvSpPr>
        <p:spPr/>
        <p:txBody>
          <a:bodyPr/>
          <a:lstStyle/>
          <a:p>
            <a:r>
              <a:rPr lang="en-US" altLang="en-US" sz="2800" dirty="0"/>
              <a:t>Computer Antivirus Researchers Organization (</a:t>
            </a:r>
            <a:r>
              <a:rPr lang="en-US" sz="2800" dirty="0"/>
              <a:t>CARO) created a naming convention in 1991</a:t>
            </a:r>
          </a:p>
          <a:p>
            <a:endParaRPr lang="en-US" sz="2800" dirty="0"/>
          </a:p>
          <a:p>
            <a:endParaRPr lang="en-US" sz="2800" dirty="0"/>
          </a:p>
          <a:p>
            <a:endParaRPr lang="en-US" sz="2800" dirty="0"/>
          </a:p>
          <a:p>
            <a:endParaRPr lang="en-US" sz="2800" dirty="0"/>
          </a:p>
          <a:p>
            <a:endParaRPr lang="en-US" sz="2400" dirty="0"/>
          </a:p>
          <a:p>
            <a:r>
              <a:rPr lang="en-US" sz="2800" dirty="0"/>
              <a:t>It is not a universal standard, but most anti-malware vendors have adopted similar schemes</a:t>
            </a:r>
          </a:p>
        </p:txBody>
      </p:sp>
      <p:pic>
        <p:nvPicPr>
          <p:cNvPr id="4" name="Picture 2" descr="F:\FAST\Workshops\BQM\Final presentation\naming-conv.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614" y="2924944"/>
            <a:ext cx="6778772"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3121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sz="quarter" idx="11"/>
          </p:nvPr>
        </p:nvSpPr>
        <p:spPr/>
        <p:txBody>
          <a:bodyPr/>
          <a:lstStyle/>
          <a:p>
            <a:r>
              <a:rPr lang="en-US" sz="2800" dirty="0"/>
              <a:t>1982 First reported virus: Elk Cloner (Apple 2)</a:t>
            </a:r>
          </a:p>
          <a:p>
            <a:r>
              <a:rPr lang="en-US" sz="2800" dirty="0"/>
              <a:t>1983 Virus gets defined</a:t>
            </a:r>
          </a:p>
          <a:p>
            <a:r>
              <a:rPr lang="en-US" sz="2800" dirty="0"/>
              <a:t>1986 First PC virus MS DOS: Brain (written by two Pakistani brothers)</a:t>
            </a:r>
          </a:p>
          <a:p>
            <a:r>
              <a:rPr lang="en-US" sz="2800" dirty="0"/>
              <a:t>1988 First worm: Morris worm</a:t>
            </a:r>
          </a:p>
          <a:p>
            <a:r>
              <a:rPr lang="en-US" sz="2800" dirty="0"/>
              <a:t>1998 Back orifice: remote management tool</a:t>
            </a:r>
          </a:p>
          <a:p>
            <a:r>
              <a:rPr lang="en-US" sz="2800" dirty="0"/>
              <a:t>1999 Melissa virus: macro virus </a:t>
            </a:r>
          </a:p>
          <a:p>
            <a:endParaRPr lang="en-US" sz="2800" dirty="0"/>
          </a:p>
        </p:txBody>
      </p:sp>
    </p:spTree>
    <p:extLst>
      <p:ext uri="{BB962C8B-B14F-4D97-AF65-F5344CB8AC3E}">
        <p14:creationId xmlns:p14="http://schemas.microsoft.com/office/powerpoint/2010/main" val="3759518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sz="quarter" idx="11"/>
          </p:nvPr>
        </p:nvSpPr>
        <p:spPr/>
        <p:txBody>
          <a:bodyPr/>
          <a:lstStyle/>
          <a:p>
            <a:r>
              <a:rPr lang="en-US" sz="2800" dirty="0"/>
              <a:t>1999 Zombie concept</a:t>
            </a:r>
          </a:p>
          <a:p>
            <a:r>
              <a:rPr lang="en-US" sz="2800" dirty="0"/>
              <a:t>2000 love bug: </a:t>
            </a:r>
            <a:r>
              <a:rPr lang="en-US" sz="2800" dirty="0" err="1"/>
              <a:t>vbs</a:t>
            </a:r>
            <a:r>
              <a:rPr lang="en-US" sz="2800" dirty="0"/>
              <a:t> worm. damage: $15B</a:t>
            </a:r>
          </a:p>
          <a:p>
            <a:r>
              <a:rPr lang="en-US" sz="2800" dirty="0"/>
              <a:t>2001 </a:t>
            </a:r>
            <a:r>
              <a:rPr lang="en-US" sz="2800" dirty="0" err="1"/>
              <a:t>Nimda</a:t>
            </a:r>
            <a:r>
              <a:rPr lang="en-US" sz="2800" dirty="0"/>
              <a:t> worm</a:t>
            </a:r>
          </a:p>
          <a:p>
            <a:r>
              <a:rPr lang="en-US" sz="2800" dirty="0"/>
              <a:t>2003 SQL Slammer worm. damage $1.2B (buffer overflow vulnerability)</a:t>
            </a:r>
          </a:p>
          <a:p>
            <a:r>
              <a:rPr lang="en-US" sz="2800" dirty="0"/>
              <a:t>2001 Code Red: </a:t>
            </a:r>
            <a:r>
              <a:rPr lang="en-US" sz="2800" dirty="0" err="1"/>
              <a:t>DoS</a:t>
            </a:r>
            <a:r>
              <a:rPr lang="en-US" sz="2800" dirty="0"/>
              <a:t> worm, damage: $2.6B</a:t>
            </a:r>
          </a:p>
          <a:p>
            <a:r>
              <a:rPr lang="en-US" sz="2800" dirty="0"/>
              <a:t>2004 </a:t>
            </a:r>
            <a:r>
              <a:rPr lang="en-US" sz="2800" dirty="0" err="1"/>
              <a:t>MyDooM</a:t>
            </a:r>
            <a:r>
              <a:rPr lang="en-US" sz="2800" dirty="0"/>
              <a:t> DDoS worm, damage: $38B</a:t>
            </a:r>
          </a:p>
          <a:p>
            <a:endParaRPr lang="en-US" sz="2800" dirty="0"/>
          </a:p>
        </p:txBody>
      </p:sp>
    </p:spTree>
    <p:extLst>
      <p:ext uri="{BB962C8B-B14F-4D97-AF65-F5344CB8AC3E}">
        <p14:creationId xmlns:p14="http://schemas.microsoft.com/office/powerpoint/2010/main" val="659152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Virus</a:t>
            </a:r>
          </a:p>
        </p:txBody>
      </p:sp>
      <p:sp>
        <p:nvSpPr>
          <p:cNvPr id="3" name="Content Placeholder 2"/>
          <p:cNvSpPr>
            <a:spLocks noGrp="1"/>
          </p:cNvSpPr>
          <p:nvPr>
            <p:ph sz="quarter" idx="11"/>
          </p:nvPr>
        </p:nvSpPr>
        <p:spPr/>
        <p:txBody>
          <a:bodyPr/>
          <a:lstStyle/>
          <a:p>
            <a:r>
              <a:rPr lang="en-US" sz="2400" dirty="0"/>
              <a:t>“A program that can infect other programs by modifying them to include a, possibly evolved, version of itself”</a:t>
            </a:r>
            <a:br>
              <a:rPr lang="en-US" sz="2400" dirty="0"/>
            </a:br>
            <a:r>
              <a:rPr lang="en-US" sz="2400" dirty="0"/>
              <a:t>(Fred Cohen 1983)</a:t>
            </a:r>
          </a:p>
          <a:p>
            <a:endParaRPr lang="en-US" sz="2400" dirty="0"/>
          </a:p>
          <a:p>
            <a:r>
              <a:rPr lang="en-US" sz="2400" dirty="0"/>
              <a:t>It executes secretly when host program is run</a:t>
            </a:r>
          </a:p>
          <a:p>
            <a:r>
              <a:rPr lang="en-US" sz="2400" dirty="0"/>
              <a:t>Inserts copies of itself into host programs/data files</a:t>
            </a:r>
          </a:p>
          <a:p>
            <a:r>
              <a:rPr lang="en-US" sz="2400" dirty="0"/>
              <a:t>Requires user interaction for initial trigger</a:t>
            </a:r>
          </a:p>
          <a:p>
            <a:r>
              <a:rPr lang="en-US" sz="2400" dirty="0"/>
              <a:t>Often specific to operating system and hardware</a:t>
            </a:r>
          </a:p>
          <a:p>
            <a:pPr lvl="1"/>
            <a:r>
              <a:rPr lang="en-US" sz="2000" dirty="0"/>
              <a:t>taking advantage of their details and weaknesses</a:t>
            </a:r>
          </a:p>
          <a:p>
            <a:endParaRPr lang="en-US" sz="2400" dirty="0"/>
          </a:p>
        </p:txBody>
      </p:sp>
    </p:spTree>
    <p:extLst>
      <p:ext uri="{BB962C8B-B14F-4D97-AF65-F5344CB8AC3E}">
        <p14:creationId xmlns:p14="http://schemas.microsoft.com/office/powerpoint/2010/main" val="945150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phases of Virus</a:t>
            </a:r>
          </a:p>
        </p:txBody>
      </p:sp>
      <p:sp>
        <p:nvSpPr>
          <p:cNvPr id="3" name="Content Placeholder 2"/>
          <p:cNvSpPr>
            <a:spLocks noGrp="1"/>
          </p:cNvSpPr>
          <p:nvPr>
            <p:ph sz="quarter" idx="11"/>
          </p:nvPr>
        </p:nvSpPr>
        <p:spPr/>
        <p:txBody>
          <a:bodyPr/>
          <a:lstStyle/>
          <a:p>
            <a:r>
              <a:rPr lang="en-US" sz="2800" b="1" dirty="0"/>
              <a:t>Dormant</a:t>
            </a:r>
            <a:r>
              <a:rPr lang="en-US" sz="2800" dirty="0"/>
              <a:t>: It is idle, waiting for some event</a:t>
            </a:r>
          </a:p>
          <a:p>
            <a:r>
              <a:rPr lang="en-US" sz="2800" b="1" dirty="0"/>
              <a:t>Propagation</a:t>
            </a:r>
            <a:r>
              <a:rPr lang="en-US" sz="2800" dirty="0"/>
              <a:t>: Copy itself into other programs or key disk areas, or to other computers over the network, or spread via email</a:t>
            </a:r>
          </a:p>
          <a:p>
            <a:r>
              <a:rPr lang="en-US" sz="2800" b="1" dirty="0"/>
              <a:t>Triggering</a:t>
            </a:r>
            <a:r>
              <a:rPr lang="en-US" sz="2800" dirty="0"/>
              <a:t>: activated to perform some intended actions</a:t>
            </a:r>
          </a:p>
          <a:p>
            <a:r>
              <a:rPr lang="en-US" sz="2800" b="1" dirty="0"/>
              <a:t>Execution</a:t>
            </a:r>
            <a:r>
              <a:rPr lang="en-US" sz="2800" dirty="0"/>
              <a:t>: perform the function contained in the payload</a:t>
            </a:r>
          </a:p>
          <a:p>
            <a:endParaRPr lang="en-US" sz="2800" dirty="0"/>
          </a:p>
        </p:txBody>
      </p:sp>
    </p:spTree>
    <p:extLst>
      <p:ext uri="{BB962C8B-B14F-4D97-AF65-F5344CB8AC3E}">
        <p14:creationId xmlns:p14="http://schemas.microsoft.com/office/powerpoint/2010/main" val="2462165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Lifecycle of virus</a:t>
            </a:r>
            <a:endParaRPr lang="en-US" dirty="0"/>
          </a:p>
        </p:txBody>
      </p:sp>
      <p:sp>
        <p:nvSpPr>
          <p:cNvPr id="3" name="Content Placeholder 2"/>
          <p:cNvSpPr>
            <a:spLocks noGrp="1"/>
          </p:cNvSpPr>
          <p:nvPr>
            <p:ph sz="quarter" idx="11"/>
          </p:nvPr>
        </p:nvSpPr>
        <p:spPr/>
        <p:txBody>
          <a:bodyPr/>
          <a:lstStyle/>
          <a:p>
            <a:r>
              <a:rPr lang="en-US" sz="2800" dirty="0"/>
              <a:t>A virus gets created and released</a:t>
            </a:r>
          </a:p>
          <a:p>
            <a:r>
              <a:rPr lang="en-US" sz="2800" dirty="0"/>
              <a:t>The virus infects several machines</a:t>
            </a:r>
          </a:p>
          <a:p>
            <a:r>
              <a:rPr lang="en-US" sz="2800" dirty="0"/>
              <a:t>Samples are sent to anti-virus companies</a:t>
            </a:r>
          </a:p>
          <a:p>
            <a:r>
              <a:rPr lang="en-US" sz="2800" dirty="0"/>
              <a:t>AV companies record a signature from the virus</a:t>
            </a:r>
          </a:p>
          <a:p>
            <a:pPr lvl="1"/>
            <a:r>
              <a:rPr lang="en-US" sz="2400" dirty="0"/>
              <a:t>Then include the new signature in their database</a:t>
            </a:r>
          </a:p>
          <a:p>
            <a:r>
              <a:rPr lang="en-US" sz="2800" dirty="0"/>
              <a:t>Their scanner now can detect the virus</a:t>
            </a:r>
          </a:p>
          <a:p>
            <a:endParaRPr lang="en-US" sz="2800" dirty="0"/>
          </a:p>
        </p:txBody>
      </p:sp>
    </p:spTree>
    <p:extLst>
      <p:ext uri="{BB962C8B-B14F-4D97-AF65-F5344CB8AC3E}">
        <p14:creationId xmlns:p14="http://schemas.microsoft.com/office/powerpoint/2010/main" val="2075807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Viruses</a:t>
            </a:r>
          </a:p>
        </p:txBody>
      </p:sp>
      <p:pic>
        <p:nvPicPr>
          <p:cNvPr id="1036" name="Picture 12">
            <a:extLst>
              <a:ext uri="{FF2B5EF4-FFF2-40B4-BE49-F238E27FC236}">
                <a16:creationId xmlns:a16="http://schemas.microsoft.com/office/drawing/2014/main" id="{26EDCDF1-00FE-5068-873F-071B8B3CD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3" y="1126951"/>
            <a:ext cx="8905875" cy="5686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C9FACDC-812C-6693-5209-912D27F78737}"/>
              </a:ext>
            </a:extLst>
          </p:cNvPr>
          <p:cNvSpPr txBox="1"/>
          <p:nvPr/>
        </p:nvSpPr>
        <p:spPr>
          <a:xfrm>
            <a:off x="4572000" y="1105278"/>
            <a:ext cx="1440160" cy="523220"/>
          </a:xfrm>
          <a:prstGeom prst="rect">
            <a:avLst/>
          </a:prstGeom>
          <a:noFill/>
        </p:spPr>
        <p:txBody>
          <a:bodyPr wrap="square">
            <a:spAutoFit/>
          </a:bodyPr>
          <a:lstStyle/>
          <a:p>
            <a:pPr latinLnBrk="0"/>
            <a:r>
              <a:rPr lang="en-US" sz="1400" dirty="0"/>
              <a:t>What exactly they infect</a:t>
            </a:r>
          </a:p>
        </p:txBody>
      </p:sp>
      <p:sp>
        <p:nvSpPr>
          <p:cNvPr id="7" name="TextBox 6">
            <a:extLst>
              <a:ext uri="{FF2B5EF4-FFF2-40B4-BE49-F238E27FC236}">
                <a16:creationId xmlns:a16="http://schemas.microsoft.com/office/drawing/2014/main" id="{2C6A27B6-1A2B-ADAA-FC96-4920553C81E6}"/>
              </a:ext>
            </a:extLst>
          </p:cNvPr>
          <p:cNvSpPr txBox="1"/>
          <p:nvPr/>
        </p:nvSpPr>
        <p:spPr>
          <a:xfrm>
            <a:off x="8060949" y="1320722"/>
            <a:ext cx="1115616" cy="523220"/>
          </a:xfrm>
          <a:prstGeom prst="rect">
            <a:avLst/>
          </a:prstGeom>
          <a:noFill/>
        </p:spPr>
        <p:txBody>
          <a:bodyPr wrap="square">
            <a:spAutoFit/>
          </a:bodyPr>
          <a:lstStyle/>
          <a:p>
            <a:pPr latinLnBrk="0"/>
            <a:r>
              <a:rPr lang="en-US" sz="1400" dirty="0"/>
              <a:t>What they do to hide</a:t>
            </a:r>
          </a:p>
        </p:txBody>
      </p:sp>
      <p:sp>
        <p:nvSpPr>
          <p:cNvPr id="8" name="TextBox 7">
            <a:extLst>
              <a:ext uri="{FF2B5EF4-FFF2-40B4-BE49-F238E27FC236}">
                <a16:creationId xmlns:a16="http://schemas.microsoft.com/office/drawing/2014/main" id="{0BBC3BB9-8121-DFA6-6ED7-B5740F7D5F6E}"/>
              </a:ext>
            </a:extLst>
          </p:cNvPr>
          <p:cNvSpPr txBox="1"/>
          <p:nvPr/>
        </p:nvSpPr>
        <p:spPr>
          <a:xfrm>
            <a:off x="1547664" y="1043463"/>
            <a:ext cx="1440160" cy="523220"/>
          </a:xfrm>
          <a:prstGeom prst="rect">
            <a:avLst/>
          </a:prstGeom>
          <a:noFill/>
        </p:spPr>
        <p:txBody>
          <a:bodyPr wrap="square">
            <a:spAutoFit/>
          </a:bodyPr>
          <a:lstStyle/>
          <a:p>
            <a:pPr latinLnBrk="0"/>
            <a:r>
              <a:rPr lang="en-US" sz="1400" dirty="0"/>
              <a:t>What they do after infection</a:t>
            </a:r>
          </a:p>
        </p:txBody>
      </p:sp>
    </p:spTree>
    <p:extLst>
      <p:ext uri="{BB962C8B-B14F-4D97-AF65-F5344CB8AC3E}">
        <p14:creationId xmlns:p14="http://schemas.microsoft.com/office/powerpoint/2010/main" val="2924056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04A2-2E69-500F-49EB-19F59638ABE2}"/>
              </a:ext>
            </a:extLst>
          </p:cNvPr>
          <p:cNvSpPr>
            <a:spLocks noGrp="1"/>
          </p:cNvSpPr>
          <p:nvPr>
            <p:ph type="title"/>
          </p:nvPr>
        </p:nvSpPr>
        <p:spPr/>
        <p:txBody>
          <a:bodyPr/>
          <a:lstStyle/>
          <a:p>
            <a:r>
              <a:rPr lang="en-US" dirty="0"/>
              <a:t>Dropper Payloads</a:t>
            </a:r>
          </a:p>
        </p:txBody>
      </p:sp>
      <p:sp>
        <p:nvSpPr>
          <p:cNvPr id="3" name="Content Placeholder 2">
            <a:extLst>
              <a:ext uri="{FF2B5EF4-FFF2-40B4-BE49-F238E27FC236}">
                <a16:creationId xmlns:a16="http://schemas.microsoft.com/office/drawing/2014/main" id="{38319D99-F6FF-DDC5-D02B-DE0BC2396450}"/>
              </a:ext>
            </a:extLst>
          </p:cNvPr>
          <p:cNvSpPr>
            <a:spLocks noGrp="1"/>
          </p:cNvSpPr>
          <p:nvPr>
            <p:ph sz="quarter" idx="11"/>
          </p:nvPr>
        </p:nvSpPr>
        <p:spPr/>
        <p:txBody>
          <a:bodyPr/>
          <a:lstStyle/>
          <a:p>
            <a:r>
              <a:rPr lang="en-US" sz="2800" dirty="0"/>
              <a:t>A virus that is designed to drop more malware on the computer</a:t>
            </a:r>
          </a:p>
          <a:p>
            <a:r>
              <a:rPr lang="en-US" sz="2800" dirty="0"/>
              <a:t>Does not do malicious activities by itself, but download/decompress more malware and install it</a:t>
            </a:r>
          </a:p>
          <a:p>
            <a:r>
              <a:rPr lang="en-US" sz="2800" dirty="0"/>
              <a:t>It acts as a container or carrier that encapsulates additional malware components.</a:t>
            </a:r>
          </a:p>
        </p:txBody>
      </p:sp>
    </p:spTree>
    <p:extLst>
      <p:ext uri="{BB962C8B-B14F-4D97-AF65-F5344CB8AC3E}">
        <p14:creationId xmlns:p14="http://schemas.microsoft.com/office/powerpoint/2010/main" val="2228322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a:xfrm>
            <a:off x="467544" y="1484784"/>
            <a:ext cx="8229600" cy="4676700"/>
          </a:xfrm>
        </p:spPr>
        <p:txBody>
          <a:bodyPr/>
          <a:lstStyle/>
          <a:p>
            <a:pPr marL="0" indent="0">
              <a:buNone/>
            </a:pPr>
            <a:r>
              <a:rPr lang="en-US" sz="2400" dirty="0"/>
              <a:t>Techniques that are being used to avoid detection and analysis!</a:t>
            </a:r>
          </a:p>
          <a:p>
            <a:endParaRPr lang="en-US" sz="2400" dirty="0"/>
          </a:p>
          <a:p>
            <a:pPr marL="0" indent="0">
              <a:buNone/>
            </a:pPr>
            <a:r>
              <a:rPr lang="en-US" sz="2400" b="1" dirty="0"/>
              <a:t>1. No Obfuscation</a:t>
            </a:r>
          </a:p>
          <a:p>
            <a:r>
              <a:rPr lang="en-US" sz="2400" dirty="0"/>
              <a:t>easier to build</a:t>
            </a:r>
          </a:p>
          <a:p>
            <a:r>
              <a:rPr lang="en-US" sz="2400" dirty="0"/>
              <a:t>detection and analysis of such a virus is trivial</a:t>
            </a:r>
          </a:p>
          <a:p>
            <a:pPr marL="0" indent="0">
              <a:buNone/>
            </a:pPr>
            <a:endParaRPr lang="en-US" sz="2400" dirty="0"/>
          </a:p>
        </p:txBody>
      </p:sp>
    </p:spTree>
    <p:extLst>
      <p:ext uri="{BB962C8B-B14F-4D97-AF65-F5344CB8AC3E}">
        <p14:creationId xmlns:p14="http://schemas.microsoft.com/office/powerpoint/2010/main" val="1484387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400" b="1" dirty="0"/>
              <a:t>2. Encryption</a:t>
            </a:r>
          </a:p>
          <a:p>
            <a:r>
              <a:rPr lang="en-US" sz="2400" dirty="0"/>
              <a:t>use of cryptography to hide the functionality</a:t>
            </a:r>
          </a:p>
          <a:p>
            <a:r>
              <a:rPr lang="en-US" sz="2400" dirty="0"/>
              <a:t>includes a </a:t>
            </a:r>
            <a:r>
              <a:rPr lang="en-US" sz="2400" dirty="0" err="1"/>
              <a:t>decryptor</a:t>
            </a:r>
            <a:r>
              <a:rPr lang="en-US" sz="2400" dirty="0"/>
              <a:t> routine (function) along with the encrypted body that decrypts the virus on-the-fly</a:t>
            </a:r>
          </a:p>
          <a:p>
            <a:r>
              <a:rPr lang="en-US" sz="2400" dirty="0"/>
              <a:t>a new encryption key is chosen when infecting a new file</a:t>
            </a:r>
          </a:p>
          <a:p>
            <a:r>
              <a:rPr lang="en-US" sz="2400" dirty="0"/>
              <a:t>the decryption key can:</a:t>
            </a:r>
          </a:p>
          <a:p>
            <a:pPr lvl="1"/>
            <a:r>
              <a:rPr lang="en-US" sz="2000" dirty="0"/>
              <a:t>exist in the virus body along with the decryption algorithm</a:t>
            </a:r>
          </a:p>
          <a:p>
            <a:pPr lvl="1"/>
            <a:r>
              <a:rPr lang="en-US" sz="2000" dirty="0"/>
              <a:t>be recovered with a simple brute force by the virus itself</a:t>
            </a:r>
          </a:p>
        </p:txBody>
      </p:sp>
      <p:sp>
        <p:nvSpPr>
          <p:cNvPr id="4" name="TextBox 3">
            <a:extLst>
              <a:ext uri="{FF2B5EF4-FFF2-40B4-BE49-F238E27FC236}">
                <a16:creationId xmlns:a16="http://schemas.microsoft.com/office/drawing/2014/main" id="{5582139A-F0FA-5188-E4DD-89BFA0C596DF}"/>
              </a:ext>
            </a:extLst>
          </p:cNvPr>
          <p:cNvSpPr txBox="1"/>
          <p:nvPr/>
        </p:nvSpPr>
        <p:spPr>
          <a:xfrm>
            <a:off x="5835603" y="1236833"/>
            <a:ext cx="3293610"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code</a:t>
            </a:r>
          </a:p>
        </p:txBody>
      </p:sp>
    </p:spTree>
    <p:extLst>
      <p:ext uri="{BB962C8B-B14F-4D97-AF65-F5344CB8AC3E}">
        <p14:creationId xmlns:p14="http://schemas.microsoft.com/office/powerpoint/2010/main" val="3434401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200" b="1" dirty="0"/>
              <a:t>3. </a:t>
            </a:r>
            <a:r>
              <a:rPr lang="en-US" sz="2200" b="1" dirty="0" err="1"/>
              <a:t>Oligomorphism</a:t>
            </a:r>
            <a:endParaRPr lang="en-US" sz="2200" b="1" dirty="0"/>
          </a:p>
          <a:p>
            <a:r>
              <a:rPr lang="en-US" sz="2200" dirty="0"/>
              <a:t>also called ‘Semi-polymorphic’</a:t>
            </a:r>
          </a:p>
          <a:p>
            <a:r>
              <a:rPr lang="en-US" sz="2200" dirty="0"/>
              <a:t>use multiple decryption routines to avoid giving a signature for the antivirus software</a:t>
            </a:r>
          </a:p>
          <a:p>
            <a:r>
              <a:rPr lang="en-US" sz="2200" dirty="0"/>
              <a:t>There are some pre-defined decryption routines, one of them chosen randomly on infection</a:t>
            </a:r>
          </a:p>
          <a:p>
            <a:pPr lvl="1"/>
            <a:r>
              <a:rPr lang="en-US" sz="1800" dirty="0"/>
              <a:t>so can still be detected via signatures</a:t>
            </a:r>
            <a:endParaRPr lang="en-US" sz="2200" dirty="0"/>
          </a:p>
          <a:p>
            <a:pPr marL="0" indent="0">
              <a:buNone/>
            </a:pPr>
            <a:r>
              <a:rPr lang="en-US" sz="2200" b="1" dirty="0"/>
              <a:t>4. Polymorphism</a:t>
            </a:r>
          </a:p>
          <a:p>
            <a:r>
              <a:rPr lang="en-US" sz="2200" dirty="0"/>
              <a:t>change the look of the virus code every time it infects a new file by dynamically changing the decryption routine</a:t>
            </a:r>
          </a:p>
          <a:p>
            <a:r>
              <a:rPr lang="en-US" sz="2200" dirty="0"/>
              <a:t>can create very large number of decryption routines using a ‘mutation engine’, which has all the logic in creating a new decryption routine</a:t>
            </a:r>
          </a:p>
        </p:txBody>
      </p:sp>
      <p:sp>
        <p:nvSpPr>
          <p:cNvPr id="4" name="TextBox 3">
            <a:extLst>
              <a:ext uri="{FF2B5EF4-FFF2-40B4-BE49-F238E27FC236}">
                <a16:creationId xmlns:a16="http://schemas.microsoft.com/office/drawing/2014/main" id="{126848DB-AC26-85CB-098E-E2C233EE933E}"/>
              </a:ext>
            </a:extLst>
          </p:cNvPr>
          <p:cNvSpPr txBox="1"/>
          <p:nvPr/>
        </p:nvSpPr>
        <p:spPr>
          <a:xfrm>
            <a:off x="5835603" y="1236833"/>
            <a:ext cx="3293610"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code</a:t>
            </a:r>
          </a:p>
        </p:txBody>
      </p:sp>
    </p:spTree>
    <p:extLst>
      <p:ext uri="{BB962C8B-B14F-4D97-AF65-F5344CB8AC3E}">
        <p14:creationId xmlns:p14="http://schemas.microsoft.com/office/powerpoint/2010/main" val="884407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400" b="1" dirty="0"/>
              <a:t>5. Metamorphism</a:t>
            </a:r>
          </a:p>
          <a:p>
            <a:r>
              <a:rPr lang="en-US" sz="2400" dirty="0"/>
              <a:t>change the virus body for each infection</a:t>
            </a:r>
          </a:p>
          <a:p>
            <a:pPr lvl="1"/>
            <a:r>
              <a:rPr lang="en-US" sz="1800" dirty="0"/>
              <a:t>without using encryption</a:t>
            </a:r>
          </a:p>
          <a:p>
            <a:r>
              <a:rPr lang="en-US" sz="2400" dirty="0"/>
              <a:t>mutation is done by using equivalent and unneeded functions (or code) or by changing the sequence of statements in the code slightly (as long as the logic remains same)</a:t>
            </a:r>
          </a:p>
          <a:p>
            <a:r>
              <a:rPr lang="en-US" sz="2400" dirty="0"/>
              <a:t>every specimen looks different and generation of a signature is much harder</a:t>
            </a:r>
          </a:p>
          <a:p>
            <a:r>
              <a:rPr lang="en-US" sz="2400" dirty="0"/>
              <a:t>more advanced </a:t>
            </a:r>
            <a:r>
              <a:rPr lang="en-US" sz="2400" dirty="0" err="1"/>
              <a:t>metamorphs</a:t>
            </a:r>
            <a:r>
              <a:rPr lang="en-US" sz="2400" dirty="0"/>
              <a:t> also change their runtime behavior, not just the code</a:t>
            </a:r>
          </a:p>
        </p:txBody>
      </p:sp>
      <p:sp>
        <p:nvSpPr>
          <p:cNvPr id="4" name="TextBox 3">
            <a:extLst>
              <a:ext uri="{FF2B5EF4-FFF2-40B4-BE49-F238E27FC236}">
                <a16:creationId xmlns:a16="http://schemas.microsoft.com/office/drawing/2014/main" id="{812FC24E-63C1-9D75-E8DD-85091A64B0AA}"/>
              </a:ext>
            </a:extLst>
          </p:cNvPr>
          <p:cNvSpPr txBox="1"/>
          <p:nvPr/>
        </p:nvSpPr>
        <p:spPr>
          <a:xfrm>
            <a:off x="5835603" y="1236833"/>
            <a:ext cx="3293610"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code</a:t>
            </a:r>
          </a:p>
        </p:txBody>
      </p:sp>
    </p:spTree>
    <p:extLst>
      <p:ext uri="{BB962C8B-B14F-4D97-AF65-F5344CB8AC3E}">
        <p14:creationId xmlns:p14="http://schemas.microsoft.com/office/powerpoint/2010/main" val="2227166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400" b="1" dirty="0"/>
              <a:t>6. Stealth</a:t>
            </a:r>
          </a:p>
          <a:p>
            <a:r>
              <a:rPr lang="en-US" sz="2400" dirty="0"/>
              <a:t>tries to remain undiscovered by hiding the infection events from everyone, instead of trying to obfuscate its code</a:t>
            </a:r>
          </a:p>
          <a:p>
            <a:r>
              <a:rPr lang="en-US" sz="2400" dirty="0"/>
              <a:t>achieves this by restoring certain original properties </a:t>
            </a:r>
          </a:p>
          <a:p>
            <a:pPr lvl="1"/>
            <a:r>
              <a:rPr lang="en-US" sz="1800" dirty="0"/>
              <a:t>e.g. timestamp, file size</a:t>
            </a:r>
          </a:p>
          <a:p>
            <a:pPr lvl="1"/>
            <a:endParaRPr lang="en-US" sz="1800" dirty="0"/>
          </a:p>
          <a:p>
            <a:pPr marL="0" indent="0">
              <a:buNone/>
            </a:pPr>
            <a:r>
              <a:rPr lang="en-US" sz="2400" b="1" dirty="0"/>
              <a:t>7. Armoring</a:t>
            </a:r>
          </a:p>
          <a:p>
            <a:r>
              <a:rPr lang="en-US" sz="2400" dirty="0"/>
              <a:t>uses various anti-debugging, anti-heuristics and anti-VM (virtual machine detection) techniques</a:t>
            </a:r>
          </a:p>
          <a:p>
            <a:r>
              <a:rPr lang="en-US" sz="2400" dirty="0"/>
              <a:t>may use file packers, copying itself to multiple sections in the host file</a:t>
            </a:r>
          </a:p>
          <a:p>
            <a:pPr lvl="1"/>
            <a:endParaRPr lang="en-US" sz="1800" dirty="0"/>
          </a:p>
        </p:txBody>
      </p:sp>
      <p:sp>
        <p:nvSpPr>
          <p:cNvPr id="4" name="TextBox 3">
            <a:extLst>
              <a:ext uri="{FF2B5EF4-FFF2-40B4-BE49-F238E27FC236}">
                <a16:creationId xmlns:a16="http://schemas.microsoft.com/office/drawing/2014/main" id="{D6362FA5-49B6-7DF6-7582-7E1BB1F9A77F}"/>
              </a:ext>
            </a:extLst>
          </p:cNvPr>
          <p:cNvSpPr txBox="1"/>
          <p:nvPr/>
        </p:nvSpPr>
        <p:spPr>
          <a:xfrm>
            <a:off x="5652120" y="1236833"/>
            <a:ext cx="3477093"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actions</a:t>
            </a:r>
          </a:p>
        </p:txBody>
      </p:sp>
    </p:spTree>
    <p:extLst>
      <p:ext uri="{BB962C8B-B14F-4D97-AF65-F5344CB8AC3E}">
        <p14:creationId xmlns:p14="http://schemas.microsoft.com/office/powerpoint/2010/main" val="1212335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400" b="1" dirty="0"/>
              <a:t>8. Tunneling</a:t>
            </a:r>
          </a:p>
          <a:p>
            <a:r>
              <a:rPr lang="en-US" sz="2400" dirty="0"/>
              <a:t>hooks into operating system interrupts</a:t>
            </a:r>
          </a:p>
          <a:p>
            <a:r>
              <a:rPr lang="en-US" sz="2400" dirty="0"/>
              <a:t>virus executes first and after that the control is passed to the original destination.</a:t>
            </a:r>
          </a:p>
          <a:p>
            <a:pPr algn="l">
              <a:buFont typeface="+mj-lt"/>
              <a:buAutoNum type="arabicPeriod"/>
            </a:pPr>
            <a:r>
              <a:rPr lang="en-US" sz="1400" b="1" i="0" dirty="0">
                <a:solidFill>
                  <a:srgbClr val="001D35"/>
                </a:solidFill>
                <a:effectLst/>
                <a:latin typeface="Google Sans"/>
              </a:rPr>
              <a:t>Interrupt Hijacking:</a:t>
            </a:r>
            <a:r>
              <a:rPr lang="en-US" sz="1400" b="0" i="0" dirty="0">
                <a:solidFill>
                  <a:srgbClr val="001D35"/>
                </a:solidFill>
                <a:effectLst/>
                <a:latin typeface="Google Sans"/>
              </a:rPr>
              <a:t> Malware can take control of the system's </a:t>
            </a:r>
            <a:r>
              <a:rPr lang="en-US" sz="1400" b="0" i="0" dirty="0">
                <a:solidFill>
                  <a:srgbClr val="001D35"/>
                </a:solidFill>
                <a:effectLst/>
                <a:latin typeface="Google Sans"/>
                <a:hlinkClick r:id="rId2"/>
              </a:rPr>
              <a:t>interrupt vector table</a:t>
            </a:r>
            <a:r>
              <a:rPr lang="en-US" sz="1400" b="0" i="0" dirty="0">
                <a:solidFill>
                  <a:srgbClr val="001D35"/>
                </a:solidFill>
                <a:effectLst/>
                <a:latin typeface="Google Sans"/>
              </a:rPr>
              <a:t>, which is a table that holds the memory addresses of interrupt handlers.</a:t>
            </a:r>
          </a:p>
          <a:p>
            <a:pPr algn="l">
              <a:buFont typeface="+mj-lt"/>
              <a:buAutoNum type="arabicPeriod"/>
            </a:pPr>
            <a:r>
              <a:rPr lang="en-US" sz="1400" b="1" i="0" dirty="0">
                <a:solidFill>
                  <a:srgbClr val="001D35"/>
                </a:solidFill>
                <a:effectLst/>
                <a:latin typeface="Google Sans"/>
              </a:rPr>
              <a:t>Diverting Execution:</a:t>
            </a:r>
            <a:r>
              <a:rPr lang="en-US" sz="1400" b="0" i="0" dirty="0">
                <a:solidFill>
                  <a:srgbClr val="001D35"/>
                </a:solidFill>
                <a:effectLst/>
                <a:latin typeface="Google Sans"/>
              </a:rPr>
              <a:t> By altering the entries in this table, malware can redirect the processor's attention from legitimate operations to its own malicious code when an interrupt occurs.</a:t>
            </a:r>
          </a:p>
          <a:p>
            <a:pPr algn="l">
              <a:buFont typeface="+mj-lt"/>
              <a:buAutoNum type="arabicPeriod"/>
            </a:pPr>
            <a:r>
              <a:rPr lang="en-US" sz="1400" b="1" i="0" dirty="0">
                <a:solidFill>
                  <a:srgbClr val="001D35"/>
                </a:solidFill>
                <a:effectLst/>
                <a:latin typeface="Google Sans"/>
              </a:rPr>
              <a:t>Malicious Code Execution:</a:t>
            </a:r>
            <a:r>
              <a:rPr lang="en-US" sz="1400" b="0" i="0" dirty="0">
                <a:solidFill>
                  <a:srgbClr val="001D35"/>
                </a:solidFill>
                <a:effectLst/>
                <a:latin typeface="Google Sans"/>
              </a:rPr>
              <a:t> The processor, responding to the interrupt, is then forced to execute the malware's code instead of the original instruction.</a:t>
            </a:r>
          </a:p>
          <a:p>
            <a:pPr algn="l">
              <a:buFont typeface="+mj-lt"/>
              <a:buAutoNum type="arabicPeriod"/>
            </a:pPr>
            <a:r>
              <a:rPr lang="en-US" sz="1400" b="1" i="0" dirty="0">
                <a:solidFill>
                  <a:srgbClr val="001D35"/>
                </a:solidFill>
                <a:effectLst/>
                <a:latin typeface="Google Sans"/>
              </a:rPr>
              <a:t>System Disruption:</a:t>
            </a:r>
            <a:r>
              <a:rPr lang="en-US" sz="1400" b="0" i="0" dirty="0">
                <a:solidFill>
                  <a:srgbClr val="001D35"/>
                </a:solidFill>
                <a:effectLst/>
                <a:latin typeface="Google Sans"/>
              </a:rPr>
              <a:t> This allows the malware to achieve various malicious goals</a:t>
            </a:r>
          </a:p>
          <a:p>
            <a:endParaRPr lang="en-US" sz="2400" dirty="0"/>
          </a:p>
          <a:p>
            <a:pPr lvl="1"/>
            <a:endParaRPr lang="en-US" sz="1800" dirty="0"/>
          </a:p>
        </p:txBody>
      </p:sp>
      <p:sp>
        <p:nvSpPr>
          <p:cNvPr id="4" name="TextBox 3">
            <a:extLst>
              <a:ext uri="{FF2B5EF4-FFF2-40B4-BE49-F238E27FC236}">
                <a16:creationId xmlns:a16="http://schemas.microsoft.com/office/drawing/2014/main" id="{4187B99E-7EF1-B9ED-46E9-8A1BE1FB589E}"/>
              </a:ext>
            </a:extLst>
          </p:cNvPr>
          <p:cNvSpPr txBox="1"/>
          <p:nvPr/>
        </p:nvSpPr>
        <p:spPr>
          <a:xfrm>
            <a:off x="5652120" y="1236833"/>
            <a:ext cx="3477093"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actions</a:t>
            </a:r>
          </a:p>
        </p:txBody>
      </p:sp>
    </p:spTree>
    <p:extLst>
      <p:ext uri="{BB962C8B-B14F-4D97-AF65-F5344CB8AC3E}">
        <p14:creationId xmlns:p14="http://schemas.microsoft.com/office/powerpoint/2010/main" val="426093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Obfuscation Techniques</a:t>
            </a:r>
          </a:p>
        </p:txBody>
      </p:sp>
      <p:sp>
        <p:nvSpPr>
          <p:cNvPr id="3" name="Content Placeholder 2"/>
          <p:cNvSpPr>
            <a:spLocks noGrp="1"/>
          </p:cNvSpPr>
          <p:nvPr>
            <p:ph sz="quarter" idx="11"/>
          </p:nvPr>
        </p:nvSpPr>
        <p:spPr/>
        <p:txBody>
          <a:bodyPr/>
          <a:lstStyle/>
          <a:p>
            <a:pPr marL="0" indent="0">
              <a:buNone/>
            </a:pPr>
            <a:r>
              <a:rPr lang="en-US" sz="2400" b="1" dirty="0"/>
              <a:t>9. Retro Virus</a:t>
            </a:r>
          </a:p>
          <a:p>
            <a:r>
              <a:rPr lang="en-US" sz="2400" dirty="0"/>
              <a:t>tries to bypass or hinder the operation of an antivirus, personal firewall, or other security programs. </a:t>
            </a:r>
          </a:p>
          <a:p>
            <a:r>
              <a:rPr lang="en-US" sz="2400" dirty="0"/>
              <a:t>also called ‘Anti-antivirus viruses’ </a:t>
            </a:r>
          </a:p>
          <a:p>
            <a:r>
              <a:rPr lang="en-US" sz="2400" dirty="0"/>
              <a:t>they generally have a database of identification mechanisms for different security controls like process names, registry keys. Once identified, the security controls can be terminated or corrupted</a:t>
            </a:r>
          </a:p>
          <a:p>
            <a:r>
              <a:rPr lang="en-US" sz="2400" dirty="0"/>
              <a:t>block users from updating their antivirus software or opening of system utilities or antivirus vendor websites</a:t>
            </a:r>
          </a:p>
          <a:p>
            <a:pPr lvl="1"/>
            <a:endParaRPr lang="en-US" sz="1800" dirty="0"/>
          </a:p>
        </p:txBody>
      </p:sp>
      <p:sp>
        <p:nvSpPr>
          <p:cNvPr id="4" name="TextBox 3">
            <a:extLst>
              <a:ext uri="{FF2B5EF4-FFF2-40B4-BE49-F238E27FC236}">
                <a16:creationId xmlns:a16="http://schemas.microsoft.com/office/drawing/2014/main" id="{568CD771-479D-2AFE-C916-56AF333CA258}"/>
              </a:ext>
            </a:extLst>
          </p:cNvPr>
          <p:cNvSpPr txBox="1"/>
          <p:nvPr/>
        </p:nvSpPr>
        <p:spPr>
          <a:xfrm>
            <a:off x="5652120" y="1236833"/>
            <a:ext cx="3477093" cy="391967"/>
          </a:xfrm>
          <a:prstGeom prst="rect">
            <a:avLst/>
          </a:prstGeom>
          <a:noFill/>
        </p:spPr>
        <p:txBody>
          <a:bodyPr wrap="square">
            <a:spAutoFit/>
          </a:bodyPr>
          <a:lstStyle/>
          <a:p>
            <a:pPr marL="0" indent="0" algn="ctr" latinLnBrk="0">
              <a:lnSpc>
                <a:spcPct val="120000"/>
              </a:lnSpc>
              <a:spcBef>
                <a:spcPts val="0"/>
              </a:spcBef>
              <a:buNone/>
            </a:pPr>
            <a:r>
              <a:rPr lang="en-US" altLang="en-US" sz="1800" b="1" dirty="0">
                <a:solidFill>
                  <a:schemeClr val="accent2">
                    <a:lumMod val="75000"/>
                  </a:schemeClr>
                </a:solidFill>
              </a:rPr>
              <a:t>obfuscating the virus’ actions</a:t>
            </a:r>
          </a:p>
        </p:txBody>
      </p:sp>
    </p:spTree>
    <p:extLst>
      <p:ext uri="{BB962C8B-B14F-4D97-AF65-F5344CB8AC3E}">
        <p14:creationId xmlns:p14="http://schemas.microsoft.com/office/powerpoint/2010/main" val="4036856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Worm</a:t>
            </a:r>
          </a:p>
        </p:txBody>
      </p:sp>
      <p:sp>
        <p:nvSpPr>
          <p:cNvPr id="3" name="Content Placeholder 2"/>
          <p:cNvSpPr>
            <a:spLocks noGrp="1"/>
          </p:cNvSpPr>
          <p:nvPr>
            <p:ph sz="quarter" idx="11"/>
          </p:nvPr>
        </p:nvSpPr>
        <p:spPr/>
        <p:txBody>
          <a:bodyPr/>
          <a:lstStyle/>
          <a:p>
            <a:r>
              <a:rPr lang="en-US" sz="2400" dirty="0"/>
              <a:t>A worm is a self-replicating computer program.</a:t>
            </a:r>
          </a:p>
          <a:p>
            <a:r>
              <a:rPr lang="en-US" sz="2400" dirty="0"/>
              <a:t>It uses the network to send copies of itself to other nodes and does so without any user intervention.</a:t>
            </a:r>
          </a:p>
          <a:p>
            <a:pPr lvl="1"/>
            <a:r>
              <a:rPr lang="en-US" sz="2000" dirty="0"/>
              <a:t>using email, remote execution, remote login </a:t>
            </a:r>
          </a:p>
          <a:p>
            <a:r>
              <a:rPr lang="en-US" sz="2400" dirty="0"/>
              <a:t>First replicates then does the damage</a:t>
            </a:r>
          </a:p>
          <a:p>
            <a:r>
              <a:rPr lang="en-US" sz="2400" dirty="0">
                <a:solidFill>
                  <a:srgbClr val="C00000"/>
                </a:solidFill>
              </a:rPr>
              <a:t>Exploits a vulnerability</a:t>
            </a:r>
            <a:r>
              <a:rPr lang="en-US" sz="2400" dirty="0"/>
              <a:t> in existing software</a:t>
            </a:r>
          </a:p>
          <a:p>
            <a:r>
              <a:rPr lang="en-US" sz="2400" dirty="0"/>
              <a:t>It has phases like a virus: dormant, propagation, triggering, execution</a:t>
            </a:r>
          </a:p>
          <a:p>
            <a:r>
              <a:rPr lang="en-US" sz="2400" dirty="0"/>
              <a:t>Propagation phase: searches for other systems, connects to them (remote login ore remote execution due to vulnerabilities), copies itself and executes</a:t>
            </a:r>
          </a:p>
          <a:p>
            <a:endParaRPr lang="en-US" sz="2400" dirty="0"/>
          </a:p>
        </p:txBody>
      </p:sp>
    </p:spTree>
    <p:extLst>
      <p:ext uri="{BB962C8B-B14F-4D97-AF65-F5344CB8AC3E}">
        <p14:creationId xmlns:p14="http://schemas.microsoft.com/office/powerpoint/2010/main" val="1191077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Worm: possible damages</a:t>
            </a:r>
          </a:p>
        </p:txBody>
      </p:sp>
      <p:sp>
        <p:nvSpPr>
          <p:cNvPr id="3" name="Content Placeholder 2"/>
          <p:cNvSpPr>
            <a:spLocks noGrp="1"/>
          </p:cNvSpPr>
          <p:nvPr>
            <p:ph sz="quarter" idx="11"/>
          </p:nvPr>
        </p:nvSpPr>
        <p:spPr/>
        <p:txBody>
          <a:bodyPr/>
          <a:lstStyle/>
          <a:p>
            <a:pPr marL="0" indent="0">
              <a:buNone/>
            </a:pPr>
            <a:r>
              <a:rPr lang="en-US" sz="2400" dirty="0"/>
              <a:t>These can be enormous</a:t>
            </a:r>
          </a:p>
          <a:p>
            <a:r>
              <a:rPr lang="en-US" sz="2400" dirty="0"/>
              <a:t>Launch DDoS attacks, install bot networks using zombies/bots</a:t>
            </a:r>
          </a:p>
          <a:p>
            <a:r>
              <a:rPr lang="en-US" sz="2400" dirty="0"/>
              <a:t>Access sensitive information</a:t>
            </a:r>
          </a:p>
          <a:p>
            <a:r>
              <a:rPr lang="en-US" sz="2400" dirty="0"/>
              <a:t>Cause confusion by corrupting the sensitive information</a:t>
            </a:r>
          </a:p>
          <a:p>
            <a:r>
              <a:rPr lang="en-US" sz="2400" dirty="0"/>
              <a:t>May disguise itself as a system process</a:t>
            </a:r>
          </a:p>
          <a:p>
            <a:endParaRPr lang="en-US" sz="2400" dirty="0"/>
          </a:p>
        </p:txBody>
      </p:sp>
    </p:spTree>
    <p:extLst>
      <p:ext uri="{BB962C8B-B14F-4D97-AF65-F5344CB8AC3E}">
        <p14:creationId xmlns:p14="http://schemas.microsoft.com/office/powerpoint/2010/main" val="4262214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Slammer Worm (2003)</a:t>
            </a:r>
          </a:p>
        </p:txBody>
      </p:sp>
      <p:sp>
        <p:nvSpPr>
          <p:cNvPr id="3" name="Content Placeholder 2"/>
          <p:cNvSpPr>
            <a:spLocks noGrp="1"/>
          </p:cNvSpPr>
          <p:nvPr>
            <p:ph sz="quarter" idx="11"/>
          </p:nvPr>
        </p:nvSpPr>
        <p:spPr/>
        <p:txBody>
          <a:bodyPr/>
          <a:lstStyle/>
          <a:p>
            <a:r>
              <a:rPr lang="en-US" sz="2400" dirty="0"/>
              <a:t>exploited buffer-overflow vulnerability in Microsoft SQL Server</a:t>
            </a:r>
          </a:p>
          <a:p>
            <a:pPr lvl="1"/>
            <a:r>
              <a:rPr lang="en-US" sz="2000" dirty="0"/>
              <a:t>Vulnerability itself disclosed 24th July 2002, but lot of servers remained unpatched</a:t>
            </a:r>
          </a:p>
          <a:p>
            <a:r>
              <a:rPr lang="en-US" sz="2400" dirty="0"/>
              <a:t>Infected servers started infecting other servers, generating lot of traffic on core routers.</a:t>
            </a:r>
          </a:p>
          <a:p>
            <a:pPr lvl="1"/>
            <a:r>
              <a:rPr lang="en-US" sz="2000" dirty="0"/>
              <a:t>Routers themselves generated even more traffic for updating routing tables.</a:t>
            </a:r>
          </a:p>
          <a:p>
            <a:r>
              <a:rPr lang="en-US" sz="2400" dirty="0"/>
              <a:t>Consequences</a:t>
            </a:r>
          </a:p>
          <a:p>
            <a:pPr lvl="1"/>
            <a:r>
              <a:rPr lang="en-US" sz="1800" dirty="0"/>
              <a:t>ATM systems not available</a:t>
            </a:r>
          </a:p>
          <a:p>
            <a:pPr lvl="1"/>
            <a:r>
              <a:rPr lang="en-US" sz="1800" dirty="0"/>
              <a:t>Phone network overloaded (no 911!)</a:t>
            </a:r>
          </a:p>
          <a:p>
            <a:pPr lvl="1"/>
            <a:r>
              <a:rPr lang="en-US" sz="1800" dirty="0"/>
              <a:t>5 DNS root servers down</a:t>
            </a:r>
          </a:p>
          <a:p>
            <a:pPr lvl="1"/>
            <a:r>
              <a:rPr lang="en-US" sz="1800" dirty="0"/>
              <a:t>Planes delayed</a:t>
            </a:r>
          </a:p>
          <a:p>
            <a:endParaRPr lang="en-US" sz="2400" dirty="0"/>
          </a:p>
        </p:txBody>
      </p:sp>
    </p:spTree>
    <p:extLst>
      <p:ext uri="{BB962C8B-B14F-4D97-AF65-F5344CB8AC3E}">
        <p14:creationId xmlns:p14="http://schemas.microsoft.com/office/powerpoint/2010/main" val="2230958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a:t>
            </a:r>
          </a:p>
        </p:txBody>
      </p:sp>
      <p:sp>
        <p:nvSpPr>
          <p:cNvPr id="3" name="Content Placeholder 2"/>
          <p:cNvSpPr>
            <a:spLocks noGrp="1"/>
          </p:cNvSpPr>
          <p:nvPr>
            <p:ph sz="quarter" idx="11"/>
          </p:nvPr>
        </p:nvSpPr>
        <p:spPr/>
        <p:txBody>
          <a:bodyPr/>
          <a:lstStyle/>
          <a:p>
            <a:r>
              <a:rPr lang="en-US" sz="2400" dirty="0"/>
              <a:t>“A Trojan horse is a non-replicating program that, while appearing to be benign, actually has a hidden malicious purpose.”</a:t>
            </a:r>
            <a:br>
              <a:rPr lang="en-US" sz="2400" i="1" dirty="0"/>
            </a:br>
            <a:r>
              <a:rPr lang="en-US" sz="2400" dirty="0"/>
              <a:t>(NIST – 2013)</a:t>
            </a:r>
          </a:p>
          <a:p>
            <a:r>
              <a:rPr lang="en-US" sz="2400" dirty="0"/>
              <a:t>named after the mythological wooden horse the Greeks used to infiltrate Troy</a:t>
            </a:r>
          </a:p>
          <a:p>
            <a:r>
              <a:rPr lang="en-US" sz="2400" dirty="0"/>
              <a:t>harmful software that looks legitimate</a:t>
            </a:r>
          </a:p>
          <a:p>
            <a:r>
              <a:rPr lang="en-US" sz="2400" dirty="0"/>
              <a:t>can replace existing files or add new malicious files to hosts</a:t>
            </a:r>
          </a:p>
          <a:p>
            <a:r>
              <a:rPr lang="en-US" sz="2400" dirty="0"/>
              <a:t>can launch multiple attacks (irritating user, damaging files, spreading other malware etc.)</a:t>
            </a:r>
          </a:p>
          <a:p>
            <a:endParaRPr lang="en-US" sz="2400" dirty="0"/>
          </a:p>
        </p:txBody>
      </p:sp>
    </p:spTree>
    <p:extLst>
      <p:ext uri="{BB962C8B-B14F-4D97-AF65-F5344CB8AC3E}">
        <p14:creationId xmlns:p14="http://schemas.microsoft.com/office/powerpoint/2010/main" val="332313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Trojan Examples</a:t>
            </a:r>
          </a:p>
        </p:txBody>
      </p:sp>
      <p:sp>
        <p:nvSpPr>
          <p:cNvPr id="3" name="Content Placeholder 2"/>
          <p:cNvSpPr>
            <a:spLocks noGrp="1"/>
          </p:cNvSpPr>
          <p:nvPr>
            <p:ph sz="quarter" idx="11"/>
          </p:nvPr>
        </p:nvSpPr>
        <p:spPr/>
        <p:txBody>
          <a:bodyPr/>
          <a:lstStyle/>
          <a:p>
            <a:r>
              <a:rPr lang="en-US" sz="2400" dirty="0"/>
              <a:t>Backdoor Trojan</a:t>
            </a:r>
          </a:p>
          <a:p>
            <a:pPr lvl="1"/>
            <a:r>
              <a:rPr lang="en-US" sz="2000" dirty="0"/>
              <a:t>lets an attacker access your computer and control it</a:t>
            </a:r>
          </a:p>
          <a:p>
            <a:pPr lvl="1"/>
            <a:r>
              <a:rPr lang="en-US" sz="2000" dirty="0"/>
              <a:t>data can be downloaded by a third party and stolen</a:t>
            </a:r>
          </a:p>
          <a:p>
            <a:pPr lvl="1"/>
            <a:r>
              <a:rPr lang="en-US" sz="2000" dirty="0"/>
              <a:t>more malware can be uploaded to your device.</a:t>
            </a:r>
          </a:p>
          <a:p>
            <a:endParaRPr lang="en-US" sz="2400" dirty="0"/>
          </a:p>
          <a:p>
            <a:r>
              <a:rPr lang="en-US" sz="2400" dirty="0"/>
              <a:t>DDoS attack Trojan</a:t>
            </a:r>
          </a:p>
          <a:p>
            <a:endParaRPr lang="en-US" sz="2400" dirty="0"/>
          </a:p>
          <a:p>
            <a:r>
              <a:rPr lang="en-US" sz="2400" dirty="0"/>
              <a:t>Downloader Trojan</a:t>
            </a:r>
          </a:p>
          <a:p>
            <a:pPr lvl="1"/>
            <a:r>
              <a:rPr lang="en-US" sz="2000" dirty="0"/>
              <a:t>It targets your already-infected computer</a:t>
            </a:r>
          </a:p>
          <a:p>
            <a:pPr lvl="1"/>
            <a:r>
              <a:rPr lang="en-US" sz="2000" dirty="0"/>
              <a:t>downloads and installs new versions of malicious programs that can include </a:t>
            </a:r>
            <a:r>
              <a:rPr lang="en-US" sz="2000" dirty="0" err="1"/>
              <a:t>trojans</a:t>
            </a:r>
            <a:r>
              <a:rPr lang="en-US" sz="2000" dirty="0"/>
              <a:t> and adware</a:t>
            </a:r>
          </a:p>
          <a:p>
            <a:endParaRPr lang="en-US" sz="2400" dirty="0"/>
          </a:p>
        </p:txBody>
      </p:sp>
    </p:spTree>
    <p:extLst>
      <p:ext uri="{BB962C8B-B14F-4D97-AF65-F5344CB8AC3E}">
        <p14:creationId xmlns:p14="http://schemas.microsoft.com/office/powerpoint/2010/main" val="2612117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7675-1A58-8A34-B226-AD67462C7148}"/>
              </a:ext>
            </a:extLst>
          </p:cNvPr>
          <p:cNvSpPr>
            <a:spLocks noGrp="1"/>
          </p:cNvSpPr>
          <p:nvPr>
            <p:ph type="title"/>
          </p:nvPr>
        </p:nvSpPr>
        <p:spPr/>
        <p:txBody>
          <a:bodyPr/>
          <a:lstStyle/>
          <a:p>
            <a:r>
              <a:rPr lang="en-US" dirty="0"/>
              <a:t>Rootkit</a:t>
            </a:r>
          </a:p>
        </p:txBody>
      </p:sp>
      <p:sp>
        <p:nvSpPr>
          <p:cNvPr id="3" name="Content Placeholder 2">
            <a:extLst>
              <a:ext uri="{FF2B5EF4-FFF2-40B4-BE49-F238E27FC236}">
                <a16:creationId xmlns:a16="http://schemas.microsoft.com/office/drawing/2014/main" id="{749421E4-85E5-323C-D2E3-81FB8E9F56E0}"/>
              </a:ext>
            </a:extLst>
          </p:cNvPr>
          <p:cNvSpPr>
            <a:spLocks noGrp="1"/>
          </p:cNvSpPr>
          <p:nvPr>
            <p:ph sz="quarter" idx="11"/>
          </p:nvPr>
        </p:nvSpPr>
        <p:spPr/>
        <p:txBody>
          <a:bodyPr/>
          <a:lstStyle/>
          <a:p>
            <a:r>
              <a:rPr lang="en-US" sz="2800" dirty="0"/>
              <a:t>A rootkit is a stealthy type of malware that alters the system utilities or the OS itself to prevent detection.</a:t>
            </a:r>
          </a:p>
          <a:p>
            <a:pPr lvl="1"/>
            <a:r>
              <a:rPr lang="en-US" sz="2400" dirty="0"/>
              <a:t>Often employed by malware like viruses and trojan to hide their detection</a:t>
            </a:r>
          </a:p>
          <a:p>
            <a:r>
              <a:rPr lang="en-US" sz="2800" dirty="0"/>
              <a:t>Example hiding techniques</a:t>
            </a:r>
          </a:p>
          <a:p>
            <a:pPr lvl="1"/>
            <a:r>
              <a:rPr lang="en-US" sz="2400" dirty="0"/>
              <a:t>A rootkit can infect the Windows Task Manager (that lists the currently running processes) and hide by removing itself from the list.</a:t>
            </a:r>
          </a:p>
          <a:p>
            <a:pPr lvl="1"/>
            <a:r>
              <a:rPr lang="en-US" sz="2400" dirty="0"/>
              <a:t>A rootkit can detect the Windows Explorer and hide itself from being listed when the user browses files.</a:t>
            </a:r>
          </a:p>
        </p:txBody>
      </p:sp>
    </p:spTree>
    <p:extLst>
      <p:ext uri="{BB962C8B-B14F-4D97-AF65-F5344CB8AC3E}">
        <p14:creationId xmlns:p14="http://schemas.microsoft.com/office/powerpoint/2010/main" val="1940864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2998-9B81-DADB-8856-5B7CC8518ABB}"/>
              </a:ext>
            </a:extLst>
          </p:cNvPr>
          <p:cNvSpPr>
            <a:spLocks noGrp="1"/>
          </p:cNvSpPr>
          <p:nvPr>
            <p:ph type="title"/>
          </p:nvPr>
        </p:nvSpPr>
        <p:spPr/>
        <p:txBody>
          <a:bodyPr/>
          <a:lstStyle/>
          <a:p>
            <a:r>
              <a:rPr lang="en-US" dirty="0"/>
              <a:t>Rootkit</a:t>
            </a:r>
          </a:p>
        </p:txBody>
      </p:sp>
      <p:sp>
        <p:nvSpPr>
          <p:cNvPr id="3" name="Content Placeholder 2">
            <a:extLst>
              <a:ext uri="{FF2B5EF4-FFF2-40B4-BE49-F238E27FC236}">
                <a16:creationId xmlns:a16="http://schemas.microsoft.com/office/drawing/2014/main" id="{C5CD13D6-DFEE-127E-572A-625E11DF3A64}"/>
              </a:ext>
            </a:extLst>
          </p:cNvPr>
          <p:cNvSpPr>
            <a:spLocks noGrp="1"/>
          </p:cNvSpPr>
          <p:nvPr>
            <p:ph sz="quarter" idx="11"/>
          </p:nvPr>
        </p:nvSpPr>
        <p:spPr/>
        <p:txBody>
          <a:bodyPr/>
          <a:lstStyle/>
          <a:p>
            <a:r>
              <a:rPr lang="en-US" sz="2400" dirty="0"/>
              <a:t>With root access, an attacker has complete control of the system and can add or change programs and files, monitor processes, send and receive network traffic, and get backdoor access on demand.</a:t>
            </a:r>
          </a:p>
          <a:p>
            <a:r>
              <a:rPr lang="en-US" sz="2400" dirty="0"/>
              <a:t>The name rootkit can be misleading — it does not provide root access by itself. Instead, rootkits actually depend on that attacker/malicious user already has already exploited the target and gained root access into the system.</a:t>
            </a:r>
          </a:p>
          <a:p>
            <a:pPr lvl="1"/>
            <a:r>
              <a:rPr lang="en-US" sz="2000" dirty="0"/>
              <a:t>Once the attacker has root access to the system, rootkits will make sure that the attacker can maintain their control on the target.</a:t>
            </a:r>
          </a:p>
        </p:txBody>
      </p:sp>
    </p:spTree>
    <p:extLst>
      <p:ext uri="{BB962C8B-B14F-4D97-AF65-F5344CB8AC3E}">
        <p14:creationId xmlns:p14="http://schemas.microsoft.com/office/powerpoint/2010/main" val="660869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746B-60AD-B36D-304B-DBD6073A4DDB}"/>
              </a:ext>
            </a:extLst>
          </p:cNvPr>
          <p:cNvSpPr>
            <a:spLocks noGrp="1"/>
          </p:cNvSpPr>
          <p:nvPr>
            <p:ph type="title"/>
          </p:nvPr>
        </p:nvSpPr>
        <p:spPr/>
        <p:txBody>
          <a:bodyPr/>
          <a:lstStyle/>
          <a:p>
            <a:r>
              <a:rPr lang="en-US" dirty="0"/>
              <a:t>Rootkit installation location</a:t>
            </a:r>
          </a:p>
        </p:txBody>
      </p:sp>
      <p:sp>
        <p:nvSpPr>
          <p:cNvPr id="3" name="Content Placeholder 2">
            <a:extLst>
              <a:ext uri="{FF2B5EF4-FFF2-40B4-BE49-F238E27FC236}">
                <a16:creationId xmlns:a16="http://schemas.microsoft.com/office/drawing/2014/main" id="{C81A76DC-3F69-148F-75D5-C38E14A7C751}"/>
              </a:ext>
            </a:extLst>
          </p:cNvPr>
          <p:cNvSpPr>
            <a:spLocks noGrp="1"/>
          </p:cNvSpPr>
          <p:nvPr>
            <p:ph sz="quarter" idx="11"/>
          </p:nvPr>
        </p:nvSpPr>
        <p:spPr/>
        <p:txBody>
          <a:bodyPr/>
          <a:lstStyle/>
          <a:p>
            <a:r>
              <a:rPr lang="en-US" sz="2800" dirty="0">
                <a:solidFill>
                  <a:schemeClr val="accent2">
                    <a:lumMod val="75000"/>
                  </a:schemeClr>
                </a:solidFill>
              </a:rPr>
              <a:t>Persistent:</a:t>
            </a:r>
            <a:r>
              <a:rPr lang="en-US" sz="2800" dirty="0"/>
              <a:t> Activates each time the system boots. The rootkit must store code in a persistent store, such as file system, and configure a method by which the code executes without user intervention (e.g. autorun).</a:t>
            </a:r>
          </a:p>
          <a:p>
            <a:r>
              <a:rPr lang="en-US" sz="2800" dirty="0">
                <a:solidFill>
                  <a:schemeClr val="accent2">
                    <a:lumMod val="75000"/>
                  </a:schemeClr>
                </a:solidFill>
              </a:rPr>
              <a:t>Memory based:</a:t>
            </a:r>
            <a:r>
              <a:rPr lang="en-US" sz="2800" dirty="0"/>
              <a:t> Has no persistent code and therefore cannot survive a reboot. Harder to detect.</a:t>
            </a:r>
          </a:p>
        </p:txBody>
      </p:sp>
    </p:spTree>
    <p:extLst>
      <p:ext uri="{BB962C8B-B14F-4D97-AF65-F5344CB8AC3E}">
        <p14:creationId xmlns:p14="http://schemas.microsoft.com/office/powerpoint/2010/main" val="963011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6909C-C1FE-A213-CA45-C7F416BF2C84}"/>
              </a:ext>
            </a:extLst>
          </p:cNvPr>
          <p:cNvSpPr>
            <a:spLocks noGrp="1"/>
          </p:cNvSpPr>
          <p:nvPr>
            <p:ph type="title"/>
          </p:nvPr>
        </p:nvSpPr>
        <p:spPr/>
        <p:txBody>
          <a:bodyPr/>
          <a:lstStyle/>
          <a:p>
            <a:r>
              <a:rPr lang="en-US" dirty="0"/>
              <a:t>Rootkit mode of interception</a:t>
            </a:r>
          </a:p>
        </p:txBody>
      </p:sp>
      <p:sp>
        <p:nvSpPr>
          <p:cNvPr id="3" name="Content Placeholder 2">
            <a:extLst>
              <a:ext uri="{FF2B5EF4-FFF2-40B4-BE49-F238E27FC236}">
                <a16:creationId xmlns:a16="http://schemas.microsoft.com/office/drawing/2014/main" id="{D7A785E6-E54B-77F4-0B08-5B6BECE1B87F}"/>
              </a:ext>
            </a:extLst>
          </p:cNvPr>
          <p:cNvSpPr>
            <a:spLocks noGrp="1"/>
          </p:cNvSpPr>
          <p:nvPr>
            <p:ph sz="quarter" idx="11"/>
          </p:nvPr>
        </p:nvSpPr>
        <p:spPr/>
        <p:txBody>
          <a:bodyPr/>
          <a:lstStyle/>
          <a:p>
            <a:r>
              <a:rPr lang="en-US" sz="2800" dirty="0">
                <a:solidFill>
                  <a:schemeClr val="accent2">
                    <a:lumMod val="75000"/>
                  </a:schemeClr>
                </a:solidFill>
              </a:rPr>
              <a:t>User mode:</a:t>
            </a:r>
            <a:r>
              <a:rPr lang="en-US" sz="2800" dirty="0"/>
              <a:t> Intercepts calls to APIs (e.g. file listing) and modifies returned results.</a:t>
            </a:r>
          </a:p>
          <a:p>
            <a:r>
              <a:rPr lang="en-US" sz="2800" dirty="0">
                <a:solidFill>
                  <a:schemeClr val="accent2">
                    <a:lumMod val="75000"/>
                  </a:schemeClr>
                </a:solidFill>
              </a:rPr>
              <a:t>Kernel mode:</a:t>
            </a:r>
            <a:r>
              <a:rPr lang="en-US" sz="2800" dirty="0"/>
              <a:t> Can intercept calls to native APIs in kernel mode. The rootkit can also hide the presence of a malware process by removing it from the kernel’s list of active processes.</a:t>
            </a:r>
          </a:p>
          <a:p>
            <a:endParaRPr lang="en-US" sz="2800" dirty="0"/>
          </a:p>
        </p:txBody>
      </p:sp>
    </p:spTree>
    <p:extLst>
      <p:ext uri="{BB962C8B-B14F-4D97-AF65-F5344CB8AC3E}">
        <p14:creationId xmlns:p14="http://schemas.microsoft.com/office/powerpoint/2010/main" val="3134403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Malware Types</a:t>
            </a:r>
          </a:p>
        </p:txBody>
      </p:sp>
      <p:sp>
        <p:nvSpPr>
          <p:cNvPr id="3" name="Content Placeholder 2"/>
          <p:cNvSpPr>
            <a:spLocks noGrp="1"/>
          </p:cNvSpPr>
          <p:nvPr>
            <p:ph sz="quarter" idx="11"/>
          </p:nvPr>
        </p:nvSpPr>
        <p:spPr>
          <a:xfrm>
            <a:off x="395536" y="5301208"/>
            <a:ext cx="8229600" cy="1224136"/>
          </a:xfrm>
        </p:spPr>
        <p:txBody>
          <a:bodyPr/>
          <a:lstStyle/>
          <a:p>
            <a:pPr marL="0" indent="0">
              <a:buNone/>
            </a:pPr>
            <a:r>
              <a:rPr lang="en-US" sz="2000" dirty="0"/>
              <a:t>Host required: Malware is first loaded on to a host file (executable, script, document etc.), it will run only when the user executes or opens the host file.</a:t>
            </a:r>
          </a:p>
          <a:p>
            <a:endParaRPr lang="en-US" sz="2000" dirty="0"/>
          </a:p>
        </p:txBody>
      </p:sp>
      <p:pic>
        <p:nvPicPr>
          <p:cNvPr id="4" name="Picture 3"/>
          <p:cNvPicPr>
            <a:picLocks noChangeAspect="1"/>
          </p:cNvPicPr>
          <p:nvPr/>
        </p:nvPicPr>
        <p:blipFill>
          <a:blip r:embed="rId2"/>
          <a:stretch>
            <a:fillRect/>
          </a:stretch>
        </p:blipFill>
        <p:spPr>
          <a:xfrm>
            <a:off x="2701307" y="1480080"/>
            <a:ext cx="3920898" cy="3427340"/>
          </a:xfrm>
          <a:prstGeom prst="rect">
            <a:avLst/>
          </a:prstGeom>
        </p:spPr>
      </p:pic>
    </p:spTree>
    <p:extLst>
      <p:ext uri="{BB962C8B-B14F-4D97-AF65-F5344CB8AC3E}">
        <p14:creationId xmlns:p14="http://schemas.microsoft.com/office/powerpoint/2010/main" val="1566672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infected by malware?</a:t>
            </a:r>
          </a:p>
        </p:txBody>
      </p:sp>
      <p:sp>
        <p:nvSpPr>
          <p:cNvPr id="3" name="Content Placeholder 2"/>
          <p:cNvSpPr>
            <a:spLocks noGrp="1"/>
          </p:cNvSpPr>
          <p:nvPr>
            <p:ph sz="quarter" idx="11"/>
          </p:nvPr>
        </p:nvSpPr>
        <p:spPr/>
        <p:txBody>
          <a:bodyPr/>
          <a:lstStyle/>
          <a:p>
            <a:r>
              <a:rPr lang="en-US" dirty="0"/>
              <a:t>Executables</a:t>
            </a:r>
          </a:p>
          <a:p>
            <a:r>
              <a:rPr lang="en-US" dirty="0"/>
              <a:t>Interpreted scripts</a:t>
            </a:r>
          </a:p>
          <a:p>
            <a:r>
              <a:rPr lang="en-US" dirty="0"/>
              <a:t>Kernel</a:t>
            </a:r>
          </a:p>
          <a:p>
            <a:r>
              <a:rPr lang="en-US" dirty="0"/>
              <a:t>System services</a:t>
            </a:r>
          </a:p>
          <a:p>
            <a:r>
              <a:rPr lang="en-US" dirty="0"/>
              <a:t>MBR (Master Boot Record)</a:t>
            </a:r>
          </a:p>
          <a:p>
            <a:r>
              <a:rPr lang="en-US" dirty="0"/>
              <a:t>Hypervisor</a:t>
            </a:r>
          </a:p>
          <a:p>
            <a:endParaRPr lang="en-US" dirty="0"/>
          </a:p>
        </p:txBody>
      </p:sp>
    </p:spTree>
    <p:extLst>
      <p:ext uri="{BB962C8B-B14F-4D97-AF65-F5344CB8AC3E}">
        <p14:creationId xmlns:p14="http://schemas.microsoft.com/office/powerpoint/2010/main" val="2641170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F62-B437-8E38-50F2-922421FE25BA}"/>
              </a:ext>
            </a:extLst>
          </p:cNvPr>
          <p:cNvSpPr>
            <a:spLocks noGrp="1"/>
          </p:cNvSpPr>
          <p:nvPr>
            <p:ph type="title"/>
          </p:nvPr>
        </p:nvSpPr>
        <p:spPr/>
        <p:txBody>
          <a:bodyPr/>
          <a:lstStyle/>
          <a:p>
            <a:r>
              <a:rPr lang="en-US" dirty="0"/>
              <a:t>How exe files are altered</a:t>
            </a:r>
          </a:p>
        </p:txBody>
      </p:sp>
      <p:sp>
        <p:nvSpPr>
          <p:cNvPr id="3" name="Content Placeholder 2">
            <a:extLst>
              <a:ext uri="{FF2B5EF4-FFF2-40B4-BE49-F238E27FC236}">
                <a16:creationId xmlns:a16="http://schemas.microsoft.com/office/drawing/2014/main" id="{0447FF05-8681-23F3-6D44-77DCA2852C05}"/>
              </a:ext>
            </a:extLst>
          </p:cNvPr>
          <p:cNvSpPr>
            <a:spLocks noGrp="1"/>
          </p:cNvSpPr>
          <p:nvPr>
            <p:ph sz="quarter" idx="11"/>
          </p:nvPr>
        </p:nvSpPr>
        <p:spPr/>
        <p:txBody>
          <a:bodyPr/>
          <a:lstStyle/>
          <a:p>
            <a:r>
              <a:rPr lang="en-US" dirty="0"/>
              <a:t>When a compiled malware infects an executable file, it may:</a:t>
            </a:r>
          </a:p>
          <a:p>
            <a:pPr lvl="1"/>
            <a:r>
              <a:rPr lang="en-US" dirty="0"/>
              <a:t>replace all of existing code</a:t>
            </a:r>
          </a:p>
          <a:p>
            <a:pPr marL="400050" lvl="1" indent="0">
              <a:buNone/>
            </a:pPr>
            <a:r>
              <a:rPr lang="en-US" dirty="0"/>
              <a:t>OR</a:t>
            </a:r>
          </a:p>
          <a:p>
            <a:pPr lvl="1"/>
            <a:r>
              <a:rPr lang="en-US" dirty="0"/>
              <a:t>add the malicious code while keeping original code (and functionality) intact</a:t>
            </a:r>
          </a:p>
          <a:p>
            <a:pPr marL="457200" lvl="1" indent="0">
              <a:buNone/>
            </a:pPr>
            <a:endParaRPr lang="en-US" dirty="0"/>
          </a:p>
          <a:p>
            <a:pPr marL="57150" indent="0">
              <a:buNone/>
            </a:pPr>
            <a:r>
              <a:rPr lang="en-US" dirty="0"/>
              <a:t>Some common methods employed by malware are shown next…</a:t>
            </a:r>
          </a:p>
        </p:txBody>
      </p:sp>
    </p:spTree>
    <p:extLst>
      <p:ext uri="{BB962C8B-B14F-4D97-AF65-F5344CB8AC3E}">
        <p14:creationId xmlns:p14="http://schemas.microsoft.com/office/powerpoint/2010/main" val="1234645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Overwriting malware</a:t>
            </a:r>
          </a:p>
        </p:txBody>
      </p:sp>
      <p:sp>
        <p:nvSpPr>
          <p:cNvPr id="3" name="Content Placeholder 2"/>
          <p:cNvSpPr>
            <a:spLocks noGrp="1"/>
          </p:cNvSpPr>
          <p:nvPr>
            <p:ph sz="quarter" idx="11"/>
          </p:nvPr>
        </p:nvSpPr>
        <p:spPr/>
        <p:txBody>
          <a:bodyPr/>
          <a:lstStyle/>
          <a:p>
            <a:r>
              <a:rPr lang="en-US" sz="2400" dirty="0"/>
              <a:t>After infection, it will effectively destroy the original program code by overwriting data in the system's memory.</a:t>
            </a:r>
          </a:p>
          <a:p>
            <a:pPr lvl="1"/>
            <a:r>
              <a:rPr lang="en-US" sz="1800" dirty="0" err="1"/>
              <a:t>TRj.reboot</a:t>
            </a:r>
            <a:r>
              <a:rPr lang="en-US" sz="1800" dirty="0"/>
              <a:t> virus: It can restart the user's computer, and was active in targeting Windows NT and Windows 2000 systems in the 2000s.</a:t>
            </a:r>
          </a:p>
          <a:p>
            <a:pPr lvl="1"/>
            <a:r>
              <a:rPr lang="en-US" sz="1800" dirty="0"/>
              <a:t>Trivial.88.D virus: A 'direct action virus’ that infects executable files.</a:t>
            </a:r>
          </a:p>
          <a:p>
            <a:endParaRPr lang="en-US" sz="2400" dirty="0"/>
          </a:p>
        </p:txBody>
      </p:sp>
      <p:sp>
        <p:nvSpPr>
          <p:cNvPr id="4" name="Rectangle 2"/>
          <p:cNvSpPr>
            <a:spLocks/>
          </p:cNvSpPr>
          <p:nvPr/>
        </p:nvSpPr>
        <p:spPr bwMode="auto">
          <a:xfrm>
            <a:off x="2699792" y="3789040"/>
            <a:ext cx="1359503" cy="2611834"/>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Targeted</a:t>
            </a:r>
          </a:p>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Executable</a:t>
            </a:r>
          </a:p>
          <a:p>
            <a:pPr algn="ctr" eaLnBrk="1" hangingPunct="1">
              <a:defRPr/>
            </a:pPr>
            <a:endParaRPr lang="en-US" dirty="0">
              <a:solidFill>
                <a:srgbClr val="F0EECF"/>
              </a:solidFill>
              <a:effectLst>
                <a:outerShdw blurRad="38100" dist="38100" dir="2700000" algn="tl">
                  <a:srgbClr val="000000"/>
                </a:outerShdw>
              </a:effectLst>
              <a:ea typeface="Palatino" charset="0"/>
              <a:cs typeface="Palatino" charset="0"/>
            </a:endParaRPr>
          </a:p>
        </p:txBody>
      </p:sp>
      <p:sp>
        <p:nvSpPr>
          <p:cNvPr id="5" name="Rectangle 3"/>
          <p:cNvSpPr>
            <a:spLocks/>
          </p:cNvSpPr>
          <p:nvPr/>
        </p:nvSpPr>
        <p:spPr bwMode="auto">
          <a:xfrm>
            <a:off x="5140635" y="4607719"/>
            <a:ext cx="1359503" cy="669727"/>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Malware</a:t>
            </a:r>
          </a:p>
        </p:txBody>
      </p:sp>
      <p:sp>
        <p:nvSpPr>
          <p:cNvPr id="6" name="Line 4"/>
          <p:cNvSpPr>
            <a:spLocks noChangeShapeType="1"/>
          </p:cNvSpPr>
          <p:nvPr/>
        </p:nvSpPr>
        <p:spPr bwMode="auto">
          <a:xfrm rot="10800000">
            <a:off x="3376195" y="5373960"/>
            <a:ext cx="6697" cy="884039"/>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7" name="AutoShape 5"/>
          <p:cNvSpPr>
            <a:spLocks/>
          </p:cNvSpPr>
          <p:nvPr/>
        </p:nvSpPr>
        <p:spPr bwMode="auto">
          <a:xfrm>
            <a:off x="4258700" y="4688086"/>
            <a:ext cx="669706" cy="604838"/>
          </a:xfrm>
          <a:prstGeom prst="rightArrow">
            <a:avLst>
              <a:gd name="adj1" fmla="val 32000"/>
              <a:gd name="adj2" fmla="val 44000"/>
            </a:avLst>
          </a:prstGeom>
          <a:solidFill>
            <a:srgbClr val="FE936A"/>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Tree>
    <p:extLst>
      <p:ext uri="{BB962C8B-B14F-4D97-AF65-F5344CB8AC3E}">
        <p14:creationId xmlns:p14="http://schemas.microsoft.com/office/powerpoint/2010/main" val="24491543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Prepending malware</a:t>
            </a:r>
            <a:endParaRPr lang="en-US" dirty="0"/>
          </a:p>
        </p:txBody>
      </p:sp>
      <p:sp>
        <p:nvSpPr>
          <p:cNvPr id="3" name="Content Placeholder 2"/>
          <p:cNvSpPr>
            <a:spLocks noGrp="1"/>
          </p:cNvSpPr>
          <p:nvPr>
            <p:ph sz="quarter" idx="11"/>
          </p:nvPr>
        </p:nvSpPr>
        <p:spPr/>
        <p:txBody>
          <a:bodyPr/>
          <a:lstStyle/>
          <a:p>
            <a:endParaRPr lang="en-US" dirty="0"/>
          </a:p>
        </p:txBody>
      </p:sp>
      <p:sp>
        <p:nvSpPr>
          <p:cNvPr id="4" name="Rectangle 2"/>
          <p:cNvSpPr>
            <a:spLocks/>
          </p:cNvSpPr>
          <p:nvPr/>
        </p:nvSpPr>
        <p:spPr bwMode="auto">
          <a:xfrm>
            <a:off x="2627784" y="2708920"/>
            <a:ext cx="1359503"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Targeted</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5" name="Rectangle 3"/>
          <p:cNvSpPr>
            <a:spLocks/>
          </p:cNvSpPr>
          <p:nvPr/>
        </p:nvSpPr>
        <p:spPr bwMode="auto">
          <a:xfrm>
            <a:off x="5058817" y="2039193"/>
            <a:ext cx="1494447" cy="669727"/>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Malware</a:t>
            </a:r>
          </a:p>
        </p:txBody>
      </p:sp>
      <p:sp>
        <p:nvSpPr>
          <p:cNvPr id="6" name="Line 4"/>
          <p:cNvSpPr>
            <a:spLocks noChangeShapeType="1"/>
          </p:cNvSpPr>
          <p:nvPr/>
        </p:nvSpPr>
        <p:spPr bwMode="auto">
          <a:xfrm rot="10800000">
            <a:off x="3304187" y="4869904"/>
            <a:ext cx="6697" cy="884039"/>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7" name="AutoShape 5"/>
          <p:cNvSpPr>
            <a:spLocks/>
          </p:cNvSpPr>
          <p:nvPr/>
        </p:nvSpPr>
        <p:spPr bwMode="auto">
          <a:xfrm>
            <a:off x="4197162" y="3841291"/>
            <a:ext cx="669706" cy="621854"/>
          </a:xfrm>
          <a:prstGeom prst="rightArrow">
            <a:avLst>
              <a:gd name="adj1" fmla="val 32000"/>
              <a:gd name="adj2" fmla="val 44000"/>
            </a:avLst>
          </a:prstGeom>
          <a:solidFill>
            <a:srgbClr val="FE936A"/>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8" name="Rectangle 6"/>
          <p:cNvSpPr>
            <a:spLocks/>
          </p:cNvSpPr>
          <p:nvPr/>
        </p:nvSpPr>
        <p:spPr bwMode="auto">
          <a:xfrm>
            <a:off x="5058817" y="2708920"/>
            <a:ext cx="1494447"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Infected host</a:t>
            </a:r>
          </a:p>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Executable</a:t>
            </a:r>
          </a:p>
        </p:txBody>
      </p:sp>
    </p:spTree>
    <p:extLst>
      <p:ext uri="{BB962C8B-B14F-4D97-AF65-F5344CB8AC3E}">
        <p14:creationId xmlns:p14="http://schemas.microsoft.com/office/powerpoint/2010/main" val="1447812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Appending malware</a:t>
            </a:r>
            <a:endParaRPr lang="en-US" dirty="0"/>
          </a:p>
        </p:txBody>
      </p:sp>
      <p:sp>
        <p:nvSpPr>
          <p:cNvPr id="3" name="Content Placeholder 2"/>
          <p:cNvSpPr>
            <a:spLocks noGrp="1"/>
          </p:cNvSpPr>
          <p:nvPr>
            <p:ph sz="quarter" idx="11"/>
          </p:nvPr>
        </p:nvSpPr>
        <p:spPr/>
        <p:txBody>
          <a:bodyPr/>
          <a:lstStyle/>
          <a:p>
            <a:endParaRPr lang="en-US" dirty="0"/>
          </a:p>
        </p:txBody>
      </p:sp>
      <p:sp>
        <p:nvSpPr>
          <p:cNvPr id="10" name="Rectangle 2"/>
          <p:cNvSpPr>
            <a:spLocks/>
          </p:cNvSpPr>
          <p:nvPr/>
        </p:nvSpPr>
        <p:spPr bwMode="auto">
          <a:xfrm>
            <a:off x="2490990" y="2143521"/>
            <a:ext cx="1359503"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Targeted</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11" name="Rectangle 3"/>
          <p:cNvSpPr>
            <a:spLocks/>
          </p:cNvSpPr>
          <p:nvPr/>
        </p:nvSpPr>
        <p:spPr bwMode="auto">
          <a:xfrm>
            <a:off x="5076056" y="5322490"/>
            <a:ext cx="1359503" cy="669727"/>
          </a:xfrm>
          <a:prstGeom prst="rect">
            <a:avLst/>
          </a:prstGeom>
          <a:solidFill>
            <a:srgbClr val="490000"/>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 Malware</a:t>
            </a:r>
          </a:p>
        </p:txBody>
      </p:sp>
      <p:sp>
        <p:nvSpPr>
          <p:cNvPr id="12" name="Line 4"/>
          <p:cNvSpPr>
            <a:spLocks noChangeShapeType="1"/>
          </p:cNvSpPr>
          <p:nvPr/>
        </p:nvSpPr>
        <p:spPr bwMode="auto">
          <a:xfrm rot="10800000">
            <a:off x="3167393" y="4304505"/>
            <a:ext cx="6697" cy="884039"/>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13" name="AutoShape 5"/>
          <p:cNvSpPr>
            <a:spLocks/>
          </p:cNvSpPr>
          <p:nvPr/>
        </p:nvSpPr>
        <p:spPr bwMode="auto">
          <a:xfrm>
            <a:off x="4064923" y="3458013"/>
            <a:ext cx="669706" cy="648270"/>
          </a:xfrm>
          <a:prstGeom prst="rightArrow">
            <a:avLst>
              <a:gd name="adj1" fmla="val 32000"/>
              <a:gd name="adj2" fmla="val 44000"/>
            </a:avLst>
          </a:prstGeom>
          <a:solidFill>
            <a:srgbClr val="FE936A"/>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14" name="Rectangle 6"/>
          <p:cNvSpPr>
            <a:spLocks/>
          </p:cNvSpPr>
          <p:nvPr/>
        </p:nvSpPr>
        <p:spPr bwMode="auto">
          <a:xfrm>
            <a:off x="5076056" y="2143521"/>
            <a:ext cx="1359503"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Infected</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host</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16" name="Rectangle 8"/>
          <p:cNvSpPr>
            <a:spLocks/>
          </p:cNvSpPr>
          <p:nvPr/>
        </p:nvSpPr>
        <p:spPr bwMode="auto">
          <a:xfrm>
            <a:off x="6120797" y="2143521"/>
            <a:ext cx="321459" cy="491133"/>
          </a:xfrm>
          <a:prstGeom prst="rect">
            <a:avLst/>
          </a:prstGeom>
          <a:solidFill>
            <a:srgbClr val="490000"/>
          </a:solidFill>
          <a:ln>
            <a:noFill/>
          </a:ln>
          <a:extLst>
            <a:ext uri="{91240B29-F687-4F45-9708-019B960494DF}">
              <a14:hiddenLine xmlns:a14="http://schemas.microsoft.com/office/drawing/2010/main" w="25400">
                <a:solidFill>
                  <a:srgbClr val="000000">
                    <a:alpha val="0"/>
                  </a:srgbClr>
                </a:solidFill>
                <a:miter lim="800000"/>
                <a:headEnd/>
                <a:tailEnd/>
              </a14:hiddenLine>
            </a:ext>
          </a:extLst>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17" name="Rectangle 9"/>
          <p:cNvSpPr>
            <a:spLocks/>
          </p:cNvSpPr>
          <p:nvPr/>
        </p:nvSpPr>
        <p:spPr bwMode="auto">
          <a:xfrm>
            <a:off x="5076056" y="5733256"/>
            <a:ext cx="147335" cy="250031"/>
          </a:xfrm>
          <a:prstGeom prst="rect">
            <a:avLst/>
          </a:prstGeom>
          <a:solidFill>
            <a:srgbClr val="140041"/>
          </a:solidFill>
          <a:ln>
            <a:noFill/>
          </a:ln>
          <a:extLst>
            <a:ext uri="{91240B29-F687-4F45-9708-019B960494DF}">
              <a14:hiddenLine xmlns:a14="http://schemas.microsoft.com/office/drawing/2010/main" w="25400">
                <a:solidFill>
                  <a:srgbClr val="404040"/>
                </a:solidFill>
                <a:miter lim="800000"/>
                <a:headEnd/>
                <a:tailEnd/>
              </a14:hiddenLine>
            </a:ext>
          </a:extLst>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18" name="Line 10"/>
          <p:cNvSpPr>
            <a:spLocks noChangeShapeType="1"/>
          </p:cNvSpPr>
          <p:nvPr/>
        </p:nvSpPr>
        <p:spPr bwMode="auto">
          <a:xfrm rot="10800000">
            <a:off x="5753296" y="4420591"/>
            <a:ext cx="5860" cy="767953"/>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19" name="Freeform 11"/>
          <p:cNvSpPr>
            <a:spLocks/>
          </p:cNvSpPr>
          <p:nvPr/>
        </p:nvSpPr>
        <p:spPr bwMode="auto">
          <a:xfrm>
            <a:off x="6369426" y="2384622"/>
            <a:ext cx="548322" cy="3384352"/>
          </a:xfrm>
          <a:custGeom>
            <a:avLst/>
            <a:gdLst>
              <a:gd name="T0" fmla="*/ 0 w 9779"/>
              <a:gd name="T1" fmla="*/ 0 h 21600"/>
              <a:gd name="T2" fmla="*/ 2147483646 w 9779"/>
              <a:gd name="T3" fmla="*/ 2147483646 h 21600"/>
              <a:gd name="T4" fmla="*/ 0 60000 65536"/>
              <a:gd name="T5" fmla="*/ 0 60000 65536"/>
            </a:gdLst>
            <a:ahLst/>
            <a:cxnLst>
              <a:cxn ang="T4">
                <a:pos x="T0" y="T1"/>
              </a:cxn>
              <a:cxn ang="T5">
                <a:pos x="T2" y="T3"/>
              </a:cxn>
            </a:cxnLst>
            <a:rect l="0" t="0" r="r" b="b"/>
            <a:pathLst>
              <a:path w="9779" h="21600">
                <a:moveTo>
                  <a:pt x="0" y="0"/>
                </a:moveTo>
                <a:cubicBezTo>
                  <a:pt x="0" y="0"/>
                  <a:pt x="21600" y="20289"/>
                  <a:pt x="597" y="21600"/>
                </a:cubicBezTo>
              </a:path>
            </a:pathLst>
          </a:custGeom>
          <a:noFill/>
          <a:ln w="50800" cap="flat">
            <a:solidFill>
              <a:srgbClr val="000000"/>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 name="Freeform 12"/>
          <p:cNvSpPr>
            <a:spLocks/>
          </p:cNvSpPr>
          <p:nvPr/>
        </p:nvSpPr>
        <p:spPr bwMode="auto">
          <a:xfrm>
            <a:off x="4834961" y="2594471"/>
            <a:ext cx="328156" cy="3272730"/>
          </a:xfrm>
          <a:custGeom>
            <a:avLst/>
            <a:gdLst>
              <a:gd name="T0" fmla="*/ 2147483646 w 9869"/>
              <a:gd name="T1" fmla="*/ 2147483646 h 20140"/>
              <a:gd name="T2" fmla="*/ 2147483646 w 9869"/>
              <a:gd name="T3" fmla="*/ 2147483646 h 20140"/>
              <a:gd name="T4" fmla="*/ 0 60000 65536"/>
              <a:gd name="T5" fmla="*/ 0 60000 65536"/>
            </a:gdLst>
            <a:ahLst/>
            <a:cxnLst>
              <a:cxn ang="T4">
                <a:pos x="T0" y="T1"/>
              </a:cxn>
              <a:cxn ang="T5">
                <a:pos x="T2" y="T3"/>
              </a:cxn>
            </a:cxnLst>
            <a:rect l="0" t="0" r="r" b="b"/>
            <a:pathLst>
              <a:path w="9869" h="20140">
                <a:moveTo>
                  <a:pt x="8860" y="20140"/>
                </a:moveTo>
                <a:cubicBezTo>
                  <a:pt x="8860" y="20140"/>
                  <a:pt x="-11731" y="-1460"/>
                  <a:pt x="9869" y="79"/>
                </a:cubicBezTo>
              </a:path>
            </a:pathLst>
          </a:custGeom>
          <a:noFill/>
          <a:ln w="50800" cap="flat">
            <a:solidFill>
              <a:srgbClr val="000000"/>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Tree>
    <p:extLst>
      <p:ext uri="{BB962C8B-B14F-4D97-AF65-F5344CB8AC3E}">
        <p14:creationId xmlns:p14="http://schemas.microsoft.com/office/powerpoint/2010/main" val="3610656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Cavity malware</a:t>
            </a:r>
          </a:p>
        </p:txBody>
      </p:sp>
      <p:sp>
        <p:nvSpPr>
          <p:cNvPr id="3" name="Content Placeholder 2"/>
          <p:cNvSpPr>
            <a:spLocks noGrp="1"/>
          </p:cNvSpPr>
          <p:nvPr>
            <p:ph sz="quarter" idx="11"/>
          </p:nvPr>
        </p:nvSpPr>
        <p:spPr/>
        <p:txBody>
          <a:bodyPr/>
          <a:lstStyle/>
          <a:p>
            <a:r>
              <a:rPr lang="en-US" sz="2000" dirty="0"/>
              <a:t>Some viruses can infect files without increasing their sizes or damaging the files by overwriting unused areas of executable files. These are called cavity viruses. </a:t>
            </a:r>
          </a:p>
          <a:p>
            <a:r>
              <a:rPr lang="en-US" sz="2000" dirty="0"/>
              <a:t>For example, the CIH virus, or Chernobyl Virus which infects Portable Executable files.</a:t>
            </a:r>
          </a:p>
          <a:p>
            <a:endParaRPr lang="en-US" sz="2000" dirty="0"/>
          </a:p>
        </p:txBody>
      </p:sp>
      <p:sp>
        <p:nvSpPr>
          <p:cNvPr id="9" name="Rectangle 2"/>
          <p:cNvSpPr>
            <a:spLocks/>
          </p:cNvSpPr>
          <p:nvPr/>
        </p:nvSpPr>
        <p:spPr bwMode="auto">
          <a:xfrm>
            <a:off x="2573015" y="3356992"/>
            <a:ext cx="1359503"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Targeted</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10" name="Line 3"/>
          <p:cNvSpPr>
            <a:spLocks noChangeShapeType="1"/>
          </p:cNvSpPr>
          <p:nvPr/>
        </p:nvSpPr>
        <p:spPr bwMode="auto">
          <a:xfrm rot="10800000">
            <a:off x="3249418" y="5401890"/>
            <a:ext cx="6697" cy="884039"/>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11" name="AutoShape 4"/>
          <p:cNvSpPr>
            <a:spLocks/>
          </p:cNvSpPr>
          <p:nvPr/>
        </p:nvSpPr>
        <p:spPr bwMode="auto">
          <a:xfrm>
            <a:off x="4133430" y="4312468"/>
            <a:ext cx="669706" cy="892969"/>
          </a:xfrm>
          <a:prstGeom prst="rightArrow">
            <a:avLst>
              <a:gd name="adj1" fmla="val 32000"/>
              <a:gd name="adj2" fmla="val 44000"/>
            </a:avLst>
          </a:prstGeom>
          <a:solidFill>
            <a:srgbClr val="FE936A"/>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12" name="Rectangle 5"/>
          <p:cNvSpPr>
            <a:spLocks/>
          </p:cNvSpPr>
          <p:nvPr/>
        </p:nvSpPr>
        <p:spPr bwMode="auto">
          <a:xfrm>
            <a:off x="5004048" y="3356992"/>
            <a:ext cx="1359503" cy="3187898"/>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endParaRPr lang="en-US" dirty="0">
              <a:solidFill>
                <a:srgbClr val="F0EECF"/>
              </a:solidFill>
              <a:effectLst>
                <a:outerShdw blurRad="38100" dist="38100" dir="2700000" algn="tl">
                  <a:srgbClr val="000000"/>
                </a:outerShdw>
              </a:effectLst>
              <a:ea typeface="Palatino" charset="0"/>
              <a:cs typeface="Palatino" charset="0"/>
            </a:endParaRPr>
          </a:p>
          <a:p>
            <a:pPr algn="ctr" eaLnBrk="1" hangingPunct="1">
              <a:defRPr/>
            </a:pPr>
            <a:endParaRPr lang="en-US" dirty="0">
              <a:solidFill>
                <a:srgbClr val="F0EECF"/>
              </a:solidFill>
              <a:effectLst>
                <a:outerShdw blurRad="38100" dist="38100" dir="2700000" algn="tl">
                  <a:srgbClr val="000000"/>
                </a:outerShdw>
              </a:effectLst>
              <a:ea typeface="Palatino" charset="0"/>
              <a:cs typeface="Palatino" charset="0"/>
            </a:endParaRPr>
          </a:p>
          <a:p>
            <a:pPr algn="ctr" eaLnBrk="1" hangingPunct="1">
              <a:defRPr/>
            </a:pPr>
            <a:r>
              <a:rPr lang="en-US" sz="1700" dirty="0">
                <a:solidFill>
                  <a:srgbClr val="F0EECF"/>
                </a:solidFill>
                <a:effectLst>
                  <a:outerShdw blurRad="38100" dist="38100" dir="2700000" algn="tl">
                    <a:srgbClr val="000000"/>
                  </a:outerShdw>
                </a:effectLst>
                <a:ea typeface="Palatino" charset="0"/>
                <a:cs typeface="Palatino" charset="0"/>
              </a:rPr>
              <a:t>Infected host</a:t>
            </a:r>
          </a:p>
          <a:p>
            <a:pPr algn="ctr" eaLnBrk="1" hangingPunct="1">
              <a:defRPr/>
            </a:pPr>
            <a:r>
              <a:rPr lang="en-US" sz="1700" dirty="0">
                <a:solidFill>
                  <a:srgbClr val="F0EECF"/>
                </a:solidFill>
                <a:effectLst>
                  <a:outerShdw blurRad="38100" dist="38100" dir="2700000" algn="tl">
                    <a:srgbClr val="000000"/>
                  </a:outerShdw>
                </a:effectLst>
                <a:ea typeface="Palatino" charset="0"/>
                <a:cs typeface="Palatino" charset="0"/>
              </a:rPr>
              <a:t>Executable</a:t>
            </a:r>
          </a:p>
        </p:txBody>
      </p:sp>
      <p:sp>
        <p:nvSpPr>
          <p:cNvPr id="14" name="Rectangle 7"/>
          <p:cNvSpPr>
            <a:spLocks/>
          </p:cNvSpPr>
          <p:nvPr/>
        </p:nvSpPr>
        <p:spPr bwMode="auto">
          <a:xfrm>
            <a:off x="5004048" y="3999929"/>
            <a:ext cx="1359503" cy="669727"/>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Malware</a:t>
            </a:r>
          </a:p>
        </p:txBody>
      </p:sp>
    </p:spTree>
    <p:extLst>
      <p:ext uri="{BB962C8B-B14F-4D97-AF65-F5344CB8AC3E}">
        <p14:creationId xmlns:p14="http://schemas.microsoft.com/office/powerpoint/2010/main" val="2191972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Multi-cavity malware</a:t>
            </a:r>
          </a:p>
        </p:txBody>
      </p:sp>
      <p:sp>
        <p:nvSpPr>
          <p:cNvPr id="3" name="Content Placeholder 2"/>
          <p:cNvSpPr>
            <a:spLocks noGrp="1"/>
          </p:cNvSpPr>
          <p:nvPr>
            <p:ph sz="quarter" idx="11"/>
          </p:nvPr>
        </p:nvSpPr>
        <p:spPr/>
        <p:txBody>
          <a:bodyPr/>
          <a:lstStyle/>
          <a:p>
            <a:r>
              <a:rPr lang="en-US" sz="2800" dirty="0"/>
              <a:t>In case the malware does not find one cavity big enough to hold the complete code</a:t>
            </a:r>
          </a:p>
        </p:txBody>
      </p:sp>
      <p:sp>
        <p:nvSpPr>
          <p:cNvPr id="4" name="Rectangle 2"/>
          <p:cNvSpPr>
            <a:spLocks/>
          </p:cNvSpPr>
          <p:nvPr/>
        </p:nvSpPr>
        <p:spPr bwMode="auto">
          <a:xfrm>
            <a:off x="2555776" y="2824380"/>
            <a:ext cx="1359503" cy="3628955"/>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Targeted</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5" name="Line 3"/>
          <p:cNvSpPr>
            <a:spLocks noChangeShapeType="1"/>
          </p:cNvSpPr>
          <p:nvPr/>
        </p:nvSpPr>
        <p:spPr bwMode="auto">
          <a:xfrm rot="10800000">
            <a:off x="3236126" y="5122812"/>
            <a:ext cx="6697" cy="884039"/>
          </a:xfrm>
          <a:prstGeom prst="line">
            <a:avLst/>
          </a:prstGeom>
          <a:noFill/>
          <a:ln w="762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 name="AutoShape 4"/>
          <p:cNvSpPr>
            <a:spLocks/>
          </p:cNvSpPr>
          <p:nvPr/>
        </p:nvSpPr>
        <p:spPr bwMode="auto">
          <a:xfrm>
            <a:off x="4120138" y="4033390"/>
            <a:ext cx="669706" cy="892969"/>
          </a:xfrm>
          <a:prstGeom prst="rightArrow">
            <a:avLst>
              <a:gd name="adj1" fmla="val 32000"/>
              <a:gd name="adj2" fmla="val 44000"/>
            </a:avLst>
          </a:prstGeom>
          <a:solidFill>
            <a:srgbClr val="FE936A"/>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7" name="Rectangle 5"/>
          <p:cNvSpPr>
            <a:spLocks/>
          </p:cNvSpPr>
          <p:nvPr/>
        </p:nvSpPr>
        <p:spPr bwMode="auto">
          <a:xfrm>
            <a:off x="4990756" y="2801094"/>
            <a:ext cx="1359503" cy="3652242"/>
          </a:xfrm>
          <a:prstGeom prst="rect">
            <a:avLst/>
          </a:prstGeom>
          <a:solidFill>
            <a:schemeClr val="accent1"/>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9" name="Rectangle 7"/>
          <p:cNvSpPr>
            <a:spLocks/>
          </p:cNvSpPr>
          <p:nvPr/>
        </p:nvSpPr>
        <p:spPr bwMode="auto">
          <a:xfrm>
            <a:off x="4990756" y="3444031"/>
            <a:ext cx="1359503" cy="473273"/>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sz="1400" dirty="0">
                <a:solidFill>
                  <a:srgbClr val="F0EECF"/>
                </a:solidFill>
                <a:effectLst>
                  <a:outerShdw blurRad="38100" dist="38100" dir="2700000" algn="tl">
                    <a:srgbClr val="000000"/>
                  </a:outerShdw>
                </a:effectLst>
                <a:ea typeface="Palatino" charset="0"/>
                <a:cs typeface="Palatino" charset="0"/>
              </a:rPr>
              <a:t>Malware</a:t>
            </a:r>
          </a:p>
        </p:txBody>
      </p:sp>
      <p:sp>
        <p:nvSpPr>
          <p:cNvPr id="10" name="Rectangle 8"/>
          <p:cNvSpPr>
            <a:spLocks/>
          </p:cNvSpPr>
          <p:nvPr/>
        </p:nvSpPr>
        <p:spPr bwMode="auto">
          <a:xfrm>
            <a:off x="4990756" y="4694188"/>
            <a:ext cx="1359503" cy="473273"/>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sz="1400" dirty="0">
                <a:solidFill>
                  <a:srgbClr val="F0EECF"/>
                </a:solidFill>
                <a:effectLst>
                  <a:outerShdw blurRad="38100" dist="38100" dir="2700000" algn="tl">
                    <a:srgbClr val="000000"/>
                  </a:outerShdw>
                </a:effectLst>
                <a:ea typeface="Palatino" charset="0"/>
                <a:cs typeface="Palatino" charset="0"/>
              </a:rPr>
              <a:t>Malware</a:t>
            </a:r>
          </a:p>
        </p:txBody>
      </p:sp>
      <p:sp>
        <p:nvSpPr>
          <p:cNvPr id="11" name="Rectangle 9"/>
          <p:cNvSpPr>
            <a:spLocks/>
          </p:cNvSpPr>
          <p:nvPr/>
        </p:nvSpPr>
        <p:spPr bwMode="auto">
          <a:xfrm>
            <a:off x="4990756" y="5453211"/>
            <a:ext cx="1359503" cy="473273"/>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sz="1400" dirty="0">
                <a:solidFill>
                  <a:srgbClr val="F0EECF"/>
                </a:solidFill>
                <a:effectLst>
                  <a:outerShdw blurRad="38100" dist="38100" dir="2700000" algn="tl">
                    <a:srgbClr val="000000"/>
                  </a:outerShdw>
                </a:effectLst>
                <a:ea typeface="Palatino" charset="0"/>
                <a:cs typeface="Palatino" charset="0"/>
              </a:rPr>
              <a:t>Malware</a:t>
            </a:r>
          </a:p>
        </p:txBody>
      </p:sp>
    </p:spTree>
    <p:extLst>
      <p:ext uri="{BB962C8B-B14F-4D97-AF65-F5344CB8AC3E}">
        <p14:creationId xmlns:p14="http://schemas.microsoft.com/office/powerpoint/2010/main" val="922731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Packer</a:t>
            </a:r>
          </a:p>
        </p:txBody>
      </p:sp>
      <p:sp>
        <p:nvSpPr>
          <p:cNvPr id="3" name="Content Placeholder 2"/>
          <p:cNvSpPr>
            <a:spLocks noGrp="1"/>
          </p:cNvSpPr>
          <p:nvPr>
            <p:ph sz="quarter" idx="11"/>
          </p:nvPr>
        </p:nvSpPr>
        <p:spPr/>
        <p:txBody>
          <a:bodyPr/>
          <a:lstStyle/>
          <a:p>
            <a:r>
              <a:rPr lang="en-US" sz="2800" dirty="0"/>
              <a:t>A packer compresses and optionally encrypts data. The original file is passed in the packer routine and stored in a packed section in the new .exe.</a:t>
            </a:r>
          </a:p>
          <a:p>
            <a:endParaRPr lang="en-US" sz="2800" dirty="0"/>
          </a:p>
        </p:txBody>
      </p:sp>
      <p:sp>
        <p:nvSpPr>
          <p:cNvPr id="5" name="Rectangle 1"/>
          <p:cNvSpPr>
            <a:spLocks/>
          </p:cNvSpPr>
          <p:nvPr/>
        </p:nvSpPr>
        <p:spPr bwMode="auto">
          <a:xfrm>
            <a:off x="3131840" y="4077072"/>
            <a:ext cx="3850810" cy="1589484"/>
          </a:xfrm>
          <a:prstGeom prst="rect">
            <a:avLst/>
          </a:prstGeom>
          <a:solidFill>
            <a:srgbClr val="EFF7A9"/>
          </a:solidFill>
          <a:ln w="25400">
            <a:solidFill>
              <a:srgbClr val="404040"/>
            </a:solidFill>
            <a:miter lim="800000"/>
            <a:headEnd/>
            <a:tailEnd/>
          </a:ln>
        </p:spPr>
        <p:txBody>
          <a:bodyPr lIns="0" tIns="0" rIns="0" bIns="0"/>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endParaRPr lang="en-US" altLang="en-US" sz="2400" dirty="0">
              <a:solidFill>
                <a:srgbClr val="3F3F3F"/>
              </a:solidFill>
              <a:latin typeface="Palatino" charset="0"/>
            </a:endParaRPr>
          </a:p>
        </p:txBody>
      </p:sp>
      <p:sp>
        <p:nvSpPr>
          <p:cNvPr id="6" name="Rectangle 3"/>
          <p:cNvSpPr>
            <a:spLocks/>
          </p:cNvSpPr>
          <p:nvPr/>
        </p:nvSpPr>
        <p:spPr bwMode="auto">
          <a:xfrm>
            <a:off x="3165325" y="4568205"/>
            <a:ext cx="1151895" cy="1026914"/>
          </a:xfrm>
          <a:prstGeom prst="rect">
            <a:avLst/>
          </a:prstGeom>
          <a:solidFill>
            <a:srgbClr val="640E2F"/>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dirty="0">
                <a:solidFill>
                  <a:srgbClr val="F0EECF"/>
                </a:solidFill>
                <a:effectLst>
                  <a:outerShdw blurRad="38100" dist="38100" dir="2700000" algn="tl">
                    <a:srgbClr val="000000"/>
                  </a:outerShdw>
                </a:effectLst>
                <a:ea typeface="Palatino" charset="0"/>
                <a:cs typeface="Palatino" charset="0"/>
              </a:rPr>
              <a:t>Malware</a:t>
            </a:r>
          </a:p>
        </p:txBody>
      </p:sp>
      <p:sp>
        <p:nvSpPr>
          <p:cNvPr id="7" name="Rectangle 4"/>
          <p:cNvSpPr>
            <a:spLocks/>
          </p:cNvSpPr>
          <p:nvPr/>
        </p:nvSpPr>
        <p:spPr bwMode="auto">
          <a:xfrm>
            <a:off x="4350705" y="4568205"/>
            <a:ext cx="2544883" cy="1026914"/>
          </a:xfrm>
          <a:prstGeom prst="rect">
            <a:avLst/>
          </a:prstGeom>
          <a:solidFill>
            <a:schemeClr val="accent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Infected host</a:t>
            </a:r>
          </a:p>
          <a:p>
            <a:pPr algn="ctr" eaLnBrk="1" hangingPunct="1">
              <a:defRPr/>
            </a:pPr>
            <a:r>
              <a:rPr lang="en-US">
                <a:solidFill>
                  <a:srgbClr val="F0EECF"/>
                </a:solidFill>
                <a:effectLst>
                  <a:outerShdw blurRad="38100" dist="38100" dir="2700000" algn="tl">
                    <a:srgbClr val="000000"/>
                  </a:outerShdw>
                </a:effectLst>
                <a:ea typeface="Palatino" charset="0"/>
                <a:cs typeface="Palatino" charset="0"/>
              </a:rPr>
              <a:t>Executable</a:t>
            </a:r>
          </a:p>
        </p:txBody>
      </p:sp>
      <p:sp>
        <p:nvSpPr>
          <p:cNvPr id="8" name="Rectangle 5"/>
          <p:cNvSpPr>
            <a:spLocks/>
          </p:cNvSpPr>
          <p:nvPr/>
        </p:nvSpPr>
        <p:spPr bwMode="auto">
          <a:xfrm>
            <a:off x="1979945" y="4077072"/>
            <a:ext cx="1151895" cy="1589484"/>
          </a:xfrm>
          <a:prstGeom prst="rect">
            <a:avLst/>
          </a:prstGeom>
          <a:solidFill>
            <a:srgbClr val="FDA531"/>
          </a:solidFill>
          <a:ln w="25400" cap="flat">
            <a:solidFill>
              <a:srgbClr val="404040"/>
            </a:solidFill>
            <a:prstDash val="solid"/>
            <a:miter lim="800000"/>
            <a:headEnd type="none" w="med" len="med"/>
            <a:tailEnd type="none" w="med" len="med"/>
          </a:ln>
        </p:spPr>
        <p:txBody>
          <a:bodyPr lIns="0" tIns="0" rIns="0" bIns="0" anchor="ctr"/>
          <a:lstStyle/>
          <a:p>
            <a:pPr algn="ctr" eaLnBrk="1" hangingPunct="1">
              <a:defRPr/>
            </a:pPr>
            <a:r>
              <a:rPr lang="en-US">
                <a:solidFill>
                  <a:schemeClr val="tx1"/>
                </a:solidFill>
                <a:effectLst>
                  <a:outerShdw blurRad="38100" dist="38100" dir="2700000" algn="tl">
                    <a:srgbClr val="000000"/>
                  </a:outerShdw>
                </a:effectLst>
                <a:ea typeface="Palatino" charset="0"/>
                <a:cs typeface="Palatino" charset="0"/>
              </a:rPr>
              <a:t>Packer</a:t>
            </a:r>
          </a:p>
        </p:txBody>
      </p:sp>
      <p:sp>
        <p:nvSpPr>
          <p:cNvPr id="9" name="Rectangle 6"/>
          <p:cNvSpPr>
            <a:spLocks/>
          </p:cNvSpPr>
          <p:nvPr/>
        </p:nvSpPr>
        <p:spPr bwMode="auto">
          <a:xfrm>
            <a:off x="4159839" y="4053633"/>
            <a:ext cx="1114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spcBef>
                <a:spcPct val="20000"/>
              </a:spcBef>
              <a:buFont typeface="Arial" panose="020B0604020202020204" pitchFamily="34" charset="0"/>
              <a:buChar char="•"/>
              <a:defRPr sz="4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4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8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8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800">
                <a:solidFill>
                  <a:schemeClr val="tx1"/>
                </a:solidFill>
                <a:latin typeface="Calibri" panose="020F0502020204030204" pitchFamily="34" charset="0"/>
              </a:defRPr>
            </a:lvl9pPr>
          </a:lstStyle>
          <a:p>
            <a:pPr algn="ctr" eaLnBrk="1" hangingPunct="1">
              <a:spcBef>
                <a:spcPct val="0"/>
              </a:spcBef>
              <a:buFontTx/>
              <a:buNone/>
            </a:pPr>
            <a:r>
              <a:rPr lang="en-US" altLang="en-US" sz="2400" dirty="0">
                <a:latin typeface="Palatino" charset="0"/>
                <a:ea typeface="Palatino" charset="0"/>
                <a:cs typeface="Palatino" charset="0"/>
              </a:rPr>
              <a:t>Payload</a:t>
            </a:r>
          </a:p>
        </p:txBody>
      </p:sp>
    </p:spTree>
    <p:extLst>
      <p:ext uri="{BB962C8B-B14F-4D97-AF65-F5344CB8AC3E}">
        <p14:creationId xmlns:p14="http://schemas.microsoft.com/office/powerpoint/2010/main" val="22014047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Analysis</a:t>
            </a:r>
          </a:p>
        </p:txBody>
      </p:sp>
      <p:sp>
        <p:nvSpPr>
          <p:cNvPr id="3" name="Content Placeholder 2"/>
          <p:cNvSpPr>
            <a:spLocks noGrp="1"/>
          </p:cNvSpPr>
          <p:nvPr>
            <p:ph sz="quarter" idx="11"/>
          </p:nvPr>
        </p:nvSpPr>
        <p:spPr/>
        <p:txBody>
          <a:bodyPr/>
          <a:lstStyle/>
          <a:p>
            <a:r>
              <a:rPr lang="en-US" altLang="en-US" sz="2400" dirty="0"/>
              <a:t>Malware analysis is the study or process of determining the functionality, origin and potential impact of a given malware. (Wikipedia)</a:t>
            </a:r>
          </a:p>
          <a:p>
            <a:endParaRPr lang="en-US" altLang="en-US" sz="2400" dirty="0"/>
          </a:p>
          <a:p>
            <a:r>
              <a:rPr lang="en-US" altLang="en-US" sz="2400" dirty="0"/>
              <a:t>Three typical use cases of analysis</a:t>
            </a:r>
          </a:p>
          <a:p>
            <a:pPr lvl="1"/>
            <a:r>
              <a:rPr lang="en-US" altLang="en-US" sz="2000" dirty="0"/>
              <a:t>Computer security incident management</a:t>
            </a:r>
          </a:p>
          <a:p>
            <a:pPr lvl="1"/>
            <a:r>
              <a:rPr lang="en-US" altLang="en-US" sz="2000" dirty="0"/>
              <a:t>Malware research</a:t>
            </a:r>
          </a:p>
          <a:p>
            <a:pPr lvl="1"/>
            <a:r>
              <a:rPr lang="en-US" altLang="en-US" sz="2000" dirty="0"/>
              <a:t>Indictor of compromise extraction</a:t>
            </a:r>
          </a:p>
          <a:p>
            <a:r>
              <a:rPr lang="en-US" altLang="en-US" sz="2400" dirty="0"/>
              <a:t>Analysis types</a:t>
            </a:r>
          </a:p>
          <a:p>
            <a:pPr lvl="1"/>
            <a:r>
              <a:rPr lang="en-US" altLang="en-US" sz="2000" dirty="0"/>
              <a:t>Static </a:t>
            </a:r>
          </a:p>
          <a:p>
            <a:pPr lvl="1"/>
            <a:r>
              <a:rPr lang="en-US" altLang="en-US" sz="2000" dirty="0"/>
              <a:t>Dynamic</a:t>
            </a:r>
          </a:p>
          <a:p>
            <a:endParaRPr lang="en-US" sz="2400" dirty="0"/>
          </a:p>
        </p:txBody>
      </p:sp>
    </p:spTree>
    <p:extLst>
      <p:ext uri="{BB962C8B-B14F-4D97-AF65-F5344CB8AC3E}">
        <p14:creationId xmlns:p14="http://schemas.microsoft.com/office/powerpoint/2010/main" val="35504586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analyze malware</a:t>
            </a:r>
          </a:p>
        </p:txBody>
      </p:sp>
      <p:sp>
        <p:nvSpPr>
          <p:cNvPr id="3" name="Content Placeholder 2"/>
          <p:cNvSpPr>
            <a:spLocks noGrp="1"/>
          </p:cNvSpPr>
          <p:nvPr>
            <p:ph sz="quarter" idx="11"/>
          </p:nvPr>
        </p:nvSpPr>
        <p:spPr/>
        <p:txBody>
          <a:bodyPr/>
          <a:lstStyle/>
          <a:p>
            <a:r>
              <a:rPr lang="en-US" sz="2800" dirty="0"/>
              <a:t>To assess damage</a:t>
            </a:r>
          </a:p>
          <a:p>
            <a:r>
              <a:rPr lang="en-US" sz="2800" dirty="0"/>
              <a:t>To discover indicators of compromise</a:t>
            </a:r>
          </a:p>
          <a:p>
            <a:r>
              <a:rPr lang="en-US" sz="2800" dirty="0"/>
              <a:t>To determine sophistication level of an intruder</a:t>
            </a:r>
          </a:p>
          <a:p>
            <a:r>
              <a:rPr lang="en-US" sz="2800" dirty="0"/>
              <a:t>To identify a vulnerability</a:t>
            </a:r>
          </a:p>
          <a:p>
            <a:r>
              <a:rPr lang="en-US" sz="2800" dirty="0"/>
              <a:t>To catch the “bad guy”</a:t>
            </a:r>
          </a:p>
          <a:p>
            <a:r>
              <a:rPr lang="en-US" sz="2800" dirty="0"/>
              <a:t>To answer business related questions</a:t>
            </a:r>
          </a:p>
          <a:p>
            <a:pPr lvl="1"/>
            <a:r>
              <a:rPr lang="en-US" sz="2400" dirty="0"/>
              <a:t>How long has it been here, spreads on its own? etc.</a:t>
            </a:r>
          </a:p>
          <a:p>
            <a:r>
              <a:rPr lang="en-US" sz="2800" dirty="0"/>
              <a:t>To answer technical questions</a:t>
            </a:r>
          </a:p>
          <a:p>
            <a:pPr lvl="1"/>
            <a:r>
              <a:rPr lang="en-US" sz="2400" dirty="0"/>
              <a:t>Date of installation, compilation, persistence mechanism, network or host based indicators</a:t>
            </a:r>
          </a:p>
          <a:p>
            <a:endParaRPr lang="en-US" sz="2800" dirty="0"/>
          </a:p>
        </p:txBody>
      </p:sp>
    </p:spTree>
    <p:extLst>
      <p:ext uri="{BB962C8B-B14F-4D97-AF65-F5344CB8AC3E}">
        <p14:creationId xmlns:p14="http://schemas.microsoft.com/office/powerpoint/2010/main" val="13378198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Analysis</a:t>
            </a:r>
          </a:p>
        </p:txBody>
      </p:sp>
      <p:sp>
        <p:nvSpPr>
          <p:cNvPr id="3" name="Content Placeholder 2"/>
          <p:cNvSpPr>
            <a:spLocks noGrp="1"/>
          </p:cNvSpPr>
          <p:nvPr>
            <p:ph sz="quarter" idx="11"/>
          </p:nvPr>
        </p:nvSpPr>
        <p:spPr/>
        <p:txBody>
          <a:bodyPr/>
          <a:lstStyle/>
          <a:p>
            <a:r>
              <a:rPr lang="en-US" sz="2400" dirty="0"/>
              <a:t>Analysis in which code is not executed</a:t>
            </a:r>
          </a:p>
          <a:p>
            <a:r>
              <a:rPr lang="en-US" sz="2400" dirty="0"/>
              <a:t>“Dead” code is read and understood</a:t>
            </a:r>
          </a:p>
          <a:p>
            <a:pPr lvl="1"/>
            <a:r>
              <a:rPr lang="en-US" sz="2000" dirty="0"/>
              <a:t>Also referred to as: code analysis</a:t>
            </a:r>
          </a:p>
          <a:p>
            <a:r>
              <a:rPr lang="en-US" sz="2400" dirty="0"/>
              <a:t>Requires inspecting file metadata and dependencies, performing string searches, peeking into the file using a hex editor. </a:t>
            </a:r>
          </a:p>
          <a:p>
            <a:r>
              <a:rPr lang="en-US" sz="2400" dirty="0"/>
              <a:t>Code can be studied after disassembling the malware</a:t>
            </a:r>
          </a:p>
          <a:p>
            <a:pPr lvl="1"/>
            <a:r>
              <a:rPr lang="en-US" sz="2000" dirty="0"/>
              <a:t>Disassemblers (e.g. IDA Pro) convert machine code to higher-level assembly code. </a:t>
            </a:r>
            <a:endParaRPr lang="en-US" sz="1800" dirty="0"/>
          </a:p>
          <a:p>
            <a:r>
              <a:rPr lang="en-US" sz="2400" dirty="0"/>
              <a:t>How about packer malwares?</a:t>
            </a:r>
          </a:p>
          <a:p>
            <a:pPr lvl="1"/>
            <a:r>
              <a:rPr lang="en-US" sz="1800" dirty="0"/>
              <a:t>Tools like </a:t>
            </a:r>
            <a:r>
              <a:rPr lang="en-US" sz="1800" dirty="0" err="1"/>
              <a:t>PEiD</a:t>
            </a:r>
            <a:r>
              <a:rPr lang="en-US" sz="1800" dirty="0"/>
              <a:t>, Mandiant </a:t>
            </a:r>
            <a:r>
              <a:rPr lang="en-US" sz="1800" dirty="0" err="1"/>
              <a:t>Capa</a:t>
            </a:r>
            <a:r>
              <a:rPr lang="en-US" sz="1800" dirty="0"/>
              <a:t> can tell you about “packed” code</a:t>
            </a:r>
          </a:p>
          <a:p>
            <a:pPr lvl="1"/>
            <a:r>
              <a:rPr lang="en-US" sz="1800" dirty="0"/>
              <a:t>Unpacking is needed before further static analysis</a:t>
            </a:r>
          </a:p>
          <a:p>
            <a:endParaRPr lang="en-US" sz="2400" dirty="0"/>
          </a:p>
        </p:txBody>
      </p:sp>
    </p:spTree>
    <p:extLst>
      <p:ext uri="{BB962C8B-B14F-4D97-AF65-F5344CB8AC3E}">
        <p14:creationId xmlns:p14="http://schemas.microsoft.com/office/powerpoint/2010/main" val="390331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Analysis</a:t>
            </a:r>
          </a:p>
        </p:txBody>
      </p:sp>
      <p:sp>
        <p:nvSpPr>
          <p:cNvPr id="3" name="Content Placeholder 2"/>
          <p:cNvSpPr>
            <a:spLocks noGrp="1"/>
          </p:cNvSpPr>
          <p:nvPr>
            <p:ph sz="quarter" idx="11"/>
          </p:nvPr>
        </p:nvSpPr>
        <p:spPr/>
        <p:txBody>
          <a:bodyPr/>
          <a:lstStyle/>
          <a:p>
            <a:r>
              <a:rPr lang="en-US" sz="2000" dirty="0"/>
              <a:t>Conducted by observing and manipulating malware as it runs</a:t>
            </a:r>
          </a:p>
          <a:p>
            <a:r>
              <a:rPr lang="en-US" sz="2000" dirty="0"/>
              <a:t>Needs a safe (</a:t>
            </a:r>
            <a:r>
              <a:rPr lang="en-US" sz="2000" b="1" dirty="0"/>
              <a:t>sandboxed</a:t>
            </a:r>
            <a:r>
              <a:rPr lang="en-US" sz="2000" dirty="0"/>
              <a:t>) environment to analyze (run) the code</a:t>
            </a:r>
          </a:p>
          <a:p>
            <a:r>
              <a:rPr lang="en-US" sz="2000" dirty="0"/>
              <a:t>Requires monitoring the system</a:t>
            </a:r>
          </a:p>
          <a:p>
            <a:pPr lvl="1"/>
            <a:r>
              <a:rPr lang="en-US" sz="1600" dirty="0"/>
              <a:t>Registry files activity</a:t>
            </a:r>
          </a:p>
          <a:p>
            <a:pPr lvl="1"/>
            <a:r>
              <a:rPr lang="en-US" sz="1600" dirty="0"/>
              <a:t>File and process/system level activity</a:t>
            </a:r>
          </a:p>
          <a:p>
            <a:pPr lvl="1"/>
            <a:r>
              <a:rPr lang="en-US" sz="1600" dirty="0"/>
              <a:t>Network level activity</a:t>
            </a:r>
          </a:p>
          <a:p>
            <a:r>
              <a:rPr lang="en-US" sz="2000" dirty="0"/>
              <a:t>Some tools</a:t>
            </a:r>
          </a:p>
          <a:p>
            <a:pPr lvl="1"/>
            <a:r>
              <a:rPr lang="en-US" sz="1600" dirty="0"/>
              <a:t>Wireshark</a:t>
            </a:r>
          </a:p>
          <a:p>
            <a:pPr lvl="1"/>
            <a:r>
              <a:rPr lang="en-US" sz="1600" dirty="0" err="1"/>
              <a:t>SysInternals</a:t>
            </a:r>
            <a:r>
              <a:rPr lang="en-US" sz="1600" dirty="0"/>
              <a:t> process monitor (windows)</a:t>
            </a:r>
          </a:p>
          <a:p>
            <a:pPr lvl="1"/>
            <a:r>
              <a:rPr lang="en-US" sz="1600" dirty="0"/>
              <a:t>netstat (Windows/Linux) or </a:t>
            </a:r>
            <a:r>
              <a:rPr lang="en-US" sz="1600" dirty="0" err="1"/>
              <a:t>ResMon</a:t>
            </a:r>
            <a:r>
              <a:rPr lang="en-US" sz="1600" dirty="0"/>
              <a:t> (Windows)</a:t>
            </a:r>
          </a:p>
          <a:p>
            <a:r>
              <a:rPr lang="en-US" sz="2000" dirty="0"/>
              <a:t>Requires analysis while the code is being run using tools like </a:t>
            </a:r>
            <a:r>
              <a:rPr lang="en-US" sz="2000" dirty="0" err="1"/>
              <a:t>WinDbg</a:t>
            </a:r>
            <a:endParaRPr lang="en-US" sz="2000" dirty="0"/>
          </a:p>
          <a:p>
            <a:r>
              <a:rPr lang="en-US" sz="2000" dirty="0"/>
              <a:t>Malware files are fingerprinted before analysis — in case malware triggers a self-corruption during analysis.</a:t>
            </a:r>
          </a:p>
          <a:p>
            <a:endParaRPr lang="en-US" sz="2000" dirty="0"/>
          </a:p>
          <a:p>
            <a:endParaRPr lang="en-US" sz="2000" dirty="0"/>
          </a:p>
        </p:txBody>
      </p:sp>
    </p:spTree>
    <p:extLst>
      <p:ext uri="{BB962C8B-B14F-4D97-AF65-F5344CB8AC3E}">
        <p14:creationId xmlns:p14="http://schemas.microsoft.com/office/powerpoint/2010/main" val="2430879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Sandboxing</a:t>
            </a:r>
          </a:p>
        </p:txBody>
      </p:sp>
      <p:sp>
        <p:nvSpPr>
          <p:cNvPr id="3" name="Content Placeholder 2"/>
          <p:cNvSpPr>
            <a:spLocks noGrp="1"/>
          </p:cNvSpPr>
          <p:nvPr>
            <p:ph sz="quarter" idx="11"/>
          </p:nvPr>
        </p:nvSpPr>
        <p:spPr/>
        <p:txBody>
          <a:bodyPr/>
          <a:lstStyle/>
          <a:p>
            <a:r>
              <a:rPr lang="en-US" sz="2400" dirty="0"/>
              <a:t>The process of isolating a program on the hard drive in order to minimize or eliminate the exposure to other apps and critical system.</a:t>
            </a:r>
          </a:p>
          <a:p>
            <a:r>
              <a:rPr lang="en-US" sz="2400" dirty="0"/>
              <a:t>Usually programs and applications interact with multiple parts of operating system and use shared resources like storage, memory and CPU sometimes causing conflicts.</a:t>
            </a:r>
          </a:p>
          <a:p>
            <a:r>
              <a:rPr lang="en-US" sz="2400" dirty="0"/>
              <a:t>A malware if present can utilize such vulnerabilities to cause a disaster.</a:t>
            </a:r>
          </a:p>
          <a:p>
            <a:r>
              <a:rPr lang="en-US" sz="2400" dirty="0"/>
              <a:t>Sandboxing helps to reduce the impact that an individual program will have on the system.</a:t>
            </a:r>
          </a:p>
          <a:p>
            <a:endParaRPr lang="en-US" sz="2400" dirty="0"/>
          </a:p>
        </p:txBody>
      </p:sp>
    </p:spTree>
    <p:extLst>
      <p:ext uri="{BB962C8B-B14F-4D97-AF65-F5344CB8AC3E}">
        <p14:creationId xmlns:p14="http://schemas.microsoft.com/office/powerpoint/2010/main" val="3264650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Sandboxing Examples</a:t>
            </a:r>
          </a:p>
        </p:txBody>
      </p:sp>
      <p:sp>
        <p:nvSpPr>
          <p:cNvPr id="3" name="Content Placeholder 2"/>
          <p:cNvSpPr>
            <a:spLocks noGrp="1"/>
          </p:cNvSpPr>
          <p:nvPr>
            <p:ph sz="quarter" idx="11"/>
          </p:nvPr>
        </p:nvSpPr>
        <p:spPr/>
        <p:txBody>
          <a:bodyPr/>
          <a:lstStyle/>
          <a:p>
            <a:r>
              <a:rPr lang="en-US" sz="2400" dirty="0"/>
              <a:t>Browser sandboxing</a:t>
            </a:r>
          </a:p>
          <a:p>
            <a:pPr lvl="1"/>
            <a:r>
              <a:rPr lang="en-US" sz="2000" dirty="0"/>
              <a:t>Web browsers like Chrome and Safari open each page in separate sandbox</a:t>
            </a:r>
          </a:p>
          <a:p>
            <a:endParaRPr lang="en-US" sz="2400" dirty="0"/>
          </a:p>
          <a:p>
            <a:r>
              <a:rPr lang="en-US" sz="2400" dirty="0"/>
              <a:t>Virtual Machines</a:t>
            </a:r>
          </a:p>
          <a:p>
            <a:pPr lvl="1"/>
            <a:r>
              <a:rPr lang="en-US" sz="2000" dirty="0"/>
              <a:t>It is also called manual sandboxing</a:t>
            </a:r>
          </a:p>
          <a:p>
            <a:pPr lvl="1"/>
            <a:r>
              <a:rPr lang="en-US" sz="2000" dirty="0"/>
              <a:t>Purposely configures the system to sandbox all applications within the VM.</a:t>
            </a:r>
          </a:p>
          <a:p>
            <a:pPr lvl="1"/>
            <a:r>
              <a:rPr lang="en-US" sz="2000" dirty="0" err="1"/>
              <a:t>Virtualbox</a:t>
            </a:r>
            <a:r>
              <a:rPr lang="en-US" sz="2000" dirty="0"/>
              <a:t>, VMware</a:t>
            </a:r>
          </a:p>
          <a:p>
            <a:endParaRPr lang="en-US" sz="2400" dirty="0"/>
          </a:p>
          <a:p>
            <a:r>
              <a:rPr lang="en-US" sz="2400" dirty="0"/>
              <a:t>Windows Sandbox</a:t>
            </a:r>
          </a:p>
          <a:p>
            <a:pPr lvl="1"/>
            <a:r>
              <a:rPr lang="en-US" sz="2000" dirty="0"/>
              <a:t>A temporary instance of host machine</a:t>
            </a:r>
          </a:p>
          <a:p>
            <a:endParaRPr lang="en-US" sz="2400" dirty="0"/>
          </a:p>
        </p:txBody>
      </p:sp>
    </p:spTree>
    <p:extLst>
      <p:ext uri="{BB962C8B-B14F-4D97-AF65-F5344CB8AC3E}">
        <p14:creationId xmlns:p14="http://schemas.microsoft.com/office/powerpoint/2010/main" val="1553179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vs Dynamic Analysis</a:t>
            </a:r>
          </a:p>
        </p:txBody>
      </p:sp>
      <p:sp>
        <p:nvSpPr>
          <p:cNvPr id="3" name="Content Placeholder 2"/>
          <p:cNvSpPr>
            <a:spLocks noGrp="1"/>
          </p:cNvSpPr>
          <p:nvPr>
            <p:ph sz="quarter" idx="11"/>
          </p:nvPr>
        </p:nvSpPr>
        <p:spPr/>
        <p:txBody>
          <a:bodyPr/>
          <a:lstStyle/>
          <a:p>
            <a:r>
              <a:rPr lang="en-US" sz="2400" dirty="0"/>
              <a:t>Static: Dissecting code via different resources without executing</a:t>
            </a:r>
          </a:p>
          <a:p>
            <a:r>
              <a:rPr lang="en-US" sz="2400" dirty="0"/>
              <a:t>Dynamic: Behavioral analysis is performed by executing the malware.</a:t>
            </a:r>
          </a:p>
          <a:p>
            <a:r>
              <a:rPr lang="en-US" sz="2400" dirty="0"/>
              <a:t>Static is much slower (and exhaustive at times) as compared to dynamic.</a:t>
            </a:r>
          </a:p>
          <a:p>
            <a:r>
              <a:rPr lang="en-US" sz="2400" dirty="0"/>
              <a:t>Static is far safer than dynamic.</a:t>
            </a:r>
          </a:p>
          <a:p>
            <a:r>
              <a:rPr lang="en-US" sz="2400" dirty="0"/>
              <a:t>Static doesn’t (necessarily) need a sandboxed environment while dynamic does.</a:t>
            </a:r>
          </a:p>
          <a:p>
            <a:endParaRPr lang="en-US" sz="2400" dirty="0"/>
          </a:p>
        </p:txBody>
      </p:sp>
    </p:spTree>
    <p:extLst>
      <p:ext uri="{BB962C8B-B14F-4D97-AF65-F5344CB8AC3E}">
        <p14:creationId xmlns:p14="http://schemas.microsoft.com/office/powerpoint/2010/main" val="3428896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scanners</a:t>
            </a:r>
          </a:p>
        </p:txBody>
      </p:sp>
      <p:sp>
        <p:nvSpPr>
          <p:cNvPr id="3" name="Content Placeholder 2"/>
          <p:cNvSpPr>
            <a:spLocks noGrp="1"/>
          </p:cNvSpPr>
          <p:nvPr>
            <p:ph sz="quarter" idx="11"/>
          </p:nvPr>
        </p:nvSpPr>
        <p:spPr/>
        <p:txBody>
          <a:bodyPr/>
          <a:lstStyle/>
          <a:p>
            <a:r>
              <a:rPr lang="en-US" sz="2400" dirty="0"/>
              <a:t>The first generation scanner</a:t>
            </a:r>
          </a:p>
          <a:p>
            <a:pPr lvl="1"/>
            <a:r>
              <a:rPr lang="en-US" sz="2000" dirty="0"/>
              <a:t>Malware signature (fixed bit patterns)</a:t>
            </a:r>
          </a:p>
          <a:p>
            <a:pPr lvl="1"/>
            <a:r>
              <a:rPr lang="en-US" sz="2000" dirty="0"/>
              <a:t>Maintains a record of the length of programs</a:t>
            </a:r>
            <a:endParaRPr lang="en-US" sz="2400" dirty="0"/>
          </a:p>
          <a:p>
            <a:r>
              <a:rPr lang="en-US" sz="2400" dirty="0"/>
              <a:t>The second generation scanner</a:t>
            </a:r>
          </a:p>
          <a:p>
            <a:pPr lvl="1"/>
            <a:r>
              <a:rPr lang="en-US" sz="2000" dirty="0"/>
              <a:t>Looks for fragments of malware-like code</a:t>
            </a:r>
          </a:p>
          <a:p>
            <a:pPr lvl="1"/>
            <a:r>
              <a:rPr lang="en-US" sz="2000" dirty="0"/>
              <a:t>Checksum or hash of files (integrity checking)</a:t>
            </a:r>
            <a:endParaRPr lang="en-US" sz="2400" dirty="0"/>
          </a:p>
          <a:p>
            <a:r>
              <a:rPr lang="en-US" sz="2400" dirty="0"/>
              <a:t>The third generation scanner</a:t>
            </a:r>
          </a:p>
          <a:p>
            <a:pPr lvl="1"/>
            <a:r>
              <a:rPr lang="en-US" sz="2000" dirty="0"/>
              <a:t>Identify a malware by its actions</a:t>
            </a:r>
          </a:p>
          <a:p>
            <a:pPr lvl="1"/>
            <a:r>
              <a:rPr lang="en-US" sz="2000" dirty="0"/>
              <a:t>Like an intrusion detection system</a:t>
            </a:r>
            <a:endParaRPr lang="en-US" sz="2400" dirty="0"/>
          </a:p>
          <a:p>
            <a:r>
              <a:rPr lang="en-US" sz="2400" dirty="0"/>
              <a:t>The fourth generation scanner</a:t>
            </a:r>
          </a:p>
          <a:p>
            <a:pPr lvl="1"/>
            <a:r>
              <a:rPr lang="en-US" sz="2000" dirty="0"/>
              <a:t>Include a variety of anti-malware techniques</a:t>
            </a:r>
          </a:p>
          <a:p>
            <a:endParaRPr lang="en-US" sz="2400" dirty="0"/>
          </a:p>
        </p:txBody>
      </p:sp>
    </p:spTree>
    <p:extLst>
      <p:ext uri="{BB962C8B-B14F-4D97-AF65-F5344CB8AC3E}">
        <p14:creationId xmlns:p14="http://schemas.microsoft.com/office/powerpoint/2010/main" val="1194851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countermeasures</a:t>
            </a:r>
          </a:p>
        </p:txBody>
      </p:sp>
      <p:sp>
        <p:nvSpPr>
          <p:cNvPr id="3" name="Content Placeholder 2"/>
          <p:cNvSpPr>
            <a:spLocks noGrp="1"/>
          </p:cNvSpPr>
          <p:nvPr>
            <p:ph sz="quarter" idx="11"/>
          </p:nvPr>
        </p:nvSpPr>
        <p:spPr/>
        <p:txBody>
          <a:bodyPr/>
          <a:lstStyle/>
          <a:p>
            <a:r>
              <a:rPr lang="en-US" sz="2400" dirty="0"/>
              <a:t>Malware-specific detection algorithm</a:t>
            </a:r>
          </a:p>
          <a:p>
            <a:pPr lvl="1"/>
            <a:r>
              <a:rPr lang="en-US" sz="2000" dirty="0"/>
              <a:t>Deciphering </a:t>
            </a:r>
          </a:p>
          <a:p>
            <a:pPr lvl="1"/>
            <a:r>
              <a:rPr lang="en-US" sz="2000" dirty="0"/>
              <a:t>Filtering</a:t>
            </a:r>
          </a:p>
          <a:p>
            <a:endParaRPr lang="en-US" sz="2400" dirty="0"/>
          </a:p>
          <a:p>
            <a:r>
              <a:rPr lang="en-US" sz="2400" dirty="0"/>
              <a:t>Collection method </a:t>
            </a:r>
          </a:p>
          <a:p>
            <a:pPr lvl="1"/>
            <a:r>
              <a:rPr lang="en-US" sz="2000" dirty="0"/>
              <a:t>Using honeypots</a:t>
            </a:r>
          </a:p>
          <a:p>
            <a:endParaRPr lang="en-US" sz="2400" dirty="0"/>
          </a:p>
          <a:p>
            <a:r>
              <a:rPr lang="en-US" sz="2400" dirty="0"/>
              <a:t>Analyze program behavior</a:t>
            </a:r>
          </a:p>
          <a:p>
            <a:pPr lvl="1"/>
            <a:r>
              <a:rPr lang="en-US" sz="2000" dirty="0"/>
              <a:t>Network access</a:t>
            </a:r>
          </a:p>
          <a:p>
            <a:pPr lvl="1"/>
            <a:r>
              <a:rPr lang="en-US" sz="2000" dirty="0"/>
              <a:t>File open</a:t>
            </a:r>
          </a:p>
          <a:p>
            <a:pPr lvl="1"/>
            <a:r>
              <a:rPr lang="en-US" sz="2000" dirty="0"/>
              <a:t>Attempt to delete file</a:t>
            </a:r>
          </a:p>
          <a:p>
            <a:pPr lvl="1"/>
            <a:r>
              <a:rPr lang="en-US" sz="2000" dirty="0"/>
              <a:t>Attempt to modify the boot sector</a:t>
            </a:r>
          </a:p>
          <a:p>
            <a:endParaRPr lang="en-US" sz="2400" dirty="0"/>
          </a:p>
        </p:txBody>
      </p:sp>
    </p:spTree>
    <p:extLst>
      <p:ext uri="{BB962C8B-B14F-4D97-AF65-F5344CB8AC3E}">
        <p14:creationId xmlns:p14="http://schemas.microsoft.com/office/powerpoint/2010/main" val="1093759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Prevention</a:t>
            </a:r>
          </a:p>
        </p:txBody>
      </p:sp>
      <p:sp>
        <p:nvSpPr>
          <p:cNvPr id="3" name="Content Placeholder 2"/>
          <p:cNvSpPr>
            <a:spLocks noGrp="1"/>
          </p:cNvSpPr>
          <p:nvPr>
            <p:ph sz="quarter" idx="11"/>
          </p:nvPr>
        </p:nvSpPr>
        <p:spPr/>
        <p:txBody>
          <a:bodyPr/>
          <a:lstStyle/>
          <a:p>
            <a:r>
              <a:rPr lang="en-US" sz="2400" dirty="0"/>
              <a:t>Simple! Learn about security (Not so simple)</a:t>
            </a:r>
          </a:p>
          <a:p>
            <a:r>
              <a:rPr lang="en-US" sz="2400" dirty="0"/>
              <a:t>Use secure operating systems</a:t>
            </a:r>
          </a:p>
          <a:p>
            <a:r>
              <a:rPr lang="en-US" sz="2400" dirty="0"/>
              <a:t>Use secure browsers and plugins/extensions</a:t>
            </a:r>
          </a:p>
          <a:p>
            <a:pPr lvl="1"/>
            <a:r>
              <a:rPr lang="en-US" sz="2000" dirty="0"/>
              <a:t>And update/patch regularly</a:t>
            </a:r>
          </a:p>
          <a:p>
            <a:r>
              <a:rPr lang="en-US" sz="2400" dirty="0"/>
              <a:t>Install anti-virus</a:t>
            </a:r>
          </a:p>
          <a:p>
            <a:r>
              <a:rPr lang="en-US" sz="2400" dirty="0"/>
              <a:t>Avoid torrents</a:t>
            </a:r>
          </a:p>
          <a:p>
            <a:r>
              <a:rPr lang="en-US" sz="2400" dirty="0"/>
              <a:t>Surf secure websites</a:t>
            </a:r>
          </a:p>
          <a:p>
            <a:r>
              <a:rPr lang="en-US" sz="2400" dirty="0"/>
              <a:t>Don’t download what you don’t understand/need</a:t>
            </a:r>
          </a:p>
          <a:p>
            <a:r>
              <a:rPr lang="en-US" sz="2400" dirty="0"/>
              <a:t>Use Instant Messaging apps carefully</a:t>
            </a:r>
          </a:p>
          <a:p>
            <a:r>
              <a:rPr lang="en-US" sz="2400" dirty="0"/>
              <a:t>Keep backups</a:t>
            </a:r>
          </a:p>
          <a:p>
            <a:endParaRPr lang="en-US" sz="2400" dirty="0"/>
          </a:p>
        </p:txBody>
      </p:sp>
    </p:spTree>
    <p:extLst>
      <p:ext uri="{BB962C8B-B14F-4D97-AF65-F5344CB8AC3E}">
        <p14:creationId xmlns:p14="http://schemas.microsoft.com/office/powerpoint/2010/main" val="3128467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Prevention</a:t>
            </a:r>
          </a:p>
        </p:txBody>
      </p:sp>
      <p:sp>
        <p:nvSpPr>
          <p:cNvPr id="3" name="Content Placeholder 2"/>
          <p:cNvSpPr>
            <a:spLocks noGrp="1"/>
          </p:cNvSpPr>
          <p:nvPr>
            <p:ph sz="quarter" idx="11"/>
          </p:nvPr>
        </p:nvSpPr>
        <p:spPr/>
        <p:txBody>
          <a:bodyPr/>
          <a:lstStyle/>
          <a:p>
            <a:r>
              <a:rPr lang="en-US" sz="2400" dirty="0"/>
              <a:t>Don’t install software that you don’t need or remove after one time use (worms!).</a:t>
            </a:r>
          </a:p>
          <a:p>
            <a:r>
              <a:rPr lang="en-US" sz="2400" dirty="0"/>
              <a:t>Install software carefully. Unnecessary bundles gets installed</a:t>
            </a:r>
          </a:p>
          <a:p>
            <a:r>
              <a:rPr lang="en-US" sz="2400" dirty="0"/>
              <a:t>Open email attachments with caution</a:t>
            </a:r>
          </a:p>
          <a:p>
            <a:r>
              <a:rPr lang="en-US" sz="2400" dirty="0"/>
              <a:t>Monitor the performance of your PC regularly</a:t>
            </a:r>
          </a:p>
          <a:p>
            <a:r>
              <a:rPr lang="en-US" sz="2400" dirty="0"/>
              <a:t>Keep frequent restore points and restore your pc if you think you executed a virus/worm/</a:t>
            </a:r>
            <a:r>
              <a:rPr lang="en-US" sz="2400" dirty="0" err="1"/>
              <a:t>trojan</a:t>
            </a:r>
            <a:endParaRPr lang="en-US" sz="2400" dirty="0"/>
          </a:p>
          <a:p>
            <a:r>
              <a:rPr lang="en-US" sz="2400" dirty="0"/>
              <a:t>Avoid unlicensed software installation</a:t>
            </a:r>
          </a:p>
          <a:p>
            <a:r>
              <a:rPr lang="en-US" sz="2400" dirty="0"/>
              <a:t>Layers of authorization for installation of new tools/software</a:t>
            </a:r>
          </a:p>
          <a:p>
            <a:endParaRPr lang="en-US" sz="2400" dirty="0"/>
          </a:p>
        </p:txBody>
      </p:sp>
    </p:spTree>
    <p:extLst>
      <p:ext uri="{BB962C8B-B14F-4D97-AF65-F5344CB8AC3E}">
        <p14:creationId xmlns:p14="http://schemas.microsoft.com/office/powerpoint/2010/main" val="1075269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Prevention</a:t>
            </a:r>
          </a:p>
        </p:txBody>
      </p:sp>
      <p:sp>
        <p:nvSpPr>
          <p:cNvPr id="3" name="Content Placeholder 2"/>
          <p:cNvSpPr>
            <a:spLocks noGrp="1"/>
          </p:cNvSpPr>
          <p:nvPr>
            <p:ph sz="quarter" idx="11"/>
          </p:nvPr>
        </p:nvSpPr>
        <p:spPr/>
        <p:txBody>
          <a:bodyPr/>
          <a:lstStyle/>
          <a:p>
            <a:pPr marL="0" indent="0">
              <a:buNone/>
            </a:pPr>
            <a:r>
              <a:rPr lang="en-US" sz="2400" dirty="0"/>
              <a:t>Two layers: </a:t>
            </a:r>
          </a:p>
          <a:p>
            <a:endParaRPr lang="en-US" sz="2400" dirty="0"/>
          </a:p>
          <a:p>
            <a:pPr marL="0" indent="0">
              <a:buNone/>
            </a:pPr>
            <a:r>
              <a:rPr lang="en-US" sz="2400" b="1" dirty="0"/>
              <a:t>Personal vigilance (First layer)</a:t>
            </a:r>
          </a:p>
          <a:p>
            <a:r>
              <a:rPr lang="en-US" sz="2400" dirty="0"/>
              <a:t>Knowing what to do and what to install</a:t>
            </a:r>
          </a:p>
          <a:p>
            <a:r>
              <a:rPr lang="en-US" sz="2400" dirty="0"/>
              <a:t>Understanding of the system and security</a:t>
            </a:r>
          </a:p>
          <a:p>
            <a:r>
              <a:rPr lang="en-US" sz="2400" dirty="0"/>
              <a:t>Strong passwords (password checkers)</a:t>
            </a:r>
          </a:p>
          <a:p>
            <a:endParaRPr lang="en-US" sz="2400" dirty="0"/>
          </a:p>
          <a:p>
            <a:pPr marL="0" indent="0">
              <a:buNone/>
            </a:pPr>
            <a:r>
              <a:rPr lang="en-US" sz="2400" b="1" dirty="0"/>
              <a:t>Protective tools (Second layer)</a:t>
            </a:r>
          </a:p>
          <a:p>
            <a:r>
              <a:rPr lang="en-US" sz="2400" dirty="0"/>
              <a:t>Effective and enough prevention tools </a:t>
            </a:r>
          </a:p>
          <a:p>
            <a:r>
              <a:rPr lang="en-US" sz="2400" dirty="0"/>
              <a:t>They are never enough</a:t>
            </a:r>
          </a:p>
          <a:p>
            <a:endParaRPr lang="en-US" sz="2400" dirty="0"/>
          </a:p>
        </p:txBody>
      </p:sp>
    </p:spTree>
    <p:extLst>
      <p:ext uri="{BB962C8B-B14F-4D97-AF65-F5344CB8AC3E}">
        <p14:creationId xmlns:p14="http://schemas.microsoft.com/office/powerpoint/2010/main" val="1446348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DBB1-F539-B8D6-93CE-5A41B755904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6EF6892-6075-182C-FB06-A0F440634F84}"/>
              </a:ext>
            </a:extLst>
          </p:cNvPr>
          <p:cNvSpPr>
            <a:spLocks noGrp="1"/>
          </p:cNvSpPr>
          <p:nvPr>
            <p:ph sz="quarter" idx="11"/>
          </p:nvPr>
        </p:nvSpPr>
        <p:spPr/>
        <p:txBody>
          <a:bodyPr/>
          <a:lstStyle/>
          <a:p>
            <a:r>
              <a:rPr lang="en-US" sz="2800" dirty="0"/>
              <a:t>Stallings SPP chap 6</a:t>
            </a:r>
          </a:p>
        </p:txBody>
      </p:sp>
    </p:spTree>
    <p:extLst>
      <p:ext uri="{BB962C8B-B14F-4D97-AF65-F5344CB8AC3E}">
        <p14:creationId xmlns:p14="http://schemas.microsoft.com/office/powerpoint/2010/main" val="2080854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Memory-Based Classification</a:t>
            </a:r>
          </a:p>
        </p:txBody>
      </p:sp>
      <p:sp>
        <p:nvSpPr>
          <p:cNvPr id="3" name="Content Placeholder 2"/>
          <p:cNvSpPr>
            <a:spLocks noGrp="1"/>
          </p:cNvSpPr>
          <p:nvPr>
            <p:ph sz="quarter" idx="11"/>
          </p:nvPr>
        </p:nvSpPr>
        <p:spPr/>
        <p:txBody>
          <a:bodyPr/>
          <a:lstStyle/>
          <a:p>
            <a:pPr marL="0" indent="0">
              <a:buNone/>
            </a:pPr>
            <a:r>
              <a:rPr lang="en-US" sz="2400" b="1" dirty="0"/>
              <a:t>Resident Virus</a:t>
            </a:r>
          </a:p>
          <a:p>
            <a:r>
              <a:rPr lang="en-US" sz="2400" dirty="0"/>
              <a:t>The virus remains active in memory or be activated as a stand-alone program, even after its attached program ends.</a:t>
            </a:r>
          </a:p>
          <a:p>
            <a:r>
              <a:rPr lang="en-US" sz="2400" dirty="0"/>
              <a:t>The virus code infects (copies its code to) all the relevant host processes in the memory.</a:t>
            </a:r>
          </a:p>
          <a:p>
            <a:endParaRPr lang="en-US" sz="2400" dirty="0"/>
          </a:p>
          <a:p>
            <a:pPr marL="0" indent="0">
              <a:buNone/>
            </a:pPr>
            <a:r>
              <a:rPr lang="en-US" sz="2400" b="1" dirty="0"/>
              <a:t>Temporary Resident Virus</a:t>
            </a:r>
          </a:p>
          <a:p>
            <a:r>
              <a:rPr lang="en-US" sz="2400" dirty="0"/>
              <a:t>Stays in memory temporarily and remove itself out of memory when a certain event occurs</a:t>
            </a:r>
          </a:p>
          <a:p>
            <a:r>
              <a:rPr lang="en-US" sz="2400" dirty="0"/>
              <a:t>Extremely difficult to detect</a:t>
            </a:r>
          </a:p>
        </p:txBody>
      </p:sp>
    </p:spTree>
    <p:extLst>
      <p:ext uri="{BB962C8B-B14F-4D97-AF65-F5344CB8AC3E}">
        <p14:creationId xmlns:p14="http://schemas.microsoft.com/office/powerpoint/2010/main" val="29529381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Memory-Based Classification</a:t>
            </a:r>
          </a:p>
        </p:txBody>
      </p:sp>
      <p:sp>
        <p:nvSpPr>
          <p:cNvPr id="3" name="Content Placeholder 2"/>
          <p:cNvSpPr>
            <a:spLocks noGrp="1"/>
          </p:cNvSpPr>
          <p:nvPr>
            <p:ph sz="quarter" idx="11"/>
          </p:nvPr>
        </p:nvSpPr>
        <p:spPr/>
        <p:txBody>
          <a:bodyPr/>
          <a:lstStyle/>
          <a:p>
            <a:pPr marL="0" indent="0">
              <a:buNone/>
            </a:pPr>
            <a:r>
              <a:rPr lang="en-US" sz="2400" b="1" dirty="0"/>
              <a:t>Swapping Memory Virus:</a:t>
            </a:r>
          </a:p>
          <a:p>
            <a:r>
              <a:rPr lang="en-US" sz="2400" dirty="0"/>
              <a:t>Such kind of viruses load only a part of their code into memory on occurrence of a certain event, infect the files present in memory and unload the code from memory</a:t>
            </a:r>
          </a:p>
          <a:p>
            <a:r>
              <a:rPr lang="en-US" sz="2400" dirty="0"/>
              <a:t>These viruses may be spotted by the increase in disk activity due to loading and unloading of viral code and infection of other host files.</a:t>
            </a:r>
          </a:p>
        </p:txBody>
      </p:sp>
    </p:spTree>
    <p:extLst>
      <p:ext uri="{BB962C8B-B14F-4D97-AF65-F5344CB8AC3E}">
        <p14:creationId xmlns:p14="http://schemas.microsoft.com/office/powerpoint/2010/main" val="2959818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Memory-Based Classification</a:t>
            </a:r>
          </a:p>
        </p:txBody>
      </p:sp>
      <p:sp>
        <p:nvSpPr>
          <p:cNvPr id="3" name="Content Placeholder 2"/>
          <p:cNvSpPr>
            <a:spLocks noGrp="1"/>
          </p:cNvSpPr>
          <p:nvPr>
            <p:ph sz="quarter" idx="11"/>
          </p:nvPr>
        </p:nvSpPr>
        <p:spPr/>
        <p:txBody>
          <a:bodyPr/>
          <a:lstStyle/>
          <a:p>
            <a:pPr marL="0" indent="0">
              <a:buNone/>
            </a:pPr>
            <a:r>
              <a:rPr lang="en-US" sz="2400" b="1" dirty="0"/>
              <a:t>Non-Resident Virus</a:t>
            </a:r>
          </a:p>
          <a:p>
            <a:r>
              <a:rPr lang="en-US" sz="2400" dirty="0"/>
              <a:t>Such viruses do not reside in physical memory. </a:t>
            </a:r>
          </a:p>
          <a:p>
            <a:r>
              <a:rPr lang="en-US" sz="2400" dirty="0"/>
              <a:t>They have a mechanism to search for and infect files present in the hard disk.</a:t>
            </a:r>
          </a:p>
          <a:p>
            <a:r>
              <a:rPr lang="en-US" sz="2400" dirty="0"/>
              <a:t>They contain two key sub-routines. </a:t>
            </a:r>
          </a:p>
          <a:p>
            <a:pPr lvl="1"/>
            <a:r>
              <a:rPr lang="en-US" sz="2000" dirty="0"/>
              <a:t>Finder or search sub-routine that searches the hard disk for the relevant files to infect </a:t>
            </a:r>
          </a:p>
          <a:p>
            <a:pPr lvl="1"/>
            <a:r>
              <a:rPr lang="en-US" sz="2000" dirty="0"/>
              <a:t>Copy sub-routine that copies the virus code into the files found</a:t>
            </a:r>
          </a:p>
          <a:p>
            <a:r>
              <a:rPr lang="en-US" sz="2400" dirty="0"/>
              <a:t>If writable network shares are present, these can spread to other systems using them. </a:t>
            </a:r>
          </a:p>
          <a:p>
            <a:r>
              <a:rPr lang="en-US" sz="2400" dirty="0"/>
              <a:t>These are also called ‘</a:t>
            </a:r>
            <a:r>
              <a:rPr lang="en-US" sz="2400" dirty="0">
                <a:solidFill>
                  <a:srgbClr val="C00000"/>
                </a:solidFill>
              </a:rPr>
              <a:t>Direct action viruses</a:t>
            </a:r>
            <a:r>
              <a:rPr lang="en-US" sz="2400" dirty="0"/>
              <a:t>’.</a:t>
            </a:r>
          </a:p>
        </p:txBody>
      </p:sp>
    </p:spTree>
    <p:extLst>
      <p:ext uri="{BB962C8B-B14F-4D97-AF65-F5344CB8AC3E}">
        <p14:creationId xmlns:p14="http://schemas.microsoft.com/office/powerpoint/2010/main" val="11364918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Memory-Based Classification</a:t>
            </a:r>
          </a:p>
        </p:txBody>
      </p:sp>
      <p:sp>
        <p:nvSpPr>
          <p:cNvPr id="3" name="Content Placeholder 2"/>
          <p:cNvSpPr>
            <a:spLocks noGrp="1"/>
          </p:cNvSpPr>
          <p:nvPr>
            <p:ph sz="quarter" idx="11"/>
          </p:nvPr>
        </p:nvSpPr>
        <p:spPr/>
        <p:txBody>
          <a:bodyPr/>
          <a:lstStyle/>
          <a:p>
            <a:pPr marL="0" indent="0">
              <a:buNone/>
            </a:pPr>
            <a:r>
              <a:rPr lang="en-US" sz="2400" b="1" dirty="0"/>
              <a:t>User Process</a:t>
            </a:r>
          </a:p>
          <a:p>
            <a:r>
              <a:rPr lang="en-US" sz="2400" dirty="0"/>
              <a:t>These viruses run as a user process and infect the files that are accessible.</a:t>
            </a:r>
          </a:p>
          <a:p>
            <a:r>
              <a:rPr lang="en-US" sz="2400" dirty="0"/>
              <a:t>Although the virus can exist as its own process. Most of the time, they exist as a sub-process loading before or after the main process.</a:t>
            </a:r>
          </a:p>
          <a:p>
            <a:r>
              <a:rPr lang="en-US" sz="2400" dirty="0"/>
              <a:t>In some of the cases, the virus exist as a DLL and uses DLL Injection method (through registry keys) to load the DLL into the process. </a:t>
            </a:r>
          </a:p>
          <a:p>
            <a:endParaRPr lang="en-US" sz="2400" dirty="0"/>
          </a:p>
          <a:p>
            <a:r>
              <a:rPr lang="en-US" sz="2400" dirty="0"/>
              <a:t>Autorun.bat is an example of this type of virus.</a:t>
            </a:r>
          </a:p>
        </p:txBody>
      </p:sp>
    </p:spTree>
    <p:extLst>
      <p:ext uri="{BB962C8B-B14F-4D97-AF65-F5344CB8AC3E}">
        <p14:creationId xmlns:p14="http://schemas.microsoft.com/office/powerpoint/2010/main" val="41136277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Memory-Based Classification</a:t>
            </a:r>
          </a:p>
        </p:txBody>
      </p:sp>
      <p:sp>
        <p:nvSpPr>
          <p:cNvPr id="3" name="Content Placeholder 2"/>
          <p:cNvSpPr>
            <a:spLocks noGrp="1"/>
          </p:cNvSpPr>
          <p:nvPr>
            <p:ph sz="quarter" idx="11"/>
          </p:nvPr>
        </p:nvSpPr>
        <p:spPr/>
        <p:txBody>
          <a:bodyPr/>
          <a:lstStyle/>
          <a:p>
            <a:pPr marL="0" indent="0">
              <a:buNone/>
            </a:pPr>
            <a:r>
              <a:rPr lang="en-US" sz="2400" b="1" dirty="0"/>
              <a:t>Kernel Process</a:t>
            </a:r>
          </a:p>
          <a:p>
            <a:r>
              <a:rPr lang="en-US" sz="2400" dirty="0"/>
              <a:t>These types of viruses generally hook themselves into the kernel through a system driver like program.</a:t>
            </a:r>
          </a:p>
          <a:p>
            <a:r>
              <a:rPr lang="en-US" sz="2400" dirty="0"/>
              <a:t>They have the highest privileges after infection as they are present in the kernel space. </a:t>
            </a:r>
          </a:p>
          <a:p>
            <a:r>
              <a:rPr lang="en-US" sz="2400" dirty="0"/>
              <a:t>These generally infect/modify the IDT (Interrupt Descriptor Table) to get themselves executed every time a particular interrupt is generated. </a:t>
            </a:r>
          </a:p>
          <a:p>
            <a:r>
              <a:rPr lang="en-US" sz="2400" dirty="0"/>
              <a:t>As these viruses require changes to the main file system, they need administrator/</a:t>
            </a:r>
            <a:r>
              <a:rPr lang="en-US" sz="2400" dirty="0" err="1"/>
              <a:t>superuser</a:t>
            </a:r>
            <a:r>
              <a:rPr lang="en-US" sz="2400" dirty="0"/>
              <a:t> privileges to run. </a:t>
            </a:r>
          </a:p>
          <a:p>
            <a:r>
              <a:rPr lang="en-US" sz="2400" dirty="0"/>
              <a:t>CIH, </a:t>
            </a:r>
            <a:r>
              <a:rPr lang="en-US" sz="2400" dirty="0" err="1"/>
              <a:t>Infis</a:t>
            </a:r>
            <a:r>
              <a:rPr lang="en-US" sz="2400" dirty="0"/>
              <a:t> are examples of this type of virus.</a:t>
            </a:r>
          </a:p>
        </p:txBody>
      </p:sp>
    </p:spTree>
    <p:extLst>
      <p:ext uri="{BB962C8B-B14F-4D97-AF65-F5344CB8AC3E}">
        <p14:creationId xmlns:p14="http://schemas.microsoft.com/office/powerpoint/2010/main" val="2848289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7928</TotalTime>
  <Words>3814</Words>
  <Application>Microsoft Office PowerPoint</Application>
  <PresentationFormat>On-screen Show (4:3)</PresentationFormat>
  <Paragraphs>453</Paragraphs>
  <Slides>61</Slides>
  <Notes>1</Notes>
  <HiddenSlides>5</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61</vt:i4>
      </vt:variant>
    </vt:vector>
  </HeadingPairs>
  <TitlesOfParts>
    <vt:vector size="70" baseType="lpstr">
      <vt:lpstr>맑은 고딕</vt:lpstr>
      <vt:lpstr>Arial</vt:lpstr>
      <vt:lpstr>Calibri</vt:lpstr>
      <vt:lpstr>Courier New</vt:lpstr>
      <vt:lpstr>Google Sans</vt:lpstr>
      <vt:lpstr>Palatino</vt:lpstr>
      <vt:lpstr>Wingdings</vt:lpstr>
      <vt:lpstr>Office Theme</vt:lpstr>
      <vt:lpstr>Custom Design</vt:lpstr>
      <vt:lpstr>PowerPoint Presentation</vt:lpstr>
      <vt:lpstr>Outline</vt:lpstr>
      <vt:lpstr>What is Malware?</vt:lpstr>
      <vt:lpstr>What it can do?</vt:lpstr>
      <vt:lpstr>Some Malware Terminology</vt:lpstr>
      <vt:lpstr>Some Malware Terminology</vt:lpstr>
      <vt:lpstr>Some Malware Terminology</vt:lpstr>
      <vt:lpstr>Example Scenarios</vt:lpstr>
      <vt:lpstr>Example Scenarios</vt:lpstr>
      <vt:lpstr>Example Scenarios</vt:lpstr>
      <vt:lpstr>Naming Scheme</vt:lpstr>
      <vt:lpstr>History</vt:lpstr>
      <vt:lpstr>History</vt:lpstr>
      <vt:lpstr>Virus</vt:lpstr>
      <vt:lpstr>Four phases of Virus</vt:lpstr>
      <vt:lpstr>Lifecycle of virus</vt:lpstr>
      <vt:lpstr>Classification of Viruses</vt:lpstr>
      <vt:lpstr>Dropper Payloads</vt:lpstr>
      <vt:lpstr>Obfuscation Techniques</vt:lpstr>
      <vt:lpstr>Obfuscation Techniques</vt:lpstr>
      <vt:lpstr>Obfuscation Techniques</vt:lpstr>
      <vt:lpstr>Obfuscation Techniques</vt:lpstr>
      <vt:lpstr>Obfuscation Techniques</vt:lpstr>
      <vt:lpstr>Obfuscation Techniques</vt:lpstr>
      <vt:lpstr>Obfuscation Techniques</vt:lpstr>
      <vt:lpstr>Worm</vt:lpstr>
      <vt:lpstr>Worm: possible damages</vt:lpstr>
      <vt:lpstr>SQL Slammer Worm (2003)</vt:lpstr>
      <vt:lpstr>Trojan</vt:lpstr>
      <vt:lpstr>Trojan Examples</vt:lpstr>
      <vt:lpstr>Rootkit</vt:lpstr>
      <vt:lpstr>Rootkit</vt:lpstr>
      <vt:lpstr>Rootkit installation location</vt:lpstr>
      <vt:lpstr>Rootkit mode of interception</vt:lpstr>
      <vt:lpstr>Comparison of Malware Types</vt:lpstr>
      <vt:lpstr>What is infected by malware?</vt:lpstr>
      <vt:lpstr>How exe files are altered</vt:lpstr>
      <vt:lpstr>Overwriting malware</vt:lpstr>
      <vt:lpstr>Prepending malware</vt:lpstr>
      <vt:lpstr>Appending malware</vt:lpstr>
      <vt:lpstr>Cavity malware</vt:lpstr>
      <vt:lpstr>Multi-cavity malware</vt:lpstr>
      <vt:lpstr>Packer</vt:lpstr>
      <vt:lpstr>Malware Analysis</vt:lpstr>
      <vt:lpstr>Why analyze malware</vt:lpstr>
      <vt:lpstr>Static Analysis</vt:lpstr>
      <vt:lpstr>Dynamic Analysis</vt:lpstr>
      <vt:lpstr>Sandboxing</vt:lpstr>
      <vt:lpstr>Sandboxing Examples</vt:lpstr>
      <vt:lpstr>Static vs Dynamic Analysis</vt:lpstr>
      <vt:lpstr>Malware scanners</vt:lpstr>
      <vt:lpstr>More countermeasures</vt:lpstr>
      <vt:lpstr>Malware Prevention</vt:lpstr>
      <vt:lpstr>Malware Prevention</vt:lpstr>
      <vt:lpstr>Malware Prevention</vt:lpstr>
      <vt:lpstr>References</vt:lpstr>
      <vt:lpstr>Memory-Based Classification</vt:lpstr>
      <vt:lpstr>Memory-Based Classification</vt:lpstr>
      <vt:lpstr>Memory-Based Classification</vt:lpstr>
      <vt:lpstr>Memory-Based Classification</vt:lpstr>
      <vt:lpstr>Memory-Based Classification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muzahir saleem</cp:lastModifiedBy>
  <cp:revision>410</cp:revision>
  <dcterms:created xsi:type="dcterms:W3CDTF">2014-04-01T16:35:38Z</dcterms:created>
  <dcterms:modified xsi:type="dcterms:W3CDTF">2025-10-03T15:14:56Z</dcterms:modified>
</cp:coreProperties>
</file>