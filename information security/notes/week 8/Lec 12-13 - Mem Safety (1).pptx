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4"/>
  </p:notesMasterIdLst>
  <p:sldIdLst>
    <p:sldId id="429" r:id="rId3"/>
    <p:sldId id="460" r:id="rId4"/>
    <p:sldId id="430" r:id="rId5"/>
    <p:sldId id="431" r:id="rId6"/>
    <p:sldId id="432" r:id="rId7"/>
    <p:sldId id="433" r:id="rId8"/>
    <p:sldId id="436" r:id="rId9"/>
    <p:sldId id="434" r:id="rId10"/>
    <p:sldId id="435" r:id="rId11"/>
    <p:sldId id="452" r:id="rId12"/>
    <p:sldId id="451" r:id="rId13"/>
    <p:sldId id="437" r:id="rId14"/>
    <p:sldId id="438" r:id="rId15"/>
    <p:sldId id="439" r:id="rId16"/>
    <p:sldId id="440" r:id="rId17"/>
    <p:sldId id="461" r:id="rId18"/>
    <p:sldId id="442" r:id="rId19"/>
    <p:sldId id="443" r:id="rId20"/>
    <p:sldId id="444" r:id="rId21"/>
    <p:sldId id="445" r:id="rId22"/>
    <p:sldId id="446" r:id="rId23"/>
    <p:sldId id="469" r:id="rId24"/>
    <p:sldId id="447" r:id="rId25"/>
    <p:sldId id="448" r:id="rId26"/>
    <p:sldId id="462" r:id="rId27"/>
    <p:sldId id="449" r:id="rId28"/>
    <p:sldId id="450" r:id="rId29"/>
    <p:sldId id="472" r:id="rId30"/>
    <p:sldId id="463" r:id="rId31"/>
    <p:sldId id="464" r:id="rId32"/>
    <p:sldId id="344" r:id="rId33"/>
    <p:sldId id="342" r:id="rId34"/>
    <p:sldId id="466" r:id="rId35"/>
    <p:sldId id="343" r:id="rId36"/>
    <p:sldId id="345" r:id="rId37"/>
    <p:sldId id="470" r:id="rId38"/>
    <p:sldId id="346" r:id="rId39"/>
    <p:sldId id="467" r:id="rId40"/>
    <p:sldId id="453" r:id="rId41"/>
    <p:sldId id="473" r:id="rId42"/>
    <p:sldId id="454" r:id="rId43"/>
    <p:sldId id="455" r:id="rId44"/>
    <p:sldId id="456" r:id="rId45"/>
    <p:sldId id="351" r:id="rId46"/>
    <p:sldId id="349" r:id="rId47"/>
    <p:sldId id="350" r:id="rId48"/>
    <p:sldId id="459" r:id="rId49"/>
    <p:sldId id="348" r:id="rId50"/>
    <p:sldId id="457" r:id="rId51"/>
    <p:sldId id="347" r:id="rId52"/>
    <p:sldId id="471" r:id="rId53"/>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4B48"/>
    <a:srgbClr val="CCC1DA"/>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1933" autoAdjust="0"/>
  </p:normalViewPr>
  <p:slideViewPr>
    <p:cSldViewPr>
      <p:cViewPr varScale="1">
        <p:scale>
          <a:sx n="95" d="100"/>
          <a:sy n="95" d="100"/>
        </p:scale>
        <p:origin x="2064" y="90"/>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varScale="1">
      <p:scale>
        <a:sx n="100" d="100"/>
        <a:sy n="100" d="100"/>
      </p:scale>
      <p:origin x="0" y="-49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9/10/2025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294BFD01-B261-4893-95B0-2F7AC0E64E7F}" type="slidenum">
              <a:rPr kumimoji="0" lang="en-US" altLang="en-US" sz="1300"/>
              <a:pPr eaLnBrk="1" hangingPunct="1">
                <a:spcBef>
                  <a:spcPct val="0"/>
                </a:spcBef>
              </a:pPr>
              <a:t>32</a:t>
            </a:fld>
            <a:endParaRPr kumimoji="0" lang="en-US" altLang="en-US" sz="1300"/>
          </a:p>
        </p:txBody>
      </p:sp>
    </p:spTree>
    <p:extLst>
      <p:ext uri="{BB962C8B-B14F-4D97-AF65-F5344CB8AC3E}">
        <p14:creationId xmlns:p14="http://schemas.microsoft.com/office/powerpoint/2010/main" val="300025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294BFD01-B261-4893-95B0-2F7AC0E64E7F}" type="slidenum">
              <a:rPr kumimoji="0" lang="en-US" altLang="en-US" sz="1300"/>
              <a:pPr eaLnBrk="1" hangingPunct="1">
                <a:spcBef>
                  <a:spcPct val="0"/>
                </a:spcBef>
              </a:pPr>
              <a:t>33</a:t>
            </a:fld>
            <a:endParaRPr kumimoji="0" lang="en-US" altLang="en-US" sz="1300"/>
          </a:p>
        </p:txBody>
      </p:sp>
    </p:spTree>
    <p:extLst>
      <p:ext uri="{BB962C8B-B14F-4D97-AF65-F5344CB8AC3E}">
        <p14:creationId xmlns:p14="http://schemas.microsoft.com/office/powerpoint/2010/main" val="2145332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integer overflow is the root problem, but the (heap) buffer overflow that this enables make it exploitable</a:t>
            </a:r>
            <a:endParaRPr lang="en-US" altLang="en-US" dirty="0"/>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7891BD8D-3096-43D7-AF0E-20A1D8A3F2FD}" type="slidenum">
              <a:rPr kumimoji="0" lang="en-US" altLang="en-US" sz="1300"/>
              <a:pPr eaLnBrk="1" hangingPunct="1">
                <a:spcBef>
                  <a:spcPct val="0"/>
                </a:spcBef>
              </a:pPr>
              <a:t>35</a:t>
            </a:fld>
            <a:endParaRPr kumimoji="0" lang="en-US" altLang="en-US" sz="1300"/>
          </a:p>
        </p:txBody>
      </p:sp>
    </p:spTree>
    <p:extLst>
      <p:ext uri="{BB962C8B-B14F-4D97-AF65-F5344CB8AC3E}">
        <p14:creationId xmlns:p14="http://schemas.microsoft.com/office/powerpoint/2010/main" val="504003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DD013B6-5B80-ADA1-D299-060F90968344}"/>
            </a:ext>
          </a:extLst>
        </p:cNvPr>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xmlns="" id="{3EF87380-2C3F-DDF5-354C-A366D26410DA}"/>
              </a:ext>
            </a:extLst>
          </p:cNvPr>
          <p:cNvSpPr>
            <a:spLocks noGrp="1" noRot="1" noChangeAspect="1" noTextEdit="1"/>
          </p:cNvSpPr>
          <p:nvPr>
            <p:ph type="sldImg"/>
          </p:nvPr>
        </p:nvSpPr>
        <p:spPr>
          <a:ln/>
        </p:spPr>
      </p:sp>
      <p:sp>
        <p:nvSpPr>
          <p:cNvPr id="84995" name="Notes Placeholder 2">
            <a:extLst>
              <a:ext uri="{FF2B5EF4-FFF2-40B4-BE49-F238E27FC236}">
                <a16:creationId xmlns:a16="http://schemas.microsoft.com/office/drawing/2014/main" xmlns="" id="{1886FA7E-0CF3-07CC-7D97-3F7B9F9642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integer overflow is the root problem, but the (heap) buffer overflow that this enables make it exploitable</a:t>
            </a:r>
            <a:endParaRPr lang="en-US" altLang="en-US" dirty="0"/>
          </a:p>
        </p:txBody>
      </p:sp>
      <p:sp>
        <p:nvSpPr>
          <p:cNvPr id="84996" name="Slide Number Placeholder 3">
            <a:extLst>
              <a:ext uri="{FF2B5EF4-FFF2-40B4-BE49-F238E27FC236}">
                <a16:creationId xmlns:a16="http://schemas.microsoft.com/office/drawing/2014/main" xmlns="" id="{79A0DEDD-0B5A-EF7C-240A-1709A62E130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7891BD8D-3096-43D7-AF0E-20A1D8A3F2FD}" type="slidenum">
              <a:rPr kumimoji="0" lang="en-US" altLang="en-US" sz="1300"/>
              <a:pPr eaLnBrk="1" hangingPunct="1">
                <a:spcBef>
                  <a:spcPct val="0"/>
                </a:spcBef>
              </a:pPr>
              <a:t>36</a:t>
            </a:fld>
            <a:endParaRPr kumimoji="0" lang="en-US" altLang="en-US" sz="1300"/>
          </a:p>
        </p:txBody>
      </p:sp>
    </p:spTree>
    <p:extLst>
      <p:ext uri="{BB962C8B-B14F-4D97-AF65-F5344CB8AC3E}">
        <p14:creationId xmlns:p14="http://schemas.microsoft.com/office/powerpoint/2010/main" val="1007443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 may pass in a negative value in </a:t>
            </a:r>
            <a:r>
              <a:rPr lang="en-US" dirty="0" err="1"/>
              <a:t>len</a:t>
            </a:r>
            <a:r>
              <a:rPr lang="en-US" dirty="0"/>
              <a:t> parameter. IF check will pass. </a:t>
            </a:r>
            <a:r>
              <a:rPr lang="en-US" dirty="0" err="1"/>
              <a:t>memcpy</a:t>
            </a:r>
            <a:r>
              <a:rPr lang="en-US" dirty="0"/>
              <a:t> will proceed treating </a:t>
            </a:r>
            <a:r>
              <a:rPr lang="en-US" dirty="0" err="1"/>
              <a:t>len</a:t>
            </a:r>
            <a:r>
              <a:rPr lang="en-US" dirty="0"/>
              <a:t> as (a large) unsigned number</a:t>
            </a:r>
          </a:p>
        </p:txBody>
      </p:sp>
      <p:sp>
        <p:nvSpPr>
          <p:cNvPr id="4" name="Slide Number Placeholder 3"/>
          <p:cNvSpPr>
            <a:spLocks noGrp="1"/>
          </p:cNvSpPr>
          <p:nvPr>
            <p:ph type="sldNum" sz="quarter" idx="5"/>
          </p:nvPr>
        </p:nvSpPr>
        <p:spPr/>
        <p:txBody>
          <a:bodyPr/>
          <a:lstStyle/>
          <a:p>
            <a:fld id="{85C33C15-5131-4101-B031-6627D1EB5562}" type="slidenum">
              <a:rPr lang="en-AU" smtClean="0"/>
              <a:t>37</a:t>
            </a:fld>
            <a:endParaRPr lang="en-AU"/>
          </a:p>
        </p:txBody>
      </p:sp>
    </p:spTree>
    <p:extLst>
      <p:ext uri="{BB962C8B-B14F-4D97-AF65-F5344CB8AC3E}">
        <p14:creationId xmlns:p14="http://schemas.microsoft.com/office/powerpoint/2010/main" val="2575877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 may pass in a negative value in </a:t>
            </a:r>
            <a:r>
              <a:rPr lang="en-US" dirty="0" err="1"/>
              <a:t>len</a:t>
            </a:r>
            <a:r>
              <a:rPr lang="en-US" dirty="0"/>
              <a:t> parameter. IF check will pass. </a:t>
            </a:r>
            <a:r>
              <a:rPr lang="en-US" dirty="0" err="1"/>
              <a:t>memcpy</a:t>
            </a:r>
            <a:r>
              <a:rPr lang="en-US" dirty="0"/>
              <a:t> will proceed treating </a:t>
            </a:r>
            <a:r>
              <a:rPr lang="en-US" dirty="0" err="1"/>
              <a:t>len</a:t>
            </a:r>
            <a:r>
              <a:rPr lang="en-US" dirty="0"/>
              <a:t> as (a large) unsigned number</a:t>
            </a:r>
          </a:p>
        </p:txBody>
      </p:sp>
      <p:sp>
        <p:nvSpPr>
          <p:cNvPr id="4" name="Slide Number Placeholder 3"/>
          <p:cNvSpPr>
            <a:spLocks noGrp="1"/>
          </p:cNvSpPr>
          <p:nvPr>
            <p:ph type="sldNum" sz="quarter" idx="5"/>
          </p:nvPr>
        </p:nvSpPr>
        <p:spPr/>
        <p:txBody>
          <a:bodyPr/>
          <a:lstStyle/>
          <a:p>
            <a:fld id="{85C33C15-5131-4101-B031-6627D1EB5562}" type="slidenum">
              <a:rPr lang="en-AU" smtClean="0"/>
              <a:t>38</a:t>
            </a:fld>
            <a:endParaRPr lang="en-AU"/>
          </a:p>
        </p:txBody>
      </p:sp>
    </p:spTree>
    <p:extLst>
      <p:ext uri="{BB962C8B-B14F-4D97-AF65-F5344CB8AC3E}">
        <p14:creationId xmlns:p14="http://schemas.microsoft.com/office/powerpoint/2010/main" val="1630558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err="1" smtClean="0"/>
              <a:t>printf</a:t>
            </a:r>
            <a:r>
              <a:rPr lang="en-US" dirty="0" smtClean="0"/>
              <a:t> function scans the format string.</a:t>
            </a:r>
          </a:p>
          <a:p>
            <a:r>
              <a:rPr lang="en-US" dirty="0" smtClean="0"/>
              <a:t>It prints the string: "how long is this? ". This is a total of </a:t>
            </a:r>
            <a:r>
              <a:rPr lang="en-US" b="1" dirty="0" smtClean="0"/>
              <a:t>17 characters</a:t>
            </a:r>
            <a:r>
              <a:rPr lang="en-US" dirty="0" smtClean="0"/>
              <a:t> (including spaces).</a:t>
            </a:r>
          </a:p>
          <a:p>
            <a:r>
              <a:rPr lang="en-US" dirty="0" smtClean="0"/>
              <a:t>It encounters the %n format specifier.</a:t>
            </a:r>
          </a:p>
          <a:p>
            <a:r>
              <a:rPr lang="en-US" dirty="0" smtClean="0"/>
              <a:t>Because %n </a:t>
            </a:r>
            <a:r>
              <a:rPr lang="en-US" b="1" dirty="0" smtClean="0"/>
              <a:t>requires an additional argument</a:t>
            </a:r>
            <a:r>
              <a:rPr lang="en-US" dirty="0" smtClean="0"/>
              <a:t> (a pointer to an integer, e.g., </a:t>
            </a:r>
            <a:r>
              <a:rPr lang="en-US" dirty="0" err="1" smtClean="0"/>
              <a:t>int</a:t>
            </a:r>
            <a:r>
              <a:rPr lang="en-US" dirty="0" smtClean="0"/>
              <a:t> *), </a:t>
            </a:r>
            <a:r>
              <a:rPr lang="en-US" dirty="0" err="1" smtClean="0"/>
              <a:t>printf</a:t>
            </a:r>
            <a:r>
              <a:rPr lang="en-US" dirty="0" smtClean="0"/>
              <a:t> will look on the stack for that pointer argument.</a:t>
            </a:r>
          </a:p>
          <a:p>
            <a:r>
              <a:rPr lang="en-US" dirty="0" smtClean="0"/>
              <a:t>Since the argument is </a:t>
            </a:r>
            <a:r>
              <a:rPr lang="en-US" b="1" dirty="0" smtClean="0"/>
              <a:t>missing</a:t>
            </a:r>
            <a:r>
              <a:rPr lang="en-US" dirty="0" smtClean="0"/>
              <a:t> (the command only has one argument: the format string), </a:t>
            </a:r>
            <a:r>
              <a:rPr lang="en-US" dirty="0" err="1" smtClean="0"/>
              <a:t>printf</a:t>
            </a:r>
            <a:r>
              <a:rPr lang="en-US" dirty="0" smtClean="0"/>
              <a:t> will read the value present at the expected argument's location on the stack and treat that random value as the memory address to which it should write the count (17).</a:t>
            </a:r>
          </a:p>
          <a:p>
            <a:endParaRPr lang="en-US" dirty="0"/>
          </a:p>
        </p:txBody>
      </p:sp>
      <p:sp>
        <p:nvSpPr>
          <p:cNvPr id="4" name="Slide Number Placeholder 3"/>
          <p:cNvSpPr>
            <a:spLocks noGrp="1"/>
          </p:cNvSpPr>
          <p:nvPr>
            <p:ph type="sldNum" sz="quarter" idx="10"/>
          </p:nvPr>
        </p:nvSpPr>
        <p:spPr/>
        <p:txBody>
          <a:bodyPr/>
          <a:lstStyle/>
          <a:p>
            <a:fld id="{85C33C15-5131-4101-B031-6627D1EB5562}" type="slidenum">
              <a:rPr lang="en-AU" smtClean="0"/>
              <a:t>45</a:t>
            </a:fld>
            <a:endParaRPr lang="en-AU"/>
          </a:p>
        </p:txBody>
      </p:sp>
    </p:spTree>
    <p:extLst>
      <p:ext uri="{BB962C8B-B14F-4D97-AF65-F5344CB8AC3E}">
        <p14:creationId xmlns:p14="http://schemas.microsoft.com/office/powerpoint/2010/main" val="14565794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xmlns=""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xmlns=""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10/9/2025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alexgaynor.net/2019/aug/12/introduction-to-memory-unsafety-for-vps-of-enginee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csrc.nist.gov/glossary/term/buffer_overflo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eb.archive.org/web/20250626121353/https:/web.ecs.syr.edu/~wedu/Teaching/cis643/LectureNotes_New/Format_String.pdf"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medium.com/@n80fr1n60/format-string-vulnerabilities-explained-from-the-bottom-up-for-32-bit-linux-part-1-3a1c4ca0dff" TargetMode="External"/><Relationship Id="rId2" Type="http://schemas.openxmlformats.org/officeDocument/2006/relationships/hyperlink" Target="https://security.stackexchange.com/q/115507/245722" TargetMode="External"/><Relationship Id="rId1" Type="http://schemas.openxmlformats.org/officeDocument/2006/relationships/slideLayout" Target="../slideLayouts/slideLayout2.xml"/><Relationship Id="rId5" Type="http://schemas.openxmlformats.org/officeDocument/2006/relationships/hyperlink" Target="https://codearcana.com/posts/2013/05/02/introduction-to-format-string-exploits.html" TargetMode="External"/><Relationship Id="rId4" Type="http://schemas.openxmlformats.org/officeDocument/2006/relationships/hyperlink" Target="https://cs155.stanford.edu/papers/formatstring-1.2.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221088"/>
            <a:ext cx="4788024" cy="1200329"/>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Memory Safety</a:t>
            </a:r>
          </a:p>
          <a:p>
            <a:pPr algn="r"/>
            <a:r>
              <a:rPr lang="en-US" altLang="ko-KR" sz="3600" b="1" dirty="0">
                <a:solidFill>
                  <a:schemeClr val="bg1">
                    <a:lumMod val="95000"/>
                  </a:schemeClr>
                </a:solidFill>
                <a:latin typeface="Arial" pitchFamily="34" charset="0"/>
                <a:ea typeface="맑은 고딕" pitchFamily="50" charset="-127"/>
                <a:cs typeface="Arial" pitchFamily="34" charset="0"/>
              </a:rPr>
              <a:t>Vulnerabilities</a:t>
            </a:r>
          </a:p>
        </p:txBody>
      </p:sp>
      <p:pic>
        <p:nvPicPr>
          <p:cNvPr id="11" name="Picture 10" descr="Logo&#10;&#10;Description automatically generated">
            <a:extLst>
              <a:ext uri="{FF2B5EF4-FFF2-40B4-BE49-F238E27FC236}">
                <a16:creationId xmlns:a16="http://schemas.microsoft.com/office/drawing/2014/main" xmlns=""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xmlns="" id="{A287E9B7-196F-5413-1EE2-727331E78929}"/>
              </a:ext>
            </a:extLst>
          </p:cNvPr>
          <p:cNvSpPr txBox="1"/>
          <p:nvPr/>
        </p:nvSpPr>
        <p:spPr>
          <a:xfrm>
            <a:off x="2045070" y="1916832"/>
            <a:ext cx="5053861"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xmlns=""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Tree>
    <p:extLst>
      <p:ext uri="{BB962C8B-B14F-4D97-AF65-F5344CB8AC3E}">
        <p14:creationId xmlns:p14="http://schemas.microsoft.com/office/powerpoint/2010/main" val="1785668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F8F818-145D-E6A0-177F-8660B63B1EB8}"/>
              </a:ext>
            </a:extLst>
          </p:cNvPr>
          <p:cNvSpPr>
            <a:spLocks noGrp="1"/>
          </p:cNvSpPr>
          <p:nvPr>
            <p:ph type="title"/>
          </p:nvPr>
        </p:nvSpPr>
        <p:spPr/>
        <p:txBody>
          <a:bodyPr/>
          <a:lstStyle/>
          <a:p>
            <a:r>
              <a:rPr lang="en-US" dirty="0"/>
              <a:t>Memory Safety</a:t>
            </a:r>
          </a:p>
        </p:txBody>
      </p:sp>
      <p:sp>
        <p:nvSpPr>
          <p:cNvPr id="3" name="Content Placeholder 2">
            <a:extLst>
              <a:ext uri="{FF2B5EF4-FFF2-40B4-BE49-F238E27FC236}">
                <a16:creationId xmlns:a16="http://schemas.microsoft.com/office/drawing/2014/main" xmlns="" id="{D085E70D-D12C-9AAF-E8C5-03619DE12BB7}"/>
              </a:ext>
            </a:extLst>
          </p:cNvPr>
          <p:cNvSpPr>
            <a:spLocks noGrp="1"/>
          </p:cNvSpPr>
          <p:nvPr>
            <p:ph sz="quarter" idx="11"/>
          </p:nvPr>
        </p:nvSpPr>
        <p:spPr/>
        <p:txBody>
          <a:bodyPr/>
          <a:lstStyle/>
          <a:p>
            <a:pPr marL="0" indent="0" algn="just">
              <a:buNone/>
            </a:pPr>
            <a:r>
              <a:rPr lang="en-US" sz="2000" dirty="0"/>
              <a:t>“Consider the example of an application that maintains to do lists for many users.</a:t>
            </a:r>
          </a:p>
          <a:p>
            <a:pPr marL="0" indent="0" algn="just">
              <a:buNone/>
            </a:pPr>
            <a:r>
              <a:rPr lang="en-US" sz="2000" dirty="0"/>
              <a:t>If I have a to do list with ten items, and I ask for the eleventh item, what should happen? […] In a </a:t>
            </a:r>
            <a:r>
              <a:rPr lang="en-US" sz="2000" b="1" dirty="0"/>
              <a:t>memory unsafe language</a:t>
            </a:r>
            <a:r>
              <a:rPr lang="en-US" sz="2000" dirty="0"/>
              <a:t>, unless the programmer explicitly checks which item they’re asking for against the length of the list, the item that happens to be at that position in memory is fetched […]. Allowing programs to read past the front or end of a list is called an </a:t>
            </a:r>
            <a:r>
              <a:rPr lang="en-US" sz="2000" b="1" dirty="0"/>
              <a:t>out-of-bounds read</a:t>
            </a:r>
            <a:r>
              <a:rPr lang="en-US" sz="2000" dirty="0"/>
              <a:t>. […] if we simply allow someone to ask for the eleventh element of a ten item list, they may get to read the first item out of someone else’s list! […]</a:t>
            </a:r>
          </a:p>
          <a:p>
            <a:pPr marL="0" indent="0" algn="just">
              <a:buNone/>
            </a:pPr>
            <a:r>
              <a:rPr lang="en-US" sz="2000" dirty="0"/>
              <a:t>A closely related spatial vulnerability is an </a:t>
            </a:r>
            <a:r>
              <a:rPr lang="en-US" sz="2000" b="1" dirty="0"/>
              <a:t>out-of-bounds write</a:t>
            </a:r>
            <a:r>
              <a:rPr lang="en-US" sz="2000" dirty="0"/>
              <a:t>. In this case imagine we tried to change the eleventh or negative first item in our to do list. Now we are changing someone else’s to do list.”</a:t>
            </a:r>
          </a:p>
        </p:txBody>
      </p:sp>
      <p:sp>
        <p:nvSpPr>
          <p:cNvPr id="5" name="TextBox 4">
            <a:extLst>
              <a:ext uri="{FF2B5EF4-FFF2-40B4-BE49-F238E27FC236}">
                <a16:creationId xmlns:a16="http://schemas.microsoft.com/office/drawing/2014/main" xmlns="" id="{885E27D9-84D6-421B-E86C-9C1689544DA4}"/>
              </a:ext>
            </a:extLst>
          </p:cNvPr>
          <p:cNvSpPr txBox="1"/>
          <p:nvPr/>
        </p:nvSpPr>
        <p:spPr>
          <a:xfrm>
            <a:off x="467544" y="6098812"/>
            <a:ext cx="7128792" cy="276999"/>
          </a:xfrm>
          <a:prstGeom prst="rect">
            <a:avLst/>
          </a:prstGeom>
          <a:noFill/>
        </p:spPr>
        <p:txBody>
          <a:bodyPr wrap="square">
            <a:spAutoFit/>
          </a:bodyPr>
          <a:lstStyle/>
          <a:p>
            <a:r>
              <a:rPr lang="en-US" sz="1200" dirty="0">
                <a:hlinkClick r:id="rId2"/>
              </a:rPr>
              <a:t>https://alexgaynor.net/2019/aug/12/introduction-to-memory-unsafety-for-vps-of-engineering/</a:t>
            </a:r>
            <a:endParaRPr lang="en-US" sz="1200" dirty="0"/>
          </a:p>
        </p:txBody>
      </p:sp>
    </p:spTree>
    <p:extLst>
      <p:ext uri="{BB962C8B-B14F-4D97-AF65-F5344CB8AC3E}">
        <p14:creationId xmlns:p14="http://schemas.microsoft.com/office/powerpoint/2010/main" val="2558224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a:t>
            </a:r>
          </a:p>
        </p:txBody>
      </p:sp>
      <p:sp>
        <p:nvSpPr>
          <p:cNvPr id="3" name="Content Placeholder 2"/>
          <p:cNvSpPr>
            <a:spLocks noGrp="1"/>
          </p:cNvSpPr>
          <p:nvPr>
            <p:ph sz="quarter" idx="11"/>
          </p:nvPr>
        </p:nvSpPr>
        <p:spPr/>
        <p:txBody>
          <a:bodyPr/>
          <a:lstStyle/>
          <a:p>
            <a:pPr marL="0" indent="0">
              <a:buNone/>
            </a:pPr>
            <a:r>
              <a:rPr lang="en-US" sz="2800" dirty="0"/>
              <a:t>Out-of-bounds write is commonly known as buffer overflow.</a:t>
            </a:r>
          </a:p>
          <a:p>
            <a:pPr marL="0" indent="0">
              <a:buNone/>
            </a:pPr>
            <a:endParaRPr lang="en-US" sz="2800" dirty="0"/>
          </a:p>
          <a:p>
            <a:pPr marL="0" indent="0">
              <a:buNone/>
            </a:pPr>
            <a:r>
              <a:rPr lang="en-US" sz="2800" dirty="0"/>
              <a:t>NIST’s definition:</a:t>
            </a:r>
          </a:p>
          <a:p>
            <a:pPr marL="400050" lvl="1" indent="0">
              <a:buNone/>
            </a:pPr>
            <a:r>
              <a:rPr lang="en-US" sz="2400" dirty="0"/>
              <a:t>“A condition at an interface under which more input can be placed into a buffer or data holding area than the capacity allocated, overwriting other information. Attackers exploit such a condition to crash a system or to insert specially crafted code that allows them to gain control of the system.”</a:t>
            </a:r>
          </a:p>
          <a:p>
            <a:endParaRPr lang="en-US" sz="2800" dirty="0"/>
          </a:p>
        </p:txBody>
      </p:sp>
      <p:sp>
        <p:nvSpPr>
          <p:cNvPr id="5" name="TextBox 4">
            <a:extLst>
              <a:ext uri="{FF2B5EF4-FFF2-40B4-BE49-F238E27FC236}">
                <a16:creationId xmlns:a16="http://schemas.microsoft.com/office/drawing/2014/main" xmlns="" id="{A9291F85-3F35-2140-8944-BAF78E1A3F22}"/>
              </a:ext>
            </a:extLst>
          </p:cNvPr>
          <p:cNvSpPr txBox="1"/>
          <p:nvPr/>
        </p:nvSpPr>
        <p:spPr>
          <a:xfrm>
            <a:off x="473462" y="6098812"/>
            <a:ext cx="4589754" cy="276999"/>
          </a:xfrm>
          <a:prstGeom prst="rect">
            <a:avLst/>
          </a:prstGeom>
          <a:noFill/>
        </p:spPr>
        <p:txBody>
          <a:bodyPr wrap="square">
            <a:spAutoFit/>
          </a:bodyPr>
          <a:lstStyle/>
          <a:p>
            <a:r>
              <a:rPr lang="en-US" sz="1200" dirty="0">
                <a:hlinkClick r:id="rId2"/>
              </a:rPr>
              <a:t>https://csrc.nist.gov/glossary/term/buffer_overflow</a:t>
            </a:r>
            <a:endParaRPr lang="en-US" sz="1200" dirty="0"/>
          </a:p>
        </p:txBody>
      </p:sp>
    </p:spTree>
    <p:extLst>
      <p:ext uri="{BB962C8B-B14F-4D97-AF65-F5344CB8AC3E}">
        <p14:creationId xmlns:p14="http://schemas.microsoft.com/office/powerpoint/2010/main" val="4223274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 Basics</a:t>
            </a:r>
          </a:p>
        </p:txBody>
      </p:sp>
      <p:sp>
        <p:nvSpPr>
          <p:cNvPr id="3" name="Content Placeholder 2"/>
          <p:cNvSpPr>
            <a:spLocks noGrp="1"/>
          </p:cNvSpPr>
          <p:nvPr>
            <p:ph sz="quarter" idx="11"/>
          </p:nvPr>
        </p:nvSpPr>
        <p:spPr/>
        <p:txBody>
          <a:bodyPr/>
          <a:lstStyle/>
          <a:p>
            <a:r>
              <a:rPr lang="en-US" sz="2400" dirty="0"/>
              <a:t>Caused by programming error</a:t>
            </a:r>
          </a:p>
          <a:p>
            <a:r>
              <a:rPr lang="en-US" sz="2400" dirty="0"/>
              <a:t>Allows more data to be stored than capacity available in a fixed sized buffer</a:t>
            </a:r>
          </a:p>
          <a:p>
            <a:pPr lvl="1"/>
            <a:r>
              <a:rPr lang="en-US" sz="2000" dirty="0"/>
              <a:t>buffer can be on stack, heap, global data</a:t>
            </a:r>
          </a:p>
          <a:p>
            <a:r>
              <a:rPr lang="en-US" sz="2400" dirty="0"/>
              <a:t>Overwriting adjacent memory locations can cause:</a:t>
            </a:r>
          </a:p>
          <a:p>
            <a:pPr lvl="1"/>
            <a:r>
              <a:rPr lang="en-US" sz="2000" dirty="0"/>
              <a:t>corruption of program data</a:t>
            </a:r>
          </a:p>
          <a:p>
            <a:pPr lvl="1"/>
            <a:r>
              <a:rPr lang="en-US" sz="2000" dirty="0"/>
              <a:t>bypass security checks</a:t>
            </a:r>
          </a:p>
          <a:p>
            <a:pPr lvl="1"/>
            <a:r>
              <a:rPr lang="en-US" sz="2000" dirty="0"/>
              <a:t>unexpected transfer of control</a:t>
            </a:r>
          </a:p>
          <a:p>
            <a:pPr lvl="1"/>
            <a:r>
              <a:rPr lang="en-US" sz="2000" dirty="0"/>
              <a:t>memory access violation</a:t>
            </a:r>
          </a:p>
          <a:p>
            <a:pPr lvl="1"/>
            <a:r>
              <a:rPr lang="en-US" sz="2000" dirty="0"/>
              <a:t>execution of code chosen by attacker (</a:t>
            </a:r>
            <a:r>
              <a:rPr lang="en-US" sz="2000" b="1" dirty="0"/>
              <a:t>control hijacking</a:t>
            </a:r>
            <a:r>
              <a:rPr lang="en-US" sz="2000" dirty="0"/>
              <a:t>)</a:t>
            </a:r>
          </a:p>
          <a:p>
            <a:endParaRPr lang="en-US" sz="2400" dirty="0"/>
          </a:p>
        </p:txBody>
      </p:sp>
    </p:spTree>
    <p:extLst>
      <p:ext uri="{BB962C8B-B14F-4D97-AF65-F5344CB8AC3E}">
        <p14:creationId xmlns:p14="http://schemas.microsoft.com/office/powerpoint/2010/main" val="2207619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6" name="Content Placeholder 5"/>
          <p:cNvSpPr>
            <a:spLocks noGrp="1"/>
          </p:cNvSpPr>
          <p:nvPr>
            <p:ph sz="quarter" idx="11"/>
          </p:nvPr>
        </p:nvSpPr>
        <p:spPr/>
        <p:txBody>
          <a:bodyPr/>
          <a:lstStyle/>
          <a:p>
            <a:endParaRPr lang="en-US"/>
          </a:p>
        </p:txBody>
      </p:sp>
      <p:pic>
        <p:nvPicPr>
          <p:cNvPr id="5" name="Content Placeholder 3" descr="Two codes. For long description in Notes pane, press F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980728"/>
            <a:ext cx="7704856" cy="5782135"/>
          </a:xfrm>
          <a:prstGeom prst="rect">
            <a:avLst/>
          </a:prstGeom>
        </p:spPr>
      </p:pic>
      <p:sp>
        <p:nvSpPr>
          <p:cNvPr id="3" name="Line Callout 1 2"/>
          <p:cNvSpPr/>
          <p:nvPr/>
        </p:nvSpPr>
        <p:spPr>
          <a:xfrm>
            <a:off x="4769532" y="1422634"/>
            <a:ext cx="2448272" cy="648072"/>
          </a:xfrm>
          <a:prstGeom prst="borderCallout1">
            <a:avLst>
              <a:gd name="adj1" fmla="val 18751"/>
              <a:gd name="adj2" fmla="val -49"/>
              <a:gd name="adj3" fmla="val 104923"/>
              <a:gd name="adj4" fmla="val -722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r>
              <a:rPr lang="en-US" dirty="0"/>
              <a:t>Load a password e.g., “START” into str1</a:t>
            </a:r>
          </a:p>
        </p:txBody>
      </p:sp>
      <p:sp>
        <p:nvSpPr>
          <p:cNvPr id="8" name="Line Callout 1 7"/>
          <p:cNvSpPr/>
          <p:nvPr/>
        </p:nvSpPr>
        <p:spPr>
          <a:xfrm>
            <a:off x="5004048" y="4149080"/>
            <a:ext cx="1676672" cy="360040"/>
          </a:xfrm>
          <a:prstGeom prst="borderCallout1">
            <a:avLst>
              <a:gd name="adj1" fmla="val 39915"/>
              <a:gd name="adj2" fmla="val -554"/>
              <a:gd name="adj3" fmla="val 135494"/>
              <a:gd name="adj4" fmla="val -1939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Typical input</a:t>
            </a:r>
          </a:p>
        </p:txBody>
      </p:sp>
      <p:sp>
        <p:nvSpPr>
          <p:cNvPr id="10" name="Line Callout 1 9"/>
          <p:cNvSpPr/>
          <p:nvPr/>
        </p:nvSpPr>
        <p:spPr>
          <a:xfrm>
            <a:off x="5633628" y="4869160"/>
            <a:ext cx="2754796" cy="360040"/>
          </a:xfrm>
          <a:prstGeom prst="borderCallout1">
            <a:avLst>
              <a:gd name="adj1" fmla="val 18751"/>
              <a:gd name="adj2" fmla="val -49"/>
              <a:gd name="adj3" fmla="val 100220"/>
              <a:gd name="adj4" fmla="val -1092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r>
              <a:rPr lang="en-US" dirty="0"/>
              <a:t>Unexpectedly long input</a:t>
            </a:r>
          </a:p>
        </p:txBody>
      </p:sp>
      <p:sp>
        <p:nvSpPr>
          <p:cNvPr id="11" name="Line Callout 1 10"/>
          <p:cNvSpPr/>
          <p:nvPr/>
        </p:nvSpPr>
        <p:spPr>
          <a:xfrm>
            <a:off x="6516216" y="5530547"/>
            <a:ext cx="1800200" cy="360040"/>
          </a:xfrm>
          <a:prstGeom prst="borderCallout1">
            <a:avLst>
              <a:gd name="adj1" fmla="val 18751"/>
              <a:gd name="adj2" fmla="val -49"/>
              <a:gd name="adj3" fmla="val 72001"/>
              <a:gd name="adj4" fmla="val -21023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r>
              <a:rPr lang="en-US" dirty="0"/>
              <a:t>Malicious input</a:t>
            </a:r>
          </a:p>
        </p:txBody>
      </p:sp>
    </p:spTree>
    <p:extLst>
      <p:ext uri="{BB962C8B-B14F-4D97-AF65-F5344CB8AC3E}">
        <p14:creationId xmlns:p14="http://schemas.microsoft.com/office/powerpoint/2010/main" val="3712749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of Stack</a:t>
            </a:r>
          </a:p>
        </p:txBody>
      </p:sp>
      <p:sp>
        <p:nvSpPr>
          <p:cNvPr id="6" name="Content Placeholder 5"/>
          <p:cNvSpPr>
            <a:spLocks noGrp="1"/>
          </p:cNvSpPr>
          <p:nvPr>
            <p:ph sz="quarter" idx="11"/>
          </p:nvPr>
        </p:nvSpPr>
        <p:spPr>
          <a:xfrm>
            <a:off x="1547664" y="2132856"/>
            <a:ext cx="1344496" cy="576064"/>
          </a:xfrm>
        </p:spPr>
        <p:txBody>
          <a:bodyPr/>
          <a:lstStyle/>
          <a:p>
            <a:pPr marL="0" indent="0" algn="ctr">
              <a:buNone/>
            </a:pPr>
            <a:r>
              <a:rPr lang="en-US" sz="1800" dirty="0"/>
              <a:t>higher addresses</a:t>
            </a:r>
          </a:p>
        </p:txBody>
      </p:sp>
      <p:pic>
        <p:nvPicPr>
          <p:cNvPr id="7" name="Content Placeholder 3" descr="A diagram illustrates the basic buffer overflow stack. For long description in Notes pane, press F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808" y="1033770"/>
            <a:ext cx="5680578" cy="5345316"/>
          </a:xfrm>
          <a:prstGeom prst="rect">
            <a:avLst/>
          </a:prstGeom>
        </p:spPr>
      </p:pic>
      <p:sp>
        <p:nvSpPr>
          <p:cNvPr id="3" name="TextBox 2">
            <a:extLst>
              <a:ext uri="{FF2B5EF4-FFF2-40B4-BE49-F238E27FC236}">
                <a16:creationId xmlns:a16="http://schemas.microsoft.com/office/drawing/2014/main" xmlns="" id="{8277F3E6-6311-B757-12F7-F95AC997FD78}"/>
              </a:ext>
            </a:extLst>
          </p:cNvPr>
          <p:cNvSpPr txBox="1"/>
          <p:nvPr/>
        </p:nvSpPr>
        <p:spPr>
          <a:xfrm>
            <a:off x="2123728" y="6453336"/>
            <a:ext cx="6692345" cy="338554"/>
          </a:xfrm>
          <a:prstGeom prst="rect">
            <a:avLst/>
          </a:prstGeom>
          <a:noFill/>
        </p:spPr>
        <p:txBody>
          <a:bodyPr wrap="none" rtlCol="0">
            <a:spAutoFit/>
          </a:bodyPr>
          <a:lstStyle/>
          <a:p>
            <a:r>
              <a:rPr lang="en-US" sz="1600" dirty="0"/>
              <a:t>Remember: In general, stack grows backwards (decreasing addresses)</a:t>
            </a:r>
          </a:p>
        </p:txBody>
      </p:sp>
      <p:cxnSp>
        <p:nvCxnSpPr>
          <p:cNvPr id="5" name="Straight Arrow Connector 4">
            <a:extLst>
              <a:ext uri="{FF2B5EF4-FFF2-40B4-BE49-F238E27FC236}">
                <a16:creationId xmlns:a16="http://schemas.microsoft.com/office/drawing/2014/main" xmlns="" id="{00DBE449-57D9-E949-124A-4865B0794EBD}"/>
              </a:ext>
            </a:extLst>
          </p:cNvPr>
          <p:cNvCxnSpPr>
            <a:cxnSpLocks/>
          </p:cNvCxnSpPr>
          <p:nvPr/>
        </p:nvCxnSpPr>
        <p:spPr>
          <a:xfrm flipV="1">
            <a:off x="2183385" y="2852936"/>
            <a:ext cx="0" cy="1800200"/>
          </a:xfrm>
          <a:prstGeom prst="straightConnector1">
            <a:avLst/>
          </a:prstGeom>
          <a:ln w="38100">
            <a:headEnd type="triangle" w="lg" len="med"/>
            <a:tailEnd type="none"/>
          </a:ln>
        </p:spPr>
        <p:style>
          <a:lnRef idx="1">
            <a:schemeClr val="accent1"/>
          </a:lnRef>
          <a:fillRef idx="0">
            <a:schemeClr val="accent1"/>
          </a:fillRef>
          <a:effectRef idx="0">
            <a:schemeClr val="accent1"/>
          </a:effectRef>
          <a:fontRef idx="minor">
            <a:schemeClr val="tx1"/>
          </a:fontRef>
        </p:style>
      </p:cxnSp>
      <p:sp>
        <p:nvSpPr>
          <p:cNvPr id="4" name="Content Placeholder 5">
            <a:extLst>
              <a:ext uri="{FF2B5EF4-FFF2-40B4-BE49-F238E27FC236}">
                <a16:creationId xmlns:a16="http://schemas.microsoft.com/office/drawing/2014/main" xmlns="" id="{8F84585A-F3BD-97F3-7439-965500EDADFF}"/>
              </a:ext>
            </a:extLst>
          </p:cNvPr>
          <p:cNvSpPr txBox="1">
            <a:spLocks/>
          </p:cNvSpPr>
          <p:nvPr/>
        </p:nvSpPr>
        <p:spPr>
          <a:xfrm>
            <a:off x="1533346" y="4726870"/>
            <a:ext cx="1344496" cy="57606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800" dirty="0"/>
              <a:t>lower addresses</a:t>
            </a:r>
          </a:p>
        </p:txBody>
      </p:sp>
    </p:spTree>
    <p:extLst>
      <p:ext uri="{BB962C8B-B14F-4D97-AF65-F5344CB8AC3E}">
        <p14:creationId xmlns:p14="http://schemas.microsoft.com/office/powerpoint/2010/main" val="1231897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Stack structure during function call</a:t>
            </a:r>
          </a:p>
        </p:txBody>
      </p:sp>
      <p:sp>
        <p:nvSpPr>
          <p:cNvPr id="8" name="Rectangle 7">
            <a:extLst>
              <a:ext uri="{FF2B5EF4-FFF2-40B4-BE49-F238E27FC236}">
                <a16:creationId xmlns:a16="http://schemas.microsoft.com/office/drawing/2014/main" xmlns="" id="{9336B3AA-7DE8-8559-9B98-A9B50AB1F01D}"/>
              </a:ext>
            </a:extLst>
          </p:cNvPr>
          <p:cNvSpPr>
            <a:spLocks noChangeArrowheads="1"/>
          </p:cNvSpPr>
          <p:nvPr/>
        </p:nvSpPr>
        <p:spPr bwMode="auto">
          <a:xfrm>
            <a:off x="2627784" y="1988840"/>
            <a:ext cx="3505200" cy="1219200"/>
          </a:xfrm>
          <a:prstGeom prst="rect">
            <a:avLst/>
          </a:prstGeom>
          <a:solidFill>
            <a:schemeClr val="accent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spcBef>
                <a:spcPct val="50000"/>
              </a:spcBef>
              <a:buClrTx/>
              <a:buSzTx/>
              <a:buFontTx/>
              <a:buNone/>
            </a:pPr>
            <a:r>
              <a:rPr lang="en-US" altLang="en-US" sz="2400">
                <a:latin typeface="Tahoma" panose="020B0604030504040204" pitchFamily="34" charset="0"/>
              </a:rPr>
              <a:t>Parameters</a:t>
            </a:r>
          </a:p>
        </p:txBody>
      </p:sp>
      <p:sp>
        <p:nvSpPr>
          <p:cNvPr id="9" name="Rectangle 8">
            <a:extLst>
              <a:ext uri="{FF2B5EF4-FFF2-40B4-BE49-F238E27FC236}">
                <a16:creationId xmlns:a16="http://schemas.microsoft.com/office/drawing/2014/main" xmlns="" id="{7B0B7C6F-A027-4871-7400-5D331A0B7AD0}"/>
              </a:ext>
            </a:extLst>
          </p:cNvPr>
          <p:cNvSpPr>
            <a:spLocks noChangeArrowheads="1"/>
          </p:cNvSpPr>
          <p:nvPr/>
        </p:nvSpPr>
        <p:spPr bwMode="auto">
          <a:xfrm>
            <a:off x="2627784" y="3284240"/>
            <a:ext cx="3505200" cy="457200"/>
          </a:xfrm>
          <a:prstGeom prst="rect">
            <a:avLst/>
          </a:prstGeom>
          <a:solidFill>
            <a:schemeClr val="accent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spcBef>
                <a:spcPct val="50000"/>
              </a:spcBef>
              <a:buClrTx/>
              <a:buSzTx/>
              <a:buFontTx/>
              <a:buNone/>
            </a:pPr>
            <a:r>
              <a:rPr lang="en-US" altLang="en-US" sz="2400">
                <a:latin typeface="Tahoma" panose="020B0604030504040204" pitchFamily="34" charset="0"/>
              </a:rPr>
              <a:t>Return address</a:t>
            </a:r>
          </a:p>
        </p:txBody>
      </p:sp>
      <p:sp>
        <p:nvSpPr>
          <p:cNvPr id="10" name="Rectangle 9">
            <a:extLst>
              <a:ext uri="{FF2B5EF4-FFF2-40B4-BE49-F238E27FC236}">
                <a16:creationId xmlns:a16="http://schemas.microsoft.com/office/drawing/2014/main" xmlns="" id="{D10D9161-178A-C12B-CD1E-F18AEC4FB1AA}"/>
              </a:ext>
            </a:extLst>
          </p:cNvPr>
          <p:cNvSpPr>
            <a:spLocks noChangeArrowheads="1"/>
          </p:cNvSpPr>
          <p:nvPr/>
        </p:nvSpPr>
        <p:spPr bwMode="auto">
          <a:xfrm>
            <a:off x="2627784" y="3817640"/>
            <a:ext cx="3505200" cy="457200"/>
          </a:xfrm>
          <a:prstGeom prst="rect">
            <a:avLst/>
          </a:prstGeom>
          <a:solidFill>
            <a:schemeClr val="accent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spcBef>
                <a:spcPct val="50000"/>
              </a:spcBef>
              <a:buClrTx/>
              <a:buSzTx/>
              <a:buFontTx/>
              <a:buNone/>
            </a:pPr>
            <a:r>
              <a:rPr lang="en-US" altLang="en-US" sz="2400">
                <a:latin typeface="Tahoma" panose="020B0604030504040204" pitchFamily="34" charset="0"/>
              </a:rPr>
              <a:t>Stack Frame Pointer</a:t>
            </a:r>
          </a:p>
        </p:txBody>
      </p:sp>
      <p:sp>
        <p:nvSpPr>
          <p:cNvPr id="11" name="Rectangle 10">
            <a:extLst>
              <a:ext uri="{FF2B5EF4-FFF2-40B4-BE49-F238E27FC236}">
                <a16:creationId xmlns:a16="http://schemas.microsoft.com/office/drawing/2014/main" xmlns="" id="{EFD7FF62-F6C9-0E0D-31B8-DE2B0FAE78DC}"/>
              </a:ext>
            </a:extLst>
          </p:cNvPr>
          <p:cNvSpPr>
            <a:spLocks noChangeArrowheads="1"/>
          </p:cNvSpPr>
          <p:nvPr/>
        </p:nvSpPr>
        <p:spPr bwMode="auto">
          <a:xfrm>
            <a:off x="2627784" y="4351040"/>
            <a:ext cx="3505200" cy="1219200"/>
          </a:xfrm>
          <a:prstGeom prst="rect">
            <a:avLst/>
          </a:prstGeom>
          <a:solidFill>
            <a:schemeClr val="accent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spcBef>
                <a:spcPct val="50000"/>
              </a:spcBef>
              <a:buClrTx/>
              <a:buSzTx/>
              <a:buFontTx/>
              <a:buNone/>
            </a:pPr>
            <a:r>
              <a:rPr lang="en-US" altLang="en-US" sz="2400">
                <a:latin typeface="Tahoma" panose="020B0604030504040204" pitchFamily="34" charset="0"/>
              </a:rPr>
              <a:t>Local variables</a:t>
            </a:r>
          </a:p>
        </p:txBody>
      </p:sp>
      <p:sp>
        <p:nvSpPr>
          <p:cNvPr id="12" name="Text Box 7">
            <a:extLst>
              <a:ext uri="{FF2B5EF4-FFF2-40B4-BE49-F238E27FC236}">
                <a16:creationId xmlns:a16="http://schemas.microsoft.com/office/drawing/2014/main" xmlns="" id="{FF5D4911-E219-BFFD-23AD-77165BCE8445}"/>
              </a:ext>
            </a:extLst>
          </p:cNvPr>
          <p:cNvSpPr txBox="1">
            <a:spLocks noChangeArrowheads="1"/>
          </p:cNvSpPr>
          <p:nvPr/>
        </p:nvSpPr>
        <p:spPr bwMode="auto">
          <a:xfrm>
            <a:off x="1103784" y="5313065"/>
            <a:ext cx="522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spcBef>
                <a:spcPct val="50000"/>
              </a:spcBef>
              <a:buClrTx/>
              <a:buSzTx/>
              <a:buFontTx/>
              <a:buNone/>
            </a:pPr>
            <a:r>
              <a:rPr lang="en-US" altLang="en-US" sz="2400">
                <a:latin typeface="Tahoma" panose="020B0604030504040204" pitchFamily="34" charset="0"/>
              </a:rPr>
              <a:t>SP</a:t>
            </a:r>
          </a:p>
        </p:txBody>
      </p:sp>
      <p:sp>
        <p:nvSpPr>
          <p:cNvPr id="13" name="Line 8">
            <a:extLst>
              <a:ext uri="{FF2B5EF4-FFF2-40B4-BE49-F238E27FC236}">
                <a16:creationId xmlns:a16="http://schemas.microsoft.com/office/drawing/2014/main" xmlns="" id="{D72A2AA8-51AE-6B30-F88B-C1F7407C3692}"/>
              </a:ext>
            </a:extLst>
          </p:cNvPr>
          <p:cNvSpPr>
            <a:spLocks noChangeShapeType="1"/>
          </p:cNvSpPr>
          <p:nvPr/>
        </p:nvSpPr>
        <p:spPr bwMode="auto">
          <a:xfrm>
            <a:off x="1691159" y="5570240"/>
            <a:ext cx="5445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14" name="Line 9">
            <a:extLst>
              <a:ext uri="{FF2B5EF4-FFF2-40B4-BE49-F238E27FC236}">
                <a16:creationId xmlns:a16="http://schemas.microsoft.com/office/drawing/2014/main" xmlns="" id="{10A373CD-C4FB-5908-2B87-4533485E27C7}"/>
              </a:ext>
            </a:extLst>
          </p:cNvPr>
          <p:cNvSpPr>
            <a:spLocks noChangeShapeType="1"/>
          </p:cNvSpPr>
          <p:nvPr/>
        </p:nvSpPr>
        <p:spPr bwMode="auto">
          <a:xfrm>
            <a:off x="7047384" y="1807865"/>
            <a:ext cx="0" cy="41148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15" name="Line 10">
            <a:extLst>
              <a:ext uri="{FF2B5EF4-FFF2-40B4-BE49-F238E27FC236}">
                <a16:creationId xmlns:a16="http://schemas.microsoft.com/office/drawing/2014/main" xmlns="" id="{0ECA405C-3F56-54BA-A3AA-267ADD1AEE0B}"/>
              </a:ext>
            </a:extLst>
          </p:cNvPr>
          <p:cNvSpPr>
            <a:spLocks noChangeShapeType="1"/>
          </p:cNvSpPr>
          <p:nvPr/>
        </p:nvSpPr>
        <p:spPr bwMode="auto">
          <a:xfrm>
            <a:off x="2627784" y="2217440"/>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16" name="Line 11">
            <a:extLst>
              <a:ext uri="{FF2B5EF4-FFF2-40B4-BE49-F238E27FC236}">
                <a16:creationId xmlns:a16="http://schemas.microsoft.com/office/drawing/2014/main" xmlns="" id="{22478775-E084-61FF-26AA-E026EAD45232}"/>
              </a:ext>
            </a:extLst>
          </p:cNvPr>
          <p:cNvSpPr>
            <a:spLocks noChangeShapeType="1"/>
          </p:cNvSpPr>
          <p:nvPr/>
        </p:nvSpPr>
        <p:spPr bwMode="auto">
          <a:xfrm>
            <a:off x="2627784" y="2446040"/>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17" name="Line 12">
            <a:extLst>
              <a:ext uri="{FF2B5EF4-FFF2-40B4-BE49-F238E27FC236}">
                <a16:creationId xmlns:a16="http://schemas.microsoft.com/office/drawing/2014/main" xmlns="" id="{DE3D4585-3665-2B4D-A779-63597F0A9C57}"/>
              </a:ext>
            </a:extLst>
          </p:cNvPr>
          <p:cNvSpPr>
            <a:spLocks noChangeShapeType="1"/>
          </p:cNvSpPr>
          <p:nvPr/>
        </p:nvSpPr>
        <p:spPr bwMode="auto">
          <a:xfrm>
            <a:off x="2627784" y="2979440"/>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18" name="Line 13">
            <a:extLst>
              <a:ext uri="{FF2B5EF4-FFF2-40B4-BE49-F238E27FC236}">
                <a16:creationId xmlns:a16="http://schemas.microsoft.com/office/drawing/2014/main" xmlns="" id="{83A66BB1-429D-8CD7-B0EC-1648837BB7B9}"/>
              </a:ext>
            </a:extLst>
          </p:cNvPr>
          <p:cNvSpPr>
            <a:spLocks noChangeShapeType="1"/>
          </p:cNvSpPr>
          <p:nvPr/>
        </p:nvSpPr>
        <p:spPr bwMode="auto">
          <a:xfrm>
            <a:off x="2627784" y="4579640"/>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19" name="Line 14">
            <a:extLst>
              <a:ext uri="{FF2B5EF4-FFF2-40B4-BE49-F238E27FC236}">
                <a16:creationId xmlns:a16="http://schemas.microsoft.com/office/drawing/2014/main" xmlns="" id="{BD1FF796-B8EA-5AEC-41E4-91D139CFB956}"/>
              </a:ext>
            </a:extLst>
          </p:cNvPr>
          <p:cNvSpPr>
            <a:spLocks noChangeShapeType="1"/>
          </p:cNvSpPr>
          <p:nvPr/>
        </p:nvSpPr>
        <p:spPr bwMode="auto">
          <a:xfrm>
            <a:off x="2627784" y="4808240"/>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20" name="Line 15">
            <a:extLst>
              <a:ext uri="{FF2B5EF4-FFF2-40B4-BE49-F238E27FC236}">
                <a16:creationId xmlns:a16="http://schemas.microsoft.com/office/drawing/2014/main" xmlns="" id="{BAC6DC01-A343-8480-9BC2-7978C054A337}"/>
              </a:ext>
            </a:extLst>
          </p:cNvPr>
          <p:cNvSpPr>
            <a:spLocks noChangeShapeType="1"/>
          </p:cNvSpPr>
          <p:nvPr/>
        </p:nvSpPr>
        <p:spPr bwMode="auto">
          <a:xfrm>
            <a:off x="2627784" y="5189240"/>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21" name="Line 16">
            <a:extLst>
              <a:ext uri="{FF2B5EF4-FFF2-40B4-BE49-F238E27FC236}">
                <a16:creationId xmlns:a16="http://schemas.microsoft.com/office/drawing/2014/main" xmlns="" id="{E626C8DA-EED4-660E-9349-500B5B9F4F06}"/>
              </a:ext>
            </a:extLst>
          </p:cNvPr>
          <p:cNvSpPr>
            <a:spLocks noChangeShapeType="1"/>
          </p:cNvSpPr>
          <p:nvPr/>
        </p:nvSpPr>
        <p:spPr bwMode="auto">
          <a:xfrm>
            <a:off x="2627784" y="5417840"/>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22" name="Rectangle 21">
            <a:extLst>
              <a:ext uri="{FF2B5EF4-FFF2-40B4-BE49-F238E27FC236}">
                <a16:creationId xmlns:a16="http://schemas.microsoft.com/office/drawing/2014/main" xmlns="" id="{851780DC-8697-754E-BFC1-CDFD74EB6D71}"/>
              </a:ext>
            </a:extLst>
          </p:cNvPr>
          <p:cNvSpPr>
            <a:spLocks noChangeArrowheads="1"/>
          </p:cNvSpPr>
          <p:nvPr/>
        </p:nvSpPr>
        <p:spPr bwMode="auto">
          <a:xfrm>
            <a:off x="2627784" y="1988840"/>
            <a:ext cx="3505200" cy="3581400"/>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3" name="Line 18">
            <a:extLst>
              <a:ext uri="{FF2B5EF4-FFF2-40B4-BE49-F238E27FC236}">
                <a16:creationId xmlns:a16="http://schemas.microsoft.com/office/drawing/2014/main" xmlns="" id="{D24B94DB-DE1E-1C0D-6119-87A8C013D763}"/>
              </a:ext>
            </a:extLst>
          </p:cNvPr>
          <p:cNvSpPr>
            <a:spLocks noChangeShapeType="1"/>
          </p:cNvSpPr>
          <p:nvPr/>
        </p:nvSpPr>
        <p:spPr bwMode="auto">
          <a:xfrm>
            <a:off x="2322984" y="5570240"/>
            <a:ext cx="40386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24" name="Line 19">
            <a:extLst>
              <a:ext uri="{FF2B5EF4-FFF2-40B4-BE49-F238E27FC236}">
                <a16:creationId xmlns:a16="http://schemas.microsoft.com/office/drawing/2014/main" xmlns="" id="{695EF340-7307-F19D-033A-7F6850B89290}"/>
              </a:ext>
            </a:extLst>
          </p:cNvPr>
          <p:cNvSpPr>
            <a:spLocks noChangeShapeType="1"/>
          </p:cNvSpPr>
          <p:nvPr/>
        </p:nvSpPr>
        <p:spPr bwMode="auto">
          <a:xfrm>
            <a:off x="2322984" y="1960265"/>
            <a:ext cx="40386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25" name="Text Box 20">
            <a:extLst>
              <a:ext uri="{FF2B5EF4-FFF2-40B4-BE49-F238E27FC236}">
                <a16:creationId xmlns:a16="http://schemas.microsoft.com/office/drawing/2014/main" xmlns="" id="{394BFF25-A8A8-7FFC-914C-32CBE1E519CD}"/>
              </a:ext>
            </a:extLst>
          </p:cNvPr>
          <p:cNvSpPr txBox="1">
            <a:spLocks noChangeArrowheads="1"/>
          </p:cNvSpPr>
          <p:nvPr/>
        </p:nvSpPr>
        <p:spPr bwMode="auto">
          <a:xfrm>
            <a:off x="7047384" y="4857453"/>
            <a:ext cx="1160462"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spcBef>
                <a:spcPct val="50000"/>
              </a:spcBef>
              <a:buClrTx/>
              <a:buSzTx/>
              <a:buFontTx/>
              <a:buNone/>
            </a:pPr>
            <a:r>
              <a:rPr lang="en-US" altLang="en-US" sz="2400">
                <a:latin typeface="Tahoma" panose="020B0604030504040204" pitchFamily="34" charset="0"/>
              </a:rPr>
              <a:t>Stack</a:t>
            </a:r>
          </a:p>
          <a:p>
            <a:pPr algn="ctr">
              <a:lnSpc>
                <a:spcPct val="20000"/>
              </a:lnSpc>
              <a:spcBef>
                <a:spcPct val="50000"/>
              </a:spcBef>
              <a:buClrTx/>
              <a:buSzTx/>
              <a:buFontTx/>
              <a:buNone/>
            </a:pPr>
            <a:r>
              <a:rPr lang="en-US" altLang="en-US" sz="2400">
                <a:latin typeface="Tahoma" panose="020B0604030504040204" pitchFamily="34" charset="0"/>
              </a:rPr>
              <a:t>Growth</a:t>
            </a:r>
          </a:p>
        </p:txBody>
      </p:sp>
    </p:spTree>
    <p:extLst>
      <p:ext uri="{BB962C8B-B14F-4D97-AF65-F5344CB8AC3E}">
        <p14:creationId xmlns:p14="http://schemas.microsoft.com/office/powerpoint/2010/main" val="404218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Buffer Overflow Attacks</a:t>
            </a:r>
          </a:p>
        </p:txBody>
      </p:sp>
      <p:sp>
        <p:nvSpPr>
          <p:cNvPr id="7" name="Content Placeholder 6"/>
          <p:cNvSpPr>
            <a:spLocks noGrp="1"/>
          </p:cNvSpPr>
          <p:nvPr>
            <p:ph sz="quarter" idx="11"/>
          </p:nvPr>
        </p:nvSpPr>
        <p:spPr/>
        <p:txBody>
          <a:bodyPr/>
          <a:lstStyle/>
          <a:p>
            <a:r>
              <a:rPr lang="en-US" sz="2800" dirty="0"/>
              <a:t>To exploit a buffer overflow an attacker must identify a buffer overflow vulnerability in some program. </a:t>
            </a:r>
          </a:p>
          <a:p>
            <a:pPr lvl="1"/>
            <a:r>
              <a:rPr lang="en-US" sz="2400" dirty="0"/>
              <a:t>they can do inspection, trace execution, or use fuzzing tools</a:t>
            </a:r>
          </a:p>
          <a:p>
            <a:endParaRPr lang="en-US" sz="2800" dirty="0"/>
          </a:p>
          <a:p>
            <a:r>
              <a:rPr lang="en-US" sz="2800" dirty="0"/>
              <a:t>Next, they need to understand how buffer is stored in memory and determine potential for corruption</a:t>
            </a:r>
          </a:p>
        </p:txBody>
      </p:sp>
    </p:spTree>
    <p:extLst>
      <p:ext uri="{BB962C8B-B14F-4D97-AF65-F5344CB8AC3E}">
        <p14:creationId xmlns:p14="http://schemas.microsoft.com/office/powerpoint/2010/main" val="942340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Programming languages history</a:t>
            </a:r>
          </a:p>
        </p:txBody>
      </p:sp>
      <p:sp>
        <p:nvSpPr>
          <p:cNvPr id="3" name="Content Placeholder 2"/>
          <p:cNvSpPr>
            <a:spLocks noGrp="1"/>
          </p:cNvSpPr>
          <p:nvPr>
            <p:ph sz="quarter" idx="11"/>
          </p:nvPr>
        </p:nvSpPr>
        <p:spPr/>
        <p:txBody>
          <a:bodyPr/>
          <a:lstStyle/>
          <a:p>
            <a:r>
              <a:rPr lang="en-US" altLang="en-US" sz="2400" dirty="0"/>
              <a:t>At machine level, all data is an array of bytes</a:t>
            </a:r>
          </a:p>
          <a:p>
            <a:pPr lvl="1"/>
            <a:r>
              <a:rPr lang="en-US" altLang="en-US" sz="2000" dirty="0"/>
              <a:t>interpretation depends on instructions used</a:t>
            </a:r>
          </a:p>
          <a:p>
            <a:r>
              <a:rPr lang="en-US" altLang="en-US" sz="2400" dirty="0"/>
              <a:t>Modern high-level languages (java, c#, python etc.) have a strong notion of data type, valid operations and bounds checking</a:t>
            </a:r>
          </a:p>
          <a:p>
            <a:pPr lvl="1"/>
            <a:r>
              <a:rPr lang="en-US" altLang="en-US" sz="2000" dirty="0"/>
              <a:t>not vulnerable to buffer overflows</a:t>
            </a:r>
          </a:p>
          <a:p>
            <a:pPr lvl="1"/>
            <a:r>
              <a:rPr lang="en-US" altLang="en-US" sz="2000" dirty="0"/>
              <a:t>does incur both compile-time and run-time overhead</a:t>
            </a:r>
          </a:p>
          <a:p>
            <a:r>
              <a:rPr lang="en-US" altLang="en-US" sz="2400" dirty="0"/>
              <a:t>C and related languages have high-level control structures, but allow direct access to memory</a:t>
            </a:r>
          </a:p>
          <a:p>
            <a:pPr lvl="1"/>
            <a:r>
              <a:rPr lang="en-US" altLang="en-US" sz="2000" dirty="0"/>
              <a:t>hence are vulnerable to buffer overflow</a:t>
            </a:r>
          </a:p>
          <a:p>
            <a:pPr lvl="1"/>
            <a:r>
              <a:rPr lang="en-US" altLang="en-US" sz="2000" dirty="0"/>
              <a:t>have a large legacy of widely used, unsafe, and hence vulnerable code</a:t>
            </a:r>
          </a:p>
        </p:txBody>
      </p:sp>
    </p:spTree>
    <p:extLst>
      <p:ext uri="{BB962C8B-B14F-4D97-AF65-F5344CB8AC3E}">
        <p14:creationId xmlns:p14="http://schemas.microsoft.com/office/powerpoint/2010/main" val="3065928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A8AD3D-15B9-4E8F-78D5-202697A526C5}"/>
              </a:ext>
            </a:extLst>
          </p:cNvPr>
          <p:cNvSpPr>
            <a:spLocks noGrp="1"/>
          </p:cNvSpPr>
          <p:nvPr>
            <p:ph type="title"/>
          </p:nvPr>
        </p:nvSpPr>
        <p:spPr/>
        <p:txBody>
          <a:bodyPr/>
          <a:lstStyle/>
          <a:p>
            <a:r>
              <a:rPr lang="en-US" dirty="0"/>
              <a:t>Why use lower level languages</a:t>
            </a:r>
          </a:p>
        </p:txBody>
      </p:sp>
      <p:sp>
        <p:nvSpPr>
          <p:cNvPr id="3" name="Content Placeholder 2">
            <a:extLst>
              <a:ext uri="{FF2B5EF4-FFF2-40B4-BE49-F238E27FC236}">
                <a16:creationId xmlns:a16="http://schemas.microsoft.com/office/drawing/2014/main" xmlns="" id="{C4F441FC-ADD1-E5EC-BB18-73DF9497DDE6}"/>
              </a:ext>
            </a:extLst>
          </p:cNvPr>
          <p:cNvSpPr>
            <a:spLocks noGrp="1"/>
          </p:cNvSpPr>
          <p:nvPr>
            <p:ph sz="quarter" idx="11"/>
          </p:nvPr>
        </p:nvSpPr>
        <p:spPr/>
        <p:txBody>
          <a:bodyPr/>
          <a:lstStyle/>
          <a:p>
            <a:r>
              <a:rPr lang="en-US" sz="2400" dirty="0">
                <a:solidFill>
                  <a:srgbClr val="C00000"/>
                </a:solidFill>
              </a:rPr>
              <a:t>Systems software</a:t>
            </a:r>
            <a:r>
              <a:rPr lang="en-US" sz="2400" dirty="0"/>
              <a:t> has historically been written in lower level languages (C, C++, assembly). These include:</a:t>
            </a:r>
          </a:p>
          <a:p>
            <a:pPr lvl="1"/>
            <a:r>
              <a:rPr lang="en-US" sz="2000" dirty="0"/>
              <a:t>operating systems, device drivers, file systems</a:t>
            </a:r>
          </a:p>
          <a:p>
            <a:pPr lvl="1"/>
            <a:r>
              <a:rPr lang="en-US" sz="2000" dirty="0"/>
              <a:t>network servers, database servers</a:t>
            </a:r>
          </a:p>
          <a:p>
            <a:pPr lvl="1"/>
            <a:r>
              <a:rPr lang="en-US" sz="2000" dirty="0"/>
              <a:t>compilers</a:t>
            </a:r>
          </a:p>
          <a:p>
            <a:pPr lvl="1"/>
            <a:r>
              <a:rPr lang="en-US" sz="2000" dirty="0"/>
              <a:t>web browsers</a:t>
            </a:r>
          </a:p>
          <a:p>
            <a:pPr lvl="1"/>
            <a:r>
              <a:rPr lang="en-US" sz="2000" dirty="0"/>
              <a:t>command shells and console utilities</a:t>
            </a:r>
          </a:p>
          <a:p>
            <a:pPr lvl="1"/>
            <a:r>
              <a:rPr lang="en-US" sz="2000" dirty="0"/>
              <a:t>Internet of Things (IoT) </a:t>
            </a:r>
            <a:r>
              <a:rPr lang="en-US" sz="2000" dirty="0" err="1"/>
              <a:t>firmwares</a:t>
            </a:r>
            <a:endParaRPr lang="en-US" sz="2000" dirty="0"/>
          </a:p>
          <a:p>
            <a:r>
              <a:rPr lang="en-US" sz="2400" dirty="0"/>
              <a:t>Why?</a:t>
            </a:r>
          </a:p>
          <a:p>
            <a:pPr lvl="1"/>
            <a:r>
              <a:rPr lang="en-US" sz="2000" dirty="0"/>
              <a:t>Language adds minimal overheads which means faster performance</a:t>
            </a:r>
          </a:p>
          <a:p>
            <a:pPr lvl="1"/>
            <a:r>
              <a:rPr lang="en-US" sz="2000" dirty="0"/>
              <a:t>Raw memory pointers provide more flexibility</a:t>
            </a:r>
          </a:p>
          <a:p>
            <a:endParaRPr lang="en-US" sz="2400" dirty="0"/>
          </a:p>
          <a:p>
            <a:endParaRPr lang="en-US" sz="2400" dirty="0"/>
          </a:p>
        </p:txBody>
      </p:sp>
      <p:sp>
        <p:nvSpPr>
          <p:cNvPr id="4" name="TextBox 3">
            <a:extLst>
              <a:ext uri="{FF2B5EF4-FFF2-40B4-BE49-F238E27FC236}">
                <a16:creationId xmlns:a16="http://schemas.microsoft.com/office/drawing/2014/main" xmlns="" id="{046A1015-68A6-C2E1-4113-3441E7661040}"/>
              </a:ext>
            </a:extLst>
          </p:cNvPr>
          <p:cNvSpPr txBox="1"/>
          <p:nvPr/>
        </p:nvSpPr>
        <p:spPr>
          <a:xfrm>
            <a:off x="2339752" y="6372036"/>
            <a:ext cx="6669454" cy="369332"/>
          </a:xfrm>
          <a:prstGeom prst="rect">
            <a:avLst/>
          </a:prstGeom>
          <a:noFill/>
        </p:spPr>
        <p:txBody>
          <a:bodyPr wrap="square" rtlCol="0">
            <a:spAutoFit/>
          </a:bodyPr>
          <a:lstStyle/>
          <a:p>
            <a:r>
              <a:rPr lang="en-US" dirty="0"/>
              <a:t>* “Systems software” is in contrast with “application software”.</a:t>
            </a:r>
          </a:p>
        </p:txBody>
      </p:sp>
    </p:spTree>
    <p:extLst>
      <p:ext uri="{BB962C8B-B14F-4D97-AF65-F5344CB8AC3E}">
        <p14:creationId xmlns:p14="http://schemas.microsoft.com/office/powerpoint/2010/main" val="2966876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calls and stack frames</a:t>
            </a:r>
          </a:p>
        </p:txBody>
      </p:sp>
      <p:sp>
        <p:nvSpPr>
          <p:cNvPr id="3" name="Content Placeholder 2"/>
          <p:cNvSpPr>
            <a:spLocks noGrp="1"/>
          </p:cNvSpPr>
          <p:nvPr>
            <p:ph sz="quarter" idx="11"/>
          </p:nvPr>
        </p:nvSpPr>
        <p:spPr>
          <a:xfrm>
            <a:off x="467544" y="1560612"/>
            <a:ext cx="4536504" cy="4676700"/>
          </a:xfrm>
        </p:spPr>
        <p:txBody>
          <a:bodyPr/>
          <a:lstStyle/>
          <a:p>
            <a:pPr marL="0" indent="0">
              <a:buNone/>
            </a:pPr>
            <a:r>
              <a:rPr lang="en-US" sz="2400" b="1" dirty="0"/>
              <a:t>Stack frame</a:t>
            </a:r>
          </a:p>
          <a:p>
            <a:endParaRPr lang="en-US" sz="2400" dirty="0"/>
          </a:p>
          <a:p>
            <a:pPr marL="0" indent="0">
              <a:buNone/>
            </a:pPr>
            <a:r>
              <a:rPr lang="en-US" sz="2400" dirty="0"/>
              <a:t>Calling function: needs a data structure to store the “return” address and parameters to be passed</a:t>
            </a:r>
          </a:p>
          <a:p>
            <a:endParaRPr lang="en-US" sz="2400" dirty="0"/>
          </a:p>
          <a:p>
            <a:pPr marL="0" indent="0">
              <a:buNone/>
            </a:pPr>
            <a:r>
              <a:rPr lang="en-US" sz="2400" dirty="0"/>
              <a:t>Called function: needs a place to store its local variables somewhere different for every call</a:t>
            </a:r>
          </a:p>
          <a:p>
            <a:endParaRPr lang="en-US" sz="2400" dirty="0"/>
          </a:p>
        </p:txBody>
      </p:sp>
      <p:pic>
        <p:nvPicPr>
          <p:cNvPr id="4" name="Picture 4"/>
          <p:cNvPicPr>
            <a:picLocks noChangeAspect="1" noChangeArrowheads="1"/>
          </p:cNvPicPr>
          <p:nvPr/>
        </p:nvPicPr>
        <p:blipFill rotWithShape="1">
          <a:blip r:embed="rId2"/>
          <a:srcRect l="32707" t="10192" r="30779" b="25855"/>
          <a:stretch/>
        </p:blipFill>
        <p:spPr bwMode="auto">
          <a:xfrm>
            <a:off x="5148064" y="1772816"/>
            <a:ext cx="3672408" cy="4968553"/>
          </a:xfrm>
          <a:prstGeom prst="rect">
            <a:avLst/>
          </a:prstGeom>
          <a:noFill/>
          <a:ln w="9525">
            <a:noFill/>
            <a:miter lim="800000"/>
            <a:headEnd/>
            <a:tailEnd/>
          </a:ln>
        </p:spPr>
      </p:pic>
      <p:sp>
        <p:nvSpPr>
          <p:cNvPr id="5" name="TextBox 3"/>
          <p:cNvSpPr txBox="1">
            <a:spLocks noChangeArrowheads="1"/>
          </p:cNvSpPr>
          <p:nvPr/>
        </p:nvSpPr>
        <p:spPr bwMode="auto">
          <a:xfrm>
            <a:off x="4788024" y="1329779"/>
            <a:ext cx="4196419" cy="461665"/>
          </a:xfrm>
          <a:prstGeom prst="rect">
            <a:avLst/>
          </a:prstGeom>
          <a:solidFill>
            <a:schemeClr val="accent4">
              <a:lumMod val="40000"/>
              <a:lumOff val="60000"/>
            </a:schemeClr>
          </a:solidFill>
          <a:ln w="9525">
            <a:noFill/>
            <a:miter lim="800000"/>
            <a:headEnd/>
            <a:tailEnd/>
          </a:ln>
        </p:spPr>
        <p:txBody>
          <a:bodyPr wrap="square">
            <a:spAutoFit/>
          </a:bodyPr>
          <a:lstStyle/>
          <a:p>
            <a:pPr eaLnBrk="1" latinLnBrk="0" hangingPunct="1"/>
            <a:r>
              <a:rPr lang="en-US" altLang="en-US" sz="2400" dirty="0"/>
              <a:t>P function calling Q function</a:t>
            </a:r>
          </a:p>
        </p:txBody>
      </p:sp>
    </p:spTree>
    <p:extLst>
      <p:ext uri="{BB962C8B-B14F-4D97-AF65-F5344CB8AC3E}">
        <p14:creationId xmlns:p14="http://schemas.microsoft.com/office/powerpoint/2010/main" val="256354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Buffer Overflow</a:t>
            </a:r>
          </a:p>
        </p:txBody>
      </p:sp>
      <p:sp>
        <p:nvSpPr>
          <p:cNvPr id="3" name="Content Placeholder 2"/>
          <p:cNvSpPr>
            <a:spLocks noGrp="1"/>
          </p:cNvSpPr>
          <p:nvPr>
            <p:ph sz="quarter" idx="11"/>
          </p:nvPr>
        </p:nvSpPr>
        <p:spPr/>
        <p:txBody>
          <a:bodyPr/>
          <a:lstStyle/>
          <a:p>
            <a:r>
              <a:rPr lang="en-US" altLang="en-US" sz="2800" dirty="0"/>
              <a:t>Occurs when buffer is located on stack</a:t>
            </a:r>
          </a:p>
          <a:p>
            <a:pPr lvl="1"/>
            <a:r>
              <a:rPr lang="en-US" altLang="en-US" sz="2400" dirty="0"/>
              <a:t>used by Morris Worm</a:t>
            </a:r>
          </a:p>
          <a:p>
            <a:pPr lvl="1"/>
            <a:r>
              <a:rPr lang="en-US" altLang="en-US" sz="2400" dirty="0"/>
              <a:t>“Smashing the Stack” paper popularized it</a:t>
            </a:r>
          </a:p>
          <a:p>
            <a:r>
              <a:rPr lang="en-US" altLang="en-US" sz="2800" dirty="0"/>
              <a:t>We have local variables below saved frame pointer and return address</a:t>
            </a:r>
          </a:p>
          <a:p>
            <a:pPr lvl="1"/>
            <a:r>
              <a:rPr lang="en-US" altLang="en-US" sz="2400" dirty="0"/>
              <a:t>hence overflow of a local buffer can potentially overwrite these key control items</a:t>
            </a:r>
          </a:p>
          <a:p>
            <a:r>
              <a:rPr lang="en-US" altLang="en-US" sz="2800" dirty="0"/>
              <a:t>Attacker overwrites return address with address of desired code</a:t>
            </a:r>
          </a:p>
          <a:p>
            <a:pPr lvl="1"/>
            <a:r>
              <a:rPr lang="en-US" altLang="en-US" sz="2400" dirty="0"/>
              <a:t>program, system library or loaded in buffer</a:t>
            </a:r>
          </a:p>
        </p:txBody>
      </p:sp>
    </p:spTree>
    <p:extLst>
      <p:ext uri="{BB962C8B-B14F-4D97-AF65-F5344CB8AC3E}">
        <p14:creationId xmlns:p14="http://schemas.microsoft.com/office/powerpoint/2010/main" val="4262803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Programs and Processes</a:t>
            </a:r>
          </a:p>
        </p:txBody>
      </p:sp>
      <p:sp>
        <p:nvSpPr>
          <p:cNvPr id="5" name="Content Placeholder 4"/>
          <p:cNvSpPr>
            <a:spLocks noGrp="1"/>
          </p:cNvSpPr>
          <p:nvPr>
            <p:ph sz="quarter" idx="11"/>
          </p:nvPr>
        </p:nvSpPr>
        <p:spPr/>
        <p:txBody>
          <a:bodyPr/>
          <a:lstStyle/>
          <a:p>
            <a:endParaRPr lang="en-US"/>
          </a:p>
        </p:txBody>
      </p:sp>
      <p:pic>
        <p:nvPicPr>
          <p:cNvPr id="6" name="Picture 4"/>
          <p:cNvPicPr>
            <a:picLocks noChangeAspect="1" noChangeArrowheads="1"/>
          </p:cNvPicPr>
          <p:nvPr/>
        </p:nvPicPr>
        <p:blipFill rotWithShape="1">
          <a:blip r:embed="rId2"/>
          <a:srcRect l="9265" t="5269" r="9265" b="24070"/>
          <a:stretch/>
        </p:blipFill>
        <p:spPr bwMode="auto">
          <a:xfrm>
            <a:off x="2771800" y="1058918"/>
            <a:ext cx="5034657" cy="5651939"/>
          </a:xfrm>
          <a:prstGeom prst="rect">
            <a:avLst/>
          </a:prstGeom>
          <a:noFill/>
          <a:ln w="9525">
            <a:noFill/>
            <a:miter lim="800000"/>
            <a:headEnd/>
            <a:tailEnd/>
          </a:ln>
        </p:spPr>
      </p:pic>
    </p:spTree>
    <p:extLst>
      <p:ext uri="{BB962C8B-B14F-4D97-AF65-F5344CB8AC3E}">
        <p14:creationId xmlns:p14="http://schemas.microsoft.com/office/powerpoint/2010/main" val="2041517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overflow example 2</a:t>
            </a:r>
          </a:p>
        </p:txBody>
      </p:sp>
      <p:sp>
        <p:nvSpPr>
          <p:cNvPr id="3" name="Content Placeholder 2"/>
          <p:cNvSpPr>
            <a:spLocks noGrp="1"/>
          </p:cNvSpPr>
          <p:nvPr>
            <p:ph sz="quarter" idx="11"/>
          </p:nvPr>
        </p:nvSpPr>
        <p:spPr/>
        <p:txBody>
          <a:bodyPr/>
          <a:lstStyle/>
          <a:p>
            <a:endParaRPr lang="en-US" dirty="0"/>
          </a:p>
        </p:txBody>
      </p:sp>
      <p:pic>
        <p:nvPicPr>
          <p:cNvPr id="4" name="Content Placeholder 3" descr="Two stack overflow example codes. For long description in Notes pane, press F6."/>
          <p:cNvPicPr>
            <a:picLocks noChangeAspect="1"/>
          </p:cNvPicPr>
          <p:nvPr/>
        </p:nvPicPr>
        <p:blipFill rotWithShape="1">
          <a:blip r:embed="rId2">
            <a:extLst>
              <a:ext uri="{28A0092B-C50C-407E-A947-70E740481C1C}">
                <a14:useLocalDpi xmlns:a14="http://schemas.microsoft.com/office/drawing/2010/main" val="0"/>
              </a:ext>
            </a:extLst>
          </a:blip>
          <a:srcRect b="50831"/>
          <a:stretch/>
        </p:blipFill>
        <p:spPr>
          <a:xfrm>
            <a:off x="994226" y="1700808"/>
            <a:ext cx="7822866" cy="4392488"/>
          </a:xfrm>
          <a:prstGeom prst="rect">
            <a:avLst/>
          </a:prstGeom>
        </p:spPr>
      </p:pic>
      <p:sp>
        <p:nvSpPr>
          <p:cNvPr id="5" name="TextBox 3"/>
          <p:cNvSpPr txBox="1">
            <a:spLocks noChangeArrowheads="1"/>
          </p:cNvSpPr>
          <p:nvPr/>
        </p:nvSpPr>
        <p:spPr bwMode="auto">
          <a:xfrm>
            <a:off x="5220072" y="4413157"/>
            <a:ext cx="3477073" cy="1200329"/>
          </a:xfrm>
          <a:prstGeom prst="rect">
            <a:avLst/>
          </a:prstGeom>
          <a:solidFill>
            <a:schemeClr val="accent4">
              <a:lumMod val="40000"/>
              <a:lumOff val="60000"/>
            </a:schemeClr>
          </a:solidFill>
          <a:ln w="9525">
            <a:noFill/>
            <a:miter lim="800000"/>
            <a:headEnd/>
            <a:tailEnd/>
          </a:ln>
        </p:spPr>
        <p:txBody>
          <a:bodyPr wrap="square">
            <a:spAutoFit/>
          </a:bodyPr>
          <a:lstStyle/>
          <a:p>
            <a:pPr eaLnBrk="1" latinLnBrk="0" hangingPunct="1"/>
            <a:r>
              <a:rPr lang="en-US" altLang="en-US" dirty="0" err="1"/>
              <a:t>sprintf</a:t>
            </a:r>
            <a:r>
              <a:rPr lang="en-US" altLang="en-US" dirty="0"/>
              <a:t> is unsafe — when preparing a string longer than </a:t>
            </a:r>
            <a:r>
              <a:rPr lang="en-US" altLang="en-US" dirty="0" err="1">
                <a:latin typeface="Consolas" panose="020B0609020204030204" pitchFamily="49" charset="0"/>
              </a:rPr>
              <a:t>tmp</a:t>
            </a:r>
            <a:r>
              <a:rPr lang="en-US" altLang="en-US" dirty="0"/>
              <a:t> size, it will overwrite parts of the stack frame.</a:t>
            </a:r>
          </a:p>
        </p:txBody>
      </p:sp>
      <p:sp>
        <p:nvSpPr>
          <p:cNvPr id="6" name="TextBox 3"/>
          <p:cNvSpPr txBox="1">
            <a:spLocks noChangeArrowheads="1"/>
          </p:cNvSpPr>
          <p:nvPr/>
        </p:nvSpPr>
        <p:spPr bwMode="auto">
          <a:xfrm>
            <a:off x="6012160" y="2206750"/>
            <a:ext cx="2419363" cy="400110"/>
          </a:xfrm>
          <a:prstGeom prst="rect">
            <a:avLst/>
          </a:prstGeom>
          <a:solidFill>
            <a:schemeClr val="accent4">
              <a:lumMod val="40000"/>
              <a:lumOff val="60000"/>
            </a:schemeClr>
          </a:solidFill>
          <a:ln w="9525">
            <a:noFill/>
            <a:miter lim="800000"/>
            <a:headEnd/>
            <a:tailEnd/>
          </a:ln>
        </p:spPr>
        <p:txBody>
          <a:bodyPr wrap="square">
            <a:spAutoFit/>
          </a:bodyPr>
          <a:lstStyle/>
          <a:p>
            <a:pPr eaLnBrk="1" latinLnBrk="0" hangingPunct="1"/>
            <a:r>
              <a:rPr lang="en-US" altLang="en-US" sz="2000" dirty="0"/>
              <a:t>safe input function</a:t>
            </a:r>
          </a:p>
        </p:txBody>
      </p:sp>
      <p:cxnSp>
        <p:nvCxnSpPr>
          <p:cNvPr id="8" name="Straight Arrow Connector 7">
            <a:extLst>
              <a:ext uri="{FF2B5EF4-FFF2-40B4-BE49-F238E27FC236}">
                <a16:creationId xmlns:a16="http://schemas.microsoft.com/office/drawing/2014/main" xmlns="" id="{7978EC62-CAA5-D069-01B8-22B6AA269086}"/>
              </a:ext>
            </a:extLst>
          </p:cNvPr>
          <p:cNvCxnSpPr>
            <a:cxnSpLocks/>
          </p:cNvCxnSpPr>
          <p:nvPr/>
        </p:nvCxnSpPr>
        <p:spPr>
          <a:xfrm flipH="1" flipV="1">
            <a:off x="5220072" y="3897052"/>
            <a:ext cx="1584176" cy="468052"/>
          </a:xfrm>
          <a:prstGeom prst="straightConnector1">
            <a:avLst/>
          </a:prstGeom>
          <a:ln w="25400">
            <a:solidFill>
              <a:schemeClr val="accent4">
                <a:lumMod val="75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xmlns="" id="{6773AF81-87B4-D1D0-9881-5D4A698F1076}"/>
              </a:ext>
            </a:extLst>
          </p:cNvPr>
          <p:cNvCxnSpPr>
            <a:cxnSpLocks/>
          </p:cNvCxnSpPr>
          <p:nvPr/>
        </p:nvCxnSpPr>
        <p:spPr>
          <a:xfrm flipH="1">
            <a:off x="3995936" y="2444843"/>
            <a:ext cx="1896276" cy="48053"/>
          </a:xfrm>
          <a:prstGeom prst="straightConnector1">
            <a:avLst/>
          </a:prstGeom>
          <a:ln w="25400">
            <a:solidFill>
              <a:schemeClr val="accent4">
                <a:lumMod val="75000"/>
              </a:schemeClr>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194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overflow example 2</a:t>
            </a:r>
          </a:p>
        </p:txBody>
      </p:sp>
      <p:sp>
        <p:nvSpPr>
          <p:cNvPr id="3" name="Content Placeholder 2"/>
          <p:cNvSpPr>
            <a:spLocks noGrp="1"/>
          </p:cNvSpPr>
          <p:nvPr>
            <p:ph sz="quarter" idx="11"/>
          </p:nvPr>
        </p:nvSpPr>
        <p:spPr/>
        <p:txBody>
          <a:bodyPr/>
          <a:lstStyle/>
          <a:p>
            <a:endParaRPr lang="en-US" dirty="0"/>
          </a:p>
        </p:txBody>
      </p:sp>
      <p:pic>
        <p:nvPicPr>
          <p:cNvPr id="4" name="Content Placeholder 3" descr="Two stack overflow example codes. For long description in Notes pane, press F6."/>
          <p:cNvPicPr>
            <a:picLocks noChangeAspect="1"/>
          </p:cNvPicPr>
          <p:nvPr/>
        </p:nvPicPr>
        <p:blipFill rotWithShape="1">
          <a:blip r:embed="rId2">
            <a:extLst>
              <a:ext uri="{28A0092B-C50C-407E-A947-70E740481C1C}">
                <a14:useLocalDpi xmlns:a14="http://schemas.microsoft.com/office/drawing/2010/main" val="0"/>
              </a:ext>
            </a:extLst>
          </a:blip>
          <a:srcRect l="-631" t="55619" r="-332" b="4079"/>
          <a:stretch/>
        </p:blipFill>
        <p:spPr>
          <a:xfrm>
            <a:off x="611560" y="1700808"/>
            <a:ext cx="8372149" cy="3816424"/>
          </a:xfrm>
          <a:prstGeom prst="rect">
            <a:avLst/>
          </a:prstGeom>
        </p:spPr>
      </p:pic>
      <p:sp>
        <p:nvSpPr>
          <p:cNvPr id="6" name="Line Callout 1 5"/>
          <p:cNvSpPr/>
          <p:nvPr/>
        </p:nvSpPr>
        <p:spPr>
          <a:xfrm>
            <a:off x="6084168" y="3730347"/>
            <a:ext cx="2756259" cy="634758"/>
          </a:xfrm>
          <a:prstGeom prst="borderCallout1">
            <a:avLst>
              <a:gd name="adj1" fmla="val 18751"/>
              <a:gd name="adj2" fmla="val -49"/>
              <a:gd name="adj3" fmla="val 106257"/>
              <a:gd name="adj4" fmla="val -507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r>
              <a:rPr lang="en-US" dirty="0"/>
              <a:t>Safe input function: reads only 15 characters</a:t>
            </a:r>
          </a:p>
        </p:txBody>
      </p:sp>
      <p:sp>
        <p:nvSpPr>
          <p:cNvPr id="5" name="Line Callout 1 5">
            <a:extLst>
              <a:ext uri="{FF2B5EF4-FFF2-40B4-BE49-F238E27FC236}">
                <a16:creationId xmlns:a16="http://schemas.microsoft.com/office/drawing/2014/main" xmlns="" id="{CD8220EA-957A-28B2-88CE-2A4FE0E1DF21}"/>
              </a:ext>
            </a:extLst>
          </p:cNvPr>
          <p:cNvSpPr/>
          <p:nvPr/>
        </p:nvSpPr>
        <p:spPr>
          <a:xfrm>
            <a:off x="5220072" y="5199853"/>
            <a:ext cx="3548713" cy="634758"/>
          </a:xfrm>
          <a:prstGeom prst="borderCallout1">
            <a:avLst>
              <a:gd name="adj1" fmla="val 70499"/>
              <a:gd name="adj2" fmla="val -299"/>
              <a:gd name="adj3" fmla="val 15349"/>
              <a:gd name="adj4" fmla="val -225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r>
              <a:rPr lang="en-US" dirty="0"/>
              <a:t>Crash because stack frame of display() was partially corrupted</a:t>
            </a:r>
          </a:p>
        </p:txBody>
      </p:sp>
    </p:spTree>
    <p:extLst>
      <p:ext uri="{BB962C8B-B14F-4D97-AF65-F5344CB8AC3E}">
        <p14:creationId xmlns:p14="http://schemas.microsoft.com/office/powerpoint/2010/main" val="280422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Common unsafe C functions</a:t>
            </a:r>
          </a:p>
        </p:txBody>
      </p:sp>
      <p:sp>
        <p:nvSpPr>
          <p:cNvPr id="5" name="Content Placeholder 4">
            <a:extLst>
              <a:ext uri="{FF2B5EF4-FFF2-40B4-BE49-F238E27FC236}">
                <a16:creationId xmlns:a16="http://schemas.microsoft.com/office/drawing/2014/main" xmlns="" id="{98E7CF15-B31C-D1CB-0626-B2E00E063442}"/>
              </a:ext>
            </a:extLst>
          </p:cNvPr>
          <p:cNvSpPr>
            <a:spLocks noGrp="1"/>
          </p:cNvSpPr>
          <p:nvPr>
            <p:ph sz="quarter" idx="11"/>
          </p:nvPr>
        </p:nvSpPr>
        <p:spPr/>
        <p:txBody>
          <a:bodyPr/>
          <a:lstStyle/>
          <a:p>
            <a:pPr marL="0" indent="0">
              <a:buNone/>
            </a:pPr>
            <a:r>
              <a:rPr lang="en-US" sz="2000" dirty="0"/>
              <a:t>Commonly used unsafe functions, and their safer alternatives*</a:t>
            </a:r>
          </a:p>
        </p:txBody>
      </p:sp>
      <p:graphicFrame>
        <p:nvGraphicFramePr>
          <p:cNvPr id="6" name="Content Placeholder 1">
            <a:extLst>
              <a:ext uri="{FF2B5EF4-FFF2-40B4-BE49-F238E27FC236}">
                <a16:creationId xmlns:a16="http://schemas.microsoft.com/office/drawing/2014/main" xmlns="" id="{36A857EB-64DD-BD10-7104-1322CA71FEC3}"/>
              </a:ext>
            </a:extLst>
          </p:cNvPr>
          <p:cNvGraphicFramePr>
            <a:graphicFrameLocks/>
          </p:cNvGraphicFramePr>
          <p:nvPr>
            <p:extLst>
              <p:ext uri="{D42A27DB-BD31-4B8C-83A1-F6EECF244321}">
                <p14:modId xmlns:p14="http://schemas.microsoft.com/office/powerpoint/2010/main" val="1320545992"/>
              </p:ext>
            </p:extLst>
          </p:nvPr>
        </p:nvGraphicFramePr>
        <p:xfrm>
          <a:off x="323528" y="2189542"/>
          <a:ext cx="8640960" cy="3565972"/>
        </p:xfrm>
        <a:graphic>
          <a:graphicData uri="http://schemas.openxmlformats.org/drawingml/2006/table">
            <a:tbl>
              <a:tblPr bandRow="1">
                <a:tableStyleId>{F5AB1C69-6EDB-4FF4-983F-18BD219EF322}</a:tableStyleId>
              </a:tblPr>
              <a:tblGrid>
                <a:gridCol w="5688632">
                  <a:extLst>
                    <a:ext uri="{9D8B030D-6E8A-4147-A177-3AD203B41FA5}">
                      <a16:colId xmlns:a16="http://schemas.microsoft.com/office/drawing/2014/main" xmlns="" val="3769591955"/>
                    </a:ext>
                  </a:extLst>
                </a:gridCol>
                <a:gridCol w="2952328">
                  <a:extLst>
                    <a:ext uri="{9D8B030D-6E8A-4147-A177-3AD203B41FA5}">
                      <a16:colId xmlns:a16="http://schemas.microsoft.com/office/drawing/2014/main" xmlns="" val="1498412478"/>
                    </a:ext>
                  </a:extLst>
                </a:gridCol>
              </a:tblGrid>
              <a:tr h="370840">
                <a:tc>
                  <a:txBody>
                    <a:bodyPr/>
                    <a:lstStyle/>
                    <a:p>
                      <a:pPr latinLnBrk="0">
                        <a:lnSpc>
                          <a:spcPct val="120000"/>
                        </a:lnSpc>
                      </a:pPr>
                      <a:r>
                        <a:rPr lang="en-US" sz="1600" dirty="0">
                          <a:latin typeface="Consolas" panose="020B0609020204030204" pitchFamily="49" charset="0"/>
                        </a:rPr>
                        <a:t>❌ gets(char *str)</a:t>
                      </a:r>
                    </a:p>
                    <a:p>
                      <a:pPr marL="0" marR="0" lvl="0" indent="0" algn="l" defTabSz="914400" rtl="0" eaLnBrk="1" fontAlgn="auto" latinLnBrk="0" hangingPunct="1">
                        <a:lnSpc>
                          <a:spcPct val="120000"/>
                        </a:lnSpc>
                        <a:spcBef>
                          <a:spcPts val="0"/>
                        </a:spcBef>
                        <a:spcAft>
                          <a:spcPts val="0"/>
                        </a:spcAft>
                        <a:buClrTx/>
                        <a:buSzTx/>
                        <a:buFontTx/>
                        <a:buNone/>
                        <a:tabLst/>
                        <a:defRPr/>
                      </a:pPr>
                      <a:r>
                        <a:rPr lang="en-US" sz="1600" dirty="0">
                          <a:latin typeface="Consolas" panose="020B0609020204030204" pitchFamily="49" charset="0"/>
                        </a:rPr>
                        <a:t>✔️ </a:t>
                      </a:r>
                      <a:r>
                        <a:rPr lang="en-US" sz="1600" dirty="0" err="1">
                          <a:latin typeface="Consolas" panose="020B0609020204030204" pitchFamily="49" charset="0"/>
                        </a:rPr>
                        <a:t>fgets</a:t>
                      </a:r>
                      <a:r>
                        <a:rPr lang="en-US" sz="1600" dirty="0">
                          <a:latin typeface="Consolas" panose="020B0609020204030204" pitchFamily="49" charset="0"/>
                        </a:rPr>
                        <a:t>(char *str, int n, FILE *stream)</a:t>
                      </a:r>
                    </a:p>
                  </a:txBody>
                  <a:tcPr anchor="ctr"/>
                </a:tc>
                <a:tc>
                  <a:txBody>
                    <a:bodyPr/>
                    <a:lstStyle/>
                    <a:p>
                      <a:pPr latinLnBrk="0"/>
                      <a:r>
                        <a:rPr lang="en-US" sz="1600" dirty="0"/>
                        <a:t>Read line from standard input into</a:t>
                      </a:r>
                      <a:r>
                        <a:rPr lang="en-US" sz="1600" dirty="0">
                          <a:latin typeface="Consolas" panose="020B0609020204030204" pitchFamily="49" charset="0"/>
                        </a:rPr>
                        <a:t> str</a:t>
                      </a:r>
                    </a:p>
                  </a:txBody>
                  <a:tcPr anchor="ctr"/>
                </a:tc>
                <a:extLst>
                  <a:ext uri="{0D108BD9-81ED-4DB2-BD59-A6C34878D82A}">
                    <a16:rowId xmlns:a16="http://schemas.microsoft.com/office/drawing/2014/main" xmlns="" val="1788652208"/>
                  </a:ext>
                </a:extLst>
              </a:tr>
              <a:tr h="370840">
                <a:tc>
                  <a:txBody>
                    <a:bodyPr/>
                    <a:lstStyle/>
                    <a:p>
                      <a:pPr latinLnBrk="0">
                        <a:lnSpc>
                          <a:spcPct val="120000"/>
                        </a:lnSpc>
                      </a:pPr>
                      <a:r>
                        <a:rPr lang="en-US" sz="1600" dirty="0">
                          <a:latin typeface="Consolas" panose="020B0609020204030204" pitchFamily="49" charset="0"/>
                        </a:rPr>
                        <a:t>❌ </a:t>
                      </a:r>
                      <a:r>
                        <a:rPr lang="en-US" sz="1600" dirty="0" err="1">
                          <a:latin typeface="Consolas" panose="020B0609020204030204" pitchFamily="49" charset="0"/>
                        </a:rPr>
                        <a:t>strcat</a:t>
                      </a:r>
                      <a:r>
                        <a:rPr lang="en-US" sz="1600" dirty="0">
                          <a:latin typeface="Consolas" panose="020B0609020204030204" pitchFamily="49" charset="0"/>
                        </a:rPr>
                        <a:t>(char *</a:t>
                      </a:r>
                      <a:r>
                        <a:rPr lang="en-US" sz="1600" dirty="0" err="1">
                          <a:latin typeface="Consolas" panose="020B0609020204030204" pitchFamily="49" charset="0"/>
                        </a:rPr>
                        <a:t>dest</a:t>
                      </a:r>
                      <a:r>
                        <a:rPr lang="en-US" sz="1600" dirty="0">
                          <a:latin typeface="Consolas" panose="020B0609020204030204" pitchFamily="49" charset="0"/>
                        </a:rPr>
                        <a:t>, char *</a:t>
                      </a:r>
                      <a:r>
                        <a:rPr lang="en-US" sz="1600" dirty="0" err="1">
                          <a:latin typeface="Consolas" panose="020B0609020204030204" pitchFamily="49" charset="0"/>
                        </a:rPr>
                        <a:t>src</a:t>
                      </a:r>
                      <a:r>
                        <a:rPr lang="en-US" sz="1600" dirty="0">
                          <a:latin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lang="en-US" sz="1600" dirty="0">
                          <a:latin typeface="Consolas" panose="020B0609020204030204" pitchFamily="49" charset="0"/>
                        </a:rPr>
                        <a:t>✔️ </a:t>
                      </a:r>
                      <a:r>
                        <a:rPr lang="en-US" sz="1600" dirty="0" err="1">
                          <a:latin typeface="Consolas" panose="020B0609020204030204" pitchFamily="49" charset="0"/>
                        </a:rPr>
                        <a:t>strncat</a:t>
                      </a:r>
                      <a:r>
                        <a:rPr lang="en-US" sz="1600" dirty="0">
                          <a:latin typeface="Consolas" panose="020B0609020204030204" pitchFamily="49" charset="0"/>
                        </a:rPr>
                        <a:t>(char *</a:t>
                      </a:r>
                      <a:r>
                        <a:rPr lang="en-US" sz="1600" dirty="0" err="1">
                          <a:latin typeface="Consolas" panose="020B0609020204030204" pitchFamily="49" charset="0"/>
                        </a:rPr>
                        <a:t>dest</a:t>
                      </a:r>
                      <a:r>
                        <a:rPr lang="en-US" sz="1600" dirty="0">
                          <a:latin typeface="Consolas" panose="020B0609020204030204" pitchFamily="49" charset="0"/>
                        </a:rPr>
                        <a:t>, const char *</a:t>
                      </a:r>
                      <a:r>
                        <a:rPr lang="en-US" sz="1600" dirty="0" err="1">
                          <a:latin typeface="Consolas" panose="020B0609020204030204" pitchFamily="49" charset="0"/>
                        </a:rPr>
                        <a:t>src</a:t>
                      </a:r>
                      <a:r>
                        <a:rPr lang="en-US" sz="1600" dirty="0">
                          <a:latin typeface="Consolas" panose="020B0609020204030204" pitchFamily="49" charset="0"/>
                        </a:rPr>
                        <a:t>, </a:t>
                      </a:r>
                      <a:r>
                        <a:rPr lang="en-US" sz="1600" dirty="0" err="1">
                          <a:latin typeface="Consolas" panose="020B0609020204030204" pitchFamily="49" charset="0"/>
                        </a:rPr>
                        <a:t>size_t</a:t>
                      </a:r>
                      <a:r>
                        <a:rPr lang="en-US" sz="1600" dirty="0">
                          <a:latin typeface="Consolas" panose="020B0609020204030204" pitchFamily="49" charset="0"/>
                        </a:rPr>
                        <a:t> n)</a:t>
                      </a:r>
                    </a:p>
                  </a:txBody>
                  <a:tcPr anchor="ctr"/>
                </a:tc>
                <a:tc>
                  <a:txBody>
                    <a:bodyPr/>
                    <a:lstStyle/>
                    <a:p>
                      <a:pPr latinLnBrk="0"/>
                      <a:r>
                        <a:rPr lang="en-US" sz="1600" dirty="0"/>
                        <a:t>Append contents of string</a:t>
                      </a:r>
                      <a:r>
                        <a:rPr lang="en-US" sz="1600" dirty="0">
                          <a:latin typeface="Consolas" panose="020B0609020204030204" pitchFamily="49" charset="0"/>
                        </a:rPr>
                        <a:t> </a:t>
                      </a:r>
                      <a:r>
                        <a:rPr lang="en-US" sz="1600" dirty="0" err="1">
                          <a:latin typeface="Consolas" panose="020B0609020204030204" pitchFamily="49" charset="0"/>
                        </a:rPr>
                        <a:t>src</a:t>
                      </a:r>
                      <a:r>
                        <a:rPr lang="en-US" sz="1600" dirty="0">
                          <a:latin typeface="Consolas" panose="020B0609020204030204" pitchFamily="49" charset="0"/>
                        </a:rPr>
                        <a:t> </a:t>
                      </a:r>
                      <a:r>
                        <a:rPr lang="en-US" sz="1600" dirty="0"/>
                        <a:t>to string</a:t>
                      </a:r>
                      <a:r>
                        <a:rPr lang="en-US" sz="1600" dirty="0">
                          <a:latin typeface="Consolas" panose="020B0609020204030204" pitchFamily="49" charset="0"/>
                        </a:rPr>
                        <a:t> </a:t>
                      </a:r>
                      <a:r>
                        <a:rPr lang="en-US" sz="1600" dirty="0" err="1">
                          <a:latin typeface="Consolas" panose="020B0609020204030204" pitchFamily="49" charset="0"/>
                        </a:rPr>
                        <a:t>dest</a:t>
                      </a:r>
                      <a:endParaRPr lang="en-US" sz="1600" dirty="0">
                        <a:latin typeface="Consolas" panose="020B0609020204030204" pitchFamily="49" charset="0"/>
                      </a:endParaRPr>
                    </a:p>
                  </a:txBody>
                  <a:tcPr anchor="ctr"/>
                </a:tc>
                <a:extLst>
                  <a:ext uri="{0D108BD9-81ED-4DB2-BD59-A6C34878D82A}">
                    <a16:rowId xmlns:a16="http://schemas.microsoft.com/office/drawing/2014/main" xmlns="" val="2052650799"/>
                  </a:ext>
                </a:extLst>
              </a:tr>
              <a:tr h="370840">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en-US" sz="1600" dirty="0">
                          <a:latin typeface="Consolas" panose="020B0609020204030204" pitchFamily="49" charset="0"/>
                        </a:rPr>
                        <a:t>❌ </a:t>
                      </a:r>
                      <a:r>
                        <a:rPr lang="en-US" sz="1600" dirty="0" err="1">
                          <a:latin typeface="Consolas" panose="020B0609020204030204" pitchFamily="49" charset="0"/>
                        </a:rPr>
                        <a:t>strcpy</a:t>
                      </a:r>
                      <a:r>
                        <a:rPr lang="en-US" sz="1600" dirty="0">
                          <a:latin typeface="Consolas" panose="020B0609020204030204" pitchFamily="49" charset="0"/>
                        </a:rPr>
                        <a:t>(char *</a:t>
                      </a:r>
                      <a:r>
                        <a:rPr lang="en-US" sz="1600" dirty="0" err="1">
                          <a:latin typeface="Consolas" panose="020B0609020204030204" pitchFamily="49" charset="0"/>
                        </a:rPr>
                        <a:t>dest</a:t>
                      </a:r>
                      <a:r>
                        <a:rPr lang="en-US" sz="1600" dirty="0">
                          <a:latin typeface="Consolas" panose="020B0609020204030204" pitchFamily="49" charset="0"/>
                        </a:rPr>
                        <a:t>, char *</a:t>
                      </a:r>
                      <a:r>
                        <a:rPr lang="en-US" sz="1600" dirty="0" err="1">
                          <a:latin typeface="Consolas" panose="020B0609020204030204" pitchFamily="49" charset="0"/>
                        </a:rPr>
                        <a:t>src</a:t>
                      </a:r>
                      <a:r>
                        <a:rPr lang="en-US" sz="1600" dirty="0">
                          <a:latin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lang="en-US" sz="1600" dirty="0">
                          <a:latin typeface="Consolas" panose="020B0609020204030204" pitchFamily="49" charset="0"/>
                        </a:rPr>
                        <a:t>✔️ </a:t>
                      </a:r>
                      <a:r>
                        <a:rPr lang="en-US" sz="1600" dirty="0" err="1">
                          <a:latin typeface="Consolas" panose="020B0609020204030204" pitchFamily="49" charset="0"/>
                        </a:rPr>
                        <a:t>snprintf</a:t>
                      </a:r>
                      <a:r>
                        <a:rPr lang="en-US" sz="1600" dirty="0">
                          <a:latin typeface="Consolas" panose="020B0609020204030204" pitchFamily="49" charset="0"/>
                        </a:rPr>
                        <a:t> </a:t>
                      </a:r>
                      <a:r>
                        <a:rPr lang="en-US" sz="1600" i="1" dirty="0">
                          <a:latin typeface="+mj-lt"/>
                        </a:rPr>
                        <a:t>or </a:t>
                      </a:r>
                      <a:r>
                        <a:rPr lang="en-US" sz="1600" i="1" kern="1200" dirty="0">
                          <a:solidFill>
                            <a:schemeClr val="dk1"/>
                          </a:solidFill>
                          <a:latin typeface="+mn-lt"/>
                          <a:ea typeface="+mn-ea"/>
                          <a:cs typeface="+mn-cs"/>
                        </a:rPr>
                        <a:t>non standard</a:t>
                      </a:r>
                      <a:r>
                        <a:rPr lang="en-US" sz="1600" dirty="0">
                          <a:latin typeface="Consolas" panose="020B0609020204030204" pitchFamily="49" charset="0"/>
                        </a:rPr>
                        <a:t> </a:t>
                      </a:r>
                      <a:r>
                        <a:rPr lang="en-US" sz="1600" dirty="0" err="1">
                          <a:latin typeface="Consolas" panose="020B0609020204030204" pitchFamily="49" charset="0"/>
                        </a:rPr>
                        <a:t>strlcpy</a:t>
                      </a:r>
                      <a:endParaRPr lang="en-US" sz="1600" dirty="0">
                        <a:latin typeface="+mj-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Copy contents of string</a:t>
                      </a:r>
                      <a:r>
                        <a:rPr lang="en-US" sz="1600" dirty="0">
                          <a:latin typeface="Consolas" panose="020B0609020204030204" pitchFamily="49" charset="0"/>
                        </a:rPr>
                        <a:t> </a:t>
                      </a:r>
                      <a:r>
                        <a:rPr lang="en-US" sz="1600" dirty="0" err="1">
                          <a:latin typeface="Consolas" panose="020B0609020204030204" pitchFamily="49" charset="0"/>
                        </a:rPr>
                        <a:t>src</a:t>
                      </a:r>
                      <a:r>
                        <a:rPr lang="en-US" sz="1600" dirty="0">
                          <a:latin typeface="Consolas" panose="020B0609020204030204" pitchFamily="49" charset="0"/>
                        </a:rPr>
                        <a:t> </a:t>
                      </a:r>
                      <a:r>
                        <a:rPr lang="en-US" sz="1600" dirty="0"/>
                        <a:t>to string</a:t>
                      </a:r>
                      <a:r>
                        <a:rPr lang="en-US" sz="1600" dirty="0">
                          <a:latin typeface="Consolas" panose="020B0609020204030204" pitchFamily="49" charset="0"/>
                        </a:rPr>
                        <a:t> </a:t>
                      </a:r>
                      <a:r>
                        <a:rPr lang="en-US" sz="1600" dirty="0" err="1">
                          <a:latin typeface="Consolas" panose="020B0609020204030204" pitchFamily="49" charset="0"/>
                        </a:rPr>
                        <a:t>dest</a:t>
                      </a:r>
                      <a:endParaRPr lang="en-US" sz="1600" dirty="0">
                        <a:latin typeface="Consolas" panose="020B0609020204030204" pitchFamily="49" charset="0"/>
                      </a:endParaRPr>
                    </a:p>
                  </a:txBody>
                  <a:tcPr anchor="ctr"/>
                </a:tc>
                <a:extLst>
                  <a:ext uri="{0D108BD9-81ED-4DB2-BD59-A6C34878D82A}">
                    <a16:rowId xmlns:a16="http://schemas.microsoft.com/office/drawing/2014/main" xmlns="" val="2166097253"/>
                  </a:ext>
                </a:extLst>
              </a:tr>
              <a:tr h="370840">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en-US" sz="1600" dirty="0">
                          <a:latin typeface="Consolas" panose="020B0609020204030204" pitchFamily="49" charset="0"/>
                        </a:rPr>
                        <a:t>❌ </a:t>
                      </a:r>
                      <a:r>
                        <a:rPr lang="en-US" sz="1600" dirty="0" err="1">
                          <a:latin typeface="Consolas" panose="020B0609020204030204" pitchFamily="49" charset="0"/>
                        </a:rPr>
                        <a:t>sprintf</a:t>
                      </a:r>
                      <a:r>
                        <a:rPr lang="en-US" sz="1600" dirty="0">
                          <a:latin typeface="Consolas" panose="020B0609020204030204" pitchFamily="49" charset="0"/>
                        </a:rPr>
                        <a:t>(char *str, char *format, ...)</a:t>
                      </a:r>
                    </a:p>
                    <a:p>
                      <a:pPr marL="0" marR="0" lvl="0" indent="0" algn="l" defTabSz="914400" rtl="0" eaLnBrk="1" fontAlgn="auto" latinLnBrk="0" hangingPunct="1">
                        <a:lnSpc>
                          <a:spcPct val="120000"/>
                        </a:lnSpc>
                        <a:spcBef>
                          <a:spcPts val="0"/>
                        </a:spcBef>
                        <a:spcAft>
                          <a:spcPts val="0"/>
                        </a:spcAft>
                        <a:buClrTx/>
                        <a:buSzTx/>
                        <a:buFontTx/>
                        <a:buNone/>
                        <a:tabLst/>
                        <a:defRPr/>
                      </a:pPr>
                      <a:r>
                        <a:rPr lang="en-US" sz="1600" dirty="0">
                          <a:latin typeface="Consolas" panose="020B0609020204030204" pitchFamily="49" charset="0"/>
                        </a:rPr>
                        <a:t>✔️ </a:t>
                      </a:r>
                      <a:r>
                        <a:rPr lang="en-US" sz="1600" dirty="0" err="1">
                          <a:latin typeface="Consolas" panose="020B0609020204030204" pitchFamily="49" charset="0"/>
                        </a:rPr>
                        <a:t>snprintf</a:t>
                      </a:r>
                      <a:r>
                        <a:rPr lang="en-US" sz="1600" dirty="0">
                          <a:latin typeface="Consolas" panose="020B0609020204030204" pitchFamily="49" charset="0"/>
                        </a:rPr>
                        <a:t>(char *str, size, char *format,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Create</a:t>
                      </a:r>
                      <a:r>
                        <a:rPr lang="en-US" sz="1600" dirty="0">
                          <a:latin typeface="Consolas" panose="020B0609020204030204" pitchFamily="49" charset="0"/>
                        </a:rPr>
                        <a:t> str </a:t>
                      </a:r>
                      <a:r>
                        <a:rPr lang="en-US" sz="1600" dirty="0"/>
                        <a:t>according to supplied</a:t>
                      </a:r>
                      <a:r>
                        <a:rPr lang="en-US" sz="1600" dirty="0">
                          <a:latin typeface="Consolas" panose="020B0609020204030204" pitchFamily="49" charset="0"/>
                        </a:rPr>
                        <a:t> format</a:t>
                      </a:r>
                    </a:p>
                  </a:txBody>
                  <a:tcPr anchor="ctr"/>
                </a:tc>
                <a:extLst>
                  <a:ext uri="{0D108BD9-81ED-4DB2-BD59-A6C34878D82A}">
                    <a16:rowId xmlns:a16="http://schemas.microsoft.com/office/drawing/2014/main" xmlns="" val="4197539487"/>
                  </a:ext>
                </a:extLst>
              </a:tr>
              <a:tr h="370840">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en-US" sz="1600" dirty="0">
                          <a:latin typeface="Consolas" panose="020B0609020204030204" pitchFamily="49" charset="0"/>
                        </a:rPr>
                        <a:t>❌ </a:t>
                      </a:r>
                      <a:r>
                        <a:rPr lang="en-US" sz="1600" dirty="0" err="1">
                          <a:latin typeface="Consolas" panose="020B0609020204030204" pitchFamily="49" charset="0"/>
                        </a:rPr>
                        <a:t>vsprintf</a:t>
                      </a:r>
                      <a:r>
                        <a:rPr lang="en-US" sz="1600" dirty="0">
                          <a:latin typeface="Consolas" panose="020B0609020204030204" pitchFamily="49" charset="0"/>
                        </a:rPr>
                        <a:t>(char *str, char *format, </a:t>
                      </a:r>
                      <a:r>
                        <a:rPr lang="en-US" sz="1600" dirty="0" err="1">
                          <a:latin typeface="Consolas" panose="020B0609020204030204" pitchFamily="49" charset="0"/>
                        </a:rPr>
                        <a:t>va_list</a:t>
                      </a:r>
                      <a:r>
                        <a:rPr lang="en-US" sz="1600" dirty="0">
                          <a:latin typeface="Consolas" panose="020B0609020204030204" pitchFamily="49" charset="0"/>
                        </a:rPr>
                        <a:t> </a:t>
                      </a:r>
                      <a:r>
                        <a:rPr lang="en-US" sz="1600" dirty="0" err="1">
                          <a:latin typeface="Consolas" panose="020B0609020204030204" pitchFamily="49" charset="0"/>
                        </a:rPr>
                        <a:t>arg</a:t>
                      </a:r>
                      <a:r>
                        <a:rPr lang="en-US" sz="1600" dirty="0">
                          <a:latin typeface="Consolas" panose="020B0609020204030204" pitchFamily="49"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lang="en-US" sz="1600" dirty="0">
                          <a:latin typeface="Consolas" panose="020B0609020204030204" pitchFamily="49" charset="0"/>
                        </a:rPr>
                        <a:t>✔️ vsnprintf(char *str, </a:t>
                      </a:r>
                      <a:r>
                        <a:rPr lang="en-US" sz="1600" dirty="0" err="1">
                          <a:latin typeface="Consolas" panose="020B0609020204030204" pitchFamily="49" charset="0"/>
                        </a:rPr>
                        <a:t>size_t</a:t>
                      </a:r>
                      <a:r>
                        <a:rPr lang="en-US" sz="1600" dirty="0">
                          <a:latin typeface="Consolas" panose="020B0609020204030204" pitchFamily="49" charset="0"/>
                        </a:rPr>
                        <a:t> n, char* format,</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va_list</a:t>
                      </a:r>
                      <a:r>
                        <a:rPr lang="en-US" sz="1600" dirty="0">
                          <a:latin typeface="Consolas" panose="020B0609020204030204" pitchFamily="49" charset="0"/>
                        </a:rPr>
                        <a:t> </a:t>
                      </a:r>
                      <a:r>
                        <a:rPr lang="en-US" sz="1600" dirty="0" err="1">
                          <a:latin typeface="Consolas" panose="020B0609020204030204" pitchFamily="49" charset="0"/>
                        </a:rPr>
                        <a:t>arg</a:t>
                      </a:r>
                      <a:r>
                        <a:rPr lang="en-US" sz="1600" dirty="0">
                          <a:latin typeface="Consolas" panose="020B0609020204030204" pitchFamily="49"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Create</a:t>
                      </a:r>
                      <a:r>
                        <a:rPr lang="en-US" sz="1600" dirty="0">
                          <a:latin typeface="Consolas" panose="020B0609020204030204" pitchFamily="49" charset="0"/>
                        </a:rPr>
                        <a:t> str </a:t>
                      </a:r>
                      <a:r>
                        <a:rPr lang="en-US" sz="1600" dirty="0"/>
                        <a:t>according to supplied</a:t>
                      </a:r>
                      <a:r>
                        <a:rPr lang="en-US" sz="1600" dirty="0">
                          <a:latin typeface="Consolas" panose="020B0609020204030204" pitchFamily="49" charset="0"/>
                        </a:rPr>
                        <a:t> format </a:t>
                      </a:r>
                      <a:r>
                        <a:rPr lang="en-US" sz="1600" dirty="0"/>
                        <a:t>and variables</a:t>
                      </a:r>
                    </a:p>
                  </a:txBody>
                  <a:tcPr anchor="ctr"/>
                </a:tc>
                <a:extLst>
                  <a:ext uri="{0D108BD9-81ED-4DB2-BD59-A6C34878D82A}">
                    <a16:rowId xmlns:a16="http://schemas.microsoft.com/office/drawing/2014/main" xmlns="" val="2773988573"/>
                  </a:ext>
                </a:extLst>
              </a:tr>
            </a:tbl>
          </a:graphicData>
        </a:graphic>
      </p:graphicFrame>
      <p:sp>
        <p:nvSpPr>
          <p:cNvPr id="7" name="TextBox 6">
            <a:extLst>
              <a:ext uri="{FF2B5EF4-FFF2-40B4-BE49-F238E27FC236}">
                <a16:creationId xmlns:a16="http://schemas.microsoft.com/office/drawing/2014/main" xmlns="" id="{65AF3CB2-0F60-0C25-7F4A-4C316296B9DB}"/>
              </a:ext>
            </a:extLst>
          </p:cNvPr>
          <p:cNvSpPr txBox="1"/>
          <p:nvPr/>
        </p:nvSpPr>
        <p:spPr>
          <a:xfrm>
            <a:off x="611560" y="5955951"/>
            <a:ext cx="7704856" cy="584775"/>
          </a:xfrm>
          <a:prstGeom prst="rect">
            <a:avLst/>
          </a:prstGeom>
          <a:noFill/>
        </p:spPr>
        <p:txBody>
          <a:bodyPr wrap="square" rtlCol="0">
            <a:spAutoFit/>
          </a:bodyPr>
          <a:lstStyle/>
          <a:p>
            <a:pPr latinLnBrk="0"/>
            <a:r>
              <a:rPr lang="en-US" sz="1600" dirty="0"/>
              <a:t>Note that even the safe alternatives require programmer to be careful, and pass the correct size value in arguments.</a:t>
            </a:r>
          </a:p>
        </p:txBody>
      </p:sp>
    </p:spTree>
    <p:extLst>
      <p:ext uri="{BB962C8B-B14F-4D97-AF65-F5344CB8AC3E}">
        <p14:creationId xmlns:p14="http://schemas.microsoft.com/office/powerpoint/2010/main" val="242381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Defenses</a:t>
            </a:r>
          </a:p>
        </p:txBody>
      </p:sp>
      <p:sp>
        <p:nvSpPr>
          <p:cNvPr id="3" name="Content Placeholder 2"/>
          <p:cNvSpPr>
            <a:spLocks noGrp="1"/>
          </p:cNvSpPr>
          <p:nvPr>
            <p:ph sz="quarter" idx="11"/>
          </p:nvPr>
        </p:nvSpPr>
        <p:spPr/>
        <p:txBody>
          <a:bodyPr/>
          <a:lstStyle/>
          <a:p>
            <a:r>
              <a:rPr lang="en-US" sz="2800" dirty="0"/>
              <a:t>Buffer overflows are widely exploited</a:t>
            </a:r>
          </a:p>
          <a:p>
            <a:endParaRPr lang="en-US" sz="2800" dirty="0"/>
          </a:p>
          <a:p>
            <a:r>
              <a:rPr lang="en-US" sz="2800" dirty="0"/>
              <a:t>Large amount of vulnerable code in use</a:t>
            </a:r>
          </a:p>
          <a:p>
            <a:pPr lvl="1"/>
            <a:r>
              <a:rPr lang="en-US" sz="2400" dirty="0"/>
              <a:t>despite cause and countermeasures known</a:t>
            </a:r>
          </a:p>
          <a:p>
            <a:endParaRPr lang="en-US" sz="2800" dirty="0"/>
          </a:p>
          <a:p>
            <a:r>
              <a:rPr lang="en-US" sz="2800" dirty="0"/>
              <a:t>Two broad defense approaches</a:t>
            </a:r>
          </a:p>
          <a:p>
            <a:pPr lvl="1"/>
            <a:r>
              <a:rPr lang="en-US" sz="2400" dirty="0"/>
              <a:t>compile-time</a:t>
            </a:r>
          </a:p>
          <a:p>
            <a:pPr lvl="1"/>
            <a:r>
              <a:rPr lang="en-US" sz="2400" dirty="0"/>
              <a:t>run-time: detect attacks in existing programs</a:t>
            </a:r>
          </a:p>
          <a:p>
            <a:pPr lvl="2"/>
            <a:r>
              <a:rPr lang="en-US" sz="2000" dirty="0"/>
              <a:t>can’t remove vulnerabilities, but make it harder for attacker to exploit them</a:t>
            </a:r>
          </a:p>
          <a:p>
            <a:endParaRPr lang="en-US" sz="2800" dirty="0"/>
          </a:p>
        </p:txBody>
      </p:sp>
    </p:spTree>
    <p:extLst>
      <p:ext uri="{BB962C8B-B14F-4D97-AF65-F5344CB8AC3E}">
        <p14:creationId xmlns:p14="http://schemas.microsoft.com/office/powerpoint/2010/main" val="2294538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Compile-Time Defenses</a:t>
            </a:r>
          </a:p>
        </p:txBody>
      </p:sp>
      <p:sp>
        <p:nvSpPr>
          <p:cNvPr id="3" name="Content Placeholder 2"/>
          <p:cNvSpPr>
            <a:spLocks noGrp="1"/>
          </p:cNvSpPr>
          <p:nvPr>
            <p:ph sz="quarter" idx="11"/>
          </p:nvPr>
        </p:nvSpPr>
        <p:spPr/>
        <p:txBody>
          <a:bodyPr/>
          <a:lstStyle/>
          <a:p>
            <a:pPr marL="0" indent="0">
              <a:buNone/>
            </a:pPr>
            <a:r>
              <a:rPr lang="en-US" altLang="en-US" sz="2800" b="1" dirty="0"/>
              <a:t>Choice of programming language </a:t>
            </a:r>
            <a:r>
              <a:rPr lang="en-US" altLang="en-US" sz="2000" b="1" dirty="0"/>
              <a:t>(for </a:t>
            </a:r>
            <a:r>
              <a:rPr lang="en-US" altLang="en-US" sz="2000" b="1" dirty="0">
                <a:solidFill>
                  <a:srgbClr val="C00000"/>
                </a:solidFill>
              </a:rPr>
              <a:t>new</a:t>
            </a:r>
            <a:r>
              <a:rPr lang="en-US" altLang="en-US" sz="2000" b="1" dirty="0"/>
              <a:t> projects)</a:t>
            </a:r>
            <a:endParaRPr lang="en-US" altLang="en-US" sz="2800" b="1" dirty="0"/>
          </a:p>
          <a:p>
            <a:r>
              <a:rPr lang="en-US" altLang="en-US" sz="2400" dirty="0"/>
              <a:t>Modern high level languages (Rust, Swift, Go etc.) apply strong typing and add additional code for bounds checking</a:t>
            </a:r>
          </a:p>
          <a:p>
            <a:pPr lvl="1"/>
            <a:r>
              <a:rPr lang="en-US" altLang="en-US" sz="2000" dirty="0"/>
              <a:t>not vulnerable to buffer overflow</a:t>
            </a:r>
          </a:p>
          <a:p>
            <a:pPr lvl="1"/>
            <a:r>
              <a:rPr lang="en-US" altLang="en-US" sz="2000" dirty="0"/>
              <a:t>compiler enforces permissible operations on variables</a:t>
            </a:r>
          </a:p>
          <a:p>
            <a:pPr lvl="1"/>
            <a:r>
              <a:rPr lang="en-US" altLang="en-US" sz="2000" dirty="0"/>
              <a:t>runtime checking </a:t>
            </a:r>
            <a:r>
              <a:rPr lang="en-US" altLang="en-US" sz="2000" u="sng" dirty="0"/>
              <a:t>crashes</a:t>
            </a:r>
            <a:r>
              <a:rPr lang="en-US" altLang="en-US" sz="2000" dirty="0"/>
              <a:t> the programs for out-of-bounds read/write</a:t>
            </a:r>
          </a:p>
          <a:p>
            <a:pPr lvl="2"/>
            <a:r>
              <a:rPr lang="en-US" altLang="en-US" sz="1800" dirty="0"/>
              <a:t>crashing is not pretty, but safer than undefined </a:t>
            </a:r>
            <a:r>
              <a:rPr lang="en-US" altLang="en-US" sz="1800" dirty="0" err="1"/>
              <a:t>behaviour</a:t>
            </a:r>
            <a:r>
              <a:rPr lang="en-US" altLang="en-US" sz="1800" dirty="0"/>
              <a:t> of C</a:t>
            </a:r>
          </a:p>
          <a:p>
            <a:r>
              <a:rPr lang="en-US" altLang="en-US" sz="2400" dirty="0"/>
              <a:t>These languages do have higher cost in resource use</a:t>
            </a:r>
          </a:p>
          <a:p>
            <a:r>
              <a:rPr lang="en-US" altLang="en-US" sz="2400" dirty="0"/>
              <a:t>…and restrictions on access to hardware</a:t>
            </a:r>
          </a:p>
          <a:p>
            <a:pPr lvl="1"/>
            <a:r>
              <a:rPr lang="en-US" altLang="en-US" sz="2000" dirty="0"/>
              <a:t>so still need some code in C like languages</a:t>
            </a:r>
          </a:p>
          <a:p>
            <a:endParaRPr lang="en-US" sz="2400" dirty="0"/>
          </a:p>
        </p:txBody>
      </p:sp>
    </p:spTree>
    <p:extLst>
      <p:ext uri="{BB962C8B-B14F-4D97-AF65-F5344CB8AC3E}">
        <p14:creationId xmlns:p14="http://schemas.microsoft.com/office/powerpoint/2010/main" val="1212606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Compile-Time Defenses</a:t>
            </a:r>
          </a:p>
        </p:txBody>
      </p:sp>
      <p:sp>
        <p:nvSpPr>
          <p:cNvPr id="3" name="Content Placeholder 2"/>
          <p:cNvSpPr>
            <a:spLocks noGrp="1"/>
          </p:cNvSpPr>
          <p:nvPr>
            <p:ph sz="quarter" idx="11"/>
          </p:nvPr>
        </p:nvSpPr>
        <p:spPr/>
        <p:txBody>
          <a:bodyPr/>
          <a:lstStyle/>
          <a:p>
            <a:pPr marL="0" indent="0">
              <a:buNone/>
            </a:pPr>
            <a:r>
              <a:rPr lang="en-US" altLang="en-US" sz="2800" b="1" dirty="0"/>
              <a:t>Safe coding techniques</a:t>
            </a:r>
          </a:p>
          <a:p>
            <a:r>
              <a:rPr lang="en-US" altLang="en-US" sz="2400" dirty="0"/>
              <a:t>If using potentially unsafe languages (like C), programmer must explicitly write safe code</a:t>
            </a:r>
          </a:p>
          <a:p>
            <a:pPr lvl="1"/>
            <a:r>
              <a:rPr lang="en-US" altLang="en-US" sz="2000" dirty="0"/>
              <a:t>by design with new code</a:t>
            </a:r>
          </a:p>
          <a:p>
            <a:pPr lvl="1"/>
            <a:r>
              <a:rPr lang="en-US" altLang="en-US" sz="2000" b="1" dirty="0"/>
              <a:t>extensive code review</a:t>
            </a:r>
            <a:r>
              <a:rPr lang="en-US" altLang="en-US" sz="2000" b="1" i="1" dirty="0"/>
              <a:t> </a:t>
            </a:r>
            <a:r>
              <a:rPr lang="en-US" altLang="en-US" sz="2000" dirty="0"/>
              <a:t>of existing code, (e.g. </a:t>
            </a:r>
            <a:r>
              <a:rPr lang="en-US" altLang="en-US" sz="2000" dirty="0" err="1"/>
              <a:t>OpenBSD</a:t>
            </a:r>
            <a:r>
              <a:rPr lang="en-US" altLang="en-US" sz="2000" dirty="0"/>
              <a:t>)</a:t>
            </a:r>
          </a:p>
          <a:p>
            <a:pPr lvl="1"/>
            <a:endParaRPr lang="en-US" altLang="en-US" sz="2000" dirty="0"/>
          </a:p>
          <a:p>
            <a:r>
              <a:rPr lang="en-US" altLang="en-US" sz="2400" dirty="0"/>
              <a:t>Buffer overflow safety a subset of general safe coding techniques </a:t>
            </a:r>
          </a:p>
          <a:p>
            <a:endParaRPr lang="en-US" altLang="en-US" sz="2400" dirty="0"/>
          </a:p>
          <a:p>
            <a:r>
              <a:rPr lang="en-US" altLang="en-US" sz="2400" dirty="0"/>
              <a:t>Allow for graceful failure </a:t>
            </a:r>
            <a:r>
              <a:rPr lang="en-US" altLang="en-US" sz="1800" b="1" dirty="0"/>
              <a:t>(know how things may go wrong)</a:t>
            </a:r>
            <a:endParaRPr lang="en-US" altLang="en-US" sz="2400" b="1" dirty="0"/>
          </a:p>
          <a:p>
            <a:pPr lvl="1"/>
            <a:r>
              <a:rPr lang="en-US" altLang="en-US" sz="2000" dirty="0"/>
              <a:t>check for sufficient space in any buffer</a:t>
            </a:r>
          </a:p>
          <a:p>
            <a:endParaRPr lang="en-US" sz="2000" dirty="0"/>
          </a:p>
        </p:txBody>
      </p:sp>
    </p:spTree>
    <p:extLst>
      <p:ext uri="{BB962C8B-B14F-4D97-AF65-F5344CB8AC3E}">
        <p14:creationId xmlns:p14="http://schemas.microsoft.com/office/powerpoint/2010/main" val="4078659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Compile-Time Defenses</a:t>
            </a:r>
          </a:p>
        </p:txBody>
      </p:sp>
      <p:sp>
        <p:nvSpPr>
          <p:cNvPr id="3" name="Content Placeholder 2"/>
          <p:cNvSpPr>
            <a:spLocks noGrp="1"/>
          </p:cNvSpPr>
          <p:nvPr>
            <p:ph sz="quarter" idx="11"/>
          </p:nvPr>
        </p:nvSpPr>
        <p:spPr/>
        <p:txBody>
          <a:bodyPr/>
          <a:lstStyle/>
          <a:p>
            <a:pPr marL="0" indent="0">
              <a:buNone/>
            </a:pPr>
            <a:r>
              <a:rPr lang="en-US" altLang="en-US" sz="2800" b="1" dirty="0"/>
              <a:t>Language extensions, Safe libraries</a:t>
            </a:r>
          </a:p>
          <a:p>
            <a:r>
              <a:rPr lang="en-US" altLang="en-US" sz="2400" dirty="0"/>
              <a:t>Proposals for safety extensions to C: memory range checks added by compiler</a:t>
            </a:r>
          </a:p>
          <a:p>
            <a:pPr lvl="1"/>
            <a:r>
              <a:rPr lang="en-US" altLang="en-US" sz="2000" dirty="0"/>
              <a:t>performance penalties</a:t>
            </a:r>
          </a:p>
          <a:p>
            <a:pPr lvl="1"/>
            <a:r>
              <a:rPr lang="en-US" altLang="en-US" sz="2000" dirty="0"/>
              <a:t>must compile programs with special compiler</a:t>
            </a:r>
          </a:p>
          <a:p>
            <a:pPr lvl="1"/>
            <a:endParaRPr lang="en-US" altLang="en-US" sz="2000" dirty="0"/>
          </a:p>
          <a:p>
            <a:r>
              <a:rPr lang="en-US" altLang="en-US" sz="2400" dirty="0"/>
              <a:t>Several safer standard library variants</a:t>
            </a:r>
          </a:p>
          <a:p>
            <a:pPr lvl="1"/>
            <a:r>
              <a:rPr lang="en-US" altLang="en-US" sz="2000" dirty="0"/>
              <a:t>new functions, e.g. </a:t>
            </a:r>
            <a:r>
              <a:rPr lang="en-US" altLang="en-US" sz="2000" dirty="0" err="1"/>
              <a:t>strlcpy</a:t>
            </a:r>
            <a:r>
              <a:rPr lang="en-US" altLang="en-US" sz="2000" dirty="0"/>
              <a:t>()</a:t>
            </a:r>
          </a:p>
          <a:p>
            <a:pPr lvl="1"/>
            <a:r>
              <a:rPr lang="en-US" altLang="en-US" sz="2000" dirty="0"/>
              <a:t>safer re-implementation of standard functions as a dynamic library, e.g. </a:t>
            </a:r>
            <a:r>
              <a:rPr lang="en-US" altLang="en-US" sz="2000" dirty="0" err="1"/>
              <a:t>Libsafe</a:t>
            </a:r>
            <a:endParaRPr lang="en-US" altLang="en-US" sz="2000" dirty="0"/>
          </a:p>
          <a:p>
            <a:endParaRPr lang="en-US" sz="2400" dirty="0"/>
          </a:p>
        </p:txBody>
      </p:sp>
    </p:spTree>
    <p:extLst>
      <p:ext uri="{BB962C8B-B14F-4D97-AF65-F5344CB8AC3E}">
        <p14:creationId xmlns:p14="http://schemas.microsoft.com/office/powerpoint/2010/main" val="1194010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Compile-Time Defenses</a:t>
            </a:r>
          </a:p>
        </p:txBody>
      </p:sp>
      <p:sp>
        <p:nvSpPr>
          <p:cNvPr id="3" name="Content Placeholder 2"/>
          <p:cNvSpPr>
            <a:spLocks noGrp="1"/>
          </p:cNvSpPr>
          <p:nvPr>
            <p:ph sz="quarter" idx="11"/>
          </p:nvPr>
        </p:nvSpPr>
        <p:spPr>
          <a:xfrm>
            <a:off x="467544" y="1560612"/>
            <a:ext cx="5976663" cy="4676700"/>
          </a:xfrm>
        </p:spPr>
        <p:txBody>
          <a:bodyPr/>
          <a:lstStyle/>
          <a:p>
            <a:pPr marL="0" indent="0">
              <a:buNone/>
            </a:pPr>
            <a:r>
              <a:rPr lang="en-US" altLang="en-US" sz="2800" b="1" dirty="0"/>
              <a:t>Stack Protection</a:t>
            </a:r>
          </a:p>
          <a:p>
            <a:r>
              <a:rPr lang="en-US" altLang="en-US" sz="2400" dirty="0" err="1"/>
              <a:t>Stackgaurd</a:t>
            </a:r>
            <a:r>
              <a:rPr lang="en-US" altLang="en-US" sz="2400" dirty="0"/>
              <a:t> (GCC), Visual C++ /GS flag: add function entry and exit code to check stack for signs of corruption</a:t>
            </a:r>
          </a:p>
          <a:p>
            <a:pPr lvl="1"/>
            <a:r>
              <a:rPr lang="en-US" altLang="en-US" sz="2000" dirty="0"/>
              <a:t>place a randomly chosen value (canary) between local variables and saved frame pointer</a:t>
            </a:r>
          </a:p>
          <a:p>
            <a:pPr lvl="1"/>
            <a:r>
              <a:rPr lang="en-US" altLang="en-US" sz="2000" dirty="0"/>
              <a:t>upon function return, check if canary value has changed. Any buffer overflow attempt would overwrite this value first, before modifying frame pointer and return address</a:t>
            </a:r>
          </a:p>
          <a:p>
            <a:pPr lvl="1"/>
            <a:r>
              <a:rPr lang="en-US" altLang="en-US" sz="2000" dirty="0"/>
              <a:t>abort program if change found</a:t>
            </a:r>
          </a:p>
          <a:p>
            <a:pPr lvl="1"/>
            <a:r>
              <a:rPr lang="en-US" altLang="en-US" sz="2000" dirty="0"/>
              <a:t>issues: recompilation, debugger support</a:t>
            </a:r>
          </a:p>
          <a:p>
            <a:pPr lvl="1"/>
            <a:endParaRPr lang="en-US" altLang="en-US" sz="2000" dirty="0"/>
          </a:p>
        </p:txBody>
      </p:sp>
      <p:graphicFrame>
        <p:nvGraphicFramePr>
          <p:cNvPr id="5" name="Table 4">
            <a:extLst>
              <a:ext uri="{FF2B5EF4-FFF2-40B4-BE49-F238E27FC236}">
                <a16:creationId xmlns:a16="http://schemas.microsoft.com/office/drawing/2014/main" xmlns="" id="{A80C8BB0-248E-C468-2BA5-5EBB7C846619}"/>
              </a:ext>
            </a:extLst>
          </p:cNvPr>
          <p:cNvGraphicFramePr>
            <a:graphicFrameLocks noGrp="1"/>
          </p:cNvGraphicFramePr>
          <p:nvPr>
            <p:extLst>
              <p:ext uri="{D42A27DB-BD31-4B8C-83A1-F6EECF244321}">
                <p14:modId xmlns:p14="http://schemas.microsoft.com/office/powerpoint/2010/main" val="1060238208"/>
              </p:ext>
            </p:extLst>
          </p:nvPr>
        </p:nvGraphicFramePr>
        <p:xfrm>
          <a:off x="6538045" y="1628800"/>
          <a:ext cx="1714384" cy="4450080"/>
        </p:xfrm>
        <a:graphic>
          <a:graphicData uri="http://schemas.openxmlformats.org/drawingml/2006/table">
            <a:tbl>
              <a:tblPr bandRow="1">
                <a:tableStyleId>{793D81CF-94F2-401A-BA57-92F5A7B2D0C5}</a:tableStyleId>
              </a:tblPr>
              <a:tblGrid>
                <a:gridCol w="1714384">
                  <a:extLst>
                    <a:ext uri="{9D8B030D-6E8A-4147-A177-3AD203B41FA5}">
                      <a16:colId xmlns:a16="http://schemas.microsoft.com/office/drawing/2014/main" xmlns="" val="3814280765"/>
                    </a:ext>
                  </a:extLst>
                </a:gridCol>
              </a:tblGrid>
              <a:tr h="370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a:txBody>
                  <a:tcPr>
                    <a:lnT w="12700" cmpd="sng">
                      <a:noFill/>
                    </a:lnT>
                  </a:tcPr>
                </a:tc>
                <a:extLst>
                  <a:ext uri="{0D108BD9-81ED-4DB2-BD59-A6C34878D82A}">
                    <a16:rowId xmlns:a16="http://schemas.microsoft.com/office/drawing/2014/main" xmlns="" val="511511752"/>
                  </a:ext>
                </a:extLst>
              </a:tr>
              <a:tr h="3708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dirty="0"/>
                        <a:t>parameters</a:t>
                      </a:r>
                    </a:p>
                  </a:txBody>
                  <a:tcPr/>
                </a:tc>
                <a:extLst>
                  <a:ext uri="{0D108BD9-81ED-4DB2-BD59-A6C34878D82A}">
                    <a16:rowId xmlns:a16="http://schemas.microsoft.com/office/drawing/2014/main" xmlns="" val="4238888951"/>
                  </a:ext>
                </a:extLst>
              </a:tr>
              <a:tr h="3708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dirty="0"/>
                        <a:t>return address</a:t>
                      </a:r>
                    </a:p>
                  </a:txBody>
                  <a:tcPr/>
                </a:tc>
                <a:extLst>
                  <a:ext uri="{0D108BD9-81ED-4DB2-BD59-A6C34878D82A}">
                    <a16:rowId xmlns:a16="http://schemas.microsoft.com/office/drawing/2014/main" xmlns="" val="3014521401"/>
                  </a:ext>
                </a:extLst>
              </a:tr>
              <a:tr h="3708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dirty="0"/>
                        <a:t>frame pointer</a:t>
                      </a:r>
                    </a:p>
                  </a:txBody>
                  <a:tcPr/>
                </a:tc>
                <a:extLst>
                  <a:ext uri="{0D108BD9-81ED-4DB2-BD59-A6C34878D82A}">
                    <a16:rowId xmlns:a16="http://schemas.microsoft.com/office/drawing/2014/main" xmlns="" val="968925711"/>
                  </a:ext>
                </a:extLst>
              </a:tr>
              <a:tr h="370840">
                <a:tc>
                  <a:txBody>
                    <a:bodyPr/>
                    <a:lstStyle/>
                    <a:p>
                      <a:pPr algn="ctr"/>
                      <a:r>
                        <a:rPr lang="en-US" dirty="0"/>
                        <a:t>canary</a:t>
                      </a:r>
                    </a:p>
                  </a:txBody>
                  <a:tcPr>
                    <a:solidFill>
                      <a:srgbClr val="92D050"/>
                    </a:solidFill>
                  </a:tcPr>
                </a:tc>
                <a:extLst>
                  <a:ext uri="{0D108BD9-81ED-4DB2-BD59-A6C34878D82A}">
                    <a16:rowId xmlns:a16="http://schemas.microsoft.com/office/drawing/2014/main" xmlns="" val="1623014188"/>
                  </a:ext>
                </a:extLst>
              </a:tr>
              <a:tr h="370840">
                <a:tc>
                  <a:txBody>
                    <a:bodyPr/>
                    <a:lstStyle/>
                    <a:p>
                      <a:pPr algn="ctr"/>
                      <a:r>
                        <a:rPr lang="en-US" dirty="0"/>
                        <a:t>locals</a:t>
                      </a:r>
                    </a:p>
                  </a:txBody>
                  <a:tcPr/>
                </a:tc>
                <a:extLst>
                  <a:ext uri="{0D108BD9-81ED-4DB2-BD59-A6C34878D82A}">
                    <a16:rowId xmlns:a16="http://schemas.microsoft.com/office/drawing/2014/main" xmlns="" val="2662543446"/>
                  </a:ext>
                </a:extLst>
              </a:tr>
              <a:tr h="3708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dirty="0"/>
                        <a:t>parameters</a:t>
                      </a:r>
                    </a:p>
                  </a:txBody>
                  <a:tcPr/>
                </a:tc>
                <a:extLst>
                  <a:ext uri="{0D108BD9-81ED-4DB2-BD59-A6C34878D82A}">
                    <a16:rowId xmlns:a16="http://schemas.microsoft.com/office/drawing/2014/main" xmlns="" val="1189779623"/>
                  </a:ext>
                </a:extLst>
              </a:tr>
              <a:tr h="3708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dirty="0"/>
                        <a:t>return address</a:t>
                      </a:r>
                    </a:p>
                  </a:txBody>
                  <a:tcPr/>
                </a:tc>
                <a:extLst>
                  <a:ext uri="{0D108BD9-81ED-4DB2-BD59-A6C34878D82A}">
                    <a16:rowId xmlns:a16="http://schemas.microsoft.com/office/drawing/2014/main" xmlns="" val="872516125"/>
                  </a:ext>
                </a:extLst>
              </a:tr>
              <a:tr h="3708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dirty="0"/>
                        <a:t>frame pointer</a:t>
                      </a:r>
                    </a:p>
                  </a:txBody>
                  <a:tcPr/>
                </a:tc>
                <a:extLst>
                  <a:ext uri="{0D108BD9-81ED-4DB2-BD59-A6C34878D82A}">
                    <a16:rowId xmlns:a16="http://schemas.microsoft.com/office/drawing/2014/main" xmlns="" val="175229713"/>
                  </a:ext>
                </a:extLst>
              </a:tr>
              <a:tr h="370840">
                <a:tc>
                  <a:txBody>
                    <a:bodyPr/>
                    <a:lstStyle/>
                    <a:p>
                      <a:pPr algn="ctr"/>
                      <a:r>
                        <a:rPr lang="en-US" dirty="0"/>
                        <a:t>canary</a:t>
                      </a:r>
                    </a:p>
                  </a:txBody>
                  <a:tcPr>
                    <a:solidFill>
                      <a:srgbClr val="92D050"/>
                    </a:solidFill>
                  </a:tcPr>
                </a:tc>
                <a:extLst>
                  <a:ext uri="{0D108BD9-81ED-4DB2-BD59-A6C34878D82A}">
                    <a16:rowId xmlns:a16="http://schemas.microsoft.com/office/drawing/2014/main" xmlns="" val="1182731198"/>
                  </a:ext>
                </a:extLst>
              </a:tr>
              <a:tr h="370840">
                <a:tc>
                  <a:txBody>
                    <a:bodyPr/>
                    <a:lstStyle/>
                    <a:p>
                      <a:pPr algn="ctr"/>
                      <a:r>
                        <a:rPr lang="en-US" dirty="0"/>
                        <a:t>locals</a:t>
                      </a:r>
                    </a:p>
                  </a:txBody>
                  <a:tcPr/>
                </a:tc>
                <a:extLst>
                  <a:ext uri="{0D108BD9-81ED-4DB2-BD59-A6C34878D82A}">
                    <a16:rowId xmlns:a16="http://schemas.microsoft.com/office/drawing/2014/main" xmlns="" val="2961730244"/>
                  </a:ext>
                </a:extLst>
              </a:tr>
              <a:tr h="370840">
                <a:tc>
                  <a:txBody>
                    <a:bodyPr/>
                    <a:lstStyle/>
                    <a:p>
                      <a:endParaRPr lang="en-US" dirty="0"/>
                    </a:p>
                  </a:txBody>
                  <a:tcPr>
                    <a:lnB w="12700" cmpd="sng">
                      <a:noFill/>
                    </a:lnB>
                  </a:tcPr>
                </a:tc>
                <a:extLst>
                  <a:ext uri="{0D108BD9-81ED-4DB2-BD59-A6C34878D82A}">
                    <a16:rowId xmlns:a16="http://schemas.microsoft.com/office/drawing/2014/main" xmlns="" val="2670164531"/>
                  </a:ext>
                </a:extLst>
              </a:tr>
            </a:tbl>
          </a:graphicData>
        </a:graphic>
      </p:graphicFrame>
      <p:sp>
        <p:nvSpPr>
          <p:cNvPr id="7" name="TextBox 6">
            <a:extLst>
              <a:ext uri="{FF2B5EF4-FFF2-40B4-BE49-F238E27FC236}">
                <a16:creationId xmlns:a16="http://schemas.microsoft.com/office/drawing/2014/main" xmlns="" id="{361BEAC1-AAB0-B95E-D356-33F9DB720C09}"/>
              </a:ext>
            </a:extLst>
          </p:cNvPr>
          <p:cNvSpPr txBox="1"/>
          <p:nvPr/>
        </p:nvSpPr>
        <p:spPr>
          <a:xfrm>
            <a:off x="8410253" y="2833191"/>
            <a:ext cx="788999" cy="307777"/>
          </a:xfrm>
          <a:prstGeom prst="rect">
            <a:avLst/>
          </a:prstGeom>
          <a:noFill/>
        </p:spPr>
        <p:txBody>
          <a:bodyPr wrap="none" rtlCol="0">
            <a:spAutoFit/>
          </a:bodyPr>
          <a:lstStyle/>
          <a:p>
            <a:r>
              <a:rPr lang="en-US" sz="1400" b="1" dirty="0"/>
              <a:t>frame1</a:t>
            </a:r>
          </a:p>
        </p:txBody>
      </p:sp>
      <p:sp>
        <p:nvSpPr>
          <p:cNvPr id="8" name="TextBox 7">
            <a:extLst>
              <a:ext uri="{FF2B5EF4-FFF2-40B4-BE49-F238E27FC236}">
                <a16:creationId xmlns:a16="http://schemas.microsoft.com/office/drawing/2014/main" xmlns="" id="{3F765425-A63A-7E33-7B89-EC5B79AEA099}"/>
              </a:ext>
            </a:extLst>
          </p:cNvPr>
          <p:cNvSpPr txBox="1"/>
          <p:nvPr/>
        </p:nvSpPr>
        <p:spPr>
          <a:xfrm>
            <a:off x="8410253" y="4633391"/>
            <a:ext cx="788999" cy="307777"/>
          </a:xfrm>
          <a:prstGeom prst="rect">
            <a:avLst/>
          </a:prstGeom>
          <a:noFill/>
        </p:spPr>
        <p:txBody>
          <a:bodyPr wrap="none" rtlCol="0">
            <a:spAutoFit/>
          </a:bodyPr>
          <a:lstStyle/>
          <a:p>
            <a:r>
              <a:rPr lang="en-US" sz="1400" b="1" dirty="0"/>
              <a:t>frame2</a:t>
            </a:r>
          </a:p>
        </p:txBody>
      </p:sp>
      <p:cxnSp>
        <p:nvCxnSpPr>
          <p:cNvPr id="10" name="Straight Arrow Connector 9">
            <a:extLst>
              <a:ext uri="{FF2B5EF4-FFF2-40B4-BE49-F238E27FC236}">
                <a16:creationId xmlns:a16="http://schemas.microsoft.com/office/drawing/2014/main" xmlns="" id="{3A039A0B-FF98-D603-13FE-67FED67D1776}"/>
              </a:ext>
            </a:extLst>
          </p:cNvPr>
          <p:cNvCxnSpPr>
            <a:cxnSpLocks/>
          </p:cNvCxnSpPr>
          <p:nvPr/>
        </p:nvCxnSpPr>
        <p:spPr>
          <a:xfrm>
            <a:off x="7402141" y="5877272"/>
            <a:ext cx="0" cy="432048"/>
          </a:xfrm>
          <a:prstGeom prst="straightConnector1">
            <a:avLst/>
          </a:prstGeom>
          <a:ln w="25400">
            <a:solidFill>
              <a:schemeClr val="accent5">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5C9A9534-F8F2-281D-5000-D35940AA5015}"/>
              </a:ext>
            </a:extLst>
          </p:cNvPr>
          <p:cNvSpPr txBox="1"/>
          <p:nvPr/>
        </p:nvSpPr>
        <p:spPr>
          <a:xfrm>
            <a:off x="6732240" y="6262191"/>
            <a:ext cx="1448179" cy="338554"/>
          </a:xfrm>
          <a:prstGeom prst="rect">
            <a:avLst/>
          </a:prstGeom>
          <a:noFill/>
        </p:spPr>
        <p:txBody>
          <a:bodyPr wrap="square" rtlCol="0">
            <a:spAutoFit/>
          </a:bodyPr>
          <a:lstStyle/>
          <a:p>
            <a:pPr algn="ctr"/>
            <a:r>
              <a:rPr lang="en-US" sz="1600" dirty="0"/>
              <a:t>stack growth</a:t>
            </a:r>
          </a:p>
        </p:txBody>
      </p:sp>
      <p:sp>
        <p:nvSpPr>
          <p:cNvPr id="9" name="Right Bracket 8">
            <a:extLst>
              <a:ext uri="{FF2B5EF4-FFF2-40B4-BE49-F238E27FC236}">
                <a16:creationId xmlns:a16="http://schemas.microsoft.com/office/drawing/2014/main" xmlns="" id="{F94D1276-94AB-5167-965D-C361878E042A}"/>
              </a:ext>
            </a:extLst>
          </p:cNvPr>
          <p:cNvSpPr/>
          <p:nvPr/>
        </p:nvSpPr>
        <p:spPr>
          <a:xfrm>
            <a:off x="8301749" y="2060848"/>
            <a:ext cx="131535" cy="1735200"/>
          </a:xfrm>
          <a:prstGeom prst="rightBracket">
            <a:avLst/>
          </a:prstGeom>
          <a:ln w="25400">
            <a:solidFill>
              <a:srgbClr val="BE4B4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ket 11">
            <a:extLst>
              <a:ext uri="{FF2B5EF4-FFF2-40B4-BE49-F238E27FC236}">
                <a16:creationId xmlns:a16="http://schemas.microsoft.com/office/drawing/2014/main" xmlns="" id="{3705E9F9-09CD-531B-DA9F-B8C52C75B684}"/>
              </a:ext>
            </a:extLst>
          </p:cNvPr>
          <p:cNvSpPr/>
          <p:nvPr/>
        </p:nvSpPr>
        <p:spPr>
          <a:xfrm>
            <a:off x="8301749" y="3926048"/>
            <a:ext cx="131535" cy="1735200"/>
          </a:xfrm>
          <a:prstGeom prst="rightBracket">
            <a:avLst/>
          </a:prstGeom>
          <a:ln w="25400">
            <a:solidFill>
              <a:srgbClr val="BE4B4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344073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581AA2-65D8-597B-962B-90452FFEA0E1}"/>
              </a:ext>
            </a:extLst>
          </p:cNvPr>
          <p:cNvSpPr>
            <a:spLocks noGrp="1"/>
          </p:cNvSpPr>
          <p:nvPr>
            <p:ph type="title"/>
          </p:nvPr>
        </p:nvSpPr>
        <p:spPr/>
        <p:txBody>
          <a:bodyPr/>
          <a:lstStyle/>
          <a:p>
            <a:r>
              <a:rPr lang="en-US" dirty="0"/>
              <a:t>Compile-Time Defenses</a:t>
            </a:r>
          </a:p>
        </p:txBody>
      </p:sp>
      <p:sp>
        <p:nvSpPr>
          <p:cNvPr id="3" name="Content Placeholder 2">
            <a:extLst>
              <a:ext uri="{FF2B5EF4-FFF2-40B4-BE49-F238E27FC236}">
                <a16:creationId xmlns:a16="http://schemas.microsoft.com/office/drawing/2014/main" xmlns="" id="{F59C53D7-33A5-AC10-A875-ECA982B7C35A}"/>
              </a:ext>
            </a:extLst>
          </p:cNvPr>
          <p:cNvSpPr>
            <a:spLocks noGrp="1"/>
          </p:cNvSpPr>
          <p:nvPr>
            <p:ph sz="quarter" idx="11"/>
          </p:nvPr>
        </p:nvSpPr>
        <p:spPr/>
        <p:txBody>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altLang="en-US" sz="2800" b="1" i="0" u="none" strike="noStrike" kern="1200" cap="none" spc="0" normalizeH="0" baseline="0" noProof="0" dirty="0">
                <a:ln>
                  <a:noFill/>
                </a:ln>
                <a:solidFill>
                  <a:prstClr val="black"/>
                </a:solidFill>
                <a:effectLst/>
                <a:uLnTx/>
                <a:uFillTx/>
                <a:latin typeface="맑은 고딕"/>
                <a:ea typeface="+mn-ea"/>
                <a:cs typeface="+mn-cs"/>
              </a:rPr>
              <a:t>Stack Protection</a:t>
            </a:r>
          </a:p>
          <a:p>
            <a:r>
              <a:rPr lang="en-US" altLang="en-US" sz="2400" dirty="0"/>
              <a:t>Alternate method: at function entry, copy the return address in a safe, non-corruptible memory area</a:t>
            </a:r>
          </a:p>
          <a:p>
            <a:r>
              <a:rPr lang="en-US" altLang="en-US" sz="2400" dirty="0"/>
              <a:t>upon function exit, check the return address on stack is the same as safe copy</a:t>
            </a:r>
          </a:p>
          <a:p>
            <a:pPr lvl="1"/>
            <a:r>
              <a:rPr lang="en-US" altLang="en-US" sz="2000" dirty="0"/>
              <a:t>abort the program in case changes are found</a:t>
            </a:r>
          </a:p>
          <a:p>
            <a:endParaRPr lang="en-US" altLang="en-US" sz="2400" dirty="0"/>
          </a:p>
          <a:p>
            <a:r>
              <a:rPr lang="en-US" altLang="en-US" sz="2400" dirty="0"/>
              <a:t>format of stack remains unchanged.</a:t>
            </a:r>
          </a:p>
          <a:p>
            <a:r>
              <a:rPr lang="en-US" altLang="en-US" sz="2400" dirty="0"/>
              <a:t>This approach is used in </a:t>
            </a:r>
            <a:r>
              <a:rPr lang="en-US" altLang="en-US" sz="2400" dirty="0" err="1"/>
              <a:t>gcc</a:t>
            </a:r>
            <a:r>
              <a:rPr lang="en-US" altLang="en-US" sz="2400" dirty="0"/>
              <a:t> extensions </a:t>
            </a:r>
            <a:r>
              <a:rPr lang="en-US" altLang="en-US" sz="2400" dirty="0" err="1"/>
              <a:t>Stackshield</a:t>
            </a:r>
            <a:r>
              <a:rPr lang="en-US" altLang="en-US" sz="2400" dirty="0"/>
              <a:t> and Return Address Defender (RAD).</a:t>
            </a:r>
            <a:endParaRPr lang="en-US" sz="2400" dirty="0"/>
          </a:p>
        </p:txBody>
      </p:sp>
    </p:spTree>
    <p:extLst>
      <p:ext uri="{BB962C8B-B14F-4D97-AF65-F5344CB8AC3E}">
        <p14:creationId xmlns:p14="http://schemas.microsoft.com/office/powerpoint/2010/main" val="2445479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Run-Time Defenses</a:t>
            </a:r>
            <a:endParaRPr lang="en-US" dirty="0"/>
          </a:p>
        </p:txBody>
      </p:sp>
      <p:sp>
        <p:nvSpPr>
          <p:cNvPr id="3" name="Content Placeholder 2"/>
          <p:cNvSpPr>
            <a:spLocks noGrp="1"/>
          </p:cNvSpPr>
          <p:nvPr>
            <p:ph sz="quarter" idx="11"/>
          </p:nvPr>
        </p:nvSpPr>
        <p:spPr/>
        <p:txBody>
          <a:bodyPr/>
          <a:lstStyle/>
          <a:p>
            <a:pPr marL="0" indent="0">
              <a:buNone/>
            </a:pPr>
            <a:r>
              <a:rPr lang="en-US" altLang="en-US" sz="2800" b="1" dirty="0"/>
              <a:t>Non Executable Address Space</a:t>
            </a:r>
          </a:p>
          <a:p>
            <a:pPr marL="0" indent="0">
              <a:buNone/>
            </a:pPr>
            <a:r>
              <a:rPr lang="en-US" altLang="en-US" sz="1600" b="1" dirty="0"/>
              <a:t>aka Data Execution Prevention (DEP)</a:t>
            </a:r>
          </a:p>
          <a:p>
            <a:r>
              <a:rPr lang="en-US" altLang="en-US" sz="2400" dirty="0"/>
              <a:t>Many BO attacks copy machine code into some buffer and transfer control to it</a:t>
            </a:r>
          </a:p>
          <a:p>
            <a:r>
              <a:rPr lang="en-US" altLang="en-US" sz="2400" dirty="0"/>
              <a:t>Use virtual memory support to mark some regions of memory data-only, and non-executable (to avoid execution of attacker’s code)</a:t>
            </a:r>
          </a:p>
          <a:p>
            <a:pPr lvl="1"/>
            <a:r>
              <a:rPr lang="en-US" altLang="en-US" sz="2000" dirty="0"/>
              <a:t>e.g. stack, heap, global data</a:t>
            </a:r>
          </a:p>
          <a:p>
            <a:pPr lvl="1"/>
            <a:r>
              <a:rPr lang="en-US" altLang="en-US" sz="2000" dirty="0"/>
              <a:t>need h/w support in Memory Management Unit (MMU)</a:t>
            </a:r>
          </a:p>
          <a:p>
            <a:endParaRPr lang="en-US" altLang="en-US" sz="2000" dirty="0"/>
          </a:p>
          <a:p>
            <a:r>
              <a:rPr lang="en-US" altLang="en-US" sz="2400" dirty="0"/>
              <a:t>Issues: some applications need to put executable  code in stack</a:t>
            </a:r>
          </a:p>
          <a:p>
            <a:endParaRPr lang="en-US" dirty="0"/>
          </a:p>
        </p:txBody>
      </p:sp>
    </p:spTree>
    <p:extLst>
      <p:ext uri="{BB962C8B-B14F-4D97-AF65-F5344CB8AC3E}">
        <p14:creationId xmlns:p14="http://schemas.microsoft.com/office/powerpoint/2010/main" val="52877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Run-Time Defenses</a:t>
            </a:r>
            <a:endParaRPr lang="en-US" dirty="0"/>
          </a:p>
        </p:txBody>
      </p:sp>
      <p:sp>
        <p:nvSpPr>
          <p:cNvPr id="3" name="Content Placeholder 2"/>
          <p:cNvSpPr>
            <a:spLocks noGrp="1"/>
          </p:cNvSpPr>
          <p:nvPr>
            <p:ph sz="quarter" idx="11"/>
          </p:nvPr>
        </p:nvSpPr>
        <p:spPr/>
        <p:txBody>
          <a:bodyPr/>
          <a:lstStyle/>
          <a:p>
            <a:pPr marL="0" indent="0">
              <a:buNone/>
            </a:pPr>
            <a:r>
              <a:rPr lang="en-US" altLang="en-US" sz="2800" b="1" dirty="0"/>
              <a:t>Address Space Layout Randomization (ASLR)</a:t>
            </a:r>
          </a:p>
          <a:p>
            <a:r>
              <a:rPr lang="en-US" altLang="en-US" sz="2400" dirty="0"/>
              <a:t>Every time a process is created, randomize the location of key data structures in memory</a:t>
            </a:r>
          </a:p>
          <a:p>
            <a:pPr lvl="1"/>
            <a:r>
              <a:rPr lang="en-US" altLang="en-US" sz="2000" dirty="0"/>
              <a:t>stack, heap, global data: change addresses by 1 MB or so</a:t>
            </a:r>
          </a:p>
          <a:p>
            <a:pPr lvl="1"/>
            <a:r>
              <a:rPr lang="en-US" altLang="en-US" sz="2000" dirty="0"/>
              <a:t>using random shift for each process</a:t>
            </a:r>
          </a:p>
          <a:p>
            <a:pPr lvl="1"/>
            <a:r>
              <a:rPr lang="en-US" altLang="en-US" sz="2000" dirty="0"/>
              <a:t>modern systems have large address range, means wasting some has negligible impact</a:t>
            </a:r>
          </a:p>
          <a:p>
            <a:pPr lvl="1"/>
            <a:endParaRPr lang="en-US" altLang="en-US" sz="2000" dirty="0"/>
          </a:p>
          <a:p>
            <a:r>
              <a:rPr lang="en-US" altLang="en-US" sz="2400" dirty="0"/>
              <a:t>Advantage: attacker can’t predict the location of target buffer (containing the malicious code), so they can’t transfer control to it</a:t>
            </a:r>
          </a:p>
        </p:txBody>
      </p:sp>
    </p:spTree>
    <p:extLst>
      <p:ext uri="{BB962C8B-B14F-4D97-AF65-F5344CB8AC3E}">
        <p14:creationId xmlns:p14="http://schemas.microsoft.com/office/powerpoint/2010/main" val="1961856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Run-Time Defenses</a:t>
            </a:r>
            <a:endParaRPr lang="en-US" dirty="0"/>
          </a:p>
        </p:txBody>
      </p:sp>
      <p:sp>
        <p:nvSpPr>
          <p:cNvPr id="3" name="Content Placeholder 2"/>
          <p:cNvSpPr>
            <a:spLocks noGrp="1"/>
          </p:cNvSpPr>
          <p:nvPr>
            <p:ph sz="quarter" idx="11"/>
          </p:nvPr>
        </p:nvSpPr>
        <p:spPr/>
        <p:txBody>
          <a:bodyPr/>
          <a:lstStyle/>
          <a:p>
            <a:pPr marL="0" indent="0">
              <a:buNone/>
            </a:pPr>
            <a:r>
              <a:rPr lang="en-US" altLang="en-US" sz="2800" b="1" dirty="0"/>
              <a:t>Address Space Layout Randomization (ASLR)</a:t>
            </a:r>
          </a:p>
          <a:p>
            <a:endParaRPr lang="en-US" sz="2800" dirty="0"/>
          </a:p>
        </p:txBody>
      </p:sp>
      <p:pic>
        <p:nvPicPr>
          <p:cNvPr id="1026" name="Picture 2">
            <a:extLst>
              <a:ext uri="{FF2B5EF4-FFF2-40B4-BE49-F238E27FC236}">
                <a16:creationId xmlns:a16="http://schemas.microsoft.com/office/drawing/2014/main" xmlns="" id="{DA511FA5-FD19-8722-533C-594DB8A26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226105"/>
            <a:ext cx="4999310" cy="450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431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Run-Time Defenses</a:t>
            </a:r>
            <a:endParaRPr lang="en-US" dirty="0"/>
          </a:p>
        </p:txBody>
      </p:sp>
      <p:sp>
        <p:nvSpPr>
          <p:cNvPr id="3" name="Content Placeholder 2"/>
          <p:cNvSpPr>
            <a:spLocks noGrp="1"/>
          </p:cNvSpPr>
          <p:nvPr>
            <p:ph sz="quarter" idx="11"/>
          </p:nvPr>
        </p:nvSpPr>
        <p:spPr/>
        <p:txBody>
          <a:bodyPr/>
          <a:lstStyle/>
          <a:p>
            <a:pPr marL="0" indent="0">
              <a:buNone/>
            </a:pPr>
            <a:r>
              <a:rPr lang="en-US" altLang="en-US" sz="2800" b="1" dirty="0"/>
              <a:t>Guard Pages</a:t>
            </a:r>
          </a:p>
          <a:p>
            <a:r>
              <a:rPr lang="en-US" altLang="en-US" sz="2400" dirty="0"/>
              <a:t>Place guard pages between critical regions of memory (or between stack frames)</a:t>
            </a:r>
          </a:p>
          <a:p>
            <a:pPr lvl="1"/>
            <a:r>
              <a:rPr lang="en-US" altLang="en-US" sz="2000" dirty="0"/>
              <a:t>flagged in MMU (mem management unit) as illegal addresses</a:t>
            </a:r>
          </a:p>
          <a:p>
            <a:pPr lvl="1"/>
            <a:r>
              <a:rPr lang="en-US" altLang="en-US" sz="2000" dirty="0"/>
              <a:t>any access aborts process</a:t>
            </a:r>
          </a:p>
          <a:p>
            <a:pPr lvl="1"/>
            <a:endParaRPr lang="en-US" altLang="en-US" sz="2000" dirty="0"/>
          </a:p>
          <a:p>
            <a:r>
              <a:rPr lang="en-US" altLang="en-US" sz="2400" dirty="0"/>
              <a:t>Can even place between stack frames and heap buffers</a:t>
            </a:r>
          </a:p>
          <a:p>
            <a:pPr lvl="1"/>
            <a:r>
              <a:rPr lang="en-US" altLang="en-US" sz="2000" dirty="0"/>
              <a:t>at execution time and space cost</a:t>
            </a:r>
          </a:p>
          <a:p>
            <a:endParaRPr lang="en-US" sz="2800" dirty="0"/>
          </a:p>
        </p:txBody>
      </p:sp>
    </p:spTree>
    <p:extLst>
      <p:ext uri="{BB962C8B-B14F-4D97-AF65-F5344CB8AC3E}">
        <p14:creationId xmlns:p14="http://schemas.microsoft.com/office/powerpoint/2010/main" val="551944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Overflow Attacks</a:t>
            </a:r>
          </a:p>
        </p:txBody>
      </p:sp>
      <p:sp>
        <p:nvSpPr>
          <p:cNvPr id="3" name="Content Placeholder 2"/>
          <p:cNvSpPr>
            <a:spLocks noGrp="1"/>
          </p:cNvSpPr>
          <p:nvPr>
            <p:ph sz="quarter" idx="11"/>
          </p:nvPr>
        </p:nvSpPr>
        <p:spPr/>
        <p:txBody>
          <a:bodyPr/>
          <a:lstStyle/>
          <a:p>
            <a:r>
              <a:rPr lang="en-US" altLang="en-US" sz="2400" dirty="0"/>
              <a:t>There is a range of other attack variants</a:t>
            </a:r>
          </a:p>
          <a:p>
            <a:pPr lvl="1"/>
            <a:r>
              <a:rPr lang="en-US" altLang="en-US" sz="2000" dirty="0"/>
              <a:t>stack overflow variants</a:t>
            </a:r>
          </a:p>
          <a:p>
            <a:pPr lvl="1"/>
            <a:r>
              <a:rPr lang="en-US" altLang="en-US" sz="2000" dirty="0"/>
              <a:t>heap overflow</a:t>
            </a:r>
          </a:p>
          <a:p>
            <a:pPr lvl="1"/>
            <a:r>
              <a:rPr lang="en-US" altLang="en-US" sz="2000" dirty="0"/>
              <a:t>global data overflow</a:t>
            </a:r>
          </a:p>
          <a:p>
            <a:pPr lvl="1"/>
            <a:r>
              <a:rPr lang="en-US" altLang="en-US" sz="2000" dirty="0"/>
              <a:t>format string overflow</a:t>
            </a:r>
          </a:p>
          <a:p>
            <a:pPr lvl="1"/>
            <a:r>
              <a:rPr lang="en-US" altLang="en-US" sz="2000" dirty="0"/>
              <a:t>integer overflow</a:t>
            </a:r>
          </a:p>
          <a:p>
            <a:pPr lvl="1"/>
            <a:endParaRPr lang="en-US" altLang="en-US" sz="2000" dirty="0"/>
          </a:p>
          <a:p>
            <a:r>
              <a:rPr lang="en-US" altLang="en-US" sz="2400" dirty="0"/>
              <a:t>more likely to be discovered in future</a:t>
            </a:r>
          </a:p>
          <a:p>
            <a:endParaRPr lang="en-US" altLang="en-US" sz="2400" dirty="0"/>
          </a:p>
          <a:p>
            <a:r>
              <a:rPr lang="en-US" altLang="en-US" sz="2400" dirty="0"/>
              <a:t>some cannot be prevented except by coding to prevent originally</a:t>
            </a:r>
          </a:p>
          <a:p>
            <a:endParaRPr lang="en-US" sz="2400" dirty="0"/>
          </a:p>
        </p:txBody>
      </p:sp>
    </p:spTree>
    <p:extLst>
      <p:ext uri="{BB962C8B-B14F-4D97-AF65-F5344CB8AC3E}">
        <p14:creationId xmlns:p14="http://schemas.microsoft.com/office/powerpoint/2010/main" val="2418448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2D13D2C-8860-6036-48CE-A0BEC7D3BC51}"/>
              </a:ext>
            </a:extLst>
          </p:cNvPr>
          <p:cNvSpPr>
            <a:spLocks noGrp="1"/>
          </p:cNvSpPr>
          <p:nvPr>
            <p:ph type="title"/>
          </p:nvPr>
        </p:nvSpPr>
        <p:spPr>
          <a:xfrm>
            <a:off x="2267744" y="2894243"/>
            <a:ext cx="5760640" cy="1069514"/>
          </a:xfrm>
        </p:spPr>
        <p:txBody>
          <a:bodyPr/>
          <a:lstStyle/>
          <a:p>
            <a:pPr algn="ctr"/>
            <a:r>
              <a:rPr lang="en-US" dirty="0"/>
              <a:t>Integer Overflow Vulnerabilities</a:t>
            </a:r>
          </a:p>
        </p:txBody>
      </p:sp>
    </p:spTree>
    <p:extLst>
      <p:ext uri="{BB962C8B-B14F-4D97-AF65-F5344CB8AC3E}">
        <p14:creationId xmlns:p14="http://schemas.microsoft.com/office/powerpoint/2010/main" val="198586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A8BC70-40D4-9003-A2D3-6924B33AD272}"/>
              </a:ext>
            </a:extLst>
          </p:cNvPr>
          <p:cNvSpPr>
            <a:spLocks noGrp="1"/>
          </p:cNvSpPr>
          <p:nvPr>
            <p:ph type="title"/>
          </p:nvPr>
        </p:nvSpPr>
        <p:spPr>
          <a:xfrm>
            <a:off x="179512" y="16778"/>
            <a:ext cx="8964488" cy="1069514"/>
          </a:xfrm>
        </p:spPr>
        <p:txBody>
          <a:bodyPr/>
          <a:lstStyle/>
          <a:p>
            <a:r>
              <a:rPr lang="en-US" altLang="en-US" dirty="0"/>
              <a:t>Integer Overflow</a:t>
            </a:r>
            <a:endParaRPr lang="en-US" dirty="0"/>
          </a:p>
        </p:txBody>
      </p:sp>
      <p:sp>
        <p:nvSpPr>
          <p:cNvPr id="7" name="Content Placeholder 6">
            <a:extLst>
              <a:ext uri="{FF2B5EF4-FFF2-40B4-BE49-F238E27FC236}">
                <a16:creationId xmlns:a16="http://schemas.microsoft.com/office/drawing/2014/main" xmlns="" id="{A1128690-B6C6-8EA1-BB37-BCEB4B4C72F1}"/>
              </a:ext>
            </a:extLst>
          </p:cNvPr>
          <p:cNvSpPr>
            <a:spLocks noGrp="1"/>
          </p:cNvSpPr>
          <p:nvPr>
            <p:ph sz="quarter" idx="11"/>
          </p:nvPr>
        </p:nvSpPr>
        <p:spPr/>
        <p:txBody>
          <a:bodyPr/>
          <a:lstStyle/>
          <a:p>
            <a:pPr marL="0" indent="0">
              <a:buNone/>
            </a:pPr>
            <a:r>
              <a:rPr lang="en-US" altLang="en-US" sz="2400" dirty="0"/>
              <a:t>An arithmetic operation attempts to create a numeric value that is larger than can be represented within the available storage space.</a:t>
            </a:r>
          </a:p>
          <a:p>
            <a:endParaRPr lang="en-US" sz="2400" dirty="0"/>
          </a:p>
        </p:txBody>
      </p:sp>
      <p:pic>
        <p:nvPicPr>
          <p:cNvPr id="1028" name="Picture 4">
            <a:extLst>
              <a:ext uri="{FF2B5EF4-FFF2-40B4-BE49-F238E27FC236}">
                <a16:creationId xmlns:a16="http://schemas.microsoft.com/office/drawing/2014/main" xmlns="" id="{015D7F12-7976-43A0-C62E-B59F9E91F9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346" y="2958009"/>
            <a:ext cx="6821996" cy="356733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7E1CFC6B-4AA9-82F6-6395-4354EFE6FDF0}"/>
              </a:ext>
            </a:extLst>
          </p:cNvPr>
          <p:cNvSpPr txBox="1"/>
          <p:nvPr/>
        </p:nvSpPr>
        <p:spPr>
          <a:xfrm>
            <a:off x="81861" y="6595001"/>
            <a:ext cx="3600400" cy="246221"/>
          </a:xfrm>
          <a:prstGeom prst="rect">
            <a:avLst/>
          </a:prstGeom>
          <a:noFill/>
        </p:spPr>
        <p:txBody>
          <a:bodyPr wrap="square">
            <a:spAutoFit/>
          </a:bodyPr>
          <a:lstStyle/>
          <a:p>
            <a:r>
              <a:rPr lang="en-US" sz="1000" dirty="0"/>
              <a:t>https://valid.network/post/integer-overflow-in-ethereum</a:t>
            </a:r>
          </a:p>
        </p:txBody>
      </p:sp>
    </p:spTree>
    <p:extLst>
      <p:ext uri="{BB962C8B-B14F-4D97-AF65-F5344CB8AC3E}">
        <p14:creationId xmlns:p14="http://schemas.microsoft.com/office/powerpoint/2010/main" val="1036347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A8BC70-40D4-9003-A2D3-6924B33AD272}"/>
              </a:ext>
            </a:extLst>
          </p:cNvPr>
          <p:cNvSpPr>
            <a:spLocks noGrp="1"/>
          </p:cNvSpPr>
          <p:nvPr>
            <p:ph type="title"/>
          </p:nvPr>
        </p:nvSpPr>
        <p:spPr>
          <a:xfrm>
            <a:off x="179512" y="16778"/>
            <a:ext cx="8964488" cy="1069514"/>
          </a:xfrm>
        </p:spPr>
        <p:txBody>
          <a:bodyPr/>
          <a:lstStyle/>
          <a:p>
            <a:r>
              <a:rPr lang="en-US" altLang="en-US" dirty="0"/>
              <a:t>Integer Overflow</a:t>
            </a:r>
            <a:endParaRPr lang="en-US" dirty="0"/>
          </a:p>
        </p:txBody>
      </p:sp>
      <p:sp>
        <p:nvSpPr>
          <p:cNvPr id="4" name="Content Placeholder 3">
            <a:extLst>
              <a:ext uri="{FF2B5EF4-FFF2-40B4-BE49-F238E27FC236}">
                <a16:creationId xmlns:a16="http://schemas.microsoft.com/office/drawing/2014/main" xmlns="" id="{706BE331-003A-1F08-9427-F48BB2477ED5}"/>
              </a:ext>
            </a:extLst>
          </p:cNvPr>
          <p:cNvSpPr>
            <a:spLocks noGrp="1"/>
          </p:cNvSpPr>
          <p:nvPr>
            <p:ph sz="quarter" idx="11"/>
          </p:nvPr>
        </p:nvSpPr>
        <p:spPr>
          <a:xfrm>
            <a:off x="1915108" y="1340768"/>
            <a:ext cx="5493296" cy="500236"/>
          </a:xfrm>
        </p:spPr>
        <p:txBody>
          <a:bodyPr/>
          <a:lstStyle/>
          <a:p>
            <a:pPr marL="0" indent="0" algn="ctr">
              <a:buNone/>
            </a:pPr>
            <a:r>
              <a:rPr lang="en-US" sz="2400" b="1" dirty="0"/>
              <a:t>Take 4-bit example for simplicity</a:t>
            </a:r>
          </a:p>
        </p:txBody>
      </p:sp>
      <p:sp>
        <p:nvSpPr>
          <p:cNvPr id="5" name="TextBox 4">
            <a:extLst>
              <a:ext uri="{FF2B5EF4-FFF2-40B4-BE49-F238E27FC236}">
                <a16:creationId xmlns:a16="http://schemas.microsoft.com/office/drawing/2014/main" xmlns="" id="{7E1CFC6B-4AA9-82F6-6395-4354EFE6FDF0}"/>
              </a:ext>
            </a:extLst>
          </p:cNvPr>
          <p:cNvSpPr txBox="1"/>
          <p:nvPr/>
        </p:nvSpPr>
        <p:spPr>
          <a:xfrm>
            <a:off x="0" y="6625388"/>
            <a:ext cx="4850180" cy="246221"/>
          </a:xfrm>
          <a:prstGeom prst="rect">
            <a:avLst/>
          </a:prstGeom>
          <a:noFill/>
        </p:spPr>
        <p:txBody>
          <a:bodyPr wrap="square">
            <a:spAutoFit/>
          </a:bodyPr>
          <a:lstStyle/>
          <a:p>
            <a:r>
              <a:rPr lang="en-US" sz="1000" dirty="0"/>
              <a:t>https://medium.com/@ssserpilozdemir/what-is-integer-overflow-716db7d87c04</a:t>
            </a:r>
          </a:p>
        </p:txBody>
      </p:sp>
      <p:pic>
        <p:nvPicPr>
          <p:cNvPr id="2052" name="Picture 4">
            <a:extLst>
              <a:ext uri="{FF2B5EF4-FFF2-40B4-BE49-F238E27FC236}">
                <a16:creationId xmlns:a16="http://schemas.microsoft.com/office/drawing/2014/main" xmlns="" id="{5DCBDC66-9F2F-64A2-AF9D-27DB0D981B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1341"/>
          <a:stretch/>
        </p:blipFill>
        <p:spPr bwMode="auto">
          <a:xfrm>
            <a:off x="5422291" y="1836192"/>
            <a:ext cx="3096344" cy="310076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C6431F45-3237-2C0A-1F71-CD44AD486FBF}"/>
              </a:ext>
            </a:extLst>
          </p:cNvPr>
          <p:cNvSpPr txBox="1"/>
          <p:nvPr/>
        </p:nvSpPr>
        <p:spPr>
          <a:xfrm>
            <a:off x="127170" y="5118238"/>
            <a:ext cx="4660854" cy="923330"/>
          </a:xfrm>
          <a:prstGeom prst="rect">
            <a:avLst/>
          </a:prstGeom>
          <a:noFill/>
        </p:spPr>
        <p:txBody>
          <a:bodyPr wrap="square" rtlCol="0">
            <a:spAutoFit/>
          </a:bodyPr>
          <a:lstStyle/>
          <a:p>
            <a:pPr latinLnBrk="0"/>
            <a:r>
              <a:rPr lang="en-US" dirty="0"/>
              <a:t>Add two large unsigned numbers: 13+11</a:t>
            </a:r>
          </a:p>
          <a:p>
            <a:pPr latinLnBrk="0"/>
            <a:r>
              <a:rPr lang="en-US" dirty="0"/>
              <a:t>1101 + 1011 = 1 1000</a:t>
            </a:r>
          </a:p>
          <a:p>
            <a:pPr latinLnBrk="0"/>
            <a:r>
              <a:rPr lang="en-US" dirty="0"/>
              <a:t>which is 8 (after discarding the carry)</a:t>
            </a:r>
          </a:p>
        </p:txBody>
      </p:sp>
      <p:sp>
        <p:nvSpPr>
          <p:cNvPr id="7" name="TextBox 6">
            <a:extLst>
              <a:ext uri="{FF2B5EF4-FFF2-40B4-BE49-F238E27FC236}">
                <a16:creationId xmlns:a16="http://schemas.microsoft.com/office/drawing/2014/main" xmlns="" id="{859BD971-EAE1-4AD1-9438-7B5B3ADC3EF6}"/>
              </a:ext>
            </a:extLst>
          </p:cNvPr>
          <p:cNvSpPr txBox="1"/>
          <p:nvPr/>
        </p:nvSpPr>
        <p:spPr>
          <a:xfrm>
            <a:off x="5004048" y="5190246"/>
            <a:ext cx="4000711" cy="646331"/>
          </a:xfrm>
          <a:prstGeom prst="rect">
            <a:avLst/>
          </a:prstGeom>
          <a:noFill/>
        </p:spPr>
        <p:txBody>
          <a:bodyPr wrap="none" rtlCol="0">
            <a:spAutoFit/>
          </a:bodyPr>
          <a:lstStyle/>
          <a:p>
            <a:pPr latinLnBrk="0"/>
            <a:r>
              <a:rPr lang="en-US" dirty="0"/>
              <a:t>Add two large signed numbers: 5+7</a:t>
            </a:r>
          </a:p>
          <a:p>
            <a:pPr latinLnBrk="0"/>
            <a:r>
              <a:rPr lang="en-US" dirty="0"/>
              <a:t>0101 + 0111 = 1100  which is –4</a:t>
            </a:r>
          </a:p>
        </p:txBody>
      </p:sp>
      <p:pic>
        <p:nvPicPr>
          <p:cNvPr id="3" name="Picture 4">
            <a:extLst>
              <a:ext uri="{FF2B5EF4-FFF2-40B4-BE49-F238E27FC236}">
                <a16:creationId xmlns:a16="http://schemas.microsoft.com/office/drawing/2014/main" xmlns="" id="{4497C429-E6FD-0FB2-E0E8-F37707BC33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341"/>
          <a:stretch/>
        </p:blipFill>
        <p:spPr bwMode="auto">
          <a:xfrm>
            <a:off x="611560" y="1844824"/>
            <a:ext cx="3096344" cy="310076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xmlns="" id="{DD78CFC2-C50B-4F06-67C3-D7D1844A3E05}"/>
              </a:ext>
            </a:extLst>
          </p:cNvPr>
          <p:cNvCxnSpPr/>
          <p:nvPr/>
        </p:nvCxnSpPr>
        <p:spPr>
          <a:xfrm>
            <a:off x="4716016" y="2564904"/>
            <a:ext cx="0" cy="347666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052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dirty="0"/>
              <a:t>C/C++ Data Types</a:t>
            </a:r>
          </a:p>
        </p:txBody>
      </p:sp>
      <p:sp>
        <p:nvSpPr>
          <p:cNvPr id="2" name="TextBox 1">
            <a:extLst>
              <a:ext uri="{FF2B5EF4-FFF2-40B4-BE49-F238E27FC236}">
                <a16:creationId xmlns:a16="http://schemas.microsoft.com/office/drawing/2014/main" xmlns="" id="{4D46C154-D2DF-0CCC-1DD8-11690EFDABB9}"/>
              </a:ext>
            </a:extLst>
          </p:cNvPr>
          <p:cNvSpPr txBox="1"/>
          <p:nvPr/>
        </p:nvSpPr>
        <p:spPr>
          <a:xfrm>
            <a:off x="539552" y="5445224"/>
            <a:ext cx="7992888" cy="646331"/>
          </a:xfrm>
          <a:prstGeom prst="rect">
            <a:avLst/>
          </a:prstGeom>
          <a:noFill/>
        </p:spPr>
        <p:txBody>
          <a:bodyPr wrap="square" rtlCol="0">
            <a:spAutoFit/>
          </a:bodyPr>
          <a:lstStyle/>
          <a:p>
            <a:pPr latinLnBrk="0"/>
            <a:r>
              <a:rPr lang="en-US" dirty="0"/>
              <a:t>Note: These are typical sizes. Actual sizes may be different, based on platform (</a:t>
            </a:r>
            <a:r>
              <a:rPr lang="en-US" dirty="0" err="1"/>
              <a:t>cpu</a:t>
            </a:r>
            <a:r>
              <a:rPr lang="en-US" dirty="0"/>
              <a:t> architecture) and compiler.</a:t>
            </a:r>
          </a:p>
        </p:txBody>
      </p:sp>
      <p:graphicFrame>
        <p:nvGraphicFramePr>
          <p:cNvPr id="3" name="Table 2">
            <a:extLst>
              <a:ext uri="{FF2B5EF4-FFF2-40B4-BE49-F238E27FC236}">
                <a16:creationId xmlns:a16="http://schemas.microsoft.com/office/drawing/2014/main" xmlns="" id="{592E39A2-2C7F-5ACF-B03B-EEEBF2306F5B}"/>
              </a:ext>
            </a:extLst>
          </p:cNvPr>
          <p:cNvGraphicFramePr>
            <a:graphicFrameLocks noGrp="1"/>
          </p:cNvGraphicFramePr>
          <p:nvPr>
            <p:extLst>
              <p:ext uri="{D42A27DB-BD31-4B8C-83A1-F6EECF244321}">
                <p14:modId xmlns:p14="http://schemas.microsoft.com/office/powerpoint/2010/main" val="4140849935"/>
              </p:ext>
            </p:extLst>
          </p:nvPr>
        </p:nvGraphicFramePr>
        <p:xfrm>
          <a:off x="498115" y="1700808"/>
          <a:ext cx="8064896" cy="3240000"/>
        </p:xfrm>
        <a:graphic>
          <a:graphicData uri="http://schemas.openxmlformats.org/drawingml/2006/table">
            <a:tbl>
              <a:tblPr bandRow="1">
                <a:tableStyleId>{5C22544A-7EE6-4342-B048-85BDC9FD1C3A}</a:tableStyleId>
              </a:tblPr>
              <a:tblGrid>
                <a:gridCol w="2489709">
                  <a:extLst>
                    <a:ext uri="{9D8B030D-6E8A-4147-A177-3AD203B41FA5}">
                      <a16:colId xmlns:a16="http://schemas.microsoft.com/office/drawing/2014/main" xmlns="" val="3486011665"/>
                    </a:ext>
                  </a:extLst>
                </a:gridCol>
                <a:gridCol w="936104">
                  <a:extLst>
                    <a:ext uri="{9D8B030D-6E8A-4147-A177-3AD203B41FA5}">
                      <a16:colId xmlns:a16="http://schemas.microsoft.com/office/drawing/2014/main" xmlns="" val="2410746969"/>
                    </a:ext>
                  </a:extLst>
                </a:gridCol>
                <a:gridCol w="4639083">
                  <a:extLst>
                    <a:ext uri="{9D8B030D-6E8A-4147-A177-3AD203B41FA5}">
                      <a16:colId xmlns:a16="http://schemas.microsoft.com/office/drawing/2014/main" xmlns="" val="636339764"/>
                    </a:ext>
                  </a:extLst>
                </a:gridCol>
              </a:tblGrid>
              <a:tr h="540000">
                <a:tc>
                  <a:txBody>
                    <a:bodyPr/>
                    <a:lstStyle/>
                    <a:p>
                      <a:r>
                        <a:rPr lang="en-US" sz="2200" dirty="0">
                          <a:latin typeface="Consolas" panose="020B0609020204030204" pitchFamily="49" charset="0"/>
                        </a:rPr>
                        <a:t>char</a:t>
                      </a:r>
                    </a:p>
                  </a:txBody>
                  <a:tcPr/>
                </a:tc>
                <a:tc>
                  <a:txBody>
                    <a:bodyPr/>
                    <a:lstStyle/>
                    <a:p>
                      <a:r>
                        <a:rPr lang="en-US" sz="2200" dirty="0">
                          <a:latin typeface="+mn-lt"/>
                        </a:rPr>
                        <a:t>8 bits</a:t>
                      </a:r>
                    </a:p>
                  </a:txBody>
                  <a:tcPr/>
                </a:tc>
                <a:tc>
                  <a:txBody>
                    <a:bodyPr/>
                    <a:lstStyle/>
                    <a:p>
                      <a:r>
                        <a:rPr lang="en-US" sz="2200" dirty="0">
                          <a:latin typeface="+mn-lt"/>
                        </a:rPr>
                        <a:t>[0; 255]</a:t>
                      </a:r>
                    </a:p>
                  </a:txBody>
                  <a:tcPr/>
                </a:tc>
                <a:extLst>
                  <a:ext uri="{0D108BD9-81ED-4DB2-BD59-A6C34878D82A}">
                    <a16:rowId xmlns:a16="http://schemas.microsoft.com/office/drawing/2014/main" xmlns="" val="2204438439"/>
                  </a:ext>
                </a:extLst>
              </a:tr>
              <a:tr h="540000">
                <a:tc>
                  <a:txBody>
                    <a:bodyPr/>
                    <a:lstStyle/>
                    <a:p>
                      <a:r>
                        <a:rPr lang="en-US" altLang="en-US" sz="2200" dirty="0">
                          <a:latin typeface="Consolas" panose="020B0609020204030204" pitchFamily="49" charset="0"/>
                        </a:rPr>
                        <a:t>short</a:t>
                      </a:r>
                      <a:endParaRPr lang="en-US" sz="2200" dirty="0">
                        <a:latin typeface="Consolas" panose="020B0609020204030204" pitchFamily="49" charset="0"/>
                      </a:endParaRPr>
                    </a:p>
                  </a:txBody>
                  <a:tcPr/>
                </a:tc>
                <a:tc>
                  <a:txBody>
                    <a:bodyPr/>
                    <a:lstStyle/>
                    <a:p>
                      <a:r>
                        <a:rPr lang="en-US" sz="2200" dirty="0">
                          <a:latin typeface="+mn-lt"/>
                        </a:rPr>
                        <a:t>16</a:t>
                      </a:r>
                    </a:p>
                  </a:txBody>
                  <a:tcPr/>
                </a:tc>
                <a:tc>
                  <a:txBody>
                    <a:bodyPr/>
                    <a:lstStyle/>
                    <a:p>
                      <a:r>
                        <a:rPr lang="en-US" altLang="en-US" sz="2200" dirty="0">
                          <a:latin typeface="+mn-lt"/>
                        </a:rPr>
                        <a:t>[-32,768; 32,767]</a:t>
                      </a:r>
                      <a:endParaRPr lang="en-US" sz="2200" dirty="0">
                        <a:latin typeface="+mn-lt"/>
                      </a:endParaRPr>
                    </a:p>
                  </a:txBody>
                  <a:tcPr/>
                </a:tc>
                <a:extLst>
                  <a:ext uri="{0D108BD9-81ED-4DB2-BD59-A6C34878D82A}">
                    <a16:rowId xmlns:a16="http://schemas.microsoft.com/office/drawing/2014/main" xmlns="" val="371911027"/>
                  </a:ext>
                </a:extLst>
              </a:tr>
              <a:tr h="540000">
                <a:tc>
                  <a:txBody>
                    <a:bodyPr/>
                    <a:lstStyle/>
                    <a:p>
                      <a:r>
                        <a:rPr lang="en-US" sz="2200" dirty="0">
                          <a:latin typeface="Consolas" panose="020B0609020204030204" pitchFamily="49" charset="0"/>
                        </a:rPr>
                        <a:t>unsigned </a:t>
                      </a:r>
                      <a:r>
                        <a:rPr lang="en-US" altLang="en-US" sz="2200" dirty="0">
                          <a:latin typeface="Consolas" panose="020B0609020204030204" pitchFamily="49" charset="0"/>
                        </a:rPr>
                        <a:t>short</a:t>
                      </a:r>
                      <a:endParaRPr lang="en-US" sz="2200" dirty="0">
                        <a:latin typeface="Consolas" panose="020B0609020204030204" pitchFamily="49" charset="0"/>
                      </a:endParaRPr>
                    </a:p>
                  </a:txBody>
                  <a:tcPr/>
                </a:tc>
                <a:tc>
                  <a:txBody>
                    <a:bodyPr/>
                    <a:lstStyle/>
                    <a:p>
                      <a:r>
                        <a:rPr lang="en-US" sz="2200" dirty="0">
                          <a:latin typeface="+mn-lt"/>
                        </a:rPr>
                        <a:t>16</a:t>
                      </a:r>
                    </a:p>
                  </a:txBody>
                  <a:tcPr/>
                </a:tc>
                <a:tc>
                  <a:txBody>
                    <a:bodyPr/>
                    <a:lstStyle/>
                    <a:p>
                      <a:r>
                        <a:rPr lang="en-US" altLang="en-US" sz="2200" dirty="0">
                          <a:latin typeface="+mn-lt"/>
                        </a:rPr>
                        <a:t>[0; 65,535]</a:t>
                      </a:r>
                      <a:endParaRPr lang="en-US" sz="2200" dirty="0">
                        <a:latin typeface="+mn-lt"/>
                      </a:endParaRPr>
                    </a:p>
                  </a:txBody>
                  <a:tcPr/>
                </a:tc>
                <a:extLst>
                  <a:ext uri="{0D108BD9-81ED-4DB2-BD59-A6C34878D82A}">
                    <a16:rowId xmlns:a16="http://schemas.microsoft.com/office/drawing/2014/main" xmlns="" val="989428183"/>
                  </a:ext>
                </a:extLst>
              </a:tr>
              <a:tr h="540000">
                <a:tc>
                  <a:txBody>
                    <a:bodyPr/>
                    <a:lstStyle/>
                    <a:p>
                      <a:r>
                        <a:rPr lang="en-US" sz="2200" dirty="0">
                          <a:latin typeface="Consolas" panose="020B0609020204030204" pitchFamily="49" charset="0"/>
                        </a:rPr>
                        <a:t>unsigned int</a:t>
                      </a:r>
                    </a:p>
                  </a:txBody>
                  <a:tcPr/>
                </a:tc>
                <a:tc>
                  <a:txBody>
                    <a:bodyPr/>
                    <a:lstStyle/>
                    <a:p>
                      <a:r>
                        <a:rPr lang="en-US" sz="2200" dirty="0">
                          <a:latin typeface="+mn-lt"/>
                        </a:rPr>
                        <a:t>32</a:t>
                      </a:r>
                    </a:p>
                  </a:txBody>
                  <a:tcPr/>
                </a:tc>
                <a:tc>
                  <a:txBody>
                    <a:bodyPr/>
                    <a:lstStyle/>
                    <a:p>
                      <a:r>
                        <a:rPr lang="en-US" altLang="en-US" sz="2200" dirty="0">
                          <a:latin typeface="+mn-lt"/>
                        </a:rPr>
                        <a:t>[0; 4,294,967,295]</a:t>
                      </a:r>
                      <a:endParaRPr lang="en-US" sz="2200" dirty="0">
                        <a:latin typeface="+mn-lt"/>
                      </a:endParaRPr>
                    </a:p>
                  </a:txBody>
                  <a:tcPr/>
                </a:tc>
                <a:extLst>
                  <a:ext uri="{0D108BD9-81ED-4DB2-BD59-A6C34878D82A}">
                    <a16:rowId xmlns:a16="http://schemas.microsoft.com/office/drawing/2014/main" xmlns="" val="277202487"/>
                  </a:ext>
                </a:extLst>
              </a:tr>
              <a:tr h="540000">
                <a:tc>
                  <a:txBody>
                    <a:bodyPr/>
                    <a:lstStyle/>
                    <a:p>
                      <a:r>
                        <a:rPr lang="en-US" sz="2200" dirty="0">
                          <a:latin typeface="Consolas" panose="020B0609020204030204" pitchFamily="49" charset="0"/>
                        </a:rPr>
                        <a:t>int</a:t>
                      </a:r>
                    </a:p>
                  </a:txBody>
                  <a:tcPr/>
                </a:tc>
                <a:tc>
                  <a:txBody>
                    <a:bodyPr/>
                    <a:lstStyle/>
                    <a:p>
                      <a:r>
                        <a:rPr lang="en-US" sz="2200" dirty="0">
                          <a:latin typeface="+mn-lt"/>
                        </a:rPr>
                        <a:t>32</a:t>
                      </a:r>
                    </a:p>
                  </a:txBody>
                  <a:tcPr/>
                </a:tc>
                <a:tc>
                  <a:txBody>
                    <a:bodyPr/>
                    <a:lstStyle/>
                    <a:p>
                      <a:r>
                        <a:rPr lang="en-US" altLang="en-US" sz="2200" dirty="0">
                          <a:latin typeface="+mn-lt"/>
                        </a:rPr>
                        <a:t>[-2,147,483,648; 2,147,483,647]</a:t>
                      </a:r>
                      <a:endParaRPr lang="en-US" sz="2200" dirty="0">
                        <a:latin typeface="+mn-lt"/>
                      </a:endParaRPr>
                    </a:p>
                  </a:txBody>
                  <a:tcPr/>
                </a:tc>
                <a:extLst>
                  <a:ext uri="{0D108BD9-81ED-4DB2-BD59-A6C34878D82A}">
                    <a16:rowId xmlns:a16="http://schemas.microsoft.com/office/drawing/2014/main" xmlns="" val="1818971986"/>
                  </a:ext>
                </a:extLst>
              </a:tr>
              <a:tr h="540000">
                <a:tc>
                  <a:txBody>
                    <a:bodyPr/>
                    <a:lstStyle/>
                    <a:p>
                      <a:r>
                        <a:rPr lang="en-US" sz="2200" dirty="0">
                          <a:latin typeface="Consolas" panose="020B0609020204030204" pitchFamily="49" charset="0"/>
                        </a:rPr>
                        <a:t>long</a:t>
                      </a:r>
                    </a:p>
                  </a:txBody>
                  <a:tcPr/>
                </a:tc>
                <a:tc>
                  <a:txBody>
                    <a:bodyPr/>
                    <a:lstStyle/>
                    <a:p>
                      <a:r>
                        <a:rPr lang="en-US" sz="2200" dirty="0">
                          <a:latin typeface="+mn-lt"/>
                        </a:rPr>
                        <a:t>32</a:t>
                      </a:r>
                    </a:p>
                  </a:txBody>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en-US" sz="2200" dirty="0">
                          <a:latin typeface="+mn-lt"/>
                        </a:rPr>
                        <a:t>[-2,147,483,648; 2,147,483,647]</a:t>
                      </a:r>
                      <a:endParaRPr lang="en-US" sz="2200" dirty="0">
                        <a:latin typeface="+mn-lt"/>
                      </a:endParaRPr>
                    </a:p>
                  </a:txBody>
                  <a:tcPr/>
                </a:tc>
                <a:extLst>
                  <a:ext uri="{0D108BD9-81ED-4DB2-BD59-A6C34878D82A}">
                    <a16:rowId xmlns:a16="http://schemas.microsoft.com/office/drawing/2014/main" xmlns="" val="1821215926"/>
                  </a:ext>
                </a:extLst>
              </a:tr>
            </a:tbl>
          </a:graphicData>
        </a:graphic>
      </p:graphicFrame>
    </p:spTree>
    <p:extLst>
      <p:ext uri="{BB962C8B-B14F-4D97-AF65-F5344CB8AC3E}">
        <p14:creationId xmlns:p14="http://schemas.microsoft.com/office/powerpoint/2010/main" val="8766841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2"/>
          <p:cNvSpPr>
            <a:spLocks noGrp="1" noChangeArrowheads="1"/>
          </p:cNvSpPr>
          <p:nvPr>
            <p:ph type="title"/>
          </p:nvPr>
        </p:nvSpPr>
        <p:spPr/>
        <p:txBody>
          <a:bodyPr/>
          <a:lstStyle/>
          <a:p>
            <a:pPr eaLnBrk="1" hangingPunct="1"/>
            <a:r>
              <a:rPr lang="en-US" altLang="en-US" dirty="0"/>
              <a:t>Integer Overflow: Code Example</a:t>
            </a:r>
          </a:p>
        </p:txBody>
      </p:sp>
      <p:sp>
        <p:nvSpPr>
          <p:cNvPr id="64519" name="TextBox 6"/>
          <p:cNvSpPr txBox="1">
            <a:spLocks noChangeArrowheads="1"/>
          </p:cNvSpPr>
          <p:nvPr/>
        </p:nvSpPr>
        <p:spPr bwMode="auto">
          <a:xfrm>
            <a:off x="563270" y="2580580"/>
            <a:ext cx="408073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400" dirty="0">
                <a:latin typeface="+mn-lt"/>
              </a:rPr>
              <a:t>Test 1:</a:t>
            </a:r>
          </a:p>
          <a:p>
            <a:pPr eaLnBrk="1" hangingPunct="1">
              <a:spcBef>
                <a:spcPct val="0"/>
              </a:spcBef>
              <a:buClrTx/>
              <a:buSzTx/>
              <a:buFontTx/>
              <a:buNone/>
            </a:pPr>
            <a:r>
              <a:rPr lang="en-US" altLang="en-US" sz="2400" dirty="0">
                <a:latin typeface="Consolas" panose="020B0609020204030204" pitchFamily="49" charset="0"/>
              </a:rPr>
              <a:t>   short x = 30000;</a:t>
            </a:r>
          </a:p>
          <a:p>
            <a:pPr eaLnBrk="1" hangingPunct="1">
              <a:spcBef>
                <a:spcPct val="0"/>
              </a:spcBef>
              <a:buClrTx/>
              <a:buSzTx/>
              <a:buFontTx/>
              <a:buNone/>
            </a:pPr>
            <a:r>
              <a:rPr lang="en-US" altLang="en-US" sz="2400" dirty="0">
                <a:latin typeface="Consolas" panose="020B0609020204030204" pitchFamily="49" charset="0"/>
              </a:rPr>
              <a:t>   short y = 30000;</a:t>
            </a:r>
          </a:p>
          <a:p>
            <a:pPr eaLnBrk="1" hangingPunct="1">
              <a:spcBef>
                <a:spcPct val="0"/>
              </a:spcBef>
              <a:buClrTx/>
              <a:buSzTx/>
              <a:buFontTx/>
              <a:buNone/>
            </a:pPr>
            <a:r>
              <a:rPr lang="en-US" altLang="en-US" sz="2400" dirty="0">
                <a:latin typeface="Consolas" panose="020B0609020204030204" pitchFamily="49" charset="0"/>
              </a:rPr>
              <a:t>   </a:t>
            </a:r>
            <a:r>
              <a:rPr lang="en-US" altLang="en-US" sz="2400" dirty="0" err="1">
                <a:latin typeface="Consolas" panose="020B0609020204030204" pitchFamily="49" charset="0"/>
              </a:rPr>
              <a:t>printf</a:t>
            </a:r>
            <a:r>
              <a:rPr lang="en-US" altLang="en-US" sz="2400" dirty="0">
                <a:latin typeface="Consolas" panose="020B0609020204030204" pitchFamily="49" charset="0"/>
              </a:rPr>
              <a:t>("%d\n", </a:t>
            </a:r>
            <a:r>
              <a:rPr lang="en-US" altLang="en-US" sz="2400" dirty="0" err="1">
                <a:latin typeface="Consolas" panose="020B0609020204030204" pitchFamily="49" charset="0"/>
              </a:rPr>
              <a:t>x+y</a:t>
            </a:r>
            <a:r>
              <a:rPr lang="en-US" altLang="en-US" sz="2400" dirty="0">
                <a:latin typeface="Consolas" panose="020B0609020204030204" pitchFamily="49" charset="0"/>
              </a:rPr>
              <a:t>);</a:t>
            </a:r>
          </a:p>
        </p:txBody>
      </p:sp>
      <p:sp>
        <p:nvSpPr>
          <p:cNvPr id="64520" name="TextBox 7"/>
          <p:cNvSpPr txBox="1">
            <a:spLocks noChangeArrowheads="1"/>
          </p:cNvSpPr>
          <p:nvPr/>
        </p:nvSpPr>
        <p:spPr bwMode="auto">
          <a:xfrm>
            <a:off x="4957192" y="2580580"/>
            <a:ext cx="3863280"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None/>
            </a:pPr>
            <a:r>
              <a:rPr lang="en-US" altLang="en-US" sz="2400" dirty="0">
                <a:latin typeface="+mn-lt"/>
              </a:rPr>
              <a:t>Test 2:</a:t>
            </a:r>
          </a:p>
          <a:p>
            <a:pPr eaLnBrk="1" hangingPunct="1">
              <a:spcBef>
                <a:spcPct val="0"/>
              </a:spcBef>
              <a:buClrTx/>
              <a:buSzTx/>
              <a:buNone/>
            </a:pPr>
            <a:r>
              <a:rPr lang="en-US" altLang="en-US" sz="2400" dirty="0">
                <a:latin typeface="Consolas" panose="020B0609020204030204" pitchFamily="49" charset="0"/>
              </a:rPr>
              <a:t>   short x = 30000;</a:t>
            </a:r>
          </a:p>
          <a:p>
            <a:pPr eaLnBrk="1" hangingPunct="1">
              <a:spcBef>
                <a:spcPct val="0"/>
              </a:spcBef>
              <a:buClrTx/>
              <a:buSzTx/>
              <a:buNone/>
            </a:pPr>
            <a:r>
              <a:rPr lang="en-US" altLang="en-US" sz="2400" dirty="0">
                <a:latin typeface="Consolas" panose="020B0609020204030204" pitchFamily="49" charset="0"/>
              </a:rPr>
              <a:t>   short y = 30000;</a:t>
            </a:r>
          </a:p>
          <a:p>
            <a:pPr eaLnBrk="1" hangingPunct="1">
              <a:spcBef>
                <a:spcPct val="0"/>
              </a:spcBef>
              <a:buClrTx/>
              <a:buSzTx/>
              <a:buNone/>
            </a:pPr>
            <a:r>
              <a:rPr lang="en-US" altLang="en-US" sz="2400" dirty="0">
                <a:latin typeface="Consolas" panose="020B0609020204030204" pitchFamily="49" charset="0"/>
              </a:rPr>
              <a:t>   short z = x + y;</a:t>
            </a:r>
          </a:p>
          <a:p>
            <a:pPr eaLnBrk="1" hangingPunct="1">
              <a:spcBef>
                <a:spcPct val="0"/>
              </a:spcBef>
              <a:buClrTx/>
              <a:buSzTx/>
              <a:buNone/>
            </a:pPr>
            <a:r>
              <a:rPr lang="en-US" altLang="en-US" sz="2400" dirty="0">
                <a:latin typeface="Consolas" panose="020B0609020204030204" pitchFamily="49" charset="0"/>
              </a:rPr>
              <a:t>   </a:t>
            </a:r>
            <a:r>
              <a:rPr lang="en-US" altLang="en-US" sz="2400" dirty="0" err="1">
                <a:latin typeface="Consolas" panose="020B0609020204030204" pitchFamily="49" charset="0"/>
              </a:rPr>
              <a:t>printf</a:t>
            </a:r>
            <a:r>
              <a:rPr lang="en-US" altLang="en-US" sz="2400" dirty="0">
                <a:latin typeface="Consolas" panose="020B0609020204030204" pitchFamily="49" charset="0"/>
              </a:rPr>
              <a:t>("%d\n", z);</a:t>
            </a:r>
          </a:p>
        </p:txBody>
      </p:sp>
      <p:sp>
        <p:nvSpPr>
          <p:cNvPr id="64521" name="TextBox 8"/>
          <p:cNvSpPr txBox="1">
            <a:spLocks noChangeArrowheads="1"/>
          </p:cNvSpPr>
          <p:nvPr/>
        </p:nvSpPr>
        <p:spPr bwMode="auto">
          <a:xfrm>
            <a:off x="587923" y="4969700"/>
            <a:ext cx="532859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latinLnBrk="0" hangingPunct="1">
              <a:spcBef>
                <a:spcPct val="0"/>
              </a:spcBef>
              <a:buClrTx/>
              <a:buSzTx/>
              <a:buFontTx/>
              <a:buNone/>
            </a:pPr>
            <a:r>
              <a:rPr lang="en-US" altLang="en-US" sz="2000" dirty="0">
                <a:solidFill>
                  <a:srgbClr val="C00000"/>
                </a:solidFill>
                <a:latin typeface="+mn-lt"/>
              </a:rPr>
              <a:t>Assume</a:t>
            </a:r>
            <a:r>
              <a:rPr lang="en-US" altLang="en-US" sz="2000" dirty="0">
                <a:solidFill>
                  <a:srgbClr val="C00000"/>
                </a:solidFill>
                <a:latin typeface="Consolas" panose="020B0609020204030204" pitchFamily="49" charset="0"/>
              </a:rPr>
              <a:t> short </a:t>
            </a:r>
            <a:r>
              <a:rPr lang="en-US" altLang="en-US" sz="2000" dirty="0">
                <a:solidFill>
                  <a:srgbClr val="C00000"/>
                </a:solidFill>
                <a:latin typeface="+mn-lt"/>
              </a:rPr>
              <a:t>uses 16 bits</a:t>
            </a:r>
          </a:p>
          <a:p>
            <a:pPr eaLnBrk="1" latinLnBrk="0" hangingPunct="1">
              <a:spcBef>
                <a:spcPct val="0"/>
              </a:spcBef>
              <a:buClrTx/>
              <a:buSzTx/>
              <a:buFontTx/>
              <a:buNone/>
            </a:pPr>
            <a:r>
              <a:rPr lang="en-US" altLang="en-US" sz="2000" dirty="0">
                <a:solidFill>
                  <a:srgbClr val="C00000"/>
                </a:solidFill>
                <a:latin typeface="+mn-lt"/>
              </a:rPr>
              <a:t>Will the two programs output the same?  </a:t>
            </a:r>
          </a:p>
          <a:p>
            <a:pPr eaLnBrk="1" latinLnBrk="0" hangingPunct="1">
              <a:spcBef>
                <a:spcPct val="0"/>
              </a:spcBef>
              <a:buClrTx/>
              <a:buSzTx/>
              <a:buFontTx/>
              <a:buNone/>
            </a:pPr>
            <a:r>
              <a:rPr lang="en-US" altLang="en-US" sz="2000" dirty="0">
                <a:solidFill>
                  <a:srgbClr val="C00000"/>
                </a:solidFill>
                <a:latin typeface="+mn-lt"/>
              </a:rPr>
              <a:t>What will they output?</a:t>
            </a:r>
          </a:p>
        </p:txBody>
      </p:sp>
      <p:sp>
        <p:nvSpPr>
          <p:cNvPr id="4" name="TextBox 6">
            <a:extLst>
              <a:ext uri="{FF2B5EF4-FFF2-40B4-BE49-F238E27FC236}">
                <a16:creationId xmlns:a16="http://schemas.microsoft.com/office/drawing/2014/main" xmlns="" id="{E90147F7-3D4D-A219-90BC-2CEDFE4D2400}"/>
              </a:ext>
            </a:extLst>
          </p:cNvPr>
          <p:cNvSpPr txBox="1">
            <a:spLocks noChangeArrowheads="1"/>
          </p:cNvSpPr>
          <p:nvPr/>
        </p:nvSpPr>
        <p:spPr bwMode="auto">
          <a:xfrm>
            <a:off x="539309" y="1555877"/>
            <a:ext cx="53772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latinLnBrk="0" hangingPunct="1">
              <a:spcBef>
                <a:spcPct val="0"/>
              </a:spcBef>
              <a:buClrTx/>
              <a:buSzTx/>
              <a:buFontTx/>
              <a:buNone/>
            </a:pPr>
            <a:r>
              <a:rPr lang="en-US" altLang="en-US" sz="2400" b="1" dirty="0">
                <a:latin typeface="+mn-lt"/>
              </a:rPr>
              <a:t>Overflow as a result of calculations</a:t>
            </a:r>
            <a:endParaRPr lang="en-US" altLang="en-US" sz="2400" b="1" dirty="0">
              <a:latin typeface="Consolas" panose="020B0609020204030204" pitchFamily="49" charset="0"/>
            </a:endParaRPr>
          </a:p>
        </p:txBody>
      </p:sp>
    </p:spTree>
    <p:extLst>
      <p:ext uri="{BB962C8B-B14F-4D97-AF65-F5344CB8AC3E}">
        <p14:creationId xmlns:p14="http://schemas.microsoft.com/office/powerpoint/2010/main" val="2138864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2"/>
          <p:cNvSpPr>
            <a:spLocks noGrp="1" noChangeArrowheads="1"/>
          </p:cNvSpPr>
          <p:nvPr>
            <p:ph type="title"/>
          </p:nvPr>
        </p:nvSpPr>
        <p:spPr/>
        <p:txBody>
          <a:bodyPr/>
          <a:lstStyle/>
          <a:p>
            <a:pPr eaLnBrk="1" hangingPunct="1"/>
            <a:r>
              <a:rPr lang="en-US" altLang="en-US" dirty="0"/>
              <a:t>Integer Overflow: Code Example</a:t>
            </a:r>
          </a:p>
        </p:txBody>
      </p:sp>
      <p:sp>
        <p:nvSpPr>
          <p:cNvPr id="4" name="TextBox 6">
            <a:extLst>
              <a:ext uri="{FF2B5EF4-FFF2-40B4-BE49-F238E27FC236}">
                <a16:creationId xmlns:a16="http://schemas.microsoft.com/office/drawing/2014/main" xmlns="" id="{E90147F7-3D4D-A219-90BC-2CEDFE4D2400}"/>
              </a:ext>
            </a:extLst>
          </p:cNvPr>
          <p:cNvSpPr txBox="1">
            <a:spLocks noChangeArrowheads="1"/>
          </p:cNvSpPr>
          <p:nvPr/>
        </p:nvSpPr>
        <p:spPr bwMode="auto">
          <a:xfrm>
            <a:off x="539308" y="1555877"/>
            <a:ext cx="82091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latinLnBrk="0" hangingPunct="1">
              <a:spcBef>
                <a:spcPct val="0"/>
              </a:spcBef>
              <a:buClrTx/>
              <a:buSzTx/>
              <a:buFontTx/>
              <a:buNone/>
            </a:pPr>
            <a:r>
              <a:rPr lang="en-US" altLang="en-US" sz="2400" b="1" dirty="0">
                <a:latin typeface="+mn-lt"/>
              </a:rPr>
              <a:t>Overflow as a result of type casting</a:t>
            </a:r>
            <a:endParaRPr lang="en-US" altLang="en-US" sz="2400" b="1" dirty="0">
              <a:latin typeface="Consolas" panose="020B0609020204030204" pitchFamily="49" charset="0"/>
            </a:endParaRPr>
          </a:p>
        </p:txBody>
      </p:sp>
      <p:sp>
        <p:nvSpPr>
          <p:cNvPr id="2" name="TextBox 1">
            <a:extLst>
              <a:ext uri="{FF2B5EF4-FFF2-40B4-BE49-F238E27FC236}">
                <a16:creationId xmlns:a16="http://schemas.microsoft.com/office/drawing/2014/main" xmlns="" id="{22F2146C-7B7D-D63A-0F9F-A75A0ECFB2A6}"/>
              </a:ext>
            </a:extLst>
          </p:cNvPr>
          <p:cNvSpPr txBox="1"/>
          <p:nvPr/>
        </p:nvSpPr>
        <p:spPr>
          <a:xfrm>
            <a:off x="916179" y="2636912"/>
            <a:ext cx="7491153" cy="1200329"/>
          </a:xfrm>
          <a:prstGeom prst="rect">
            <a:avLst/>
          </a:prstGeom>
          <a:noFill/>
          <a:ln>
            <a:noFill/>
          </a:ln>
        </p:spPr>
        <p:txBody>
          <a:bodyPr wrap="none" rtlCol="0">
            <a:spAutoFit/>
          </a:bodyPr>
          <a:lstStyle/>
          <a:p>
            <a:r>
              <a:rPr lang="en-US" sz="2400" b="0" i="0" dirty="0">
                <a:solidFill>
                  <a:srgbClr val="5C2699"/>
                </a:solidFill>
                <a:effectLst/>
                <a:latin typeface="Consolas" panose="020B0609020204030204" pitchFamily="49" charset="0"/>
              </a:rPr>
              <a:t>uint16_t</a:t>
            </a:r>
            <a:r>
              <a:rPr lang="en-US" sz="2400" b="0" i="0" dirty="0">
                <a:solidFill>
                  <a:srgbClr val="242424"/>
                </a:solidFill>
                <a:effectLst/>
                <a:latin typeface="Consolas" panose="020B0609020204030204" pitchFamily="49" charset="0"/>
              </a:rPr>
              <a:t> x;              </a:t>
            </a:r>
            <a:r>
              <a:rPr lang="en-US" sz="2400" b="0" i="0" dirty="0">
                <a:solidFill>
                  <a:srgbClr val="007400"/>
                </a:solidFill>
                <a:effectLst/>
                <a:latin typeface="Consolas" panose="020B0609020204030204" pitchFamily="49" charset="0"/>
              </a:rPr>
              <a:t>// 16-bit variable</a:t>
            </a:r>
            <a:r>
              <a:rPr lang="en-US" sz="2400" dirty="0">
                <a:latin typeface="Consolas" panose="020B0609020204030204" pitchFamily="49" charset="0"/>
              </a:rPr>
              <a:t/>
            </a:r>
            <a:br>
              <a:rPr lang="en-US" sz="2400" dirty="0">
                <a:latin typeface="Consolas" panose="020B0609020204030204" pitchFamily="49" charset="0"/>
              </a:rPr>
            </a:br>
            <a:r>
              <a:rPr lang="en-US" sz="2400" b="0" i="0" dirty="0">
                <a:solidFill>
                  <a:srgbClr val="5C2699"/>
                </a:solidFill>
                <a:effectLst/>
                <a:latin typeface="Consolas" panose="020B0609020204030204" pitchFamily="49" charset="0"/>
              </a:rPr>
              <a:t>uint32_t</a:t>
            </a:r>
            <a:r>
              <a:rPr lang="en-US" sz="2400" b="0" i="0" dirty="0">
                <a:solidFill>
                  <a:srgbClr val="242424"/>
                </a:solidFill>
                <a:effectLst/>
                <a:latin typeface="Consolas" panose="020B0609020204030204" pitchFamily="49" charset="0"/>
              </a:rPr>
              <a:t> y = </a:t>
            </a:r>
            <a:r>
              <a:rPr lang="en-US" sz="2400" b="0" i="0" dirty="0">
                <a:solidFill>
                  <a:srgbClr val="1C00CF"/>
                </a:solidFill>
                <a:effectLst/>
                <a:latin typeface="Consolas" panose="020B0609020204030204" pitchFamily="49" charset="0"/>
              </a:rPr>
              <a:t>0x12345678</a:t>
            </a:r>
            <a:r>
              <a:rPr lang="en-US" sz="2400" b="0" i="0" dirty="0">
                <a:solidFill>
                  <a:srgbClr val="242424"/>
                </a:solidFill>
                <a:effectLst/>
                <a:latin typeface="Consolas" panose="020B0609020204030204" pitchFamily="49" charset="0"/>
              </a:rPr>
              <a:t>; </a:t>
            </a:r>
            <a:r>
              <a:rPr lang="en-US" sz="2400" b="0" i="0" dirty="0">
                <a:solidFill>
                  <a:srgbClr val="007400"/>
                </a:solidFill>
                <a:effectLst/>
                <a:latin typeface="Consolas" panose="020B0609020204030204" pitchFamily="49" charset="0"/>
              </a:rPr>
              <a:t>// 32-bit variable</a:t>
            </a:r>
            <a:r>
              <a:rPr lang="en-US" sz="2400" dirty="0">
                <a:latin typeface="Consolas" panose="020B0609020204030204" pitchFamily="49" charset="0"/>
              </a:rPr>
              <a:t/>
            </a:r>
            <a:br>
              <a:rPr lang="en-US" sz="2400" dirty="0">
                <a:latin typeface="Consolas" panose="020B0609020204030204" pitchFamily="49" charset="0"/>
              </a:rPr>
            </a:br>
            <a:r>
              <a:rPr lang="en-US" sz="2400" b="0" i="0" dirty="0">
                <a:solidFill>
                  <a:srgbClr val="242424"/>
                </a:solidFill>
                <a:effectLst/>
                <a:latin typeface="Consolas" panose="020B0609020204030204" pitchFamily="49" charset="0"/>
              </a:rPr>
              <a:t>x = </a:t>
            </a:r>
            <a:r>
              <a:rPr lang="en-US" sz="2400" b="0" i="0" dirty="0">
                <a:solidFill>
                  <a:srgbClr val="5C2699"/>
                </a:solidFill>
                <a:effectLst/>
                <a:latin typeface="Consolas" panose="020B0609020204030204" pitchFamily="49" charset="0"/>
              </a:rPr>
              <a:t>(uint16_t)</a:t>
            </a:r>
            <a:r>
              <a:rPr lang="en-US" sz="2400" b="0" i="0" dirty="0">
                <a:solidFill>
                  <a:srgbClr val="242424"/>
                </a:solidFill>
                <a:effectLst/>
                <a:latin typeface="Consolas" panose="020B0609020204030204" pitchFamily="49" charset="0"/>
              </a:rPr>
              <a:t> y + </a:t>
            </a:r>
            <a:r>
              <a:rPr lang="en-US" sz="2400" b="0" i="0" dirty="0">
                <a:solidFill>
                  <a:srgbClr val="1C00CF"/>
                </a:solidFill>
                <a:effectLst/>
                <a:latin typeface="Consolas" panose="020B0609020204030204" pitchFamily="49" charset="0"/>
              </a:rPr>
              <a:t>1</a:t>
            </a:r>
            <a:r>
              <a:rPr lang="en-US" sz="2400" b="0" i="0" dirty="0">
                <a:solidFill>
                  <a:srgbClr val="242424"/>
                </a:solidFill>
                <a:effectLst/>
                <a:latin typeface="Consolas" panose="020B0609020204030204" pitchFamily="49" charset="0"/>
              </a:rPr>
              <a:t>;                   </a:t>
            </a:r>
            <a:endParaRPr lang="en-US" sz="2400" dirty="0">
              <a:latin typeface="Consolas" panose="020B0609020204030204" pitchFamily="49" charset="0"/>
            </a:endParaRPr>
          </a:p>
        </p:txBody>
      </p:sp>
      <p:sp>
        <p:nvSpPr>
          <p:cNvPr id="3" name="TextBox 8">
            <a:extLst>
              <a:ext uri="{FF2B5EF4-FFF2-40B4-BE49-F238E27FC236}">
                <a16:creationId xmlns:a16="http://schemas.microsoft.com/office/drawing/2014/main" xmlns="" id="{631ED91C-5613-0AB2-D5AC-E3964FE279CF}"/>
              </a:ext>
            </a:extLst>
          </p:cNvPr>
          <p:cNvSpPr txBox="1">
            <a:spLocks noChangeArrowheads="1"/>
          </p:cNvSpPr>
          <p:nvPr/>
        </p:nvSpPr>
        <p:spPr bwMode="auto">
          <a:xfrm>
            <a:off x="559152" y="4640404"/>
            <a:ext cx="5328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latinLnBrk="0" hangingPunct="1">
              <a:spcBef>
                <a:spcPct val="0"/>
              </a:spcBef>
              <a:buClrTx/>
              <a:buSzTx/>
              <a:buFontTx/>
              <a:buNone/>
            </a:pPr>
            <a:r>
              <a:rPr lang="en-US" altLang="en-US" sz="2400" dirty="0">
                <a:solidFill>
                  <a:srgbClr val="C00000"/>
                </a:solidFill>
                <a:latin typeface="+mn-lt"/>
              </a:rPr>
              <a:t>What value does x get?</a:t>
            </a:r>
          </a:p>
        </p:txBody>
      </p:sp>
      <p:sp>
        <p:nvSpPr>
          <p:cNvPr id="7" name="TextBox 6">
            <a:extLst>
              <a:ext uri="{FF2B5EF4-FFF2-40B4-BE49-F238E27FC236}">
                <a16:creationId xmlns:a16="http://schemas.microsoft.com/office/drawing/2014/main" xmlns="" id="{3EDC4EEF-DE05-948A-8482-CF1C6A12C572}"/>
              </a:ext>
            </a:extLst>
          </p:cNvPr>
          <p:cNvSpPr txBox="1"/>
          <p:nvPr/>
        </p:nvSpPr>
        <p:spPr>
          <a:xfrm>
            <a:off x="1491994" y="5229200"/>
            <a:ext cx="6160021" cy="400110"/>
          </a:xfrm>
          <a:prstGeom prst="rect">
            <a:avLst/>
          </a:prstGeom>
          <a:noFill/>
        </p:spPr>
        <p:txBody>
          <a:bodyPr wrap="none" rtlCol="0">
            <a:spAutoFit/>
          </a:bodyPr>
          <a:lstStyle/>
          <a:p>
            <a:pPr algn="ctr"/>
            <a:r>
              <a:rPr lang="en-US" sz="2000" dirty="0"/>
              <a:t>the truncated value of y (lower 16 bits 0x5678) + 1</a:t>
            </a:r>
          </a:p>
        </p:txBody>
      </p:sp>
    </p:spTree>
    <p:extLst>
      <p:ext uri="{BB962C8B-B14F-4D97-AF65-F5344CB8AC3E}">
        <p14:creationId xmlns:p14="http://schemas.microsoft.com/office/powerpoint/2010/main" val="2086754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2"/>
          <p:cNvSpPr>
            <a:spLocks noGrp="1" noChangeArrowheads="1"/>
          </p:cNvSpPr>
          <p:nvPr>
            <p:ph type="title"/>
          </p:nvPr>
        </p:nvSpPr>
        <p:spPr/>
        <p:txBody>
          <a:bodyPr/>
          <a:lstStyle/>
          <a:p>
            <a:pPr eaLnBrk="1" hangingPunct="1"/>
            <a:r>
              <a:rPr lang="en-US" altLang="en-US" sz="3200" dirty="0"/>
              <a:t>Where Does Integer Overflow Matter?</a:t>
            </a:r>
          </a:p>
        </p:txBody>
      </p:sp>
      <p:sp>
        <p:nvSpPr>
          <p:cNvPr id="65542" name="Rectangle 3"/>
          <p:cNvSpPr>
            <a:spLocks noGrp="1" noChangeArrowheads="1"/>
          </p:cNvSpPr>
          <p:nvPr>
            <p:ph sz="quarter" idx="11"/>
          </p:nvPr>
        </p:nvSpPr>
        <p:spPr/>
        <p:txBody>
          <a:bodyPr/>
          <a:lstStyle/>
          <a:p>
            <a:pPr eaLnBrk="1" hangingPunct="1"/>
            <a:r>
              <a:rPr lang="en-US" altLang="en-US" sz="2400" dirty="0"/>
              <a:t>Integer overflows, by themselves, do not allow direct overwriting of memory or hijacking execution flow control, but they indirectly lead to other security vulnerabilities (e.g. buffer overflow).</a:t>
            </a:r>
          </a:p>
          <a:p>
            <a:pPr eaLnBrk="1" hangingPunct="1"/>
            <a:endParaRPr lang="en-US" altLang="en-US" sz="2400" dirty="0"/>
          </a:p>
          <a:p>
            <a:pPr eaLnBrk="1" hangingPunct="1"/>
            <a:r>
              <a:rPr lang="en-US" altLang="en-US" sz="2400" dirty="0"/>
              <a:t>How? Because overflowed integer could be used for following purposes</a:t>
            </a:r>
          </a:p>
          <a:p>
            <a:pPr lvl="1"/>
            <a:r>
              <a:rPr lang="en-US" altLang="en-US" sz="2000" dirty="0"/>
              <a:t>Allocating memory (by malloc, </a:t>
            </a:r>
            <a:r>
              <a:rPr lang="en-US" altLang="en-US" sz="2000" dirty="0" err="1"/>
              <a:t>calloc</a:t>
            </a:r>
            <a:r>
              <a:rPr lang="en-US" altLang="en-US" sz="2000" dirty="0"/>
              <a:t> etc.)</a:t>
            </a:r>
          </a:p>
          <a:p>
            <a:pPr lvl="1"/>
            <a:r>
              <a:rPr lang="en-US" altLang="en-US" sz="2000" dirty="0"/>
              <a:t>Calculating indexes into arrays</a:t>
            </a:r>
          </a:p>
          <a:p>
            <a:pPr lvl="1"/>
            <a:r>
              <a:rPr lang="en-US" altLang="en-US" sz="2000" dirty="0"/>
              <a:t>Checking whether a buffer overflow could occur</a:t>
            </a:r>
          </a:p>
          <a:p>
            <a:pPr eaLnBrk="1" hangingPunct="1"/>
            <a:endParaRPr lang="en-US" altLang="en-US" sz="2400" dirty="0"/>
          </a:p>
          <a:p>
            <a:pPr eaLnBrk="1" hangingPunct="1"/>
            <a:endParaRPr lang="en-US" altLang="en-US" sz="2400" dirty="0"/>
          </a:p>
        </p:txBody>
      </p:sp>
    </p:spTree>
    <p:extLst>
      <p:ext uri="{BB962C8B-B14F-4D97-AF65-F5344CB8AC3E}">
        <p14:creationId xmlns:p14="http://schemas.microsoft.com/office/powerpoint/2010/main" val="122684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2"/>
          <p:cNvSpPr>
            <a:spLocks noGrp="1" noChangeArrowheads="1"/>
          </p:cNvSpPr>
          <p:nvPr>
            <p:ph type="title"/>
          </p:nvPr>
        </p:nvSpPr>
        <p:spPr/>
        <p:txBody>
          <a:bodyPr/>
          <a:lstStyle/>
          <a:p>
            <a:pPr eaLnBrk="1" hangingPunct="1"/>
            <a:r>
              <a:rPr lang="en-US" altLang="en-US" dirty="0"/>
              <a:t>Integer Overflow Vulnerabilities</a:t>
            </a:r>
          </a:p>
        </p:txBody>
      </p:sp>
      <p:sp>
        <p:nvSpPr>
          <p:cNvPr id="68614" name="Rectangle 3"/>
          <p:cNvSpPr>
            <a:spLocks noGrp="1" noChangeArrowheads="1"/>
          </p:cNvSpPr>
          <p:nvPr>
            <p:ph sz="quarter" idx="11"/>
          </p:nvPr>
        </p:nvSpPr>
        <p:spPr/>
        <p:txBody>
          <a:bodyPr/>
          <a:lstStyle/>
          <a:p>
            <a:pPr marL="0" indent="0" eaLnBrk="1" hangingPunct="1">
              <a:buNone/>
            </a:pPr>
            <a:r>
              <a:rPr lang="en-US" altLang="en-US" sz="2800" b="1" dirty="0"/>
              <a:t>Example</a:t>
            </a:r>
          </a:p>
          <a:p>
            <a:pPr marL="400050" lvl="1" indent="0">
              <a:buNone/>
            </a:pP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long</a:t>
            </a:r>
            <a:r>
              <a:rPr lang="en-US" sz="2400" b="0" dirty="0">
                <a:solidFill>
                  <a:srgbClr val="000000"/>
                </a:solidFill>
                <a:effectLst/>
                <a:latin typeface="Consolas" panose="020B0609020204030204" pitchFamily="49" charset="0"/>
              </a:rPr>
              <a:t> MAX_LEN = </a:t>
            </a:r>
            <a:r>
              <a:rPr lang="en-US" sz="2400" b="0" dirty="0">
                <a:solidFill>
                  <a:srgbClr val="098658"/>
                </a:solidFill>
                <a:effectLst/>
                <a:latin typeface="Consolas" panose="020B0609020204030204" pitchFamily="49" charset="0"/>
              </a:rPr>
              <a:t>20000</a:t>
            </a:r>
            <a:r>
              <a:rPr lang="en-US" sz="2400" b="0" dirty="0">
                <a:solidFill>
                  <a:srgbClr val="000000"/>
                </a:solidFill>
                <a:effectLst/>
                <a:latin typeface="Consolas" panose="020B0609020204030204" pitchFamily="49" charset="0"/>
              </a:rPr>
              <a:t>;</a:t>
            </a:r>
          </a:p>
          <a:p>
            <a:pPr marL="400050" lvl="1" indent="0">
              <a:buNone/>
            </a:pPr>
            <a:r>
              <a:rPr lang="en-US" sz="2400" b="0" dirty="0">
                <a:solidFill>
                  <a:srgbClr val="0000FF"/>
                </a:solidFill>
                <a:effectLst/>
                <a:latin typeface="Consolas" panose="020B0609020204030204" pitchFamily="49" charset="0"/>
              </a:rPr>
              <a:t>char</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buf</a:t>
            </a:r>
            <a:r>
              <a:rPr lang="en-US" sz="2400" b="0" dirty="0">
                <a:solidFill>
                  <a:srgbClr val="000000"/>
                </a:solidFill>
                <a:effectLst/>
                <a:latin typeface="Consolas" panose="020B0609020204030204" pitchFamily="49" charset="0"/>
              </a:rPr>
              <a:t>[MAX_LEN];</a:t>
            </a:r>
          </a:p>
          <a:p>
            <a:pPr marL="400050" lvl="1" indent="0">
              <a:buNone/>
            </a:pPr>
            <a:r>
              <a:rPr lang="en-US" sz="2400" b="0" dirty="0">
                <a:solidFill>
                  <a:srgbClr val="0000FF"/>
                </a:solidFill>
                <a:effectLst/>
                <a:latin typeface="Consolas" panose="020B0609020204030204" pitchFamily="49" charset="0"/>
              </a:rPr>
              <a:t>short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 = </a:t>
            </a:r>
            <a:r>
              <a:rPr lang="en-US" sz="2400" b="0" dirty="0" err="1">
                <a:solidFill>
                  <a:srgbClr val="795E26"/>
                </a:solidFill>
                <a:effectLst/>
                <a:latin typeface="Consolas" panose="020B0609020204030204" pitchFamily="49" charset="0"/>
              </a:rPr>
              <a:t>strlen</a:t>
            </a:r>
            <a:r>
              <a:rPr lang="en-US" sz="2400" b="0" dirty="0">
                <a:solidFill>
                  <a:srgbClr val="000000"/>
                </a:solidFill>
                <a:effectLst/>
                <a:latin typeface="Consolas" panose="020B0609020204030204" pitchFamily="49" charset="0"/>
              </a:rPr>
              <a:t>(input);</a:t>
            </a:r>
            <a:r>
              <a:rPr lang="en-US" sz="2400" b="0" dirty="0">
                <a:solidFill>
                  <a:srgbClr val="008000"/>
                </a:solidFill>
                <a:effectLst/>
                <a:latin typeface="Consolas" panose="020B0609020204030204" pitchFamily="49" charset="0"/>
              </a:rPr>
              <a:t>  // [1]</a:t>
            </a:r>
            <a:endParaRPr lang="en-US" sz="2400" b="0" dirty="0">
              <a:solidFill>
                <a:srgbClr val="000000"/>
              </a:solidFill>
              <a:effectLst/>
              <a:latin typeface="Consolas" panose="020B0609020204030204" pitchFamily="49" charset="0"/>
            </a:endParaRPr>
          </a:p>
          <a:p>
            <a:pPr marL="400050" lvl="1" indent="0">
              <a:buNone/>
            </a:pPr>
            <a:r>
              <a:rPr lang="en-US" sz="2400" b="0" dirty="0">
                <a:solidFill>
                  <a:srgbClr val="AF00DB"/>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 &lt; MAX_LEN)</a:t>
            </a:r>
            <a:r>
              <a:rPr lang="en-US" sz="2400" b="0" dirty="0">
                <a:solidFill>
                  <a:srgbClr val="008000"/>
                </a:solidFill>
                <a:effectLst/>
                <a:latin typeface="Consolas" panose="020B0609020204030204" pitchFamily="49" charset="0"/>
              </a:rPr>
              <a:t>          // [2]</a:t>
            </a:r>
            <a:endParaRPr lang="en-US" sz="2400" b="0" dirty="0">
              <a:solidFill>
                <a:srgbClr val="000000"/>
              </a:solidFill>
              <a:effectLst/>
              <a:latin typeface="Consolas" panose="020B0609020204030204" pitchFamily="49" charset="0"/>
            </a:endParaRPr>
          </a:p>
          <a:p>
            <a:pPr marL="400050" lvl="1" indent="0">
              <a:buNone/>
            </a:pP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strcpy</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buf</a:t>
            </a:r>
            <a:r>
              <a:rPr lang="en-US" sz="2400" b="0" dirty="0">
                <a:solidFill>
                  <a:srgbClr val="000000"/>
                </a:solidFill>
                <a:effectLst/>
                <a:latin typeface="Consolas" panose="020B0609020204030204" pitchFamily="49" charset="0"/>
              </a:rPr>
              <a:t>, input);</a:t>
            </a:r>
          </a:p>
          <a:p>
            <a:pPr lvl="1" eaLnBrk="1" hangingPunct="1">
              <a:buFontTx/>
              <a:buNone/>
            </a:pPr>
            <a:endParaRPr lang="en-US" altLang="en-US" sz="1600" dirty="0">
              <a:solidFill>
                <a:srgbClr val="FF0000"/>
              </a:solidFill>
            </a:endParaRPr>
          </a:p>
          <a:p>
            <a:pPr>
              <a:buNone/>
            </a:pPr>
            <a:r>
              <a:rPr lang="en-US" altLang="en-US" sz="2000" dirty="0">
                <a:solidFill>
                  <a:srgbClr val="C00000"/>
                </a:solidFill>
              </a:rPr>
              <a:t>Can a buffer overflow attack occur?</a:t>
            </a:r>
          </a:p>
          <a:p>
            <a:pPr>
              <a:buNone/>
            </a:pPr>
            <a:r>
              <a:rPr lang="en-US" altLang="en-US" sz="2000" dirty="0">
                <a:solidFill>
                  <a:srgbClr val="C00000"/>
                </a:solidFill>
              </a:rPr>
              <a:t>If so, how long does the input needs to be?</a:t>
            </a:r>
          </a:p>
        </p:txBody>
      </p:sp>
      <p:sp>
        <p:nvSpPr>
          <p:cNvPr id="2" name="TextBox 1">
            <a:extLst>
              <a:ext uri="{FF2B5EF4-FFF2-40B4-BE49-F238E27FC236}">
                <a16:creationId xmlns:a16="http://schemas.microsoft.com/office/drawing/2014/main" xmlns="" id="{42E2ED9F-4A91-BC67-1F70-62E59A871C2F}"/>
              </a:ext>
            </a:extLst>
          </p:cNvPr>
          <p:cNvSpPr txBox="1"/>
          <p:nvPr/>
        </p:nvSpPr>
        <p:spPr>
          <a:xfrm>
            <a:off x="412321" y="5517232"/>
            <a:ext cx="8480159" cy="830997"/>
          </a:xfrm>
          <a:prstGeom prst="rect">
            <a:avLst/>
          </a:prstGeom>
          <a:noFill/>
        </p:spPr>
        <p:txBody>
          <a:bodyPr wrap="square" rtlCol="0">
            <a:spAutoFit/>
          </a:bodyPr>
          <a:lstStyle/>
          <a:p>
            <a:pPr latinLnBrk="0"/>
            <a:r>
              <a:rPr lang="en-US" sz="1600" dirty="0"/>
              <a:t>Hints:</a:t>
            </a:r>
          </a:p>
          <a:p>
            <a:pPr latinLnBrk="0"/>
            <a:r>
              <a:rPr lang="en-US" sz="1600" dirty="0"/>
              <a:t>1. </a:t>
            </a:r>
            <a:r>
              <a:rPr lang="en-US" sz="1600" dirty="0" err="1">
                <a:latin typeface="Consolas" panose="020B0609020204030204" pitchFamily="49" charset="0"/>
              </a:rPr>
              <a:t>strcpy</a:t>
            </a:r>
            <a:r>
              <a:rPr lang="en-US" sz="1600" dirty="0">
                <a:latin typeface="Consolas" panose="020B0609020204030204" pitchFamily="49" charset="0"/>
              </a:rPr>
              <a:t> </a:t>
            </a:r>
            <a:r>
              <a:rPr lang="en-US" sz="1600" dirty="0"/>
              <a:t>parameters are</a:t>
            </a:r>
            <a:r>
              <a:rPr lang="en-US" sz="1600" dirty="0">
                <a:latin typeface="Consolas" panose="020B0609020204030204" pitchFamily="49" charset="0"/>
              </a:rPr>
              <a:t> (char *</a:t>
            </a:r>
            <a:r>
              <a:rPr lang="en-US" sz="1600" dirty="0" err="1">
                <a:latin typeface="Consolas" panose="020B0609020204030204" pitchFamily="49" charset="0"/>
              </a:rPr>
              <a:t>dest</a:t>
            </a:r>
            <a:r>
              <a:rPr lang="en-US" sz="1600" dirty="0">
                <a:latin typeface="Consolas" panose="020B0609020204030204" pitchFamily="49" charset="0"/>
              </a:rPr>
              <a:t>, char *</a:t>
            </a:r>
            <a:r>
              <a:rPr lang="en-US" sz="1600" dirty="0" err="1">
                <a:latin typeface="Consolas" panose="020B0609020204030204" pitchFamily="49" charset="0"/>
              </a:rPr>
              <a:t>src</a:t>
            </a:r>
            <a:r>
              <a:rPr lang="en-US" sz="1600" dirty="0">
                <a:latin typeface="Consolas" panose="020B0609020204030204" pitchFamily="49" charset="0"/>
              </a:rPr>
              <a:t>)</a:t>
            </a:r>
            <a:endParaRPr lang="en-US" sz="1600" dirty="0"/>
          </a:p>
          <a:p>
            <a:pPr latinLnBrk="0"/>
            <a:r>
              <a:rPr lang="en-US" sz="1600" dirty="0"/>
              <a:t>2. </a:t>
            </a:r>
            <a:r>
              <a:rPr lang="en-US" sz="1600" dirty="0" err="1">
                <a:latin typeface="Consolas" panose="020B0609020204030204" pitchFamily="49" charset="0"/>
              </a:rPr>
              <a:t>strlen</a:t>
            </a:r>
            <a:r>
              <a:rPr lang="en-US" sz="1600" dirty="0">
                <a:latin typeface="Consolas" panose="020B0609020204030204" pitchFamily="49" charset="0"/>
              </a:rPr>
              <a:t>() </a:t>
            </a:r>
            <a:r>
              <a:rPr lang="en-US" sz="1600" dirty="0"/>
              <a:t>returns a number of type</a:t>
            </a:r>
            <a:r>
              <a:rPr lang="en-US" sz="1600" dirty="0">
                <a:latin typeface="Consolas" panose="020B0609020204030204" pitchFamily="49" charset="0"/>
              </a:rPr>
              <a:t> </a:t>
            </a:r>
            <a:r>
              <a:rPr lang="en-US" sz="1600" dirty="0" err="1">
                <a:latin typeface="Consolas" panose="020B0609020204030204" pitchFamily="49" charset="0"/>
              </a:rPr>
              <a:t>size_t</a:t>
            </a:r>
            <a:r>
              <a:rPr lang="en-US" sz="1600" dirty="0">
                <a:latin typeface="Consolas" panose="020B0609020204030204" pitchFamily="49" charset="0"/>
              </a:rPr>
              <a:t> </a:t>
            </a:r>
            <a:r>
              <a:rPr lang="en-US" sz="1600" dirty="0"/>
              <a:t>(unsigned number)</a:t>
            </a:r>
          </a:p>
        </p:txBody>
      </p:sp>
    </p:spTree>
    <p:extLst>
      <p:ext uri="{BB962C8B-B14F-4D97-AF65-F5344CB8AC3E}">
        <p14:creationId xmlns:p14="http://schemas.microsoft.com/office/powerpoint/2010/main" val="2901376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43F6185-E0C1-98F2-5DCA-9D6D000158AA}"/>
            </a:ext>
          </a:extLst>
        </p:cNvPr>
        <p:cNvGrpSpPr/>
        <p:nvPr/>
      </p:nvGrpSpPr>
      <p:grpSpPr>
        <a:xfrm>
          <a:off x="0" y="0"/>
          <a:ext cx="0" cy="0"/>
          <a:chOff x="0" y="0"/>
          <a:chExt cx="0" cy="0"/>
        </a:xfrm>
      </p:grpSpPr>
      <p:sp>
        <p:nvSpPr>
          <p:cNvPr id="68613" name="Rectangle 2">
            <a:extLst>
              <a:ext uri="{FF2B5EF4-FFF2-40B4-BE49-F238E27FC236}">
                <a16:creationId xmlns:a16="http://schemas.microsoft.com/office/drawing/2014/main" xmlns="" id="{4F0FBE86-437B-19FF-CCF8-01A0453A0048}"/>
              </a:ext>
            </a:extLst>
          </p:cNvPr>
          <p:cNvSpPr>
            <a:spLocks noGrp="1" noChangeArrowheads="1"/>
          </p:cNvSpPr>
          <p:nvPr>
            <p:ph type="title"/>
          </p:nvPr>
        </p:nvSpPr>
        <p:spPr/>
        <p:txBody>
          <a:bodyPr/>
          <a:lstStyle/>
          <a:p>
            <a:pPr eaLnBrk="1" hangingPunct="1"/>
            <a:r>
              <a:rPr lang="en-US" altLang="en-US" dirty="0"/>
              <a:t>Integer Overflow Vulnerabilities</a:t>
            </a:r>
          </a:p>
        </p:txBody>
      </p:sp>
      <p:sp>
        <p:nvSpPr>
          <p:cNvPr id="68614" name="Rectangle 3">
            <a:extLst>
              <a:ext uri="{FF2B5EF4-FFF2-40B4-BE49-F238E27FC236}">
                <a16:creationId xmlns:a16="http://schemas.microsoft.com/office/drawing/2014/main" xmlns="" id="{0E77E0AD-C9CC-DA9B-DA5F-AB90188A8AEB}"/>
              </a:ext>
            </a:extLst>
          </p:cNvPr>
          <p:cNvSpPr>
            <a:spLocks noGrp="1" noChangeArrowheads="1"/>
          </p:cNvSpPr>
          <p:nvPr>
            <p:ph sz="quarter" idx="11"/>
          </p:nvPr>
        </p:nvSpPr>
        <p:spPr>
          <a:xfrm>
            <a:off x="546956" y="1556792"/>
            <a:ext cx="8229600" cy="4896544"/>
          </a:xfrm>
        </p:spPr>
        <p:txBody>
          <a:bodyPr/>
          <a:lstStyle/>
          <a:p>
            <a:pPr marL="0" indent="0" eaLnBrk="1" hangingPunct="1">
              <a:buNone/>
            </a:pPr>
            <a:r>
              <a:rPr lang="en-US" altLang="en-US" sz="2800" b="1" dirty="0"/>
              <a:t>Example</a:t>
            </a:r>
          </a:p>
          <a:p>
            <a:pPr marL="400050" lvl="1" indent="0">
              <a:buNone/>
            </a:pP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long</a:t>
            </a:r>
            <a:r>
              <a:rPr lang="en-US" sz="2400" b="0" dirty="0">
                <a:solidFill>
                  <a:srgbClr val="000000"/>
                </a:solidFill>
                <a:effectLst/>
                <a:latin typeface="Consolas" panose="020B0609020204030204" pitchFamily="49" charset="0"/>
              </a:rPr>
              <a:t> MAX_LEN = </a:t>
            </a:r>
            <a:r>
              <a:rPr lang="en-US" sz="2400" b="0" dirty="0">
                <a:solidFill>
                  <a:srgbClr val="098658"/>
                </a:solidFill>
                <a:effectLst/>
                <a:latin typeface="Consolas" panose="020B0609020204030204" pitchFamily="49" charset="0"/>
              </a:rPr>
              <a:t>20000</a:t>
            </a:r>
            <a:r>
              <a:rPr lang="en-US" sz="2400" b="0" dirty="0">
                <a:solidFill>
                  <a:srgbClr val="000000"/>
                </a:solidFill>
                <a:effectLst/>
                <a:latin typeface="Consolas" panose="020B0609020204030204" pitchFamily="49" charset="0"/>
              </a:rPr>
              <a:t>;</a:t>
            </a:r>
          </a:p>
          <a:p>
            <a:pPr marL="400050" lvl="1" indent="0">
              <a:buNone/>
            </a:pPr>
            <a:r>
              <a:rPr lang="en-US" sz="2400" b="0" dirty="0">
                <a:solidFill>
                  <a:srgbClr val="0000FF"/>
                </a:solidFill>
                <a:effectLst/>
                <a:latin typeface="Consolas" panose="020B0609020204030204" pitchFamily="49" charset="0"/>
              </a:rPr>
              <a:t>char</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buf</a:t>
            </a:r>
            <a:r>
              <a:rPr lang="en-US" sz="2400" b="0" dirty="0">
                <a:solidFill>
                  <a:srgbClr val="000000"/>
                </a:solidFill>
                <a:effectLst/>
                <a:latin typeface="Consolas" panose="020B0609020204030204" pitchFamily="49" charset="0"/>
              </a:rPr>
              <a:t>[MAX_LEN];</a:t>
            </a:r>
          </a:p>
          <a:p>
            <a:pPr marL="400050" lvl="1" indent="0">
              <a:buNone/>
            </a:pPr>
            <a:r>
              <a:rPr lang="en-US" sz="2400" b="0" dirty="0">
                <a:solidFill>
                  <a:srgbClr val="0000FF"/>
                </a:solidFill>
                <a:effectLst/>
                <a:latin typeface="Consolas" panose="020B0609020204030204" pitchFamily="49" charset="0"/>
              </a:rPr>
              <a:t>short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 = </a:t>
            </a:r>
            <a:r>
              <a:rPr lang="en-US" sz="2400" b="0" dirty="0" err="1">
                <a:solidFill>
                  <a:srgbClr val="795E26"/>
                </a:solidFill>
                <a:effectLst/>
                <a:latin typeface="Consolas" panose="020B0609020204030204" pitchFamily="49" charset="0"/>
              </a:rPr>
              <a:t>strlen</a:t>
            </a:r>
            <a:r>
              <a:rPr lang="en-US" sz="2400" b="0" dirty="0">
                <a:solidFill>
                  <a:srgbClr val="000000"/>
                </a:solidFill>
                <a:effectLst/>
                <a:latin typeface="Consolas" panose="020B0609020204030204" pitchFamily="49" charset="0"/>
              </a:rPr>
              <a:t>(input);</a:t>
            </a:r>
            <a:r>
              <a:rPr lang="en-US" sz="2400" b="0" dirty="0">
                <a:solidFill>
                  <a:srgbClr val="008000"/>
                </a:solidFill>
                <a:effectLst/>
                <a:latin typeface="Consolas" panose="020B0609020204030204" pitchFamily="49" charset="0"/>
              </a:rPr>
              <a:t>  // [1]</a:t>
            </a:r>
            <a:endParaRPr lang="en-US" sz="2400" b="0" dirty="0">
              <a:solidFill>
                <a:srgbClr val="000000"/>
              </a:solidFill>
              <a:effectLst/>
              <a:latin typeface="Consolas" panose="020B0609020204030204" pitchFamily="49" charset="0"/>
            </a:endParaRPr>
          </a:p>
          <a:p>
            <a:pPr marL="400050" lvl="1" indent="0">
              <a:buNone/>
            </a:pPr>
            <a:r>
              <a:rPr lang="en-US" sz="2400" b="0" dirty="0">
                <a:solidFill>
                  <a:srgbClr val="AF00DB"/>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 &lt; MAX_LEN)</a:t>
            </a:r>
            <a:r>
              <a:rPr lang="en-US" sz="2400" b="0" dirty="0">
                <a:solidFill>
                  <a:srgbClr val="008000"/>
                </a:solidFill>
                <a:effectLst/>
                <a:latin typeface="Consolas" panose="020B0609020204030204" pitchFamily="49" charset="0"/>
              </a:rPr>
              <a:t>          // [2]</a:t>
            </a:r>
            <a:endParaRPr lang="en-US" sz="2400" b="0" dirty="0">
              <a:solidFill>
                <a:srgbClr val="000000"/>
              </a:solidFill>
              <a:effectLst/>
              <a:latin typeface="Consolas" panose="020B0609020204030204" pitchFamily="49" charset="0"/>
            </a:endParaRPr>
          </a:p>
          <a:p>
            <a:pPr marL="400050" lvl="1" indent="0">
              <a:buNone/>
            </a:pP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strcpy</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buf</a:t>
            </a:r>
            <a:r>
              <a:rPr lang="en-US" sz="2400" b="0" dirty="0">
                <a:solidFill>
                  <a:srgbClr val="000000"/>
                </a:solidFill>
                <a:effectLst/>
                <a:latin typeface="Consolas" panose="020B0609020204030204" pitchFamily="49" charset="0"/>
              </a:rPr>
              <a:t>, input);</a:t>
            </a:r>
          </a:p>
          <a:p>
            <a:pPr lvl="1" eaLnBrk="1" hangingPunct="1">
              <a:buFontTx/>
              <a:buNone/>
            </a:pPr>
            <a:endParaRPr lang="en-US" altLang="en-US" sz="1600" dirty="0">
              <a:solidFill>
                <a:srgbClr val="FF0000"/>
              </a:solidFill>
            </a:endParaRPr>
          </a:p>
          <a:p>
            <a:pPr marL="0" indent="0">
              <a:buNone/>
            </a:pPr>
            <a:r>
              <a:rPr lang="en-US" altLang="en-US" sz="2000" dirty="0">
                <a:solidFill>
                  <a:srgbClr val="C00000"/>
                </a:solidFill>
              </a:rPr>
              <a:t>Range of short is [-32768, 32767]</a:t>
            </a:r>
          </a:p>
          <a:p>
            <a:pPr marL="0" indent="0">
              <a:buNone/>
            </a:pPr>
            <a:r>
              <a:rPr lang="en-US" altLang="en-US" sz="2000" dirty="0">
                <a:solidFill>
                  <a:srgbClr val="C00000"/>
                </a:solidFill>
              </a:rPr>
              <a:t>When the length of input buffer exceeds the max 32767, the condition at [2] evaluates to true.</a:t>
            </a:r>
          </a:p>
          <a:p>
            <a:pPr marL="0" indent="0">
              <a:buNone/>
            </a:pPr>
            <a:r>
              <a:rPr lang="en-US" altLang="en-US" sz="1600" dirty="0">
                <a:solidFill>
                  <a:srgbClr val="C00000"/>
                </a:solidFill>
              </a:rPr>
              <a:t>Note: when input length is between 32768 to 65535, the assignment [1] causes it to be treated as a negative number. When length exceeds 65535, assignment [1] results in truncation.</a:t>
            </a:r>
          </a:p>
        </p:txBody>
      </p:sp>
    </p:spTree>
    <p:extLst>
      <p:ext uri="{BB962C8B-B14F-4D97-AF65-F5344CB8AC3E}">
        <p14:creationId xmlns:p14="http://schemas.microsoft.com/office/powerpoint/2010/main" val="36331990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ltLang="en-US" sz="4000" dirty="0"/>
              <a:t>Another Example (from </a:t>
            </a:r>
            <a:r>
              <a:rPr lang="en-US" altLang="en-US" sz="4000" dirty="0" err="1"/>
              <a:t>Phrack</a:t>
            </a:r>
            <a:r>
              <a:rPr lang="en-US" altLang="en-US" sz="4000" dirty="0"/>
              <a:t>)</a:t>
            </a:r>
          </a:p>
        </p:txBody>
      </p:sp>
      <p:sp>
        <p:nvSpPr>
          <p:cNvPr id="70659" name="Content Placeholder 2"/>
          <p:cNvSpPr>
            <a:spLocks noGrp="1"/>
          </p:cNvSpPr>
          <p:nvPr>
            <p:ph sz="quarter" idx="11"/>
          </p:nvPr>
        </p:nvSpPr>
        <p:spPr/>
        <p:txBody>
          <a:bodyPr/>
          <a:lstStyle/>
          <a:p>
            <a:pPr marL="0" indent="0">
              <a:buNone/>
            </a:pPr>
            <a:r>
              <a:rPr lang="en-US" sz="2400" b="0" dirty="0">
                <a:solidFill>
                  <a:srgbClr val="0000FF"/>
                </a:solidFill>
                <a:effectLst/>
                <a:latin typeface="Consolas" panose="020B0609020204030204" pitchFamily="49" charset="0"/>
              </a:rPr>
              <a:t>int</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copy_something</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char</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buf</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int</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int</a:t>
            </a:r>
            <a:r>
              <a:rPr lang="en-US" sz="2400" b="0" dirty="0">
                <a:solidFill>
                  <a:srgbClr val="000000"/>
                </a:solidFill>
                <a:effectLst/>
                <a:latin typeface="Consolas" panose="020B0609020204030204" pitchFamily="49" charset="0"/>
              </a:rPr>
              <a:t> capacity = </a:t>
            </a:r>
            <a:r>
              <a:rPr lang="en-US" sz="2400" b="0" dirty="0">
                <a:solidFill>
                  <a:srgbClr val="098658"/>
                </a:solidFill>
                <a:effectLst/>
                <a:latin typeface="Consolas" panose="020B0609020204030204" pitchFamily="49" charset="0"/>
              </a:rPr>
              <a:t>800</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char</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kbuf</a:t>
            </a:r>
            <a:r>
              <a:rPr lang="en-US" sz="2400" b="0" dirty="0">
                <a:solidFill>
                  <a:srgbClr val="000000"/>
                </a:solidFill>
                <a:effectLst/>
                <a:latin typeface="Consolas" panose="020B0609020204030204" pitchFamily="49" charset="0"/>
              </a:rPr>
              <a:t>[capacity]; </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 &gt; capacity) {</a:t>
            </a:r>
            <a:r>
              <a:rPr lang="en-US" sz="2400" b="0" dirty="0">
                <a:solidFill>
                  <a:srgbClr val="008000"/>
                </a:solidFill>
                <a:effectLst/>
                <a:latin typeface="Consolas" panose="020B0609020204030204" pitchFamily="49" charset="0"/>
              </a:rPr>
              <a:t>          // [1]</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 </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memcpy</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kbuf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buf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a:t>
            </a:r>
            <a:r>
              <a:rPr lang="en-US" sz="2400" b="0" dirty="0">
                <a:solidFill>
                  <a:srgbClr val="008000"/>
                </a:solidFill>
                <a:effectLst/>
                <a:latin typeface="Consolas" panose="020B0609020204030204" pitchFamily="49" charset="0"/>
              </a:rPr>
              <a:t> // [2] </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a:t>
            </a:r>
          </a:p>
          <a:p>
            <a:pPr>
              <a:buFont typeface="Times" panose="02020603050405020304" pitchFamily="18" charset="0"/>
              <a:buNone/>
            </a:pPr>
            <a:endParaRPr lang="en-US" altLang="en-US" sz="1000" dirty="0"/>
          </a:p>
          <a:p>
            <a:pPr marL="0" indent="0">
              <a:buNone/>
            </a:pPr>
            <a:r>
              <a:rPr lang="en-US" altLang="en-US" sz="2300" dirty="0">
                <a:solidFill>
                  <a:srgbClr val="C00000"/>
                </a:solidFill>
              </a:rPr>
              <a:t>What could go wrong?</a:t>
            </a:r>
            <a:endParaRPr lang="en-US" altLang="en-US" sz="2300" dirty="0">
              <a:solidFill>
                <a:srgbClr val="C00000"/>
              </a:solidFill>
              <a:latin typeface="Consolas" panose="020B0609020204030204" pitchFamily="49" charset="0"/>
            </a:endParaRPr>
          </a:p>
        </p:txBody>
      </p:sp>
      <p:sp>
        <p:nvSpPr>
          <p:cNvPr id="3" name="TextBox 2">
            <a:extLst>
              <a:ext uri="{FF2B5EF4-FFF2-40B4-BE49-F238E27FC236}">
                <a16:creationId xmlns:a16="http://schemas.microsoft.com/office/drawing/2014/main" xmlns="" id="{9DA68878-0FB7-18F0-990D-419A447467EF}"/>
              </a:ext>
            </a:extLst>
          </p:cNvPr>
          <p:cNvSpPr txBox="1"/>
          <p:nvPr/>
        </p:nvSpPr>
        <p:spPr>
          <a:xfrm>
            <a:off x="4647245" y="5334307"/>
            <a:ext cx="4245235" cy="830997"/>
          </a:xfrm>
          <a:prstGeom prst="rect">
            <a:avLst/>
          </a:prstGeom>
          <a:noFill/>
        </p:spPr>
        <p:txBody>
          <a:bodyPr wrap="square">
            <a:spAutoFit/>
          </a:bodyPr>
          <a:lstStyle/>
          <a:p>
            <a:pPr marL="0" latinLnBrk="0">
              <a:buNone/>
            </a:pPr>
            <a:r>
              <a:rPr lang="en-US" altLang="en-US" sz="1600" u="sng" dirty="0"/>
              <a:t>Hints</a:t>
            </a:r>
          </a:p>
          <a:p>
            <a:pPr marL="360000" indent="-285750" latinLnBrk="0">
              <a:buFont typeface="Arial" panose="020B0604020202020204" pitchFamily="34" charset="0"/>
              <a:buChar char="•"/>
            </a:pPr>
            <a:r>
              <a:rPr lang="en-US" altLang="en-US" sz="1600" dirty="0" err="1">
                <a:latin typeface="Consolas" panose="020B0609020204030204" pitchFamily="49" charset="0"/>
              </a:rPr>
              <a:t>memcpy</a:t>
            </a:r>
            <a:r>
              <a:rPr lang="en-US" altLang="en-US" sz="1600" dirty="0">
                <a:latin typeface="Consolas" panose="020B0609020204030204" pitchFamily="49" charset="0"/>
              </a:rPr>
              <a:t> </a:t>
            </a:r>
            <a:r>
              <a:rPr lang="en-US" altLang="en-US" sz="1600" dirty="0"/>
              <a:t>expects an unsigned integer as parameter.</a:t>
            </a:r>
          </a:p>
        </p:txBody>
      </p:sp>
    </p:spTree>
    <p:extLst>
      <p:ext uri="{BB962C8B-B14F-4D97-AF65-F5344CB8AC3E}">
        <p14:creationId xmlns:p14="http://schemas.microsoft.com/office/powerpoint/2010/main" val="2294510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ltLang="en-US" sz="4000" dirty="0"/>
              <a:t>Another Example (from </a:t>
            </a:r>
            <a:r>
              <a:rPr lang="en-US" altLang="en-US" sz="4000" dirty="0" err="1"/>
              <a:t>Phrack</a:t>
            </a:r>
            <a:r>
              <a:rPr lang="en-US" altLang="en-US" sz="4000" dirty="0"/>
              <a:t>)</a:t>
            </a:r>
          </a:p>
        </p:txBody>
      </p:sp>
      <p:sp>
        <p:nvSpPr>
          <p:cNvPr id="5" name="Content Placeholder 2">
            <a:extLst>
              <a:ext uri="{FF2B5EF4-FFF2-40B4-BE49-F238E27FC236}">
                <a16:creationId xmlns:a16="http://schemas.microsoft.com/office/drawing/2014/main" xmlns="" id="{1C5A862E-C6B0-9D0B-1162-546A3576F578}"/>
              </a:ext>
            </a:extLst>
          </p:cNvPr>
          <p:cNvSpPr>
            <a:spLocks noGrp="1"/>
          </p:cNvSpPr>
          <p:nvPr>
            <p:ph sz="quarter" idx="11"/>
          </p:nvPr>
        </p:nvSpPr>
        <p:spPr>
          <a:xfrm>
            <a:off x="467544" y="1560612"/>
            <a:ext cx="8229600" cy="4676700"/>
          </a:xfrm>
        </p:spPr>
        <p:txBody>
          <a:bodyPr/>
          <a:lstStyle/>
          <a:p>
            <a:pPr marL="0" indent="0">
              <a:buNone/>
            </a:pPr>
            <a:r>
              <a:rPr lang="en-US" sz="2400" b="0" dirty="0">
                <a:solidFill>
                  <a:srgbClr val="0000FF"/>
                </a:solidFill>
                <a:effectLst/>
                <a:latin typeface="Consolas" panose="020B0609020204030204" pitchFamily="49" charset="0"/>
              </a:rPr>
              <a:t>int</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copy_something</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char</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buf</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int</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int</a:t>
            </a:r>
            <a:r>
              <a:rPr lang="en-US" sz="2400" b="0" dirty="0">
                <a:solidFill>
                  <a:srgbClr val="000000"/>
                </a:solidFill>
                <a:effectLst/>
                <a:latin typeface="Consolas" panose="020B0609020204030204" pitchFamily="49" charset="0"/>
              </a:rPr>
              <a:t> capacity = </a:t>
            </a:r>
            <a:r>
              <a:rPr lang="en-US" sz="2400" b="0" dirty="0">
                <a:solidFill>
                  <a:srgbClr val="098658"/>
                </a:solidFill>
                <a:effectLst/>
                <a:latin typeface="Consolas" panose="020B0609020204030204" pitchFamily="49" charset="0"/>
              </a:rPr>
              <a:t>800</a:t>
            </a:r>
            <a:r>
              <a:rPr lang="en-US" sz="2400" b="0" dirty="0">
                <a:solidFill>
                  <a:srgbClr val="000000"/>
                </a:solidFill>
                <a:effectLst/>
                <a:latin typeface="Consolas" panose="020B0609020204030204" pitchFamily="49" charset="0"/>
              </a:rPr>
              <a:t>;</a:t>
            </a:r>
          </a:p>
          <a:p>
            <a:pPr marL="0" indent="0">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char</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kbuf</a:t>
            </a:r>
            <a:r>
              <a:rPr lang="en-US" sz="2400" b="0" dirty="0">
                <a:solidFill>
                  <a:srgbClr val="000000"/>
                </a:solidFill>
                <a:effectLst/>
                <a:latin typeface="Consolas" panose="020B0609020204030204" pitchFamily="49" charset="0"/>
              </a:rPr>
              <a:t>[capacity]; </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 &gt; capacity) {</a:t>
            </a:r>
            <a:r>
              <a:rPr lang="en-US" sz="2400" b="0" dirty="0">
                <a:solidFill>
                  <a:srgbClr val="008000"/>
                </a:solidFill>
                <a:effectLst/>
                <a:latin typeface="Consolas" panose="020B0609020204030204" pitchFamily="49" charset="0"/>
              </a:rPr>
              <a:t>          // [1]</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 </a:t>
            </a:r>
          </a:p>
          <a:p>
            <a:pPr marL="0" indent="0">
              <a:buNone/>
            </a:pPr>
            <a:r>
              <a:rPr lang="en-US" sz="2400" b="0" dirty="0">
                <a:solidFill>
                  <a:srgbClr val="000000"/>
                </a:solidFill>
                <a:effectLst/>
                <a:latin typeface="Consolas" panose="020B0609020204030204" pitchFamily="49" charset="0"/>
              </a:rPr>
              <a:t>  } </a:t>
            </a:r>
          </a:p>
          <a:p>
            <a:pPr marL="0" indent="0">
              <a:buNone/>
            </a:pP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memcpy</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kbuf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buf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len</a:t>
            </a:r>
            <a:r>
              <a:rPr lang="en-US" sz="2400" b="0" dirty="0">
                <a:solidFill>
                  <a:srgbClr val="000000"/>
                </a:solidFill>
                <a:effectLst/>
                <a:latin typeface="Consolas" panose="020B0609020204030204" pitchFamily="49" charset="0"/>
              </a:rPr>
              <a:t>);</a:t>
            </a:r>
            <a:r>
              <a:rPr lang="en-US" sz="2400" b="0" dirty="0">
                <a:solidFill>
                  <a:srgbClr val="008000"/>
                </a:solidFill>
                <a:effectLst/>
                <a:latin typeface="Consolas" panose="020B0609020204030204" pitchFamily="49" charset="0"/>
              </a:rPr>
              <a:t> // [2] </a:t>
            </a:r>
            <a:endParaRPr lang="en-US" sz="2400" b="0" dirty="0">
              <a:solidFill>
                <a:srgbClr val="000000"/>
              </a:solidFill>
              <a:effectLst/>
              <a:latin typeface="Consolas" panose="020B0609020204030204" pitchFamily="49" charset="0"/>
            </a:endParaRPr>
          </a:p>
          <a:p>
            <a:pPr marL="0" indent="0">
              <a:buNone/>
            </a:pPr>
            <a:r>
              <a:rPr lang="en-US" sz="2400" b="0" dirty="0">
                <a:solidFill>
                  <a:srgbClr val="000000"/>
                </a:solidFill>
                <a:effectLst/>
                <a:latin typeface="Consolas" panose="020B0609020204030204" pitchFamily="49" charset="0"/>
              </a:rPr>
              <a:t>}</a:t>
            </a:r>
          </a:p>
          <a:p>
            <a:pPr>
              <a:buFont typeface="Times" panose="02020603050405020304" pitchFamily="18" charset="0"/>
              <a:buNone/>
            </a:pPr>
            <a:endParaRPr lang="en-US" altLang="en-US" sz="1000" dirty="0"/>
          </a:p>
          <a:p>
            <a:pPr marL="0" indent="0">
              <a:buNone/>
            </a:pPr>
            <a:r>
              <a:rPr lang="en-US" altLang="en-US" sz="2300" dirty="0">
                <a:solidFill>
                  <a:srgbClr val="C00000"/>
                </a:solidFill>
              </a:rPr>
              <a:t>What could go wrong?</a:t>
            </a:r>
            <a:endParaRPr lang="en-US" altLang="en-US" sz="2300" dirty="0">
              <a:solidFill>
                <a:srgbClr val="C00000"/>
              </a:solidFill>
              <a:latin typeface="Consolas" panose="020B0609020204030204" pitchFamily="49" charset="0"/>
            </a:endParaRPr>
          </a:p>
        </p:txBody>
      </p:sp>
      <p:sp>
        <p:nvSpPr>
          <p:cNvPr id="3" name="TextBox 2">
            <a:extLst>
              <a:ext uri="{FF2B5EF4-FFF2-40B4-BE49-F238E27FC236}">
                <a16:creationId xmlns:a16="http://schemas.microsoft.com/office/drawing/2014/main" xmlns="" id="{9DA68878-0FB7-18F0-990D-419A447467EF}"/>
              </a:ext>
            </a:extLst>
          </p:cNvPr>
          <p:cNvSpPr txBox="1"/>
          <p:nvPr/>
        </p:nvSpPr>
        <p:spPr>
          <a:xfrm>
            <a:off x="4427984" y="4941168"/>
            <a:ext cx="4464496" cy="1569660"/>
          </a:xfrm>
          <a:prstGeom prst="rect">
            <a:avLst/>
          </a:prstGeom>
          <a:noFill/>
        </p:spPr>
        <p:txBody>
          <a:bodyPr wrap="square">
            <a:spAutoFit/>
          </a:bodyPr>
          <a:lstStyle/>
          <a:p>
            <a:pPr marL="0" latinLnBrk="0">
              <a:buNone/>
            </a:pPr>
            <a:r>
              <a:rPr lang="en-US" altLang="en-US" sz="1600" dirty="0">
                <a:solidFill>
                  <a:srgbClr val="C00000"/>
                </a:solidFill>
              </a:rPr>
              <a:t>“By passing a negative value for</a:t>
            </a:r>
            <a:r>
              <a:rPr lang="en-US" altLang="en-US" sz="1600" dirty="0">
                <a:solidFill>
                  <a:srgbClr val="C00000"/>
                </a:solidFill>
                <a:latin typeface="Consolas" panose="020B0609020204030204" pitchFamily="49" charset="0"/>
              </a:rPr>
              <a:t> </a:t>
            </a:r>
            <a:r>
              <a:rPr lang="en-US" altLang="en-US" sz="1600" dirty="0" err="1">
                <a:solidFill>
                  <a:srgbClr val="C00000"/>
                </a:solidFill>
                <a:latin typeface="Consolas" panose="020B0609020204030204" pitchFamily="49" charset="0"/>
              </a:rPr>
              <a:t>len</a:t>
            </a:r>
            <a:r>
              <a:rPr lang="en-US" altLang="en-US" sz="1600" dirty="0">
                <a:solidFill>
                  <a:srgbClr val="C00000"/>
                </a:solidFill>
                <a:latin typeface="Consolas" panose="020B0609020204030204" pitchFamily="49" charset="0"/>
              </a:rPr>
              <a:t> </a:t>
            </a:r>
            <a:r>
              <a:rPr lang="en-US" altLang="en-US" sz="1600" dirty="0">
                <a:solidFill>
                  <a:srgbClr val="C00000"/>
                </a:solidFill>
              </a:rPr>
              <a:t>argument, it is possible to pass the check at [1], but then in the call to</a:t>
            </a:r>
            <a:r>
              <a:rPr lang="en-US" altLang="en-US" sz="1600" dirty="0">
                <a:solidFill>
                  <a:srgbClr val="C00000"/>
                </a:solidFill>
                <a:latin typeface="Consolas" panose="020B0609020204030204" pitchFamily="49" charset="0"/>
              </a:rPr>
              <a:t> </a:t>
            </a:r>
            <a:r>
              <a:rPr lang="en-US" altLang="en-US" sz="1600" dirty="0" err="1">
                <a:solidFill>
                  <a:srgbClr val="C00000"/>
                </a:solidFill>
                <a:latin typeface="Consolas" panose="020B0609020204030204" pitchFamily="49" charset="0"/>
              </a:rPr>
              <a:t>memcpy</a:t>
            </a:r>
            <a:r>
              <a:rPr lang="en-US" altLang="en-US" sz="1600" dirty="0">
                <a:solidFill>
                  <a:srgbClr val="C00000"/>
                </a:solidFill>
                <a:latin typeface="Consolas" panose="020B0609020204030204" pitchFamily="49" charset="0"/>
              </a:rPr>
              <a:t> </a:t>
            </a:r>
            <a:r>
              <a:rPr lang="en-US" altLang="en-US" sz="1600" dirty="0">
                <a:solidFill>
                  <a:srgbClr val="C00000"/>
                </a:solidFill>
              </a:rPr>
              <a:t>at [2],</a:t>
            </a:r>
            <a:r>
              <a:rPr lang="en-US" altLang="en-US" sz="1600" dirty="0">
                <a:solidFill>
                  <a:srgbClr val="C00000"/>
                </a:solidFill>
                <a:latin typeface="Consolas" panose="020B0609020204030204" pitchFamily="49" charset="0"/>
              </a:rPr>
              <a:t> </a:t>
            </a:r>
            <a:r>
              <a:rPr lang="en-US" altLang="en-US" sz="1600" dirty="0" err="1">
                <a:solidFill>
                  <a:srgbClr val="C00000"/>
                </a:solidFill>
                <a:latin typeface="Consolas" panose="020B0609020204030204" pitchFamily="49" charset="0"/>
              </a:rPr>
              <a:t>len</a:t>
            </a:r>
            <a:r>
              <a:rPr lang="en-US" altLang="en-US" sz="1600" dirty="0">
                <a:solidFill>
                  <a:srgbClr val="C00000"/>
                </a:solidFill>
                <a:latin typeface="Consolas" panose="020B0609020204030204" pitchFamily="49" charset="0"/>
              </a:rPr>
              <a:t> </a:t>
            </a:r>
            <a:r>
              <a:rPr lang="en-US" altLang="en-US" sz="1600" dirty="0">
                <a:solidFill>
                  <a:srgbClr val="C00000"/>
                </a:solidFill>
              </a:rPr>
              <a:t>will be interpreted as a huge unsigned value, causing memory to be overwritten well past the end of the buffer </a:t>
            </a:r>
            <a:r>
              <a:rPr lang="en-US" altLang="en-US" sz="1600" dirty="0" err="1">
                <a:solidFill>
                  <a:srgbClr val="C00000"/>
                </a:solidFill>
                <a:latin typeface="Consolas" panose="020B0609020204030204" pitchFamily="49" charset="0"/>
              </a:rPr>
              <a:t>kbuf</a:t>
            </a:r>
            <a:r>
              <a:rPr lang="en-US" altLang="en-US" sz="1600" dirty="0">
                <a:solidFill>
                  <a:srgbClr val="C00000"/>
                </a:solidFill>
              </a:rPr>
              <a:t>.”</a:t>
            </a:r>
          </a:p>
        </p:txBody>
      </p:sp>
    </p:spTree>
    <p:extLst>
      <p:ext uri="{BB962C8B-B14F-4D97-AF65-F5344CB8AC3E}">
        <p14:creationId xmlns:p14="http://schemas.microsoft.com/office/powerpoint/2010/main" val="2378297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5C0832-9C3F-8848-EBF9-65950D2429F6}"/>
              </a:ext>
            </a:extLst>
          </p:cNvPr>
          <p:cNvSpPr>
            <a:spLocks noGrp="1"/>
          </p:cNvSpPr>
          <p:nvPr>
            <p:ph type="title"/>
          </p:nvPr>
        </p:nvSpPr>
        <p:spPr/>
        <p:txBody>
          <a:bodyPr/>
          <a:lstStyle/>
          <a:p>
            <a:r>
              <a:rPr lang="en-US" sz="3600" dirty="0"/>
              <a:t>Integer overflow countermeasures</a:t>
            </a:r>
          </a:p>
        </p:txBody>
      </p:sp>
      <p:sp>
        <p:nvSpPr>
          <p:cNvPr id="3" name="Content Placeholder 2">
            <a:extLst>
              <a:ext uri="{FF2B5EF4-FFF2-40B4-BE49-F238E27FC236}">
                <a16:creationId xmlns:a16="http://schemas.microsoft.com/office/drawing/2014/main" xmlns="" id="{73591BDC-A754-0ADB-E90C-B6E121B3BABF}"/>
              </a:ext>
            </a:extLst>
          </p:cNvPr>
          <p:cNvSpPr>
            <a:spLocks noGrp="1"/>
          </p:cNvSpPr>
          <p:nvPr>
            <p:ph sz="quarter" idx="11"/>
          </p:nvPr>
        </p:nvSpPr>
        <p:spPr/>
        <p:txBody>
          <a:bodyPr/>
          <a:lstStyle/>
          <a:p>
            <a:pPr marL="0" indent="0">
              <a:buNone/>
            </a:pPr>
            <a:r>
              <a:rPr lang="en-US" sz="2400" dirty="0"/>
              <a:t>We can’t stop integer overflow, so we need additional code to either avoid it, or detect it</a:t>
            </a:r>
          </a:p>
          <a:p>
            <a:r>
              <a:rPr lang="en-US" sz="2400" dirty="0"/>
              <a:t>In some architectures (e.g. x86), CPU itself checks for overflow and sets a flag. The program only needs to check for that flag.</a:t>
            </a:r>
          </a:p>
          <a:p>
            <a:r>
              <a:rPr lang="en-US" sz="2400" dirty="0"/>
              <a:t>Otherwise manual code should be added for overflow detection, e.g. when calculating sum, if both numbers are positive and sum is negative then report an error. Similarly, if both numbers are negative and sum is positive then report the error.</a:t>
            </a:r>
          </a:p>
          <a:p>
            <a:endParaRPr lang="en-US" sz="2400" dirty="0"/>
          </a:p>
        </p:txBody>
      </p:sp>
    </p:spTree>
    <p:extLst>
      <p:ext uri="{BB962C8B-B14F-4D97-AF65-F5344CB8AC3E}">
        <p14:creationId xmlns:p14="http://schemas.microsoft.com/office/powerpoint/2010/main" val="3137082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963E2-1864-D5C0-733C-8BF6CE62E8F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FB5890EC-1B49-329C-D722-12F90B242816}"/>
              </a:ext>
            </a:extLst>
          </p:cNvPr>
          <p:cNvSpPr>
            <a:spLocks noGrp="1"/>
          </p:cNvSpPr>
          <p:nvPr>
            <p:ph type="title"/>
          </p:nvPr>
        </p:nvSpPr>
        <p:spPr>
          <a:xfrm>
            <a:off x="2627784" y="2894243"/>
            <a:ext cx="5256584" cy="1069514"/>
          </a:xfrm>
        </p:spPr>
        <p:txBody>
          <a:bodyPr/>
          <a:lstStyle/>
          <a:p>
            <a:pPr algn="ctr"/>
            <a:r>
              <a:rPr lang="en-US" dirty="0"/>
              <a:t>Format String Vulnerabilities</a:t>
            </a:r>
          </a:p>
        </p:txBody>
      </p:sp>
    </p:spTree>
    <p:extLst>
      <p:ext uri="{BB962C8B-B14F-4D97-AF65-F5344CB8AC3E}">
        <p14:creationId xmlns:p14="http://schemas.microsoft.com/office/powerpoint/2010/main" val="35381348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FFAB07-A214-092A-860F-A7AA69D45E20}"/>
              </a:ext>
            </a:extLst>
          </p:cNvPr>
          <p:cNvSpPr>
            <a:spLocks noGrp="1"/>
          </p:cNvSpPr>
          <p:nvPr>
            <p:ph type="title"/>
          </p:nvPr>
        </p:nvSpPr>
        <p:spPr/>
        <p:txBody>
          <a:bodyPr/>
          <a:lstStyle/>
          <a:p>
            <a:r>
              <a:rPr lang="en-US" sz="4000" b="1" dirty="0"/>
              <a:t>String formatting in C</a:t>
            </a:r>
            <a:endParaRPr lang="en-US" dirty="0"/>
          </a:p>
        </p:txBody>
      </p:sp>
      <p:sp>
        <p:nvSpPr>
          <p:cNvPr id="3" name="Content Placeholder 2">
            <a:extLst>
              <a:ext uri="{FF2B5EF4-FFF2-40B4-BE49-F238E27FC236}">
                <a16:creationId xmlns:a16="http://schemas.microsoft.com/office/drawing/2014/main" xmlns="" id="{B4F8C8C9-9089-1E25-733F-AD9253021334}"/>
              </a:ext>
            </a:extLst>
          </p:cNvPr>
          <p:cNvSpPr>
            <a:spLocks noGrp="1"/>
          </p:cNvSpPr>
          <p:nvPr>
            <p:ph sz="quarter" idx="11"/>
          </p:nvPr>
        </p:nvSpPr>
        <p:spPr>
          <a:xfrm>
            <a:off x="467544" y="1560612"/>
            <a:ext cx="7776864" cy="4676700"/>
          </a:xfrm>
        </p:spPr>
        <p:txBody>
          <a:bodyPr/>
          <a:lstStyle/>
          <a:p>
            <a:r>
              <a:rPr lang="en-US" sz="2800" dirty="0"/>
              <a:t>String formatting is used by several C functions, like</a:t>
            </a:r>
          </a:p>
          <a:p>
            <a:pPr lvl="1"/>
            <a:r>
              <a:rPr lang="en-US" sz="2400" dirty="0" err="1">
                <a:latin typeface="Consolas" panose="020B0609020204030204" pitchFamily="49" charset="0"/>
              </a:rPr>
              <a:t>printf</a:t>
            </a:r>
            <a:r>
              <a:rPr lang="en-US" sz="2400" dirty="0">
                <a:latin typeface="Consolas" panose="020B0609020204030204" pitchFamily="49" charset="0"/>
              </a:rPr>
              <a:t>  :</a:t>
            </a:r>
            <a:r>
              <a:rPr lang="en-US" sz="2400" dirty="0"/>
              <a:t> print to screen</a:t>
            </a:r>
          </a:p>
          <a:p>
            <a:pPr lvl="1"/>
            <a:r>
              <a:rPr lang="en-US" sz="2400" dirty="0" err="1">
                <a:latin typeface="Consolas" panose="020B0609020204030204" pitchFamily="49" charset="0"/>
              </a:rPr>
              <a:t>fprintf</a:t>
            </a:r>
            <a:r>
              <a:rPr lang="en-US" sz="2400" dirty="0">
                <a:latin typeface="Consolas" panose="020B0609020204030204" pitchFamily="49" charset="0"/>
              </a:rPr>
              <a:t> :</a:t>
            </a:r>
            <a:r>
              <a:rPr lang="en-US" sz="2400" dirty="0"/>
              <a:t> print to a file</a:t>
            </a:r>
          </a:p>
          <a:p>
            <a:pPr lvl="1"/>
            <a:r>
              <a:rPr lang="en-US" sz="2400" dirty="0" err="1">
                <a:latin typeface="Consolas" panose="020B0609020204030204" pitchFamily="49" charset="0"/>
              </a:rPr>
              <a:t>sprintf</a:t>
            </a:r>
            <a:r>
              <a:rPr lang="en-US" sz="2400" dirty="0">
                <a:latin typeface="Consolas" panose="020B0609020204030204" pitchFamily="49" charset="0"/>
              </a:rPr>
              <a:t> :</a:t>
            </a:r>
            <a:r>
              <a:rPr lang="en-US" sz="2400" dirty="0"/>
              <a:t> print to a string buffer</a:t>
            </a:r>
          </a:p>
          <a:p>
            <a:r>
              <a:rPr lang="en-US" sz="2800" dirty="0"/>
              <a:t>Syntax: </a:t>
            </a:r>
          </a:p>
          <a:p>
            <a:endParaRPr lang="en-US" sz="2800" dirty="0"/>
          </a:p>
          <a:p>
            <a:r>
              <a:rPr lang="en-US" sz="2800" dirty="0"/>
              <a:t>Example</a:t>
            </a:r>
          </a:p>
        </p:txBody>
      </p:sp>
      <p:sp>
        <p:nvSpPr>
          <p:cNvPr id="5" name="TextBox 4">
            <a:extLst>
              <a:ext uri="{FF2B5EF4-FFF2-40B4-BE49-F238E27FC236}">
                <a16:creationId xmlns:a16="http://schemas.microsoft.com/office/drawing/2014/main" xmlns="" id="{57B41B16-094C-BBEA-75AC-9E49FCD43E33}"/>
              </a:ext>
            </a:extLst>
          </p:cNvPr>
          <p:cNvSpPr txBox="1"/>
          <p:nvPr/>
        </p:nvSpPr>
        <p:spPr>
          <a:xfrm>
            <a:off x="1245834" y="4335487"/>
            <a:ext cx="7321235" cy="461665"/>
          </a:xfrm>
          <a:prstGeom prst="rect">
            <a:avLst/>
          </a:prstGeom>
          <a:noFill/>
        </p:spPr>
        <p:txBody>
          <a:bodyPr wrap="none" rtlCol="0">
            <a:spAutoFit/>
          </a:bodyPr>
          <a:lstStyle/>
          <a:p>
            <a:r>
              <a:rPr lang="en-US" sz="2400" b="0" dirty="0" err="1">
                <a:solidFill>
                  <a:srgbClr val="795E26"/>
                </a:solidFill>
                <a:effectLst/>
                <a:latin typeface="Consolas" panose="020B0609020204030204" pitchFamily="49" charset="0"/>
              </a:rPr>
              <a:t>printf</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"format template"</a:t>
            </a:r>
            <a:r>
              <a:rPr lang="en-US" sz="2400" b="0" dirty="0">
                <a:solidFill>
                  <a:srgbClr val="000000"/>
                </a:solidFill>
                <a:effectLst/>
                <a:latin typeface="Consolas" panose="020B0609020204030204" pitchFamily="49" charset="0"/>
              </a:rPr>
              <a:t>, arg1, arg2, ...)</a:t>
            </a:r>
          </a:p>
        </p:txBody>
      </p:sp>
      <p:sp>
        <p:nvSpPr>
          <p:cNvPr id="6" name="TextBox 5">
            <a:extLst>
              <a:ext uri="{FF2B5EF4-FFF2-40B4-BE49-F238E27FC236}">
                <a16:creationId xmlns:a16="http://schemas.microsoft.com/office/drawing/2014/main" xmlns="" id="{472CB493-FBC7-987E-274B-FD7F1F143AB3}"/>
              </a:ext>
            </a:extLst>
          </p:cNvPr>
          <p:cNvSpPr txBox="1"/>
          <p:nvPr/>
        </p:nvSpPr>
        <p:spPr>
          <a:xfrm>
            <a:off x="1245834" y="5373216"/>
            <a:ext cx="7430622" cy="830997"/>
          </a:xfrm>
          <a:prstGeom prst="rect">
            <a:avLst/>
          </a:prstGeom>
          <a:noFill/>
        </p:spPr>
        <p:txBody>
          <a:bodyPr wrap="square" rtlCol="0">
            <a:spAutoFit/>
          </a:bodyPr>
          <a:lstStyle/>
          <a:p>
            <a:r>
              <a:rPr lang="en-US" sz="2400" b="0" dirty="0" err="1">
                <a:solidFill>
                  <a:srgbClr val="795E26"/>
                </a:solidFill>
                <a:effectLst/>
                <a:latin typeface="Consolas" panose="020B0609020204030204" pitchFamily="49" charset="0"/>
              </a:rPr>
              <a:t>printf</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 has value </a:t>
            </a:r>
            <a:r>
              <a:rPr lang="en-US" sz="2400" b="0" dirty="0">
                <a:solidFill>
                  <a:srgbClr val="001080"/>
                </a:solidFill>
                <a:effectLst/>
                <a:latin typeface="Consolas" panose="020B0609020204030204" pitchFamily="49" charset="0"/>
              </a:rPr>
              <a:t>%d</a:t>
            </a:r>
            <a:r>
              <a:rPr lang="en-US" sz="2400" b="0" dirty="0">
                <a:solidFill>
                  <a:srgbClr val="A31515"/>
                </a:solidFill>
                <a:effectLst/>
                <a:latin typeface="Consolas" panose="020B0609020204030204" pitchFamily="49" charset="0"/>
              </a:rPr>
              <a:t>, b has value </a:t>
            </a:r>
            <a:r>
              <a:rPr lang="en-US" sz="2400" b="0" dirty="0">
                <a:solidFill>
                  <a:srgbClr val="001080"/>
                </a:solidFill>
                <a:effectLst/>
                <a:latin typeface="Consolas" panose="020B0609020204030204" pitchFamily="49" charset="0"/>
              </a:rPr>
              <a:t>%d</a:t>
            </a:r>
            <a:r>
              <a:rPr lang="en-US" sz="2400" b="0" dirty="0">
                <a:solidFill>
                  <a:srgbClr val="A31515"/>
                </a:solidFill>
                <a:effectLst/>
                <a:latin typeface="Consolas" panose="020B0609020204030204" pitchFamily="49" charset="0"/>
              </a:rPr>
              <a:t>,</a:t>
            </a:r>
            <a:endParaRPr lang="en-US" sz="2400" b="0" dirty="0">
              <a:solidFill>
                <a:srgbClr val="000000"/>
              </a:solidFill>
              <a:effectLst/>
              <a:latin typeface="Consolas" panose="020B0609020204030204" pitchFamily="49" charset="0"/>
            </a:endParaRPr>
          </a:p>
          <a:p>
            <a:r>
              <a:rPr lang="en-US" sz="2400" b="0" dirty="0">
                <a:solidFill>
                  <a:srgbClr val="A31515"/>
                </a:solidFill>
                <a:effectLst/>
                <a:latin typeface="Consolas" panose="020B0609020204030204" pitchFamily="49" charset="0"/>
              </a:rPr>
              <a:t>    c is at address: </a:t>
            </a:r>
            <a:r>
              <a:rPr lang="en-US" sz="2400" b="0" dirty="0">
                <a:solidFill>
                  <a:srgbClr val="001080"/>
                </a:solidFill>
                <a:effectLst/>
                <a:latin typeface="Consolas" panose="020B0609020204030204" pitchFamily="49" charset="0"/>
              </a:rPr>
              <a:t>%08x</a:t>
            </a:r>
            <a:r>
              <a:rPr lang="en-US" sz="2400" b="0" dirty="0">
                <a:solidFill>
                  <a:srgbClr val="EE0000"/>
                </a:solidFill>
                <a:effectLst/>
                <a:latin typeface="Consolas" panose="020B0609020204030204" pitchFamily="49" charset="0"/>
              </a:rPr>
              <a:t>\n</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 a, b, &amp;</a:t>
            </a:r>
            <a:r>
              <a:rPr lang="en-US" sz="2400" b="0" dirty="0">
                <a:solidFill>
                  <a:srgbClr val="001080"/>
                </a:solidFill>
                <a:effectLst/>
                <a:latin typeface="Consolas" panose="020B0609020204030204" pitchFamily="49" charset="0"/>
              </a:rPr>
              <a:t>c</a:t>
            </a:r>
            <a:r>
              <a:rPr lang="en-US" sz="2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1808621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FFAB07-A214-092A-860F-A7AA69D45E20}"/>
              </a:ext>
            </a:extLst>
          </p:cNvPr>
          <p:cNvSpPr>
            <a:spLocks noGrp="1"/>
          </p:cNvSpPr>
          <p:nvPr>
            <p:ph type="title"/>
          </p:nvPr>
        </p:nvSpPr>
        <p:spPr/>
        <p:txBody>
          <a:bodyPr/>
          <a:lstStyle/>
          <a:p>
            <a:r>
              <a:rPr lang="en-US" sz="4000" b="1" dirty="0"/>
              <a:t>String formatting in C</a:t>
            </a:r>
            <a:endParaRPr lang="en-US" dirty="0"/>
          </a:p>
        </p:txBody>
      </p:sp>
      <p:sp>
        <p:nvSpPr>
          <p:cNvPr id="3" name="Content Placeholder 2">
            <a:extLst>
              <a:ext uri="{FF2B5EF4-FFF2-40B4-BE49-F238E27FC236}">
                <a16:creationId xmlns:a16="http://schemas.microsoft.com/office/drawing/2014/main" xmlns="" id="{B4F8C8C9-9089-1E25-733F-AD9253021334}"/>
              </a:ext>
            </a:extLst>
          </p:cNvPr>
          <p:cNvSpPr>
            <a:spLocks noGrp="1"/>
          </p:cNvSpPr>
          <p:nvPr>
            <p:ph sz="quarter" idx="11"/>
          </p:nvPr>
        </p:nvSpPr>
        <p:spPr>
          <a:xfrm>
            <a:off x="467543" y="1560612"/>
            <a:ext cx="8424937" cy="4676700"/>
          </a:xfrm>
        </p:spPr>
        <p:txBody>
          <a:bodyPr/>
          <a:lstStyle/>
          <a:p>
            <a:pPr marL="0" indent="0" latinLnBrk="1">
              <a:spcBef>
                <a:spcPts val="0"/>
              </a:spcBef>
              <a:buNone/>
              <a:defRPr/>
            </a:pPr>
            <a:r>
              <a:rPr lang="en-US" sz="2400" dirty="0"/>
              <a:t>Syntax:</a:t>
            </a:r>
            <a:r>
              <a:rPr lang="en-US" sz="2400" dirty="0">
                <a:latin typeface="Consolas" panose="020B0609020204030204" pitchFamily="49" charset="0"/>
              </a:rPr>
              <a:t> </a:t>
            </a:r>
            <a:r>
              <a:rPr lang="en-US" sz="2400" b="0" dirty="0" err="1">
                <a:solidFill>
                  <a:srgbClr val="795E26"/>
                </a:solidFill>
                <a:effectLst/>
                <a:latin typeface="Consolas" panose="020B0609020204030204" pitchFamily="49" charset="0"/>
              </a:rPr>
              <a:t>printf</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"format template"</a:t>
            </a:r>
            <a:r>
              <a:rPr lang="en-US" sz="2400" b="0" dirty="0">
                <a:solidFill>
                  <a:srgbClr val="000000"/>
                </a:solidFill>
                <a:effectLst/>
                <a:latin typeface="Consolas" panose="020B0609020204030204" pitchFamily="49" charset="0"/>
              </a:rPr>
              <a:t>, arg1, arg2, ...)</a:t>
            </a:r>
            <a:endParaRPr lang="en-US" sz="2400" dirty="0"/>
          </a:p>
          <a:p>
            <a:r>
              <a:rPr lang="en-US" sz="2200" dirty="0"/>
              <a:t>The format template will contain one or more format specifiers, these control how </a:t>
            </a:r>
            <a:r>
              <a:rPr lang="en-US" sz="2200" dirty="0" err="1">
                <a:latin typeface="Consolas" panose="020B0609020204030204" pitchFamily="49" charset="0"/>
              </a:rPr>
              <a:t>argN</a:t>
            </a:r>
            <a:r>
              <a:rPr lang="en-US" sz="2200" dirty="0"/>
              <a:t> will be encoded for display. e.g.</a:t>
            </a:r>
          </a:p>
          <a:p>
            <a:endParaRPr lang="en-US" sz="2200" dirty="0"/>
          </a:p>
          <a:p>
            <a:endParaRPr lang="en-US" sz="2200" dirty="0"/>
          </a:p>
          <a:p>
            <a:endParaRPr lang="en-US" sz="2200" dirty="0"/>
          </a:p>
          <a:p>
            <a:endParaRPr lang="en-US" sz="2200" dirty="0"/>
          </a:p>
          <a:p>
            <a:endParaRPr lang="en-US" sz="2200" dirty="0"/>
          </a:p>
          <a:p>
            <a:r>
              <a:rPr lang="en-US" sz="2200" dirty="0"/>
              <a:t>Optional field width specifier: </a:t>
            </a:r>
            <a:r>
              <a:rPr lang="en-US" sz="2200" dirty="0">
                <a:latin typeface="Consolas" panose="020B0609020204030204" pitchFamily="49" charset="0"/>
              </a:rPr>
              <a:t>%4d</a:t>
            </a:r>
            <a:r>
              <a:rPr lang="en-US" sz="2200" dirty="0"/>
              <a:t> means output will be made at least four characters wide by prepending spaces (if needed). To prepend zeros instead, use </a:t>
            </a:r>
            <a:r>
              <a:rPr lang="en-US" sz="2200" dirty="0">
                <a:latin typeface="Consolas" panose="020B0609020204030204" pitchFamily="49" charset="0"/>
              </a:rPr>
              <a:t>%04d</a:t>
            </a:r>
            <a:r>
              <a:rPr lang="en-US" sz="2200" dirty="0"/>
              <a:t>, </a:t>
            </a:r>
            <a:r>
              <a:rPr lang="en-US" sz="2200" dirty="0">
                <a:latin typeface="Consolas" panose="020B0609020204030204" pitchFamily="49" charset="0"/>
              </a:rPr>
              <a:t>%08x</a:t>
            </a:r>
            <a:r>
              <a:rPr lang="en-US" sz="2200" dirty="0"/>
              <a:t> etc.</a:t>
            </a:r>
          </a:p>
        </p:txBody>
      </p:sp>
      <p:graphicFrame>
        <p:nvGraphicFramePr>
          <p:cNvPr id="4" name="Table 3">
            <a:extLst>
              <a:ext uri="{FF2B5EF4-FFF2-40B4-BE49-F238E27FC236}">
                <a16:creationId xmlns:a16="http://schemas.microsoft.com/office/drawing/2014/main" xmlns="" id="{C688A8EC-0854-4F41-C3A1-5C9391F1B0F3}"/>
              </a:ext>
            </a:extLst>
          </p:cNvPr>
          <p:cNvGraphicFramePr>
            <a:graphicFrameLocks noGrp="1"/>
          </p:cNvGraphicFramePr>
          <p:nvPr>
            <p:extLst>
              <p:ext uri="{D42A27DB-BD31-4B8C-83A1-F6EECF244321}">
                <p14:modId xmlns:p14="http://schemas.microsoft.com/office/powerpoint/2010/main" val="388500067"/>
              </p:ext>
            </p:extLst>
          </p:nvPr>
        </p:nvGraphicFramePr>
        <p:xfrm>
          <a:off x="2627784" y="2924944"/>
          <a:ext cx="4968551" cy="2062480"/>
        </p:xfrm>
        <a:graphic>
          <a:graphicData uri="http://schemas.openxmlformats.org/drawingml/2006/table">
            <a:tbl>
              <a:tblPr>
                <a:tableStyleId>{5C22544A-7EE6-4342-B048-85BDC9FD1C3A}</a:tableStyleId>
              </a:tblPr>
              <a:tblGrid>
                <a:gridCol w="499339">
                  <a:extLst>
                    <a:ext uri="{9D8B030D-6E8A-4147-A177-3AD203B41FA5}">
                      <a16:colId xmlns:a16="http://schemas.microsoft.com/office/drawing/2014/main" xmlns="" val="3195062956"/>
                    </a:ext>
                  </a:extLst>
                </a:gridCol>
                <a:gridCol w="4469212">
                  <a:extLst>
                    <a:ext uri="{9D8B030D-6E8A-4147-A177-3AD203B41FA5}">
                      <a16:colId xmlns:a16="http://schemas.microsoft.com/office/drawing/2014/main" xmlns="" val="979266008"/>
                    </a:ext>
                  </a:extLst>
                </a:gridCol>
              </a:tblGrid>
              <a:tr h="370840">
                <a:tc>
                  <a:txBody>
                    <a:bodyPr/>
                    <a:lstStyle/>
                    <a:p>
                      <a:pPr algn="ctr" latinLnBrk="0"/>
                      <a:r>
                        <a:rPr lang="en-US" sz="1600" dirty="0">
                          <a:latin typeface="Consolas" panose="020B0609020204030204" pitchFamily="49" charset="0"/>
                        </a:rPr>
                        <a:t>%d</a:t>
                      </a:r>
                    </a:p>
                  </a:txBody>
                  <a:tcPr/>
                </a:tc>
                <a:tc>
                  <a:txBody>
                    <a:bodyPr/>
                    <a:lstStyle/>
                    <a:p>
                      <a:pPr latinLnBrk="0"/>
                      <a:r>
                        <a:rPr lang="en-US" sz="1600" dirty="0"/>
                        <a:t>Integer (base 10)</a:t>
                      </a:r>
                    </a:p>
                  </a:txBody>
                  <a:tcPr/>
                </a:tc>
                <a:extLst>
                  <a:ext uri="{0D108BD9-81ED-4DB2-BD59-A6C34878D82A}">
                    <a16:rowId xmlns:a16="http://schemas.microsoft.com/office/drawing/2014/main" xmlns="" val="2576549007"/>
                  </a:ext>
                </a:extLst>
              </a:tr>
              <a:tr h="370840">
                <a:tc>
                  <a:txBody>
                    <a:bodyPr/>
                    <a:lstStyle/>
                    <a:p>
                      <a:pPr algn="ctr" latinLnBrk="0"/>
                      <a:r>
                        <a:rPr lang="en-US" sz="1600" dirty="0">
                          <a:latin typeface="Consolas" panose="020B0609020204030204" pitchFamily="49" charset="0"/>
                        </a:rPr>
                        <a:t>%f</a:t>
                      </a:r>
                    </a:p>
                  </a:txBody>
                  <a:tcPr/>
                </a:tc>
                <a:tc>
                  <a:txBody>
                    <a:bodyPr/>
                    <a:lstStyle/>
                    <a:p>
                      <a:pPr latinLnBrk="0"/>
                      <a:r>
                        <a:rPr lang="en-US" sz="1600" dirty="0"/>
                        <a:t>Floating point</a:t>
                      </a:r>
                    </a:p>
                  </a:txBody>
                  <a:tcPr/>
                </a:tc>
                <a:extLst>
                  <a:ext uri="{0D108BD9-81ED-4DB2-BD59-A6C34878D82A}">
                    <a16:rowId xmlns:a16="http://schemas.microsoft.com/office/drawing/2014/main" xmlns="" val="1251261366"/>
                  </a:ext>
                </a:extLst>
              </a:tr>
              <a:tr h="370840">
                <a:tc>
                  <a:txBody>
                    <a:bodyPr/>
                    <a:lstStyle/>
                    <a:p>
                      <a:pPr algn="ctr" latinLnBrk="0"/>
                      <a:r>
                        <a:rPr lang="en-US" sz="1600" dirty="0">
                          <a:latin typeface="Consolas" panose="020B0609020204030204" pitchFamily="49" charset="0"/>
                        </a:rPr>
                        <a:t>%s</a:t>
                      </a:r>
                    </a:p>
                  </a:txBody>
                  <a:tcPr/>
                </a:tc>
                <a:tc>
                  <a:txBody>
                    <a:bodyPr/>
                    <a:lstStyle/>
                    <a:p>
                      <a:pPr latinLnBrk="0"/>
                      <a:r>
                        <a:rPr lang="en-US" sz="1600" dirty="0"/>
                        <a:t>String</a:t>
                      </a:r>
                    </a:p>
                  </a:txBody>
                  <a:tcPr/>
                </a:tc>
                <a:extLst>
                  <a:ext uri="{0D108BD9-81ED-4DB2-BD59-A6C34878D82A}">
                    <a16:rowId xmlns:a16="http://schemas.microsoft.com/office/drawing/2014/main" xmlns="" val="86473519"/>
                  </a:ext>
                </a:extLst>
              </a:tr>
              <a:tr h="370840">
                <a:tc>
                  <a:txBody>
                    <a:bodyPr/>
                    <a:lstStyle/>
                    <a:p>
                      <a:pPr algn="ctr" latinLnBrk="0"/>
                      <a:r>
                        <a:rPr lang="en-US" sz="1600" dirty="0">
                          <a:latin typeface="Consolas" panose="020B0609020204030204" pitchFamily="49" charset="0"/>
                        </a:rPr>
                        <a:t>%x</a:t>
                      </a:r>
                    </a:p>
                  </a:txBody>
                  <a:tcPr/>
                </a:tc>
                <a:tc>
                  <a:txBody>
                    <a:bodyPr/>
                    <a:lstStyle/>
                    <a:p>
                      <a:pPr latinLnBrk="0"/>
                      <a:r>
                        <a:rPr lang="en-US" sz="1600" dirty="0"/>
                        <a:t>Hexadecimal integer</a:t>
                      </a:r>
                    </a:p>
                  </a:txBody>
                  <a:tcPr/>
                </a:tc>
                <a:extLst>
                  <a:ext uri="{0D108BD9-81ED-4DB2-BD59-A6C34878D82A}">
                    <a16:rowId xmlns:a16="http://schemas.microsoft.com/office/drawing/2014/main" xmlns="" val="4213506307"/>
                  </a:ext>
                </a:extLst>
              </a:tr>
              <a:tr h="370840">
                <a:tc>
                  <a:txBody>
                    <a:bodyPr/>
                    <a:lstStyle/>
                    <a:p>
                      <a:pPr algn="ctr" latinLnBrk="0"/>
                      <a:r>
                        <a:rPr lang="en-US" sz="1600" dirty="0">
                          <a:latin typeface="Consolas" panose="020B0609020204030204" pitchFamily="49" charset="0"/>
                        </a:rPr>
                        <a:t>%n</a:t>
                      </a:r>
                    </a:p>
                  </a:txBody>
                  <a:tcPr/>
                </a:tc>
                <a:tc>
                  <a:txBody>
                    <a:bodyPr/>
                    <a:lstStyle/>
                    <a:p>
                      <a:pPr latinLnBrk="0"/>
                      <a:r>
                        <a:rPr lang="en-US" sz="1600" dirty="0"/>
                        <a:t>Output nothing, but count characters printed so far and write that to </a:t>
                      </a:r>
                      <a:r>
                        <a:rPr lang="en-US" sz="1600" dirty="0" err="1">
                          <a:latin typeface="Consolas" panose="020B0609020204030204" pitchFamily="49" charset="0"/>
                        </a:rPr>
                        <a:t>argN</a:t>
                      </a:r>
                      <a:r>
                        <a:rPr lang="en-US" sz="1600" dirty="0"/>
                        <a:t> pointer</a:t>
                      </a:r>
                    </a:p>
                  </a:txBody>
                  <a:tcPr/>
                </a:tc>
                <a:extLst>
                  <a:ext uri="{0D108BD9-81ED-4DB2-BD59-A6C34878D82A}">
                    <a16:rowId xmlns:a16="http://schemas.microsoft.com/office/drawing/2014/main" xmlns="" val="2607880629"/>
                  </a:ext>
                </a:extLst>
              </a:tr>
            </a:tbl>
          </a:graphicData>
        </a:graphic>
      </p:graphicFrame>
    </p:spTree>
    <p:extLst>
      <p:ext uri="{BB962C8B-B14F-4D97-AF65-F5344CB8AC3E}">
        <p14:creationId xmlns:p14="http://schemas.microsoft.com/office/powerpoint/2010/main" val="17581796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140D97-EF9A-1D15-FCFE-1AE48A648AC9}"/>
              </a:ext>
            </a:extLst>
          </p:cNvPr>
          <p:cNvSpPr>
            <a:spLocks noGrp="1"/>
          </p:cNvSpPr>
          <p:nvPr>
            <p:ph type="title"/>
          </p:nvPr>
        </p:nvSpPr>
        <p:spPr/>
        <p:txBody>
          <a:bodyPr/>
          <a:lstStyle/>
          <a:p>
            <a:r>
              <a:rPr lang="en-US" dirty="0"/>
              <a:t>Malicious format strings: %x</a:t>
            </a:r>
          </a:p>
        </p:txBody>
      </p:sp>
      <p:sp>
        <p:nvSpPr>
          <p:cNvPr id="3" name="Content Placeholder 2">
            <a:extLst>
              <a:ext uri="{FF2B5EF4-FFF2-40B4-BE49-F238E27FC236}">
                <a16:creationId xmlns:a16="http://schemas.microsoft.com/office/drawing/2014/main" xmlns="" id="{ACB39AD8-BBC0-0F5C-4428-7DEA86C6088E}"/>
              </a:ext>
            </a:extLst>
          </p:cNvPr>
          <p:cNvSpPr>
            <a:spLocks noGrp="1"/>
          </p:cNvSpPr>
          <p:nvPr>
            <p:ph sz="quarter" idx="11"/>
          </p:nvPr>
        </p:nvSpPr>
        <p:spPr/>
        <p:txBody>
          <a:bodyPr/>
          <a:lstStyle/>
          <a:p>
            <a:pPr marL="0" indent="0">
              <a:buNone/>
            </a:pPr>
            <a:r>
              <a:rPr lang="en-US" sz="2400" b="1" dirty="0"/>
              <a:t>What if </a:t>
            </a:r>
            <a:r>
              <a:rPr lang="en-US" sz="2400" b="1" dirty="0" err="1"/>
              <a:t>args</a:t>
            </a:r>
            <a:r>
              <a:rPr lang="en-US" sz="2400" b="1" dirty="0"/>
              <a:t> are missing (or not enough)?</a:t>
            </a:r>
          </a:p>
          <a:p>
            <a:pPr marL="0" indent="0" algn="ctr">
              <a:buNone/>
            </a:pPr>
            <a:r>
              <a:rPr lang="en-US" sz="2400" dirty="0" err="1">
                <a:latin typeface="Consolas" panose="020B0609020204030204" pitchFamily="49" charset="0"/>
              </a:rPr>
              <a:t>printf</a:t>
            </a:r>
            <a:r>
              <a:rPr lang="en-US" sz="2400" dirty="0">
                <a:latin typeface="Consolas" panose="020B0609020204030204" pitchFamily="49" charset="0"/>
              </a:rPr>
              <a:t>("format template")</a:t>
            </a:r>
          </a:p>
          <a:p>
            <a:r>
              <a:rPr lang="en-US" sz="2400" dirty="0"/>
              <a:t>If the format string contains one or more specifiers, </a:t>
            </a:r>
            <a:r>
              <a:rPr lang="en-US" sz="2400" dirty="0" err="1">
                <a:latin typeface="Consolas" panose="020B0609020204030204" pitchFamily="49" charset="0"/>
              </a:rPr>
              <a:t>printf</a:t>
            </a:r>
            <a:r>
              <a:rPr lang="en-US" sz="2400" dirty="0"/>
              <a:t> will expect the </a:t>
            </a:r>
            <a:r>
              <a:rPr lang="en-US" sz="2400" dirty="0" err="1"/>
              <a:t>args</a:t>
            </a:r>
            <a:r>
              <a:rPr lang="en-US" sz="2400" dirty="0"/>
              <a:t> to be present on the stack.</a:t>
            </a:r>
          </a:p>
          <a:p>
            <a:r>
              <a:rPr lang="en-US" sz="2400" dirty="0"/>
              <a:t>So it will read whatever is on the stack!</a:t>
            </a:r>
          </a:p>
          <a:p>
            <a:endParaRPr lang="en-US" sz="2400" dirty="0"/>
          </a:p>
          <a:p>
            <a:pPr marL="0" indent="0">
              <a:buNone/>
            </a:pPr>
            <a:r>
              <a:rPr lang="en-US" sz="2400" b="1" dirty="0"/>
              <a:t>What could happen? </a:t>
            </a:r>
          </a:p>
          <a:p>
            <a:r>
              <a:rPr lang="en-US" sz="2400" dirty="0"/>
              <a:t>Viewing the stack contents</a:t>
            </a:r>
          </a:p>
          <a:p>
            <a:pPr marL="0" indent="0">
              <a:buNone/>
            </a:pPr>
            <a:r>
              <a:rPr lang="pt-BR" sz="2400" dirty="0">
                <a:solidFill>
                  <a:srgbClr val="C00000"/>
                </a:solidFill>
                <a:latin typeface="Consolas" panose="020B0609020204030204" pitchFamily="49" charset="0"/>
              </a:rPr>
              <a:t>printf("%08x %08x %08x %08x %08x\n");</a:t>
            </a:r>
          </a:p>
          <a:p>
            <a:r>
              <a:rPr lang="en-US" sz="2400" dirty="0"/>
              <a:t>Output</a:t>
            </a:r>
          </a:p>
          <a:p>
            <a:pPr marL="0" indent="0">
              <a:buNone/>
            </a:pPr>
            <a:r>
              <a:rPr lang="en-US" sz="2400" dirty="0">
                <a:latin typeface="Consolas" panose="020B0609020204030204" pitchFamily="49" charset="0"/>
              </a:rPr>
              <a:t>16d2e5f8 00000000 e9a7ee80 e9cb2560 00000000</a:t>
            </a:r>
          </a:p>
          <a:p>
            <a:endParaRPr lang="en-US" sz="2400" dirty="0"/>
          </a:p>
        </p:txBody>
      </p:sp>
    </p:spTree>
    <p:extLst>
      <p:ext uri="{BB962C8B-B14F-4D97-AF65-F5344CB8AC3E}">
        <p14:creationId xmlns:p14="http://schemas.microsoft.com/office/powerpoint/2010/main" val="2542173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Malicious format strings: %s</a:t>
            </a:r>
          </a:p>
        </p:txBody>
      </p:sp>
      <p:sp>
        <p:nvSpPr>
          <p:cNvPr id="3" name="Content Placeholder 2"/>
          <p:cNvSpPr>
            <a:spLocks noGrp="1"/>
          </p:cNvSpPr>
          <p:nvPr>
            <p:ph sz="quarter" idx="11"/>
          </p:nvPr>
        </p:nvSpPr>
        <p:spPr/>
        <p:txBody>
          <a:bodyPr/>
          <a:lstStyle/>
          <a:p>
            <a:r>
              <a:rPr lang="en-US" sz="2200" dirty="0"/>
              <a:t>Typical use case</a:t>
            </a:r>
            <a:endParaRPr lang="en-US" sz="2200" dirty="0">
              <a:latin typeface="Consolas" panose="020B0609020204030204" pitchFamily="49" charset="0"/>
            </a:endParaRPr>
          </a:p>
          <a:p>
            <a:pPr marL="800100" lvl="2" indent="0">
              <a:buNone/>
            </a:pPr>
            <a:r>
              <a:rPr lang="en-US" sz="2200" dirty="0" err="1">
                <a:latin typeface="Consolas" panose="020B0609020204030204" pitchFamily="49" charset="0"/>
              </a:rPr>
              <a:t>printf</a:t>
            </a:r>
            <a:r>
              <a:rPr lang="en-US" sz="2200" dirty="0">
                <a:latin typeface="Consolas" panose="020B0609020204030204" pitchFamily="49" charset="0"/>
              </a:rPr>
              <a:t>("str has the value %s", str); </a:t>
            </a:r>
          </a:p>
          <a:p>
            <a:pPr marL="800100" lvl="2" indent="0">
              <a:buNone/>
            </a:pPr>
            <a:r>
              <a:rPr lang="en-US" sz="2200" dirty="0">
                <a:latin typeface="Consolas" panose="020B0609020204030204" pitchFamily="49" charset="0"/>
              </a:rPr>
              <a:t>// where %s is a string i.e. a char*</a:t>
            </a:r>
          </a:p>
          <a:p>
            <a:r>
              <a:rPr lang="en-US" sz="2200" dirty="0">
                <a:solidFill>
                  <a:srgbClr val="C00000"/>
                </a:solidFill>
              </a:rPr>
              <a:t>What will the following do?</a:t>
            </a:r>
          </a:p>
          <a:p>
            <a:pPr marL="800100" lvl="2" indent="0">
              <a:buNone/>
            </a:pPr>
            <a:r>
              <a:rPr lang="en-US" sz="2200" dirty="0" err="1">
                <a:solidFill>
                  <a:srgbClr val="FF0000"/>
                </a:solidFill>
                <a:latin typeface="Consolas" panose="020B0609020204030204" pitchFamily="49" charset="0"/>
              </a:rPr>
              <a:t>printf</a:t>
            </a:r>
            <a:r>
              <a:rPr lang="en-US" sz="2200" dirty="0">
                <a:solidFill>
                  <a:srgbClr val="FF0000"/>
                </a:solidFill>
                <a:latin typeface="Consolas" panose="020B0609020204030204" pitchFamily="49" charset="0"/>
              </a:rPr>
              <a:t>("str has the value %s")</a:t>
            </a:r>
            <a:r>
              <a:rPr lang="en-US" sz="2200" dirty="0">
                <a:solidFill>
                  <a:srgbClr val="FF0000"/>
                </a:solidFill>
              </a:rPr>
              <a:t>;</a:t>
            </a:r>
          </a:p>
          <a:p>
            <a:r>
              <a:rPr lang="en-US" sz="2200" dirty="0"/>
              <a:t>It interprets the top of the stack as a pointer (an address) and prints the string located in memory at that address.</a:t>
            </a:r>
          </a:p>
          <a:p>
            <a:r>
              <a:rPr lang="en-US" sz="2200" dirty="0"/>
              <a:t>Of course, there might not be a string allocated at that address. </a:t>
            </a:r>
            <a:r>
              <a:rPr lang="en-US" sz="2200" dirty="0" err="1">
                <a:latin typeface="Consolas" panose="020B0609020204030204" pitchFamily="49" charset="0"/>
              </a:rPr>
              <a:t>printf</a:t>
            </a:r>
            <a:r>
              <a:rPr lang="en-US" sz="2200" dirty="0"/>
              <a:t> simply prints whatever is in memory up to the next null terminator.</a:t>
            </a:r>
          </a:p>
          <a:p>
            <a:r>
              <a:rPr lang="en-US" sz="2200" dirty="0"/>
              <a:t>It will either reveal (potentially sensitive) memory contents or crash the program if that address is illegal.</a:t>
            </a:r>
          </a:p>
          <a:p>
            <a:endParaRPr lang="en-US" sz="2200" dirty="0"/>
          </a:p>
        </p:txBody>
      </p:sp>
    </p:spTree>
    <p:extLst>
      <p:ext uri="{BB962C8B-B14F-4D97-AF65-F5344CB8AC3E}">
        <p14:creationId xmlns:p14="http://schemas.microsoft.com/office/powerpoint/2010/main" val="254322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Malicious format strings: %n</a:t>
            </a:r>
          </a:p>
        </p:txBody>
      </p:sp>
      <p:sp>
        <p:nvSpPr>
          <p:cNvPr id="3" name="Content Placeholder 2"/>
          <p:cNvSpPr>
            <a:spLocks noGrp="1"/>
          </p:cNvSpPr>
          <p:nvPr>
            <p:ph sz="quarter" idx="11"/>
          </p:nvPr>
        </p:nvSpPr>
        <p:spPr/>
        <p:txBody>
          <a:bodyPr/>
          <a:lstStyle/>
          <a:p>
            <a:r>
              <a:rPr lang="en-US" sz="2400" dirty="0">
                <a:solidFill>
                  <a:srgbClr val="C00000"/>
                </a:solidFill>
              </a:rPr>
              <a:t>%n </a:t>
            </a:r>
            <a:r>
              <a:rPr lang="en-US" sz="2400" dirty="0"/>
              <a:t>format specifier behaves differently. Instead of converting an </a:t>
            </a:r>
            <a:r>
              <a:rPr lang="en-US" sz="2400" dirty="0" err="1">
                <a:solidFill>
                  <a:srgbClr val="C00000"/>
                </a:solidFill>
              </a:rPr>
              <a:t>arg</a:t>
            </a:r>
            <a:r>
              <a:rPr lang="en-US" sz="2400" dirty="0"/>
              <a:t> to string, it counts the number of characters processed by </a:t>
            </a:r>
            <a:r>
              <a:rPr lang="en-US" sz="2400" dirty="0" err="1"/>
              <a:t>printf</a:t>
            </a:r>
            <a:r>
              <a:rPr lang="en-US" sz="2400" dirty="0"/>
              <a:t> so far, and stores that count to </a:t>
            </a:r>
            <a:r>
              <a:rPr lang="en-US" sz="2400" dirty="0" err="1">
                <a:solidFill>
                  <a:srgbClr val="C00000"/>
                </a:solidFill>
              </a:rPr>
              <a:t>arg</a:t>
            </a:r>
            <a:r>
              <a:rPr lang="en-US" sz="2400" dirty="0"/>
              <a:t> pointer.</a:t>
            </a:r>
          </a:p>
          <a:p>
            <a:pPr marL="800100" lvl="2" indent="0">
              <a:buNone/>
            </a:pPr>
            <a:r>
              <a:rPr lang="en-US" dirty="0">
                <a:solidFill>
                  <a:srgbClr val="C00000"/>
                </a:solidFill>
                <a:latin typeface="Consolas" panose="020B0609020204030204" pitchFamily="49" charset="0"/>
              </a:rPr>
              <a:t>int j;</a:t>
            </a:r>
          </a:p>
          <a:p>
            <a:pPr marL="800100" lvl="2" indent="0">
              <a:buNone/>
            </a:pPr>
            <a:r>
              <a:rPr lang="en-US" dirty="0" err="1">
                <a:solidFill>
                  <a:srgbClr val="C00000"/>
                </a:solidFill>
                <a:latin typeface="Consolas" panose="020B0609020204030204" pitchFamily="49" charset="0"/>
              </a:rPr>
              <a:t>printf</a:t>
            </a:r>
            <a:r>
              <a:rPr lang="en-US" dirty="0">
                <a:solidFill>
                  <a:srgbClr val="C00000"/>
                </a:solidFill>
                <a:latin typeface="Consolas" panose="020B0609020204030204" pitchFamily="49" charset="0"/>
              </a:rPr>
              <a:t>("how long is this? %n", &amp;j);</a:t>
            </a:r>
          </a:p>
          <a:p>
            <a:r>
              <a:rPr lang="en-US" sz="2400" dirty="0"/>
              <a:t>Here it will give </a:t>
            </a:r>
            <a:r>
              <a:rPr lang="en-US" sz="2400" dirty="0">
                <a:latin typeface="Consolas" panose="020B0609020204030204" pitchFamily="49" charset="0"/>
              </a:rPr>
              <a:t>j</a:t>
            </a:r>
            <a:r>
              <a:rPr lang="en-US" sz="2400" dirty="0"/>
              <a:t> the value 18 </a:t>
            </a:r>
          </a:p>
          <a:p>
            <a:r>
              <a:rPr lang="en-US" sz="2400" dirty="0"/>
              <a:t>Consequently,</a:t>
            </a:r>
          </a:p>
          <a:p>
            <a:pPr marL="800100" lvl="2" indent="0">
              <a:buNone/>
            </a:pPr>
            <a:r>
              <a:rPr lang="en-US" dirty="0" err="1">
                <a:solidFill>
                  <a:srgbClr val="C00000"/>
                </a:solidFill>
                <a:latin typeface="Consolas" panose="020B0609020204030204" pitchFamily="49" charset="0"/>
              </a:rPr>
              <a:t>printf</a:t>
            </a:r>
            <a:r>
              <a:rPr lang="en-US" dirty="0">
                <a:solidFill>
                  <a:srgbClr val="C00000"/>
                </a:solidFill>
                <a:latin typeface="Consolas" panose="020B0609020204030204" pitchFamily="49" charset="0"/>
              </a:rPr>
              <a:t>("how long is this? %n");</a:t>
            </a:r>
            <a:endParaRPr lang="en-US" dirty="0"/>
          </a:p>
          <a:p>
            <a:pPr marL="400050" lvl="1" indent="0">
              <a:buNone/>
            </a:pPr>
            <a:r>
              <a:rPr lang="en-US" sz="2400" dirty="0"/>
              <a:t>will interpret the top bytes of the stack as an address X, and then write the number of characters outputted so far to that address!</a:t>
            </a:r>
          </a:p>
        </p:txBody>
      </p:sp>
    </p:spTree>
    <p:extLst>
      <p:ext uri="{BB962C8B-B14F-4D97-AF65-F5344CB8AC3E}">
        <p14:creationId xmlns:p14="http://schemas.microsoft.com/office/powerpoint/2010/main" val="7584945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Format string attacks</a:t>
            </a:r>
            <a:endParaRPr lang="en-US" dirty="0"/>
          </a:p>
        </p:txBody>
      </p:sp>
      <p:sp>
        <p:nvSpPr>
          <p:cNvPr id="3" name="Content Placeholder 2"/>
          <p:cNvSpPr>
            <a:spLocks noGrp="1"/>
          </p:cNvSpPr>
          <p:nvPr>
            <p:ph sz="quarter" idx="11"/>
          </p:nvPr>
        </p:nvSpPr>
        <p:spPr/>
        <p:txBody>
          <a:bodyPr/>
          <a:lstStyle/>
          <a:p>
            <a:pPr marL="0" indent="0">
              <a:buNone/>
            </a:pPr>
            <a:r>
              <a:rPr lang="en-US" sz="2400" dirty="0"/>
              <a:t>Leaking data from stack</a:t>
            </a:r>
          </a:p>
          <a:p>
            <a:endParaRPr lang="en-US" sz="2400" dirty="0"/>
          </a:p>
          <a:p>
            <a:pPr marL="0" indent="0">
              <a:buNone/>
            </a:pP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a:t>
            </a:r>
            <a:r>
              <a:rPr lang="en-US" sz="2400" dirty="0">
                <a:solidFill>
                  <a:srgbClr val="795E26"/>
                </a:solidFill>
                <a:latin typeface="Consolas" panose="020B0609020204030204" pitchFamily="49" charset="0"/>
              </a:rPr>
              <a:t>main</a:t>
            </a:r>
            <a:r>
              <a:rPr lang="en-US" sz="2400" dirty="0">
                <a:solidFill>
                  <a:srgbClr val="000000"/>
                </a:solidFill>
                <a:latin typeface="Consolas" panose="020B0609020204030204" pitchFamily="49" charset="0"/>
              </a:rPr>
              <a:t>(</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a:t>
            </a:r>
            <a:r>
              <a:rPr lang="en-US" sz="2400" dirty="0" err="1">
                <a:solidFill>
                  <a:srgbClr val="001080"/>
                </a:solidFill>
                <a:latin typeface="Consolas" panose="020B0609020204030204" pitchFamily="49" charset="0"/>
              </a:rPr>
              <a:t>argc</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char</a:t>
            </a:r>
            <a:r>
              <a:rPr lang="en-US" sz="2400" dirty="0">
                <a:solidFill>
                  <a:srgbClr val="000000"/>
                </a:solidFill>
                <a:latin typeface="Consolas" panose="020B0609020204030204" pitchFamily="49" charset="0"/>
              </a:rPr>
              <a:t>** </a:t>
            </a:r>
            <a:r>
              <a:rPr lang="en-US" sz="2400" dirty="0" err="1">
                <a:solidFill>
                  <a:srgbClr val="001080"/>
                </a:solidFill>
                <a:latin typeface="Consolas" panose="020B0609020204030204" pitchFamily="49" charset="0"/>
              </a:rPr>
              <a:t>argv</a:t>
            </a:r>
            <a:r>
              <a:rPr lang="en-US" sz="2400" dirty="0">
                <a:solidFill>
                  <a:srgbClr val="000000"/>
                </a:solidFill>
                <a:latin typeface="Consolas" panose="020B0609020204030204" pitchFamily="49" charset="0"/>
              </a:rPr>
              <a:t>) {</a:t>
            </a:r>
          </a:p>
          <a:p>
            <a:pPr marL="0" indent="0">
              <a:buNone/>
            </a:pP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pincode</a:t>
            </a:r>
            <a:r>
              <a:rPr lang="en-US" sz="2400" dirty="0">
                <a:solidFill>
                  <a:srgbClr val="000000"/>
                </a:solidFill>
                <a:latin typeface="Consolas" panose="020B0609020204030204" pitchFamily="49" charset="0"/>
              </a:rPr>
              <a:t> = </a:t>
            </a:r>
            <a:r>
              <a:rPr lang="en-US" sz="2400" dirty="0">
                <a:solidFill>
                  <a:srgbClr val="098658"/>
                </a:solidFill>
                <a:latin typeface="Consolas" panose="020B0609020204030204" pitchFamily="49" charset="0"/>
              </a:rPr>
              <a:t>1234</a:t>
            </a:r>
            <a:r>
              <a:rPr lang="en-US" sz="2400" dirty="0">
                <a:solidFill>
                  <a:srgbClr val="000000"/>
                </a:solidFill>
                <a:latin typeface="Consolas" panose="020B0609020204030204" pitchFamily="49" charset="0"/>
              </a:rPr>
              <a:t>;</a:t>
            </a:r>
          </a:p>
          <a:p>
            <a:pPr marL="0" indent="0">
              <a:buNone/>
            </a:pPr>
            <a:r>
              <a:rPr lang="en-US" sz="2400" dirty="0">
                <a:solidFill>
                  <a:srgbClr val="000000"/>
                </a:solidFill>
                <a:latin typeface="Consolas" panose="020B0609020204030204" pitchFamily="49" charset="0"/>
              </a:rPr>
              <a:t>  </a:t>
            </a:r>
            <a:r>
              <a:rPr lang="en-US" sz="2400" dirty="0" err="1">
                <a:solidFill>
                  <a:srgbClr val="795E26"/>
                </a:solidFill>
                <a:latin typeface="Consolas" panose="020B0609020204030204" pitchFamily="49" charset="0"/>
              </a:rPr>
              <a:t>printf</a:t>
            </a:r>
            <a:r>
              <a:rPr lang="en-US" sz="2400" dirty="0">
                <a:solidFill>
                  <a:srgbClr val="000000"/>
                </a:solidFill>
                <a:latin typeface="Consolas" panose="020B0609020204030204" pitchFamily="49" charset="0"/>
              </a:rPr>
              <a:t>(</a:t>
            </a:r>
            <a:r>
              <a:rPr lang="en-US" sz="2400" dirty="0" err="1">
                <a:solidFill>
                  <a:srgbClr val="001080"/>
                </a:solidFill>
                <a:latin typeface="Consolas" panose="020B0609020204030204" pitchFamily="49" charset="0"/>
              </a:rPr>
              <a:t>argv</a:t>
            </a:r>
            <a:r>
              <a:rPr lang="en-US" sz="2400" dirty="0">
                <a:solidFill>
                  <a:srgbClr val="000000"/>
                </a:solidFill>
                <a:latin typeface="Consolas" panose="020B0609020204030204" pitchFamily="49" charset="0"/>
              </a:rPr>
              <a:t>[</a:t>
            </a:r>
            <a:r>
              <a:rPr lang="en-US" sz="2400" dirty="0">
                <a:solidFill>
                  <a:srgbClr val="098658"/>
                </a:solidFill>
                <a:latin typeface="Consolas" panose="020B0609020204030204" pitchFamily="49" charset="0"/>
              </a:rPr>
              <a:t>1</a:t>
            </a:r>
            <a:r>
              <a:rPr lang="en-US" sz="2400" dirty="0">
                <a:solidFill>
                  <a:srgbClr val="000000"/>
                </a:solidFill>
                <a:latin typeface="Consolas" panose="020B0609020204030204" pitchFamily="49" charset="0"/>
              </a:rPr>
              <a:t>]);</a:t>
            </a:r>
          </a:p>
          <a:p>
            <a:pPr marL="0" indent="0">
              <a:buNone/>
            </a:pPr>
            <a:r>
              <a:rPr lang="en-US" sz="2400" dirty="0">
                <a:solidFill>
                  <a:srgbClr val="000000"/>
                </a:solidFill>
                <a:latin typeface="Consolas" panose="020B0609020204030204" pitchFamily="49" charset="0"/>
              </a:rPr>
              <a:t>}</a:t>
            </a:r>
          </a:p>
          <a:p>
            <a:endParaRPr lang="en-US" sz="2400" dirty="0"/>
          </a:p>
          <a:p>
            <a:pPr marL="0" indent="0">
              <a:buNone/>
            </a:pPr>
            <a:r>
              <a:rPr lang="en-US" sz="2400" dirty="0"/>
              <a:t>How can an attacker learn the value of </a:t>
            </a:r>
            <a:r>
              <a:rPr lang="en-US" sz="2400" dirty="0" err="1"/>
              <a:t>pincode</a:t>
            </a:r>
            <a:r>
              <a:rPr lang="en-US" sz="2400" dirty="0"/>
              <a:t> ?</a:t>
            </a:r>
          </a:p>
          <a:p>
            <a:r>
              <a:rPr lang="en-US" sz="2400" dirty="0">
                <a:solidFill>
                  <a:srgbClr val="C00000"/>
                </a:solidFill>
              </a:rPr>
              <a:t>Supplying </a:t>
            </a:r>
            <a:r>
              <a:rPr lang="en-US" sz="2400" dirty="0">
                <a:solidFill>
                  <a:srgbClr val="C00000"/>
                </a:solidFill>
                <a:latin typeface="Consolas" panose="020B0609020204030204" pitchFamily="49" charset="0"/>
              </a:rPr>
              <a:t>%</a:t>
            </a:r>
            <a:r>
              <a:rPr lang="en-US" sz="2400" dirty="0" err="1">
                <a:solidFill>
                  <a:srgbClr val="C00000"/>
                </a:solidFill>
                <a:latin typeface="Consolas" panose="020B0609020204030204" pitchFamily="49" charset="0"/>
              </a:rPr>
              <a:t>x%x%x</a:t>
            </a:r>
            <a:r>
              <a:rPr lang="en-US" sz="2400" dirty="0">
                <a:solidFill>
                  <a:srgbClr val="C00000"/>
                </a:solidFill>
              </a:rPr>
              <a:t> as input will dump top 12 bytes of the stack</a:t>
            </a:r>
          </a:p>
        </p:txBody>
      </p:sp>
    </p:spTree>
    <p:extLst>
      <p:ext uri="{BB962C8B-B14F-4D97-AF65-F5344CB8AC3E}">
        <p14:creationId xmlns:p14="http://schemas.microsoft.com/office/powerpoint/2010/main" val="3992987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7DD088-CF9E-8439-3C58-F48525B9CD96}"/>
              </a:ext>
            </a:extLst>
          </p:cNvPr>
          <p:cNvSpPr>
            <a:spLocks noGrp="1"/>
          </p:cNvSpPr>
          <p:nvPr>
            <p:ph type="title"/>
          </p:nvPr>
        </p:nvSpPr>
        <p:spPr/>
        <p:txBody>
          <a:bodyPr/>
          <a:lstStyle/>
          <a:p>
            <a:r>
              <a:rPr lang="en-US" altLang="en-US" dirty="0"/>
              <a:t>Format string attacks</a:t>
            </a:r>
            <a:endParaRPr lang="en-US" dirty="0"/>
          </a:p>
        </p:txBody>
      </p:sp>
      <p:sp>
        <p:nvSpPr>
          <p:cNvPr id="3" name="Content Placeholder 2">
            <a:extLst>
              <a:ext uri="{FF2B5EF4-FFF2-40B4-BE49-F238E27FC236}">
                <a16:creationId xmlns:a16="http://schemas.microsoft.com/office/drawing/2014/main" xmlns="" id="{C7E4BDB9-84E4-DCCE-AB57-EFCDEC1ACB4C}"/>
              </a:ext>
            </a:extLst>
          </p:cNvPr>
          <p:cNvSpPr>
            <a:spLocks noGrp="1"/>
          </p:cNvSpPr>
          <p:nvPr>
            <p:ph sz="quarter" idx="11"/>
          </p:nvPr>
        </p:nvSpPr>
        <p:spPr/>
        <p:txBody>
          <a:bodyPr/>
          <a:lstStyle/>
          <a:p>
            <a:r>
              <a:rPr lang="en-US" sz="2800" dirty="0"/>
              <a:t>More serious outcomes</a:t>
            </a:r>
          </a:p>
          <a:p>
            <a:pPr lvl="1"/>
            <a:r>
              <a:rPr lang="en-US" sz="2400" dirty="0"/>
              <a:t>Reading from any address in process memory</a:t>
            </a:r>
          </a:p>
          <a:p>
            <a:pPr lvl="1"/>
            <a:r>
              <a:rPr lang="en-US" sz="2400" dirty="0"/>
              <a:t>Writing to any address in process memory</a:t>
            </a:r>
          </a:p>
          <a:p>
            <a:r>
              <a:rPr lang="en-US" sz="2800" dirty="0"/>
              <a:t>Requires more investment of time and effort from the attacker</a:t>
            </a:r>
          </a:p>
          <a:p>
            <a:r>
              <a:rPr lang="en-US" sz="2800" dirty="0"/>
              <a:t>See examples here:</a:t>
            </a:r>
          </a:p>
          <a:p>
            <a:pPr marL="0" indent="0">
              <a:buNone/>
            </a:pPr>
            <a:r>
              <a:rPr lang="en-US" sz="2000" dirty="0">
                <a:hlinkClick r:id="rId2"/>
              </a:rPr>
              <a:t>https://web.archive.org/web/20250626121353/https://web.ecs.syr.edu/~wedu/Teaching/cis643/LectureNotes_New/Format_String.pdf</a:t>
            </a:r>
            <a:endParaRPr lang="en-US" sz="2400" dirty="0"/>
          </a:p>
        </p:txBody>
      </p:sp>
    </p:spTree>
    <p:extLst>
      <p:ext uri="{BB962C8B-B14F-4D97-AF65-F5344CB8AC3E}">
        <p14:creationId xmlns:p14="http://schemas.microsoft.com/office/powerpoint/2010/main" val="2182692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Rectangle 2"/>
          <p:cNvSpPr>
            <a:spLocks noGrp="1" noChangeArrowheads="1"/>
          </p:cNvSpPr>
          <p:nvPr>
            <p:ph type="title"/>
          </p:nvPr>
        </p:nvSpPr>
        <p:spPr/>
        <p:txBody>
          <a:bodyPr/>
          <a:lstStyle/>
          <a:p>
            <a:pPr eaLnBrk="1" hangingPunct="1"/>
            <a:r>
              <a:rPr lang="en-US" altLang="en-US"/>
              <a:t>Vulnerable functions</a:t>
            </a:r>
          </a:p>
        </p:txBody>
      </p:sp>
      <p:sp>
        <p:nvSpPr>
          <p:cNvPr id="63494" name="Rectangle 3"/>
          <p:cNvSpPr>
            <a:spLocks noGrp="1" noChangeArrowheads="1"/>
          </p:cNvSpPr>
          <p:nvPr>
            <p:ph sz="quarter" idx="11"/>
          </p:nvPr>
        </p:nvSpPr>
        <p:spPr/>
        <p:txBody>
          <a:bodyPr/>
          <a:lstStyle/>
          <a:p>
            <a:pPr eaLnBrk="1" hangingPunct="1">
              <a:buFont typeface="Times" panose="02020603050405020304" pitchFamily="18" charset="0"/>
              <a:buNone/>
            </a:pPr>
            <a:r>
              <a:rPr lang="en-US" altLang="en-US" sz="2400" dirty="0"/>
              <a:t>Any function using a format string.</a:t>
            </a:r>
          </a:p>
          <a:p>
            <a:pPr eaLnBrk="1" hangingPunct="1">
              <a:buFont typeface="Times" panose="02020603050405020304" pitchFamily="18" charset="0"/>
              <a:buNone/>
            </a:pPr>
            <a:endParaRPr lang="en-US" altLang="en-US" sz="2400" dirty="0"/>
          </a:p>
          <a:p>
            <a:pPr eaLnBrk="1" hangingPunct="1">
              <a:buFont typeface="Times" panose="02020603050405020304" pitchFamily="18" charset="0"/>
              <a:buNone/>
            </a:pPr>
            <a:r>
              <a:rPr lang="en-US" altLang="en-US" sz="2400" dirty="0" err="1"/>
              <a:t>printf</a:t>
            </a:r>
            <a:r>
              <a:rPr lang="en-US" altLang="en-US" sz="2400" dirty="0"/>
              <a:t> family:</a:t>
            </a:r>
          </a:p>
          <a:p>
            <a:pPr eaLnBrk="1" hangingPunct="1">
              <a:buFont typeface="Times" panose="02020603050405020304" pitchFamily="18" charset="0"/>
              <a:buNone/>
            </a:pPr>
            <a:r>
              <a:rPr lang="en-US" altLang="en-US" sz="2400" dirty="0">
                <a:latin typeface="Consolas" panose="020B0609020204030204" pitchFamily="49" charset="0"/>
              </a:rPr>
              <a:t>	</a:t>
            </a:r>
            <a:r>
              <a:rPr lang="en-US" altLang="en-US" sz="2400" dirty="0" err="1">
                <a:latin typeface="Consolas" panose="020B0609020204030204" pitchFamily="49" charset="0"/>
              </a:rPr>
              <a:t>printf</a:t>
            </a:r>
            <a:r>
              <a:rPr lang="en-US" altLang="en-US" sz="2400" dirty="0">
                <a:latin typeface="Consolas" panose="020B0609020204030204" pitchFamily="49" charset="0"/>
              </a:rPr>
              <a:t>, </a:t>
            </a:r>
            <a:r>
              <a:rPr lang="en-US" altLang="en-US" sz="2400" dirty="0" err="1">
                <a:latin typeface="Consolas" panose="020B0609020204030204" pitchFamily="49" charset="0"/>
              </a:rPr>
              <a:t>fprintf</a:t>
            </a:r>
            <a:r>
              <a:rPr lang="en-US" altLang="en-US" sz="2400" dirty="0">
                <a:latin typeface="Consolas" panose="020B0609020204030204" pitchFamily="49" charset="0"/>
              </a:rPr>
              <a:t>, </a:t>
            </a:r>
            <a:r>
              <a:rPr lang="en-US" altLang="en-US" sz="2400" dirty="0" err="1">
                <a:latin typeface="Consolas" panose="020B0609020204030204" pitchFamily="49" charset="0"/>
              </a:rPr>
              <a:t>sprintf</a:t>
            </a:r>
            <a:r>
              <a:rPr lang="en-US" altLang="en-US" sz="2400" dirty="0">
                <a:latin typeface="Consolas" panose="020B0609020204030204" pitchFamily="49" charset="0"/>
              </a:rPr>
              <a:t>, ...</a:t>
            </a:r>
          </a:p>
          <a:p>
            <a:pPr eaLnBrk="1" hangingPunct="1">
              <a:buFont typeface="Times" panose="02020603050405020304" pitchFamily="18" charset="0"/>
              <a:buNone/>
            </a:pPr>
            <a:r>
              <a:rPr lang="en-US" altLang="en-US" sz="2400" dirty="0">
                <a:latin typeface="Consolas" panose="020B0609020204030204" pitchFamily="49" charset="0"/>
              </a:rPr>
              <a:t>	</a:t>
            </a:r>
            <a:r>
              <a:rPr lang="en-US" altLang="en-US" sz="2400" dirty="0" err="1">
                <a:latin typeface="Consolas" panose="020B0609020204030204" pitchFamily="49" charset="0"/>
              </a:rPr>
              <a:t>vprintf</a:t>
            </a:r>
            <a:r>
              <a:rPr lang="en-US" altLang="en-US" sz="2400" dirty="0">
                <a:latin typeface="Consolas" panose="020B0609020204030204" pitchFamily="49" charset="0"/>
              </a:rPr>
              <a:t>, </a:t>
            </a:r>
            <a:r>
              <a:rPr lang="en-US" altLang="en-US" sz="2400" dirty="0" err="1">
                <a:latin typeface="Consolas" panose="020B0609020204030204" pitchFamily="49" charset="0"/>
              </a:rPr>
              <a:t>vfprintf</a:t>
            </a:r>
            <a:r>
              <a:rPr lang="en-US" altLang="en-US" sz="2400" dirty="0">
                <a:latin typeface="Consolas" panose="020B0609020204030204" pitchFamily="49" charset="0"/>
              </a:rPr>
              <a:t>, </a:t>
            </a:r>
            <a:r>
              <a:rPr lang="en-US" altLang="en-US" sz="2400" dirty="0" err="1">
                <a:latin typeface="Consolas" panose="020B0609020204030204" pitchFamily="49" charset="0"/>
              </a:rPr>
              <a:t>vsprintf</a:t>
            </a:r>
            <a:r>
              <a:rPr lang="en-US" altLang="en-US" sz="2400" dirty="0">
                <a:latin typeface="Consolas" panose="020B0609020204030204" pitchFamily="49" charset="0"/>
              </a:rPr>
              <a:t>, ...</a:t>
            </a:r>
          </a:p>
          <a:p>
            <a:pPr eaLnBrk="1" hangingPunct="1">
              <a:buFont typeface="Times" panose="02020603050405020304" pitchFamily="18" charset="0"/>
              <a:buNone/>
            </a:pPr>
            <a:endParaRPr lang="en-US" altLang="en-US" sz="2400" dirty="0"/>
          </a:p>
          <a:p>
            <a:pPr eaLnBrk="1" hangingPunct="1">
              <a:buFont typeface="Times" panose="02020603050405020304" pitchFamily="18" charset="0"/>
              <a:buNone/>
            </a:pPr>
            <a:r>
              <a:rPr lang="en-US" altLang="en-US" sz="2400" dirty="0" smtClean="0"/>
              <a:t>Logging:</a:t>
            </a:r>
          </a:p>
          <a:p>
            <a:pPr eaLnBrk="1" hangingPunct="1">
              <a:buFont typeface="Times" panose="02020603050405020304" pitchFamily="18" charset="0"/>
              <a:buNone/>
            </a:pPr>
            <a:r>
              <a:rPr lang="en-US" altLang="en-US" sz="2400" dirty="0" smtClean="0">
                <a:latin typeface="Consolas" panose="020B0609020204030204" pitchFamily="49" charset="0"/>
              </a:rPr>
              <a:t>	syslog, err, warn</a:t>
            </a:r>
            <a:endParaRPr lang="en-US" altLang="en-US" sz="2400" dirty="0">
              <a:latin typeface="Consolas" panose="020B0609020204030204" pitchFamily="49" charset="0"/>
            </a:endParaRPr>
          </a:p>
        </p:txBody>
      </p:sp>
    </p:spTree>
    <p:extLst>
      <p:ext uri="{BB962C8B-B14F-4D97-AF65-F5344CB8AC3E}">
        <p14:creationId xmlns:p14="http://schemas.microsoft.com/office/powerpoint/2010/main" val="5276664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2C138E-E7B7-D419-301D-613FA1A03327}"/>
              </a:ext>
            </a:extLst>
          </p:cNvPr>
          <p:cNvSpPr>
            <a:spLocks noGrp="1"/>
          </p:cNvSpPr>
          <p:nvPr>
            <p:ph type="title"/>
          </p:nvPr>
        </p:nvSpPr>
        <p:spPr/>
        <p:txBody>
          <a:bodyPr/>
          <a:lstStyle/>
          <a:p>
            <a:r>
              <a:rPr lang="en-US" dirty="0"/>
              <a:t>Countermeasures</a:t>
            </a:r>
          </a:p>
        </p:txBody>
      </p:sp>
      <p:sp>
        <p:nvSpPr>
          <p:cNvPr id="3" name="Content Placeholder 2">
            <a:extLst>
              <a:ext uri="{FF2B5EF4-FFF2-40B4-BE49-F238E27FC236}">
                <a16:creationId xmlns:a16="http://schemas.microsoft.com/office/drawing/2014/main" xmlns="" id="{39F85FAD-D009-9EF5-A76B-522073323A80}"/>
              </a:ext>
            </a:extLst>
          </p:cNvPr>
          <p:cNvSpPr>
            <a:spLocks noGrp="1"/>
          </p:cNvSpPr>
          <p:nvPr>
            <p:ph sz="quarter" idx="11"/>
          </p:nvPr>
        </p:nvSpPr>
        <p:spPr/>
        <p:txBody>
          <a:bodyPr/>
          <a:lstStyle/>
          <a:p>
            <a:r>
              <a:rPr lang="en-US" sz="2400" dirty="0"/>
              <a:t>Compilers can check if (static) format strings are malformed. e.g. in GCC compiler, the relevant flags are: -Wall, -</a:t>
            </a:r>
            <a:r>
              <a:rPr lang="en-US" sz="2400" dirty="0" err="1"/>
              <a:t>Wformat</a:t>
            </a:r>
            <a:r>
              <a:rPr lang="en-US" sz="2400" dirty="0"/>
              <a:t>, -</a:t>
            </a:r>
            <a:r>
              <a:rPr lang="en-US" sz="2400" dirty="0" err="1"/>
              <a:t>Wno</a:t>
            </a:r>
            <a:r>
              <a:rPr lang="en-US" sz="2400" dirty="0"/>
              <a:t>-format-extra-</a:t>
            </a:r>
            <a:r>
              <a:rPr lang="en-US" sz="2400" dirty="0" err="1"/>
              <a:t>args</a:t>
            </a:r>
            <a:r>
              <a:rPr lang="en-US" sz="2400" dirty="0"/>
              <a:t>,</a:t>
            </a:r>
            <a:br>
              <a:rPr lang="en-US" sz="2400" dirty="0"/>
            </a:br>
            <a:r>
              <a:rPr lang="en-US" sz="2400" dirty="0"/>
              <a:t>-</a:t>
            </a:r>
            <a:r>
              <a:rPr lang="en-US" sz="2400" dirty="0" err="1"/>
              <a:t>Wformat</a:t>
            </a:r>
            <a:r>
              <a:rPr lang="en-US" sz="2400" dirty="0"/>
              <a:t>-security, -</a:t>
            </a:r>
            <a:r>
              <a:rPr lang="en-US" sz="2400" dirty="0" err="1"/>
              <a:t>Wformat</a:t>
            </a:r>
            <a:r>
              <a:rPr lang="en-US" sz="2400" dirty="0"/>
              <a:t>-nonliteral, -</a:t>
            </a:r>
            <a:r>
              <a:rPr lang="en-US" sz="2400" dirty="0" err="1"/>
              <a:t>Wformat</a:t>
            </a:r>
            <a:r>
              <a:rPr lang="en-US" sz="2400" dirty="0"/>
              <a:t>=2.</a:t>
            </a:r>
            <a:endParaRPr lang="en-US" sz="2400" baseline="30000" dirty="0"/>
          </a:p>
          <a:p>
            <a:endParaRPr lang="en-US" sz="2400" baseline="30000" dirty="0"/>
          </a:p>
          <a:p>
            <a:endParaRPr lang="en-US" sz="2400" baseline="30000" dirty="0"/>
          </a:p>
          <a:p>
            <a:pPr marL="400050" lvl="1" indent="0">
              <a:buNone/>
            </a:pPr>
            <a:r>
              <a:rPr lang="en-US" sz="2000" dirty="0"/>
              <a:t>Obviously, “these are only useful for detecting bad format strings that are known at compile-time. If the format string may come from the user or from a source external to the application, the application must validate the format string before using it. Care must also be taken if the application generates or selects format strings on the fly.”</a:t>
            </a:r>
          </a:p>
          <a:p>
            <a:pPr marL="0" indent="0" algn="r">
              <a:buNone/>
            </a:pPr>
            <a:r>
              <a:rPr lang="en-US" sz="2000" dirty="0"/>
              <a:t>Wikipedia</a:t>
            </a:r>
          </a:p>
          <a:p>
            <a:endParaRPr lang="en-US" sz="2400" dirty="0"/>
          </a:p>
        </p:txBody>
      </p:sp>
    </p:spTree>
    <p:extLst>
      <p:ext uri="{BB962C8B-B14F-4D97-AF65-F5344CB8AC3E}">
        <p14:creationId xmlns:p14="http://schemas.microsoft.com/office/powerpoint/2010/main" val="14578538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2"/>
          <p:cNvSpPr>
            <a:spLocks noGrp="1" noChangeArrowheads="1"/>
          </p:cNvSpPr>
          <p:nvPr>
            <p:ph type="title"/>
          </p:nvPr>
        </p:nvSpPr>
        <p:spPr/>
        <p:txBody>
          <a:bodyPr/>
          <a:lstStyle/>
          <a:p>
            <a:pPr eaLnBrk="1" hangingPunct="1"/>
            <a:r>
              <a:rPr lang="en-US" dirty="0"/>
              <a:t>Countermeasures</a:t>
            </a:r>
            <a:endParaRPr lang="en-US" altLang="en-US" dirty="0"/>
          </a:p>
        </p:txBody>
      </p:sp>
      <p:sp>
        <p:nvSpPr>
          <p:cNvPr id="60422" name="Rectangle 3"/>
          <p:cNvSpPr>
            <a:spLocks noGrp="1" noChangeArrowheads="1"/>
          </p:cNvSpPr>
          <p:nvPr>
            <p:ph sz="quarter" idx="11"/>
          </p:nvPr>
        </p:nvSpPr>
        <p:spPr/>
        <p:txBody>
          <a:bodyPr/>
          <a:lstStyle/>
          <a:p>
            <a:pPr marL="0" indent="0">
              <a:lnSpc>
                <a:spcPct val="120000"/>
              </a:lnSpc>
              <a:spcBef>
                <a:spcPts val="0"/>
              </a:spcBef>
              <a:buNone/>
            </a:pPr>
            <a:r>
              <a:rPr lang="en-US" altLang="en-US" sz="2400" b="1" dirty="0"/>
              <a:t>How do the malicious format strings get injected?</a:t>
            </a:r>
          </a:p>
          <a:p>
            <a:pPr marL="0" indent="0" eaLnBrk="1" hangingPunct="1">
              <a:spcBef>
                <a:spcPts val="0"/>
              </a:spcBef>
              <a:spcAft>
                <a:spcPts val="600"/>
              </a:spcAft>
              <a:buFont typeface="Times" panose="02020603050405020304" pitchFamily="18" charset="0"/>
              <a:buNone/>
            </a:pPr>
            <a:r>
              <a:rPr lang="en-US" altLang="en-US" sz="2400" dirty="0"/>
              <a:t>Whenever the format template is dynamic and externally sourced.</a:t>
            </a:r>
          </a:p>
        </p:txBody>
      </p:sp>
      <p:sp>
        <p:nvSpPr>
          <p:cNvPr id="2" name="TextBox 1">
            <a:extLst>
              <a:ext uri="{FF2B5EF4-FFF2-40B4-BE49-F238E27FC236}">
                <a16:creationId xmlns:a16="http://schemas.microsoft.com/office/drawing/2014/main" xmlns="" id="{11188E67-DD84-7F97-0C35-6D9ADF77D6BB}"/>
              </a:ext>
            </a:extLst>
          </p:cNvPr>
          <p:cNvSpPr txBox="1"/>
          <p:nvPr/>
        </p:nvSpPr>
        <p:spPr>
          <a:xfrm>
            <a:off x="467544" y="3409524"/>
            <a:ext cx="7836025" cy="2936188"/>
          </a:xfrm>
          <a:prstGeom prst="rect">
            <a:avLst/>
          </a:prstGeom>
          <a:noFill/>
        </p:spPr>
        <p:txBody>
          <a:bodyPr wrap="square" rtlCol="0">
            <a:spAutoFit/>
          </a:bodyPr>
          <a:lstStyle/>
          <a:p>
            <a:pPr latinLnBrk="0">
              <a:spcBef>
                <a:spcPct val="20000"/>
              </a:spcBef>
              <a:defRPr/>
            </a:pPr>
            <a:r>
              <a:rPr kumimoji="0" lang="en-US" altLang="en-US" sz="2400" b="1" i="0" u="none" strike="noStrike" kern="1200" cap="none" spc="0" normalizeH="0" baseline="0" noProof="0" dirty="0">
                <a:ln>
                  <a:noFill/>
                </a:ln>
                <a:solidFill>
                  <a:prstClr val="black"/>
                </a:solidFill>
                <a:effectLst/>
                <a:uLnTx/>
                <a:uFillTx/>
                <a:latin typeface="맑은 고딕"/>
                <a:ea typeface="+mn-ea"/>
                <a:cs typeface="Arial" panose="020B0604020202020204" pitchFamily="34" charset="0"/>
              </a:rPr>
              <a:t>Vulnerable</a:t>
            </a:r>
            <a:endParaRPr kumimoji="0" lang="en-US" alt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endParaRPr>
          </a:p>
          <a:p>
            <a:pPr marR="0" lvl="0" algn="l" defTabSz="914400" rtl="0" eaLnBrk="1" fontAlgn="auto" latinLnBrk="0" hangingPunct="1">
              <a:lnSpc>
                <a:spcPct val="100000"/>
              </a:lnSpc>
              <a:spcBef>
                <a:spcPct val="20000"/>
              </a:spcBef>
              <a:spcAft>
                <a:spcPts val="0"/>
              </a:spcAft>
              <a:buClrTx/>
              <a:buSzTx/>
              <a:buFont typeface="Times" panose="02020603050405020304" pitchFamily="18" charset="0"/>
              <a:buNone/>
              <a:tabLst/>
              <a:defRPr/>
            </a:pP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int </a:t>
            </a:r>
            <a:r>
              <a:rPr kumimoji="0" lang="en-US" altLang="en-US" sz="24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Arial" panose="020B0604020202020204" pitchFamily="34" charset="0"/>
              </a:rPr>
              <a:t>func</a:t>
            </a: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(char *user) {</a:t>
            </a:r>
          </a:p>
          <a:p>
            <a:pPr marR="0" lvl="0" algn="l" defTabSz="914400" rtl="0" eaLnBrk="1" fontAlgn="auto" latinLnBrk="0" hangingPunct="1">
              <a:lnSpc>
                <a:spcPct val="85000"/>
              </a:lnSpc>
              <a:spcBef>
                <a:spcPct val="10000"/>
              </a:spcBef>
              <a:spcAft>
                <a:spcPts val="0"/>
              </a:spcAft>
              <a:buClrTx/>
              <a:buSzTx/>
              <a:buFont typeface="Times" panose="02020603050405020304" pitchFamily="18" charset="0"/>
              <a:buNone/>
              <a:tabLst/>
              <a:defRPr/>
            </a:pP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   </a:t>
            </a:r>
            <a:r>
              <a:rPr kumimoji="0" lang="en-US" altLang="en-US" sz="24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Arial" panose="020B0604020202020204" pitchFamily="34" charset="0"/>
              </a:rPr>
              <a:t>printf</a:t>
            </a: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(user);</a:t>
            </a:r>
          </a:p>
          <a:p>
            <a:pPr marR="0" lvl="0" algn="l" defTabSz="914400" rtl="0" eaLnBrk="1" fontAlgn="auto" latinLnBrk="0" hangingPunct="1">
              <a:lnSpc>
                <a:spcPct val="85000"/>
              </a:lnSpc>
              <a:spcBef>
                <a:spcPct val="10000"/>
              </a:spcBef>
              <a:spcAft>
                <a:spcPts val="0"/>
              </a:spcAft>
              <a:buClrTx/>
              <a:buSzTx/>
              <a:buFont typeface="Times" panose="02020603050405020304" pitchFamily="18" charset="0"/>
              <a:buNone/>
              <a:tabLst/>
              <a:defRPr/>
            </a:pP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a:t>
            </a:r>
          </a:p>
          <a:p>
            <a:pPr marR="0" lvl="0" algn="l" defTabSz="914400" rtl="0" eaLnBrk="1" fontAlgn="auto" latinLnBrk="0" hangingPunct="1">
              <a:lnSpc>
                <a:spcPct val="85000"/>
              </a:lnSpc>
              <a:spcBef>
                <a:spcPct val="10000"/>
              </a:spcBef>
              <a:spcAft>
                <a:spcPts val="0"/>
              </a:spcAft>
              <a:buClrTx/>
              <a:buSzTx/>
              <a:buFont typeface="Times" panose="02020603050405020304" pitchFamily="18" charset="0"/>
              <a:buNone/>
              <a:tabLst/>
              <a:defRPr/>
            </a:pPr>
            <a:endPar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endParaRPr>
          </a:p>
          <a:p>
            <a:pPr marR="0" lvl="0" algn="l" defTabSz="914400" rtl="0" eaLnBrk="1" fontAlgn="auto" latinLnBrk="0" hangingPunct="1">
              <a:lnSpc>
                <a:spcPct val="85000"/>
              </a:lnSpc>
              <a:spcBef>
                <a:spcPct val="10000"/>
              </a:spcBef>
              <a:spcAft>
                <a:spcPts val="0"/>
              </a:spcAft>
              <a:buClrTx/>
              <a:buSzTx/>
              <a:buFont typeface="Times" panose="02020603050405020304" pitchFamily="18" charset="0"/>
              <a:buNone/>
              <a:tabLst/>
              <a:defRPr/>
            </a:pPr>
            <a:r>
              <a:rPr lang="en-US" altLang="en-US" sz="2400" dirty="0">
                <a:solidFill>
                  <a:prstClr val="black"/>
                </a:solidFill>
                <a:cs typeface="Arial" panose="020B0604020202020204" pitchFamily="34" charset="0"/>
              </a:rPr>
              <a:t>Because ‘</a:t>
            </a:r>
            <a:r>
              <a:rPr kumimoji="0" lang="en-US" altLang="en-US" sz="2400" b="0" i="0" u="none" strike="noStrike" kern="1200" cap="none" spc="0" normalizeH="0" baseline="0" noProof="0" dirty="0">
                <a:ln>
                  <a:noFill/>
                </a:ln>
                <a:solidFill>
                  <a:prstClr val="black"/>
                </a:solidFill>
                <a:effectLst/>
                <a:uLnTx/>
                <a:uFillTx/>
                <a:ea typeface="+mn-ea"/>
                <a:cs typeface="Arial" panose="020B0604020202020204" pitchFamily="34" charset="0"/>
              </a:rPr>
              <a:t>user’ string could contain anything like </a:t>
            </a: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cs typeface="Arial" panose="020B0604020202020204" pitchFamily="34" charset="0"/>
              </a:rPr>
              <a:t>%s</a:t>
            </a:r>
            <a:r>
              <a:rPr kumimoji="0" lang="en-US" altLang="en-US" sz="2400" b="0" i="0" u="none" strike="noStrike" kern="1200" cap="none" spc="0" normalizeH="0" baseline="0" noProof="0" dirty="0">
                <a:ln>
                  <a:noFill/>
                </a:ln>
                <a:solidFill>
                  <a:prstClr val="black"/>
                </a:solidFill>
                <a:effectLst/>
                <a:uLnTx/>
                <a:uFillTx/>
                <a:ea typeface="+mn-ea"/>
                <a:cs typeface="Arial" panose="020B0604020202020204" pitchFamily="34" charset="0"/>
              </a:rPr>
              <a:t>, </a:t>
            </a: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cs typeface="Arial" panose="020B0604020202020204" pitchFamily="34" charset="0"/>
              </a:rPr>
              <a:t>%x</a:t>
            </a:r>
            <a:r>
              <a:rPr kumimoji="0" lang="en-US" altLang="en-US" sz="2400" b="0" i="0" u="none" strike="noStrike" kern="1200" cap="none" spc="0" normalizeH="0" baseline="0" noProof="0" dirty="0">
                <a:ln>
                  <a:noFill/>
                </a:ln>
                <a:solidFill>
                  <a:prstClr val="black"/>
                </a:solidFill>
                <a:effectLst/>
                <a:uLnTx/>
                <a:uFillTx/>
                <a:ea typeface="+mn-ea"/>
                <a:cs typeface="Arial" panose="020B0604020202020204" pitchFamily="34" charset="0"/>
              </a:rPr>
              <a:t>, </a:t>
            </a: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cs typeface="Arial" panose="020B0604020202020204" pitchFamily="34" charset="0"/>
              </a:rPr>
              <a:t>%n</a:t>
            </a:r>
            <a:r>
              <a:rPr kumimoji="0" lang="en-US" altLang="en-US" sz="2400" b="0" i="0" u="none" strike="noStrike" kern="1200" cap="none" spc="0" normalizeH="0" baseline="0" noProof="0" dirty="0">
                <a:ln>
                  <a:noFill/>
                </a:ln>
                <a:solidFill>
                  <a:prstClr val="black"/>
                </a:solidFill>
                <a:effectLst/>
                <a:uLnTx/>
                <a:uFillTx/>
                <a:cs typeface="Arial" panose="020B0604020202020204" pitchFamily="34" charset="0"/>
              </a:rPr>
              <a:t>. Attacker can craft an input string that could let it view or overwrite any location in memory.</a:t>
            </a:r>
            <a:endParaRPr lang="en-US" altLang="en-US" sz="2400" dirty="0">
              <a:solidFill>
                <a:prstClr val="black"/>
              </a:solidFill>
              <a:cs typeface="Arial" panose="020B0604020202020204" pitchFamily="34" charset="0"/>
            </a:endParaRPr>
          </a:p>
        </p:txBody>
      </p:sp>
      <p:sp>
        <p:nvSpPr>
          <p:cNvPr id="3" name="TextBox 2">
            <a:extLst>
              <a:ext uri="{FF2B5EF4-FFF2-40B4-BE49-F238E27FC236}">
                <a16:creationId xmlns:a16="http://schemas.microsoft.com/office/drawing/2014/main" xmlns="" id="{8667CA7A-8C2E-3BE2-702D-80A59276E010}"/>
              </a:ext>
            </a:extLst>
          </p:cNvPr>
          <p:cNvSpPr txBox="1"/>
          <p:nvPr/>
        </p:nvSpPr>
        <p:spPr>
          <a:xfrm>
            <a:off x="5004048" y="3140968"/>
            <a:ext cx="4032448" cy="1625766"/>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ct val="60000"/>
              </a:spcBef>
              <a:spcAft>
                <a:spcPts val="0"/>
              </a:spcAft>
              <a:buClrTx/>
              <a:buSzTx/>
              <a:buFont typeface="Times" panose="02020603050405020304" pitchFamily="18" charset="0"/>
              <a:buNone/>
              <a:tabLst/>
              <a:defRPr/>
            </a:pPr>
            <a:r>
              <a:rPr kumimoji="0" lang="en-US" altLang="en-US" sz="2400" b="1" i="0" u="none" strike="noStrike" kern="1200" cap="none" spc="0" normalizeH="0" baseline="0" noProof="0" dirty="0">
                <a:ln>
                  <a:noFill/>
                </a:ln>
                <a:solidFill>
                  <a:prstClr val="black"/>
                </a:solidFill>
                <a:effectLst/>
                <a:uLnTx/>
                <a:uFillTx/>
                <a:latin typeface="맑은 고딕"/>
                <a:ea typeface="+mn-ea"/>
                <a:cs typeface="Arial" panose="020B0604020202020204" pitchFamily="34" charset="0"/>
              </a:rPr>
              <a:t>Safe</a:t>
            </a:r>
          </a:p>
          <a:p>
            <a:pPr marL="342900" marR="0" lvl="0" indent="-342900" algn="l" defTabSz="914400" rtl="0" eaLnBrk="1" fontAlgn="auto" latinLnBrk="0" hangingPunct="1">
              <a:lnSpc>
                <a:spcPct val="85000"/>
              </a:lnSpc>
              <a:spcBef>
                <a:spcPct val="40000"/>
              </a:spcBef>
              <a:spcAft>
                <a:spcPts val="0"/>
              </a:spcAft>
              <a:buClrTx/>
              <a:buSzTx/>
              <a:buFont typeface="Arial" pitchFamily="34" charset="0"/>
              <a:buNone/>
              <a:tabLst/>
              <a:defRPr/>
            </a:pP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int </a:t>
            </a:r>
            <a:r>
              <a:rPr kumimoji="0" lang="en-US" altLang="en-US" sz="24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Arial" panose="020B0604020202020204" pitchFamily="34" charset="0"/>
              </a:rPr>
              <a:t>func</a:t>
            </a: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(char *user) {</a:t>
            </a:r>
          </a:p>
          <a:p>
            <a:pPr marL="342900" marR="0" lvl="0" indent="-342900" algn="l" defTabSz="914400" rtl="0" eaLnBrk="1" fontAlgn="auto" latinLnBrk="0" hangingPunct="1">
              <a:lnSpc>
                <a:spcPct val="85000"/>
              </a:lnSpc>
              <a:spcBef>
                <a:spcPct val="10000"/>
              </a:spcBef>
              <a:spcAft>
                <a:spcPts val="0"/>
              </a:spcAft>
              <a:buClrTx/>
              <a:buSzTx/>
              <a:buFont typeface="Arial" pitchFamily="34" charset="0"/>
              <a:buNone/>
              <a:tabLst/>
              <a:defRPr/>
            </a:pP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   </a:t>
            </a:r>
            <a:r>
              <a:rPr kumimoji="0" lang="en-US" altLang="en-US" sz="24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Arial" panose="020B0604020202020204" pitchFamily="34" charset="0"/>
              </a:rPr>
              <a:t>printf</a:t>
            </a: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("%s", user);</a:t>
            </a:r>
          </a:p>
          <a:p>
            <a:pPr marL="342900" marR="0" lvl="0" indent="-342900" algn="l" defTabSz="914400" rtl="0" eaLnBrk="1" fontAlgn="auto" latinLnBrk="0" hangingPunct="1">
              <a:lnSpc>
                <a:spcPct val="85000"/>
              </a:lnSpc>
              <a:spcBef>
                <a:spcPct val="10000"/>
              </a:spcBef>
              <a:spcAft>
                <a:spcPts val="0"/>
              </a:spcAft>
              <a:buClrTx/>
              <a:buSzTx/>
              <a:buFont typeface="Arial" pitchFamily="34" charset="0"/>
              <a:buNone/>
              <a:tabLst/>
              <a:defRPr/>
            </a:pPr>
            <a:r>
              <a:rPr kumimoji="0" lang="en-US" altLang="en-US" sz="2400" b="0" i="0" u="none" strike="noStrike" kern="1200" cap="none" spc="0" normalizeH="0" baseline="0" noProof="0" dirty="0">
                <a:ln>
                  <a:noFill/>
                </a:ln>
                <a:solidFill>
                  <a:prstClr val="black"/>
                </a:solidFill>
                <a:effectLst/>
                <a:uLnTx/>
                <a:uFillTx/>
                <a:latin typeface="Consolas" panose="020B0609020204030204" pitchFamily="49" charset="0"/>
                <a:ea typeface="+mn-ea"/>
                <a:cs typeface="Arial" panose="020B0604020202020204" pitchFamily="34" charset="0"/>
              </a:rPr>
              <a:t>}</a:t>
            </a:r>
          </a:p>
        </p:txBody>
      </p:sp>
      <p:cxnSp>
        <p:nvCxnSpPr>
          <p:cNvPr id="5" name="Straight Connector 4">
            <a:extLst>
              <a:ext uri="{FF2B5EF4-FFF2-40B4-BE49-F238E27FC236}">
                <a16:creationId xmlns:a16="http://schemas.microsoft.com/office/drawing/2014/main" xmlns="" id="{3FF520B7-33E8-6774-2D8B-30FA7C627FA1}"/>
              </a:ext>
            </a:extLst>
          </p:cNvPr>
          <p:cNvCxnSpPr/>
          <p:nvPr/>
        </p:nvCxnSpPr>
        <p:spPr>
          <a:xfrm>
            <a:off x="4796408" y="2996952"/>
            <a:ext cx="0" cy="201622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A2944900-4929-2EE4-8CF5-D3D923313CB8}"/>
              </a:ext>
            </a:extLst>
          </p:cNvPr>
          <p:cNvCxnSpPr>
            <a:cxnSpLocks/>
          </p:cNvCxnSpPr>
          <p:nvPr/>
        </p:nvCxnSpPr>
        <p:spPr>
          <a:xfrm flipH="1">
            <a:off x="4796408" y="5013176"/>
            <a:ext cx="3592016"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70723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D06162-D4DA-6E6A-D372-B97CC593852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xmlns="" id="{A9469A9C-0E21-83EC-7083-C3F615EEA514}"/>
              </a:ext>
            </a:extLst>
          </p:cNvPr>
          <p:cNvSpPr>
            <a:spLocks noGrp="1"/>
          </p:cNvSpPr>
          <p:nvPr>
            <p:ph sz="quarter" idx="11"/>
          </p:nvPr>
        </p:nvSpPr>
        <p:spPr/>
        <p:txBody>
          <a:bodyPr/>
          <a:lstStyle/>
          <a:p>
            <a:r>
              <a:rPr lang="en-US" sz="2800" dirty="0"/>
              <a:t>Stallings SPP chap 10</a:t>
            </a:r>
          </a:p>
          <a:p>
            <a:r>
              <a:rPr lang="en-US" sz="2800" dirty="0"/>
              <a:t>Why are programs written in C and C++ so frequently vulnerable to overflow attacks? </a:t>
            </a:r>
            <a:r>
              <a:rPr lang="en-US" sz="2800" dirty="0" err="1">
                <a:hlinkClick r:id="rId2"/>
              </a:rPr>
              <a:t>StackExchange</a:t>
            </a:r>
            <a:r>
              <a:rPr lang="en-US" sz="2800" dirty="0">
                <a:hlinkClick r:id="rId2"/>
              </a:rPr>
              <a:t> Q/A</a:t>
            </a:r>
            <a:endParaRPr lang="en-US" sz="2800" dirty="0"/>
          </a:p>
          <a:p>
            <a:r>
              <a:rPr lang="en-US" sz="2800" dirty="0"/>
              <a:t>Format String Vulnerabilities -Explained From the Bottom Up: </a:t>
            </a:r>
            <a:r>
              <a:rPr lang="en-US" sz="2800" dirty="0">
                <a:hlinkClick r:id="rId3"/>
              </a:rPr>
              <a:t>Medium</a:t>
            </a:r>
            <a:endParaRPr lang="en-US" sz="2800" dirty="0"/>
          </a:p>
          <a:p>
            <a:r>
              <a:rPr lang="en-US" sz="2800" dirty="0">
                <a:hlinkClick r:id="rId4"/>
              </a:rPr>
              <a:t>https://cs155.stanford.edu/papers/formatstring-1.2.pdf</a:t>
            </a:r>
            <a:endParaRPr lang="en-US" sz="2800" dirty="0"/>
          </a:p>
          <a:p>
            <a:r>
              <a:rPr lang="en-US" sz="2800" dirty="0">
                <a:hlinkClick r:id="rId5"/>
              </a:rPr>
              <a:t>https://codearcana.com/posts/2013/05/02/introduction-to-format-string-exploits.html</a:t>
            </a:r>
            <a:endParaRPr lang="en-US" sz="2800" dirty="0"/>
          </a:p>
        </p:txBody>
      </p:sp>
    </p:spTree>
    <p:extLst>
      <p:ext uri="{BB962C8B-B14F-4D97-AF65-F5344CB8AC3E}">
        <p14:creationId xmlns:p14="http://schemas.microsoft.com/office/powerpoint/2010/main" val="538106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6630</TotalTime>
  <Words>3128</Words>
  <Application>Microsoft Office PowerPoint</Application>
  <PresentationFormat>On-screen Show (4:3)</PresentationFormat>
  <Paragraphs>452</Paragraphs>
  <Slides>51</Slides>
  <Notes>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51</vt:i4>
      </vt:variant>
    </vt:vector>
  </HeadingPairs>
  <TitlesOfParts>
    <vt:vector size="64" baseType="lpstr">
      <vt:lpstr>맑은 고딕</vt:lpstr>
      <vt:lpstr>ＭＳ Ｐゴシック</vt:lpstr>
      <vt:lpstr>Arial</vt:lpstr>
      <vt:lpstr>Calibri</vt:lpstr>
      <vt:lpstr>Consolas</vt:lpstr>
      <vt:lpstr>Courier New</vt:lpstr>
      <vt:lpstr>Tahoma</vt:lpstr>
      <vt:lpstr>Times</vt:lpstr>
      <vt:lpstr>Times New Roman</vt:lpstr>
      <vt:lpstr>Verdana</vt:lpstr>
      <vt:lpstr>Wingdings</vt:lpstr>
      <vt:lpstr>Office Theme</vt:lpstr>
      <vt:lpstr>Custom Design</vt:lpstr>
      <vt:lpstr>PowerPoint Presentation</vt:lpstr>
      <vt:lpstr>Memory Safety</vt:lpstr>
      <vt:lpstr>Buffer Overflow</vt:lpstr>
      <vt:lpstr>Buffer Overflow: Basics</vt:lpstr>
      <vt:lpstr>Example</vt:lpstr>
      <vt:lpstr>State of Stack</vt:lpstr>
      <vt:lpstr>Stack structure during function call</vt:lpstr>
      <vt:lpstr>Buffer Overflow Attacks</vt:lpstr>
      <vt:lpstr>Programming languages history</vt:lpstr>
      <vt:lpstr>Why use lower level languages</vt:lpstr>
      <vt:lpstr>Function calls and stack frames</vt:lpstr>
      <vt:lpstr>Stack Buffer Overflow</vt:lpstr>
      <vt:lpstr>Programs and Processes</vt:lpstr>
      <vt:lpstr>Stack overflow example 2</vt:lpstr>
      <vt:lpstr>Stack overflow example 2</vt:lpstr>
      <vt:lpstr>Common unsafe C functions</vt:lpstr>
      <vt:lpstr>Defenses</vt:lpstr>
      <vt:lpstr>Compile-Time Defenses</vt:lpstr>
      <vt:lpstr>Compile-Time Defenses</vt:lpstr>
      <vt:lpstr>Compile-Time Defenses</vt:lpstr>
      <vt:lpstr>Compile-Time Defenses</vt:lpstr>
      <vt:lpstr>Compile-Time Defenses</vt:lpstr>
      <vt:lpstr>Run-Time Defenses</vt:lpstr>
      <vt:lpstr>Run-Time Defenses</vt:lpstr>
      <vt:lpstr>Run-Time Defenses</vt:lpstr>
      <vt:lpstr>Run-Time Defenses</vt:lpstr>
      <vt:lpstr>Other Overflow Attacks</vt:lpstr>
      <vt:lpstr>Integer Overflow Vulnerabilities</vt:lpstr>
      <vt:lpstr>Integer Overflow</vt:lpstr>
      <vt:lpstr>Integer Overflow</vt:lpstr>
      <vt:lpstr>C/C++ Data Types</vt:lpstr>
      <vt:lpstr>Integer Overflow: Code Example</vt:lpstr>
      <vt:lpstr>Integer Overflow: Code Example</vt:lpstr>
      <vt:lpstr>Where Does Integer Overflow Matter?</vt:lpstr>
      <vt:lpstr>Integer Overflow Vulnerabilities</vt:lpstr>
      <vt:lpstr>Integer Overflow Vulnerabilities</vt:lpstr>
      <vt:lpstr>Another Example (from Phrack)</vt:lpstr>
      <vt:lpstr>Another Example (from Phrack)</vt:lpstr>
      <vt:lpstr>Integer overflow countermeasures</vt:lpstr>
      <vt:lpstr>Format String Vulnerabilities</vt:lpstr>
      <vt:lpstr>String formatting in C</vt:lpstr>
      <vt:lpstr>String formatting in C</vt:lpstr>
      <vt:lpstr>Malicious format strings: %x</vt:lpstr>
      <vt:lpstr>Malicious format strings: %s</vt:lpstr>
      <vt:lpstr>Malicious format strings: %n</vt:lpstr>
      <vt:lpstr>Format string attacks</vt:lpstr>
      <vt:lpstr>Format string attacks</vt:lpstr>
      <vt:lpstr>Vulnerable functions</vt:lpstr>
      <vt:lpstr>Countermeasures</vt:lpstr>
      <vt:lpstr>Countermeasures</vt:lpstr>
      <vt:lpstr>References</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Nosheen Manzoor</cp:lastModifiedBy>
  <cp:revision>461</cp:revision>
  <dcterms:created xsi:type="dcterms:W3CDTF">2014-04-01T16:35:38Z</dcterms:created>
  <dcterms:modified xsi:type="dcterms:W3CDTF">2025-10-09T09:28:47Z</dcterms:modified>
</cp:coreProperties>
</file>