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1"/>
  </p:notesMasterIdLst>
  <p:sldIdLst>
    <p:sldId id="429" r:id="rId3"/>
    <p:sldId id="348" r:id="rId4"/>
    <p:sldId id="349" r:id="rId5"/>
    <p:sldId id="350" r:id="rId6"/>
    <p:sldId id="291" r:id="rId7"/>
    <p:sldId id="431" r:id="rId8"/>
    <p:sldId id="307" r:id="rId9"/>
    <p:sldId id="293" r:id="rId10"/>
    <p:sldId id="308" r:id="rId11"/>
    <p:sldId id="434" r:id="rId12"/>
    <p:sldId id="292" r:id="rId13"/>
    <p:sldId id="294" r:id="rId14"/>
    <p:sldId id="432" r:id="rId15"/>
    <p:sldId id="316" r:id="rId16"/>
    <p:sldId id="435" r:id="rId17"/>
    <p:sldId id="320" r:id="rId18"/>
    <p:sldId id="315" r:id="rId19"/>
    <p:sldId id="323" r:id="rId20"/>
    <p:sldId id="325" r:id="rId21"/>
    <p:sldId id="438" r:id="rId22"/>
    <p:sldId id="436" r:id="rId23"/>
    <p:sldId id="327" r:id="rId24"/>
    <p:sldId id="326" r:id="rId25"/>
    <p:sldId id="449" r:id="rId26"/>
    <p:sldId id="450" r:id="rId27"/>
    <p:sldId id="328" r:id="rId28"/>
    <p:sldId id="448" r:id="rId29"/>
    <p:sldId id="437" r:id="rId30"/>
    <p:sldId id="321" r:id="rId31"/>
    <p:sldId id="318" r:id="rId32"/>
    <p:sldId id="444" r:id="rId33"/>
    <p:sldId id="445" r:id="rId34"/>
    <p:sldId id="314" r:id="rId35"/>
    <p:sldId id="269" r:id="rId36"/>
    <p:sldId id="270" r:id="rId37"/>
    <p:sldId id="271" r:id="rId38"/>
    <p:sldId id="272" r:id="rId39"/>
    <p:sldId id="440" r:id="rId40"/>
    <p:sldId id="311" r:id="rId41"/>
    <p:sldId id="312" r:id="rId42"/>
    <p:sldId id="451" r:id="rId43"/>
    <p:sldId id="441" r:id="rId44"/>
    <p:sldId id="280" r:id="rId45"/>
    <p:sldId id="313" r:id="rId46"/>
    <p:sldId id="452" r:id="rId47"/>
    <p:sldId id="302" r:id="rId48"/>
    <p:sldId id="309" r:id="rId49"/>
    <p:sldId id="453" r:id="rId50"/>
    <p:sldId id="442" r:id="rId51"/>
    <p:sldId id="303" r:id="rId52"/>
    <p:sldId id="306" r:id="rId53"/>
    <p:sldId id="304" r:id="rId54"/>
    <p:sldId id="305" r:id="rId55"/>
    <p:sldId id="319" r:id="rId56"/>
    <p:sldId id="443" r:id="rId57"/>
    <p:sldId id="322" r:id="rId58"/>
    <p:sldId id="447" r:id="rId59"/>
    <p:sldId id="433" r:id="rId60"/>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792" autoAdjust="0"/>
  </p:normalViewPr>
  <p:slideViewPr>
    <p:cSldViewPr>
      <p:cViewPr varScale="1">
        <p:scale>
          <a:sx n="108" d="100"/>
          <a:sy n="108" d="100"/>
        </p:scale>
        <p:origin x="1626" y="102"/>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p:scale>
        <a:sx n="130" d="100"/>
        <a:sy n="130" d="100"/>
      </p:scale>
      <p:origin x="0" y="-68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8/10/2025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5E47E2-C551-4E48-880D-7BC1B0521659}" type="slidenum">
              <a:rPr lang="en-US" smtClean="0"/>
              <a:t>7</a:t>
            </a:fld>
            <a:endParaRPr lang="en-US"/>
          </a:p>
        </p:txBody>
      </p:sp>
    </p:spTree>
    <p:extLst>
      <p:ext uri="{BB962C8B-B14F-4D97-AF65-F5344CB8AC3E}">
        <p14:creationId xmlns:p14="http://schemas.microsoft.com/office/powerpoint/2010/main" val="3833747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5E47E2-C551-4E48-880D-7BC1B0521659}" type="slidenum">
              <a:rPr lang="en-US" smtClean="0"/>
              <a:t>16</a:t>
            </a:fld>
            <a:endParaRPr lang="en-US"/>
          </a:p>
        </p:txBody>
      </p:sp>
    </p:spTree>
    <p:extLst>
      <p:ext uri="{BB962C8B-B14F-4D97-AF65-F5344CB8AC3E}">
        <p14:creationId xmlns:p14="http://schemas.microsoft.com/office/powerpoint/2010/main" val="4115816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C33C15-5131-4101-B031-6627D1EB5562}" type="slidenum">
              <a:rPr lang="en-AU" smtClean="0"/>
              <a:t>24</a:t>
            </a:fld>
            <a:endParaRPr lang="en-AU"/>
          </a:p>
        </p:txBody>
      </p:sp>
    </p:spTree>
    <p:extLst>
      <p:ext uri="{BB962C8B-B14F-4D97-AF65-F5344CB8AC3E}">
        <p14:creationId xmlns:p14="http://schemas.microsoft.com/office/powerpoint/2010/main" val="355592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74F51-DD8B-FBEF-C449-BF8D4F881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557D2-CE22-D6C8-BEEC-01C6AAFBD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08710-2C0E-6CC8-94E4-EFBEA2D509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023D97-8352-348B-308C-58D97FA54A06}"/>
              </a:ext>
            </a:extLst>
          </p:cNvPr>
          <p:cNvSpPr>
            <a:spLocks noGrp="1"/>
          </p:cNvSpPr>
          <p:nvPr>
            <p:ph type="sldNum" sz="quarter" idx="5"/>
          </p:nvPr>
        </p:nvSpPr>
        <p:spPr/>
        <p:txBody>
          <a:bodyPr/>
          <a:lstStyle/>
          <a:p>
            <a:fld id="{85C33C15-5131-4101-B031-6627D1EB5562}" type="slidenum">
              <a:rPr lang="en-AU" smtClean="0"/>
              <a:t>25</a:t>
            </a:fld>
            <a:endParaRPr lang="en-AU"/>
          </a:p>
        </p:txBody>
      </p:sp>
    </p:spTree>
    <p:extLst>
      <p:ext uri="{BB962C8B-B14F-4D97-AF65-F5344CB8AC3E}">
        <p14:creationId xmlns:p14="http://schemas.microsoft.com/office/powerpoint/2010/main" val="3600920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5E47E2-C551-4E48-880D-7BC1B0521659}" type="slidenum">
              <a:rPr lang="en-US" smtClean="0"/>
              <a:t>33</a:t>
            </a:fld>
            <a:endParaRPr lang="en-US"/>
          </a:p>
        </p:txBody>
      </p:sp>
    </p:spTree>
    <p:extLst>
      <p:ext uri="{BB962C8B-B14F-4D97-AF65-F5344CB8AC3E}">
        <p14:creationId xmlns:p14="http://schemas.microsoft.com/office/powerpoint/2010/main" val="323751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5E47E2-C551-4E48-880D-7BC1B0521659}" type="slidenum">
              <a:rPr lang="en-US" smtClean="0"/>
              <a:t>34</a:t>
            </a:fld>
            <a:endParaRPr lang="en-US"/>
          </a:p>
        </p:txBody>
      </p:sp>
    </p:spTree>
    <p:extLst>
      <p:ext uri="{BB962C8B-B14F-4D97-AF65-F5344CB8AC3E}">
        <p14:creationId xmlns:p14="http://schemas.microsoft.com/office/powerpoint/2010/main" val="537279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where the malicious string originates from the website's database.</a:t>
            </a:r>
          </a:p>
          <a:p>
            <a:endParaRPr lang="en-US" dirty="0"/>
          </a:p>
        </p:txBody>
      </p:sp>
      <p:sp>
        <p:nvSpPr>
          <p:cNvPr id="4" name="Slide Number Placeholder 3"/>
          <p:cNvSpPr>
            <a:spLocks noGrp="1"/>
          </p:cNvSpPr>
          <p:nvPr>
            <p:ph type="sldNum" sz="quarter" idx="10"/>
          </p:nvPr>
        </p:nvSpPr>
        <p:spPr/>
        <p:txBody>
          <a:bodyPr/>
          <a:lstStyle/>
          <a:p>
            <a:fld id="{E35E47E2-C551-4E48-880D-7BC1B0521659}" type="slidenum">
              <a:rPr lang="en-US" smtClean="0"/>
              <a:t>40</a:t>
            </a:fld>
            <a:endParaRPr lang="en-US"/>
          </a:p>
        </p:txBody>
      </p:sp>
    </p:spTree>
    <p:extLst>
      <p:ext uri="{BB962C8B-B14F-4D97-AF65-F5344CB8AC3E}">
        <p14:creationId xmlns:p14="http://schemas.microsoft.com/office/powerpoint/2010/main" val="3447158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5E47E2-C551-4E48-880D-7BC1B0521659}" type="slidenum">
              <a:rPr lang="en-US" smtClean="0"/>
              <a:t>43</a:t>
            </a:fld>
            <a:endParaRPr lang="en-US"/>
          </a:p>
        </p:txBody>
      </p:sp>
    </p:spTree>
    <p:extLst>
      <p:ext uri="{BB962C8B-B14F-4D97-AF65-F5344CB8AC3E}">
        <p14:creationId xmlns:p14="http://schemas.microsoft.com/office/powerpoint/2010/main" val="2567745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a DOM-based XSS attack, the malicious string is not actually parsed by the victim's browser until the website's legitimate JavaScript is executed. </a:t>
            </a:r>
          </a:p>
          <a:p>
            <a:endParaRPr lang="en-US" dirty="0"/>
          </a:p>
        </p:txBody>
      </p:sp>
      <p:sp>
        <p:nvSpPr>
          <p:cNvPr id="4" name="Slide Number Placeholder 3"/>
          <p:cNvSpPr>
            <a:spLocks noGrp="1"/>
          </p:cNvSpPr>
          <p:nvPr>
            <p:ph type="sldNum" sz="quarter" idx="10"/>
          </p:nvPr>
        </p:nvSpPr>
        <p:spPr/>
        <p:txBody>
          <a:bodyPr/>
          <a:lstStyle/>
          <a:p>
            <a:fld id="{E35E47E2-C551-4E48-880D-7BC1B0521659}" type="slidenum">
              <a:rPr lang="en-US" smtClean="0"/>
              <a:t>44</a:t>
            </a:fld>
            <a:endParaRPr lang="en-US"/>
          </a:p>
        </p:txBody>
      </p:sp>
    </p:spTree>
    <p:extLst>
      <p:ext uri="{BB962C8B-B14F-4D97-AF65-F5344CB8AC3E}">
        <p14:creationId xmlns:p14="http://schemas.microsoft.com/office/powerpoint/2010/main" val="33970030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A560A9-0889-40AE-AC7A-13E18F6CDFE3}" type="datetime1">
              <a:rPr lang="en-US" smtClean="0"/>
              <a:t>8/10/2025</a:t>
            </a:fld>
            <a:endParaRPr lang="en-US"/>
          </a:p>
        </p:txBody>
      </p:sp>
      <p:sp>
        <p:nvSpPr>
          <p:cNvPr id="4" name="Footer Placeholder 3"/>
          <p:cNvSpPr>
            <a:spLocks noGrp="1"/>
          </p:cNvSpPr>
          <p:nvPr>
            <p:ph type="ftr" sz="quarter" idx="11"/>
          </p:nvPr>
        </p:nvSpPr>
        <p:spPr/>
        <p:txBody>
          <a:bodyPr/>
          <a:lstStyle/>
          <a:p>
            <a:r>
              <a:rPr lang="en-US"/>
              <a:t>Information Security (CS3002)</a:t>
            </a:r>
          </a:p>
        </p:txBody>
      </p:sp>
      <p:sp>
        <p:nvSpPr>
          <p:cNvPr id="5" name="Slide Number Placeholder 4"/>
          <p:cNvSpPr>
            <a:spLocks noGrp="1"/>
          </p:cNvSpPr>
          <p:nvPr>
            <p:ph type="sldNum" sz="quarter" idx="12"/>
          </p:nvPr>
        </p:nvSpPr>
        <p:spPr/>
        <p:txBody>
          <a:bodyPr/>
          <a:lstStyle/>
          <a:p>
            <a:fld id="{B51C02C6-438B-49CC-8D7E-837D176670DD}" type="slidenum">
              <a:rPr lang="en-US" smtClean="0"/>
              <a:t>‹#›</a:t>
            </a:fld>
            <a:endParaRPr lang="en-US"/>
          </a:p>
        </p:txBody>
      </p:sp>
    </p:spTree>
    <p:extLst>
      <p:ext uri="{BB962C8B-B14F-4D97-AF65-F5344CB8AC3E}">
        <p14:creationId xmlns:p14="http://schemas.microsoft.com/office/powerpoint/2010/main" val="1461551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8/10/2025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8/10/2025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8/10/2025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 id="2147483676" r:id="rId7"/>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8/10/2025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eveloper.mozilla.org/en-US/docs/Glossary/Origi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oogle.com/" TargetMode="External"/><Relationship Id="rId2" Type="http://schemas.openxmlformats.org/officeDocument/2006/relationships/hyperlink" Target="https://intranet.apple.com/project/iphon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cheatsheetseries.owasp.org/cheatsheets/Cross_Site_Scripting_Prevention_Cheat_Sheet.html#xss-defense-philosophy"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221088"/>
            <a:ext cx="4788024" cy="646331"/>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Web Security</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2045070" y="1916832"/>
            <a:ext cx="5053861"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178566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sz="quarter" idx="11"/>
          </p:nvPr>
        </p:nvSpPr>
        <p:spPr/>
        <p:txBody>
          <a:bodyPr>
            <a:normAutofit/>
          </a:bodyPr>
          <a:lstStyle/>
          <a:p>
            <a:r>
              <a:rPr lang="en-US" sz="2800" dirty="0">
                <a:solidFill>
                  <a:srgbClr val="C00000"/>
                </a:solidFill>
              </a:rPr>
              <a:t>Website</a:t>
            </a:r>
          </a:p>
          <a:p>
            <a:pPr lvl="1"/>
            <a:r>
              <a:rPr lang="en-US" sz="2400" dirty="0"/>
              <a:t>Collection of resources: HTML, CCS, JavaScript</a:t>
            </a:r>
          </a:p>
          <a:p>
            <a:r>
              <a:rPr lang="en-US" sz="2800" dirty="0">
                <a:solidFill>
                  <a:srgbClr val="C00000"/>
                </a:solidFill>
              </a:rPr>
              <a:t>HTTP/HTTPS</a:t>
            </a:r>
          </a:p>
          <a:p>
            <a:pPr lvl="1"/>
            <a:r>
              <a:rPr lang="en-US" sz="2400" dirty="0"/>
              <a:t>Protocol for client and web server communication</a:t>
            </a:r>
          </a:p>
          <a:p>
            <a:pPr lvl="1"/>
            <a:r>
              <a:rPr lang="en-US" sz="2400" dirty="0"/>
              <a:t>Request: GET, POST, HEAD, PUT, DELETE etc.</a:t>
            </a:r>
          </a:p>
          <a:p>
            <a:pPr lvl="1"/>
            <a:r>
              <a:rPr lang="en-US" sz="2400" dirty="0"/>
              <a:t>Reply Codes: 200, 400, 404 etc.</a:t>
            </a:r>
          </a:p>
          <a:p>
            <a:r>
              <a:rPr lang="en-US" sz="2800" dirty="0">
                <a:solidFill>
                  <a:srgbClr val="C00000"/>
                </a:solidFill>
              </a:rPr>
              <a:t>HTTP is stateless</a:t>
            </a:r>
          </a:p>
          <a:p>
            <a:pPr lvl="1"/>
            <a:r>
              <a:rPr lang="en-US" sz="2400" dirty="0"/>
              <a:t>Servers mostly use cookies to track state</a:t>
            </a:r>
          </a:p>
          <a:p>
            <a:endParaRPr lang="en-US" sz="2800" dirty="0"/>
          </a:p>
        </p:txBody>
      </p:sp>
    </p:spTree>
    <p:extLst>
      <p:ext uri="{BB962C8B-B14F-4D97-AF65-F5344CB8AC3E}">
        <p14:creationId xmlns:p14="http://schemas.microsoft.com/office/powerpoint/2010/main" val="3706856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Request Message</a:t>
            </a:r>
          </a:p>
        </p:txBody>
      </p:sp>
      <p:sp>
        <p:nvSpPr>
          <p:cNvPr id="6" name="Text Box 16"/>
          <p:cNvSpPr txBox="1">
            <a:spLocks noChangeArrowheads="1"/>
          </p:cNvSpPr>
          <p:nvPr/>
        </p:nvSpPr>
        <p:spPr bwMode="auto">
          <a:xfrm>
            <a:off x="1403648" y="2132856"/>
            <a:ext cx="7056784" cy="344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GET /index.html HTTP/1.1\r\n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Host: www-net.cs.umass.edu\r\n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User-Agent: Firefox/3.6.10\r\n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Accept: text/</a:t>
            </a:r>
            <a:r>
              <a:rPr lang="en-US" altLang="en-US" sz="2200" b="1" dirty="0" err="1">
                <a:solidFill>
                  <a:srgbClr val="7030A0"/>
                </a:solidFill>
                <a:latin typeface="Consolas" panose="020B0609020204030204" pitchFamily="49" charset="0"/>
              </a:rPr>
              <a:t>html,application</a:t>
            </a:r>
            <a:r>
              <a:rPr lang="en-US" altLang="en-US" sz="2200" b="1" dirty="0">
                <a:solidFill>
                  <a:srgbClr val="7030A0"/>
                </a:solidFill>
                <a:latin typeface="Consolas" panose="020B0609020204030204" pitchFamily="49" charset="0"/>
              </a:rPr>
              <a:t>/</a:t>
            </a:r>
            <a:r>
              <a:rPr lang="en-US" altLang="en-US" sz="2200" b="1" dirty="0" err="1">
                <a:solidFill>
                  <a:srgbClr val="7030A0"/>
                </a:solidFill>
                <a:latin typeface="Consolas" panose="020B0609020204030204" pitchFamily="49" charset="0"/>
              </a:rPr>
              <a:t>xhtml+xml</a:t>
            </a:r>
            <a:r>
              <a:rPr lang="en-US" altLang="en-US" sz="2200" b="1" dirty="0">
                <a:solidFill>
                  <a:srgbClr val="7030A0"/>
                </a:solidFill>
                <a:latin typeface="Consolas" panose="020B0609020204030204" pitchFamily="49" charset="0"/>
              </a:rPr>
              <a:t>\r\n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Accept-Language: </a:t>
            </a:r>
            <a:r>
              <a:rPr lang="en-US" altLang="en-US" sz="2200" b="1" dirty="0" err="1">
                <a:solidFill>
                  <a:srgbClr val="7030A0"/>
                </a:solidFill>
                <a:latin typeface="Consolas" panose="020B0609020204030204" pitchFamily="49" charset="0"/>
              </a:rPr>
              <a:t>en-us,en;q</a:t>
            </a:r>
            <a:r>
              <a:rPr lang="en-US" altLang="en-US" sz="2200" b="1" dirty="0">
                <a:solidFill>
                  <a:srgbClr val="7030A0"/>
                </a:solidFill>
                <a:latin typeface="Consolas" panose="020B0609020204030204" pitchFamily="49" charset="0"/>
              </a:rPr>
              <a:t>=0.5\r\n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Accept-Encoding: </a:t>
            </a:r>
            <a:r>
              <a:rPr lang="en-US" altLang="en-US" sz="2200" b="1" dirty="0" err="1">
                <a:solidFill>
                  <a:srgbClr val="7030A0"/>
                </a:solidFill>
                <a:latin typeface="Consolas" panose="020B0609020204030204" pitchFamily="49" charset="0"/>
              </a:rPr>
              <a:t>gzip,deflate</a:t>
            </a:r>
            <a:r>
              <a:rPr lang="en-US" altLang="en-US" sz="2200" b="1" dirty="0">
                <a:solidFill>
                  <a:srgbClr val="7030A0"/>
                </a:solidFill>
                <a:latin typeface="Consolas" panose="020B0609020204030204" pitchFamily="49" charset="0"/>
              </a:rPr>
              <a:t>\r\n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Cookie: 1678\r\n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Accept-Charset: ISO-8859-1,utf-8;q=0.7\r\n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Keep-Alive: 115\r\n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Connection: keep-alive\r\n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\r\n</a:t>
            </a:r>
          </a:p>
        </p:txBody>
      </p:sp>
      <p:sp>
        <p:nvSpPr>
          <p:cNvPr id="4" name="Left Bracket 3">
            <a:extLst>
              <a:ext uri="{FF2B5EF4-FFF2-40B4-BE49-F238E27FC236}">
                <a16:creationId xmlns:a16="http://schemas.microsoft.com/office/drawing/2014/main" id="{A25E4BC2-7B82-DFF6-7928-D2C8DFFF38A8}"/>
              </a:ext>
            </a:extLst>
          </p:cNvPr>
          <p:cNvSpPr/>
          <p:nvPr/>
        </p:nvSpPr>
        <p:spPr>
          <a:xfrm>
            <a:off x="1259632" y="2492896"/>
            <a:ext cx="223100" cy="2952328"/>
          </a:xfrm>
          <a:prstGeom prst="leftBracket">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064E9174-9F09-651D-B7C5-6961B0B1E954}"/>
              </a:ext>
            </a:extLst>
          </p:cNvPr>
          <p:cNvSpPr txBox="1"/>
          <p:nvPr/>
        </p:nvSpPr>
        <p:spPr>
          <a:xfrm>
            <a:off x="163717" y="2123564"/>
            <a:ext cx="1319015" cy="369332"/>
          </a:xfrm>
          <a:prstGeom prst="rect">
            <a:avLst/>
          </a:prstGeom>
          <a:noFill/>
        </p:spPr>
        <p:txBody>
          <a:bodyPr wrap="none" rtlCol="0">
            <a:spAutoFit/>
          </a:bodyPr>
          <a:lstStyle/>
          <a:p>
            <a:r>
              <a:rPr lang="en-US" dirty="0"/>
              <a:t>Request →</a:t>
            </a:r>
          </a:p>
        </p:txBody>
      </p:sp>
      <p:sp>
        <p:nvSpPr>
          <p:cNvPr id="8" name="TextBox 7">
            <a:extLst>
              <a:ext uri="{FF2B5EF4-FFF2-40B4-BE49-F238E27FC236}">
                <a16:creationId xmlns:a16="http://schemas.microsoft.com/office/drawing/2014/main" id="{A4FD7182-81FC-D4E9-412A-74C7A82F7BA4}"/>
              </a:ext>
            </a:extLst>
          </p:cNvPr>
          <p:cNvSpPr txBox="1"/>
          <p:nvPr/>
        </p:nvSpPr>
        <p:spPr>
          <a:xfrm>
            <a:off x="130841" y="3599728"/>
            <a:ext cx="1040734" cy="369332"/>
          </a:xfrm>
          <a:prstGeom prst="rect">
            <a:avLst/>
          </a:prstGeom>
          <a:noFill/>
        </p:spPr>
        <p:txBody>
          <a:bodyPr wrap="none" rtlCol="0">
            <a:spAutoFit/>
          </a:bodyPr>
          <a:lstStyle/>
          <a:p>
            <a:r>
              <a:rPr lang="en-US" dirty="0"/>
              <a:t>Headers</a:t>
            </a:r>
          </a:p>
        </p:txBody>
      </p:sp>
    </p:spTree>
    <p:extLst>
      <p:ext uri="{BB962C8B-B14F-4D97-AF65-F5344CB8AC3E}">
        <p14:creationId xmlns:p14="http://schemas.microsoft.com/office/powerpoint/2010/main" val="416936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Reply Message</a:t>
            </a:r>
          </a:p>
        </p:txBody>
      </p:sp>
      <p:sp>
        <p:nvSpPr>
          <p:cNvPr id="6" name="Rectangle 15"/>
          <p:cNvSpPr>
            <a:spLocks noChangeArrowheads="1"/>
          </p:cNvSpPr>
          <p:nvPr/>
        </p:nvSpPr>
        <p:spPr bwMode="auto">
          <a:xfrm>
            <a:off x="1331640" y="1844824"/>
            <a:ext cx="7609656" cy="405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HTTP/1.1 200 OK\r\n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Date: Sun, 26 Sep 2010 20:09:20 GMT\r\n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Server: Apache/2.0.52 (</a:t>
            </a:r>
            <a:r>
              <a:rPr lang="en-US" altLang="en-US" sz="2200" b="1" dirty="0" err="1">
                <a:solidFill>
                  <a:srgbClr val="7030A0"/>
                </a:solidFill>
                <a:latin typeface="Consolas" panose="020B0609020204030204" pitchFamily="49" charset="0"/>
              </a:rPr>
              <a:t>CentOS</a:t>
            </a:r>
            <a:r>
              <a:rPr lang="en-US" altLang="en-US" sz="2200" b="1" dirty="0">
                <a:solidFill>
                  <a:srgbClr val="7030A0"/>
                </a:solidFill>
                <a:latin typeface="Consolas" panose="020B0609020204030204" pitchFamily="49" charset="0"/>
              </a:rPr>
              <a:t>)\r\n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Last-Modified: Tue, 30 Oct 2007 17:00:02 GMT\r\n</a:t>
            </a:r>
          </a:p>
          <a:p>
            <a:pPr>
              <a:lnSpc>
                <a:spcPct val="90000"/>
              </a:lnSpc>
              <a:spcBef>
                <a:spcPct val="0"/>
              </a:spcBef>
              <a:buClr>
                <a:schemeClr val="accent2"/>
              </a:buClr>
              <a:buSzPct val="85000"/>
              <a:buFont typeface="ZapfDingbats" charset="2"/>
              <a:buNone/>
            </a:pPr>
            <a:r>
              <a:rPr lang="en-US" altLang="en-US" sz="2200" b="1" dirty="0" err="1">
                <a:solidFill>
                  <a:srgbClr val="7030A0"/>
                </a:solidFill>
                <a:latin typeface="Consolas" panose="020B0609020204030204" pitchFamily="49" charset="0"/>
              </a:rPr>
              <a:t>ETag</a:t>
            </a:r>
            <a:r>
              <a:rPr lang="en-US" altLang="en-US" sz="2200" b="1" dirty="0">
                <a:solidFill>
                  <a:srgbClr val="7030A0"/>
                </a:solidFill>
                <a:latin typeface="Consolas" panose="020B0609020204030204" pitchFamily="49" charset="0"/>
              </a:rPr>
              <a:t>: "17dc6-a5c-bf716880"\r\n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Accept-Ranges: bytes\r\n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Content-Length: 2652\r\n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Keep-Alive: timeout=10, max=100\r\n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Connection: Keep-Alive\r\n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Set-Cookie: 1678\r\n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Content-Type: text/html; charset=ISO-8859-1\r\n</a:t>
            </a:r>
          </a:p>
          <a:p>
            <a:pPr>
              <a:lnSpc>
                <a:spcPct val="90000"/>
              </a:lnSpc>
              <a:spcBef>
                <a:spcPct val="0"/>
              </a:spcBef>
              <a:buClr>
                <a:schemeClr val="accent2"/>
              </a:buClr>
              <a:buSzPct val="85000"/>
              <a:buFont typeface="ZapfDingbats" charset="2"/>
              <a:buNone/>
            </a:pPr>
            <a:r>
              <a:rPr lang="en-US" altLang="en-US" sz="2200" b="1" dirty="0">
                <a:solidFill>
                  <a:srgbClr val="7030A0"/>
                </a:solidFill>
                <a:latin typeface="Consolas" panose="020B0609020204030204" pitchFamily="49" charset="0"/>
              </a:rPr>
              <a:t>\r\n</a:t>
            </a:r>
          </a:p>
          <a:p>
            <a:pPr>
              <a:lnSpc>
                <a:spcPct val="90000"/>
              </a:lnSpc>
              <a:spcBef>
                <a:spcPct val="0"/>
              </a:spcBef>
              <a:buClr>
                <a:schemeClr val="accent2"/>
              </a:buClr>
              <a:buSzPct val="85000"/>
              <a:buFont typeface="ZapfDingbats" charset="2"/>
              <a:buNone/>
            </a:pPr>
            <a:r>
              <a:rPr lang="it-IT" altLang="en-US" sz="2200" b="1" dirty="0">
                <a:solidFill>
                  <a:srgbClr val="7030A0"/>
                </a:solidFill>
                <a:latin typeface="Consolas" panose="020B0609020204030204" pitchFamily="49" charset="0"/>
              </a:rPr>
              <a:t>data data data data data ... </a:t>
            </a:r>
            <a:endParaRPr lang="en-US" altLang="en-US" sz="2200" b="1" dirty="0">
              <a:solidFill>
                <a:srgbClr val="7030A0"/>
              </a:solidFill>
              <a:latin typeface="Consolas" panose="020B0609020204030204" pitchFamily="49" charset="0"/>
            </a:endParaRPr>
          </a:p>
        </p:txBody>
      </p:sp>
      <p:sp>
        <p:nvSpPr>
          <p:cNvPr id="4" name="Left Bracket 3">
            <a:extLst>
              <a:ext uri="{FF2B5EF4-FFF2-40B4-BE49-F238E27FC236}">
                <a16:creationId xmlns:a16="http://schemas.microsoft.com/office/drawing/2014/main" id="{D6072DE2-D963-9158-9002-0714FA426DBC}"/>
              </a:ext>
            </a:extLst>
          </p:cNvPr>
          <p:cNvSpPr/>
          <p:nvPr/>
        </p:nvSpPr>
        <p:spPr>
          <a:xfrm>
            <a:off x="1223486" y="2214156"/>
            <a:ext cx="223200" cy="2943036"/>
          </a:xfrm>
          <a:prstGeom prst="leftBracket">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C0F2B469-EEC7-2A37-6ADF-6D47235ABCA8}"/>
              </a:ext>
            </a:extLst>
          </p:cNvPr>
          <p:cNvSpPr txBox="1"/>
          <p:nvPr/>
        </p:nvSpPr>
        <p:spPr>
          <a:xfrm>
            <a:off x="163717" y="1844824"/>
            <a:ext cx="1116011" cy="369332"/>
          </a:xfrm>
          <a:prstGeom prst="rect">
            <a:avLst/>
          </a:prstGeom>
          <a:noFill/>
        </p:spPr>
        <p:txBody>
          <a:bodyPr wrap="none" rtlCol="0">
            <a:spAutoFit/>
          </a:bodyPr>
          <a:lstStyle/>
          <a:p>
            <a:r>
              <a:rPr lang="en-US" dirty="0"/>
              <a:t>Status →</a:t>
            </a:r>
          </a:p>
        </p:txBody>
      </p:sp>
      <p:sp>
        <p:nvSpPr>
          <p:cNvPr id="8" name="TextBox 7">
            <a:extLst>
              <a:ext uri="{FF2B5EF4-FFF2-40B4-BE49-F238E27FC236}">
                <a16:creationId xmlns:a16="http://schemas.microsoft.com/office/drawing/2014/main" id="{9979D0D5-D0FE-86AB-4013-4C629E18470B}"/>
              </a:ext>
            </a:extLst>
          </p:cNvPr>
          <p:cNvSpPr txBox="1"/>
          <p:nvPr/>
        </p:nvSpPr>
        <p:spPr>
          <a:xfrm>
            <a:off x="130841" y="3599728"/>
            <a:ext cx="1040734" cy="369332"/>
          </a:xfrm>
          <a:prstGeom prst="rect">
            <a:avLst/>
          </a:prstGeom>
          <a:noFill/>
        </p:spPr>
        <p:txBody>
          <a:bodyPr wrap="none" rtlCol="0">
            <a:spAutoFit/>
          </a:bodyPr>
          <a:lstStyle/>
          <a:p>
            <a:r>
              <a:rPr lang="en-US" dirty="0"/>
              <a:t>Headers</a:t>
            </a:r>
          </a:p>
        </p:txBody>
      </p:sp>
      <p:sp>
        <p:nvSpPr>
          <p:cNvPr id="9" name="Left Bracket 8">
            <a:extLst>
              <a:ext uri="{FF2B5EF4-FFF2-40B4-BE49-F238E27FC236}">
                <a16:creationId xmlns:a16="http://schemas.microsoft.com/office/drawing/2014/main" id="{B44D3E66-6A16-A829-E4AD-6551C489624D}"/>
              </a:ext>
            </a:extLst>
          </p:cNvPr>
          <p:cNvSpPr/>
          <p:nvPr/>
        </p:nvSpPr>
        <p:spPr>
          <a:xfrm>
            <a:off x="1223486" y="5424892"/>
            <a:ext cx="223200" cy="596396"/>
          </a:xfrm>
          <a:prstGeom prst="leftBracket">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3BF16B00-01F7-F921-D479-08F06BD3A175}"/>
              </a:ext>
            </a:extLst>
          </p:cNvPr>
          <p:cNvSpPr txBox="1"/>
          <p:nvPr/>
        </p:nvSpPr>
        <p:spPr>
          <a:xfrm>
            <a:off x="295982" y="5528909"/>
            <a:ext cx="710451" cy="369332"/>
          </a:xfrm>
          <a:prstGeom prst="rect">
            <a:avLst/>
          </a:prstGeom>
          <a:noFill/>
        </p:spPr>
        <p:txBody>
          <a:bodyPr wrap="none" rtlCol="0">
            <a:spAutoFit/>
          </a:bodyPr>
          <a:lstStyle/>
          <a:p>
            <a:r>
              <a:rPr lang="en-US" dirty="0"/>
              <a:t>Body</a:t>
            </a:r>
          </a:p>
        </p:txBody>
      </p:sp>
    </p:spTree>
    <p:extLst>
      <p:ext uri="{BB962C8B-B14F-4D97-AF65-F5344CB8AC3E}">
        <p14:creationId xmlns:p14="http://schemas.microsoft.com/office/powerpoint/2010/main" val="150477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animBg="1"/>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algn="l" eaLnBrk="1" hangingPunct="1"/>
            <a:r>
              <a:rPr lang="en-US" dirty="0"/>
              <a:t>Tracking Session using Cookies</a:t>
            </a:r>
          </a:p>
        </p:txBody>
      </p:sp>
      <p:sp>
        <p:nvSpPr>
          <p:cNvPr id="89091" name="Rectangle 4"/>
          <p:cNvSpPr>
            <a:spLocks noChangeArrowheads="1"/>
          </p:cNvSpPr>
          <p:nvPr/>
        </p:nvSpPr>
        <p:spPr bwMode="auto">
          <a:xfrm>
            <a:off x="1219200" y="2286000"/>
            <a:ext cx="1447800" cy="4114800"/>
          </a:xfrm>
          <a:prstGeom prst="rect">
            <a:avLst/>
          </a:prstGeom>
          <a:solidFill>
            <a:schemeClr val="accent1"/>
          </a:solidFill>
          <a:ln w="9525">
            <a:solidFill>
              <a:schemeClr val="tx1"/>
            </a:solidFill>
            <a:miter lim="800000"/>
            <a:headEnd/>
            <a:tailEnd/>
          </a:ln>
        </p:spPr>
        <p:txBody>
          <a:bodyPr wrap="none" anchor="ctr"/>
          <a:lstStyle/>
          <a:p>
            <a:pPr>
              <a:defRPr/>
            </a:pPr>
            <a:endParaRPr lang="en-US">
              <a:solidFill>
                <a:srgbClr val="40458C"/>
              </a:solidFill>
              <a:ea typeface="ＭＳ Ｐゴシック" pitchFamily="-65" charset="-128"/>
            </a:endParaRPr>
          </a:p>
        </p:txBody>
      </p:sp>
      <p:sp>
        <p:nvSpPr>
          <p:cNvPr id="89092" name="Rectangle 5"/>
          <p:cNvSpPr>
            <a:spLocks noChangeArrowheads="1"/>
          </p:cNvSpPr>
          <p:nvPr/>
        </p:nvSpPr>
        <p:spPr bwMode="auto">
          <a:xfrm>
            <a:off x="6172200" y="2286000"/>
            <a:ext cx="1447800" cy="4114800"/>
          </a:xfrm>
          <a:prstGeom prst="rect">
            <a:avLst/>
          </a:prstGeom>
          <a:solidFill>
            <a:schemeClr val="accent1"/>
          </a:solidFill>
          <a:ln w="9525">
            <a:solidFill>
              <a:schemeClr val="tx1"/>
            </a:solidFill>
            <a:miter lim="800000"/>
            <a:headEnd/>
            <a:tailEnd/>
          </a:ln>
        </p:spPr>
        <p:txBody>
          <a:bodyPr wrap="none" anchor="ctr"/>
          <a:lstStyle/>
          <a:p>
            <a:pPr>
              <a:defRPr/>
            </a:pPr>
            <a:endParaRPr lang="en-US">
              <a:solidFill>
                <a:srgbClr val="40458C"/>
              </a:solidFill>
              <a:ea typeface="ＭＳ Ｐゴシック" pitchFamily="-65" charset="-128"/>
            </a:endParaRPr>
          </a:p>
        </p:txBody>
      </p:sp>
      <p:sp>
        <p:nvSpPr>
          <p:cNvPr id="89093" name="Text Box 8"/>
          <p:cNvSpPr txBox="1">
            <a:spLocks noChangeArrowheads="1"/>
          </p:cNvSpPr>
          <p:nvPr/>
        </p:nvSpPr>
        <p:spPr bwMode="auto">
          <a:xfrm>
            <a:off x="6490778" y="1785938"/>
            <a:ext cx="840807" cy="369332"/>
          </a:xfrm>
          <a:prstGeom prst="rect">
            <a:avLst/>
          </a:prstGeom>
          <a:noFill/>
          <a:ln w="9525">
            <a:noFill/>
            <a:miter lim="800000"/>
            <a:headEnd/>
            <a:tailEnd/>
          </a:ln>
        </p:spPr>
        <p:txBody>
          <a:bodyPr wrap="none">
            <a:spAutoFit/>
          </a:bodyPr>
          <a:lstStyle/>
          <a:p>
            <a:pPr algn="ctr">
              <a:defRPr/>
            </a:pPr>
            <a:r>
              <a:rPr lang="en-US">
                <a:solidFill>
                  <a:srgbClr val="40458C"/>
                </a:solidFill>
                <a:ea typeface="ＭＳ Ｐゴシック" pitchFamily="-65" charset="-128"/>
              </a:rPr>
              <a:t>Server</a:t>
            </a:r>
          </a:p>
        </p:txBody>
      </p:sp>
      <p:sp>
        <p:nvSpPr>
          <p:cNvPr id="89094" name="Text Box 9"/>
          <p:cNvSpPr txBox="1">
            <a:spLocks noChangeArrowheads="1"/>
          </p:cNvSpPr>
          <p:nvPr/>
        </p:nvSpPr>
        <p:spPr bwMode="auto">
          <a:xfrm>
            <a:off x="1403648" y="1785938"/>
            <a:ext cx="1010148" cy="369332"/>
          </a:xfrm>
          <a:prstGeom prst="rect">
            <a:avLst/>
          </a:prstGeom>
          <a:noFill/>
          <a:ln w="9525">
            <a:noFill/>
            <a:miter lim="800000"/>
            <a:headEnd/>
            <a:tailEnd/>
          </a:ln>
        </p:spPr>
        <p:txBody>
          <a:bodyPr wrap="none">
            <a:spAutoFit/>
          </a:bodyPr>
          <a:lstStyle/>
          <a:p>
            <a:pPr algn="ctr">
              <a:defRPr/>
            </a:pPr>
            <a:r>
              <a:rPr lang="en-US" dirty="0">
                <a:solidFill>
                  <a:srgbClr val="40458C"/>
                </a:solidFill>
                <a:ea typeface="ＭＳ Ｐゴシック" pitchFamily="-65" charset="-128"/>
              </a:rPr>
              <a:t>Browser</a:t>
            </a:r>
          </a:p>
        </p:txBody>
      </p:sp>
      <p:sp>
        <p:nvSpPr>
          <p:cNvPr id="89095" name="Line 10"/>
          <p:cNvSpPr>
            <a:spLocks noChangeShapeType="1"/>
          </p:cNvSpPr>
          <p:nvPr/>
        </p:nvSpPr>
        <p:spPr bwMode="auto">
          <a:xfrm>
            <a:off x="2667000" y="2581274"/>
            <a:ext cx="3505200" cy="314325"/>
          </a:xfrm>
          <a:prstGeom prst="line">
            <a:avLst/>
          </a:prstGeom>
          <a:noFill/>
          <a:ln w="38100">
            <a:solidFill>
              <a:schemeClr val="tx1"/>
            </a:solidFill>
            <a:round/>
            <a:headEnd/>
            <a:tailEnd type="triangle" w="med" len="med"/>
          </a:ln>
        </p:spPr>
        <p:txBody>
          <a:bodyPr anchor="ctr"/>
          <a:lstStyle/>
          <a:p>
            <a:pPr>
              <a:defRPr/>
            </a:pPr>
            <a:endParaRPr lang="en-US">
              <a:solidFill>
                <a:srgbClr val="40458C"/>
              </a:solidFill>
              <a:ea typeface="ＭＳ Ｐゴシック" pitchFamily="-65" charset="-128"/>
            </a:endParaRPr>
          </a:p>
        </p:txBody>
      </p:sp>
      <p:sp>
        <p:nvSpPr>
          <p:cNvPr id="89096" name="Text Box 11"/>
          <p:cNvSpPr txBox="1">
            <a:spLocks noChangeArrowheads="1"/>
          </p:cNvSpPr>
          <p:nvPr/>
        </p:nvSpPr>
        <p:spPr bwMode="auto">
          <a:xfrm rot="345248">
            <a:off x="3505875" y="2319184"/>
            <a:ext cx="1794081" cy="369332"/>
          </a:xfrm>
          <a:prstGeom prst="rect">
            <a:avLst/>
          </a:prstGeom>
          <a:noFill/>
          <a:ln w="9525">
            <a:noFill/>
            <a:miter lim="800000"/>
            <a:headEnd/>
            <a:tailEnd/>
          </a:ln>
        </p:spPr>
        <p:txBody>
          <a:bodyPr wrap="none">
            <a:spAutoFit/>
          </a:bodyPr>
          <a:lstStyle/>
          <a:p>
            <a:pPr>
              <a:defRPr/>
            </a:pPr>
            <a:r>
              <a:rPr lang="en-US" dirty="0">
                <a:solidFill>
                  <a:srgbClr val="40458C"/>
                </a:solidFill>
                <a:ea typeface="ＭＳ Ｐゴシック" pitchFamily="-65" charset="-128"/>
              </a:rPr>
              <a:t>POST /</a:t>
            </a:r>
            <a:r>
              <a:rPr lang="en-US" dirty="0" err="1">
                <a:solidFill>
                  <a:srgbClr val="40458C"/>
                </a:solidFill>
                <a:ea typeface="ＭＳ Ｐゴシック" pitchFamily="-65" charset="-128"/>
              </a:rPr>
              <a:t>login.cgi</a:t>
            </a:r>
            <a:endParaRPr lang="en-US" dirty="0">
              <a:solidFill>
                <a:srgbClr val="40458C"/>
              </a:solidFill>
              <a:ea typeface="ＭＳ Ｐゴシック" pitchFamily="-65" charset="-128"/>
            </a:endParaRPr>
          </a:p>
        </p:txBody>
      </p:sp>
      <p:sp>
        <p:nvSpPr>
          <p:cNvPr id="89097" name="Line 12"/>
          <p:cNvSpPr>
            <a:spLocks noChangeShapeType="1"/>
          </p:cNvSpPr>
          <p:nvPr/>
        </p:nvSpPr>
        <p:spPr bwMode="auto">
          <a:xfrm>
            <a:off x="2690954" y="5007099"/>
            <a:ext cx="3481245" cy="393576"/>
          </a:xfrm>
          <a:prstGeom prst="line">
            <a:avLst/>
          </a:prstGeom>
          <a:noFill/>
          <a:ln w="38100">
            <a:solidFill>
              <a:schemeClr val="tx1"/>
            </a:solidFill>
            <a:round/>
            <a:headEnd/>
            <a:tailEnd type="triangle" w="med" len="med"/>
          </a:ln>
        </p:spPr>
        <p:txBody>
          <a:bodyPr anchor="ctr"/>
          <a:lstStyle/>
          <a:p>
            <a:pPr>
              <a:defRPr/>
            </a:pPr>
            <a:endParaRPr lang="en-US">
              <a:solidFill>
                <a:srgbClr val="40458C"/>
              </a:solidFill>
              <a:ea typeface="ＭＳ Ｐゴシック" pitchFamily="-65" charset="-128"/>
            </a:endParaRPr>
          </a:p>
        </p:txBody>
      </p:sp>
      <p:sp>
        <p:nvSpPr>
          <p:cNvPr id="89098" name="Line 13"/>
          <p:cNvSpPr>
            <a:spLocks noChangeShapeType="1"/>
          </p:cNvSpPr>
          <p:nvPr/>
        </p:nvSpPr>
        <p:spPr bwMode="auto">
          <a:xfrm flipH="1">
            <a:off x="2667000" y="3645024"/>
            <a:ext cx="3481245" cy="393576"/>
          </a:xfrm>
          <a:prstGeom prst="line">
            <a:avLst/>
          </a:prstGeom>
          <a:noFill/>
          <a:ln w="38100">
            <a:solidFill>
              <a:schemeClr val="tx1"/>
            </a:solidFill>
            <a:round/>
            <a:headEnd/>
            <a:tailEnd type="triangle" w="med" len="med"/>
          </a:ln>
        </p:spPr>
        <p:txBody>
          <a:bodyPr anchor="ctr"/>
          <a:lstStyle/>
          <a:p>
            <a:pPr>
              <a:defRPr/>
            </a:pPr>
            <a:endParaRPr lang="en-US">
              <a:solidFill>
                <a:srgbClr val="40458C"/>
              </a:solidFill>
              <a:ea typeface="ＭＳ Ｐゴシック" pitchFamily="-65" charset="-128"/>
            </a:endParaRPr>
          </a:p>
        </p:txBody>
      </p:sp>
      <p:sp>
        <p:nvSpPr>
          <p:cNvPr id="89099" name="Line 14"/>
          <p:cNvSpPr>
            <a:spLocks noChangeShapeType="1"/>
          </p:cNvSpPr>
          <p:nvPr/>
        </p:nvSpPr>
        <p:spPr bwMode="auto">
          <a:xfrm flipH="1">
            <a:off x="2667000" y="5812620"/>
            <a:ext cx="3505199" cy="435780"/>
          </a:xfrm>
          <a:prstGeom prst="line">
            <a:avLst/>
          </a:prstGeom>
          <a:noFill/>
          <a:ln w="38100">
            <a:solidFill>
              <a:schemeClr val="tx1"/>
            </a:solidFill>
            <a:round/>
            <a:headEnd/>
            <a:tailEnd type="triangle" w="med" len="med"/>
          </a:ln>
        </p:spPr>
        <p:txBody>
          <a:bodyPr anchor="ctr"/>
          <a:lstStyle/>
          <a:p>
            <a:pPr>
              <a:defRPr/>
            </a:pPr>
            <a:endParaRPr lang="en-US">
              <a:solidFill>
                <a:srgbClr val="40458C"/>
              </a:solidFill>
              <a:ea typeface="ＭＳ Ｐゴシック" pitchFamily="-65" charset="-128"/>
            </a:endParaRPr>
          </a:p>
        </p:txBody>
      </p:sp>
      <p:sp>
        <p:nvSpPr>
          <p:cNvPr id="89100" name="Text Box 15"/>
          <p:cNvSpPr txBox="1">
            <a:spLocks noChangeArrowheads="1"/>
          </p:cNvSpPr>
          <p:nvPr/>
        </p:nvSpPr>
        <p:spPr bwMode="auto">
          <a:xfrm rot="-321107">
            <a:off x="3009009" y="3428776"/>
            <a:ext cx="3125984" cy="369332"/>
          </a:xfrm>
          <a:prstGeom prst="rect">
            <a:avLst/>
          </a:prstGeom>
          <a:noFill/>
          <a:ln w="9525">
            <a:noFill/>
            <a:miter lim="800000"/>
            <a:headEnd/>
            <a:tailEnd/>
          </a:ln>
        </p:spPr>
        <p:txBody>
          <a:bodyPr wrap="none">
            <a:spAutoFit/>
          </a:bodyPr>
          <a:lstStyle/>
          <a:p>
            <a:pPr>
              <a:defRPr/>
            </a:pPr>
            <a:r>
              <a:rPr lang="en-US" dirty="0">
                <a:solidFill>
                  <a:srgbClr val="40458C"/>
                </a:solidFill>
                <a:ea typeface="ＭＳ Ｐゴシック" pitchFamily="-65" charset="-128"/>
              </a:rPr>
              <a:t>Set-cookie: </a:t>
            </a:r>
            <a:r>
              <a:rPr lang="en-US" dirty="0">
                <a:solidFill>
                  <a:srgbClr val="C00000"/>
                </a:solidFill>
                <a:ea typeface="ＭＳ Ｐゴシック" pitchFamily="-65" charset="-128"/>
              </a:rPr>
              <a:t>ytnm142bc258ts</a:t>
            </a:r>
          </a:p>
        </p:txBody>
      </p:sp>
      <p:sp>
        <p:nvSpPr>
          <p:cNvPr id="89101" name="Text Box 16"/>
          <p:cNvSpPr txBox="1">
            <a:spLocks noChangeArrowheads="1"/>
          </p:cNvSpPr>
          <p:nvPr/>
        </p:nvSpPr>
        <p:spPr bwMode="auto">
          <a:xfrm rot="404233">
            <a:off x="3167833" y="4622963"/>
            <a:ext cx="2849715" cy="605294"/>
          </a:xfrm>
          <a:prstGeom prst="rect">
            <a:avLst/>
          </a:prstGeom>
          <a:noFill/>
          <a:ln w="9525">
            <a:noFill/>
            <a:miter lim="800000"/>
            <a:headEnd/>
            <a:tailEnd/>
          </a:ln>
        </p:spPr>
        <p:txBody>
          <a:bodyPr wrap="square">
            <a:spAutoFit/>
          </a:bodyPr>
          <a:lstStyle/>
          <a:p>
            <a:pPr>
              <a:lnSpc>
                <a:spcPts val="2000"/>
              </a:lnSpc>
              <a:defRPr/>
            </a:pPr>
            <a:r>
              <a:rPr lang="en-US" dirty="0">
                <a:solidFill>
                  <a:srgbClr val="40458C"/>
                </a:solidFill>
                <a:ea typeface="ＭＳ Ｐゴシック" pitchFamily="-65" charset="-128"/>
              </a:rPr>
              <a:t>GET …...</a:t>
            </a:r>
          </a:p>
          <a:p>
            <a:pPr>
              <a:lnSpc>
                <a:spcPts val="2000"/>
              </a:lnSpc>
              <a:defRPr/>
            </a:pPr>
            <a:r>
              <a:rPr lang="en-US" dirty="0">
                <a:solidFill>
                  <a:srgbClr val="40458C"/>
                </a:solidFill>
                <a:ea typeface="ＭＳ Ｐゴシック" pitchFamily="-65" charset="-128"/>
              </a:rPr>
              <a:t>Cookie: </a:t>
            </a:r>
            <a:r>
              <a:rPr lang="en-US" dirty="0">
                <a:solidFill>
                  <a:srgbClr val="C00000"/>
                </a:solidFill>
                <a:ea typeface="ＭＳ Ｐゴシック" pitchFamily="-65" charset="-128"/>
              </a:rPr>
              <a:t>ytnm142bc258ts</a:t>
            </a:r>
            <a:endParaRPr lang="en-US" dirty="0">
              <a:solidFill>
                <a:srgbClr val="40458C"/>
              </a:solidFill>
              <a:ea typeface="ＭＳ Ｐゴシック" pitchFamily="-65" charset="-128"/>
            </a:endParaRPr>
          </a:p>
        </p:txBody>
      </p:sp>
      <p:sp>
        <p:nvSpPr>
          <p:cNvPr id="89102" name="Text Box 17"/>
          <p:cNvSpPr txBox="1">
            <a:spLocks noChangeArrowheads="1"/>
          </p:cNvSpPr>
          <p:nvPr/>
        </p:nvSpPr>
        <p:spPr bwMode="auto">
          <a:xfrm rot="-321107">
            <a:off x="3856038" y="5591175"/>
            <a:ext cx="1195387" cy="400050"/>
          </a:xfrm>
          <a:prstGeom prst="rect">
            <a:avLst/>
          </a:prstGeom>
          <a:noFill/>
          <a:ln w="9525">
            <a:noFill/>
            <a:miter lim="800000"/>
            <a:headEnd/>
            <a:tailEnd/>
          </a:ln>
        </p:spPr>
        <p:txBody>
          <a:bodyPr wrap="none">
            <a:spAutoFit/>
          </a:bodyPr>
          <a:lstStyle/>
          <a:p>
            <a:pPr>
              <a:defRPr/>
            </a:pPr>
            <a:r>
              <a:rPr lang="en-US">
                <a:solidFill>
                  <a:srgbClr val="40458C"/>
                </a:solidFill>
                <a:ea typeface="ＭＳ Ｐゴシック" pitchFamily="-65" charset="-128"/>
              </a:rPr>
              <a:t>response</a:t>
            </a:r>
          </a:p>
        </p:txBody>
      </p:sp>
    </p:spTree>
    <p:extLst>
      <p:ext uri="{BB962C8B-B14F-4D97-AF65-F5344CB8AC3E}">
        <p14:creationId xmlns:p14="http://schemas.microsoft.com/office/powerpoint/2010/main" val="2955179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C2325-40F3-0019-E78B-A138201B23CB}"/>
              </a:ext>
            </a:extLst>
          </p:cNvPr>
          <p:cNvSpPr>
            <a:spLocks noGrp="1"/>
          </p:cNvSpPr>
          <p:nvPr>
            <p:ph type="title"/>
          </p:nvPr>
        </p:nvSpPr>
        <p:spPr>
          <a:xfrm>
            <a:off x="1763688" y="2894243"/>
            <a:ext cx="7164288" cy="1069514"/>
          </a:xfrm>
        </p:spPr>
        <p:txBody>
          <a:bodyPr/>
          <a:lstStyle/>
          <a:p>
            <a:pPr algn="ctr"/>
            <a:r>
              <a:rPr lang="en-US" dirty="0"/>
              <a:t>Cross Site Request Forgery</a:t>
            </a:r>
          </a:p>
        </p:txBody>
      </p:sp>
    </p:spTree>
    <p:extLst>
      <p:ext uri="{BB962C8B-B14F-4D97-AF65-F5344CB8AC3E}">
        <p14:creationId xmlns:p14="http://schemas.microsoft.com/office/powerpoint/2010/main" val="3755145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pPr algn="l"/>
            <a:r>
              <a:rPr lang="en-US" dirty="0"/>
              <a:t>Cross Site Request Forgery </a:t>
            </a:r>
          </a:p>
        </p:txBody>
      </p:sp>
      <p:sp>
        <p:nvSpPr>
          <p:cNvPr id="3" name="Content Placeholder 2"/>
          <p:cNvSpPr>
            <a:spLocks noGrp="1"/>
          </p:cNvSpPr>
          <p:nvPr>
            <p:ph sz="quarter" idx="11"/>
          </p:nvPr>
        </p:nvSpPr>
        <p:spPr>
          <a:xfrm>
            <a:off x="1187624" y="1556792"/>
            <a:ext cx="6768752" cy="4100636"/>
          </a:xfrm>
        </p:spPr>
        <p:txBody>
          <a:bodyPr>
            <a:noAutofit/>
          </a:bodyPr>
          <a:lstStyle/>
          <a:p>
            <a:pPr marL="0" indent="0" algn="just">
              <a:buNone/>
            </a:pPr>
            <a:r>
              <a:rPr lang="en-US" sz="2800" dirty="0"/>
              <a:t>“Cross-Site Request Forgery (CSRF) is an attack that forces an end user to execute unwanted actions on a web application in which they’re currently authenticated. […] an attacker may trick the users of a web application into executing actions of the attacker’s choosing.”</a:t>
            </a:r>
          </a:p>
          <a:p>
            <a:pPr marL="0" indent="0" algn="r">
              <a:buNone/>
            </a:pPr>
            <a:r>
              <a:rPr lang="en-US" sz="2800" dirty="0"/>
              <a:t>OWASP</a:t>
            </a:r>
          </a:p>
          <a:p>
            <a:pPr marL="0" indent="0">
              <a:buNone/>
            </a:pPr>
            <a:endParaRPr lang="en-US" sz="2800" dirty="0"/>
          </a:p>
          <a:p>
            <a:endParaRPr lang="en-US" sz="2800" dirty="0"/>
          </a:p>
        </p:txBody>
      </p:sp>
      <p:sp>
        <p:nvSpPr>
          <p:cNvPr id="5" name="TextBox 4">
            <a:extLst>
              <a:ext uri="{FF2B5EF4-FFF2-40B4-BE49-F238E27FC236}">
                <a16:creationId xmlns:a16="http://schemas.microsoft.com/office/drawing/2014/main" id="{4E5D05EA-5FEF-E294-9CEE-FF948E314278}"/>
              </a:ext>
            </a:extLst>
          </p:cNvPr>
          <p:cNvSpPr txBox="1"/>
          <p:nvPr/>
        </p:nvSpPr>
        <p:spPr>
          <a:xfrm>
            <a:off x="683568" y="5765256"/>
            <a:ext cx="4591050" cy="461665"/>
          </a:xfrm>
          <a:prstGeom prst="rect">
            <a:avLst/>
          </a:prstGeom>
          <a:noFill/>
        </p:spPr>
        <p:txBody>
          <a:bodyPr wrap="square">
            <a:spAutoFit/>
          </a:bodyPr>
          <a:lstStyle/>
          <a:p>
            <a:pPr marL="285750" indent="-285750">
              <a:buFont typeface="Arial" panose="020B0604020202020204" pitchFamily="34" charset="0"/>
              <a:buChar char="•"/>
            </a:pPr>
            <a:r>
              <a:rPr lang="en-US" sz="2400" dirty="0"/>
              <a:t>Pronounced as “Sea-Surf”</a:t>
            </a:r>
          </a:p>
        </p:txBody>
      </p:sp>
    </p:spTree>
    <p:extLst>
      <p:ext uri="{BB962C8B-B14F-4D97-AF65-F5344CB8AC3E}">
        <p14:creationId xmlns:p14="http://schemas.microsoft.com/office/powerpoint/2010/main" val="1520826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4"/>
          <p:cNvSpPr>
            <a:spLocks noGrp="1"/>
          </p:cNvSpPr>
          <p:nvPr>
            <p:ph type="title"/>
          </p:nvPr>
        </p:nvSpPr>
        <p:spPr>
          <a:xfrm>
            <a:off x="179388" y="17463"/>
            <a:ext cx="8964612" cy="1068387"/>
          </a:xfrm>
        </p:spPr>
        <p:txBody>
          <a:bodyPr/>
          <a:lstStyle/>
          <a:p>
            <a:r>
              <a:rPr lang="en-US" dirty="0"/>
              <a:t>CSRF Attack</a:t>
            </a:r>
          </a:p>
        </p:txBody>
      </p:sp>
      <p:pic>
        <p:nvPicPr>
          <p:cNvPr id="79876" name="Picture 18" descr="toshiba_satellite_a105_s4284_laptop"/>
          <p:cNvPicPr>
            <a:picLocks noChangeAspect="1" noChangeArrowheads="1"/>
          </p:cNvPicPr>
          <p:nvPr/>
        </p:nvPicPr>
        <p:blipFill>
          <a:blip r:embed="rId2" cstate="print"/>
          <a:srcRect/>
          <a:stretch>
            <a:fillRect/>
          </a:stretch>
        </p:blipFill>
        <p:spPr bwMode="auto">
          <a:xfrm>
            <a:off x="927720" y="2921332"/>
            <a:ext cx="1436688" cy="1436687"/>
          </a:xfrm>
          <a:prstGeom prst="rect">
            <a:avLst/>
          </a:prstGeom>
          <a:noFill/>
          <a:ln w="9525">
            <a:noFill/>
            <a:miter lim="800000"/>
            <a:headEnd/>
            <a:tailEnd/>
          </a:ln>
        </p:spPr>
      </p:pic>
      <p:pic>
        <p:nvPicPr>
          <p:cNvPr id="79877" name="Picture 11" descr="CompaqAlphaServerES40"/>
          <p:cNvPicPr>
            <a:picLocks noChangeAspect="1" noChangeArrowheads="1"/>
          </p:cNvPicPr>
          <p:nvPr/>
        </p:nvPicPr>
        <p:blipFill>
          <a:blip r:embed="rId3" cstate="print"/>
          <a:srcRect/>
          <a:stretch>
            <a:fillRect/>
          </a:stretch>
        </p:blipFill>
        <p:spPr bwMode="auto">
          <a:xfrm>
            <a:off x="6114256" y="1729213"/>
            <a:ext cx="1155700" cy="1420812"/>
          </a:xfrm>
          <a:prstGeom prst="rect">
            <a:avLst/>
          </a:prstGeom>
          <a:noFill/>
          <a:ln w="9525">
            <a:noFill/>
            <a:miter lim="800000"/>
            <a:headEnd/>
            <a:tailEnd/>
          </a:ln>
        </p:spPr>
      </p:pic>
      <p:pic>
        <p:nvPicPr>
          <p:cNvPr id="79878" name="Picture 4" descr="DS15serverfront"/>
          <p:cNvPicPr>
            <a:picLocks noChangeAspect="1" noChangeArrowheads="1"/>
          </p:cNvPicPr>
          <p:nvPr/>
        </p:nvPicPr>
        <p:blipFill>
          <a:blip r:embed="rId4" cstate="print"/>
          <a:srcRect/>
          <a:stretch>
            <a:fillRect/>
          </a:stretch>
        </p:blipFill>
        <p:spPr bwMode="auto">
          <a:xfrm>
            <a:off x="5652120" y="5220032"/>
            <a:ext cx="2436813" cy="846137"/>
          </a:xfrm>
          <a:prstGeom prst="rect">
            <a:avLst/>
          </a:prstGeom>
          <a:noFill/>
          <a:ln w="9525">
            <a:noFill/>
            <a:miter lim="800000"/>
            <a:headEnd/>
            <a:tailEnd/>
          </a:ln>
        </p:spPr>
      </p:pic>
      <p:sp>
        <p:nvSpPr>
          <p:cNvPr id="90119" name="Text Box 6"/>
          <p:cNvSpPr txBox="1">
            <a:spLocks noChangeArrowheads="1"/>
          </p:cNvSpPr>
          <p:nvPr/>
        </p:nvSpPr>
        <p:spPr bwMode="auto">
          <a:xfrm>
            <a:off x="6031533" y="4839032"/>
            <a:ext cx="1931234" cy="369332"/>
          </a:xfrm>
          <a:prstGeom prst="rect">
            <a:avLst/>
          </a:prstGeom>
          <a:noFill/>
          <a:ln w="9525">
            <a:noFill/>
            <a:miter lim="800000"/>
            <a:headEnd/>
            <a:tailEnd/>
          </a:ln>
        </p:spPr>
        <p:txBody>
          <a:bodyPr wrap="none">
            <a:spAutoFit/>
          </a:bodyPr>
          <a:lstStyle/>
          <a:p>
            <a:pPr eaLnBrk="0" hangingPunct="0">
              <a:defRPr/>
            </a:pPr>
            <a:r>
              <a:rPr lang="en-US" dirty="0">
                <a:solidFill>
                  <a:srgbClr val="660066"/>
                </a:solidFill>
                <a:ea typeface="ＭＳ Ｐゴシック" pitchFamily="-65" charset="-128"/>
              </a:rPr>
              <a:t>Attacker’s Server</a:t>
            </a:r>
          </a:p>
        </p:txBody>
      </p:sp>
      <p:sp>
        <p:nvSpPr>
          <p:cNvPr id="90120" name="Text Box 6"/>
          <p:cNvSpPr txBox="1">
            <a:spLocks noChangeArrowheads="1"/>
          </p:cNvSpPr>
          <p:nvPr/>
        </p:nvSpPr>
        <p:spPr bwMode="auto">
          <a:xfrm>
            <a:off x="5890419" y="1261671"/>
            <a:ext cx="1655133" cy="369332"/>
          </a:xfrm>
          <a:prstGeom prst="rect">
            <a:avLst/>
          </a:prstGeom>
          <a:noFill/>
          <a:ln w="9525">
            <a:noFill/>
            <a:miter lim="800000"/>
            <a:headEnd/>
            <a:tailEnd/>
          </a:ln>
        </p:spPr>
        <p:txBody>
          <a:bodyPr wrap="none">
            <a:spAutoFit/>
          </a:bodyPr>
          <a:lstStyle/>
          <a:p>
            <a:pPr eaLnBrk="0" hangingPunct="0">
              <a:defRPr/>
            </a:pPr>
            <a:r>
              <a:rPr lang="en-US" dirty="0">
                <a:solidFill>
                  <a:srgbClr val="660066"/>
                </a:solidFill>
                <a:ea typeface="ＭＳ Ｐゴシック" pitchFamily="-65" charset="-128"/>
              </a:rPr>
              <a:t>Victim Server </a:t>
            </a:r>
          </a:p>
        </p:txBody>
      </p:sp>
      <p:cxnSp>
        <p:nvCxnSpPr>
          <p:cNvPr id="79881" name="Straight Arrow Connector 17"/>
          <p:cNvCxnSpPr>
            <a:cxnSpLocks noChangeShapeType="1"/>
          </p:cNvCxnSpPr>
          <p:nvPr/>
        </p:nvCxnSpPr>
        <p:spPr bwMode="auto">
          <a:xfrm flipV="1">
            <a:off x="2763044" y="2090346"/>
            <a:ext cx="2830512" cy="617538"/>
          </a:xfrm>
          <a:prstGeom prst="straightConnector1">
            <a:avLst/>
          </a:prstGeom>
          <a:noFill/>
          <a:ln w="28575" algn="ctr">
            <a:solidFill>
              <a:schemeClr val="tx1"/>
            </a:solidFill>
            <a:round/>
            <a:headEnd type="arrow" w="med" len="med"/>
            <a:tailEnd type="arrow" w="med" len="med"/>
          </a:ln>
        </p:spPr>
      </p:cxnSp>
      <p:sp>
        <p:nvSpPr>
          <p:cNvPr id="90122" name="Text Box 6"/>
          <p:cNvSpPr txBox="1">
            <a:spLocks noChangeArrowheads="1"/>
          </p:cNvSpPr>
          <p:nvPr/>
        </p:nvSpPr>
        <p:spPr bwMode="auto">
          <a:xfrm>
            <a:off x="1031825" y="4366081"/>
            <a:ext cx="1383712" cy="369332"/>
          </a:xfrm>
          <a:prstGeom prst="rect">
            <a:avLst/>
          </a:prstGeom>
          <a:noFill/>
          <a:ln w="9525">
            <a:noFill/>
            <a:miter lim="800000"/>
            <a:headEnd/>
            <a:tailEnd/>
          </a:ln>
        </p:spPr>
        <p:txBody>
          <a:bodyPr wrap="none">
            <a:spAutoFit/>
          </a:bodyPr>
          <a:lstStyle/>
          <a:p>
            <a:pPr eaLnBrk="0" hangingPunct="0">
              <a:defRPr/>
            </a:pPr>
            <a:r>
              <a:rPr lang="en-US" dirty="0">
                <a:solidFill>
                  <a:srgbClr val="660066"/>
                </a:solidFill>
                <a:ea typeface="ＭＳ Ｐゴシック" pitchFamily="-65" charset="-128"/>
              </a:rPr>
              <a:t>Victim User</a:t>
            </a:r>
          </a:p>
        </p:txBody>
      </p:sp>
      <p:sp>
        <p:nvSpPr>
          <p:cNvPr id="90123" name="TextBox 19"/>
          <p:cNvSpPr txBox="1">
            <a:spLocks noChangeArrowheads="1"/>
          </p:cNvSpPr>
          <p:nvPr/>
        </p:nvSpPr>
        <p:spPr bwMode="auto">
          <a:xfrm rot="-709076">
            <a:off x="3099594" y="1903021"/>
            <a:ext cx="2068512" cy="400050"/>
          </a:xfrm>
          <a:prstGeom prst="rect">
            <a:avLst/>
          </a:prstGeom>
          <a:noFill/>
          <a:ln w="9525">
            <a:noFill/>
            <a:miter lim="800000"/>
            <a:headEnd/>
            <a:tailEnd/>
          </a:ln>
        </p:spPr>
        <p:txBody>
          <a:bodyPr wrap="none">
            <a:spAutoFit/>
          </a:bodyPr>
          <a:lstStyle/>
          <a:p>
            <a:pPr>
              <a:defRPr/>
            </a:pPr>
            <a:r>
              <a:rPr lang="en-US">
                <a:solidFill>
                  <a:srgbClr val="40458C"/>
                </a:solidFill>
                <a:ea typeface="ＭＳ Ｐゴシック" pitchFamily="-65" charset="-128"/>
              </a:rPr>
              <a:t>establish session</a:t>
            </a:r>
          </a:p>
        </p:txBody>
      </p:sp>
      <p:cxnSp>
        <p:nvCxnSpPr>
          <p:cNvPr id="79884" name="Straight Arrow Connector 20"/>
          <p:cNvCxnSpPr>
            <a:cxnSpLocks noChangeShapeType="1"/>
          </p:cNvCxnSpPr>
          <p:nvPr/>
        </p:nvCxnSpPr>
        <p:spPr bwMode="auto">
          <a:xfrm flipH="1" flipV="1">
            <a:off x="2442993" y="4764056"/>
            <a:ext cx="2943559" cy="1006166"/>
          </a:xfrm>
          <a:prstGeom prst="straightConnector1">
            <a:avLst/>
          </a:prstGeom>
          <a:noFill/>
          <a:ln w="28575" algn="ctr">
            <a:solidFill>
              <a:schemeClr val="tx1"/>
            </a:solidFill>
            <a:round/>
            <a:headEnd/>
            <a:tailEnd type="arrow" w="med" len="med"/>
          </a:ln>
        </p:spPr>
      </p:cxnSp>
      <p:cxnSp>
        <p:nvCxnSpPr>
          <p:cNvPr id="79886" name="Straight Arrow Connector 25"/>
          <p:cNvCxnSpPr>
            <a:cxnSpLocks noChangeShapeType="1"/>
          </p:cNvCxnSpPr>
          <p:nvPr/>
        </p:nvCxnSpPr>
        <p:spPr bwMode="auto">
          <a:xfrm>
            <a:off x="2765551" y="4096082"/>
            <a:ext cx="2830512" cy="990600"/>
          </a:xfrm>
          <a:prstGeom prst="straightConnector1">
            <a:avLst/>
          </a:prstGeom>
          <a:noFill/>
          <a:ln w="28575" algn="ctr">
            <a:solidFill>
              <a:schemeClr val="tx1"/>
            </a:solidFill>
            <a:round/>
            <a:headEnd/>
            <a:tailEnd type="arrow" w="med" len="med"/>
          </a:ln>
        </p:spPr>
      </p:cxnSp>
      <p:sp>
        <p:nvSpPr>
          <p:cNvPr id="90127" name="TextBox 26"/>
          <p:cNvSpPr txBox="1">
            <a:spLocks noChangeArrowheads="1"/>
          </p:cNvSpPr>
          <p:nvPr/>
        </p:nvSpPr>
        <p:spPr bwMode="auto">
          <a:xfrm rot="1122022">
            <a:off x="3329608" y="4360678"/>
            <a:ext cx="3076575" cy="369332"/>
          </a:xfrm>
          <a:prstGeom prst="rect">
            <a:avLst/>
          </a:prstGeom>
          <a:noFill/>
          <a:ln w="9525">
            <a:noFill/>
            <a:miter lim="800000"/>
            <a:headEnd/>
            <a:tailEnd/>
          </a:ln>
        </p:spPr>
        <p:txBody>
          <a:bodyPr>
            <a:spAutoFit/>
          </a:bodyPr>
          <a:lstStyle/>
          <a:p>
            <a:pPr>
              <a:defRPr/>
            </a:pPr>
            <a:r>
              <a:rPr lang="en-US" dirty="0">
                <a:solidFill>
                  <a:srgbClr val="40458C"/>
                </a:solidFill>
                <a:ea typeface="ＭＳ Ｐゴシック" pitchFamily="-65" charset="-128"/>
              </a:rPr>
              <a:t>visit server somehow</a:t>
            </a:r>
          </a:p>
        </p:txBody>
      </p:sp>
      <p:sp>
        <p:nvSpPr>
          <p:cNvPr id="90128" name="TextBox 29"/>
          <p:cNvSpPr txBox="1">
            <a:spLocks noChangeArrowheads="1"/>
          </p:cNvSpPr>
          <p:nvPr/>
        </p:nvSpPr>
        <p:spPr bwMode="auto">
          <a:xfrm rot="1122022">
            <a:off x="2828791" y="4891110"/>
            <a:ext cx="2932113" cy="400050"/>
          </a:xfrm>
          <a:prstGeom prst="rect">
            <a:avLst/>
          </a:prstGeom>
          <a:noFill/>
          <a:ln w="9525">
            <a:noFill/>
            <a:miter lim="800000"/>
            <a:headEnd/>
            <a:tailEnd/>
          </a:ln>
        </p:spPr>
        <p:txBody>
          <a:bodyPr>
            <a:spAutoFit/>
          </a:bodyPr>
          <a:lstStyle/>
          <a:p>
            <a:pPr>
              <a:defRPr/>
            </a:pPr>
            <a:r>
              <a:rPr lang="en-US" dirty="0">
                <a:solidFill>
                  <a:srgbClr val="40458C"/>
                </a:solidFill>
                <a:ea typeface="ＭＳ Ｐゴシック" pitchFamily="-65" charset="-128"/>
              </a:rPr>
              <a:t>receive malicious page</a:t>
            </a:r>
          </a:p>
        </p:txBody>
      </p:sp>
      <p:sp>
        <p:nvSpPr>
          <p:cNvPr id="90129" name="Oval 30"/>
          <p:cNvSpPr>
            <a:spLocks noChangeArrowheads="1"/>
          </p:cNvSpPr>
          <p:nvPr/>
        </p:nvSpPr>
        <p:spPr bwMode="auto">
          <a:xfrm>
            <a:off x="2763044" y="2152297"/>
            <a:ext cx="365125" cy="365125"/>
          </a:xfrm>
          <a:prstGeom prst="ellipse">
            <a:avLst/>
          </a:prstGeom>
          <a:solidFill>
            <a:schemeClr val="bg1"/>
          </a:solidFill>
          <a:ln w="12700" algn="ctr">
            <a:solidFill>
              <a:schemeClr val="tx1"/>
            </a:solidFill>
            <a:round/>
            <a:headEnd/>
            <a:tailEnd type="triangle" w="lg" len="med"/>
          </a:ln>
        </p:spPr>
        <p:txBody>
          <a:bodyPr wrap="none" anchor="ctr"/>
          <a:lstStyle/>
          <a:p>
            <a:pPr algn="ctr">
              <a:defRPr/>
            </a:pPr>
            <a:r>
              <a:rPr lang="en-US">
                <a:solidFill>
                  <a:srgbClr val="40458C"/>
                </a:solidFill>
                <a:ea typeface="ＭＳ Ｐゴシック" pitchFamily="-65" charset="-128"/>
              </a:rPr>
              <a:t>1</a:t>
            </a:r>
          </a:p>
        </p:txBody>
      </p:sp>
      <p:sp>
        <p:nvSpPr>
          <p:cNvPr id="90130" name="Oval 31"/>
          <p:cNvSpPr>
            <a:spLocks noChangeArrowheads="1"/>
          </p:cNvSpPr>
          <p:nvPr/>
        </p:nvSpPr>
        <p:spPr bwMode="auto">
          <a:xfrm>
            <a:off x="3077195" y="3780169"/>
            <a:ext cx="365125" cy="365125"/>
          </a:xfrm>
          <a:prstGeom prst="ellipse">
            <a:avLst/>
          </a:prstGeom>
          <a:solidFill>
            <a:schemeClr val="bg1"/>
          </a:solidFill>
          <a:ln w="12700" algn="ctr">
            <a:solidFill>
              <a:schemeClr val="tx1"/>
            </a:solidFill>
            <a:round/>
            <a:headEnd/>
            <a:tailEnd type="triangle" w="lg" len="med"/>
          </a:ln>
        </p:spPr>
        <p:txBody>
          <a:bodyPr wrap="none" anchor="ctr"/>
          <a:lstStyle/>
          <a:p>
            <a:pPr algn="ctr">
              <a:defRPr/>
            </a:pPr>
            <a:r>
              <a:rPr lang="en-US">
                <a:solidFill>
                  <a:srgbClr val="40458C"/>
                </a:solidFill>
                <a:ea typeface="ＭＳ Ｐゴシック" pitchFamily="-65" charset="-128"/>
              </a:rPr>
              <a:t>2</a:t>
            </a:r>
          </a:p>
        </p:txBody>
      </p:sp>
      <p:sp>
        <p:nvSpPr>
          <p:cNvPr id="90131" name="Oval 32"/>
          <p:cNvSpPr>
            <a:spLocks noChangeArrowheads="1"/>
          </p:cNvSpPr>
          <p:nvPr/>
        </p:nvSpPr>
        <p:spPr bwMode="auto">
          <a:xfrm rot="1068865">
            <a:off x="2571199" y="4360687"/>
            <a:ext cx="365125" cy="365125"/>
          </a:xfrm>
          <a:prstGeom prst="ellipse">
            <a:avLst/>
          </a:prstGeom>
          <a:solidFill>
            <a:schemeClr val="bg1"/>
          </a:solidFill>
          <a:ln w="12700" algn="ctr">
            <a:solidFill>
              <a:schemeClr val="tx1"/>
            </a:solidFill>
            <a:round/>
            <a:headEnd/>
            <a:tailEnd type="triangle" w="lg" len="med"/>
          </a:ln>
        </p:spPr>
        <p:txBody>
          <a:bodyPr wrap="none" anchor="ctr"/>
          <a:lstStyle/>
          <a:p>
            <a:pPr algn="ctr">
              <a:defRPr/>
            </a:pPr>
            <a:r>
              <a:rPr lang="en-US">
                <a:solidFill>
                  <a:srgbClr val="40458C"/>
                </a:solidFill>
                <a:ea typeface="ＭＳ Ｐゴシック" pitchFamily="-65" charset="-128"/>
              </a:rPr>
              <a:t>3</a:t>
            </a:r>
          </a:p>
        </p:txBody>
      </p:sp>
      <p:sp>
        <p:nvSpPr>
          <p:cNvPr id="23" name="TextBox 24"/>
          <p:cNvSpPr txBox="1">
            <a:spLocks noChangeArrowheads="1"/>
          </p:cNvSpPr>
          <p:nvPr/>
        </p:nvSpPr>
        <p:spPr bwMode="auto">
          <a:xfrm rot="-743562">
            <a:off x="3133001" y="2842480"/>
            <a:ext cx="3018647" cy="338554"/>
          </a:xfrm>
          <a:prstGeom prst="rect">
            <a:avLst/>
          </a:prstGeom>
          <a:noFill/>
          <a:ln w="9525">
            <a:noFill/>
            <a:miter lim="800000"/>
            <a:headEnd/>
            <a:tailEnd/>
          </a:ln>
        </p:spPr>
        <p:txBody>
          <a:bodyPr wrap="none">
            <a:spAutoFit/>
          </a:bodyPr>
          <a:lstStyle/>
          <a:p>
            <a:pPr>
              <a:defRPr/>
            </a:pPr>
            <a:r>
              <a:rPr lang="en-US" sz="1600" dirty="0">
                <a:solidFill>
                  <a:srgbClr val="C00000"/>
                </a:solidFill>
                <a:ea typeface="ＭＳ Ｐゴシック" pitchFamily="-65" charset="-128"/>
              </a:rPr>
              <a:t>(session cookie auto included)</a:t>
            </a:r>
          </a:p>
        </p:txBody>
      </p:sp>
      <p:sp>
        <p:nvSpPr>
          <p:cNvPr id="90133" name="Oval 27"/>
          <p:cNvSpPr>
            <a:spLocks noChangeArrowheads="1"/>
          </p:cNvSpPr>
          <p:nvPr/>
        </p:nvSpPr>
        <p:spPr bwMode="auto">
          <a:xfrm>
            <a:off x="2798724" y="3020740"/>
            <a:ext cx="365125" cy="365125"/>
          </a:xfrm>
          <a:prstGeom prst="ellipse">
            <a:avLst/>
          </a:prstGeom>
          <a:solidFill>
            <a:schemeClr val="bg1"/>
          </a:solidFill>
          <a:ln w="12700" algn="ctr">
            <a:solidFill>
              <a:schemeClr val="tx1"/>
            </a:solidFill>
            <a:round/>
            <a:headEnd/>
            <a:tailEnd type="triangle" w="lg" len="med"/>
          </a:ln>
        </p:spPr>
        <p:txBody>
          <a:bodyPr wrap="none" anchor="ctr"/>
          <a:lstStyle/>
          <a:p>
            <a:pPr algn="ctr">
              <a:defRPr/>
            </a:pPr>
            <a:r>
              <a:rPr lang="en-US">
                <a:solidFill>
                  <a:srgbClr val="40458C"/>
                </a:solidFill>
                <a:ea typeface="ＭＳ Ｐゴシック" pitchFamily="-65" charset="-128"/>
              </a:rPr>
              <a:t>4</a:t>
            </a:r>
          </a:p>
        </p:txBody>
      </p:sp>
      <p:sp>
        <p:nvSpPr>
          <p:cNvPr id="90134" name="TextBox 28"/>
          <p:cNvSpPr txBox="1">
            <a:spLocks noChangeArrowheads="1"/>
          </p:cNvSpPr>
          <p:nvPr/>
        </p:nvSpPr>
        <p:spPr bwMode="auto">
          <a:xfrm>
            <a:off x="254621" y="5897524"/>
            <a:ext cx="3923679" cy="646331"/>
          </a:xfrm>
          <a:prstGeom prst="rect">
            <a:avLst/>
          </a:prstGeom>
          <a:noFill/>
          <a:ln w="9525">
            <a:noFill/>
            <a:miter lim="800000"/>
            <a:headEnd/>
            <a:tailEnd/>
          </a:ln>
        </p:spPr>
        <p:txBody>
          <a:bodyPr wrap="square">
            <a:spAutoFit/>
          </a:bodyPr>
          <a:lstStyle/>
          <a:p>
            <a:pPr latinLnBrk="0">
              <a:defRPr/>
            </a:pPr>
            <a:r>
              <a:rPr lang="en-US" dirty="0">
                <a:ea typeface="ＭＳ Ｐゴシック" pitchFamily="-65" charset="-128"/>
              </a:rPr>
              <a:t>Q: How long do you stay logged in to Gmail? Facebook? ….</a:t>
            </a:r>
          </a:p>
        </p:txBody>
      </p:sp>
      <p:cxnSp>
        <p:nvCxnSpPr>
          <p:cNvPr id="79892" name="Straight Arrow Connector 23"/>
          <p:cNvCxnSpPr>
            <a:cxnSpLocks noChangeShapeType="1"/>
          </p:cNvCxnSpPr>
          <p:nvPr/>
        </p:nvCxnSpPr>
        <p:spPr bwMode="auto">
          <a:xfrm flipV="1">
            <a:off x="2910050" y="2903822"/>
            <a:ext cx="2830513" cy="617537"/>
          </a:xfrm>
          <a:prstGeom prst="straightConnector1">
            <a:avLst/>
          </a:prstGeom>
          <a:noFill/>
          <a:ln w="28575" algn="ctr">
            <a:solidFill>
              <a:schemeClr val="tx1"/>
            </a:solidFill>
            <a:round/>
            <a:headEnd/>
            <a:tailEnd type="arrow" w="med" len="med"/>
          </a:ln>
        </p:spPr>
      </p:cxnSp>
      <p:sp>
        <p:nvSpPr>
          <p:cNvPr id="90125" name="TextBox 24"/>
          <p:cNvSpPr txBox="1">
            <a:spLocks noChangeArrowheads="1"/>
          </p:cNvSpPr>
          <p:nvPr/>
        </p:nvSpPr>
        <p:spPr bwMode="auto">
          <a:xfrm rot="-743562">
            <a:off x="3123200" y="2689202"/>
            <a:ext cx="2449512" cy="400050"/>
          </a:xfrm>
          <a:prstGeom prst="rect">
            <a:avLst/>
          </a:prstGeom>
          <a:noFill/>
          <a:ln w="9525">
            <a:noFill/>
            <a:miter lim="800000"/>
            <a:headEnd/>
            <a:tailEnd/>
          </a:ln>
        </p:spPr>
        <p:txBody>
          <a:bodyPr wrap="none">
            <a:spAutoFit/>
          </a:bodyPr>
          <a:lstStyle/>
          <a:p>
            <a:pPr>
              <a:defRPr/>
            </a:pPr>
            <a:r>
              <a:rPr lang="en-US" dirty="0">
                <a:solidFill>
                  <a:srgbClr val="40458C"/>
                </a:solidFill>
                <a:ea typeface="ＭＳ Ｐゴシック" pitchFamily="-65" charset="-128"/>
              </a:rPr>
              <a:t>send forged request</a:t>
            </a:r>
          </a:p>
        </p:txBody>
      </p:sp>
    </p:spTree>
    <p:extLst>
      <p:ext uri="{BB962C8B-B14F-4D97-AF65-F5344CB8AC3E}">
        <p14:creationId xmlns:p14="http://schemas.microsoft.com/office/powerpoint/2010/main" val="2444853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l"/>
            <a:r>
              <a:rPr lang="en-US" dirty="0"/>
              <a:t>Attack Impact and Effects</a:t>
            </a:r>
          </a:p>
        </p:txBody>
      </p:sp>
      <p:sp>
        <p:nvSpPr>
          <p:cNvPr id="3" name="Content Placeholder 2"/>
          <p:cNvSpPr>
            <a:spLocks noGrp="1"/>
          </p:cNvSpPr>
          <p:nvPr>
            <p:ph sz="quarter" idx="11"/>
          </p:nvPr>
        </p:nvSpPr>
        <p:spPr/>
        <p:txBody>
          <a:bodyPr>
            <a:noAutofit/>
          </a:bodyPr>
          <a:lstStyle/>
          <a:p>
            <a:r>
              <a:rPr lang="en-US" sz="2800" dirty="0"/>
              <a:t>The impact of a successful CSRF attack is to trigger an </a:t>
            </a:r>
            <a:r>
              <a:rPr lang="en-US" sz="2800" b="1" dirty="0"/>
              <a:t>action</a:t>
            </a:r>
            <a:r>
              <a:rPr lang="en-US" sz="2800" dirty="0"/>
              <a:t> according to victim user’s privileges. </a:t>
            </a:r>
          </a:p>
          <a:p>
            <a:pPr lvl="1" algn="just"/>
            <a:r>
              <a:rPr lang="en-US" sz="2400" dirty="0"/>
              <a:t>e.g. transfer funds, change a password, cast a vote, place an order, delete a profile etc.</a:t>
            </a:r>
          </a:p>
          <a:p>
            <a:pPr lvl="1" algn="just"/>
            <a:r>
              <a:rPr lang="en-US" sz="2400" dirty="0"/>
              <a:t>If victim is an admin user, the attack can compromise the whole application</a:t>
            </a:r>
          </a:p>
          <a:p>
            <a:r>
              <a:rPr lang="en-US" sz="2800" dirty="0"/>
              <a:t>CSRF attacks are used by an attacker to make a target system perform a function via the target's browser without knowledge of the target user.</a:t>
            </a:r>
          </a:p>
        </p:txBody>
      </p:sp>
    </p:spTree>
    <p:extLst>
      <p:ext uri="{BB962C8B-B14F-4D97-AF65-F5344CB8AC3E}">
        <p14:creationId xmlns:p14="http://schemas.microsoft.com/office/powerpoint/2010/main" val="2698362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09756-0CEE-CB15-C855-6D2E30311108}"/>
              </a:ext>
            </a:extLst>
          </p:cNvPr>
          <p:cNvSpPr>
            <a:spLocks noGrp="1"/>
          </p:cNvSpPr>
          <p:nvPr>
            <p:ph type="title"/>
          </p:nvPr>
        </p:nvSpPr>
        <p:spPr/>
        <p:txBody>
          <a:bodyPr/>
          <a:lstStyle/>
          <a:p>
            <a:r>
              <a:rPr lang="en-US" dirty="0"/>
              <a:t>Attack Prerequisites</a:t>
            </a:r>
          </a:p>
        </p:txBody>
      </p:sp>
      <p:sp>
        <p:nvSpPr>
          <p:cNvPr id="3" name="Content Placeholder 2">
            <a:extLst>
              <a:ext uri="{FF2B5EF4-FFF2-40B4-BE49-F238E27FC236}">
                <a16:creationId xmlns:a16="http://schemas.microsoft.com/office/drawing/2014/main" id="{134F0C4B-9703-C359-81F5-DA088D909FF2}"/>
              </a:ext>
            </a:extLst>
          </p:cNvPr>
          <p:cNvSpPr>
            <a:spLocks noGrp="1"/>
          </p:cNvSpPr>
          <p:nvPr>
            <p:ph sz="quarter" idx="11"/>
          </p:nvPr>
        </p:nvSpPr>
        <p:spPr/>
        <p:txBody>
          <a:bodyPr/>
          <a:lstStyle/>
          <a:p>
            <a:r>
              <a:rPr lang="en-US" sz="2800" dirty="0"/>
              <a:t>Victim is logged into </a:t>
            </a:r>
            <a:r>
              <a:rPr lang="en-US" sz="2800" u="sng" dirty="0"/>
              <a:t>vulnerablesite.com</a:t>
            </a:r>
            <a:r>
              <a:rPr lang="en-US" sz="2800" dirty="0"/>
              <a:t> in a particular browser</a:t>
            </a:r>
          </a:p>
          <a:p>
            <a:r>
              <a:rPr lang="en-US" sz="2800" u="sng" dirty="0"/>
              <a:t>vulnerablesite.com</a:t>
            </a:r>
            <a:r>
              <a:rPr lang="en-US" sz="2800" dirty="0"/>
              <a:t> accepts GET and/or POST requests for important actions</a:t>
            </a:r>
          </a:p>
          <a:p>
            <a:r>
              <a:rPr lang="en-US" sz="2800" dirty="0"/>
              <a:t>Victim loads an evil website in the same browser. That website contains attacker’s code.</a:t>
            </a:r>
          </a:p>
          <a:p>
            <a:pPr lvl="1"/>
            <a:r>
              <a:rPr lang="en-US" sz="2400" dirty="0"/>
              <a:t>How? Through social engineering, attacker tricks the victim user into visiting attacker’s evil site.</a:t>
            </a:r>
          </a:p>
        </p:txBody>
      </p:sp>
    </p:spTree>
    <p:extLst>
      <p:ext uri="{BB962C8B-B14F-4D97-AF65-F5344CB8AC3E}">
        <p14:creationId xmlns:p14="http://schemas.microsoft.com/office/powerpoint/2010/main" val="106549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Grp="1" noChangeArrowheads="1"/>
          </p:cNvSpPr>
          <p:nvPr>
            <p:ph type="title"/>
          </p:nvPr>
        </p:nvSpPr>
        <p:spPr/>
        <p:txBody>
          <a:bodyPr/>
          <a:lstStyle/>
          <a:p>
            <a:pPr algn="l" eaLnBrk="1" hangingPunct="1"/>
            <a:r>
              <a:rPr lang="en-US" dirty="0"/>
              <a:t>Attack Example</a:t>
            </a:r>
          </a:p>
        </p:txBody>
      </p:sp>
      <p:sp>
        <p:nvSpPr>
          <p:cNvPr id="3" name="Content Placeholder 2"/>
          <p:cNvSpPr>
            <a:spLocks noGrp="1"/>
          </p:cNvSpPr>
          <p:nvPr>
            <p:ph sz="quarter" idx="11"/>
          </p:nvPr>
        </p:nvSpPr>
        <p:spPr>
          <a:xfrm>
            <a:off x="467544" y="1560612"/>
            <a:ext cx="8332224" cy="4676700"/>
          </a:xfrm>
        </p:spPr>
        <p:txBody>
          <a:bodyPr>
            <a:noAutofit/>
          </a:bodyPr>
          <a:lstStyle/>
          <a:p>
            <a:pPr>
              <a:defRPr/>
            </a:pPr>
            <a:r>
              <a:rPr lang="en-US" sz="2800" dirty="0"/>
              <a:t>User logs in to </a:t>
            </a:r>
            <a:r>
              <a:rPr lang="en-US" sz="2800" dirty="0">
                <a:solidFill>
                  <a:schemeClr val="accent6">
                    <a:lumMod val="50000"/>
                  </a:schemeClr>
                </a:solidFill>
              </a:rPr>
              <a:t>bank.com</a:t>
            </a:r>
          </a:p>
          <a:p>
            <a:pPr lvl="1">
              <a:defRPr/>
            </a:pPr>
            <a:r>
              <a:rPr lang="en-US" sz="2400" dirty="0"/>
              <a:t>Session cookie remains in browser state</a:t>
            </a:r>
          </a:p>
          <a:p>
            <a:pPr>
              <a:defRPr/>
            </a:pPr>
            <a:r>
              <a:rPr lang="en-US" sz="2800" dirty="0"/>
              <a:t>User visits </a:t>
            </a:r>
            <a:r>
              <a:rPr lang="en-US" sz="2800" dirty="0">
                <a:solidFill>
                  <a:srgbClr val="FF0000"/>
                </a:solidFill>
              </a:rPr>
              <a:t>attacker.com</a:t>
            </a:r>
            <a:r>
              <a:rPr lang="en-US" sz="2800" dirty="0"/>
              <a:t>, that webpage contains:</a:t>
            </a:r>
          </a:p>
          <a:p>
            <a:pPr>
              <a:defRPr/>
            </a:pPr>
            <a:endParaRPr lang="en-US" sz="2800" dirty="0"/>
          </a:p>
          <a:p>
            <a:pPr>
              <a:defRPr/>
            </a:pPr>
            <a:endParaRPr lang="en-US" sz="2800" dirty="0"/>
          </a:p>
          <a:p>
            <a:pPr>
              <a:defRPr/>
            </a:pPr>
            <a:endParaRPr lang="en-US" sz="2800" dirty="0"/>
          </a:p>
          <a:p>
            <a:pPr lvl="1">
              <a:defRPr/>
            </a:pPr>
            <a:endParaRPr lang="en-US" sz="2400" dirty="0"/>
          </a:p>
          <a:p>
            <a:pPr lvl="1">
              <a:defRPr/>
            </a:pPr>
            <a:r>
              <a:rPr lang="en-US" sz="2400" dirty="0"/>
              <a:t>Form is auto submitted (due to </a:t>
            </a:r>
            <a:r>
              <a:rPr lang="en-US" sz="2400" dirty="0" err="1"/>
              <a:t>js</a:t>
            </a:r>
            <a:r>
              <a:rPr lang="en-US" sz="2400" dirty="0"/>
              <a:t> </a:t>
            </a:r>
            <a:r>
              <a:rPr lang="en-US" sz="2400" dirty="0">
                <a:latin typeface="Consolas" panose="020B0609020204030204" pitchFamily="49" charset="0"/>
              </a:rPr>
              <a:t>submit</a:t>
            </a:r>
            <a:r>
              <a:rPr lang="en-US" sz="2400" dirty="0"/>
              <a:t> call), browser sends session cookie with request</a:t>
            </a:r>
          </a:p>
          <a:p>
            <a:pPr lvl="1">
              <a:defRPr/>
            </a:pPr>
            <a:r>
              <a:rPr lang="en-US" sz="2400" dirty="0"/>
              <a:t>Transaction will be fulfilled</a:t>
            </a:r>
          </a:p>
          <a:p>
            <a:endParaRPr lang="en-US" sz="2800" dirty="0"/>
          </a:p>
        </p:txBody>
      </p:sp>
      <p:sp>
        <p:nvSpPr>
          <p:cNvPr id="2" name="TextBox 1">
            <a:extLst>
              <a:ext uri="{FF2B5EF4-FFF2-40B4-BE49-F238E27FC236}">
                <a16:creationId xmlns:a16="http://schemas.microsoft.com/office/drawing/2014/main" id="{9C7E6B64-A492-199D-277F-09E3B64B0527}"/>
              </a:ext>
            </a:extLst>
          </p:cNvPr>
          <p:cNvSpPr txBox="1"/>
          <p:nvPr/>
        </p:nvSpPr>
        <p:spPr>
          <a:xfrm>
            <a:off x="539552" y="3140968"/>
            <a:ext cx="8332225" cy="1631216"/>
          </a:xfrm>
          <a:prstGeom prst="rect">
            <a:avLst/>
          </a:prstGeom>
          <a:solidFill>
            <a:schemeClr val="accent2">
              <a:lumMod val="20000"/>
              <a:lumOff val="80000"/>
            </a:schemeClr>
          </a:solidFill>
        </p:spPr>
        <p:txBody>
          <a:bodyPr wrap="square" rtlCol="0">
            <a:spAutoFit/>
          </a:bodyPr>
          <a:lstStyle/>
          <a:p>
            <a:pPr>
              <a:buNone/>
              <a:defRPr/>
            </a:pPr>
            <a:r>
              <a:rPr lang="en-US" sz="2000" dirty="0">
                <a:solidFill>
                  <a:schemeClr val="accent5">
                    <a:lumMod val="25000"/>
                  </a:schemeClr>
                </a:solidFill>
                <a:latin typeface="Consolas" panose="020B0609020204030204" pitchFamily="49" charset="0"/>
              </a:rPr>
              <a:t>&lt;form name="F" action="http://bank.com/</a:t>
            </a:r>
            <a:r>
              <a:rPr lang="en-US" sz="2000" dirty="0" err="1">
                <a:solidFill>
                  <a:schemeClr val="accent5">
                    <a:lumMod val="25000"/>
                  </a:schemeClr>
                </a:solidFill>
                <a:latin typeface="Consolas" panose="020B0609020204030204" pitchFamily="49" charset="0"/>
              </a:rPr>
              <a:t>transfer.php</a:t>
            </a:r>
            <a:r>
              <a:rPr lang="en-US" sz="2000" dirty="0">
                <a:solidFill>
                  <a:schemeClr val="accent5">
                    <a:lumMod val="25000"/>
                  </a:schemeClr>
                </a:solidFill>
                <a:latin typeface="Consolas" panose="020B0609020204030204" pitchFamily="49" charset="0"/>
              </a:rPr>
              <a:t>"&gt;</a:t>
            </a:r>
          </a:p>
          <a:p>
            <a:pPr>
              <a:buNone/>
              <a:defRPr/>
            </a:pPr>
            <a:r>
              <a:rPr lang="en-US" sz="2000" dirty="0">
                <a:solidFill>
                  <a:schemeClr val="accent5">
                    <a:lumMod val="25000"/>
                  </a:schemeClr>
                </a:solidFill>
                <a:latin typeface="Consolas" panose="020B0609020204030204" pitchFamily="49" charset="0"/>
              </a:rPr>
              <a:t>  &lt;input name="recipient" value="</a:t>
            </a:r>
            <a:r>
              <a:rPr lang="en-US" sz="2000" dirty="0">
                <a:solidFill>
                  <a:srgbClr val="FF0000"/>
                </a:solidFill>
                <a:latin typeface="Consolas" panose="020B0609020204030204" pitchFamily="49" charset="0"/>
              </a:rPr>
              <a:t>(attacker’s account #)</a:t>
            </a:r>
            <a:r>
              <a:rPr lang="en-US" sz="2000" dirty="0">
                <a:solidFill>
                  <a:schemeClr val="accent5">
                    <a:lumMod val="25000"/>
                  </a:schemeClr>
                </a:solidFill>
                <a:latin typeface="Consolas" panose="020B0609020204030204" pitchFamily="49" charset="0"/>
              </a:rPr>
              <a:t>"&gt;</a:t>
            </a:r>
          </a:p>
          <a:p>
            <a:pPr>
              <a:buNone/>
              <a:defRPr/>
            </a:pPr>
            <a:r>
              <a:rPr lang="en-US" sz="2000" dirty="0">
                <a:solidFill>
                  <a:schemeClr val="accent5">
                    <a:lumMod val="25000"/>
                  </a:schemeClr>
                </a:solidFill>
                <a:latin typeface="Consolas" panose="020B0609020204030204" pitchFamily="49" charset="0"/>
              </a:rPr>
              <a:t>  &lt;input name="amount" value="</a:t>
            </a:r>
            <a:r>
              <a:rPr lang="en-US" sz="2000" dirty="0">
                <a:solidFill>
                  <a:srgbClr val="FF0000"/>
                </a:solidFill>
                <a:latin typeface="Consolas" panose="020B0609020204030204" pitchFamily="49" charset="0"/>
              </a:rPr>
              <a:t>$1000</a:t>
            </a:r>
            <a:r>
              <a:rPr lang="en-US" sz="2000" dirty="0">
                <a:solidFill>
                  <a:schemeClr val="accent5">
                    <a:lumMod val="25000"/>
                  </a:schemeClr>
                </a:solidFill>
                <a:latin typeface="Consolas" panose="020B0609020204030204" pitchFamily="49" charset="0"/>
              </a:rPr>
              <a:t>"&gt;</a:t>
            </a:r>
          </a:p>
          <a:p>
            <a:pPr>
              <a:buNone/>
              <a:defRPr/>
            </a:pPr>
            <a:r>
              <a:rPr lang="en-US" sz="2000" dirty="0">
                <a:solidFill>
                  <a:schemeClr val="accent5">
                    <a:lumMod val="25000"/>
                  </a:schemeClr>
                </a:solidFill>
                <a:latin typeface="Consolas" panose="020B0609020204030204" pitchFamily="49" charset="0"/>
              </a:rPr>
              <a:t>&lt;/form&gt;</a:t>
            </a:r>
          </a:p>
          <a:p>
            <a:pPr>
              <a:buNone/>
              <a:defRPr/>
            </a:pPr>
            <a:r>
              <a:rPr lang="en-US" sz="2000" dirty="0">
                <a:solidFill>
                  <a:schemeClr val="accent5">
                    <a:lumMod val="25000"/>
                  </a:schemeClr>
                </a:solidFill>
                <a:latin typeface="Consolas" panose="020B0609020204030204" pitchFamily="49" charset="0"/>
              </a:rPr>
              <a:t>&lt;script&gt; </a:t>
            </a:r>
            <a:r>
              <a:rPr lang="en-US" sz="2000" dirty="0" err="1">
                <a:solidFill>
                  <a:schemeClr val="accent5">
                    <a:lumMod val="25000"/>
                  </a:schemeClr>
                </a:solidFill>
                <a:latin typeface="Consolas" panose="020B0609020204030204" pitchFamily="49" charset="0"/>
              </a:rPr>
              <a:t>document.F.submit</a:t>
            </a:r>
            <a:r>
              <a:rPr lang="en-US" sz="2000" dirty="0">
                <a:solidFill>
                  <a:schemeClr val="accent5">
                    <a:lumMod val="25000"/>
                  </a:schemeClr>
                </a:solidFill>
                <a:latin typeface="Consolas" panose="020B0609020204030204" pitchFamily="49" charset="0"/>
              </a:rPr>
              <a:t>(); &lt;/script&gt; </a:t>
            </a:r>
            <a:endParaRPr lang="en-US" sz="2000" dirty="0">
              <a:latin typeface="Consolas" panose="020B0609020204030204" pitchFamily="49" charset="0"/>
            </a:endParaRPr>
          </a:p>
        </p:txBody>
      </p:sp>
    </p:spTree>
    <p:extLst>
      <p:ext uri="{BB962C8B-B14F-4D97-AF65-F5344CB8AC3E}">
        <p14:creationId xmlns:p14="http://schemas.microsoft.com/office/powerpoint/2010/main" val="584751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7"/>
          <p:cNvGrpSpPr>
            <a:grpSpLocks/>
          </p:cNvGrpSpPr>
          <p:nvPr/>
        </p:nvGrpSpPr>
        <p:grpSpPr bwMode="auto">
          <a:xfrm>
            <a:off x="4065588" y="3985164"/>
            <a:ext cx="2590800" cy="2365374"/>
            <a:chOff x="4191000" y="4267201"/>
            <a:chExt cx="2590800" cy="2365374"/>
          </a:xfrm>
        </p:grpSpPr>
        <p:sp>
          <p:nvSpPr>
            <p:cNvPr id="6" name="TextBox 5"/>
            <p:cNvSpPr txBox="1">
              <a:spLocks noChangeArrowheads="1"/>
            </p:cNvSpPr>
            <p:nvPr/>
          </p:nvSpPr>
          <p:spPr bwMode="auto">
            <a:xfrm>
              <a:off x="4191000" y="6232525"/>
              <a:ext cx="1992313" cy="400050"/>
            </a:xfrm>
            <a:prstGeom prst="rect">
              <a:avLst/>
            </a:prstGeom>
            <a:noFill/>
            <a:ln w="9525">
              <a:noFill/>
              <a:miter lim="800000"/>
              <a:headEnd/>
              <a:tailEnd/>
            </a:ln>
          </p:spPr>
          <p:txBody>
            <a:bodyPr wrap="none" lIns="91439" tIns="45719" rIns="91439" bIns="45719">
              <a:spAutoFit/>
            </a:bodyPr>
            <a:lstStyle/>
            <a:p>
              <a:pPr>
                <a:defRPr/>
              </a:pPr>
              <a:r>
                <a:rPr lang="en-US">
                  <a:solidFill>
                    <a:srgbClr val="40458C">
                      <a:lumMod val="50000"/>
                    </a:srgbClr>
                  </a:solidFill>
                  <a:latin typeface="Tahoma" pitchFamily="-65" charset="0"/>
                  <a:ea typeface="ＭＳ Ｐゴシック" pitchFamily="-65" charset="-128"/>
                </a:rPr>
                <a:t>User credentials</a:t>
              </a:r>
            </a:p>
          </p:txBody>
        </p:sp>
        <p:sp>
          <p:nvSpPr>
            <p:cNvPr id="7" name="Oval 6"/>
            <p:cNvSpPr/>
            <p:nvPr/>
          </p:nvSpPr>
          <p:spPr>
            <a:xfrm>
              <a:off x="4479925" y="4267201"/>
              <a:ext cx="2301875" cy="239712"/>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anchor="ctr"/>
            <a:lstStyle/>
            <a:p>
              <a:pPr>
                <a:defRPr/>
              </a:pPr>
              <a:endParaRPr lang="en-US">
                <a:solidFill>
                  <a:srgbClr val="40458C">
                    <a:lumMod val="50000"/>
                  </a:srgbClr>
                </a:solidFill>
                <a:ea typeface="ＭＳ Ｐゴシック" pitchFamily="-65" charset="-128"/>
              </a:endParaRPr>
            </a:p>
          </p:txBody>
        </p:sp>
        <p:cxnSp>
          <p:nvCxnSpPr>
            <p:cNvPr id="8" name="Straight Arrow Connector 7"/>
            <p:cNvCxnSpPr>
              <a:endCxn id="7" idx="4"/>
            </p:cNvCxnSpPr>
            <p:nvPr/>
          </p:nvCxnSpPr>
          <p:spPr>
            <a:xfrm flipV="1">
              <a:off x="5089525" y="4506913"/>
              <a:ext cx="541338" cy="172561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915" y="1436016"/>
            <a:ext cx="7046169" cy="5338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5"/>
          <p:cNvSpPr>
            <a:spLocks noGrp="1" noChangeArrowheads="1"/>
          </p:cNvSpPr>
          <p:nvPr>
            <p:ph type="title"/>
          </p:nvPr>
        </p:nvSpPr>
        <p:spPr/>
        <p:txBody>
          <a:bodyPr/>
          <a:lstStyle/>
          <a:p>
            <a:pPr algn="l" eaLnBrk="1" hangingPunct="1"/>
            <a:r>
              <a:rPr lang="en-US" dirty="0"/>
              <a:t>Attack Example</a:t>
            </a:r>
          </a:p>
        </p:txBody>
      </p:sp>
      <p:sp>
        <p:nvSpPr>
          <p:cNvPr id="2" name="Rectangle: Rounded Corners 1">
            <a:extLst>
              <a:ext uri="{FF2B5EF4-FFF2-40B4-BE49-F238E27FC236}">
                <a16:creationId xmlns:a16="http://schemas.microsoft.com/office/drawing/2014/main" id="{FBFD6819-490D-3812-5151-01C9826D5F28}"/>
              </a:ext>
            </a:extLst>
          </p:cNvPr>
          <p:cNvSpPr/>
          <p:nvPr/>
        </p:nvSpPr>
        <p:spPr>
          <a:xfrm>
            <a:off x="4788024" y="1805422"/>
            <a:ext cx="2627785" cy="348055"/>
          </a:xfrm>
          <a:prstGeom prst="round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dirty="0">
                <a:solidFill>
                  <a:srgbClr val="FF0000"/>
                </a:solidFill>
                <a:latin typeface="Arial Narrow" panose="020B0606020202030204" pitchFamily="34" charset="0"/>
              </a:rPr>
              <a:t>Session already established</a:t>
            </a:r>
          </a:p>
        </p:txBody>
      </p:sp>
    </p:spTree>
    <p:extLst>
      <p:ext uri="{BB962C8B-B14F-4D97-AF65-F5344CB8AC3E}">
        <p14:creationId xmlns:p14="http://schemas.microsoft.com/office/powerpoint/2010/main" val="184123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529FF-2ABB-D2A4-4A4D-3C2B784C63ED}"/>
              </a:ext>
            </a:extLst>
          </p:cNvPr>
          <p:cNvSpPr>
            <a:spLocks noGrp="1"/>
          </p:cNvSpPr>
          <p:nvPr>
            <p:ph type="title"/>
          </p:nvPr>
        </p:nvSpPr>
        <p:spPr/>
        <p:txBody>
          <a:bodyPr/>
          <a:lstStyle/>
          <a:p>
            <a:r>
              <a:rPr lang="en-US" dirty="0"/>
              <a:t>Attack via GET Requests</a:t>
            </a:r>
          </a:p>
        </p:txBody>
      </p:sp>
      <p:sp>
        <p:nvSpPr>
          <p:cNvPr id="3" name="Content Placeholder 2">
            <a:extLst>
              <a:ext uri="{FF2B5EF4-FFF2-40B4-BE49-F238E27FC236}">
                <a16:creationId xmlns:a16="http://schemas.microsoft.com/office/drawing/2014/main" id="{1A7E829D-3CB1-CC49-5819-4850F2013758}"/>
              </a:ext>
            </a:extLst>
          </p:cNvPr>
          <p:cNvSpPr>
            <a:spLocks noGrp="1"/>
          </p:cNvSpPr>
          <p:nvPr>
            <p:ph sz="quarter" idx="11"/>
          </p:nvPr>
        </p:nvSpPr>
        <p:spPr/>
        <p:txBody>
          <a:bodyPr/>
          <a:lstStyle/>
          <a:p>
            <a:pPr latinLnBrk="1"/>
            <a:r>
              <a:rPr lang="en-US" sz="2400" dirty="0"/>
              <a:t>Attacker causes victim to load</a:t>
            </a:r>
          </a:p>
          <a:p>
            <a:pPr marL="0" indent="0" latinLnBrk="1">
              <a:buNone/>
            </a:pPr>
            <a:r>
              <a:rPr lang="en-US" sz="2400" u="sng" dirty="0"/>
              <a:t>https://www.bank.com/transfer.php?amount=</a:t>
            </a:r>
            <a:r>
              <a:rPr lang="en-US" sz="2400" u="sng" dirty="0">
                <a:solidFill>
                  <a:srgbClr val="0070C0"/>
                </a:solidFill>
              </a:rPr>
              <a:t>100000000</a:t>
            </a:r>
            <a:r>
              <a:rPr lang="en-US" sz="2400" u="sng" dirty="0"/>
              <a:t>&amp;recipient=</a:t>
            </a:r>
            <a:r>
              <a:rPr lang="en-US" sz="2400" u="sng" dirty="0">
                <a:solidFill>
                  <a:srgbClr val="0070C0"/>
                </a:solidFill>
              </a:rPr>
              <a:t>attacker</a:t>
            </a:r>
          </a:p>
          <a:p>
            <a:pPr latinLnBrk="1"/>
            <a:endParaRPr lang="en-US" sz="2400" dirty="0"/>
          </a:p>
          <a:p>
            <a:pPr marL="0" indent="0" latinLnBrk="1">
              <a:buNone/>
            </a:pPr>
            <a:r>
              <a:rPr lang="en-US" sz="2400" dirty="0"/>
              <a:t>How?</a:t>
            </a:r>
          </a:p>
          <a:p>
            <a:pPr latinLnBrk="1"/>
            <a:r>
              <a:rPr lang="en-US" sz="2400" dirty="0"/>
              <a:t>On attacker.com have a hyperlink:</a:t>
            </a:r>
          </a:p>
          <a:p>
            <a:pPr marL="0" indent="0" algn="ctr" latinLnBrk="1">
              <a:buNone/>
            </a:pPr>
            <a:r>
              <a:rPr lang="en-US" sz="2400" dirty="0">
                <a:solidFill>
                  <a:srgbClr val="FF0000"/>
                </a:solidFill>
                <a:latin typeface="Consolas" panose="020B0609020204030204" pitchFamily="49" charset="0"/>
              </a:rPr>
              <a:t>&lt;a </a:t>
            </a:r>
            <a:r>
              <a:rPr lang="en-US" sz="2400" dirty="0" err="1">
                <a:solidFill>
                  <a:srgbClr val="FF0000"/>
                </a:solidFill>
                <a:latin typeface="Consolas" panose="020B0609020204030204" pitchFamily="49" charset="0"/>
              </a:rPr>
              <a:t>href</a:t>
            </a:r>
            <a:r>
              <a:rPr lang="en-US" sz="2400" dirty="0">
                <a:solidFill>
                  <a:srgbClr val="FF0000"/>
                </a:solidFill>
                <a:latin typeface="Consolas" panose="020B0609020204030204" pitchFamily="49" charset="0"/>
              </a:rPr>
              <a:t>="URL"&gt;Cat photos&lt;/a&gt;</a:t>
            </a:r>
          </a:p>
          <a:p>
            <a:pPr latinLnBrk="1"/>
            <a:r>
              <a:rPr lang="en-US" sz="2400" dirty="0"/>
              <a:t>Send an HTML-formatted email with image:</a:t>
            </a:r>
          </a:p>
          <a:p>
            <a:pPr marL="0" indent="0" algn="ctr" latinLnBrk="1">
              <a:buNone/>
            </a:pPr>
            <a:r>
              <a:rPr lang="en-US" sz="2400" dirty="0">
                <a:solidFill>
                  <a:srgbClr val="FF0000"/>
                </a:solidFill>
                <a:latin typeface="Consolas" panose="020B0609020204030204" pitchFamily="49" charset="0"/>
              </a:rPr>
              <a:t>&lt;</a:t>
            </a:r>
            <a:r>
              <a:rPr lang="en-US" sz="2400" dirty="0" err="1">
                <a:solidFill>
                  <a:srgbClr val="FF0000"/>
                </a:solidFill>
                <a:latin typeface="Consolas" panose="020B0609020204030204" pitchFamily="49" charset="0"/>
              </a:rPr>
              <a:t>img</a:t>
            </a:r>
            <a:r>
              <a:rPr lang="en-US" sz="2400" dirty="0">
                <a:solidFill>
                  <a:srgbClr val="FF0000"/>
                </a:solidFill>
                <a:latin typeface="Consolas" panose="020B0609020204030204" pitchFamily="49" charset="0"/>
              </a:rPr>
              <a:t> </a:t>
            </a:r>
            <a:r>
              <a:rPr lang="en-US" sz="2400" dirty="0" err="1">
                <a:solidFill>
                  <a:srgbClr val="FF0000"/>
                </a:solidFill>
                <a:latin typeface="Consolas" panose="020B0609020204030204" pitchFamily="49" charset="0"/>
              </a:rPr>
              <a:t>src</a:t>
            </a:r>
            <a:r>
              <a:rPr lang="en-US" sz="2400" dirty="0">
                <a:solidFill>
                  <a:srgbClr val="FF0000"/>
                </a:solidFill>
                <a:latin typeface="Consolas" panose="020B0609020204030204" pitchFamily="49" charset="0"/>
              </a:rPr>
              <a:t>="URL"&gt;</a:t>
            </a:r>
          </a:p>
          <a:p>
            <a:pPr latinLnBrk="1"/>
            <a:r>
              <a:rPr lang="en-US" sz="2400" dirty="0"/>
              <a:t>etc.</a:t>
            </a:r>
          </a:p>
        </p:txBody>
      </p:sp>
    </p:spTree>
    <p:extLst>
      <p:ext uri="{BB962C8B-B14F-4D97-AF65-F5344CB8AC3E}">
        <p14:creationId xmlns:p14="http://schemas.microsoft.com/office/powerpoint/2010/main" val="2424227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Real Life Scenarios</a:t>
            </a:r>
          </a:p>
        </p:txBody>
      </p:sp>
      <p:sp>
        <p:nvSpPr>
          <p:cNvPr id="3" name="Content Placeholder 2"/>
          <p:cNvSpPr>
            <a:spLocks noGrp="1"/>
          </p:cNvSpPr>
          <p:nvPr>
            <p:ph sz="quarter" idx="11"/>
          </p:nvPr>
        </p:nvSpPr>
        <p:spPr/>
        <p:txBody>
          <a:bodyPr>
            <a:noAutofit/>
          </a:bodyPr>
          <a:lstStyle/>
          <a:p>
            <a:r>
              <a:rPr lang="en-US" sz="2400" dirty="0"/>
              <a:t>CSRF vulnerabilities have been known and in some cases exploited since </a:t>
            </a:r>
            <a:r>
              <a:rPr lang="en-US" sz="2400" dirty="0">
                <a:solidFill>
                  <a:srgbClr val="FF0000"/>
                </a:solidFill>
              </a:rPr>
              <a:t>2001</a:t>
            </a:r>
            <a:r>
              <a:rPr lang="en-US" sz="2400" dirty="0"/>
              <a:t>. Because it is carried out from the user’s IP address, some website logs might not have evidence of CSRF. Exploits are under-reported.</a:t>
            </a:r>
            <a:endParaRPr lang="en-US" sz="2000" dirty="0"/>
          </a:p>
          <a:p>
            <a:r>
              <a:rPr lang="en-US" sz="2400" dirty="0"/>
              <a:t>The </a:t>
            </a:r>
            <a:r>
              <a:rPr lang="en-US" sz="2400" b="1" dirty="0"/>
              <a:t>Netflix</a:t>
            </a:r>
            <a:r>
              <a:rPr lang="en-US" sz="2400" dirty="0"/>
              <a:t> website in 2006 had numerous vulnerabilities to CSRF, which could have allowed an attacker to perform actions such as adding a DVD to the victim’s rental queue, changing the shipping address on the account, or altering the victim's login credentials to fully compromise the account.</a:t>
            </a:r>
          </a:p>
        </p:txBody>
      </p:sp>
    </p:spTree>
    <p:extLst>
      <p:ext uri="{BB962C8B-B14F-4D97-AF65-F5344CB8AC3E}">
        <p14:creationId xmlns:p14="http://schemas.microsoft.com/office/powerpoint/2010/main" val="4057795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Real Life Scenarios</a:t>
            </a:r>
          </a:p>
        </p:txBody>
      </p:sp>
      <p:sp>
        <p:nvSpPr>
          <p:cNvPr id="3" name="Content Placeholder 2"/>
          <p:cNvSpPr>
            <a:spLocks noGrp="1"/>
          </p:cNvSpPr>
          <p:nvPr>
            <p:ph sz="quarter" idx="11"/>
          </p:nvPr>
        </p:nvSpPr>
        <p:spPr/>
        <p:txBody>
          <a:bodyPr>
            <a:noAutofit/>
          </a:bodyPr>
          <a:lstStyle/>
          <a:p>
            <a:r>
              <a:rPr lang="en-US" sz="2400" dirty="0"/>
              <a:t>The online banking web application of </a:t>
            </a:r>
            <a:r>
              <a:rPr lang="en-US" sz="2400" b="1" dirty="0"/>
              <a:t>ING Direct </a:t>
            </a:r>
            <a:r>
              <a:rPr lang="en-US" sz="2400" dirty="0"/>
              <a:t>was vulnerable to a CSRF attack that allowed illicit money transfers.</a:t>
            </a:r>
          </a:p>
          <a:p>
            <a:r>
              <a:rPr lang="en-US" sz="2400" dirty="0"/>
              <a:t>Popular video website </a:t>
            </a:r>
            <a:r>
              <a:rPr lang="en-US" sz="2400" b="1" dirty="0"/>
              <a:t>YouTube</a:t>
            </a:r>
            <a:r>
              <a:rPr lang="en-US" sz="2400" dirty="0"/>
              <a:t> was also vulnerable to CSRF in 2008 and this allowed any attacker to perform nearly all actions of any user (edit favorites, report videos as inappropriate, share a video, subscribe to a channel etc.).</a:t>
            </a:r>
          </a:p>
          <a:p>
            <a:r>
              <a:rPr lang="en-US" sz="2400" b="1" dirty="0"/>
              <a:t>McAfee</a:t>
            </a:r>
            <a:r>
              <a:rPr lang="en-US" sz="2400" dirty="0"/>
              <a:t> was also vulnerable to CSRF and it allowed attackers to change their company system.</a:t>
            </a:r>
          </a:p>
          <a:p>
            <a:endParaRPr lang="en-US" sz="2400" dirty="0"/>
          </a:p>
        </p:txBody>
      </p:sp>
    </p:spTree>
    <p:extLst>
      <p:ext uri="{BB962C8B-B14F-4D97-AF65-F5344CB8AC3E}">
        <p14:creationId xmlns:p14="http://schemas.microsoft.com/office/powerpoint/2010/main" val="1546888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CSRF vulnerable websites</a:t>
            </a:r>
          </a:p>
        </p:txBody>
      </p:sp>
      <p:sp>
        <p:nvSpPr>
          <p:cNvPr id="3" name="Content Placeholder 2"/>
          <p:cNvSpPr>
            <a:spLocks noGrp="1"/>
          </p:cNvSpPr>
          <p:nvPr>
            <p:ph sz="quarter" idx="11"/>
          </p:nvPr>
        </p:nvSpPr>
        <p:spPr/>
        <p:txBody>
          <a:bodyPr/>
          <a:lstStyle/>
          <a:p>
            <a:r>
              <a:rPr lang="en-US" dirty="0"/>
              <a:t>What web applications are at risk?</a:t>
            </a:r>
          </a:p>
          <a:p>
            <a:pPr lvl="1"/>
            <a:r>
              <a:rPr lang="en-US" dirty="0"/>
              <a:t>Any applications that performs an action based on input from authenticated users, without requiring the user to authorize that specific action.</a:t>
            </a:r>
          </a:p>
          <a:p>
            <a:pPr lvl="1"/>
            <a:r>
              <a:rPr lang="en-US" dirty="0"/>
              <a:t>A user who is authenticated by a cookie saved in the user’s web browser could unknowingly send an HTTP request to a site that trusts the user and thereby causes an unwanted action.</a:t>
            </a:r>
          </a:p>
        </p:txBody>
      </p:sp>
    </p:spTree>
    <p:extLst>
      <p:ext uri="{BB962C8B-B14F-4D97-AF65-F5344CB8AC3E}">
        <p14:creationId xmlns:p14="http://schemas.microsoft.com/office/powerpoint/2010/main" val="4044716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Defenses - STP</a:t>
            </a:r>
          </a:p>
        </p:txBody>
      </p:sp>
      <p:sp>
        <p:nvSpPr>
          <p:cNvPr id="3" name="Content Placeholder 2"/>
          <p:cNvSpPr>
            <a:spLocks noGrp="1"/>
          </p:cNvSpPr>
          <p:nvPr>
            <p:ph sz="quarter" idx="11"/>
          </p:nvPr>
        </p:nvSpPr>
        <p:spPr/>
        <p:txBody>
          <a:bodyPr>
            <a:noAutofit/>
          </a:bodyPr>
          <a:lstStyle/>
          <a:p>
            <a:pPr marL="0" indent="0">
              <a:buNone/>
            </a:pPr>
            <a:r>
              <a:rPr lang="en-US" sz="2800" b="1" dirty="0"/>
              <a:t>Synchronization (Secret) Token Pattern</a:t>
            </a:r>
          </a:p>
          <a:p>
            <a:r>
              <a:rPr lang="en-US" sz="2800" dirty="0"/>
              <a:t>STP is a validation technique where a token, secret and unique value for each request, is embedded by the web application in all HTML forms and verified on the server side. </a:t>
            </a:r>
          </a:p>
          <a:p>
            <a:r>
              <a:rPr lang="en-US" sz="2800" dirty="0"/>
              <a:t>The token may be generated by any method that ensures unpredictability and uniqueness (e.g. using a hash chain of random seed). The attacker is thus unable to place a correct token in their requests to authenticate them.</a:t>
            </a:r>
          </a:p>
          <a:p>
            <a:endParaRPr lang="en-US" sz="2800" dirty="0"/>
          </a:p>
        </p:txBody>
      </p:sp>
    </p:spTree>
    <p:extLst>
      <p:ext uri="{BB962C8B-B14F-4D97-AF65-F5344CB8AC3E}">
        <p14:creationId xmlns:p14="http://schemas.microsoft.com/office/powerpoint/2010/main" val="3157326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STP Example</a:t>
            </a:r>
          </a:p>
        </p:txBody>
      </p:sp>
      <p:sp>
        <p:nvSpPr>
          <p:cNvPr id="3" name="Content Placeholder 2"/>
          <p:cNvSpPr>
            <a:spLocks noGrp="1"/>
          </p:cNvSpPr>
          <p:nvPr>
            <p:ph sz="quarter" idx="11"/>
          </p:nvPr>
        </p:nvSpPr>
        <p:spPr>
          <a:xfrm>
            <a:off x="467544" y="1560612"/>
            <a:ext cx="8229600" cy="4676700"/>
          </a:xfrm>
        </p:spPr>
        <p:txBody>
          <a:bodyPr/>
          <a:lstStyle/>
          <a:p>
            <a:r>
              <a:rPr lang="en-US" sz="2400" dirty="0"/>
              <a:t>For every form on bank.com, generate a one-time random sequence as hidden parameter, and only accept the form submission if that parameter is included in POST request.</a:t>
            </a:r>
          </a:p>
          <a:p>
            <a:endParaRPr lang="en-US" sz="2400" dirty="0"/>
          </a:p>
          <a:p>
            <a:endParaRPr lang="en-US" sz="2400" dirty="0"/>
          </a:p>
          <a:p>
            <a:endParaRPr lang="en-US" sz="2400" dirty="0"/>
          </a:p>
          <a:p>
            <a:endParaRPr lang="en-US" sz="2400" dirty="0"/>
          </a:p>
          <a:p>
            <a:endParaRPr lang="en-US" sz="1800" dirty="0"/>
          </a:p>
          <a:p>
            <a:r>
              <a:rPr lang="en-US" sz="2400" dirty="0"/>
              <a:t>attacker.com can not guess the token of an authenticated user. A form submitted by attacker.com will thus be rejected by the server.</a:t>
            </a:r>
          </a:p>
          <a:p>
            <a:endParaRPr lang="en-US" sz="2400" dirty="0"/>
          </a:p>
        </p:txBody>
      </p:sp>
      <p:sp>
        <p:nvSpPr>
          <p:cNvPr id="7" name="TextBox 6">
            <a:extLst>
              <a:ext uri="{FF2B5EF4-FFF2-40B4-BE49-F238E27FC236}">
                <a16:creationId xmlns:a16="http://schemas.microsoft.com/office/drawing/2014/main" id="{B30C7C32-4FBF-E3D8-A144-11ACA2A486A0}"/>
              </a:ext>
            </a:extLst>
          </p:cNvPr>
          <p:cNvSpPr txBox="1"/>
          <p:nvPr/>
        </p:nvSpPr>
        <p:spPr>
          <a:xfrm>
            <a:off x="495581" y="3212976"/>
            <a:ext cx="8332225" cy="1938992"/>
          </a:xfrm>
          <a:prstGeom prst="rect">
            <a:avLst/>
          </a:prstGeom>
          <a:solidFill>
            <a:schemeClr val="accent2">
              <a:lumMod val="20000"/>
              <a:lumOff val="80000"/>
            </a:schemeClr>
          </a:solidFill>
        </p:spPr>
        <p:txBody>
          <a:bodyPr wrap="square" rtlCol="0">
            <a:spAutoFit/>
          </a:bodyPr>
          <a:lstStyle/>
          <a:p>
            <a:pPr>
              <a:buNone/>
              <a:defRPr/>
            </a:pPr>
            <a:r>
              <a:rPr lang="en-US" sz="2000" dirty="0">
                <a:solidFill>
                  <a:schemeClr val="accent5">
                    <a:lumMod val="25000"/>
                  </a:schemeClr>
                </a:solidFill>
                <a:latin typeface="Consolas" panose="020B0609020204030204" pitchFamily="49" charset="0"/>
              </a:rPr>
              <a:t>&lt;form name="F" action="http://bank.com/</a:t>
            </a:r>
            <a:r>
              <a:rPr lang="en-US" sz="2000" dirty="0" err="1">
                <a:solidFill>
                  <a:schemeClr val="accent5">
                    <a:lumMod val="25000"/>
                  </a:schemeClr>
                </a:solidFill>
                <a:latin typeface="Consolas" panose="020B0609020204030204" pitchFamily="49" charset="0"/>
              </a:rPr>
              <a:t>transfer.php</a:t>
            </a:r>
            <a:r>
              <a:rPr lang="en-US" sz="2000" dirty="0">
                <a:solidFill>
                  <a:schemeClr val="accent5">
                    <a:lumMod val="25000"/>
                  </a:schemeClr>
                </a:solidFill>
                <a:latin typeface="Consolas" panose="020B0609020204030204" pitchFamily="49" charset="0"/>
              </a:rPr>
              <a:t>"&gt;</a:t>
            </a:r>
          </a:p>
          <a:p>
            <a:pPr>
              <a:buNone/>
              <a:defRPr/>
            </a:pPr>
            <a:r>
              <a:rPr lang="en-US" sz="2000" dirty="0">
                <a:solidFill>
                  <a:schemeClr val="accent5">
                    <a:lumMod val="25000"/>
                  </a:schemeClr>
                </a:solidFill>
                <a:latin typeface="Consolas" panose="020B0609020204030204" pitchFamily="49" charset="0"/>
              </a:rPr>
              <a:t>  &lt;input name="recipient" value=""&gt;</a:t>
            </a:r>
          </a:p>
          <a:p>
            <a:pPr>
              <a:buNone/>
              <a:defRPr/>
            </a:pPr>
            <a:r>
              <a:rPr lang="en-US" sz="2000" dirty="0">
                <a:solidFill>
                  <a:schemeClr val="accent5">
                    <a:lumMod val="25000"/>
                  </a:schemeClr>
                </a:solidFill>
                <a:latin typeface="Consolas" panose="020B0609020204030204" pitchFamily="49" charset="0"/>
              </a:rPr>
              <a:t>  &lt;input name="amount" value=""&gt;</a:t>
            </a:r>
          </a:p>
          <a:p>
            <a:pPr>
              <a:buNone/>
              <a:defRPr/>
            </a:pPr>
            <a:r>
              <a:rPr lang="en-US" sz="2000" dirty="0">
                <a:solidFill>
                  <a:schemeClr val="accent5">
                    <a:lumMod val="25000"/>
                  </a:schemeClr>
                </a:solidFill>
                <a:latin typeface="Consolas" panose="020B0609020204030204" pitchFamily="49" charset="0"/>
              </a:rPr>
              <a:t>  &lt;input type="</a:t>
            </a:r>
            <a:r>
              <a:rPr lang="en-US" sz="2000" dirty="0">
                <a:solidFill>
                  <a:srgbClr val="FF0000"/>
                </a:solidFill>
                <a:latin typeface="Consolas" panose="020B0609020204030204" pitchFamily="49" charset="0"/>
              </a:rPr>
              <a:t>hidden</a:t>
            </a:r>
            <a:r>
              <a:rPr lang="en-US" sz="2000" dirty="0">
                <a:solidFill>
                  <a:schemeClr val="accent5">
                    <a:lumMod val="25000"/>
                  </a:schemeClr>
                </a:solidFill>
                <a:latin typeface="Consolas" panose="020B0609020204030204" pitchFamily="49" charset="0"/>
              </a:rPr>
              <a:t>" name="</a:t>
            </a:r>
            <a:r>
              <a:rPr lang="en-US" sz="2000" dirty="0" err="1">
                <a:solidFill>
                  <a:srgbClr val="FF0000"/>
                </a:solidFill>
                <a:latin typeface="Consolas" panose="020B0609020204030204" pitchFamily="49" charset="0"/>
              </a:rPr>
              <a:t>csrfToken</a:t>
            </a:r>
            <a:r>
              <a:rPr lang="en-US" sz="2000" dirty="0">
                <a:solidFill>
                  <a:schemeClr val="accent5">
                    <a:lumMod val="25000"/>
                  </a:schemeClr>
                </a:solidFill>
                <a:latin typeface="Consolas" panose="020B0609020204030204" pitchFamily="49" charset="0"/>
              </a:rPr>
              <a:t>" </a:t>
            </a:r>
          </a:p>
          <a:p>
            <a:pPr>
              <a:buNone/>
              <a:defRPr/>
            </a:pPr>
            <a:r>
              <a:rPr lang="en-US" sz="2000" dirty="0">
                <a:solidFill>
                  <a:schemeClr val="accent5">
                    <a:lumMod val="25000"/>
                  </a:schemeClr>
                </a:solidFill>
                <a:latin typeface="Consolas" panose="020B0609020204030204" pitchFamily="49" charset="0"/>
              </a:rPr>
              <a:t>     value="</a:t>
            </a:r>
            <a:r>
              <a:rPr lang="en-US" sz="2000" dirty="0">
                <a:solidFill>
                  <a:srgbClr val="FF0000"/>
                </a:solidFill>
                <a:latin typeface="Consolas" panose="020B0609020204030204" pitchFamily="49" charset="0"/>
              </a:rPr>
              <a:t>KbyUmhTLMpYj7CD2di7JKP1P3qmL1kPt</a:t>
            </a:r>
            <a:r>
              <a:rPr lang="en-US" sz="2000" dirty="0">
                <a:solidFill>
                  <a:schemeClr val="accent5">
                    <a:lumMod val="25000"/>
                  </a:schemeClr>
                </a:solidFill>
                <a:latin typeface="Consolas" panose="020B0609020204030204" pitchFamily="49" charset="0"/>
              </a:rPr>
              <a:t>" /&gt;</a:t>
            </a:r>
          </a:p>
          <a:p>
            <a:pPr>
              <a:buNone/>
              <a:defRPr/>
            </a:pPr>
            <a:r>
              <a:rPr lang="en-US" sz="2000" dirty="0">
                <a:solidFill>
                  <a:schemeClr val="accent5">
                    <a:lumMod val="25000"/>
                  </a:schemeClr>
                </a:solidFill>
                <a:latin typeface="Consolas" panose="020B0609020204030204" pitchFamily="49" charset="0"/>
              </a:rPr>
              <a:t>&lt;/form&gt;</a:t>
            </a:r>
            <a:endParaRPr lang="en-US" sz="2000" dirty="0">
              <a:latin typeface="Consolas" panose="020B0609020204030204" pitchFamily="49" charset="0"/>
            </a:endParaRPr>
          </a:p>
        </p:txBody>
      </p:sp>
    </p:spTree>
    <p:extLst>
      <p:ext uri="{BB962C8B-B14F-4D97-AF65-F5344CB8AC3E}">
        <p14:creationId xmlns:p14="http://schemas.microsoft.com/office/powerpoint/2010/main" val="3137508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Picture 13.png"/>
          <p:cNvPicPr>
            <a:picLocks noChangeAspect="1"/>
          </p:cNvPicPr>
          <p:nvPr/>
        </p:nvPicPr>
        <p:blipFill rotWithShape="1">
          <a:blip r:embed="rId2" cstate="print"/>
          <a:srcRect l="1469" r="572"/>
          <a:stretch/>
        </p:blipFill>
        <p:spPr>
          <a:xfrm>
            <a:off x="1295400" y="879333"/>
            <a:ext cx="6906638" cy="5057775"/>
          </a:xfrm>
          <a:prstGeom prst="rect">
            <a:avLst/>
          </a:prstGeom>
          <a:ln>
            <a:noFill/>
          </a:ln>
          <a:effectLst>
            <a:softEdge rad="112500"/>
          </a:effectLst>
        </p:spPr>
      </p:pic>
      <p:sp>
        <p:nvSpPr>
          <p:cNvPr id="5" name="Title 1"/>
          <p:cNvSpPr>
            <a:spLocks noGrp="1"/>
          </p:cNvSpPr>
          <p:nvPr>
            <p:ph type="title"/>
          </p:nvPr>
        </p:nvSpPr>
        <p:spPr/>
        <p:txBody>
          <a:bodyPr/>
          <a:lstStyle/>
          <a:p>
            <a:pPr algn="l"/>
            <a:r>
              <a:rPr lang="en-US" dirty="0"/>
              <a:t>STP Example</a:t>
            </a:r>
          </a:p>
        </p:txBody>
      </p:sp>
      <p:pic>
        <p:nvPicPr>
          <p:cNvPr id="6" name="Picture 5"/>
          <p:cNvPicPr>
            <a:picLocks noChangeAspect="1"/>
          </p:cNvPicPr>
          <p:nvPr/>
        </p:nvPicPr>
        <p:blipFill>
          <a:blip r:embed="rId3" cstate="print"/>
          <a:srcRect/>
          <a:stretch>
            <a:fillRect/>
          </a:stretch>
        </p:blipFill>
        <p:spPr bwMode="auto">
          <a:xfrm>
            <a:off x="457200" y="5872163"/>
            <a:ext cx="8253413" cy="681037"/>
          </a:xfrm>
          <a:prstGeom prst="rect">
            <a:avLst/>
          </a:prstGeom>
          <a:noFill/>
          <a:ln w="9525">
            <a:noFill/>
            <a:miter lim="800000"/>
            <a:headEnd/>
            <a:tailEnd/>
          </a:ln>
          <a:effectLst>
            <a:outerShdw dist="38100" dir="2700000" algn="br" rotWithShape="0">
              <a:srgbClr val="808080">
                <a:alpha val="42999"/>
              </a:srgbClr>
            </a:outerShdw>
          </a:effectLst>
        </p:spPr>
      </p:pic>
      <p:sp>
        <p:nvSpPr>
          <p:cNvPr id="7" name="Oval 6"/>
          <p:cNvSpPr/>
          <p:nvPr/>
        </p:nvSpPr>
        <p:spPr>
          <a:xfrm>
            <a:off x="4419600" y="5991225"/>
            <a:ext cx="4078288" cy="47942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anchor="ctr"/>
          <a:lstStyle/>
          <a:p>
            <a:pPr>
              <a:defRPr/>
            </a:pPr>
            <a:endParaRPr lang="en-US">
              <a:solidFill>
                <a:srgbClr val="FFFFFF"/>
              </a:solidFill>
              <a:ea typeface="ＭＳ Ｐゴシック" pitchFamily="-65" charset="-128"/>
            </a:endParaRPr>
          </a:p>
        </p:txBody>
      </p:sp>
    </p:spTree>
    <p:extLst>
      <p:ext uri="{BB962C8B-B14F-4D97-AF65-F5344CB8AC3E}">
        <p14:creationId xmlns:p14="http://schemas.microsoft.com/office/powerpoint/2010/main" val="411153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384FF-73D6-3E72-1141-012A40FC3659}"/>
              </a:ext>
            </a:extLst>
          </p:cNvPr>
          <p:cNvSpPr>
            <a:spLocks noGrp="1"/>
          </p:cNvSpPr>
          <p:nvPr>
            <p:ph type="title"/>
          </p:nvPr>
        </p:nvSpPr>
        <p:spPr>
          <a:xfrm>
            <a:off x="3156741" y="0"/>
            <a:ext cx="3600400" cy="784985"/>
          </a:xfrm>
        </p:spPr>
        <p:txBody>
          <a:bodyPr/>
          <a:lstStyle/>
          <a:p>
            <a:pPr algn="ctr"/>
            <a:r>
              <a:rPr lang="en-US" sz="2800" dirty="0"/>
              <a:t>STP Control Flow</a:t>
            </a:r>
          </a:p>
        </p:txBody>
      </p:sp>
      <p:pic>
        <p:nvPicPr>
          <p:cNvPr id="2050" name="Picture 2">
            <a:extLst>
              <a:ext uri="{FF2B5EF4-FFF2-40B4-BE49-F238E27FC236}">
                <a16:creationId xmlns:a16="http://schemas.microsoft.com/office/drawing/2014/main" id="{FD89A330-8DB7-E810-00E4-5E2032F6C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692696"/>
            <a:ext cx="4525909" cy="6036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3826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STP Requirements</a:t>
            </a:r>
          </a:p>
        </p:txBody>
      </p:sp>
      <p:sp>
        <p:nvSpPr>
          <p:cNvPr id="3" name="Content Placeholder 2"/>
          <p:cNvSpPr>
            <a:spLocks noGrp="1"/>
          </p:cNvSpPr>
          <p:nvPr>
            <p:ph sz="quarter" idx="11"/>
          </p:nvPr>
        </p:nvSpPr>
        <p:spPr/>
        <p:txBody>
          <a:bodyPr>
            <a:noAutofit/>
          </a:bodyPr>
          <a:lstStyle/>
          <a:p>
            <a:r>
              <a:rPr lang="en-US" sz="2600" dirty="0"/>
              <a:t>STP token should not be sent as a cookie, but in the headers or body of request and responses</a:t>
            </a:r>
          </a:p>
          <a:p>
            <a:r>
              <a:rPr lang="en-US" sz="2600" dirty="0"/>
              <a:t>User’s browser receives the token once they visit and login to the website. Attacker’s website will therefore not know the token.</a:t>
            </a:r>
          </a:p>
          <a:p>
            <a:r>
              <a:rPr lang="en-US" sz="2600" dirty="0"/>
              <a:t>Server needs to maintain a large state table to store and validate all tokens for each user.</a:t>
            </a:r>
          </a:p>
          <a:p>
            <a:r>
              <a:rPr lang="en-US" sz="2600" dirty="0"/>
              <a:t>Tokens are strictly for </a:t>
            </a:r>
            <a:r>
              <a:rPr lang="en-US" sz="2600" dirty="0">
                <a:solidFill>
                  <a:srgbClr val="C00000"/>
                </a:solidFill>
              </a:rPr>
              <a:t>single-use</a:t>
            </a:r>
            <a:r>
              <a:rPr lang="en-US" sz="2600" dirty="0"/>
              <a:t>. Once server verifies a tokenized request, the token must be marked invalid.</a:t>
            </a:r>
          </a:p>
          <a:p>
            <a:endParaRPr lang="en-US" sz="2600" dirty="0"/>
          </a:p>
        </p:txBody>
      </p:sp>
    </p:spTree>
    <p:extLst>
      <p:ext uri="{BB962C8B-B14F-4D97-AF65-F5344CB8AC3E}">
        <p14:creationId xmlns:p14="http://schemas.microsoft.com/office/powerpoint/2010/main" val="4043351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Defenses - Check Origin</a:t>
            </a:r>
          </a:p>
        </p:txBody>
      </p:sp>
      <p:sp>
        <p:nvSpPr>
          <p:cNvPr id="3" name="Content Placeholder 2"/>
          <p:cNvSpPr>
            <a:spLocks noGrp="1"/>
          </p:cNvSpPr>
          <p:nvPr>
            <p:ph sz="quarter" idx="11"/>
          </p:nvPr>
        </p:nvSpPr>
        <p:spPr/>
        <p:txBody>
          <a:bodyPr>
            <a:noAutofit/>
          </a:bodyPr>
          <a:lstStyle/>
          <a:p>
            <a:r>
              <a:rPr lang="en-US" sz="2400" dirty="0"/>
              <a:t>The term </a:t>
            </a:r>
            <a:r>
              <a:rPr lang="en-US" sz="2400" b="1" dirty="0"/>
              <a:t>origin</a:t>
            </a:r>
            <a:r>
              <a:rPr lang="en-US" sz="2400" dirty="0"/>
              <a:t> refers to the scheme (protocol), hostname (domain), and port of a URL.</a:t>
            </a:r>
          </a:p>
          <a:p>
            <a:r>
              <a:rPr lang="en-US" sz="2400" dirty="0"/>
              <a:t>Following URLs have the same origin because both have same scheme (http), same domain (example.com) and same port (80, implied).</a:t>
            </a:r>
          </a:p>
          <a:p>
            <a:pPr lvl="1"/>
            <a:r>
              <a:rPr lang="en-US" sz="2000" dirty="0"/>
              <a:t>http://example.com/app1/index.html</a:t>
            </a:r>
          </a:p>
          <a:p>
            <a:pPr lvl="1"/>
            <a:r>
              <a:rPr lang="en-US" sz="2000" dirty="0"/>
              <a:t>http://example.com/app2/site.html</a:t>
            </a:r>
          </a:p>
          <a:p>
            <a:r>
              <a:rPr lang="en-US" sz="2400" dirty="0"/>
              <a:t>Following are NOT same origin because their schemes differ</a:t>
            </a:r>
          </a:p>
          <a:p>
            <a:pPr lvl="1"/>
            <a:r>
              <a:rPr lang="en-US" sz="2000" dirty="0"/>
              <a:t>http://example.com:8080/app3</a:t>
            </a:r>
          </a:p>
          <a:p>
            <a:pPr lvl="1"/>
            <a:r>
              <a:rPr lang="en-US" sz="2000" dirty="0"/>
              <a:t>https://example.com:8080/app3</a:t>
            </a:r>
          </a:p>
        </p:txBody>
      </p:sp>
      <p:sp>
        <p:nvSpPr>
          <p:cNvPr id="7" name="TextBox 6">
            <a:extLst>
              <a:ext uri="{FF2B5EF4-FFF2-40B4-BE49-F238E27FC236}">
                <a16:creationId xmlns:a16="http://schemas.microsoft.com/office/drawing/2014/main" id="{1C3E1B6F-CE31-B31A-CE24-5FF004BFF068}"/>
              </a:ext>
            </a:extLst>
          </p:cNvPr>
          <p:cNvSpPr txBox="1"/>
          <p:nvPr/>
        </p:nvSpPr>
        <p:spPr>
          <a:xfrm>
            <a:off x="467544" y="6237312"/>
            <a:ext cx="4392488" cy="276999"/>
          </a:xfrm>
          <a:prstGeom prst="rect">
            <a:avLst/>
          </a:prstGeom>
          <a:noFill/>
        </p:spPr>
        <p:txBody>
          <a:bodyPr wrap="square">
            <a:spAutoFit/>
          </a:bodyPr>
          <a:lstStyle/>
          <a:p>
            <a:r>
              <a:rPr lang="en-US" sz="1200" dirty="0">
                <a:hlinkClick r:id="rId2"/>
              </a:rPr>
              <a:t>https://developer.mozilla.org/en-US/docs/Glossary/Origin</a:t>
            </a:r>
            <a:endParaRPr lang="en-US" sz="1200" dirty="0"/>
          </a:p>
        </p:txBody>
      </p:sp>
    </p:spTree>
    <p:extLst>
      <p:ext uri="{BB962C8B-B14F-4D97-AF65-F5344CB8AC3E}">
        <p14:creationId xmlns:p14="http://schemas.microsoft.com/office/powerpoint/2010/main" val="637679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normAutofit/>
          </a:bodyPr>
          <a:lstStyle/>
          <a:p>
            <a:r>
              <a:rPr lang="en-US" dirty="0"/>
              <a:t>Defenses - Check Origin</a:t>
            </a:r>
          </a:p>
        </p:txBody>
      </p:sp>
      <p:sp>
        <p:nvSpPr>
          <p:cNvPr id="3" name="Content Placeholder 2"/>
          <p:cNvSpPr>
            <a:spLocks noGrp="1"/>
          </p:cNvSpPr>
          <p:nvPr>
            <p:ph sz="quarter" idx="11"/>
          </p:nvPr>
        </p:nvSpPr>
        <p:spPr>
          <a:xfrm>
            <a:off x="467544" y="1560612"/>
            <a:ext cx="8229600" cy="4676700"/>
          </a:xfrm>
        </p:spPr>
        <p:txBody>
          <a:bodyPr/>
          <a:lstStyle/>
          <a:p>
            <a:r>
              <a:rPr lang="en-US" sz="2400" dirty="0"/>
              <a:t>To identify the source origin, OWASP recommends using one of these two standard headers that almost all HTTP requests include one or both of: </a:t>
            </a:r>
          </a:p>
          <a:p>
            <a:pPr lvl="1"/>
            <a:r>
              <a:rPr lang="en-US" sz="2000" dirty="0"/>
              <a:t>Origin Header</a:t>
            </a:r>
          </a:p>
          <a:p>
            <a:pPr lvl="1"/>
            <a:r>
              <a:rPr lang="en-US" sz="2000" dirty="0" err="1"/>
              <a:t>Referer</a:t>
            </a:r>
            <a:r>
              <a:rPr lang="en-US" sz="2000" dirty="0"/>
              <a:t> Header</a:t>
            </a:r>
          </a:p>
          <a:p>
            <a:r>
              <a:rPr lang="en-US" sz="2400" dirty="0"/>
              <a:t>These headers are added to requests by web browsers. </a:t>
            </a:r>
            <a:r>
              <a:rPr lang="en-US" sz="2400" dirty="0" err="1"/>
              <a:t>Javascript</a:t>
            </a:r>
            <a:r>
              <a:rPr lang="en-US" sz="2400" dirty="0"/>
              <a:t> code can’t modify them.</a:t>
            </a:r>
          </a:p>
          <a:p>
            <a:r>
              <a:rPr lang="en-US" sz="2400" dirty="0"/>
              <a:t>For CSRF mitigation, your server-side code should determine</a:t>
            </a:r>
          </a:p>
          <a:p>
            <a:pPr marL="914400" lvl="1" indent="-457200">
              <a:buFont typeface="+mj-lt"/>
              <a:buAutoNum type="alphaLcParenR"/>
            </a:pPr>
            <a:r>
              <a:rPr lang="en-US" sz="2000" dirty="0"/>
              <a:t>source origin: where the request is coming from?</a:t>
            </a:r>
          </a:p>
          <a:p>
            <a:pPr marL="914400" lvl="1" indent="-457200">
              <a:buFont typeface="+mj-lt"/>
              <a:buAutoNum type="alphaLcParenR"/>
            </a:pPr>
            <a:r>
              <a:rPr lang="en-US" sz="2000" dirty="0"/>
              <a:t>target origin: where the request is going to?</a:t>
            </a:r>
          </a:p>
          <a:p>
            <a:endParaRPr lang="en-US" sz="2400" dirty="0"/>
          </a:p>
          <a:p>
            <a:endParaRPr lang="en-US" sz="2400" dirty="0"/>
          </a:p>
        </p:txBody>
      </p:sp>
    </p:spTree>
    <p:extLst>
      <p:ext uri="{BB962C8B-B14F-4D97-AF65-F5344CB8AC3E}">
        <p14:creationId xmlns:p14="http://schemas.microsoft.com/office/powerpoint/2010/main" val="883200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AC986-9548-B51D-F182-D808EF114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48BF9-9B3C-03DE-EC72-7866431338A2}"/>
              </a:ext>
            </a:extLst>
          </p:cNvPr>
          <p:cNvSpPr>
            <a:spLocks noGrp="1"/>
          </p:cNvSpPr>
          <p:nvPr>
            <p:ph type="title"/>
          </p:nvPr>
        </p:nvSpPr>
        <p:spPr/>
        <p:txBody>
          <a:bodyPr/>
          <a:lstStyle/>
          <a:p>
            <a:pPr algn="l"/>
            <a:r>
              <a:rPr lang="en-US" dirty="0"/>
              <a:t>Origin Header</a:t>
            </a:r>
          </a:p>
        </p:txBody>
      </p:sp>
      <p:sp>
        <p:nvSpPr>
          <p:cNvPr id="3" name="Content Placeholder 2">
            <a:extLst>
              <a:ext uri="{FF2B5EF4-FFF2-40B4-BE49-F238E27FC236}">
                <a16:creationId xmlns:a16="http://schemas.microsoft.com/office/drawing/2014/main" id="{EA9E736E-D175-557B-C475-E69311B7C138}"/>
              </a:ext>
            </a:extLst>
          </p:cNvPr>
          <p:cNvSpPr>
            <a:spLocks noGrp="1"/>
          </p:cNvSpPr>
          <p:nvPr>
            <p:ph sz="quarter" idx="11"/>
          </p:nvPr>
        </p:nvSpPr>
        <p:spPr>
          <a:xfrm>
            <a:off x="467544" y="1560612"/>
            <a:ext cx="8229600" cy="4676700"/>
          </a:xfrm>
        </p:spPr>
        <p:txBody>
          <a:bodyPr>
            <a:noAutofit/>
          </a:bodyPr>
          <a:lstStyle/>
          <a:p>
            <a:r>
              <a:rPr lang="en-US" sz="2800" dirty="0"/>
              <a:t>Origin header contains the source domain when visiting a site. </a:t>
            </a:r>
          </a:p>
          <a:p>
            <a:pPr lvl="1"/>
            <a:r>
              <a:rPr lang="en-US" sz="2400" dirty="0"/>
              <a:t>e.g. You are on </a:t>
            </a:r>
            <a:r>
              <a:rPr lang="en-US" sz="2400" dirty="0">
                <a:solidFill>
                  <a:srgbClr val="0070C0"/>
                </a:solidFill>
              </a:rPr>
              <a:t>https://google.com</a:t>
            </a:r>
            <a:r>
              <a:rPr lang="en-US" sz="2400" dirty="0"/>
              <a:t> and click a link that points to </a:t>
            </a:r>
            <a:r>
              <a:rPr lang="en-US" sz="2400" dirty="0">
                <a:solidFill>
                  <a:srgbClr val="0070C0"/>
                </a:solidFill>
              </a:rPr>
              <a:t>https://apple.com</a:t>
            </a:r>
            <a:r>
              <a:rPr lang="en-US" sz="2400" dirty="0"/>
              <a:t>. The request going to apple will have </a:t>
            </a:r>
            <a:r>
              <a:rPr lang="en-US" sz="2400" dirty="0">
                <a:solidFill>
                  <a:srgbClr val="0070C0"/>
                </a:solidFill>
              </a:rPr>
              <a:t>https://google.com</a:t>
            </a:r>
            <a:r>
              <a:rPr lang="en-US" sz="2400" dirty="0"/>
              <a:t> as its Origin header value.</a:t>
            </a:r>
          </a:p>
          <a:p>
            <a:r>
              <a:rPr lang="en-US" sz="2800" dirty="0"/>
              <a:t>Server should verify the value of Origin header matches the target origin. </a:t>
            </a:r>
          </a:p>
          <a:p>
            <a:pPr lvl="1"/>
            <a:r>
              <a:rPr lang="en-US" sz="2400" dirty="0"/>
              <a:t>If it does, accept the request as legitimate</a:t>
            </a:r>
          </a:p>
          <a:p>
            <a:pPr lvl="1"/>
            <a:r>
              <a:rPr lang="en-US" sz="2400" dirty="0"/>
              <a:t>otherwise discard it, because the request originated from cross-domain</a:t>
            </a:r>
          </a:p>
        </p:txBody>
      </p:sp>
    </p:spTree>
    <p:extLst>
      <p:ext uri="{BB962C8B-B14F-4D97-AF65-F5344CB8AC3E}">
        <p14:creationId xmlns:p14="http://schemas.microsoft.com/office/powerpoint/2010/main" val="3529924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44CAE-B467-6D42-4618-4C6B5D26D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D23FB-6CB8-FF51-81A9-904FA956483D}"/>
              </a:ext>
            </a:extLst>
          </p:cNvPr>
          <p:cNvSpPr>
            <a:spLocks noGrp="1"/>
          </p:cNvSpPr>
          <p:nvPr>
            <p:ph type="title"/>
          </p:nvPr>
        </p:nvSpPr>
        <p:spPr/>
        <p:txBody>
          <a:bodyPr/>
          <a:lstStyle/>
          <a:p>
            <a:pPr algn="l"/>
            <a:r>
              <a:rPr lang="en-US" dirty="0"/>
              <a:t>Origin Header</a:t>
            </a:r>
          </a:p>
        </p:txBody>
      </p:sp>
      <p:sp>
        <p:nvSpPr>
          <p:cNvPr id="3" name="Content Placeholder 2">
            <a:extLst>
              <a:ext uri="{FF2B5EF4-FFF2-40B4-BE49-F238E27FC236}">
                <a16:creationId xmlns:a16="http://schemas.microsoft.com/office/drawing/2014/main" id="{F0D1CDA5-B394-53B0-014E-C42A50BC57DC}"/>
              </a:ext>
            </a:extLst>
          </p:cNvPr>
          <p:cNvSpPr>
            <a:spLocks noGrp="1"/>
          </p:cNvSpPr>
          <p:nvPr>
            <p:ph sz="quarter" idx="11"/>
          </p:nvPr>
        </p:nvSpPr>
        <p:spPr/>
        <p:txBody>
          <a:bodyPr>
            <a:noAutofit/>
          </a:bodyPr>
          <a:lstStyle/>
          <a:p>
            <a:r>
              <a:rPr lang="en-US" sz="2800" dirty="0"/>
              <a:t>The Origin HTTP Header standard was introduced as a method of defending against CSRF and other Cross-Domain attacks.</a:t>
            </a:r>
          </a:p>
          <a:p>
            <a:r>
              <a:rPr lang="en-US" sz="2800" dirty="0"/>
              <a:t>Unlike the </a:t>
            </a:r>
            <a:r>
              <a:rPr lang="en-US" sz="2800" dirty="0" err="1"/>
              <a:t>Referer</a:t>
            </a:r>
            <a:r>
              <a:rPr lang="en-US" sz="2800" dirty="0"/>
              <a:t>, the Origin header will be present in HTTP requests that originate from an HTTPS URL. </a:t>
            </a:r>
          </a:p>
          <a:p>
            <a:endParaRPr lang="en-US" sz="2800" dirty="0"/>
          </a:p>
        </p:txBody>
      </p:sp>
    </p:spTree>
    <p:extLst>
      <p:ext uri="{BB962C8B-B14F-4D97-AF65-F5344CB8AC3E}">
        <p14:creationId xmlns:p14="http://schemas.microsoft.com/office/powerpoint/2010/main" val="3862424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pPr algn="l"/>
            <a:r>
              <a:rPr lang="en-US" dirty="0" err="1"/>
              <a:t>Referer</a:t>
            </a:r>
            <a:r>
              <a:rPr lang="en-US" dirty="0"/>
              <a:t> Header</a:t>
            </a:r>
          </a:p>
        </p:txBody>
      </p:sp>
      <p:sp>
        <p:nvSpPr>
          <p:cNvPr id="3" name="Content Placeholder 2"/>
          <p:cNvSpPr>
            <a:spLocks noGrp="1"/>
          </p:cNvSpPr>
          <p:nvPr>
            <p:ph sz="quarter" idx="11"/>
          </p:nvPr>
        </p:nvSpPr>
        <p:spPr/>
        <p:txBody>
          <a:bodyPr>
            <a:noAutofit/>
          </a:bodyPr>
          <a:lstStyle/>
          <a:p>
            <a:pPr algn="just"/>
            <a:r>
              <a:rPr lang="en-US" sz="2800" dirty="0"/>
              <a:t>If the Origin header is not present, verify the hostname in the </a:t>
            </a:r>
            <a:r>
              <a:rPr lang="en-US" sz="2800" dirty="0" err="1"/>
              <a:t>Referer</a:t>
            </a:r>
            <a:r>
              <a:rPr lang="en-US" sz="2800" dirty="0"/>
              <a:t> header matches the target origin. </a:t>
            </a:r>
          </a:p>
          <a:p>
            <a:pPr algn="just"/>
            <a:r>
              <a:rPr lang="en-US" sz="2800" dirty="0"/>
              <a:t>By default, </a:t>
            </a:r>
            <a:r>
              <a:rPr lang="en-US" sz="2800" dirty="0" err="1"/>
              <a:t>Referer</a:t>
            </a:r>
            <a:r>
              <a:rPr lang="en-US" sz="2800" dirty="0"/>
              <a:t> header includes the full source URL (not just the protocol and domain)</a:t>
            </a:r>
          </a:p>
          <a:p>
            <a:pPr lvl="1" algn="just"/>
            <a:r>
              <a:rPr lang="en-US" sz="2400" dirty="0"/>
              <a:t>e.g. </a:t>
            </a:r>
            <a:r>
              <a:rPr lang="en-US" sz="2400" dirty="0" err="1"/>
              <a:t>Referer</a:t>
            </a:r>
            <a:r>
              <a:rPr lang="en-US" sz="2400" dirty="0"/>
              <a:t>: https://google.com/search?q=coffee</a:t>
            </a:r>
          </a:p>
        </p:txBody>
      </p:sp>
    </p:spTree>
    <p:extLst>
      <p:ext uri="{BB962C8B-B14F-4D97-AF65-F5344CB8AC3E}">
        <p14:creationId xmlns:p14="http://schemas.microsoft.com/office/powerpoint/2010/main" val="265010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pPr algn="l"/>
            <a:r>
              <a:rPr lang="en-US" dirty="0" err="1"/>
              <a:t>Referer</a:t>
            </a:r>
            <a:r>
              <a:rPr lang="en-US" dirty="0"/>
              <a:t> Header</a:t>
            </a:r>
          </a:p>
        </p:txBody>
      </p:sp>
      <p:sp>
        <p:nvSpPr>
          <p:cNvPr id="3" name="Content Placeholder 2"/>
          <p:cNvSpPr>
            <a:spLocks noGrp="1"/>
          </p:cNvSpPr>
          <p:nvPr>
            <p:ph sz="quarter" idx="11"/>
          </p:nvPr>
        </p:nvSpPr>
        <p:spPr/>
        <p:txBody>
          <a:bodyPr>
            <a:noAutofit/>
          </a:bodyPr>
          <a:lstStyle/>
          <a:p>
            <a:pPr algn="just"/>
            <a:r>
              <a:rPr lang="en-US" sz="2800" dirty="0"/>
              <a:t>Checking the </a:t>
            </a:r>
            <a:r>
              <a:rPr lang="en-US" sz="2800" dirty="0" err="1"/>
              <a:t>Referer</a:t>
            </a:r>
            <a:r>
              <a:rPr lang="en-US" sz="2800" dirty="0"/>
              <a:t> header does not require any per-user state that was in case of STP.</a:t>
            </a:r>
          </a:p>
          <a:p>
            <a:pPr lvl="1" algn="just"/>
            <a:r>
              <a:rPr lang="en-US" sz="2400" dirty="0"/>
              <a:t>That’s why is a commonly used in embedded network devices.</a:t>
            </a:r>
          </a:p>
          <a:p>
            <a:pPr lvl="1" algn="just"/>
            <a:r>
              <a:rPr lang="en-US" sz="2400" dirty="0"/>
              <a:t>Useful when memory is scarce or server-side state doesn’t exist. </a:t>
            </a:r>
          </a:p>
          <a:p>
            <a:pPr lvl="1" algn="just"/>
            <a:r>
              <a:rPr lang="en-US" sz="2400" dirty="0"/>
              <a:t>Also used with unauthenticated requests, such as requests made prior to establishing a session state.</a:t>
            </a:r>
          </a:p>
        </p:txBody>
      </p:sp>
    </p:spTree>
    <p:extLst>
      <p:ext uri="{BB962C8B-B14F-4D97-AF65-F5344CB8AC3E}">
        <p14:creationId xmlns:p14="http://schemas.microsoft.com/office/powerpoint/2010/main" val="824579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pPr algn="l"/>
            <a:r>
              <a:rPr lang="en-US" dirty="0" err="1"/>
              <a:t>Referer</a:t>
            </a:r>
            <a:r>
              <a:rPr lang="en-US" dirty="0"/>
              <a:t> Header</a:t>
            </a:r>
          </a:p>
        </p:txBody>
      </p:sp>
      <p:sp>
        <p:nvSpPr>
          <p:cNvPr id="3" name="Content Placeholder 2"/>
          <p:cNvSpPr>
            <a:spLocks noGrp="1"/>
          </p:cNvSpPr>
          <p:nvPr>
            <p:ph sz="quarter" idx="11"/>
          </p:nvPr>
        </p:nvSpPr>
        <p:spPr/>
        <p:txBody>
          <a:bodyPr>
            <a:noAutofit/>
          </a:bodyPr>
          <a:lstStyle/>
          <a:p>
            <a:pPr marL="0" indent="0">
              <a:buNone/>
            </a:pPr>
            <a:r>
              <a:rPr lang="en-US" sz="2400" dirty="0"/>
              <a:t>However, </a:t>
            </a:r>
            <a:r>
              <a:rPr lang="en-US" sz="2400" dirty="0" err="1"/>
              <a:t>Referer</a:t>
            </a:r>
            <a:r>
              <a:rPr lang="en-US" sz="2400" dirty="0"/>
              <a:t> header could be omitted by browsers based on user’s privacy settings (or removed by a privacy focused browser extension). Why?</a:t>
            </a:r>
          </a:p>
          <a:p>
            <a:r>
              <a:rPr lang="en-US" sz="2400" dirty="0" err="1"/>
              <a:t>Referer</a:t>
            </a:r>
            <a:r>
              <a:rPr lang="en-US" sz="2400" dirty="0"/>
              <a:t> header is used heavily in marketing to </a:t>
            </a:r>
            <a:r>
              <a:rPr lang="en-US" sz="2400" dirty="0" err="1"/>
              <a:t>analyse</a:t>
            </a:r>
            <a:r>
              <a:rPr lang="en-US" sz="2400" dirty="0"/>
              <a:t> where visitors to a website come from.</a:t>
            </a:r>
          </a:p>
          <a:p>
            <a:r>
              <a:rPr lang="en-US" sz="2400" dirty="0"/>
              <a:t>But it presents a privacy risk if too much information is passed on e.g.</a:t>
            </a:r>
          </a:p>
          <a:p>
            <a:pPr lvl="1"/>
            <a:r>
              <a:rPr lang="en-US" sz="2000" dirty="0">
                <a:hlinkClick r:id="rId2"/>
              </a:rPr>
              <a:t>https://intranet.apple.com/project/iphone</a:t>
            </a:r>
            <a:r>
              <a:rPr lang="en-US" sz="2000" dirty="0"/>
              <a:t> contains a link to </a:t>
            </a:r>
            <a:r>
              <a:rPr lang="en-US" sz="2000" dirty="0">
                <a:hlinkClick r:id="rId3"/>
              </a:rPr>
              <a:t>https://google.com</a:t>
            </a:r>
            <a:r>
              <a:rPr lang="en-US" sz="2000" dirty="0"/>
              <a:t>. Clicking on the link will disclose to google that Apple is working on a project called </a:t>
            </a:r>
            <a:r>
              <a:rPr lang="en-US" sz="2000" dirty="0" err="1"/>
              <a:t>iphone</a:t>
            </a:r>
            <a:r>
              <a:rPr lang="en-US" sz="2000" dirty="0"/>
              <a:t>.</a:t>
            </a:r>
          </a:p>
          <a:p>
            <a:pPr lvl="1"/>
            <a:r>
              <a:rPr lang="en-US" sz="2000" dirty="0"/>
              <a:t>A social media site can maintain a record of </a:t>
            </a:r>
            <a:r>
              <a:rPr lang="en-US" sz="2000" dirty="0" err="1"/>
              <a:t>Referer</a:t>
            </a:r>
            <a:r>
              <a:rPr lang="en-US" sz="2000" dirty="0"/>
              <a:t> values for their users, revealing (some part of) their browsing history.</a:t>
            </a:r>
          </a:p>
        </p:txBody>
      </p:sp>
    </p:spTree>
    <p:extLst>
      <p:ext uri="{BB962C8B-B14F-4D97-AF65-F5344CB8AC3E}">
        <p14:creationId xmlns:p14="http://schemas.microsoft.com/office/powerpoint/2010/main" val="264466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07704" y="2894012"/>
            <a:ext cx="6912768" cy="1069975"/>
          </a:xfrm>
        </p:spPr>
        <p:txBody>
          <a:bodyPr/>
          <a:lstStyle/>
          <a:p>
            <a:pPr algn="ctr"/>
            <a:r>
              <a:rPr lang="en-US" dirty="0"/>
              <a:t>Cross Site Scripting (XSS)</a:t>
            </a:r>
          </a:p>
        </p:txBody>
      </p:sp>
      <p:sp>
        <p:nvSpPr>
          <p:cNvPr id="2" name="TextBox 1">
            <a:extLst>
              <a:ext uri="{FF2B5EF4-FFF2-40B4-BE49-F238E27FC236}">
                <a16:creationId xmlns:a16="http://schemas.microsoft.com/office/drawing/2014/main" id="{7E8D1470-6044-5690-21DA-64B883C08D3C}"/>
              </a:ext>
            </a:extLst>
          </p:cNvPr>
          <p:cNvSpPr txBox="1"/>
          <p:nvPr/>
        </p:nvSpPr>
        <p:spPr>
          <a:xfrm>
            <a:off x="2123728" y="4725144"/>
            <a:ext cx="6480720" cy="646331"/>
          </a:xfrm>
          <a:prstGeom prst="rect">
            <a:avLst/>
          </a:prstGeom>
          <a:noFill/>
        </p:spPr>
        <p:txBody>
          <a:bodyPr wrap="square" rtlCol="0">
            <a:spAutoFit/>
          </a:bodyPr>
          <a:lstStyle/>
          <a:p>
            <a:pPr latinLnBrk="0"/>
            <a:r>
              <a:rPr lang="en-US" dirty="0"/>
              <a:t>Attackers injecting client-side scripts into web pages viewed by other users.</a:t>
            </a:r>
          </a:p>
        </p:txBody>
      </p:sp>
    </p:spTree>
    <p:extLst>
      <p:ext uri="{BB962C8B-B14F-4D97-AF65-F5344CB8AC3E}">
        <p14:creationId xmlns:p14="http://schemas.microsoft.com/office/powerpoint/2010/main" val="30719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Actors in an XSS attack</a:t>
            </a:r>
          </a:p>
        </p:txBody>
      </p:sp>
      <p:sp>
        <p:nvSpPr>
          <p:cNvPr id="3" name="Content Placeholder 2"/>
          <p:cNvSpPr>
            <a:spLocks noGrp="1"/>
          </p:cNvSpPr>
          <p:nvPr>
            <p:ph sz="quarter" idx="11"/>
          </p:nvPr>
        </p:nvSpPr>
        <p:spPr/>
        <p:txBody>
          <a:bodyPr>
            <a:noAutofit/>
          </a:bodyPr>
          <a:lstStyle/>
          <a:p>
            <a:pPr algn="just"/>
            <a:r>
              <a:rPr lang="en-US" sz="2400" b="1" dirty="0"/>
              <a:t>The </a:t>
            </a:r>
            <a:r>
              <a:rPr lang="en-US" sz="2400" b="1" dirty="0">
                <a:solidFill>
                  <a:srgbClr val="C00000"/>
                </a:solidFill>
              </a:rPr>
              <a:t>website</a:t>
            </a:r>
            <a:r>
              <a:rPr lang="en-US" sz="2400" dirty="0"/>
              <a:t> that serves HTML pages to users who request them.</a:t>
            </a:r>
          </a:p>
          <a:p>
            <a:pPr lvl="1" algn="just"/>
            <a:r>
              <a:rPr lang="en-US" sz="2000" b="1" dirty="0"/>
              <a:t>The website’s database</a:t>
            </a:r>
            <a:r>
              <a:rPr lang="en-US" sz="2000" dirty="0"/>
              <a:t> is a database that stores some of the user input included in the website’s pages.</a:t>
            </a:r>
          </a:p>
          <a:p>
            <a:pPr algn="just"/>
            <a:r>
              <a:rPr lang="en-US" sz="2400" b="1" dirty="0"/>
              <a:t>The </a:t>
            </a:r>
            <a:r>
              <a:rPr lang="en-US" sz="2400" b="1" dirty="0">
                <a:solidFill>
                  <a:srgbClr val="C00000"/>
                </a:solidFill>
              </a:rPr>
              <a:t>victim</a:t>
            </a:r>
            <a:r>
              <a:rPr lang="en-US" sz="2400" dirty="0"/>
              <a:t> is a normal user of the website who requests pages from it using his browser.</a:t>
            </a:r>
          </a:p>
          <a:p>
            <a:pPr algn="just"/>
            <a:r>
              <a:rPr lang="en-US" sz="2400" b="1" dirty="0"/>
              <a:t>The </a:t>
            </a:r>
            <a:r>
              <a:rPr lang="en-US" sz="2400" b="1" dirty="0">
                <a:solidFill>
                  <a:srgbClr val="C00000"/>
                </a:solidFill>
              </a:rPr>
              <a:t>attacker</a:t>
            </a:r>
            <a:r>
              <a:rPr lang="en-US" sz="2400" dirty="0"/>
              <a:t> is a malicious user of the website who intends to launch an attack on the victim by exploiting an XSS vulnerability in the website.</a:t>
            </a:r>
          </a:p>
          <a:p>
            <a:pPr lvl="1" algn="just"/>
            <a:r>
              <a:rPr lang="en-US" sz="2000" b="1" dirty="0"/>
              <a:t>The attacker’s server</a:t>
            </a:r>
            <a:r>
              <a:rPr lang="en-US" sz="2000" dirty="0"/>
              <a:t> is a web server controlled by the attacker for the sole purpose of stealing the victim’s sensitive information.</a:t>
            </a:r>
          </a:p>
        </p:txBody>
      </p:sp>
    </p:spTree>
    <p:extLst>
      <p:ext uri="{BB962C8B-B14F-4D97-AF65-F5344CB8AC3E}">
        <p14:creationId xmlns:p14="http://schemas.microsoft.com/office/powerpoint/2010/main" val="5537598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7F7ED-3977-27BE-7ABF-0D5894A931CB}"/>
              </a:ext>
            </a:extLst>
          </p:cNvPr>
          <p:cNvSpPr>
            <a:spLocks noGrp="1"/>
          </p:cNvSpPr>
          <p:nvPr>
            <p:ph type="title"/>
          </p:nvPr>
        </p:nvSpPr>
        <p:spPr/>
        <p:txBody>
          <a:bodyPr/>
          <a:lstStyle/>
          <a:p>
            <a:r>
              <a:rPr lang="en-US" dirty="0"/>
              <a:t>XSS Pre-requisite</a:t>
            </a:r>
          </a:p>
        </p:txBody>
      </p:sp>
      <p:sp>
        <p:nvSpPr>
          <p:cNvPr id="3" name="Content Placeholder 2">
            <a:extLst>
              <a:ext uri="{FF2B5EF4-FFF2-40B4-BE49-F238E27FC236}">
                <a16:creationId xmlns:a16="http://schemas.microsoft.com/office/drawing/2014/main" id="{B8EA7ED3-CBE6-33D0-57E4-768BC5B61767}"/>
              </a:ext>
            </a:extLst>
          </p:cNvPr>
          <p:cNvSpPr>
            <a:spLocks noGrp="1"/>
          </p:cNvSpPr>
          <p:nvPr>
            <p:ph sz="quarter" idx="11"/>
          </p:nvPr>
        </p:nvSpPr>
        <p:spPr/>
        <p:txBody>
          <a:bodyPr/>
          <a:lstStyle/>
          <a:p>
            <a:r>
              <a:rPr lang="en-US" sz="2800" dirty="0"/>
              <a:t>A website receives user input and does not validate or sanitize it</a:t>
            </a:r>
          </a:p>
          <a:p>
            <a:r>
              <a:rPr lang="en-US" sz="2800" dirty="0"/>
              <a:t>The website immediately, or at a later time, places that input on the webpages served to clients (browsers), e.g.</a:t>
            </a:r>
          </a:p>
          <a:p>
            <a:pPr lvl="1"/>
            <a:r>
              <a:rPr lang="en-US" sz="2400" dirty="0"/>
              <a:t>comments made on blogs/social-media/forums</a:t>
            </a:r>
          </a:p>
          <a:p>
            <a:pPr lvl="1"/>
            <a:r>
              <a:rPr lang="en-US" sz="2400" dirty="0"/>
              <a:t>search terms in the search engine pages</a:t>
            </a:r>
          </a:p>
          <a:p>
            <a:pPr lvl="1"/>
            <a:r>
              <a:rPr lang="en-US" sz="2400" dirty="0"/>
              <a:t>URL path in 404 error pages</a:t>
            </a:r>
          </a:p>
          <a:p>
            <a:pPr lvl="1"/>
            <a:r>
              <a:rPr lang="en-US" sz="2400" dirty="0"/>
              <a:t>Q/A on community sites (like stackoverflow.com)</a:t>
            </a:r>
          </a:p>
          <a:p>
            <a:pPr lvl="1"/>
            <a:r>
              <a:rPr lang="en-US" sz="2400" dirty="0"/>
              <a:t>contact details on a customer order</a:t>
            </a:r>
          </a:p>
        </p:txBody>
      </p:sp>
    </p:spTree>
    <p:extLst>
      <p:ext uri="{BB962C8B-B14F-4D97-AF65-F5344CB8AC3E}">
        <p14:creationId xmlns:p14="http://schemas.microsoft.com/office/powerpoint/2010/main" val="3798459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2EF52-4B1C-727A-DC8A-5E9B95329970}"/>
              </a:ext>
            </a:extLst>
          </p:cNvPr>
          <p:cNvSpPr>
            <a:spLocks noGrp="1"/>
          </p:cNvSpPr>
          <p:nvPr>
            <p:ph type="title"/>
          </p:nvPr>
        </p:nvSpPr>
        <p:spPr/>
        <p:txBody>
          <a:bodyPr/>
          <a:lstStyle/>
          <a:p>
            <a:r>
              <a:rPr lang="en-US" dirty="0"/>
              <a:t>XSS – How to launch?</a:t>
            </a:r>
          </a:p>
        </p:txBody>
      </p:sp>
      <p:sp>
        <p:nvSpPr>
          <p:cNvPr id="3" name="Content Placeholder 2">
            <a:extLst>
              <a:ext uri="{FF2B5EF4-FFF2-40B4-BE49-F238E27FC236}">
                <a16:creationId xmlns:a16="http://schemas.microsoft.com/office/drawing/2014/main" id="{EDA90EFF-9B69-9DA7-D140-944CC384DED3}"/>
              </a:ext>
            </a:extLst>
          </p:cNvPr>
          <p:cNvSpPr>
            <a:spLocks noGrp="1"/>
          </p:cNvSpPr>
          <p:nvPr>
            <p:ph sz="quarter" idx="11"/>
          </p:nvPr>
        </p:nvSpPr>
        <p:spPr/>
        <p:txBody>
          <a:bodyPr/>
          <a:lstStyle/>
          <a:p>
            <a:r>
              <a:rPr lang="en-US" sz="2400" dirty="0"/>
              <a:t>Attackers initiate an XSS attack by sending a malicious link to a user and enticing the user to click it. Clicking on the link causes malicious </a:t>
            </a:r>
            <a:r>
              <a:rPr lang="en-US" sz="2400" dirty="0" err="1"/>
              <a:t>javascript</a:t>
            </a:r>
            <a:r>
              <a:rPr lang="en-US" sz="2400" dirty="0"/>
              <a:t> to be downloaded and run in victim’s browser</a:t>
            </a:r>
          </a:p>
          <a:p>
            <a:pPr marL="0" indent="0">
              <a:buNone/>
            </a:pPr>
            <a:r>
              <a:rPr lang="en-US" sz="2400" dirty="0"/>
              <a:t>OR</a:t>
            </a:r>
          </a:p>
          <a:p>
            <a:r>
              <a:rPr lang="en-US" sz="2400" dirty="0"/>
              <a:t>As a malicious user, attacker sends in some </a:t>
            </a:r>
            <a:r>
              <a:rPr lang="en-US" sz="2400" dirty="0" err="1"/>
              <a:t>javascript</a:t>
            </a:r>
            <a:r>
              <a:rPr lang="en-US" sz="2400" dirty="0"/>
              <a:t> code as input to the server, which stores that to its database.</a:t>
            </a:r>
          </a:p>
          <a:p>
            <a:r>
              <a:rPr lang="en-US" sz="2400" dirty="0"/>
              <a:t>Regular users visit the website and, as part of the webpage, download the malicious code.</a:t>
            </a:r>
          </a:p>
          <a:p>
            <a:pPr marL="0" indent="0">
              <a:buNone/>
            </a:pPr>
            <a:r>
              <a:rPr lang="en-US" sz="2400" dirty="0"/>
              <a:t>In both cases, the malicious JavaScript is executed in the </a:t>
            </a:r>
            <a:r>
              <a:rPr lang="en-US" sz="2400" dirty="0">
                <a:solidFill>
                  <a:srgbClr val="0070C0"/>
                </a:solidFill>
              </a:rPr>
              <a:t>context of victim website</a:t>
            </a:r>
            <a:r>
              <a:rPr lang="en-US" sz="2400" dirty="0"/>
              <a:t>.</a:t>
            </a:r>
          </a:p>
        </p:txBody>
      </p:sp>
    </p:spTree>
    <p:extLst>
      <p:ext uri="{BB962C8B-B14F-4D97-AF65-F5344CB8AC3E}">
        <p14:creationId xmlns:p14="http://schemas.microsoft.com/office/powerpoint/2010/main" val="498525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Types of XSS</a:t>
            </a:r>
          </a:p>
        </p:txBody>
      </p:sp>
      <p:sp>
        <p:nvSpPr>
          <p:cNvPr id="3" name="Content Placeholder 2"/>
          <p:cNvSpPr>
            <a:spLocks noGrp="1"/>
          </p:cNvSpPr>
          <p:nvPr>
            <p:ph sz="quarter" idx="11"/>
          </p:nvPr>
        </p:nvSpPr>
        <p:spPr>
          <a:xfrm>
            <a:off x="467544" y="1560612"/>
            <a:ext cx="8229600" cy="4676700"/>
          </a:xfrm>
        </p:spPr>
        <p:txBody>
          <a:bodyPr/>
          <a:lstStyle/>
          <a:p>
            <a:endParaRPr lang="en-US" dirty="0"/>
          </a:p>
          <a:p>
            <a:pPr marL="514350" indent="-514350">
              <a:buFont typeface="+mj-lt"/>
              <a:buAutoNum type="arabicPeriod"/>
            </a:pPr>
            <a:r>
              <a:rPr lang="en-US" dirty="0"/>
              <a:t>Reflected</a:t>
            </a:r>
          </a:p>
          <a:p>
            <a:pPr marL="514350" indent="-514350">
              <a:buFont typeface="+mj-lt"/>
              <a:buAutoNum type="arabicPeriod"/>
            </a:pPr>
            <a:r>
              <a:rPr lang="en-US" dirty="0"/>
              <a:t>Stored</a:t>
            </a:r>
          </a:p>
          <a:p>
            <a:pPr marL="514350" indent="-514350">
              <a:buFont typeface="+mj-lt"/>
              <a:buAutoNum type="arabicPeriod"/>
            </a:pPr>
            <a:r>
              <a:rPr lang="en-US" dirty="0"/>
              <a:t>DOM based</a:t>
            </a:r>
          </a:p>
        </p:txBody>
      </p:sp>
    </p:spTree>
    <p:extLst>
      <p:ext uri="{BB962C8B-B14F-4D97-AF65-F5344CB8AC3E}">
        <p14:creationId xmlns:p14="http://schemas.microsoft.com/office/powerpoint/2010/main" val="3782007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1. Reflected XSS</a:t>
            </a:r>
          </a:p>
        </p:txBody>
      </p:sp>
      <p:sp>
        <p:nvSpPr>
          <p:cNvPr id="3" name="Content Placeholder 2"/>
          <p:cNvSpPr>
            <a:spLocks noGrp="1"/>
          </p:cNvSpPr>
          <p:nvPr>
            <p:ph sz="quarter" idx="11"/>
          </p:nvPr>
        </p:nvSpPr>
        <p:spPr>
          <a:xfrm>
            <a:off x="468313" y="1556792"/>
            <a:ext cx="8229600" cy="4676775"/>
          </a:xfrm>
        </p:spPr>
        <p:txBody>
          <a:bodyPr>
            <a:normAutofit/>
          </a:bodyPr>
          <a:lstStyle/>
          <a:p>
            <a:r>
              <a:rPr lang="en-US" sz="2800" dirty="0"/>
              <a:t>Reflected XSS occurs when user input is immediately returned by a web application in an error message, search result, or any other response that includes some or all of the input provided by the user as part of the request, without that data being made safe to render in the browser, and without permanently storing the user provided data.</a:t>
            </a:r>
          </a:p>
        </p:txBody>
      </p:sp>
    </p:spTree>
    <p:extLst>
      <p:ext uri="{BB962C8B-B14F-4D97-AF65-F5344CB8AC3E}">
        <p14:creationId xmlns:p14="http://schemas.microsoft.com/office/powerpoint/2010/main" val="4102201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Reflected XSS Example</a:t>
            </a:r>
          </a:p>
        </p:txBody>
      </p:sp>
      <p:sp>
        <p:nvSpPr>
          <p:cNvPr id="5" name="Content Placeholder 4">
            <a:extLst>
              <a:ext uri="{FF2B5EF4-FFF2-40B4-BE49-F238E27FC236}">
                <a16:creationId xmlns:a16="http://schemas.microsoft.com/office/drawing/2014/main" id="{E0A8319D-C189-5A00-8878-C1C6B2949A29}"/>
              </a:ext>
            </a:extLst>
          </p:cNvPr>
          <p:cNvSpPr>
            <a:spLocks noGrp="1"/>
          </p:cNvSpPr>
          <p:nvPr>
            <p:ph sz="quarter" idx="11"/>
          </p:nvPr>
        </p:nvSpPr>
        <p:spPr/>
        <p:txBody>
          <a:bodyPr/>
          <a:lstStyle/>
          <a:p>
            <a:pPr marL="0" indent="0">
              <a:buNone/>
            </a:pPr>
            <a:r>
              <a:rPr lang="en-US" sz="2800" dirty="0"/>
              <a:t>Vulnerable site victim.com</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9976" y="2276872"/>
            <a:ext cx="6624736" cy="406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0495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79512" y="16778"/>
            <a:ext cx="8964488" cy="1069514"/>
          </a:xfrm>
        </p:spPr>
        <p:txBody>
          <a:bodyPr/>
          <a:lstStyle/>
          <a:p>
            <a:r>
              <a:rPr lang="en-US" dirty="0"/>
              <a:t>Reflected XSS Example</a:t>
            </a:r>
          </a:p>
        </p:txBody>
      </p:sp>
      <p:sp>
        <p:nvSpPr>
          <p:cNvPr id="5" name="Content Placeholder 4">
            <a:extLst>
              <a:ext uri="{FF2B5EF4-FFF2-40B4-BE49-F238E27FC236}">
                <a16:creationId xmlns:a16="http://schemas.microsoft.com/office/drawing/2014/main" id="{BCEDB228-1CC1-AF21-D703-7B186C5992DB}"/>
              </a:ext>
            </a:extLst>
          </p:cNvPr>
          <p:cNvSpPr>
            <a:spLocks noGrp="1"/>
          </p:cNvSpPr>
          <p:nvPr>
            <p:ph sz="quarter" idx="11"/>
          </p:nvPr>
        </p:nvSpPr>
        <p:spPr/>
        <p:txBody>
          <a:bodyPr/>
          <a:lstStyle/>
          <a:p>
            <a:pPr marL="0" indent="0">
              <a:buNone/>
            </a:pPr>
            <a:r>
              <a:rPr lang="en-US" sz="2800" dirty="0"/>
              <a:t>Exploiting the vulnerability</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204864"/>
            <a:ext cx="6564052" cy="4095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649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79512" y="16778"/>
            <a:ext cx="8964488" cy="1069514"/>
          </a:xfrm>
        </p:spPr>
        <p:txBody>
          <a:bodyPr/>
          <a:lstStyle/>
          <a:p>
            <a:r>
              <a:rPr lang="en-US" dirty="0"/>
              <a:t>Reflected XSS Example</a:t>
            </a:r>
          </a:p>
        </p:txBody>
      </p:sp>
      <p:sp>
        <p:nvSpPr>
          <p:cNvPr id="5" name="Content Placeholder 4">
            <a:extLst>
              <a:ext uri="{FF2B5EF4-FFF2-40B4-BE49-F238E27FC236}">
                <a16:creationId xmlns:a16="http://schemas.microsoft.com/office/drawing/2014/main" id="{F8C70BFE-AA3C-96A4-F2DA-72F2AB27E2C9}"/>
              </a:ext>
            </a:extLst>
          </p:cNvPr>
          <p:cNvSpPr>
            <a:spLocks noGrp="1"/>
          </p:cNvSpPr>
          <p:nvPr>
            <p:ph sz="quarter" idx="11"/>
          </p:nvPr>
        </p:nvSpPr>
        <p:spPr/>
        <p:txBody>
          <a:bodyPr/>
          <a:lstStyle/>
          <a:p>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276" y="1268760"/>
            <a:ext cx="7461448" cy="5314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9159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2. Stored (Persistent) XSS</a:t>
            </a:r>
          </a:p>
        </p:txBody>
      </p:sp>
      <p:sp>
        <p:nvSpPr>
          <p:cNvPr id="3" name="Content Placeholder 2"/>
          <p:cNvSpPr>
            <a:spLocks noGrp="1"/>
          </p:cNvSpPr>
          <p:nvPr>
            <p:ph sz="quarter" idx="11"/>
          </p:nvPr>
        </p:nvSpPr>
        <p:spPr>
          <a:xfrm>
            <a:off x="467544" y="1560612"/>
            <a:ext cx="8229600" cy="4676700"/>
          </a:xfrm>
        </p:spPr>
        <p:txBody>
          <a:bodyPr/>
          <a:lstStyle/>
          <a:p>
            <a:r>
              <a:rPr lang="en-US" sz="2800" dirty="0"/>
              <a:t>To successfully execute a stored XSS attack, a perpetrator has to locate a vulnerability in a web application and then inject malicious script into its server (e.g., via a comment field).</a:t>
            </a:r>
          </a:p>
        </p:txBody>
      </p:sp>
    </p:spTree>
    <p:extLst>
      <p:ext uri="{BB962C8B-B14F-4D97-AF65-F5344CB8AC3E}">
        <p14:creationId xmlns:p14="http://schemas.microsoft.com/office/powerpoint/2010/main" val="3033566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76962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179512" y="16778"/>
            <a:ext cx="8964488" cy="1069514"/>
          </a:xfrm>
        </p:spPr>
        <p:txBody>
          <a:bodyPr/>
          <a:lstStyle/>
          <a:p>
            <a:r>
              <a:rPr lang="en-US" dirty="0"/>
              <a:t>Stored XSS – How it works?</a:t>
            </a:r>
          </a:p>
        </p:txBody>
      </p:sp>
    </p:spTree>
    <p:extLst>
      <p:ext uri="{BB962C8B-B14F-4D97-AF65-F5344CB8AC3E}">
        <p14:creationId xmlns:p14="http://schemas.microsoft.com/office/powerpoint/2010/main" val="2542664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Stored XSS Example</a:t>
            </a:r>
          </a:p>
        </p:txBody>
      </p:sp>
      <p:pic>
        <p:nvPicPr>
          <p:cNvPr id="4" name="Content Placeholder 3" descr="C:\Users\SAAD\Pictures\persistent-xss.png"/>
          <p:cNvPicPr>
            <a:picLocks noGrp="1" noChangeAspect="1" noChangeArrowheads="1"/>
          </p:cNvPicPr>
          <p:nvPr>
            <p:ph sz="quarter" idx="11"/>
          </p:nvPr>
        </p:nvPicPr>
        <p:blipFill>
          <a:blip r:embed="rId3"/>
          <a:stretch>
            <a:fillRect/>
          </a:stretch>
        </p:blipFill>
        <p:spPr bwMode="auto">
          <a:xfrm>
            <a:off x="191829" y="1340768"/>
            <a:ext cx="8760342" cy="4968552"/>
          </a:xfrm>
          <a:noFill/>
        </p:spPr>
      </p:pic>
    </p:spTree>
    <p:extLst>
      <p:ext uri="{BB962C8B-B14F-4D97-AF65-F5344CB8AC3E}">
        <p14:creationId xmlns:p14="http://schemas.microsoft.com/office/powerpoint/2010/main" val="1576662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970BF-D488-4C88-5C87-377D6388F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CF2BF-AC98-0F3C-2FEE-1D8676D694B4}"/>
              </a:ext>
            </a:extLst>
          </p:cNvPr>
          <p:cNvSpPr>
            <a:spLocks noGrp="1"/>
          </p:cNvSpPr>
          <p:nvPr>
            <p:ph type="title"/>
          </p:nvPr>
        </p:nvSpPr>
        <p:spPr>
          <a:xfrm>
            <a:off x="179512" y="16778"/>
            <a:ext cx="8964488" cy="1069514"/>
          </a:xfrm>
        </p:spPr>
        <p:txBody>
          <a:bodyPr/>
          <a:lstStyle/>
          <a:p>
            <a:r>
              <a:rPr lang="en-US" dirty="0"/>
              <a:t>3. DOM Based XSS</a:t>
            </a:r>
          </a:p>
        </p:txBody>
      </p:sp>
      <p:sp>
        <p:nvSpPr>
          <p:cNvPr id="3" name="Content Placeholder 2">
            <a:extLst>
              <a:ext uri="{FF2B5EF4-FFF2-40B4-BE49-F238E27FC236}">
                <a16:creationId xmlns:a16="http://schemas.microsoft.com/office/drawing/2014/main" id="{B52E956B-A4FF-65AF-866A-DF584A2797BB}"/>
              </a:ext>
            </a:extLst>
          </p:cNvPr>
          <p:cNvSpPr>
            <a:spLocks noGrp="1"/>
          </p:cNvSpPr>
          <p:nvPr>
            <p:ph sz="quarter" idx="11"/>
          </p:nvPr>
        </p:nvSpPr>
        <p:spPr>
          <a:xfrm>
            <a:off x="467544" y="1560612"/>
            <a:ext cx="8229600" cy="4676700"/>
          </a:xfrm>
        </p:spPr>
        <p:txBody>
          <a:bodyPr>
            <a:noAutofit/>
          </a:bodyPr>
          <a:lstStyle/>
          <a:p>
            <a:r>
              <a:rPr lang="en-US" sz="2400" dirty="0"/>
              <a:t>The DOM (Document Object Model) is a data structure that stores all of the objects present in a web page. Every tag used in HTML code represents a DOM object.</a:t>
            </a:r>
          </a:p>
          <a:p>
            <a:pPr lvl="1"/>
            <a:r>
              <a:rPr lang="en-US" sz="2000" dirty="0"/>
              <a:t>DOM makes dynamic, single-page applications possible.</a:t>
            </a:r>
          </a:p>
          <a:p>
            <a:r>
              <a:rPr lang="en-US" sz="2400" dirty="0"/>
              <a:t>DOM-based XSS (or as it is called in some texts, “type-0 XSS”) is purely a client-side vulnerability. The entire attack happens in the web browser.</a:t>
            </a:r>
          </a:p>
          <a:p>
            <a:r>
              <a:rPr lang="en-US" sz="2400" dirty="0"/>
              <a:t>Every DOM-based XSS vulnerability has two elements: the </a:t>
            </a:r>
            <a:r>
              <a:rPr lang="en-US" sz="2400" b="1" dirty="0"/>
              <a:t>source</a:t>
            </a:r>
            <a:r>
              <a:rPr lang="en-US" sz="2400" dirty="0"/>
              <a:t> of user input and the target where this user input is written, called a </a:t>
            </a:r>
            <a:r>
              <a:rPr lang="en-US" sz="2400" b="1" dirty="0"/>
              <a:t>sink</a:t>
            </a:r>
            <a:r>
              <a:rPr lang="en-US" sz="2400" dirty="0"/>
              <a:t>.</a:t>
            </a:r>
          </a:p>
        </p:txBody>
      </p:sp>
    </p:spTree>
    <p:extLst>
      <p:ext uri="{BB962C8B-B14F-4D97-AF65-F5344CB8AC3E}">
        <p14:creationId xmlns:p14="http://schemas.microsoft.com/office/powerpoint/2010/main" val="11127211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3. DOM Based XSS</a:t>
            </a:r>
          </a:p>
        </p:txBody>
      </p:sp>
      <p:sp>
        <p:nvSpPr>
          <p:cNvPr id="3" name="Content Placeholder 2"/>
          <p:cNvSpPr>
            <a:spLocks noGrp="1"/>
          </p:cNvSpPr>
          <p:nvPr>
            <p:ph sz="quarter" idx="11"/>
          </p:nvPr>
        </p:nvSpPr>
        <p:spPr>
          <a:xfrm>
            <a:off x="467544" y="1560612"/>
            <a:ext cx="8229600" cy="4676700"/>
          </a:xfrm>
        </p:spPr>
        <p:txBody>
          <a:bodyPr>
            <a:noAutofit/>
          </a:bodyPr>
          <a:lstStyle/>
          <a:p>
            <a:r>
              <a:rPr lang="en-US" sz="2400" dirty="0"/>
              <a:t>A DOM-based XSS attack is possible if the web application writes input data to the DOM without proper sanitization.</a:t>
            </a:r>
          </a:p>
          <a:p>
            <a:pPr lvl="1"/>
            <a:r>
              <a:rPr lang="en-US" sz="2000" dirty="0"/>
              <a:t>Because input data might contain arbitrary </a:t>
            </a:r>
            <a:r>
              <a:rPr lang="en-US" sz="2000" dirty="0" err="1"/>
              <a:t>javascript</a:t>
            </a:r>
            <a:endParaRPr lang="en-US" sz="2000" dirty="0"/>
          </a:p>
          <a:p>
            <a:r>
              <a:rPr lang="en-US" sz="2400" dirty="0"/>
              <a:t>For JavaScript code to be vulnerable to DOM-based XSS, it must take information from a source that can be controlled by the attacker and then pass this information to a sink.</a:t>
            </a:r>
          </a:p>
          <a:p>
            <a:pPr lvl="1"/>
            <a:r>
              <a:rPr lang="en-US" sz="2000" dirty="0"/>
              <a:t>Attacker-controllable sources include the URL parameters</a:t>
            </a:r>
          </a:p>
          <a:p>
            <a:pPr lvl="1"/>
            <a:r>
              <a:rPr lang="en-US" sz="2000" dirty="0"/>
              <a:t>Vulnerable sink examples are </a:t>
            </a:r>
            <a:r>
              <a:rPr lang="en-US" sz="2000" dirty="0">
                <a:latin typeface="Consolas" panose="020B0609020204030204" pitchFamily="49" charset="0"/>
              </a:rPr>
              <a:t>eval()</a:t>
            </a:r>
            <a:r>
              <a:rPr lang="en-US" sz="2000" dirty="0"/>
              <a:t> and </a:t>
            </a:r>
            <a:r>
              <a:rPr lang="en-US" sz="2000" dirty="0" err="1">
                <a:latin typeface="Consolas" panose="020B0609020204030204" pitchFamily="49" charset="0"/>
              </a:rPr>
              <a:t>document.write</a:t>
            </a:r>
            <a:r>
              <a:rPr lang="en-US" sz="2000" dirty="0">
                <a:latin typeface="Consolas" panose="020B0609020204030204" pitchFamily="49" charset="0"/>
              </a:rPr>
              <a:t>()</a:t>
            </a:r>
            <a:r>
              <a:rPr lang="en-US" sz="2000" dirty="0"/>
              <a:t> method of DOM API.</a:t>
            </a:r>
            <a:endParaRPr lang="en-US" sz="2400" dirty="0"/>
          </a:p>
        </p:txBody>
      </p:sp>
    </p:spTree>
    <p:extLst>
      <p:ext uri="{BB962C8B-B14F-4D97-AF65-F5344CB8AC3E}">
        <p14:creationId xmlns:p14="http://schemas.microsoft.com/office/powerpoint/2010/main" val="3188647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DOM Based XSS Example 1</a:t>
            </a:r>
          </a:p>
        </p:txBody>
      </p:sp>
      <p:sp>
        <p:nvSpPr>
          <p:cNvPr id="5" name="Content Placeholder 4">
            <a:extLst>
              <a:ext uri="{FF2B5EF4-FFF2-40B4-BE49-F238E27FC236}">
                <a16:creationId xmlns:a16="http://schemas.microsoft.com/office/drawing/2014/main" id="{0AD23A1D-0668-66B7-BD24-E694027745B6}"/>
              </a:ext>
            </a:extLst>
          </p:cNvPr>
          <p:cNvSpPr>
            <a:spLocks noGrp="1"/>
          </p:cNvSpPr>
          <p:nvPr>
            <p:ph sz="quarter" idx="11"/>
          </p:nvPr>
        </p:nvSpPr>
        <p:spPr/>
        <p:txBody>
          <a:bodyPr/>
          <a:lstStyle/>
          <a:p>
            <a:endParaRPr lang="en-US"/>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43000"/>
            <a:ext cx="8382000" cy="52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55981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normAutofit/>
          </a:bodyPr>
          <a:lstStyle/>
          <a:p>
            <a:r>
              <a:rPr lang="en-US" dirty="0"/>
              <a:t>DOM Based XSS Example 2</a:t>
            </a:r>
          </a:p>
        </p:txBody>
      </p:sp>
      <p:pic>
        <p:nvPicPr>
          <p:cNvPr id="4" name="Content Placeholder 3" descr="C:\Users\SAAD\Pictures\dom-based-xss.png"/>
          <p:cNvPicPr>
            <a:picLocks noGrp="1" noChangeAspect="1" noChangeArrowheads="1"/>
          </p:cNvPicPr>
          <p:nvPr>
            <p:ph sz="quarter" idx="11"/>
          </p:nvPr>
        </p:nvPicPr>
        <p:blipFill>
          <a:blip r:embed="rId3"/>
          <a:stretch>
            <a:fillRect/>
          </a:stretch>
        </p:blipFill>
        <p:spPr bwMode="auto">
          <a:xfrm>
            <a:off x="190355" y="1114166"/>
            <a:ext cx="8824411" cy="5635101"/>
          </a:xfrm>
          <a:noFill/>
        </p:spPr>
      </p:pic>
    </p:spTree>
    <p:extLst>
      <p:ext uri="{BB962C8B-B14F-4D97-AF65-F5344CB8AC3E}">
        <p14:creationId xmlns:p14="http://schemas.microsoft.com/office/powerpoint/2010/main" val="1794347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202C-1E3E-5029-564B-E4E693F71D81}"/>
              </a:ext>
            </a:extLst>
          </p:cNvPr>
          <p:cNvSpPr>
            <a:spLocks noGrp="1"/>
          </p:cNvSpPr>
          <p:nvPr>
            <p:ph type="title"/>
          </p:nvPr>
        </p:nvSpPr>
        <p:spPr/>
        <p:txBody>
          <a:bodyPr/>
          <a:lstStyle/>
          <a:p>
            <a:r>
              <a:rPr lang="en-US" sz="3600" dirty="0"/>
              <a:t>Multiple of ways of inserting scripts</a:t>
            </a:r>
          </a:p>
        </p:txBody>
      </p:sp>
      <p:sp>
        <p:nvSpPr>
          <p:cNvPr id="3" name="Content Placeholder 2">
            <a:extLst>
              <a:ext uri="{FF2B5EF4-FFF2-40B4-BE49-F238E27FC236}">
                <a16:creationId xmlns:a16="http://schemas.microsoft.com/office/drawing/2014/main" id="{BEB1FDC5-6297-2956-79B8-C34B13335F7A}"/>
              </a:ext>
            </a:extLst>
          </p:cNvPr>
          <p:cNvSpPr>
            <a:spLocks noGrp="1"/>
          </p:cNvSpPr>
          <p:nvPr>
            <p:ph sz="quarter" idx="11"/>
          </p:nvPr>
        </p:nvSpPr>
        <p:spPr/>
        <p:txBody>
          <a:bodyPr/>
          <a:lstStyle/>
          <a:p>
            <a:pPr marL="0" indent="0">
              <a:buNone/>
            </a:pPr>
            <a:r>
              <a:rPr lang="en-US" sz="2400" dirty="0">
                <a:latin typeface="Consolas" panose="020B0609020204030204" pitchFamily="49" charset="0"/>
              </a:rPr>
              <a:t>&lt;script&gt;</a:t>
            </a:r>
            <a:r>
              <a:rPr lang="en-US" sz="2400" dirty="0"/>
              <a:t> tag is NOT the only way </a:t>
            </a:r>
            <a:r>
              <a:rPr lang="en-US" sz="2400" dirty="0" err="1"/>
              <a:t>javascript</a:t>
            </a:r>
            <a:r>
              <a:rPr lang="en-US" sz="2400" dirty="0"/>
              <a:t> code is inserted in a webpage. There are other methods too, e.g.</a:t>
            </a:r>
          </a:p>
          <a:p>
            <a:pPr marL="0" indent="0">
              <a:buNone/>
            </a:pPr>
            <a:endParaRPr lang="en-US" sz="2400" dirty="0"/>
          </a:p>
          <a:p>
            <a:r>
              <a:rPr lang="en-US" sz="2400" b="0" dirty="0">
                <a:solidFill>
                  <a:srgbClr val="800000"/>
                </a:solidFill>
                <a:effectLst/>
                <a:latin typeface="Consolas" panose="020B0609020204030204" pitchFamily="49" charset="0"/>
              </a:rPr>
              <a:t>&lt;body</a:t>
            </a:r>
            <a:r>
              <a:rPr lang="en-US" sz="2400" b="0" dirty="0">
                <a:solidFill>
                  <a:srgbClr val="000000"/>
                </a:solidFill>
                <a:effectLst/>
                <a:latin typeface="Consolas" panose="020B0609020204030204" pitchFamily="49" charset="0"/>
              </a:rPr>
              <a:t> </a:t>
            </a:r>
            <a:r>
              <a:rPr lang="en-US" sz="2400" b="0" dirty="0">
                <a:solidFill>
                  <a:srgbClr val="E50000"/>
                </a:solidFill>
                <a:effectLst/>
                <a:latin typeface="Consolas" panose="020B0609020204030204" pitchFamily="49" charset="0"/>
              </a:rPr>
              <a:t>onload</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a:t>
            </a:r>
            <a:r>
              <a:rPr lang="en-US" sz="2400" b="0" dirty="0">
                <a:solidFill>
                  <a:srgbClr val="795E26"/>
                </a:solidFill>
                <a:effectLst/>
                <a:latin typeface="Consolas" panose="020B0609020204030204" pitchFamily="49" charset="0"/>
              </a:rPr>
              <a:t>alert</a:t>
            </a:r>
            <a:r>
              <a:rPr lang="en-US" sz="2400" b="0" dirty="0">
                <a:solidFill>
                  <a:srgbClr val="0000FF"/>
                </a:solidFill>
                <a:effectLst/>
                <a:latin typeface="Consolas" panose="020B0609020204030204" pitchFamily="49" charset="0"/>
              </a:rPr>
              <a:t>(</a:t>
            </a:r>
            <a:r>
              <a:rPr lang="en-US" sz="2400" b="0" dirty="0">
                <a:solidFill>
                  <a:srgbClr val="A31515"/>
                </a:solidFill>
                <a:effectLst/>
                <a:latin typeface="Consolas" panose="020B0609020204030204" pitchFamily="49" charset="0"/>
              </a:rPr>
              <a:t>'attack'</a:t>
            </a:r>
            <a:r>
              <a:rPr lang="en-US" sz="2400" b="0" dirty="0">
                <a:solidFill>
                  <a:srgbClr val="0000FF"/>
                </a:solidFill>
                <a:effectLst/>
                <a:latin typeface="Consolas" panose="020B0609020204030204" pitchFamily="49" charset="0"/>
              </a:rPr>
              <a:t>)"</a:t>
            </a:r>
            <a:r>
              <a:rPr lang="en-US" sz="2400" b="0" dirty="0">
                <a:solidFill>
                  <a:srgbClr val="800000"/>
                </a:solidFill>
                <a:effectLst/>
                <a:latin typeface="Consolas" panose="020B0609020204030204" pitchFamily="49" charset="0"/>
              </a:rPr>
              <a:t>&gt;</a:t>
            </a:r>
            <a:br>
              <a:rPr lang="en-US" sz="2400" dirty="0"/>
            </a:br>
            <a:r>
              <a:rPr lang="en-US" sz="2400" dirty="0"/>
              <a:t>similarly there are other event handlers</a:t>
            </a:r>
          </a:p>
          <a:p>
            <a:endParaRPr lang="en-US" sz="2400" dirty="0"/>
          </a:p>
          <a:p>
            <a:r>
              <a:rPr lang="en-US" sz="2400" b="0" dirty="0">
                <a:solidFill>
                  <a:srgbClr val="800000"/>
                </a:solidFill>
                <a:effectLst/>
                <a:latin typeface="Consolas" panose="020B0609020204030204" pitchFamily="49" charset="0"/>
              </a:rPr>
              <a:t>&lt;</a:t>
            </a:r>
            <a:r>
              <a:rPr lang="en-US" sz="2400" b="0" dirty="0" err="1">
                <a:solidFill>
                  <a:srgbClr val="800000"/>
                </a:solidFill>
                <a:effectLst/>
                <a:latin typeface="Consolas" panose="020B0609020204030204" pitchFamily="49" charset="0"/>
              </a:rPr>
              <a:t>img</a:t>
            </a:r>
            <a:r>
              <a:rPr lang="en-US" sz="2400" b="0" dirty="0">
                <a:solidFill>
                  <a:srgbClr val="000000"/>
                </a:solidFill>
                <a:effectLst/>
                <a:latin typeface="Consolas" panose="020B0609020204030204" pitchFamily="49" charset="0"/>
              </a:rPr>
              <a:t> </a:t>
            </a:r>
            <a:r>
              <a:rPr lang="en-US" sz="2400" b="0" dirty="0" err="1">
                <a:solidFill>
                  <a:srgbClr val="E50000"/>
                </a:solidFill>
                <a:effectLst/>
                <a:latin typeface="Consolas" panose="020B0609020204030204" pitchFamily="49" charset="0"/>
              </a:rPr>
              <a:t>src</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a:t>
            </a:r>
            <a:r>
              <a:rPr lang="en-US" sz="2400" b="0" dirty="0" err="1">
                <a:solidFill>
                  <a:srgbClr val="0000FF"/>
                </a:solidFill>
                <a:effectLst/>
                <a:latin typeface="Consolas" panose="020B0609020204030204" pitchFamily="49" charset="0"/>
              </a:rPr>
              <a:t>javascript:alert</a:t>
            </a:r>
            <a:r>
              <a:rPr lang="en-US" sz="2400" b="0" dirty="0">
                <a:solidFill>
                  <a:srgbClr val="0000FF"/>
                </a:solidFill>
                <a:effectLst/>
                <a:latin typeface="Consolas" panose="020B0609020204030204" pitchFamily="49" charset="0"/>
              </a:rPr>
              <a:t>('attack')"</a:t>
            </a:r>
            <a:r>
              <a:rPr lang="en-US" sz="2400" b="0" dirty="0">
                <a:solidFill>
                  <a:srgbClr val="800000"/>
                </a:solidFill>
                <a:effectLst/>
                <a:latin typeface="Consolas" panose="020B0609020204030204" pitchFamily="49" charset="0"/>
              </a:rPr>
              <a:t>&gt;</a:t>
            </a:r>
            <a:endParaRPr lang="fr-FR" sz="2400" dirty="0">
              <a:latin typeface="Consolas" panose="020B0609020204030204" pitchFamily="49" charset="0"/>
            </a:endParaRPr>
          </a:p>
          <a:p>
            <a:endParaRPr lang="fr-FR" sz="2400" dirty="0">
              <a:latin typeface="Consolas" panose="020B0609020204030204" pitchFamily="49" charset="0"/>
            </a:endParaRPr>
          </a:p>
          <a:p>
            <a:r>
              <a:rPr lang="en-US" sz="2400" b="0" dirty="0">
                <a:solidFill>
                  <a:srgbClr val="800000"/>
                </a:solidFill>
                <a:effectLst/>
                <a:latin typeface="Consolas" panose="020B0609020204030204" pitchFamily="49" charset="0"/>
              </a:rPr>
              <a:t>&lt;meta</a:t>
            </a:r>
            <a:r>
              <a:rPr lang="en-US" sz="2400" b="0" dirty="0">
                <a:solidFill>
                  <a:srgbClr val="000000"/>
                </a:solidFill>
                <a:effectLst/>
                <a:latin typeface="Consolas" panose="020B0609020204030204" pitchFamily="49" charset="0"/>
              </a:rPr>
              <a:t> </a:t>
            </a:r>
            <a:r>
              <a:rPr lang="en-US" sz="2400" b="0" dirty="0">
                <a:solidFill>
                  <a:srgbClr val="E50000"/>
                </a:solidFill>
                <a:effectLst/>
                <a:latin typeface="Consolas" panose="020B0609020204030204" pitchFamily="49" charset="0"/>
              </a:rPr>
              <a:t>http-</a:t>
            </a:r>
            <a:r>
              <a:rPr lang="en-US" sz="2400" b="0" dirty="0" err="1">
                <a:solidFill>
                  <a:srgbClr val="E50000"/>
                </a:solidFill>
                <a:effectLst/>
                <a:latin typeface="Consolas" panose="020B0609020204030204" pitchFamily="49" charset="0"/>
              </a:rPr>
              <a:t>equiv</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"refresh"</a:t>
            </a:r>
            <a:r>
              <a:rPr lang="en-US" sz="2400" b="0" dirty="0">
                <a:solidFill>
                  <a:srgbClr val="000000"/>
                </a:solidFill>
                <a:effectLst/>
                <a:latin typeface="Consolas" panose="020B0609020204030204" pitchFamily="49" charset="0"/>
              </a:rPr>
              <a:t> </a:t>
            </a:r>
            <a:r>
              <a:rPr lang="en-US" sz="2400" b="0" dirty="0">
                <a:solidFill>
                  <a:srgbClr val="E50000"/>
                </a:solidFill>
                <a:effectLst/>
                <a:latin typeface="Consolas" panose="020B0609020204030204" pitchFamily="49" charset="0"/>
              </a:rPr>
              <a:t>content</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"0;url=</a:t>
            </a:r>
            <a:r>
              <a:rPr lang="en-US" sz="2400" b="0" dirty="0" err="1">
                <a:solidFill>
                  <a:srgbClr val="0000FF"/>
                </a:solidFill>
                <a:effectLst/>
                <a:latin typeface="Consolas" panose="020B0609020204030204" pitchFamily="49" charset="0"/>
              </a:rPr>
              <a:t>data:text</a:t>
            </a:r>
            <a:r>
              <a:rPr lang="en-US" sz="2400" b="0" dirty="0">
                <a:solidFill>
                  <a:srgbClr val="0000FF"/>
                </a:solidFill>
                <a:effectLst/>
                <a:latin typeface="Consolas" panose="020B0609020204030204" pitchFamily="49" charset="0"/>
              </a:rPr>
              <a:t>/html;</a:t>
            </a:r>
            <a:r>
              <a:rPr lang="en-US" sz="2400" dirty="0">
                <a:solidFill>
                  <a:srgbClr val="0000FF"/>
                </a:solidFill>
                <a:latin typeface="Consolas" panose="020B0609020204030204" pitchFamily="49" charset="0"/>
              </a:rPr>
              <a:t>&lt;</a:t>
            </a:r>
            <a:r>
              <a:rPr lang="en-US" sz="2400" b="0" dirty="0">
                <a:solidFill>
                  <a:srgbClr val="0000FF"/>
                </a:solidFill>
                <a:effectLst/>
                <a:latin typeface="Consolas" panose="020B0609020204030204" pitchFamily="49" charset="0"/>
              </a:rPr>
              <a:t>script&gt;alert('attack')</a:t>
            </a:r>
            <a:r>
              <a:rPr lang="en-US" sz="2400" dirty="0">
                <a:solidFill>
                  <a:srgbClr val="0000FF"/>
                </a:solidFill>
                <a:latin typeface="Consolas" panose="020B0609020204030204" pitchFamily="49" charset="0"/>
              </a:rPr>
              <a:t>&lt;</a:t>
            </a:r>
            <a:r>
              <a:rPr lang="en-US" sz="2400" b="0" dirty="0">
                <a:solidFill>
                  <a:srgbClr val="0000FF"/>
                </a:solidFill>
                <a:effectLst/>
                <a:latin typeface="Consolas" panose="020B0609020204030204" pitchFamily="49" charset="0"/>
              </a:rPr>
              <a:t>/script&gt;"</a:t>
            </a:r>
            <a:r>
              <a:rPr lang="en-US" sz="2400" b="0" dirty="0">
                <a:solidFill>
                  <a:srgbClr val="800000"/>
                </a:solidFill>
                <a:effectLst/>
                <a:latin typeface="Consolas" panose="020B0609020204030204" pitchFamily="49" charset="0"/>
              </a:rPr>
              <a:t>&gt;</a:t>
            </a:r>
            <a:endParaRPr lang="en-US" sz="2400" dirty="0">
              <a:latin typeface="Consolas" panose="020B0609020204030204" pitchFamily="49" charset="0"/>
            </a:endParaRPr>
          </a:p>
        </p:txBody>
      </p:sp>
    </p:spTree>
    <p:extLst>
      <p:ext uri="{BB962C8B-B14F-4D97-AF65-F5344CB8AC3E}">
        <p14:creationId xmlns:p14="http://schemas.microsoft.com/office/powerpoint/2010/main" val="31518832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XSS Defenses	</a:t>
            </a:r>
          </a:p>
        </p:txBody>
      </p:sp>
      <p:sp>
        <p:nvSpPr>
          <p:cNvPr id="3" name="Content Placeholder 2"/>
          <p:cNvSpPr>
            <a:spLocks noGrp="1"/>
          </p:cNvSpPr>
          <p:nvPr>
            <p:ph sz="quarter" idx="11"/>
          </p:nvPr>
        </p:nvSpPr>
        <p:spPr>
          <a:xfrm>
            <a:off x="467544" y="1560612"/>
            <a:ext cx="8229600" cy="4676700"/>
          </a:xfrm>
        </p:spPr>
        <p:txBody>
          <a:bodyPr>
            <a:noAutofit/>
          </a:bodyPr>
          <a:lstStyle/>
          <a:p>
            <a:pPr marL="0" indent="0">
              <a:buNone/>
            </a:pPr>
            <a:r>
              <a:rPr lang="en-US" sz="2600" dirty="0"/>
              <a:t>An XSS attack is basically code injection: user input is mistakenly interpreted as malicious program code. In order to prevent this type of code injection, </a:t>
            </a:r>
            <a:r>
              <a:rPr lang="en-US" sz="2600" b="1" dirty="0"/>
              <a:t>secure input handling</a:t>
            </a:r>
            <a:r>
              <a:rPr lang="en-US" sz="2600" dirty="0"/>
              <a:t> is needed. It includes:</a:t>
            </a:r>
          </a:p>
          <a:p>
            <a:r>
              <a:rPr lang="en-US" sz="2600" dirty="0"/>
              <a:t>Validation</a:t>
            </a:r>
          </a:p>
          <a:p>
            <a:pPr lvl="1"/>
            <a:r>
              <a:rPr lang="en-US" sz="2200" dirty="0"/>
              <a:t>which filters the user input so that malicious commands are removed.</a:t>
            </a:r>
          </a:p>
          <a:p>
            <a:r>
              <a:rPr lang="en-US" sz="2600" dirty="0"/>
              <a:t>Encoding</a:t>
            </a:r>
          </a:p>
          <a:p>
            <a:pPr lvl="1"/>
            <a:r>
              <a:rPr lang="en-US" sz="2200" dirty="0"/>
              <a:t>which </a:t>
            </a:r>
            <a:r>
              <a:rPr lang="en-US" sz="2200" dirty="0">
                <a:solidFill>
                  <a:srgbClr val="C00000"/>
                </a:solidFill>
              </a:rPr>
              <a:t>escapes</a:t>
            </a:r>
            <a:r>
              <a:rPr lang="en-US" sz="2200" dirty="0"/>
              <a:t> the user input so that the browser interprets it only as data, not as code.</a:t>
            </a:r>
          </a:p>
          <a:p>
            <a:pPr lvl="1"/>
            <a:endParaRPr lang="en-US" sz="2000" dirty="0"/>
          </a:p>
          <a:p>
            <a:endParaRPr lang="en-US" sz="2400" dirty="0"/>
          </a:p>
        </p:txBody>
      </p:sp>
    </p:spTree>
    <p:extLst>
      <p:ext uri="{BB962C8B-B14F-4D97-AF65-F5344CB8AC3E}">
        <p14:creationId xmlns:p14="http://schemas.microsoft.com/office/powerpoint/2010/main" val="22087464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1. Validation</a:t>
            </a:r>
          </a:p>
        </p:txBody>
      </p:sp>
      <p:sp>
        <p:nvSpPr>
          <p:cNvPr id="3" name="Content Placeholder 2"/>
          <p:cNvSpPr>
            <a:spLocks noGrp="1"/>
          </p:cNvSpPr>
          <p:nvPr>
            <p:ph sz="quarter" idx="11"/>
          </p:nvPr>
        </p:nvSpPr>
        <p:spPr/>
        <p:txBody>
          <a:bodyPr>
            <a:noAutofit/>
          </a:bodyPr>
          <a:lstStyle/>
          <a:p>
            <a:pPr marL="0" indent="0">
              <a:buNone/>
            </a:pPr>
            <a:r>
              <a:rPr lang="en-US" sz="2200" dirty="0"/>
              <a:t>Validation is the act of filtering user input so that all malicious parts of it are removed, without necessarily removing all code in it. </a:t>
            </a:r>
          </a:p>
          <a:p>
            <a:r>
              <a:rPr lang="en-US" sz="2200" dirty="0"/>
              <a:t>In some cases, validation can (and should be) very strict, e.g. phone number input can only contain digits, dates have to be in a specific format, names can only contain alphabetic letters and few allowed symbols etc.</a:t>
            </a:r>
          </a:p>
          <a:p>
            <a:r>
              <a:rPr lang="en-US" sz="2200" dirty="0"/>
              <a:t>In other cases, validation rules are more relaxed, e.g. a product review, a forum post etc. need to have formatting in them, so some HTML tags need to be used (such as </a:t>
            </a:r>
            <a:r>
              <a:rPr lang="en-US" sz="2200" dirty="0">
                <a:latin typeface="Consolas" panose="020B0609020204030204" pitchFamily="49" charset="0"/>
              </a:rPr>
              <a:t>&lt;</a:t>
            </a:r>
            <a:r>
              <a:rPr lang="en-US" sz="2200" dirty="0" err="1">
                <a:latin typeface="Consolas" panose="020B0609020204030204" pitchFamily="49" charset="0"/>
              </a:rPr>
              <a:t>em</a:t>
            </a:r>
            <a:r>
              <a:rPr lang="en-US" sz="2200" dirty="0">
                <a:latin typeface="Consolas" panose="020B0609020204030204" pitchFamily="49" charset="0"/>
              </a:rPr>
              <a:t>&gt;</a:t>
            </a:r>
            <a:r>
              <a:rPr lang="en-US" sz="2200" dirty="0"/>
              <a:t> and </a:t>
            </a:r>
            <a:r>
              <a:rPr lang="en-US" sz="2200" dirty="0">
                <a:latin typeface="Consolas" panose="020B0609020204030204" pitchFamily="49" charset="0"/>
              </a:rPr>
              <a:t>&lt;strong&gt;</a:t>
            </a:r>
            <a:r>
              <a:rPr lang="en-US" sz="2200" dirty="0"/>
              <a:t>). In such cases, only a limited set of HTML elements may be allowed so that dangerous ones like </a:t>
            </a:r>
            <a:r>
              <a:rPr lang="en-US" sz="2200" dirty="0">
                <a:latin typeface="Consolas" panose="020B0609020204030204" pitchFamily="49" charset="0"/>
              </a:rPr>
              <a:t>&lt;script&gt;</a:t>
            </a:r>
            <a:r>
              <a:rPr lang="en-US" sz="2200" dirty="0"/>
              <a:t> are blocked.</a:t>
            </a:r>
          </a:p>
          <a:p>
            <a:endParaRPr lang="en-US" sz="2200" dirty="0"/>
          </a:p>
        </p:txBody>
      </p:sp>
    </p:spTree>
    <p:extLst>
      <p:ext uri="{BB962C8B-B14F-4D97-AF65-F5344CB8AC3E}">
        <p14:creationId xmlns:p14="http://schemas.microsoft.com/office/powerpoint/2010/main" val="3268568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71E1-C6AE-2051-E2B2-462D192BC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58FD0-6C58-957E-3FB4-4204CA2EE4D4}"/>
              </a:ext>
            </a:extLst>
          </p:cNvPr>
          <p:cNvSpPr>
            <a:spLocks noGrp="1"/>
          </p:cNvSpPr>
          <p:nvPr>
            <p:ph type="title"/>
          </p:nvPr>
        </p:nvSpPr>
        <p:spPr/>
        <p:txBody>
          <a:bodyPr/>
          <a:lstStyle/>
          <a:p>
            <a:pPr algn="l"/>
            <a:r>
              <a:rPr lang="en-US" dirty="0"/>
              <a:t>1. Validation</a:t>
            </a:r>
          </a:p>
        </p:txBody>
      </p:sp>
      <p:sp>
        <p:nvSpPr>
          <p:cNvPr id="3" name="Content Placeholder 2">
            <a:extLst>
              <a:ext uri="{FF2B5EF4-FFF2-40B4-BE49-F238E27FC236}">
                <a16:creationId xmlns:a16="http://schemas.microsoft.com/office/drawing/2014/main" id="{FCAEDBA3-20EC-2F2E-437E-4905924F8976}"/>
              </a:ext>
            </a:extLst>
          </p:cNvPr>
          <p:cNvSpPr>
            <a:spLocks noGrp="1"/>
          </p:cNvSpPr>
          <p:nvPr>
            <p:ph sz="quarter" idx="11"/>
          </p:nvPr>
        </p:nvSpPr>
        <p:spPr/>
        <p:txBody>
          <a:bodyPr>
            <a:noAutofit/>
          </a:bodyPr>
          <a:lstStyle/>
          <a:p>
            <a:r>
              <a:rPr lang="en-US" sz="2400" dirty="0"/>
              <a:t>There are two main characteristics of validation that differ between implementations:</a:t>
            </a:r>
          </a:p>
          <a:p>
            <a:endParaRPr lang="en-US" sz="2000" dirty="0"/>
          </a:p>
          <a:p>
            <a:pPr marL="0" indent="0">
              <a:buNone/>
            </a:pPr>
            <a:r>
              <a:rPr lang="en-US" sz="2400" b="1" dirty="0">
                <a:solidFill>
                  <a:srgbClr val="C00000"/>
                </a:solidFill>
              </a:rPr>
              <a:t>Classification strategy</a:t>
            </a:r>
          </a:p>
          <a:p>
            <a:r>
              <a:rPr lang="en-US" sz="2400" dirty="0"/>
              <a:t>User input can be classified with a whitelist</a:t>
            </a:r>
          </a:p>
          <a:p>
            <a:pPr lvl="1"/>
            <a:r>
              <a:rPr lang="en-US" sz="2000" dirty="0"/>
              <a:t>Blacklisting approach is not recommended, it is easy to miss some unsafe characters</a:t>
            </a:r>
          </a:p>
          <a:p>
            <a:pPr lvl="1"/>
            <a:endParaRPr lang="en-US" sz="2000" dirty="0"/>
          </a:p>
          <a:p>
            <a:pPr marL="0" indent="0">
              <a:buNone/>
            </a:pPr>
            <a:r>
              <a:rPr lang="en-US" sz="2400" b="1" dirty="0">
                <a:solidFill>
                  <a:srgbClr val="C00000"/>
                </a:solidFill>
              </a:rPr>
              <a:t>Validation outcome</a:t>
            </a:r>
          </a:p>
          <a:p>
            <a:r>
              <a:rPr lang="en-US" sz="2400" dirty="0"/>
              <a:t>User input identified as malicious can either be rejected completely, or sanitized (malicious parts removed).</a:t>
            </a:r>
          </a:p>
          <a:p>
            <a:endParaRPr lang="en-US" sz="2400" dirty="0"/>
          </a:p>
        </p:txBody>
      </p:sp>
    </p:spTree>
    <p:extLst>
      <p:ext uri="{BB962C8B-B14F-4D97-AF65-F5344CB8AC3E}">
        <p14:creationId xmlns:p14="http://schemas.microsoft.com/office/powerpoint/2010/main" val="16491949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2. Encoding (escaping)</a:t>
            </a:r>
          </a:p>
        </p:txBody>
      </p:sp>
      <p:sp>
        <p:nvSpPr>
          <p:cNvPr id="3" name="Content Placeholder 2"/>
          <p:cNvSpPr>
            <a:spLocks noGrp="1"/>
          </p:cNvSpPr>
          <p:nvPr>
            <p:ph sz="quarter" idx="11"/>
          </p:nvPr>
        </p:nvSpPr>
        <p:spPr/>
        <p:txBody>
          <a:bodyPr>
            <a:normAutofit/>
          </a:bodyPr>
          <a:lstStyle/>
          <a:p>
            <a:pPr marL="0" indent="0">
              <a:buNone/>
            </a:pPr>
            <a:r>
              <a:rPr lang="en-US" sz="2400" dirty="0"/>
              <a:t>Encoding is the act of escaping user input so that the browser interprets it only as data, not as code. </a:t>
            </a:r>
          </a:p>
          <a:p>
            <a:r>
              <a:rPr lang="en-US" sz="2400" dirty="0"/>
              <a:t>The most recognizable type of encoding in web development is HTML escaping, which converts characters like </a:t>
            </a:r>
            <a:r>
              <a:rPr lang="en-US" sz="2400" b="1" dirty="0"/>
              <a:t>&lt;</a:t>
            </a:r>
            <a:r>
              <a:rPr lang="en-US" sz="2400" dirty="0"/>
              <a:t> and </a:t>
            </a:r>
            <a:r>
              <a:rPr lang="en-US" sz="2400" b="1" dirty="0"/>
              <a:t>&gt;</a:t>
            </a:r>
            <a:r>
              <a:rPr lang="en-US" sz="2400" dirty="0"/>
              <a:t> into </a:t>
            </a:r>
            <a:r>
              <a:rPr lang="en-US" sz="2400" b="1" dirty="0"/>
              <a:t>&amp;</a:t>
            </a:r>
            <a:r>
              <a:rPr lang="en-US" sz="2400" b="1" dirty="0" err="1"/>
              <a:t>lt</a:t>
            </a:r>
            <a:r>
              <a:rPr lang="en-US" sz="2400" b="1" dirty="0"/>
              <a:t>;</a:t>
            </a:r>
            <a:r>
              <a:rPr lang="en-US" sz="2400" dirty="0"/>
              <a:t> and </a:t>
            </a:r>
            <a:r>
              <a:rPr lang="en-US" sz="2400" b="1" dirty="0"/>
              <a:t>&amp;</a:t>
            </a:r>
            <a:r>
              <a:rPr lang="en-US" sz="2400" b="1" dirty="0" err="1"/>
              <a:t>gt</a:t>
            </a:r>
            <a:r>
              <a:rPr lang="en-US" sz="2400" b="1" dirty="0"/>
              <a:t>;</a:t>
            </a:r>
            <a:r>
              <a:rPr lang="en-US" sz="2400" dirty="0"/>
              <a:t>, respectively.</a:t>
            </a:r>
          </a:p>
          <a:p>
            <a:r>
              <a:rPr lang="en-US" sz="2400" dirty="0"/>
              <a:t>If the user input were the string </a:t>
            </a:r>
            <a:r>
              <a:rPr lang="en-US" sz="2400" dirty="0">
                <a:latin typeface="Consolas" panose="020B0609020204030204" pitchFamily="49" charset="0"/>
              </a:rPr>
              <a:t>&lt;script&gt;...</a:t>
            </a:r>
            <a:br>
              <a:rPr lang="en-US" sz="2400" dirty="0">
                <a:latin typeface="Consolas" panose="020B0609020204030204" pitchFamily="49" charset="0"/>
              </a:rPr>
            </a:br>
            <a:r>
              <a:rPr lang="en-US" sz="2400" dirty="0">
                <a:latin typeface="Consolas" panose="020B0609020204030204" pitchFamily="49" charset="0"/>
              </a:rPr>
              <a:t>&lt;/script&gt;</a:t>
            </a:r>
            <a:r>
              <a:rPr lang="en-US" sz="2400" dirty="0"/>
              <a:t>, the resulting HTML would be as follows</a:t>
            </a:r>
          </a:p>
        </p:txBody>
      </p:sp>
      <p:pic>
        <p:nvPicPr>
          <p:cNvPr id="4" name="Picture 3"/>
          <p:cNvPicPr>
            <a:picLocks noChangeAspect="1" noChangeArrowheads="1"/>
          </p:cNvPicPr>
          <p:nvPr/>
        </p:nvPicPr>
        <p:blipFill>
          <a:blip r:embed="rId2"/>
          <a:srcRect/>
          <a:stretch>
            <a:fillRect/>
          </a:stretch>
        </p:blipFill>
        <p:spPr bwMode="auto">
          <a:xfrm>
            <a:off x="1447068" y="4869160"/>
            <a:ext cx="6429375" cy="1209675"/>
          </a:xfrm>
          <a:prstGeom prst="rect">
            <a:avLst/>
          </a:prstGeom>
          <a:noFill/>
          <a:ln w="9525">
            <a:noFill/>
            <a:miter lim="800000"/>
            <a:headEnd/>
            <a:tailEnd/>
          </a:ln>
          <a:effectLst/>
        </p:spPr>
      </p:pic>
    </p:spTree>
    <p:extLst>
      <p:ext uri="{BB962C8B-B14F-4D97-AF65-F5344CB8AC3E}">
        <p14:creationId xmlns:p14="http://schemas.microsoft.com/office/powerpoint/2010/main" val="2939495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79512" y="16778"/>
            <a:ext cx="8964488" cy="1069514"/>
          </a:xfrm>
        </p:spPr>
        <p:txBody>
          <a:bodyPr/>
          <a:lstStyle/>
          <a:p>
            <a:r>
              <a:rPr lang="en-US" sz="3200" dirty="0"/>
              <a:t>Secure Input Handling – Considerations	</a:t>
            </a:r>
          </a:p>
        </p:txBody>
      </p:sp>
      <p:sp>
        <p:nvSpPr>
          <p:cNvPr id="3" name="Content Placeholder 2"/>
          <p:cNvSpPr>
            <a:spLocks noGrp="1"/>
          </p:cNvSpPr>
          <p:nvPr>
            <p:ph sz="quarter" idx="11"/>
          </p:nvPr>
        </p:nvSpPr>
        <p:spPr>
          <a:xfrm>
            <a:off x="467544" y="1560612"/>
            <a:ext cx="8229600" cy="4676700"/>
          </a:xfrm>
        </p:spPr>
        <p:txBody>
          <a:bodyPr>
            <a:noAutofit/>
          </a:bodyPr>
          <a:lstStyle/>
          <a:p>
            <a:pPr marL="0" indent="0">
              <a:buNone/>
            </a:pPr>
            <a:r>
              <a:rPr lang="en-US" sz="2200" dirty="0">
                <a:solidFill>
                  <a:srgbClr val="C00000"/>
                </a:solidFill>
              </a:rPr>
              <a:t>a) Inbound/outbound</a:t>
            </a:r>
          </a:p>
          <a:p>
            <a:r>
              <a:rPr lang="en-US" sz="2200" dirty="0"/>
              <a:t>Secure input handling can be performed either when your website receives the input (inbound) or right before your website inserts that input into a page (outbound).</a:t>
            </a:r>
          </a:p>
          <a:p>
            <a:pPr marL="0" indent="0">
              <a:buNone/>
            </a:pPr>
            <a:r>
              <a:rPr lang="en-US" sz="2200" dirty="0">
                <a:solidFill>
                  <a:srgbClr val="C00000"/>
                </a:solidFill>
              </a:rPr>
              <a:t>b) Context</a:t>
            </a:r>
          </a:p>
          <a:p>
            <a:r>
              <a:rPr lang="en-US" sz="2200" dirty="0"/>
              <a:t>Output encoding needs to be performed differently depending on where in a page the user input is inserted.</a:t>
            </a:r>
          </a:p>
          <a:p>
            <a:pPr marL="0" indent="0">
              <a:buNone/>
            </a:pPr>
            <a:r>
              <a:rPr lang="en-US" sz="2200" dirty="0">
                <a:solidFill>
                  <a:srgbClr val="C00000"/>
                </a:solidFill>
              </a:rPr>
              <a:t>c) Client/server</a:t>
            </a:r>
          </a:p>
          <a:p>
            <a:r>
              <a:rPr lang="en-US" sz="2200" dirty="0"/>
              <a:t>Input validation can be performed either on the client-side or on the server-side, both of which are needed under different circumstances.</a:t>
            </a:r>
          </a:p>
          <a:p>
            <a:endParaRPr lang="en-US" sz="2200" dirty="0"/>
          </a:p>
          <a:p>
            <a:endParaRPr lang="en-US" sz="2200" dirty="0"/>
          </a:p>
        </p:txBody>
      </p:sp>
    </p:spTree>
    <p:extLst>
      <p:ext uri="{BB962C8B-B14F-4D97-AF65-F5344CB8AC3E}">
        <p14:creationId xmlns:p14="http://schemas.microsoft.com/office/powerpoint/2010/main" val="19048029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normAutofit/>
          </a:bodyPr>
          <a:lstStyle/>
          <a:p>
            <a:r>
              <a:rPr lang="en-US" sz="3600" dirty="0"/>
              <a:t>a) Inbound/outbound input handling</a:t>
            </a:r>
          </a:p>
        </p:txBody>
      </p:sp>
      <p:sp>
        <p:nvSpPr>
          <p:cNvPr id="3" name="Content Placeholder 2"/>
          <p:cNvSpPr>
            <a:spLocks noGrp="1"/>
          </p:cNvSpPr>
          <p:nvPr>
            <p:ph sz="quarter" idx="11"/>
          </p:nvPr>
        </p:nvSpPr>
        <p:spPr>
          <a:xfrm>
            <a:off x="467544" y="1560612"/>
            <a:ext cx="8229600" cy="4676700"/>
          </a:xfrm>
        </p:spPr>
        <p:txBody>
          <a:bodyPr>
            <a:noAutofit/>
          </a:bodyPr>
          <a:lstStyle/>
          <a:p>
            <a:r>
              <a:rPr lang="en-US" sz="2400" dirty="0"/>
              <a:t>As a first line of defense, XSS can be prevented by validating ALL user input as soon as your website receives it. This way, any malicious strings should already have been neutralized whenever they are included in a page.</a:t>
            </a:r>
          </a:p>
          <a:p>
            <a:r>
              <a:rPr lang="en-US" sz="2400" dirty="0"/>
              <a:t>Following the concept of </a:t>
            </a:r>
            <a:r>
              <a:rPr lang="en-US" sz="2400" i="1" dirty="0"/>
              <a:t>perfect injection resistance</a:t>
            </a:r>
            <a:r>
              <a:rPr lang="en-US" sz="2400" dirty="0"/>
              <a:t>, all user input should then be encoded (escaped) before it is included in the web page for output.</a:t>
            </a:r>
          </a:p>
          <a:p>
            <a:r>
              <a:rPr lang="en-US" sz="2400" dirty="0"/>
              <a:t>In summary, the recommended approach is </a:t>
            </a:r>
            <a:r>
              <a:rPr lang="en-US" sz="2400" dirty="0">
                <a:solidFill>
                  <a:srgbClr val="C00000"/>
                </a:solidFill>
              </a:rPr>
              <a:t>both</a:t>
            </a:r>
            <a:r>
              <a:rPr lang="en-US" sz="2400" dirty="0"/>
              <a:t>: </a:t>
            </a:r>
            <a:r>
              <a:rPr lang="en-US" sz="2400" b="1" dirty="0"/>
              <a:t>validation inbound</a:t>
            </a:r>
            <a:r>
              <a:rPr lang="en-US" sz="2400" dirty="0"/>
              <a:t> plus </a:t>
            </a:r>
            <a:r>
              <a:rPr lang="en-US" sz="2400" b="1" dirty="0"/>
              <a:t>encoding outbound</a:t>
            </a:r>
            <a:r>
              <a:rPr lang="en-US" sz="2400" dirty="0"/>
              <a:t>.</a:t>
            </a:r>
          </a:p>
          <a:p>
            <a:pPr lvl="1"/>
            <a:r>
              <a:rPr lang="en-US" sz="2000" dirty="0"/>
              <a:t>Sometimes you need to display output exactly as the user typed, validation won’t help there, only encoding will help.</a:t>
            </a:r>
          </a:p>
        </p:txBody>
      </p:sp>
      <p:sp>
        <p:nvSpPr>
          <p:cNvPr id="5" name="TextBox 4">
            <a:extLst>
              <a:ext uri="{FF2B5EF4-FFF2-40B4-BE49-F238E27FC236}">
                <a16:creationId xmlns:a16="http://schemas.microsoft.com/office/drawing/2014/main" id="{BA7F5FBA-BA10-A374-A148-0621D15CACF9}"/>
              </a:ext>
            </a:extLst>
          </p:cNvPr>
          <p:cNvSpPr txBox="1"/>
          <p:nvPr/>
        </p:nvSpPr>
        <p:spPr>
          <a:xfrm>
            <a:off x="179512" y="6309320"/>
            <a:ext cx="8784976" cy="276999"/>
          </a:xfrm>
          <a:prstGeom prst="rect">
            <a:avLst/>
          </a:prstGeom>
          <a:noFill/>
        </p:spPr>
        <p:txBody>
          <a:bodyPr wrap="square">
            <a:spAutoFit/>
          </a:bodyPr>
          <a:lstStyle/>
          <a:p>
            <a:pPr latinLnBrk="0"/>
            <a:r>
              <a:rPr lang="en-US" sz="1200" dirty="0">
                <a:hlinkClick r:id="rId2"/>
              </a:rPr>
              <a:t>https://cheatsheetseries.owasp.org/cheatsheets/Cross_Site_Scripting_Prevention_Cheat_Sheet.html#xss-defense-philosophy</a:t>
            </a:r>
            <a:endParaRPr lang="en-US" sz="1200" dirty="0"/>
          </a:p>
        </p:txBody>
      </p:sp>
    </p:spTree>
    <p:extLst>
      <p:ext uri="{BB962C8B-B14F-4D97-AF65-F5344CB8AC3E}">
        <p14:creationId xmlns:p14="http://schemas.microsoft.com/office/powerpoint/2010/main" val="41513519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6778"/>
            <a:ext cx="8964488" cy="1069514"/>
          </a:xfrm>
        </p:spPr>
        <p:txBody>
          <a:bodyPr/>
          <a:lstStyle/>
          <a:p>
            <a:r>
              <a:rPr lang="en-US" dirty="0"/>
              <a:t>b) Output contexts</a:t>
            </a:r>
          </a:p>
        </p:txBody>
      </p:sp>
      <p:sp>
        <p:nvSpPr>
          <p:cNvPr id="3" name="Content Placeholder 2"/>
          <p:cNvSpPr>
            <a:spLocks noGrp="1"/>
          </p:cNvSpPr>
          <p:nvPr>
            <p:ph sz="quarter" idx="11"/>
          </p:nvPr>
        </p:nvSpPr>
        <p:spPr>
          <a:xfrm>
            <a:off x="467544" y="1560612"/>
            <a:ext cx="8229600" cy="4676700"/>
          </a:xfrm>
        </p:spPr>
        <p:txBody>
          <a:bodyPr/>
          <a:lstStyle/>
          <a:p>
            <a:pPr marL="0" indent="0">
              <a:buNone/>
            </a:pPr>
            <a:r>
              <a:rPr lang="en-US" sz="2400" dirty="0"/>
              <a:t>There are many contexts in a web page where user input might be inserted. For each of these, specific rules must be followed so that the user input cannot break out of its context and be interpreted as malicious code. Below are the most common contexts:</a:t>
            </a:r>
          </a:p>
          <a:p>
            <a:endParaRPr lang="en-US" sz="2400" dirty="0"/>
          </a:p>
        </p:txBody>
      </p:sp>
      <p:pic>
        <p:nvPicPr>
          <p:cNvPr id="4" name="Picture 3"/>
          <p:cNvPicPr>
            <a:picLocks noChangeAspect="1" noChangeArrowheads="1"/>
          </p:cNvPicPr>
          <p:nvPr/>
        </p:nvPicPr>
        <p:blipFill>
          <a:blip r:embed="rId2"/>
          <a:srcRect/>
          <a:stretch>
            <a:fillRect/>
          </a:stretch>
        </p:blipFill>
        <p:spPr bwMode="auto">
          <a:xfrm>
            <a:off x="1143000" y="3733799"/>
            <a:ext cx="7238999" cy="2574925"/>
          </a:xfrm>
          <a:prstGeom prst="rect">
            <a:avLst/>
          </a:prstGeom>
          <a:noFill/>
          <a:ln w="9525">
            <a:noFill/>
            <a:miter lim="800000"/>
            <a:headEnd/>
            <a:tailEnd/>
          </a:ln>
          <a:effectLst/>
        </p:spPr>
      </p:pic>
    </p:spTree>
    <p:extLst>
      <p:ext uri="{BB962C8B-B14F-4D97-AF65-F5344CB8AC3E}">
        <p14:creationId xmlns:p14="http://schemas.microsoft.com/office/powerpoint/2010/main" val="570466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pPr algn="l"/>
            <a:r>
              <a:rPr lang="en-US" dirty="0"/>
              <a:t>b) Output contexts</a:t>
            </a:r>
          </a:p>
        </p:txBody>
      </p:sp>
      <p:sp>
        <p:nvSpPr>
          <p:cNvPr id="3" name="Content Placeholder 2"/>
          <p:cNvSpPr>
            <a:spLocks noGrp="1"/>
          </p:cNvSpPr>
          <p:nvPr>
            <p:ph sz="quarter" idx="11"/>
          </p:nvPr>
        </p:nvSpPr>
        <p:spPr/>
        <p:txBody>
          <a:bodyPr>
            <a:normAutofit/>
          </a:bodyPr>
          <a:lstStyle/>
          <a:p>
            <a:r>
              <a:rPr lang="en-US" sz="2200" dirty="0"/>
              <a:t>In all of the contexts described, an XSS vulnerability would arise if user input were inserted before first being encoded or validated. An attacker would then be able to inject malicious code by simply inserting the closing delimiter for that context and following it with the malicious code.</a:t>
            </a:r>
          </a:p>
          <a:p>
            <a:r>
              <a:rPr lang="en-US" sz="2200" dirty="0"/>
              <a:t>For example, if at some point a website inserts user input directly into an HTML attribute, an attacker would be able to inject a malicious script by beginning his input with a quotation mark and closing angle bracket: </a:t>
            </a:r>
            <a:r>
              <a:rPr lang="en-US" sz="2200" dirty="0">
                <a:solidFill>
                  <a:srgbClr val="FF0000"/>
                </a:solidFill>
                <a:latin typeface="Consolas" panose="020B0609020204030204" pitchFamily="49" charset="0"/>
              </a:rPr>
              <a:t>"&gt;</a:t>
            </a:r>
          </a:p>
          <a:p>
            <a:endParaRPr lang="en-US" sz="2200" dirty="0"/>
          </a:p>
        </p:txBody>
      </p:sp>
      <p:pic>
        <p:nvPicPr>
          <p:cNvPr id="4" name="Picture 3"/>
          <p:cNvPicPr>
            <a:picLocks noChangeAspect="1" noChangeArrowheads="1"/>
          </p:cNvPicPr>
          <p:nvPr/>
        </p:nvPicPr>
        <p:blipFill>
          <a:blip r:embed="rId2"/>
          <a:srcRect/>
          <a:stretch>
            <a:fillRect/>
          </a:stretch>
        </p:blipFill>
        <p:spPr bwMode="auto">
          <a:xfrm>
            <a:off x="1043756" y="4941168"/>
            <a:ext cx="7236000" cy="1407659"/>
          </a:xfrm>
          <a:prstGeom prst="rect">
            <a:avLst/>
          </a:prstGeom>
          <a:noFill/>
          <a:ln w="9525">
            <a:noFill/>
            <a:miter lim="800000"/>
            <a:headEnd/>
            <a:tailEnd/>
          </a:ln>
          <a:effectLst/>
        </p:spPr>
      </p:pic>
    </p:spTree>
    <p:extLst>
      <p:ext uri="{BB962C8B-B14F-4D97-AF65-F5344CB8AC3E}">
        <p14:creationId xmlns:p14="http://schemas.microsoft.com/office/powerpoint/2010/main" val="2222802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859" t="2010" r="967" b="3490"/>
          <a:stretch/>
        </p:blipFill>
        <p:spPr bwMode="auto">
          <a:xfrm>
            <a:off x="683568" y="2780928"/>
            <a:ext cx="7848872"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179512" y="16778"/>
            <a:ext cx="8964488" cy="1069514"/>
          </a:xfrm>
        </p:spPr>
        <p:txBody>
          <a:bodyPr/>
          <a:lstStyle/>
          <a:p>
            <a:r>
              <a:rPr lang="en-US" dirty="0"/>
              <a:t>b) Output contexts</a:t>
            </a:r>
          </a:p>
        </p:txBody>
      </p:sp>
      <p:sp>
        <p:nvSpPr>
          <p:cNvPr id="2" name="TextBox 1">
            <a:extLst>
              <a:ext uri="{FF2B5EF4-FFF2-40B4-BE49-F238E27FC236}">
                <a16:creationId xmlns:a16="http://schemas.microsoft.com/office/drawing/2014/main" id="{1C43C4AF-F8AD-4F91-FD66-DEAF58213114}"/>
              </a:ext>
            </a:extLst>
          </p:cNvPr>
          <p:cNvSpPr txBox="1"/>
          <p:nvPr/>
        </p:nvSpPr>
        <p:spPr>
          <a:xfrm>
            <a:off x="683568" y="1364575"/>
            <a:ext cx="7927032" cy="1200329"/>
          </a:xfrm>
          <a:prstGeom prst="rect">
            <a:avLst/>
          </a:prstGeom>
          <a:noFill/>
        </p:spPr>
        <p:txBody>
          <a:bodyPr wrap="square" rtlCol="0">
            <a:spAutoFit/>
          </a:bodyPr>
          <a:lstStyle/>
          <a:p>
            <a:pPr latinLnBrk="0"/>
            <a:r>
              <a:rPr lang="en-US" sz="2400" dirty="0"/>
              <a:t>Correct methods to insert a potentially unsafe input are called </a:t>
            </a:r>
            <a:r>
              <a:rPr lang="en-US" sz="2400" b="1" dirty="0"/>
              <a:t>safe sinks</a:t>
            </a:r>
            <a:r>
              <a:rPr lang="en-US" sz="2400" dirty="0"/>
              <a:t>.</a:t>
            </a:r>
          </a:p>
          <a:p>
            <a:pPr latinLnBrk="0"/>
            <a:r>
              <a:rPr lang="en-US" sz="2400" dirty="0"/>
              <a:t>Using safe sinks will take care of escaping that input.</a:t>
            </a:r>
          </a:p>
        </p:txBody>
      </p:sp>
    </p:spTree>
    <p:extLst>
      <p:ext uri="{BB962C8B-B14F-4D97-AF65-F5344CB8AC3E}">
        <p14:creationId xmlns:p14="http://schemas.microsoft.com/office/powerpoint/2010/main" val="1036629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dirty="0"/>
              <a:t>c) Client- or Server-side validation</a:t>
            </a:r>
          </a:p>
        </p:txBody>
      </p:sp>
      <p:sp>
        <p:nvSpPr>
          <p:cNvPr id="3" name="Content Placeholder 2"/>
          <p:cNvSpPr>
            <a:spLocks noGrp="1"/>
          </p:cNvSpPr>
          <p:nvPr>
            <p:ph sz="quarter" idx="11"/>
          </p:nvPr>
        </p:nvSpPr>
        <p:spPr/>
        <p:txBody>
          <a:bodyPr>
            <a:noAutofit/>
          </a:bodyPr>
          <a:lstStyle/>
          <a:p>
            <a:r>
              <a:rPr lang="en-US" sz="2400" dirty="0"/>
              <a:t>In most modern web applications, user input is handled by both server-side code and client-side code.</a:t>
            </a:r>
          </a:p>
          <a:p>
            <a:r>
              <a:rPr lang="en-US" sz="2400" dirty="0"/>
              <a:t>In order to protect against </a:t>
            </a:r>
            <a:r>
              <a:rPr lang="en-US" sz="2400" dirty="0">
                <a:solidFill>
                  <a:srgbClr val="C00000"/>
                </a:solidFill>
              </a:rPr>
              <a:t>traditional XSS</a:t>
            </a:r>
            <a:r>
              <a:rPr lang="en-US" sz="2400" dirty="0"/>
              <a:t>, input validation must be performed in </a:t>
            </a:r>
            <a:r>
              <a:rPr lang="en-US" sz="2400" b="1" dirty="0"/>
              <a:t>server-side code</a:t>
            </a:r>
            <a:r>
              <a:rPr lang="en-US" sz="2400" dirty="0"/>
              <a:t>. </a:t>
            </a:r>
          </a:p>
          <a:p>
            <a:pPr lvl="1"/>
            <a:r>
              <a:rPr lang="en-US" sz="2000" dirty="0"/>
              <a:t>This is done using any language supported by the server.</a:t>
            </a:r>
          </a:p>
          <a:p>
            <a:r>
              <a:rPr lang="en-US" sz="2400" dirty="0"/>
              <a:t>In order to protect against </a:t>
            </a:r>
            <a:r>
              <a:rPr lang="en-US" sz="2400" dirty="0">
                <a:solidFill>
                  <a:srgbClr val="C00000"/>
                </a:solidFill>
              </a:rPr>
              <a:t>DOM-based XSS</a:t>
            </a:r>
            <a:r>
              <a:rPr lang="en-US" sz="2400" dirty="0"/>
              <a:t> where the server never receives the malicious string (such as the fragment identifier attack described earlier), validation must be performed in </a:t>
            </a:r>
            <a:r>
              <a:rPr lang="en-US" sz="2400" b="1" dirty="0"/>
              <a:t>client-side code</a:t>
            </a:r>
            <a:r>
              <a:rPr lang="en-US" sz="2400" dirty="0"/>
              <a:t>.</a:t>
            </a:r>
          </a:p>
          <a:p>
            <a:pPr lvl="1"/>
            <a:r>
              <a:rPr lang="en-US" sz="2000" dirty="0"/>
              <a:t>This is done using JavaScript.</a:t>
            </a:r>
          </a:p>
          <a:p>
            <a:endParaRPr lang="en-US" sz="2400" dirty="0"/>
          </a:p>
        </p:txBody>
      </p:sp>
    </p:spTree>
    <p:extLst>
      <p:ext uri="{BB962C8B-B14F-4D97-AF65-F5344CB8AC3E}">
        <p14:creationId xmlns:p14="http://schemas.microsoft.com/office/powerpoint/2010/main" val="14787002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XSS Possible Impacts</a:t>
            </a:r>
          </a:p>
        </p:txBody>
      </p:sp>
      <p:sp>
        <p:nvSpPr>
          <p:cNvPr id="3" name="Content Placeholder 2"/>
          <p:cNvSpPr>
            <a:spLocks noGrp="1"/>
          </p:cNvSpPr>
          <p:nvPr>
            <p:ph sz="quarter" idx="11"/>
          </p:nvPr>
        </p:nvSpPr>
        <p:spPr/>
        <p:txBody>
          <a:bodyPr>
            <a:noAutofit/>
          </a:bodyPr>
          <a:lstStyle/>
          <a:p>
            <a:pPr marL="0" indent="0">
              <a:buNone/>
            </a:pPr>
            <a:r>
              <a:rPr lang="en-US" sz="2200" dirty="0"/>
              <a:t>Web browsers, thankfully keep the </a:t>
            </a:r>
            <a:r>
              <a:rPr lang="en-US" sz="2200" dirty="0" err="1"/>
              <a:t>javascript</a:t>
            </a:r>
            <a:r>
              <a:rPr lang="en-US" sz="2200" dirty="0"/>
              <a:t> code isolated and sandboxed. Hence there is no danger of a script accessing user’s files and data on disk (unless a user explicitly grants access).</a:t>
            </a:r>
          </a:p>
          <a:p>
            <a:pPr marL="0" indent="0">
              <a:buNone/>
            </a:pPr>
            <a:r>
              <a:rPr lang="en-US" sz="2200" dirty="0"/>
              <a:t>Nevertheless, like any client-side script, XSS can cause the following types of damages</a:t>
            </a:r>
          </a:p>
          <a:p>
            <a:r>
              <a:rPr lang="en-US" sz="2200" b="1" dirty="0">
                <a:solidFill>
                  <a:srgbClr val="C00000"/>
                </a:solidFill>
              </a:rPr>
              <a:t>Cookie theft</a:t>
            </a:r>
            <a:br>
              <a:rPr lang="en-US" sz="2200" b="1" dirty="0">
                <a:solidFill>
                  <a:srgbClr val="C00000"/>
                </a:solidFill>
              </a:rPr>
            </a:br>
            <a:r>
              <a:rPr lang="en-US" sz="2200" dirty="0"/>
              <a:t>The attacker can access the victim’s cookies associated with the website using </a:t>
            </a:r>
            <a:r>
              <a:rPr lang="en-US" sz="2200" dirty="0" err="1">
                <a:solidFill>
                  <a:srgbClr val="FF0000"/>
                </a:solidFill>
                <a:latin typeface="Lucida Console" panose="020B0609040504020204" pitchFamily="49" charset="0"/>
              </a:rPr>
              <a:t>document.cookie</a:t>
            </a:r>
            <a:r>
              <a:rPr lang="en-US" sz="2200" dirty="0"/>
              <a:t>, send them to his own server, and use them to masquerade as a victim user, to carry out any actions that the user is able to perform, and to access any of the user’s data.</a:t>
            </a:r>
          </a:p>
          <a:p>
            <a:endParaRPr lang="en-US" sz="2200" dirty="0"/>
          </a:p>
        </p:txBody>
      </p:sp>
    </p:spTree>
    <p:extLst>
      <p:ext uri="{BB962C8B-B14F-4D97-AF65-F5344CB8AC3E}">
        <p14:creationId xmlns:p14="http://schemas.microsoft.com/office/powerpoint/2010/main" val="40943204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XSS Possible Impacts</a:t>
            </a:r>
          </a:p>
        </p:txBody>
      </p:sp>
      <p:sp>
        <p:nvSpPr>
          <p:cNvPr id="3" name="Content Placeholder 2"/>
          <p:cNvSpPr>
            <a:spLocks noGrp="1"/>
          </p:cNvSpPr>
          <p:nvPr>
            <p:ph sz="quarter" idx="11"/>
          </p:nvPr>
        </p:nvSpPr>
        <p:spPr/>
        <p:txBody>
          <a:bodyPr>
            <a:noAutofit/>
          </a:bodyPr>
          <a:lstStyle/>
          <a:p>
            <a:r>
              <a:rPr lang="en-US" sz="2200" b="1" dirty="0">
                <a:solidFill>
                  <a:srgbClr val="C00000"/>
                </a:solidFill>
              </a:rPr>
              <a:t>Keylogging</a:t>
            </a:r>
            <a:br>
              <a:rPr lang="en-US" sz="2200" b="1" dirty="0">
                <a:solidFill>
                  <a:srgbClr val="C00000"/>
                </a:solidFill>
              </a:rPr>
            </a:br>
            <a:r>
              <a:rPr lang="en-US" sz="2200" dirty="0"/>
              <a:t>The attacker can register a keyboard event listener using </a:t>
            </a:r>
            <a:r>
              <a:rPr lang="en-US" sz="2200" dirty="0" err="1">
                <a:solidFill>
                  <a:srgbClr val="FF0000"/>
                </a:solidFill>
                <a:latin typeface="Lucida Console" panose="020B0609040504020204" pitchFamily="49" charset="0"/>
              </a:rPr>
              <a:t>addEventListener</a:t>
            </a:r>
            <a:r>
              <a:rPr lang="en-US" sz="2200" dirty="0"/>
              <a:t> and then record and send all of the user’s keystrokes to his own server, potentially stealing sensitive information such as passwords and credit card numbers.</a:t>
            </a:r>
            <a:endParaRPr lang="en-US" sz="2200" b="1" dirty="0">
              <a:solidFill>
                <a:srgbClr val="C00000"/>
              </a:solidFill>
            </a:endParaRPr>
          </a:p>
          <a:p>
            <a:r>
              <a:rPr lang="en-US" sz="2200" b="1" dirty="0">
                <a:solidFill>
                  <a:srgbClr val="C00000"/>
                </a:solidFill>
              </a:rPr>
              <a:t>Phishing</a:t>
            </a:r>
            <a:br>
              <a:rPr lang="en-US" sz="2200" b="1" dirty="0">
                <a:solidFill>
                  <a:srgbClr val="C00000"/>
                </a:solidFill>
              </a:rPr>
            </a:br>
            <a:r>
              <a:rPr lang="en-US" sz="2200" dirty="0"/>
              <a:t>The attacker can insert a fake login form into the page using DOM manipulation, set the form’s </a:t>
            </a:r>
            <a:r>
              <a:rPr lang="en-US" sz="2200" dirty="0">
                <a:solidFill>
                  <a:srgbClr val="FF0000"/>
                </a:solidFill>
                <a:latin typeface="Lucida Console" panose="020B0609040504020204" pitchFamily="49" charset="0"/>
              </a:rPr>
              <a:t>action</a:t>
            </a:r>
            <a:r>
              <a:rPr lang="en-US" sz="2200" dirty="0"/>
              <a:t> attribute to target his own server, and then trick the user into submitting sensitive information.</a:t>
            </a:r>
          </a:p>
          <a:p>
            <a:pPr algn="just"/>
            <a:r>
              <a:rPr lang="en-US" sz="2200" b="1" dirty="0">
                <a:solidFill>
                  <a:srgbClr val="C00000"/>
                </a:solidFill>
              </a:rPr>
              <a:t>Modifying presentation of content (website defacing)</a:t>
            </a:r>
          </a:p>
          <a:p>
            <a:pPr algn="just"/>
            <a:r>
              <a:rPr lang="en-US" sz="2200" b="1" dirty="0">
                <a:solidFill>
                  <a:srgbClr val="C00000"/>
                </a:solidFill>
              </a:rPr>
              <a:t>Redirecting user to a malicious site</a:t>
            </a:r>
          </a:p>
          <a:p>
            <a:pPr algn="just"/>
            <a:endParaRPr lang="en-US" sz="2200" b="1" dirty="0">
              <a:solidFill>
                <a:srgbClr val="C00000"/>
              </a:solidFill>
            </a:endParaRPr>
          </a:p>
        </p:txBody>
      </p:sp>
    </p:spTree>
    <p:extLst>
      <p:ext uri="{BB962C8B-B14F-4D97-AF65-F5344CB8AC3E}">
        <p14:creationId xmlns:p14="http://schemas.microsoft.com/office/powerpoint/2010/main" val="26316607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71044-F98F-288D-4F69-530D495E3986}"/>
              </a:ext>
            </a:extLst>
          </p:cNvPr>
          <p:cNvSpPr>
            <a:spLocks noGrp="1"/>
          </p:cNvSpPr>
          <p:nvPr>
            <p:ph type="title"/>
          </p:nvPr>
        </p:nvSpPr>
        <p:spPr/>
        <p:txBody>
          <a:bodyPr/>
          <a:lstStyle/>
          <a:p>
            <a:r>
              <a:rPr lang="en-US" dirty="0"/>
              <a:t>XSS and CSRF commonality</a:t>
            </a:r>
          </a:p>
        </p:txBody>
      </p:sp>
      <p:sp>
        <p:nvSpPr>
          <p:cNvPr id="3" name="Content Placeholder 2">
            <a:extLst>
              <a:ext uri="{FF2B5EF4-FFF2-40B4-BE49-F238E27FC236}">
                <a16:creationId xmlns:a16="http://schemas.microsoft.com/office/drawing/2014/main" id="{FE2F8A16-7285-217C-3976-152A5D7FA287}"/>
              </a:ext>
            </a:extLst>
          </p:cNvPr>
          <p:cNvSpPr>
            <a:spLocks noGrp="1"/>
          </p:cNvSpPr>
          <p:nvPr>
            <p:ph sz="quarter" idx="11"/>
          </p:nvPr>
        </p:nvSpPr>
        <p:spPr/>
        <p:txBody>
          <a:bodyPr/>
          <a:lstStyle/>
          <a:p>
            <a:endParaRPr lang="en-US"/>
          </a:p>
        </p:txBody>
      </p:sp>
      <p:pic>
        <p:nvPicPr>
          <p:cNvPr id="5" name="Picture 4">
            <a:extLst>
              <a:ext uri="{FF2B5EF4-FFF2-40B4-BE49-F238E27FC236}">
                <a16:creationId xmlns:a16="http://schemas.microsoft.com/office/drawing/2014/main" id="{0D0D2354-80B5-189A-26BF-8CC9B15968E3}"/>
              </a:ext>
            </a:extLst>
          </p:cNvPr>
          <p:cNvPicPr>
            <a:picLocks noChangeAspect="1"/>
          </p:cNvPicPr>
          <p:nvPr/>
        </p:nvPicPr>
        <p:blipFill>
          <a:blip r:embed="rId2"/>
          <a:srcRect r="3490"/>
          <a:stretch/>
        </p:blipFill>
        <p:spPr>
          <a:xfrm>
            <a:off x="100836" y="1196752"/>
            <a:ext cx="8963015" cy="5521436"/>
          </a:xfrm>
          <a:prstGeom prst="rect">
            <a:avLst/>
          </a:prstGeom>
        </p:spPr>
      </p:pic>
    </p:spTree>
    <p:extLst>
      <p:ext uri="{BB962C8B-B14F-4D97-AF65-F5344CB8AC3E}">
        <p14:creationId xmlns:p14="http://schemas.microsoft.com/office/powerpoint/2010/main" val="1429635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6119</TotalTime>
  <Words>3699</Words>
  <Application>Microsoft Office PowerPoint</Application>
  <PresentationFormat>On-screen Show (4:3)</PresentationFormat>
  <Paragraphs>317</Paragraphs>
  <Slides>58</Slides>
  <Notes>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58</vt:i4>
      </vt:variant>
    </vt:vector>
  </HeadingPairs>
  <TitlesOfParts>
    <vt:vector size="70" baseType="lpstr">
      <vt:lpstr>ＭＳ Ｐゴシック</vt:lpstr>
      <vt:lpstr>ZapfDingbats</vt:lpstr>
      <vt:lpstr>Arial</vt:lpstr>
      <vt:lpstr>Arial Narrow</vt:lpstr>
      <vt:lpstr>Calibri</vt:lpstr>
      <vt:lpstr>Consolas</vt:lpstr>
      <vt:lpstr>Courier New</vt:lpstr>
      <vt:lpstr>Lucida Console</vt:lpstr>
      <vt:lpstr>Tahoma</vt:lpstr>
      <vt:lpstr>Wingdings</vt:lpstr>
      <vt:lpstr>Office Theme</vt:lpstr>
      <vt:lpstr>Custom Design</vt:lpstr>
      <vt:lpstr>PowerPoint Presentation</vt:lpstr>
      <vt:lpstr>Background</vt:lpstr>
      <vt:lpstr>HTTP Request Message</vt:lpstr>
      <vt:lpstr>HTTP Reply Message</vt:lpstr>
      <vt:lpstr>Tracking Session using Cookies</vt:lpstr>
      <vt:lpstr>Cross Site Request Forgery</vt:lpstr>
      <vt:lpstr>Cross Site Request Forgery </vt:lpstr>
      <vt:lpstr>CSRF Attack</vt:lpstr>
      <vt:lpstr>Attack Impact and Effects</vt:lpstr>
      <vt:lpstr>Attack Prerequisites</vt:lpstr>
      <vt:lpstr>Attack Example</vt:lpstr>
      <vt:lpstr>Attack Example</vt:lpstr>
      <vt:lpstr>Attack via GET Requests</vt:lpstr>
      <vt:lpstr>Real Life Scenarios</vt:lpstr>
      <vt:lpstr>Real Life Scenarios</vt:lpstr>
      <vt:lpstr>CSRF vulnerable websites</vt:lpstr>
      <vt:lpstr>Defenses - STP</vt:lpstr>
      <vt:lpstr>STP Example</vt:lpstr>
      <vt:lpstr>STP Example</vt:lpstr>
      <vt:lpstr>STP Control Flow</vt:lpstr>
      <vt:lpstr>STP Requirements</vt:lpstr>
      <vt:lpstr>Defenses - Check Origin</vt:lpstr>
      <vt:lpstr>Defenses - Check Origin</vt:lpstr>
      <vt:lpstr>Origin Header</vt:lpstr>
      <vt:lpstr>Origin Header</vt:lpstr>
      <vt:lpstr>Referer Header</vt:lpstr>
      <vt:lpstr>Referer Header</vt:lpstr>
      <vt:lpstr>Referer Header</vt:lpstr>
      <vt:lpstr>Cross Site Scripting (XSS)</vt:lpstr>
      <vt:lpstr>Actors in an XSS attack</vt:lpstr>
      <vt:lpstr>XSS Pre-requisite</vt:lpstr>
      <vt:lpstr>XSS – How to launch?</vt:lpstr>
      <vt:lpstr>Types of XSS</vt:lpstr>
      <vt:lpstr>1. Reflected XSS</vt:lpstr>
      <vt:lpstr>Reflected XSS Example</vt:lpstr>
      <vt:lpstr>Reflected XSS Example</vt:lpstr>
      <vt:lpstr>Reflected XSS Example</vt:lpstr>
      <vt:lpstr>2. Stored (Persistent) XSS</vt:lpstr>
      <vt:lpstr>Stored XSS – How it works?</vt:lpstr>
      <vt:lpstr>Stored XSS Example</vt:lpstr>
      <vt:lpstr>3. DOM Based XSS</vt:lpstr>
      <vt:lpstr>3. DOM Based XSS</vt:lpstr>
      <vt:lpstr>DOM Based XSS Example 1</vt:lpstr>
      <vt:lpstr>DOM Based XSS Example 2</vt:lpstr>
      <vt:lpstr>Multiple of ways of inserting scripts</vt:lpstr>
      <vt:lpstr>XSS Defenses </vt:lpstr>
      <vt:lpstr>1. Validation</vt:lpstr>
      <vt:lpstr>1. Validation</vt:lpstr>
      <vt:lpstr>2. Encoding (escaping)</vt:lpstr>
      <vt:lpstr>Secure Input Handling – Considerations </vt:lpstr>
      <vt:lpstr>a) Inbound/outbound input handling</vt:lpstr>
      <vt:lpstr>b) Output contexts</vt:lpstr>
      <vt:lpstr>b) Output contexts</vt:lpstr>
      <vt:lpstr>b) Output contexts</vt:lpstr>
      <vt:lpstr>c) Client- or Server-side validation</vt:lpstr>
      <vt:lpstr>XSS Possible Impacts</vt:lpstr>
      <vt:lpstr>XSS Possible Impacts</vt:lpstr>
      <vt:lpstr>XSS and CSRF commonality</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Ammar Haider</cp:lastModifiedBy>
  <cp:revision>451</cp:revision>
  <dcterms:created xsi:type="dcterms:W3CDTF">2014-04-01T16:35:38Z</dcterms:created>
  <dcterms:modified xsi:type="dcterms:W3CDTF">2025-10-08T06:54:57Z</dcterms:modified>
</cp:coreProperties>
</file>