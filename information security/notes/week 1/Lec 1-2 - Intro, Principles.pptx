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1" r:id="rId2"/>
  </p:sldMasterIdLst>
  <p:notesMasterIdLst>
    <p:notesMasterId r:id="rId44"/>
  </p:notesMasterIdLst>
  <p:sldIdLst>
    <p:sldId id="256" r:id="rId3"/>
    <p:sldId id="410" r:id="rId4"/>
    <p:sldId id="384" r:id="rId5"/>
    <p:sldId id="334" r:id="rId6"/>
    <p:sldId id="387" r:id="rId7"/>
    <p:sldId id="388" r:id="rId8"/>
    <p:sldId id="385" r:id="rId9"/>
    <p:sldId id="383" r:id="rId10"/>
    <p:sldId id="332" r:id="rId11"/>
    <p:sldId id="386" r:id="rId12"/>
    <p:sldId id="394" r:id="rId13"/>
    <p:sldId id="408" r:id="rId14"/>
    <p:sldId id="403" r:id="rId15"/>
    <p:sldId id="406" r:id="rId16"/>
    <p:sldId id="400" r:id="rId17"/>
    <p:sldId id="402" r:id="rId18"/>
    <p:sldId id="401" r:id="rId19"/>
    <p:sldId id="405" r:id="rId20"/>
    <p:sldId id="392" r:id="rId21"/>
    <p:sldId id="407" r:id="rId22"/>
    <p:sldId id="398" r:id="rId23"/>
    <p:sldId id="404" r:id="rId24"/>
    <p:sldId id="399" r:id="rId25"/>
    <p:sldId id="395" r:id="rId26"/>
    <p:sldId id="396" r:id="rId27"/>
    <p:sldId id="397" r:id="rId28"/>
    <p:sldId id="409" r:id="rId29"/>
    <p:sldId id="411" r:id="rId30"/>
    <p:sldId id="412" r:id="rId31"/>
    <p:sldId id="345" r:id="rId32"/>
    <p:sldId id="346" r:id="rId33"/>
    <p:sldId id="347" r:id="rId34"/>
    <p:sldId id="348" r:id="rId35"/>
    <p:sldId id="349" r:id="rId36"/>
    <p:sldId id="417" r:id="rId37"/>
    <p:sldId id="350" r:id="rId38"/>
    <p:sldId id="352" r:id="rId39"/>
    <p:sldId id="351" r:id="rId40"/>
    <p:sldId id="414" r:id="rId41"/>
    <p:sldId id="415" r:id="rId42"/>
    <p:sldId id="416" r:id="rId43"/>
  </p:sldIdLst>
  <p:sldSz cx="9144000" cy="6858000" type="screen4x3"/>
  <p:notesSz cx="6858000" cy="9144000"/>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2" autoAdjust="0"/>
    <p:restoredTop sz="84293" autoAdjust="0"/>
  </p:normalViewPr>
  <p:slideViewPr>
    <p:cSldViewPr>
      <p:cViewPr varScale="1">
        <p:scale>
          <a:sx n="62" d="100"/>
          <a:sy n="62" d="100"/>
        </p:scale>
        <p:origin x="640" y="44"/>
      </p:cViewPr>
      <p:guideLst>
        <p:guide orient="horz" pos="2160"/>
        <p:guide pos="2880"/>
      </p:guideLst>
    </p:cSldViewPr>
  </p:slideViewPr>
  <p:outlineViewPr>
    <p:cViewPr>
      <p:scale>
        <a:sx n="33" d="100"/>
        <a:sy n="33" d="100"/>
      </p:scale>
      <p:origin x="0" y="-14456"/>
    </p:cViewPr>
  </p:outlineViewPr>
  <p:notesTextViewPr>
    <p:cViewPr>
      <p:scale>
        <a:sx n="1" d="1"/>
        <a:sy n="1" d="1"/>
      </p:scale>
      <p:origin x="0" y="0"/>
    </p:cViewPr>
  </p:notesTextViewPr>
  <p:sorterViewPr>
    <p:cViewPr varScale="1">
      <p:scale>
        <a:sx n="1" d="1"/>
        <a:sy n="1" d="1"/>
      </p:scale>
      <p:origin x="0" y="-2904"/>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viewProps" Target="viewProps.xml"/><Relationship Id="rId20" Type="http://schemas.openxmlformats.org/officeDocument/2006/relationships/slide" Target="slides/slide18.xml"/><Relationship Id="rId41" Type="http://schemas.openxmlformats.org/officeDocument/2006/relationships/slide" Target="slides/slide39.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94F161C-D2A0-4729-A82A-2FC3FB65B42B}" type="doc">
      <dgm:prSet loTypeId="urn:microsoft.com/office/officeart/2005/8/layout/hierarchy3" loCatId="hierarchy" qsTypeId="urn:microsoft.com/office/officeart/2005/8/quickstyle/simple1" qsCatId="simple" csTypeId="urn:microsoft.com/office/officeart/2005/8/colors/accent1_2" csCatId="accent1" phldr="1"/>
      <dgm:spPr/>
      <dgm:t>
        <a:bodyPr/>
        <a:lstStyle/>
        <a:p>
          <a:endParaRPr lang="en-AU"/>
        </a:p>
      </dgm:t>
    </dgm:pt>
    <dgm:pt modelId="{DED8C33B-78FD-45C0-9488-C462DD30010C}">
      <dgm:prSet phldrT="[Text]" custT="1"/>
      <dgm:spPr/>
      <dgm:t>
        <a:bodyPr/>
        <a:lstStyle/>
        <a:p>
          <a:pPr>
            <a:lnSpc>
              <a:spcPct val="70000"/>
            </a:lnSpc>
          </a:pPr>
          <a:r>
            <a:rPr lang="en-US" sz="2000" dirty="0"/>
            <a:t>Attack Types</a:t>
          </a:r>
          <a:endParaRPr lang="en-AU" sz="2000" dirty="0"/>
        </a:p>
      </dgm:t>
    </dgm:pt>
    <dgm:pt modelId="{78FD276E-4B54-406C-9B1A-041DE57E38A1}" type="parTrans" cxnId="{708CD726-914F-40E7-B1A4-DCFF6B1852B3}">
      <dgm:prSet/>
      <dgm:spPr/>
      <dgm:t>
        <a:bodyPr/>
        <a:lstStyle/>
        <a:p>
          <a:endParaRPr lang="en-AU" sz="1100"/>
        </a:p>
      </dgm:t>
    </dgm:pt>
    <dgm:pt modelId="{28D91563-E985-4A41-B6E1-F0EB9BBFE78B}" type="sibTrans" cxnId="{708CD726-914F-40E7-B1A4-DCFF6B1852B3}">
      <dgm:prSet/>
      <dgm:spPr/>
      <dgm:t>
        <a:bodyPr/>
        <a:lstStyle/>
        <a:p>
          <a:endParaRPr lang="en-AU" sz="1100"/>
        </a:p>
      </dgm:t>
    </dgm:pt>
    <dgm:pt modelId="{D6BFE764-D33C-4F6F-AC8B-92E9B41C53A4}">
      <dgm:prSet phldrT="[Text]" custT="1"/>
      <dgm:spPr/>
      <dgm:t>
        <a:bodyPr/>
        <a:lstStyle/>
        <a:p>
          <a:r>
            <a:rPr lang="en-US" sz="2000" dirty="0"/>
            <a:t>Active</a:t>
          </a:r>
          <a:endParaRPr lang="en-AU" sz="2000" dirty="0"/>
        </a:p>
      </dgm:t>
    </dgm:pt>
    <dgm:pt modelId="{AB53C468-29B9-48B4-B587-AAFBE8712E01}" type="parTrans" cxnId="{247C4AF8-8934-40D0-AAD0-C9993BCB9F58}">
      <dgm:prSet/>
      <dgm:spPr/>
      <dgm:t>
        <a:bodyPr/>
        <a:lstStyle/>
        <a:p>
          <a:endParaRPr lang="en-AU" sz="1100"/>
        </a:p>
      </dgm:t>
    </dgm:pt>
    <dgm:pt modelId="{F7BD2B74-9384-44DE-9D45-9B6E2FB193E9}" type="sibTrans" cxnId="{247C4AF8-8934-40D0-AAD0-C9993BCB9F58}">
      <dgm:prSet/>
      <dgm:spPr/>
      <dgm:t>
        <a:bodyPr/>
        <a:lstStyle/>
        <a:p>
          <a:endParaRPr lang="en-AU" sz="1100"/>
        </a:p>
      </dgm:t>
    </dgm:pt>
    <dgm:pt modelId="{3506BDD9-D1FB-4E16-B2B6-BC7D1BA26682}">
      <dgm:prSet phldrT="[Text]" custT="1"/>
      <dgm:spPr/>
      <dgm:t>
        <a:bodyPr/>
        <a:lstStyle/>
        <a:p>
          <a:r>
            <a:rPr lang="en-US" sz="2000" dirty="0"/>
            <a:t>Passive</a:t>
          </a:r>
          <a:endParaRPr lang="en-AU" sz="2000" dirty="0"/>
        </a:p>
      </dgm:t>
    </dgm:pt>
    <dgm:pt modelId="{8ABF972B-490C-43B1-B1E5-FC298E7BF0C9}" type="parTrans" cxnId="{83A62423-A281-4BA7-8F6A-4EBF065C7142}">
      <dgm:prSet/>
      <dgm:spPr/>
      <dgm:t>
        <a:bodyPr/>
        <a:lstStyle/>
        <a:p>
          <a:endParaRPr lang="en-AU" sz="1100"/>
        </a:p>
      </dgm:t>
    </dgm:pt>
    <dgm:pt modelId="{0AD57C37-FF9B-4B17-857C-3728D87C2714}" type="sibTrans" cxnId="{83A62423-A281-4BA7-8F6A-4EBF065C7142}">
      <dgm:prSet/>
      <dgm:spPr/>
      <dgm:t>
        <a:bodyPr/>
        <a:lstStyle/>
        <a:p>
          <a:endParaRPr lang="en-AU" sz="1100"/>
        </a:p>
      </dgm:t>
    </dgm:pt>
    <dgm:pt modelId="{2DAD1D51-6BC8-43FF-933B-EB571BE37B9D}">
      <dgm:prSet phldrT="[Text]" custT="1"/>
      <dgm:spPr/>
      <dgm:t>
        <a:bodyPr/>
        <a:lstStyle/>
        <a:p>
          <a:pPr>
            <a:lnSpc>
              <a:spcPct val="70000"/>
            </a:lnSpc>
          </a:pPr>
          <a:r>
            <a:rPr lang="en-US" sz="2000" dirty="0"/>
            <a:t>Attack Origin</a:t>
          </a:r>
          <a:endParaRPr lang="en-AU" sz="2000" dirty="0"/>
        </a:p>
      </dgm:t>
    </dgm:pt>
    <dgm:pt modelId="{34CB7102-BE9E-4996-9E6E-4AF66A9D5905}" type="parTrans" cxnId="{E2B15B96-5784-45EE-A9E8-121DF500C1F9}">
      <dgm:prSet/>
      <dgm:spPr/>
      <dgm:t>
        <a:bodyPr/>
        <a:lstStyle/>
        <a:p>
          <a:endParaRPr lang="en-AU" sz="1100"/>
        </a:p>
      </dgm:t>
    </dgm:pt>
    <dgm:pt modelId="{2281A192-75E0-44AE-84A5-E89F63C66F21}" type="sibTrans" cxnId="{E2B15B96-5784-45EE-A9E8-121DF500C1F9}">
      <dgm:prSet/>
      <dgm:spPr/>
      <dgm:t>
        <a:bodyPr/>
        <a:lstStyle/>
        <a:p>
          <a:endParaRPr lang="en-AU" sz="1100"/>
        </a:p>
      </dgm:t>
    </dgm:pt>
    <dgm:pt modelId="{3FEB9226-5CC6-473D-B611-9F5DF8FBE9D3}">
      <dgm:prSet phldrT="[Text]" custT="1"/>
      <dgm:spPr/>
      <dgm:t>
        <a:bodyPr/>
        <a:lstStyle/>
        <a:p>
          <a:r>
            <a:rPr lang="en-US" sz="2000" dirty="0"/>
            <a:t>Inside</a:t>
          </a:r>
          <a:endParaRPr lang="en-AU" sz="2000" dirty="0"/>
        </a:p>
      </dgm:t>
    </dgm:pt>
    <dgm:pt modelId="{57736FD8-0055-450B-BF30-4EB5A9FF0BFF}" type="parTrans" cxnId="{25754E9D-6863-4CAA-9507-7823A3D5DD90}">
      <dgm:prSet/>
      <dgm:spPr/>
      <dgm:t>
        <a:bodyPr/>
        <a:lstStyle/>
        <a:p>
          <a:endParaRPr lang="en-AU" sz="1100"/>
        </a:p>
      </dgm:t>
    </dgm:pt>
    <dgm:pt modelId="{B13FD5DD-E75B-4612-9F2D-26B10211F25D}" type="sibTrans" cxnId="{25754E9D-6863-4CAA-9507-7823A3D5DD90}">
      <dgm:prSet/>
      <dgm:spPr/>
      <dgm:t>
        <a:bodyPr/>
        <a:lstStyle/>
        <a:p>
          <a:endParaRPr lang="en-AU" sz="1100"/>
        </a:p>
      </dgm:t>
    </dgm:pt>
    <dgm:pt modelId="{F95952D4-2486-4185-92FA-2686F5B31706}">
      <dgm:prSet phldrT="[Text]" custT="1"/>
      <dgm:spPr/>
      <dgm:t>
        <a:bodyPr/>
        <a:lstStyle/>
        <a:p>
          <a:r>
            <a:rPr lang="en-US" sz="2000" dirty="0"/>
            <a:t>Outside</a:t>
          </a:r>
          <a:endParaRPr lang="en-AU" sz="2000" dirty="0"/>
        </a:p>
      </dgm:t>
    </dgm:pt>
    <dgm:pt modelId="{13EC0DEF-4FD4-4556-B1E3-05725101F73C}" type="parTrans" cxnId="{93C3CDAE-19A2-4139-A7A6-9E226E30FC94}">
      <dgm:prSet/>
      <dgm:spPr/>
      <dgm:t>
        <a:bodyPr/>
        <a:lstStyle/>
        <a:p>
          <a:endParaRPr lang="en-AU" sz="1100"/>
        </a:p>
      </dgm:t>
    </dgm:pt>
    <dgm:pt modelId="{69986AC0-8D15-4494-B62A-6B10397A46B7}" type="sibTrans" cxnId="{93C3CDAE-19A2-4139-A7A6-9E226E30FC94}">
      <dgm:prSet/>
      <dgm:spPr/>
      <dgm:t>
        <a:bodyPr/>
        <a:lstStyle/>
        <a:p>
          <a:endParaRPr lang="en-AU" sz="1100"/>
        </a:p>
      </dgm:t>
    </dgm:pt>
    <dgm:pt modelId="{ACB91967-20EB-468D-AC32-D68B3403A4C1}" type="pres">
      <dgm:prSet presAssocID="{E94F161C-D2A0-4729-A82A-2FC3FB65B42B}" presName="diagram" presStyleCnt="0">
        <dgm:presLayoutVars>
          <dgm:chPref val="1"/>
          <dgm:dir/>
          <dgm:animOne val="branch"/>
          <dgm:animLvl val="lvl"/>
          <dgm:resizeHandles/>
        </dgm:presLayoutVars>
      </dgm:prSet>
      <dgm:spPr/>
    </dgm:pt>
    <dgm:pt modelId="{9B31636F-0E31-4C5F-86E8-7EE1EC545298}" type="pres">
      <dgm:prSet presAssocID="{DED8C33B-78FD-45C0-9488-C462DD30010C}" presName="root" presStyleCnt="0"/>
      <dgm:spPr/>
    </dgm:pt>
    <dgm:pt modelId="{6C228EEB-750C-4D14-B7C3-59C8553517C0}" type="pres">
      <dgm:prSet presAssocID="{DED8C33B-78FD-45C0-9488-C462DD30010C}" presName="rootComposite" presStyleCnt="0"/>
      <dgm:spPr/>
    </dgm:pt>
    <dgm:pt modelId="{81CAC64A-164B-49AA-92E2-D1BB4688E733}" type="pres">
      <dgm:prSet presAssocID="{DED8C33B-78FD-45C0-9488-C462DD30010C}" presName="rootText" presStyleLbl="node1" presStyleIdx="0" presStyleCnt="2"/>
      <dgm:spPr/>
    </dgm:pt>
    <dgm:pt modelId="{B74D45B1-C05F-4090-91FA-510C88A38D92}" type="pres">
      <dgm:prSet presAssocID="{DED8C33B-78FD-45C0-9488-C462DD30010C}" presName="rootConnector" presStyleLbl="node1" presStyleIdx="0" presStyleCnt="2"/>
      <dgm:spPr/>
    </dgm:pt>
    <dgm:pt modelId="{A66D831A-0AC3-4F65-8F39-6A5BF589ADB5}" type="pres">
      <dgm:prSet presAssocID="{DED8C33B-78FD-45C0-9488-C462DD30010C}" presName="childShape" presStyleCnt="0"/>
      <dgm:spPr/>
    </dgm:pt>
    <dgm:pt modelId="{263AD429-5C2E-4442-900C-61AD79376D81}" type="pres">
      <dgm:prSet presAssocID="{AB53C468-29B9-48B4-B587-AAFBE8712E01}" presName="Name13" presStyleLbl="parChTrans1D2" presStyleIdx="0" presStyleCnt="4"/>
      <dgm:spPr/>
    </dgm:pt>
    <dgm:pt modelId="{6DE792E9-8049-48DE-96FA-FF545C1D7E9E}" type="pres">
      <dgm:prSet presAssocID="{D6BFE764-D33C-4F6F-AC8B-92E9B41C53A4}" presName="childText" presStyleLbl="bgAcc1" presStyleIdx="0" presStyleCnt="4">
        <dgm:presLayoutVars>
          <dgm:bulletEnabled val="1"/>
        </dgm:presLayoutVars>
      </dgm:prSet>
      <dgm:spPr/>
    </dgm:pt>
    <dgm:pt modelId="{FB798E8B-1958-451A-BA15-ACC062F7A922}" type="pres">
      <dgm:prSet presAssocID="{8ABF972B-490C-43B1-B1E5-FC298E7BF0C9}" presName="Name13" presStyleLbl="parChTrans1D2" presStyleIdx="1" presStyleCnt="4"/>
      <dgm:spPr/>
    </dgm:pt>
    <dgm:pt modelId="{3BB95E87-FD5A-4335-9503-F924A38E61D2}" type="pres">
      <dgm:prSet presAssocID="{3506BDD9-D1FB-4E16-B2B6-BC7D1BA26682}" presName="childText" presStyleLbl="bgAcc1" presStyleIdx="1" presStyleCnt="4">
        <dgm:presLayoutVars>
          <dgm:bulletEnabled val="1"/>
        </dgm:presLayoutVars>
      </dgm:prSet>
      <dgm:spPr/>
    </dgm:pt>
    <dgm:pt modelId="{C84BB4FF-3BF1-4E17-960D-8D0D69CCE3B2}" type="pres">
      <dgm:prSet presAssocID="{2DAD1D51-6BC8-43FF-933B-EB571BE37B9D}" presName="root" presStyleCnt="0"/>
      <dgm:spPr/>
    </dgm:pt>
    <dgm:pt modelId="{59EB2707-D1AC-4FF0-A5BA-CD3564BEB1A9}" type="pres">
      <dgm:prSet presAssocID="{2DAD1D51-6BC8-43FF-933B-EB571BE37B9D}" presName="rootComposite" presStyleCnt="0"/>
      <dgm:spPr/>
    </dgm:pt>
    <dgm:pt modelId="{90354A96-5EFD-4460-96D2-48D94178D174}" type="pres">
      <dgm:prSet presAssocID="{2DAD1D51-6BC8-43FF-933B-EB571BE37B9D}" presName="rootText" presStyleLbl="node1" presStyleIdx="1" presStyleCnt="2"/>
      <dgm:spPr/>
    </dgm:pt>
    <dgm:pt modelId="{DDC42C1B-AF13-47AE-BB9F-96547CE8FE3E}" type="pres">
      <dgm:prSet presAssocID="{2DAD1D51-6BC8-43FF-933B-EB571BE37B9D}" presName="rootConnector" presStyleLbl="node1" presStyleIdx="1" presStyleCnt="2"/>
      <dgm:spPr/>
    </dgm:pt>
    <dgm:pt modelId="{D41CFEA5-B0B9-4A14-8DE5-FD7A2EF5AC7D}" type="pres">
      <dgm:prSet presAssocID="{2DAD1D51-6BC8-43FF-933B-EB571BE37B9D}" presName="childShape" presStyleCnt="0"/>
      <dgm:spPr/>
    </dgm:pt>
    <dgm:pt modelId="{D5FFF492-4680-43CE-84C5-C02F00490BA3}" type="pres">
      <dgm:prSet presAssocID="{57736FD8-0055-450B-BF30-4EB5A9FF0BFF}" presName="Name13" presStyleLbl="parChTrans1D2" presStyleIdx="2" presStyleCnt="4"/>
      <dgm:spPr/>
    </dgm:pt>
    <dgm:pt modelId="{14E7E80D-3EC5-481E-B935-C3F36B2B0238}" type="pres">
      <dgm:prSet presAssocID="{3FEB9226-5CC6-473D-B611-9F5DF8FBE9D3}" presName="childText" presStyleLbl="bgAcc1" presStyleIdx="2" presStyleCnt="4">
        <dgm:presLayoutVars>
          <dgm:bulletEnabled val="1"/>
        </dgm:presLayoutVars>
      </dgm:prSet>
      <dgm:spPr/>
    </dgm:pt>
    <dgm:pt modelId="{5724C4FC-CD3E-44D5-8726-983F99355803}" type="pres">
      <dgm:prSet presAssocID="{13EC0DEF-4FD4-4556-B1E3-05725101F73C}" presName="Name13" presStyleLbl="parChTrans1D2" presStyleIdx="3" presStyleCnt="4"/>
      <dgm:spPr/>
    </dgm:pt>
    <dgm:pt modelId="{A1BA7203-A87F-49CE-BE5D-45787CD50389}" type="pres">
      <dgm:prSet presAssocID="{F95952D4-2486-4185-92FA-2686F5B31706}" presName="childText" presStyleLbl="bgAcc1" presStyleIdx="3" presStyleCnt="4">
        <dgm:presLayoutVars>
          <dgm:bulletEnabled val="1"/>
        </dgm:presLayoutVars>
      </dgm:prSet>
      <dgm:spPr/>
    </dgm:pt>
  </dgm:ptLst>
  <dgm:cxnLst>
    <dgm:cxn modelId="{EE9B120C-D533-4763-9C18-ADE9583FC13F}" type="presOf" srcId="{AB53C468-29B9-48B4-B587-AAFBE8712E01}" destId="{263AD429-5C2E-4442-900C-61AD79376D81}" srcOrd="0" destOrd="0" presId="urn:microsoft.com/office/officeart/2005/8/layout/hierarchy3"/>
    <dgm:cxn modelId="{C0497D0C-F15C-4C7D-9513-BE2AE49019D5}" type="presOf" srcId="{DED8C33B-78FD-45C0-9488-C462DD30010C}" destId="{B74D45B1-C05F-4090-91FA-510C88A38D92}" srcOrd="1" destOrd="0" presId="urn:microsoft.com/office/officeart/2005/8/layout/hierarchy3"/>
    <dgm:cxn modelId="{83A62423-A281-4BA7-8F6A-4EBF065C7142}" srcId="{DED8C33B-78FD-45C0-9488-C462DD30010C}" destId="{3506BDD9-D1FB-4E16-B2B6-BC7D1BA26682}" srcOrd="1" destOrd="0" parTransId="{8ABF972B-490C-43B1-B1E5-FC298E7BF0C9}" sibTransId="{0AD57C37-FF9B-4B17-857C-3728D87C2714}"/>
    <dgm:cxn modelId="{B9E65626-637B-4F43-B3B7-DAB2D8570955}" type="presOf" srcId="{8ABF972B-490C-43B1-B1E5-FC298E7BF0C9}" destId="{FB798E8B-1958-451A-BA15-ACC062F7A922}" srcOrd="0" destOrd="0" presId="urn:microsoft.com/office/officeart/2005/8/layout/hierarchy3"/>
    <dgm:cxn modelId="{708CD726-914F-40E7-B1A4-DCFF6B1852B3}" srcId="{E94F161C-D2A0-4729-A82A-2FC3FB65B42B}" destId="{DED8C33B-78FD-45C0-9488-C462DD30010C}" srcOrd="0" destOrd="0" parTransId="{78FD276E-4B54-406C-9B1A-041DE57E38A1}" sibTransId="{28D91563-E985-4A41-B6E1-F0EB9BBFE78B}"/>
    <dgm:cxn modelId="{0DA4B940-D19D-4345-949B-EB735D585E77}" type="presOf" srcId="{57736FD8-0055-450B-BF30-4EB5A9FF0BFF}" destId="{D5FFF492-4680-43CE-84C5-C02F00490BA3}" srcOrd="0" destOrd="0" presId="urn:microsoft.com/office/officeart/2005/8/layout/hierarchy3"/>
    <dgm:cxn modelId="{9C4A6960-760F-4AC8-903E-3DA18CCC25F3}" type="presOf" srcId="{DED8C33B-78FD-45C0-9488-C462DD30010C}" destId="{81CAC64A-164B-49AA-92E2-D1BB4688E733}" srcOrd="0" destOrd="0" presId="urn:microsoft.com/office/officeart/2005/8/layout/hierarchy3"/>
    <dgm:cxn modelId="{72257444-5BD6-47C6-8B46-30E8F37863FC}" type="presOf" srcId="{3FEB9226-5CC6-473D-B611-9F5DF8FBE9D3}" destId="{14E7E80D-3EC5-481E-B935-C3F36B2B0238}" srcOrd="0" destOrd="0" presId="urn:microsoft.com/office/officeart/2005/8/layout/hierarchy3"/>
    <dgm:cxn modelId="{3318C985-0CDF-4C02-A38C-5008DA43804E}" type="presOf" srcId="{13EC0DEF-4FD4-4556-B1E3-05725101F73C}" destId="{5724C4FC-CD3E-44D5-8726-983F99355803}" srcOrd="0" destOrd="0" presId="urn:microsoft.com/office/officeart/2005/8/layout/hierarchy3"/>
    <dgm:cxn modelId="{E2B15B96-5784-45EE-A9E8-121DF500C1F9}" srcId="{E94F161C-D2A0-4729-A82A-2FC3FB65B42B}" destId="{2DAD1D51-6BC8-43FF-933B-EB571BE37B9D}" srcOrd="1" destOrd="0" parTransId="{34CB7102-BE9E-4996-9E6E-4AF66A9D5905}" sibTransId="{2281A192-75E0-44AE-84A5-E89F63C66F21}"/>
    <dgm:cxn modelId="{25754E9D-6863-4CAA-9507-7823A3D5DD90}" srcId="{2DAD1D51-6BC8-43FF-933B-EB571BE37B9D}" destId="{3FEB9226-5CC6-473D-B611-9F5DF8FBE9D3}" srcOrd="0" destOrd="0" parTransId="{57736FD8-0055-450B-BF30-4EB5A9FF0BFF}" sibTransId="{B13FD5DD-E75B-4612-9F2D-26B10211F25D}"/>
    <dgm:cxn modelId="{C38837AA-41C8-4DD0-9B64-6A9E3CDA698C}" type="presOf" srcId="{F95952D4-2486-4185-92FA-2686F5B31706}" destId="{A1BA7203-A87F-49CE-BE5D-45787CD50389}" srcOrd="0" destOrd="0" presId="urn:microsoft.com/office/officeart/2005/8/layout/hierarchy3"/>
    <dgm:cxn modelId="{93C3CDAE-19A2-4139-A7A6-9E226E30FC94}" srcId="{2DAD1D51-6BC8-43FF-933B-EB571BE37B9D}" destId="{F95952D4-2486-4185-92FA-2686F5B31706}" srcOrd="1" destOrd="0" parTransId="{13EC0DEF-4FD4-4556-B1E3-05725101F73C}" sibTransId="{69986AC0-8D15-4494-B62A-6B10397A46B7}"/>
    <dgm:cxn modelId="{4AB9EACA-F707-42AE-9296-DE347EAD851A}" type="presOf" srcId="{E94F161C-D2A0-4729-A82A-2FC3FB65B42B}" destId="{ACB91967-20EB-468D-AC32-D68B3403A4C1}" srcOrd="0" destOrd="0" presId="urn:microsoft.com/office/officeart/2005/8/layout/hierarchy3"/>
    <dgm:cxn modelId="{ECAF5DCD-0B24-46FD-9A0A-B3B75D1177AB}" type="presOf" srcId="{3506BDD9-D1FB-4E16-B2B6-BC7D1BA26682}" destId="{3BB95E87-FD5A-4335-9503-F924A38E61D2}" srcOrd="0" destOrd="0" presId="urn:microsoft.com/office/officeart/2005/8/layout/hierarchy3"/>
    <dgm:cxn modelId="{B72B5AD1-E1CD-4BF5-81CB-341932FD81AC}" type="presOf" srcId="{2DAD1D51-6BC8-43FF-933B-EB571BE37B9D}" destId="{90354A96-5EFD-4460-96D2-48D94178D174}" srcOrd="0" destOrd="0" presId="urn:microsoft.com/office/officeart/2005/8/layout/hierarchy3"/>
    <dgm:cxn modelId="{65A775DF-76E8-4449-9BA4-53085362A4FD}" type="presOf" srcId="{2DAD1D51-6BC8-43FF-933B-EB571BE37B9D}" destId="{DDC42C1B-AF13-47AE-BB9F-96547CE8FE3E}" srcOrd="1" destOrd="0" presId="urn:microsoft.com/office/officeart/2005/8/layout/hierarchy3"/>
    <dgm:cxn modelId="{472DB8EA-A137-4957-A95D-15BFD3F01163}" type="presOf" srcId="{D6BFE764-D33C-4F6F-AC8B-92E9B41C53A4}" destId="{6DE792E9-8049-48DE-96FA-FF545C1D7E9E}" srcOrd="0" destOrd="0" presId="urn:microsoft.com/office/officeart/2005/8/layout/hierarchy3"/>
    <dgm:cxn modelId="{247C4AF8-8934-40D0-AAD0-C9993BCB9F58}" srcId="{DED8C33B-78FD-45C0-9488-C462DD30010C}" destId="{D6BFE764-D33C-4F6F-AC8B-92E9B41C53A4}" srcOrd="0" destOrd="0" parTransId="{AB53C468-29B9-48B4-B587-AAFBE8712E01}" sibTransId="{F7BD2B74-9384-44DE-9D45-9B6E2FB193E9}"/>
    <dgm:cxn modelId="{23B2A80C-0CD6-4132-973F-2D5E31685C0B}" type="presParOf" srcId="{ACB91967-20EB-468D-AC32-D68B3403A4C1}" destId="{9B31636F-0E31-4C5F-86E8-7EE1EC545298}" srcOrd="0" destOrd="0" presId="urn:microsoft.com/office/officeart/2005/8/layout/hierarchy3"/>
    <dgm:cxn modelId="{D0798323-6753-4F5D-BB28-4966D371B251}" type="presParOf" srcId="{9B31636F-0E31-4C5F-86E8-7EE1EC545298}" destId="{6C228EEB-750C-4D14-B7C3-59C8553517C0}" srcOrd="0" destOrd="0" presId="urn:microsoft.com/office/officeart/2005/8/layout/hierarchy3"/>
    <dgm:cxn modelId="{7B23297D-BDB9-45A9-8F8B-13BBE2371257}" type="presParOf" srcId="{6C228EEB-750C-4D14-B7C3-59C8553517C0}" destId="{81CAC64A-164B-49AA-92E2-D1BB4688E733}" srcOrd="0" destOrd="0" presId="urn:microsoft.com/office/officeart/2005/8/layout/hierarchy3"/>
    <dgm:cxn modelId="{95A29D4A-2D34-4272-B035-DE883BB0C92A}" type="presParOf" srcId="{6C228EEB-750C-4D14-B7C3-59C8553517C0}" destId="{B74D45B1-C05F-4090-91FA-510C88A38D92}" srcOrd="1" destOrd="0" presId="urn:microsoft.com/office/officeart/2005/8/layout/hierarchy3"/>
    <dgm:cxn modelId="{3C25FC18-0960-44BC-82F2-E7281F06C973}" type="presParOf" srcId="{9B31636F-0E31-4C5F-86E8-7EE1EC545298}" destId="{A66D831A-0AC3-4F65-8F39-6A5BF589ADB5}" srcOrd="1" destOrd="0" presId="urn:microsoft.com/office/officeart/2005/8/layout/hierarchy3"/>
    <dgm:cxn modelId="{260AB890-C856-4254-8972-74E6840172CF}" type="presParOf" srcId="{A66D831A-0AC3-4F65-8F39-6A5BF589ADB5}" destId="{263AD429-5C2E-4442-900C-61AD79376D81}" srcOrd="0" destOrd="0" presId="urn:microsoft.com/office/officeart/2005/8/layout/hierarchy3"/>
    <dgm:cxn modelId="{A6EF761F-9471-4307-BB37-E5ADF5A89248}" type="presParOf" srcId="{A66D831A-0AC3-4F65-8F39-6A5BF589ADB5}" destId="{6DE792E9-8049-48DE-96FA-FF545C1D7E9E}" srcOrd="1" destOrd="0" presId="urn:microsoft.com/office/officeart/2005/8/layout/hierarchy3"/>
    <dgm:cxn modelId="{F95DD1AD-3346-4DFE-801F-ED3505D21180}" type="presParOf" srcId="{A66D831A-0AC3-4F65-8F39-6A5BF589ADB5}" destId="{FB798E8B-1958-451A-BA15-ACC062F7A922}" srcOrd="2" destOrd="0" presId="urn:microsoft.com/office/officeart/2005/8/layout/hierarchy3"/>
    <dgm:cxn modelId="{CA2F0590-CAF0-4EF2-91A0-D32BB668D1DB}" type="presParOf" srcId="{A66D831A-0AC3-4F65-8F39-6A5BF589ADB5}" destId="{3BB95E87-FD5A-4335-9503-F924A38E61D2}" srcOrd="3" destOrd="0" presId="urn:microsoft.com/office/officeart/2005/8/layout/hierarchy3"/>
    <dgm:cxn modelId="{1230F913-BD44-42AA-8943-A1B0CAA5B307}" type="presParOf" srcId="{ACB91967-20EB-468D-AC32-D68B3403A4C1}" destId="{C84BB4FF-3BF1-4E17-960D-8D0D69CCE3B2}" srcOrd="1" destOrd="0" presId="urn:microsoft.com/office/officeart/2005/8/layout/hierarchy3"/>
    <dgm:cxn modelId="{922161DC-4512-410F-ACB4-1813BF75D200}" type="presParOf" srcId="{C84BB4FF-3BF1-4E17-960D-8D0D69CCE3B2}" destId="{59EB2707-D1AC-4FF0-A5BA-CD3564BEB1A9}" srcOrd="0" destOrd="0" presId="urn:microsoft.com/office/officeart/2005/8/layout/hierarchy3"/>
    <dgm:cxn modelId="{DBB5FA9C-7473-4B7C-AE1E-D2ED0903524E}" type="presParOf" srcId="{59EB2707-D1AC-4FF0-A5BA-CD3564BEB1A9}" destId="{90354A96-5EFD-4460-96D2-48D94178D174}" srcOrd="0" destOrd="0" presId="urn:microsoft.com/office/officeart/2005/8/layout/hierarchy3"/>
    <dgm:cxn modelId="{70246866-A102-47C0-A148-785977449C15}" type="presParOf" srcId="{59EB2707-D1AC-4FF0-A5BA-CD3564BEB1A9}" destId="{DDC42C1B-AF13-47AE-BB9F-96547CE8FE3E}" srcOrd="1" destOrd="0" presId="urn:microsoft.com/office/officeart/2005/8/layout/hierarchy3"/>
    <dgm:cxn modelId="{9200CA7F-8328-4957-BFBC-3E37B76B50AC}" type="presParOf" srcId="{C84BB4FF-3BF1-4E17-960D-8D0D69CCE3B2}" destId="{D41CFEA5-B0B9-4A14-8DE5-FD7A2EF5AC7D}" srcOrd="1" destOrd="0" presId="urn:microsoft.com/office/officeart/2005/8/layout/hierarchy3"/>
    <dgm:cxn modelId="{70E69F9F-62AF-4FBF-AFF9-7E092A667A1D}" type="presParOf" srcId="{D41CFEA5-B0B9-4A14-8DE5-FD7A2EF5AC7D}" destId="{D5FFF492-4680-43CE-84C5-C02F00490BA3}" srcOrd="0" destOrd="0" presId="urn:microsoft.com/office/officeart/2005/8/layout/hierarchy3"/>
    <dgm:cxn modelId="{EB082DCD-8CBC-493E-BAAA-4438E960A79A}" type="presParOf" srcId="{D41CFEA5-B0B9-4A14-8DE5-FD7A2EF5AC7D}" destId="{14E7E80D-3EC5-481E-B935-C3F36B2B0238}" srcOrd="1" destOrd="0" presId="urn:microsoft.com/office/officeart/2005/8/layout/hierarchy3"/>
    <dgm:cxn modelId="{770EEF96-6A15-401B-87F3-A0E6A85F1EA5}" type="presParOf" srcId="{D41CFEA5-B0B9-4A14-8DE5-FD7A2EF5AC7D}" destId="{5724C4FC-CD3E-44D5-8726-983F99355803}" srcOrd="2" destOrd="0" presId="urn:microsoft.com/office/officeart/2005/8/layout/hierarchy3"/>
    <dgm:cxn modelId="{A7731DC0-AF87-48D0-AD9E-2AA292AED0C4}" type="presParOf" srcId="{D41CFEA5-B0B9-4A14-8DE5-FD7A2EF5AC7D}" destId="{A1BA7203-A87F-49CE-BE5D-45787CD50389}"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D32EFE5-FC64-4484-BF04-D621C54B324C}" type="doc">
      <dgm:prSet loTypeId="urn:microsoft.com/office/officeart/2005/8/layout/process5" loCatId="process" qsTypeId="urn:microsoft.com/office/officeart/2005/8/quickstyle/simple1" qsCatId="simple" csTypeId="urn:microsoft.com/office/officeart/2005/8/colors/accent1_2" csCatId="accent1" phldr="1"/>
      <dgm:spPr/>
      <dgm:t>
        <a:bodyPr/>
        <a:lstStyle/>
        <a:p>
          <a:endParaRPr lang="en-US"/>
        </a:p>
      </dgm:t>
    </dgm:pt>
    <dgm:pt modelId="{45D262B3-007F-445C-92E8-EB93DA8EDB1B}">
      <dgm:prSet phldrT="[Text]" custT="1"/>
      <dgm:spPr/>
      <dgm:t>
        <a:bodyPr/>
        <a:lstStyle/>
        <a:p>
          <a:r>
            <a:rPr lang="en-US" sz="1800" b="1" dirty="0"/>
            <a:t>List all components</a:t>
          </a:r>
          <a:endParaRPr lang="en-US" sz="1800" dirty="0"/>
        </a:p>
      </dgm:t>
    </dgm:pt>
    <dgm:pt modelId="{98049BAF-7E4D-4DD7-805B-64EF9783FCC8}" type="parTrans" cxnId="{283250AA-432A-4DE8-A8EA-820CC2E465AD}">
      <dgm:prSet/>
      <dgm:spPr/>
      <dgm:t>
        <a:bodyPr/>
        <a:lstStyle/>
        <a:p>
          <a:endParaRPr lang="en-US" sz="4400"/>
        </a:p>
      </dgm:t>
    </dgm:pt>
    <dgm:pt modelId="{BD7B5811-BBCC-4D41-B992-BBE0D803FB90}" type="sibTrans" cxnId="{283250AA-432A-4DE8-A8EA-820CC2E465AD}">
      <dgm:prSet custT="1"/>
      <dgm:spPr/>
      <dgm:t>
        <a:bodyPr/>
        <a:lstStyle/>
        <a:p>
          <a:endParaRPr lang="en-US" sz="4400"/>
        </a:p>
      </dgm:t>
    </dgm:pt>
    <dgm:pt modelId="{06508958-B2D0-4767-9243-D24CBEA63858}">
      <dgm:prSet phldrT="[Text]" custT="1"/>
      <dgm:spPr/>
      <dgm:t>
        <a:bodyPr/>
        <a:lstStyle/>
        <a:p>
          <a:r>
            <a:rPr lang="en-US" sz="1800" b="1" dirty="0"/>
            <a:t>Prepare architecture diagram</a:t>
          </a:r>
          <a:endParaRPr lang="en-US" sz="1800" dirty="0"/>
        </a:p>
      </dgm:t>
    </dgm:pt>
    <dgm:pt modelId="{9B1D6C41-AE2F-4E2F-B684-6EDBA339822D}" type="parTrans" cxnId="{02D9CC43-1208-42CD-8738-B4E77B818CDD}">
      <dgm:prSet/>
      <dgm:spPr/>
      <dgm:t>
        <a:bodyPr/>
        <a:lstStyle/>
        <a:p>
          <a:endParaRPr lang="en-US" sz="4400"/>
        </a:p>
      </dgm:t>
    </dgm:pt>
    <dgm:pt modelId="{C97C681E-F629-4191-9A26-8A2271EF8E92}" type="sibTrans" cxnId="{02D9CC43-1208-42CD-8738-B4E77B818CDD}">
      <dgm:prSet custT="1"/>
      <dgm:spPr/>
      <dgm:t>
        <a:bodyPr/>
        <a:lstStyle/>
        <a:p>
          <a:endParaRPr lang="en-US" sz="4400"/>
        </a:p>
      </dgm:t>
    </dgm:pt>
    <dgm:pt modelId="{C038450F-522F-4647-8D58-C3CFA4A2BB49}">
      <dgm:prSet phldrT="[Text]" custT="1"/>
      <dgm:spPr/>
      <dgm:t>
        <a:bodyPr/>
        <a:lstStyle/>
        <a:p>
          <a:r>
            <a:rPr lang="en-US" sz="1600" b="1" dirty="0"/>
            <a:t>Label components &amp; communication b/w them</a:t>
          </a:r>
          <a:endParaRPr lang="en-US" sz="1600" dirty="0"/>
        </a:p>
      </dgm:t>
    </dgm:pt>
    <dgm:pt modelId="{83A04B21-6412-4B3B-B00E-0FAC3959D29C}" type="parTrans" cxnId="{A48AB5AE-4D62-4F40-A8CE-FE432D6642D6}">
      <dgm:prSet/>
      <dgm:spPr/>
      <dgm:t>
        <a:bodyPr/>
        <a:lstStyle/>
        <a:p>
          <a:endParaRPr lang="en-US" sz="4400"/>
        </a:p>
      </dgm:t>
    </dgm:pt>
    <dgm:pt modelId="{A7341D5D-3FF4-4720-8E25-7E5F9E659D58}" type="sibTrans" cxnId="{A48AB5AE-4D62-4F40-A8CE-FE432D6642D6}">
      <dgm:prSet custT="1"/>
      <dgm:spPr/>
      <dgm:t>
        <a:bodyPr/>
        <a:lstStyle/>
        <a:p>
          <a:endParaRPr lang="en-US" sz="4400"/>
        </a:p>
      </dgm:t>
    </dgm:pt>
    <dgm:pt modelId="{259A7417-D177-4C64-B9A9-7FC9C37BC804}">
      <dgm:prSet phldrT="[Text]" custT="1"/>
      <dgm:spPr/>
      <dgm:t>
        <a:bodyPr/>
        <a:lstStyle/>
        <a:p>
          <a:r>
            <a:rPr lang="en-US" sz="1800" b="1" dirty="0"/>
            <a:t>Identify attack vectors</a:t>
          </a:r>
          <a:endParaRPr lang="en-US" sz="1800" dirty="0"/>
        </a:p>
      </dgm:t>
    </dgm:pt>
    <dgm:pt modelId="{E104F8B1-7F1E-48B0-A512-D23828FF0D7E}" type="parTrans" cxnId="{097C6505-7443-4211-9E83-AFCB67041950}">
      <dgm:prSet/>
      <dgm:spPr/>
      <dgm:t>
        <a:bodyPr/>
        <a:lstStyle/>
        <a:p>
          <a:endParaRPr lang="en-US" sz="4400"/>
        </a:p>
      </dgm:t>
    </dgm:pt>
    <dgm:pt modelId="{F81ACBBA-2D5A-4A50-9484-7261DBF20C3C}" type="sibTrans" cxnId="{097C6505-7443-4211-9E83-AFCB67041950}">
      <dgm:prSet custT="1"/>
      <dgm:spPr/>
      <dgm:t>
        <a:bodyPr/>
        <a:lstStyle/>
        <a:p>
          <a:endParaRPr lang="en-US" sz="4400"/>
        </a:p>
      </dgm:t>
    </dgm:pt>
    <dgm:pt modelId="{5A5E3A7E-8529-4C51-BC3A-A446523AC0D6}">
      <dgm:prSet phldrT="[Text]" custT="1"/>
      <dgm:spPr/>
      <dgm:t>
        <a:bodyPr/>
        <a:lstStyle/>
        <a:p>
          <a:r>
            <a:rPr lang="en-US" sz="1800" b="1" dirty="0"/>
            <a:t>Rate attack vectors</a:t>
          </a:r>
          <a:endParaRPr lang="en-US" sz="1800" dirty="0"/>
        </a:p>
      </dgm:t>
    </dgm:pt>
    <dgm:pt modelId="{72C4E4FF-2989-4C38-A402-DF37BEE8822A}" type="parTrans" cxnId="{9BB83AB7-4DC2-493E-854C-E029D4102CF4}">
      <dgm:prSet/>
      <dgm:spPr/>
      <dgm:t>
        <a:bodyPr/>
        <a:lstStyle/>
        <a:p>
          <a:endParaRPr lang="en-US" sz="4400"/>
        </a:p>
      </dgm:t>
    </dgm:pt>
    <dgm:pt modelId="{95B5F3C2-59C0-491D-8856-7FFC53FF21B1}" type="sibTrans" cxnId="{9BB83AB7-4DC2-493E-854C-E029D4102CF4}">
      <dgm:prSet/>
      <dgm:spPr/>
      <dgm:t>
        <a:bodyPr/>
        <a:lstStyle/>
        <a:p>
          <a:endParaRPr lang="en-US" sz="4400"/>
        </a:p>
      </dgm:t>
    </dgm:pt>
    <dgm:pt modelId="{153FB876-1FBE-4D0E-ADC1-EA64E96743C5}" type="pres">
      <dgm:prSet presAssocID="{2D32EFE5-FC64-4484-BF04-D621C54B324C}" presName="diagram" presStyleCnt="0">
        <dgm:presLayoutVars>
          <dgm:dir/>
          <dgm:resizeHandles val="exact"/>
        </dgm:presLayoutVars>
      </dgm:prSet>
      <dgm:spPr/>
    </dgm:pt>
    <dgm:pt modelId="{7CDE59FE-C53E-4315-90CD-AECC808EEC12}" type="pres">
      <dgm:prSet presAssocID="{45D262B3-007F-445C-92E8-EB93DA8EDB1B}" presName="node" presStyleLbl="node1" presStyleIdx="0" presStyleCnt="5">
        <dgm:presLayoutVars>
          <dgm:bulletEnabled val="1"/>
        </dgm:presLayoutVars>
      </dgm:prSet>
      <dgm:spPr/>
    </dgm:pt>
    <dgm:pt modelId="{8FFBD6EA-15C2-4955-8E18-1751AD99588E}" type="pres">
      <dgm:prSet presAssocID="{BD7B5811-BBCC-4D41-B992-BBE0D803FB90}" presName="sibTrans" presStyleLbl="sibTrans2D1" presStyleIdx="0" presStyleCnt="4"/>
      <dgm:spPr/>
    </dgm:pt>
    <dgm:pt modelId="{FC40EA0F-3052-4FAF-8116-9AB6FEB51359}" type="pres">
      <dgm:prSet presAssocID="{BD7B5811-BBCC-4D41-B992-BBE0D803FB90}" presName="connectorText" presStyleLbl="sibTrans2D1" presStyleIdx="0" presStyleCnt="4"/>
      <dgm:spPr/>
    </dgm:pt>
    <dgm:pt modelId="{1A23595E-6BEA-41B0-8C00-CD334D9358F6}" type="pres">
      <dgm:prSet presAssocID="{06508958-B2D0-4767-9243-D24CBEA63858}" presName="node" presStyleLbl="node1" presStyleIdx="1" presStyleCnt="5">
        <dgm:presLayoutVars>
          <dgm:bulletEnabled val="1"/>
        </dgm:presLayoutVars>
      </dgm:prSet>
      <dgm:spPr/>
    </dgm:pt>
    <dgm:pt modelId="{B73D3F9E-B141-4461-ACD4-1B2D4C76A422}" type="pres">
      <dgm:prSet presAssocID="{C97C681E-F629-4191-9A26-8A2271EF8E92}" presName="sibTrans" presStyleLbl="sibTrans2D1" presStyleIdx="1" presStyleCnt="4"/>
      <dgm:spPr/>
    </dgm:pt>
    <dgm:pt modelId="{0E347E2F-A23D-42D4-92B4-3823FD020F89}" type="pres">
      <dgm:prSet presAssocID="{C97C681E-F629-4191-9A26-8A2271EF8E92}" presName="connectorText" presStyleLbl="sibTrans2D1" presStyleIdx="1" presStyleCnt="4"/>
      <dgm:spPr/>
    </dgm:pt>
    <dgm:pt modelId="{D9748D6D-A9CA-46B0-BD25-F0BFE891C444}" type="pres">
      <dgm:prSet presAssocID="{C038450F-522F-4647-8D58-C3CFA4A2BB49}" presName="node" presStyleLbl="node1" presStyleIdx="2" presStyleCnt="5">
        <dgm:presLayoutVars>
          <dgm:bulletEnabled val="1"/>
        </dgm:presLayoutVars>
      </dgm:prSet>
      <dgm:spPr/>
    </dgm:pt>
    <dgm:pt modelId="{9FABA580-6174-4E05-A92D-E34693816EEA}" type="pres">
      <dgm:prSet presAssocID="{A7341D5D-3FF4-4720-8E25-7E5F9E659D58}" presName="sibTrans" presStyleLbl="sibTrans2D1" presStyleIdx="2" presStyleCnt="4"/>
      <dgm:spPr/>
    </dgm:pt>
    <dgm:pt modelId="{425F83C9-097A-4C93-8239-75EF9B5CD01E}" type="pres">
      <dgm:prSet presAssocID="{A7341D5D-3FF4-4720-8E25-7E5F9E659D58}" presName="connectorText" presStyleLbl="sibTrans2D1" presStyleIdx="2" presStyleCnt="4"/>
      <dgm:spPr/>
    </dgm:pt>
    <dgm:pt modelId="{197F426C-E829-4381-B5DD-2DFAF84DB903}" type="pres">
      <dgm:prSet presAssocID="{259A7417-D177-4C64-B9A9-7FC9C37BC804}" presName="node" presStyleLbl="node1" presStyleIdx="3" presStyleCnt="5">
        <dgm:presLayoutVars>
          <dgm:bulletEnabled val="1"/>
        </dgm:presLayoutVars>
      </dgm:prSet>
      <dgm:spPr/>
    </dgm:pt>
    <dgm:pt modelId="{91002F4C-FFED-415B-9C9E-0462D107C866}" type="pres">
      <dgm:prSet presAssocID="{F81ACBBA-2D5A-4A50-9484-7261DBF20C3C}" presName="sibTrans" presStyleLbl="sibTrans2D1" presStyleIdx="3" presStyleCnt="4"/>
      <dgm:spPr/>
    </dgm:pt>
    <dgm:pt modelId="{CD108367-3879-40B2-8DFE-07080DE16E9B}" type="pres">
      <dgm:prSet presAssocID="{F81ACBBA-2D5A-4A50-9484-7261DBF20C3C}" presName="connectorText" presStyleLbl="sibTrans2D1" presStyleIdx="3" presStyleCnt="4"/>
      <dgm:spPr/>
    </dgm:pt>
    <dgm:pt modelId="{4F6BCCB7-F053-47A8-A8F6-DD7AA0992C4B}" type="pres">
      <dgm:prSet presAssocID="{5A5E3A7E-8529-4C51-BC3A-A446523AC0D6}" presName="node" presStyleLbl="node1" presStyleIdx="4" presStyleCnt="5">
        <dgm:presLayoutVars>
          <dgm:bulletEnabled val="1"/>
        </dgm:presLayoutVars>
      </dgm:prSet>
      <dgm:spPr/>
    </dgm:pt>
  </dgm:ptLst>
  <dgm:cxnLst>
    <dgm:cxn modelId="{097C6505-7443-4211-9E83-AFCB67041950}" srcId="{2D32EFE5-FC64-4484-BF04-D621C54B324C}" destId="{259A7417-D177-4C64-B9A9-7FC9C37BC804}" srcOrd="3" destOrd="0" parTransId="{E104F8B1-7F1E-48B0-A512-D23828FF0D7E}" sibTransId="{F81ACBBA-2D5A-4A50-9484-7261DBF20C3C}"/>
    <dgm:cxn modelId="{193E6207-1873-4A59-BD13-144F4C9EAD29}" type="presOf" srcId="{F81ACBBA-2D5A-4A50-9484-7261DBF20C3C}" destId="{CD108367-3879-40B2-8DFE-07080DE16E9B}" srcOrd="1" destOrd="0" presId="urn:microsoft.com/office/officeart/2005/8/layout/process5"/>
    <dgm:cxn modelId="{00A6315C-BA71-47A8-A0F5-4CFA693D3748}" type="presOf" srcId="{C97C681E-F629-4191-9A26-8A2271EF8E92}" destId="{B73D3F9E-B141-4461-ACD4-1B2D4C76A422}" srcOrd="0" destOrd="0" presId="urn:microsoft.com/office/officeart/2005/8/layout/process5"/>
    <dgm:cxn modelId="{34810C43-51B7-4235-A42B-9F0790DEF26D}" type="presOf" srcId="{BD7B5811-BBCC-4D41-B992-BBE0D803FB90}" destId="{FC40EA0F-3052-4FAF-8116-9AB6FEB51359}" srcOrd="1" destOrd="0" presId="urn:microsoft.com/office/officeart/2005/8/layout/process5"/>
    <dgm:cxn modelId="{02D9CC43-1208-42CD-8738-B4E77B818CDD}" srcId="{2D32EFE5-FC64-4484-BF04-D621C54B324C}" destId="{06508958-B2D0-4767-9243-D24CBEA63858}" srcOrd="1" destOrd="0" parTransId="{9B1D6C41-AE2F-4E2F-B684-6EDBA339822D}" sibTransId="{C97C681E-F629-4191-9A26-8A2271EF8E92}"/>
    <dgm:cxn modelId="{37028867-47CF-450F-8115-F7B85DDB844C}" type="presOf" srcId="{C038450F-522F-4647-8D58-C3CFA4A2BB49}" destId="{D9748D6D-A9CA-46B0-BD25-F0BFE891C444}" srcOrd="0" destOrd="0" presId="urn:microsoft.com/office/officeart/2005/8/layout/process5"/>
    <dgm:cxn modelId="{1FB5E36E-E357-4C8E-9DFE-5C3A44DCCA8F}" type="presOf" srcId="{259A7417-D177-4C64-B9A9-7FC9C37BC804}" destId="{197F426C-E829-4381-B5DD-2DFAF84DB903}" srcOrd="0" destOrd="0" presId="urn:microsoft.com/office/officeart/2005/8/layout/process5"/>
    <dgm:cxn modelId="{AE9FB072-F697-45B3-A477-161FEB8F169C}" type="presOf" srcId="{C97C681E-F629-4191-9A26-8A2271EF8E92}" destId="{0E347E2F-A23D-42D4-92B4-3823FD020F89}" srcOrd="1" destOrd="0" presId="urn:microsoft.com/office/officeart/2005/8/layout/process5"/>
    <dgm:cxn modelId="{C6EBDB74-01CC-477D-9045-597B4282CE05}" type="presOf" srcId="{06508958-B2D0-4767-9243-D24CBEA63858}" destId="{1A23595E-6BEA-41B0-8C00-CD334D9358F6}" srcOrd="0" destOrd="0" presId="urn:microsoft.com/office/officeart/2005/8/layout/process5"/>
    <dgm:cxn modelId="{3C6F8387-8790-4964-B300-369EA2C26B86}" type="presOf" srcId="{A7341D5D-3FF4-4720-8E25-7E5F9E659D58}" destId="{425F83C9-097A-4C93-8239-75EF9B5CD01E}" srcOrd="1" destOrd="0" presId="urn:microsoft.com/office/officeart/2005/8/layout/process5"/>
    <dgm:cxn modelId="{CC564B8E-9D46-4F9B-ACA9-40647AC61851}" type="presOf" srcId="{2D32EFE5-FC64-4484-BF04-D621C54B324C}" destId="{153FB876-1FBE-4D0E-ADC1-EA64E96743C5}" srcOrd="0" destOrd="0" presId="urn:microsoft.com/office/officeart/2005/8/layout/process5"/>
    <dgm:cxn modelId="{283250AA-432A-4DE8-A8EA-820CC2E465AD}" srcId="{2D32EFE5-FC64-4484-BF04-D621C54B324C}" destId="{45D262B3-007F-445C-92E8-EB93DA8EDB1B}" srcOrd="0" destOrd="0" parTransId="{98049BAF-7E4D-4DD7-805B-64EF9783FCC8}" sibTransId="{BD7B5811-BBCC-4D41-B992-BBE0D803FB90}"/>
    <dgm:cxn modelId="{A48AB5AE-4D62-4F40-A8CE-FE432D6642D6}" srcId="{2D32EFE5-FC64-4484-BF04-D621C54B324C}" destId="{C038450F-522F-4647-8D58-C3CFA4A2BB49}" srcOrd="2" destOrd="0" parTransId="{83A04B21-6412-4B3B-B00E-0FAC3959D29C}" sibTransId="{A7341D5D-3FF4-4720-8E25-7E5F9E659D58}"/>
    <dgm:cxn modelId="{9BB83AB7-4DC2-493E-854C-E029D4102CF4}" srcId="{2D32EFE5-FC64-4484-BF04-D621C54B324C}" destId="{5A5E3A7E-8529-4C51-BC3A-A446523AC0D6}" srcOrd="4" destOrd="0" parTransId="{72C4E4FF-2989-4C38-A402-DF37BEE8822A}" sibTransId="{95B5F3C2-59C0-491D-8856-7FFC53FF21B1}"/>
    <dgm:cxn modelId="{037225C2-78E6-4694-BFB8-2C59B1F15E4D}" type="presOf" srcId="{A7341D5D-3FF4-4720-8E25-7E5F9E659D58}" destId="{9FABA580-6174-4E05-A92D-E34693816EEA}" srcOrd="0" destOrd="0" presId="urn:microsoft.com/office/officeart/2005/8/layout/process5"/>
    <dgm:cxn modelId="{BA0CE7C6-07F0-4E57-B4E1-C20EB6ED524A}" type="presOf" srcId="{BD7B5811-BBCC-4D41-B992-BBE0D803FB90}" destId="{8FFBD6EA-15C2-4955-8E18-1751AD99588E}" srcOrd="0" destOrd="0" presId="urn:microsoft.com/office/officeart/2005/8/layout/process5"/>
    <dgm:cxn modelId="{2F90C2CF-3DEE-473C-8BE1-9317C717E7FB}" type="presOf" srcId="{45D262B3-007F-445C-92E8-EB93DA8EDB1B}" destId="{7CDE59FE-C53E-4315-90CD-AECC808EEC12}" srcOrd="0" destOrd="0" presId="urn:microsoft.com/office/officeart/2005/8/layout/process5"/>
    <dgm:cxn modelId="{5A7B85E5-CB75-4CAC-BE03-238E2BA12FA1}" type="presOf" srcId="{5A5E3A7E-8529-4C51-BC3A-A446523AC0D6}" destId="{4F6BCCB7-F053-47A8-A8F6-DD7AA0992C4B}" srcOrd="0" destOrd="0" presId="urn:microsoft.com/office/officeart/2005/8/layout/process5"/>
    <dgm:cxn modelId="{700E23E8-4966-470C-8B97-9F0274FD1E49}" type="presOf" srcId="{F81ACBBA-2D5A-4A50-9484-7261DBF20C3C}" destId="{91002F4C-FFED-415B-9C9E-0462D107C866}" srcOrd="0" destOrd="0" presId="urn:microsoft.com/office/officeart/2005/8/layout/process5"/>
    <dgm:cxn modelId="{1F13CDE5-D7D2-472B-BFCE-B5E3B7C37C4A}" type="presParOf" srcId="{153FB876-1FBE-4D0E-ADC1-EA64E96743C5}" destId="{7CDE59FE-C53E-4315-90CD-AECC808EEC12}" srcOrd="0" destOrd="0" presId="urn:microsoft.com/office/officeart/2005/8/layout/process5"/>
    <dgm:cxn modelId="{A1E6162B-5F19-4180-BC88-D0BF2CBF968A}" type="presParOf" srcId="{153FB876-1FBE-4D0E-ADC1-EA64E96743C5}" destId="{8FFBD6EA-15C2-4955-8E18-1751AD99588E}" srcOrd="1" destOrd="0" presId="urn:microsoft.com/office/officeart/2005/8/layout/process5"/>
    <dgm:cxn modelId="{D80DDD66-97F9-4B0F-9853-97426DB3A01E}" type="presParOf" srcId="{8FFBD6EA-15C2-4955-8E18-1751AD99588E}" destId="{FC40EA0F-3052-4FAF-8116-9AB6FEB51359}" srcOrd="0" destOrd="0" presId="urn:microsoft.com/office/officeart/2005/8/layout/process5"/>
    <dgm:cxn modelId="{BB36B4A5-1BC6-4421-8239-C579FC39F2CD}" type="presParOf" srcId="{153FB876-1FBE-4D0E-ADC1-EA64E96743C5}" destId="{1A23595E-6BEA-41B0-8C00-CD334D9358F6}" srcOrd="2" destOrd="0" presId="urn:microsoft.com/office/officeart/2005/8/layout/process5"/>
    <dgm:cxn modelId="{C235BBDF-18A9-40B5-A561-CFE44002A81A}" type="presParOf" srcId="{153FB876-1FBE-4D0E-ADC1-EA64E96743C5}" destId="{B73D3F9E-B141-4461-ACD4-1B2D4C76A422}" srcOrd="3" destOrd="0" presId="urn:microsoft.com/office/officeart/2005/8/layout/process5"/>
    <dgm:cxn modelId="{824C9707-FEF9-4520-A053-8270CB32E077}" type="presParOf" srcId="{B73D3F9E-B141-4461-ACD4-1B2D4C76A422}" destId="{0E347E2F-A23D-42D4-92B4-3823FD020F89}" srcOrd="0" destOrd="0" presId="urn:microsoft.com/office/officeart/2005/8/layout/process5"/>
    <dgm:cxn modelId="{BBEF145D-59AC-496C-AD1C-7B965A08DA77}" type="presParOf" srcId="{153FB876-1FBE-4D0E-ADC1-EA64E96743C5}" destId="{D9748D6D-A9CA-46B0-BD25-F0BFE891C444}" srcOrd="4" destOrd="0" presId="urn:microsoft.com/office/officeart/2005/8/layout/process5"/>
    <dgm:cxn modelId="{776B02CD-B2DD-4CF5-BD28-B8AC35016692}" type="presParOf" srcId="{153FB876-1FBE-4D0E-ADC1-EA64E96743C5}" destId="{9FABA580-6174-4E05-A92D-E34693816EEA}" srcOrd="5" destOrd="0" presId="urn:microsoft.com/office/officeart/2005/8/layout/process5"/>
    <dgm:cxn modelId="{ADC7EAA4-7D02-45EB-B3DD-7304E2CDB7CA}" type="presParOf" srcId="{9FABA580-6174-4E05-A92D-E34693816EEA}" destId="{425F83C9-097A-4C93-8239-75EF9B5CD01E}" srcOrd="0" destOrd="0" presId="urn:microsoft.com/office/officeart/2005/8/layout/process5"/>
    <dgm:cxn modelId="{E2C5D353-E45A-44F2-BA1C-1067D5D96C51}" type="presParOf" srcId="{153FB876-1FBE-4D0E-ADC1-EA64E96743C5}" destId="{197F426C-E829-4381-B5DD-2DFAF84DB903}" srcOrd="6" destOrd="0" presId="urn:microsoft.com/office/officeart/2005/8/layout/process5"/>
    <dgm:cxn modelId="{209DF0F4-1300-4D55-8314-4B3164887B8D}" type="presParOf" srcId="{153FB876-1FBE-4D0E-ADC1-EA64E96743C5}" destId="{91002F4C-FFED-415B-9C9E-0462D107C866}" srcOrd="7" destOrd="0" presId="urn:microsoft.com/office/officeart/2005/8/layout/process5"/>
    <dgm:cxn modelId="{6F54F642-24FA-44CD-A11B-34350B64835A}" type="presParOf" srcId="{91002F4C-FFED-415B-9C9E-0462D107C866}" destId="{CD108367-3879-40B2-8DFE-07080DE16E9B}" srcOrd="0" destOrd="0" presId="urn:microsoft.com/office/officeart/2005/8/layout/process5"/>
    <dgm:cxn modelId="{25F095C9-61A1-4DB1-9191-AB97CA6F4893}" type="presParOf" srcId="{153FB876-1FBE-4D0E-ADC1-EA64E96743C5}" destId="{4F6BCCB7-F053-47A8-A8F6-DD7AA0992C4B}" srcOrd="8" destOrd="0" presId="urn:microsoft.com/office/officeart/2005/8/layout/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1CAC64A-164B-49AA-92E2-D1BB4688E733}">
      <dsp:nvSpPr>
        <dsp:cNvPr id="0" name=""/>
        <dsp:cNvSpPr/>
      </dsp:nvSpPr>
      <dsp:spPr>
        <a:xfrm>
          <a:off x="949869" y="55"/>
          <a:ext cx="1427924" cy="7139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70000"/>
            </a:lnSpc>
            <a:spcBef>
              <a:spcPct val="0"/>
            </a:spcBef>
            <a:spcAft>
              <a:spcPct val="35000"/>
            </a:spcAft>
            <a:buNone/>
          </a:pPr>
          <a:r>
            <a:rPr lang="en-US" sz="2000" kern="1200" dirty="0"/>
            <a:t>Attack Types</a:t>
          </a:r>
          <a:endParaRPr lang="en-AU" sz="2000" kern="1200" dirty="0"/>
        </a:p>
      </dsp:txBody>
      <dsp:txXfrm>
        <a:off x="970780" y="20966"/>
        <a:ext cx="1386102" cy="672140"/>
      </dsp:txXfrm>
    </dsp:sp>
    <dsp:sp modelId="{263AD429-5C2E-4442-900C-61AD79376D81}">
      <dsp:nvSpPr>
        <dsp:cNvPr id="0" name=""/>
        <dsp:cNvSpPr/>
      </dsp:nvSpPr>
      <dsp:spPr>
        <a:xfrm>
          <a:off x="1092661" y="714017"/>
          <a:ext cx="142792" cy="535471"/>
        </a:xfrm>
        <a:custGeom>
          <a:avLst/>
          <a:gdLst/>
          <a:ahLst/>
          <a:cxnLst/>
          <a:rect l="0" t="0" r="0" b="0"/>
          <a:pathLst>
            <a:path>
              <a:moveTo>
                <a:pt x="0" y="0"/>
              </a:moveTo>
              <a:lnTo>
                <a:pt x="0" y="535471"/>
              </a:lnTo>
              <a:lnTo>
                <a:pt x="142792" y="5354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6DE792E9-8049-48DE-96FA-FF545C1D7E9E}">
      <dsp:nvSpPr>
        <dsp:cNvPr id="0" name=""/>
        <dsp:cNvSpPr/>
      </dsp:nvSpPr>
      <dsp:spPr>
        <a:xfrm>
          <a:off x="1235454" y="892507"/>
          <a:ext cx="1142339" cy="7139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Active</a:t>
          </a:r>
          <a:endParaRPr lang="en-AU" sz="2000" kern="1200" dirty="0"/>
        </a:p>
      </dsp:txBody>
      <dsp:txXfrm>
        <a:off x="1256365" y="913418"/>
        <a:ext cx="1100517" cy="672140"/>
      </dsp:txXfrm>
    </dsp:sp>
    <dsp:sp modelId="{FB798E8B-1958-451A-BA15-ACC062F7A922}">
      <dsp:nvSpPr>
        <dsp:cNvPr id="0" name=""/>
        <dsp:cNvSpPr/>
      </dsp:nvSpPr>
      <dsp:spPr>
        <a:xfrm>
          <a:off x="1092661" y="714017"/>
          <a:ext cx="142792" cy="1427924"/>
        </a:xfrm>
        <a:custGeom>
          <a:avLst/>
          <a:gdLst/>
          <a:ahLst/>
          <a:cxnLst/>
          <a:rect l="0" t="0" r="0" b="0"/>
          <a:pathLst>
            <a:path>
              <a:moveTo>
                <a:pt x="0" y="0"/>
              </a:moveTo>
              <a:lnTo>
                <a:pt x="0" y="1427924"/>
              </a:lnTo>
              <a:lnTo>
                <a:pt x="142792" y="14279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3BB95E87-FD5A-4335-9503-F924A38E61D2}">
      <dsp:nvSpPr>
        <dsp:cNvPr id="0" name=""/>
        <dsp:cNvSpPr/>
      </dsp:nvSpPr>
      <dsp:spPr>
        <a:xfrm>
          <a:off x="1235454" y="1784960"/>
          <a:ext cx="1142339" cy="7139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Passive</a:t>
          </a:r>
          <a:endParaRPr lang="en-AU" sz="2000" kern="1200" dirty="0"/>
        </a:p>
      </dsp:txBody>
      <dsp:txXfrm>
        <a:off x="1256365" y="1805871"/>
        <a:ext cx="1100517" cy="672140"/>
      </dsp:txXfrm>
    </dsp:sp>
    <dsp:sp modelId="{90354A96-5EFD-4460-96D2-48D94178D174}">
      <dsp:nvSpPr>
        <dsp:cNvPr id="0" name=""/>
        <dsp:cNvSpPr/>
      </dsp:nvSpPr>
      <dsp:spPr>
        <a:xfrm>
          <a:off x="2734774" y="55"/>
          <a:ext cx="1427924" cy="713962"/>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8100" tIns="25400" rIns="38100" bIns="25400" numCol="1" spcCol="1270" anchor="ctr" anchorCtr="0">
          <a:noAutofit/>
        </a:bodyPr>
        <a:lstStyle/>
        <a:p>
          <a:pPr marL="0" lvl="0" indent="0" algn="ctr" defTabSz="889000">
            <a:lnSpc>
              <a:spcPct val="70000"/>
            </a:lnSpc>
            <a:spcBef>
              <a:spcPct val="0"/>
            </a:spcBef>
            <a:spcAft>
              <a:spcPct val="35000"/>
            </a:spcAft>
            <a:buNone/>
          </a:pPr>
          <a:r>
            <a:rPr lang="en-US" sz="2000" kern="1200" dirty="0"/>
            <a:t>Attack Origin</a:t>
          </a:r>
          <a:endParaRPr lang="en-AU" sz="2000" kern="1200" dirty="0"/>
        </a:p>
      </dsp:txBody>
      <dsp:txXfrm>
        <a:off x="2755685" y="20966"/>
        <a:ext cx="1386102" cy="672140"/>
      </dsp:txXfrm>
    </dsp:sp>
    <dsp:sp modelId="{D5FFF492-4680-43CE-84C5-C02F00490BA3}">
      <dsp:nvSpPr>
        <dsp:cNvPr id="0" name=""/>
        <dsp:cNvSpPr/>
      </dsp:nvSpPr>
      <dsp:spPr>
        <a:xfrm>
          <a:off x="2877566" y="714017"/>
          <a:ext cx="142792" cy="535471"/>
        </a:xfrm>
        <a:custGeom>
          <a:avLst/>
          <a:gdLst/>
          <a:ahLst/>
          <a:cxnLst/>
          <a:rect l="0" t="0" r="0" b="0"/>
          <a:pathLst>
            <a:path>
              <a:moveTo>
                <a:pt x="0" y="0"/>
              </a:moveTo>
              <a:lnTo>
                <a:pt x="0" y="535471"/>
              </a:lnTo>
              <a:lnTo>
                <a:pt x="142792" y="535471"/>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E7E80D-3EC5-481E-B935-C3F36B2B0238}">
      <dsp:nvSpPr>
        <dsp:cNvPr id="0" name=""/>
        <dsp:cNvSpPr/>
      </dsp:nvSpPr>
      <dsp:spPr>
        <a:xfrm>
          <a:off x="3020359" y="892507"/>
          <a:ext cx="1142339" cy="7139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Inside</a:t>
          </a:r>
          <a:endParaRPr lang="en-AU" sz="2000" kern="1200" dirty="0"/>
        </a:p>
      </dsp:txBody>
      <dsp:txXfrm>
        <a:off x="3041270" y="913418"/>
        <a:ext cx="1100517" cy="672140"/>
      </dsp:txXfrm>
    </dsp:sp>
    <dsp:sp modelId="{5724C4FC-CD3E-44D5-8726-983F99355803}">
      <dsp:nvSpPr>
        <dsp:cNvPr id="0" name=""/>
        <dsp:cNvSpPr/>
      </dsp:nvSpPr>
      <dsp:spPr>
        <a:xfrm>
          <a:off x="2877566" y="714017"/>
          <a:ext cx="142792" cy="1427924"/>
        </a:xfrm>
        <a:custGeom>
          <a:avLst/>
          <a:gdLst/>
          <a:ahLst/>
          <a:cxnLst/>
          <a:rect l="0" t="0" r="0" b="0"/>
          <a:pathLst>
            <a:path>
              <a:moveTo>
                <a:pt x="0" y="0"/>
              </a:moveTo>
              <a:lnTo>
                <a:pt x="0" y="1427924"/>
              </a:lnTo>
              <a:lnTo>
                <a:pt x="142792" y="1427924"/>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A1BA7203-A87F-49CE-BE5D-45787CD50389}">
      <dsp:nvSpPr>
        <dsp:cNvPr id="0" name=""/>
        <dsp:cNvSpPr/>
      </dsp:nvSpPr>
      <dsp:spPr>
        <a:xfrm>
          <a:off x="3020359" y="1784960"/>
          <a:ext cx="1142339" cy="713962"/>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Outside</a:t>
          </a:r>
          <a:endParaRPr lang="en-AU" sz="2000" kern="1200" dirty="0"/>
        </a:p>
      </dsp:txBody>
      <dsp:txXfrm>
        <a:off x="3041270" y="1805871"/>
        <a:ext cx="1100517" cy="6721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CDE59FE-C53E-4315-90CD-AECC808EEC12}">
      <dsp:nvSpPr>
        <dsp:cNvPr id="0" name=""/>
        <dsp:cNvSpPr/>
      </dsp:nvSpPr>
      <dsp:spPr>
        <a:xfrm>
          <a:off x="7233" y="608885"/>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List all components</a:t>
          </a:r>
          <a:endParaRPr lang="en-US" sz="1800" kern="1200" dirty="0"/>
        </a:p>
      </dsp:txBody>
      <dsp:txXfrm>
        <a:off x="45225" y="646877"/>
        <a:ext cx="2085893" cy="1221142"/>
      </dsp:txXfrm>
    </dsp:sp>
    <dsp:sp modelId="{8FFBD6EA-15C2-4955-8E18-1751AD99588E}">
      <dsp:nvSpPr>
        <dsp:cNvPr id="0" name=""/>
        <dsp:cNvSpPr/>
      </dsp:nvSpPr>
      <dsp:spPr>
        <a:xfrm>
          <a:off x="2359355" y="989376"/>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a:off x="2359355" y="1096605"/>
        <a:ext cx="320822" cy="321687"/>
      </dsp:txXfrm>
    </dsp:sp>
    <dsp:sp modelId="{1A23595E-6BEA-41B0-8C00-CD334D9358F6}">
      <dsp:nvSpPr>
        <dsp:cNvPr id="0" name=""/>
        <dsp:cNvSpPr/>
      </dsp:nvSpPr>
      <dsp:spPr>
        <a:xfrm>
          <a:off x="3033861" y="608885"/>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Prepare architecture diagram</a:t>
          </a:r>
          <a:endParaRPr lang="en-US" sz="1800" kern="1200" dirty="0"/>
        </a:p>
      </dsp:txBody>
      <dsp:txXfrm>
        <a:off x="3071853" y="646877"/>
        <a:ext cx="2085893" cy="1221142"/>
      </dsp:txXfrm>
    </dsp:sp>
    <dsp:sp modelId="{B73D3F9E-B141-4461-ACD4-1B2D4C76A422}">
      <dsp:nvSpPr>
        <dsp:cNvPr id="0" name=""/>
        <dsp:cNvSpPr/>
      </dsp:nvSpPr>
      <dsp:spPr>
        <a:xfrm>
          <a:off x="5385983" y="989376"/>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a:off x="5385983" y="1096605"/>
        <a:ext cx="320822" cy="321687"/>
      </dsp:txXfrm>
    </dsp:sp>
    <dsp:sp modelId="{D9748D6D-A9CA-46B0-BD25-F0BFE891C444}">
      <dsp:nvSpPr>
        <dsp:cNvPr id="0" name=""/>
        <dsp:cNvSpPr/>
      </dsp:nvSpPr>
      <dsp:spPr>
        <a:xfrm>
          <a:off x="6060489" y="608885"/>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b="1" kern="1200" dirty="0"/>
            <a:t>Label components &amp; communication b/w them</a:t>
          </a:r>
          <a:endParaRPr lang="en-US" sz="1600" kern="1200" dirty="0"/>
        </a:p>
      </dsp:txBody>
      <dsp:txXfrm>
        <a:off x="6098481" y="646877"/>
        <a:ext cx="2085893" cy="1221142"/>
      </dsp:txXfrm>
    </dsp:sp>
    <dsp:sp modelId="{9FABA580-6174-4E05-A92D-E34693816EEA}">
      <dsp:nvSpPr>
        <dsp:cNvPr id="0" name=""/>
        <dsp:cNvSpPr/>
      </dsp:nvSpPr>
      <dsp:spPr>
        <a:xfrm rot="5400000">
          <a:off x="6912269" y="2057343"/>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5400000">
        <a:off x="6980585" y="2096257"/>
        <a:ext cx="321687" cy="320822"/>
      </dsp:txXfrm>
    </dsp:sp>
    <dsp:sp modelId="{197F426C-E829-4381-B5DD-2DFAF84DB903}">
      <dsp:nvSpPr>
        <dsp:cNvPr id="0" name=""/>
        <dsp:cNvSpPr/>
      </dsp:nvSpPr>
      <dsp:spPr>
        <a:xfrm>
          <a:off x="6060489" y="2770762"/>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Identify attack vectors</a:t>
          </a:r>
          <a:endParaRPr lang="en-US" sz="1800" kern="1200" dirty="0"/>
        </a:p>
      </dsp:txBody>
      <dsp:txXfrm>
        <a:off x="6098481" y="2808754"/>
        <a:ext cx="2085893" cy="1221142"/>
      </dsp:txXfrm>
    </dsp:sp>
    <dsp:sp modelId="{91002F4C-FFED-415B-9C9E-0462D107C866}">
      <dsp:nvSpPr>
        <dsp:cNvPr id="0" name=""/>
        <dsp:cNvSpPr/>
      </dsp:nvSpPr>
      <dsp:spPr>
        <a:xfrm rot="10800000">
          <a:off x="5411926" y="3151253"/>
          <a:ext cx="458317" cy="536145"/>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955800">
            <a:lnSpc>
              <a:spcPct val="90000"/>
            </a:lnSpc>
            <a:spcBef>
              <a:spcPct val="0"/>
            </a:spcBef>
            <a:spcAft>
              <a:spcPct val="35000"/>
            </a:spcAft>
            <a:buNone/>
          </a:pPr>
          <a:endParaRPr lang="en-US" sz="4400" kern="1200"/>
        </a:p>
      </dsp:txBody>
      <dsp:txXfrm rot="10800000">
        <a:off x="5549421" y="3258482"/>
        <a:ext cx="320822" cy="321687"/>
      </dsp:txXfrm>
    </dsp:sp>
    <dsp:sp modelId="{4F6BCCB7-F053-47A8-A8F6-DD7AA0992C4B}">
      <dsp:nvSpPr>
        <dsp:cNvPr id="0" name=""/>
        <dsp:cNvSpPr/>
      </dsp:nvSpPr>
      <dsp:spPr>
        <a:xfrm>
          <a:off x="3033861" y="2770762"/>
          <a:ext cx="2161877" cy="1297126"/>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Rate attack vectors</a:t>
          </a:r>
          <a:endParaRPr lang="en-US" sz="1800" kern="1200" dirty="0"/>
        </a:p>
      </dsp:txBody>
      <dsp:txXfrm>
        <a:off x="3071853" y="2808754"/>
        <a:ext cx="2085893" cy="122114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5">
  <dgm:title val=""/>
  <dgm:desc val=""/>
  <dgm:catLst>
    <dgm:cat type="process" pri="17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diagram">
    <dgm:varLst>
      <dgm:dir/>
      <dgm:resizeHandles val="exact"/>
    </dgm:varLst>
    <dgm:choose name="Name0">
      <dgm:if name="Name1" axis="self" func="var" arg="dir" op="equ" val="norm">
        <dgm:alg type="snake">
          <dgm:param type="grDir" val="tL"/>
          <dgm:param type="flowDir" val="row"/>
          <dgm:param type="contDir" val="revDir"/>
          <dgm:param type="bkpt" val="endCnv"/>
        </dgm:alg>
      </dgm:if>
      <dgm:else name="Name2">
        <dgm:alg type="snake">
          <dgm:param type="grDir" val="tR"/>
          <dgm:param type="flowDir" val="row"/>
          <dgm:param type="contDir" val="rev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4"/>
      <dgm:constr type="sp" refType="w" refFor="ch" refForName="sibTrans"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9FC1A7-F877-44DD-B2DD-60553F4FFAE6}" type="datetimeFigureOut">
              <a:rPr lang="en-AU" smtClean="0"/>
              <a:t>19/08/2025</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C33C15-5131-4101-B031-6627D1EB5562}" type="slidenum">
              <a:rPr lang="en-AU" smtClean="0"/>
              <a:t>‹#›</a:t>
            </a:fld>
            <a:endParaRPr lang="en-AU"/>
          </a:p>
        </p:txBody>
      </p:sp>
    </p:spTree>
    <p:extLst>
      <p:ext uri="{BB962C8B-B14F-4D97-AF65-F5344CB8AC3E}">
        <p14:creationId xmlns:p14="http://schemas.microsoft.com/office/powerpoint/2010/main" val="21926644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3</a:t>
            </a:fld>
            <a:endParaRPr lang="en-US" dirty="0"/>
          </a:p>
        </p:txBody>
      </p:sp>
    </p:spTree>
    <p:extLst>
      <p:ext uri="{BB962C8B-B14F-4D97-AF65-F5344CB8AC3E}">
        <p14:creationId xmlns:p14="http://schemas.microsoft.com/office/powerpoint/2010/main" val="26202294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4</a:t>
            </a:fld>
            <a:endParaRPr lang="en-US" dirty="0"/>
          </a:p>
        </p:txBody>
      </p:sp>
    </p:spTree>
    <p:extLst>
      <p:ext uri="{BB962C8B-B14F-4D97-AF65-F5344CB8AC3E}">
        <p14:creationId xmlns:p14="http://schemas.microsoft.com/office/powerpoint/2010/main" val="14771152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5</a:t>
            </a:fld>
            <a:endParaRPr lang="en-US" dirty="0"/>
          </a:p>
        </p:txBody>
      </p:sp>
    </p:spTree>
    <p:extLst>
      <p:ext uri="{BB962C8B-B14F-4D97-AF65-F5344CB8AC3E}">
        <p14:creationId xmlns:p14="http://schemas.microsoft.com/office/powerpoint/2010/main" val="36074226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6</a:t>
            </a:fld>
            <a:endParaRPr lang="en-US" dirty="0"/>
          </a:p>
        </p:txBody>
      </p:sp>
    </p:spTree>
    <p:extLst>
      <p:ext uri="{BB962C8B-B14F-4D97-AF65-F5344CB8AC3E}">
        <p14:creationId xmlns:p14="http://schemas.microsoft.com/office/powerpoint/2010/main" val="134023218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b="1" dirty="0">
                <a:cs typeface="Lucida Sans Unicode" panose="020B0602030504020204" pitchFamily="34" charset="0"/>
              </a:rPr>
              <a:t>Critical Characteristics of Information</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The value of information comes from the characteristics it possesses.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Availability – Enables users who need to access information to do so without interference or obstruction and in the required format. The information is said to be available to an authorized user when and where needed and in the correct format.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Accuracy – Free from mistake or error and having the value that the end user expects. If information contains a value different from the user’s expectations due to the intentional or unintentional modification of its content, it is no longer accurate.</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Authenticity –The quality or state of being genuine or original, rather than a reproduction or fabrication. Information is authentic when it is the information that was originally created, placed, stored, or transferred.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Integrity – The quality or state of being whole, complete, and uncorrupted.  The integrity of information is threatened when the information is exposed to corruption, damage, destruction, or other disruption of its authentic state.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Utility – The quality or state of having value for some purpose or end. Information has value when it serves a particular purpose. This means that if information is available, but not in a format meaningful to the end user, it is not useful.</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7</a:t>
            </a:fld>
            <a:endParaRPr lang="en-US" dirty="0"/>
          </a:p>
        </p:txBody>
      </p:sp>
    </p:spTree>
    <p:extLst>
      <p:ext uri="{BB962C8B-B14F-4D97-AF65-F5344CB8AC3E}">
        <p14:creationId xmlns:p14="http://schemas.microsoft.com/office/powerpoint/2010/main" val="6082742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b="1" dirty="0">
                <a:cs typeface="Lucida Sans Unicode" panose="020B0602030504020204" pitchFamily="34" charset="0"/>
              </a:rPr>
              <a:t>Critical Characteristics of Information</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The value of information comes from the characteristics it possesses.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Availability – Enables users who need to access information to do so without interference or obstruction and in the required format. The information is said to be available to an authorized user when and where needed and in the correct format.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Accuracy – Free from mistake or error and having the value that the end user expects. If information contains a value different from the user’s expectations due to the intentional or unintentional modification of its content, it is no longer accurate.</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Authenticity –The quality or state of being genuine or original, rather than a reproduction or fabrication. Information is authentic when it is the information that was originally created, placed, stored, or transferred.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Confidentiality – The quality or state of preventing disclosure or exposure to unauthorized individuals or systems.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Integrity – The quality or state of being whole, complete, and uncorrupted.  The integrity of information is threatened when the information is exposed to corruption, damage, destruction, or other disruption of its authentic state.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Utility – The quality or state of having value for some purpose or end. Information has value when it serves a particular purpose. This means that if information is available, but not in a format meaningful to the end user, it is not useful.</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9</a:t>
            </a:fld>
            <a:endParaRPr lang="en-US" dirty="0"/>
          </a:p>
        </p:txBody>
      </p:sp>
    </p:spTree>
    <p:extLst>
      <p:ext uri="{BB962C8B-B14F-4D97-AF65-F5344CB8AC3E}">
        <p14:creationId xmlns:p14="http://schemas.microsoft.com/office/powerpoint/2010/main" val="289065424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b="1" dirty="0">
                <a:cs typeface="Lucida Sans Unicode" panose="020B0602030504020204" pitchFamily="34" charset="0"/>
              </a:rPr>
              <a:t>Critical Characteristics of Information</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The value of information comes from the characteristics it possesses.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Availability – Enables users who need to access information to do so without interference or obstruction and in the required format. The information is said to be available to an authorized user when and where needed and in the correct format.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Accuracy – Free from mistake or error and having the value that the end user expects. If information contains a value different from the user’s expectations due to the intentional or unintentional modification of its content, it is no longer accurate.</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Authenticity –The quality or state of being genuine or original, rather than a reproduction or fabrication. Information is authentic when it is the information that was originally created, placed, stored, or transferred.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Confidentiality – The quality or state of preventing disclosure or exposure to unauthorized individuals or systems.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Integrity – The quality or state of being whole, complete, and uncorrupted.  The integrity of information is threatened when the information is exposed to corruption, damage, destruction, or other disruption of its authentic state. </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Utility – The quality or state of having value for some purpose or end. Information has value when it serves a particular purpose. This means that if information is available, but not in a format meaningful to the end user, it is not useful.</a:t>
            </a:r>
          </a:p>
          <a:p>
            <a:pPr eaLnBrk="1" hangingPunct="1">
              <a:spcBef>
                <a:spcPts val="385"/>
              </a:spcBef>
              <a:tabLst>
                <a:tab pos="0" algn="l"/>
                <a:tab pos="939729" algn="l"/>
                <a:tab pos="1879458" algn="l"/>
                <a:tab pos="2819187" algn="l"/>
                <a:tab pos="3758916" algn="l"/>
                <a:tab pos="4698644" algn="l"/>
                <a:tab pos="5638373" algn="l"/>
                <a:tab pos="6578102" algn="l"/>
                <a:tab pos="7517831" algn="l"/>
                <a:tab pos="8457560" algn="l"/>
                <a:tab pos="9397289" algn="l"/>
                <a:tab pos="10337018" algn="l"/>
              </a:tabLst>
            </a:pPr>
            <a:r>
              <a:rPr lang="en-GB" altLang="en-US" dirty="0">
                <a:cs typeface="Lucida Sans Unicode" panose="020B0602030504020204" pitchFamily="34" charset="0"/>
              </a:rPr>
              <a:t>Possession – The quality or state of having ownership or control of some object or item. Information is said to be in possession if one obtains it, independent of format or other characteristic. While a breach of confidentiality always results in a breach of possession, a breach of possession does not always result in a breach of confidentiality.</a:t>
            </a:r>
          </a:p>
          <a:p>
            <a:endParaRPr lang="en-US" dirty="0"/>
          </a:p>
        </p:txBody>
      </p:sp>
      <p:sp>
        <p:nvSpPr>
          <p:cNvPr id="4" name="Slide Number Placeholder 3"/>
          <p:cNvSpPr>
            <a:spLocks noGrp="1"/>
          </p:cNvSpPr>
          <p:nvPr>
            <p:ph type="sldNum" sz="quarter" idx="10"/>
          </p:nvPr>
        </p:nvSpPr>
        <p:spPr/>
        <p:txBody>
          <a:bodyPr/>
          <a:lstStyle/>
          <a:p>
            <a:pPr>
              <a:defRPr/>
            </a:pPr>
            <a:fld id="{61278F2E-F251-4216-9B05-E66403EB759F}" type="slidenum">
              <a:rPr lang="en-US" smtClean="0"/>
              <a:pPr>
                <a:defRPr/>
              </a:pPr>
              <a:t>10</a:t>
            </a:fld>
            <a:endParaRPr lang="en-US" dirty="0"/>
          </a:p>
        </p:txBody>
      </p:sp>
    </p:spTree>
    <p:extLst>
      <p:ext uri="{BB962C8B-B14F-4D97-AF65-F5344CB8AC3E}">
        <p14:creationId xmlns:p14="http://schemas.microsoft.com/office/powerpoint/2010/main" val="11405727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Multiple layers of security</a:t>
            </a:r>
          </a:p>
        </p:txBody>
      </p:sp>
      <p:sp>
        <p:nvSpPr>
          <p:cNvPr id="4" name="Slide Number Placeholder 3"/>
          <p:cNvSpPr>
            <a:spLocks noGrp="1"/>
          </p:cNvSpPr>
          <p:nvPr>
            <p:ph type="sldNum" sz="quarter" idx="10"/>
          </p:nvPr>
        </p:nvSpPr>
        <p:spPr/>
        <p:txBody>
          <a:bodyPr/>
          <a:lstStyle/>
          <a:p>
            <a:fld id="{85C33C15-5131-4101-B031-6627D1EB5562}" type="slidenum">
              <a:rPr lang="en-AU" smtClean="0"/>
              <a:t>32</a:t>
            </a:fld>
            <a:endParaRPr lang="en-AU"/>
          </a:p>
        </p:txBody>
      </p:sp>
    </p:spTree>
    <p:extLst>
      <p:ext uri="{BB962C8B-B14F-4D97-AF65-F5344CB8AC3E}">
        <p14:creationId xmlns:p14="http://schemas.microsoft.com/office/powerpoint/2010/main" val="63142223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0324166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79512" y="16778"/>
            <a:ext cx="8964488" cy="1069514"/>
          </a:xfrm>
          <a:prstGeom prst="rect">
            <a:avLst/>
          </a:prstGeom>
        </p:spPr>
        <p:txBody>
          <a:bodyPr anchor="ctr"/>
          <a:lstStyle>
            <a:lvl1pPr latinLnBrk="0">
              <a:defRPr b="1" baseline="0">
                <a:solidFill>
                  <a:schemeClr val="bg1"/>
                </a:solidFill>
                <a:latin typeface="Arial" pitchFamily="34" charset="0"/>
                <a:cs typeface="Arial" pitchFamily="34" charset="0"/>
              </a:defRPr>
            </a:lvl1pPr>
          </a:lstStyle>
          <a:p>
            <a:r>
              <a:rPr lang="en-US" altLang="ko-KR" dirty="0"/>
              <a:t>Click to add title</a:t>
            </a:r>
            <a:endParaRPr lang="ko-KR" altLang="en-US" dirty="0"/>
          </a:p>
        </p:txBody>
      </p:sp>
      <p:sp>
        <p:nvSpPr>
          <p:cNvPr id="7" name="Content Placeholder 6">
            <a:extLst>
              <a:ext uri="{FF2B5EF4-FFF2-40B4-BE49-F238E27FC236}">
                <a16:creationId xmlns:a16="http://schemas.microsoft.com/office/drawing/2014/main" id="{25EA4C87-1B6D-2CEA-39CA-59614D453096}"/>
              </a:ext>
            </a:extLst>
          </p:cNvPr>
          <p:cNvSpPr>
            <a:spLocks noGrp="1"/>
          </p:cNvSpPr>
          <p:nvPr>
            <p:ph sz="quarter" idx="11"/>
          </p:nvPr>
        </p:nvSpPr>
        <p:spPr>
          <a:xfrm>
            <a:off x="467544" y="1560612"/>
            <a:ext cx="8229600" cy="4676700"/>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AU" dirty="0"/>
          </a:p>
        </p:txBody>
      </p:sp>
    </p:spTree>
    <p:extLst>
      <p:ext uri="{BB962C8B-B14F-4D97-AF65-F5344CB8AC3E}">
        <p14:creationId xmlns:p14="http://schemas.microsoft.com/office/powerpoint/2010/main" val="36940157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1691680" y="0"/>
            <a:ext cx="7452320" cy="1069514"/>
          </a:xfrm>
          <a:prstGeom prst="rect">
            <a:avLst/>
          </a:prstGeom>
        </p:spPr>
        <p:txBody>
          <a:bodyPr anchor="ctr"/>
          <a:lstStyle>
            <a:lvl1pPr latinLnBrk="0">
              <a:defRPr b="1" baseline="0">
                <a:solidFill>
                  <a:schemeClr val="tx1">
                    <a:lumMod val="75000"/>
                    <a:lumOff val="25000"/>
                  </a:schemeClr>
                </a:solidFill>
                <a:latin typeface="Arial" pitchFamily="34" charset="0"/>
                <a:cs typeface="Arial" pitchFamily="34" charset="0"/>
              </a:defRPr>
            </a:lvl1pPr>
          </a:lstStyle>
          <a:p>
            <a:r>
              <a:rPr lang="en-US" altLang="ko-KR" dirty="0"/>
              <a:t>Click to add title</a:t>
            </a:r>
            <a:endParaRPr lang="ko-KR" altLang="en-US" dirty="0"/>
          </a:p>
        </p:txBody>
      </p:sp>
      <p:sp>
        <p:nvSpPr>
          <p:cNvPr id="6" name="Content Placeholder 5">
            <a:extLst>
              <a:ext uri="{FF2B5EF4-FFF2-40B4-BE49-F238E27FC236}">
                <a16:creationId xmlns:a16="http://schemas.microsoft.com/office/drawing/2014/main" id="{E85ED14E-43B1-FAD8-93BB-3A0393784FEF}"/>
              </a:ext>
            </a:extLst>
          </p:cNvPr>
          <p:cNvSpPr>
            <a:spLocks noGrp="1"/>
          </p:cNvSpPr>
          <p:nvPr>
            <p:ph sz="quarter" idx="11"/>
          </p:nvPr>
        </p:nvSpPr>
        <p:spPr>
          <a:xfrm>
            <a:off x="2134072" y="1268760"/>
            <a:ext cx="6563072" cy="4923175"/>
          </a:xfrm>
          <a:prstGeom prst="rect">
            <a:avLst/>
          </a:prstGeom>
        </p:spPr>
        <p:txBody>
          <a:bodyPr/>
          <a:lstStyle>
            <a:lvl1pPr latinLnBrk="0">
              <a:defRPr/>
            </a:lvl1pPr>
            <a:lvl2pPr latinLnBrk="0">
              <a:defRPr/>
            </a:lvl2pPr>
            <a:lvl3pPr latinLnBrk="0">
              <a:defRPr/>
            </a:lvl3pPr>
            <a:lvl4pPr latinLnBrk="0">
              <a:defRPr/>
            </a:lvl4pPr>
            <a:lvl5pPr latinLnBrk="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Tree>
    <p:extLst>
      <p:ext uri="{BB962C8B-B14F-4D97-AF65-F5344CB8AC3E}">
        <p14:creationId xmlns:p14="http://schemas.microsoft.com/office/powerpoint/2010/main" val="23268185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Title 7"/>
          <p:cNvSpPr>
            <a:spLocks noGrp="1"/>
          </p:cNvSpPr>
          <p:nvPr>
            <p:ph type="title"/>
          </p:nvPr>
        </p:nvSpPr>
        <p:spPr>
          <a:xfrm>
            <a:off x="45720" y="27709"/>
            <a:ext cx="9052560" cy="1039091"/>
          </a:xfrm>
        </p:spPr>
        <p:txBody>
          <a:bodyPr>
            <a:normAutofit/>
          </a:bodyPr>
          <a:lstStyle>
            <a:lvl1pPr algn="ctr">
              <a:defRPr sz="3600">
                <a:latin typeface="Arial" pitchFamily="34" charset="0"/>
                <a:ea typeface="Verdana" pitchFamily="34" charset="0"/>
                <a:cs typeface="Arial" pitchFamily="34" charset="0"/>
              </a:defRPr>
            </a:lvl1pPr>
          </a:lstStyle>
          <a:p>
            <a:r>
              <a:rPr lang="en-US" dirty="0"/>
              <a:t>Click to edit Master title style</a:t>
            </a:r>
          </a:p>
        </p:txBody>
      </p:sp>
      <p:sp>
        <p:nvSpPr>
          <p:cNvPr id="3" name="Content Placeholder 2"/>
          <p:cNvSpPr>
            <a:spLocks noGrp="1"/>
          </p:cNvSpPr>
          <p:nvPr>
            <p:ph idx="1"/>
          </p:nvPr>
        </p:nvSpPr>
        <p:spPr/>
        <p:txBody>
          <a:bodyPr/>
          <a:lstStyle>
            <a:lvl1pPr>
              <a:buClr>
                <a:srgbClr val="364162"/>
              </a:buClr>
              <a:buSzPct val="100000"/>
              <a:defRPr/>
            </a:lvl1pPr>
            <a:lvl2pPr>
              <a:buClr>
                <a:srgbClr val="364162"/>
              </a:buClr>
              <a:defRPr/>
            </a:lvl2pPr>
            <a:lvl3pPr marL="1143000" indent="-228600">
              <a:buClr>
                <a:srgbClr val="364162"/>
              </a:buClr>
              <a:buFont typeface="Wingdings" pitchFamily="2" charset="2"/>
              <a:buChar char="§"/>
              <a:defRPr/>
            </a:lvl3pPr>
            <a:lvl4pPr marL="1600200" indent="-228600">
              <a:buClr>
                <a:srgbClr val="364162"/>
              </a:buClr>
              <a:buFont typeface="Courier New" pitchFamily="49" charset="0"/>
              <a:buChar char="o"/>
              <a:defRPr/>
            </a:lvl4pPr>
            <a:lvl5pPr>
              <a:buClr>
                <a:srgbClr val="364162"/>
              </a:buClr>
              <a:defRPr/>
            </a:lvl5pPr>
            <a:lvl6pPr>
              <a:defRPr/>
            </a:lvl6pPr>
            <a:lvl7pPr>
              <a:defRPr/>
            </a:lvl7pPr>
            <a:lvl8pPr>
              <a:defRPr/>
            </a:lvl8pPr>
            <a:lvl9pPr>
              <a:defRPr/>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3158918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userDrawn="1">
  <p:cSld name="Figure + Caption Layout">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10" name="Title 1"/>
          <p:cNvSpPr>
            <a:spLocks noGrp="1"/>
          </p:cNvSpPr>
          <p:nvPr>
            <p:ph type="title"/>
          </p:nvPr>
        </p:nvSpPr>
        <p:spPr>
          <a:xfrm>
            <a:off x="519169" y="357626"/>
            <a:ext cx="8032638" cy="1004011"/>
          </a:xfrm>
        </p:spPr>
        <p:txBody>
          <a:bodyPr>
            <a:normAutofit/>
          </a:bodyPr>
          <a:lstStyle>
            <a:lvl1pPr algn="ctr">
              <a:defRPr sz="3600" b="0">
                <a:solidFill>
                  <a:schemeClr val="tx1"/>
                </a:solidFill>
              </a:defRPr>
            </a:lvl1pPr>
          </a:lstStyle>
          <a:p>
            <a:r>
              <a:rPr lang="en-US"/>
              <a:t>Click to edit Master title style</a:t>
            </a:r>
            <a:endParaRPr lang="en-US" dirty="0"/>
          </a:p>
        </p:txBody>
      </p:sp>
      <p:sp>
        <p:nvSpPr>
          <p:cNvPr id="6" name="Rectangle 5"/>
          <p:cNvSpPr/>
          <p:nvPr/>
        </p:nvSpPr>
        <p:spPr bwMode="white">
          <a:xfrm>
            <a:off x="-7937" y="6248400"/>
            <a:ext cx="9151937" cy="617539"/>
          </a:xfrm>
          <a:prstGeom prst="rect">
            <a:avLst/>
          </a:prstGeom>
          <a:solidFill>
            <a:srgbClr val="36416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sz="1800">
              <a:solidFill>
                <a:prstClr val="white"/>
              </a:solidFill>
            </a:endParaRPr>
          </a:p>
        </p:txBody>
      </p:sp>
      <p:sp>
        <p:nvSpPr>
          <p:cNvPr id="4" name="Content Placeholder 3"/>
          <p:cNvSpPr>
            <a:spLocks noGrp="1"/>
          </p:cNvSpPr>
          <p:nvPr>
            <p:ph sz="quarter" idx="10"/>
          </p:nvPr>
        </p:nvSpPr>
        <p:spPr>
          <a:xfrm>
            <a:off x="491331" y="5181600"/>
            <a:ext cx="8153400" cy="838200"/>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Copyright" descr="Pearson: Copyright 2015, 2012, 2009"/>
          <p:cNvSpPr txBox="1">
            <a:spLocks noChangeArrowheads="1"/>
          </p:cNvSpPr>
          <p:nvPr userDrawn="1"/>
        </p:nvSpPr>
        <p:spPr bwMode="auto">
          <a:xfrm>
            <a:off x="1478450" y="6270381"/>
            <a:ext cx="7589350" cy="582256"/>
          </a:xfrm>
          <a:prstGeom prst="rect">
            <a:avLst/>
          </a:prstGeom>
          <a:solidFill>
            <a:srgbClr val="364162"/>
          </a:solidFill>
          <a:ln w="9525">
            <a:noFill/>
            <a:miter lim="800000"/>
            <a:headEnd/>
            <a:tailEnd/>
          </a:ln>
        </p:spPr>
        <p:txBody>
          <a:bodyPr lIns="0" tIns="0" rIns="0" bIns="0" anchor="ctr"/>
          <a:lstStyle>
            <a:lvl1pPr eaLnBrk="0" hangingPunct="0">
              <a:defRPr sz="2400">
                <a:solidFill>
                  <a:schemeClr val="tx1"/>
                </a:solidFill>
                <a:latin typeface="Arial" panose="020B0604020202020204" pitchFamily="34" charset="0"/>
              </a:defRPr>
            </a:lvl1pPr>
            <a:lvl2pPr marL="37931725" indent="-37474525" eaLnBrk="0" hangingPunct="0">
              <a:defRPr sz="2400">
                <a:solidFill>
                  <a:schemeClr val="tx1"/>
                </a:solidFill>
                <a:latin typeface="Arial" panose="020B0604020202020204" pitchFamily="34" charset="0"/>
              </a:defRPr>
            </a:lvl2pPr>
            <a:lvl3pPr eaLnBrk="0" hangingPunct="0">
              <a:defRPr sz="2400">
                <a:solidFill>
                  <a:schemeClr val="tx1"/>
                </a:solidFill>
                <a:latin typeface="Arial" panose="020B0604020202020204" pitchFamily="34" charset="0"/>
              </a:defRPr>
            </a:lvl3pPr>
            <a:lvl4pPr eaLnBrk="0" hangingPunct="0">
              <a:defRPr sz="2400">
                <a:solidFill>
                  <a:schemeClr val="tx1"/>
                </a:solidFill>
                <a:latin typeface="Arial" panose="020B0604020202020204" pitchFamily="34" charset="0"/>
              </a:defRPr>
            </a:lvl4pPr>
            <a:lvl5pPr eaLnBrk="0" hangingPunct="0">
              <a:defRPr sz="2400">
                <a:solidFill>
                  <a:schemeClr val="tx1"/>
                </a:solidFill>
                <a:latin typeface="Arial" panose="020B0604020202020204" pitchFamily="34" charset="0"/>
              </a:defRPr>
            </a:lvl5pPr>
            <a:lvl6pPr marL="457200" eaLnBrk="0" fontAlgn="base" hangingPunct="0">
              <a:spcBef>
                <a:spcPct val="0"/>
              </a:spcBef>
              <a:spcAft>
                <a:spcPct val="0"/>
              </a:spcAft>
              <a:defRPr sz="2400">
                <a:solidFill>
                  <a:schemeClr val="tx1"/>
                </a:solidFill>
                <a:latin typeface="Arial" panose="020B0604020202020204" pitchFamily="34" charset="0"/>
              </a:defRPr>
            </a:lvl6pPr>
            <a:lvl7pPr marL="914400" eaLnBrk="0" fontAlgn="base" hangingPunct="0">
              <a:spcBef>
                <a:spcPct val="0"/>
              </a:spcBef>
              <a:spcAft>
                <a:spcPct val="0"/>
              </a:spcAft>
              <a:defRPr sz="2400">
                <a:solidFill>
                  <a:schemeClr val="tx1"/>
                </a:solidFill>
                <a:latin typeface="Arial" panose="020B0604020202020204" pitchFamily="34" charset="0"/>
              </a:defRPr>
            </a:lvl7pPr>
            <a:lvl8pPr marL="1371600" eaLnBrk="0" fontAlgn="base" hangingPunct="0">
              <a:spcBef>
                <a:spcPct val="0"/>
              </a:spcBef>
              <a:spcAft>
                <a:spcPct val="0"/>
              </a:spcAft>
              <a:defRPr sz="2400">
                <a:solidFill>
                  <a:schemeClr val="tx1"/>
                </a:solidFill>
                <a:latin typeface="Arial" panose="020B0604020202020204" pitchFamily="34" charset="0"/>
              </a:defRPr>
            </a:lvl8pPr>
            <a:lvl9pPr marL="1828800" eaLnBrk="0" fontAlgn="base" hangingPunct="0">
              <a:spcBef>
                <a:spcPct val="0"/>
              </a:spcBef>
              <a:spcAft>
                <a:spcPct val="0"/>
              </a:spcAft>
              <a:defRPr sz="2400">
                <a:solidFill>
                  <a:schemeClr val="tx1"/>
                </a:solidFill>
                <a:latin typeface="Arial" panose="020B0604020202020204" pitchFamily="34" charset="0"/>
              </a:defRPr>
            </a:lvl9pPr>
          </a:lstStyle>
          <a:p>
            <a:pPr algn="ctr">
              <a:defRPr/>
            </a:pPr>
            <a:r>
              <a:rPr lang="en-US" sz="1200" dirty="0">
                <a:solidFill>
                  <a:prstClr val="white"/>
                </a:solidFill>
                <a:ea typeface="ＭＳ Ｐゴシック" charset="-128"/>
                <a:cs typeface="Arial" charset="0"/>
              </a:rPr>
              <a:t>Copyright </a:t>
            </a:r>
            <a:r>
              <a:rPr lang="en-US" sz="1200" dirty="0">
                <a:solidFill>
                  <a:prstClr val="white"/>
                </a:solidFill>
                <a:ea typeface="+mn-ea"/>
                <a:cs typeface="Arial" charset="0"/>
              </a:rPr>
              <a:t>© 2018 Cengage. May not be copied, scanned, or duplicated, in whole or in part, except for use as permitted in a license distributed with a certain product or service or otherwise on a password-protected website for classroom use.</a:t>
            </a:r>
          </a:p>
        </p:txBody>
      </p:sp>
      <p:pic>
        <p:nvPicPr>
          <p:cNvPr id="8" name="Picture 4"/>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0" y="6345959"/>
            <a:ext cx="1316182" cy="435841"/>
          </a:xfrm>
          <a:prstGeom prst="rect">
            <a:avLst/>
          </a:prstGeom>
          <a:solidFill>
            <a:srgbClr val="364162"/>
          </a:solidFill>
          <a:ln>
            <a:noFill/>
          </a:ln>
        </p:spPr>
      </p:pic>
    </p:spTree>
    <p:extLst>
      <p:ext uri="{BB962C8B-B14F-4D97-AF65-F5344CB8AC3E}">
        <p14:creationId xmlns:p14="http://schemas.microsoft.com/office/powerpoint/2010/main" val="2950682021"/>
      </p:ext>
    </p:extLst>
  </p:cSld>
  <p:clrMapOvr>
    <a:masterClrMapping/>
  </p:clrMapOvr>
  <p:transition spd="slow"/>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it-IT"/>
              <a:t>Fare clic per modificare lo stile del titolo</a:t>
            </a:r>
            <a:endParaRPr lang="de-DE" dirty="0"/>
          </a:p>
        </p:txBody>
      </p:sp>
      <p:sp>
        <p:nvSpPr>
          <p:cNvPr id="3" name="Inhaltsplatzhalter 2"/>
          <p:cNvSpPr>
            <a:spLocks noGrp="1"/>
          </p:cNvSpPr>
          <p:nvPr>
            <p:ph idx="1"/>
          </p:nvPr>
        </p:nvSpPr>
        <p:spPr/>
        <p:txBody>
          <a:bodyPr/>
          <a:lstStyle>
            <a:lvl4pPr>
              <a:buFont typeface="Wingdings" pitchFamily="2" charset="2"/>
              <a:buChar char="§"/>
              <a:defRPr sz="1600"/>
            </a:lvl4pPr>
            <a:lvl5pPr>
              <a:buFont typeface="Wingdings" pitchFamily="2" charset="2"/>
              <a:buChar char="§"/>
              <a:defRPr sz="1600"/>
            </a:lvl5p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p>
        </p:txBody>
      </p:sp>
    </p:spTree>
    <p:extLst>
      <p:ext uri="{BB962C8B-B14F-4D97-AF65-F5344CB8AC3E}">
        <p14:creationId xmlns:p14="http://schemas.microsoft.com/office/powerpoint/2010/main" val="972514571"/>
      </p:ext>
    </p:extLst>
  </p:cSld>
  <p:clrMapOvr>
    <a:masterClrMapping/>
  </p:clrMapOvr>
  <p:transition>
    <p:zoom/>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8DCCD61-643D-44A5-A450-3A42A50CBC1E}"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6560869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2428665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8DCCD61-643D-44A5-A450-3A42A50CBC1E}"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2779332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8DCCD61-643D-44A5-A450-3A42A50CBC1E}"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7787904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8DCCD61-643D-44A5-A450-3A42A50CBC1E}" type="datetimeFigureOut">
              <a:rPr lang="en-US" smtClean="0"/>
              <a:t>8/19/2025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1981148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8DCCD61-643D-44A5-A450-3A42A50CBC1E}" type="datetimeFigureOut">
              <a:rPr lang="en-US" smtClean="0"/>
              <a:t>8/19/2025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8181198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8DCCD61-643D-44A5-A450-3A42A50CBC1E}" type="datetimeFigureOut">
              <a:rPr lang="en-US" smtClean="0"/>
              <a:t>8/19/2025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9629187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2968842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8DCCD61-643D-44A5-A450-3A42A50CBC1E}" type="datetimeFigureOut">
              <a:rPr lang="en-US" smtClean="0"/>
              <a:t>8/19/2025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298703500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1792374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8DCCD61-643D-44A5-A450-3A42A50CBC1E}" type="datetimeFigureOut">
              <a:rPr lang="en-US" smtClean="0"/>
              <a:t>8/19/2025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A2F0832-F084-422D-97D1-AF848F4F2C34}" type="slidenum">
              <a:rPr lang="en-US" smtClean="0"/>
              <a:t>‹#›</a:t>
            </a:fld>
            <a:endParaRPr lang="en-US"/>
          </a:p>
        </p:txBody>
      </p:sp>
    </p:spTree>
    <p:extLst>
      <p:ext uri="{BB962C8B-B14F-4D97-AF65-F5344CB8AC3E}">
        <p14:creationId xmlns:p14="http://schemas.microsoft.com/office/powerpoint/2010/main" val="39628572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theme" Target="../theme/theme2.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3733820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73" r:id="rId4"/>
    <p:sldLayoutId id="2147483674" r:id="rId5"/>
    <p:sldLayoutId id="2147483675" r:id="rId6"/>
  </p:sldLayoutIdLst>
  <p:txStyles>
    <p:titleStyle>
      <a:lvl1pPr algn="l" defTabSz="914400" rtl="0" eaLnBrk="1" latinLnBrk="1" hangingPunct="1">
        <a:spcBef>
          <a:spcPct val="0"/>
        </a:spcBef>
        <a:buNone/>
        <a:defRPr sz="4000" b="1" kern="1200">
          <a:solidFill>
            <a:schemeClr val="tx1"/>
          </a:solidFill>
          <a:latin typeface="Arial" pitchFamily="34" charset="0"/>
          <a:ea typeface="+mj-ea"/>
          <a:cs typeface="Arial" pitchFamily="34" charset="0"/>
        </a:defRPr>
      </a:lvl1pPr>
    </p:titleStyle>
    <p:body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8DCCD61-643D-44A5-A450-3A42A50CBC1E}" type="datetimeFigureOut">
              <a:rPr lang="en-US" smtClean="0"/>
              <a:t>8/19/2025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A2F0832-F084-422D-97D1-AF848F4F2C34}" type="slidenum">
              <a:rPr lang="en-US" smtClean="0"/>
              <a:t>‹#›</a:t>
            </a:fld>
            <a:endParaRPr lang="en-US"/>
          </a:p>
        </p:txBody>
      </p:sp>
    </p:spTree>
    <p:extLst>
      <p:ext uri="{BB962C8B-B14F-4D97-AF65-F5344CB8AC3E}">
        <p14:creationId xmlns:p14="http://schemas.microsoft.com/office/powerpoint/2010/main" val="328635735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1.xml.rels><?xml version="1.0" encoding="UTF-8" standalone="yes"?>
<Relationships xmlns="http://schemas.openxmlformats.org/package/2006/relationships"><Relationship Id="rId3" Type="http://schemas.openxmlformats.org/officeDocument/2006/relationships/image" Target="../media/image10.gif"/><Relationship Id="rId2" Type="http://schemas.openxmlformats.org/officeDocument/2006/relationships/image" Target="../media/image9.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1"/>
          <p:cNvSpPr txBox="1">
            <a:spLocks noChangeArrowheads="1"/>
          </p:cNvSpPr>
          <p:nvPr/>
        </p:nvSpPr>
        <p:spPr bwMode="auto">
          <a:xfrm>
            <a:off x="4067944" y="4170499"/>
            <a:ext cx="4788024" cy="1200329"/>
          </a:xfrm>
          <a:prstGeom prst="rect">
            <a:avLst/>
          </a:prstGeom>
          <a:noFill/>
          <a:ln w="9525">
            <a:noFill/>
            <a:miter lim="800000"/>
            <a:headEnd/>
            <a:tailEnd/>
          </a:ln>
        </p:spPr>
        <p:txBody>
          <a:bodyPr wrap="square">
            <a:spAutoFit/>
          </a:bodyPr>
          <a:lstStyle/>
          <a:p>
            <a:pPr algn="r"/>
            <a:r>
              <a:rPr lang="en-US" altLang="ko-KR" sz="3600" b="1" dirty="0">
                <a:solidFill>
                  <a:schemeClr val="bg1">
                    <a:lumMod val="95000"/>
                  </a:schemeClr>
                </a:solidFill>
                <a:latin typeface="Arial" pitchFamily="34" charset="0"/>
                <a:ea typeface="맑은 고딕" pitchFamily="50" charset="-127"/>
                <a:cs typeface="Arial" pitchFamily="34" charset="0"/>
              </a:rPr>
              <a:t>Introduction to Information Security</a:t>
            </a:r>
          </a:p>
        </p:txBody>
      </p:sp>
      <p:pic>
        <p:nvPicPr>
          <p:cNvPr id="11" name="Picture 10" descr="Logo&#10;&#10;Description automatically generated">
            <a:extLst>
              <a:ext uri="{FF2B5EF4-FFF2-40B4-BE49-F238E27FC236}">
                <a16:creationId xmlns:a16="http://schemas.microsoft.com/office/drawing/2014/main" id="{DA019416-A58F-DC7C-5590-0A3C5E236B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4" y="111682"/>
            <a:ext cx="1428571" cy="1428571"/>
          </a:xfrm>
          <a:prstGeom prst="rect">
            <a:avLst/>
          </a:prstGeom>
        </p:spPr>
      </p:pic>
      <p:sp>
        <p:nvSpPr>
          <p:cNvPr id="12" name="TextBox 11">
            <a:extLst>
              <a:ext uri="{FF2B5EF4-FFF2-40B4-BE49-F238E27FC236}">
                <a16:creationId xmlns:a16="http://schemas.microsoft.com/office/drawing/2014/main" id="{A287E9B7-196F-5413-1EE2-727331E78929}"/>
              </a:ext>
            </a:extLst>
          </p:cNvPr>
          <p:cNvSpPr txBox="1"/>
          <p:nvPr/>
        </p:nvSpPr>
        <p:spPr>
          <a:xfrm>
            <a:off x="1835696" y="1916832"/>
            <a:ext cx="5472608" cy="523220"/>
          </a:xfrm>
          <a:prstGeom prst="rect">
            <a:avLst/>
          </a:prstGeom>
          <a:noFill/>
        </p:spPr>
        <p:txBody>
          <a:bodyPr wrap="square" rtlCol="0">
            <a:spAutoFit/>
          </a:bodyPr>
          <a:lstStyle/>
          <a:p>
            <a:pPr algn="ctr" latinLnBrk="0"/>
            <a:r>
              <a:rPr lang="en-US" sz="2800" b="1" dirty="0"/>
              <a:t>CS3002 Information Security</a:t>
            </a:r>
            <a:endParaRPr lang="en-AU" sz="2800" b="1" dirty="0"/>
          </a:p>
        </p:txBody>
      </p:sp>
      <p:sp>
        <p:nvSpPr>
          <p:cNvPr id="13" name="TextBox 12">
            <a:extLst>
              <a:ext uri="{FF2B5EF4-FFF2-40B4-BE49-F238E27FC236}">
                <a16:creationId xmlns:a16="http://schemas.microsoft.com/office/drawing/2014/main" id="{2C6442DC-6D72-28EB-A755-796100BEAFBF}"/>
              </a:ext>
            </a:extLst>
          </p:cNvPr>
          <p:cNvSpPr txBox="1"/>
          <p:nvPr/>
        </p:nvSpPr>
        <p:spPr>
          <a:xfrm>
            <a:off x="6156176" y="111682"/>
            <a:ext cx="2880320" cy="923330"/>
          </a:xfrm>
          <a:prstGeom prst="rect">
            <a:avLst/>
          </a:prstGeom>
          <a:noFill/>
        </p:spPr>
        <p:txBody>
          <a:bodyPr wrap="square" rtlCol="0">
            <a:spAutoFit/>
          </a:bodyPr>
          <a:lstStyle/>
          <a:p>
            <a:pPr algn="r" latinLnBrk="0"/>
            <a:r>
              <a:rPr lang="en-US" b="1" dirty="0"/>
              <a:t>Dr. Ammar Haider</a:t>
            </a:r>
          </a:p>
          <a:p>
            <a:pPr algn="r" latinLnBrk="0"/>
            <a:r>
              <a:rPr lang="en-US" dirty="0"/>
              <a:t>Assistant Professor</a:t>
            </a:r>
          </a:p>
          <a:p>
            <a:pPr algn="r" latinLnBrk="0"/>
            <a:r>
              <a:rPr lang="en-US" dirty="0"/>
              <a:t>School of Computing</a:t>
            </a:r>
            <a:endParaRPr lang="en-AU" dirty="0"/>
          </a:p>
        </p:txBody>
      </p:sp>
      <p:sp>
        <p:nvSpPr>
          <p:cNvPr id="2" name="TextBox 1">
            <a:extLst>
              <a:ext uri="{FF2B5EF4-FFF2-40B4-BE49-F238E27FC236}">
                <a16:creationId xmlns:a16="http://schemas.microsoft.com/office/drawing/2014/main" id="{AD3339CC-1B5A-6A39-986E-A50B229AE1D4}"/>
              </a:ext>
            </a:extLst>
          </p:cNvPr>
          <p:cNvSpPr txBox="1"/>
          <p:nvPr/>
        </p:nvSpPr>
        <p:spPr>
          <a:xfrm>
            <a:off x="125740" y="6434828"/>
            <a:ext cx="8838748" cy="369332"/>
          </a:xfrm>
          <a:prstGeom prst="rect">
            <a:avLst/>
          </a:prstGeom>
          <a:noFill/>
        </p:spPr>
        <p:txBody>
          <a:bodyPr wrap="square" rtlCol="0">
            <a:spAutoFit/>
          </a:bodyPr>
          <a:lstStyle/>
          <a:p>
            <a:pPr latinLnBrk="0"/>
            <a:r>
              <a:rPr lang="en-US" dirty="0"/>
              <a:t>Content source: Whitman &amp; </a:t>
            </a:r>
            <a:r>
              <a:rPr lang="en-US" dirty="0" err="1"/>
              <a:t>Mattord</a:t>
            </a:r>
            <a:r>
              <a:rPr lang="en-US" dirty="0"/>
              <a:t>, chapters 1-2, Stallings SPP Chap 1</a:t>
            </a:r>
            <a:endParaRPr lang="en-AU" dirty="0"/>
          </a:p>
        </p:txBody>
      </p:sp>
    </p:spTree>
    <p:extLst>
      <p:ext uri="{BB962C8B-B14F-4D97-AF65-F5344CB8AC3E}">
        <p14:creationId xmlns:p14="http://schemas.microsoft.com/office/powerpoint/2010/main" val="19412217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FC136-8587-50EA-4FEA-C2948A8B54E9}"/>
              </a:ext>
            </a:extLst>
          </p:cNvPr>
          <p:cNvSpPr>
            <a:spLocks noGrp="1"/>
          </p:cNvSpPr>
          <p:nvPr>
            <p:ph type="title"/>
          </p:nvPr>
        </p:nvSpPr>
        <p:spPr/>
        <p:txBody>
          <a:bodyPr/>
          <a:lstStyle/>
          <a:p>
            <a:r>
              <a:rPr lang="en-US" dirty="0"/>
              <a:t>Course Outline</a:t>
            </a:r>
          </a:p>
        </p:txBody>
      </p:sp>
      <p:sp>
        <p:nvSpPr>
          <p:cNvPr id="3" name="Content Placeholder 2">
            <a:extLst>
              <a:ext uri="{FF2B5EF4-FFF2-40B4-BE49-F238E27FC236}">
                <a16:creationId xmlns:a16="http://schemas.microsoft.com/office/drawing/2014/main" id="{1F333933-C6E9-A55B-E5A8-C5992F833E2B}"/>
              </a:ext>
            </a:extLst>
          </p:cNvPr>
          <p:cNvSpPr>
            <a:spLocks noGrp="1"/>
          </p:cNvSpPr>
          <p:nvPr>
            <p:ph sz="quarter" idx="11"/>
          </p:nvPr>
        </p:nvSpPr>
        <p:spPr/>
        <p:txBody>
          <a:bodyPr/>
          <a:lstStyle/>
          <a:p>
            <a:r>
              <a:rPr lang="en-US" dirty="0"/>
              <a:t>Please refer to course outline for details of CLOs, evaluations and topic schedule</a:t>
            </a:r>
          </a:p>
        </p:txBody>
      </p:sp>
    </p:spTree>
    <p:extLst>
      <p:ext uri="{BB962C8B-B14F-4D97-AF65-F5344CB8AC3E}">
        <p14:creationId xmlns:p14="http://schemas.microsoft.com/office/powerpoint/2010/main" val="23732708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chor="ctr"/>
          <a:lstStyle/>
          <a:p>
            <a:r>
              <a:rPr lang="en-GB" altLang="en-US" dirty="0"/>
              <a:t>What Is Security?</a:t>
            </a:r>
            <a:endParaRPr lang="en-US" dirty="0"/>
          </a:p>
        </p:txBody>
      </p:sp>
      <p:sp>
        <p:nvSpPr>
          <p:cNvPr id="7" name="Content Placeholder 6"/>
          <p:cNvSpPr>
            <a:spLocks noGrp="1"/>
          </p:cNvSpPr>
          <p:nvPr>
            <p:ph sz="quarter" idx="11"/>
          </p:nvPr>
        </p:nvSpPr>
        <p:spPr/>
        <p:txBody>
          <a:bodyPr>
            <a:noAutofit/>
          </a:bodyPr>
          <a:lstStyle/>
          <a:p>
            <a:r>
              <a:rPr lang="en-GB" altLang="en-US" sz="2800" dirty="0"/>
              <a:t>“A state of being secure and free from danger or harm; the actions taken to make someone or something secure.”</a:t>
            </a:r>
          </a:p>
          <a:p>
            <a:endParaRPr lang="en-GB" altLang="en-US" sz="2800" dirty="0"/>
          </a:p>
          <a:p>
            <a:pPr marL="0" indent="0">
              <a:buNone/>
            </a:pPr>
            <a:r>
              <a:rPr lang="en-GB" altLang="en-US" sz="2800" b="1" dirty="0"/>
              <a:t>Information Security</a:t>
            </a:r>
          </a:p>
          <a:p>
            <a:r>
              <a:rPr lang="en-GB" altLang="en-US" sz="2800" dirty="0"/>
              <a:t>The protection of information and its critical elements, including systems and hardware that use, store, and transmit that information </a:t>
            </a:r>
          </a:p>
          <a:p>
            <a:r>
              <a:rPr lang="en-GB" altLang="en-US" sz="2800" dirty="0"/>
              <a:t>Includes information security management, data security, and network security</a:t>
            </a:r>
          </a:p>
        </p:txBody>
      </p:sp>
    </p:spTree>
    <p:extLst>
      <p:ext uri="{BB962C8B-B14F-4D97-AF65-F5344CB8AC3E}">
        <p14:creationId xmlns:p14="http://schemas.microsoft.com/office/powerpoint/2010/main" val="38422813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sz="3200" dirty="0"/>
              <a:t>Components of an Information System</a:t>
            </a:r>
            <a:endParaRPr lang="en-US" sz="3200" dirty="0"/>
          </a:p>
        </p:txBody>
      </p:sp>
      <p:sp>
        <p:nvSpPr>
          <p:cNvPr id="3" name="Content Placeholder 2"/>
          <p:cNvSpPr>
            <a:spLocks noGrp="1"/>
          </p:cNvSpPr>
          <p:nvPr>
            <p:ph sz="quarter" idx="11"/>
          </p:nvPr>
        </p:nvSpPr>
        <p:spPr/>
        <p:txBody>
          <a:bodyPr/>
          <a:lstStyle/>
          <a:p>
            <a:pPr marL="0" indent="0">
              <a:spcBef>
                <a:spcPts val="600"/>
              </a:spcBef>
              <a:buNone/>
            </a:pPr>
            <a:r>
              <a:rPr lang="en-GB" altLang="en-US" sz="2800" dirty="0"/>
              <a:t>Information system (IS) is the entire set of people, procedures, and technology that enable business to use information.</a:t>
            </a:r>
          </a:p>
          <a:p>
            <a:pPr marL="0" indent="0">
              <a:spcBef>
                <a:spcPts val="600"/>
              </a:spcBef>
              <a:buNone/>
            </a:pPr>
            <a:endParaRPr lang="en-GB" altLang="en-US" sz="2800" dirty="0"/>
          </a:p>
          <a:p>
            <a:pPr>
              <a:spcBef>
                <a:spcPts val="600"/>
              </a:spcBef>
            </a:pPr>
            <a:r>
              <a:rPr lang="en-GB" altLang="en-US" sz="3000" dirty="0"/>
              <a:t>Software</a:t>
            </a:r>
          </a:p>
          <a:p>
            <a:pPr lvl="1" algn="just"/>
            <a:r>
              <a:rPr lang="en-US" sz="2600" dirty="0"/>
              <a:t>most difficult to secure</a:t>
            </a:r>
          </a:p>
          <a:p>
            <a:pPr lvl="1" algn="just"/>
            <a:r>
              <a:rPr lang="en-US" sz="2600" dirty="0"/>
              <a:t>easy target</a:t>
            </a:r>
          </a:p>
          <a:p>
            <a:pPr>
              <a:spcBef>
                <a:spcPts val="600"/>
              </a:spcBef>
            </a:pPr>
            <a:endParaRPr lang="en-GB" altLang="en-US" sz="3000" dirty="0"/>
          </a:p>
          <a:p>
            <a:pPr>
              <a:spcBef>
                <a:spcPts val="600"/>
              </a:spcBef>
            </a:pPr>
            <a:r>
              <a:rPr lang="en-GB" altLang="en-US" sz="3000" dirty="0"/>
              <a:t>Hardware</a:t>
            </a:r>
          </a:p>
          <a:p>
            <a:pPr lvl="1">
              <a:spcBef>
                <a:spcPts val="600"/>
              </a:spcBef>
            </a:pPr>
            <a:r>
              <a:rPr lang="en-GB" altLang="en-US" sz="2600" dirty="0"/>
              <a:t>require physical security policies </a:t>
            </a:r>
          </a:p>
          <a:p>
            <a:pPr>
              <a:spcBef>
                <a:spcPts val="600"/>
              </a:spcBef>
            </a:pPr>
            <a:endParaRPr lang="en-GB" altLang="en-US" sz="3000" dirty="0"/>
          </a:p>
        </p:txBody>
      </p:sp>
    </p:spTree>
    <p:extLst>
      <p:ext uri="{BB962C8B-B14F-4D97-AF65-F5344CB8AC3E}">
        <p14:creationId xmlns:p14="http://schemas.microsoft.com/office/powerpoint/2010/main" val="362339703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sz="3200" dirty="0"/>
              <a:t>Components of an Information System</a:t>
            </a:r>
            <a:endParaRPr lang="en-US" sz="3200" dirty="0"/>
          </a:p>
        </p:txBody>
      </p:sp>
      <p:sp>
        <p:nvSpPr>
          <p:cNvPr id="3" name="Content Placeholder 2"/>
          <p:cNvSpPr>
            <a:spLocks noGrp="1"/>
          </p:cNvSpPr>
          <p:nvPr>
            <p:ph sz="quarter" idx="11"/>
          </p:nvPr>
        </p:nvSpPr>
        <p:spPr/>
        <p:txBody>
          <a:bodyPr/>
          <a:lstStyle/>
          <a:p>
            <a:pPr>
              <a:spcBef>
                <a:spcPts val="600"/>
              </a:spcBef>
            </a:pPr>
            <a:r>
              <a:rPr lang="en-GB" altLang="en-US" sz="3000" dirty="0"/>
              <a:t>Data</a:t>
            </a:r>
          </a:p>
          <a:p>
            <a:pPr lvl="1">
              <a:spcBef>
                <a:spcPts val="600"/>
              </a:spcBef>
            </a:pPr>
            <a:r>
              <a:rPr lang="en-US" altLang="en-US" sz="2600" dirty="0"/>
              <a:t>Often most valuable asset</a:t>
            </a:r>
          </a:p>
          <a:p>
            <a:pPr lvl="1">
              <a:spcBef>
                <a:spcPts val="600"/>
              </a:spcBef>
            </a:pPr>
            <a:r>
              <a:rPr lang="en-US" altLang="en-US" sz="2600" dirty="0"/>
              <a:t>Main target of intentional attacks</a:t>
            </a:r>
          </a:p>
          <a:p>
            <a:pPr lvl="1">
              <a:spcBef>
                <a:spcPts val="600"/>
              </a:spcBef>
            </a:pPr>
            <a:endParaRPr lang="en-GB" altLang="en-US" sz="2600" dirty="0"/>
          </a:p>
          <a:p>
            <a:pPr>
              <a:spcBef>
                <a:spcPts val="600"/>
              </a:spcBef>
            </a:pPr>
            <a:r>
              <a:rPr lang="en-GB" altLang="en-US" sz="3000" dirty="0"/>
              <a:t>People</a:t>
            </a:r>
          </a:p>
          <a:p>
            <a:pPr lvl="1">
              <a:spcBef>
                <a:spcPts val="600"/>
              </a:spcBef>
            </a:pPr>
            <a:r>
              <a:rPr lang="en-US" altLang="en-US" sz="2600" dirty="0"/>
              <a:t>Weakest link</a:t>
            </a:r>
          </a:p>
          <a:p>
            <a:pPr lvl="1">
              <a:spcBef>
                <a:spcPts val="600"/>
              </a:spcBef>
            </a:pPr>
            <a:r>
              <a:rPr lang="en-US" altLang="en-US" sz="2600" dirty="0"/>
              <a:t>Target of social engineering</a:t>
            </a:r>
          </a:p>
          <a:p>
            <a:pPr lvl="1">
              <a:spcBef>
                <a:spcPts val="600"/>
              </a:spcBef>
            </a:pPr>
            <a:r>
              <a:rPr lang="en-US" altLang="en-US" sz="2600" dirty="0"/>
              <a:t>Must be well trained and informed</a:t>
            </a:r>
            <a:endParaRPr lang="en-GB" altLang="en-US" sz="2600" dirty="0"/>
          </a:p>
        </p:txBody>
      </p:sp>
    </p:spTree>
    <p:extLst>
      <p:ext uri="{BB962C8B-B14F-4D97-AF65-F5344CB8AC3E}">
        <p14:creationId xmlns:p14="http://schemas.microsoft.com/office/powerpoint/2010/main" val="2670822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lstStyle/>
          <a:p>
            <a:r>
              <a:rPr lang="en-GB" altLang="en-US" sz="3200" dirty="0"/>
              <a:t>Components of an Information System</a:t>
            </a:r>
            <a:endParaRPr lang="en-US" sz="3200" dirty="0"/>
          </a:p>
        </p:txBody>
      </p:sp>
      <p:sp>
        <p:nvSpPr>
          <p:cNvPr id="3" name="Content Placeholder 2"/>
          <p:cNvSpPr>
            <a:spLocks noGrp="1"/>
          </p:cNvSpPr>
          <p:nvPr>
            <p:ph sz="quarter" idx="11"/>
          </p:nvPr>
        </p:nvSpPr>
        <p:spPr/>
        <p:txBody>
          <a:bodyPr/>
          <a:lstStyle/>
          <a:p>
            <a:pPr>
              <a:spcBef>
                <a:spcPts val="600"/>
              </a:spcBef>
            </a:pPr>
            <a:r>
              <a:rPr lang="en-GB" altLang="en-US" sz="3000" dirty="0"/>
              <a:t>Procedures</a:t>
            </a:r>
          </a:p>
          <a:p>
            <a:pPr lvl="1">
              <a:spcBef>
                <a:spcPts val="600"/>
              </a:spcBef>
            </a:pPr>
            <a:r>
              <a:rPr lang="en-US" altLang="en-US" sz="2600" dirty="0"/>
              <a:t>Written instructions for business tasks</a:t>
            </a:r>
          </a:p>
          <a:p>
            <a:pPr lvl="1">
              <a:spcBef>
                <a:spcPts val="600"/>
              </a:spcBef>
            </a:pPr>
            <a:r>
              <a:rPr lang="en-US" altLang="en-US" sz="2600" dirty="0"/>
              <a:t>Provide details on how system works</a:t>
            </a:r>
          </a:p>
          <a:p>
            <a:pPr lvl="1">
              <a:spcBef>
                <a:spcPts val="600"/>
              </a:spcBef>
            </a:pPr>
            <a:endParaRPr lang="en-GB" altLang="en-US" sz="2600" dirty="0"/>
          </a:p>
          <a:p>
            <a:pPr>
              <a:spcBef>
                <a:spcPts val="600"/>
              </a:spcBef>
            </a:pPr>
            <a:r>
              <a:rPr lang="en-GB" altLang="en-US" sz="3000" dirty="0"/>
              <a:t>Networks</a:t>
            </a:r>
          </a:p>
          <a:p>
            <a:pPr lvl="1">
              <a:spcBef>
                <a:spcPts val="600"/>
              </a:spcBef>
            </a:pPr>
            <a:r>
              <a:rPr lang="en-GB" altLang="en-US" sz="2600" dirty="0"/>
              <a:t>Securing the data in transit</a:t>
            </a:r>
          </a:p>
          <a:p>
            <a:pPr lvl="1">
              <a:spcBef>
                <a:spcPts val="600"/>
              </a:spcBef>
            </a:pPr>
            <a:r>
              <a:rPr lang="en-GB" altLang="en-US" sz="2600" dirty="0"/>
              <a:t>Block outsiders from access (firewalls)</a:t>
            </a:r>
          </a:p>
        </p:txBody>
      </p:sp>
    </p:spTree>
    <p:extLst>
      <p:ext uri="{BB962C8B-B14F-4D97-AF65-F5344CB8AC3E}">
        <p14:creationId xmlns:p14="http://schemas.microsoft.com/office/powerpoint/2010/main" val="3962886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altLang="en-US" dirty="0"/>
              <a:t>Characteristics of Information</a:t>
            </a:r>
            <a:endParaRPr lang="en-US" dirty="0"/>
          </a:p>
        </p:txBody>
      </p:sp>
      <p:sp>
        <p:nvSpPr>
          <p:cNvPr id="3" name="Content Placeholder 2"/>
          <p:cNvSpPr>
            <a:spLocks noGrp="1"/>
          </p:cNvSpPr>
          <p:nvPr>
            <p:ph sz="quarter" idx="11"/>
          </p:nvPr>
        </p:nvSpPr>
        <p:spPr/>
        <p:txBody>
          <a:bodyPr/>
          <a:lstStyle/>
          <a:p>
            <a:pPr marL="0" indent="0">
              <a:spcBef>
                <a:spcPts val="600"/>
              </a:spcBef>
              <a:buNone/>
            </a:pPr>
            <a:r>
              <a:rPr lang="en-GB" altLang="en-US" sz="2400" dirty="0"/>
              <a:t>Any piece of information will have one or more of the following characteristics. Goal of information security is to maintain these characteristics.</a:t>
            </a:r>
          </a:p>
          <a:p>
            <a:pPr marL="0" indent="0">
              <a:spcBef>
                <a:spcPts val="600"/>
              </a:spcBef>
              <a:buNone/>
            </a:pPr>
            <a:endParaRPr lang="en-GB" altLang="en-US" sz="2400" dirty="0"/>
          </a:p>
          <a:p>
            <a:pPr marL="57150" indent="0">
              <a:spcBef>
                <a:spcPts val="600"/>
              </a:spcBef>
              <a:buNone/>
            </a:pPr>
            <a:r>
              <a:rPr lang="en-GB" altLang="en-US" sz="2400" b="1" dirty="0"/>
              <a:t>Confidentiality</a:t>
            </a:r>
          </a:p>
          <a:p>
            <a:pPr marL="400050">
              <a:spcBef>
                <a:spcPts val="600"/>
              </a:spcBef>
            </a:pPr>
            <a:r>
              <a:rPr lang="en-US" altLang="en-US" sz="2400" dirty="0"/>
              <a:t>Disclosure or exposure to unauthorized individuals or system is prevented</a:t>
            </a:r>
          </a:p>
          <a:p>
            <a:pPr marL="57150" indent="0">
              <a:spcBef>
                <a:spcPts val="600"/>
              </a:spcBef>
              <a:buNone/>
            </a:pPr>
            <a:r>
              <a:rPr lang="en-GB" altLang="en-US" sz="2400" b="1" dirty="0"/>
              <a:t>Integrity</a:t>
            </a:r>
          </a:p>
          <a:p>
            <a:pPr marL="400050">
              <a:spcBef>
                <a:spcPts val="600"/>
              </a:spcBef>
            </a:pPr>
            <a:r>
              <a:rPr lang="en-GB" altLang="en-US" sz="2400" dirty="0"/>
              <a:t>Information as a whole is complete, uncorrupted</a:t>
            </a:r>
          </a:p>
          <a:p>
            <a:pPr marL="57150" indent="0">
              <a:spcBef>
                <a:spcPts val="600"/>
              </a:spcBef>
              <a:buNone/>
            </a:pPr>
            <a:r>
              <a:rPr lang="en-GB" altLang="en-US" sz="2400" b="1" dirty="0"/>
              <a:t>Availability</a:t>
            </a:r>
          </a:p>
          <a:p>
            <a:pPr marL="446088" indent="-388938">
              <a:spcBef>
                <a:spcPts val="600"/>
              </a:spcBef>
            </a:pPr>
            <a:r>
              <a:rPr lang="en-US" altLang="en-US" sz="2400" dirty="0"/>
              <a:t>No interference or obstruction when information is needed</a:t>
            </a:r>
            <a:endParaRPr lang="en-GB" altLang="en-US" sz="2400" dirty="0"/>
          </a:p>
          <a:p>
            <a:pPr marL="57150" indent="0">
              <a:spcBef>
                <a:spcPts val="600"/>
              </a:spcBef>
              <a:buNone/>
            </a:pPr>
            <a:endParaRPr lang="en-GB" altLang="en-US" sz="2400" dirty="0"/>
          </a:p>
        </p:txBody>
      </p:sp>
    </p:spTree>
    <p:extLst>
      <p:ext uri="{BB962C8B-B14F-4D97-AF65-F5344CB8AC3E}">
        <p14:creationId xmlns:p14="http://schemas.microsoft.com/office/powerpoint/2010/main" val="11310965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Autofit/>
          </a:bodyPr>
          <a:lstStyle/>
          <a:p>
            <a:r>
              <a:rPr lang="en-US" dirty="0"/>
              <a:t>The C.I.A. triad</a:t>
            </a:r>
          </a:p>
        </p:txBody>
      </p:sp>
      <p:sp>
        <p:nvSpPr>
          <p:cNvPr id="3" name="Content Placeholder 2">
            <a:extLst>
              <a:ext uri="{FF2B5EF4-FFF2-40B4-BE49-F238E27FC236}">
                <a16:creationId xmlns:a16="http://schemas.microsoft.com/office/drawing/2014/main" id="{3FD9ECA4-78C5-E19F-99A0-4AC3F47F5303}"/>
              </a:ext>
            </a:extLst>
          </p:cNvPr>
          <p:cNvSpPr>
            <a:spLocks noGrp="1"/>
          </p:cNvSpPr>
          <p:nvPr>
            <p:ph sz="quarter" idx="11"/>
          </p:nvPr>
        </p:nvSpPr>
        <p:spPr/>
        <p:txBody>
          <a:bodyPr/>
          <a:lstStyle/>
          <a:p>
            <a:endParaRPr lang="en-AU"/>
          </a:p>
        </p:txBody>
      </p:sp>
      <p:pic>
        <p:nvPicPr>
          <p:cNvPr id="6146" name="Picture 2" descr="An illustration shows a triangle labeled as, “Confidentiality, Integrity and Availability” on the sides of triangle and the label “Data and services” in the middle of triangle.&#10;"/>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4072" y="1433226"/>
            <a:ext cx="5943600" cy="459424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52053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altLang="en-US" dirty="0"/>
              <a:t>Characteristics of Information</a:t>
            </a:r>
            <a:endParaRPr lang="en-US" dirty="0"/>
          </a:p>
        </p:txBody>
      </p:sp>
      <p:sp>
        <p:nvSpPr>
          <p:cNvPr id="3" name="Content Placeholder 2"/>
          <p:cNvSpPr>
            <a:spLocks noGrp="1"/>
          </p:cNvSpPr>
          <p:nvPr>
            <p:ph sz="quarter" idx="11"/>
          </p:nvPr>
        </p:nvSpPr>
        <p:spPr/>
        <p:txBody>
          <a:bodyPr/>
          <a:lstStyle/>
          <a:p>
            <a:pPr marL="0" indent="0">
              <a:spcBef>
                <a:spcPts val="600"/>
              </a:spcBef>
              <a:buNone/>
            </a:pPr>
            <a:r>
              <a:rPr lang="en-GB" altLang="en-US" sz="2400" dirty="0"/>
              <a:t>Some more sub-characteristics worth mentioning</a:t>
            </a:r>
          </a:p>
          <a:p>
            <a:pPr marL="0" indent="0">
              <a:spcBef>
                <a:spcPts val="600"/>
              </a:spcBef>
              <a:buNone/>
            </a:pPr>
            <a:endParaRPr lang="en-GB" altLang="en-US" sz="2400" dirty="0"/>
          </a:p>
          <a:p>
            <a:pPr marL="57150" indent="0">
              <a:spcBef>
                <a:spcPts val="600"/>
              </a:spcBef>
              <a:buNone/>
            </a:pPr>
            <a:r>
              <a:rPr lang="en-GB" altLang="en-US" sz="2400" b="1" dirty="0"/>
              <a:t>Accuracy</a:t>
            </a:r>
          </a:p>
          <a:p>
            <a:pPr marL="457200" indent="-363538">
              <a:spcBef>
                <a:spcPts val="600"/>
              </a:spcBef>
            </a:pPr>
            <a:r>
              <a:rPr lang="en-GB" altLang="en-US" sz="2400" dirty="0"/>
              <a:t>Factual, free from errors</a:t>
            </a:r>
          </a:p>
          <a:p>
            <a:pPr marL="57150" indent="0">
              <a:spcBef>
                <a:spcPts val="600"/>
              </a:spcBef>
              <a:buNone/>
            </a:pPr>
            <a:r>
              <a:rPr lang="en-GB" altLang="en-US" sz="2400" b="1" dirty="0"/>
              <a:t>Authenticity</a:t>
            </a:r>
          </a:p>
          <a:p>
            <a:pPr marL="400050">
              <a:spcBef>
                <a:spcPts val="600"/>
              </a:spcBef>
            </a:pPr>
            <a:r>
              <a:rPr lang="en-US" altLang="en-US" sz="2400" dirty="0"/>
              <a:t>Quality or state of being genuine, e.g., sender of an email</a:t>
            </a:r>
          </a:p>
          <a:p>
            <a:pPr marL="57150" indent="0">
              <a:spcBef>
                <a:spcPts val="600"/>
              </a:spcBef>
              <a:buNone/>
            </a:pPr>
            <a:r>
              <a:rPr lang="en-GB" altLang="en-US" sz="2400" b="1" dirty="0"/>
              <a:t>Utility</a:t>
            </a:r>
          </a:p>
          <a:p>
            <a:pPr marL="400050">
              <a:spcBef>
                <a:spcPts val="600"/>
              </a:spcBef>
            </a:pPr>
            <a:r>
              <a:rPr lang="en-US" altLang="en-US" sz="2400" dirty="0"/>
              <a:t>Timeliness - No value if it is too late</a:t>
            </a:r>
          </a:p>
          <a:p>
            <a:pPr marL="400050">
              <a:spcBef>
                <a:spcPts val="600"/>
              </a:spcBef>
            </a:pPr>
            <a:endParaRPr lang="en-US" altLang="en-US" sz="2400" dirty="0"/>
          </a:p>
        </p:txBody>
      </p:sp>
    </p:spTree>
    <p:extLst>
      <p:ext uri="{BB962C8B-B14F-4D97-AF65-F5344CB8AC3E}">
        <p14:creationId xmlns:p14="http://schemas.microsoft.com/office/powerpoint/2010/main" val="2158861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a:bodyPr>
          <a:lstStyle/>
          <a:p>
            <a:r>
              <a:rPr lang="en-GB" altLang="en-US" dirty="0"/>
              <a:t>Characteristics of Information</a:t>
            </a:r>
            <a:endParaRPr lang="en-US" dirty="0"/>
          </a:p>
        </p:txBody>
      </p:sp>
      <p:sp>
        <p:nvSpPr>
          <p:cNvPr id="3" name="Content Placeholder 2"/>
          <p:cNvSpPr>
            <a:spLocks noGrp="1"/>
          </p:cNvSpPr>
          <p:nvPr>
            <p:ph sz="quarter" idx="11"/>
          </p:nvPr>
        </p:nvSpPr>
        <p:spPr/>
        <p:txBody>
          <a:bodyPr/>
          <a:lstStyle/>
          <a:p>
            <a:pPr marL="0" indent="0">
              <a:spcBef>
                <a:spcPts val="600"/>
              </a:spcBef>
              <a:buNone/>
            </a:pPr>
            <a:r>
              <a:rPr lang="en-GB" altLang="en-US" sz="2400" dirty="0"/>
              <a:t>Some more sub-characteristics worth mentioning</a:t>
            </a:r>
          </a:p>
          <a:p>
            <a:pPr marL="57150" indent="0">
              <a:spcBef>
                <a:spcPts val="600"/>
              </a:spcBef>
              <a:buNone/>
            </a:pPr>
            <a:endParaRPr lang="en-GB" altLang="en-US" sz="2400" b="1" dirty="0"/>
          </a:p>
          <a:p>
            <a:pPr marL="57150" indent="0">
              <a:spcBef>
                <a:spcPts val="600"/>
              </a:spcBef>
              <a:buNone/>
            </a:pPr>
            <a:r>
              <a:rPr lang="en-GB" altLang="en-US" sz="2400" b="1" dirty="0"/>
              <a:t>Accountability</a:t>
            </a:r>
          </a:p>
          <a:p>
            <a:pPr marL="400050">
              <a:spcBef>
                <a:spcPts val="600"/>
              </a:spcBef>
            </a:pPr>
            <a:r>
              <a:rPr lang="en-US" altLang="en-US" sz="2400" dirty="0"/>
              <a:t>Actions of a user are uniquely traceable</a:t>
            </a:r>
          </a:p>
          <a:p>
            <a:pPr marL="400050">
              <a:spcBef>
                <a:spcPts val="600"/>
              </a:spcBef>
            </a:pPr>
            <a:r>
              <a:rPr lang="en-US" altLang="en-US" sz="2400" dirty="0"/>
              <a:t>Helps in after-attack recovery and finding the culprit</a:t>
            </a:r>
          </a:p>
          <a:p>
            <a:pPr marL="57150" indent="0">
              <a:spcBef>
                <a:spcPts val="600"/>
              </a:spcBef>
              <a:buNone/>
            </a:pPr>
            <a:r>
              <a:rPr lang="en-US" altLang="en-US" sz="2400" b="1" dirty="0"/>
              <a:t>Privacy</a:t>
            </a:r>
          </a:p>
          <a:p>
            <a:pPr marL="400050">
              <a:spcBef>
                <a:spcPts val="600"/>
              </a:spcBef>
            </a:pPr>
            <a:r>
              <a:rPr lang="en-US" altLang="en-US" sz="2400" dirty="0"/>
              <a:t>Keeping individual’s Personally Identifiable Information (PII) secret</a:t>
            </a:r>
          </a:p>
          <a:p>
            <a:pPr marL="400050">
              <a:spcBef>
                <a:spcPts val="600"/>
              </a:spcBef>
            </a:pPr>
            <a:endParaRPr lang="en-US" altLang="en-US" sz="2400" dirty="0"/>
          </a:p>
        </p:txBody>
      </p:sp>
    </p:spTree>
    <p:extLst>
      <p:ext uri="{BB962C8B-B14F-4D97-AF65-F5344CB8AC3E}">
        <p14:creationId xmlns:p14="http://schemas.microsoft.com/office/powerpoint/2010/main" val="394262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Threats to information security</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lstStyle/>
          <a:p>
            <a:r>
              <a:rPr lang="en-US" sz="2800" b="1" dirty="0"/>
              <a:t>Vulnerability</a:t>
            </a:r>
            <a:r>
              <a:rPr lang="en-US" sz="2800" dirty="0"/>
              <a:t>: weakness in an asset</a:t>
            </a:r>
          </a:p>
          <a:p>
            <a:r>
              <a:rPr lang="en-US" sz="2800" b="1" dirty="0"/>
              <a:t>Threat</a:t>
            </a:r>
            <a:r>
              <a:rPr lang="en-US" sz="2800" dirty="0"/>
              <a:t>: A </a:t>
            </a:r>
            <a:r>
              <a:rPr lang="en-US" sz="2800" u="sng" dirty="0"/>
              <a:t>potential</a:t>
            </a:r>
            <a:r>
              <a:rPr lang="en-US" sz="2800" dirty="0"/>
              <a:t> security harm to an asset, caused by exploiting the vulnerability</a:t>
            </a:r>
          </a:p>
          <a:p>
            <a:r>
              <a:rPr lang="en-US" sz="2800" b="1" dirty="0"/>
              <a:t>Attack</a:t>
            </a:r>
            <a:r>
              <a:rPr lang="en-US" sz="2800" dirty="0"/>
              <a:t>: An act exploiting a vulnerability. Threat being realized.</a:t>
            </a:r>
            <a:endParaRPr lang="en-AU" sz="2800" dirty="0"/>
          </a:p>
        </p:txBody>
      </p:sp>
      <p:graphicFrame>
        <p:nvGraphicFramePr>
          <p:cNvPr id="4" name="Content Placeholder 3">
            <a:extLst>
              <a:ext uri="{FF2B5EF4-FFF2-40B4-BE49-F238E27FC236}">
                <a16:creationId xmlns:a16="http://schemas.microsoft.com/office/drawing/2014/main" id="{5C3C0A54-4CAF-9EB7-A25C-0A88B5DD4DBB}"/>
              </a:ext>
            </a:extLst>
          </p:cNvPr>
          <p:cNvGraphicFramePr>
            <a:graphicFrameLocks/>
          </p:cNvGraphicFramePr>
          <p:nvPr>
            <p:extLst>
              <p:ext uri="{D42A27DB-BD31-4B8C-83A1-F6EECF244321}">
                <p14:modId xmlns:p14="http://schemas.microsoft.com/office/powerpoint/2010/main" val="257196217"/>
              </p:ext>
            </p:extLst>
          </p:nvPr>
        </p:nvGraphicFramePr>
        <p:xfrm>
          <a:off x="3275856" y="4149080"/>
          <a:ext cx="5112568" cy="249897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8970890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lstStyle/>
          <a:p>
            <a:r>
              <a:rPr lang="en-US" dirty="0"/>
              <a:t>Packet Sniffing</a:t>
            </a:r>
          </a:p>
          <a:p>
            <a:pPr lvl="1"/>
            <a:r>
              <a:rPr lang="en-US" dirty="0"/>
              <a:t>Monitor data traveling over the network</a:t>
            </a:r>
          </a:p>
          <a:p>
            <a:endParaRPr lang="en-US" dirty="0"/>
          </a:p>
          <a:p>
            <a:r>
              <a:rPr lang="en-US" dirty="0"/>
              <a:t>IP Spoofing</a:t>
            </a:r>
          </a:p>
          <a:p>
            <a:pPr lvl="1"/>
            <a:r>
              <a:rPr lang="en-US" dirty="0"/>
              <a:t>Modify the sender address in IP header</a:t>
            </a:r>
          </a:p>
          <a:p>
            <a:endParaRPr lang="en-US" dirty="0"/>
          </a:p>
          <a:p>
            <a:r>
              <a:rPr lang="en-US" dirty="0"/>
              <a:t>Man-in-the-middle (MITM) attacks</a:t>
            </a:r>
          </a:p>
          <a:p>
            <a:pPr lvl="1"/>
            <a:r>
              <a:rPr lang="en-US" dirty="0"/>
              <a:t>Hijacking the session to delete or forge the data in transit</a:t>
            </a:r>
            <a:endParaRPr lang="en-AU" dirty="0"/>
          </a:p>
        </p:txBody>
      </p:sp>
    </p:spTree>
    <p:extLst>
      <p:ext uri="{BB962C8B-B14F-4D97-AF65-F5344CB8AC3E}">
        <p14:creationId xmlns:p14="http://schemas.microsoft.com/office/powerpoint/2010/main" val="15244460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a:xfrm>
            <a:off x="467544" y="1560612"/>
            <a:ext cx="8229600" cy="5036740"/>
          </a:xfrm>
        </p:spPr>
        <p:txBody>
          <a:bodyPr/>
          <a:lstStyle/>
          <a:p>
            <a:r>
              <a:rPr lang="en-AU" dirty="0"/>
              <a:t>Human error or failure</a:t>
            </a:r>
          </a:p>
          <a:p>
            <a:pPr lvl="1"/>
            <a:r>
              <a:rPr lang="en-AU" dirty="0"/>
              <a:t>Carelessness of employees</a:t>
            </a:r>
          </a:p>
          <a:p>
            <a:pPr lvl="1"/>
            <a:r>
              <a:rPr lang="en-AU" dirty="0"/>
              <a:t>Shoulder surfing</a:t>
            </a:r>
          </a:p>
          <a:p>
            <a:pPr lvl="1"/>
            <a:r>
              <a:rPr lang="en-AU" dirty="0"/>
              <a:t>Social engineering</a:t>
            </a:r>
          </a:p>
          <a:p>
            <a:pPr lvl="2"/>
            <a:r>
              <a:rPr lang="en-AU" dirty="0"/>
              <a:t>using social skills to convince people to reveal confidential information</a:t>
            </a:r>
          </a:p>
          <a:p>
            <a:pPr lvl="2"/>
            <a:r>
              <a:rPr lang="en-AU" dirty="0"/>
              <a:t>Psychological pressure</a:t>
            </a:r>
          </a:p>
          <a:p>
            <a:pPr lvl="2"/>
            <a:r>
              <a:rPr lang="en-AU" dirty="0"/>
              <a:t>Showing acquaintance with company’s procedures and habits</a:t>
            </a:r>
          </a:p>
          <a:p>
            <a:pPr lvl="2"/>
            <a:r>
              <a:rPr lang="en-AU" dirty="0"/>
              <a:t>Phishing: Sending spoofed but genuine-looking messages to targets</a:t>
            </a:r>
          </a:p>
        </p:txBody>
      </p:sp>
    </p:spTree>
    <p:extLst>
      <p:ext uri="{BB962C8B-B14F-4D97-AF65-F5344CB8AC3E}">
        <p14:creationId xmlns:p14="http://schemas.microsoft.com/office/powerpoint/2010/main" val="16532723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normAutofit fontScale="92500" lnSpcReduction="10000"/>
          </a:bodyPr>
          <a:lstStyle/>
          <a:p>
            <a:r>
              <a:rPr lang="en-AU" dirty="0"/>
              <a:t>Malware: malicious software</a:t>
            </a:r>
          </a:p>
          <a:p>
            <a:r>
              <a:rPr lang="en-AU" dirty="0"/>
              <a:t>Virus</a:t>
            </a:r>
          </a:p>
          <a:p>
            <a:pPr lvl="1"/>
            <a:r>
              <a:rPr lang="en-AU" dirty="0"/>
              <a:t>Spreads quickly</a:t>
            </a:r>
          </a:p>
          <a:p>
            <a:pPr lvl="1"/>
            <a:r>
              <a:rPr lang="en-AU" dirty="0"/>
              <a:t>Attached to a host file (exe, document)</a:t>
            </a:r>
          </a:p>
          <a:p>
            <a:r>
              <a:rPr lang="en-AU" dirty="0"/>
              <a:t>Worms</a:t>
            </a:r>
          </a:p>
          <a:p>
            <a:pPr lvl="1"/>
            <a:r>
              <a:rPr lang="en-AU" dirty="0"/>
              <a:t>Do not require a host file</a:t>
            </a:r>
          </a:p>
          <a:p>
            <a:pPr lvl="1"/>
            <a:r>
              <a:rPr lang="en-AU" dirty="0"/>
              <a:t>Can self-replicate and self-propagate over local network</a:t>
            </a:r>
          </a:p>
          <a:p>
            <a:r>
              <a:rPr lang="en-AU" dirty="0"/>
              <a:t>Trojans</a:t>
            </a:r>
          </a:p>
          <a:p>
            <a:pPr lvl="1"/>
            <a:r>
              <a:rPr lang="en-AU" dirty="0"/>
              <a:t>Disguised as an essential or useful software</a:t>
            </a:r>
          </a:p>
          <a:p>
            <a:endParaRPr lang="en-AU" dirty="0"/>
          </a:p>
        </p:txBody>
      </p:sp>
    </p:spTree>
    <p:extLst>
      <p:ext uri="{BB962C8B-B14F-4D97-AF65-F5344CB8AC3E}">
        <p14:creationId xmlns:p14="http://schemas.microsoft.com/office/powerpoint/2010/main" val="2897160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a:xfrm>
            <a:off x="467544" y="1560612"/>
            <a:ext cx="8229600" cy="5180756"/>
          </a:xfrm>
        </p:spPr>
        <p:txBody>
          <a:bodyPr>
            <a:normAutofit/>
          </a:bodyPr>
          <a:lstStyle/>
          <a:p>
            <a:r>
              <a:rPr lang="en-AU" dirty="0"/>
              <a:t>Hacking</a:t>
            </a:r>
          </a:p>
          <a:p>
            <a:pPr lvl="1"/>
            <a:r>
              <a:rPr lang="en-AU" dirty="0"/>
              <a:t>Deeply examine the target system</a:t>
            </a:r>
          </a:p>
          <a:p>
            <a:pPr lvl="1"/>
            <a:r>
              <a:rPr lang="en-AU" dirty="0"/>
              <a:t>Bypass security controls using skills and/or fraud</a:t>
            </a:r>
          </a:p>
          <a:p>
            <a:pPr lvl="1"/>
            <a:r>
              <a:rPr lang="en-AU" dirty="0"/>
              <a:t>After a successful attack, next step is </a:t>
            </a:r>
            <a:r>
              <a:rPr lang="en-AU" b="1" dirty="0"/>
              <a:t>privilege escalation</a:t>
            </a:r>
            <a:endParaRPr lang="en-AU" dirty="0"/>
          </a:p>
          <a:p>
            <a:pPr lvl="2"/>
            <a:r>
              <a:rPr lang="en-AU" dirty="0"/>
              <a:t>The higher the privilege, the more the possible harm</a:t>
            </a:r>
          </a:p>
        </p:txBody>
      </p:sp>
    </p:spTree>
    <p:extLst>
      <p:ext uri="{BB962C8B-B14F-4D97-AF65-F5344CB8AC3E}">
        <p14:creationId xmlns:p14="http://schemas.microsoft.com/office/powerpoint/2010/main" val="300575574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a:xfrm>
            <a:off x="467544" y="1560612"/>
            <a:ext cx="8229600" cy="5180756"/>
          </a:xfrm>
        </p:spPr>
        <p:txBody>
          <a:bodyPr>
            <a:normAutofit/>
          </a:bodyPr>
          <a:lstStyle/>
          <a:p>
            <a:r>
              <a:rPr lang="en-AU" dirty="0"/>
              <a:t>Expert hacker</a:t>
            </a:r>
          </a:p>
          <a:p>
            <a:pPr lvl="1"/>
            <a:r>
              <a:rPr lang="en-US" dirty="0"/>
              <a:t>Develop software scripts and program exploits</a:t>
            </a:r>
          </a:p>
          <a:p>
            <a:pPr lvl="1"/>
            <a:r>
              <a:rPr lang="en-US" dirty="0"/>
              <a:t>Will often create attack software and share with others</a:t>
            </a:r>
            <a:endParaRPr lang="en-AU" dirty="0"/>
          </a:p>
          <a:p>
            <a:r>
              <a:rPr lang="en-AU" dirty="0"/>
              <a:t>Novice hacker</a:t>
            </a:r>
          </a:p>
          <a:p>
            <a:pPr lvl="1"/>
            <a:r>
              <a:rPr lang="en-US" dirty="0"/>
              <a:t>Use expertly written software to exploit a system</a:t>
            </a:r>
          </a:p>
          <a:p>
            <a:pPr lvl="1"/>
            <a:r>
              <a:rPr lang="en-US" dirty="0"/>
              <a:t>Do not usually fully understand the systems they hack</a:t>
            </a:r>
          </a:p>
        </p:txBody>
      </p:sp>
    </p:spTree>
    <p:extLst>
      <p:ext uri="{BB962C8B-B14F-4D97-AF65-F5344CB8AC3E}">
        <p14:creationId xmlns:p14="http://schemas.microsoft.com/office/powerpoint/2010/main" val="1937923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a:xfrm>
            <a:off x="467544" y="1560612"/>
            <a:ext cx="8229600" cy="5036740"/>
          </a:xfrm>
        </p:spPr>
        <p:txBody>
          <a:bodyPr>
            <a:normAutofit/>
          </a:bodyPr>
          <a:lstStyle/>
          <a:p>
            <a:r>
              <a:rPr lang="en-US" dirty="0"/>
              <a:t>Password attacks</a:t>
            </a:r>
          </a:p>
          <a:p>
            <a:pPr lvl="1"/>
            <a:r>
              <a:rPr lang="en-US" dirty="0"/>
              <a:t>Cracking: guess or reverse</a:t>
            </a:r>
          </a:p>
          <a:p>
            <a:pPr lvl="1"/>
            <a:r>
              <a:rPr lang="en-US" dirty="0"/>
              <a:t>Cracking techniques:</a:t>
            </a:r>
          </a:p>
          <a:p>
            <a:pPr lvl="2"/>
            <a:r>
              <a:rPr lang="en-US" dirty="0"/>
              <a:t>Brute force: Application of computing and network resources to try every possible combination of characters of a password</a:t>
            </a:r>
          </a:p>
          <a:p>
            <a:pPr lvl="2"/>
            <a:r>
              <a:rPr lang="en-US" dirty="0"/>
              <a:t>Dictionary: </a:t>
            </a:r>
            <a:r>
              <a:rPr lang="en-US" altLang="en-US" dirty="0"/>
              <a:t>Uses a list of commonly used passwords (the dictionary) as guesses</a:t>
            </a:r>
            <a:endParaRPr lang="en-US" dirty="0"/>
          </a:p>
        </p:txBody>
      </p:sp>
    </p:spTree>
    <p:extLst>
      <p:ext uri="{BB962C8B-B14F-4D97-AF65-F5344CB8AC3E}">
        <p14:creationId xmlns:p14="http://schemas.microsoft.com/office/powerpoint/2010/main" val="31699533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a:xfrm>
            <a:off x="467544" y="1560612"/>
            <a:ext cx="8229600" cy="5036740"/>
          </a:xfrm>
        </p:spPr>
        <p:txBody>
          <a:bodyPr>
            <a:normAutofit/>
          </a:bodyPr>
          <a:lstStyle/>
          <a:p>
            <a:r>
              <a:rPr lang="en-US" dirty="0"/>
              <a:t>Brute force hash cracking time estimate</a:t>
            </a:r>
          </a:p>
        </p:txBody>
      </p:sp>
      <p:pic>
        <p:nvPicPr>
          <p:cNvPr id="7" name="Picture 6">
            <a:extLst>
              <a:ext uri="{FF2B5EF4-FFF2-40B4-BE49-F238E27FC236}">
                <a16:creationId xmlns:a16="http://schemas.microsoft.com/office/drawing/2014/main" id="{19E5ACB4-E645-E3F2-5F28-9AE4A720E387}"/>
              </a:ext>
            </a:extLst>
          </p:cNvPr>
          <p:cNvPicPr>
            <a:picLocks noChangeAspect="1"/>
          </p:cNvPicPr>
          <p:nvPr/>
        </p:nvPicPr>
        <p:blipFill>
          <a:blip r:embed="rId2"/>
          <a:stretch>
            <a:fillRect/>
          </a:stretch>
        </p:blipFill>
        <p:spPr>
          <a:xfrm>
            <a:off x="323528" y="2492896"/>
            <a:ext cx="8527874" cy="3672408"/>
          </a:xfrm>
          <a:prstGeom prst="rect">
            <a:avLst/>
          </a:prstGeom>
        </p:spPr>
      </p:pic>
    </p:spTree>
    <p:extLst>
      <p:ext uri="{BB962C8B-B14F-4D97-AF65-F5344CB8AC3E}">
        <p14:creationId xmlns:p14="http://schemas.microsoft.com/office/powerpoint/2010/main" val="34555371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lstStyle/>
          <a:p>
            <a:r>
              <a:rPr lang="en-AU" dirty="0"/>
              <a:t>Money extortion by blackmail</a:t>
            </a:r>
          </a:p>
          <a:p>
            <a:pPr lvl="1"/>
            <a:r>
              <a:rPr lang="en-AU" dirty="0"/>
              <a:t>after data theft</a:t>
            </a:r>
          </a:p>
          <a:p>
            <a:pPr lvl="1"/>
            <a:r>
              <a:rPr lang="en-AU" dirty="0"/>
              <a:t>after data hostage: ransomware</a:t>
            </a:r>
          </a:p>
          <a:p>
            <a:pPr lvl="1"/>
            <a:endParaRPr lang="en-AU" dirty="0"/>
          </a:p>
          <a:p>
            <a:r>
              <a:rPr lang="en-AU" dirty="0"/>
              <a:t>Vandalism</a:t>
            </a:r>
          </a:p>
          <a:p>
            <a:pPr lvl="1"/>
            <a:r>
              <a:rPr lang="en-AU" dirty="0"/>
              <a:t>e.g. defacing public websites</a:t>
            </a:r>
          </a:p>
          <a:p>
            <a:pPr lvl="1"/>
            <a:r>
              <a:rPr lang="en-AU" dirty="0"/>
              <a:t>Destroy image of the business</a:t>
            </a:r>
          </a:p>
        </p:txBody>
      </p:sp>
    </p:spTree>
    <p:extLst>
      <p:ext uri="{BB962C8B-B14F-4D97-AF65-F5344CB8AC3E}">
        <p14:creationId xmlns:p14="http://schemas.microsoft.com/office/powerpoint/2010/main" val="19311881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lstStyle/>
          <a:p>
            <a:r>
              <a:rPr lang="en-US" sz="2800" dirty="0"/>
              <a:t>Bots: Used to launch Distributed Denial- of-Service (DDoS)</a:t>
            </a:r>
            <a:r>
              <a:rPr lang="en-AU" sz="2800" dirty="0"/>
              <a:t> attacks</a:t>
            </a:r>
          </a:p>
          <a:p>
            <a:pPr lvl="1"/>
            <a:r>
              <a:rPr lang="en-AU" sz="2400" dirty="0"/>
              <a:t>Hundreds or thousands of devices are compromised (zombies) and remotely activated by attacker</a:t>
            </a:r>
          </a:p>
        </p:txBody>
      </p:sp>
      <p:pic>
        <p:nvPicPr>
          <p:cNvPr id="5" name="Picture 4" descr="A diagram of a computer network&#10;&#10;Description automatically generated">
            <a:extLst>
              <a:ext uri="{FF2B5EF4-FFF2-40B4-BE49-F238E27FC236}">
                <a16:creationId xmlns:a16="http://schemas.microsoft.com/office/drawing/2014/main" id="{CD8FE980-5E4D-21E2-304D-1001E193AF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39752" y="3356992"/>
            <a:ext cx="4752019" cy="3218299"/>
          </a:xfrm>
          <a:prstGeom prst="rect">
            <a:avLst/>
          </a:prstGeom>
        </p:spPr>
      </p:pic>
      <p:sp>
        <p:nvSpPr>
          <p:cNvPr id="8" name="TextBox 7">
            <a:extLst>
              <a:ext uri="{FF2B5EF4-FFF2-40B4-BE49-F238E27FC236}">
                <a16:creationId xmlns:a16="http://schemas.microsoft.com/office/drawing/2014/main" id="{02063FE3-93AC-B156-0810-6368C19B4AFF}"/>
              </a:ext>
            </a:extLst>
          </p:cNvPr>
          <p:cNvSpPr txBox="1"/>
          <p:nvPr/>
        </p:nvSpPr>
        <p:spPr>
          <a:xfrm>
            <a:off x="169155" y="6597209"/>
            <a:ext cx="4968552" cy="246221"/>
          </a:xfrm>
          <a:prstGeom prst="rect">
            <a:avLst/>
          </a:prstGeom>
          <a:noFill/>
        </p:spPr>
        <p:txBody>
          <a:bodyPr wrap="square">
            <a:spAutoFit/>
          </a:bodyPr>
          <a:lstStyle/>
          <a:p>
            <a:r>
              <a:rPr lang="en-AU" sz="1000" dirty="0"/>
              <a:t>https://www.pcmag.com/how-to/what-is-ddos-attack-distributed-denial-of-service</a:t>
            </a:r>
          </a:p>
        </p:txBody>
      </p:sp>
    </p:spTree>
    <p:extLst>
      <p:ext uri="{BB962C8B-B14F-4D97-AF65-F5344CB8AC3E}">
        <p14:creationId xmlns:p14="http://schemas.microsoft.com/office/powerpoint/2010/main" val="66780372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BF60228B-4F50-B845-C3E7-FE2112692147}"/>
              </a:ext>
            </a:extLst>
          </p:cNvPr>
          <p:cNvSpPr>
            <a:spLocks noGrp="1"/>
          </p:cNvSpPr>
          <p:nvPr>
            <p:ph sz="quarter" idx="11"/>
          </p:nvPr>
        </p:nvSpPr>
        <p:spPr/>
        <p:txBody>
          <a:bodyPr/>
          <a:lstStyle/>
          <a:p>
            <a:r>
              <a:rPr lang="en-US" dirty="0"/>
              <a:t>Copyright Infringement</a:t>
            </a:r>
          </a:p>
          <a:p>
            <a:pPr lvl="1"/>
            <a:r>
              <a:rPr lang="en-US" dirty="0"/>
              <a:t>Piracy</a:t>
            </a:r>
            <a:endParaRPr lang="en-AU" dirty="0"/>
          </a:p>
          <a:p>
            <a:endParaRPr lang="en-US" dirty="0"/>
          </a:p>
          <a:p>
            <a:r>
              <a:rPr lang="en-US" dirty="0"/>
              <a:t>Internet Service Issues</a:t>
            </a:r>
          </a:p>
          <a:p>
            <a:pPr lvl="1"/>
            <a:r>
              <a:rPr lang="en-US" dirty="0"/>
              <a:t>Outage (downtime) or degradation</a:t>
            </a:r>
          </a:p>
          <a:p>
            <a:endParaRPr lang="en-US" dirty="0"/>
          </a:p>
          <a:p>
            <a:r>
              <a:rPr lang="en-US" dirty="0"/>
              <a:t>Power blackouts and faults</a:t>
            </a:r>
          </a:p>
          <a:p>
            <a:endParaRPr lang="en-US" dirty="0"/>
          </a:p>
        </p:txBody>
      </p:sp>
    </p:spTree>
    <p:extLst>
      <p:ext uri="{BB962C8B-B14F-4D97-AF65-F5344CB8AC3E}">
        <p14:creationId xmlns:p14="http://schemas.microsoft.com/office/powerpoint/2010/main" val="5273423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1F1BF5A9-A585-8549-D5A1-5EC609CDD6BF}"/>
              </a:ext>
            </a:extLst>
          </p:cNvPr>
          <p:cNvSpPr>
            <a:spLocks noGrp="1"/>
          </p:cNvSpPr>
          <p:nvPr>
            <p:ph sz="quarter" idx="11"/>
          </p:nvPr>
        </p:nvSpPr>
        <p:spPr/>
        <p:txBody>
          <a:bodyPr/>
          <a:lstStyle/>
          <a:p>
            <a:r>
              <a:rPr lang="en-US" dirty="0"/>
              <a:t>Cyberterrorism</a:t>
            </a:r>
          </a:p>
          <a:p>
            <a:pPr lvl="1"/>
            <a:r>
              <a:rPr lang="en-AU" dirty="0"/>
              <a:t>Attacks affecting widespread users</a:t>
            </a:r>
          </a:p>
          <a:p>
            <a:endParaRPr lang="en-AU" dirty="0"/>
          </a:p>
          <a:p>
            <a:r>
              <a:rPr lang="en-AU" dirty="0"/>
              <a:t>Cyberwarfare</a:t>
            </a:r>
          </a:p>
          <a:p>
            <a:pPr lvl="1"/>
            <a:r>
              <a:rPr lang="en-AU" dirty="0"/>
              <a:t>State-sponsored attacks against rival states </a:t>
            </a:r>
          </a:p>
        </p:txBody>
      </p:sp>
    </p:spTree>
    <p:extLst>
      <p:ext uri="{BB962C8B-B14F-4D97-AF65-F5344CB8AC3E}">
        <p14:creationId xmlns:p14="http://schemas.microsoft.com/office/powerpoint/2010/main" val="35675852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Examples of Attacks/Threats</a:t>
            </a:r>
            <a:endParaRPr lang="en-AU" dirty="0"/>
          </a:p>
        </p:txBody>
      </p:sp>
      <p:sp>
        <p:nvSpPr>
          <p:cNvPr id="3" name="Content Placeholder 2">
            <a:extLst>
              <a:ext uri="{FF2B5EF4-FFF2-40B4-BE49-F238E27FC236}">
                <a16:creationId xmlns:a16="http://schemas.microsoft.com/office/drawing/2014/main" id="{BF60228B-4F50-B845-C3E7-FE2112692147}"/>
              </a:ext>
            </a:extLst>
          </p:cNvPr>
          <p:cNvSpPr>
            <a:spLocks noGrp="1"/>
          </p:cNvSpPr>
          <p:nvPr>
            <p:ph sz="quarter" idx="11"/>
          </p:nvPr>
        </p:nvSpPr>
        <p:spPr/>
        <p:txBody>
          <a:bodyPr/>
          <a:lstStyle/>
          <a:p>
            <a:r>
              <a:rPr lang="en-US" dirty="0"/>
              <a:t>Forces of nature</a:t>
            </a:r>
          </a:p>
          <a:p>
            <a:pPr lvl="1"/>
            <a:r>
              <a:rPr lang="en-US" dirty="0"/>
              <a:t>Natural disasters</a:t>
            </a:r>
          </a:p>
          <a:p>
            <a:pPr lvl="1"/>
            <a:r>
              <a:rPr lang="en-AU" dirty="0"/>
              <a:t>Require planning in advance: </a:t>
            </a:r>
          </a:p>
          <a:p>
            <a:pPr lvl="2"/>
            <a:r>
              <a:rPr lang="en-AU" dirty="0"/>
              <a:t>disaster recovery plan</a:t>
            </a:r>
          </a:p>
          <a:p>
            <a:pPr lvl="2"/>
            <a:r>
              <a:rPr lang="en-AU" dirty="0"/>
              <a:t>business continuity plan</a:t>
            </a:r>
          </a:p>
          <a:p>
            <a:pPr lvl="2"/>
            <a:r>
              <a:rPr lang="en-AU" dirty="0"/>
              <a:t>incident response plan</a:t>
            </a:r>
          </a:p>
          <a:p>
            <a:endParaRPr lang="en-US" dirty="0"/>
          </a:p>
        </p:txBody>
      </p:sp>
    </p:spTree>
    <p:extLst>
      <p:ext uri="{BB962C8B-B14F-4D97-AF65-F5344CB8AC3E}">
        <p14:creationId xmlns:p14="http://schemas.microsoft.com/office/powerpoint/2010/main" val="269576778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Attacks and Consequences</a:t>
            </a:r>
            <a:endParaRPr lang="en-AU" dirty="0"/>
          </a:p>
        </p:txBody>
      </p:sp>
      <p:graphicFrame>
        <p:nvGraphicFramePr>
          <p:cNvPr id="12" name="Table 6">
            <a:extLst>
              <a:ext uri="{FF2B5EF4-FFF2-40B4-BE49-F238E27FC236}">
                <a16:creationId xmlns:a16="http://schemas.microsoft.com/office/drawing/2014/main" id="{89DD5922-9B62-D081-8F0B-CC8664C8F998}"/>
              </a:ext>
            </a:extLst>
          </p:cNvPr>
          <p:cNvGraphicFramePr>
            <a:graphicFrameLocks/>
          </p:cNvGraphicFramePr>
          <p:nvPr>
            <p:extLst>
              <p:ext uri="{D42A27DB-BD31-4B8C-83A1-F6EECF244321}">
                <p14:modId xmlns:p14="http://schemas.microsoft.com/office/powerpoint/2010/main" val="2784609184"/>
              </p:ext>
            </p:extLst>
          </p:nvPr>
        </p:nvGraphicFramePr>
        <p:xfrm>
          <a:off x="323528" y="1412776"/>
          <a:ext cx="8387790" cy="4851400"/>
        </p:xfrm>
        <a:graphic>
          <a:graphicData uri="http://schemas.openxmlformats.org/drawingml/2006/table">
            <a:tbl>
              <a:tblPr firstRow="1" bandRow="1">
                <a:tableStyleId>{2D5ABB26-0587-4C30-8999-92F81FD0307C}</a:tableStyleId>
              </a:tblPr>
              <a:tblGrid>
                <a:gridCol w="2578660">
                  <a:extLst>
                    <a:ext uri="{9D8B030D-6E8A-4147-A177-3AD203B41FA5}">
                      <a16:colId xmlns:a16="http://schemas.microsoft.com/office/drawing/2014/main" val="1548973457"/>
                    </a:ext>
                  </a:extLst>
                </a:gridCol>
                <a:gridCol w="5809130">
                  <a:extLst>
                    <a:ext uri="{9D8B030D-6E8A-4147-A177-3AD203B41FA5}">
                      <a16:colId xmlns:a16="http://schemas.microsoft.com/office/drawing/2014/main" val="4215703150"/>
                    </a:ext>
                  </a:extLst>
                </a:gridCol>
              </a:tblGrid>
              <a:tr h="370840">
                <a:tc>
                  <a:txBody>
                    <a:bodyPr/>
                    <a:lstStyle/>
                    <a:p>
                      <a:pPr latinLnBrk="0"/>
                      <a:r>
                        <a:rPr lang="en-US" b="1" noProof="0" dirty="0"/>
                        <a:t>Consequence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0"/>
                      <a:r>
                        <a:rPr lang="en-US" b="1" noProof="0" dirty="0"/>
                        <a:t>Attack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05889"/>
                  </a:ext>
                </a:extLst>
              </a:tr>
              <a:tr h="370840">
                <a:tc>
                  <a:txBody>
                    <a:bodyPr/>
                    <a:lstStyle/>
                    <a:p>
                      <a:pPr latinLnBrk="0"/>
                      <a:r>
                        <a:rPr lang="en-US" b="1" dirty="0"/>
                        <a:t>Unauthorized Disclosure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0"/>
                      <a:r>
                        <a:rPr lang="en-US" b="1" dirty="0"/>
                        <a:t>Exposure:</a:t>
                      </a:r>
                      <a:r>
                        <a:rPr lang="en-US" dirty="0"/>
                        <a:t> Sensitive data are directly released to an unauthorized entity.</a:t>
                      </a:r>
                    </a:p>
                    <a:p>
                      <a:pPr latinLnBrk="0"/>
                      <a:endParaRPr lang="en-US" dirty="0"/>
                    </a:p>
                    <a:p>
                      <a:pPr latinLnBrk="0"/>
                      <a:r>
                        <a:rPr lang="en-US" b="1" dirty="0"/>
                        <a:t>Interception:</a:t>
                      </a:r>
                      <a:r>
                        <a:rPr lang="en-US" dirty="0"/>
                        <a:t> An unauthorized entity directly accesses sensitive data traveling between authorized sources and destinations.</a:t>
                      </a:r>
                    </a:p>
                    <a:p>
                      <a:pPr latinLnBrk="0"/>
                      <a:endParaRPr lang="en-US" dirty="0"/>
                    </a:p>
                    <a:p>
                      <a:pPr latinLnBrk="0"/>
                      <a:r>
                        <a:rPr lang="en-US" b="1" dirty="0"/>
                        <a:t>Inference:</a:t>
                      </a:r>
                      <a:r>
                        <a:rPr lang="en-US" dirty="0"/>
                        <a:t> A threat action whereby an unauthorized entity indirectly accesses sensitive data (but not necessarily the data contained in the communication) by reasoning from characteristics or by-products of communications.</a:t>
                      </a:r>
                    </a:p>
                    <a:p>
                      <a:pPr latinLnBrk="0"/>
                      <a:endParaRPr lang="en-US" dirty="0"/>
                    </a:p>
                    <a:p>
                      <a:pPr latinLnBrk="0"/>
                      <a:r>
                        <a:rPr lang="en-US" b="1" dirty="0"/>
                        <a:t>Intrusion:</a:t>
                      </a:r>
                      <a:r>
                        <a:rPr lang="en-US" dirty="0"/>
                        <a:t> An unauthorized entity gains access to sensitive data by circumventing a system’s security protections.</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60984343"/>
                  </a:ext>
                </a:extLst>
              </a:tr>
            </a:tbl>
          </a:graphicData>
        </a:graphic>
      </p:graphicFrame>
      <p:sp>
        <p:nvSpPr>
          <p:cNvPr id="13" name="TextBox 12">
            <a:extLst>
              <a:ext uri="{FF2B5EF4-FFF2-40B4-BE49-F238E27FC236}">
                <a16:creationId xmlns:a16="http://schemas.microsoft.com/office/drawing/2014/main" id="{1C778B56-6F19-A557-0EF9-C2E65545691D}"/>
              </a:ext>
            </a:extLst>
          </p:cNvPr>
          <p:cNvSpPr txBox="1"/>
          <p:nvPr/>
        </p:nvSpPr>
        <p:spPr>
          <a:xfrm>
            <a:off x="125740" y="6434828"/>
            <a:ext cx="2142004" cy="369332"/>
          </a:xfrm>
          <a:prstGeom prst="rect">
            <a:avLst/>
          </a:prstGeom>
          <a:noFill/>
        </p:spPr>
        <p:txBody>
          <a:bodyPr wrap="square" rtlCol="0">
            <a:spAutoFit/>
          </a:bodyPr>
          <a:lstStyle/>
          <a:p>
            <a:pPr latinLnBrk="0"/>
            <a:r>
              <a:rPr lang="en-US" dirty="0"/>
              <a:t>Stallings, Table 1.2</a:t>
            </a:r>
            <a:endParaRPr lang="en-AU" dirty="0"/>
          </a:p>
        </p:txBody>
      </p:sp>
      <p:sp>
        <p:nvSpPr>
          <p:cNvPr id="3" name="TextBox 2">
            <a:extLst>
              <a:ext uri="{FF2B5EF4-FFF2-40B4-BE49-F238E27FC236}">
                <a16:creationId xmlns:a16="http://schemas.microsoft.com/office/drawing/2014/main" id="{7FAA8E02-E8B1-A8A7-E693-0BF5669C216F}"/>
              </a:ext>
            </a:extLst>
          </p:cNvPr>
          <p:cNvSpPr txBox="1"/>
          <p:nvPr/>
        </p:nvSpPr>
        <p:spPr>
          <a:xfrm>
            <a:off x="4427984" y="6434828"/>
            <a:ext cx="4392488" cy="369332"/>
          </a:xfrm>
          <a:prstGeom prst="rect">
            <a:avLst/>
          </a:prstGeom>
          <a:noFill/>
        </p:spPr>
        <p:txBody>
          <a:bodyPr wrap="square" rtlCol="0">
            <a:spAutoFit/>
          </a:bodyPr>
          <a:lstStyle/>
          <a:p>
            <a:pPr latinLnBrk="0"/>
            <a:r>
              <a:rPr lang="en-US" dirty="0"/>
              <a:t>Memorizing these terms is not required</a:t>
            </a:r>
            <a:endParaRPr lang="en-AU" dirty="0"/>
          </a:p>
        </p:txBody>
      </p:sp>
    </p:spTree>
    <p:extLst>
      <p:ext uri="{BB962C8B-B14F-4D97-AF65-F5344CB8AC3E}">
        <p14:creationId xmlns:p14="http://schemas.microsoft.com/office/powerpoint/2010/main" val="126302351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Attacks and Consequences</a:t>
            </a:r>
            <a:endParaRPr lang="en-AU" dirty="0"/>
          </a:p>
        </p:txBody>
      </p:sp>
      <p:graphicFrame>
        <p:nvGraphicFramePr>
          <p:cNvPr id="12" name="Table 6">
            <a:extLst>
              <a:ext uri="{FF2B5EF4-FFF2-40B4-BE49-F238E27FC236}">
                <a16:creationId xmlns:a16="http://schemas.microsoft.com/office/drawing/2014/main" id="{89DD5922-9B62-D081-8F0B-CC8664C8F998}"/>
              </a:ext>
            </a:extLst>
          </p:cNvPr>
          <p:cNvGraphicFramePr>
            <a:graphicFrameLocks/>
          </p:cNvGraphicFramePr>
          <p:nvPr>
            <p:extLst>
              <p:ext uri="{D42A27DB-BD31-4B8C-83A1-F6EECF244321}">
                <p14:modId xmlns:p14="http://schemas.microsoft.com/office/powerpoint/2010/main" val="658383526"/>
              </p:ext>
            </p:extLst>
          </p:nvPr>
        </p:nvGraphicFramePr>
        <p:xfrm>
          <a:off x="323528" y="1700808"/>
          <a:ext cx="8387790" cy="2656840"/>
        </p:xfrm>
        <a:graphic>
          <a:graphicData uri="http://schemas.openxmlformats.org/drawingml/2006/table">
            <a:tbl>
              <a:tblPr firstRow="1" bandRow="1">
                <a:tableStyleId>{2D5ABB26-0587-4C30-8999-92F81FD0307C}</a:tableStyleId>
              </a:tblPr>
              <a:tblGrid>
                <a:gridCol w="2578660">
                  <a:extLst>
                    <a:ext uri="{9D8B030D-6E8A-4147-A177-3AD203B41FA5}">
                      <a16:colId xmlns:a16="http://schemas.microsoft.com/office/drawing/2014/main" val="1548973457"/>
                    </a:ext>
                  </a:extLst>
                </a:gridCol>
                <a:gridCol w="5809130">
                  <a:extLst>
                    <a:ext uri="{9D8B030D-6E8A-4147-A177-3AD203B41FA5}">
                      <a16:colId xmlns:a16="http://schemas.microsoft.com/office/drawing/2014/main" val="4215703150"/>
                    </a:ext>
                  </a:extLst>
                </a:gridCol>
              </a:tblGrid>
              <a:tr h="370840">
                <a:tc>
                  <a:txBody>
                    <a:bodyPr/>
                    <a:lstStyle/>
                    <a:p>
                      <a:pPr latinLnBrk="0"/>
                      <a:r>
                        <a:rPr lang="en-US" b="1" noProof="0" dirty="0"/>
                        <a:t>Consequence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0"/>
                      <a:r>
                        <a:rPr lang="en-US" b="1" noProof="0" dirty="0"/>
                        <a:t>Attack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05889"/>
                  </a:ext>
                </a:extLst>
              </a:tr>
              <a:tr h="370840">
                <a:tc>
                  <a:txBody>
                    <a:bodyPr/>
                    <a:lstStyle/>
                    <a:p>
                      <a:pPr latinLnBrk="0"/>
                      <a:r>
                        <a:rPr lang="en-US" b="1" dirty="0"/>
                        <a:t>Deception</a:t>
                      </a:r>
                    </a:p>
                    <a:p>
                      <a:pPr latinLnBrk="0"/>
                      <a:r>
                        <a:rPr lang="en-US" dirty="0"/>
                        <a:t>An authorized entity receiving false data and believing it to be true.</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0"/>
                      <a:r>
                        <a:rPr lang="en-US" b="1" dirty="0"/>
                        <a:t>Masquerade:</a:t>
                      </a:r>
                      <a:r>
                        <a:rPr lang="en-US" dirty="0"/>
                        <a:t> An unauthorized entity gains access to a system or performs a malicious act by posing as an authorized entity.</a:t>
                      </a:r>
                    </a:p>
                    <a:p>
                      <a:pPr latinLnBrk="0"/>
                      <a:endParaRPr lang="en-US" dirty="0"/>
                    </a:p>
                    <a:p>
                      <a:pPr latinLnBrk="0"/>
                      <a:r>
                        <a:rPr lang="en-US" b="1" dirty="0"/>
                        <a:t>Falsification:</a:t>
                      </a:r>
                      <a:r>
                        <a:rPr lang="en-US" dirty="0"/>
                        <a:t> False data deceive an authorized entity.</a:t>
                      </a:r>
                    </a:p>
                    <a:p>
                      <a:pPr latinLnBrk="0"/>
                      <a:endParaRPr lang="en-US" dirty="0"/>
                    </a:p>
                    <a:p>
                      <a:pPr latinLnBrk="0"/>
                      <a:r>
                        <a:rPr lang="en-US" b="1" dirty="0"/>
                        <a:t>Repudiation:</a:t>
                      </a:r>
                      <a:r>
                        <a:rPr lang="en-US" dirty="0"/>
                        <a:t> An entity deceives another by falsely denying responsibility for an act.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49711388"/>
                  </a:ext>
                </a:extLst>
              </a:tr>
            </a:tbl>
          </a:graphicData>
        </a:graphic>
      </p:graphicFrame>
      <p:sp>
        <p:nvSpPr>
          <p:cNvPr id="3" name="TextBox 2">
            <a:extLst>
              <a:ext uri="{FF2B5EF4-FFF2-40B4-BE49-F238E27FC236}">
                <a16:creationId xmlns:a16="http://schemas.microsoft.com/office/drawing/2014/main" id="{009B34EF-D840-07FC-5C7C-1489B92F0F00}"/>
              </a:ext>
            </a:extLst>
          </p:cNvPr>
          <p:cNvSpPr txBox="1"/>
          <p:nvPr/>
        </p:nvSpPr>
        <p:spPr>
          <a:xfrm>
            <a:off x="125740" y="6434828"/>
            <a:ext cx="2142004" cy="369332"/>
          </a:xfrm>
          <a:prstGeom prst="rect">
            <a:avLst/>
          </a:prstGeom>
          <a:noFill/>
        </p:spPr>
        <p:txBody>
          <a:bodyPr wrap="square" rtlCol="0">
            <a:spAutoFit/>
          </a:bodyPr>
          <a:lstStyle/>
          <a:p>
            <a:pPr latinLnBrk="0"/>
            <a:r>
              <a:rPr lang="en-US" dirty="0"/>
              <a:t>Stallings, Table 1.2</a:t>
            </a:r>
            <a:endParaRPr lang="en-AU" dirty="0"/>
          </a:p>
        </p:txBody>
      </p:sp>
      <p:sp>
        <p:nvSpPr>
          <p:cNvPr id="4" name="TextBox 3">
            <a:extLst>
              <a:ext uri="{FF2B5EF4-FFF2-40B4-BE49-F238E27FC236}">
                <a16:creationId xmlns:a16="http://schemas.microsoft.com/office/drawing/2014/main" id="{CD2204B1-D1CF-3814-AF3A-A3570F18863F}"/>
              </a:ext>
            </a:extLst>
          </p:cNvPr>
          <p:cNvSpPr txBox="1"/>
          <p:nvPr/>
        </p:nvSpPr>
        <p:spPr>
          <a:xfrm>
            <a:off x="4427984" y="6434828"/>
            <a:ext cx="4392488" cy="369332"/>
          </a:xfrm>
          <a:prstGeom prst="rect">
            <a:avLst/>
          </a:prstGeom>
          <a:noFill/>
        </p:spPr>
        <p:txBody>
          <a:bodyPr wrap="square" rtlCol="0">
            <a:spAutoFit/>
          </a:bodyPr>
          <a:lstStyle/>
          <a:p>
            <a:pPr latinLnBrk="0"/>
            <a:r>
              <a:rPr lang="en-US" dirty="0"/>
              <a:t>Memorizing these terms is not required</a:t>
            </a:r>
            <a:endParaRPr lang="en-AU" dirty="0"/>
          </a:p>
        </p:txBody>
      </p:sp>
    </p:spTree>
    <p:extLst>
      <p:ext uri="{BB962C8B-B14F-4D97-AF65-F5344CB8AC3E}">
        <p14:creationId xmlns:p14="http://schemas.microsoft.com/office/powerpoint/2010/main" val="29211002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D470D-F1FB-F814-21BE-65DA269140BF}"/>
              </a:ext>
            </a:extLst>
          </p:cNvPr>
          <p:cNvSpPr>
            <a:spLocks noGrp="1"/>
          </p:cNvSpPr>
          <p:nvPr>
            <p:ph type="title"/>
          </p:nvPr>
        </p:nvSpPr>
        <p:spPr/>
        <p:txBody>
          <a:bodyPr/>
          <a:lstStyle/>
          <a:p>
            <a:r>
              <a:rPr lang="en-US" dirty="0"/>
              <a:t>Attacks and Consequences</a:t>
            </a:r>
            <a:endParaRPr lang="en-AU" dirty="0"/>
          </a:p>
        </p:txBody>
      </p:sp>
      <p:graphicFrame>
        <p:nvGraphicFramePr>
          <p:cNvPr id="12" name="Table 6">
            <a:extLst>
              <a:ext uri="{FF2B5EF4-FFF2-40B4-BE49-F238E27FC236}">
                <a16:creationId xmlns:a16="http://schemas.microsoft.com/office/drawing/2014/main" id="{89DD5922-9B62-D081-8F0B-CC8664C8F998}"/>
              </a:ext>
            </a:extLst>
          </p:cNvPr>
          <p:cNvGraphicFramePr>
            <a:graphicFrameLocks/>
          </p:cNvGraphicFramePr>
          <p:nvPr>
            <p:extLst>
              <p:ext uri="{D42A27DB-BD31-4B8C-83A1-F6EECF244321}">
                <p14:modId xmlns:p14="http://schemas.microsoft.com/office/powerpoint/2010/main" val="1616616134"/>
              </p:ext>
            </p:extLst>
          </p:nvPr>
        </p:nvGraphicFramePr>
        <p:xfrm>
          <a:off x="323528" y="1700808"/>
          <a:ext cx="8387790" cy="4394200"/>
        </p:xfrm>
        <a:graphic>
          <a:graphicData uri="http://schemas.openxmlformats.org/drawingml/2006/table">
            <a:tbl>
              <a:tblPr firstRow="1" bandRow="1">
                <a:tableStyleId>{2D5ABB26-0587-4C30-8999-92F81FD0307C}</a:tableStyleId>
              </a:tblPr>
              <a:tblGrid>
                <a:gridCol w="2578660">
                  <a:extLst>
                    <a:ext uri="{9D8B030D-6E8A-4147-A177-3AD203B41FA5}">
                      <a16:colId xmlns:a16="http://schemas.microsoft.com/office/drawing/2014/main" val="1548973457"/>
                    </a:ext>
                  </a:extLst>
                </a:gridCol>
                <a:gridCol w="5809130">
                  <a:extLst>
                    <a:ext uri="{9D8B030D-6E8A-4147-A177-3AD203B41FA5}">
                      <a16:colId xmlns:a16="http://schemas.microsoft.com/office/drawing/2014/main" val="4215703150"/>
                    </a:ext>
                  </a:extLst>
                </a:gridCol>
              </a:tblGrid>
              <a:tr h="370840">
                <a:tc>
                  <a:txBody>
                    <a:bodyPr/>
                    <a:lstStyle/>
                    <a:p>
                      <a:pPr latinLnBrk="0"/>
                      <a:r>
                        <a:rPr lang="en-US" b="1" noProof="0" dirty="0"/>
                        <a:t>Consequence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0"/>
                      <a:r>
                        <a:rPr lang="en-US" b="1" noProof="0" dirty="0"/>
                        <a:t>Attack</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4005889"/>
                  </a:ext>
                </a:extLst>
              </a:tr>
              <a:tr h="370840">
                <a:tc>
                  <a:txBody>
                    <a:bodyPr/>
                    <a:lstStyle/>
                    <a:p>
                      <a:pPr latinLnBrk="0"/>
                      <a:r>
                        <a:rPr lang="en-US" b="1" dirty="0"/>
                        <a:t>Disruption</a:t>
                      </a:r>
                      <a:r>
                        <a:rPr lang="en-US" dirty="0"/>
                        <a:t>.</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0"/>
                      <a:r>
                        <a:rPr lang="en-US" b="1" dirty="0"/>
                        <a:t>Incapacitation:</a:t>
                      </a:r>
                      <a:r>
                        <a:rPr lang="en-US" dirty="0"/>
                        <a:t> Prevents or interrupts system operation by disabling a system component.</a:t>
                      </a:r>
                    </a:p>
                    <a:p>
                      <a:pPr latinLnBrk="0"/>
                      <a:endParaRPr lang="en-US" dirty="0"/>
                    </a:p>
                    <a:p>
                      <a:pPr latinLnBrk="0"/>
                      <a:r>
                        <a:rPr lang="en-US" b="1" dirty="0"/>
                        <a:t>Corruption:</a:t>
                      </a:r>
                      <a:r>
                        <a:rPr lang="en-US" dirty="0"/>
                        <a:t> Undesirably alters system operation by adversely modifying system functions or data.</a:t>
                      </a:r>
                    </a:p>
                    <a:p>
                      <a:pPr latinLnBrk="0"/>
                      <a:endParaRPr lang="en-US" dirty="0"/>
                    </a:p>
                    <a:p>
                      <a:pPr latinLnBrk="0"/>
                      <a:r>
                        <a:rPr lang="en-US" b="1" dirty="0"/>
                        <a:t>Obstruction:</a:t>
                      </a:r>
                      <a:r>
                        <a:rPr lang="en-US" dirty="0"/>
                        <a:t> A threat action that interrupts delivery of system services by hindering system operation.</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3113017"/>
                  </a:ext>
                </a:extLst>
              </a:tr>
              <a:tr h="370840">
                <a:tc>
                  <a:txBody>
                    <a:bodyPr/>
                    <a:lstStyle/>
                    <a:p>
                      <a:pPr latinLnBrk="0"/>
                      <a:r>
                        <a:rPr lang="en-US" b="1" dirty="0"/>
                        <a:t>Usurpation</a:t>
                      </a:r>
                    </a:p>
                    <a:p>
                      <a:pPr latinLnBrk="0"/>
                      <a:r>
                        <a:rPr lang="en-US" b="0" dirty="0"/>
                        <a:t>An unauthorized entity taking control of system services or functions</a:t>
                      </a:r>
                      <a:endParaRPr lang="en-IN" b="0"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latinLnBrk="0"/>
                      <a:r>
                        <a:rPr lang="en-US" b="1" dirty="0"/>
                        <a:t>Misappropriation:</a:t>
                      </a:r>
                      <a:r>
                        <a:rPr lang="en-US" dirty="0"/>
                        <a:t> An entity assumes unauthorized logical or physical control of a system resource.</a:t>
                      </a:r>
                    </a:p>
                    <a:p>
                      <a:pPr latinLnBrk="0"/>
                      <a:endParaRPr lang="en-US" dirty="0"/>
                    </a:p>
                    <a:p>
                      <a:pPr latinLnBrk="0"/>
                      <a:r>
                        <a:rPr lang="en-US" b="1" dirty="0"/>
                        <a:t>Misuse:</a:t>
                      </a:r>
                      <a:r>
                        <a:rPr lang="en-US" dirty="0"/>
                        <a:t> Causes a system component to perform a function or service that is detrimental to system security.</a:t>
                      </a:r>
                      <a:endParaRPr lang="en-IN"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24788151"/>
                  </a:ext>
                </a:extLst>
              </a:tr>
            </a:tbl>
          </a:graphicData>
        </a:graphic>
      </p:graphicFrame>
      <p:sp>
        <p:nvSpPr>
          <p:cNvPr id="3" name="TextBox 2">
            <a:extLst>
              <a:ext uri="{FF2B5EF4-FFF2-40B4-BE49-F238E27FC236}">
                <a16:creationId xmlns:a16="http://schemas.microsoft.com/office/drawing/2014/main" id="{983E5E81-446D-1D75-B08E-278115486D3A}"/>
              </a:ext>
            </a:extLst>
          </p:cNvPr>
          <p:cNvSpPr txBox="1"/>
          <p:nvPr/>
        </p:nvSpPr>
        <p:spPr>
          <a:xfrm>
            <a:off x="125740" y="6434828"/>
            <a:ext cx="2142004" cy="369332"/>
          </a:xfrm>
          <a:prstGeom prst="rect">
            <a:avLst/>
          </a:prstGeom>
          <a:noFill/>
        </p:spPr>
        <p:txBody>
          <a:bodyPr wrap="square" rtlCol="0">
            <a:spAutoFit/>
          </a:bodyPr>
          <a:lstStyle/>
          <a:p>
            <a:pPr latinLnBrk="0"/>
            <a:r>
              <a:rPr lang="en-US" dirty="0"/>
              <a:t>Stallings, Table 1.2</a:t>
            </a:r>
            <a:endParaRPr lang="en-AU" dirty="0"/>
          </a:p>
        </p:txBody>
      </p:sp>
      <p:sp>
        <p:nvSpPr>
          <p:cNvPr id="4" name="TextBox 3">
            <a:extLst>
              <a:ext uri="{FF2B5EF4-FFF2-40B4-BE49-F238E27FC236}">
                <a16:creationId xmlns:a16="http://schemas.microsoft.com/office/drawing/2014/main" id="{3E198F42-EE00-73DF-0547-1F0492AE583C}"/>
              </a:ext>
            </a:extLst>
          </p:cNvPr>
          <p:cNvSpPr txBox="1"/>
          <p:nvPr/>
        </p:nvSpPr>
        <p:spPr>
          <a:xfrm>
            <a:off x="4427984" y="6434828"/>
            <a:ext cx="4392488" cy="369332"/>
          </a:xfrm>
          <a:prstGeom prst="rect">
            <a:avLst/>
          </a:prstGeom>
          <a:noFill/>
        </p:spPr>
        <p:txBody>
          <a:bodyPr wrap="square" rtlCol="0">
            <a:spAutoFit/>
          </a:bodyPr>
          <a:lstStyle/>
          <a:p>
            <a:pPr latinLnBrk="0"/>
            <a:r>
              <a:rPr lang="en-US" dirty="0"/>
              <a:t>Memorizing these terms is not required</a:t>
            </a:r>
            <a:endParaRPr lang="en-AU" dirty="0"/>
          </a:p>
        </p:txBody>
      </p:sp>
    </p:spTree>
    <p:extLst>
      <p:ext uri="{BB962C8B-B14F-4D97-AF65-F5344CB8AC3E}">
        <p14:creationId xmlns:p14="http://schemas.microsoft.com/office/powerpoint/2010/main" val="233061752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F0B5E-6E10-ED59-6D74-9B396126E42C}"/>
              </a:ext>
            </a:extLst>
          </p:cNvPr>
          <p:cNvSpPr>
            <a:spLocks noGrp="1"/>
          </p:cNvSpPr>
          <p:nvPr>
            <p:ph type="title"/>
          </p:nvPr>
        </p:nvSpPr>
        <p:spPr/>
        <p:txBody>
          <a:bodyPr/>
          <a:lstStyle/>
          <a:p>
            <a:r>
              <a:rPr lang="en-US" dirty="0"/>
              <a:t>Causes of Insufficient Security</a:t>
            </a:r>
            <a:endParaRPr lang="en-AU" dirty="0"/>
          </a:p>
        </p:txBody>
      </p:sp>
      <p:sp>
        <p:nvSpPr>
          <p:cNvPr id="3" name="Content Placeholder 2">
            <a:extLst>
              <a:ext uri="{FF2B5EF4-FFF2-40B4-BE49-F238E27FC236}">
                <a16:creationId xmlns:a16="http://schemas.microsoft.com/office/drawing/2014/main" id="{93B238AF-3F4F-CB51-5B2F-FD3808444291}"/>
              </a:ext>
            </a:extLst>
          </p:cNvPr>
          <p:cNvSpPr>
            <a:spLocks noGrp="1"/>
          </p:cNvSpPr>
          <p:nvPr>
            <p:ph sz="quarter" idx="11"/>
          </p:nvPr>
        </p:nvSpPr>
        <p:spPr/>
        <p:txBody>
          <a:bodyPr/>
          <a:lstStyle/>
          <a:p>
            <a:r>
              <a:rPr lang="en-US" sz="2800" dirty="0"/>
              <a:t>Networks are insecure: (most) communications are made in clear</a:t>
            </a:r>
          </a:p>
          <a:p>
            <a:r>
              <a:rPr lang="en-AU" sz="2800" dirty="0"/>
              <a:t>LANs operate in broadcast</a:t>
            </a:r>
          </a:p>
          <a:p>
            <a:r>
              <a:rPr lang="en-US" sz="2800" dirty="0"/>
              <a:t>Geographical connections are not made through end-to-end dedicated lines but:</a:t>
            </a:r>
          </a:p>
          <a:p>
            <a:pPr lvl="1"/>
            <a:r>
              <a:rPr lang="en-US" sz="2400" dirty="0"/>
              <a:t>through shared lines</a:t>
            </a:r>
          </a:p>
          <a:p>
            <a:pPr lvl="1"/>
            <a:r>
              <a:rPr lang="en-US" sz="2400" dirty="0"/>
              <a:t>through third-party routers</a:t>
            </a:r>
          </a:p>
          <a:p>
            <a:pPr lvl="1"/>
            <a:r>
              <a:rPr lang="en-US" sz="2400" dirty="0"/>
              <a:t>weak user authentication (normally password-based)</a:t>
            </a:r>
          </a:p>
          <a:p>
            <a:r>
              <a:rPr lang="en-US" sz="2800" dirty="0"/>
              <a:t>Software is not sufficiently tested, bugs and weaknesses remain</a:t>
            </a:r>
          </a:p>
          <a:p>
            <a:pPr lvl="1"/>
            <a:endParaRPr lang="en-US" sz="2400" dirty="0"/>
          </a:p>
          <a:p>
            <a:endParaRPr lang="en-AU" sz="2800" dirty="0"/>
          </a:p>
        </p:txBody>
      </p:sp>
    </p:spTree>
    <p:extLst>
      <p:ext uri="{BB962C8B-B14F-4D97-AF65-F5344CB8AC3E}">
        <p14:creationId xmlns:p14="http://schemas.microsoft.com/office/powerpoint/2010/main" val="382268777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F0B5E-6E10-ED59-6D74-9B396126E42C}"/>
              </a:ext>
            </a:extLst>
          </p:cNvPr>
          <p:cNvSpPr>
            <a:spLocks noGrp="1"/>
          </p:cNvSpPr>
          <p:nvPr>
            <p:ph type="title"/>
          </p:nvPr>
        </p:nvSpPr>
        <p:spPr/>
        <p:txBody>
          <a:bodyPr/>
          <a:lstStyle/>
          <a:p>
            <a:r>
              <a:rPr lang="en-US" dirty="0"/>
              <a:t>Causes of Insufficient Security</a:t>
            </a:r>
            <a:endParaRPr lang="en-AU" dirty="0"/>
          </a:p>
        </p:txBody>
      </p:sp>
      <p:sp>
        <p:nvSpPr>
          <p:cNvPr id="3" name="Content Placeholder 2">
            <a:extLst>
              <a:ext uri="{FF2B5EF4-FFF2-40B4-BE49-F238E27FC236}">
                <a16:creationId xmlns:a16="http://schemas.microsoft.com/office/drawing/2014/main" id="{93B238AF-3F4F-CB51-5B2F-FD3808444291}"/>
              </a:ext>
            </a:extLst>
          </p:cNvPr>
          <p:cNvSpPr>
            <a:spLocks noGrp="1"/>
          </p:cNvSpPr>
          <p:nvPr>
            <p:ph sz="quarter" idx="11"/>
          </p:nvPr>
        </p:nvSpPr>
        <p:spPr/>
        <p:txBody>
          <a:bodyPr/>
          <a:lstStyle/>
          <a:p>
            <a:pPr marL="0" indent="0">
              <a:buNone/>
            </a:pPr>
            <a:r>
              <a:rPr lang="en-US" sz="2600" dirty="0"/>
              <a:t>Weakest link in the chain: </a:t>
            </a:r>
            <a:r>
              <a:rPr lang="en-US" sz="2600" b="1" dirty="0"/>
              <a:t>Human beings</a:t>
            </a:r>
          </a:p>
          <a:p>
            <a:r>
              <a:rPr lang="en-US" sz="2600" dirty="0"/>
              <a:t>Low problem understanding (awareness)</a:t>
            </a:r>
          </a:p>
          <a:p>
            <a:r>
              <a:rPr lang="en-US" sz="2600" dirty="0"/>
              <a:t>Making mistakes when overloaded, stressed etc.</a:t>
            </a:r>
          </a:p>
          <a:p>
            <a:r>
              <a:rPr lang="en-US" sz="2600" dirty="0"/>
              <a:t>Natural tendency to trust</a:t>
            </a:r>
          </a:p>
          <a:p>
            <a:r>
              <a:rPr lang="en-US" sz="2600" dirty="0"/>
              <a:t>Complex interfaces/architectures can annoy or mislead the user and originate erroneous behaviors</a:t>
            </a:r>
          </a:p>
          <a:p>
            <a:r>
              <a:rPr lang="en-US" sz="2600" dirty="0"/>
              <a:t>Naive users are an easy target (e.g. “change your password immediately with the following one, because your PC is under attack”) ...</a:t>
            </a:r>
          </a:p>
          <a:p>
            <a:r>
              <a:rPr lang="en-US" sz="2600" dirty="0"/>
              <a:t>…but experienced users are targeted too</a:t>
            </a:r>
          </a:p>
          <a:p>
            <a:pPr lvl="1"/>
            <a:endParaRPr lang="en-US" sz="2600" dirty="0"/>
          </a:p>
          <a:p>
            <a:endParaRPr lang="en-AU" sz="2600" dirty="0"/>
          </a:p>
        </p:txBody>
      </p:sp>
    </p:spTree>
    <p:extLst>
      <p:ext uri="{BB962C8B-B14F-4D97-AF65-F5344CB8AC3E}">
        <p14:creationId xmlns:p14="http://schemas.microsoft.com/office/powerpoint/2010/main" val="6520308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F0B5E-6E10-ED59-6D74-9B396126E42C}"/>
              </a:ext>
            </a:extLst>
          </p:cNvPr>
          <p:cNvSpPr>
            <a:spLocks noGrp="1"/>
          </p:cNvSpPr>
          <p:nvPr>
            <p:ph type="title"/>
          </p:nvPr>
        </p:nvSpPr>
        <p:spPr/>
        <p:txBody>
          <a:bodyPr/>
          <a:lstStyle/>
          <a:p>
            <a:r>
              <a:rPr lang="en-US" dirty="0"/>
              <a:t>Causes of Insufficient Security</a:t>
            </a:r>
            <a:endParaRPr lang="en-AU" dirty="0"/>
          </a:p>
        </p:txBody>
      </p:sp>
      <p:sp>
        <p:nvSpPr>
          <p:cNvPr id="3" name="Content Placeholder 2">
            <a:extLst>
              <a:ext uri="{FF2B5EF4-FFF2-40B4-BE49-F238E27FC236}">
                <a16:creationId xmlns:a16="http://schemas.microsoft.com/office/drawing/2014/main" id="{93B238AF-3F4F-CB51-5B2F-FD3808444291}"/>
              </a:ext>
            </a:extLst>
          </p:cNvPr>
          <p:cNvSpPr>
            <a:spLocks noGrp="1"/>
          </p:cNvSpPr>
          <p:nvPr>
            <p:ph sz="quarter" idx="11"/>
          </p:nvPr>
        </p:nvSpPr>
        <p:spPr/>
        <p:txBody>
          <a:bodyPr/>
          <a:lstStyle/>
          <a:p>
            <a:pPr algn="just"/>
            <a:r>
              <a:rPr lang="en-US" sz="2400" dirty="0"/>
              <a:t>“</a:t>
            </a:r>
            <a:r>
              <a:rPr lang="en-US" sz="2400" dirty="0">
                <a:solidFill>
                  <a:srgbClr val="FF0000"/>
                </a:solidFill>
              </a:rPr>
              <a:t>Defensive strategies </a:t>
            </a:r>
            <a:r>
              <a:rPr lang="en-US" sz="2400" dirty="0"/>
              <a:t>are reactionary”</a:t>
            </a:r>
          </a:p>
          <a:p>
            <a:pPr algn="just"/>
            <a:r>
              <a:rPr lang="en-US" sz="2400" dirty="0"/>
              <a:t>“Thousands - perhaps millions - of </a:t>
            </a:r>
            <a:r>
              <a:rPr lang="en-US" sz="2400" dirty="0">
                <a:solidFill>
                  <a:srgbClr val="FF0000"/>
                </a:solidFill>
              </a:rPr>
              <a:t>system with weak security</a:t>
            </a:r>
            <a:r>
              <a:rPr lang="en-US" sz="2400" dirty="0"/>
              <a:t> are connected to the Internet”</a:t>
            </a:r>
          </a:p>
          <a:p>
            <a:pPr algn="just"/>
            <a:r>
              <a:rPr lang="en-US" sz="2400" dirty="0"/>
              <a:t>“Increasingly complex software is being written by </a:t>
            </a:r>
            <a:r>
              <a:rPr lang="en-US" sz="2400" dirty="0">
                <a:solidFill>
                  <a:srgbClr val="FF0000"/>
                </a:solidFill>
              </a:rPr>
              <a:t>programmers who have no training in writing </a:t>
            </a:r>
            <a:r>
              <a:rPr lang="en-US" sz="2400" u="sng" dirty="0">
                <a:solidFill>
                  <a:srgbClr val="FF0000"/>
                </a:solidFill>
              </a:rPr>
              <a:t>secure code</a:t>
            </a:r>
            <a:r>
              <a:rPr lang="en-US" sz="2400" dirty="0"/>
              <a:t>”</a:t>
            </a:r>
          </a:p>
          <a:p>
            <a:pPr algn="just"/>
            <a:r>
              <a:rPr lang="en-US" sz="2400" dirty="0"/>
              <a:t>“Attacks and attack tools transcend </a:t>
            </a:r>
            <a:r>
              <a:rPr lang="en-US" sz="2400" dirty="0">
                <a:solidFill>
                  <a:srgbClr val="FF0000"/>
                </a:solidFill>
              </a:rPr>
              <a:t>geography and national boundaries</a:t>
            </a:r>
            <a:r>
              <a:rPr lang="en-US" sz="2400" dirty="0"/>
              <a:t>”</a:t>
            </a:r>
          </a:p>
          <a:p>
            <a:pPr algn="just"/>
            <a:r>
              <a:rPr lang="en-US" sz="2400" dirty="0"/>
              <a:t>“The difficulty of criminal investigation of cybercrime coupled with the complexity of </a:t>
            </a:r>
            <a:r>
              <a:rPr lang="en-US" sz="2400" dirty="0">
                <a:solidFill>
                  <a:srgbClr val="FF0000"/>
                </a:solidFill>
              </a:rPr>
              <a:t>international law </a:t>
            </a:r>
            <a:r>
              <a:rPr lang="en-US" sz="2400" dirty="0"/>
              <a:t>means that prosecution of computer crime is unlikely”</a:t>
            </a:r>
            <a:endParaRPr lang="en-US" sz="2800" dirty="0"/>
          </a:p>
          <a:p>
            <a:endParaRPr lang="en-AU" dirty="0"/>
          </a:p>
        </p:txBody>
      </p:sp>
    </p:spTree>
    <p:extLst>
      <p:ext uri="{BB962C8B-B14F-4D97-AF65-F5344CB8AC3E}">
        <p14:creationId xmlns:p14="http://schemas.microsoft.com/office/powerpoint/2010/main" val="42858737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Design Principles</a:t>
            </a:r>
          </a:p>
        </p:txBody>
      </p:sp>
      <p:sp>
        <p:nvSpPr>
          <p:cNvPr id="3" name="Content Placeholder 2"/>
          <p:cNvSpPr>
            <a:spLocks noGrp="1"/>
          </p:cNvSpPr>
          <p:nvPr>
            <p:ph sz="quarter" idx="11"/>
          </p:nvPr>
        </p:nvSpPr>
        <p:spPr/>
        <p:txBody>
          <a:bodyPr/>
          <a:lstStyle/>
          <a:p>
            <a:pPr marL="0" indent="0">
              <a:buNone/>
            </a:pPr>
            <a:r>
              <a:rPr lang="en-US" sz="2400" dirty="0"/>
              <a:t>Principles of ….</a:t>
            </a:r>
          </a:p>
          <a:p>
            <a:pPr marL="914400" lvl="1" indent="-457200">
              <a:lnSpc>
                <a:spcPct val="120000"/>
              </a:lnSpc>
              <a:buFont typeface="+mj-lt"/>
              <a:buAutoNum type="arabicPeriod"/>
            </a:pPr>
            <a:r>
              <a:rPr lang="en-US" sz="2000" dirty="0"/>
              <a:t>Least Privilege</a:t>
            </a:r>
          </a:p>
          <a:p>
            <a:pPr marL="914400" lvl="1" indent="-457200">
              <a:lnSpc>
                <a:spcPct val="120000"/>
              </a:lnSpc>
              <a:buFont typeface="+mj-lt"/>
              <a:buAutoNum type="arabicPeriod"/>
            </a:pPr>
            <a:r>
              <a:rPr lang="en-US" sz="2000" dirty="0"/>
              <a:t>Separation of privilege</a:t>
            </a:r>
          </a:p>
          <a:p>
            <a:pPr marL="914400" lvl="1" indent="-457200">
              <a:lnSpc>
                <a:spcPct val="120000"/>
              </a:lnSpc>
              <a:buFont typeface="+mj-lt"/>
              <a:buAutoNum type="arabicPeriod"/>
            </a:pPr>
            <a:r>
              <a:rPr lang="en-US" sz="2000" dirty="0"/>
              <a:t>Fail-safe defaults</a:t>
            </a:r>
          </a:p>
          <a:p>
            <a:pPr marL="914400" lvl="1" indent="-457200">
              <a:lnSpc>
                <a:spcPct val="120000"/>
              </a:lnSpc>
              <a:buFont typeface="+mj-lt"/>
              <a:buAutoNum type="arabicPeriod"/>
            </a:pPr>
            <a:r>
              <a:rPr lang="en-US" sz="2000" dirty="0"/>
              <a:t>Complete mediation</a:t>
            </a:r>
          </a:p>
          <a:p>
            <a:pPr marL="914400" lvl="1" indent="-457200">
              <a:lnSpc>
                <a:spcPct val="120000"/>
              </a:lnSpc>
              <a:buFont typeface="+mj-lt"/>
              <a:buAutoNum type="arabicPeriod"/>
            </a:pPr>
            <a:r>
              <a:rPr lang="en-US" sz="2000" dirty="0"/>
              <a:t>Open design</a:t>
            </a:r>
          </a:p>
          <a:p>
            <a:pPr marL="914400" lvl="1" indent="-457200">
              <a:lnSpc>
                <a:spcPct val="120000"/>
              </a:lnSpc>
              <a:buFont typeface="+mj-lt"/>
              <a:buAutoNum type="arabicPeriod"/>
            </a:pPr>
            <a:r>
              <a:rPr lang="en-US" sz="2000" dirty="0"/>
              <a:t>Economy of mechanism</a:t>
            </a:r>
          </a:p>
          <a:p>
            <a:pPr marL="914400" lvl="1" indent="-457200">
              <a:lnSpc>
                <a:spcPct val="120000"/>
              </a:lnSpc>
              <a:buFont typeface="+mj-lt"/>
              <a:buAutoNum type="arabicPeriod"/>
            </a:pPr>
            <a:r>
              <a:rPr lang="en-US" sz="2000" dirty="0"/>
              <a:t>Least Common Mechanism</a:t>
            </a:r>
          </a:p>
          <a:p>
            <a:pPr marL="914400" lvl="1" indent="-457200">
              <a:lnSpc>
                <a:spcPct val="120000"/>
              </a:lnSpc>
              <a:buFont typeface="+mj-lt"/>
              <a:buAutoNum type="arabicPeriod"/>
            </a:pPr>
            <a:r>
              <a:rPr lang="en-US" sz="2000" dirty="0"/>
              <a:t>Psychological acceptability</a:t>
            </a:r>
          </a:p>
        </p:txBody>
      </p:sp>
      <p:sp>
        <p:nvSpPr>
          <p:cNvPr id="5" name="TextBox 4">
            <a:extLst>
              <a:ext uri="{FF2B5EF4-FFF2-40B4-BE49-F238E27FC236}">
                <a16:creationId xmlns:a16="http://schemas.microsoft.com/office/drawing/2014/main" id="{3FB433FC-31DF-F86D-37D7-8EA91E79EB4B}"/>
              </a:ext>
            </a:extLst>
          </p:cNvPr>
          <p:cNvSpPr txBox="1"/>
          <p:nvPr/>
        </p:nvSpPr>
        <p:spPr>
          <a:xfrm>
            <a:off x="5292080" y="2636912"/>
            <a:ext cx="3672408" cy="2386359"/>
          </a:xfrm>
          <a:prstGeom prst="rect">
            <a:avLst/>
          </a:prstGeom>
          <a:noFill/>
        </p:spPr>
        <p:txBody>
          <a:bodyPr wrap="square">
            <a:spAutoFit/>
          </a:bodyPr>
          <a:lstStyle/>
          <a:p>
            <a:pPr marL="57150" indent="0" latinLnBrk="0">
              <a:lnSpc>
                <a:spcPct val="120000"/>
              </a:lnSpc>
              <a:buNone/>
            </a:pPr>
            <a:r>
              <a:rPr lang="en-US" sz="1800" dirty="0"/>
              <a:t>These were initially proposed by J. </a:t>
            </a:r>
            <a:r>
              <a:rPr lang="en-US" sz="1800" dirty="0" err="1"/>
              <a:t>Saltzer</a:t>
            </a:r>
            <a:r>
              <a:rPr lang="en-US" sz="1800" dirty="0"/>
              <a:t> and M. Schroeder in “The Protection of Information in Computer Systems” (1975). Although proposed a long time ago, these principles and have withstood the test of time.</a:t>
            </a:r>
          </a:p>
        </p:txBody>
      </p:sp>
    </p:spTree>
    <p:extLst>
      <p:ext uri="{BB962C8B-B14F-4D97-AF65-F5344CB8AC3E}">
        <p14:creationId xmlns:p14="http://schemas.microsoft.com/office/powerpoint/2010/main" val="147393769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privilege</a:t>
            </a:r>
          </a:p>
        </p:txBody>
      </p:sp>
      <p:sp>
        <p:nvSpPr>
          <p:cNvPr id="3" name="Content Placeholder 2"/>
          <p:cNvSpPr>
            <a:spLocks noGrp="1"/>
          </p:cNvSpPr>
          <p:nvPr>
            <p:ph sz="quarter" idx="11"/>
          </p:nvPr>
        </p:nvSpPr>
        <p:spPr>
          <a:xfrm>
            <a:off x="467544" y="1560612"/>
            <a:ext cx="8229600" cy="4892724"/>
          </a:xfrm>
        </p:spPr>
        <p:txBody>
          <a:bodyPr>
            <a:normAutofit/>
          </a:bodyPr>
          <a:lstStyle/>
          <a:p>
            <a:pPr algn="just"/>
            <a:r>
              <a:rPr lang="en-US" dirty="0"/>
              <a:t>Provide bare minimum privileges to a program or user to function properly</a:t>
            </a:r>
          </a:p>
          <a:p>
            <a:pPr algn="just"/>
            <a:r>
              <a:rPr lang="en-US" dirty="0"/>
              <a:t>Temporary elevation should be relinquished immediately</a:t>
            </a:r>
          </a:p>
          <a:p>
            <a:pPr algn="just"/>
            <a:endParaRPr lang="en-US" dirty="0"/>
          </a:p>
          <a:p>
            <a:pPr marL="0" indent="0" algn="just">
              <a:buNone/>
            </a:pPr>
            <a:r>
              <a:rPr lang="en-US" sz="2800" dirty="0"/>
              <a:t>Advantage</a:t>
            </a:r>
          </a:p>
          <a:p>
            <a:pPr algn="just"/>
            <a:r>
              <a:rPr lang="en-US" sz="2800" dirty="0"/>
              <a:t>Abuse of privileges is restricted </a:t>
            </a:r>
          </a:p>
          <a:p>
            <a:pPr algn="just"/>
            <a:r>
              <a:rPr lang="en-US" sz="2800" dirty="0"/>
              <a:t>Damage caused by the compromised user or application is reduced</a:t>
            </a:r>
          </a:p>
        </p:txBody>
      </p:sp>
    </p:spTree>
    <p:extLst>
      <p:ext uri="{BB962C8B-B14F-4D97-AF65-F5344CB8AC3E}">
        <p14:creationId xmlns:p14="http://schemas.microsoft.com/office/powerpoint/2010/main" val="375759846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Separation of Privilege	</a:t>
            </a:r>
          </a:p>
        </p:txBody>
      </p:sp>
      <p:sp>
        <p:nvSpPr>
          <p:cNvPr id="3" name="Content Placeholder 2"/>
          <p:cNvSpPr>
            <a:spLocks noGrp="1"/>
          </p:cNvSpPr>
          <p:nvPr>
            <p:ph sz="quarter" idx="11"/>
          </p:nvPr>
        </p:nvSpPr>
        <p:spPr/>
        <p:txBody>
          <a:bodyPr>
            <a:normAutofit lnSpcReduction="10000"/>
          </a:bodyPr>
          <a:lstStyle/>
          <a:p>
            <a:pPr algn="just"/>
            <a:r>
              <a:rPr lang="en-US" dirty="0"/>
              <a:t>Access should not be granted based on single condition</a:t>
            </a:r>
          </a:p>
          <a:p>
            <a:pPr algn="just"/>
            <a:r>
              <a:rPr lang="en-US" dirty="0"/>
              <a:t>Multiple conditions should be required to achieve access to restricted resources</a:t>
            </a:r>
          </a:p>
          <a:p>
            <a:pPr algn="just"/>
            <a:endParaRPr lang="en-US" dirty="0"/>
          </a:p>
          <a:p>
            <a:pPr marL="0" indent="0" algn="just">
              <a:buNone/>
            </a:pPr>
            <a:r>
              <a:rPr lang="en-US" sz="2800" dirty="0"/>
              <a:t>Examples:</a:t>
            </a:r>
          </a:p>
          <a:p>
            <a:pPr algn="just"/>
            <a:r>
              <a:rPr lang="en-US" sz="2800" dirty="0"/>
              <a:t>Two persons to sign checks</a:t>
            </a:r>
          </a:p>
          <a:p>
            <a:pPr algn="just"/>
            <a:r>
              <a:rPr lang="en-US" sz="2800" dirty="0"/>
              <a:t>Password login + OTC to perform financial transactions</a:t>
            </a:r>
          </a:p>
        </p:txBody>
      </p:sp>
    </p:spTree>
    <p:extLst>
      <p:ext uri="{BB962C8B-B14F-4D97-AF65-F5344CB8AC3E}">
        <p14:creationId xmlns:p14="http://schemas.microsoft.com/office/powerpoint/2010/main" val="38190111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Fail-safe defaults</a:t>
            </a:r>
          </a:p>
        </p:txBody>
      </p:sp>
      <p:sp>
        <p:nvSpPr>
          <p:cNvPr id="3" name="Content Placeholder 2"/>
          <p:cNvSpPr>
            <a:spLocks noGrp="1"/>
          </p:cNvSpPr>
          <p:nvPr>
            <p:ph sz="quarter" idx="11"/>
          </p:nvPr>
        </p:nvSpPr>
        <p:spPr/>
        <p:txBody>
          <a:bodyPr/>
          <a:lstStyle/>
          <a:p>
            <a:pPr algn="just"/>
            <a:r>
              <a:rPr lang="en-US" dirty="0"/>
              <a:t>The default configuration of a system should have a conservative approach…</a:t>
            </a:r>
          </a:p>
          <a:p>
            <a:pPr lvl="1" algn="just"/>
            <a:r>
              <a:rPr lang="en-US" sz="2400" dirty="0"/>
              <a:t>Default access to an object is none</a:t>
            </a:r>
          </a:p>
          <a:p>
            <a:pPr lvl="1" algn="just"/>
            <a:r>
              <a:rPr lang="en-US" sz="2400" dirty="0"/>
              <a:t>Explicit access to an object should be given</a:t>
            </a:r>
          </a:p>
          <a:p>
            <a:pPr lvl="1" algn="just"/>
            <a:endParaRPr lang="en-US" sz="2400" dirty="0"/>
          </a:p>
          <a:p>
            <a:pPr marL="0" indent="0" algn="just">
              <a:buNone/>
            </a:pPr>
            <a:r>
              <a:rPr lang="en-US" dirty="0"/>
              <a:t>Examples</a:t>
            </a:r>
          </a:p>
          <a:p>
            <a:pPr lvl="1" algn="just"/>
            <a:r>
              <a:rPr lang="en-US" sz="2400" dirty="0"/>
              <a:t>Access Control Lists</a:t>
            </a:r>
          </a:p>
          <a:p>
            <a:pPr lvl="1" algn="just"/>
            <a:r>
              <a:rPr lang="en-US" sz="2400" dirty="0"/>
              <a:t>Firewall rules</a:t>
            </a:r>
          </a:p>
          <a:p>
            <a:pPr lvl="1" algn="just"/>
            <a:endParaRPr lang="en-US" sz="2400" dirty="0"/>
          </a:p>
        </p:txBody>
      </p:sp>
    </p:spTree>
    <p:extLst>
      <p:ext uri="{BB962C8B-B14F-4D97-AF65-F5344CB8AC3E}">
        <p14:creationId xmlns:p14="http://schemas.microsoft.com/office/powerpoint/2010/main" val="41269210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Complete mediation</a:t>
            </a:r>
          </a:p>
        </p:txBody>
      </p:sp>
      <p:sp>
        <p:nvSpPr>
          <p:cNvPr id="3" name="Content Placeholder 2"/>
          <p:cNvSpPr>
            <a:spLocks noGrp="1"/>
          </p:cNvSpPr>
          <p:nvPr>
            <p:ph sz="quarter" idx="11"/>
          </p:nvPr>
        </p:nvSpPr>
        <p:spPr>
          <a:xfrm>
            <a:off x="467544" y="1560612"/>
            <a:ext cx="8229600" cy="4892724"/>
          </a:xfrm>
        </p:spPr>
        <p:txBody>
          <a:bodyPr>
            <a:normAutofit/>
          </a:bodyPr>
          <a:lstStyle/>
          <a:p>
            <a:r>
              <a:rPr lang="en-US" dirty="0"/>
              <a:t>Instead of one-time check, every access to a resource must be checked for compliance with a protection scheme</a:t>
            </a:r>
          </a:p>
          <a:p>
            <a:r>
              <a:rPr lang="en-US" dirty="0"/>
              <a:t>Do not rely on caching of access information</a:t>
            </a:r>
          </a:p>
          <a:p>
            <a:endParaRPr lang="en-US" dirty="0"/>
          </a:p>
          <a:p>
            <a:r>
              <a:rPr lang="en-US" dirty="0"/>
              <a:t>Creates security vs performance dilemma</a:t>
            </a:r>
          </a:p>
        </p:txBody>
      </p:sp>
    </p:spTree>
    <p:extLst>
      <p:ext uri="{BB962C8B-B14F-4D97-AF65-F5344CB8AC3E}">
        <p14:creationId xmlns:p14="http://schemas.microsoft.com/office/powerpoint/2010/main" val="54440483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Open design</a:t>
            </a:r>
          </a:p>
        </p:txBody>
      </p:sp>
      <p:sp>
        <p:nvSpPr>
          <p:cNvPr id="3" name="Content Placeholder 2"/>
          <p:cNvSpPr>
            <a:spLocks noGrp="1"/>
          </p:cNvSpPr>
          <p:nvPr>
            <p:ph sz="quarter" idx="11"/>
          </p:nvPr>
        </p:nvSpPr>
        <p:spPr>
          <a:xfrm>
            <a:off x="467544" y="1560612"/>
            <a:ext cx="8229600" cy="4892724"/>
          </a:xfrm>
        </p:spPr>
        <p:txBody>
          <a:bodyPr>
            <a:normAutofit/>
          </a:bodyPr>
          <a:lstStyle/>
          <a:p>
            <a:r>
              <a:rPr lang="en-US" dirty="0"/>
              <a:t>Design of a security mechanism should be open rather than secret</a:t>
            </a:r>
          </a:p>
          <a:p>
            <a:r>
              <a:rPr lang="en-US" dirty="0"/>
              <a:t>Open design can be reviewed by many experts, their feedback helps in improving it.</a:t>
            </a:r>
          </a:p>
          <a:p>
            <a:endParaRPr lang="en-US" dirty="0"/>
          </a:p>
          <a:p>
            <a:pPr marL="0" indent="0">
              <a:buNone/>
            </a:pPr>
            <a:r>
              <a:rPr lang="en-US" sz="2800" dirty="0"/>
              <a:t>Examples:</a:t>
            </a:r>
          </a:p>
          <a:p>
            <a:r>
              <a:rPr lang="en-US" sz="2800" dirty="0"/>
              <a:t>Encryption algorithms, Network security protocols</a:t>
            </a:r>
          </a:p>
        </p:txBody>
      </p:sp>
    </p:spTree>
    <p:extLst>
      <p:ext uri="{BB962C8B-B14F-4D97-AF65-F5344CB8AC3E}">
        <p14:creationId xmlns:p14="http://schemas.microsoft.com/office/powerpoint/2010/main" val="203029376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Economy of mechanism</a:t>
            </a:r>
          </a:p>
        </p:txBody>
      </p:sp>
      <p:sp>
        <p:nvSpPr>
          <p:cNvPr id="3" name="Content Placeholder 2"/>
          <p:cNvSpPr>
            <a:spLocks noGrp="1"/>
          </p:cNvSpPr>
          <p:nvPr>
            <p:ph sz="quarter" idx="11"/>
          </p:nvPr>
        </p:nvSpPr>
        <p:spPr/>
        <p:txBody>
          <a:bodyPr/>
          <a:lstStyle/>
          <a:p>
            <a:r>
              <a:rPr lang="en-US" dirty="0"/>
              <a:t>Aim for simplicity in design and implementation of security measures</a:t>
            </a:r>
          </a:p>
          <a:p>
            <a:r>
              <a:rPr lang="en-US" dirty="0"/>
              <a:t>A simple secure framework provides…</a:t>
            </a:r>
          </a:p>
          <a:p>
            <a:pPr lvl="1"/>
            <a:r>
              <a:rPr lang="en-US" sz="2400" dirty="0"/>
              <a:t>Fewer errors</a:t>
            </a:r>
          </a:p>
          <a:p>
            <a:pPr lvl="1"/>
            <a:r>
              <a:rPr lang="en-US" sz="2400" dirty="0"/>
              <a:t>Development, testing and verification of security measures is easy</a:t>
            </a:r>
          </a:p>
          <a:p>
            <a:pPr lvl="1"/>
            <a:r>
              <a:rPr lang="en-US" sz="2400" dirty="0"/>
              <a:t>Less assumptions</a:t>
            </a:r>
          </a:p>
        </p:txBody>
      </p:sp>
    </p:spTree>
    <p:extLst>
      <p:ext uri="{BB962C8B-B14F-4D97-AF65-F5344CB8AC3E}">
        <p14:creationId xmlns:p14="http://schemas.microsoft.com/office/powerpoint/2010/main" val="128760062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Psychological acceptability</a:t>
            </a:r>
            <a:endParaRPr lang="en-US" dirty="0"/>
          </a:p>
        </p:txBody>
      </p:sp>
      <p:sp>
        <p:nvSpPr>
          <p:cNvPr id="3" name="Content Placeholder 2"/>
          <p:cNvSpPr>
            <a:spLocks noGrp="1"/>
          </p:cNvSpPr>
          <p:nvPr>
            <p:ph sz="quarter" idx="11"/>
          </p:nvPr>
        </p:nvSpPr>
        <p:spPr/>
        <p:txBody>
          <a:bodyPr/>
          <a:lstStyle/>
          <a:p>
            <a:pPr algn="just"/>
            <a:r>
              <a:rPr lang="en-US" dirty="0"/>
              <a:t>Security mechanism should not make the resources difficult to access</a:t>
            </a:r>
          </a:p>
          <a:p>
            <a:pPr algn="just"/>
            <a:endParaRPr lang="en-US" dirty="0"/>
          </a:p>
          <a:p>
            <a:pPr algn="just"/>
            <a:r>
              <a:rPr lang="en-US" dirty="0"/>
              <a:t>User interface should be well designed and intuitive</a:t>
            </a:r>
          </a:p>
          <a:p>
            <a:pPr algn="just"/>
            <a:endParaRPr lang="en-US" dirty="0"/>
          </a:p>
          <a:p>
            <a:pPr algn="just"/>
            <a:r>
              <a:rPr lang="en-US" dirty="0"/>
              <a:t>Security related setting should consider the expectation of ordinary users</a:t>
            </a:r>
          </a:p>
        </p:txBody>
      </p:sp>
    </p:spTree>
    <p:extLst>
      <p:ext uri="{BB962C8B-B14F-4D97-AF65-F5344CB8AC3E}">
        <p14:creationId xmlns:p14="http://schemas.microsoft.com/office/powerpoint/2010/main" val="11756923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Least common mechanism	</a:t>
            </a:r>
          </a:p>
        </p:txBody>
      </p:sp>
      <p:sp>
        <p:nvSpPr>
          <p:cNvPr id="3" name="Content Placeholder 2"/>
          <p:cNvSpPr>
            <a:spLocks noGrp="1"/>
          </p:cNvSpPr>
          <p:nvPr>
            <p:ph sz="quarter" idx="11"/>
          </p:nvPr>
        </p:nvSpPr>
        <p:spPr/>
        <p:txBody>
          <a:bodyPr/>
          <a:lstStyle/>
          <a:p>
            <a:r>
              <a:rPr lang="en-US" dirty="0"/>
              <a:t>Minimize mechanisms (or shared variables) common to more than one user and depended on by all users.</a:t>
            </a:r>
          </a:p>
          <a:p>
            <a:r>
              <a:rPr lang="en-US" dirty="0"/>
              <a:t>Shared mechanisms create possibilities of</a:t>
            </a:r>
          </a:p>
          <a:p>
            <a:pPr lvl="1"/>
            <a:r>
              <a:rPr lang="en-US" dirty="0"/>
              <a:t>Transmitting secret data (covert channels)</a:t>
            </a:r>
          </a:p>
          <a:p>
            <a:pPr lvl="1"/>
            <a:r>
              <a:rPr lang="en-US" dirty="0"/>
              <a:t>Limiting availability (attack on one service impacts others)</a:t>
            </a:r>
          </a:p>
          <a:p>
            <a:r>
              <a:rPr lang="en-US" dirty="0"/>
              <a:t>This principle recommends “isolation” (e.g. virtual machines, sandboxes)</a:t>
            </a:r>
          </a:p>
          <a:p>
            <a:endParaRPr lang="en-US" dirty="0"/>
          </a:p>
        </p:txBody>
      </p:sp>
    </p:spTree>
    <p:extLst>
      <p:ext uri="{BB962C8B-B14F-4D97-AF65-F5344CB8AC3E}">
        <p14:creationId xmlns:p14="http://schemas.microsoft.com/office/powerpoint/2010/main" val="265096070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E8DD-1C17-A507-E271-E95D0B85B0E8}"/>
              </a:ext>
            </a:extLst>
          </p:cNvPr>
          <p:cNvSpPr>
            <a:spLocks noGrp="1"/>
          </p:cNvSpPr>
          <p:nvPr>
            <p:ph type="title"/>
          </p:nvPr>
        </p:nvSpPr>
        <p:spPr/>
        <p:txBody>
          <a:bodyPr/>
          <a:lstStyle/>
          <a:p>
            <a:r>
              <a:rPr lang="en-US" dirty="0"/>
              <a:t>Attack Vectors and Surfaces</a:t>
            </a:r>
          </a:p>
        </p:txBody>
      </p:sp>
      <p:sp>
        <p:nvSpPr>
          <p:cNvPr id="8" name="Content Placeholder 7">
            <a:extLst>
              <a:ext uri="{FF2B5EF4-FFF2-40B4-BE49-F238E27FC236}">
                <a16:creationId xmlns:a16="http://schemas.microsoft.com/office/drawing/2014/main" id="{783E279C-7C86-25A4-AFBE-66F826CCC5A8}"/>
              </a:ext>
            </a:extLst>
          </p:cNvPr>
          <p:cNvSpPr>
            <a:spLocks noGrp="1"/>
          </p:cNvSpPr>
          <p:nvPr>
            <p:ph sz="quarter" idx="11"/>
          </p:nvPr>
        </p:nvSpPr>
        <p:spPr/>
        <p:txBody>
          <a:bodyPr/>
          <a:lstStyle/>
          <a:p>
            <a:r>
              <a:rPr lang="en-US" sz="2400" dirty="0"/>
              <a:t>Attack surfaces are different points that an unauthorized user can employ to compromise a system or network.</a:t>
            </a:r>
          </a:p>
          <a:p>
            <a:r>
              <a:rPr lang="en-US" sz="2400" dirty="0"/>
              <a:t>Each attack surface has its associated risk, likelihood and impact.</a:t>
            </a:r>
          </a:p>
          <a:p>
            <a:r>
              <a:rPr lang="en-US" sz="2400" dirty="0"/>
              <a:t>Source of input maybe hardware, software, or communication.</a:t>
            </a:r>
          </a:p>
          <a:p>
            <a:r>
              <a:rPr lang="en-US" sz="2400" dirty="0"/>
              <a:t>Its is important to map out all entry points an attacker can abuse in a system.</a:t>
            </a:r>
          </a:p>
          <a:p>
            <a:pPr lvl="1"/>
            <a:r>
              <a:rPr lang="en-US" sz="2000" dirty="0"/>
              <a:t>Involves creating an architecture diagram.</a:t>
            </a:r>
          </a:p>
          <a:p>
            <a:pPr lvl="1"/>
            <a:r>
              <a:rPr lang="en-US" sz="2000" dirty="0"/>
              <a:t>Tests performed based on priority</a:t>
            </a:r>
          </a:p>
          <a:p>
            <a:pPr lvl="1"/>
            <a:r>
              <a:rPr lang="en-US" sz="2000" dirty="0"/>
              <a:t>Priority = ease of exploitation * impact of exploitation</a:t>
            </a:r>
          </a:p>
          <a:p>
            <a:endParaRPr lang="en-US" sz="2400" dirty="0"/>
          </a:p>
        </p:txBody>
      </p:sp>
    </p:spTree>
    <p:extLst>
      <p:ext uri="{BB962C8B-B14F-4D97-AF65-F5344CB8AC3E}">
        <p14:creationId xmlns:p14="http://schemas.microsoft.com/office/powerpoint/2010/main" val="9638844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FEE8DD-1C17-A507-E271-E95D0B85B0E8}"/>
              </a:ext>
            </a:extLst>
          </p:cNvPr>
          <p:cNvSpPr>
            <a:spLocks noGrp="1"/>
          </p:cNvSpPr>
          <p:nvPr>
            <p:ph type="title"/>
          </p:nvPr>
        </p:nvSpPr>
        <p:spPr/>
        <p:txBody>
          <a:bodyPr/>
          <a:lstStyle/>
          <a:p>
            <a:r>
              <a:rPr lang="en-US" dirty="0"/>
              <a:t>Attack Surface Mapping</a:t>
            </a:r>
          </a:p>
        </p:txBody>
      </p:sp>
      <p:graphicFrame>
        <p:nvGraphicFramePr>
          <p:cNvPr id="6" name="Content Placeholder 5">
            <a:extLst>
              <a:ext uri="{FF2B5EF4-FFF2-40B4-BE49-F238E27FC236}">
                <a16:creationId xmlns:a16="http://schemas.microsoft.com/office/drawing/2014/main" id="{BA8799E6-0DDC-E485-8E97-0DD38EE48A48}"/>
              </a:ext>
            </a:extLst>
          </p:cNvPr>
          <p:cNvGraphicFramePr>
            <a:graphicFrameLocks noGrp="1"/>
          </p:cNvGraphicFramePr>
          <p:nvPr>
            <p:ph sz="quarter" idx="11"/>
            <p:extLst>
              <p:ext uri="{D42A27DB-BD31-4B8C-83A1-F6EECF244321}">
                <p14:modId xmlns:p14="http://schemas.microsoft.com/office/powerpoint/2010/main" val="3574486387"/>
              </p:ext>
            </p:extLst>
          </p:nvPr>
        </p:nvGraphicFramePr>
        <p:xfrm>
          <a:off x="468313" y="1560513"/>
          <a:ext cx="8229600" cy="467677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0052609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085C07-C0A3-DBC5-D173-9AF64C1147EA}"/>
              </a:ext>
            </a:extLst>
          </p:cNvPr>
          <p:cNvSpPr>
            <a:spLocks noGrp="1"/>
          </p:cNvSpPr>
          <p:nvPr>
            <p:ph type="title"/>
          </p:nvPr>
        </p:nvSpPr>
        <p:spPr/>
        <p:txBody>
          <a:bodyPr/>
          <a:lstStyle/>
          <a:p>
            <a:r>
              <a:rPr lang="en-US" dirty="0"/>
              <a:t>Threat Modeling: STRIDE</a:t>
            </a:r>
          </a:p>
        </p:txBody>
      </p:sp>
      <p:sp>
        <p:nvSpPr>
          <p:cNvPr id="3" name="Content Placeholder 2">
            <a:extLst>
              <a:ext uri="{FF2B5EF4-FFF2-40B4-BE49-F238E27FC236}">
                <a16:creationId xmlns:a16="http://schemas.microsoft.com/office/drawing/2014/main" id="{1FD2CB2A-3427-7855-7019-689BF1C6840B}"/>
              </a:ext>
            </a:extLst>
          </p:cNvPr>
          <p:cNvSpPr>
            <a:spLocks noGrp="1"/>
          </p:cNvSpPr>
          <p:nvPr>
            <p:ph sz="quarter" idx="11"/>
          </p:nvPr>
        </p:nvSpPr>
        <p:spPr>
          <a:xfrm>
            <a:off x="467544" y="1560612"/>
            <a:ext cx="8352928" cy="4676700"/>
          </a:xfrm>
        </p:spPr>
        <p:txBody>
          <a:bodyPr/>
          <a:lstStyle/>
          <a:p>
            <a:r>
              <a:rPr lang="en-US" sz="2800" dirty="0"/>
              <a:t>Theoretical use cases considered to identify potential threats.</a:t>
            </a:r>
          </a:p>
          <a:p>
            <a:r>
              <a:rPr lang="en-US" sz="2800" dirty="0"/>
              <a:t>Microsoft STRIDE</a:t>
            </a:r>
          </a:p>
          <a:p>
            <a:pPr lvl="1"/>
            <a:r>
              <a:rPr lang="en-US" sz="2400" dirty="0"/>
              <a:t>S: Spoofing of identity</a:t>
            </a:r>
          </a:p>
          <a:p>
            <a:pPr lvl="1"/>
            <a:r>
              <a:rPr lang="en-US" sz="2400" dirty="0"/>
              <a:t>T: Tampering with data</a:t>
            </a:r>
          </a:p>
          <a:p>
            <a:pPr lvl="1"/>
            <a:r>
              <a:rPr lang="en-US" sz="2400" dirty="0"/>
              <a:t>R: Repudiation </a:t>
            </a:r>
          </a:p>
          <a:p>
            <a:pPr lvl="1"/>
            <a:r>
              <a:rPr lang="en-US" sz="2400" dirty="0"/>
              <a:t>I: Information disclosure</a:t>
            </a:r>
          </a:p>
          <a:p>
            <a:pPr lvl="1"/>
            <a:r>
              <a:rPr lang="en-US" sz="2400" dirty="0"/>
              <a:t>D: Denial of service</a:t>
            </a:r>
          </a:p>
          <a:p>
            <a:pPr lvl="1"/>
            <a:r>
              <a:rPr lang="en-US" sz="2400" dirty="0"/>
              <a:t>E: Elevation of privilege.</a:t>
            </a:r>
          </a:p>
          <a:p>
            <a:r>
              <a:rPr lang="en-US" sz="2800" dirty="0"/>
              <a:t>Requires realization of assets and vulnerabilities</a:t>
            </a:r>
          </a:p>
          <a:p>
            <a:endParaRPr lang="en-US" sz="2800" dirty="0"/>
          </a:p>
        </p:txBody>
      </p:sp>
      <p:grpSp>
        <p:nvGrpSpPr>
          <p:cNvPr id="4" name="Group 3">
            <a:extLst>
              <a:ext uri="{FF2B5EF4-FFF2-40B4-BE49-F238E27FC236}">
                <a16:creationId xmlns:a16="http://schemas.microsoft.com/office/drawing/2014/main" id="{A1CCF87A-F964-B86A-F284-2CA58E74AF7B}"/>
              </a:ext>
            </a:extLst>
          </p:cNvPr>
          <p:cNvGrpSpPr>
            <a:grpSpLocks noChangeAspect="1"/>
          </p:cNvGrpSpPr>
          <p:nvPr/>
        </p:nvGrpSpPr>
        <p:grpSpPr>
          <a:xfrm>
            <a:off x="4763616" y="2132856"/>
            <a:ext cx="4205769" cy="1490357"/>
            <a:chOff x="2819400" y="1600200"/>
            <a:chExt cx="6194175" cy="2194969"/>
          </a:xfrm>
        </p:grpSpPr>
        <p:pic>
          <p:nvPicPr>
            <p:cNvPr id="5" name="Picture 2" descr="Image result for secure iot system">
              <a:extLst>
                <a:ext uri="{FF2B5EF4-FFF2-40B4-BE49-F238E27FC236}">
                  <a16:creationId xmlns:a16="http://schemas.microsoft.com/office/drawing/2014/main" id="{37130E92-ABC7-AC48-4292-0894E307EBDA}"/>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819400" y="1600200"/>
              <a:ext cx="3168677" cy="2194969"/>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descr="Related image">
              <a:extLst>
                <a:ext uri="{FF2B5EF4-FFF2-40B4-BE49-F238E27FC236}">
                  <a16:creationId xmlns:a16="http://schemas.microsoft.com/office/drawing/2014/main" id="{EF50F02D-9CD9-08C5-83E2-D349A0D066E8}"/>
                </a:ext>
              </a:extLst>
            </p:cNvPr>
            <p:cNvPicPr>
              <a:picLocks noChangeAspect="1" noChangeArrowheads="1" noCrop="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039762" y="1703321"/>
              <a:ext cx="1973813" cy="209184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18E6E6B0-B80B-47D4-B3E6-5127C5A603D5}"/>
                </a:ext>
              </a:extLst>
            </p:cNvPr>
            <p:cNvCxnSpPr/>
            <p:nvPr/>
          </p:nvCxnSpPr>
          <p:spPr>
            <a:xfrm flipH="1">
              <a:off x="5988077" y="2749244"/>
              <a:ext cx="1028700" cy="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C7069797-7774-481A-C166-813ECA1BEAE5}"/>
                </a:ext>
              </a:extLst>
            </p:cNvPr>
            <p:cNvSpPr txBox="1"/>
            <p:nvPr/>
          </p:nvSpPr>
          <p:spPr>
            <a:xfrm>
              <a:off x="5967142" y="2233469"/>
              <a:ext cx="1093556" cy="498616"/>
            </a:xfrm>
            <a:prstGeom prst="rect">
              <a:avLst/>
            </a:prstGeom>
            <a:noFill/>
          </p:spPr>
          <p:txBody>
            <a:bodyPr wrap="none" rtlCol="0">
              <a:spAutoFit/>
            </a:bodyPr>
            <a:lstStyle/>
            <a:p>
              <a:r>
                <a:rPr lang="en-US" sz="1600" dirty="0"/>
                <a:t>attack</a:t>
              </a:r>
            </a:p>
          </p:txBody>
        </p:sp>
      </p:grpSp>
    </p:spTree>
    <p:extLst>
      <p:ext uri="{BB962C8B-B14F-4D97-AF65-F5344CB8AC3E}">
        <p14:creationId xmlns:p14="http://schemas.microsoft.com/office/powerpoint/2010/main" val="11130803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1531</TotalTime>
  <Words>2734</Words>
  <Application>Microsoft Office PowerPoint</Application>
  <PresentationFormat>On-screen Show (4:3)</PresentationFormat>
  <Paragraphs>344</Paragraphs>
  <Slides>41</Slides>
  <Notes>8</Notes>
  <HiddenSlides>3</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41</vt:i4>
      </vt:variant>
    </vt:vector>
  </HeadingPairs>
  <TitlesOfParts>
    <vt:vector size="48" baseType="lpstr">
      <vt:lpstr>맑은 고딕</vt:lpstr>
      <vt:lpstr>Arial</vt:lpstr>
      <vt:lpstr>Calibri</vt:lpstr>
      <vt:lpstr>Courier New</vt:lpstr>
      <vt:lpstr>Wingdings</vt:lpstr>
      <vt:lpstr>Office Theme</vt:lpstr>
      <vt:lpstr>Custom Design</vt:lpstr>
      <vt:lpstr>PowerPoint Presentation</vt:lpstr>
      <vt:lpstr>Course Outline</vt:lpstr>
      <vt:lpstr>What Is Security?</vt:lpstr>
      <vt:lpstr>Components of an Information System</vt:lpstr>
      <vt:lpstr>Components of an Information System</vt:lpstr>
      <vt:lpstr>Components of an Information System</vt:lpstr>
      <vt:lpstr>Characteristics of Information</vt:lpstr>
      <vt:lpstr>The C.I.A. triad</vt:lpstr>
      <vt:lpstr>Characteristics of Information</vt:lpstr>
      <vt:lpstr>Characteristics of Information</vt:lpstr>
      <vt:lpstr>Threats to information security</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Examples of Attacks/Threats</vt:lpstr>
      <vt:lpstr>Attacks and Consequences</vt:lpstr>
      <vt:lpstr>Attacks and Consequences</vt:lpstr>
      <vt:lpstr>Attacks and Consequences</vt:lpstr>
      <vt:lpstr>Causes of Insufficient Security</vt:lpstr>
      <vt:lpstr>Causes of Insufficient Security</vt:lpstr>
      <vt:lpstr>Causes of Insufficient Security</vt:lpstr>
      <vt:lpstr>Security Design Principles</vt:lpstr>
      <vt:lpstr>Least privilege</vt:lpstr>
      <vt:lpstr>Separation of Privilege </vt:lpstr>
      <vt:lpstr>Fail-safe defaults</vt:lpstr>
      <vt:lpstr>Complete mediation</vt:lpstr>
      <vt:lpstr>Open design</vt:lpstr>
      <vt:lpstr>Economy of mechanism</vt:lpstr>
      <vt:lpstr>Psychological acceptability</vt:lpstr>
      <vt:lpstr>Least common mechanism </vt:lpstr>
      <vt:lpstr>Attack Vectors and Surfaces</vt:lpstr>
      <vt:lpstr>Attack Surface Mapping</vt:lpstr>
      <vt:lpstr>Threat Modeling: STRIDE</vt:lpstr>
    </vt:vector>
  </TitlesOfParts>
  <Company>Microsoft Corporation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muzahir saleem</cp:lastModifiedBy>
  <cp:revision>90</cp:revision>
  <dcterms:created xsi:type="dcterms:W3CDTF">2014-04-01T16:35:38Z</dcterms:created>
  <dcterms:modified xsi:type="dcterms:W3CDTF">2025-08-19T03:32:51Z</dcterms:modified>
</cp:coreProperties>
</file>