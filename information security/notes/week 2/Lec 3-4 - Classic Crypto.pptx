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43"/>
  </p:notesMasterIdLst>
  <p:sldIdLst>
    <p:sldId id="256" r:id="rId3"/>
    <p:sldId id="345" r:id="rId4"/>
    <p:sldId id="367" r:id="rId5"/>
    <p:sldId id="347" r:id="rId6"/>
    <p:sldId id="391" r:id="rId7"/>
    <p:sldId id="363" r:id="rId8"/>
    <p:sldId id="401" r:id="rId9"/>
    <p:sldId id="411" r:id="rId10"/>
    <p:sldId id="353" r:id="rId11"/>
    <p:sldId id="403" r:id="rId12"/>
    <p:sldId id="405" r:id="rId13"/>
    <p:sldId id="404" r:id="rId14"/>
    <p:sldId id="389" r:id="rId15"/>
    <p:sldId id="369" r:id="rId16"/>
    <p:sldId id="402" r:id="rId17"/>
    <p:sldId id="354" r:id="rId18"/>
    <p:sldId id="370" r:id="rId19"/>
    <p:sldId id="395" r:id="rId20"/>
    <p:sldId id="406" r:id="rId21"/>
    <p:sldId id="390" r:id="rId22"/>
    <p:sldId id="392" r:id="rId23"/>
    <p:sldId id="422" r:id="rId24"/>
    <p:sldId id="396" r:id="rId25"/>
    <p:sldId id="408" r:id="rId26"/>
    <p:sldId id="407" r:id="rId27"/>
    <p:sldId id="393" r:id="rId28"/>
    <p:sldId id="397" r:id="rId29"/>
    <p:sldId id="398" r:id="rId30"/>
    <p:sldId id="409" r:id="rId31"/>
    <p:sldId id="417" r:id="rId32"/>
    <p:sldId id="413" r:id="rId33"/>
    <p:sldId id="414" r:id="rId34"/>
    <p:sldId id="416" r:id="rId35"/>
    <p:sldId id="418" r:id="rId36"/>
    <p:sldId id="412" r:id="rId37"/>
    <p:sldId id="419" r:id="rId38"/>
    <p:sldId id="420" r:id="rId39"/>
    <p:sldId id="368" r:id="rId40"/>
    <p:sldId id="400" r:id="rId41"/>
    <p:sldId id="421" r:id="rId42"/>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AEB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3792" autoAdjust="0"/>
  </p:normalViewPr>
  <p:slideViewPr>
    <p:cSldViewPr>
      <p:cViewPr varScale="1">
        <p:scale>
          <a:sx n="101" d="100"/>
          <a:sy n="101" d="100"/>
        </p:scale>
        <p:origin x="1836" y="108"/>
      </p:cViewPr>
      <p:guideLst>
        <p:guide orient="horz" pos="2160"/>
        <p:guide pos="2880"/>
      </p:guideLst>
    </p:cSldViewPr>
  </p:slideViewPr>
  <p:outlineViewPr>
    <p:cViewPr>
      <p:scale>
        <a:sx n="33" d="100"/>
        <a:sy n="33" d="100"/>
      </p:scale>
      <p:origin x="0" y="-14456"/>
    </p:cViewPr>
  </p:outlineViewPr>
  <p:notesTextViewPr>
    <p:cViewPr>
      <p:scale>
        <a:sx n="1" d="1"/>
        <a:sy n="1" d="1"/>
      </p:scale>
      <p:origin x="0" y="0"/>
    </p:cViewPr>
  </p:notesTextViewPr>
  <p:sorterViewPr>
    <p:cViewPr>
      <p:scale>
        <a:sx n="130" d="100"/>
        <a:sy n="130" d="100"/>
      </p:scale>
      <p:origin x="0" y="-688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C1A7-F877-44DD-B2DD-60553F4FFAE6}" type="datetimeFigureOut">
              <a:rPr lang="en-AU" smtClean="0"/>
              <a:t>25/09/2024</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C33C15-5131-4101-B031-6627D1EB5562}" type="slidenum">
              <a:rPr lang="en-AU" smtClean="0"/>
              <a:t>‹#›</a:t>
            </a:fld>
            <a:endParaRPr lang="en-AU"/>
          </a:p>
        </p:txBody>
      </p:sp>
    </p:spTree>
    <p:extLst>
      <p:ext uri="{BB962C8B-B14F-4D97-AF65-F5344CB8AC3E}">
        <p14:creationId xmlns:p14="http://schemas.microsoft.com/office/powerpoint/2010/main" val="2192664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a:t>
            </a:r>
            <a:endParaRPr lang="en-AU" dirty="0"/>
          </a:p>
        </p:txBody>
      </p:sp>
      <p:sp>
        <p:nvSpPr>
          <p:cNvPr id="4" name="Slide Number Placeholder 3"/>
          <p:cNvSpPr>
            <a:spLocks noGrp="1"/>
          </p:cNvSpPr>
          <p:nvPr>
            <p:ph type="sldNum" sz="quarter" idx="5"/>
          </p:nvPr>
        </p:nvSpPr>
        <p:spPr/>
        <p:txBody>
          <a:bodyPr/>
          <a:lstStyle/>
          <a:p>
            <a:fld id="{85C33C15-5131-4101-B031-6627D1EB5562}" type="slidenum">
              <a:rPr lang="en-AU" smtClean="0"/>
              <a:t>14</a:t>
            </a:fld>
            <a:endParaRPr lang="en-AU"/>
          </a:p>
        </p:txBody>
      </p:sp>
    </p:spTree>
    <p:extLst>
      <p:ext uri="{BB962C8B-B14F-4D97-AF65-F5344CB8AC3E}">
        <p14:creationId xmlns:p14="http://schemas.microsoft.com/office/powerpoint/2010/main" val="3053041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Still, each element of plaintext affects only one element of ciphertext, and multiple-letter patterns (e.g., </a:t>
            </a:r>
            <a:r>
              <a:rPr lang="en-US" sz="1200" dirty="0" err="1"/>
              <a:t>digram</a:t>
            </a:r>
            <a:r>
              <a:rPr lang="en-US" sz="1200" dirty="0"/>
              <a:t> frequencies) still survive in the ciphertext</a:t>
            </a:r>
          </a:p>
          <a:p>
            <a:endParaRPr lang="en-US" dirty="0"/>
          </a:p>
        </p:txBody>
      </p:sp>
      <p:sp>
        <p:nvSpPr>
          <p:cNvPr id="4" name="Slide Number Placeholder 3"/>
          <p:cNvSpPr>
            <a:spLocks noGrp="1"/>
          </p:cNvSpPr>
          <p:nvPr>
            <p:ph type="sldNum" sz="quarter" idx="5"/>
          </p:nvPr>
        </p:nvSpPr>
        <p:spPr/>
        <p:txBody>
          <a:bodyPr/>
          <a:lstStyle/>
          <a:p>
            <a:fld id="{85C33C15-5131-4101-B031-6627D1EB5562}" type="slidenum">
              <a:rPr lang="en-AU" smtClean="0"/>
              <a:t>19</a:t>
            </a:fld>
            <a:endParaRPr lang="en-AU"/>
          </a:p>
        </p:txBody>
      </p:sp>
    </p:spTree>
    <p:extLst>
      <p:ext uri="{BB962C8B-B14F-4D97-AF65-F5344CB8AC3E}">
        <p14:creationId xmlns:p14="http://schemas.microsoft.com/office/powerpoint/2010/main" val="929206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C33C15-5131-4101-B031-6627D1EB5562}" type="slidenum">
              <a:rPr lang="en-AU" smtClean="0"/>
              <a:t>21</a:t>
            </a:fld>
            <a:endParaRPr lang="en-AU"/>
          </a:p>
        </p:txBody>
      </p:sp>
    </p:spTree>
    <p:extLst>
      <p:ext uri="{BB962C8B-B14F-4D97-AF65-F5344CB8AC3E}">
        <p14:creationId xmlns:p14="http://schemas.microsoft.com/office/powerpoint/2010/main" val="921414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Exercise: decrypt RHUC using key IN=8,13</a:t>
            </a:r>
          </a:p>
          <a:p>
            <a:r>
              <a:rPr lang="en-US" dirty="0"/>
              <a:t>Answer: JUMP</a:t>
            </a:r>
          </a:p>
        </p:txBody>
      </p:sp>
      <p:sp>
        <p:nvSpPr>
          <p:cNvPr id="4" name="Slide Number Placeholder 3"/>
          <p:cNvSpPr>
            <a:spLocks noGrp="1"/>
          </p:cNvSpPr>
          <p:nvPr>
            <p:ph type="sldNum" sz="quarter" idx="5"/>
          </p:nvPr>
        </p:nvSpPr>
        <p:spPr/>
        <p:txBody>
          <a:bodyPr/>
          <a:lstStyle/>
          <a:p>
            <a:fld id="{85C33C15-5131-4101-B031-6627D1EB5562}" type="slidenum">
              <a:rPr lang="en-AU" smtClean="0"/>
              <a:t>22</a:t>
            </a:fld>
            <a:endParaRPr lang="en-AU"/>
          </a:p>
        </p:txBody>
      </p:sp>
    </p:spTree>
    <p:extLst>
      <p:ext uri="{BB962C8B-B14F-4D97-AF65-F5344CB8AC3E}">
        <p14:creationId xmlns:p14="http://schemas.microsoft.com/office/powerpoint/2010/main" val="24438463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Decrypt “</a:t>
            </a:r>
            <a:r>
              <a:rPr lang="en-US" dirty="0" err="1"/>
              <a:t>dfsasnaettda</a:t>
            </a:r>
            <a:r>
              <a:rPr lang="en-US" dirty="0"/>
              <a:t>” with key “money”</a:t>
            </a:r>
          </a:p>
          <a:p>
            <a:r>
              <a:rPr lang="en-US"/>
              <a:t>Answer: send data fast</a:t>
            </a:r>
            <a:endParaRPr lang="en-US" dirty="0"/>
          </a:p>
        </p:txBody>
      </p:sp>
      <p:sp>
        <p:nvSpPr>
          <p:cNvPr id="4" name="Slide Number Placeholder 3"/>
          <p:cNvSpPr>
            <a:spLocks noGrp="1"/>
          </p:cNvSpPr>
          <p:nvPr>
            <p:ph type="sldNum" sz="quarter" idx="5"/>
          </p:nvPr>
        </p:nvSpPr>
        <p:spPr/>
        <p:txBody>
          <a:bodyPr/>
          <a:lstStyle/>
          <a:p>
            <a:fld id="{85C33C15-5131-4101-B031-6627D1EB5562}" type="slidenum">
              <a:rPr lang="en-AU" smtClean="0"/>
              <a:t>38</a:t>
            </a:fld>
            <a:endParaRPr lang="en-AU"/>
          </a:p>
        </p:txBody>
      </p:sp>
    </p:spTree>
    <p:extLst>
      <p:ext uri="{BB962C8B-B14F-4D97-AF65-F5344CB8AC3E}">
        <p14:creationId xmlns:p14="http://schemas.microsoft.com/office/powerpoint/2010/main" val="17155441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C33C15-5131-4101-B031-6627D1EB5562}" type="slidenum">
              <a:rPr lang="en-AU" smtClean="0"/>
              <a:t>40</a:t>
            </a:fld>
            <a:endParaRPr lang="en-AU"/>
          </a:p>
        </p:txBody>
      </p:sp>
    </p:spTree>
    <p:extLst>
      <p:ext uri="{BB962C8B-B14F-4D97-AF65-F5344CB8AC3E}">
        <p14:creationId xmlns:p14="http://schemas.microsoft.com/office/powerpoint/2010/main" val="33429535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41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512" y="16778"/>
            <a:ext cx="8964488" cy="1069514"/>
          </a:xfrm>
          <a:prstGeom prst="rect">
            <a:avLst/>
          </a:prstGeom>
        </p:spPr>
        <p:txBody>
          <a:bodyPr anchor="ctr"/>
          <a:lstStyle>
            <a:lvl1pPr latinLnBrk="0">
              <a:defRPr b="1" baseline="0">
                <a:solidFill>
                  <a:schemeClr val="bg1"/>
                </a:solidFill>
                <a:latin typeface="Arial" pitchFamily="34" charset="0"/>
                <a:cs typeface="Arial" pitchFamily="34" charset="0"/>
              </a:defRPr>
            </a:lvl1pPr>
          </a:lstStyle>
          <a:p>
            <a:r>
              <a:rPr lang="en-US" altLang="ko-KR" dirty="0"/>
              <a:t>Click to add title</a:t>
            </a:r>
            <a:endParaRPr lang="ko-KR" altLang="en-US" dirty="0"/>
          </a:p>
        </p:txBody>
      </p:sp>
      <p:sp>
        <p:nvSpPr>
          <p:cNvPr id="7" name="Content Placeholder 6">
            <a:extLst>
              <a:ext uri="{FF2B5EF4-FFF2-40B4-BE49-F238E27FC236}">
                <a16:creationId xmlns:a16="http://schemas.microsoft.com/office/drawing/2014/main" id="{25EA4C87-1B6D-2CEA-39CA-59614D453096}"/>
              </a:ext>
            </a:extLst>
          </p:cNvPr>
          <p:cNvSpPr>
            <a:spLocks noGrp="1"/>
          </p:cNvSpPr>
          <p:nvPr>
            <p:ph sz="quarter" idx="11"/>
          </p:nvPr>
        </p:nvSpPr>
        <p:spPr>
          <a:xfrm>
            <a:off x="467544" y="1560612"/>
            <a:ext cx="8229600" cy="4676700"/>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369401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91680" y="0"/>
            <a:ext cx="7452320" cy="1069514"/>
          </a:xfrm>
          <a:prstGeom prst="rect">
            <a:avLst/>
          </a:prstGeom>
        </p:spPr>
        <p:txBody>
          <a:bodyPr anchor="ctr"/>
          <a:lstStyle>
            <a:lvl1pPr latinLnBrk="0">
              <a:defRPr b="1" baseline="0">
                <a:solidFill>
                  <a:schemeClr val="tx1">
                    <a:lumMod val="75000"/>
                    <a:lumOff val="25000"/>
                  </a:schemeClr>
                </a:solidFill>
                <a:latin typeface="Arial" pitchFamily="34" charset="0"/>
                <a:cs typeface="Arial" pitchFamily="34" charset="0"/>
              </a:defRPr>
            </a:lvl1pPr>
          </a:lstStyle>
          <a:p>
            <a:r>
              <a:rPr lang="en-US" altLang="ko-KR" dirty="0"/>
              <a:t>Click to add title</a:t>
            </a:r>
            <a:endParaRPr lang="ko-KR" altLang="en-US" dirty="0"/>
          </a:p>
        </p:txBody>
      </p:sp>
      <p:sp>
        <p:nvSpPr>
          <p:cNvPr id="6" name="Content Placeholder 5">
            <a:extLst>
              <a:ext uri="{FF2B5EF4-FFF2-40B4-BE49-F238E27FC236}">
                <a16:creationId xmlns:a16="http://schemas.microsoft.com/office/drawing/2014/main" id="{E85ED14E-43B1-FAD8-93BB-3A0393784FEF}"/>
              </a:ext>
            </a:extLst>
          </p:cNvPr>
          <p:cNvSpPr>
            <a:spLocks noGrp="1"/>
          </p:cNvSpPr>
          <p:nvPr>
            <p:ph sz="quarter" idx="11"/>
          </p:nvPr>
        </p:nvSpPr>
        <p:spPr>
          <a:xfrm>
            <a:off x="2134072" y="1268760"/>
            <a:ext cx="6563072" cy="4923175"/>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32681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5891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solidFill>
                <a:prstClr val="white"/>
              </a:solidFill>
            </a:endParaRPr>
          </a:p>
        </p:txBody>
      </p:sp>
      <p:sp>
        <p:nvSpPr>
          <p:cNvPr id="4" name="Content Placeholder 3"/>
          <p:cNvSpPr>
            <a:spLocks noGrp="1"/>
          </p:cNvSpPr>
          <p:nvPr>
            <p:ph sz="quarter" idx="10"/>
          </p:nvPr>
        </p:nvSpPr>
        <p:spPr>
          <a:xfrm>
            <a:off x="491331" y="5181600"/>
            <a:ext cx="8153400" cy="83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sz="1200" dirty="0">
                <a:solidFill>
                  <a:prstClr val="white"/>
                </a:solidFill>
                <a:ea typeface="ＭＳ Ｐゴシック" charset="-128"/>
                <a:cs typeface="Arial" charset="0"/>
              </a:rPr>
              <a:t>Copyright </a:t>
            </a:r>
            <a:r>
              <a:rPr lang="en-US" sz="1200" dirty="0">
                <a:solidFill>
                  <a:prstClr val="white"/>
                </a:solidFill>
                <a:ea typeface="+mn-ea"/>
                <a:cs typeface="Arial" charset="0"/>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p:spPr>
      </p:pic>
    </p:spTree>
    <p:extLst>
      <p:ext uri="{BB962C8B-B14F-4D97-AF65-F5344CB8AC3E}">
        <p14:creationId xmlns:p14="http://schemas.microsoft.com/office/powerpoint/2010/main" val="2950682021"/>
      </p:ext>
    </p:extLst>
  </p:cSld>
  <p:clrMapOvr>
    <a:masterClrMapping/>
  </p:clrMapOvr>
  <p:transition spd="slow"/>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it-IT"/>
              <a:t>Fare clic per modificare lo stile del titolo</a:t>
            </a:r>
            <a:endParaRPr lang="de-DE" dirty="0"/>
          </a:p>
        </p:txBody>
      </p:sp>
      <p:sp>
        <p:nvSpPr>
          <p:cNvPr id="3" name="Inhaltsplatzhalter 2"/>
          <p:cNvSpPr>
            <a:spLocks noGrp="1"/>
          </p:cNvSpPr>
          <p:nvPr>
            <p:ph idx="1"/>
          </p:nvPr>
        </p:nvSpPr>
        <p:spPr/>
        <p:txBody>
          <a:bodyPr/>
          <a:lstStyle>
            <a:lvl4pPr>
              <a:buFont typeface="Wingdings" pitchFamily="2" charset="2"/>
              <a:buChar char="§"/>
              <a:defRPr sz="1600"/>
            </a:lvl4pPr>
            <a:lvl5pPr>
              <a:buFont typeface="Wingdings" pitchFamily="2" charset="2"/>
              <a:buChar char="§"/>
              <a:defRPr sz="1600"/>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972514571"/>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t>25/9/2024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25/9/2024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t>25/9/2024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t>25/9/2024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t>25/9/2024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t>25/9/2024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t>25/9/2024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25/9/2024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25/9/2024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25/9/2024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25/9/2024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338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73" r:id="rId4"/>
    <p:sldLayoutId id="2147483674" r:id="rId5"/>
    <p:sldLayoutId id="2147483675" r:id="rId6"/>
  </p:sldLayoutIdLst>
  <p:txStyles>
    <p:titleStyle>
      <a:lvl1pPr algn="l" defTabSz="914400" rtl="0" eaLnBrk="1" latinLnBrk="1" hangingPunct="1">
        <a:spcBef>
          <a:spcPct val="0"/>
        </a:spcBef>
        <a:buNone/>
        <a:defRPr sz="40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t>25/9/2024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crypto.interactive-maths.com/kasiski-analysis-breaking-the-code.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cryptomuseum.com/crypto/otp/index.htm" TargetMode="External"/><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4067944" y="4170499"/>
            <a:ext cx="4788024" cy="1200329"/>
          </a:xfrm>
          <a:prstGeom prst="rect">
            <a:avLst/>
          </a:prstGeom>
          <a:noFill/>
          <a:ln w="9525">
            <a:noFill/>
            <a:miter lim="800000"/>
            <a:headEnd/>
            <a:tailEnd/>
          </a:ln>
        </p:spPr>
        <p:txBody>
          <a:bodyPr wrap="square">
            <a:spAutoFit/>
          </a:bodyPr>
          <a:lstStyle/>
          <a:p>
            <a:pPr algn="r"/>
            <a:r>
              <a:rPr lang="en-US" altLang="ko-KR" sz="3600" b="1" dirty="0">
                <a:solidFill>
                  <a:schemeClr val="bg1">
                    <a:lumMod val="95000"/>
                  </a:schemeClr>
                </a:solidFill>
                <a:latin typeface="Arial" pitchFamily="34" charset="0"/>
                <a:ea typeface="맑은 고딕" pitchFamily="50" charset="-127"/>
                <a:cs typeface="Arial" pitchFamily="34" charset="0"/>
              </a:rPr>
              <a:t>Classical Cryptography</a:t>
            </a:r>
          </a:p>
        </p:txBody>
      </p:sp>
      <p:pic>
        <p:nvPicPr>
          <p:cNvPr id="11" name="Picture 10" descr="Logo&#10;&#10;Description automatically generated">
            <a:extLst>
              <a:ext uri="{FF2B5EF4-FFF2-40B4-BE49-F238E27FC236}">
                <a16:creationId xmlns:a16="http://schemas.microsoft.com/office/drawing/2014/main" id="{DA019416-A58F-DC7C-5590-0A3C5E236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11682"/>
            <a:ext cx="1428571" cy="1428571"/>
          </a:xfrm>
          <a:prstGeom prst="rect">
            <a:avLst/>
          </a:prstGeom>
        </p:spPr>
      </p:pic>
      <p:sp>
        <p:nvSpPr>
          <p:cNvPr id="12" name="TextBox 11">
            <a:extLst>
              <a:ext uri="{FF2B5EF4-FFF2-40B4-BE49-F238E27FC236}">
                <a16:creationId xmlns:a16="http://schemas.microsoft.com/office/drawing/2014/main" id="{A287E9B7-196F-5413-1EE2-727331E78929}"/>
              </a:ext>
            </a:extLst>
          </p:cNvPr>
          <p:cNvSpPr txBox="1"/>
          <p:nvPr/>
        </p:nvSpPr>
        <p:spPr>
          <a:xfrm>
            <a:off x="1835696" y="1916832"/>
            <a:ext cx="5472608" cy="523220"/>
          </a:xfrm>
          <a:prstGeom prst="rect">
            <a:avLst/>
          </a:prstGeom>
          <a:noFill/>
        </p:spPr>
        <p:txBody>
          <a:bodyPr wrap="square" rtlCol="0">
            <a:spAutoFit/>
          </a:bodyPr>
          <a:lstStyle/>
          <a:p>
            <a:pPr algn="ctr" latinLnBrk="0"/>
            <a:r>
              <a:rPr lang="en-US" sz="2800" b="1" dirty="0"/>
              <a:t>CS3002 Information Security</a:t>
            </a:r>
            <a:endParaRPr lang="en-AU" sz="2800" b="1" dirty="0"/>
          </a:p>
        </p:txBody>
      </p:sp>
      <p:sp>
        <p:nvSpPr>
          <p:cNvPr id="13" name="TextBox 12">
            <a:extLst>
              <a:ext uri="{FF2B5EF4-FFF2-40B4-BE49-F238E27FC236}">
                <a16:creationId xmlns:a16="http://schemas.microsoft.com/office/drawing/2014/main" id="{2C6442DC-6D72-28EB-A755-796100BEAFBF}"/>
              </a:ext>
            </a:extLst>
          </p:cNvPr>
          <p:cNvSpPr txBox="1"/>
          <p:nvPr/>
        </p:nvSpPr>
        <p:spPr>
          <a:xfrm>
            <a:off x="6156176" y="111682"/>
            <a:ext cx="2880320" cy="923330"/>
          </a:xfrm>
          <a:prstGeom prst="rect">
            <a:avLst/>
          </a:prstGeom>
          <a:noFill/>
        </p:spPr>
        <p:txBody>
          <a:bodyPr wrap="square" rtlCol="0">
            <a:spAutoFit/>
          </a:bodyPr>
          <a:lstStyle/>
          <a:p>
            <a:pPr algn="r" latinLnBrk="0"/>
            <a:r>
              <a:rPr lang="en-US" b="1" dirty="0"/>
              <a:t>Dr. Ammar Haider</a:t>
            </a:r>
          </a:p>
          <a:p>
            <a:pPr algn="r" latinLnBrk="0"/>
            <a:r>
              <a:rPr lang="en-US" dirty="0"/>
              <a:t>Assistant Professor</a:t>
            </a:r>
          </a:p>
          <a:p>
            <a:pPr algn="r" latinLnBrk="0"/>
            <a:r>
              <a:rPr lang="en-US" dirty="0"/>
              <a:t>School of Computing</a:t>
            </a:r>
            <a:endParaRPr lang="en-AU" dirty="0"/>
          </a:p>
        </p:txBody>
      </p:sp>
      <p:sp>
        <p:nvSpPr>
          <p:cNvPr id="2" name="TextBox 1">
            <a:extLst>
              <a:ext uri="{FF2B5EF4-FFF2-40B4-BE49-F238E27FC236}">
                <a16:creationId xmlns:a16="http://schemas.microsoft.com/office/drawing/2014/main" id="{AD3339CC-1B5A-6A39-986E-A50B229AE1D4}"/>
              </a:ext>
            </a:extLst>
          </p:cNvPr>
          <p:cNvSpPr txBox="1"/>
          <p:nvPr/>
        </p:nvSpPr>
        <p:spPr>
          <a:xfrm>
            <a:off x="125740" y="6434828"/>
            <a:ext cx="8838748" cy="369332"/>
          </a:xfrm>
          <a:prstGeom prst="rect">
            <a:avLst/>
          </a:prstGeom>
          <a:noFill/>
        </p:spPr>
        <p:txBody>
          <a:bodyPr wrap="square" rtlCol="0">
            <a:spAutoFit/>
          </a:bodyPr>
          <a:lstStyle/>
          <a:p>
            <a:pPr latinLnBrk="0"/>
            <a:r>
              <a:rPr lang="en-US" dirty="0"/>
              <a:t>Source: Stallings CNS, chap 3</a:t>
            </a:r>
            <a:endParaRPr lang="en-AU" dirty="0"/>
          </a:p>
        </p:txBody>
      </p:sp>
    </p:spTree>
    <p:extLst>
      <p:ext uri="{BB962C8B-B14F-4D97-AF65-F5344CB8AC3E}">
        <p14:creationId xmlns:p14="http://schemas.microsoft.com/office/powerpoint/2010/main" val="1941221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Cryptography: What</a:t>
            </a:r>
          </a:p>
        </p:txBody>
      </p:sp>
      <p:sp>
        <p:nvSpPr>
          <p:cNvPr id="3" name="Content Placeholder 2"/>
          <p:cNvSpPr>
            <a:spLocks noGrp="1"/>
          </p:cNvSpPr>
          <p:nvPr>
            <p:ph sz="quarter" idx="11"/>
          </p:nvPr>
        </p:nvSpPr>
        <p:spPr/>
        <p:txBody>
          <a:bodyPr/>
          <a:lstStyle/>
          <a:p>
            <a:r>
              <a:rPr lang="en-US" sz="2800" dirty="0"/>
              <a:t>Plaintext</a:t>
            </a:r>
          </a:p>
          <a:p>
            <a:pPr lvl="1"/>
            <a:r>
              <a:rPr lang="en-US" sz="2400" dirty="0"/>
              <a:t>Readable message or data that needs to be protected</a:t>
            </a:r>
          </a:p>
          <a:p>
            <a:r>
              <a:rPr lang="en-US" sz="2800" dirty="0"/>
              <a:t>Encryption Algorithm (or Cipher)</a:t>
            </a:r>
          </a:p>
          <a:p>
            <a:pPr lvl="1"/>
            <a:r>
              <a:rPr lang="en-US" sz="2400" dirty="0"/>
              <a:t>Algorithm to perform various substitutions and transformations on the plaintext</a:t>
            </a:r>
          </a:p>
          <a:p>
            <a:r>
              <a:rPr lang="en-US" sz="2800" dirty="0"/>
              <a:t>Secret key</a:t>
            </a:r>
          </a:p>
          <a:p>
            <a:pPr lvl="1"/>
            <a:r>
              <a:rPr lang="en-US" sz="2400" dirty="0"/>
              <a:t>Used as input to the algorithm, transformations depend on the key</a:t>
            </a:r>
          </a:p>
          <a:p>
            <a:r>
              <a:rPr lang="en-US" sz="2800" dirty="0" err="1"/>
              <a:t>Ciphertext</a:t>
            </a:r>
            <a:endParaRPr lang="en-US" sz="2800" dirty="0"/>
          </a:p>
          <a:p>
            <a:pPr lvl="1"/>
            <a:r>
              <a:rPr lang="en-US" sz="2400" dirty="0"/>
              <a:t>Scrambled message produced as output</a:t>
            </a:r>
            <a:endParaRPr lang="en-US" sz="2000" dirty="0"/>
          </a:p>
        </p:txBody>
      </p:sp>
    </p:spTree>
    <p:extLst>
      <p:ext uri="{BB962C8B-B14F-4D97-AF65-F5344CB8AC3E}">
        <p14:creationId xmlns:p14="http://schemas.microsoft.com/office/powerpoint/2010/main" val="1473937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Cryptography: Why</a:t>
            </a:r>
          </a:p>
        </p:txBody>
      </p:sp>
      <p:sp>
        <p:nvSpPr>
          <p:cNvPr id="3" name="Content Placeholder 2"/>
          <p:cNvSpPr>
            <a:spLocks noGrp="1"/>
          </p:cNvSpPr>
          <p:nvPr>
            <p:ph sz="quarter" idx="11"/>
          </p:nvPr>
        </p:nvSpPr>
        <p:spPr/>
        <p:txBody>
          <a:bodyPr/>
          <a:lstStyle/>
          <a:p>
            <a:r>
              <a:rPr lang="en-US" dirty="0"/>
              <a:t>To achieve important properties of information security:</a:t>
            </a:r>
          </a:p>
          <a:p>
            <a:pPr lvl="1"/>
            <a:r>
              <a:rPr lang="en-US" dirty="0"/>
              <a:t>Confidentiality</a:t>
            </a:r>
          </a:p>
          <a:p>
            <a:pPr lvl="1"/>
            <a:r>
              <a:rPr lang="en-US" dirty="0"/>
              <a:t>Integrity</a:t>
            </a:r>
          </a:p>
          <a:p>
            <a:pPr lvl="1"/>
            <a:r>
              <a:rPr lang="en-US" dirty="0"/>
              <a:t>Authenticity</a:t>
            </a:r>
          </a:p>
          <a:p>
            <a:pPr lvl="1"/>
            <a:r>
              <a:rPr lang="en-US" dirty="0"/>
              <a:t>Authorization</a:t>
            </a:r>
          </a:p>
          <a:p>
            <a:pPr lvl="1"/>
            <a:r>
              <a:rPr lang="en-US" dirty="0"/>
              <a:t>Non repudiation</a:t>
            </a:r>
          </a:p>
        </p:txBody>
      </p:sp>
    </p:spTree>
    <p:extLst>
      <p:ext uri="{BB962C8B-B14F-4D97-AF65-F5344CB8AC3E}">
        <p14:creationId xmlns:p14="http://schemas.microsoft.com/office/powerpoint/2010/main" val="2391364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Symmetric Crypto</a:t>
            </a:r>
          </a:p>
        </p:txBody>
      </p:sp>
      <p:sp>
        <p:nvSpPr>
          <p:cNvPr id="3" name="Content Placeholder 2"/>
          <p:cNvSpPr>
            <a:spLocks noGrp="1"/>
          </p:cNvSpPr>
          <p:nvPr>
            <p:ph sz="quarter" idx="11"/>
          </p:nvPr>
        </p:nvSpPr>
        <p:spPr/>
        <p:txBody>
          <a:bodyPr/>
          <a:lstStyle/>
          <a:p>
            <a:r>
              <a:rPr lang="en-US" sz="2400" dirty="0"/>
              <a:t>AKA conventional cryptography</a:t>
            </a:r>
          </a:p>
          <a:p>
            <a:r>
              <a:rPr lang="en-US" sz="2400" dirty="0"/>
              <a:t>Sender and receiver must both know the secret key</a:t>
            </a:r>
          </a:p>
          <a:p>
            <a:r>
              <a:rPr lang="en-US" sz="2400" dirty="0"/>
              <a:t>Uses techniques like confusion and diffusion to encrypt/decrypt data</a:t>
            </a:r>
          </a:p>
          <a:p>
            <a:pPr marL="0" indent="0">
              <a:buNone/>
            </a:pPr>
            <a:endParaRPr lang="en-US" sz="2400" dirty="0"/>
          </a:p>
        </p:txBody>
      </p:sp>
      <p:pic>
        <p:nvPicPr>
          <p:cNvPr id="7" name="Picture 6">
            <a:extLst>
              <a:ext uri="{FF2B5EF4-FFF2-40B4-BE49-F238E27FC236}">
                <a16:creationId xmlns:a16="http://schemas.microsoft.com/office/drawing/2014/main" id="{F3B34514-2BF2-D47D-B4FC-EC2339939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78147" y="3653703"/>
            <a:ext cx="5167218" cy="2583609"/>
          </a:xfrm>
          <a:prstGeom prst="rect">
            <a:avLst/>
          </a:prstGeom>
        </p:spPr>
      </p:pic>
    </p:spTree>
    <p:extLst>
      <p:ext uri="{BB962C8B-B14F-4D97-AF65-F5344CB8AC3E}">
        <p14:creationId xmlns:p14="http://schemas.microsoft.com/office/powerpoint/2010/main" val="946752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2F120-F9EC-1B7E-14E4-373A6215B582}"/>
              </a:ext>
            </a:extLst>
          </p:cNvPr>
          <p:cNvSpPr>
            <a:spLocks noGrp="1"/>
          </p:cNvSpPr>
          <p:nvPr>
            <p:ph type="title"/>
          </p:nvPr>
        </p:nvSpPr>
        <p:spPr/>
        <p:txBody>
          <a:bodyPr/>
          <a:lstStyle/>
          <a:p>
            <a:r>
              <a:rPr lang="en-US" dirty="0"/>
              <a:t>Symmetric Crypto: How?</a:t>
            </a:r>
          </a:p>
        </p:txBody>
      </p:sp>
      <p:sp>
        <p:nvSpPr>
          <p:cNvPr id="3" name="Content Placeholder 2">
            <a:extLst>
              <a:ext uri="{FF2B5EF4-FFF2-40B4-BE49-F238E27FC236}">
                <a16:creationId xmlns:a16="http://schemas.microsoft.com/office/drawing/2014/main" id="{9C515C96-1B05-0965-BBD5-6A71DD0FF1D2}"/>
              </a:ext>
            </a:extLst>
          </p:cNvPr>
          <p:cNvSpPr>
            <a:spLocks noGrp="1"/>
          </p:cNvSpPr>
          <p:nvPr>
            <p:ph sz="quarter" idx="11"/>
          </p:nvPr>
        </p:nvSpPr>
        <p:spPr>
          <a:xfrm>
            <a:off x="467544" y="1560612"/>
            <a:ext cx="7920880" cy="4676700"/>
          </a:xfrm>
        </p:spPr>
        <p:txBody>
          <a:bodyPr/>
          <a:lstStyle/>
          <a:p>
            <a:r>
              <a:rPr lang="en-US" sz="2400" dirty="0"/>
              <a:t>There are two primary operations. Note that these should be perfectly reversible!</a:t>
            </a:r>
          </a:p>
          <a:p>
            <a:pPr marL="457200" indent="-457200">
              <a:buAutoNum type="arabicParenBoth"/>
            </a:pPr>
            <a:r>
              <a:rPr lang="en-US" sz="2400" b="1" dirty="0"/>
              <a:t>Substitution</a:t>
            </a:r>
            <a:endParaRPr lang="en-US" sz="2400" dirty="0"/>
          </a:p>
          <a:p>
            <a:pPr lvl="1"/>
            <a:endParaRPr lang="en-US" sz="2000" dirty="0"/>
          </a:p>
          <a:p>
            <a:pPr lvl="1"/>
            <a:endParaRPr lang="en-US" sz="2000" dirty="0"/>
          </a:p>
          <a:p>
            <a:pPr lvl="1"/>
            <a:endParaRPr lang="en-US" sz="2000" dirty="0"/>
          </a:p>
          <a:p>
            <a:pPr lvl="1"/>
            <a:endParaRPr lang="en-US" sz="2000" dirty="0"/>
          </a:p>
          <a:p>
            <a:pPr marL="0" indent="0">
              <a:buNone/>
            </a:pPr>
            <a:r>
              <a:rPr lang="en-US" sz="2400" b="1" dirty="0"/>
              <a:t>(2) Permutation</a:t>
            </a:r>
            <a:endParaRPr lang="en-US" sz="2400" dirty="0"/>
          </a:p>
        </p:txBody>
      </p:sp>
      <p:pic>
        <p:nvPicPr>
          <p:cNvPr id="4" name="Picture 3">
            <a:extLst>
              <a:ext uri="{FF2B5EF4-FFF2-40B4-BE49-F238E27FC236}">
                <a16:creationId xmlns:a16="http://schemas.microsoft.com/office/drawing/2014/main" id="{A4509DF9-2DAB-236B-86D2-157230254517}"/>
              </a:ext>
            </a:extLst>
          </p:cNvPr>
          <p:cNvPicPr>
            <a:picLocks noChangeAspect="1" noChangeArrowheads="1"/>
          </p:cNvPicPr>
          <p:nvPr/>
        </p:nvPicPr>
        <p:blipFill>
          <a:blip r:embed="rId2"/>
          <a:srcRect/>
          <a:stretch>
            <a:fillRect/>
          </a:stretch>
        </p:blipFill>
        <p:spPr bwMode="auto">
          <a:xfrm>
            <a:off x="1274430" y="2912451"/>
            <a:ext cx="3352800" cy="1347775"/>
          </a:xfrm>
          <a:prstGeom prst="rect">
            <a:avLst/>
          </a:prstGeom>
          <a:noFill/>
          <a:ln w="9525">
            <a:noFill/>
            <a:miter lim="800000"/>
            <a:headEnd/>
            <a:tailEnd/>
          </a:ln>
          <a:effectLst/>
        </p:spPr>
      </p:pic>
      <p:pic>
        <p:nvPicPr>
          <p:cNvPr id="5" name="Picture 4">
            <a:extLst>
              <a:ext uri="{FF2B5EF4-FFF2-40B4-BE49-F238E27FC236}">
                <a16:creationId xmlns:a16="http://schemas.microsoft.com/office/drawing/2014/main" id="{EBDEC26D-991E-6256-EDBA-AD10E05EAAA0}"/>
              </a:ext>
            </a:extLst>
          </p:cNvPr>
          <p:cNvPicPr>
            <a:picLocks noChangeAspect="1" noChangeArrowheads="1"/>
          </p:cNvPicPr>
          <p:nvPr/>
        </p:nvPicPr>
        <p:blipFill>
          <a:blip r:embed="rId3"/>
          <a:srcRect/>
          <a:stretch>
            <a:fillRect/>
          </a:stretch>
        </p:blipFill>
        <p:spPr bwMode="auto">
          <a:xfrm>
            <a:off x="1219200" y="4869160"/>
            <a:ext cx="3352800" cy="1649046"/>
          </a:xfrm>
          <a:prstGeom prst="rect">
            <a:avLst/>
          </a:prstGeom>
          <a:noFill/>
          <a:ln w="9525">
            <a:noFill/>
            <a:miter lim="800000"/>
            <a:headEnd/>
            <a:tailEnd/>
          </a:ln>
          <a:effectLst/>
        </p:spPr>
      </p:pic>
      <p:sp>
        <p:nvSpPr>
          <p:cNvPr id="7" name="TextBox 6">
            <a:extLst>
              <a:ext uri="{FF2B5EF4-FFF2-40B4-BE49-F238E27FC236}">
                <a16:creationId xmlns:a16="http://schemas.microsoft.com/office/drawing/2014/main" id="{57909ED1-F491-EB93-86CB-35AFD324367F}"/>
              </a:ext>
            </a:extLst>
          </p:cNvPr>
          <p:cNvSpPr txBox="1"/>
          <p:nvPr/>
        </p:nvSpPr>
        <p:spPr>
          <a:xfrm>
            <a:off x="4856088" y="3263174"/>
            <a:ext cx="4086708" cy="646331"/>
          </a:xfrm>
          <a:prstGeom prst="rect">
            <a:avLst/>
          </a:prstGeom>
          <a:noFill/>
        </p:spPr>
        <p:txBody>
          <a:bodyPr wrap="square">
            <a:spAutoFit/>
          </a:bodyPr>
          <a:lstStyle/>
          <a:p>
            <a:pPr marL="0" lvl="1" latinLnBrk="0"/>
            <a:r>
              <a:rPr lang="en-US" sz="1800" dirty="0"/>
              <a:t>Replace character(s) or bit-strings with other characters</a:t>
            </a:r>
          </a:p>
        </p:txBody>
      </p:sp>
      <p:sp>
        <p:nvSpPr>
          <p:cNvPr id="9" name="TextBox 8">
            <a:extLst>
              <a:ext uri="{FF2B5EF4-FFF2-40B4-BE49-F238E27FC236}">
                <a16:creationId xmlns:a16="http://schemas.microsoft.com/office/drawing/2014/main" id="{16AFFCEE-CC57-6BE1-FB28-1E794AA94BA8}"/>
              </a:ext>
            </a:extLst>
          </p:cNvPr>
          <p:cNvSpPr txBox="1"/>
          <p:nvPr/>
        </p:nvSpPr>
        <p:spPr>
          <a:xfrm>
            <a:off x="4788024" y="5297388"/>
            <a:ext cx="4086708" cy="646331"/>
          </a:xfrm>
          <a:prstGeom prst="rect">
            <a:avLst/>
          </a:prstGeom>
          <a:noFill/>
        </p:spPr>
        <p:txBody>
          <a:bodyPr wrap="square">
            <a:spAutoFit/>
          </a:bodyPr>
          <a:lstStyle/>
          <a:p>
            <a:pPr marL="0" lvl="1" latinLnBrk="0"/>
            <a:r>
              <a:rPr lang="en-US" sz="1800" dirty="0"/>
              <a:t>Change the order of characters or bit strings.</a:t>
            </a:r>
          </a:p>
        </p:txBody>
      </p:sp>
    </p:spTree>
    <p:extLst>
      <p:ext uri="{BB962C8B-B14F-4D97-AF65-F5344CB8AC3E}">
        <p14:creationId xmlns:p14="http://schemas.microsoft.com/office/powerpoint/2010/main" val="1285693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Symmetric Crypto Limitations</a:t>
            </a:r>
          </a:p>
        </p:txBody>
      </p:sp>
      <p:sp>
        <p:nvSpPr>
          <p:cNvPr id="3" name="Content Placeholder 2"/>
          <p:cNvSpPr>
            <a:spLocks noGrp="1"/>
          </p:cNvSpPr>
          <p:nvPr>
            <p:ph sz="quarter" idx="11"/>
          </p:nvPr>
        </p:nvSpPr>
        <p:spPr/>
        <p:txBody>
          <a:bodyPr/>
          <a:lstStyle/>
          <a:p>
            <a:pPr marL="0" indent="0">
              <a:buNone/>
            </a:pPr>
            <a:r>
              <a:rPr lang="en-US" sz="2800" dirty="0"/>
              <a:t>Pros</a:t>
            </a:r>
          </a:p>
          <a:p>
            <a:r>
              <a:rPr lang="en-US" sz="2400" dirty="0"/>
              <a:t>Very fast to compute</a:t>
            </a:r>
          </a:p>
          <a:p>
            <a:r>
              <a:rPr lang="en-US" sz="2400" dirty="0"/>
              <a:t>Hardware acceleration available in many cases</a:t>
            </a:r>
          </a:p>
          <a:p>
            <a:pPr marL="0" indent="0">
              <a:buNone/>
            </a:pPr>
            <a:endParaRPr lang="en-US" sz="2800" dirty="0"/>
          </a:p>
          <a:p>
            <a:pPr marL="0" indent="0">
              <a:buNone/>
            </a:pPr>
            <a:r>
              <a:rPr lang="en-US" sz="2800" dirty="0"/>
              <a:t>Cons</a:t>
            </a:r>
          </a:p>
          <a:p>
            <a:r>
              <a:rPr lang="en-US" sz="2400" dirty="0"/>
              <a:t>No mechanism of sharing the key secretly</a:t>
            </a:r>
          </a:p>
          <a:p>
            <a:r>
              <a:rPr lang="en-US" sz="2400" dirty="0"/>
              <a:t>Managing separate keys for each </a:t>
            </a:r>
            <a:r>
              <a:rPr lang="en-US" sz="2400" b="1" dirty="0"/>
              <a:t>pair</a:t>
            </a:r>
            <a:r>
              <a:rPr lang="en-US" sz="2400" dirty="0"/>
              <a:t> of users, otherwise impersonation is possible</a:t>
            </a:r>
          </a:p>
          <a:p>
            <a:pPr lvl="1"/>
            <a:r>
              <a:rPr lang="en-US" sz="2000" dirty="0"/>
              <a:t>If Alice and Bob share a key. Imagine Trudy shares the same key with Alice for secure communication. Trudy may act as Alice and talk to Bob. </a:t>
            </a:r>
          </a:p>
          <a:p>
            <a:endParaRPr lang="en-US" sz="2800" dirty="0"/>
          </a:p>
        </p:txBody>
      </p:sp>
    </p:spTree>
    <p:extLst>
      <p:ext uri="{BB962C8B-B14F-4D97-AF65-F5344CB8AC3E}">
        <p14:creationId xmlns:p14="http://schemas.microsoft.com/office/powerpoint/2010/main" val="3912262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CE125-38B1-99F3-EB52-E74B2B91F8B2}"/>
              </a:ext>
            </a:extLst>
          </p:cNvPr>
          <p:cNvSpPr>
            <a:spLocks noGrp="1"/>
          </p:cNvSpPr>
          <p:nvPr>
            <p:ph type="title"/>
          </p:nvPr>
        </p:nvSpPr>
        <p:spPr/>
        <p:txBody>
          <a:bodyPr/>
          <a:lstStyle/>
          <a:p>
            <a:r>
              <a:rPr lang="en-US" dirty="0"/>
              <a:t>Classical Ciphers</a:t>
            </a:r>
          </a:p>
        </p:txBody>
      </p:sp>
      <p:sp>
        <p:nvSpPr>
          <p:cNvPr id="3" name="Content Placeholder 2">
            <a:extLst>
              <a:ext uri="{FF2B5EF4-FFF2-40B4-BE49-F238E27FC236}">
                <a16:creationId xmlns:a16="http://schemas.microsoft.com/office/drawing/2014/main" id="{09096365-BB26-3FC9-FF02-456BE244C346}"/>
              </a:ext>
            </a:extLst>
          </p:cNvPr>
          <p:cNvSpPr>
            <a:spLocks noGrp="1"/>
          </p:cNvSpPr>
          <p:nvPr>
            <p:ph sz="quarter" idx="11"/>
          </p:nvPr>
        </p:nvSpPr>
        <p:spPr/>
        <p:txBody>
          <a:bodyPr/>
          <a:lstStyle/>
          <a:p>
            <a:r>
              <a:rPr lang="en-US" dirty="0"/>
              <a:t>We will start with studying classical ciphers – those used before the era of computers.</a:t>
            </a:r>
          </a:p>
          <a:p>
            <a:r>
              <a:rPr lang="en-US" dirty="0"/>
              <a:t>Computers could break these ciphers easily, that’s why they became obsolete.</a:t>
            </a:r>
          </a:p>
        </p:txBody>
      </p:sp>
    </p:spTree>
    <p:extLst>
      <p:ext uri="{BB962C8B-B14F-4D97-AF65-F5344CB8AC3E}">
        <p14:creationId xmlns:p14="http://schemas.microsoft.com/office/powerpoint/2010/main" val="2530897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F05DE2-5B75-96E7-E851-49111C7A33E8}"/>
              </a:ext>
            </a:extLst>
          </p:cNvPr>
          <p:cNvSpPr>
            <a:spLocks noGrp="1"/>
          </p:cNvSpPr>
          <p:nvPr>
            <p:ph type="title"/>
          </p:nvPr>
        </p:nvSpPr>
        <p:spPr>
          <a:xfrm>
            <a:off x="1907704" y="2894243"/>
            <a:ext cx="6696744" cy="1069514"/>
          </a:xfrm>
        </p:spPr>
        <p:txBody>
          <a:bodyPr/>
          <a:lstStyle/>
          <a:p>
            <a:pPr algn="ctr"/>
            <a:r>
              <a:rPr lang="en-US" dirty="0"/>
              <a:t>Substitution ciphers</a:t>
            </a:r>
          </a:p>
        </p:txBody>
      </p:sp>
    </p:spTree>
    <p:extLst>
      <p:ext uri="{BB962C8B-B14F-4D97-AF65-F5344CB8AC3E}">
        <p14:creationId xmlns:p14="http://schemas.microsoft.com/office/powerpoint/2010/main" val="711776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Classical Substitution Ciphers</a:t>
            </a:r>
          </a:p>
        </p:txBody>
      </p:sp>
      <p:sp>
        <p:nvSpPr>
          <p:cNvPr id="3" name="Content Placeholder 2"/>
          <p:cNvSpPr>
            <a:spLocks noGrp="1"/>
          </p:cNvSpPr>
          <p:nvPr>
            <p:ph sz="quarter" idx="11"/>
          </p:nvPr>
        </p:nvSpPr>
        <p:spPr/>
        <p:txBody>
          <a:bodyPr/>
          <a:lstStyle/>
          <a:p>
            <a:r>
              <a:rPr lang="en-US" sz="2800" dirty="0"/>
              <a:t>Replace plaintext characters according to a translation table.</a:t>
            </a:r>
          </a:p>
          <a:p>
            <a:r>
              <a:rPr lang="en-US" sz="2800" dirty="0"/>
              <a:t>Substitution rules become the secret key</a:t>
            </a:r>
          </a:p>
        </p:txBody>
      </p:sp>
      <p:pic>
        <p:nvPicPr>
          <p:cNvPr id="6" name="Picture 5">
            <a:extLst>
              <a:ext uri="{FF2B5EF4-FFF2-40B4-BE49-F238E27FC236}">
                <a16:creationId xmlns:a16="http://schemas.microsoft.com/office/drawing/2014/main" id="{1AE837AF-E187-09DD-3E36-578504050C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7864" y="3212976"/>
            <a:ext cx="3134162" cy="3134162"/>
          </a:xfrm>
          <a:prstGeom prst="rect">
            <a:avLst/>
          </a:prstGeom>
        </p:spPr>
      </p:pic>
      <p:sp>
        <p:nvSpPr>
          <p:cNvPr id="7" name="TextBox 6">
            <a:extLst>
              <a:ext uri="{FF2B5EF4-FFF2-40B4-BE49-F238E27FC236}">
                <a16:creationId xmlns:a16="http://schemas.microsoft.com/office/drawing/2014/main" id="{E6556668-DD2D-AAB7-B42E-3AB94455FBE3}"/>
              </a:ext>
            </a:extLst>
          </p:cNvPr>
          <p:cNvSpPr txBox="1"/>
          <p:nvPr/>
        </p:nvSpPr>
        <p:spPr>
          <a:xfrm>
            <a:off x="381306" y="3529787"/>
            <a:ext cx="3908755" cy="830997"/>
          </a:xfrm>
          <a:prstGeom prst="rect">
            <a:avLst/>
          </a:prstGeom>
          <a:noFill/>
        </p:spPr>
        <p:txBody>
          <a:bodyPr wrap="square" rtlCol="0">
            <a:spAutoFit/>
          </a:bodyPr>
          <a:lstStyle/>
          <a:p>
            <a:pPr latinLnBrk="0"/>
            <a:r>
              <a:rPr lang="en-US" sz="2000" dirty="0"/>
              <a:t>Most well known example:</a:t>
            </a:r>
            <a:r>
              <a:rPr lang="en-US" sz="2400" dirty="0"/>
              <a:t> </a:t>
            </a:r>
            <a:r>
              <a:rPr lang="en-US" sz="2400" b="1" dirty="0"/>
              <a:t>Caesar Cipher</a:t>
            </a:r>
          </a:p>
        </p:txBody>
      </p:sp>
      <p:sp>
        <p:nvSpPr>
          <p:cNvPr id="8" name="TextBox 7">
            <a:extLst>
              <a:ext uri="{FF2B5EF4-FFF2-40B4-BE49-F238E27FC236}">
                <a16:creationId xmlns:a16="http://schemas.microsoft.com/office/drawing/2014/main" id="{36CDB424-77C3-FDEC-C036-123B3508DC5B}"/>
              </a:ext>
            </a:extLst>
          </p:cNvPr>
          <p:cNvSpPr txBox="1"/>
          <p:nvPr/>
        </p:nvSpPr>
        <p:spPr>
          <a:xfrm>
            <a:off x="6574726" y="3529787"/>
            <a:ext cx="2514579" cy="1015663"/>
          </a:xfrm>
          <a:prstGeom prst="rect">
            <a:avLst/>
          </a:prstGeom>
          <a:noFill/>
        </p:spPr>
        <p:txBody>
          <a:bodyPr wrap="square" rtlCol="0">
            <a:spAutoFit/>
          </a:bodyPr>
          <a:lstStyle/>
          <a:p>
            <a:pPr latinLnBrk="0"/>
            <a:r>
              <a:rPr lang="en-US" sz="2000" dirty="0"/>
              <a:t>Rotate the inner alphabet disk to change the key</a:t>
            </a:r>
            <a:endParaRPr lang="en-US" sz="2000" b="1" dirty="0"/>
          </a:p>
        </p:txBody>
      </p:sp>
      <p:sp>
        <p:nvSpPr>
          <p:cNvPr id="9" name="TextBox 8">
            <a:extLst>
              <a:ext uri="{FF2B5EF4-FFF2-40B4-BE49-F238E27FC236}">
                <a16:creationId xmlns:a16="http://schemas.microsoft.com/office/drawing/2014/main" id="{24CCFD47-9621-E06D-C197-55EB0E65591D}"/>
              </a:ext>
            </a:extLst>
          </p:cNvPr>
          <p:cNvSpPr txBox="1"/>
          <p:nvPr/>
        </p:nvSpPr>
        <p:spPr>
          <a:xfrm>
            <a:off x="6574725" y="4982807"/>
            <a:ext cx="2514579" cy="1015663"/>
          </a:xfrm>
          <a:prstGeom prst="rect">
            <a:avLst/>
          </a:prstGeom>
          <a:noFill/>
        </p:spPr>
        <p:txBody>
          <a:bodyPr wrap="square" rtlCol="0">
            <a:spAutoFit/>
          </a:bodyPr>
          <a:lstStyle/>
          <a:p>
            <a:pPr latinLnBrk="0"/>
            <a:r>
              <a:rPr lang="en-US" sz="2000" dirty="0"/>
              <a:t>When key=13, cipher is called </a:t>
            </a:r>
            <a:r>
              <a:rPr lang="en-US" sz="2000" b="1" dirty="0"/>
              <a:t>ROT-13</a:t>
            </a:r>
          </a:p>
        </p:txBody>
      </p:sp>
    </p:spTree>
    <p:extLst>
      <p:ext uri="{BB962C8B-B14F-4D97-AF65-F5344CB8AC3E}">
        <p14:creationId xmlns:p14="http://schemas.microsoft.com/office/powerpoint/2010/main" val="1435397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C7729F-D35E-04B5-674F-FE3DB0FC8ACB}"/>
              </a:ext>
            </a:extLst>
          </p:cNvPr>
          <p:cNvSpPr>
            <a:spLocks noGrp="1"/>
          </p:cNvSpPr>
          <p:nvPr>
            <p:ph type="title"/>
          </p:nvPr>
        </p:nvSpPr>
        <p:spPr/>
        <p:txBody>
          <a:bodyPr/>
          <a:lstStyle/>
          <a:p>
            <a:r>
              <a:rPr lang="en-US" dirty="0"/>
              <a:t>Attacking the Ceaser cipher</a:t>
            </a:r>
          </a:p>
        </p:txBody>
      </p:sp>
      <p:sp>
        <p:nvSpPr>
          <p:cNvPr id="3" name="Content Placeholder 2">
            <a:extLst>
              <a:ext uri="{FF2B5EF4-FFF2-40B4-BE49-F238E27FC236}">
                <a16:creationId xmlns:a16="http://schemas.microsoft.com/office/drawing/2014/main" id="{BD74C9E8-11FF-DC70-2E05-03DC3CED889F}"/>
              </a:ext>
            </a:extLst>
          </p:cNvPr>
          <p:cNvSpPr>
            <a:spLocks noGrp="1"/>
          </p:cNvSpPr>
          <p:nvPr>
            <p:ph sz="quarter" idx="11"/>
          </p:nvPr>
        </p:nvSpPr>
        <p:spPr/>
        <p:txBody>
          <a:bodyPr/>
          <a:lstStyle/>
          <a:p>
            <a:r>
              <a:rPr lang="en-US" sz="2800" dirty="0"/>
              <a:t>Ceaser cipher can be quite easily broken by a brute-force attack: The attacker tries every possible key on a piece of ciphertext until an intelligible translation into plaintext is obtained.</a:t>
            </a:r>
          </a:p>
          <a:p>
            <a:r>
              <a:rPr lang="en-US" sz="2800" dirty="0"/>
              <a:t>On average, half of all possible keys must be tried to achieve success.</a:t>
            </a:r>
          </a:p>
          <a:p>
            <a:pPr lvl="1"/>
            <a:r>
              <a:rPr lang="en-US" sz="2400" dirty="0"/>
              <a:t>if there are X different keys, on average an attacker would discover the actual key after X/2 tries.</a:t>
            </a:r>
          </a:p>
        </p:txBody>
      </p:sp>
    </p:spTree>
    <p:extLst>
      <p:ext uri="{BB962C8B-B14F-4D97-AF65-F5344CB8AC3E}">
        <p14:creationId xmlns:p14="http://schemas.microsoft.com/office/powerpoint/2010/main" val="4220240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E62C1-935C-7E08-346C-E19390A7566F}"/>
              </a:ext>
            </a:extLst>
          </p:cNvPr>
          <p:cNvSpPr>
            <a:spLocks noGrp="1"/>
          </p:cNvSpPr>
          <p:nvPr>
            <p:ph type="title"/>
          </p:nvPr>
        </p:nvSpPr>
        <p:spPr/>
        <p:txBody>
          <a:bodyPr/>
          <a:lstStyle/>
          <a:p>
            <a:r>
              <a:rPr lang="en-US" dirty="0"/>
              <a:t>Attacking the Ceaser cipher</a:t>
            </a:r>
          </a:p>
        </p:txBody>
      </p:sp>
      <p:sp>
        <p:nvSpPr>
          <p:cNvPr id="3" name="Content Placeholder 2">
            <a:extLst>
              <a:ext uri="{FF2B5EF4-FFF2-40B4-BE49-F238E27FC236}">
                <a16:creationId xmlns:a16="http://schemas.microsoft.com/office/drawing/2014/main" id="{709DDD00-D008-FEC4-E780-4159251E141B}"/>
              </a:ext>
            </a:extLst>
          </p:cNvPr>
          <p:cNvSpPr>
            <a:spLocks noGrp="1"/>
          </p:cNvSpPr>
          <p:nvPr>
            <p:ph sz="quarter" idx="11"/>
          </p:nvPr>
        </p:nvSpPr>
        <p:spPr>
          <a:xfrm>
            <a:off x="467544" y="1560612"/>
            <a:ext cx="3960440" cy="4676700"/>
          </a:xfrm>
        </p:spPr>
        <p:txBody>
          <a:bodyPr>
            <a:noAutofit/>
          </a:bodyPr>
          <a:lstStyle/>
          <a:p>
            <a:pPr marL="0" indent="0">
              <a:buNone/>
            </a:pPr>
            <a:r>
              <a:rPr lang="en-US" sz="1600" dirty="0">
                <a:latin typeface="Consolas" panose="020B0609020204030204" pitchFamily="49" charset="0"/>
              </a:rPr>
              <a:t>ciphertext</a:t>
            </a:r>
          </a:p>
          <a:p>
            <a:pPr marL="0" indent="0">
              <a:buNone/>
            </a:pPr>
            <a:r>
              <a:rPr lang="en-US" sz="1600" dirty="0">
                <a:latin typeface="Consolas" panose="020B0609020204030204" pitchFamily="49" charset="0"/>
              </a:rPr>
              <a:t>PHHW PH DIWHU WKH WRJD SDUWB</a:t>
            </a:r>
          </a:p>
          <a:p>
            <a:pPr marL="0" indent="0">
              <a:buNone/>
            </a:pPr>
            <a:endParaRPr lang="en-US" sz="1600" dirty="0">
              <a:latin typeface="Consolas" panose="020B0609020204030204" pitchFamily="49" charset="0"/>
            </a:endParaRPr>
          </a:p>
          <a:p>
            <a:pPr marL="0" indent="0">
              <a:buNone/>
            </a:pPr>
            <a:r>
              <a:rPr lang="en-US" sz="1600" dirty="0">
                <a:latin typeface="Consolas" panose="020B0609020204030204" pitchFamily="49" charset="0"/>
              </a:rPr>
              <a:t>KEY</a:t>
            </a:r>
          </a:p>
          <a:p>
            <a:pPr marL="0" indent="0">
              <a:buNone/>
            </a:pPr>
            <a:r>
              <a:rPr lang="en-US" sz="1600" dirty="0">
                <a:latin typeface="Consolas" panose="020B0609020204030204" pitchFamily="49" charset="0"/>
              </a:rPr>
              <a:t>1   </a:t>
            </a:r>
            <a:r>
              <a:rPr lang="en-US" sz="1600" dirty="0" err="1">
                <a:latin typeface="Consolas" panose="020B0609020204030204" pitchFamily="49" charset="0"/>
              </a:rPr>
              <a:t>oggv</a:t>
            </a:r>
            <a:r>
              <a:rPr lang="en-US" sz="1600" dirty="0">
                <a:latin typeface="Consolas" panose="020B0609020204030204" pitchFamily="49" charset="0"/>
              </a:rPr>
              <a:t> </a:t>
            </a:r>
            <a:r>
              <a:rPr lang="en-US" sz="1600" dirty="0" err="1">
                <a:latin typeface="Consolas" panose="020B0609020204030204" pitchFamily="49" charset="0"/>
              </a:rPr>
              <a:t>og</a:t>
            </a:r>
            <a:r>
              <a:rPr lang="en-US" sz="1600" dirty="0">
                <a:latin typeface="Consolas" panose="020B0609020204030204" pitchFamily="49" charset="0"/>
              </a:rPr>
              <a:t> </a:t>
            </a:r>
            <a:r>
              <a:rPr lang="en-US" sz="1600" dirty="0" err="1">
                <a:latin typeface="Consolas" panose="020B0609020204030204" pitchFamily="49" charset="0"/>
              </a:rPr>
              <a:t>chvgt</a:t>
            </a:r>
            <a:r>
              <a:rPr lang="en-US" sz="1600" dirty="0">
                <a:latin typeface="Consolas" panose="020B0609020204030204" pitchFamily="49" charset="0"/>
              </a:rPr>
              <a:t> </a:t>
            </a:r>
            <a:r>
              <a:rPr lang="en-US" sz="1600" dirty="0" err="1">
                <a:latin typeface="Consolas" panose="020B0609020204030204" pitchFamily="49" charset="0"/>
              </a:rPr>
              <a:t>vjg</a:t>
            </a:r>
            <a:r>
              <a:rPr lang="en-US" sz="1600" dirty="0">
                <a:latin typeface="Consolas" panose="020B0609020204030204" pitchFamily="49" charset="0"/>
              </a:rPr>
              <a:t> </a:t>
            </a:r>
            <a:r>
              <a:rPr lang="en-US" sz="1600" dirty="0" err="1">
                <a:latin typeface="Consolas" panose="020B0609020204030204" pitchFamily="49" charset="0"/>
              </a:rPr>
              <a:t>vqic</a:t>
            </a:r>
            <a:r>
              <a:rPr lang="en-US" sz="1600" dirty="0">
                <a:latin typeface="Consolas" panose="020B0609020204030204" pitchFamily="49" charset="0"/>
              </a:rPr>
              <a:t> </a:t>
            </a:r>
            <a:r>
              <a:rPr lang="en-US" sz="1600" dirty="0" err="1">
                <a:latin typeface="Consolas" panose="020B0609020204030204" pitchFamily="49" charset="0"/>
              </a:rPr>
              <a:t>rctva</a:t>
            </a:r>
            <a:endParaRPr lang="en-US" sz="1600" dirty="0">
              <a:latin typeface="Consolas" panose="020B0609020204030204" pitchFamily="49" charset="0"/>
            </a:endParaRPr>
          </a:p>
          <a:p>
            <a:pPr marL="0" indent="0">
              <a:buNone/>
            </a:pPr>
            <a:r>
              <a:rPr lang="en-US" sz="1600" dirty="0">
                <a:latin typeface="Consolas" panose="020B0609020204030204" pitchFamily="49" charset="0"/>
              </a:rPr>
              <a:t>2   </a:t>
            </a:r>
            <a:r>
              <a:rPr lang="en-US" sz="1600" dirty="0" err="1">
                <a:latin typeface="Consolas" panose="020B0609020204030204" pitchFamily="49" charset="0"/>
              </a:rPr>
              <a:t>nffu</a:t>
            </a:r>
            <a:r>
              <a:rPr lang="en-US" sz="1600" dirty="0">
                <a:latin typeface="Consolas" panose="020B0609020204030204" pitchFamily="49" charset="0"/>
              </a:rPr>
              <a:t> </a:t>
            </a:r>
            <a:r>
              <a:rPr lang="en-US" sz="1600" dirty="0" err="1">
                <a:latin typeface="Consolas" panose="020B0609020204030204" pitchFamily="49" charset="0"/>
              </a:rPr>
              <a:t>nf</a:t>
            </a:r>
            <a:r>
              <a:rPr lang="en-US" sz="1600" dirty="0">
                <a:latin typeface="Consolas" panose="020B0609020204030204" pitchFamily="49" charset="0"/>
              </a:rPr>
              <a:t> </a:t>
            </a:r>
            <a:r>
              <a:rPr lang="en-US" sz="1600" dirty="0" err="1">
                <a:latin typeface="Consolas" panose="020B0609020204030204" pitchFamily="49" charset="0"/>
              </a:rPr>
              <a:t>bgufs</a:t>
            </a:r>
            <a:r>
              <a:rPr lang="en-US" sz="1600" dirty="0">
                <a:latin typeface="Consolas" panose="020B0609020204030204" pitchFamily="49" charset="0"/>
              </a:rPr>
              <a:t> </a:t>
            </a:r>
            <a:r>
              <a:rPr lang="en-US" sz="1600" dirty="0" err="1">
                <a:latin typeface="Consolas" panose="020B0609020204030204" pitchFamily="49" charset="0"/>
              </a:rPr>
              <a:t>uif</a:t>
            </a:r>
            <a:r>
              <a:rPr lang="en-US" sz="1600" dirty="0">
                <a:latin typeface="Consolas" panose="020B0609020204030204" pitchFamily="49" charset="0"/>
              </a:rPr>
              <a:t> </a:t>
            </a:r>
            <a:r>
              <a:rPr lang="en-US" sz="1600" dirty="0" err="1">
                <a:latin typeface="Consolas" panose="020B0609020204030204" pitchFamily="49" charset="0"/>
              </a:rPr>
              <a:t>uphb</a:t>
            </a:r>
            <a:r>
              <a:rPr lang="en-US" sz="1600" dirty="0">
                <a:latin typeface="Consolas" panose="020B0609020204030204" pitchFamily="49" charset="0"/>
              </a:rPr>
              <a:t> </a:t>
            </a:r>
            <a:r>
              <a:rPr lang="en-US" sz="1600" dirty="0" err="1">
                <a:latin typeface="Consolas" panose="020B0609020204030204" pitchFamily="49" charset="0"/>
              </a:rPr>
              <a:t>qbsuz</a:t>
            </a:r>
            <a:r>
              <a:rPr lang="en-US" sz="1600" dirty="0">
                <a:latin typeface="Consolas" panose="020B0609020204030204" pitchFamily="49" charset="0"/>
              </a:rPr>
              <a:t> </a:t>
            </a:r>
          </a:p>
          <a:p>
            <a:pPr marL="0" indent="0">
              <a:buNone/>
            </a:pPr>
            <a:r>
              <a:rPr lang="en-US" sz="1600" dirty="0">
                <a:latin typeface="Consolas" panose="020B0609020204030204" pitchFamily="49" charset="0"/>
              </a:rPr>
              <a:t>3   meet me after the toga party </a:t>
            </a:r>
          </a:p>
          <a:p>
            <a:pPr marL="0" indent="0">
              <a:buNone/>
            </a:pPr>
            <a:r>
              <a:rPr lang="en-US" sz="1600" dirty="0">
                <a:latin typeface="Consolas" panose="020B0609020204030204" pitchFamily="49" charset="0"/>
              </a:rPr>
              <a:t>4   </a:t>
            </a:r>
            <a:r>
              <a:rPr lang="en-US" sz="1600" dirty="0" err="1">
                <a:latin typeface="Consolas" panose="020B0609020204030204" pitchFamily="49" charset="0"/>
              </a:rPr>
              <a:t>ldds</a:t>
            </a:r>
            <a:r>
              <a:rPr lang="en-US" sz="1600" dirty="0">
                <a:latin typeface="Consolas" panose="020B0609020204030204" pitchFamily="49" charset="0"/>
              </a:rPr>
              <a:t> </a:t>
            </a:r>
            <a:r>
              <a:rPr lang="en-US" sz="1600" dirty="0" err="1">
                <a:latin typeface="Consolas" panose="020B0609020204030204" pitchFamily="49" charset="0"/>
              </a:rPr>
              <a:t>ld</a:t>
            </a:r>
            <a:r>
              <a:rPr lang="en-US" sz="1600" dirty="0">
                <a:latin typeface="Consolas" panose="020B0609020204030204" pitchFamily="49" charset="0"/>
              </a:rPr>
              <a:t> </a:t>
            </a:r>
            <a:r>
              <a:rPr lang="en-US" sz="1600" dirty="0" err="1">
                <a:latin typeface="Consolas" panose="020B0609020204030204" pitchFamily="49" charset="0"/>
              </a:rPr>
              <a:t>zesdq</a:t>
            </a:r>
            <a:r>
              <a:rPr lang="en-US" sz="1600" dirty="0">
                <a:latin typeface="Consolas" panose="020B0609020204030204" pitchFamily="49" charset="0"/>
              </a:rPr>
              <a:t> </a:t>
            </a:r>
            <a:r>
              <a:rPr lang="en-US" sz="1600" dirty="0" err="1">
                <a:latin typeface="Consolas" panose="020B0609020204030204" pitchFamily="49" charset="0"/>
              </a:rPr>
              <a:t>sgd</a:t>
            </a:r>
            <a:r>
              <a:rPr lang="en-US" sz="1600" dirty="0">
                <a:latin typeface="Consolas" panose="020B0609020204030204" pitchFamily="49" charset="0"/>
              </a:rPr>
              <a:t> </a:t>
            </a:r>
            <a:r>
              <a:rPr lang="en-US" sz="1600" dirty="0" err="1">
                <a:latin typeface="Consolas" panose="020B0609020204030204" pitchFamily="49" charset="0"/>
              </a:rPr>
              <a:t>snfz</a:t>
            </a:r>
            <a:r>
              <a:rPr lang="en-US" sz="1600" dirty="0">
                <a:latin typeface="Consolas" panose="020B0609020204030204" pitchFamily="49" charset="0"/>
              </a:rPr>
              <a:t> </a:t>
            </a:r>
            <a:r>
              <a:rPr lang="en-US" sz="1600" dirty="0" err="1">
                <a:latin typeface="Consolas" panose="020B0609020204030204" pitchFamily="49" charset="0"/>
              </a:rPr>
              <a:t>ozqsx</a:t>
            </a:r>
            <a:r>
              <a:rPr lang="en-US" sz="1600" dirty="0">
                <a:latin typeface="Consolas" panose="020B0609020204030204" pitchFamily="49" charset="0"/>
              </a:rPr>
              <a:t> </a:t>
            </a:r>
          </a:p>
          <a:p>
            <a:pPr marL="0" indent="0">
              <a:buNone/>
            </a:pPr>
            <a:r>
              <a:rPr lang="en-US" sz="1600" dirty="0">
                <a:latin typeface="Consolas" panose="020B0609020204030204" pitchFamily="49" charset="0"/>
              </a:rPr>
              <a:t>5   </a:t>
            </a:r>
            <a:r>
              <a:rPr lang="en-US" sz="1600" dirty="0" err="1">
                <a:latin typeface="Consolas" panose="020B0609020204030204" pitchFamily="49" charset="0"/>
              </a:rPr>
              <a:t>kccr</a:t>
            </a:r>
            <a:r>
              <a:rPr lang="en-US" sz="1600" dirty="0">
                <a:latin typeface="Consolas" panose="020B0609020204030204" pitchFamily="49" charset="0"/>
              </a:rPr>
              <a:t> kc </a:t>
            </a:r>
            <a:r>
              <a:rPr lang="en-US" sz="1600" dirty="0" err="1">
                <a:latin typeface="Consolas" panose="020B0609020204030204" pitchFamily="49" charset="0"/>
              </a:rPr>
              <a:t>ydrcp</a:t>
            </a:r>
            <a:r>
              <a:rPr lang="en-US" sz="1600" dirty="0">
                <a:latin typeface="Consolas" panose="020B0609020204030204" pitchFamily="49" charset="0"/>
              </a:rPr>
              <a:t> </a:t>
            </a:r>
            <a:r>
              <a:rPr lang="en-US" sz="1600" dirty="0" err="1">
                <a:latin typeface="Consolas" panose="020B0609020204030204" pitchFamily="49" charset="0"/>
              </a:rPr>
              <a:t>rfc</a:t>
            </a:r>
            <a:r>
              <a:rPr lang="en-US" sz="1600" dirty="0">
                <a:latin typeface="Consolas" panose="020B0609020204030204" pitchFamily="49" charset="0"/>
              </a:rPr>
              <a:t> </a:t>
            </a:r>
            <a:r>
              <a:rPr lang="en-US" sz="1600" dirty="0" err="1">
                <a:latin typeface="Consolas" panose="020B0609020204030204" pitchFamily="49" charset="0"/>
              </a:rPr>
              <a:t>rmey</a:t>
            </a:r>
            <a:r>
              <a:rPr lang="en-US" sz="1600" dirty="0">
                <a:latin typeface="Consolas" panose="020B0609020204030204" pitchFamily="49" charset="0"/>
              </a:rPr>
              <a:t> </a:t>
            </a:r>
            <a:r>
              <a:rPr lang="en-US" sz="1600" dirty="0" err="1">
                <a:latin typeface="Consolas" panose="020B0609020204030204" pitchFamily="49" charset="0"/>
              </a:rPr>
              <a:t>nyprw</a:t>
            </a:r>
            <a:r>
              <a:rPr lang="en-US" sz="1600" dirty="0">
                <a:latin typeface="Consolas" panose="020B0609020204030204" pitchFamily="49" charset="0"/>
              </a:rPr>
              <a:t> </a:t>
            </a:r>
          </a:p>
          <a:p>
            <a:pPr marL="0" indent="0">
              <a:buNone/>
            </a:pPr>
            <a:r>
              <a:rPr lang="en-US" sz="1600" dirty="0">
                <a:latin typeface="Consolas" panose="020B0609020204030204" pitchFamily="49" charset="0"/>
              </a:rPr>
              <a:t>6   </a:t>
            </a:r>
            <a:r>
              <a:rPr lang="en-US" sz="1600" dirty="0" err="1">
                <a:latin typeface="Consolas" panose="020B0609020204030204" pitchFamily="49" charset="0"/>
              </a:rPr>
              <a:t>jbbq</a:t>
            </a:r>
            <a:r>
              <a:rPr lang="en-US" sz="1600" dirty="0">
                <a:latin typeface="Consolas" panose="020B0609020204030204" pitchFamily="49" charset="0"/>
              </a:rPr>
              <a:t> </a:t>
            </a:r>
            <a:r>
              <a:rPr lang="en-US" sz="1600" dirty="0" err="1">
                <a:latin typeface="Consolas" panose="020B0609020204030204" pitchFamily="49" charset="0"/>
              </a:rPr>
              <a:t>jb</a:t>
            </a:r>
            <a:r>
              <a:rPr lang="en-US" sz="1600" dirty="0">
                <a:latin typeface="Consolas" panose="020B0609020204030204" pitchFamily="49" charset="0"/>
              </a:rPr>
              <a:t> </a:t>
            </a:r>
            <a:r>
              <a:rPr lang="en-US" sz="1600" dirty="0" err="1">
                <a:latin typeface="Consolas" panose="020B0609020204030204" pitchFamily="49" charset="0"/>
              </a:rPr>
              <a:t>xcqbo</a:t>
            </a:r>
            <a:r>
              <a:rPr lang="en-US" sz="1600" dirty="0">
                <a:latin typeface="Consolas" panose="020B0609020204030204" pitchFamily="49" charset="0"/>
              </a:rPr>
              <a:t> </a:t>
            </a:r>
            <a:r>
              <a:rPr lang="en-US" sz="1600" dirty="0" err="1">
                <a:latin typeface="Consolas" panose="020B0609020204030204" pitchFamily="49" charset="0"/>
              </a:rPr>
              <a:t>qeb</a:t>
            </a:r>
            <a:r>
              <a:rPr lang="en-US" sz="1600" dirty="0">
                <a:latin typeface="Consolas" panose="020B0609020204030204" pitchFamily="49" charset="0"/>
              </a:rPr>
              <a:t> </a:t>
            </a:r>
            <a:r>
              <a:rPr lang="en-US" sz="1600" dirty="0" err="1">
                <a:latin typeface="Consolas" panose="020B0609020204030204" pitchFamily="49" charset="0"/>
              </a:rPr>
              <a:t>qldx</a:t>
            </a:r>
            <a:r>
              <a:rPr lang="en-US" sz="1600" dirty="0">
                <a:latin typeface="Consolas" panose="020B0609020204030204" pitchFamily="49" charset="0"/>
              </a:rPr>
              <a:t> </a:t>
            </a:r>
            <a:r>
              <a:rPr lang="en-US" sz="1600" dirty="0" err="1">
                <a:latin typeface="Consolas" panose="020B0609020204030204" pitchFamily="49" charset="0"/>
              </a:rPr>
              <a:t>mxoqv</a:t>
            </a:r>
            <a:endParaRPr lang="en-US" sz="1600" dirty="0">
              <a:latin typeface="Consolas" panose="020B0609020204030204" pitchFamily="49" charset="0"/>
            </a:endParaRPr>
          </a:p>
          <a:p>
            <a:pPr marL="0" indent="0">
              <a:buNone/>
            </a:pPr>
            <a:r>
              <a:rPr lang="en-US" sz="1600" dirty="0">
                <a:latin typeface="Consolas" panose="020B0609020204030204" pitchFamily="49" charset="0"/>
              </a:rPr>
              <a:t>7   </a:t>
            </a:r>
            <a:r>
              <a:rPr lang="en-US" sz="1600" dirty="0" err="1">
                <a:latin typeface="Consolas" panose="020B0609020204030204" pitchFamily="49" charset="0"/>
              </a:rPr>
              <a:t>iaap</a:t>
            </a:r>
            <a:r>
              <a:rPr lang="en-US" sz="1600" dirty="0">
                <a:latin typeface="Consolas" panose="020B0609020204030204" pitchFamily="49" charset="0"/>
              </a:rPr>
              <a:t> </a:t>
            </a:r>
            <a:r>
              <a:rPr lang="en-US" sz="1600" dirty="0" err="1">
                <a:latin typeface="Consolas" panose="020B0609020204030204" pitchFamily="49" charset="0"/>
              </a:rPr>
              <a:t>ia</a:t>
            </a:r>
            <a:r>
              <a:rPr lang="en-US" sz="1600" dirty="0">
                <a:latin typeface="Consolas" panose="020B0609020204030204" pitchFamily="49" charset="0"/>
              </a:rPr>
              <a:t> </a:t>
            </a:r>
            <a:r>
              <a:rPr lang="en-US" sz="1600" dirty="0" err="1">
                <a:latin typeface="Consolas" panose="020B0609020204030204" pitchFamily="49" charset="0"/>
              </a:rPr>
              <a:t>wbpan</a:t>
            </a:r>
            <a:r>
              <a:rPr lang="en-US" sz="1600" dirty="0">
                <a:latin typeface="Consolas" panose="020B0609020204030204" pitchFamily="49" charset="0"/>
              </a:rPr>
              <a:t> </a:t>
            </a:r>
            <a:r>
              <a:rPr lang="en-US" sz="1600" dirty="0" err="1">
                <a:latin typeface="Consolas" panose="020B0609020204030204" pitchFamily="49" charset="0"/>
              </a:rPr>
              <a:t>pda</a:t>
            </a:r>
            <a:r>
              <a:rPr lang="en-US" sz="1600" dirty="0">
                <a:latin typeface="Consolas" panose="020B0609020204030204" pitchFamily="49" charset="0"/>
              </a:rPr>
              <a:t> </a:t>
            </a:r>
            <a:r>
              <a:rPr lang="en-US" sz="1600" dirty="0" err="1">
                <a:latin typeface="Consolas" panose="020B0609020204030204" pitchFamily="49" charset="0"/>
              </a:rPr>
              <a:t>pkcw</a:t>
            </a:r>
            <a:r>
              <a:rPr lang="en-US" sz="1600" dirty="0">
                <a:latin typeface="Consolas" panose="020B0609020204030204" pitchFamily="49" charset="0"/>
              </a:rPr>
              <a:t> </a:t>
            </a:r>
            <a:r>
              <a:rPr lang="en-US" sz="1600" dirty="0" err="1">
                <a:latin typeface="Consolas" panose="020B0609020204030204" pitchFamily="49" charset="0"/>
              </a:rPr>
              <a:t>lwnpu</a:t>
            </a:r>
            <a:r>
              <a:rPr lang="en-US" sz="1600" dirty="0">
                <a:latin typeface="Consolas" panose="020B0609020204030204" pitchFamily="49" charset="0"/>
              </a:rPr>
              <a:t> </a:t>
            </a:r>
          </a:p>
          <a:p>
            <a:pPr marL="0" indent="0">
              <a:buNone/>
            </a:pPr>
            <a:r>
              <a:rPr lang="en-US" sz="1600" dirty="0">
                <a:latin typeface="Consolas" panose="020B0609020204030204" pitchFamily="49" charset="0"/>
              </a:rPr>
              <a:t>8   </a:t>
            </a:r>
            <a:r>
              <a:rPr lang="en-US" sz="1600" dirty="0" err="1">
                <a:latin typeface="Consolas" panose="020B0609020204030204" pitchFamily="49" charset="0"/>
              </a:rPr>
              <a:t>hzzo</a:t>
            </a:r>
            <a:r>
              <a:rPr lang="en-US" sz="1600" dirty="0">
                <a:latin typeface="Consolas" panose="020B0609020204030204" pitchFamily="49" charset="0"/>
              </a:rPr>
              <a:t> </a:t>
            </a:r>
            <a:r>
              <a:rPr lang="en-US" sz="1600" dirty="0" err="1">
                <a:latin typeface="Consolas" panose="020B0609020204030204" pitchFamily="49" charset="0"/>
              </a:rPr>
              <a:t>hz</a:t>
            </a:r>
            <a:r>
              <a:rPr lang="en-US" sz="1600" dirty="0">
                <a:latin typeface="Consolas" panose="020B0609020204030204" pitchFamily="49" charset="0"/>
              </a:rPr>
              <a:t> </a:t>
            </a:r>
            <a:r>
              <a:rPr lang="en-US" sz="1600" dirty="0" err="1">
                <a:latin typeface="Consolas" panose="020B0609020204030204" pitchFamily="49" charset="0"/>
              </a:rPr>
              <a:t>vaozm</a:t>
            </a:r>
            <a:r>
              <a:rPr lang="en-US" sz="1600" dirty="0">
                <a:latin typeface="Consolas" panose="020B0609020204030204" pitchFamily="49" charset="0"/>
              </a:rPr>
              <a:t> </a:t>
            </a:r>
            <a:r>
              <a:rPr lang="en-US" sz="1600" dirty="0" err="1">
                <a:latin typeface="Consolas" panose="020B0609020204030204" pitchFamily="49" charset="0"/>
              </a:rPr>
              <a:t>ocz</a:t>
            </a:r>
            <a:r>
              <a:rPr lang="en-US" sz="1600" dirty="0">
                <a:latin typeface="Consolas" panose="020B0609020204030204" pitchFamily="49" charset="0"/>
              </a:rPr>
              <a:t> </a:t>
            </a:r>
            <a:r>
              <a:rPr lang="en-US" sz="1600" dirty="0" err="1">
                <a:latin typeface="Consolas" panose="020B0609020204030204" pitchFamily="49" charset="0"/>
              </a:rPr>
              <a:t>ojbv</a:t>
            </a:r>
            <a:r>
              <a:rPr lang="en-US" sz="1600" dirty="0">
                <a:latin typeface="Consolas" panose="020B0609020204030204" pitchFamily="49" charset="0"/>
              </a:rPr>
              <a:t> </a:t>
            </a:r>
            <a:r>
              <a:rPr lang="en-US" sz="1600" dirty="0" err="1">
                <a:latin typeface="Consolas" panose="020B0609020204030204" pitchFamily="49" charset="0"/>
              </a:rPr>
              <a:t>kvmot</a:t>
            </a:r>
            <a:r>
              <a:rPr lang="en-US" sz="1600" dirty="0">
                <a:latin typeface="Consolas" panose="020B0609020204030204" pitchFamily="49" charset="0"/>
              </a:rPr>
              <a:t> </a:t>
            </a:r>
          </a:p>
          <a:p>
            <a:pPr marL="0" indent="0">
              <a:buNone/>
            </a:pPr>
            <a:r>
              <a:rPr lang="en-US" sz="1600" dirty="0">
                <a:latin typeface="Consolas" panose="020B0609020204030204" pitchFamily="49" charset="0"/>
              </a:rPr>
              <a:t>9   </a:t>
            </a:r>
            <a:r>
              <a:rPr lang="en-US" sz="1600" dirty="0" err="1">
                <a:latin typeface="Consolas" panose="020B0609020204030204" pitchFamily="49" charset="0"/>
              </a:rPr>
              <a:t>gyyn</a:t>
            </a:r>
            <a:r>
              <a:rPr lang="en-US" sz="1600" dirty="0">
                <a:latin typeface="Consolas" panose="020B0609020204030204" pitchFamily="49" charset="0"/>
              </a:rPr>
              <a:t> </a:t>
            </a:r>
            <a:r>
              <a:rPr lang="en-US" sz="1600" dirty="0" err="1">
                <a:latin typeface="Consolas" panose="020B0609020204030204" pitchFamily="49" charset="0"/>
              </a:rPr>
              <a:t>gy</a:t>
            </a:r>
            <a:r>
              <a:rPr lang="en-US" sz="1600" dirty="0">
                <a:latin typeface="Consolas" panose="020B0609020204030204" pitchFamily="49" charset="0"/>
              </a:rPr>
              <a:t> </a:t>
            </a:r>
            <a:r>
              <a:rPr lang="en-US" sz="1600" dirty="0" err="1">
                <a:latin typeface="Consolas" panose="020B0609020204030204" pitchFamily="49" charset="0"/>
              </a:rPr>
              <a:t>uznyl</a:t>
            </a:r>
            <a:r>
              <a:rPr lang="en-US" sz="1600" dirty="0">
                <a:latin typeface="Consolas" panose="020B0609020204030204" pitchFamily="49" charset="0"/>
              </a:rPr>
              <a:t> </a:t>
            </a:r>
            <a:r>
              <a:rPr lang="en-US" sz="1600" dirty="0" err="1">
                <a:latin typeface="Consolas" panose="020B0609020204030204" pitchFamily="49" charset="0"/>
              </a:rPr>
              <a:t>nby</a:t>
            </a:r>
            <a:r>
              <a:rPr lang="en-US" sz="1600" dirty="0">
                <a:latin typeface="Consolas" panose="020B0609020204030204" pitchFamily="49" charset="0"/>
              </a:rPr>
              <a:t> </a:t>
            </a:r>
            <a:r>
              <a:rPr lang="en-US" sz="1600" dirty="0" err="1">
                <a:latin typeface="Consolas" panose="020B0609020204030204" pitchFamily="49" charset="0"/>
              </a:rPr>
              <a:t>niau</a:t>
            </a:r>
            <a:r>
              <a:rPr lang="en-US" sz="1600" dirty="0">
                <a:latin typeface="Consolas" panose="020B0609020204030204" pitchFamily="49" charset="0"/>
              </a:rPr>
              <a:t> </a:t>
            </a:r>
            <a:r>
              <a:rPr lang="en-US" sz="1600" dirty="0" err="1">
                <a:latin typeface="Consolas" panose="020B0609020204030204" pitchFamily="49" charset="0"/>
              </a:rPr>
              <a:t>julns</a:t>
            </a:r>
            <a:r>
              <a:rPr lang="en-US" sz="1600" dirty="0">
                <a:latin typeface="Consolas" panose="020B0609020204030204" pitchFamily="49" charset="0"/>
              </a:rPr>
              <a:t> </a:t>
            </a:r>
          </a:p>
          <a:p>
            <a:pPr marL="0" indent="0">
              <a:buNone/>
            </a:pPr>
            <a:r>
              <a:rPr lang="en-US" sz="1600" dirty="0">
                <a:latin typeface="Consolas" panose="020B0609020204030204" pitchFamily="49" charset="0"/>
              </a:rPr>
              <a:t>10  </a:t>
            </a:r>
            <a:r>
              <a:rPr lang="en-US" sz="1600" dirty="0" err="1">
                <a:latin typeface="Consolas" panose="020B0609020204030204" pitchFamily="49" charset="0"/>
              </a:rPr>
              <a:t>fxxm</a:t>
            </a:r>
            <a:r>
              <a:rPr lang="en-US" sz="1600" dirty="0">
                <a:latin typeface="Consolas" panose="020B0609020204030204" pitchFamily="49" charset="0"/>
              </a:rPr>
              <a:t> </a:t>
            </a:r>
            <a:r>
              <a:rPr lang="en-US" sz="1600" dirty="0" err="1">
                <a:latin typeface="Consolas" panose="020B0609020204030204" pitchFamily="49" charset="0"/>
              </a:rPr>
              <a:t>fx</a:t>
            </a:r>
            <a:r>
              <a:rPr lang="en-US" sz="1600" dirty="0">
                <a:latin typeface="Consolas" panose="020B0609020204030204" pitchFamily="49" charset="0"/>
              </a:rPr>
              <a:t> </a:t>
            </a:r>
            <a:r>
              <a:rPr lang="en-US" sz="1600" dirty="0" err="1">
                <a:latin typeface="Consolas" panose="020B0609020204030204" pitchFamily="49" charset="0"/>
              </a:rPr>
              <a:t>tymxk</a:t>
            </a:r>
            <a:r>
              <a:rPr lang="en-US" sz="1600" dirty="0">
                <a:latin typeface="Consolas" panose="020B0609020204030204" pitchFamily="49" charset="0"/>
              </a:rPr>
              <a:t> max </a:t>
            </a:r>
            <a:r>
              <a:rPr lang="en-US" sz="1600" dirty="0" err="1">
                <a:latin typeface="Consolas" panose="020B0609020204030204" pitchFamily="49" charset="0"/>
              </a:rPr>
              <a:t>mhzt</a:t>
            </a:r>
            <a:r>
              <a:rPr lang="en-US" sz="1600" dirty="0">
                <a:latin typeface="Consolas" panose="020B0609020204030204" pitchFamily="49" charset="0"/>
              </a:rPr>
              <a:t> </a:t>
            </a:r>
            <a:r>
              <a:rPr lang="en-US" sz="1600" dirty="0" err="1">
                <a:latin typeface="Consolas" panose="020B0609020204030204" pitchFamily="49" charset="0"/>
              </a:rPr>
              <a:t>itkmr</a:t>
            </a:r>
            <a:r>
              <a:rPr lang="en-US" sz="1600" dirty="0">
                <a:latin typeface="Consolas" panose="020B0609020204030204" pitchFamily="49" charset="0"/>
              </a:rPr>
              <a:t> </a:t>
            </a:r>
          </a:p>
          <a:p>
            <a:pPr marL="0" indent="0">
              <a:buNone/>
            </a:pPr>
            <a:r>
              <a:rPr lang="en-US" sz="1600" dirty="0">
                <a:latin typeface="Consolas" panose="020B0609020204030204" pitchFamily="49" charset="0"/>
              </a:rPr>
              <a:t>11  </a:t>
            </a:r>
            <a:r>
              <a:rPr lang="en-US" sz="1600" dirty="0" err="1">
                <a:latin typeface="Consolas" panose="020B0609020204030204" pitchFamily="49" charset="0"/>
              </a:rPr>
              <a:t>ewwl</a:t>
            </a:r>
            <a:r>
              <a:rPr lang="en-US" sz="1600" dirty="0">
                <a:latin typeface="Consolas" panose="020B0609020204030204" pitchFamily="49" charset="0"/>
              </a:rPr>
              <a:t> </a:t>
            </a:r>
            <a:r>
              <a:rPr lang="en-US" sz="1600" dirty="0" err="1">
                <a:latin typeface="Consolas" panose="020B0609020204030204" pitchFamily="49" charset="0"/>
              </a:rPr>
              <a:t>ew</a:t>
            </a:r>
            <a:r>
              <a:rPr lang="en-US" sz="1600" dirty="0">
                <a:latin typeface="Consolas" panose="020B0609020204030204" pitchFamily="49" charset="0"/>
              </a:rPr>
              <a:t> </a:t>
            </a:r>
            <a:r>
              <a:rPr lang="en-US" sz="1600" dirty="0" err="1">
                <a:latin typeface="Consolas" panose="020B0609020204030204" pitchFamily="49" charset="0"/>
              </a:rPr>
              <a:t>sxlwj</a:t>
            </a:r>
            <a:r>
              <a:rPr lang="en-US" sz="1600" dirty="0">
                <a:latin typeface="Consolas" panose="020B0609020204030204" pitchFamily="49" charset="0"/>
              </a:rPr>
              <a:t> </a:t>
            </a:r>
            <a:r>
              <a:rPr lang="en-US" sz="1600" dirty="0" err="1">
                <a:latin typeface="Consolas" panose="020B0609020204030204" pitchFamily="49" charset="0"/>
              </a:rPr>
              <a:t>lzw</a:t>
            </a:r>
            <a:r>
              <a:rPr lang="en-US" sz="1600" dirty="0">
                <a:latin typeface="Consolas" panose="020B0609020204030204" pitchFamily="49" charset="0"/>
              </a:rPr>
              <a:t> </a:t>
            </a:r>
            <a:r>
              <a:rPr lang="en-US" sz="1600" dirty="0" err="1">
                <a:latin typeface="Consolas" panose="020B0609020204030204" pitchFamily="49" charset="0"/>
              </a:rPr>
              <a:t>lgys</a:t>
            </a:r>
            <a:r>
              <a:rPr lang="en-US" sz="1600" dirty="0">
                <a:latin typeface="Consolas" panose="020B0609020204030204" pitchFamily="49" charset="0"/>
              </a:rPr>
              <a:t> </a:t>
            </a:r>
            <a:r>
              <a:rPr lang="en-US" sz="1600" dirty="0" err="1">
                <a:latin typeface="Consolas" panose="020B0609020204030204" pitchFamily="49" charset="0"/>
              </a:rPr>
              <a:t>hsjlq</a:t>
            </a:r>
            <a:r>
              <a:rPr lang="en-US" sz="1600" dirty="0">
                <a:latin typeface="Consolas" panose="020B0609020204030204" pitchFamily="49" charset="0"/>
              </a:rPr>
              <a:t> </a:t>
            </a:r>
          </a:p>
          <a:p>
            <a:pPr marL="0" indent="0">
              <a:buNone/>
            </a:pPr>
            <a:r>
              <a:rPr lang="en-US" sz="1600" dirty="0">
                <a:latin typeface="Consolas" panose="020B0609020204030204" pitchFamily="49" charset="0"/>
              </a:rPr>
              <a:t>12  </a:t>
            </a:r>
            <a:r>
              <a:rPr lang="en-US" sz="1600" dirty="0" err="1">
                <a:latin typeface="Consolas" panose="020B0609020204030204" pitchFamily="49" charset="0"/>
              </a:rPr>
              <a:t>dvvk</a:t>
            </a:r>
            <a:r>
              <a:rPr lang="en-US" sz="1600" dirty="0">
                <a:latin typeface="Consolas" panose="020B0609020204030204" pitchFamily="49" charset="0"/>
              </a:rPr>
              <a:t> dv </a:t>
            </a:r>
            <a:r>
              <a:rPr lang="en-US" sz="1600" dirty="0" err="1">
                <a:latin typeface="Consolas" panose="020B0609020204030204" pitchFamily="49" charset="0"/>
              </a:rPr>
              <a:t>rwkvi</a:t>
            </a:r>
            <a:r>
              <a:rPr lang="en-US" sz="1600" dirty="0">
                <a:latin typeface="Consolas" panose="020B0609020204030204" pitchFamily="49" charset="0"/>
              </a:rPr>
              <a:t> </a:t>
            </a:r>
            <a:r>
              <a:rPr lang="en-US" sz="1600" dirty="0" err="1">
                <a:latin typeface="Consolas" panose="020B0609020204030204" pitchFamily="49" charset="0"/>
              </a:rPr>
              <a:t>kyv</a:t>
            </a:r>
            <a:r>
              <a:rPr lang="en-US" sz="1600" dirty="0">
                <a:latin typeface="Consolas" panose="020B0609020204030204" pitchFamily="49" charset="0"/>
              </a:rPr>
              <a:t> </a:t>
            </a:r>
            <a:r>
              <a:rPr lang="en-US" sz="1600" dirty="0" err="1">
                <a:latin typeface="Consolas" panose="020B0609020204030204" pitchFamily="49" charset="0"/>
              </a:rPr>
              <a:t>kfxr</a:t>
            </a:r>
            <a:r>
              <a:rPr lang="en-US" sz="1600" dirty="0">
                <a:latin typeface="Consolas" panose="020B0609020204030204" pitchFamily="49" charset="0"/>
              </a:rPr>
              <a:t> </a:t>
            </a:r>
            <a:r>
              <a:rPr lang="en-US" sz="1600" dirty="0" err="1">
                <a:latin typeface="Consolas" panose="020B0609020204030204" pitchFamily="49" charset="0"/>
              </a:rPr>
              <a:t>grikp</a:t>
            </a:r>
            <a:r>
              <a:rPr lang="en-US" sz="1600" dirty="0">
                <a:latin typeface="Consolas" panose="020B0609020204030204" pitchFamily="49" charset="0"/>
              </a:rPr>
              <a:t> </a:t>
            </a:r>
          </a:p>
          <a:p>
            <a:pPr marL="0" indent="0">
              <a:buNone/>
            </a:pPr>
            <a:r>
              <a:rPr lang="en-US" sz="1600" dirty="0">
                <a:latin typeface="Consolas" panose="020B0609020204030204" pitchFamily="49" charset="0"/>
              </a:rPr>
              <a:t>13  </a:t>
            </a:r>
            <a:r>
              <a:rPr lang="en-US" sz="1600" dirty="0" err="1">
                <a:latin typeface="Consolas" panose="020B0609020204030204" pitchFamily="49" charset="0"/>
              </a:rPr>
              <a:t>cuuj</a:t>
            </a:r>
            <a:r>
              <a:rPr lang="en-US" sz="1600" dirty="0">
                <a:latin typeface="Consolas" panose="020B0609020204030204" pitchFamily="49" charset="0"/>
              </a:rPr>
              <a:t> cu </a:t>
            </a:r>
            <a:r>
              <a:rPr lang="en-US" sz="1600" dirty="0" err="1">
                <a:latin typeface="Consolas" panose="020B0609020204030204" pitchFamily="49" charset="0"/>
              </a:rPr>
              <a:t>qvjuh</a:t>
            </a:r>
            <a:r>
              <a:rPr lang="en-US" sz="1600" dirty="0">
                <a:latin typeface="Consolas" panose="020B0609020204030204" pitchFamily="49" charset="0"/>
              </a:rPr>
              <a:t> </a:t>
            </a:r>
            <a:r>
              <a:rPr lang="en-US" sz="1600" dirty="0" err="1">
                <a:latin typeface="Consolas" panose="020B0609020204030204" pitchFamily="49" charset="0"/>
              </a:rPr>
              <a:t>jxu</a:t>
            </a:r>
            <a:r>
              <a:rPr lang="en-US" sz="1600" dirty="0">
                <a:latin typeface="Consolas" panose="020B0609020204030204" pitchFamily="49" charset="0"/>
              </a:rPr>
              <a:t> </a:t>
            </a:r>
            <a:r>
              <a:rPr lang="en-US" sz="1600" dirty="0" err="1">
                <a:latin typeface="Consolas" panose="020B0609020204030204" pitchFamily="49" charset="0"/>
              </a:rPr>
              <a:t>jewq</a:t>
            </a:r>
            <a:r>
              <a:rPr lang="en-US" sz="1600" dirty="0">
                <a:latin typeface="Consolas" panose="020B0609020204030204" pitchFamily="49" charset="0"/>
              </a:rPr>
              <a:t> </a:t>
            </a:r>
            <a:r>
              <a:rPr lang="en-US" sz="1600" dirty="0" err="1">
                <a:latin typeface="Consolas" panose="020B0609020204030204" pitchFamily="49" charset="0"/>
              </a:rPr>
              <a:t>fqhjo</a:t>
            </a:r>
            <a:endParaRPr lang="en-US" sz="1600" dirty="0">
              <a:latin typeface="Consolas" panose="020B0609020204030204" pitchFamily="49" charset="0"/>
            </a:endParaRPr>
          </a:p>
        </p:txBody>
      </p:sp>
      <p:sp>
        <p:nvSpPr>
          <p:cNvPr id="4" name="Content Placeholder 2">
            <a:extLst>
              <a:ext uri="{FF2B5EF4-FFF2-40B4-BE49-F238E27FC236}">
                <a16:creationId xmlns:a16="http://schemas.microsoft.com/office/drawing/2014/main" id="{488EF1BD-8D4C-28CA-8522-005EC170B262}"/>
              </a:ext>
            </a:extLst>
          </p:cNvPr>
          <p:cNvSpPr txBox="1">
            <a:spLocks/>
          </p:cNvSpPr>
          <p:nvPr/>
        </p:nvSpPr>
        <p:spPr>
          <a:xfrm>
            <a:off x="4767336" y="1565785"/>
            <a:ext cx="4269160" cy="4676700"/>
          </a:xfrm>
          <a:prstGeom prst="rect">
            <a:avLst/>
          </a:prstGeom>
        </p:spPr>
        <p:txBody>
          <a:bodyPr>
            <a:no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endParaRPr lang="en-US" sz="1600" dirty="0">
              <a:latin typeface="Consolas" panose="020B0609020204030204" pitchFamily="49" charset="0"/>
            </a:endParaRPr>
          </a:p>
          <a:p>
            <a:pPr marL="0" indent="0">
              <a:buFont typeface="Arial" pitchFamily="34" charset="0"/>
              <a:buNone/>
            </a:pPr>
            <a:endParaRPr lang="en-US" sz="1600" dirty="0">
              <a:latin typeface="Consolas" panose="020B0609020204030204" pitchFamily="49" charset="0"/>
            </a:endParaRPr>
          </a:p>
          <a:p>
            <a:pPr marL="0" indent="0">
              <a:buFont typeface="Arial" pitchFamily="34" charset="0"/>
              <a:buNone/>
            </a:pPr>
            <a:endParaRPr lang="en-US" sz="1600" dirty="0">
              <a:latin typeface="Consolas" panose="020B0609020204030204" pitchFamily="49" charset="0"/>
            </a:endParaRPr>
          </a:p>
          <a:p>
            <a:pPr marL="0" indent="0">
              <a:buFont typeface="Arial" pitchFamily="34" charset="0"/>
              <a:buNone/>
            </a:pPr>
            <a:endParaRPr lang="en-US" sz="1600" dirty="0">
              <a:latin typeface="Consolas" panose="020B0609020204030204" pitchFamily="49" charset="0"/>
            </a:endParaRPr>
          </a:p>
          <a:p>
            <a:pPr marL="0" indent="0">
              <a:buFont typeface="Arial" pitchFamily="34" charset="0"/>
              <a:buNone/>
            </a:pPr>
            <a:r>
              <a:rPr lang="en-US" sz="1600" dirty="0">
                <a:latin typeface="Consolas" panose="020B0609020204030204" pitchFamily="49" charset="0"/>
              </a:rPr>
              <a:t>14  </a:t>
            </a:r>
            <a:r>
              <a:rPr lang="en-US" sz="1600" dirty="0" err="1">
                <a:latin typeface="Consolas" panose="020B0609020204030204" pitchFamily="49" charset="0"/>
              </a:rPr>
              <a:t>btti</a:t>
            </a:r>
            <a:r>
              <a:rPr lang="en-US" sz="1600" dirty="0">
                <a:latin typeface="Consolas" panose="020B0609020204030204" pitchFamily="49" charset="0"/>
              </a:rPr>
              <a:t> </a:t>
            </a:r>
            <a:r>
              <a:rPr lang="en-US" sz="1600" dirty="0" err="1">
                <a:latin typeface="Consolas" panose="020B0609020204030204" pitchFamily="49" charset="0"/>
              </a:rPr>
              <a:t>bt</a:t>
            </a:r>
            <a:r>
              <a:rPr lang="en-US" sz="1600" dirty="0">
                <a:latin typeface="Consolas" panose="020B0609020204030204" pitchFamily="49" charset="0"/>
              </a:rPr>
              <a:t> </a:t>
            </a:r>
            <a:r>
              <a:rPr lang="en-US" sz="1600" dirty="0" err="1">
                <a:latin typeface="Consolas" panose="020B0609020204030204" pitchFamily="49" charset="0"/>
              </a:rPr>
              <a:t>puitg</a:t>
            </a:r>
            <a:r>
              <a:rPr lang="en-US" sz="1600" dirty="0">
                <a:latin typeface="Consolas" panose="020B0609020204030204" pitchFamily="49" charset="0"/>
              </a:rPr>
              <a:t> </a:t>
            </a:r>
            <a:r>
              <a:rPr lang="en-US" sz="1600" dirty="0" err="1">
                <a:latin typeface="Consolas" panose="020B0609020204030204" pitchFamily="49" charset="0"/>
              </a:rPr>
              <a:t>iwt</a:t>
            </a:r>
            <a:r>
              <a:rPr lang="en-US" sz="1600" dirty="0">
                <a:latin typeface="Consolas" panose="020B0609020204030204" pitchFamily="49" charset="0"/>
              </a:rPr>
              <a:t> </a:t>
            </a:r>
            <a:r>
              <a:rPr lang="en-US" sz="1600" dirty="0" err="1">
                <a:latin typeface="Consolas" panose="020B0609020204030204" pitchFamily="49" charset="0"/>
              </a:rPr>
              <a:t>idvp</a:t>
            </a:r>
            <a:r>
              <a:rPr lang="en-US" sz="1600" dirty="0">
                <a:latin typeface="Consolas" panose="020B0609020204030204" pitchFamily="49" charset="0"/>
              </a:rPr>
              <a:t> </a:t>
            </a:r>
            <a:r>
              <a:rPr lang="en-US" sz="1600" dirty="0" err="1">
                <a:latin typeface="Consolas" panose="020B0609020204030204" pitchFamily="49" charset="0"/>
              </a:rPr>
              <a:t>epgin</a:t>
            </a:r>
            <a:r>
              <a:rPr lang="en-US" sz="1600" dirty="0">
                <a:latin typeface="Consolas" panose="020B0609020204030204" pitchFamily="49" charset="0"/>
              </a:rPr>
              <a:t> </a:t>
            </a:r>
          </a:p>
          <a:p>
            <a:pPr marL="0" indent="0">
              <a:buFont typeface="Arial" pitchFamily="34" charset="0"/>
              <a:buNone/>
            </a:pPr>
            <a:r>
              <a:rPr lang="en-US" sz="1600" dirty="0">
                <a:latin typeface="Consolas" panose="020B0609020204030204" pitchFamily="49" charset="0"/>
              </a:rPr>
              <a:t>15  </a:t>
            </a:r>
            <a:r>
              <a:rPr lang="en-US" sz="1600" dirty="0" err="1">
                <a:latin typeface="Consolas" panose="020B0609020204030204" pitchFamily="49" charset="0"/>
              </a:rPr>
              <a:t>assh</a:t>
            </a:r>
            <a:r>
              <a:rPr lang="en-US" sz="1600" dirty="0">
                <a:latin typeface="Consolas" panose="020B0609020204030204" pitchFamily="49" charset="0"/>
              </a:rPr>
              <a:t> as </a:t>
            </a:r>
            <a:r>
              <a:rPr lang="en-US" sz="1600" dirty="0" err="1">
                <a:latin typeface="Consolas" panose="020B0609020204030204" pitchFamily="49" charset="0"/>
              </a:rPr>
              <a:t>othsf</a:t>
            </a:r>
            <a:r>
              <a:rPr lang="en-US" sz="1600" dirty="0">
                <a:latin typeface="Consolas" panose="020B0609020204030204" pitchFamily="49" charset="0"/>
              </a:rPr>
              <a:t> </a:t>
            </a:r>
            <a:r>
              <a:rPr lang="en-US" sz="1600" dirty="0" err="1">
                <a:latin typeface="Consolas" panose="020B0609020204030204" pitchFamily="49" charset="0"/>
              </a:rPr>
              <a:t>hvs</a:t>
            </a:r>
            <a:r>
              <a:rPr lang="en-US" sz="1600" dirty="0">
                <a:latin typeface="Consolas" panose="020B0609020204030204" pitchFamily="49" charset="0"/>
              </a:rPr>
              <a:t> </a:t>
            </a:r>
            <a:r>
              <a:rPr lang="en-US" sz="1600" dirty="0" err="1">
                <a:latin typeface="Consolas" panose="020B0609020204030204" pitchFamily="49" charset="0"/>
              </a:rPr>
              <a:t>hcuo</a:t>
            </a:r>
            <a:r>
              <a:rPr lang="en-US" sz="1600" dirty="0">
                <a:latin typeface="Consolas" panose="020B0609020204030204" pitchFamily="49" charset="0"/>
              </a:rPr>
              <a:t> </a:t>
            </a:r>
            <a:r>
              <a:rPr lang="en-US" sz="1600" dirty="0" err="1">
                <a:latin typeface="Consolas" panose="020B0609020204030204" pitchFamily="49" charset="0"/>
              </a:rPr>
              <a:t>dofhm</a:t>
            </a:r>
            <a:r>
              <a:rPr lang="en-US" sz="1600" dirty="0">
                <a:latin typeface="Consolas" panose="020B0609020204030204" pitchFamily="49" charset="0"/>
              </a:rPr>
              <a:t> </a:t>
            </a:r>
          </a:p>
          <a:p>
            <a:pPr marL="0" indent="0">
              <a:buFont typeface="Arial" pitchFamily="34" charset="0"/>
              <a:buNone/>
            </a:pPr>
            <a:r>
              <a:rPr lang="en-US" sz="1600" dirty="0">
                <a:latin typeface="Consolas" panose="020B0609020204030204" pitchFamily="49" charset="0"/>
              </a:rPr>
              <a:t>16  </a:t>
            </a:r>
            <a:r>
              <a:rPr lang="en-US" sz="1600" dirty="0" err="1">
                <a:latin typeface="Consolas" panose="020B0609020204030204" pitchFamily="49" charset="0"/>
              </a:rPr>
              <a:t>zrrg</a:t>
            </a:r>
            <a:r>
              <a:rPr lang="en-US" sz="1600" dirty="0">
                <a:latin typeface="Consolas" panose="020B0609020204030204" pitchFamily="49" charset="0"/>
              </a:rPr>
              <a:t> </a:t>
            </a:r>
            <a:r>
              <a:rPr lang="en-US" sz="1600" dirty="0" err="1">
                <a:latin typeface="Consolas" panose="020B0609020204030204" pitchFamily="49" charset="0"/>
              </a:rPr>
              <a:t>zr</a:t>
            </a:r>
            <a:r>
              <a:rPr lang="en-US" sz="1600" dirty="0">
                <a:latin typeface="Consolas" panose="020B0609020204030204" pitchFamily="49" charset="0"/>
              </a:rPr>
              <a:t> </a:t>
            </a:r>
            <a:r>
              <a:rPr lang="en-US" sz="1600" dirty="0" err="1">
                <a:latin typeface="Consolas" panose="020B0609020204030204" pitchFamily="49" charset="0"/>
              </a:rPr>
              <a:t>nsgre</a:t>
            </a:r>
            <a:r>
              <a:rPr lang="en-US" sz="1600" dirty="0">
                <a:latin typeface="Consolas" panose="020B0609020204030204" pitchFamily="49" charset="0"/>
              </a:rPr>
              <a:t> gur </a:t>
            </a:r>
            <a:r>
              <a:rPr lang="en-US" sz="1600" dirty="0" err="1">
                <a:latin typeface="Consolas" panose="020B0609020204030204" pitchFamily="49" charset="0"/>
              </a:rPr>
              <a:t>gbtn</a:t>
            </a:r>
            <a:r>
              <a:rPr lang="en-US" sz="1600" dirty="0">
                <a:latin typeface="Consolas" panose="020B0609020204030204" pitchFamily="49" charset="0"/>
              </a:rPr>
              <a:t> </a:t>
            </a:r>
            <a:r>
              <a:rPr lang="en-US" sz="1600" dirty="0" err="1">
                <a:latin typeface="Consolas" panose="020B0609020204030204" pitchFamily="49" charset="0"/>
              </a:rPr>
              <a:t>cnegl</a:t>
            </a:r>
            <a:endParaRPr lang="en-US" sz="1600" dirty="0">
              <a:latin typeface="Consolas" panose="020B0609020204030204" pitchFamily="49" charset="0"/>
            </a:endParaRPr>
          </a:p>
          <a:p>
            <a:pPr marL="0" indent="0">
              <a:buFont typeface="Arial" pitchFamily="34" charset="0"/>
              <a:buNone/>
            </a:pPr>
            <a:r>
              <a:rPr lang="en-US" sz="1600" dirty="0">
                <a:latin typeface="Consolas" panose="020B0609020204030204" pitchFamily="49" charset="0"/>
              </a:rPr>
              <a:t>17  </a:t>
            </a:r>
            <a:r>
              <a:rPr lang="en-US" sz="1600" dirty="0" err="1">
                <a:latin typeface="Consolas" panose="020B0609020204030204" pitchFamily="49" charset="0"/>
              </a:rPr>
              <a:t>yqqf</a:t>
            </a:r>
            <a:r>
              <a:rPr lang="en-US" sz="1600" dirty="0">
                <a:latin typeface="Consolas" panose="020B0609020204030204" pitchFamily="49" charset="0"/>
              </a:rPr>
              <a:t> </a:t>
            </a:r>
            <a:r>
              <a:rPr lang="en-US" sz="1600" dirty="0" err="1">
                <a:latin typeface="Consolas" panose="020B0609020204030204" pitchFamily="49" charset="0"/>
              </a:rPr>
              <a:t>yq</a:t>
            </a:r>
            <a:r>
              <a:rPr lang="en-US" sz="1600" dirty="0">
                <a:latin typeface="Consolas" panose="020B0609020204030204" pitchFamily="49" charset="0"/>
              </a:rPr>
              <a:t> </a:t>
            </a:r>
            <a:r>
              <a:rPr lang="en-US" sz="1600" dirty="0" err="1">
                <a:latin typeface="Consolas" panose="020B0609020204030204" pitchFamily="49" charset="0"/>
              </a:rPr>
              <a:t>mrfqd</a:t>
            </a:r>
            <a:r>
              <a:rPr lang="en-US" sz="1600" dirty="0">
                <a:latin typeface="Consolas" panose="020B0609020204030204" pitchFamily="49" charset="0"/>
              </a:rPr>
              <a:t> </a:t>
            </a:r>
            <a:r>
              <a:rPr lang="en-US" sz="1600" dirty="0" err="1">
                <a:latin typeface="Consolas" panose="020B0609020204030204" pitchFamily="49" charset="0"/>
              </a:rPr>
              <a:t>ftq</a:t>
            </a:r>
            <a:r>
              <a:rPr lang="en-US" sz="1600" dirty="0">
                <a:latin typeface="Consolas" panose="020B0609020204030204" pitchFamily="49" charset="0"/>
              </a:rPr>
              <a:t> </a:t>
            </a:r>
            <a:r>
              <a:rPr lang="en-US" sz="1600" dirty="0" err="1">
                <a:latin typeface="Consolas" panose="020B0609020204030204" pitchFamily="49" charset="0"/>
              </a:rPr>
              <a:t>fasm</a:t>
            </a:r>
            <a:r>
              <a:rPr lang="en-US" sz="1600" dirty="0">
                <a:latin typeface="Consolas" panose="020B0609020204030204" pitchFamily="49" charset="0"/>
              </a:rPr>
              <a:t> </a:t>
            </a:r>
            <a:r>
              <a:rPr lang="en-US" sz="1600" dirty="0" err="1">
                <a:latin typeface="Consolas" panose="020B0609020204030204" pitchFamily="49" charset="0"/>
              </a:rPr>
              <a:t>bmdfk</a:t>
            </a:r>
            <a:endParaRPr lang="en-US" sz="1600" dirty="0">
              <a:latin typeface="Consolas" panose="020B0609020204030204" pitchFamily="49" charset="0"/>
            </a:endParaRPr>
          </a:p>
          <a:p>
            <a:pPr marL="0" indent="0">
              <a:buFont typeface="Arial" pitchFamily="34" charset="0"/>
              <a:buNone/>
            </a:pPr>
            <a:r>
              <a:rPr lang="en-US" sz="1600" dirty="0">
                <a:latin typeface="Consolas" panose="020B0609020204030204" pitchFamily="49" charset="0"/>
              </a:rPr>
              <a:t>18  </a:t>
            </a:r>
            <a:r>
              <a:rPr lang="en-US" sz="1600" dirty="0" err="1">
                <a:latin typeface="Consolas" panose="020B0609020204030204" pitchFamily="49" charset="0"/>
              </a:rPr>
              <a:t>xppe</a:t>
            </a:r>
            <a:r>
              <a:rPr lang="en-US" sz="1600" dirty="0">
                <a:latin typeface="Consolas" panose="020B0609020204030204" pitchFamily="49" charset="0"/>
              </a:rPr>
              <a:t> </a:t>
            </a:r>
            <a:r>
              <a:rPr lang="en-US" sz="1600" dirty="0" err="1">
                <a:latin typeface="Consolas" panose="020B0609020204030204" pitchFamily="49" charset="0"/>
              </a:rPr>
              <a:t>xp</a:t>
            </a:r>
            <a:r>
              <a:rPr lang="en-US" sz="1600" dirty="0">
                <a:latin typeface="Consolas" panose="020B0609020204030204" pitchFamily="49" charset="0"/>
              </a:rPr>
              <a:t> </a:t>
            </a:r>
            <a:r>
              <a:rPr lang="en-US" sz="1600" dirty="0" err="1">
                <a:latin typeface="Consolas" panose="020B0609020204030204" pitchFamily="49" charset="0"/>
              </a:rPr>
              <a:t>lqepc</a:t>
            </a:r>
            <a:r>
              <a:rPr lang="en-US" sz="1600" dirty="0">
                <a:latin typeface="Consolas" panose="020B0609020204030204" pitchFamily="49" charset="0"/>
              </a:rPr>
              <a:t> </a:t>
            </a:r>
            <a:r>
              <a:rPr lang="en-US" sz="1600" dirty="0" err="1">
                <a:latin typeface="Consolas" panose="020B0609020204030204" pitchFamily="49" charset="0"/>
              </a:rPr>
              <a:t>esp</a:t>
            </a:r>
            <a:r>
              <a:rPr lang="en-US" sz="1600" dirty="0">
                <a:latin typeface="Consolas" panose="020B0609020204030204" pitchFamily="49" charset="0"/>
              </a:rPr>
              <a:t> </a:t>
            </a:r>
            <a:r>
              <a:rPr lang="en-US" sz="1600" dirty="0" err="1">
                <a:latin typeface="Consolas" panose="020B0609020204030204" pitchFamily="49" charset="0"/>
              </a:rPr>
              <a:t>ezrl</a:t>
            </a:r>
            <a:r>
              <a:rPr lang="en-US" sz="1600" dirty="0">
                <a:latin typeface="Consolas" panose="020B0609020204030204" pitchFamily="49" charset="0"/>
              </a:rPr>
              <a:t> </a:t>
            </a:r>
            <a:r>
              <a:rPr lang="en-US" sz="1600" dirty="0" err="1">
                <a:latin typeface="Consolas" panose="020B0609020204030204" pitchFamily="49" charset="0"/>
              </a:rPr>
              <a:t>alcej</a:t>
            </a:r>
            <a:r>
              <a:rPr lang="en-US" sz="1600" dirty="0">
                <a:latin typeface="Consolas" panose="020B0609020204030204" pitchFamily="49" charset="0"/>
              </a:rPr>
              <a:t> </a:t>
            </a:r>
          </a:p>
          <a:p>
            <a:pPr marL="0" indent="0">
              <a:buFont typeface="Arial" pitchFamily="34" charset="0"/>
              <a:buNone/>
            </a:pPr>
            <a:r>
              <a:rPr lang="en-US" sz="1600" dirty="0">
                <a:latin typeface="Consolas" panose="020B0609020204030204" pitchFamily="49" charset="0"/>
              </a:rPr>
              <a:t>19  wood wo </a:t>
            </a:r>
            <a:r>
              <a:rPr lang="en-US" sz="1600" dirty="0" err="1">
                <a:latin typeface="Consolas" panose="020B0609020204030204" pitchFamily="49" charset="0"/>
              </a:rPr>
              <a:t>kpdob</a:t>
            </a:r>
            <a:r>
              <a:rPr lang="en-US" sz="1600" dirty="0">
                <a:latin typeface="Consolas" panose="020B0609020204030204" pitchFamily="49" charset="0"/>
              </a:rPr>
              <a:t> </a:t>
            </a:r>
            <a:r>
              <a:rPr lang="en-US" sz="1600" dirty="0" err="1">
                <a:latin typeface="Consolas" panose="020B0609020204030204" pitchFamily="49" charset="0"/>
              </a:rPr>
              <a:t>dro</a:t>
            </a:r>
            <a:r>
              <a:rPr lang="en-US" sz="1600" dirty="0">
                <a:latin typeface="Consolas" panose="020B0609020204030204" pitchFamily="49" charset="0"/>
              </a:rPr>
              <a:t> </a:t>
            </a:r>
            <a:r>
              <a:rPr lang="en-US" sz="1600" dirty="0" err="1">
                <a:latin typeface="Consolas" panose="020B0609020204030204" pitchFamily="49" charset="0"/>
              </a:rPr>
              <a:t>dyqk</a:t>
            </a:r>
            <a:r>
              <a:rPr lang="en-US" sz="1600" dirty="0">
                <a:latin typeface="Consolas" panose="020B0609020204030204" pitchFamily="49" charset="0"/>
              </a:rPr>
              <a:t> </a:t>
            </a:r>
            <a:r>
              <a:rPr lang="en-US" sz="1600" dirty="0" err="1">
                <a:latin typeface="Consolas" panose="020B0609020204030204" pitchFamily="49" charset="0"/>
              </a:rPr>
              <a:t>zkbdi</a:t>
            </a:r>
            <a:r>
              <a:rPr lang="en-US" sz="1600" dirty="0">
                <a:latin typeface="Consolas" panose="020B0609020204030204" pitchFamily="49" charset="0"/>
              </a:rPr>
              <a:t> </a:t>
            </a:r>
          </a:p>
          <a:p>
            <a:pPr marL="0" indent="0">
              <a:buFont typeface="Arial" pitchFamily="34" charset="0"/>
              <a:buNone/>
            </a:pPr>
            <a:r>
              <a:rPr lang="en-US" sz="1600" dirty="0">
                <a:latin typeface="Consolas" panose="020B0609020204030204" pitchFamily="49" charset="0"/>
              </a:rPr>
              <a:t>20  </a:t>
            </a:r>
            <a:r>
              <a:rPr lang="en-US" sz="1600" dirty="0" err="1">
                <a:latin typeface="Consolas" panose="020B0609020204030204" pitchFamily="49" charset="0"/>
              </a:rPr>
              <a:t>vnnc</a:t>
            </a:r>
            <a:r>
              <a:rPr lang="en-US" sz="1600" dirty="0">
                <a:latin typeface="Consolas" panose="020B0609020204030204" pitchFamily="49" charset="0"/>
              </a:rPr>
              <a:t> </a:t>
            </a:r>
            <a:r>
              <a:rPr lang="en-US" sz="1600" dirty="0" err="1">
                <a:latin typeface="Consolas" panose="020B0609020204030204" pitchFamily="49" charset="0"/>
              </a:rPr>
              <a:t>vn</a:t>
            </a:r>
            <a:r>
              <a:rPr lang="en-US" sz="1600" dirty="0">
                <a:latin typeface="Consolas" panose="020B0609020204030204" pitchFamily="49" charset="0"/>
              </a:rPr>
              <a:t> </a:t>
            </a:r>
            <a:r>
              <a:rPr lang="en-US" sz="1600" dirty="0" err="1">
                <a:latin typeface="Consolas" panose="020B0609020204030204" pitchFamily="49" charset="0"/>
              </a:rPr>
              <a:t>jocna</a:t>
            </a:r>
            <a:r>
              <a:rPr lang="en-US" sz="1600" dirty="0">
                <a:latin typeface="Consolas" panose="020B0609020204030204" pitchFamily="49" charset="0"/>
              </a:rPr>
              <a:t> </a:t>
            </a:r>
            <a:r>
              <a:rPr lang="en-US" sz="1600" dirty="0" err="1">
                <a:latin typeface="Consolas" panose="020B0609020204030204" pitchFamily="49" charset="0"/>
              </a:rPr>
              <a:t>cqn</a:t>
            </a:r>
            <a:r>
              <a:rPr lang="en-US" sz="1600" dirty="0">
                <a:latin typeface="Consolas" panose="020B0609020204030204" pitchFamily="49" charset="0"/>
              </a:rPr>
              <a:t> </a:t>
            </a:r>
            <a:r>
              <a:rPr lang="en-US" sz="1600" dirty="0" err="1">
                <a:latin typeface="Consolas" panose="020B0609020204030204" pitchFamily="49" charset="0"/>
              </a:rPr>
              <a:t>cxpj</a:t>
            </a:r>
            <a:r>
              <a:rPr lang="en-US" sz="1600" dirty="0">
                <a:latin typeface="Consolas" panose="020B0609020204030204" pitchFamily="49" charset="0"/>
              </a:rPr>
              <a:t> </a:t>
            </a:r>
            <a:r>
              <a:rPr lang="en-US" sz="1600" dirty="0" err="1">
                <a:latin typeface="Consolas" panose="020B0609020204030204" pitchFamily="49" charset="0"/>
              </a:rPr>
              <a:t>yjach</a:t>
            </a:r>
            <a:r>
              <a:rPr lang="en-US" sz="1600" dirty="0">
                <a:latin typeface="Consolas" panose="020B0609020204030204" pitchFamily="49" charset="0"/>
              </a:rPr>
              <a:t> </a:t>
            </a:r>
          </a:p>
          <a:p>
            <a:pPr marL="0" indent="0">
              <a:buFont typeface="Arial" pitchFamily="34" charset="0"/>
              <a:buNone/>
            </a:pPr>
            <a:r>
              <a:rPr lang="en-US" sz="1600" dirty="0">
                <a:latin typeface="Consolas" panose="020B0609020204030204" pitchFamily="49" charset="0"/>
              </a:rPr>
              <a:t>21  </a:t>
            </a:r>
            <a:r>
              <a:rPr lang="en-US" sz="1600" dirty="0" err="1">
                <a:latin typeface="Consolas" panose="020B0609020204030204" pitchFamily="49" charset="0"/>
              </a:rPr>
              <a:t>ummb</a:t>
            </a:r>
            <a:r>
              <a:rPr lang="en-US" sz="1600" dirty="0">
                <a:latin typeface="Consolas" panose="020B0609020204030204" pitchFamily="49" charset="0"/>
              </a:rPr>
              <a:t> um </a:t>
            </a:r>
            <a:r>
              <a:rPr lang="en-US" sz="1600" dirty="0" err="1">
                <a:latin typeface="Consolas" panose="020B0609020204030204" pitchFamily="49" charset="0"/>
              </a:rPr>
              <a:t>inbmz</a:t>
            </a:r>
            <a:r>
              <a:rPr lang="en-US" sz="1600" dirty="0">
                <a:latin typeface="Consolas" panose="020B0609020204030204" pitchFamily="49" charset="0"/>
              </a:rPr>
              <a:t> bpm </a:t>
            </a:r>
            <a:r>
              <a:rPr lang="en-US" sz="1600" dirty="0" err="1">
                <a:latin typeface="Consolas" panose="020B0609020204030204" pitchFamily="49" charset="0"/>
              </a:rPr>
              <a:t>bwoi</a:t>
            </a:r>
            <a:r>
              <a:rPr lang="en-US" sz="1600" dirty="0">
                <a:latin typeface="Consolas" panose="020B0609020204030204" pitchFamily="49" charset="0"/>
              </a:rPr>
              <a:t> </a:t>
            </a:r>
            <a:r>
              <a:rPr lang="en-US" sz="1600" dirty="0" err="1">
                <a:latin typeface="Consolas" panose="020B0609020204030204" pitchFamily="49" charset="0"/>
              </a:rPr>
              <a:t>xizbg</a:t>
            </a:r>
            <a:r>
              <a:rPr lang="en-US" sz="1600" dirty="0">
                <a:latin typeface="Consolas" panose="020B0609020204030204" pitchFamily="49" charset="0"/>
              </a:rPr>
              <a:t> </a:t>
            </a:r>
          </a:p>
          <a:p>
            <a:pPr marL="0" indent="0">
              <a:buFont typeface="Arial" pitchFamily="34" charset="0"/>
              <a:buNone/>
            </a:pPr>
            <a:r>
              <a:rPr lang="en-US" sz="1600" dirty="0">
                <a:latin typeface="Consolas" panose="020B0609020204030204" pitchFamily="49" charset="0"/>
              </a:rPr>
              <a:t>22  </a:t>
            </a:r>
            <a:r>
              <a:rPr lang="en-US" sz="1600" dirty="0" err="1">
                <a:latin typeface="Consolas" panose="020B0609020204030204" pitchFamily="49" charset="0"/>
              </a:rPr>
              <a:t>tlla</a:t>
            </a:r>
            <a:r>
              <a:rPr lang="en-US" sz="1600" dirty="0">
                <a:latin typeface="Consolas" panose="020B0609020204030204" pitchFamily="49" charset="0"/>
              </a:rPr>
              <a:t> </a:t>
            </a:r>
            <a:r>
              <a:rPr lang="en-US" sz="1600" dirty="0" err="1">
                <a:latin typeface="Consolas" panose="020B0609020204030204" pitchFamily="49" charset="0"/>
              </a:rPr>
              <a:t>tl</a:t>
            </a:r>
            <a:r>
              <a:rPr lang="en-US" sz="1600" dirty="0">
                <a:latin typeface="Consolas" panose="020B0609020204030204" pitchFamily="49" charset="0"/>
              </a:rPr>
              <a:t> </a:t>
            </a:r>
            <a:r>
              <a:rPr lang="en-US" sz="1600" dirty="0" err="1">
                <a:latin typeface="Consolas" panose="020B0609020204030204" pitchFamily="49" charset="0"/>
              </a:rPr>
              <a:t>hmaly</a:t>
            </a:r>
            <a:r>
              <a:rPr lang="en-US" sz="1600" dirty="0">
                <a:latin typeface="Consolas" panose="020B0609020204030204" pitchFamily="49" charset="0"/>
              </a:rPr>
              <a:t> </a:t>
            </a:r>
            <a:r>
              <a:rPr lang="en-US" sz="1600" dirty="0" err="1">
                <a:latin typeface="Consolas" panose="020B0609020204030204" pitchFamily="49" charset="0"/>
              </a:rPr>
              <a:t>aol</a:t>
            </a:r>
            <a:r>
              <a:rPr lang="en-US" sz="1600" dirty="0">
                <a:latin typeface="Consolas" panose="020B0609020204030204" pitchFamily="49" charset="0"/>
              </a:rPr>
              <a:t> </a:t>
            </a:r>
            <a:r>
              <a:rPr lang="en-US" sz="1600" dirty="0" err="1">
                <a:latin typeface="Consolas" panose="020B0609020204030204" pitchFamily="49" charset="0"/>
              </a:rPr>
              <a:t>avnh</a:t>
            </a:r>
            <a:r>
              <a:rPr lang="en-US" sz="1600" dirty="0">
                <a:latin typeface="Consolas" panose="020B0609020204030204" pitchFamily="49" charset="0"/>
              </a:rPr>
              <a:t> </a:t>
            </a:r>
            <a:r>
              <a:rPr lang="en-US" sz="1600" dirty="0" err="1">
                <a:latin typeface="Consolas" panose="020B0609020204030204" pitchFamily="49" charset="0"/>
              </a:rPr>
              <a:t>whyaf</a:t>
            </a:r>
            <a:r>
              <a:rPr lang="en-US" sz="1600" dirty="0">
                <a:latin typeface="Consolas" panose="020B0609020204030204" pitchFamily="49" charset="0"/>
              </a:rPr>
              <a:t> </a:t>
            </a:r>
          </a:p>
          <a:p>
            <a:pPr marL="0" indent="0">
              <a:buFont typeface="Arial" pitchFamily="34" charset="0"/>
              <a:buNone/>
            </a:pPr>
            <a:r>
              <a:rPr lang="en-US" sz="1600" dirty="0">
                <a:latin typeface="Consolas" panose="020B0609020204030204" pitchFamily="49" charset="0"/>
              </a:rPr>
              <a:t>23  </a:t>
            </a:r>
            <a:r>
              <a:rPr lang="en-US" sz="1600" dirty="0" err="1">
                <a:latin typeface="Consolas" panose="020B0609020204030204" pitchFamily="49" charset="0"/>
              </a:rPr>
              <a:t>skkz</a:t>
            </a:r>
            <a:r>
              <a:rPr lang="en-US" sz="1600" dirty="0">
                <a:latin typeface="Consolas" panose="020B0609020204030204" pitchFamily="49" charset="0"/>
              </a:rPr>
              <a:t> </a:t>
            </a:r>
            <a:r>
              <a:rPr lang="en-US" sz="1600" dirty="0" err="1">
                <a:latin typeface="Consolas" panose="020B0609020204030204" pitchFamily="49" charset="0"/>
              </a:rPr>
              <a:t>sk</a:t>
            </a:r>
            <a:r>
              <a:rPr lang="en-US" sz="1600" dirty="0">
                <a:latin typeface="Consolas" panose="020B0609020204030204" pitchFamily="49" charset="0"/>
              </a:rPr>
              <a:t> </a:t>
            </a:r>
            <a:r>
              <a:rPr lang="en-US" sz="1600" dirty="0" err="1">
                <a:latin typeface="Consolas" panose="020B0609020204030204" pitchFamily="49" charset="0"/>
              </a:rPr>
              <a:t>glzkx</a:t>
            </a:r>
            <a:r>
              <a:rPr lang="en-US" sz="1600" dirty="0">
                <a:latin typeface="Consolas" panose="020B0609020204030204" pitchFamily="49" charset="0"/>
              </a:rPr>
              <a:t> </a:t>
            </a:r>
            <a:r>
              <a:rPr lang="en-US" sz="1600" dirty="0" err="1">
                <a:latin typeface="Consolas" panose="020B0609020204030204" pitchFamily="49" charset="0"/>
              </a:rPr>
              <a:t>znk</a:t>
            </a:r>
            <a:r>
              <a:rPr lang="en-US" sz="1600" dirty="0">
                <a:latin typeface="Consolas" panose="020B0609020204030204" pitchFamily="49" charset="0"/>
              </a:rPr>
              <a:t> </a:t>
            </a:r>
            <a:r>
              <a:rPr lang="en-US" sz="1600" dirty="0" err="1">
                <a:latin typeface="Consolas" panose="020B0609020204030204" pitchFamily="49" charset="0"/>
              </a:rPr>
              <a:t>zumg</a:t>
            </a:r>
            <a:r>
              <a:rPr lang="en-US" sz="1600" dirty="0">
                <a:latin typeface="Consolas" panose="020B0609020204030204" pitchFamily="49" charset="0"/>
              </a:rPr>
              <a:t> </a:t>
            </a:r>
            <a:r>
              <a:rPr lang="en-US" sz="1600" dirty="0" err="1">
                <a:latin typeface="Consolas" panose="020B0609020204030204" pitchFamily="49" charset="0"/>
              </a:rPr>
              <a:t>vgxze</a:t>
            </a:r>
            <a:r>
              <a:rPr lang="en-US" sz="1600" dirty="0">
                <a:latin typeface="Consolas" panose="020B0609020204030204" pitchFamily="49" charset="0"/>
              </a:rPr>
              <a:t> </a:t>
            </a:r>
          </a:p>
          <a:p>
            <a:pPr marL="0" indent="0">
              <a:buFont typeface="Arial" pitchFamily="34" charset="0"/>
              <a:buNone/>
            </a:pPr>
            <a:r>
              <a:rPr lang="en-US" sz="1600" dirty="0">
                <a:latin typeface="Consolas" panose="020B0609020204030204" pitchFamily="49" charset="0"/>
              </a:rPr>
              <a:t>24  </a:t>
            </a:r>
            <a:r>
              <a:rPr lang="en-US" sz="1600" dirty="0" err="1">
                <a:latin typeface="Consolas" panose="020B0609020204030204" pitchFamily="49" charset="0"/>
              </a:rPr>
              <a:t>rjjy</a:t>
            </a:r>
            <a:r>
              <a:rPr lang="en-US" sz="1600" dirty="0">
                <a:latin typeface="Consolas" panose="020B0609020204030204" pitchFamily="49" charset="0"/>
              </a:rPr>
              <a:t> </a:t>
            </a:r>
            <a:r>
              <a:rPr lang="en-US" sz="1600" dirty="0" err="1">
                <a:latin typeface="Consolas" panose="020B0609020204030204" pitchFamily="49" charset="0"/>
              </a:rPr>
              <a:t>rj</a:t>
            </a:r>
            <a:r>
              <a:rPr lang="en-US" sz="1600" dirty="0">
                <a:latin typeface="Consolas" panose="020B0609020204030204" pitchFamily="49" charset="0"/>
              </a:rPr>
              <a:t> </a:t>
            </a:r>
            <a:r>
              <a:rPr lang="en-US" sz="1600" dirty="0" err="1">
                <a:latin typeface="Consolas" panose="020B0609020204030204" pitchFamily="49" charset="0"/>
              </a:rPr>
              <a:t>fkyjw</a:t>
            </a:r>
            <a:r>
              <a:rPr lang="en-US" sz="1600" dirty="0">
                <a:latin typeface="Consolas" panose="020B0609020204030204" pitchFamily="49" charset="0"/>
              </a:rPr>
              <a:t> </a:t>
            </a:r>
            <a:r>
              <a:rPr lang="en-US" sz="1600" dirty="0" err="1">
                <a:latin typeface="Consolas" panose="020B0609020204030204" pitchFamily="49" charset="0"/>
              </a:rPr>
              <a:t>ymj</a:t>
            </a:r>
            <a:r>
              <a:rPr lang="en-US" sz="1600" dirty="0">
                <a:latin typeface="Consolas" panose="020B0609020204030204" pitchFamily="49" charset="0"/>
              </a:rPr>
              <a:t> </a:t>
            </a:r>
            <a:r>
              <a:rPr lang="en-US" sz="1600" dirty="0" err="1">
                <a:latin typeface="Consolas" panose="020B0609020204030204" pitchFamily="49" charset="0"/>
              </a:rPr>
              <a:t>ytlf</a:t>
            </a:r>
            <a:r>
              <a:rPr lang="en-US" sz="1600" dirty="0">
                <a:latin typeface="Consolas" panose="020B0609020204030204" pitchFamily="49" charset="0"/>
              </a:rPr>
              <a:t> </a:t>
            </a:r>
            <a:r>
              <a:rPr lang="en-US" sz="1600" dirty="0" err="1">
                <a:latin typeface="Consolas" panose="020B0609020204030204" pitchFamily="49" charset="0"/>
              </a:rPr>
              <a:t>ufwyd</a:t>
            </a:r>
            <a:r>
              <a:rPr lang="en-US" sz="1600" dirty="0">
                <a:latin typeface="Consolas" panose="020B0609020204030204" pitchFamily="49" charset="0"/>
              </a:rPr>
              <a:t> </a:t>
            </a:r>
          </a:p>
          <a:p>
            <a:pPr marL="0" indent="0">
              <a:buFont typeface="Arial" pitchFamily="34" charset="0"/>
              <a:buNone/>
            </a:pPr>
            <a:r>
              <a:rPr lang="en-US" sz="1600" dirty="0">
                <a:latin typeface="Consolas" panose="020B0609020204030204" pitchFamily="49" charset="0"/>
              </a:rPr>
              <a:t>25  </a:t>
            </a:r>
            <a:r>
              <a:rPr lang="en-US" sz="1600" dirty="0" err="1">
                <a:latin typeface="Consolas" panose="020B0609020204030204" pitchFamily="49" charset="0"/>
              </a:rPr>
              <a:t>qiix</a:t>
            </a:r>
            <a:r>
              <a:rPr lang="en-US" sz="1600" dirty="0">
                <a:latin typeface="Consolas" panose="020B0609020204030204" pitchFamily="49" charset="0"/>
              </a:rPr>
              <a:t> qi </a:t>
            </a:r>
            <a:r>
              <a:rPr lang="en-US" sz="1600" dirty="0" err="1">
                <a:latin typeface="Consolas" panose="020B0609020204030204" pitchFamily="49" charset="0"/>
              </a:rPr>
              <a:t>ejxiv</a:t>
            </a:r>
            <a:r>
              <a:rPr lang="en-US" sz="1600" dirty="0">
                <a:latin typeface="Consolas" panose="020B0609020204030204" pitchFamily="49" charset="0"/>
              </a:rPr>
              <a:t> xli </a:t>
            </a:r>
            <a:r>
              <a:rPr lang="en-US" sz="1600" dirty="0" err="1">
                <a:latin typeface="Consolas" panose="020B0609020204030204" pitchFamily="49" charset="0"/>
              </a:rPr>
              <a:t>xske</a:t>
            </a:r>
            <a:r>
              <a:rPr lang="en-US" sz="1600" dirty="0">
                <a:latin typeface="Consolas" panose="020B0609020204030204" pitchFamily="49" charset="0"/>
              </a:rPr>
              <a:t> </a:t>
            </a:r>
            <a:r>
              <a:rPr lang="en-US" sz="1600" dirty="0" err="1">
                <a:latin typeface="Consolas" panose="020B0609020204030204" pitchFamily="49" charset="0"/>
              </a:rPr>
              <a:t>tevxc</a:t>
            </a:r>
            <a:endParaRPr lang="en-US" sz="1600" dirty="0">
              <a:latin typeface="Consolas" panose="020B0609020204030204" pitchFamily="49" charset="0"/>
            </a:endParaRPr>
          </a:p>
          <a:p>
            <a:pPr marL="0" indent="0">
              <a:buFont typeface="Arial" pitchFamily="34" charset="0"/>
              <a:buNone/>
            </a:pPr>
            <a:endParaRPr lang="en-US" sz="1600" dirty="0">
              <a:latin typeface="Consolas" panose="020B0609020204030204" pitchFamily="49" charset="0"/>
            </a:endParaRPr>
          </a:p>
          <a:p>
            <a:pPr marL="0" indent="0">
              <a:buFont typeface="Arial" pitchFamily="34" charset="0"/>
              <a:buNone/>
            </a:pPr>
            <a:endParaRPr lang="en-US" sz="1600" dirty="0">
              <a:latin typeface="Consolas" panose="020B0609020204030204" pitchFamily="49" charset="0"/>
            </a:endParaRPr>
          </a:p>
        </p:txBody>
      </p:sp>
      <p:sp>
        <p:nvSpPr>
          <p:cNvPr id="5" name="Rectangle 4">
            <a:extLst>
              <a:ext uri="{FF2B5EF4-FFF2-40B4-BE49-F238E27FC236}">
                <a16:creationId xmlns:a16="http://schemas.microsoft.com/office/drawing/2014/main" id="{6F793963-A887-78B5-C99C-3321B468F129}"/>
              </a:ext>
            </a:extLst>
          </p:cNvPr>
          <p:cNvSpPr/>
          <p:nvPr/>
        </p:nvSpPr>
        <p:spPr>
          <a:xfrm>
            <a:off x="503968" y="3342134"/>
            <a:ext cx="3672000" cy="2880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0453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80601-F543-2CC7-937B-5F4176213ED1}"/>
              </a:ext>
            </a:extLst>
          </p:cNvPr>
          <p:cNvSpPr>
            <a:spLocks noGrp="1"/>
          </p:cNvSpPr>
          <p:nvPr>
            <p:ph type="title"/>
          </p:nvPr>
        </p:nvSpPr>
        <p:spPr/>
        <p:txBody>
          <a:bodyPr/>
          <a:lstStyle/>
          <a:p>
            <a:r>
              <a:rPr lang="en-US" dirty="0"/>
              <a:t>Brute forcing in general</a:t>
            </a:r>
          </a:p>
        </p:txBody>
      </p:sp>
      <p:sp>
        <p:nvSpPr>
          <p:cNvPr id="3" name="Content Placeholder 2">
            <a:extLst>
              <a:ext uri="{FF2B5EF4-FFF2-40B4-BE49-F238E27FC236}">
                <a16:creationId xmlns:a16="http://schemas.microsoft.com/office/drawing/2014/main" id="{834BBB3C-6E9B-0253-504B-5B74F55F2402}"/>
              </a:ext>
            </a:extLst>
          </p:cNvPr>
          <p:cNvSpPr>
            <a:spLocks noGrp="1"/>
          </p:cNvSpPr>
          <p:nvPr>
            <p:ph sz="quarter" idx="11"/>
          </p:nvPr>
        </p:nvSpPr>
        <p:spPr/>
        <p:txBody>
          <a:bodyPr/>
          <a:lstStyle/>
          <a:p>
            <a:r>
              <a:rPr lang="en-US" sz="2400" dirty="0"/>
              <a:t>Preceding example shows that there is more to brute-force than simply running through all possible keys.</a:t>
            </a:r>
          </a:p>
          <a:p>
            <a:r>
              <a:rPr lang="en-US" sz="2400" dirty="0"/>
              <a:t>The analyst must be able to recognize plaintext as plaintext.</a:t>
            </a:r>
          </a:p>
          <a:p>
            <a:pPr lvl="1"/>
            <a:r>
              <a:rPr lang="en-US" sz="2000" dirty="0"/>
              <a:t>If the message is just plain text in English (or another language), then the result is easily understood by a human reader, but the task of recognizing the language would have to be automated.</a:t>
            </a:r>
          </a:p>
          <a:p>
            <a:pPr lvl="1"/>
            <a:r>
              <a:rPr lang="en-US" sz="2000" dirty="0"/>
              <a:t>If the text message has been compressed before encryption, then recognition is more difficult.</a:t>
            </a:r>
          </a:p>
          <a:p>
            <a:pPr lvl="1"/>
            <a:r>
              <a:rPr lang="en-US" sz="2000" dirty="0"/>
              <a:t>And if the message is some more general type of data, such as a word document or image or audio, the problem becomes even more difficult to automate.</a:t>
            </a:r>
          </a:p>
        </p:txBody>
      </p:sp>
    </p:spTree>
    <p:extLst>
      <p:ext uri="{BB962C8B-B14F-4D97-AF65-F5344CB8AC3E}">
        <p14:creationId xmlns:p14="http://schemas.microsoft.com/office/powerpoint/2010/main" val="1467340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Monoalphabetic substitution</a:t>
            </a:r>
          </a:p>
        </p:txBody>
      </p:sp>
      <p:sp>
        <p:nvSpPr>
          <p:cNvPr id="3" name="Content Placeholder 2"/>
          <p:cNvSpPr>
            <a:spLocks noGrp="1"/>
          </p:cNvSpPr>
          <p:nvPr>
            <p:ph sz="quarter" idx="11"/>
          </p:nvPr>
        </p:nvSpPr>
        <p:spPr/>
        <p:txBody>
          <a:bodyPr/>
          <a:lstStyle/>
          <a:p>
            <a:r>
              <a:rPr lang="en-US" sz="2800" dirty="0"/>
              <a:t>Caesar cipher is actually a special case of more general </a:t>
            </a:r>
            <a:r>
              <a:rPr lang="en-US" sz="2800" b="1" dirty="0"/>
              <a:t>monoalphabetic substitution</a:t>
            </a:r>
            <a:r>
              <a:rPr lang="en-US" sz="2800" dirty="0"/>
              <a:t> cipher</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7600" y="2852936"/>
            <a:ext cx="6068311" cy="3168352"/>
          </a:xfrm>
          <a:prstGeom prst="rect">
            <a:avLst/>
          </a:prstGeom>
        </p:spPr>
      </p:pic>
    </p:spTree>
    <p:extLst>
      <p:ext uri="{BB962C8B-B14F-4D97-AF65-F5344CB8AC3E}">
        <p14:creationId xmlns:p14="http://schemas.microsoft.com/office/powerpoint/2010/main" val="775694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Classical Substitution Ciphers</a:t>
            </a:r>
          </a:p>
        </p:txBody>
      </p:sp>
      <p:sp>
        <p:nvSpPr>
          <p:cNvPr id="3" name="Content Placeholder 2"/>
          <p:cNvSpPr>
            <a:spLocks noGrp="1"/>
          </p:cNvSpPr>
          <p:nvPr>
            <p:ph sz="quarter" idx="11"/>
          </p:nvPr>
        </p:nvSpPr>
        <p:spPr/>
        <p:txBody>
          <a:bodyPr/>
          <a:lstStyle/>
          <a:p>
            <a:pPr marL="0" indent="0">
              <a:buNone/>
            </a:pPr>
            <a:r>
              <a:rPr lang="en-US" sz="2400" dirty="0">
                <a:solidFill>
                  <a:prstClr val="black"/>
                </a:solidFill>
              </a:rPr>
              <a:t>Question</a:t>
            </a:r>
          </a:p>
          <a:p>
            <a:pPr marL="0" indent="0">
              <a:buNone/>
            </a:pPr>
            <a:r>
              <a:rPr lang="en-US" sz="2400" dirty="0">
                <a:solidFill>
                  <a:prstClr val="black"/>
                </a:solidFill>
              </a:rPr>
              <a:t>What is the size of ‘key space’ in the monoalphabetic substitution cipher assuming 26 letters? </a:t>
            </a:r>
          </a:p>
          <a:p>
            <a:pPr marL="0" indent="0">
              <a:buNone/>
            </a:pPr>
            <a:endParaRPr lang="en-US" sz="2400" dirty="0">
              <a:solidFill>
                <a:prstClr val="black"/>
              </a:solidFill>
            </a:endParaRPr>
          </a:p>
          <a:p>
            <a:pPr marL="914400" lvl="1" indent="-514350">
              <a:buFont typeface="+mj-lt"/>
              <a:buAutoNum type="alphaLcPeriod"/>
            </a:pPr>
            <a:r>
              <a:rPr lang="en-US" sz="2400" dirty="0">
                <a:solidFill>
                  <a:prstClr val="black"/>
                </a:solidFill>
              </a:rPr>
              <a:t>26</a:t>
            </a:r>
          </a:p>
          <a:p>
            <a:pPr marL="914400" lvl="1" indent="-514350">
              <a:buFont typeface="+mj-lt"/>
              <a:buAutoNum type="alphaLcPeriod"/>
            </a:pPr>
            <a:r>
              <a:rPr lang="en-US" sz="2400" dirty="0">
                <a:solidFill>
                  <a:prstClr val="black"/>
                </a:solidFill>
              </a:rPr>
              <a:t>26!</a:t>
            </a:r>
          </a:p>
          <a:p>
            <a:pPr marL="914400" lvl="1" indent="-514350">
              <a:buFont typeface="+mj-lt"/>
              <a:buAutoNum type="alphaLcPeriod"/>
            </a:pPr>
            <a:r>
              <a:rPr lang="en-US" sz="2400" dirty="0">
                <a:solidFill>
                  <a:prstClr val="black"/>
                </a:solidFill>
              </a:rPr>
              <a:t>2</a:t>
            </a:r>
            <a:r>
              <a:rPr lang="en-US" sz="2400" baseline="30000" dirty="0">
                <a:solidFill>
                  <a:prstClr val="black"/>
                </a:solidFill>
              </a:rPr>
              <a:t>26</a:t>
            </a:r>
          </a:p>
          <a:p>
            <a:pPr marL="914400" lvl="1" indent="-514350">
              <a:buFont typeface="+mj-lt"/>
              <a:buAutoNum type="alphaLcPeriod"/>
            </a:pPr>
            <a:r>
              <a:rPr lang="en-US" sz="2400" dirty="0">
                <a:solidFill>
                  <a:prstClr val="black"/>
                </a:solidFill>
              </a:rPr>
              <a:t>26</a:t>
            </a:r>
            <a:r>
              <a:rPr lang="en-US" sz="2400" baseline="30000" dirty="0">
                <a:solidFill>
                  <a:prstClr val="black"/>
                </a:solidFill>
              </a:rPr>
              <a:t>2</a:t>
            </a:r>
          </a:p>
          <a:p>
            <a:pPr marL="0" indent="0">
              <a:buNone/>
            </a:pPr>
            <a:endParaRPr lang="en-US" sz="2400" dirty="0"/>
          </a:p>
        </p:txBody>
      </p:sp>
      <p:sp>
        <p:nvSpPr>
          <p:cNvPr id="5" name="TextBox 4">
            <a:extLst>
              <a:ext uri="{FF2B5EF4-FFF2-40B4-BE49-F238E27FC236}">
                <a16:creationId xmlns:a16="http://schemas.microsoft.com/office/drawing/2014/main" id="{6D941723-F7B3-71B2-DD8B-C9E805FB842B}"/>
              </a:ext>
            </a:extLst>
          </p:cNvPr>
          <p:cNvSpPr txBox="1"/>
          <p:nvPr/>
        </p:nvSpPr>
        <p:spPr>
          <a:xfrm>
            <a:off x="4304656" y="4581128"/>
            <a:ext cx="4392488" cy="400110"/>
          </a:xfrm>
          <a:prstGeom prst="rect">
            <a:avLst/>
          </a:prstGeom>
          <a:noFill/>
        </p:spPr>
        <p:txBody>
          <a:bodyPr wrap="square">
            <a:spAutoFit/>
          </a:bodyPr>
          <a:lstStyle/>
          <a:p>
            <a:r>
              <a:rPr lang="en-US" sz="2000" dirty="0"/>
              <a:t>Key space = set of all possible keys</a:t>
            </a:r>
          </a:p>
        </p:txBody>
      </p:sp>
    </p:spTree>
    <p:extLst>
      <p:ext uri="{BB962C8B-B14F-4D97-AF65-F5344CB8AC3E}">
        <p14:creationId xmlns:p14="http://schemas.microsoft.com/office/powerpoint/2010/main" val="2514846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FA1C9-4E25-0994-FCFE-54D38D104E61}"/>
              </a:ext>
            </a:extLst>
          </p:cNvPr>
          <p:cNvSpPr>
            <a:spLocks noGrp="1"/>
          </p:cNvSpPr>
          <p:nvPr>
            <p:ph type="title"/>
          </p:nvPr>
        </p:nvSpPr>
        <p:spPr/>
        <p:txBody>
          <a:bodyPr/>
          <a:lstStyle/>
          <a:p>
            <a:r>
              <a:rPr lang="en-US" dirty="0"/>
              <a:t>Cryptanalysis</a:t>
            </a:r>
          </a:p>
        </p:txBody>
      </p:sp>
      <p:sp>
        <p:nvSpPr>
          <p:cNvPr id="3" name="Content Placeholder 2">
            <a:extLst>
              <a:ext uri="{FF2B5EF4-FFF2-40B4-BE49-F238E27FC236}">
                <a16:creationId xmlns:a16="http://schemas.microsoft.com/office/drawing/2014/main" id="{E04B98E8-BD79-26B3-34A2-9309BC23D0B5}"/>
              </a:ext>
            </a:extLst>
          </p:cNvPr>
          <p:cNvSpPr>
            <a:spLocks noGrp="1"/>
          </p:cNvSpPr>
          <p:nvPr>
            <p:ph sz="quarter" idx="11"/>
          </p:nvPr>
        </p:nvSpPr>
        <p:spPr/>
        <p:txBody>
          <a:bodyPr/>
          <a:lstStyle/>
          <a:p>
            <a:r>
              <a:rPr lang="en-US" sz="2800" dirty="0"/>
              <a:t>For such large key spaces brute forcing is no longer practical</a:t>
            </a:r>
          </a:p>
          <a:p>
            <a:pPr lvl="1"/>
            <a:r>
              <a:rPr lang="en-US" sz="2400" dirty="0"/>
              <a:t>Note: it is </a:t>
            </a:r>
            <a:r>
              <a:rPr lang="en-US" sz="2400" i="1" dirty="0"/>
              <a:t>unfeasible</a:t>
            </a:r>
            <a:r>
              <a:rPr lang="en-US" sz="2400" dirty="0"/>
              <a:t>, not impossible</a:t>
            </a:r>
            <a:endParaRPr lang="en-US" sz="2800" dirty="0"/>
          </a:p>
          <a:p>
            <a:r>
              <a:rPr lang="en-US" sz="2800" b="1" dirty="0"/>
              <a:t>Cryptanalysis</a:t>
            </a:r>
            <a:r>
              <a:rPr lang="en-US" sz="2800" dirty="0"/>
              <a:t> is the process of trying to work out the </a:t>
            </a:r>
            <a:r>
              <a:rPr lang="en-US" sz="2800" u="sng" dirty="0"/>
              <a:t>encryption key</a:t>
            </a:r>
            <a:r>
              <a:rPr lang="en-US" sz="2800" dirty="0"/>
              <a:t> from a given ciphertext.</a:t>
            </a:r>
          </a:p>
          <a:p>
            <a:pPr lvl="1"/>
            <a:r>
              <a:rPr lang="en-US" sz="2400" dirty="0"/>
              <a:t>This type of attack exploits the characteristics of the algorithm (cipher) to attempt to deduce a specific plaintext or key</a:t>
            </a:r>
          </a:p>
          <a:p>
            <a:pPr lvl="1"/>
            <a:r>
              <a:rPr lang="en-US" sz="2400" dirty="0"/>
              <a:t>Attacker will analyze the ciphertext using different statistical tests – they must have prior knowledge of the nature of plaintext (plain English, photo, exe file etc.)</a:t>
            </a:r>
          </a:p>
        </p:txBody>
      </p:sp>
    </p:spTree>
    <p:extLst>
      <p:ext uri="{BB962C8B-B14F-4D97-AF65-F5344CB8AC3E}">
        <p14:creationId xmlns:p14="http://schemas.microsoft.com/office/powerpoint/2010/main" val="2280749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Cryptanalysis Techniques</a:t>
            </a:r>
          </a:p>
        </p:txBody>
      </p:sp>
      <p:sp>
        <p:nvSpPr>
          <p:cNvPr id="3" name="Content Placeholder 2"/>
          <p:cNvSpPr>
            <a:spLocks noGrp="1"/>
          </p:cNvSpPr>
          <p:nvPr>
            <p:ph sz="quarter" idx="11"/>
          </p:nvPr>
        </p:nvSpPr>
        <p:spPr/>
        <p:txBody>
          <a:bodyPr/>
          <a:lstStyle/>
          <a:p>
            <a:pPr marL="0" indent="0">
              <a:buNone/>
            </a:pPr>
            <a:r>
              <a:rPr lang="en-US" sz="2800" dirty="0">
                <a:solidFill>
                  <a:schemeClr val="accent6">
                    <a:lumMod val="50000"/>
                  </a:schemeClr>
                </a:solidFill>
              </a:rPr>
              <a:t>Frequency Analysis</a:t>
            </a:r>
          </a:p>
          <a:p>
            <a:r>
              <a:rPr lang="en-US" sz="2800" dirty="0"/>
              <a:t>Compute frequencies of letters in </a:t>
            </a:r>
            <a:r>
              <a:rPr lang="en-US" sz="2800" dirty="0" err="1"/>
              <a:t>ciphertext</a:t>
            </a:r>
            <a:r>
              <a:rPr lang="en-US" sz="2800" dirty="0"/>
              <a:t> and compare with the typical frequencies in the target language.</a:t>
            </a:r>
          </a:p>
          <a:p>
            <a:pPr lvl="1"/>
            <a:r>
              <a:rPr lang="en-US" sz="2400" dirty="0"/>
              <a:t>e.g. in English texts, most frequent letters are E (13%), T (9.1%), A (8.2%), O (7.5%)</a:t>
            </a:r>
          </a:p>
          <a:p>
            <a:pPr marL="0" indent="0">
              <a:buNone/>
            </a:pPr>
            <a:endParaRPr lang="en-US" sz="2800" dirty="0"/>
          </a:p>
          <a:p>
            <a:r>
              <a:rPr lang="en-US" sz="2800" dirty="0"/>
              <a:t>Can also find frequency of groups of letters (di‑grams and tri‑grams): </a:t>
            </a:r>
            <a:r>
              <a:rPr lang="en-US" sz="2800" i="1" dirty="0"/>
              <a:t>an, in, the</a:t>
            </a:r>
          </a:p>
          <a:p>
            <a:pPr marL="0" indent="0">
              <a:buNone/>
            </a:pPr>
            <a:endParaRPr lang="en-US" sz="2800" dirty="0"/>
          </a:p>
        </p:txBody>
      </p:sp>
    </p:spTree>
    <p:extLst>
      <p:ext uri="{BB962C8B-B14F-4D97-AF65-F5344CB8AC3E}">
        <p14:creationId xmlns:p14="http://schemas.microsoft.com/office/powerpoint/2010/main" val="35860951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Cryptanalysis Techniques</a:t>
            </a:r>
          </a:p>
        </p:txBody>
      </p:sp>
      <p:sp>
        <p:nvSpPr>
          <p:cNvPr id="3" name="Content Placeholder 2"/>
          <p:cNvSpPr>
            <a:spLocks noGrp="1"/>
          </p:cNvSpPr>
          <p:nvPr>
            <p:ph sz="quarter" idx="11"/>
          </p:nvPr>
        </p:nvSpPr>
        <p:spPr/>
        <p:txBody>
          <a:bodyPr/>
          <a:lstStyle/>
          <a:p>
            <a:pPr marL="0" indent="0">
              <a:buNone/>
            </a:pPr>
            <a:r>
              <a:rPr lang="en-US" sz="2800" dirty="0"/>
              <a:t>Frequency Analysis Example 1</a:t>
            </a:r>
          </a:p>
          <a:p>
            <a:pPr marL="0" indent="0">
              <a:buNone/>
            </a:pPr>
            <a:endParaRPr lang="en-US" sz="2800" dirty="0"/>
          </a:p>
        </p:txBody>
      </p:sp>
      <p:pic>
        <p:nvPicPr>
          <p:cNvPr id="19" name="Picture 18">
            <a:extLst>
              <a:ext uri="{FF2B5EF4-FFF2-40B4-BE49-F238E27FC236}">
                <a16:creationId xmlns:a16="http://schemas.microsoft.com/office/drawing/2014/main" id="{3EE84C80-0868-693B-940E-76EF3B65AF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2320" y="2421168"/>
            <a:ext cx="4202907" cy="2520000"/>
          </a:xfrm>
          <a:prstGeom prst="rect">
            <a:avLst/>
          </a:prstGeom>
        </p:spPr>
      </p:pic>
      <p:pic>
        <p:nvPicPr>
          <p:cNvPr id="21" name="Picture 20">
            <a:extLst>
              <a:ext uri="{FF2B5EF4-FFF2-40B4-BE49-F238E27FC236}">
                <a16:creationId xmlns:a16="http://schemas.microsoft.com/office/drawing/2014/main" id="{624B7B93-F286-7109-7004-49C3E36F3A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8024" y="3453052"/>
            <a:ext cx="4202907" cy="2520000"/>
          </a:xfrm>
          <a:prstGeom prst="rect">
            <a:avLst/>
          </a:prstGeom>
        </p:spPr>
      </p:pic>
      <p:sp>
        <p:nvSpPr>
          <p:cNvPr id="22" name="TextBox 21">
            <a:extLst>
              <a:ext uri="{FF2B5EF4-FFF2-40B4-BE49-F238E27FC236}">
                <a16:creationId xmlns:a16="http://schemas.microsoft.com/office/drawing/2014/main" id="{3F2C75C2-EFAA-128C-577F-4B0626F62E4F}"/>
              </a:ext>
            </a:extLst>
          </p:cNvPr>
          <p:cNvSpPr txBox="1"/>
          <p:nvPr/>
        </p:nvSpPr>
        <p:spPr>
          <a:xfrm>
            <a:off x="1436667" y="5112722"/>
            <a:ext cx="2034211" cy="369332"/>
          </a:xfrm>
          <a:prstGeom prst="rect">
            <a:avLst/>
          </a:prstGeom>
          <a:noFill/>
        </p:spPr>
        <p:txBody>
          <a:bodyPr wrap="none" rtlCol="0">
            <a:spAutoFit/>
          </a:bodyPr>
          <a:lstStyle/>
          <a:p>
            <a:r>
              <a:rPr lang="en-US" dirty="0"/>
              <a:t>Plaintext (English)</a:t>
            </a:r>
          </a:p>
        </p:txBody>
      </p:sp>
      <p:sp>
        <p:nvSpPr>
          <p:cNvPr id="23" name="TextBox 22">
            <a:extLst>
              <a:ext uri="{FF2B5EF4-FFF2-40B4-BE49-F238E27FC236}">
                <a16:creationId xmlns:a16="http://schemas.microsoft.com/office/drawing/2014/main" id="{0271BE0C-940F-CE3E-A681-4423B68F92B2}"/>
              </a:ext>
            </a:extLst>
          </p:cNvPr>
          <p:cNvSpPr txBox="1"/>
          <p:nvPr/>
        </p:nvSpPr>
        <p:spPr>
          <a:xfrm>
            <a:off x="6354074" y="6052646"/>
            <a:ext cx="1259191" cy="369332"/>
          </a:xfrm>
          <a:prstGeom prst="rect">
            <a:avLst/>
          </a:prstGeom>
          <a:noFill/>
        </p:spPr>
        <p:txBody>
          <a:bodyPr wrap="none" rtlCol="0">
            <a:spAutoFit/>
          </a:bodyPr>
          <a:lstStyle/>
          <a:p>
            <a:r>
              <a:rPr lang="en-US" dirty="0"/>
              <a:t>Ciphertext</a:t>
            </a:r>
          </a:p>
        </p:txBody>
      </p:sp>
    </p:spTree>
    <p:extLst>
      <p:ext uri="{BB962C8B-B14F-4D97-AF65-F5344CB8AC3E}">
        <p14:creationId xmlns:p14="http://schemas.microsoft.com/office/powerpoint/2010/main" val="33288009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Cryptanalysis Techniques</a:t>
            </a:r>
          </a:p>
        </p:txBody>
      </p:sp>
      <p:sp>
        <p:nvSpPr>
          <p:cNvPr id="3" name="Content Placeholder 2"/>
          <p:cNvSpPr>
            <a:spLocks noGrp="1"/>
          </p:cNvSpPr>
          <p:nvPr>
            <p:ph sz="quarter" idx="11"/>
          </p:nvPr>
        </p:nvSpPr>
        <p:spPr/>
        <p:txBody>
          <a:bodyPr/>
          <a:lstStyle/>
          <a:p>
            <a:pPr marL="0" indent="0">
              <a:buNone/>
            </a:pPr>
            <a:r>
              <a:rPr lang="en-US" sz="2800" dirty="0"/>
              <a:t>Frequency Analysis Example 2</a:t>
            </a:r>
          </a:p>
          <a:p>
            <a:pPr marL="0" indent="0">
              <a:buNone/>
            </a:pPr>
            <a:endParaRPr lang="en-US" sz="2800" dirty="0"/>
          </a:p>
        </p:txBody>
      </p:sp>
      <p:sp>
        <p:nvSpPr>
          <p:cNvPr id="4" name="Content Placeholder 2"/>
          <p:cNvSpPr txBox="1">
            <a:spLocks/>
          </p:cNvSpPr>
          <p:nvPr/>
        </p:nvSpPr>
        <p:spPr>
          <a:xfrm>
            <a:off x="439442" y="2304256"/>
            <a:ext cx="7620000" cy="3394472"/>
          </a:xfrm>
          <a:prstGeom prst="rect">
            <a:avLst/>
          </a:prstGeom>
        </p:spPr>
        <p:txBody>
          <a:bodyPr vert="horz" lIns="91440" tIns="45720" rIns="91440" bIns="45720" rtlCol="0">
            <a:normAutofit/>
          </a:bodyPr>
          <a:lstStyle/>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1600" b="0" i="0" u="none" strike="noStrike" kern="1200" cap="none" spc="0" normalizeH="0" baseline="0" noProof="0" dirty="0">
                <a:ln>
                  <a:noFill/>
                </a:ln>
                <a:solidFill>
                  <a:sysClr val="windowText" lastClr="000000"/>
                </a:solidFill>
                <a:effectLst/>
                <a:uLnTx/>
                <a:uFillTx/>
                <a:latin typeface="Calibri"/>
                <a:ea typeface="+mn-ea"/>
                <a:cs typeface="+mn-cs"/>
              </a:rPr>
              <a:t>UKBYBIPOUZBCUFEEBORUKBYBHOBBRFESPVKBWFOFERVNBCVBZPRUBOFERVNBCVBPCYYFVUFOFEIKNWFRFIKJNUPWRFIPOUNVNIPUBRNCUKBEFWWFDNCHXCYBOHOPYXPUBNCUBOYNRVNIWNCPOJIOFHOPZRVFZIXUBORJRUBZRBCHNCBBONCHRJZSFWNVRJRUBZRPCYZPUKBZPUNVPWPCYVFZIXUPUNFCPWRVNBCVBRPYYNUNFCPWWJUKBYBIPOUZBCUIPOUNVNIPUBRNCHOPYXPUBNCUBOYNRVNIWNCPOJIOFHOPZRNCRVNBCUNENVVFZIXUNCHPCYVFZIXUPUNFCPWZPUKBZPUNVR</a:t>
            </a:r>
          </a:p>
          <a:p>
            <a:pPr marL="0" marR="0" lvl="0" indent="0" algn="l" defTabSz="914400" rtl="0" eaLnBrk="1" fontAlgn="auto" latinLnBrk="0" hangingPunct="1">
              <a:lnSpc>
                <a:spcPct val="100000"/>
              </a:lnSpc>
              <a:spcBef>
                <a:spcPct val="20000"/>
              </a:spcBef>
              <a:spcAft>
                <a:spcPts val="0"/>
              </a:spcAft>
              <a:buClrTx/>
              <a:buSzTx/>
              <a:buFont typeface="Arial" pitchFamily="34" charset="0"/>
              <a:buNone/>
              <a:tabLst/>
              <a:defRPr/>
            </a:pPr>
            <a:endParaRPr kumimoji="0" lang="en-US" sz="1800" b="0" i="0" u="none" strike="noStrike" kern="1200" cap="none" spc="0" normalizeH="0" baseline="0" noProof="0" dirty="0">
              <a:ln>
                <a:noFill/>
              </a:ln>
              <a:solidFill>
                <a:sysClr val="windowText" lastClr="000000"/>
              </a:solidFill>
              <a:effectLst/>
              <a:uLnTx/>
              <a:uFillTx/>
              <a:latin typeface="Calibri"/>
              <a:ea typeface="+mn-ea"/>
              <a:cs typeface="+mn-cs"/>
            </a:endParaRPr>
          </a:p>
        </p:txBody>
      </p:sp>
      <p:graphicFrame>
        <p:nvGraphicFramePr>
          <p:cNvPr id="5" name="Table 4"/>
          <p:cNvGraphicFramePr>
            <a:graphicFrameLocks noGrp="1"/>
          </p:cNvGraphicFramePr>
          <p:nvPr/>
        </p:nvGraphicFramePr>
        <p:xfrm>
          <a:off x="640335" y="4209256"/>
          <a:ext cx="838200" cy="1854200"/>
        </p:xfrm>
        <a:graphic>
          <a:graphicData uri="http://schemas.openxmlformats.org/drawingml/2006/table">
            <a:tbl>
              <a:tblPr firstRow="1" bandRow="1"/>
              <a:tblGrid>
                <a:gridCol w="419100">
                  <a:extLst>
                    <a:ext uri="{9D8B030D-6E8A-4147-A177-3AD203B41FA5}">
                      <a16:colId xmlns:a16="http://schemas.microsoft.com/office/drawing/2014/main" val="20000"/>
                    </a:ext>
                  </a:extLst>
                </a:gridCol>
                <a:gridCol w="419100">
                  <a:extLst>
                    <a:ext uri="{9D8B030D-6E8A-4147-A177-3AD203B41FA5}">
                      <a16:colId xmlns:a16="http://schemas.microsoft.com/office/drawing/2014/main" val="20001"/>
                    </a:ext>
                  </a:extLst>
                </a:gridCol>
              </a:tblGrid>
              <a:tr h="370840">
                <a:tc>
                  <a:txBody>
                    <a:bodyPr/>
                    <a:lstStyle>
                      <a:defPPr>
                        <a:defRPr lang="de-DE"/>
                      </a:defPPr>
                      <a:lvl1pPr marL="0" algn="l" defTabSz="914400" rtl="0" eaLnBrk="1" latinLnBrk="0" hangingPunct="1">
                        <a:defRPr sz="1800" b="1" kern="1200">
                          <a:solidFill>
                            <a:schemeClr val="dk1"/>
                          </a:solidFill>
                          <a:latin typeface="Calibri"/>
                        </a:defRPr>
                      </a:lvl1pPr>
                      <a:lvl2pPr marL="457200" algn="l" defTabSz="914400" rtl="0" eaLnBrk="1" latinLnBrk="0" hangingPunct="1">
                        <a:defRPr sz="1800" b="1" kern="1200">
                          <a:solidFill>
                            <a:schemeClr val="dk1"/>
                          </a:solidFill>
                          <a:latin typeface="Calibri"/>
                        </a:defRPr>
                      </a:lvl2pPr>
                      <a:lvl3pPr marL="914400" algn="l" defTabSz="914400" rtl="0" eaLnBrk="1" latinLnBrk="0" hangingPunct="1">
                        <a:defRPr sz="1800" b="1" kern="1200">
                          <a:solidFill>
                            <a:schemeClr val="dk1"/>
                          </a:solidFill>
                          <a:latin typeface="Calibri"/>
                        </a:defRPr>
                      </a:lvl3pPr>
                      <a:lvl4pPr marL="1371600" algn="l" defTabSz="914400" rtl="0" eaLnBrk="1" latinLnBrk="0" hangingPunct="1">
                        <a:defRPr sz="1800" b="1" kern="1200">
                          <a:solidFill>
                            <a:schemeClr val="dk1"/>
                          </a:solidFill>
                          <a:latin typeface="Calibri"/>
                        </a:defRPr>
                      </a:lvl4pPr>
                      <a:lvl5pPr marL="1828800" algn="l" defTabSz="914400" rtl="0" eaLnBrk="1" latinLnBrk="0" hangingPunct="1">
                        <a:defRPr sz="1800" b="1" kern="1200">
                          <a:solidFill>
                            <a:schemeClr val="dk1"/>
                          </a:solidFill>
                          <a:latin typeface="Calibri"/>
                        </a:defRPr>
                      </a:lvl5pPr>
                      <a:lvl6pPr marL="2286000" algn="l" defTabSz="914400" rtl="0" eaLnBrk="1" latinLnBrk="0" hangingPunct="1">
                        <a:defRPr sz="1800" b="1" kern="1200">
                          <a:solidFill>
                            <a:schemeClr val="dk1"/>
                          </a:solidFill>
                          <a:latin typeface="Calibri"/>
                        </a:defRPr>
                      </a:lvl6pPr>
                      <a:lvl7pPr marL="2743200" algn="l" defTabSz="914400" rtl="0" eaLnBrk="1" latinLnBrk="0" hangingPunct="1">
                        <a:defRPr sz="1800" b="1" kern="1200">
                          <a:solidFill>
                            <a:schemeClr val="dk1"/>
                          </a:solidFill>
                          <a:latin typeface="Calibri"/>
                        </a:defRPr>
                      </a:lvl7pPr>
                      <a:lvl8pPr marL="3200400" algn="l" defTabSz="914400" rtl="0" eaLnBrk="1" latinLnBrk="0" hangingPunct="1">
                        <a:defRPr sz="1800" b="1" kern="1200">
                          <a:solidFill>
                            <a:schemeClr val="dk1"/>
                          </a:solidFill>
                          <a:latin typeface="Calibri"/>
                        </a:defRPr>
                      </a:lvl8pPr>
                      <a:lvl9pPr marL="3657600" algn="l" defTabSz="914400" rtl="0" eaLnBrk="1" latinLnBrk="0" hangingPunct="1">
                        <a:defRPr sz="1800" b="1" kern="1200">
                          <a:solidFill>
                            <a:schemeClr val="dk1"/>
                          </a:solidFill>
                          <a:latin typeface="Calibri"/>
                        </a:defRPr>
                      </a:lvl9pPr>
                    </a:lstStyle>
                    <a:p>
                      <a:pPr algn="ctr"/>
                      <a:r>
                        <a:rPr lang="en-US" b="1" dirty="0"/>
                        <a:t>B</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20000"/>
                      </a:srgbClr>
                    </a:solidFill>
                  </a:tcPr>
                </a:tc>
                <a:tc>
                  <a:txBody>
                    <a:bodyPr/>
                    <a:lstStyle>
                      <a:defPPr>
                        <a:defRPr lang="de-DE"/>
                      </a:defPPr>
                      <a:lvl1pPr marL="0" algn="l" defTabSz="914400" rtl="0" eaLnBrk="1" latinLnBrk="0" hangingPunct="1">
                        <a:defRPr sz="1800" b="1" kern="1200">
                          <a:solidFill>
                            <a:schemeClr val="dk1"/>
                          </a:solidFill>
                          <a:latin typeface="Calibri"/>
                        </a:defRPr>
                      </a:lvl1pPr>
                      <a:lvl2pPr marL="457200" algn="l" defTabSz="914400" rtl="0" eaLnBrk="1" latinLnBrk="0" hangingPunct="1">
                        <a:defRPr sz="1800" b="1" kern="1200">
                          <a:solidFill>
                            <a:schemeClr val="dk1"/>
                          </a:solidFill>
                          <a:latin typeface="Calibri"/>
                        </a:defRPr>
                      </a:lvl2pPr>
                      <a:lvl3pPr marL="914400" algn="l" defTabSz="914400" rtl="0" eaLnBrk="1" latinLnBrk="0" hangingPunct="1">
                        <a:defRPr sz="1800" b="1" kern="1200">
                          <a:solidFill>
                            <a:schemeClr val="dk1"/>
                          </a:solidFill>
                          <a:latin typeface="Calibri"/>
                        </a:defRPr>
                      </a:lvl3pPr>
                      <a:lvl4pPr marL="1371600" algn="l" defTabSz="914400" rtl="0" eaLnBrk="1" latinLnBrk="0" hangingPunct="1">
                        <a:defRPr sz="1800" b="1" kern="1200">
                          <a:solidFill>
                            <a:schemeClr val="dk1"/>
                          </a:solidFill>
                          <a:latin typeface="Calibri"/>
                        </a:defRPr>
                      </a:lvl4pPr>
                      <a:lvl5pPr marL="1828800" algn="l" defTabSz="914400" rtl="0" eaLnBrk="1" latinLnBrk="0" hangingPunct="1">
                        <a:defRPr sz="1800" b="1" kern="1200">
                          <a:solidFill>
                            <a:schemeClr val="dk1"/>
                          </a:solidFill>
                          <a:latin typeface="Calibri"/>
                        </a:defRPr>
                      </a:lvl5pPr>
                      <a:lvl6pPr marL="2286000" algn="l" defTabSz="914400" rtl="0" eaLnBrk="1" latinLnBrk="0" hangingPunct="1">
                        <a:defRPr sz="1800" b="1" kern="1200">
                          <a:solidFill>
                            <a:schemeClr val="dk1"/>
                          </a:solidFill>
                          <a:latin typeface="Calibri"/>
                        </a:defRPr>
                      </a:lvl6pPr>
                      <a:lvl7pPr marL="2743200" algn="l" defTabSz="914400" rtl="0" eaLnBrk="1" latinLnBrk="0" hangingPunct="1">
                        <a:defRPr sz="1800" b="1" kern="1200">
                          <a:solidFill>
                            <a:schemeClr val="dk1"/>
                          </a:solidFill>
                          <a:latin typeface="Calibri"/>
                        </a:defRPr>
                      </a:lvl7pPr>
                      <a:lvl8pPr marL="3200400" algn="l" defTabSz="914400" rtl="0" eaLnBrk="1" latinLnBrk="0" hangingPunct="1">
                        <a:defRPr sz="1800" b="1" kern="1200">
                          <a:solidFill>
                            <a:schemeClr val="dk1"/>
                          </a:solidFill>
                          <a:latin typeface="Calibri"/>
                        </a:defRPr>
                      </a:lvl8pPr>
                      <a:lvl9pPr marL="3657600" algn="l" defTabSz="914400" rtl="0" eaLnBrk="1" latinLnBrk="0" hangingPunct="1">
                        <a:defRPr sz="1800" b="1" kern="1200">
                          <a:solidFill>
                            <a:schemeClr val="dk1"/>
                          </a:solidFill>
                          <a:latin typeface="Calibri"/>
                        </a:defRPr>
                      </a:lvl9pPr>
                    </a:lstStyle>
                    <a:p>
                      <a:pPr algn="ctr"/>
                      <a:r>
                        <a:rPr lang="en-US" b="1" dirty="0"/>
                        <a:t>36</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20000"/>
                      </a:srgbClr>
                    </a:solidFill>
                  </a:tcPr>
                </a:tc>
                <a:extLst>
                  <a:ext uri="{0D108BD9-81ED-4DB2-BD59-A6C34878D82A}">
                    <a16:rowId xmlns:a16="http://schemas.microsoft.com/office/drawing/2014/main" val="10000"/>
                  </a:ext>
                </a:extLst>
              </a:tr>
              <a:tr h="370840">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N</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40000"/>
                      </a:srgbClr>
                    </a:solidFill>
                  </a:tcPr>
                </a:tc>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34</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1"/>
                  </a:ext>
                </a:extLst>
              </a:tr>
              <a:tr h="370840">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U</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20000"/>
                      </a:srgbClr>
                    </a:solidFill>
                  </a:tcPr>
                </a:tc>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33</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20000"/>
                      </a:srgbClr>
                    </a:solidFill>
                  </a:tcPr>
                </a:tc>
                <a:extLst>
                  <a:ext uri="{0D108BD9-81ED-4DB2-BD59-A6C34878D82A}">
                    <a16:rowId xmlns:a16="http://schemas.microsoft.com/office/drawing/2014/main" val="10002"/>
                  </a:ext>
                </a:extLst>
              </a:tr>
              <a:tr h="370840">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P</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40000"/>
                      </a:srgbClr>
                    </a:solidFill>
                  </a:tcPr>
                </a:tc>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32</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3"/>
                  </a:ext>
                </a:extLst>
              </a:tr>
              <a:tr h="370840">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C</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20000"/>
                      </a:srgbClr>
                    </a:solidFill>
                  </a:tcPr>
                </a:tc>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26</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20000"/>
                      </a:srgbClr>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1630935" y="4133056"/>
            <a:ext cx="62068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err="1">
                <a:ln>
                  <a:noFill/>
                </a:ln>
                <a:solidFill>
                  <a:sysClr val="windowText" lastClr="000000"/>
                </a:solidFill>
                <a:effectLst/>
                <a:uLnTx/>
                <a:uFillTx/>
                <a:latin typeface="Wingdings"/>
                <a:ea typeface="Wingdings"/>
                <a:cs typeface="Wingdings"/>
              </a:rPr>
              <a:t></a:t>
            </a:r>
            <a:r>
              <a:rPr kumimoji="0" lang="en-US" sz="1400" b="1" i="0" u="none" strike="noStrike" kern="0" cap="none" spc="0" normalizeH="0" baseline="0" noProof="0" dirty="0">
                <a:ln>
                  <a:noFill/>
                </a:ln>
                <a:solidFill>
                  <a:sysClr val="windowText" lastClr="000000"/>
                </a:solidFill>
                <a:effectLst/>
                <a:uLnTx/>
                <a:uFillTx/>
              </a:rPr>
              <a:t>  </a:t>
            </a:r>
            <a:r>
              <a:rPr kumimoji="0" lang="en-US" sz="1800" b="1" i="0" u="none" strike="noStrike" kern="0" cap="none" spc="0" normalizeH="0" baseline="0" noProof="0" dirty="0">
                <a:ln>
                  <a:noFill/>
                </a:ln>
                <a:solidFill>
                  <a:sysClr val="windowText" lastClr="000000"/>
                </a:solidFill>
                <a:effectLst/>
                <a:uLnTx/>
                <a:uFillTx/>
              </a:rPr>
              <a:t>E</a:t>
            </a:r>
            <a:endParaRPr kumimoji="0" lang="en-US" sz="1600" b="1" i="0" u="none" strike="noStrike" kern="0" cap="none" spc="0" normalizeH="0" baseline="0" noProof="0" dirty="0">
              <a:ln>
                <a:noFill/>
              </a:ln>
              <a:solidFill>
                <a:sysClr val="windowText" lastClr="000000"/>
              </a:solidFill>
              <a:effectLst/>
              <a:uLnTx/>
              <a:uFillTx/>
            </a:endParaRPr>
          </a:p>
        </p:txBody>
      </p:sp>
      <p:sp>
        <p:nvSpPr>
          <p:cNvPr id="7" name="TextBox 6"/>
          <p:cNvSpPr txBox="1"/>
          <p:nvPr/>
        </p:nvSpPr>
        <p:spPr>
          <a:xfrm>
            <a:off x="1630935" y="4895056"/>
            <a:ext cx="620683"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err="1">
                <a:ln>
                  <a:noFill/>
                </a:ln>
                <a:solidFill>
                  <a:sysClr val="windowText" lastClr="000000"/>
                </a:solidFill>
                <a:effectLst/>
                <a:uLnTx/>
                <a:uFillTx/>
                <a:latin typeface="Wingdings"/>
                <a:ea typeface="Wingdings"/>
                <a:cs typeface="Wingdings"/>
              </a:rPr>
              <a:t></a:t>
            </a:r>
            <a:r>
              <a:rPr kumimoji="0" lang="en-US" sz="1400" b="1" i="0" u="none" strike="noStrike" kern="0" cap="none" spc="0" normalizeH="0" baseline="0" noProof="0" dirty="0">
                <a:ln>
                  <a:noFill/>
                </a:ln>
                <a:solidFill>
                  <a:sysClr val="windowText" lastClr="000000"/>
                </a:solidFill>
                <a:effectLst/>
                <a:uLnTx/>
                <a:uFillTx/>
              </a:rPr>
              <a:t>  </a:t>
            </a:r>
            <a:r>
              <a:rPr kumimoji="0" lang="en-US" sz="1800" b="1" i="0" u="none" strike="noStrike" kern="0" cap="none" spc="0" normalizeH="0" baseline="0" noProof="0" dirty="0">
                <a:ln>
                  <a:noFill/>
                </a:ln>
                <a:solidFill>
                  <a:sysClr val="windowText" lastClr="000000"/>
                </a:solidFill>
                <a:effectLst/>
                <a:uLnTx/>
                <a:uFillTx/>
              </a:rPr>
              <a:t>T</a:t>
            </a:r>
            <a:endParaRPr kumimoji="0" lang="en-US" sz="1600" b="1" i="0" u="none" strike="noStrike" kern="0" cap="none" spc="0" normalizeH="0" baseline="0" noProof="0" dirty="0">
              <a:ln>
                <a:noFill/>
              </a:ln>
              <a:solidFill>
                <a:sysClr val="windowText" lastClr="000000"/>
              </a:solidFill>
              <a:effectLst/>
              <a:uLnTx/>
              <a:uFillTx/>
            </a:endParaRPr>
          </a:p>
        </p:txBody>
      </p:sp>
      <p:sp>
        <p:nvSpPr>
          <p:cNvPr id="8" name="TextBox 7"/>
          <p:cNvSpPr txBox="1"/>
          <p:nvPr/>
        </p:nvSpPr>
        <p:spPr>
          <a:xfrm>
            <a:off x="1630935" y="5271591"/>
            <a:ext cx="633507"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err="1">
                <a:ln>
                  <a:noFill/>
                </a:ln>
                <a:solidFill>
                  <a:sysClr val="windowText" lastClr="000000"/>
                </a:solidFill>
                <a:effectLst/>
                <a:uLnTx/>
                <a:uFillTx/>
                <a:latin typeface="Wingdings"/>
                <a:ea typeface="Wingdings"/>
                <a:cs typeface="Wingdings"/>
              </a:rPr>
              <a:t></a:t>
            </a:r>
            <a:r>
              <a:rPr kumimoji="0" lang="en-US" sz="1400" b="1" i="0" u="none" strike="noStrike" kern="0" cap="none" spc="0" normalizeH="0" baseline="0" noProof="0" dirty="0">
                <a:ln>
                  <a:noFill/>
                </a:ln>
                <a:solidFill>
                  <a:sysClr val="windowText" lastClr="000000"/>
                </a:solidFill>
                <a:effectLst/>
                <a:uLnTx/>
                <a:uFillTx/>
              </a:rPr>
              <a:t>  </a:t>
            </a:r>
            <a:r>
              <a:rPr kumimoji="0" lang="en-US" sz="1800" b="1" i="0" u="none" strike="noStrike" kern="0" cap="none" spc="0" normalizeH="0" baseline="0" noProof="0" dirty="0">
                <a:ln>
                  <a:noFill/>
                </a:ln>
                <a:solidFill>
                  <a:sysClr val="windowText" lastClr="000000"/>
                </a:solidFill>
                <a:effectLst/>
                <a:uLnTx/>
                <a:uFillTx/>
              </a:rPr>
              <a:t>A</a:t>
            </a:r>
            <a:endParaRPr kumimoji="0" lang="en-US" sz="1600" b="1" i="0" u="none" strike="noStrike" kern="0" cap="none" spc="0" normalizeH="0" baseline="0" noProof="0" dirty="0">
              <a:ln>
                <a:noFill/>
              </a:ln>
              <a:solidFill>
                <a:sysClr val="windowText" lastClr="000000"/>
              </a:solidFill>
              <a:effectLst/>
              <a:uLnTx/>
              <a:uFillTx/>
            </a:endParaRPr>
          </a:p>
        </p:txBody>
      </p:sp>
      <p:graphicFrame>
        <p:nvGraphicFramePr>
          <p:cNvPr id="9" name="Table 8"/>
          <p:cNvGraphicFramePr>
            <a:graphicFrameLocks noGrp="1"/>
          </p:cNvGraphicFramePr>
          <p:nvPr/>
        </p:nvGraphicFramePr>
        <p:xfrm>
          <a:off x="3258842" y="4209256"/>
          <a:ext cx="1066800" cy="1483360"/>
        </p:xfrm>
        <a:graphic>
          <a:graphicData uri="http://schemas.openxmlformats.org/drawingml/2006/table">
            <a:tbl>
              <a:tblPr firstRow="1" bandRow="1"/>
              <a:tblGrid>
                <a:gridCol w="533400">
                  <a:extLst>
                    <a:ext uri="{9D8B030D-6E8A-4147-A177-3AD203B41FA5}">
                      <a16:colId xmlns:a16="http://schemas.microsoft.com/office/drawing/2014/main" val="20000"/>
                    </a:ext>
                  </a:extLst>
                </a:gridCol>
                <a:gridCol w="533400">
                  <a:extLst>
                    <a:ext uri="{9D8B030D-6E8A-4147-A177-3AD203B41FA5}">
                      <a16:colId xmlns:a16="http://schemas.microsoft.com/office/drawing/2014/main" val="20001"/>
                    </a:ext>
                  </a:extLst>
                </a:gridCol>
              </a:tblGrid>
              <a:tr h="370840">
                <a:tc>
                  <a:txBody>
                    <a:bodyPr/>
                    <a:lstStyle>
                      <a:defPPr>
                        <a:defRPr lang="de-DE"/>
                      </a:defPPr>
                      <a:lvl1pPr marL="0" algn="l" defTabSz="914400" rtl="0" eaLnBrk="1" latinLnBrk="0" hangingPunct="1">
                        <a:defRPr sz="1800" b="1" kern="1200">
                          <a:solidFill>
                            <a:schemeClr val="dk1"/>
                          </a:solidFill>
                          <a:latin typeface="Calibri"/>
                        </a:defRPr>
                      </a:lvl1pPr>
                      <a:lvl2pPr marL="457200" algn="l" defTabSz="914400" rtl="0" eaLnBrk="1" latinLnBrk="0" hangingPunct="1">
                        <a:defRPr sz="1800" b="1" kern="1200">
                          <a:solidFill>
                            <a:schemeClr val="dk1"/>
                          </a:solidFill>
                          <a:latin typeface="Calibri"/>
                        </a:defRPr>
                      </a:lvl2pPr>
                      <a:lvl3pPr marL="914400" algn="l" defTabSz="914400" rtl="0" eaLnBrk="1" latinLnBrk="0" hangingPunct="1">
                        <a:defRPr sz="1800" b="1" kern="1200">
                          <a:solidFill>
                            <a:schemeClr val="dk1"/>
                          </a:solidFill>
                          <a:latin typeface="Calibri"/>
                        </a:defRPr>
                      </a:lvl3pPr>
                      <a:lvl4pPr marL="1371600" algn="l" defTabSz="914400" rtl="0" eaLnBrk="1" latinLnBrk="0" hangingPunct="1">
                        <a:defRPr sz="1800" b="1" kern="1200">
                          <a:solidFill>
                            <a:schemeClr val="dk1"/>
                          </a:solidFill>
                          <a:latin typeface="Calibri"/>
                        </a:defRPr>
                      </a:lvl4pPr>
                      <a:lvl5pPr marL="1828800" algn="l" defTabSz="914400" rtl="0" eaLnBrk="1" latinLnBrk="0" hangingPunct="1">
                        <a:defRPr sz="1800" b="1" kern="1200">
                          <a:solidFill>
                            <a:schemeClr val="dk1"/>
                          </a:solidFill>
                          <a:latin typeface="Calibri"/>
                        </a:defRPr>
                      </a:lvl5pPr>
                      <a:lvl6pPr marL="2286000" algn="l" defTabSz="914400" rtl="0" eaLnBrk="1" latinLnBrk="0" hangingPunct="1">
                        <a:defRPr sz="1800" b="1" kern="1200">
                          <a:solidFill>
                            <a:schemeClr val="dk1"/>
                          </a:solidFill>
                          <a:latin typeface="Calibri"/>
                        </a:defRPr>
                      </a:lvl6pPr>
                      <a:lvl7pPr marL="2743200" algn="l" defTabSz="914400" rtl="0" eaLnBrk="1" latinLnBrk="0" hangingPunct="1">
                        <a:defRPr sz="1800" b="1" kern="1200">
                          <a:solidFill>
                            <a:schemeClr val="dk1"/>
                          </a:solidFill>
                          <a:latin typeface="Calibri"/>
                        </a:defRPr>
                      </a:lvl7pPr>
                      <a:lvl8pPr marL="3200400" algn="l" defTabSz="914400" rtl="0" eaLnBrk="1" latinLnBrk="0" hangingPunct="1">
                        <a:defRPr sz="1800" b="1" kern="1200">
                          <a:solidFill>
                            <a:schemeClr val="dk1"/>
                          </a:solidFill>
                          <a:latin typeface="Calibri"/>
                        </a:defRPr>
                      </a:lvl8pPr>
                      <a:lvl9pPr marL="3657600" algn="l" defTabSz="914400" rtl="0" eaLnBrk="1" latinLnBrk="0" hangingPunct="1">
                        <a:defRPr sz="1800" b="1" kern="1200">
                          <a:solidFill>
                            <a:schemeClr val="dk1"/>
                          </a:solidFill>
                          <a:latin typeface="Calibri"/>
                        </a:defRPr>
                      </a:lvl9pPr>
                    </a:lstStyle>
                    <a:p>
                      <a:pPr algn="ctr"/>
                      <a:r>
                        <a:rPr lang="en-US" b="1" dirty="0"/>
                        <a:t>NC</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20000"/>
                      </a:srgbClr>
                    </a:solidFill>
                  </a:tcPr>
                </a:tc>
                <a:tc>
                  <a:txBody>
                    <a:bodyPr/>
                    <a:lstStyle>
                      <a:defPPr>
                        <a:defRPr lang="de-DE"/>
                      </a:defPPr>
                      <a:lvl1pPr marL="0" algn="l" defTabSz="914400" rtl="0" eaLnBrk="1" latinLnBrk="0" hangingPunct="1">
                        <a:defRPr sz="1800" b="1" kern="1200">
                          <a:solidFill>
                            <a:schemeClr val="dk1"/>
                          </a:solidFill>
                          <a:latin typeface="Calibri"/>
                        </a:defRPr>
                      </a:lvl1pPr>
                      <a:lvl2pPr marL="457200" algn="l" defTabSz="914400" rtl="0" eaLnBrk="1" latinLnBrk="0" hangingPunct="1">
                        <a:defRPr sz="1800" b="1" kern="1200">
                          <a:solidFill>
                            <a:schemeClr val="dk1"/>
                          </a:solidFill>
                          <a:latin typeface="Calibri"/>
                        </a:defRPr>
                      </a:lvl2pPr>
                      <a:lvl3pPr marL="914400" algn="l" defTabSz="914400" rtl="0" eaLnBrk="1" latinLnBrk="0" hangingPunct="1">
                        <a:defRPr sz="1800" b="1" kern="1200">
                          <a:solidFill>
                            <a:schemeClr val="dk1"/>
                          </a:solidFill>
                          <a:latin typeface="Calibri"/>
                        </a:defRPr>
                      </a:lvl3pPr>
                      <a:lvl4pPr marL="1371600" algn="l" defTabSz="914400" rtl="0" eaLnBrk="1" latinLnBrk="0" hangingPunct="1">
                        <a:defRPr sz="1800" b="1" kern="1200">
                          <a:solidFill>
                            <a:schemeClr val="dk1"/>
                          </a:solidFill>
                          <a:latin typeface="Calibri"/>
                        </a:defRPr>
                      </a:lvl4pPr>
                      <a:lvl5pPr marL="1828800" algn="l" defTabSz="914400" rtl="0" eaLnBrk="1" latinLnBrk="0" hangingPunct="1">
                        <a:defRPr sz="1800" b="1" kern="1200">
                          <a:solidFill>
                            <a:schemeClr val="dk1"/>
                          </a:solidFill>
                          <a:latin typeface="Calibri"/>
                        </a:defRPr>
                      </a:lvl5pPr>
                      <a:lvl6pPr marL="2286000" algn="l" defTabSz="914400" rtl="0" eaLnBrk="1" latinLnBrk="0" hangingPunct="1">
                        <a:defRPr sz="1800" b="1" kern="1200">
                          <a:solidFill>
                            <a:schemeClr val="dk1"/>
                          </a:solidFill>
                          <a:latin typeface="Calibri"/>
                        </a:defRPr>
                      </a:lvl6pPr>
                      <a:lvl7pPr marL="2743200" algn="l" defTabSz="914400" rtl="0" eaLnBrk="1" latinLnBrk="0" hangingPunct="1">
                        <a:defRPr sz="1800" b="1" kern="1200">
                          <a:solidFill>
                            <a:schemeClr val="dk1"/>
                          </a:solidFill>
                          <a:latin typeface="Calibri"/>
                        </a:defRPr>
                      </a:lvl7pPr>
                      <a:lvl8pPr marL="3200400" algn="l" defTabSz="914400" rtl="0" eaLnBrk="1" latinLnBrk="0" hangingPunct="1">
                        <a:defRPr sz="1800" b="1" kern="1200">
                          <a:solidFill>
                            <a:schemeClr val="dk1"/>
                          </a:solidFill>
                          <a:latin typeface="Calibri"/>
                        </a:defRPr>
                      </a:lvl8pPr>
                      <a:lvl9pPr marL="3657600" algn="l" defTabSz="914400" rtl="0" eaLnBrk="1" latinLnBrk="0" hangingPunct="1">
                        <a:defRPr sz="1800" b="1" kern="1200">
                          <a:solidFill>
                            <a:schemeClr val="dk1"/>
                          </a:solidFill>
                          <a:latin typeface="Calibri"/>
                        </a:defRPr>
                      </a:lvl9pPr>
                    </a:lstStyle>
                    <a:p>
                      <a:pPr algn="ctr"/>
                      <a:r>
                        <a:rPr lang="en-US" b="1" dirty="0"/>
                        <a:t>11</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20000"/>
                      </a:srgbClr>
                    </a:solidFill>
                  </a:tcPr>
                </a:tc>
                <a:extLst>
                  <a:ext uri="{0D108BD9-81ED-4DB2-BD59-A6C34878D82A}">
                    <a16:rowId xmlns:a16="http://schemas.microsoft.com/office/drawing/2014/main" val="10000"/>
                  </a:ext>
                </a:extLst>
              </a:tr>
              <a:tr h="370840">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PU</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40000"/>
                      </a:srgbClr>
                    </a:solidFill>
                  </a:tcPr>
                </a:tc>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10</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1"/>
                  </a:ext>
                </a:extLst>
              </a:tr>
              <a:tr h="370840">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UB</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20000"/>
                      </a:srgbClr>
                    </a:solidFill>
                  </a:tcPr>
                </a:tc>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10</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20000"/>
                      </a:srgbClr>
                    </a:solidFill>
                  </a:tcPr>
                </a:tc>
                <a:extLst>
                  <a:ext uri="{0D108BD9-81ED-4DB2-BD59-A6C34878D82A}">
                    <a16:rowId xmlns:a16="http://schemas.microsoft.com/office/drawing/2014/main" val="10002"/>
                  </a:ext>
                </a:extLst>
              </a:tr>
              <a:tr h="370840">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UN</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40000"/>
                      </a:srgbClr>
                    </a:solidFill>
                  </a:tcPr>
                </a:tc>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9</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3"/>
                  </a:ext>
                </a:extLst>
              </a:tr>
            </a:tbl>
          </a:graphicData>
        </a:graphic>
      </p:graphicFrame>
      <p:sp>
        <p:nvSpPr>
          <p:cNvPr id="10" name="TextBox 9"/>
          <p:cNvSpPr txBox="1"/>
          <p:nvPr/>
        </p:nvSpPr>
        <p:spPr>
          <a:xfrm>
            <a:off x="4478042" y="4133056"/>
            <a:ext cx="723275"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err="1">
                <a:ln>
                  <a:noFill/>
                </a:ln>
                <a:solidFill>
                  <a:sysClr val="windowText" lastClr="000000"/>
                </a:solidFill>
                <a:effectLst/>
                <a:uLnTx/>
                <a:uFillTx/>
                <a:latin typeface="Wingdings"/>
                <a:ea typeface="Wingdings"/>
                <a:cs typeface="Wingdings"/>
              </a:rPr>
              <a:t></a:t>
            </a:r>
            <a:r>
              <a:rPr kumimoji="0" lang="en-US" sz="1400" b="1" i="0" u="none" strike="noStrike" kern="0" cap="none" spc="0" normalizeH="0" baseline="0" noProof="0" dirty="0">
                <a:ln>
                  <a:noFill/>
                </a:ln>
                <a:solidFill>
                  <a:sysClr val="windowText" lastClr="000000"/>
                </a:solidFill>
                <a:effectLst/>
                <a:uLnTx/>
                <a:uFillTx/>
              </a:rPr>
              <a:t>  </a:t>
            </a:r>
            <a:r>
              <a:rPr kumimoji="0" lang="en-US" sz="1800" b="1" i="0" u="none" strike="noStrike" kern="0" cap="none" spc="0" normalizeH="0" baseline="0" noProof="0" dirty="0">
                <a:ln>
                  <a:noFill/>
                </a:ln>
                <a:solidFill>
                  <a:sysClr val="windowText" lastClr="000000"/>
                </a:solidFill>
                <a:effectLst/>
                <a:uLnTx/>
                <a:uFillTx/>
              </a:rPr>
              <a:t>IN</a:t>
            </a:r>
            <a:endParaRPr kumimoji="0" lang="en-US" sz="1600" b="1" i="0" u="none" strike="noStrike" kern="0" cap="none" spc="0" normalizeH="0" baseline="0" noProof="0" dirty="0">
              <a:ln>
                <a:noFill/>
              </a:ln>
              <a:solidFill>
                <a:sysClr val="windowText" lastClr="000000"/>
              </a:solidFill>
              <a:effectLst/>
              <a:uLnTx/>
              <a:uFillTx/>
            </a:endParaRPr>
          </a:p>
        </p:txBody>
      </p:sp>
      <p:sp>
        <p:nvSpPr>
          <p:cNvPr id="11" name="TextBox 10"/>
          <p:cNvSpPr txBox="1"/>
          <p:nvPr/>
        </p:nvSpPr>
        <p:spPr>
          <a:xfrm>
            <a:off x="4478042" y="4509591"/>
            <a:ext cx="787395"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err="1">
                <a:ln>
                  <a:noFill/>
                </a:ln>
                <a:solidFill>
                  <a:sysClr val="windowText" lastClr="000000"/>
                </a:solidFill>
                <a:effectLst/>
                <a:uLnTx/>
                <a:uFillTx/>
                <a:latin typeface="Wingdings"/>
                <a:ea typeface="Wingdings"/>
                <a:cs typeface="Wingdings"/>
              </a:rPr>
              <a:t></a:t>
            </a:r>
            <a:r>
              <a:rPr kumimoji="0" lang="en-US" sz="1400" b="1" i="0" u="none" strike="noStrike" kern="0" cap="none" spc="0" normalizeH="0" baseline="0" noProof="0" dirty="0">
                <a:ln>
                  <a:noFill/>
                </a:ln>
                <a:solidFill>
                  <a:sysClr val="windowText" lastClr="000000"/>
                </a:solidFill>
                <a:effectLst/>
                <a:uLnTx/>
                <a:uFillTx/>
              </a:rPr>
              <a:t>  </a:t>
            </a:r>
            <a:r>
              <a:rPr kumimoji="0" lang="en-US" sz="1800" b="1" i="0" u="none" strike="noStrike" kern="0" cap="none" spc="0" normalizeH="0" baseline="0" noProof="0" dirty="0">
                <a:ln>
                  <a:noFill/>
                </a:ln>
                <a:solidFill>
                  <a:sysClr val="windowText" lastClr="000000"/>
                </a:solidFill>
                <a:effectLst/>
                <a:uLnTx/>
                <a:uFillTx/>
              </a:rPr>
              <a:t>AT</a:t>
            </a:r>
            <a:endParaRPr kumimoji="0" lang="en-US" sz="1600" b="1" i="0" u="none" strike="noStrike" kern="0" cap="none" spc="0" normalizeH="0" baseline="0" noProof="0" dirty="0">
              <a:ln>
                <a:noFill/>
              </a:ln>
              <a:solidFill>
                <a:sysClr val="windowText" lastClr="000000"/>
              </a:solidFill>
              <a:effectLst/>
              <a:uLnTx/>
              <a:uFillTx/>
            </a:endParaRPr>
          </a:p>
        </p:txBody>
      </p:sp>
      <p:graphicFrame>
        <p:nvGraphicFramePr>
          <p:cNvPr id="12" name="Table 11"/>
          <p:cNvGraphicFramePr>
            <a:graphicFrameLocks noGrp="1"/>
          </p:cNvGraphicFramePr>
          <p:nvPr/>
        </p:nvGraphicFramePr>
        <p:xfrm>
          <a:off x="6078242" y="4239974"/>
          <a:ext cx="1066800" cy="1112520"/>
        </p:xfrm>
        <a:graphic>
          <a:graphicData uri="http://schemas.openxmlformats.org/drawingml/2006/table">
            <a:tbl>
              <a:tblPr firstRow="1" bandRow="1"/>
              <a:tblGrid>
                <a:gridCol w="6096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tblGrid>
              <a:tr h="370840">
                <a:tc>
                  <a:txBody>
                    <a:bodyPr/>
                    <a:lstStyle>
                      <a:defPPr>
                        <a:defRPr lang="de-DE"/>
                      </a:defPPr>
                      <a:lvl1pPr marL="0" algn="l" defTabSz="914400" rtl="0" eaLnBrk="1" latinLnBrk="0" hangingPunct="1">
                        <a:defRPr sz="1800" b="1" kern="1200">
                          <a:solidFill>
                            <a:schemeClr val="dk1"/>
                          </a:solidFill>
                          <a:latin typeface="Calibri"/>
                        </a:defRPr>
                      </a:lvl1pPr>
                      <a:lvl2pPr marL="457200" algn="l" defTabSz="914400" rtl="0" eaLnBrk="1" latinLnBrk="0" hangingPunct="1">
                        <a:defRPr sz="1800" b="1" kern="1200">
                          <a:solidFill>
                            <a:schemeClr val="dk1"/>
                          </a:solidFill>
                          <a:latin typeface="Calibri"/>
                        </a:defRPr>
                      </a:lvl2pPr>
                      <a:lvl3pPr marL="914400" algn="l" defTabSz="914400" rtl="0" eaLnBrk="1" latinLnBrk="0" hangingPunct="1">
                        <a:defRPr sz="1800" b="1" kern="1200">
                          <a:solidFill>
                            <a:schemeClr val="dk1"/>
                          </a:solidFill>
                          <a:latin typeface="Calibri"/>
                        </a:defRPr>
                      </a:lvl3pPr>
                      <a:lvl4pPr marL="1371600" algn="l" defTabSz="914400" rtl="0" eaLnBrk="1" latinLnBrk="0" hangingPunct="1">
                        <a:defRPr sz="1800" b="1" kern="1200">
                          <a:solidFill>
                            <a:schemeClr val="dk1"/>
                          </a:solidFill>
                          <a:latin typeface="Calibri"/>
                        </a:defRPr>
                      </a:lvl4pPr>
                      <a:lvl5pPr marL="1828800" algn="l" defTabSz="914400" rtl="0" eaLnBrk="1" latinLnBrk="0" hangingPunct="1">
                        <a:defRPr sz="1800" b="1" kern="1200">
                          <a:solidFill>
                            <a:schemeClr val="dk1"/>
                          </a:solidFill>
                          <a:latin typeface="Calibri"/>
                        </a:defRPr>
                      </a:lvl5pPr>
                      <a:lvl6pPr marL="2286000" algn="l" defTabSz="914400" rtl="0" eaLnBrk="1" latinLnBrk="0" hangingPunct="1">
                        <a:defRPr sz="1800" b="1" kern="1200">
                          <a:solidFill>
                            <a:schemeClr val="dk1"/>
                          </a:solidFill>
                          <a:latin typeface="Calibri"/>
                        </a:defRPr>
                      </a:lvl6pPr>
                      <a:lvl7pPr marL="2743200" algn="l" defTabSz="914400" rtl="0" eaLnBrk="1" latinLnBrk="0" hangingPunct="1">
                        <a:defRPr sz="1800" b="1" kern="1200">
                          <a:solidFill>
                            <a:schemeClr val="dk1"/>
                          </a:solidFill>
                          <a:latin typeface="Calibri"/>
                        </a:defRPr>
                      </a:lvl7pPr>
                      <a:lvl8pPr marL="3200400" algn="l" defTabSz="914400" rtl="0" eaLnBrk="1" latinLnBrk="0" hangingPunct="1">
                        <a:defRPr sz="1800" b="1" kern="1200">
                          <a:solidFill>
                            <a:schemeClr val="dk1"/>
                          </a:solidFill>
                          <a:latin typeface="Calibri"/>
                        </a:defRPr>
                      </a:lvl8pPr>
                      <a:lvl9pPr marL="3657600" algn="l" defTabSz="914400" rtl="0" eaLnBrk="1" latinLnBrk="0" hangingPunct="1">
                        <a:defRPr sz="1800" b="1" kern="1200">
                          <a:solidFill>
                            <a:schemeClr val="dk1"/>
                          </a:solidFill>
                          <a:latin typeface="Calibri"/>
                        </a:defRPr>
                      </a:lvl9pPr>
                    </a:lstStyle>
                    <a:p>
                      <a:pPr algn="ctr"/>
                      <a:r>
                        <a:rPr lang="en-US" b="1" dirty="0"/>
                        <a:t>UKB</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20000"/>
                      </a:srgbClr>
                    </a:solidFill>
                  </a:tcPr>
                </a:tc>
                <a:tc>
                  <a:txBody>
                    <a:bodyPr/>
                    <a:lstStyle>
                      <a:defPPr>
                        <a:defRPr lang="de-DE"/>
                      </a:defPPr>
                      <a:lvl1pPr marL="0" algn="l" defTabSz="914400" rtl="0" eaLnBrk="1" latinLnBrk="0" hangingPunct="1">
                        <a:defRPr sz="1800" b="1" kern="1200">
                          <a:solidFill>
                            <a:schemeClr val="dk1"/>
                          </a:solidFill>
                          <a:latin typeface="Calibri"/>
                        </a:defRPr>
                      </a:lvl1pPr>
                      <a:lvl2pPr marL="457200" algn="l" defTabSz="914400" rtl="0" eaLnBrk="1" latinLnBrk="0" hangingPunct="1">
                        <a:defRPr sz="1800" b="1" kern="1200">
                          <a:solidFill>
                            <a:schemeClr val="dk1"/>
                          </a:solidFill>
                          <a:latin typeface="Calibri"/>
                        </a:defRPr>
                      </a:lvl2pPr>
                      <a:lvl3pPr marL="914400" algn="l" defTabSz="914400" rtl="0" eaLnBrk="1" latinLnBrk="0" hangingPunct="1">
                        <a:defRPr sz="1800" b="1" kern="1200">
                          <a:solidFill>
                            <a:schemeClr val="dk1"/>
                          </a:solidFill>
                          <a:latin typeface="Calibri"/>
                        </a:defRPr>
                      </a:lvl3pPr>
                      <a:lvl4pPr marL="1371600" algn="l" defTabSz="914400" rtl="0" eaLnBrk="1" latinLnBrk="0" hangingPunct="1">
                        <a:defRPr sz="1800" b="1" kern="1200">
                          <a:solidFill>
                            <a:schemeClr val="dk1"/>
                          </a:solidFill>
                          <a:latin typeface="Calibri"/>
                        </a:defRPr>
                      </a:lvl4pPr>
                      <a:lvl5pPr marL="1828800" algn="l" defTabSz="914400" rtl="0" eaLnBrk="1" latinLnBrk="0" hangingPunct="1">
                        <a:defRPr sz="1800" b="1" kern="1200">
                          <a:solidFill>
                            <a:schemeClr val="dk1"/>
                          </a:solidFill>
                          <a:latin typeface="Calibri"/>
                        </a:defRPr>
                      </a:lvl5pPr>
                      <a:lvl6pPr marL="2286000" algn="l" defTabSz="914400" rtl="0" eaLnBrk="1" latinLnBrk="0" hangingPunct="1">
                        <a:defRPr sz="1800" b="1" kern="1200">
                          <a:solidFill>
                            <a:schemeClr val="dk1"/>
                          </a:solidFill>
                          <a:latin typeface="Calibri"/>
                        </a:defRPr>
                      </a:lvl6pPr>
                      <a:lvl7pPr marL="2743200" algn="l" defTabSz="914400" rtl="0" eaLnBrk="1" latinLnBrk="0" hangingPunct="1">
                        <a:defRPr sz="1800" b="1" kern="1200">
                          <a:solidFill>
                            <a:schemeClr val="dk1"/>
                          </a:solidFill>
                          <a:latin typeface="Calibri"/>
                        </a:defRPr>
                      </a:lvl7pPr>
                      <a:lvl8pPr marL="3200400" algn="l" defTabSz="914400" rtl="0" eaLnBrk="1" latinLnBrk="0" hangingPunct="1">
                        <a:defRPr sz="1800" b="1" kern="1200">
                          <a:solidFill>
                            <a:schemeClr val="dk1"/>
                          </a:solidFill>
                          <a:latin typeface="Calibri"/>
                        </a:defRPr>
                      </a:lvl8pPr>
                      <a:lvl9pPr marL="3657600" algn="l" defTabSz="914400" rtl="0" eaLnBrk="1" latinLnBrk="0" hangingPunct="1">
                        <a:defRPr sz="1800" b="1" kern="1200">
                          <a:solidFill>
                            <a:schemeClr val="dk1"/>
                          </a:solidFill>
                          <a:latin typeface="Calibri"/>
                        </a:defRPr>
                      </a:lvl9pPr>
                    </a:lstStyle>
                    <a:p>
                      <a:pPr algn="ctr"/>
                      <a:r>
                        <a:rPr lang="en-US" b="1" dirty="0"/>
                        <a:t>6</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20000"/>
                      </a:srgbClr>
                    </a:solidFill>
                  </a:tcPr>
                </a:tc>
                <a:extLst>
                  <a:ext uri="{0D108BD9-81ED-4DB2-BD59-A6C34878D82A}">
                    <a16:rowId xmlns:a16="http://schemas.microsoft.com/office/drawing/2014/main" val="10000"/>
                  </a:ext>
                </a:extLst>
              </a:tr>
              <a:tr h="370840">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RVN</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40000"/>
                      </a:srgbClr>
                    </a:solidFill>
                  </a:tcPr>
                </a:tc>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6</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40000"/>
                      </a:srgbClr>
                    </a:solidFill>
                  </a:tcPr>
                </a:tc>
                <a:extLst>
                  <a:ext uri="{0D108BD9-81ED-4DB2-BD59-A6C34878D82A}">
                    <a16:rowId xmlns:a16="http://schemas.microsoft.com/office/drawing/2014/main" val="10001"/>
                  </a:ext>
                </a:extLst>
              </a:tr>
              <a:tr h="370840">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FZI</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20000"/>
                      </a:srgbClr>
                    </a:solidFill>
                  </a:tcPr>
                </a:tc>
                <a:tc>
                  <a:txBody>
                    <a:bodyPr/>
                    <a:lstStyle>
                      <a:defPPr>
                        <a:defRPr lang="de-DE"/>
                      </a:defPPr>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b="1" dirty="0"/>
                        <a:t>4</a:t>
                      </a:r>
                    </a:p>
                  </a:txBody>
                  <a:tcPr>
                    <a:lnL w="12700" cmpd="sng">
                      <a:solidFill>
                        <a:srgbClr val="C0504D"/>
                      </a:solidFill>
                    </a:lnL>
                    <a:lnR w="12700" cmpd="sng">
                      <a:solidFill>
                        <a:srgbClr val="C0504D"/>
                      </a:solidFill>
                    </a:lnR>
                    <a:lnT w="12700" cmpd="sng">
                      <a:solidFill>
                        <a:srgbClr val="C0504D"/>
                      </a:solidFill>
                    </a:lnT>
                    <a:lnB w="12700" cmpd="sng">
                      <a:solidFill>
                        <a:srgbClr val="C0504D"/>
                      </a:solidFill>
                    </a:lnB>
                    <a:lnTlToBr w="12700" cmpd="sng">
                      <a:noFill/>
                      <a:prstDash val="solid"/>
                    </a:lnTlToBr>
                    <a:lnBlToTr w="12700" cmpd="sng">
                      <a:noFill/>
                      <a:prstDash val="solid"/>
                    </a:lnBlToTr>
                    <a:solidFill>
                      <a:srgbClr val="C0504D">
                        <a:tint val="20000"/>
                      </a:srgbClr>
                    </a:solidFill>
                  </a:tcPr>
                </a:tc>
                <a:extLst>
                  <a:ext uri="{0D108BD9-81ED-4DB2-BD59-A6C34878D82A}">
                    <a16:rowId xmlns:a16="http://schemas.microsoft.com/office/drawing/2014/main" val="10002"/>
                  </a:ext>
                </a:extLst>
              </a:tr>
            </a:tbl>
          </a:graphicData>
        </a:graphic>
      </p:graphicFrame>
      <p:sp>
        <p:nvSpPr>
          <p:cNvPr id="13" name="TextBox 12"/>
          <p:cNvSpPr txBox="1"/>
          <p:nvPr/>
        </p:nvSpPr>
        <p:spPr>
          <a:xfrm>
            <a:off x="7221242" y="4163774"/>
            <a:ext cx="954107"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err="1">
                <a:ln>
                  <a:noFill/>
                </a:ln>
                <a:solidFill>
                  <a:sysClr val="windowText" lastClr="000000"/>
                </a:solidFill>
                <a:effectLst/>
                <a:uLnTx/>
                <a:uFillTx/>
                <a:latin typeface="Wingdings"/>
                <a:ea typeface="Wingdings"/>
                <a:cs typeface="Wingdings"/>
              </a:rPr>
              <a:t></a:t>
            </a:r>
            <a:r>
              <a:rPr kumimoji="0" lang="en-US" sz="1400" b="1" i="0" u="none" strike="noStrike" kern="0" cap="none" spc="0" normalizeH="0" baseline="0" noProof="0" dirty="0">
                <a:ln>
                  <a:noFill/>
                </a:ln>
                <a:solidFill>
                  <a:sysClr val="windowText" lastClr="000000"/>
                </a:solidFill>
                <a:effectLst/>
                <a:uLnTx/>
                <a:uFillTx/>
              </a:rPr>
              <a:t>  </a:t>
            </a:r>
            <a:r>
              <a:rPr kumimoji="0" lang="en-US" sz="1800" b="1" i="0" u="none" strike="noStrike" kern="0" cap="none" spc="0" normalizeH="0" baseline="0" noProof="0" dirty="0">
                <a:ln>
                  <a:noFill/>
                </a:ln>
                <a:solidFill>
                  <a:sysClr val="windowText" lastClr="000000"/>
                </a:solidFill>
                <a:effectLst/>
                <a:uLnTx/>
                <a:uFillTx/>
              </a:rPr>
              <a:t>THE</a:t>
            </a:r>
            <a:endParaRPr kumimoji="0" lang="en-US" sz="1600" b="1" i="0" u="none" strike="noStrike" kern="0" cap="none" spc="0" normalizeH="0" baseline="0" noProof="0" dirty="0">
              <a:ln>
                <a:noFill/>
              </a:ln>
              <a:solidFill>
                <a:sysClr val="windowText" lastClr="000000"/>
              </a:solidFill>
              <a:effectLst/>
              <a:uLnTx/>
              <a:uFillTx/>
            </a:endParaRPr>
          </a:p>
        </p:txBody>
      </p:sp>
      <p:sp>
        <p:nvSpPr>
          <p:cNvPr id="14" name="TextBox 13"/>
          <p:cNvSpPr txBox="1"/>
          <p:nvPr/>
        </p:nvSpPr>
        <p:spPr>
          <a:xfrm>
            <a:off x="3258842" y="5733256"/>
            <a:ext cx="1197764"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chemeClr val="accent5">
                    <a:lumMod val="50000"/>
                  </a:schemeClr>
                </a:solidFill>
                <a:effectLst/>
                <a:uLnTx/>
                <a:uFillTx/>
              </a:rPr>
              <a:t>Di-grams</a:t>
            </a:r>
          </a:p>
        </p:txBody>
      </p:sp>
      <p:sp>
        <p:nvSpPr>
          <p:cNvPr id="15" name="TextBox 14"/>
          <p:cNvSpPr txBox="1"/>
          <p:nvPr/>
        </p:nvSpPr>
        <p:spPr>
          <a:xfrm>
            <a:off x="6078242" y="5382974"/>
            <a:ext cx="1252266"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chemeClr val="accent5">
                    <a:lumMod val="50000"/>
                  </a:schemeClr>
                </a:solidFill>
                <a:effectLst/>
                <a:uLnTx/>
                <a:uFillTx/>
              </a:rPr>
              <a:t>Tri-grams</a:t>
            </a:r>
          </a:p>
        </p:txBody>
      </p:sp>
    </p:spTree>
    <p:extLst>
      <p:ext uri="{BB962C8B-B14F-4D97-AF65-F5344CB8AC3E}">
        <p14:creationId xmlns:p14="http://schemas.microsoft.com/office/powerpoint/2010/main" val="395799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3" grpId="0"/>
      <p:bldP spid="14"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8FF9B3-FF7C-1C7B-0429-4F28E957CD50}"/>
              </a:ext>
            </a:extLst>
          </p:cNvPr>
          <p:cNvSpPr>
            <a:spLocks noGrp="1"/>
          </p:cNvSpPr>
          <p:nvPr>
            <p:ph type="title"/>
          </p:nvPr>
        </p:nvSpPr>
        <p:spPr/>
        <p:txBody>
          <a:bodyPr/>
          <a:lstStyle/>
          <a:p>
            <a:r>
              <a:rPr lang="en-US" sz="3600" dirty="0"/>
              <a:t>Hardening the Substitution Cipher</a:t>
            </a:r>
          </a:p>
        </p:txBody>
      </p:sp>
      <p:sp>
        <p:nvSpPr>
          <p:cNvPr id="3" name="Content Placeholder 2">
            <a:extLst>
              <a:ext uri="{FF2B5EF4-FFF2-40B4-BE49-F238E27FC236}">
                <a16:creationId xmlns:a16="http://schemas.microsoft.com/office/drawing/2014/main" id="{3C3DCA06-E170-DD1B-6693-149A24C19061}"/>
              </a:ext>
            </a:extLst>
          </p:cNvPr>
          <p:cNvSpPr>
            <a:spLocks noGrp="1"/>
          </p:cNvSpPr>
          <p:nvPr>
            <p:ph sz="quarter" idx="11"/>
          </p:nvPr>
        </p:nvSpPr>
        <p:spPr/>
        <p:txBody>
          <a:bodyPr/>
          <a:lstStyle/>
          <a:p>
            <a:r>
              <a:rPr lang="en-US" sz="2400" dirty="0"/>
              <a:t>Monoalphabetic ciphers are easy to break because they reflect the frequency data of the original alphabet.</a:t>
            </a:r>
          </a:p>
          <a:p>
            <a:r>
              <a:rPr lang="en-US" sz="2400" dirty="0"/>
              <a:t>One possible countermeasure is to provide multiple substitutes, known as </a:t>
            </a:r>
            <a:r>
              <a:rPr lang="en-US" sz="2400" b="1" dirty="0"/>
              <a:t>homophones</a:t>
            </a:r>
            <a:r>
              <a:rPr lang="en-US" sz="2400" dirty="0"/>
              <a:t>, for a single letter.</a:t>
            </a:r>
          </a:p>
          <a:p>
            <a:pPr lvl="1"/>
            <a:r>
              <a:rPr lang="en-US" sz="2000" dirty="0"/>
              <a:t>e.g. letter e could be randomly assigned a number of different cipher symbols, such as 16, 74, 35, and 21</a:t>
            </a:r>
          </a:p>
          <a:p>
            <a:r>
              <a:rPr lang="en-US" sz="2400" dirty="0"/>
              <a:t>If the number of symbols assigned to each letter is proportional to the relative frequency of that letter, then single-letter frequency information is completely obliterated.</a:t>
            </a:r>
          </a:p>
          <a:p>
            <a:r>
              <a:rPr lang="en-US" sz="2400" dirty="0"/>
              <a:t>What about </a:t>
            </a:r>
            <a:r>
              <a:rPr lang="en-US" sz="2400" dirty="0" err="1"/>
              <a:t>digram</a:t>
            </a:r>
            <a:r>
              <a:rPr lang="en-US" sz="2400" dirty="0"/>
              <a:t> &amp; trigram frequencies?</a:t>
            </a:r>
          </a:p>
        </p:txBody>
      </p:sp>
    </p:spTree>
    <p:extLst>
      <p:ext uri="{BB962C8B-B14F-4D97-AF65-F5344CB8AC3E}">
        <p14:creationId xmlns:p14="http://schemas.microsoft.com/office/powerpoint/2010/main" val="207439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Hardening the Substitution Cipher</a:t>
            </a:r>
          </a:p>
        </p:txBody>
      </p:sp>
      <p:sp>
        <p:nvSpPr>
          <p:cNvPr id="3" name="Content Placeholder 2"/>
          <p:cNvSpPr>
            <a:spLocks noGrp="1"/>
          </p:cNvSpPr>
          <p:nvPr>
            <p:ph sz="quarter" idx="11"/>
          </p:nvPr>
        </p:nvSpPr>
        <p:spPr/>
        <p:txBody>
          <a:bodyPr/>
          <a:lstStyle/>
          <a:p>
            <a:r>
              <a:rPr lang="en-US" sz="2800" dirty="0"/>
              <a:t>To create a stronger cipher, we look into </a:t>
            </a:r>
            <a:r>
              <a:rPr lang="en-US" sz="2800" b="1" dirty="0"/>
              <a:t>polyalphabetic</a:t>
            </a:r>
            <a:r>
              <a:rPr lang="en-US" sz="2800" dirty="0"/>
              <a:t> substitution</a:t>
            </a:r>
          </a:p>
          <a:p>
            <a:r>
              <a:rPr lang="en-US" sz="2800" dirty="0"/>
              <a:t>Most well-known example: </a:t>
            </a:r>
            <a:r>
              <a:rPr lang="en-US" sz="2800" b="1" dirty="0"/>
              <a:t>Vigenère Cipher</a:t>
            </a:r>
          </a:p>
          <a:p>
            <a:pPr>
              <a:lnSpc>
                <a:spcPct val="90000"/>
              </a:lnSpc>
            </a:pPr>
            <a:r>
              <a:rPr lang="en-US" altLang="zh-CN" sz="2800" dirty="0"/>
              <a:t>Uses Caesar's cipher with various different shifts, in order to hide the distribution of the letters.</a:t>
            </a:r>
          </a:p>
          <a:p>
            <a:pPr>
              <a:lnSpc>
                <a:spcPct val="90000"/>
              </a:lnSpc>
            </a:pPr>
            <a:r>
              <a:rPr lang="en-US" altLang="zh-CN" sz="2800" dirty="0"/>
              <a:t>A ‘keyword’ defines the shifts used for each letter in the plaintext</a:t>
            </a:r>
          </a:p>
          <a:p>
            <a:pPr>
              <a:lnSpc>
                <a:spcPct val="90000"/>
              </a:lnSpc>
            </a:pPr>
            <a:endParaRPr lang="en-US" altLang="zh-CN" sz="2800" dirty="0"/>
          </a:p>
          <a:p>
            <a:endParaRPr lang="en-US" sz="2800" dirty="0"/>
          </a:p>
        </p:txBody>
      </p:sp>
    </p:spTree>
    <p:extLst>
      <p:ext uri="{BB962C8B-B14F-4D97-AF65-F5344CB8AC3E}">
        <p14:creationId xmlns:p14="http://schemas.microsoft.com/office/powerpoint/2010/main" val="38844496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Vigenère Cipher</a:t>
            </a:r>
          </a:p>
        </p:txBody>
      </p:sp>
      <p:sp>
        <p:nvSpPr>
          <p:cNvPr id="3" name="Content Placeholder 2"/>
          <p:cNvSpPr>
            <a:spLocks noGrp="1"/>
          </p:cNvSpPr>
          <p:nvPr>
            <p:ph sz="quarter" idx="11"/>
          </p:nvPr>
        </p:nvSpPr>
        <p:spPr/>
        <p:txBody>
          <a:bodyPr/>
          <a:lstStyle/>
          <a:p>
            <a:pPr>
              <a:lnSpc>
                <a:spcPct val="90000"/>
              </a:lnSpc>
            </a:pPr>
            <a:r>
              <a:rPr lang="en-US" altLang="zh-CN" sz="2800" dirty="0"/>
              <a:t>A keyword defines the shifts used in each letter in the text</a:t>
            </a:r>
          </a:p>
          <a:p>
            <a:pPr>
              <a:lnSpc>
                <a:spcPct val="90000"/>
              </a:lnSpc>
            </a:pPr>
            <a:r>
              <a:rPr lang="en-US" altLang="zh-CN" sz="2800" dirty="0"/>
              <a:t>The key word is repeated many times to match the length of plaintext</a:t>
            </a:r>
          </a:p>
          <a:p>
            <a:pPr>
              <a:lnSpc>
                <a:spcPct val="90000"/>
              </a:lnSpc>
            </a:pPr>
            <a:endParaRPr lang="en-US" altLang="zh-CN" sz="2800" dirty="0"/>
          </a:p>
          <a:p>
            <a:endParaRPr lang="en-US" sz="2800" dirty="0"/>
          </a:p>
        </p:txBody>
      </p:sp>
      <p:sp>
        <p:nvSpPr>
          <p:cNvPr id="6" name="TextBox 5">
            <a:extLst>
              <a:ext uri="{FF2B5EF4-FFF2-40B4-BE49-F238E27FC236}">
                <a16:creationId xmlns:a16="http://schemas.microsoft.com/office/drawing/2014/main" id="{5D86FBB4-36ED-EE2C-3DE8-87504BD1B474}"/>
              </a:ext>
            </a:extLst>
          </p:cNvPr>
          <p:cNvSpPr txBox="1"/>
          <p:nvPr/>
        </p:nvSpPr>
        <p:spPr>
          <a:xfrm>
            <a:off x="845332" y="3573016"/>
            <a:ext cx="7632848" cy="1200329"/>
          </a:xfrm>
          <a:prstGeom prst="rect">
            <a:avLst/>
          </a:prstGeom>
          <a:noFill/>
        </p:spPr>
        <p:txBody>
          <a:bodyPr wrap="square">
            <a:spAutoFit/>
          </a:bodyPr>
          <a:lstStyle/>
          <a:p>
            <a:r>
              <a:rPr lang="en-US" altLang="zh-CN" sz="2400" dirty="0">
                <a:solidFill>
                  <a:srgbClr val="0070C0"/>
                </a:solidFill>
              </a:rPr>
              <a:t>Plaintext = “I attack you”</a:t>
            </a:r>
          </a:p>
          <a:p>
            <a:r>
              <a:rPr lang="en-US" altLang="zh-CN" sz="2400" dirty="0">
                <a:solidFill>
                  <a:srgbClr val="C00000"/>
                </a:solidFill>
              </a:rPr>
              <a:t>Keyword = “BOX”</a:t>
            </a:r>
          </a:p>
          <a:p>
            <a:r>
              <a:rPr lang="en-US" altLang="zh-CN" sz="2400" dirty="0">
                <a:solidFill>
                  <a:srgbClr val="C00000"/>
                </a:solidFill>
              </a:rPr>
              <a:t>	(which translates to Ceaser shifts of “1, 14, 23”)</a:t>
            </a:r>
            <a:endParaRPr lang="en-US" sz="2400" dirty="0">
              <a:solidFill>
                <a:srgbClr val="C00000"/>
              </a:solidFill>
            </a:endParaRPr>
          </a:p>
        </p:txBody>
      </p:sp>
      <p:graphicFrame>
        <p:nvGraphicFramePr>
          <p:cNvPr id="7" name="Table 6">
            <a:extLst>
              <a:ext uri="{FF2B5EF4-FFF2-40B4-BE49-F238E27FC236}">
                <a16:creationId xmlns:a16="http://schemas.microsoft.com/office/drawing/2014/main" id="{15B53D73-EC4B-F374-84EA-9272CC87CED9}"/>
              </a:ext>
            </a:extLst>
          </p:cNvPr>
          <p:cNvGraphicFramePr>
            <a:graphicFrameLocks noGrp="1"/>
          </p:cNvGraphicFramePr>
          <p:nvPr>
            <p:extLst>
              <p:ext uri="{D42A27DB-BD31-4B8C-83A1-F6EECF244321}">
                <p14:modId xmlns:p14="http://schemas.microsoft.com/office/powerpoint/2010/main" val="1955426455"/>
              </p:ext>
            </p:extLst>
          </p:nvPr>
        </p:nvGraphicFramePr>
        <p:xfrm>
          <a:off x="1043570" y="5124792"/>
          <a:ext cx="7077547" cy="1112520"/>
        </p:xfrm>
        <a:graphic>
          <a:graphicData uri="http://schemas.openxmlformats.org/drawingml/2006/table">
            <a:tbl>
              <a:tblPr firstCol="1" bandRow="1">
                <a:tableStyleId>{5C22544A-7EE6-4342-B048-85BDC9FD1C3A}</a:tableStyleId>
              </a:tblPr>
              <a:tblGrid>
                <a:gridCol w="1317287">
                  <a:extLst>
                    <a:ext uri="{9D8B030D-6E8A-4147-A177-3AD203B41FA5}">
                      <a16:colId xmlns:a16="http://schemas.microsoft.com/office/drawing/2014/main" val="2402673178"/>
                    </a:ext>
                  </a:extLst>
                </a:gridCol>
                <a:gridCol w="576026">
                  <a:extLst>
                    <a:ext uri="{9D8B030D-6E8A-4147-A177-3AD203B41FA5}">
                      <a16:colId xmlns:a16="http://schemas.microsoft.com/office/drawing/2014/main" val="1435381630"/>
                    </a:ext>
                  </a:extLst>
                </a:gridCol>
                <a:gridCol w="576026">
                  <a:extLst>
                    <a:ext uri="{9D8B030D-6E8A-4147-A177-3AD203B41FA5}">
                      <a16:colId xmlns:a16="http://schemas.microsoft.com/office/drawing/2014/main" val="3108368983"/>
                    </a:ext>
                  </a:extLst>
                </a:gridCol>
                <a:gridCol w="576026">
                  <a:extLst>
                    <a:ext uri="{9D8B030D-6E8A-4147-A177-3AD203B41FA5}">
                      <a16:colId xmlns:a16="http://schemas.microsoft.com/office/drawing/2014/main" val="3209535182"/>
                    </a:ext>
                  </a:extLst>
                </a:gridCol>
                <a:gridCol w="576026">
                  <a:extLst>
                    <a:ext uri="{9D8B030D-6E8A-4147-A177-3AD203B41FA5}">
                      <a16:colId xmlns:a16="http://schemas.microsoft.com/office/drawing/2014/main" val="845260590"/>
                    </a:ext>
                  </a:extLst>
                </a:gridCol>
                <a:gridCol w="576026">
                  <a:extLst>
                    <a:ext uri="{9D8B030D-6E8A-4147-A177-3AD203B41FA5}">
                      <a16:colId xmlns:a16="http://schemas.microsoft.com/office/drawing/2014/main" val="2697508936"/>
                    </a:ext>
                  </a:extLst>
                </a:gridCol>
                <a:gridCol w="576026">
                  <a:extLst>
                    <a:ext uri="{9D8B030D-6E8A-4147-A177-3AD203B41FA5}">
                      <a16:colId xmlns:a16="http://schemas.microsoft.com/office/drawing/2014/main" val="4135701587"/>
                    </a:ext>
                  </a:extLst>
                </a:gridCol>
                <a:gridCol w="576026">
                  <a:extLst>
                    <a:ext uri="{9D8B030D-6E8A-4147-A177-3AD203B41FA5}">
                      <a16:colId xmlns:a16="http://schemas.microsoft.com/office/drawing/2014/main" val="1016990357"/>
                    </a:ext>
                  </a:extLst>
                </a:gridCol>
                <a:gridCol w="576026">
                  <a:extLst>
                    <a:ext uri="{9D8B030D-6E8A-4147-A177-3AD203B41FA5}">
                      <a16:colId xmlns:a16="http://schemas.microsoft.com/office/drawing/2014/main" val="1049276596"/>
                    </a:ext>
                  </a:extLst>
                </a:gridCol>
                <a:gridCol w="576026">
                  <a:extLst>
                    <a:ext uri="{9D8B030D-6E8A-4147-A177-3AD203B41FA5}">
                      <a16:colId xmlns:a16="http://schemas.microsoft.com/office/drawing/2014/main" val="1264021462"/>
                    </a:ext>
                  </a:extLst>
                </a:gridCol>
                <a:gridCol w="576026">
                  <a:extLst>
                    <a:ext uri="{9D8B030D-6E8A-4147-A177-3AD203B41FA5}">
                      <a16:colId xmlns:a16="http://schemas.microsoft.com/office/drawing/2014/main" val="1768913391"/>
                    </a:ext>
                  </a:extLst>
                </a:gridCol>
              </a:tblGrid>
              <a:tr h="370840">
                <a:tc>
                  <a:txBody>
                    <a:bodyPr/>
                    <a:lstStyle/>
                    <a:p>
                      <a:r>
                        <a:rPr lang="en-US" dirty="0"/>
                        <a:t>plaintext</a:t>
                      </a:r>
                    </a:p>
                  </a:txBody>
                  <a:tcPr/>
                </a:tc>
                <a:tc>
                  <a:txBody>
                    <a:bodyPr/>
                    <a:lstStyle/>
                    <a:p>
                      <a:pPr algn="ctr"/>
                      <a:r>
                        <a:rPr lang="en-US" dirty="0"/>
                        <a:t>I</a:t>
                      </a:r>
                    </a:p>
                  </a:txBody>
                  <a:tcPr/>
                </a:tc>
                <a:tc>
                  <a:txBody>
                    <a:bodyPr/>
                    <a:lstStyle/>
                    <a:p>
                      <a:pPr algn="ctr"/>
                      <a:r>
                        <a:rPr lang="en-US" dirty="0"/>
                        <a:t>a</a:t>
                      </a:r>
                    </a:p>
                  </a:txBody>
                  <a:tcPr/>
                </a:tc>
                <a:tc>
                  <a:txBody>
                    <a:bodyPr/>
                    <a:lstStyle/>
                    <a:p>
                      <a:pPr algn="ctr"/>
                      <a:r>
                        <a:rPr lang="en-US" dirty="0"/>
                        <a:t>t</a:t>
                      </a:r>
                    </a:p>
                  </a:txBody>
                  <a:tcPr/>
                </a:tc>
                <a:tc>
                  <a:txBody>
                    <a:bodyPr/>
                    <a:lstStyle/>
                    <a:p>
                      <a:pPr algn="ctr"/>
                      <a:r>
                        <a:rPr lang="en-US" dirty="0"/>
                        <a:t>t</a:t>
                      </a:r>
                    </a:p>
                  </a:txBody>
                  <a:tcPr/>
                </a:tc>
                <a:tc>
                  <a:txBody>
                    <a:bodyPr/>
                    <a:lstStyle/>
                    <a:p>
                      <a:pPr algn="ctr"/>
                      <a:r>
                        <a:rPr lang="en-US" dirty="0"/>
                        <a:t>a</a:t>
                      </a:r>
                    </a:p>
                  </a:txBody>
                  <a:tcPr/>
                </a:tc>
                <a:tc>
                  <a:txBody>
                    <a:bodyPr/>
                    <a:lstStyle/>
                    <a:p>
                      <a:pPr algn="ctr"/>
                      <a:r>
                        <a:rPr lang="en-US" dirty="0"/>
                        <a:t>c</a:t>
                      </a:r>
                    </a:p>
                  </a:txBody>
                  <a:tcPr/>
                </a:tc>
                <a:tc>
                  <a:txBody>
                    <a:bodyPr/>
                    <a:lstStyle/>
                    <a:p>
                      <a:pPr algn="ctr"/>
                      <a:r>
                        <a:rPr lang="en-US" dirty="0"/>
                        <a:t>k</a:t>
                      </a:r>
                    </a:p>
                  </a:txBody>
                  <a:tcPr/>
                </a:tc>
                <a:tc>
                  <a:txBody>
                    <a:bodyPr/>
                    <a:lstStyle/>
                    <a:p>
                      <a:pPr algn="ctr"/>
                      <a:r>
                        <a:rPr lang="en-US" dirty="0"/>
                        <a:t>y</a:t>
                      </a:r>
                    </a:p>
                  </a:txBody>
                  <a:tcPr/>
                </a:tc>
                <a:tc>
                  <a:txBody>
                    <a:bodyPr/>
                    <a:lstStyle/>
                    <a:p>
                      <a:pPr algn="ctr"/>
                      <a:r>
                        <a:rPr lang="en-US" dirty="0"/>
                        <a:t>o</a:t>
                      </a:r>
                    </a:p>
                  </a:txBody>
                  <a:tcPr/>
                </a:tc>
                <a:tc>
                  <a:txBody>
                    <a:bodyPr/>
                    <a:lstStyle/>
                    <a:p>
                      <a:pPr algn="ctr"/>
                      <a:r>
                        <a:rPr lang="en-US" dirty="0"/>
                        <a:t>u</a:t>
                      </a:r>
                    </a:p>
                  </a:txBody>
                  <a:tcPr/>
                </a:tc>
                <a:extLst>
                  <a:ext uri="{0D108BD9-81ED-4DB2-BD59-A6C34878D82A}">
                    <a16:rowId xmlns:a16="http://schemas.microsoft.com/office/drawing/2014/main" val="3908162756"/>
                  </a:ext>
                </a:extLst>
              </a:tr>
              <a:tr h="370840">
                <a:tc>
                  <a:txBody>
                    <a:bodyPr/>
                    <a:lstStyle/>
                    <a:p>
                      <a:r>
                        <a:rPr lang="en-US" dirty="0"/>
                        <a:t>key</a:t>
                      </a:r>
                    </a:p>
                  </a:txBody>
                  <a:tcPr/>
                </a:tc>
                <a:tc>
                  <a:txBody>
                    <a:bodyPr/>
                    <a:lstStyle/>
                    <a:p>
                      <a:pPr algn="ctr"/>
                      <a:r>
                        <a:rPr lang="en-US" dirty="0">
                          <a:solidFill>
                            <a:schemeClr val="accent6">
                              <a:lumMod val="75000"/>
                            </a:schemeClr>
                          </a:solidFill>
                        </a:rPr>
                        <a:t>1</a:t>
                      </a:r>
                    </a:p>
                  </a:txBody>
                  <a:tcPr/>
                </a:tc>
                <a:tc>
                  <a:txBody>
                    <a:bodyPr/>
                    <a:lstStyle/>
                    <a:p>
                      <a:pPr algn="ctr"/>
                      <a:r>
                        <a:rPr lang="en-US" dirty="0">
                          <a:solidFill>
                            <a:schemeClr val="accent6">
                              <a:lumMod val="75000"/>
                            </a:schemeClr>
                          </a:solidFill>
                        </a:rPr>
                        <a:t>14</a:t>
                      </a:r>
                    </a:p>
                  </a:txBody>
                  <a:tcPr/>
                </a:tc>
                <a:tc>
                  <a:txBody>
                    <a:bodyPr/>
                    <a:lstStyle/>
                    <a:p>
                      <a:pPr algn="ctr"/>
                      <a:r>
                        <a:rPr lang="en-US" dirty="0">
                          <a:solidFill>
                            <a:schemeClr val="accent6">
                              <a:lumMod val="75000"/>
                            </a:schemeClr>
                          </a:solidFill>
                        </a:rPr>
                        <a:t>23</a:t>
                      </a:r>
                    </a:p>
                  </a:txBody>
                  <a:tcPr/>
                </a:tc>
                <a:tc>
                  <a:txBody>
                    <a:bodyPr/>
                    <a:lstStyle/>
                    <a:p>
                      <a:pPr algn="ctr"/>
                      <a:r>
                        <a:rPr lang="en-US" dirty="0">
                          <a:solidFill>
                            <a:schemeClr val="accent3">
                              <a:lumMod val="75000"/>
                            </a:schemeClr>
                          </a:solidFill>
                        </a:rPr>
                        <a:t>1</a:t>
                      </a:r>
                    </a:p>
                  </a:txBody>
                  <a:tcPr/>
                </a:tc>
                <a:tc>
                  <a:txBody>
                    <a:bodyPr/>
                    <a:lstStyle/>
                    <a:p>
                      <a:pPr algn="ctr"/>
                      <a:r>
                        <a:rPr lang="en-US" dirty="0">
                          <a:solidFill>
                            <a:schemeClr val="accent3">
                              <a:lumMod val="75000"/>
                            </a:schemeClr>
                          </a:solidFill>
                        </a:rPr>
                        <a:t>14</a:t>
                      </a:r>
                    </a:p>
                  </a:txBody>
                  <a:tcPr/>
                </a:tc>
                <a:tc>
                  <a:txBody>
                    <a:bodyPr/>
                    <a:lstStyle/>
                    <a:p>
                      <a:pPr algn="ctr"/>
                      <a:r>
                        <a:rPr lang="en-US" dirty="0">
                          <a:solidFill>
                            <a:schemeClr val="accent3">
                              <a:lumMod val="75000"/>
                            </a:schemeClr>
                          </a:solidFill>
                        </a:rPr>
                        <a:t>23</a:t>
                      </a:r>
                    </a:p>
                  </a:txBody>
                  <a:tcPr/>
                </a:tc>
                <a:tc>
                  <a:txBody>
                    <a:bodyPr/>
                    <a:lstStyle/>
                    <a:p>
                      <a:pPr algn="ctr"/>
                      <a:r>
                        <a:rPr lang="en-US" dirty="0">
                          <a:solidFill>
                            <a:schemeClr val="accent6">
                              <a:lumMod val="75000"/>
                            </a:schemeClr>
                          </a:solidFill>
                        </a:rPr>
                        <a:t>1</a:t>
                      </a:r>
                    </a:p>
                  </a:txBody>
                  <a:tcPr/>
                </a:tc>
                <a:tc>
                  <a:txBody>
                    <a:bodyPr/>
                    <a:lstStyle/>
                    <a:p>
                      <a:pPr algn="ctr"/>
                      <a:r>
                        <a:rPr lang="en-US" dirty="0">
                          <a:solidFill>
                            <a:schemeClr val="accent6">
                              <a:lumMod val="75000"/>
                            </a:schemeClr>
                          </a:solidFill>
                        </a:rPr>
                        <a:t>14</a:t>
                      </a:r>
                    </a:p>
                  </a:txBody>
                  <a:tcPr/>
                </a:tc>
                <a:tc>
                  <a:txBody>
                    <a:bodyPr/>
                    <a:lstStyle/>
                    <a:p>
                      <a:pPr algn="ctr"/>
                      <a:r>
                        <a:rPr lang="en-US" dirty="0">
                          <a:solidFill>
                            <a:schemeClr val="accent6">
                              <a:lumMod val="75000"/>
                            </a:schemeClr>
                          </a:solidFill>
                        </a:rPr>
                        <a:t>23</a:t>
                      </a:r>
                    </a:p>
                  </a:txBody>
                  <a:tcPr/>
                </a:tc>
                <a:tc>
                  <a:txBody>
                    <a:bodyPr/>
                    <a:lstStyle/>
                    <a:p>
                      <a:pPr algn="ctr"/>
                      <a:r>
                        <a:rPr lang="en-US" dirty="0">
                          <a:solidFill>
                            <a:schemeClr val="accent3">
                              <a:lumMod val="75000"/>
                            </a:schemeClr>
                          </a:solidFill>
                        </a:rPr>
                        <a:t>1</a:t>
                      </a:r>
                    </a:p>
                  </a:txBody>
                  <a:tcPr/>
                </a:tc>
                <a:extLst>
                  <a:ext uri="{0D108BD9-81ED-4DB2-BD59-A6C34878D82A}">
                    <a16:rowId xmlns:a16="http://schemas.microsoft.com/office/drawing/2014/main" val="2263949877"/>
                  </a:ext>
                </a:extLst>
              </a:tr>
              <a:tr h="370840">
                <a:tc>
                  <a:txBody>
                    <a:bodyPr/>
                    <a:lstStyle/>
                    <a:p>
                      <a:r>
                        <a:rPr lang="en-US" dirty="0"/>
                        <a:t>ciphertext</a:t>
                      </a:r>
                    </a:p>
                  </a:txBody>
                  <a:tcPr/>
                </a:tc>
                <a:tc>
                  <a:txBody>
                    <a:bodyPr/>
                    <a:lstStyle/>
                    <a:p>
                      <a:pPr algn="ctr"/>
                      <a:r>
                        <a:rPr lang="en-US" dirty="0"/>
                        <a:t>J</a:t>
                      </a:r>
                    </a:p>
                  </a:txBody>
                  <a:tcPr/>
                </a:tc>
                <a:tc>
                  <a:txBody>
                    <a:bodyPr/>
                    <a:lstStyle/>
                    <a:p>
                      <a:pPr algn="ctr"/>
                      <a:r>
                        <a:rPr lang="en-US" dirty="0"/>
                        <a:t>o</a:t>
                      </a:r>
                    </a:p>
                  </a:txBody>
                  <a:tcPr/>
                </a:tc>
                <a:tc>
                  <a:txBody>
                    <a:bodyPr/>
                    <a:lstStyle/>
                    <a:p>
                      <a:pPr algn="ctr"/>
                      <a:r>
                        <a:rPr lang="en-US" dirty="0"/>
                        <a:t>q</a:t>
                      </a:r>
                    </a:p>
                  </a:txBody>
                  <a:tcPr/>
                </a:tc>
                <a:tc>
                  <a:txBody>
                    <a:bodyPr/>
                    <a:lstStyle/>
                    <a:p>
                      <a:pPr algn="ctr"/>
                      <a:r>
                        <a:rPr lang="en-US" dirty="0"/>
                        <a:t>u</a:t>
                      </a:r>
                    </a:p>
                  </a:txBody>
                  <a:tcPr/>
                </a:tc>
                <a:tc>
                  <a:txBody>
                    <a:bodyPr/>
                    <a:lstStyle/>
                    <a:p>
                      <a:pPr algn="ctr"/>
                      <a:r>
                        <a:rPr lang="en-US" dirty="0"/>
                        <a:t>o</a:t>
                      </a:r>
                    </a:p>
                  </a:txBody>
                  <a:tcPr/>
                </a:tc>
                <a:tc>
                  <a:txBody>
                    <a:bodyPr/>
                    <a:lstStyle/>
                    <a:p>
                      <a:pPr algn="ctr"/>
                      <a:r>
                        <a:rPr lang="en-US" dirty="0"/>
                        <a:t>z</a:t>
                      </a:r>
                    </a:p>
                  </a:txBody>
                  <a:tcPr/>
                </a:tc>
                <a:tc>
                  <a:txBody>
                    <a:bodyPr/>
                    <a:lstStyle/>
                    <a:p>
                      <a:pPr algn="ctr"/>
                      <a:r>
                        <a:rPr lang="en-US" dirty="0"/>
                        <a:t>l</a:t>
                      </a:r>
                    </a:p>
                  </a:txBody>
                  <a:tcPr/>
                </a:tc>
                <a:tc>
                  <a:txBody>
                    <a:bodyPr/>
                    <a:lstStyle/>
                    <a:p>
                      <a:pPr algn="ctr"/>
                      <a:r>
                        <a:rPr lang="en-US" dirty="0"/>
                        <a:t>m</a:t>
                      </a:r>
                    </a:p>
                  </a:txBody>
                  <a:tcPr/>
                </a:tc>
                <a:tc>
                  <a:txBody>
                    <a:bodyPr/>
                    <a:lstStyle/>
                    <a:p>
                      <a:pPr algn="ctr"/>
                      <a:r>
                        <a:rPr lang="en-US" dirty="0"/>
                        <a:t>l</a:t>
                      </a:r>
                    </a:p>
                  </a:txBody>
                  <a:tcPr/>
                </a:tc>
                <a:tc>
                  <a:txBody>
                    <a:bodyPr/>
                    <a:lstStyle/>
                    <a:p>
                      <a:pPr algn="ctr"/>
                      <a:r>
                        <a:rPr lang="en-US" dirty="0"/>
                        <a:t>v</a:t>
                      </a:r>
                    </a:p>
                  </a:txBody>
                  <a:tcPr/>
                </a:tc>
                <a:extLst>
                  <a:ext uri="{0D108BD9-81ED-4DB2-BD59-A6C34878D82A}">
                    <a16:rowId xmlns:a16="http://schemas.microsoft.com/office/drawing/2014/main" val="3672601807"/>
                  </a:ext>
                </a:extLst>
              </a:tr>
            </a:tbl>
          </a:graphicData>
        </a:graphic>
      </p:graphicFrame>
    </p:spTree>
    <p:extLst>
      <p:ext uri="{BB962C8B-B14F-4D97-AF65-F5344CB8AC3E}">
        <p14:creationId xmlns:p14="http://schemas.microsoft.com/office/powerpoint/2010/main" val="2259522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6C6A1-AE1E-5B4A-8C08-D80053DB0524}"/>
              </a:ext>
            </a:extLst>
          </p:cNvPr>
          <p:cNvSpPr>
            <a:spLocks noGrp="1"/>
          </p:cNvSpPr>
          <p:nvPr>
            <p:ph type="title"/>
          </p:nvPr>
        </p:nvSpPr>
        <p:spPr/>
        <p:txBody>
          <a:bodyPr/>
          <a:lstStyle/>
          <a:p>
            <a:r>
              <a:rPr lang="en-US" sz="4000" dirty="0"/>
              <a:t>Vigenère Cipher</a:t>
            </a:r>
            <a:endParaRPr lang="en-US" dirty="0"/>
          </a:p>
        </p:txBody>
      </p:sp>
      <p:sp>
        <p:nvSpPr>
          <p:cNvPr id="3" name="Content Placeholder 2">
            <a:extLst>
              <a:ext uri="{FF2B5EF4-FFF2-40B4-BE49-F238E27FC236}">
                <a16:creationId xmlns:a16="http://schemas.microsoft.com/office/drawing/2014/main" id="{22C601B8-31E7-5EB2-7093-6299D3F22FD2}"/>
              </a:ext>
            </a:extLst>
          </p:cNvPr>
          <p:cNvSpPr>
            <a:spLocks noGrp="1"/>
          </p:cNvSpPr>
          <p:nvPr>
            <p:ph sz="quarter" idx="11"/>
          </p:nvPr>
        </p:nvSpPr>
        <p:spPr>
          <a:xfrm>
            <a:off x="179512" y="1560612"/>
            <a:ext cx="2880320" cy="4748708"/>
          </a:xfrm>
        </p:spPr>
        <p:txBody>
          <a:bodyPr/>
          <a:lstStyle/>
          <a:p>
            <a:pPr marL="0" indent="0">
              <a:buNone/>
            </a:pPr>
            <a:r>
              <a:rPr lang="en-US" sz="2400" u="sng" dirty="0"/>
              <a:t>Vigenère square</a:t>
            </a:r>
            <a:r>
              <a:rPr lang="en-US" sz="2400" dirty="0"/>
              <a:t> is helpful when working by hand.</a:t>
            </a:r>
          </a:p>
          <a:p>
            <a:pPr marL="0" indent="0">
              <a:buNone/>
            </a:pPr>
            <a:endParaRPr lang="en-US" sz="2400" dirty="0"/>
          </a:p>
          <a:p>
            <a:pPr marL="0" indent="0">
              <a:buNone/>
            </a:pPr>
            <a:endParaRPr lang="en-US" sz="2400" dirty="0"/>
          </a:p>
          <a:p>
            <a:pPr marL="0" indent="0">
              <a:buNone/>
            </a:pPr>
            <a:r>
              <a:rPr lang="en-US" sz="2400" dirty="0"/>
              <a:t>Header row is for plaintext.</a:t>
            </a:r>
          </a:p>
          <a:p>
            <a:pPr marL="0" indent="0">
              <a:buNone/>
            </a:pPr>
            <a:r>
              <a:rPr lang="en-US" sz="2400" dirty="0"/>
              <a:t>First column represents the key letter.</a:t>
            </a:r>
          </a:p>
        </p:txBody>
      </p:sp>
      <p:pic>
        <p:nvPicPr>
          <p:cNvPr id="5" name="Picture 4">
            <a:extLst>
              <a:ext uri="{FF2B5EF4-FFF2-40B4-BE49-F238E27FC236}">
                <a16:creationId xmlns:a16="http://schemas.microsoft.com/office/drawing/2014/main" id="{C4954DE1-CE0C-C35B-ADE2-6ADD5643EB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9832" y="845840"/>
            <a:ext cx="5940152" cy="5940152"/>
          </a:xfrm>
          <a:prstGeom prst="rect">
            <a:avLst/>
          </a:prstGeom>
        </p:spPr>
      </p:pic>
    </p:spTree>
    <p:extLst>
      <p:ext uri="{BB962C8B-B14F-4D97-AF65-F5344CB8AC3E}">
        <p14:creationId xmlns:p14="http://schemas.microsoft.com/office/powerpoint/2010/main" val="2249447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Cryptanalysis of Vigenère cipher</a:t>
            </a:r>
          </a:p>
        </p:txBody>
      </p:sp>
      <mc:AlternateContent xmlns:mc="http://schemas.openxmlformats.org/markup-compatibility/2006" xmlns:a14="http://schemas.microsoft.com/office/drawing/2010/main">
        <mc:Choice Requires="a14">
          <p:sp>
            <p:nvSpPr>
              <p:cNvPr id="3" name="Content Placeholder 2"/>
              <p:cNvSpPr>
                <a:spLocks noGrp="1"/>
              </p:cNvSpPr>
              <p:nvPr>
                <p:ph sz="quarter" idx="11"/>
              </p:nvPr>
            </p:nvSpPr>
            <p:spPr/>
            <p:txBody>
              <a:bodyPr/>
              <a:lstStyle/>
              <a:p>
                <a:r>
                  <a:rPr lang="en-US" altLang="zh-CN" sz="2400" dirty="0"/>
                  <a:t>Strength of Vigenère cipher is that there are multiple ciphertext letters for each plaintext letter, one for each unique letter of the keyword.</a:t>
                </a:r>
              </a:p>
              <a:p>
                <a:r>
                  <a:rPr lang="en-US" sz="2400" dirty="0"/>
                  <a:t>e.g. In the preceding example, plaintext ‘t’ can be mapped to ‘u’, ‘h’ or ‘o’ (with the shifts of 1, 14 and 23 respectively).</a:t>
                </a:r>
              </a:p>
              <a:p>
                <a:r>
                  <a:rPr lang="en-US" sz="2400" dirty="0"/>
                  <a:t>Thus, the letter frequency information is obscured.</a:t>
                </a:r>
              </a:p>
              <a:p>
                <a:r>
                  <a:rPr lang="en-US" sz="2400" dirty="0"/>
                  <a:t>However, not all knowledge of the plaintext structure is lost.</a:t>
                </a:r>
              </a:p>
              <a:p>
                <a:r>
                  <a:rPr lang="en-US" sz="2400" dirty="0"/>
                  <a:t>If attacker finds out the key length,</a:t>
                </a:r>
                <a:r>
                  <a:rPr lang="en-US" altLang="zh-CN" sz="2400" dirty="0"/>
                  <a:t> say </a:t>
                </a:r>
                <a14:m>
                  <m:oMath xmlns:m="http://schemas.openxmlformats.org/officeDocument/2006/math">
                    <m:r>
                      <a:rPr lang="en-US" altLang="zh-CN" sz="2400" i="1" dirty="0" smtClean="0">
                        <a:latin typeface="Cambria Math" panose="02040503050406030204" pitchFamily="18" charset="0"/>
                      </a:rPr>
                      <m:t>𝑛</m:t>
                    </m:r>
                  </m:oMath>
                </a14:m>
                <a:r>
                  <a:rPr lang="en-US" altLang="zh-CN" sz="2400" dirty="0"/>
                  <a:t>, they can split the ciphertext in to </a:t>
                </a:r>
                <a14:m>
                  <m:oMath xmlns:m="http://schemas.openxmlformats.org/officeDocument/2006/math">
                    <m:r>
                      <a:rPr lang="en-US" altLang="zh-CN" sz="2400" i="1" dirty="0" smtClean="0">
                        <a:latin typeface="Cambria Math" panose="02040503050406030204" pitchFamily="18" charset="0"/>
                      </a:rPr>
                      <m:t>𝑛</m:t>
                    </m:r>
                  </m:oMath>
                </a14:m>
                <a:r>
                  <a:rPr lang="en-US" altLang="zh-CN" sz="2400" dirty="0"/>
                  <a:t> sections, and apply frequency analysis on each section separately.</a:t>
                </a:r>
              </a:p>
              <a:p>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sz="quarter" idx="11"/>
              </p:nvPr>
            </p:nvSpPr>
            <p:spPr>
              <a:blipFill>
                <a:blip r:embed="rId2"/>
                <a:stretch>
                  <a:fillRect l="-1037" t="-1043" r="-1407" b="-5085"/>
                </a:stretch>
              </a:blipFill>
            </p:spPr>
            <p:txBody>
              <a:bodyPr/>
              <a:lstStyle/>
              <a:p>
                <a:r>
                  <a:rPr lang="en-US">
                    <a:noFill/>
                  </a:rPr>
                  <a:t> </a:t>
                </a:r>
              </a:p>
            </p:txBody>
          </p:sp>
        </mc:Fallback>
      </mc:AlternateContent>
    </p:spTree>
    <p:extLst>
      <p:ext uri="{BB962C8B-B14F-4D97-AF65-F5344CB8AC3E}">
        <p14:creationId xmlns:p14="http://schemas.microsoft.com/office/powerpoint/2010/main" val="18403915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Cryptanalysis of Vigenère cipher</a:t>
            </a:r>
          </a:p>
        </p:txBody>
      </p:sp>
      <p:sp>
        <p:nvSpPr>
          <p:cNvPr id="3" name="Content Placeholder 2"/>
          <p:cNvSpPr>
            <a:spLocks noGrp="1"/>
          </p:cNvSpPr>
          <p:nvPr>
            <p:ph sz="quarter" idx="11"/>
          </p:nvPr>
        </p:nvSpPr>
        <p:spPr/>
        <p:txBody>
          <a:bodyPr/>
          <a:lstStyle/>
          <a:p>
            <a:r>
              <a:rPr lang="en-US" altLang="zh-CN" sz="2400" dirty="0"/>
              <a:t>e.g. if key length = 3 is known, attacker can split the ciphertext in to 3 sections, and apply frequency analysis on each section separately.</a:t>
            </a:r>
          </a:p>
          <a:p>
            <a:endParaRPr lang="en-US" sz="2400" dirty="0"/>
          </a:p>
        </p:txBody>
      </p:sp>
      <p:graphicFrame>
        <p:nvGraphicFramePr>
          <p:cNvPr id="4" name="Table 3">
            <a:extLst>
              <a:ext uri="{FF2B5EF4-FFF2-40B4-BE49-F238E27FC236}">
                <a16:creationId xmlns:a16="http://schemas.microsoft.com/office/drawing/2014/main" id="{4834127A-99C6-8E21-CE31-8E8A99EA4AD2}"/>
              </a:ext>
            </a:extLst>
          </p:cNvPr>
          <p:cNvGraphicFramePr>
            <a:graphicFrameLocks noGrp="1"/>
          </p:cNvGraphicFramePr>
          <p:nvPr>
            <p:extLst>
              <p:ext uri="{D42A27DB-BD31-4B8C-83A1-F6EECF244321}">
                <p14:modId xmlns:p14="http://schemas.microsoft.com/office/powerpoint/2010/main" val="1421993735"/>
              </p:ext>
            </p:extLst>
          </p:nvPr>
        </p:nvGraphicFramePr>
        <p:xfrm>
          <a:off x="1033226" y="3068960"/>
          <a:ext cx="7077547" cy="1483360"/>
        </p:xfrm>
        <a:graphic>
          <a:graphicData uri="http://schemas.openxmlformats.org/drawingml/2006/table">
            <a:tbl>
              <a:tblPr firstCol="1" bandRow="1">
                <a:tableStyleId>{5C22544A-7EE6-4342-B048-85BDC9FD1C3A}</a:tableStyleId>
              </a:tblPr>
              <a:tblGrid>
                <a:gridCol w="1317287">
                  <a:extLst>
                    <a:ext uri="{9D8B030D-6E8A-4147-A177-3AD203B41FA5}">
                      <a16:colId xmlns:a16="http://schemas.microsoft.com/office/drawing/2014/main" val="2402673178"/>
                    </a:ext>
                  </a:extLst>
                </a:gridCol>
                <a:gridCol w="576026">
                  <a:extLst>
                    <a:ext uri="{9D8B030D-6E8A-4147-A177-3AD203B41FA5}">
                      <a16:colId xmlns:a16="http://schemas.microsoft.com/office/drawing/2014/main" val="1435381630"/>
                    </a:ext>
                  </a:extLst>
                </a:gridCol>
                <a:gridCol w="576026">
                  <a:extLst>
                    <a:ext uri="{9D8B030D-6E8A-4147-A177-3AD203B41FA5}">
                      <a16:colId xmlns:a16="http://schemas.microsoft.com/office/drawing/2014/main" val="3108368983"/>
                    </a:ext>
                  </a:extLst>
                </a:gridCol>
                <a:gridCol w="576026">
                  <a:extLst>
                    <a:ext uri="{9D8B030D-6E8A-4147-A177-3AD203B41FA5}">
                      <a16:colId xmlns:a16="http://schemas.microsoft.com/office/drawing/2014/main" val="3209535182"/>
                    </a:ext>
                  </a:extLst>
                </a:gridCol>
                <a:gridCol w="576026">
                  <a:extLst>
                    <a:ext uri="{9D8B030D-6E8A-4147-A177-3AD203B41FA5}">
                      <a16:colId xmlns:a16="http://schemas.microsoft.com/office/drawing/2014/main" val="845260590"/>
                    </a:ext>
                  </a:extLst>
                </a:gridCol>
                <a:gridCol w="576026">
                  <a:extLst>
                    <a:ext uri="{9D8B030D-6E8A-4147-A177-3AD203B41FA5}">
                      <a16:colId xmlns:a16="http://schemas.microsoft.com/office/drawing/2014/main" val="2697508936"/>
                    </a:ext>
                  </a:extLst>
                </a:gridCol>
                <a:gridCol w="576026">
                  <a:extLst>
                    <a:ext uri="{9D8B030D-6E8A-4147-A177-3AD203B41FA5}">
                      <a16:colId xmlns:a16="http://schemas.microsoft.com/office/drawing/2014/main" val="4135701587"/>
                    </a:ext>
                  </a:extLst>
                </a:gridCol>
                <a:gridCol w="576026">
                  <a:extLst>
                    <a:ext uri="{9D8B030D-6E8A-4147-A177-3AD203B41FA5}">
                      <a16:colId xmlns:a16="http://schemas.microsoft.com/office/drawing/2014/main" val="1016990357"/>
                    </a:ext>
                  </a:extLst>
                </a:gridCol>
                <a:gridCol w="576026">
                  <a:extLst>
                    <a:ext uri="{9D8B030D-6E8A-4147-A177-3AD203B41FA5}">
                      <a16:colId xmlns:a16="http://schemas.microsoft.com/office/drawing/2014/main" val="1049276596"/>
                    </a:ext>
                  </a:extLst>
                </a:gridCol>
                <a:gridCol w="576026">
                  <a:extLst>
                    <a:ext uri="{9D8B030D-6E8A-4147-A177-3AD203B41FA5}">
                      <a16:colId xmlns:a16="http://schemas.microsoft.com/office/drawing/2014/main" val="1264021462"/>
                    </a:ext>
                  </a:extLst>
                </a:gridCol>
                <a:gridCol w="576026">
                  <a:extLst>
                    <a:ext uri="{9D8B030D-6E8A-4147-A177-3AD203B41FA5}">
                      <a16:colId xmlns:a16="http://schemas.microsoft.com/office/drawing/2014/main" val="1768913391"/>
                    </a:ext>
                  </a:extLst>
                </a:gridCol>
              </a:tblGrid>
              <a:tr h="370840">
                <a:tc>
                  <a:txBody>
                    <a:bodyPr/>
                    <a:lstStyle/>
                    <a:p>
                      <a:r>
                        <a:rPr lang="en-US" dirty="0"/>
                        <a:t>ciphertext</a:t>
                      </a:r>
                    </a:p>
                  </a:txBody>
                  <a:tcPr/>
                </a:tc>
                <a:tc>
                  <a:txBody>
                    <a:bodyPr/>
                    <a:lstStyle/>
                    <a:p>
                      <a:pPr algn="ctr"/>
                      <a:r>
                        <a:rPr lang="en-US" dirty="0"/>
                        <a:t>J</a:t>
                      </a:r>
                    </a:p>
                  </a:txBody>
                  <a:tcPr/>
                </a:tc>
                <a:tc>
                  <a:txBody>
                    <a:bodyPr/>
                    <a:lstStyle/>
                    <a:p>
                      <a:pPr algn="ctr"/>
                      <a:r>
                        <a:rPr lang="en-US" dirty="0"/>
                        <a:t>o</a:t>
                      </a:r>
                    </a:p>
                  </a:txBody>
                  <a:tcPr/>
                </a:tc>
                <a:tc>
                  <a:txBody>
                    <a:bodyPr/>
                    <a:lstStyle/>
                    <a:p>
                      <a:pPr algn="ctr"/>
                      <a:r>
                        <a:rPr lang="en-US" dirty="0"/>
                        <a:t>q</a:t>
                      </a:r>
                    </a:p>
                  </a:txBody>
                  <a:tcPr/>
                </a:tc>
                <a:tc>
                  <a:txBody>
                    <a:bodyPr/>
                    <a:lstStyle/>
                    <a:p>
                      <a:pPr algn="ctr"/>
                      <a:r>
                        <a:rPr lang="en-US" dirty="0"/>
                        <a:t>u</a:t>
                      </a:r>
                    </a:p>
                  </a:txBody>
                  <a:tcPr/>
                </a:tc>
                <a:tc>
                  <a:txBody>
                    <a:bodyPr/>
                    <a:lstStyle/>
                    <a:p>
                      <a:pPr algn="ctr"/>
                      <a:r>
                        <a:rPr lang="en-US" dirty="0"/>
                        <a:t>o</a:t>
                      </a:r>
                    </a:p>
                  </a:txBody>
                  <a:tcPr/>
                </a:tc>
                <a:tc>
                  <a:txBody>
                    <a:bodyPr/>
                    <a:lstStyle/>
                    <a:p>
                      <a:pPr algn="ctr"/>
                      <a:r>
                        <a:rPr lang="en-US" dirty="0"/>
                        <a:t>z</a:t>
                      </a:r>
                    </a:p>
                  </a:txBody>
                  <a:tcPr/>
                </a:tc>
                <a:tc>
                  <a:txBody>
                    <a:bodyPr/>
                    <a:lstStyle/>
                    <a:p>
                      <a:pPr algn="ctr"/>
                      <a:r>
                        <a:rPr lang="en-US" dirty="0"/>
                        <a:t>l</a:t>
                      </a:r>
                    </a:p>
                  </a:txBody>
                  <a:tcPr/>
                </a:tc>
                <a:tc>
                  <a:txBody>
                    <a:bodyPr/>
                    <a:lstStyle/>
                    <a:p>
                      <a:pPr algn="ctr"/>
                      <a:r>
                        <a:rPr lang="en-US" dirty="0"/>
                        <a:t>m</a:t>
                      </a:r>
                    </a:p>
                  </a:txBody>
                  <a:tcPr/>
                </a:tc>
                <a:tc>
                  <a:txBody>
                    <a:bodyPr/>
                    <a:lstStyle/>
                    <a:p>
                      <a:pPr algn="ctr"/>
                      <a:r>
                        <a:rPr lang="en-US" dirty="0"/>
                        <a:t>l</a:t>
                      </a:r>
                    </a:p>
                  </a:txBody>
                  <a:tcPr/>
                </a:tc>
                <a:tc>
                  <a:txBody>
                    <a:bodyPr/>
                    <a:lstStyle/>
                    <a:p>
                      <a:pPr algn="ctr"/>
                      <a:r>
                        <a:rPr lang="en-US" dirty="0"/>
                        <a:t>v</a:t>
                      </a:r>
                    </a:p>
                  </a:txBody>
                  <a:tcPr/>
                </a:tc>
                <a:extLst>
                  <a:ext uri="{0D108BD9-81ED-4DB2-BD59-A6C34878D82A}">
                    <a16:rowId xmlns:a16="http://schemas.microsoft.com/office/drawing/2014/main" val="3672601807"/>
                  </a:ext>
                </a:extLst>
              </a:tr>
              <a:tr h="370840">
                <a:tc>
                  <a:txBody>
                    <a:bodyPr/>
                    <a:lstStyle/>
                    <a:p>
                      <a:r>
                        <a:rPr lang="en-US" dirty="0"/>
                        <a:t>Section 1</a:t>
                      </a:r>
                    </a:p>
                  </a:txBody>
                  <a:tcPr/>
                </a:tc>
                <a:tc>
                  <a:txBody>
                    <a:bodyPr/>
                    <a:lstStyle/>
                    <a:p>
                      <a:pPr algn="ctr"/>
                      <a:r>
                        <a:rPr lang="en-US" dirty="0"/>
                        <a:t>J</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u</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l</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v</a:t>
                      </a:r>
                    </a:p>
                  </a:txBody>
                  <a:tcPr/>
                </a:tc>
                <a:extLst>
                  <a:ext uri="{0D108BD9-81ED-4DB2-BD59-A6C34878D82A}">
                    <a16:rowId xmlns:a16="http://schemas.microsoft.com/office/drawing/2014/main" val="4120314173"/>
                  </a:ext>
                </a:extLst>
              </a:tr>
              <a:tr h="370840">
                <a:tc>
                  <a:txBody>
                    <a:bodyPr/>
                    <a:lstStyle/>
                    <a:p>
                      <a:r>
                        <a:rPr lang="en-US" dirty="0"/>
                        <a:t>Section 2</a:t>
                      </a:r>
                    </a:p>
                  </a:txBody>
                  <a:tcPr/>
                </a:tc>
                <a:tc>
                  <a:txBody>
                    <a:bodyPr/>
                    <a:lstStyle/>
                    <a:p>
                      <a:pPr algn="ctr"/>
                      <a:endParaRPr lang="en-US" dirty="0"/>
                    </a:p>
                  </a:txBody>
                  <a:tcPr/>
                </a:tc>
                <a:tc>
                  <a:txBody>
                    <a:bodyPr/>
                    <a:lstStyle/>
                    <a:p>
                      <a:pPr algn="ctr"/>
                      <a:r>
                        <a:rPr lang="en-US" dirty="0"/>
                        <a:t>o</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o</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m</a:t>
                      </a:r>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678774204"/>
                  </a:ext>
                </a:extLst>
              </a:tr>
              <a:tr h="370840">
                <a:tc>
                  <a:txBody>
                    <a:bodyPr/>
                    <a:lstStyle/>
                    <a:p>
                      <a:r>
                        <a:rPr lang="en-US" dirty="0"/>
                        <a:t>Section 3</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q</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z</a:t>
                      </a:r>
                    </a:p>
                  </a:txBody>
                  <a:tcPr/>
                </a:tc>
                <a:tc>
                  <a:txBody>
                    <a:bodyPr/>
                    <a:lstStyle/>
                    <a:p>
                      <a:pPr algn="ctr"/>
                      <a:endParaRPr lang="en-US" dirty="0"/>
                    </a:p>
                  </a:txBody>
                  <a:tcPr/>
                </a:tc>
                <a:tc>
                  <a:txBody>
                    <a:bodyPr/>
                    <a:lstStyle/>
                    <a:p>
                      <a:pPr algn="ctr"/>
                      <a:endParaRPr lang="en-US" dirty="0"/>
                    </a:p>
                  </a:txBody>
                  <a:tcPr/>
                </a:tc>
                <a:tc>
                  <a:txBody>
                    <a:bodyPr/>
                    <a:lstStyle/>
                    <a:p>
                      <a:pPr algn="ctr"/>
                      <a:r>
                        <a:rPr lang="en-US" dirty="0"/>
                        <a:t>l</a:t>
                      </a:r>
                    </a:p>
                  </a:txBody>
                  <a:tcPr/>
                </a:tc>
                <a:tc>
                  <a:txBody>
                    <a:bodyPr/>
                    <a:lstStyle/>
                    <a:p>
                      <a:pPr algn="ctr"/>
                      <a:endParaRPr lang="en-US" dirty="0"/>
                    </a:p>
                  </a:txBody>
                  <a:tcPr/>
                </a:tc>
                <a:extLst>
                  <a:ext uri="{0D108BD9-81ED-4DB2-BD59-A6C34878D82A}">
                    <a16:rowId xmlns:a16="http://schemas.microsoft.com/office/drawing/2014/main" val="3132523707"/>
                  </a:ext>
                </a:extLst>
              </a:tr>
            </a:tbl>
          </a:graphicData>
        </a:graphic>
      </p:graphicFrame>
    </p:spTree>
    <p:extLst>
      <p:ext uri="{BB962C8B-B14F-4D97-AF65-F5344CB8AC3E}">
        <p14:creationId xmlns:p14="http://schemas.microsoft.com/office/powerpoint/2010/main" val="8616108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Cryptanalysis of Vigenère cipher</a:t>
            </a:r>
          </a:p>
        </p:txBody>
      </p:sp>
      <p:sp>
        <p:nvSpPr>
          <p:cNvPr id="3" name="Content Placeholder 2"/>
          <p:cNvSpPr>
            <a:spLocks noGrp="1"/>
          </p:cNvSpPr>
          <p:nvPr>
            <p:ph sz="quarter" idx="11"/>
          </p:nvPr>
        </p:nvSpPr>
        <p:spPr/>
        <p:txBody>
          <a:bodyPr/>
          <a:lstStyle/>
          <a:p>
            <a:pPr marL="0" indent="0">
              <a:buNone/>
            </a:pPr>
            <a:r>
              <a:rPr lang="en-US" sz="2400" b="1" dirty="0"/>
              <a:t>Guessing the key length</a:t>
            </a:r>
          </a:p>
          <a:p>
            <a:pPr>
              <a:lnSpc>
                <a:spcPct val="90000"/>
              </a:lnSpc>
            </a:pPr>
            <a:r>
              <a:rPr lang="en-US" altLang="zh-CN" sz="2400" dirty="0"/>
              <a:t>Find repeated strings in the ciphertext. Their distance is expected to be a multiple of the key length. Compute the </a:t>
            </a:r>
            <a:r>
              <a:rPr lang="en-US" altLang="zh-CN" sz="2400" dirty="0" err="1"/>
              <a:t>gcd</a:t>
            </a:r>
            <a:r>
              <a:rPr lang="en-US" altLang="zh-CN" sz="2400" dirty="0"/>
              <a:t> of (most) distances.</a:t>
            </a:r>
          </a:p>
          <a:p>
            <a:pPr>
              <a:lnSpc>
                <a:spcPct val="90000"/>
              </a:lnSpc>
            </a:pPr>
            <a:r>
              <a:rPr lang="en-US" altLang="zh-CN" sz="2400" dirty="0"/>
              <a:t>Example:</a:t>
            </a:r>
          </a:p>
          <a:p>
            <a:endParaRPr lang="en-US" sz="2400" dirty="0"/>
          </a:p>
        </p:txBody>
      </p:sp>
      <p:graphicFrame>
        <p:nvGraphicFramePr>
          <p:cNvPr id="5" name="Table 4">
            <a:extLst>
              <a:ext uri="{FF2B5EF4-FFF2-40B4-BE49-F238E27FC236}">
                <a16:creationId xmlns:a16="http://schemas.microsoft.com/office/drawing/2014/main" id="{88D6BB83-3AE3-B6D0-009E-204F37899172}"/>
              </a:ext>
            </a:extLst>
          </p:cNvPr>
          <p:cNvGraphicFramePr>
            <a:graphicFrameLocks noGrp="1"/>
          </p:cNvGraphicFramePr>
          <p:nvPr/>
        </p:nvGraphicFramePr>
        <p:xfrm>
          <a:off x="3672504" y="3638410"/>
          <a:ext cx="5436000" cy="261789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72000">
                  <a:extLst>
                    <a:ext uri="{9D8B030D-6E8A-4147-A177-3AD203B41FA5}">
                      <a16:colId xmlns:a16="http://schemas.microsoft.com/office/drawing/2014/main" val="20004"/>
                    </a:ext>
                  </a:extLst>
                </a:gridCol>
              </a:tblGrid>
              <a:tr h="431799">
                <a:tc>
                  <a:txBody>
                    <a:bodyPr/>
                    <a:lstStyle/>
                    <a:p>
                      <a:r>
                        <a:rPr lang="en-US" dirty="0"/>
                        <a:t>Diagraph</a:t>
                      </a:r>
                    </a:p>
                  </a:txBody>
                  <a:tcPr/>
                </a:tc>
                <a:tc>
                  <a:txBody>
                    <a:bodyPr/>
                    <a:lstStyle/>
                    <a:p>
                      <a:r>
                        <a:rPr lang="en-US" dirty="0"/>
                        <a:t>First</a:t>
                      </a:r>
                    </a:p>
                    <a:p>
                      <a:r>
                        <a:rPr lang="en-US" dirty="0"/>
                        <a:t>Position</a:t>
                      </a:r>
                    </a:p>
                  </a:txBody>
                  <a:tcPr/>
                </a:tc>
                <a:tc>
                  <a:txBody>
                    <a:bodyPr/>
                    <a:lstStyle/>
                    <a:p>
                      <a:r>
                        <a:rPr lang="en-US" dirty="0"/>
                        <a:t>Second</a:t>
                      </a:r>
                    </a:p>
                    <a:p>
                      <a:r>
                        <a:rPr lang="en-US" dirty="0"/>
                        <a:t>Position</a:t>
                      </a:r>
                    </a:p>
                  </a:txBody>
                  <a:tcPr/>
                </a:tc>
                <a:tc>
                  <a:txBody>
                    <a:bodyPr/>
                    <a:lstStyle/>
                    <a:p>
                      <a:r>
                        <a:rPr lang="en-US" dirty="0"/>
                        <a:t>Distance</a:t>
                      </a:r>
                    </a:p>
                  </a:txBody>
                  <a:tcPr/>
                </a:tc>
                <a:tc>
                  <a:txBody>
                    <a:bodyPr/>
                    <a:lstStyle/>
                    <a:p>
                      <a:r>
                        <a:rPr lang="en-US" dirty="0"/>
                        <a:t>Factors</a:t>
                      </a:r>
                    </a:p>
                  </a:txBody>
                  <a:tcPr/>
                </a:tc>
                <a:extLst>
                  <a:ext uri="{0D108BD9-81ED-4DB2-BD59-A6C34878D82A}">
                    <a16:rowId xmlns:a16="http://schemas.microsoft.com/office/drawing/2014/main" val="10000"/>
                  </a:ext>
                </a:extLst>
              </a:tr>
              <a:tr h="494453">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1"/>
                  </a:ext>
                </a:extLst>
              </a:tr>
              <a:tr h="494453">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2"/>
                  </a:ext>
                </a:extLst>
              </a:tr>
              <a:tr h="494453">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3"/>
                  </a:ext>
                </a:extLst>
              </a:tr>
              <a:tr h="494453">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4"/>
                  </a:ext>
                </a:extLst>
              </a:tr>
            </a:tbl>
          </a:graphicData>
        </a:graphic>
      </p:graphicFrame>
      <p:sp>
        <p:nvSpPr>
          <p:cNvPr id="7" name="TextBox 6">
            <a:extLst>
              <a:ext uri="{FF2B5EF4-FFF2-40B4-BE49-F238E27FC236}">
                <a16:creationId xmlns:a16="http://schemas.microsoft.com/office/drawing/2014/main" id="{F6F77D83-5658-468D-316F-9F8E2A31037C}"/>
              </a:ext>
            </a:extLst>
          </p:cNvPr>
          <p:cNvSpPr txBox="1"/>
          <p:nvPr/>
        </p:nvSpPr>
        <p:spPr>
          <a:xfrm>
            <a:off x="56184" y="3940927"/>
            <a:ext cx="3744416" cy="1006429"/>
          </a:xfrm>
          <a:prstGeom prst="rect">
            <a:avLst/>
          </a:prstGeom>
          <a:noFill/>
        </p:spPr>
        <p:txBody>
          <a:bodyPr wrap="square">
            <a:spAutoFit/>
          </a:bodyPr>
          <a:lstStyle/>
          <a:p>
            <a:pPr>
              <a:lnSpc>
                <a:spcPct val="90000"/>
              </a:lnSpc>
            </a:pPr>
            <a:r>
              <a:rPr lang="en-US" altLang="zh-CN" sz="2200" dirty="0">
                <a:latin typeface="Consolas" panose="020B0609020204030204" pitchFamily="49" charset="0"/>
              </a:rPr>
              <a:t>P. Text: TOBENOTORTOBE </a:t>
            </a:r>
          </a:p>
          <a:p>
            <a:pPr>
              <a:lnSpc>
                <a:spcPct val="90000"/>
              </a:lnSpc>
            </a:pPr>
            <a:r>
              <a:rPr lang="en-US" altLang="zh-CN" sz="2200" dirty="0">
                <a:latin typeface="Consolas" panose="020B0609020204030204" pitchFamily="49" charset="0"/>
              </a:rPr>
              <a:t>Keyword: 1231231231231</a:t>
            </a:r>
          </a:p>
          <a:p>
            <a:pPr>
              <a:lnSpc>
                <a:spcPct val="90000"/>
              </a:lnSpc>
            </a:pPr>
            <a:r>
              <a:rPr lang="en-US" altLang="zh-CN" sz="2200" dirty="0">
                <a:latin typeface="Consolas" panose="020B0609020204030204" pitchFamily="49" charset="0"/>
              </a:rPr>
              <a:t>C. Text: UQEFPRUQUUQEF </a:t>
            </a:r>
          </a:p>
        </p:txBody>
      </p:sp>
    </p:spTree>
    <p:extLst>
      <p:ext uri="{BB962C8B-B14F-4D97-AF65-F5344CB8AC3E}">
        <p14:creationId xmlns:p14="http://schemas.microsoft.com/office/powerpoint/2010/main" val="828192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Cryptanalysis of Vigenère cipher</a:t>
            </a:r>
          </a:p>
        </p:txBody>
      </p:sp>
      <p:sp>
        <p:nvSpPr>
          <p:cNvPr id="3" name="Content Placeholder 2"/>
          <p:cNvSpPr>
            <a:spLocks noGrp="1"/>
          </p:cNvSpPr>
          <p:nvPr>
            <p:ph sz="quarter" idx="11"/>
          </p:nvPr>
        </p:nvSpPr>
        <p:spPr/>
        <p:txBody>
          <a:bodyPr/>
          <a:lstStyle/>
          <a:p>
            <a:pPr marL="0" indent="0">
              <a:buNone/>
            </a:pPr>
            <a:r>
              <a:rPr lang="en-US" sz="2400" b="1" dirty="0"/>
              <a:t>Guessing the key length</a:t>
            </a:r>
          </a:p>
          <a:p>
            <a:pPr>
              <a:lnSpc>
                <a:spcPct val="90000"/>
              </a:lnSpc>
            </a:pPr>
            <a:r>
              <a:rPr lang="en-US" altLang="zh-CN" sz="2400" dirty="0"/>
              <a:t>Find repeated strings in the ciphertext. Their distance is expected to be a multiple of the key length. Compute the </a:t>
            </a:r>
            <a:r>
              <a:rPr lang="en-US" altLang="zh-CN" sz="2400" dirty="0" err="1"/>
              <a:t>gcd</a:t>
            </a:r>
            <a:r>
              <a:rPr lang="en-US" altLang="zh-CN" sz="2400" dirty="0"/>
              <a:t> of (most) distances.</a:t>
            </a:r>
          </a:p>
          <a:p>
            <a:pPr>
              <a:lnSpc>
                <a:spcPct val="90000"/>
              </a:lnSpc>
            </a:pPr>
            <a:r>
              <a:rPr lang="en-US" altLang="zh-CN" sz="2400" dirty="0"/>
              <a:t>Example:</a:t>
            </a:r>
          </a:p>
          <a:p>
            <a:endParaRPr lang="en-US" sz="2400" dirty="0"/>
          </a:p>
        </p:txBody>
      </p:sp>
      <p:graphicFrame>
        <p:nvGraphicFramePr>
          <p:cNvPr id="5" name="Table 4">
            <a:extLst>
              <a:ext uri="{FF2B5EF4-FFF2-40B4-BE49-F238E27FC236}">
                <a16:creationId xmlns:a16="http://schemas.microsoft.com/office/drawing/2014/main" id="{88D6BB83-3AE3-B6D0-009E-204F37899172}"/>
              </a:ext>
            </a:extLst>
          </p:cNvPr>
          <p:cNvGraphicFramePr>
            <a:graphicFrameLocks noGrp="1"/>
          </p:cNvGraphicFramePr>
          <p:nvPr>
            <p:extLst>
              <p:ext uri="{D42A27DB-BD31-4B8C-83A1-F6EECF244321}">
                <p14:modId xmlns:p14="http://schemas.microsoft.com/office/powerpoint/2010/main" val="271706378"/>
              </p:ext>
            </p:extLst>
          </p:nvPr>
        </p:nvGraphicFramePr>
        <p:xfrm>
          <a:off x="3672504" y="3638410"/>
          <a:ext cx="5436000" cy="261789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72000">
                  <a:extLst>
                    <a:ext uri="{9D8B030D-6E8A-4147-A177-3AD203B41FA5}">
                      <a16:colId xmlns:a16="http://schemas.microsoft.com/office/drawing/2014/main" val="20004"/>
                    </a:ext>
                  </a:extLst>
                </a:gridCol>
              </a:tblGrid>
              <a:tr h="431799">
                <a:tc>
                  <a:txBody>
                    <a:bodyPr/>
                    <a:lstStyle/>
                    <a:p>
                      <a:r>
                        <a:rPr lang="en-US" dirty="0"/>
                        <a:t>Diagraph</a:t>
                      </a:r>
                    </a:p>
                  </a:txBody>
                  <a:tcPr/>
                </a:tc>
                <a:tc>
                  <a:txBody>
                    <a:bodyPr/>
                    <a:lstStyle/>
                    <a:p>
                      <a:r>
                        <a:rPr lang="en-US" dirty="0"/>
                        <a:t>First</a:t>
                      </a:r>
                    </a:p>
                    <a:p>
                      <a:r>
                        <a:rPr lang="en-US" dirty="0"/>
                        <a:t>Position</a:t>
                      </a:r>
                    </a:p>
                  </a:txBody>
                  <a:tcPr/>
                </a:tc>
                <a:tc>
                  <a:txBody>
                    <a:bodyPr/>
                    <a:lstStyle/>
                    <a:p>
                      <a:r>
                        <a:rPr lang="en-US" dirty="0"/>
                        <a:t>Second</a:t>
                      </a:r>
                    </a:p>
                    <a:p>
                      <a:r>
                        <a:rPr lang="en-US" dirty="0"/>
                        <a:t>Position</a:t>
                      </a:r>
                    </a:p>
                  </a:txBody>
                  <a:tcPr/>
                </a:tc>
                <a:tc>
                  <a:txBody>
                    <a:bodyPr/>
                    <a:lstStyle/>
                    <a:p>
                      <a:r>
                        <a:rPr lang="en-US" dirty="0"/>
                        <a:t>Distance</a:t>
                      </a:r>
                    </a:p>
                  </a:txBody>
                  <a:tcPr/>
                </a:tc>
                <a:tc>
                  <a:txBody>
                    <a:bodyPr/>
                    <a:lstStyle/>
                    <a:p>
                      <a:r>
                        <a:rPr lang="en-US" dirty="0"/>
                        <a:t>Factors</a:t>
                      </a:r>
                    </a:p>
                  </a:txBody>
                  <a:tcPr/>
                </a:tc>
                <a:extLst>
                  <a:ext uri="{0D108BD9-81ED-4DB2-BD59-A6C34878D82A}">
                    <a16:rowId xmlns:a16="http://schemas.microsoft.com/office/drawing/2014/main" val="10000"/>
                  </a:ext>
                </a:extLst>
              </a:tr>
              <a:tr h="494453">
                <a:tc>
                  <a:txBody>
                    <a:bodyPr/>
                    <a:lstStyle/>
                    <a:p>
                      <a:pPr algn="ctr"/>
                      <a:r>
                        <a:rPr lang="en-US" dirty="0"/>
                        <a:t>UQ</a:t>
                      </a:r>
                    </a:p>
                  </a:txBody>
                  <a:tcPr/>
                </a:tc>
                <a:tc>
                  <a:txBody>
                    <a:bodyPr/>
                    <a:lstStyle/>
                    <a:p>
                      <a:pPr algn="ctr"/>
                      <a:r>
                        <a:rPr lang="en-US" dirty="0"/>
                        <a:t>1</a:t>
                      </a:r>
                    </a:p>
                  </a:txBody>
                  <a:tcPr/>
                </a:tc>
                <a:tc>
                  <a:txBody>
                    <a:bodyPr/>
                    <a:lstStyle/>
                    <a:p>
                      <a:pPr algn="ctr"/>
                      <a:r>
                        <a:rPr lang="en-US" dirty="0"/>
                        <a:t>7</a:t>
                      </a:r>
                    </a:p>
                  </a:txBody>
                  <a:tcPr/>
                </a:tc>
                <a:tc>
                  <a:txBody>
                    <a:bodyPr/>
                    <a:lstStyle/>
                    <a:p>
                      <a:pPr algn="ctr"/>
                      <a:r>
                        <a:rPr lang="en-US" dirty="0"/>
                        <a:t>6</a:t>
                      </a:r>
                    </a:p>
                  </a:txBody>
                  <a:tcPr/>
                </a:tc>
                <a:tc>
                  <a:txBody>
                    <a:bodyPr/>
                    <a:lstStyle/>
                    <a:p>
                      <a:pPr algn="ctr"/>
                      <a:r>
                        <a:rPr lang="en-US" dirty="0"/>
                        <a:t>2, 3, 6</a:t>
                      </a:r>
                    </a:p>
                  </a:txBody>
                  <a:tcPr/>
                </a:tc>
                <a:extLst>
                  <a:ext uri="{0D108BD9-81ED-4DB2-BD59-A6C34878D82A}">
                    <a16:rowId xmlns:a16="http://schemas.microsoft.com/office/drawing/2014/main" val="10001"/>
                  </a:ext>
                </a:extLst>
              </a:tr>
              <a:tr h="494453">
                <a:tc>
                  <a:txBody>
                    <a:bodyPr/>
                    <a:lstStyle/>
                    <a:p>
                      <a:pPr algn="ctr"/>
                      <a:r>
                        <a:rPr lang="en-US" dirty="0"/>
                        <a:t>UQ</a:t>
                      </a:r>
                    </a:p>
                  </a:txBody>
                  <a:tcPr/>
                </a:tc>
                <a:tc>
                  <a:txBody>
                    <a:bodyPr/>
                    <a:lstStyle/>
                    <a:p>
                      <a:pPr algn="ctr"/>
                      <a:r>
                        <a:rPr lang="en-US" dirty="0"/>
                        <a:t>7</a:t>
                      </a:r>
                    </a:p>
                  </a:txBody>
                  <a:tcPr/>
                </a:tc>
                <a:tc>
                  <a:txBody>
                    <a:bodyPr/>
                    <a:lstStyle/>
                    <a:p>
                      <a:pPr algn="ctr"/>
                      <a:r>
                        <a:rPr lang="en-US" dirty="0"/>
                        <a:t>10</a:t>
                      </a:r>
                    </a:p>
                  </a:txBody>
                  <a:tcPr/>
                </a:tc>
                <a:tc>
                  <a:txBody>
                    <a:bodyPr/>
                    <a:lstStyle/>
                    <a:p>
                      <a:pPr algn="ctr"/>
                      <a:r>
                        <a:rPr lang="en-US" dirty="0"/>
                        <a:t>3</a:t>
                      </a:r>
                    </a:p>
                  </a:txBody>
                  <a:tcPr/>
                </a:tc>
                <a:tc>
                  <a:txBody>
                    <a:bodyPr/>
                    <a:lstStyle/>
                    <a:p>
                      <a:pPr algn="ctr"/>
                      <a:r>
                        <a:rPr lang="en-US" dirty="0"/>
                        <a:t>3</a:t>
                      </a:r>
                    </a:p>
                  </a:txBody>
                  <a:tcPr/>
                </a:tc>
                <a:extLst>
                  <a:ext uri="{0D108BD9-81ED-4DB2-BD59-A6C34878D82A}">
                    <a16:rowId xmlns:a16="http://schemas.microsoft.com/office/drawing/2014/main" val="10002"/>
                  </a:ext>
                </a:extLst>
              </a:tr>
              <a:tr h="494453">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3"/>
                  </a:ext>
                </a:extLst>
              </a:tr>
              <a:tr h="494453">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4"/>
                  </a:ext>
                </a:extLst>
              </a:tr>
            </a:tbl>
          </a:graphicData>
        </a:graphic>
      </p:graphicFrame>
      <p:sp>
        <p:nvSpPr>
          <p:cNvPr id="7" name="TextBox 6">
            <a:extLst>
              <a:ext uri="{FF2B5EF4-FFF2-40B4-BE49-F238E27FC236}">
                <a16:creationId xmlns:a16="http://schemas.microsoft.com/office/drawing/2014/main" id="{F6F77D83-5658-468D-316F-9F8E2A31037C}"/>
              </a:ext>
            </a:extLst>
          </p:cNvPr>
          <p:cNvSpPr txBox="1"/>
          <p:nvPr/>
        </p:nvSpPr>
        <p:spPr>
          <a:xfrm>
            <a:off x="56184" y="3940927"/>
            <a:ext cx="3744416" cy="1006429"/>
          </a:xfrm>
          <a:prstGeom prst="rect">
            <a:avLst/>
          </a:prstGeom>
          <a:noFill/>
        </p:spPr>
        <p:txBody>
          <a:bodyPr wrap="square">
            <a:spAutoFit/>
          </a:bodyPr>
          <a:lstStyle/>
          <a:p>
            <a:pPr>
              <a:lnSpc>
                <a:spcPct val="90000"/>
              </a:lnSpc>
            </a:pPr>
            <a:r>
              <a:rPr lang="en-US" altLang="zh-CN" sz="2200" dirty="0">
                <a:latin typeface="Consolas" panose="020B0609020204030204" pitchFamily="49" charset="0"/>
              </a:rPr>
              <a:t>P. Text: TOBENOTORTOBE </a:t>
            </a:r>
          </a:p>
          <a:p>
            <a:pPr>
              <a:lnSpc>
                <a:spcPct val="90000"/>
              </a:lnSpc>
            </a:pPr>
            <a:r>
              <a:rPr lang="en-US" altLang="zh-CN" sz="2200" dirty="0">
                <a:latin typeface="Consolas" panose="020B0609020204030204" pitchFamily="49" charset="0"/>
              </a:rPr>
              <a:t>Keyword: 1231231231231</a:t>
            </a:r>
          </a:p>
          <a:p>
            <a:pPr>
              <a:lnSpc>
                <a:spcPct val="90000"/>
              </a:lnSpc>
            </a:pPr>
            <a:r>
              <a:rPr lang="en-US" altLang="zh-CN" sz="2200" dirty="0">
                <a:latin typeface="Consolas" panose="020B0609020204030204" pitchFamily="49" charset="0"/>
              </a:rPr>
              <a:t>C. Text: </a:t>
            </a:r>
            <a:r>
              <a:rPr lang="en-US" altLang="zh-CN" sz="2200" dirty="0">
                <a:solidFill>
                  <a:srgbClr val="FF0000"/>
                </a:solidFill>
                <a:latin typeface="Consolas" panose="020B0609020204030204" pitchFamily="49" charset="0"/>
              </a:rPr>
              <a:t>UQ</a:t>
            </a:r>
            <a:r>
              <a:rPr lang="en-US" altLang="zh-CN" sz="2200" dirty="0">
                <a:latin typeface="Consolas" panose="020B0609020204030204" pitchFamily="49" charset="0"/>
              </a:rPr>
              <a:t>EFPR</a:t>
            </a:r>
            <a:r>
              <a:rPr lang="en-US" altLang="zh-CN" sz="2200" dirty="0">
                <a:solidFill>
                  <a:srgbClr val="FF0000"/>
                </a:solidFill>
                <a:latin typeface="Consolas" panose="020B0609020204030204" pitchFamily="49" charset="0"/>
              </a:rPr>
              <a:t>UQ</a:t>
            </a:r>
            <a:r>
              <a:rPr lang="en-US" altLang="zh-CN" sz="2200" dirty="0">
                <a:latin typeface="Consolas" panose="020B0609020204030204" pitchFamily="49" charset="0"/>
              </a:rPr>
              <a:t>U</a:t>
            </a:r>
            <a:r>
              <a:rPr lang="en-US" altLang="zh-CN" sz="2200" dirty="0">
                <a:solidFill>
                  <a:srgbClr val="FF0000"/>
                </a:solidFill>
                <a:latin typeface="Consolas" panose="020B0609020204030204" pitchFamily="49" charset="0"/>
              </a:rPr>
              <a:t>UQ</a:t>
            </a:r>
            <a:r>
              <a:rPr lang="en-US" altLang="zh-CN" sz="2200" dirty="0">
                <a:latin typeface="Consolas" panose="020B0609020204030204" pitchFamily="49" charset="0"/>
              </a:rPr>
              <a:t>EF </a:t>
            </a:r>
          </a:p>
        </p:txBody>
      </p:sp>
    </p:spTree>
    <p:extLst>
      <p:ext uri="{BB962C8B-B14F-4D97-AF65-F5344CB8AC3E}">
        <p14:creationId xmlns:p14="http://schemas.microsoft.com/office/powerpoint/2010/main" val="20055823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Cryptanalysis of Vigenère cipher</a:t>
            </a:r>
          </a:p>
        </p:txBody>
      </p:sp>
      <p:sp>
        <p:nvSpPr>
          <p:cNvPr id="3" name="Content Placeholder 2"/>
          <p:cNvSpPr>
            <a:spLocks noGrp="1"/>
          </p:cNvSpPr>
          <p:nvPr>
            <p:ph sz="quarter" idx="11"/>
          </p:nvPr>
        </p:nvSpPr>
        <p:spPr/>
        <p:txBody>
          <a:bodyPr/>
          <a:lstStyle/>
          <a:p>
            <a:pPr marL="0" indent="0">
              <a:buNone/>
            </a:pPr>
            <a:r>
              <a:rPr lang="en-US" sz="2400" b="1" dirty="0"/>
              <a:t>Guessing the key length</a:t>
            </a:r>
          </a:p>
          <a:p>
            <a:pPr>
              <a:lnSpc>
                <a:spcPct val="90000"/>
              </a:lnSpc>
            </a:pPr>
            <a:r>
              <a:rPr lang="en-US" altLang="zh-CN" sz="2400" dirty="0"/>
              <a:t>Find repeated strings in the ciphertext. Their distance is expected to be a multiple of the key length. Compute the </a:t>
            </a:r>
            <a:r>
              <a:rPr lang="en-US" altLang="zh-CN" sz="2400" dirty="0" err="1"/>
              <a:t>gcd</a:t>
            </a:r>
            <a:r>
              <a:rPr lang="en-US" altLang="zh-CN" sz="2400" dirty="0"/>
              <a:t> of (most) distances.</a:t>
            </a:r>
          </a:p>
          <a:p>
            <a:pPr>
              <a:lnSpc>
                <a:spcPct val="90000"/>
              </a:lnSpc>
            </a:pPr>
            <a:r>
              <a:rPr lang="en-US" altLang="zh-CN" sz="2400" dirty="0"/>
              <a:t>Example:</a:t>
            </a:r>
          </a:p>
          <a:p>
            <a:endParaRPr lang="en-US" sz="2400" dirty="0"/>
          </a:p>
        </p:txBody>
      </p:sp>
      <p:graphicFrame>
        <p:nvGraphicFramePr>
          <p:cNvPr id="5" name="Table 4">
            <a:extLst>
              <a:ext uri="{FF2B5EF4-FFF2-40B4-BE49-F238E27FC236}">
                <a16:creationId xmlns:a16="http://schemas.microsoft.com/office/drawing/2014/main" id="{88D6BB83-3AE3-B6D0-009E-204F37899172}"/>
              </a:ext>
            </a:extLst>
          </p:cNvPr>
          <p:cNvGraphicFramePr>
            <a:graphicFrameLocks noGrp="1"/>
          </p:cNvGraphicFramePr>
          <p:nvPr>
            <p:extLst>
              <p:ext uri="{D42A27DB-BD31-4B8C-83A1-F6EECF244321}">
                <p14:modId xmlns:p14="http://schemas.microsoft.com/office/powerpoint/2010/main" val="941471403"/>
              </p:ext>
            </p:extLst>
          </p:nvPr>
        </p:nvGraphicFramePr>
        <p:xfrm>
          <a:off x="3672504" y="3638410"/>
          <a:ext cx="5436000" cy="261789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72000">
                  <a:extLst>
                    <a:ext uri="{9D8B030D-6E8A-4147-A177-3AD203B41FA5}">
                      <a16:colId xmlns:a16="http://schemas.microsoft.com/office/drawing/2014/main" val="20004"/>
                    </a:ext>
                  </a:extLst>
                </a:gridCol>
              </a:tblGrid>
              <a:tr h="431799">
                <a:tc>
                  <a:txBody>
                    <a:bodyPr/>
                    <a:lstStyle/>
                    <a:p>
                      <a:r>
                        <a:rPr lang="en-US" dirty="0"/>
                        <a:t>Diagraph</a:t>
                      </a:r>
                    </a:p>
                  </a:txBody>
                  <a:tcPr/>
                </a:tc>
                <a:tc>
                  <a:txBody>
                    <a:bodyPr/>
                    <a:lstStyle/>
                    <a:p>
                      <a:r>
                        <a:rPr lang="en-US" dirty="0"/>
                        <a:t>First</a:t>
                      </a:r>
                    </a:p>
                    <a:p>
                      <a:r>
                        <a:rPr lang="en-US" dirty="0"/>
                        <a:t>Position</a:t>
                      </a:r>
                    </a:p>
                  </a:txBody>
                  <a:tcPr/>
                </a:tc>
                <a:tc>
                  <a:txBody>
                    <a:bodyPr/>
                    <a:lstStyle/>
                    <a:p>
                      <a:r>
                        <a:rPr lang="en-US" dirty="0"/>
                        <a:t>Second</a:t>
                      </a:r>
                    </a:p>
                    <a:p>
                      <a:r>
                        <a:rPr lang="en-US" dirty="0"/>
                        <a:t>Position</a:t>
                      </a:r>
                    </a:p>
                  </a:txBody>
                  <a:tcPr/>
                </a:tc>
                <a:tc>
                  <a:txBody>
                    <a:bodyPr/>
                    <a:lstStyle/>
                    <a:p>
                      <a:r>
                        <a:rPr lang="en-US" dirty="0"/>
                        <a:t>Distance</a:t>
                      </a:r>
                    </a:p>
                  </a:txBody>
                  <a:tcPr/>
                </a:tc>
                <a:tc>
                  <a:txBody>
                    <a:bodyPr/>
                    <a:lstStyle/>
                    <a:p>
                      <a:r>
                        <a:rPr lang="en-US" dirty="0"/>
                        <a:t>Factors</a:t>
                      </a:r>
                    </a:p>
                  </a:txBody>
                  <a:tcPr/>
                </a:tc>
                <a:extLst>
                  <a:ext uri="{0D108BD9-81ED-4DB2-BD59-A6C34878D82A}">
                    <a16:rowId xmlns:a16="http://schemas.microsoft.com/office/drawing/2014/main" val="10000"/>
                  </a:ext>
                </a:extLst>
              </a:tr>
              <a:tr h="494453">
                <a:tc>
                  <a:txBody>
                    <a:bodyPr/>
                    <a:lstStyle/>
                    <a:p>
                      <a:pPr algn="ctr"/>
                      <a:r>
                        <a:rPr lang="en-US" dirty="0"/>
                        <a:t>UQ</a:t>
                      </a:r>
                    </a:p>
                  </a:txBody>
                  <a:tcPr/>
                </a:tc>
                <a:tc>
                  <a:txBody>
                    <a:bodyPr/>
                    <a:lstStyle/>
                    <a:p>
                      <a:pPr algn="ctr"/>
                      <a:r>
                        <a:rPr lang="en-US" dirty="0"/>
                        <a:t>1</a:t>
                      </a:r>
                    </a:p>
                  </a:txBody>
                  <a:tcPr/>
                </a:tc>
                <a:tc>
                  <a:txBody>
                    <a:bodyPr/>
                    <a:lstStyle/>
                    <a:p>
                      <a:pPr algn="ctr"/>
                      <a:r>
                        <a:rPr lang="en-US" dirty="0"/>
                        <a:t>7</a:t>
                      </a:r>
                    </a:p>
                  </a:txBody>
                  <a:tcPr/>
                </a:tc>
                <a:tc>
                  <a:txBody>
                    <a:bodyPr/>
                    <a:lstStyle/>
                    <a:p>
                      <a:pPr algn="ctr"/>
                      <a:r>
                        <a:rPr lang="en-US" dirty="0"/>
                        <a:t>6</a:t>
                      </a:r>
                    </a:p>
                  </a:txBody>
                  <a:tcPr/>
                </a:tc>
                <a:tc>
                  <a:txBody>
                    <a:bodyPr/>
                    <a:lstStyle/>
                    <a:p>
                      <a:pPr algn="ctr"/>
                      <a:r>
                        <a:rPr lang="en-US" dirty="0"/>
                        <a:t>2, 3, 6</a:t>
                      </a:r>
                    </a:p>
                  </a:txBody>
                  <a:tcPr/>
                </a:tc>
                <a:extLst>
                  <a:ext uri="{0D108BD9-81ED-4DB2-BD59-A6C34878D82A}">
                    <a16:rowId xmlns:a16="http://schemas.microsoft.com/office/drawing/2014/main" val="10001"/>
                  </a:ext>
                </a:extLst>
              </a:tr>
              <a:tr h="494453">
                <a:tc>
                  <a:txBody>
                    <a:bodyPr/>
                    <a:lstStyle/>
                    <a:p>
                      <a:pPr algn="ctr"/>
                      <a:r>
                        <a:rPr lang="en-US" dirty="0"/>
                        <a:t>UQ</a:t>
                      </a:r>
                    </a:p>
                  </a:txBody>
                  <a:tcPr/>
                </a:tc>
                <a:tc>
                  <a:txBody>
                    <a:bodyPr/>
                    <a:lstStyle/>
                    <a:p>
                      <a:pPr algn="ctr"/>
                      <a:r>
                        <a:rPr lang="en-US" dirty="0"/>
                        <a:t>7</a:t>
                      </a:r>
                    </a:p>
                  </a:txBody>
                  <a:tcPr/>
                </a:tc>
                <a:tc>
                  <a:txBody>
                    <a:bodyPr/>
                    <a:lstStyle/>
                    <a:p>
                      <a:pPr algn="ctr"/>
                      <a:r>
                        <a:rPr lang="en-US" dirty="0"/>
                        <a:t>10</a:t>
                      </a:r>
                    </a:p>
                  </a:txBody>
                  <a:tcPr/>
                </a:tc>
                <a:tc>
                  <a:txBody>
                    <a:bodyPr/>
                    <a:lstStyle/>
                    <a:p>
                      <a:pPr algn="ctr"/>
                      <a:r>
                        <a:rPr lang="en-US" dirty="0"/>
                        <a:t>3</a:t>
                      </a:r>
                    </a:p>
                  </a:txBody>
                  <a:tcPr/>
                </a:tc>
                <a:tc>
                  <a:txBody>
                    <a:bodyPr/>
                    <a:lstStyle/>
                    <a:p>
                      <a:pPr algn="ctr"/>
                      <a:r>
                        <a:rPr lang="en-US" dirty="0"/>
                        <a:t>3</a:t>
                      </a:r>
                    </a:p>
                  </a:txBody>
                  <a:tcPr/>
                </a:tc>
                <a:extLst>
                  <a:ext uri="{0D108BD9-81ED-4DB2-BD59-A6C34878D82A}">
                    <a16:rowId xmlns:a16="http://schemas.microsoft.com/office/drawing/2014/main" val="10002"/>
                  </a:ext>
                </a:extLst>
              </a:tr>
              <a:tr h="494453">
                <a:tc>
                  <a:txBody>
                    <a:bodyPr/>
                    <a:lstStyle/>
                    <a:p>
                      <a:pPr algn="ctr"/>
                      <a:r>
                        <a:rPr lang="en-US"/>
                        <a:t>EF</a:t>
                      </a:r>
                      <a:endParaRPr lang="en-US" dirty="0"/>
                    </a:p>
                  </a:txBody>
                  <a:tcPr/>
                </a:tc>
                <a:tc>
                  <a:txBody>
                    <a:bodyPr/>
                    <a:lstStyle/>
                    <a:p>
                      <a:pPr algn="ctr"/>
                      <a:r>
                        <a:rPr lang="en-US"/>
                        <a:t>3</a:t>
                      </a:r>
                      <a:endParaRPr lang="en-US" dirty="0"/>
                    </a:p>
                  </a:txBody>
                  <a:tcPr/>
                </a:tc>
                <a:tc>
                  <a:txBody>
                    <a:bodyPr/>
                    <a:lstStyle/>
                    <a:p>
                      <a:pPr algn="ctr"/>
                      <a:r>
                        <a:rPr lang="en-US"/>
                        <a:t>12</a:t>
                      </a:r>
                      <a:endParaRPr lang="en-US" dirty="0"/>
                    </a:p>
                  </a:txBody>
                  <a:tcPr/>
                </a:tc>
                <a:tc>
                  <a:txBody>
                    <a:bodyPr/>
                    <a:lstStyle/>
                    <a:p>
                      <a:pPr algn="ctr"/>
                      <a:r>
                        <a:rPr lang="en-US"/>
                        <a:t>9</a:t>
                      </a:r>
                      <a:endParaRPr lang="en-US" dirty="0"/>
                    </a:p>
                  </a:txBody>
                  <a:tcPr/>
                </a:tc>
                <a:tc>
                  <a:txBody>
                    <a:bodyPr/>
                    <a:lstStyle/>
                    <a:p>
                      <a:pPr algn="ctr"/>
                      <a:r>
                        <a:rPr lang="en-US" dirty="0"/>
                        <a:t>3, 3, 9</a:t>
                      </a:r>
                    </a:p>
                  </a:txBody>
                  <a:tcPr/>
                </a:tc>
                <a:extLst>
                  <a:ext uri="{0D108BD9-81ED-4DB2-BD59-A6C34878D82A}">
                    <a16:rowId xmlns:a16="http://schemas.microsoft.com/office/drawing/2014/main" val="10003"/>
                  </a:ext>
                </a:extLst>
              </a:tr>
              <a:tr h="494453">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tc>
                  <a:txBody>
                    <a:bodyPr/>
                    <a:lstStyle/>
                    <a:p>
                      <a:pPr algn="ctr"/>
                      <a:endParaRPr lang="en-US" dirty="0"/>
                    </a:p>
                  </a:txBody>
                  <a:tcPr/>
                </a:tc>
                <a:extLst>
                  <a:ext uri="{0D108BD9-81ED-4DB2-BD59-A6C34878D82A}">
                    <a16:rowId xmlns:a16="http://schemas.microsoft.com/office/drawing/2014/main" val="10004"/>
                  </a:ext>
                </a:extLst>
              </a:tr>
            </a:tbl>
          </a:graphicData>
        </a:graphic>
      </p:graphicFrame>
      <p:sp>
        <p:nvSpPr>
          <p:cNvPr id="7" name="TextBox 6">
            <a:extLst>
              <a:ext uri="{FF2B5EF4-FFF2-40B4-BE49-F238E27FC236}">
                <a16:creationId xmlns:a16="http://schemas.microsoft.com/office/drawing/2014/main" id="{F6F77D83-5658-468D-316F-9F8E2A31037C}"/>
              </a:ext>
            </a:extLst>
          </p:cNvPr>
          <p:cNvSpPr txBox="1"/>
          <p:nvPr/>
        </p:nvSpPr>
        <p:spPr>
          <a:xfrm>
            <a:off x="56184" y="3940927"/>
            <a:ext cx="3744416" cy="1006429"/>
          </a:xfrm>
          <a:prstGeom prst="rect">
            <a:avLst/>
          </a:prstGeom>
          <a:noFill/>
        </p:spPr>
        <p:txBody>
          <a:bodyPr wrap="square">
            <a:spAutoFit/>
          </a:bodyPr>
          <a:lstStyle/>
          <a:p>
            <a:pPr>
              <a:lnSpc>
                <a:spcPct val="90000"/>
              </a:lnSpc>
            </a:pPr>
            <a:r>
              <a:rPr lang="en-US" altLang="zh-CN" sz="2200" dirty="0">
                <a:latin typeface="Consolas" panose="020B0609020204030204" pitchFamily="49" charset="0"/>
              </a:rPr>
              <a:t>P. Text: TOBENOTORTOBE </a:t>
            </a:r>
          </a:p>
          <a:p>
            <a:pPr>
              <a:lnSpc>
                <a:spcPct val="90000"/>
              </a:lnSpc>
            </a:pPr>
            <a:r>
              <a:rPr lang="en-US" altLang="zh-CN" sz="2200" dirty="0">
                <a:latin typeface="Consolas" panose="020B0609020204030204" pitchFamily="49" charset="0"/>
              </a:rPr>
              <a:t>Keyword: 1231231231231</a:t>
            </a:r>
          </a:p>
          <a:p>
            <a:pPr>
              <a:lnSpc>
                <a:spcPct val="90000"/>
              </a:lnSpc>
            </a:pPr>
            <a:r>
              <a:rPr lang="en-US" altLang="zh-CN" sz="2200" dirty="0">
                <a:latin typeface="Consolas" panose="020B0609020204030204" pitchFamily="49" charset="0"/>
              </a:rPr>
              <a:t>C. Text: UQ</a:t>
            </a:r>
            <a:r>
              <a:rPr lang="en-US" altLang="zh-CN" sz="2200" dirty="0">
                <a:solidFill>
                  <a:srgbClr val="FF0000"/>
                </a:solidFill>
                <a:latin typeface="Consolas" panose="020B0609020204030204" pitchFamily="49" charset="0"/>
              </a:rPr>
              <a:t>EF</a:t>
            </a:r>
            <a:r>
              <a:rPr lang="en-US" altLang="zh-CN" sz="2200" dirty="0">
                <a:latin typeface="Consolas" panose="020B0609020204030204" pitchFamily="49" charset="0"/>
              </a:rPr>
              <a:t>PRUQUUQ</a:t>
            </a:r>
            <a:r>
              <a:rPr lang="en-US" altLang="zh-CN" sz="2200" dirty="0">
                <a:solidFill>
                  <a:srgbClr val="FF0000"/>
                </a:solidFill>
                <a:latin typeface="Consolas" panose="020B0609020204030204" pitchFamily="49" charset="0"/>
              </a:rPr>
              <a:t>EF</a:t>
            </a:r>
            <a:r>
              <a:rPr lang="en-US" altLang="zh-CN" sz="2200" dirty="0">
                <a:latin typeface="Consolas" panose="020B0609020204030204" pitchFamily="49" charset="0"/>
              </a:rPr>
              <a:t> </a:t>
            </a:r>
          </a:p>
        </p:txBody>
      </p:sp>
    </p:spTree>
    <p:extLst>
      <p:ext uri="{BB962C8B-B14F-4D97-AF65-F5344CB8AC3E}">
        <p14:creationId xmlns:p14="http://schemas.microsoft.com/office/powerpoint/2010/main" val="16508173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Cryptanalysis of Vigenère cipher</a:t>
            </a:r>
          </a:p>
        </p:txBody>
      </p:sp>
      <p:sp>
        <p:nvSpPr>
          <p:cNvPr id="3" name="Content Placeholder 2"/>
          <p:cNvSpPr>
            <a:spLocks noGrp="1"/>
          </p:cNvSpPr>
          <p:nvPr>
            <p:ph sz="quarter" idx="11"/>
          </p:nvPr>
        </p:nvSpPr>
        <p:spPr/>
        <p:txBody>
          <a:bodyPr/>
          <a:lstStyle/>
          <a:p>
            <a:pPr marL="0" indent="0">
              <a:buNone/>
            </a:pPr>
            <a:r>
              <a:rPr lang="en-US" sz="2400" b="1" dirty="0"/>
              <a:t>Guessing the key length</a:t>
            </a:r>
          </a:p>
          <a:p>
            <a:pPr>
              <a:lnSpc>
                <a:spcPct val="90000"/>
              </a:lnSpc>
            </a:pPr>
            <a:r>
              <a:rPr lang="en-US" altLang="zh-CN" sz="2400" dirty="0"/>
              <a:t>Find repeated strings in the ciphertext. Their distance is expected to be a multiple of the key length. Compute the </a:t>
            </a:r>
            <a:r>
              <a:rPr lang="en-US" altLang="zh-CN" sz="2400" dirty="0" err="1"/>
              <a:t>gcd</a:t>
            </a:r>
            <a:r>
              <a:rPr lang="en-US" altLang="zh-CN" sz="2400" dirty="0"/>
              <a:t> of (most) distances.</a:t>
            </a:r>
          </a:p>
          <a:p>
            <a:pPr>
              <a:lnSpc>
                <a:spcPct val="90000"/>
              </a:lnSpc>
            </a:pPr>
            <a:r>
              <a:rPr lang="en-US" altLang="zh-CN" sz="2400" dirty="0"/>
              <a:t>Example:</a:t>
            </a:r>
          </a:p>
          <a:p>
            <a:endParaRPr lang="en-US" sz="2400" dirty="0"/>
          </a:p>
        </p:txBody>
      </p:sp>
      <p:graphicFrame>
        <p:nvGraphicFramePr>
          <p:cNvPr id="5" name="Table 4">
            <a:extLst>
              <a:ext uri="{FF2B5EF4-FFF2-40B4-BE49-F238E27FC236}">
                <a16:creationId xmlns:a16="http://schemas.microsoft.com/office/drawing/2014/main" id="{88D6BB83-3AE3-B6D0-009E-204F37899172}"/>
              </a:ext>
            </a:extLst>
          </p:cNvPr>
          <p:cNvGraphicFramePr>
            <a:graphicFrameLocks noGrp="1"/>
          </p:cNvGraphicFramePr>
          <p:nvPr>
            <p:extLst>
              <p:ext uri="{D42A27DB-BD31-4B8C-83A1-F6EECF244321}">
                <p14:modId xmlns:p14="http://schemas.microsoft.com/office/powerpoint/2010/main" val="663045713"/>
              </p:ext>
            </p:extLst>
          </p:nvPr>
        </p:nvGraphicFramePr>
        <p:xfrm>
          <a:off x="3672504" y="3638410"/>
          <a:ext cx="5436000" cy="261789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20000"/>
                    </a:ext>
                  </a:extLst>
                </a:gridCol>
                <a:gridCol w="1080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116000">
                  <a:extLst>
                    <a:ext uri="{9D8B030D-6E8A-4147-A177-3AD203B41FA5}">
                      <a16:colId xmlns:a16="http://schemas.microsoft.com/office/drawing/2014/main" val="20003"/>
                    </a:ext>
                  </a:extLst>
                </a:gridCol>
                <a:gridCol w="972000">
                  <a:extLst>
                    <a:ext uri="{9D8B030D-6E8A-4147-A177-3AD203B41FA5}">
                      <a16:colId xmlns:a16="http://schemas.microsoft.com/office/drawing/2014/main" val="20004"/>
                    </a:ext>
                  </a:extLst>
                </a:gridCol>
              </a:tblGrid>
              <a:tr h="431799">
                <a:tc>
                  <a:txBody>
                    <a:bodyPr/>
                    <a:lstStyle/>
                    <a:p>
                      <a:r>
                        <a:rPr lang="en-US" dirty="0"/>
                        <a:t>Diagraph</a:t>
                      </a:r>
                    </a:p>
                  </a:txBody>
                  <a:tcPr/>
                </a:tc>
                <a:tc>
                  <a:txBody>
                    <a:bodyPr/>
                    <a:lstStyle/>
                    <a:p>
                      <a:r>
                        <a:rPr lang="en-US" dirty="0"/>
                        <a:t>First</a:t>
                      </a:r>
                    </a:p>
                    <a:p>
                      <a:r>
                        <a:rPr lang="en-US" dirty="0"/>
                        <a:t>Position</a:t>
                      </a:r>
                    </a:p>
                  </a:txBody>
                  <a:tcPr/>
                </a:tc>
                <a:tc>
                  <a:txBody>
                    <a:bodyPr/>
                    <a:lstStyle/>
                    <a:p>
                      <a:r>
                        <a:rPr lang="en-US" dirty="0"/>
                        <a:t>Second</a:t>
                      </a:r>
                    </a:p>
                    <a:p>
                      <a:r>
                        <a:rPr lang="en-US" dirty="0"/>
                        <a:t>Position</a:t>
                      </a:r>
                    </a:p>
                  </a:txBody>
                  <a:tcPr/>
                </a:tc>
                <a:tc>
                  <a:txBody>
                    <a:bodyPr/>
                    <a:lstStyle/>
                    <a:p>
                      <a:r>
                        <a:rPr lang="en-US" dirty="0"/>
                        <a:t>Distance</a:t>
                      </a:r>
                    </a:p>
                  </a:txBody>
                  <a:tcPr/>
                </a:tc>
                <a:tc>
                  <a:txBody>
                    <a:bodyPr/>
                    <a:lstStyle/>
                    <a:p>
                      <a:r>
                        <a:rPr lang="en-US" dirty="0"/>
                        <a:t>Factors</a:t>
                      </a:r>
                    </a:p>
                  </a:txBody>
                  <a:tcPr/>
                </a:tc>
                <a:extLst>
                  <a:ext uri="{0D108BD9-81ED-4DB2-BD59-A6C34878D82A}">
                    <a16:rowId xmlns:a16="http://schemas.microsoft.com/office/drawing/2014/main" val="10000"/>
                  </a:ext>
                </a:extLst>
              </a:tr>
              <a:tr h="494453">
                <a:tc>
                  <a:txBody>
                    <a:bodyPr/>
                    <a:lstStyle/>
                    <a:p>
                      <a:pPr algn="ctr"/>
                      <a:r>
                        <a:rPr lang="en-US" dirty="0"/>
                        <a:t>UQ</a:t>
                      </a:r>
                    </a:p>
                  </a:txBody>
                  <a:tcPr/>
                </a:tc>
                <a:tc>
                  <a:txBody>
                    <a:bodyPr/>
                    <a:lstStyle/>
                    <a:p>
                      <a:pPr algn="ctr"/>
                      <a:r>
                        <a:rPr lang="en-US" dirty="0"/>
                        <a:t>1</a:t>
                      </a:r>
                    </a:p>
                  </a:txBody>
                  <a:tcPr/>
                </a:tc>
                <a:tc>
                  <a:txBody>
                    <a:bodyPr/>
                    <a:lstStyle/>
                    <a:p>
                      <a:pPr algn="ctr"/>
                      <a:r>
                        <a:rPr lang="en-US" dirty="0"/>
                        <a:t>7</a:t>
                      </a:r>
                    </a:p>
                  </a:txBody>
                  <a:tcPr/>
                </a:tc>
                <a:tc>
                  <a:txBody>
                    <a:bodyPr/>
                    <a:lstStyle/>
                    <a:p>
                      <a:pPr algn="ctr"/>
                      <a:r>
                        <a:rPr lang="en-US" dirty="0"/>
                        <a:t>6</a:t>
                      </a:r>
                    </a:p>
                  </a:txBody>
                  <a:tcPr/>
                </a:tc>
                <a:tc>
                  <a:txBody>
                    <a:bodyPr/>
                    <a:lstStyle/>
                    <a:p>
                      <a:pPr algn="ctr"/>
                      <a:r>
                        <a:rPr lang="en-US" dirty="0"/>
                        <a:t>2, 3, 6</a:t>
                      </a:r>
                    </a:p>
                  </a:txBody>
                  <a:tcPr/>
                </a:tc>
                <a:extLst>
                  <a:ext uri="{0D108BD9-81ED-4DB2-BD59-A6C34878D82A}">
                    <a16:rowId xmlns:a16="http://schemas.microsoft.com/office/drawing/2014/main" val="10001"/>
                  </a:ext>
                </a:extLst>
              </a:tr>
              <a:tr h="494453">
                <a:tc>
                  <a:txBody>
                    <a:bodyPr/>
                    <a:lstStyle/>
                    <a:p>
                      <a:pPr algn="ctr"/>
                      <a:r>
                        <a:rPr lang="en-US" dirty="0"/>
                        <a:t>UQ</a:t>
                      </a:r>
                    </a:p>
                  </a:txBody>
                  <a:tcPr/>
                </a:tc>
                <a:tc>
                  <a:txBody>
                    <a:bodyPr/>
                    <a:lstStyle/>
                    <a:p>
                      <a:pPr algn="ctr"/>
                      <a:r>
                        <a:rPr lang="en-US" dirty="0"/>
                        <a:t>7</a:t>
                      </a:r>
                    </a:p>
                  </a:txBody>
                  <a:tcPr/>
                </a:tc>
                <a:tc>
                  <a:txBody>
                    <a:bodyPr/>
                    <a:lstStyle/>
                    <a:p>
                      <a:pPr algn="ctr"/>
                      <a:r>
                        <a:rPr lang="en-US" dirty="0"/>
                        <a:t>10</a:t>
                      </a:r>
                    </a:p>
                  </a:txBody>
                  <a:tcPr/>
                </a:tc>
                <a:tc>
                  <a:txBody>
                    <a:bodyPr/>
                    <a:lstStyle/>
                    <a:p>
                      <a:pPr algn="ctr"/>
                      <a:r>
                        <a:rPr lang="en-US" dirty="0"/>
                        <a:t>3</a:t>
                      </a:r>
                    </a:p>
                  </a:txBody>
                  <a:tcPr/>
                </a:tc>
                <a:tc>
                  <a:txBody>
                    <a:bodyPr/>
                    <a:lstStyle/>
                    <a:p>
                      <a:pPr algn="ctr"/>
                      <a:r>
                        <a:rPr lang="en-US" dirty="0"/>
                        <a:t>3</a:t>
                      </a:r>
                    </a:p>
                  </a:txBody>
                  <a:tcPr/>
                </a:tc>
                <a:extLst>
                  <a:ext uri="{0D108BD9-81ED-4DB2-BD59-A6C34878D82A}">
                    <a16:rowId xmlns:a16="http://schemas.microsoft.com/office/drawing/2014/main" val="10002"/>
                  </a:ext>
                </a:extLst>
              </a:tr>
              <a:tr h="494453">
                <a:tc>
                  <a:txBody>
                    <a:bodyPr/>
                    <a:lstStyle/>
                    <a:p>
                      <a:pPr algn="ctr"/>
                      <a:r>
                        <a:rPr lang="en-US"/>
                        <a:t>EF</a:t>
                      </a:r>
                      <a:endParaRPr lang="en-US" dirty="0"/>
                    </a:p>
                  </a:txBody>
                  <a:tcPr/>
                </a:tc>
                <a:tc>
                  <a:txBody>
                    <a:bodyPr/>
                    <a:lstStyle/>
                    <a:p>
                      <a:pPr algn="ctr"/>
                      <a:r>
                        <a:rPr lang="en-US"/>
                        <a:t>3</a:t>
                      </a:r>
                      <a:endParaRPr lang="en-US" dirty="0"/>
                    </a:p>
                  </a:txBody>
                  <a:tcPr/>
                </a:tc>
                <a:tc>
                  <a:txBody>
                    <a:bodyPr/>
                    <a:lstStyle/>
                    <a:p>
                      <a:pPr algn="ctr"/>
                      <a:r>
                        <a:rPr lang="en-US"/>
                        <a:t>12</a:t>
                      </a:r>
                      <a:endParaRPr lang="en-US" dirty="0"/>
                    </a:p>
                  </a:txBody>
                  <a:tcPr/>
                </a:tc>
                <a:tc>
                  <a:txBody>
                    <a:bodyPr/>
                    <a:lstStyle/>
                    <a:p>
                      <a:pPr algn="ctr"/>
                      <a:r>
                        <a:rPr lang="en-US"/>
                        <a:t>9</a:t>
                      </a:r>
                      <a:endParaRPr lang="en-US" dirty="0"/>
                    </a:p>
                  </a:txBody>
                  <a:tcPr/>
                </a:tc>
                <a:tc>
                  <a:txBody>
                    <a:bodyPr/>
                    <a:lstStyle/>
                    <a:p>
                      <a:pPr algn="ctr"/>
                      <a:r>
                        <a:rPr lang="en-US" dirty="0"/>
                        <a:t>3, 3, 9</a:t>
                      </a:r>
                    </a:p>
                  </a:txBody>
                  <a:tcPr/>
                </a:tc>
                <a:extLst>
                  <a:ext uri="{0D108BD9-81ED-4DB2-BD59-A6C34878D82A}">
                    <a16:rowId xmlns:a16="http://schemas.microsoft.com/office/drawing/2014/main" val="10003"/>
                  </a:ext>
                </a:extLst>
              </a:tr>
              <a:tr h="494453">
                <a:tc>
                  <a:txBody>
                    <a:bodyPr/>
                    <a:lstStyle/>
                    <a:p>
                      <a:pPr algn="ctr"/>
                      <a:r>
                        <a:rPr lang="en-US"/>
                        <a:t>QE</a:t>
                      </a:r>
                      <a:endParaRPr lang="en-US" dirty="0"/>
                    </a:p>
                  </a:txBody>
                  <a:tcPr/>
                </a:tc>
                <a:tc>
                  <a:txBody>
                    <a:bodyPr/>
                    <a:lstStyle/>
                    <a:p>
                      <a:pPr algn="ctr"/>
                      <a:r>
                        <a:rPr lang="en-US"/>
                        <a:t>2</a:t>
                      </a:r>
                      <a:endParaRPr lang="en-US" dirty="0"/>
                    </a:p>
                  </a:txBody>
                  <a:tcPr/>
                </a:tc>
                <a:tc>
                  <a:txBody>
                    <a:bodyPr/>
                    <a:lstStyle/>
                    <a:p>
                      <a:pPr algn="ctr"/>
                      <a:r>
                        <a:rPr lang="en-US"/>
                        <a:t>11</a:t>
                      </a:r>
                      <a:endParaRPr lang="en-US" dirty="0"/>
                    </a:p>
                  </a:txBody>
                  <a:tcPr/>
                </a:tc>
                <a:tc>
                  <a:txBody>
                    <a:bodyPr/>
                    <a:lstStyle/>
                    <a:p>
                      <a:pPr algn="ctr"/>
                      <a:r>
                        <a:rPr lang="en-US"/>
                        <a:t>9</a:t>
                      </a:r>
                      <a:endParaRPr lang="en-US" dirty="0"/>
                    </a:p>
                  </a:txBody>
                  <a:tcPr/>
                </a:tc>
                <a:tc>
                  <a:txBody>
                    <a:bodyPr/>
                    <a:lstStyle/>
                    <a:p>
                      <a:pPr algn="ctr"/>
                      <a:r>
                        <a:rPr lang="en-US" dirty="0"/>
                        <a:t>3, 3, 9</a:t>
                      </a:r>
                    </a:p>
                  </a:txBody>
                  <a:tcPr/>
                </a:tc>
                <a:extLst>
                  <a:ext uri="{0D108BD9-81ED-4DB2-BD59-A6C34878D82A}">
                    <a16:rowId xmlns:a16="http://schemas.microsoft.com/office/drawing/2014/main" val="10004"/>
                  </a:ext>
                </a:extLst>
              </a:tr>
            </a:tbl>
          </a:graphicData>
        </a:graphic>
      </p:graphicFrame>
      <p:sp>
        <p:nvSpPr>
          <p:cNvPr id="7" name="TextBox 6">
            <a:extLst>
              <a:ext uri="{FF2B5EF4-FFF2-40B4-BE49-F238E27FC236}">
                <a16:creationId xmlns:a16="http://schemas.microsoft.com/office/drawing/2014/main" id="{F6F77D83-5658-468D-316F-9F8E2A31037C}"/>
              </a:ext>
            </a:extLst>
          </p:cNvPr>
          <p:cNvSpPr txBox="1"/>
          <p:nvPr/>
        </p:nvSpPr>
        <p:spPr>
          <a:xfrm>
            <a:off x="56184" y="3940927"/>
            <a:ext cx="3744416" cy="1006429"/>
          </a:xfrm>
          <a:prstGeom prst="rect">
            <a:avLst/>
          </a:prstGeom>
          <a:noFill/>
        </p:spPr>
        <p:txBody>
          <a:bodyPr wrap="square">
            <a:spAutoFit/>
          </a:bodyPr>
          <a:lstStyle/>
          <a:p>
            <a:pPr>
              <a:lnSpc>
                <a:spcPct val="90000"/>
              </a:lnSpc>
            </a:pPr>
            <a:r>
              <a:rPr lang="en-US" altLang="zh-CN" sz="2200" dirty="0">
                <a:latin typeface="Consolas" panose="020B0609020204030204" pitchFamily="49" charset="0"/>
              </a:rPr>
              <a:t>P. Text: TOBENOTORTOBE </a:t>
            </a:r>
          </a:p>
          <a:p>
            <a:pPr>
              <a:lnSpc>
                <a:spcPct val="90000"/>
              </a:lnSpc>
            </a:pPr>
            <a:r>
              <a:rPr lang="en-US" altLang="zh-CN" sz="2200" dirty="0">
                <a:latin typeface="Consolas" panose="020B0609020204030204" pitchFamily="49" charset="0"/>
              </a:rPr>
              <a:t>Keyword: 1231231231231</a:t>
            </a:r>
          </a:p>
          <a:p>
            <a:pPr>
              <a:lnSpc>
                <a:spcPct val="90000"/>
              </a:lnSpc>
            </a:pPr>
            <a:r>
              <a:rPr lang="en-US" altLang="zh-CN" sz="2200" dirty="0">
                <a:latin typeface="Consolas" panose="020B0609020204030204" pitchFamily="49" charset="0"/>
              </a:rPr>
              <a:t>C. Text: U</a:t>
            </a:r>
            <a:r>
              <a:rPr lang="en-US" altLang="zh-CN" sz="2200" dirty="0">
                <a:solidFill>
                  <a:srgbClr val="FF0000"/>
                </a:solidFill>
                <a:latin typeface="Consolas" panose="020B0609020204030204" pitchFamily="49" charset="0"/>
              </a:rPr>
              <a:t>QE</a:t>
            </a:r>
            <a:r>
              <a:rPr lang="en-US" altLang="zh-CN" sz="2200" dirty="0">
                <a:latin typeface="Consolas" panose="020B0609020204030204" pitchFamily="49" charset="0"/>
              </a:rPr>
              <a:t>FPRUQUU</a:t>
            </a:r>
            <a:r>
              <a:rPr lang="en-US" altLang="zh-CN" sz="2200" dirty="0">
                <a:solidFill>
                  <a:srgbClr val="FF0000"/>
                </a:solidFill>
                <a:latin typeface="Consolas" panose="020B0609020204030204" pitchFamily="49" charset="0"/>
              </a:rPr>
              <a:t>QE</a:t>
            </a:r>
            <a:r>
              <a:rPr lang="en-US" altLang="zh-CN" sz="2200" dirty="0">
                <a:latin typeface="Consolas" panose="020B0609020204030204" pitchFamily="49" charset="0"/>
              </a:rPr>
              <a:t>F </a:t>
            </a:r>
          </a:p>
        </p:txBody>
      </p:sp>
      <p:sp>
        <p:nvSpPr>
          <p:cNvPr id="4" name="TextBox 3">
            <a:extLst>
              <a:ext uri="{FF2B5EF4-FFF2-40B4-BE49-F238E27FC236}">
                <a16:creationId xmlns:a16="http://schemas.microsoft.com/office/drawing/2014/main" id="{FACE64A3-916F-BA59-3CC6-3137B10F3585}"/>
              </a:ext>
            </a:extLst>
          </p:cNvPr>
          <p:cNvSpPr txBox="1"/>
          <p:nvPr/>
        </p:nvSpPr>
        <p:spPr>
          <a:xfrm>
            <a:off x="154456" y="5937230"/>
            <a:ext cx="3312368" cy="600164"/>
          </a:xfrm>
          <a:prstGeom prst="rect">
            <a:avLst/>
          </a:prstGeom>
          <a:noFill/>
        </p:spPr>
        <p:txBody>
          <a:bodyPr wrap="square">
            <a:spAutoFit/>
          </a:bodyPr>
          <a:lstStyle/>
          <a:p>
            <a:pPr latinLnBrk="0"/>
            <a:r>
              <a:rPr lang="en-US" sz="1100" dirty="0"/>
              <a:t>More information and worked examples</a:t>
            </a:r>
          </a:p>
          <a:p>
            <a:pPr latinLnBrk="0"/>
            <a:r>
              <a:rPr lang="en-US" sz="1100" dirty="0">
                <a:hlinkClick r:id="rId2"/>
              </a:rPr>
              <a:t>https://crypto.interactive-maths.com/kasiski-analysis-breaking-the-code.html</a:t>
            </a:r>
            <a:endParaRPr lang="en-US" sz="1100" dirty="0"/>
          </a:p>
        </p:txBody>
      </p:sp>
    </p:spTree>
    <p:extLst>
      <p:ext uri="{BB962C8B-B14F-4D97-AF65-F5344CB8AC3E}">
        <p14:creationId xmlns:p14="http://schemas.microsoft.com/office/powerpoint/2010/main" val="33674174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C5BA2-2396-EE59-F7AB-83706E8CBE3B}"/>
              </a:ext>
            </a:extLst>
          </p:cNvPr>
          <p:cNvSpPr>
            <a:spLocks noGrp="1"/>
          </p:cNvSpPr>
          <p:nvPr>
            <p:ph type="title"/>
          </p:nvPr>
        </p:nvSpPr>
        <p:spPr/>
        <p:txBody>
          <a:bodyPr/>
          <a:lstStyle/>
          <a:p>
            <a:r>
              <a:rPr lang="en-US" dirty="0"/>
              <a:t>Hardening Vigenère Cipher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3F6902A-B4CD-910F-B836-21AA3F8A3AFF}"/>
                  </a:ext>
                </a:extLst>
              </p:cNvPr>
              <p:cNvSpPr>
                <a:spLocks noGrp="1"/>
              </p:cNvSpPr>
              <p:nvPr>
                <p:ph sz="quarter" idx="11"/>
              </p:nvPr>
            </p:nvSpPr>
            <p:spPr/>
            <p:txBody>
              <a:bodyPr/>
              <a:lstStyle/>
              <a:p>
                <a:r>
                  <a:rPr lang="en-US" sz="2800" dirty="0"/>
                  <a:t>As seen earlier, Vigenère cipher can be attacked by breaking ciphertext into </a:t>
                </a:r>
                <a14:m>
                  <m:oMath xmlns:m="http://schemas.openxmlformats.org/officeDocument/2006/math">
                    <m:r>
                      <a:rPr lang="en-US" sz="2800" i="1" dirty="0" smtClean="0">
                        <a:latin typeface="Cambria Math" panose="02040503050406030204" pitchFamily="18" charset="0"/>
                      </a:rPr>
                      <m:t>𝑛</m:t>
                    </m:r>
                  </m:oMath>
                </a14:m>
                <a:r>
                  <a:rPr lang="en-US" sz="2800" dirty="0"/>
                  <a:t> sections, and frequency analyzing each of those sections separately.</a:t>
                </a:r>
              </a:p>
              <a:p>
                <a:r>
                  <a:rPr lang="en-US" sz="2800" dirty="0"/>
                  <a:t>But this approach won’t work if the keyword length is equal or more than that of plaintext.</a:t>
                </a:r>
              </a:p>
              <a:p>
                <a:pPr lvl="1"/>
                <a:r>
                  <a:rPr lang="en-US" sz="2400" dirty="0"/>
                  <a:t>So the key need not be repeated</a:t>
                </a:r>
              </a:p>
              <a:p>
                <a:pPr lvl="1"/>
                <a:r>
                  <a:rPr lang="en-US" sz="2400" dirty="0"/>
                  <a:t>This the idea applied in One-Time Pad cipher</a:t>
                </a:r>
              </a:p>
            </p:txBody>
          </p:sp>
        </mc:Choice>
        <mc:Fallback xmlns="">
          <p:sp>
            <p:nvSpPr>
              <p:cNvPr id="3" name="Content Placeholder 2">
                <a:extLst>
                  <a:ext uri="{FF2B5EF4-FFF2-40B4-BE49-F238E27FC236}">
                    <a16:creationId xmlns:a16="http://schemas.microsoft.com/office/drawing/2014/main" id="{B3F6902A-B4CD-910F-B836-21AA3F8A3AFF}"/>
                  </a:ext>
                </a:extLst>
              </p:cNvPr>
              <p:cNvSpPr>
                <a:spLocks noGrp="1" noRot="1" noChangeAspect="1" noMove="1" noResize="1" noEditPoints="1" noAdjustHandles="1" noChangeArrowheads="1" noChangeShapeType="1" noTextEdit="1"/>
              </p:cNvSpPr>
              <p:nvPr>
                <p:ph sz="quarter" idx="11"/>
              </p:nvPr>
            </p:nvSpPr>
            <p:spPr>
              <a:blipFill>
                <a:blip r:embed="rId2"/>
                <a:stretch>
                  <a:fillRect l="-1333" t="-1304"/>
                </a:stretch>
              </a:blipFill>
            </p:spPr>
            <p:txBody>
              <a:bodyPr/>
              <a:lstStyle/>
              <a:p>
                <a:r>
                  <a:rPr lang="en-US">
                    <a:noFill/>
                  </a:rPr>
                  <a:t> </a:t>
                </a:r>
              </a:p>
            </p:txBody>
          </p:sp>
        </mc:Fallback>
      </mc:AlternateContent>
    </p:spTree>
    <p:extLst>
      <p:ext uri="{BB962C8B-B14F-4D97-AF65-F5344CB8AC3E}">
        <p14:creationId xmlns:p14="http://schemas.microsoft.com/office/powerpoint/2010/main" val="7792296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ADA35-109A-8CD0-6ACE-D99BC29DDEA6}"/>
              </a:ext>
            </a:extLst>
          </p:cNvPr>
          <p:cNvSpPr>
            <a:spLocks noGrp="1"/>
          </p:cNvSpPr>
          <p:nvPr>
            <p:ph type="title"/>
          </p:nvPr>
        </p:nvSpPr>
        <p:spPr/>
        <p:txBody>
          <a:bodyPr/>
          <a:lstStyle/>
          <a:p>
            <a:r>
              <a:rPr lang="en-US" dirty="0"/>
              <a:t>One-Time Pad (OTP)</a:t>
            </a:r>
          </a:p>
        </p:txBody>
      </p:sp>
      <p:sp>
        <p:nvSpPr>
          <p:cNvPr id="4" name="Content Placeholder 3">
            <a:extLst>
              <a:ext uri="{FF2B5EF4-FFF2-40B4-BE49-F238E27FC236}">
                <a16:creationId xmlns:a16="http://schemas.microsoft.com/office/drawing/2014/main" id="{3CFF1B7E-9F25-2B91-3E72-1662A0334069}"/>
              </a:ext>
            </a:extLst>
          </p:cNvPr>
          <p:cNvSpPr>
            <a:spLocks noGrp="1"/>
          </p:cNvSpPr>
          <p:nvPr>
            <p:ph sz="quarter" idx="11"/>
          </p:nvPr>
        </p:nvSpPr>
        <p:spPr/>
        <p:txBody>
          <a:bodyPr/>
          <a:lstStyle/>
          <a:p>
            <a:r>
              <a:rPr lang="en-US" sz="2400" dirty="0"/>
              <a:t>To implement OTP, for each message use a </a:t>
            </a:r>
            <a:r>
              <a:rPr lang="en-US" sz="2400" b="1" dirty="0"/>
              <a:t>random key</a:t>
            </a:r>
            <a:r>
              <a:rPr lang="en-US" sz="2400" dirty="0"/>
              <a:t> that is at least as long as the message itself.</a:t>
            </a:r>
          </a:p>
          <a:p>
            <a:r>
              <a:rPr lang="en-US" sz="2400" dirty="0"/>
              <a:t>Combine the key with the plaintext (e.g. similar to Vigenère cipher) to generate ciphertext.</a:t>
            </a:r>
          </a:p>
          <a:p>
            <a:r>
              <a:rPr lang="en-US" sz="2400" dirty="0"/>
              <a:t>Each key is to be used to encrypt and decrypt a single message, and then is </a:t>
            </a:r>
            <a:r>
              <a:rPr lang="en-US" sz="2400" b="1" dirty="0"/>
              <a:t>discarded</a:t>
            </a:r>
            <a:r>
              <a:rPr lang="en-US" sz="2400" dirty="0"/>
              <a:t>.</a:t>
            </a:r>
          </a:p>
          <a:p>
            <a:pPr lvl="1"/>
            <a:r>
              <a:rPr lang="en-US" sz="2000" dirty="0"/>
              <a:t>Each new message requires a new key of the same length as the message.</a:t>
            </a:r>
          </a:p>
          <a:p>
            <a:r>
              <a:rPr lang="en-US" sz="2400" dirty="0"/>
              <a:t>Its name comes from the paper-pads on which random key streams were printed.</a:t>
            </a:r>
          </a:p>
          <a:p>
            <a:pPr lvl="1"/>
            <a:r>
              <a:rPr lang="en-US" sz="2000" dirty="0"/>
              <a:t>Two copies of each pad had to be created, one for sender other for receiver.</a:t>
            </a:r>
          </a:p>
          <a:p>
            <a:pPr lvl="1"/>
            <a:r>
              <a:rPr lang="en-US" sz="2000" dirty="0"/>
              <a:t>Each paper sheet was destroyed after use </a:t>
            </a:r>
          </a:p>
        </p:txBody>
      </p:sp>
    </p:spTree>
    <p:extLst>
      <p:ext uri="{BB962C8B-B14F-4D97-AF65-F5344CB8AC3E}">
        <p14:creationId xmlns:p14="http://schemas.microsoft.com/office/powerpoint/2010/main" val="23986989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ADA35-109A-8CD0-6ACE-D99BC29DDEA6}"/>
              </a:ext>
            </a:extLst>
          </p:cNvPr>
          <p:cNvSpPr>
            <a:spLocks noGrp="1"/>
          </p:cNvSpPr>
          <p:nvPr>
            <p:ph type="title"/>
          </p:nvPr>
        </p:nvSpPr>
        <p:spPr/>
        <p:txBody>
          <a:bodyPr/>
          <a:lstStyle/>
          <a:p>
            <a:r>
              <a:rPr lang="en-US" dirty="0"/>
              <a:t>One-Time Pad (OTP)</a:t>
            </a:r>
          </a:p>
        </p:txBody>
      </p:sp>
      <p:pic>
        <p:nvPicPr>
          <p:cNvPr id="5" name="Content Placeholder 6">
            <a:extLst>
              <a:ext uri="{FF2B5EF4-FFF2-40B4-BE49-F238E27FC236}">
                <a16:creationId xmlns:a16="http://schemas.microsoft.com/office/drawing/2014/main" id="{0B35ED6F-2721-369F-370E-75D335F06F7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r="24783"/>
          <a:stretch/>
        </p:blipFill>
        <p:spPr>
          <a:xfrm>
            <a:off x="1698391" y="1358881"/>
            <a:ext cx="5747218" cy="5115797"/>
          </a:xfrm>
          <a:prstGeom prst="rect">
            <a:avLst/>
          </a:prstGeom>
        </p:spPr>
      </p:pic>
      <p:sp>
        <p:nvSpPr>
          <p:cNvPr id="8" name="TextBox 7">
            <a:extLst>
              <a:ext uri="{FF2B5EF4-FFF2-40B4-BE49-F238E27FC236}">
                <a16:creationId xmlns:a16="http://schemas.microsoft.com/office/drawing/2014/main" id="{417B156C-1498-61A4-0DA8-DC386860013D}"/>
              </a:ext>
            </a:extLst>
          </p:cNvPr>
          <p:cNvSpPr txBox="1"/>
          <p:nvPr/>
        </p:nvSpPr>
        <p:spPr>
          <a:xfrm>
            <a:off x="5796136" y="6595001"/>
            <a:ext cx="3447653" cy="246221"/>
          </a:xfrm>
          <a:prstGeom prst="rect">
            <a:avLst/>
          </a:prstGeom>
          <a:noFill/>
        </p:spPr>
        <p:txBody>
          <a:bodyPr wrap="square">
            <a:spAutoFit/>
          </a:bodyPr>
          <a:lstStyle/>
          <a:p>
            <a:r>
              <a:rPr lang="en-US" sz="1000" dirty="0">
                <a:hlinkClick r:id="rId3"/>
              </a:rPr>
              <a:t>https://www.cryptomuseum.com/crypto/otp/index.htm</a:t>
            </a:r>
            <a:endParaRPr lang="en-US" sz="1000" dirty="0"/>
          </a:p>
        </p:txBody>
      </p:sp>
    </p:spTree>
    <p:extLst>
      <p:ext uri="{BB962C8B-B14F-4D97-AF65-F5344CB8AC3E}">
        <p14:creationId xmlns:p14="http://schemas.microsoft.com/office/powerpoint/2010/main" val="41187788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0EB4A-9335-E3C4-4AAB-346BC226D66C}"/>
              </a:ext>
            </a:extLst>
          </p:cNvPr>
          <p:cNvSpPr>
            <a:spLocks noGrp="1"/>
          </p:cNvSpPr>
          <p:nvPr>
            <p:ph type="title"/>
          </p:nvPr>
        </p:nvSpPr>
        <p:spPr/>
        <p:txBody>
          <a:bodyPr/>
          <a:lstStyle/>
          <a:p>
            <a:r>
              <a:rPr lang="en-US" dirty="0"/>
              <a:t>OTP Strength</a:t>
            </a:r>
          </a:p>
        </p:txBody>
      </p:sp>
      <p:sp>
        <p:nvSpPr>
          <p:cNvPr id="3" name="Content Placeholder 2">
            <a:extLst>
              <a:ext uri="{FF2B5EF4-FFF2-40B4-BE49-F238E27FC236}">
                <a16:creationId xmlns:a16="http://schemas.microsoft.com/office/drawing/2014/main" id="{D54F7F45-E6C5-C6B1-11C2-B30B27E3DAA4}"/>
              </a:ext>
            </a:extLst>
          </p:cNvPr>
          <p:cNvSpPr>
            <a:spLocks noGrp="1"/>
          </p:cNvSpPr>
          <p:nvPr>
            <p:ph sz="quarter" idx="11"/>
          </p:nvPr>
        </p:nvSpPr>
        <p:spPr/>
        <p:txBody>
          <a:bodyPr/>
          <a:lstStyle/>
          <a:p>
            <a:pPr marL="0" indent="0">
              <a:buNone/>
            </a:pPr>
            <a:r>
              <a:rPr lang="en-US" sz="2800" dirty="0"/>
              <a:t>When </a:t>
            </a:r>
            <a:r>
              <a:rPr lang="en-US" sz="2800" b="1" dirty="0"/>
              <a:t>applied correctly</a:t>
            </a:r>
            <a:r>
              <a:rPr lang="en-US" sz="2800" dirty="0"/>
              <a:t>, the OTP provides a </a:t>
            </a:r>
            <a:r>
              <a:rPr lang="en-US" sz="2800" dirty="0">
                <a:solidFill>
                  <a:srgbClr val="FF0000"/>
                </a:solidFill>
              </a:rPr>
              <a:t>truly unbreakable</a:t>
            </a:r>
            <a:r>
              <a:rPr lang="en-US" sz="2800" dirty="0"/>
              <a:t> cipher.</a:t>
            </a:r>
          </a:p>
          <a:p>
            <a:pPr marL="0" indent="0">
              <a:buNone/>
            </a:pPr>
            <a:endParaRPr lang="en-US" sz="2800" dirty="0"/>
          </a:p>
          <a:p>
            <a:pPr marL="0" indent="0">
              <a:buNone/>
            </a:pPr>
            <a:r>
              <a:rPr lang="en-US" sz="2800" dirty="0"/>
              <a:t>How?</a:t>
            </a:r>
          </a:p>
          <a:p>
            <a:r>
              <a:rPr lang="en-US" sz="2800" dirty="0"/>
              <a:t>It produces random output that bears no statistical relationship to the plaintext.</a:t>
            </a:r>
          </a:p>
          <a:p>
            <a:r>
              <a:rPr lang="en-US" sz="2800" dirty="0"/>
              <a:t>Ciphertext contains no information whatsoever about the plaintext</a:t>
            </a:r>
          </a:p>
        </p:txBody>
      </p:sp>
    </p:spTree>
    <p:extLst>
      <p:ext uri="{BB962C8B-B14F-4D97-AF65-F5344CB8AC3E}">
        <p14:creationId xmlns:p14="http://schemas.microsoft.com/office/powerpoint/2010/main" val="23794496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0EB4A-9335-E3C4-4AAB-346BC226D66C}"/>
              </a:ext>
            </a:extLst>
          </p:cNvPr>
          <p:cNvSpPr>
            <a:spLocks noGrp="1"/>
          </p:cNvSpPr>
          <p:nvPr>
            <p:ph type="title"/>
          </p:nvPr>
        </p:nvSpPr>
        <p:spPr/>
        <p:txBody>
          <a:bodyPr/>
          <a:lstStyle/>
          <a:p>
            <a:r>
              <a:rPr lang="en-US" dirty="0"/>
              <a:t>OTP Practical or not?</a:t>
            </a:r>
          </a:p>
        </p:txBody>
      </p:sp>
      <p:sp>
        <p:nvSpPr>
          <p:cNvPr id="3" name="Content Placeholder 2">
            <a:extLst>
              <a:ext uri="{FF2B5EF4-FFF2-40B4-BE49-F238E27FC236}">
                <a16:creationId xmlns:a16="http://schemas.microsoft.com/office/drawing/2014/main" id="{D54F7F45-E6C5-C6B1-11C2-B30B27E3DAA4}"/>
              </a:ext>
            </a:extLst>
          </p:cNvPr>
          <p:cNvSpPr>
            <a:spLocks noGrp="1"/>
          </p:cNvSpPr>
          <p:nvPr>
            <p:ph sz="quarter" idx="11"/>
          </p:nvPr>
        </p:nvSpPr>
        <p:spPr/>
        <p:txBody>
          <a:bodyPr/>
          <a:lstStyle/>
          <a:p>
            <a:pPr marL="0" indent="0">
              <a:buNone/>
            </a:pPr>
            <a:r>
              <a:rPr lang="en-US" sz="2000" dirty="0"/>
              <a:t>OTP implementation rules are very strict. If any one of these rules is violated, we no longer have the guarantee of </a:t>
            </a:r>
            <a:r>
              <a:rPr lang="en-US" sz="2000" dirty="0" err="1"/>
              <a:t>unbreakability</a:t>
            </a:r>
            <a:r>
              <a:rPr lang="en-US" sz="2000" dirty="0"/>
              <a:t>.</a:t>
            </a:r>
          </a:p>
          <a:p>
            <a:pPr marL="457200" indent="-457200">
              <a:buFont typeface="+mj-lt"/>
              <a:buAutoNum type="arabicPeriod"/>
            </a:pPr>
            <a:r>
              <a:rPr lang="en-US" sz="1800" dirty="0"/>
              <a:t>The OTP should consist of </a:t>
            </a:r>
            <a:r>
              <a:rPr lang="en-US" sz="1800" u="sng" dirty="0"/>
              <a:t>truly random</a:t>
            </a:r>
            <a:r>
              <a:rPr lang="en-US" sz="1800" dirty="0"/>
              <a:t> characters (noise).</a:t>
            </a:r>
          </a:p>
          <a:p>
            <a:pPr marL="457200" indent="-457200">
              <a:buFont typeface="+mj-lt"/>
              <a:buAutoNum type="arabicPeriod"/>
            </a:pPr>
            <a:r>
              <a:rPr lang="en-US" sz="1800" dirty="0"/>
              <a:t>The OTP (i.e. the key) should have the same length as the plaintext (or longer).</a:t>
            </a:r>
          </a:p>
          <a:p>
            <a:pPr marL="457200" indent="-457200">
              <a:buFont typeface="+mj-lt"/>
              <a:buAutoNum type="arabicPeriod"/>
            </a:pPr>
            <a:r>
              <a:rPr lang="en-US" sz="1800" u="sng" dirty="0"/>
              <a:t>Only two</a:t>
            </a:r>
            <a:r>
              <a:rPr lang="en-US" sz="1800" dirty="0"/>
              <a:t> copies of the OTP should exist.</a:t>
            </a:r>
          </a:p>
          <a:p>
            <a:pPr marL="457200" indent="-457200">
              <a:buFont typeface="+mj-lt"/>
              <a:buAutoNum type="arabicPeriod"/>
            </a:pPr>
            <a:r>
              <a:rPr lang="en-US" sz="1800" dirty="0"/>
              <a:t>The OTP should be </a:t>
            </a:r>
            <a:r>
              <a:rPr lang="en-US" sz="1800" u="sng" dirty="0"/>
              <a:t>used only once</a:t>
            </a:r>
            <a:r>
              <a:rPr lang="en-US" sz="1800" dirty="0"/>
              <a:t>.</a:t>
            </a:r>
          </a:p>
          <a:p>
            <a:pPr marL="457200" indent="-457200">
              <a:buFont typeface="+mj-lt"/>
              <a:buAutoNum type="arabicPeriod"/>
            </a:pPr>
            <a:r>
              <a:rPr lang="en-US" sz="1800" dirty="0"/>
              <a:t>Both copies of the OTP are </a:t>
            </a:r>
            <a:r>
              <a:rPr lang="en-US" sz="1800" u="sng" dirty="0"/>
              <a:t>destroyed</a:t>
            </a:r>
            <a:r>
              <a:rPr lang="en-US" sz="1800" dirty="0"/>
              <a:t> immediately after use.</a:t>
            </a:r>
          </a:p>
          <a:p>
            <a:pPr marL="457200" indent="-457200">
              <a:buFont typeface="+mj-lt"/>
              <a:buAutoNum type="arabicPeriod"/>
            </a:pPr>
            <a:endParaRPr lang="en-US" sz="1800" dirty="0"/>
          </a:p>
          <a:p>
            <a:pPr marL="0" indent="0">
              <a:buNone/>
            </a:pPr>
            <a:r>
              <a:rPr lang="en-US" sz="2400" dirty="0"/>
              <a:t>In practice it is extremely challenging to</a:t>
            </a:r>
          </a:p>
          <a:p>
            <a:r>
              <a:rPr lang="en-US" sz="2400" dirty="0"/>
              <a:t>generate large amounts of truly random keys (millions of characters); and…</a:t>
            </a:r>
          </a:p>
          <a:p>
            <a:r>
              <a:rPr lang="en-US" sz="2400" dirty="0"/>
              <a:t>securely distribute those random keys</a:t>
            </a:r>
          </a:p>
        </p:txBody>
      </p:sp>
    </p:spTree>
    <p:extLst>
      <p:ext uri="{BB962C8B-B14F-4D97-AF65-F5344CB8AC3E}">
        <p14:creationId xmlns:p14="http://schemas.microsoft.com/office/powerpoint/2010/main" val="27235846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0EB4A-9335-E3C4-4AAB-346BC226D66C}"/>
              </a:ext>
            </a:extLst>
          </p:cNvPr>
          <p:cNvSpPr>
            <a:spLocks noGrp="1"/>
          </p:cNvSpPr>
          <p:nvPr>
            <p:ph type="title"/>
          </p:nvPr>
        </p:nvSpPr>
        <p:spPr/>
        <p:txBody>
          <a:bodyPr/>
          <a:lstStyle/>
          <a:p>
            <a:r>
              <a:rPr lang="en-US" dirty="0"/>
              <a:t>OTP Practical or not?</a:t>
            </a:r>
          </a:p>
        </p:txBody>
      </p:sp>
      <p:sp>
        <p:nvSpPr>
          <p:cNvPr id="3" name="Content Placeholder 2">
            <a:extLst>
              <a:ext uri="{FF2B5EF4-FFF2-40B4-BE49-F238E27FC236}">
                <a16:creationId xmlns:a16="http://schemas.microsoft.com/office/drawing/2014/main" id="{D54F7F45-E6C5-C6B1-11C2-B30B27E3DAA4}"/>
              </a:ext>
            </a:extLst>
          </p:cNvPr>
          <p:cNvSpPr>
            <a:spLocks noGrp="1"/>
          </p:cNvSpPr>
          <p:nvPr>
            <p:ph sz="quarter" idx="11"/>
          </p:nvPr>
        </p:nvSpPr>
        <p:spPr/>
        <p:txBody>
          <a:bodyPr/>
          <a:lstStyle/>
          <a:p>
            <a:pPr marL="0" indent="0">
              <a:buNone/>
            </a:pPr>
            <a:r>
              <a:rPr lang="en-US" sz="2400" dirty="0"/>
              <a:t>To illustrate the impracticality of the OTP, consider a simple example. Suppose Alice wants to send a 100 MB file to Bob using the OTP. She must first generate a 100 MB random key, which she then uses to encrypt the 100 MB file to produce the ciphertext. This 100 MB key must be securely transmitted to Bob before he can decrypt the ciphertext. If Alice and Bob wish to communicate regularly, they would need a new 100 MB key for each message, resulting in an enormous amount of key data that must be securely generated, stored, and transmitted.</a:t>
            </a:r>
          </a:p>
        </p:txBody>
      </p:sp>
      <p:sp>
        <p:nvSpPr>
          <p:cNvPr id="5" name="TextBox 4">
            <a:extLst>
              <a:ext uri="{FF2B5EF4-FFF2-40B4-BE49-F238E27FC236}">
                <a16:creationId xmlns:a16="http://schemas.microsoft.com/office/drawing/2014/main" id="{D52318C4-AD8E-9A7B-ADCC-03A36FD29666}"/>
              </a:ext>
            </a:extLst>
          </p:cNvPr>
          <p:cNvSpPr txBox="1"/>
          <p:nvPr/>
        </p:nvSpPr>
        <p:spPr>
          <a:xfrm>
            <a:off x="451123" y="5960313"/>
            <a:ext cx="7437512" cy="553998"/>
          </a:xfrm>
          <a:prstGeom prst="rect">
            <a:avLst/>
          </a:prstGeom>
          <a:noFill/>
        </p:spPr>
        <p:txBody>
          <a:bodyPr wrap="square">
            <a:spAutoFit/>
          </a:bodyPr>
          <a:lstStyle/>
          <a:p>
            <a:r>
              <a:rPr lang="en-US" sz="1000" dirty="0"/>
              <a:t>https://eitca.org/cybersecurity/eitc-is-ccf-classical-cryptography-fundamentals/stream-ciphers/stream-ciphers-and-linear-feedback-shift-registers/examination-review-stream-ciphers-and-linear-feedback-shift-registers/what-are-the-limitations-of-the-one-time-pad-and-why-is-it-considered-impractical-for-most-real-world-applications/</a:t>
            </a:r>
          </a:p>
        </p:txBody>
      </p:sp>
    </p:spTree>
    <p:extLst>
      <p:ext uri="{BB962C8B-B14F-4D97-AF65-F5344CB8AC3E}">
        <p14:creationId xmlns:p14="http://schemas.microsoft.com/office/powerpoint/2010/main" val="20971400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F05DE2-5B75-96E7-E851-49111C7A33E8}"/>
              </a:ext>
            </a:extLst>
          </p:cNvPr>
          <p:cNvSpPr>
            <a:spLocks noGrp="1"/>
          </p:cNvSpPr>
          <p:nvPr>
            <p:ph type="title"/>
          </p:nvPr>
        </p:nvSpPr>
        <p:spPr>
          <a:xfrm>
            <a:off x="1853444" y="2359486"/>
            <a:ext cx="7039036" cy="1069514"/>
          </a:xfrm>
        </p:spPr>
        <p:txBody>
          <a:bodyPr/>
          <a:lstStyle/>
          <a:p>
            <a:pPr algn="ctr"/>
            <a:r>
              <a:rPr lang="en-US" dirty="0"/>
              <a:t>Permutation (transposition) ciphers</a:t>
            </a:r>
          </a:p>
        </p:txBody>
      </p:sp>
      <p:sp>
        <p:nvSpPr>
          <p:cNvPr id="3" name="TextBox 2">
            <a:extLst>
              <a:ext uri="{FF2B5EF4-FFF2-40B4-BE49-F238E27FC236}">
                <a16:creationId xmlns:a16="http://schemas.microsoft.com/office/drawing/2014/main" id="{6F0A86B1-606B-5772-5162-19100AC0F1B2}"/>
              </a:ext>
            </a:extLst>
          </p:cNvPr>
          <p:cNvSpPr txBox="1"/>
          <p:nvPr/>
        </p:nvSpPr>
        <p:spPr>
          <a:xfrm>
            <a:off x="2483768" y="4581128"/>
            <a:ext cx="5904656" cy="461665"/>
          </a:xfrm>
          <a:prstGeom prst="rect">
            <a:avLst/>
          </a:prstGeom>
          <a:noFill/>
        </p:spPr>
        <p:txBody>
          <a:bodyPr wrap="square">
            <a:spAutoFit/>
          </a:bodyPr>
          <a:lstStyle/>
          <a:p>
            <a:r>
              <a:rPr lang="en-US" sz="2400" dirty="0"/>
              <a:t>changing order of characters in plaintext</a:t>
            </a:r>
          </a:p>
        </p:txBody>
      </p:sp>
    </p:spTree>
    <p:extLst>
      <p:ext uri="{BB962C8B-B14F-4D97-AF65-F5344CB8AC3E}">
        <p14:creationId xmlns:p14="http://schemas.microsoft.com/office/powerpoint/2010/main" val="41742684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94A77D3-410F-B1DD-BCBC-B5CE17BEFDAF}"/>
              </a:ext>
            </a:extLst>
          </p:cNvPr>
          <p:cNvSpPr>
            <a:spLocks noGrp="1"/>
          </p:cNvSpPr>
          <p:nvPr>
            <p:ph type="title"/>
          </p:nvPr>
        </p:nvSpPr>
        <p:spPr/>
        <p:txBody>
          <a:bodyPr/>
          <a:lstStyle/>
          <a:p>
            <a:r>
              <a:rPr lang="en-US" dirty="0" err="1"/>
              <a:t>Railfence</a:t>
            </a:r>
            <a:r>
              <a:rPr lang="en-US" dirty="0"/>
              <a:t> cipher</a:t>
            </a:r>
          </a:p>
        </p:txBody>
      </p:sp>
      <p:sp>
        <p:nvSpPr>
          <p:cNvPr id="5" name="Content Placeholder 4">
            <a:extLst>
              <a:ext uri="{FF2B5EF4-FFF2-40B4-BE49-F238E27FC236}">
                <a16:creationId xmlns:a16="http://schemas.microsoft.com/office/drawing/2014/main" id="{1F518F61-0C88-4E82-9899-D9B64720EB4C}"/>
              </a:ext>
            </a:extLst>
          </p:cNvPr>
          <p:cNvSpPr>
            <a:spLocks noGrp="1"/>
          </p:cNvSpPr>
          <p:nvPr>
            <p:ph sz="quarter" idx="11"/>
          </p:nvPr>
        </p:nvSpPr>
        <p:spPr/>
        <p:txBody>
          <a:bodyPr/>
          <a:lstStyle/>
          <a:p>
            <a:r>
              <a:rPr lang="en-US" sz="2400" dirty="0"/>
              <a:t>The plaintext is written down as a sequence of diagonals and then read off as a sequence of rows.</a:t>
            </a:r>
          </a:p>
          <a:p>
            <a:r>
              <a:rPr lang="en-US" sz="2400" dirty="0"/>
              <a:t>e.g. to encipher the message “meet me after the party” with a rail fence of depth 3, we write the following</a:t>
            </a:r>
          </a:p>
          <a:p>
            <a:endParaRPr lang="en-US" sz="2400" dirty="0"/>
          </a:p>
          <a:p>
            <a:endParaRPr lang="en-US" sz="2400" dirty="0"/>
          </a:p>
          <a:p>
            <a:endParaRPr lang="en-US" sz="2400" dirty="0"/>
          </a:p>
          <a:p>
            <a:r>
              <a:rPr lang="en-US" sz="2400" dirty="0"/>
              <a:t>The encrypted message is</a:t>
            </a:r>
          </a:p>
        </p:txBody>
      </p:sp>
      <p:sp>
        <p:nvSpPr>
          <p:cNvPr id="6" name="TextBox 5">
            <a:extLst>
              <a:ext uri="{FF2B5EF4-FFF2-40B4-BE49-F238E27FC236}">
                <a16:creationId xmlns:a16="http://schemas.microsoft.com/office/drawing/2014/main" id="{FAA20A37-9AD6-8B5C-E0BD-5DC543292F3A}"/>
              </a:ext>
            </a:extLst>
          </p:cNvPr>
          <p:cNvSpPr txBox="1"/>
          <p:nvPr/>
        </p:nvSpPr>
        <p:spPr>
          <a:xfrm>
            <a:off x="1425934" y="3717032"/>
            <a:ext cx="6471643" cy="1017907"/>
          </a:xfrm>
          <a:prstGeom prst="rect">
            <a:avLst/>
          </a:prstGeom>
          <a:noFill/>
        </p:spPr>
        <p:txBody>
          <a:bodyPr wrap="none" rtlCol="0">
            <a:spAutoFit/>
          </a:bodyPr>
          <a:lstStyle/>
          <a:p>
            <a:pPr>
              <a:lnSpc>
                <a:spcPts val="2400"/>
              </a:lnSpc>
            </a:pPr>
            <a:r>
              <a:rPr lang="en-US" sz="2400" dirty="0">
                <a:latin typeface="Consolas" panose="020B0609020204030204" pitchFamily="49" charset="0"/>
              </a:rPr>
              <a:t>m       </a:t>
            </a:r>
            <a:r>
              <a:rPr lang="en-US" sz="2400" dirty="0" err="1">
                <a:latin typeface="Consolas" panose="020B0609020204030204" pitchFamily="49" charset="0"/>
              </a:rPr>
              <a:t>m</a:t>
            </a:r>
            <a:r>
              <a:rPr lang="en-US" sz="2400" dirty="0">
                <a:latin typeface="Consolas" panose="020B0609020204030204" pitchFamily="49" charset="0"/>
              </a:rPr>
              <a:t>       t       h       r</a:t>
            </a:r>
          </a:p>
          <a:p>
            <a:pPr>
              <a:lnSpc>
                <a:spcPts val="2400"/>
              </a:lnSpc>
            </a:pPr>
            <a:r>
              <a:rPr lang="en-US" sz="2400" dirty="0">
                <a:latin typeface="Consolas" panose="020B0609020204030204" pitchFamily="49" charset="0"/>
              </a:rPr>
              <a:t>  e   t   e   f   e   t   e   a   t </a:t>
            </a:r>
          </a:p>
          <a:p>
            <a:pPr>
              <a:lnSpc>
                <a:spcPts val="2400"/>
              </a:lnSpc>
            </a:pPr>
            <a:r>
              <a:rPr lang="en-US" sz="2400" dirty="0">
                <a:latin typeface="Consolas" panose="020B0609020204030204" pitchFamily="49" charset="0"/>
              </a:rPr>
              <a:t>    e       a       r       p       y</a:t>
            </a:r>
          </a:p>
        </p:txBody>
      </p:sp>
      <p:sp>
        <p:nvSpPr>
          <p:cNvPr id="7" name="TextBox 6">
            <a:extLst>
              <a:ext uri="{FF2B5EF4-FFF2-40B4-BE49-F238E27FC236}">
                <a16:creationId xmlns:a16="http://schemas.microsoft.com/office/drawing/2014/main" id="{74CFDE71-0FE2-0B60-82F2-D9E1FE64F937}"/>
              </a:ext>
            </a:extLst>
          </p:cNvPr>
          <p:cNvSpPr txBox="1"/>
          <p:nvPr/>
        </p:nvSpPr>
        <p:spPr>
          <a:xfrm>
            <a:off x="2955198" y="5589240"/>
            <a:ext cx="3413114" cy="325410"/>
          </a:xfrm>
          <a:prstGeom prst="rect">
            <a:avLst/>
          </a:prstGeom>
          <a:noFill/>
        </p:spPr>
        <p:txBody>
          <a:bodyPr wrap="none" rtlCol="0">
            <a:spAutoFit/>
          </a:bodyPr>
          <a:lstStyle/>
          <a:p>
            <a:pPr>
              <a:lnSpc>
                <a:spcPts val="1600"/>
              </a:lnSpc>
            </a:pPr>
            <a:r>
              <a:rPr lang="en-US" sz="2400" dirty="0" err="1">
                <a:solidFill>
                  <a:srgbClr val="C00000"/>
                </a:solidFill>
                <a:latin typeface="Consolas" panose="020B0609020204030204" pitchFamily="49" charset="0"/>
              </a:rPr>
              <a:t>mmthr</a:t>
            </a:r>
            <a:r>
              <a:rPr lang="en-US" sz="2400" dirty="0" err="1">
                <a:solidFill>
                  <a:srgbClr val="0070C0"/>
                </a:solidFill>
                <a:latin typeface="Consolas" panose="020B0609020204030204" pitchFamily="49" charset="0"/>
              </a:rPr>
              <a:t>etefeteat</a:t>
            </a:r>
            <a:r>
              <a:rPr lang="en-US" sz="2400" dirty="0" err="1">
                <a:solidFill>
                  <a:srgbClr val="7030A0"/>
                </a:solidFill>
                <a:latin typeface="Consolas" panose="020B0609020204030204" pitchFamily="49" charset="0"/>
              </a:rPr>
              <a:t>earpy</a:t>
            </a:r>
            <a:endParaRPr lang="en-US" sz="2400" dirty="0">
              <a:solidFill>
                <a:srgbClr val="7030A0"/>
              </a:solidFill>
              <a:latin typeface="Consolas" panose="020B0609020204030204" pitchFamily="49" charset="0"/>
            </a:endParaRPr>
          </a:p>
        </p:txBody>
      </p:sp>
    </p:spTree>
    <p:extLst>
      <p:ext uri="{BB962C8B-B14F-4D97-AF65-F5344CB8AC3E}">
        <p14:creationId xmlns:p14="http://schemas.microsoft.com/office/powerpoint/2010/main" val="304458491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3399F-30D9-5A1D-2BE6-F9F58647ECB4}"/>
              </a:ext>
            </a:extLst>
          </p:cNvPr>
          <p:cNvSpPr>
            <a:spLocks noGrp="1"/>
          </p:cNvSpPr>
          <p:nvPr>
            <p:ph type="title"/>
          </p:nvPr>
        </p:nvSpPr>
        <p:spPr/>
        <p:txBody>
          <a:bodyPr/>
          <a:lstStyle/>
          <a:p>
            <a:r>
              <a:rPr lang="en-US" dirty="0" err="1"/>
              <a:t>Railfence</a:t>
            </a:r>
            <a:r>
              <a:rPr lang="en-US" dirty="0"/>
              <a:t> cipher</a:t>
            </a:r>
          </a:p>
        </p:txBody>
      </p:sp>
      <p:sp>
        <p:nvSpPr>
          <p:cNvPr id="3" name="Content Placeholder 2">
            <a:extLst>
              <a:ext uri="{FF2B5EF4-FFF2-40B4-BE49-F238E27FC236}">
                <a16:creationId xmlns:a16="http://schemas.microsoft.com/office/drawing/2014/main" id="{D8F3BCC5-33A3-1384-5153-C27269F55401}"/>
              </a:ext>
            </a:extLst>
          </p:cNvPr>
          <p:cNvSpPr>
            <a:spLocks noGrp="1"/>
          </p:cNvSpPr>
          <p:nvPr>
            <p:ph sz="quarter" idx="11"/>
          </p:nvPr>
        </p:nvSpPr>
        <p:spPr/>
        <p:txBody>
          <a:bodyPr/>
          <a:lstStyle/>
          <a:p>
            <a:r>
              <a:rPr lang="en-US" dirty="0"/>
              <a:t>The rail fence cipher is not very strong; the number of practical keys is small enough that a cryptanalyst can try them all by hand.</a:t>
            </a:r>
          </a:p>
        </p:txBody>
      </p:sp>
    </p:spTree>
    <p:extLst>
      <p:ext uri="{BB962C8B-B14F-4D97-AF65-F5344CB8AC3E}">
        <p14:creationId xmlns:p14="http://schemas.microsoft.com/office/powerpoint/2010/main" val="37594043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b="1" dirty="0"/>
              <a:t>Columnar transposition</a:t>
            </a:r>
            <a:r>
              <a:rPr lang="en-US" dirty="0"/>
              <a:t> ciphers</a:t>
            </a:r>
          </a:p>
        </p:txBody>
      </p:sp>
      <p:sp>
        <p:nvSpPr>
          <p:cNvPr id="3" name="Content Placeholder 2"/>
          <p:cNvSpPr>
            <a:spLocks noGrp="1"/>
          </p:cNvSpPr>
          <p:nvPr>
            <p:ph sz="quarter" idx="11"/>
          </p:nvPr>
        </p:nvSpPr>
        <p:spPr/>
        <p:txBody>
          <a:bodyPr/>
          <a:lstStyle/>
          <a:p>
            <a:r>
              <a:rPr lang="en-US" sz="2800" dirty="0"/>
              <a:t>In this cipher, message is written in a grid row by row, and read off column by column.</a:t>
            </a:r>
          </a:p>
          <a:p>
            <a:r>
              <a:rPr lang="en-US" sz="2800" dirty="0"/>
              <a:t>In addition, order of columns is also permuted. This order becomes the key of the cipher</a:t>
            </a:r>
          </a:p>
        </p:txBody>
      </p:sp>
      <p:sp>
        <p:nvSpPr>
          <p:cNvPr id="5" name="TextBox 4"/>
          <p:cNvSpPr txBox="1"/>
          <p:nvPr/>
        </p:nvSpPr>
        <p:spPr>
          <a:xfrm>
            <a:off x="2922117" y="3609988"/>
            <a:ext cx="5250283" cy="3139321"/>
          </a:xfrm>
          <a:prstGeom prst="rect">
            <a:avLst/>
          </a:prstGeom>
          <a:noFill/>
        </p:spPr>
        <p:txBody>
          <a:bodyPr wrap="none" rtlCol="0">
            <a:spAutoFit/>
          </a:bodyPr>
          <a:lstStyle/>
          <a:p>
            <a:r>
              <a:rPr lang="en-US" sz="2000" dirty="0"/>
              <a:t>Message: </a:t>
            </a:r>
          </a:p>
          <a:p>
            <a:r>
              <a:rPr lang="en-US" sz="2000" dirty="0"/>
              <a:t>THIS IS TOP SECRET</a:t>
            </a:r>
          </a:p>
          <a:p>
            <a:endParaRPr lang="en-US" sz="2000" dirty="0"/>
          </a:p>
          <a:p>
            <a:r>
              <a:rPr lang="en-US" sz="2000" dirty="0"/>
              <a:t>Key:</a:t>
            </a:r>
          </a:p>
          <a:p>
            <a:r>
              <a:rPr lang="en-US" sz="2000" dirty="0"/>
              <a:t>3142</a:t>
            </a:r>
          </a:p>
          <a:p>
            <a:endParaRPr lang="en-US" sz="2000" dirty="0"/>
          </a:p>
          <a:p>
            <a:r>
              <a:rPr lang="en-US" sz="2000" dirty="0" err="1"/>
              <a:t>Ciphertext</a:t>
            </a:r>
            <a:r>
              <a:rPr lang="en-US" sz="2000" dirty="0"/>
              <a:t>:</a:t>
            </a:r>
          </a:p>
          <a:p>
            <a:r>
              <a:rPr lang="en-US" sz="2000" dirty="0"/>
              <a:t>HSSE SOC TIPR ITET</a:t>
            </a:r>
          </a:p>
          <a:p>
            <a:r>
              <a:rPr lang="en-US" i="1" dirty="0"/>
              <a:t>key defines the order in which we read columns</a:t>
            </a:r>
          </a:p>
          <a:p>
            <a:endParaRPr lang="en-US" sz="2000" dirty="0"/>
          </a:p>
        </p:txBody>
      </p:sp>
      <p:graphicFrame>
        <p:nvGraphicFramePr>
          <p:cNvPr id="6" name="Table 5"/>
          <p:cNvGraphicFramePr>
            <a:graphicFrameLocks noGrp="1"/>
          </p:cNvGraphicFramePr>
          <p:nvPr>
            <p:extLst>
              <p:ext uri="{D42A27DB-BD31-4B8C-83A1-F6EECF244321}">
                <p14:modId xmlns:p14="http://schemas.microsoft.com/office/powerpoint/2010/main" val="2059507720"/>
              </p:ext>
            </p:extLst>
          </p:nvPr>
        </p:nvGraphicFramePr>
        <p:xfrm>
          <a:off x="5940152" y="3737937"/>
          <a:ext cx="2973524" cy="1981200"/>
        </p:xfrm>
        <a:graphic>
          <a:graphicData uri="http://schemas.openxmlformats.org/drawingml/2006/table">
            <a:tbl>
              <a:tblPr bandRow="1">
                <a:tableStyleId>{5C22544A-7EE6-4342-B048-85BDC9FD1C3A}</a:tableStyleId>
              </a:tblPr>
              <a:tblGrid>
                <a:gridCol w="743381">
                  <a:extLst>
                    <a:ext uri="{9D8B030D-6E8A-4147-A177-3AD203B41FA5}">
                      <a16:colId xmlns:a16="http://schemas.microsoft.com/office/drawing/2014/main" val="20000"/>
                    </a:ext>
                  </a:extLst>
                </a:gridCol>
                <a:gridCol w="743381">
                  <a:extLst>
                    <a:ext uri="{9D8B030D-6E8A-4147-A177-3AD203B41FA5}">
                      <a16:colId xmlns:a16="http://schemas.microsoft.com/office/drawing/2014/main" val="20001"/>
                    </a:ext>
                  </a:extLst>
                </a:gridCol>
                <a:gridCol w="743381">
                  <a:extLst>
                    <a:ext uri="{9D8B030D-6E8A-4147-A177-3AD203B41FA5}">
                      <a16:colId xmlns:a16="http://schemas.microsoft.com/office/drawing/2014/main" val="20002"/>
                    </a:ext>
                  </a:extLst>
                </a:gridCol>
                <a:gridCol w="743381">
                  <a:extLst>
                    <a:ext uri="{9D8B030D-6E8A-4147-A177-3AD203B41FA5}">
                      <a16:colId xmlns:a16="http://schemas.microsoft.com/office/drawing/2014/main" val="20003"/>
                    </a:ext>
                  </a:extLst>
                </a:gridCol>
              </a:tblGrid>
              <a:tr h="370840">
                <a:tc>
                  <a:txBody>
                    <a:bodyPr/>
                    <a:lstStyle/>
                    <a:p>
                      <a:pPr algn="ctr"/>
                      <a:r>
                        <a:rPr lang="en-US" sz="2000" dirty="0">
                          <a:solidFill>
                            <a:srgbClr val="FF0000"/>
                          </a:solidFill>
                        </a:rPr>
                        <a:t>3</a:t>
                      </a:r>
                    </a:p>
                  </a:txBody>
                  <a:tcPr>
                    <a:lnL w="12700" cmpd="sng">
                      <a:noFill/>
                    </a:lnL>
                    <a:lnR w="12700" cmpd="sng">
                      <a:noFill/>
                    </a:lnR>
                    <a:lnT w="12700" cmpd="sng">
                      <a:noFill/>
                    </a:lnT>
                    <a:noFill/>
                  </a:tcPr>
                </a:tc>
                <a:tc>
                  <a:txBody>
                    <a:bodyPr/>
                    <a:lstStyle/>
                    <a:p>
                      <a:pPr algn="ctr"/>
                      <a:r>
                        <a:rPr lang="en-US" sz="2000" dirty="0">
                          <a:solidFill>
                            <a:srgbClr val="FF0000"/>
                          </a:solidFill>
                        </a:rPr>
                        <a:t>1</a:t>
                      </a:r>
                    </a:p>
                  </a:txBody>
                  <a:tcPr>
                    <a:lnL w="12700" cmpd="sng">
                      <a:noFill/>
                    </a:lnL>
                    <a:lnR w="12700" cmpd="sng">
                      <a:noFill/>
                    </a:lnR>
                    <a:lnT w="12700" cmpd="sng">
                      <a:noFill/>
                    </a:lnT>
                    <a:noFill/>
                  </a:tcPr>
                </a:tc>
                <a:tc>
                  <a:txBody>
                    <a:bodyPr/>
                    <a:lstStyle/>
                    <a:p>
                      <a:pPr algn="ctr"/>
                      <a:r>
                        <a:rPr lang="en-US" sz="2000" dirty="0">
                          <a:solidFill>
                            <a:srgbClr val="FF0000"/>
                          </a:solidFill>
                        </a:rPr>
                        <a:t>4</a:t>
                      </a:r>
                    </a:p>
                  </a:txBody>
                  <a:tcPr>
                    <a:lnL w="12700" cmpd="sng">
                      <a:noFill/>
                    </a:lnL>
                    <a:lnR w="12700" cmpd="sng">
                      <a:noFill/>
                    </a:lnR>
                    <a:lnT w="12700" cmpd="sng">
                      <a:noFill/>
                    </a:lnT>
                    <a:noFill/>
                  </a:tcPr>
                </a:tc>
                <a:tc>
                  <a:txBody>
                    <a:bodyPr/>
                    <a:lstStyle/>
                    <a:p>
                      <a:pPr algn="ctr"/>
                      <a:r>
                        <a:rPr lang="en-US" sz="2000" dirty="0">
                          <a:solidFill>
                            <a:srgbClr val="FF0000"/>
                          </a:solidFill>
                        </a:rPr>
                        <a:t>2</a:t>
                      </a:r>
                    </a:p>
                  </a:txBody>
                  <a:tcPr>
                    <a:lnL w="12700" cmpd="sng">
                      <a:noFill/>
                    </a:lnL>
                    <a:lnR w="12700" cmpd="sng">
                      <a:noFill/>
                    </a:lnR>
                    <a:lnT w="12700" cmpd="sng">
                      <a:noFill/>
                    </a:lnT>
                    <a:noFill/>
                  </a:tcPr>
                </a:tc>
                <a:extLst>
                  <a:ext uri="{0D108BD9-81ED-4DB2-BD59-A6C34878D82A}">
                    <a16:rowId xmlns:a16="http://schemas.microsoft.com/office/drawing/2014/main" val="10000"/>
                  </a:ext>
                </a:extLst>
              </a:tr>
              <a:tr h="370840">
                <a:tc>
                  <a:txBody>
                    <a:bodyPr/>
                    <a:lstStyle/>
                    <a:p>
                      <a:pPr algn="ctr"/>
                      <a:r>
                        <a:rPr lang="en-US" sz="2000" dirty="0"/>
                        <a:t>T</a:t>
                      </a:r>
                    </a:p>
                  </a:txBody>
                  <a:tcPr/>
                </a:tc>
                <a:tc>
                  <a:txBody>
                    <a:bodyPr/>
                    <a:lstStyle/>
                    <a:p>
                      <a:pPr algn="ctr"/>
                      <a:r>
                        <a:rPr lang="en-US" sz="2000" dirty="0"/>
                        <a:t>H</a:t>
                      </a:r>
                    </a:p>
                  </a:txBody>
                  <a:tcPr/>
                </a:tc>
                <a:tc>
                  <a:txBody>
                    <a:bodyPr/>
                    <a:lstStyle/>
                    <a:p>
                      <a:pPr algn="ctr"/>
                      <a:r>
                        <a:rPr lang="en-US" sz="2000" dirty="0"/>
                        <a:t>I</a:t>
                      </a:r>
                    </a:p>
                  </a:txBody>
                  <a:tcPr/>
                </a:tc>
                <a:tc>
                  <a:txBody>
                    <a:bodyPr/>
                    <a:lstStyle/>
                    <a:p>
                      <a:pPr algn="ctr"/>
                      <a:r>
                        <a:rPr lang="en-US" sz="2000" dirty="0"/>
                        <a:t>S</a:t>
                      </a:r>
                    </a:p>
                  </a:txBody>
                  <a:tcPr/>
                </a:tc>
                <a:extLst>
                  <a:ext uri="{0D108BD9-81ED-4DB2-BD59-A6C34878D82A}">
                    <a16:rowId xmlns:a16="http://schemas.microsoft.com/office/drawing/2014/main" val="10001"/>
                  </a:ext>
                </a:extLst>
              </a:tr>
              <a:tr h="370840">
                <a:tc>
                  <a:txBody>
                    <a:bodyPr/>
                    <a:lstStyle/>
                    <a:p>
                      <a:pPr algn="ctr"/>
                      <a:r>
                        <a:rPr lang="en-US" sz="2000" dirty="0"/>
                        <a:t>I</a:t>
                      </a:r>
                    </a:p>
                  </a:txBody>
                  <a:tcPr/>
                </a:tc>
                <a:tc>
                  <a:txBody>
                    <a:bodyPr/>
                    <a:lstStyle/>
                    <a:p>
                      <a:pPr algn="ctr"/>
                      <a:r>
                        <a:rPr lang="en-US" sz="2000" dirty="0"/>
                        <a:t>S</a:t>
                      </a:r>
                    </a:p>
                  </a:txBody>
                  <a:tcPr/>
                </a:tc>
                <a:tc>
                  <a:txBody>
                    <a:bodyPr/>
                    <a:lstStyle/>
                    <a:p>
                      <a:pPr algn="ctr"/>
                      <a:r>
                        <a:rPr lang="en-US" sz="2000" dirty="0"/>
                        <a:t>T</a:t>
                      </a:r>
                    </a:p>
                  </a:txBody>
                  <a:tcPr/>
                </a:tc>
                <a:tc>
                  <a:txBody>
                    <a:bodyPr/>
                    <a:lstStyle/>
                    <a:p>
                      <a:pPr algn="ctr"/>
                      <a:r>
                        <a:rPr lang="en-US" sz="2000" dirty="0"/>
                        <a:t>O</a:t>
                      </a:r>
                    </a:p>
                  </a:txBody>
                  <a:tcPr/>
                </a:tc>
                <a:extLst>
                  <a:ext uri="{0D108BD9-81ED-4DB2-BD59-A6C34878D82A}">
                    <a16:rowId xmlns:a16="http://schemas.microsoft.com/office/drawing/2014/main" val="10002"/>
                  </a:ext>
                </a:extLst>
              </a:tr>
              <a:tr h="370840">
                <a:tc>
                  <a:txBody>
                    <a:bodyPr/>
                    <a:lstStyle/>
                    <a:p>
                      <a:pPr algn="ctr"/>
                      <a:r>
                        <a:rPr lang="en-US" sz="2000" dirty="0"/>
                        <a:t>P</a:t>
                      </a:r>
                    </a:p>
                  </a:txBody>
                  <a:tcPr/>
                </a:tc>
                <a:tc>
                  <a:txBody>
                    <a:bodyPr/>
                    <a:lstStyle/>
                    <a:p>
                      <a:pPr algn="ctr"/>
                      <a:r>
                        <a:rPr lang="en-US" sz="2000" dirty="0"/>
                        <a:t>S</a:t>
                      </a:r>
                    </a:p>
                  </a:txBody>
                  <a:tcPr/>
                </a:tc>
                <a:tc>
                  <a:txBody>
                    <a:bodyPr/>
                    <a:lstStyle/>
                    <a:p>
                      <a:pPr algn="ctr"/>
                      <a:r>
                        <a:rPr lang="en-US" sz="2000" dirty="0"/>
                        <a:t>E</a:t>
                      </a:r>
                    </a:p>
                  </a:txBody>
                  <a:tcPr/>
                </a:tc>
                <a:tc>
                  <a:txBody>
                    <a:bodyPr/>
                    <a:lstStyle/>
                    <a:p>
                      <a:pPr algn="ctr"/>
                      <a:r>
                        <a:rPr lang="en-US" sz="2000" dirty="0"/>
                        <a:t>C</a:t>
                      </a:r>
                    </a:p>
                  </a:txBody>
                  <a:tcPr/>
                </a:tc>
                <a:extLst>
                  <a:ext uri="{0D108BD9-81ED-4DB2-BD59-A6C34878D82A}">
                    <a16:rowId xmlns:a16="http://schemas.microsoft.com/office/drawing/2014/main" val="10003"/>
                  </a:ext>
                </a:extLst>
              </a:tr>
              <a:tr h="370840">
                <a:tc>
                  <a:txBody>
                    <a:bodyPr/>
                    <a:lstStyle/>
                    <a:p>
                      <a:pPr algn="ctr"/>
                      <a:r>
                        <a:rPr lang="en-US" sz="2000" dirty="0"/>
                        <a:t>R</a:t>
                      </a:r>
                    </a:p>
                  </a:txBody>
                  <a:tcPr/>
                </a:tc>
                <a:tc>
                  <a:txBody>
                    <a:bodyPr/>
                    <a:lstStyle/>
                    <a:p>
                      <a:pPr algn="ctr"/>
                      <a:r>
                        <a:rPr lang="en-US" sz="2000" dirty="0"/>
                        <a:t>E</a:t>
                      </a:r>
                    </a:p>
                  </a:txBody>
                  <a:tcPr/>
                </a:tc>
                <a:tc>
                  <a:txBody>
                    <a:bodyPr/>
                    <a:lstStyle/>
                    <a:p>
                      <a:pPr algn="ctr"/>
                      <a:r>
                        <a:rPr lang="en-US" sz="2000" dirty="0"/>
                        <a:t>T</a:t>
                      </a:r>
                    </a:p>
                  </a:txBody>
                  <a:tcPr/>
                </a:tc>
                <a:tc>
                  <a:txBody>
                    <a:bodyPr/>
                    <a:lstStyle/>
                    <a:p>
                      <a:pPr algn="ctr"/>
                      <a:endParaRPr lang="en-US" sz="2000" dirty="0"/>
                    </a:p>
                  </a:txBody>
                  <a:tcPr/>
                </a:tc>
                <a:extLst>
                  <a:ext uri="{0D108BD9-81ED-4DB2-BD59-A6C34878D82A}">
                    <a16:rowId xmlns:a16="http://schemas.microsoft.com/office/drawing/2014/main" val="10004"/>
                  </a:ext>
                </a:extLst>
              </a:tr>
            </a:tbl>
          </a:graphicData>
        </a:graphic>
      </p:graphicFrame>
      <p:sp>
        <p:nvSpPr>
          <p:cNvPr id="4" name="Callout: Line 3">
            <a:extLst>
              <a:ext uri="{FF2B5EF4-FFF2-40B4-BE49-F238E27FC236}">
                <a16:creationId xmlns:a16="http://schemas.microsoft.com/office/drawing/2014/main" id="{8469EDA7-DFB0-703C-4569-D13593DCCD4C}"/>
              </a:ext>
            </a:extLst>
          </p:cNvPr>
          <p:cNvSpPr/>
          <p:nvPr/>
        </p:nvSpPr>
        <p:spPr>
          <a:xfrm>
            <a:off x="107503" y="5056946"/>
            <a:ext cx="2289869" cy="1324382"/>
          </a:xfrm>
          <a:prstGeom prst="borderCallout1">
            <a:avLst>
              <a:gd name="adj1" fmla="val 21368"/>
              <a:gd name="adj2" fmla="val 99914"/>
              <a:gd name="adj3" fmla="val 2710"/>
              <a:gd name="adj4" fmla="val 121753"/>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latinLnBrk="0"/>
            <a:r>
              <a:rPr lang="en-US" sz="1600" dirty="0"/>
              <a:t>or Key=“GAME” which translates to 3142, alphabetic ordering of these four letter is: A, E, G, M</a:t>
            </a:r>
          </a:p>
        </p:txBody>
      </p:sp>
    </p:spTree>
    <p:extLst>
      <p:ext uri="{BB962C8B-B14F-4D97-AF65-F5344CB8AC3E}">
        <p14:creationId xmlns:p14="http://schemas.microsoft.com/office/powerpoint/2010/main" val="110031985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D82F7-6751-70A9-4222-81DC28DA45F7}"/>
              </a:ext>
            </a:extLst>
          </p:cNvPr>
          <p:cNvSpPr>
            <a:spLocks noGrp="1"/>
          </p:cNvSpPr>
          <p:nvPr>
            <p:ph type="title"/>
          </p:nvPr>
        </p:nvSpPr>
        <p:spPr/>
        <p:txBody>
          <a:bodyPr/>
          <a:lstStyle/>
          <a:p>
            <a:r>
              <a:rPr lang="en-US" dirty="0"/>
              <a:t>Security of Permutation Ciphers</a:t>
            </a:r>
          </a:p>
        </p:txBody>
      </p:sp>
      <p:sp>
        <p:nvSpPr>
          <p:cNvPr id="3" name="Content Placeholder 2">
            <a:extLst>
              <a:ext uri="{FF2B5EF4-FFF2-40B4-BE49-F238E27FC236}">
                <a16:creationId xmlns:a16="http://schemas.microsoft.com/office/drawing/2014/main" id="{1B016CBC-4B23-1201-197D-B3C049F48903}"/>
              </a:ext>
            </a:extLst>
          </p:cNvPr>
          <p:cNvSpPr>
            <a:spLocks noGrp="1"/>
          </p:cNvSpPr>
          <p:nvPr>
            <p:ph sz="quarter" idx="11"/>
          </p:nvPr>
        </p:nvSpPr>
        <p:spPr/>
        <p:txBody>
          <a:bodyPr/>
          <a:lstStyle/>
          <a:p>
            <a:pPr marL="0" indent="0">
              <a:buNone/>
            </a:pPr>
            <a:r>
              <a:rPr lang="en-US" b="1" dirty="0"/>
              <a:t>Question</a:t>
            </a:r>
          </a:p>
          <a:p>
            <a:r>
              <a:rPr lang="en-US" dirty="0"/>
              <a:t>Are permutation ciphers susceptible to frequency analysis?</a:t>
            </a:r>
          </a:p>
        </p:txBody>
      </p:sp>
    </p:spTree>
    <p:extLst>
      <p:ext uri="{BB962C8B-B14F-4D97-AF65-F5344CB8AC3E}">
        <p14:creationId xmlns:p14="http://schemas.microsoft.com/office/powerpoint/2010/main" val="15814078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2D82F7-6751-70A9-4222-81DC28DA45F7}"/>
              </a:ext>
            </a:extLst>
          </p:cNvPr>
          <p:cNvSpPr>
            <a:spLocks noGrp="1"/>
          </p:cNvSpPr>
          <p:nvPr>
            <p:ph type="title"/>
          </p:nvPr>
        </p:nvSpPr>
        <p:spPr/>
        <p:txBody>
          <a:bodyPr/>
          <a:lstStyle/>
          <a:p>
            <a:r>
              <a:rPr lang="en-US" dirty="0"/>
              <a:t>Security of Permutation Ciphers</a:t>
            </a:r>
          </a:p>
        </p:txBody>
      </p:sp>
      <p:sp>
        <p:nvSpPr>
          <p:cNvPr id="3" name="Content Placeholder 2">
            <a:extLst>
              <a:ext uri="{FF2B5EF4-FFF2-40B4-BE49-F238E27FC236}">
                <a16:creationId xmlns:a16="http://schemas.microsoft.com/office/drawing/2014/main" id="{1B016CBC-4B23-1201-197D-B3C049F48903}"/>
              </a:ext>
            </a:extLst>
          </p:cNvPr>
          <p:cNvSpPr>
            <a:spLocks noGrp="1"/>
          </p:cNvSpPr>
          <p:nvPr>
            <p:ph sz="quarter" idx="11"/>
          </p:nvPr>
        </p:nvSpPr>
        <p:spPr/>
        <p:txBody>
          <a:bodyPr/>
          <a:lstStyle/>
          <a:p>
            <a:r>
              <a:rPr lang="en-US" sz="2800" dirty="0"/>
              <a:t>A transposition cipher is easily recognized because it has the same letter frequencies as the original plaintext.</a:t>
            </a:r>
          </a:p>
          <a:p>
            <a:r>
              <a:rPr lang="en-US" sz="2800" dirty="0"/>
              <a:t>For the columnar transposition just shown, cryptanalysis is fairly straightforward and involves laying out the ciphertext in a matrix and playing around with column positions.</a:t>
            </a:r>
          </a:p>
          <a:p>
            <a:r>
              <a:rPr lang="en-US" sz="2800" dirty="0"/>
              <a:t>The cipher can be made significantly more secure by performing more than one stage of transposition (i.e. by re-encrypting the ciphertext)</a:t>
            </a:r>
          </a:p>
        </p:txBody>
      </p:sp>
    </p:spTree>
    <p:extLst>
      <p:ext uri="{BB962C8B-B14F-4D97-AF65-F5344CB8AC3E}">
        <p14:creationId xmlns:p14="http://schemas.microsoft.com/office/powerpoint/2010/main" val="3466670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3050</TotalTime>
  <Words>2570</Words>
  <Application>Microsoft Office PowerPoint</Application>
  <PresentationFormat>On-screen Show (4:3)</PresentationFormat>
  <Paragraphs>453</Paragraphs>
  <Slides>40</Slides>
  <Notes>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40</vt:i4>
      </vt:variant>
    </vt:vector>
  </HeadingPairs>
  <TitlesOfParts>
    <vt:vector size="49" baseType="lpstr">
      <vt:lpstr>ＭＳ Ｐゴシック</vt:lpstr>
      <vt:lpstr>Arial</vt:lpstr>
      <vt:lpstr>Calibri</vt:lpstr>
      <vt:lpstr>Cambria Math</vt:lpstr>
      <vt:lpstr>Consolas</vt:lpstr>
      <vt:lpstr>Courier New</vt:lpstr>
      <vt:lpstr>Wingdings</vt:lpstr>
      <vt:lpstr>Office Theme</vt:lpstr>
      <vt:lpstr>Custom Design</vt:lpstr>
      <vt:lpstr>PowerPoint Presentation</vt:lpstr>
      <vt:lpstr>Cryptography: What</vt:lpstr>
      <vt:lpstr>Cryptography: Why</vt:lpstr>
      <vt:lpstr>Symmetric Crypto</vt:lpstr>
      <vt:lpstr>Symmetric Crypto: How?</vt:lpstr>
      <vt:lpstr>Symmetric Crypto Limitations</vt:lpstr>
      <vt:lpstr>Classical Ciphers</vt:lpstr>
      <vt:lpstr>Substitution ciphers</vt:lpstr>
      <vt:lpstr>Classical Substitution Ciphers</vt:lpstr>
      <vt:lpstr>Attacking the Ceaser cipher</vt:lpstr>
      <vt:lpstr>Attacking the Ceaser cipher</vt:lpstr>
      <vt:lpstr>Brute forcing in general</vt:lpstr>
      <vt:lpstr>Monoalphabetic substitution</vt:lpstr>
      <vt:lpstr>Classical Substitution Ciphers</vt:lpstr>
      <vt:lpstr>Cryptanalysis</vt:lpstr>
      <vt:lpstr>Cryptanalysis Techniques</vt:lpstr>
      <vt:lpstr>Cryptanalysis Techniques</vt:lpstr>
      <vt:lpstr>Cryptanalysis Techniques</vt:lpstr>
      <vt:lpstr>Hardening the Substitution Cipher</vt:lpstr>
      <vt:lpstr>Hardening the Substitution Cipher</vt:lpstr>
      <vt:lpstr>Vigenère Cipher</vt:lpstr>
      <vt:lpstr>Vigenère Cipher</vt:lpstr>
      <vt:lpstr>Cryptanalysis of Vigenère cipher</vt:lpstr>
      <vt:lpstr>Cryptanalysis of Vigenère cipher</vt:lpstr>
      <vt:lpstr>Cryptanalysis of Vigenère cipher</vt:lpstr>
      <vt:lpstr>Cryptanalysis of Vigenère cipher</vt:lpstr>
      <vt:lpstr>Cryptanalysis of Vigenère cipher</vt:lpstr>
      <vt:lpstr>Cryptanalysis of Vigenère cipher</vt:lpstr>
      <vt:lpstr>Hardening Vigenère Cipher</vt:lpstr>
      <vt:lpstr>One-Time Pad (OTP)</vt:lpstr>
      <vt:lpstr>One-Time Pad (OTP)</vt:lpstr>
      <vt:lpstr>OTP Strength</vt:lpstr>
      <vt:lpstr>OTP Practical or not?</vt:lpstr>
      <vt:lpstr>OTP Practical or not?</vt:lpstr>
      <vt:lpstr>Permutation (transposition) ciphers</vt:lpstr>
      <vt:lpstr>Railfence cipher</vt:lpstr>
      <vt:lpstr>Railfence cipher</vt:lpstr>
      <vt:lpstr>Columnar transposition ciphers</vt:lpstr>
      <vt:lpstr>Security of Permutation Ciphers</vt:lpstr>
      <vt:lpstr>Security of Permutation Ciphers</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Registered User</dc:creator>
  <cp:lastModifiedBy>Ammar Haider</cp:lastModifiedBy>
  <cp:revision>210</cp:revision>
  <dcterms:created xsi:type="dcterms:W3CDTF">2014-04-01T16:35:38Z</dcterms:created>
  <dcterms:modified xsi:type="dcterms:W3CDTF">2024-09-25T12:10:22Z</dcterms:modified>
</cp:coreProperties>
</file>